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7"/>
  </p:handoutMasterIdLst>
  <p:sldIdLst>
    <p:sldId id="256" r:id="rId3"/>
    <p:sldId id="685" r:id="rId4"/>
    <p:sldId id="684" r:id="rId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CCECFF"/>
    <a:srgbClr val="3333FF"/>
    <a:srgbClr val="FFFFCC"/>
    <a:srgbClr val="6600FF"/>
    <a:srgbClr val="FF99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2" autoAdjust="0"/>
    <p:restoredTop sz="94646"/>
  </p:normalViewPr>
  <p:slideViewPr>
    <p:cSldViewPr showGuides="1">
      <p:cViewPr varScale="1">
        <p:scale>
          <a:sx n="90" d="100"/>
          <a:sy n="90" d="100"/>
        </p:scale>
        <p:origin x="1880" y="-8"/>
      </p:cViewPr>
      <p:guideLst>
        <p:guide orient="horz" pos="2160"/>
        <p:guide pos="2899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2C085-BA79-4186-981C-BFD50A6F8D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8E826-AE0B-4055-8F34-CA26F130D3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7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200" b="0" smtClean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/>
          <p:nvPr/>
        </p:nvGrpSpPr>
        <p:grpSpPr>
          <a:xfrm>
            <a:off x="228600" y="3587750"/>
            <a:ext cx="8610600" cy="201613"/>
            <a:chOff x="144" y="1680"/>
            <a:chExt cx="5424" cy="14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280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 eaLnBrk="1" hangingPunct="1"/>
            <a:fld id="{9A0DB2DC-4C9A-4742-B13C-FB6460FD3503}" type="slidenum">
              <a:rPr lang="en-US" altLang="zh-CN" sz="1000" b="0" dirty="0">
                <a:latin typeface="Verdana" panose="020B0604030504040204" pitchFamily="34" charset="0"/>
              </a:rPr>
            </a:fld>
            <a:endParaRPr lang="en-US" altLang="zh-CN" sz="10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-242888"/>
            <a:ext cx="2057400" cy="63738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-242888"/>
            <a:ext cx="6019800" cy="63738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-242888"/>
            <a:ext cx="8229600" cy="63738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42888"/>
            <a:ext cx="8229600" cy="1139826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fontAlgn="base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GIF"/><Relationship Id="rId18" Type="http://schemas.openxmlformats.org/officeDocument/2006/relationships/image" Target="../media/image1.png"/><Relationship Id="rId17" Type="http://schemas.openxmlformats.org/officeDocument/2006/relationships/image" Target="../media/image2.png"/><Relationship Id="rId16" Type="http://schemas.openxmlformats.org/officeDocument/2006/relationships/hyperlink" Target="mailto:luguangm@" TargetMode="Externa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242887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8"/>
          <p:cNvSpPr/>
          <p:nvPr/>
        </p:nvSpPr>
        <p:spPr>
          <a:xfrm>
            <a:off x="457200" y="908050"/>
            <a:ext cx="80772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6759575" y="6491288"/>
            <a:ext cx="2384425" cy="366713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hlinkClick r:id="rId16"/>
              </a:rPr>
              <a:t>luguangm@</a:t>
            </a:r>
            <a:r>
              <a:rPr kumimoji="0" lang="en-US" altLang="zh-CN" sz="1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hit.edu.cn</a:t>
            </a:r>
            <a:endParaRPr kumimoji="0" lang="zh-CN" altLang="en-US" sz="18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 userDrawn="1"/>
        </p:nvSpPr>
        <p:spPr bwMode="auto">
          <a:xfrm>
            <a:off x="8280921" y="8620"/>
            <a:ext cx="863587" cy="89943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n-IE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228531" y="6561348"/>
            <a:ext cx="1355137" cy="2896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Blip>
          <a:blip r:embed="rId18"/>
        </a:buBlip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Blip>
          <a:blip r:embed="rId19"/>
        </a:buBlip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Blip>
          <a:blip r:embed="rId18"/>
        </a:buBlip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9093" y="4584065"/>
            <a:ext cx="8424863" cy="541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5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卢光明</a:t>
            </a:r>
            <a:endParaRPr kumimoji="0" lang="en-US" altLang="zh-CN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-13216" y="1908522"/>
            <a:ext cx="8893175" cy="12911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buFontTx/>
              <a:buNone/>
              <a:defRPr/>
            </a:pPr>
            <a:r>
              <a:rPr kumimoji="0" lang="zh-CN" altLang="en-US" sz="44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汇编语言程序设计</a:t>
            </a:r>
            <a:endParaRPr kumimoji="0" lang="en-US" altLang="zh-CN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algn="ctr" defTabSz="685800">
              <a:lnSpc>
                <a:spcPct val="80000"/>
              </a:lnSpc>
              <a:spcBef>
                <a:spcPts val="900"/>
              </a:spcBef>
              <a:buClr>
                <a:srgbClr val="663300"/>
              </a:buClr>
              <a:buSzPct val="75000"/>
              <a:defRPr/>
            </a:pP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实验四：</a:t>
            </a:r>
            <a:r>
              <a:rPr lang="en-US" altLang="zh-CN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 IO</a:t>
            </a: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实验</a:t>
            </a:r>
            <a:endParaRPr lang="zh-CN" altLang="en-US" sz="440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2" y="0"/>
            <a:ext cx="5262486" cy="11247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1"/>
          <p:cNvSpPr>
            <a:spLocks noGrp="1"/>
          </p:cNvSpPr>
          <p:nvPr>
            <p:ph idx="1"/>
          </p:nvPr>
        </p:nvSpPr>
        <p:spPr>
          <a:xfrm>
            <a:off x="575556" y="1088740"/>
            <a:ext cx="7884876" cy="5220580"/>
          </a:xfrm>
        </p:spPr>
        <p:txBody>
          <a:bodyPr/>
          <a:lstStyle/>
          <a:p>
            <a:pPr marL="0" lvl="1" indent="0" algn="just">
              <a:spcBef>
                <a:spcPct val="0"/>
              </a:spcBef>
              <a:buNone/>
            </a:pPr>
            <a:r>
              <a:rPr lang="zh-CN" altLang="en-US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必做题</a:t>
            </a:r>
            <a:endParaRPr lang="zh-CN" altLang="en-US" dirty="0"/>
          </a:p>
          <a:p>
            <a:pPr marL="0" lvl="1" indent="0">
              <a:buNone/>
            </a:pP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431540" y="296652"/>
            <a:ext cx="648072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8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汇编语言程序设计</a:t>
            </a:r>
            <a:r>
              <a:rPr lang="en-US" altLang="zh-CN" sz="28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8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实验四</a:t>
            </a:r>
            <a:endParaRPr lang="zh-CN" altLang="en-US" sz="28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700808"/>
            <a:ext cx="75968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/>
              <a:t>编写程序使一只鸟飞过屏幕中间，飞鸟的动作可以由小写字母</a:t>
            </a:r>
            <a:r>
              <a:rPr lang="en-US" altLang="zh-CN" dirty="0"/>
              <a:t>V</a:t>
            </a:r>
            <a:r>
              <a:rPr lang="zh-CN" altLang="en-US" dirty="0"/>
              <a:t>（</a:t>
            </a:r>
            <a:r>
              <a:rPr lang="en-US" altLang="zh-CN" dirty="0"/>
              <a:t>ASCII</a:t>
            </a:r>
            <a:r>
              <a:rPr lang="zh-CN" altLang="en-US" dirty="0"/>
              <a:t>码</a:t>
            </a:r>
            <a:r>
              <a:rPr lang="en-US" altLang="zh-CN" dirty="0"/>
              <a:t>76H</a:t>
            </a:r>
            <a:r>
              <a:rPr lang="zh-CN" altLang="en-US" dirty="0"/>
              <a:t>）变为破折号（</a:t>
            </a:r>
            <a:r>
              <a:rPr lang="en-US" altLang="zh-CN" dirty="0"/>
              <a:t> ASCII</a:t>
            </a:r>
            <a:r>
              <a:rPr lang="zh-CN" altLang="en-US" dirty="0"/>
              <a:t>码</a:t>
            </a:r>
            <a:r>
              <a:rPr lang="en-US" altLang="zh-CN" dirty="0"/>
              <a:t>0C4H</a:t>
            </a:r>
            <a:r>
              <a:rPr lang="zh-CN" altLang="en-US" dirty="0"/>
              <a:t>）来模仿，这两个字符交替在两列显示，每个字符显示</a:t>
            </a:r>
            <a:r>
              <a:rPr lang="en-US" altLang="zh-CN" dirty="0"/>
              <a:t>0.5S</a:t>
            </a:r>
            <a:r>
              <a:rPr lang="zh-CN" altLang="en-US" dirty="0"/>
              <a:t>（可用循环来模拟计时），然后消失。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03548" y="985904"/>
            <a:ext cx="4794409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选做题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1540" y="296652"/>
            <a:ext cx="648072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8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汇编语言程序设计</a:t>
            </a:r>
            <a:r>
              <a:rPr lang="en-US" altLang="zh-CN" sz="28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8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实验四</a:t>
            </a:r>
            <a:endParaRPr lang="zh-CN" altLang="en-US" sz="28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9606" y="1520788"/>
            <a:ext cx="83188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zh-CN" altLang="en-US" sz="2400" b="1" dirty="0">
                <a:effectLst/>
                <a:latin typeface="+mn-ea"/>
              </a:rPr>
              <a:t>通过</a:t>
            </a:r>
            <a:r>
              <a:rPr lang="en-US" altLang="zh-CN" sz="2400" b="1" dirty="0">
                <a:effectLst/>
                <a:latin typeface="+mn-ea"/>
              </a:rPr>
              <a:t>BIOS</a:t>
            </a:r>
            <a:r>
              <a:rPr lang="zh-CN" altLang="en-US" sz="2400" b="1" dirty="0">
                <a:effectLst/>
                <a:latin typeface="+mn-ea"/>
              </a:rPr>
              <a:t>和</a:t>
            </a:r>
            <a:r>
              <a:rPr lang="en-US" altLang="zh-CN" sz="2400" b="1" dirty="0">
                <a:effectLst/>
                <a:latin typeface="+mn-ea"/>
              </a:rPr>
              <a:t>DOS</a:t>
            </a:r>
            <a:r>
              <a:rPr lang="zh-CN" altLang="en-US" sz="2400" b="1" dirty="0">
                <a:effectLst/>
                <a:latin typeface="+mn-ea"/>
              </a:rPr>
              <a:t>功能调用实现如图所示的输入和显示功能：</a:t>
            </a:r>
            <a:endParaRPr lang="en-US" altLang="zh-CN" sz="2400" b="1" dirty="0">
              <a:effectLst/>
              <a:latin typeface="+mn-ea"/>
            </a:endParaRPr>
          </a:p>
          <a:p>
            <a:pPr lvl="0"/>
            <a:r>
              <a:rPr lang="zh-CN" altLang="en-US" sz="2400" b="1" dirty="0">
                <a:latin typeface="+mn-ea"/>
              </a:rPr>
              <a:t>从键盘输入一个字符串（长度自己定义）</a:t>
            </a:r>
            <a:endParaRPr lang="en-US" altLang="zh-CN" sz="2400" b="1" dirty="0">
              <a:latin typeface="+mn-ea"/>
            </a:endParaRPr>
          </a:p>
          <a:p>
            <a:pPr lvl="0"/>
            <a:r>
              <a:rPr lang="zh-CN" altLang="en-US" sz="2400" b="1" dirty="0">
                <a:effectLst/>
                <a:latin typeface="+mn-ea"/>
              </a:rPr>
              <a:t>向下下移</a:t>
            </a:r>
            <a:r>
              <a:rPr lang="en-US" altLang="zh-CN" sz="2400" b="1" dirty="0">
                <a:effectLst/>
                <a:latin typeface="+mn-ea"/>
              </a:rPr>
              <a:t>1</a:t>
            </a:r>
            <a:r>
              <a:rPr lang="zh-CN" altLang="en-US" sz="2400" b="1" dirty="0">
                <a:effectLst/>
                <a:latin typeface="+mn-ea"/>
              </a:rPr>
              <a:t>行左移</a:t>
            </a:r>
            <a:r>
              <a:rPr lang="en-US" altLang="zh-CN" sz="2400" b="1" dirty="0">
                <a:effectLst/>
                <a:latin typeface="+mn-ea"/>
              </a:rPr>
              <a:t>2</a:t>
            </a:r>
            <a:r>
              <a:rPr lang="zh-CN" altLang="en-US" sz="2400" b="1" dirty="0">
                <a:effectLst/>
                <a:latin typeface="+mn-ea"/>
              </a:rPr>
              <a:t>列显示该字符串</a:t>
            </a:r>
            <a:r>
              <a:rPr lang="en-US" altLang="zh-CN" sz="2400" b="1" dirty="0">
                <a:effectLst/>
                <a:latin typeface="+mn-ea"/>
              </a:rPr>
              <a:t>18</a:t>
            </a:r>
            <a:r>
              <a:rPr lang="zh-CN" altLang="en-US" sz="2400" b="1" dirty="0">
                <a:effectLst/>
                <a:latin typeface="+mn-ea"/>
              </a:rPr>
              <a:t>次（品红背景浅绿前景）</a:t>
            </a:r>
            <a:endParaRPr lang="en-US" altLang="zh-CN" sz="2400" b="1" dirty="0">
              <a:effectLst/>
              <a:latin typeface="+mn-ea"/>
            </a:endParaRPr>
          </a:p>
          <a:p>
            <a:r>
              <a:rPr lang="zh-CN" altLang="en-US" sz="2400" b="1" dirty="0">
                <a:latin typeface="+mn-ea"/>
              </a:rPr>
              <a:t>向上上移</a:t>
            </a: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行左移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zh-CN" altLang="en-US" sz="2400" b="1" dirty="0">
                <a:latin typeface="+mn-ea"/>
              </a:rPr>
              <a:t>列显示该字符串</a:t>
            </a:r>
            <a:r>
              <a:rPr lang="en-US" altLang="zh-CN" sz="2400" b="1" dirty="0">
                <a:latin typeface="+mn-ea"/>
              </a:rPr>
              <a:t>18</a:t>
            </a:r>
            <a:r>
              <a:rPr lang="zh-CN" altLang="en-US" sz="2400" b="1" dirty="0">
                <a:latin typeface="+mn-ea"/>
              </a:rPr>
              <a:t>次（蓝色背景白色前景）</a:t>
            </a:r>
            <a:endParaRPr lang="en-US" altLang="zh-CN" sz="2400" b="1" dirty="0">
              <a:latin typeface="+mn-ea"/>
            </a:endParaRPr>
          </a:p>
          <a:p>
            <a:pPr lvl="0"/>
            <a:r>
              <a:rPr lang="zh-CN" altLang="en-US" sz="2400" b="1" dirty="0">
                <a:effectLst/>
                <a:latin typeface="+mn-ea"/>
              </a:rPr>
              <a:t>向上显示时，字符串倒序。</a:t>
            </a:r>
            <a:endParaRPr lang="en-US" altLang="zh-CN" sz="2400" b="1" dirty="0">
              <a:effectLst/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4229" y="3681028"/>
            <a:ext cx="4089610" cy="2794144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Level">
  <a:themeElements>
    <a:clrScheme name="Level 9">
      <a:dk1>
        <a:srgbClr val="000000"/>
      </a:dk1>
      <a:lt1>
        <a:srgbClr val="FFFFFF"/>
      </a:lt1>
      <a:dk2>
        <a:srgbClr val="CC3300"/>
      </a:dk2>
      <a:lt2>
        <a:srgbClr val="66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FF0000"/>
      </a:hlink>
      <a:folHlink>
        <a:srgbClr val="996633"/>
      </a:folHlink>
    </a:clrScheme>
    <a:fontScheme name="Level">
      <a:majorFont>
        <a:latin typeface="Times New Roman"/>
        <a:ea typeface="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FF00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0</TotalTime>
  <Words>268</Words>
  <Application>WPS 演示</Application>
  <PresentationFormat>全屏显示(4:3)</PresentationFormat>
  <Paragraphs>26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Verdana</vt:lpstr>
      <vt:lpstr>隶书</vt:lpstr>
      <vt:lpstr>华文楷体</vt:lpstr>
      <vt:lpstr>微软雅黑</vt:lpstr>
      <vt:lpstr>Arial Unicode MS</vt:lpstr>
      <vt:lpstr>Wingdings</vt:lpstr>
      <vt:lpstr>Level</vt:lpstr>
      <vt:lpstr>PowerPoint 演示文稿</vt:lpstr>
      <vt:lpstr>PowerPoint 演示文稿</vt:lpstr>
      <vt:lpstr>PowerPoint 演示文稿</vt:lpstr>
    </vt:vector>
  </TitlesOfParts>
  <Company>哈尔滨工业大学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陈磊工作总结</dc:title>
  <dc:creator>陈磊</dc:creator>
  <cp:lastModifiedBy>Lgm</cp:lastModifiedBy>
  <cp:revision>809</cp:revision>
  <dcterms:created xsi:type="dcterms:W3CDTF">2004-04-02T12:11:00Z</dcterms:created>
  <dcterms:modified xsi:type="dcterms:W3CDTF">2026-10-13T06:12:29Z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4</vt:r8>
  </property>
  <property fmtid="{D5CDD505-2E9C-101B-9397-08002B2CF9AE}" pid="3" name="KSOProductBuildVer">
    <vt:lpwstr>2052-12.1.0.28505</vt:lpwstr>
  </property>
  <property fmtid="{D5CDD505-2E9C-101B-9397-08002B2CF9AE}" pid="4" name="ICV">
    <vt:lpwstr>9C2B84C6C83F4F29B985167B8DD9E66E_12</vt:lpwstr>
  </property>
</Properties>
</file>