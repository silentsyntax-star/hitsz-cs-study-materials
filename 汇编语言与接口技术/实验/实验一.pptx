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</p:sldMasterIdLst>
  <p:notesMasterIdLst>
    <p:notesMasterId r:id="rId17"/>
  </p:notesMasterIdLst>
  <p:sldIdLst>
    <p:sldId id="256" r:id="rId3"/>
    <p:sldId id="538" r:id="rId4"/>
    <p:sldId id="529" r:id="rId5"/>
    <p:sldId id="527" r:id="rId6"/>
    <p:sldId id="528" r:id="rId7"/>
    <p:sldId id="533" r:id="rId8"/>
    <p:sldId id="534" r:id="rId9"/>
    <p:sldId id="535" r:id="rId10"/>
    <p:sldId id="536" r:id="rId11"/>
    <p:sldId id="542" r:id="rId12"/>
    <p:sldId id="537" r:id="rId13"/>
    <p:sldId id="531" r:id="rId14"/>
    <p:sldId id="541" r:id="rId15"/>
    <p:sldId id="539" r:id="rId16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CCECFF"/>
    <a:srgbClr val="FFFFCC"/>
    <a:srgbClr val="66CCFF"/>
    <a:srgbClr val="6600FF"/>
    <a:srgbClr val="FF9900"/>
    <a:srgbClr val="FF33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9"/>
    <p:restoredTop sz="95704" autoAdjust="0"/>
  </p:normalViewPr>
  <p:slideViewPr>
    <p:cSldViewPr showGuides="1">
      <p:cViewPr varScale="1">
        <p:scale>
          <a:sx n="91" d="100"/>
          <a:sy n="91" d="100"/>
        </p:scale>
        <p:origin x="1568" y="-24"/>
      </p:cViewPr>
      <p:guideLst>
        <p:guide orient="horz" pos="2160"/>
        <p:guide pos="2899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0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buFontTx/>
              <a:buNone/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08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707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Click to edit Master text styles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0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0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7"/>
          <p:cNvGrpSpPr/>
          <p:nvPr/>
        </p:nvGrpSpPr>
        <p:grpSpPr>
          <a:xfrm>
            <a:off x="228600" y="3587750"/>
            <a:ext cx="8610600" cy="201613"/>
            <a:chOff x="144" y="1680"/>
            <a:chExt cx="5424" cy="144"/>
          </a:xfrm>
        </p:grpSpPr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144" y="1680"/>
              <a:ext cx="1808" cy="14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Rectangle 9"/>
            <p:cNvSpPr>
              <a:spLocks noChangeArrowheads="1"/>
            </p:cNvSpPr>
            <p:nvPr/>
          </p:nvSpPr>
          <p:spPr bwMode="auto">
            <a:xfrm>
              <a:off x="1952" y="1680"/>
              <a:ext cx="1808" cy="1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Rectangle 10"/>
            <p:cNvSpPr>
              <a:spLocks noChangeArrowheads="1"/>
            </p:cNvSpPr>
            <p:nvPr/>
          </p:nvSpPr>
          <p:spPr bwMode="auto">
            <a:xfrm>
              <a:off x="3760" y="1680"/>
              <a:ext cx="1808" cy="14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918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280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2918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000"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 algn="r" eaLnBrk="1" hangingPunct="1"/>
            <a:fld id="{9A0DB2DC-4C9A-4742-B13C-FB6460FD3503}" type="slidenum">
              <a:rPr lang="en-US" altLang="zh-CN" sz="1000" b="0" dirty="0">
                <a:latin typeface="Verdana" panose="020B0604030504040204" pitchFamily="34" charset="0"/>
              </a:rPr>
            </a:fld>
            <a:endParaRPr lang="en-US" altLang="zh-CN" sz="1000" b="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-242888"/>
            <a:ext cx="2057400" cy="6373813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-242888"/>
            <a:ext cx="6019800" cy="6373813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-242888"/>
            <a:ext cx="8229600" cy="637381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242888"/>
            <a:ext cx="8229600" cy="1139826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Blip>
                <a:blip r:embed="rId2"/>
              </a:buBlip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SmartArt 占位符 2"/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 lvl="0" fontAlgn="base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3.GIF"/><Relationship Id="rId18" Type="http://schemas.openxmlformats.org/officeDocument/2006/relationships/image" Target="../media/image1.png"/><Relationship Id="rId17" Type="http://schemas.openxmlformats.org/officeDocument/2006/relationships/hyperlink" Target="mailto:luguangm@gmail.com" TargetMode="External"/><Relationship Id="rId16" Type="http://schemas.openxmlformats.org/officeDocument/2006/relationships/image" Target="../media/image2.jpeg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-242887"/>
            <a:ext cx="8229600" cy="11398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2908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2908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 sz="1000" b="0">
                <a:latin typeface="Verdana" panose="020B060403050404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08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buFontTx/>
              <a:buNone/>
              <a:defRPr sz="1000" b="0">
                <a:latin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7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Line 8"/>
          <p:cNvSpPr/>
          <p:nvPr/>
        </p:nvSpPr>
        <p:spPr>
          <a:xfrm>
            <a:off x="457200" y="908050"/>
            <a:ext cx="8077200" cy="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2" name="Rectangle 9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10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34" name="Picture 15" descr="logo"/>
          <p:cNvPicPr>
            <a:picLocks noChangeAspect="1"/>
          </p:cNvPicPr>
          <p:nvPr/>
        </p:nvPicPr>
        <p:blipFill>
          <a:blip r:embed="rId16"/>
          <a:srcRect l="9596"/>
          <a:stretch>
            <a:fillRect/>
          </a:stretch>
        </p:blipFill>
        <p:spPr>
          <a:xfrm>
            <a:off x="252822" y="6473825"/>
            <a:ext cx="2266950" cy="3762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6759575" y="6491288"/>
            <a:ext cx="2384425" cy="366713"/>
          </a:xfrm>
          <a:prstGeom prst="rect">
            <a:avLst/>
          </a:prstGeom>
          <a:noFill/>
          <a:ln w="9525">
            <a:noFill/>
            <a:miter lim="800000"/>
            <a:tailEnd type="none" w="lg" len="lg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hlinkClick r:id="rId17"/>
              </a:rPr>
              <a:t>luguangm@gmail.com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/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Blip>
          <a:blip r:embed="rId18"/>
        </a:buBlip>
        <a:defRPr sz="2800" b="1">
          <a:solidFill>
            <a:srgbClr val="3333FF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Blip>
          <a:blip r:embed="rId19"/>
        </a:buBlip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Blip>
          <a:blip r:embed="rId18"/>
        </a:buBlip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59093" y="4584065"/>
            <a:ext cx="8424863" cy="5413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35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卢光明</a:t>
            </a:r>
            <a:endParaRPr kumimoji="0" lang="en-US" altLang="zh-CN" sz="35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5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  <p:sp>
        <p:nvSpPr>
          <p:cNvPr id="320516" name="Text Box 4"/>
          <p:cNvSpPr txBox="1">
            <a:spLocks noChangeArrowheads="1"/>
          </p:cNvSpPr>
          <p:nvPr/>
        </p:nvSpPr>
        <p:spPr bwMode="auto">
          <a:xfrm>
            <a:off x="107950" y="1843088"/>
            <a:ext cx="8893175" cy="13295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ctr" defTabSz="914400">
              <a:lnSpc>
                <a:spcPct val="80000"/>
              </a:lnSpc>
              <a:spcBef>
                <a:spcPts val="1200"/>
              </a:spcBef>
              <a:buClr>
                <a:srgbClr val="663300"/>
              </a:buClr>
              <a:buSzPct val="75000"/>
              <a:buFontTx/>
              <a:buNone/>
              <a:defRPr/>
            </a:pPr>
            <a:r>
              <a:rPr kumimoji="0" lang="zh-CN" altLang="en-US" sz="4400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汇编语言程序设计</a:t>
            </a:r>
            <a:endParaRPr kumimoji="0" lang="en-US" altLang="zh-CN" sz="4400" kern="1200" cap="none" spc="0" normalizeH="0" baseline="0" noProof="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  <a:p>
            <a:pPr marR="0" algn="ctr" defTabSz="914400">
              <a:lnSpc>
                <a:spcPct val="80000"/>
              </a:lnSpc>
              <a:spcBef>
                <a:spcPts val="1200"/>
              </a:spcBef>
              <a:buClr>
                <a:srgbClr val="663300"/>
              </a:buClr>
              <a:buSzPct val="75000"/>
              <a:buFontTx/>
              <a:buNone/>
              <a:defRPr/>
            </a:pPr>
            <a:r>
              <a:rPr kumimoji="0" lang="zh-CN" altLang="en-US" sz="4400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实验一：熟悉汇编程序开发环境</a:t>
            </a:r>
            <a:endParaRPr kumimoji="0" lang="zh-CN" altLang="en-US" sz="4400" kern="1200" cap="none" spc="0" normalizeH="0" baseline="0" noProof="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pic>
        <p:nvPicPr>
          <p:cNvPr id="3076" name="Picture 8" descr="logo"/>
          <p:cNvPicPr>
            <a:picLocks noChangeAspect="1"/>
          </p:cNvPicPr>
          <p:nvPr/>
        </p:nvPicPr>
        <p:blipFill>
          <a:blip r:embed="rId1"/>
          <a:srcRect l="9596"/>
          <a:stretch>
            <a:fillRect/>
          </a:stretch>
        </p:blipFill>
        <p:spPr>
          <a:xfrm>
            <a:off x="0" y="0"/>
            <a:ext cx="6445250" cy="1069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标题 1"/>
          <p:cNvSpPr txBox="1"/>
          <p:nvPr/>
        </p:nvSpPr>
        <p:spPr bwMode="auto">
          <a:xfrm>
            <a:off x="827584" y="5756275"/>
            <a:ext cx="7772400" cy="101473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</p:spPr>
        <p:txBody>
          <a:bodyPr anchor="ctr"/>
          <a:lstStyle/>
          <a:p>
            <a:pPr algn="ctr">
              <a:defRPr/>
            </a:pPr>
            <a:r>
              <a:rPr kumimoji="0" lang="zh-CN" altLang="en-US" sz="2800" kern="0" cap="none" spc="0" normalizeH="0" baseline="0" noProof="0" dirty="0">
                <a:latin typeface="+mj-lt"/>
                <a:ea typeface="宋体" panose="02010600030101010101" pitchFamily="2" charset="-122"/>
                <a:cs typeface="+mj-cs"/>
              </a:rPr>
              <a:t>课程</a:t>
            </a:r>
            <a:r>
              <a:rPr kumimoji="0" lang="en-US" altLang="zh-CN" sz="2800" kern="0" cap="none" spc="0" normalizeH="0" baseline="0" noProof="0" dirty="0">
                <a:latin typeface="+mj-lt"/>
                <a:ea typeface="宋体" panose="02010600030101010101" pitchFamily="2" charset="-122"/>
                <a:cs typeface="+mj-cs"/>
              </a:rPr>
              <a:t>QQ</a:t>
            </a:r>
            <a:r>
              <a:rPr kumimoji="0" lang="zh-CN" altLang="en-US" sz="2800" kern="0" cap="none" spc="0" normalizeH="0" baseline="0" noProof="0" dirty="0">
                <a:latin typeface="+mj-lt"/>
                <a:ea typeface="宋体" panose="02010600030101010101" pitchFamily="2" charset="-122"/>
                <a:cs typeface="+mj-cs"/>
              </a:rPr>
              <a:t>群：</a:t>
            </a:r>
            <a:r>
              <a:rPr lang="en-US" altLang="zh-CN" sz="2800" kern="0" dirty="0">
                <a:solidFill>
                  <a:srgbClr val="FF0000"/>
                </a:solidFill>
                <a:latin typeface="+mj-lt"/>
                <a:cs typeface="+mj-cs"/>
              </a:rPr>
              <a:t>979542580 (</a:t>
            </a:r>
            <a:r>
              <a:rPr kumimoji="0" lang="zh-CN" altLang="en-US" sz="2800" b="1" kern="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汇编与接口</a:t>
            </a:r>
            <a:r>
              <a:rPr kumimoji="0" lang="en-US" altLang="zh-CN" sz="2800" b="1" kern="0" cap="none" spc="0" normalizeH="0" baseline="0" noProof="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</a:t>
            </a:r>
            <a:r>
              <a:rPr kumimoji="0" lang="en-US" altLang="zh-CN" sz="2800" b="1" kern="0" cap="none" spc="0" normalizeH="0" baseline="0" noProof="0" dirty="0">
                <a:solidFill>
                  <a:srgbClr val="FF0000"/>
                </a:solidFill>
                <a:latin typeface="+mj-lt"/>
                <a:ea typeface="宋体" panose="02010600030101010101" pitchFamily="2" charset="-122"/>
                <a:cs typeface="+mj-cs"/>
              </a:rPr>
              <a:t>)</a:t>
            </a:r>
            <a:endParaRPr kumimoji="0" lang="zh-CN" altLang="en-US" sz="2800" b="1" kern="0" cap="none" spc="0" normalizeH="0" baseline="0" noProof="0" dirty="0">
              <a:solidFill>
                <a:srgbClr val="FF0000"/>
              </a:solidFill>
              <a:latin typeface="+mj-lt"/>
              <a:ea typeface="宋体" panose="02010600030101010101" pitchFamily="2" charset="-122"/>
              <a:cs typeface="+mj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l="13499" t="21125" r="11218" b="31626"/>
          <a:stretch>
            <a:fillRect/>
          </a:stretch>
        </p:blipFill>
        <p:spPr>
          <a:xfrm>
            <a:off x="7393361" y="9008"/>
            <a:ext cx="1764704" cy="240641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2120" y="317500"/>
            <a:ext cx="6392545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汇编语言程序设计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—</a:t>
            </a:r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上机实验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  <p:sp>
        <p:nvSpPr>
          <p:cNvPr id="5" name="内容占位符 1"/>
          <p:cNvSpPr>
            <a:spLocks noGrp="1"/>
          </p:cNvSpPr>
          <p:nvPr>
            <p:ph idx="1"/>
          </p:nvPr>
        </p:nvSpPr>
        <p:spPr>
          <a:xfrm>
            <a:off x="452120" y="1052736"/>
            <a:ext cx="8229600" cy="5256584"/>
          </a:xfrm>
        </p:spPr>
        <p:txBody>
          <a:bodyPr/>
          <a:lstStyle/>
          <a:p>
            <a:r>
              <a:rPr lang="zh-CN" altLang="en-US" dirty="0"/>
              <a:t>实验课程安排</a:t>
            </a:r>
            <a:endParaRPr lang="en-US" altLang="zh-CN" dirty="0"/>
          </a:p>
          <a:p>
            <a:pPr lvl="1"/>
            <a:r>
              <a:rPr lang="zh-CN" altLang="en-US" dirty="0"/>
              <a:t>共</a:t>
            </a:r>
            <a:r>
              <a:rPr lang="en-US" altLang="zh-CN" dirty="0"/>
              <a:t>8</a:t>
            </a:r>
            <a:r>
              <a:rPr lang="zh-CN" altLang="en-US" dirty="0"/>
              <a:t>个课时，</a:t>
            </a:r>
            <a:r>
              <a:rPr lang="en-US" altLang="zh-CN" dirty="0"/>
              <a:t>4</a:t>
            </a:r>
            <a:r>
              <a:rPr lang="zh-CN" altLang="en-US" dirty="0"/>
              <a:t>次实验课。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要求</a:t>
            </a:r>
            <a:endParaRPr lang="en-US" altLang="zh-CN" dirty="0"/>
          </a:p>
          <a:p>
            <a:pPr lvl="1"/>
            <a:r>
              <a:rPr lang="zh-CN" altLang="en-US" sz="2000" dirty="0"/>
              <a:t>第一次实验，使用开发环境</a:t>
            </a:r>
            <a:r>
              <a:rPr lang="en-US" altLang="zh-CN" sz="2000" dirty="0" err="1"/>
              <a:t>DOSBox+MASM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lvl="1"/>
            <a:r>
              <a:rPr lang="zh-CN" altLang="en-US" sz="2000" dirty="0"/>
              <a:t>评分标准：每次实验总分</a:t>
            </a:r>
            <a:r>
              <a:rPr lang="en-US" altLang="zh-CN" sz="2000" dirty="0"/>
              <a:t>100</a:t>
            </a:r>
            <a:r>
              <a:rPr lang="zh-CN" altLang="en-US" sz="2000" dirty="0"/>
              <a:t>，四次实验总分</a:t>
            </a:r>
            <a:r>
              <a:rPr lang="en-US" altLang="zh-CN" sz="2000" dirty="0"/>
              <a:t>400</a:t>
            </a:r>
            <a:r>
              <a:rPr lang="zh-CN" altLang="en-US" sz="2000" dirty="0"/>
              <a:t>，期末成绩实验占</a:t>
            </a:r>
            <a:r>
              <a:rPr lang="en-US" altLang="zh-CN" sz="2000" dirty="0"/>
              <a:t>50%</a:t>
            </a:r>
            <a:r>
              <a:rPr lang="zh-CN" altLang="en-US" sz="2000" dirty="0"/>
              <a:t>，四次实验成绩折算后计入总成绩。</a:t>
            </a:r>
            <a:endParaRPr lang="en-US" altLang="zh-CN" sz="2000" dirty="0"/>
          </a:p>
          <a:p>
            <a:pPr lvl="1"/>
            <a:r>
              <a:rPr lang="zh-CN" altLang="en-US" sz="2000" dirty="0"/>
              <a:t>课堂上</a:t>
            </a:r>
            <a:r>
              <a:rPr lang="zh-CN" altLang="en-US" sz="2000" b="1" dirty="0">
                <a:solidFill>
                  <a:srgbClr val="FF0000"/>
                </a:solidFill>
              </a:rPr>
              <a:t>必做题</a:t>
            </a:r>
            <a:r>
              <a:rPr lang="zh-CN" altLang="en-US" sz="2000" dirty="0"/>
              <a:t>验收通过的不用提交实验报告，课堂上未完成必做题验收的，必须提交实验报告。</a:t>
            </a:r>
            <a:endParaRPr lang="en-US" altLang="zh-CN" sz="2000" dirty="0"/>
          </a:p>
          <a:p>
            <a:pPr lvl="1"/>
            <a:r>
              <a:rPr lang="zh-CN" altLang="en-US" sz="2000" dirty="0"/>
              <a:t>选做题每做一道加</a:t>
            </a:r>
            <a:r>
              <a:rPr lang="en-US" altLang="zh-CN" sz="2000" dirty="0"/>
              <a:t>20</a:t>
            </a:r>
            <a:r>
              <a:rPr lang="zh-CN" altLang="en-US" sz="2000" dirty="0"/>
              <a:t>分，但实验总分上线仍为</a:t>
            </a:r>
            <a:r>
              <a:rPr lang="en-US" altLang="zh-CN" sz="2000" dirty="0"/>
              <a:t>400</a:t>
            </a:r>
            <a:r>
              <a:rPr lang="zh-CN" altLang="en-US" sz="2000" dirty="0"/>
              <a:t>分。</a:t>
            </a:r>
            <a:endParaRPr lang="en-US" altLang="zh-CN" sz="2000" dirty="0"/>
          </a:p>
          <a:p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692" y="2024844"/>
            <a:ext cx="3132348" cy="192072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5083" y="2024844"/>
            <a:ext cx="3132347" cy="18406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2120" y="317500"/>
            <a:ext cx="6392545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汇编语言程序设计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—</a:t>
            </a:r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上机过程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2120" y="1052736"/>
            <a:ext cx="8229600" cy="5256584"/>
          </a:xfrm>
        </p:spPr>
        <p:txBody>
          <a:bodyPr/>
          <a:lstStyle/>
          <a:p>
            <a:r>
              <a:rPr lang="zh-CN" altLang="en-US" dirty="0"/>
              <a:t>第一步：建立源程序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可以用任何一款熟悉的文本编辑器建立，编辑汇编语言源程序。但是文件名的扩展名必须是</a:t>
            </a:r>
            <a:r>
              <a:rPr lang="en-US" altLang="zh-CN" dirty="0"/>
              <a:t>.ASM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第二步：汇编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将源程序翻译成由机器代码组成的目标模块文件的过程。目标模块文件后缀一般为</a:t>
            </a:r>
            <a:r>
              <a:rPr lang="en-US" altLang="zh-CN" dirty="0"/>
              <a:t>.</a:t>
            </a:r>
            <a:r>
              <a:rPr lang="en-US" altLang="zh-CN" dirty="0" err="1"/>
              <a:t>obj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第三步：连接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连接产生的目标模块，解决外部交叉调用，产生一个可重定位的装入模块，以及产生可选的内存映像文件。连接成功生成</a:t>
            </a:r>
            <a:r>
              <a:rPr lang="en-US" altLang="zh-CN" dirty="0"/>
              <a:t>EXE</a:t>
            </a:r>
            <a:r>
              <a:rPr lang="zh-CN" altLang="en-US" dirty="0"/>
              <a:t>文件。</a:t>
            </a:r>
            <a:endParaRPr lang="en-US" altLang="zh-CN" dirty="0"/>
          </a:p>
          <a:p>
            <a:r>
              <a:rPr lang="zh-CN" altLang="en-US" dirty="0"/>
              <a:t>第四步：运行检验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检验运行结果是否也目标需求相符。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2120" y="317500"/>
            <a:ext cx="6392545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altLang="zh-CN" sz="2600" kern="0" dirty="0" err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DoSBox</a:t>
            </a:r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的使用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539552" y="1052736"/>
            <a:ext cx="8229600" cy="4530725"/>
          </a:xfrm>
        </p:spPr>
        <p:txBody>
          <a:bodyPr/>
          <a:lstStyle/>
          <a:p>
            <a:r>
              <a:rPr lang="zh-CN" altLang="en-US" dirty="0"/>
              <a:t>运行</a:t>
            </a:r>
            <a:r>
              <a:rPr lang="en-US" altLang="zh-CN" dirty="0" err="1"/>
              <a:t>DOSBox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zh-CN" altLang="en-US" dirty="0"/>
              <a:t>双击桌面上的</a:t>
            </a:r>
            <a:r>
              <a:rPr lang="en-US" altLang="zh-CN" dirty="0" err="1"/>
              <a:t>DOSBox</a:t>
            </a:r>
            <a:r>
              <a:rPr lang="zh-CN" altLang="en-US" dirty="0"/>
              <a:t>快捷方式，   ，运行</a:t>
            </a:r>
            <a:r>
              <a:rPr lang="en-US" altLang="zh-CN" dirty="0"/>
              <a:t>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DOSBox</a:t>
            </a:r>
            <a:r>
              <a:rPr lang="en-US" altLang="zh-CN" dirty="0"/>
              <a:t> 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认识</a:t>
            </a:r>
            <a:r>
              <a:rPr lang="en-US" altLang="zh-CN" dirty="0" err="1"/>
              <a:t>DOSBox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2160" y="1370765"/>
            <a:ext cx="457200" cy="75247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772" y="3032956"/>
            <a:ext cx="5613090" cy="3718889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2120" y="317500"/>
            <a:ext cx="6392545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altLang="zh-CN" sz="2600" kern="0" dirty="0" err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DoSBox</a:t>
            </a:r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的使用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—</a:t>
            </a:r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上机过程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2120" y="1052736"/>
            <a:ext cx="8229600" cy="4530725"/>
          </a:xfrm>
        </p:spPr>
        <p:txBody>
          <a:bodyPr/>
          <a:lstStyle/>
          <a:p>
            <a:r>
              <a:rPr lang="zh-CN" altLang="en-US" dirty="0"/>
              <a:t>挂接：</a:t>
            </a:r>
            <a:endParaRPr lang="en-US" altLang="zh-CN" dirty="0"/>
          </a:p>
          <a:p>
            <a:r>
              <a:rPr lang="en-US" altLang="zh-CN" dirty="0"/>
              <a:t>mount C F:\masmProject</a:t>
            </a:r>
            <a:endParaRPr lang="en-US" altLang="zh-CN" dirty="0"/>
          </a:p>
          <a:p>
            <a:r>
              <a:rPr lang="en-US" altLang="zh-CN" dirty="0"/>
              <a:t>C:</a:t>
            </a:r>
            <a:endParaRPr lang="en-US" altLang="zh-CN" dirty="0"/>
          </a:p>
          <a:p>
            <a:r>
              <a:rPr lang="en-US" altLang="zh-CN" dirty="0" err="1"/>
              <a:t>DoSBox</a:t>
            </a:r>
            <a:r>
              <a:rPr lang="zh-CN" altLang="en-US" dirty="0"/>
              <a:t>就会把所建立的文件夹当做它模拟的</a:t>
            </a:r>
            <a:r>
              <a:rPr lang="en-US" altLang="zh-CN" dirty="0"/>
              <a:t>DOS</a:t>
            </a:r>
            <a:r>
              <a:rPr lang="zh-CN" altLang="en-US" dirty="0"/>
              <a:t>系统里面的</a:t>
            </a:r>
            <a:r>
              <a:rPr lang="en-US" altLang="zh-CN" dirty="0"/>
              <a:t>C</a:t>
            </a:r>
            <a:r>
              <a:rPr lang="zh-CN" altLang="en-US" dirty="0"/>
              <a:t>盘看待。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7" name="图片 6"/>
          <p:cNvPicPr/>
          <p:nvPr/>
        </p:nvPicPr>
        <p:blipFill>
          <a:blip r:embed="rId1"/>
          <a:stretch>
            <a:fillRect/>
          </a:stretch>
        </p:blipFill>
        <p:spPr>
          <a:xfrm>
            <a:off x="2054953" y="3465004"/>
            <a:ext cx="4792315" cy="327838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5875" y="3088810"/>
            <a:ext cx="5696273" cy="3774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39552" y="1151111"/>
            <a:ext cx="821410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MASM5.0</a:t>
            </a:r>
            <a:r>
              <a:rPr lang="zh-CN" altLang="en-US" dirty="0"/>
              <a:t>中四个重要的</a:t>
            </a:r>
            <a:r>
              <a:rPr lang="en-US" altLang="zh-CN" dirty="0"/>
              <a:t>EXE</a:t>
            </a:r>
            <a:r>
              <a:rPr lang="zh-CN" altLang="en-US" dirty="0"/>
              <a:t>文件：</a:t>
            </a: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r>
              <a:rPr lang="en-US" altLang="zh-CN" dirty="0"/>
              <a:t>EDIT.COM:	</a:t>
            </a:r>
            <a:r>
              <a:rPr lang="zh-CN" altLang="en-US" dirty="0">
                <a:solidFill>
                  <a:srgbClr val="FF0000"/>
                </a:solidFill>
              </a:rPr>
              <a:t>编辑源程序</a:t>
            </a:r>
            <a:endParaRPr lang="en-US" altLang="zh-CN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dirty="0"/>
              <a:t>MASM.EXE</a:t>
            </a:r>
            <a:r>
              <a:rPr lang="zh-CN" altLang="en-US" dirty="0"/>
              <a:t>：</a:t>
            </a:r>
            <a:r>
              <a:rPr lang="en-US" altLang="zh-CN" dirty="0"/>
              <a:t>	</a:t>
            </a:r>
            <a:r>
              <a:rPr lang="zh-CN" altLang="en-US" dirty="0">
                <a:solidFill>
                  <a:srgbClr val="FF0000"/>
                </a:solidFill>
              </a:rPr>
              <a:t>对源程序进行汇编以生成目标程序</a:t>
            </a:r>
            <a:endParaRPr lang="en-US" altLang="zh-CN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dirty="0"/>
              <a:t>LINK.EXE</a:t>
            </a:r>
            <a:r>
              <a:rPr lang="zh-CN" altLang="en-US" dirty="0"/>
              <a:t>：</a:t>
            </a:r>
            <a:r>
              <a:rPr lang="en-US" altLang="zh-CN" dirty="0"/>
              <a:t>	</a:t>
            </a:r>
            <a:r>
              <a:rPr lang="zh-CN" altLang="en-US" dirty="0">
                <a:solidFill>
                  <a:srgbClr val="FF0000"/>
                </a:solidFill>
              </a:rPr>
              <a:t>对目标程序进行连接以生成可执行程序</a:t>
            </a:r>
            <a:endParaRPr lang="en-US" altLang="zh-CN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dirty="0"/>
              <a:t>DEBUG.EXE</a:t>
            </a:r>
            <a:r>
              <a:rPr lang="zh-CN" altLang="en-US" dirty="0"/>
              <a:t>：</a:t>
            </a:r>
            <a:r>
              <a:rPr lang="en-US" altLang="zh-CN" dirty="0"/>
              <a:t>	</a:t>
            </a:r>
            <a:r>
              <a:rPr lang="zh-CN" altLang="en-US" dirty="0">
                <a:solidFill>
                  <a:srgbClr val="FF0000"/>
                </a:solidFill>
              </a:rPr>
              <a:t>对可执行程序进行调试已检验其正确性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457200" y="332656"/>
            <a:ext cx="8229600" cy="49227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buFontTx/>
            </a:pPr>
            <a:r>
              <a:rPr lang="zh-CN" altLang="en-US" sz="2600" kern="0" dirty="0">
                <a:ea typeface="宋体" panose="02010600030101010101" pitchFamily="2" charset="-122"/>
              </a:rPr>
              <a:t>汇编语言程序</a:t>
            </a:r>
            <a:r>
              <a:rPr lang="en-US" altLang="zh-CN" sz="2600" kern="0" dirty="0"/>
              <a:t>—</a:t>
            </a:r>
            <a:r>
              <a:rPr lang="zh-CN" altLang="en-US" sz="2600" kern="0" dirty="0">
                <a:ea typeface="宋体" panose="02010600030101010101" pitchFamily="2" charset="-122"/>
              </a:rPr>
              <a:t>上机过程</a:t>
            </a:r>
            <a:endParaRPr lang="zh-CN" altLang="en-US" sz="2600" kern="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1540" y="944724"/>
            <a:ext cx="8229600" cy="4530725"/>
          </a:xfrm>
        </p:spPr>
        <p:txBody>
          <a:bodyPr/>
          <a:lstStyle/>
          <a:p>
            <a:pPr algn="just"/>
            <a:r>
              <a:rPr lang="zh-CN" altLang="en-US" sz="2200" dirty="0">
                <a:effectLst/>
              </a:rPr>
              <a:t>列表文件（扩展名为</a:t>
            </a:r>
            <a:r>
              <a:rPr lang="en-US" altLang="zh-CN" sz="2200" dirty="0">
                <a:effectLst/>
              </a:rPr>
              <a:t>.LST</a:t>
            </a:r>
            <a:r>
              <a:rPr lang="zh-CN" altLang="en-US" sz="2200" dirty="0">
                <a:effectLst/>
              </a:rPr>
              <a:t>）：把源程序和目标程序列表，以供检查程序用。</a:t>
            </a:r>
            <a:endParaRPr lang="en-US" altLang="zh-CN" sz="2200" dirty="0">
              <a:effectLst/>
            </a:endParaRPr>
          </a:p>
          <a:p>
            <a:pPr algn="just"/>
            <a:r>
              <a:rPr lang="zh-CN" altLang="en-US" sz="2200" dirty="0">
                <a:effectLst/>
              </a:rPr>
              <a:t>交叉索引文件（扩展名为 </a:t>
            </a:r>
            <a:r>
              <a:rPr lang="en-US" altLang="zh-CN" sz="2200" dirty="0">
                <a:effectLst/>
              </a:rPr>
              <a:t>.CRF</a:t>
            </a:r>
            <a:r>
              <a:rPr lang="zh-CN" altLang="en-US" sz="2200" dirty="0">
                <a:effectLst/>
              </a:rPr>
              <a:t>）：它是一个对源程序所用的各种符号进行前后对照的文件。</a:t>
            </a:r>
            <a:endParaRPr lang="en-US" altLang="zh-CN" sz="2200" dirty="0">
              <a:effectLst/>
            </a:endParaRPr>
          </a:p>
          <a:p>
            <a:pPr algn="just"/>
            <a:r>
              <a:rPr lang="zh-CN" altLang="en-US" sz="2200" dirty="0">
                <a:effectLst/>
              </a:rPr>
              <a:t>映像文件（扩展名为 </a:t>
            </a:r>
            <a:r>
              <a:rPr lang="en-US" altLang="zh-CN" sz="2200" dirty="0">
                <a:effectLst/>
              </a:rPr>
              <a:t>.MAP</a:t>
            </a:r>
            <a:r>
              <a:rPr lang="zh-CN" altLang="en-US" sz="2200" dirty="0">
                <a:effectLst/>
              </a:rPr>
              <a:t>）：是一种文本文件，列出各段在存储器中的分配情况。</a:t>
            </a:r>
            <a:endParaRPr lang="zh-CN" altLang="en-US" sz="2200" dirty="0">
              <a:effectLst/>
            </a:endParaRP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3163484"/>
            <a:ext cx="5580620" cy="3697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332656"/>
            <a:ext cx="8229600" cy="49227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buFontTx/>
            </a:pPr>
            <a:r>
              <a:rPr lang="zh-CN" altLang="en-US" sz="2600" kern="0" dirty="0">
                <a:ea typeface="宋体" panose="02010600030101010101" pitchFamily="2" charset="-122"/>
              </a:rPr>
              <a:t>汇编语言程序</a:t>
            </a:r>
            <a:r>
              <a:rPr lang="en-US" altLang="zh-CN" sz="2600" kern="0" dirty="0"/>
              <a:t>—</a:t>
            </a:r>
            <a:r>
              <a:rPr lang="zh-CN" altLang="en-US" sz="2600" kern="0" dirty="0">
                <a:ea typeface="宋体" panose="02010600030101010101" pitchFamily="2" charset="-122"/>
              </a:rPr>
              <a:t>上机过程</a:t>
            </a:r>
            <a:endParaRPr lang="zh-CN" altLang="en-US" sz="2600" kern="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457200" y="332656"/>
            <a:ext cx="8229600" cy="49227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buFontTx/>
            </a:pPr>
            <a:r>
              <a:rPr lang="zh-CN" altLang="en-US" sz="2600" kern="0" dirty="0">
                <a:ea typeface="宋体" panose="02010600030101010101" pitchFamily="2" charset="-122"/>
              </a:rPr>
              <a:t>汇编语言程序</a:t>
            </a:r>
            <a:r>
              <a:rPr lang="en-US" altLang="zh-CN" sz="2600" kern="0" dirty="0"/>
              <a:t>—</a:t>
            </a:r>
            <a:r>
              <a:rPr lang="zh-CN" altLang="en-US" sz="2600" kern="0" dirty="0">
                <a:ea typeface="宋体" panose="02010600030101010101" pitchFamily="2" charset="-122"/>
              </a:rPr>
              <a:t>上机过程</a:t>
            </a:r>
            <a:endParaRPr lang="zh-CN" altLang="en-US" sz="2600" kern="0" dirty="0">
              <a:ea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1784" y="960363"/>
            <a:ext cx="25875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调试工具：</a:t>
            </a:r>
            <a:r>
              <a:rPr lang="en-US" altLang="zh-CN" dirty="0"/>
              <a:t>Debug</a:t>
            </a:r>
            <a:endParaRPr lang="zh-CN" altLang="en-US" dirty="0"/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1644" y="1426344"/>
            <a:ext cx="5002584" cy="3314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550032" y="4833156"/>
            <a:ext cx="824491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0" dirty="0"/>
              <a:t>注意：</a:t>
            </a:r>
            <a:r>
              <a:rPr lang="en-US" altLang="zh-CN" sz="2000" b="0" dirty="0"/>
              <a:t>debug</a:t>
            </a:r>
            <a:r>
              <a:rPr lang="zh-CN" altLang="en-US" sz="2000" b="0" dirty="0"/>
              <a:t>命令在</a:t>
            </a:r>
            <a:r>
              <a:rPr lang="en-US" altLang="zh-CN" sz="2000" b="0" dirty="0"/>
              <a:t>64</a:t>
            </a:r>
            <a:r>
              <a:rPr lang="zh-CN" altLang="en-US" sz="2000" b="0" dirty="0"/>
              <a:t>位操作系统中不能直接运行。</a:t>
            </a:r>
            <a:endParaRPr lang="en-US" altLang="zh-CN" sz="2000" b="0" dirty="0"/>
          </a:p>
          <a:p>
            <a:r>
              <a:rPr lang="zh-CN" altLang="en-US" sz="2000" b="0" dirty="0"/>
              <a:t>解决方法：先安装</a:t>
            </a:r>
            <a:r>
              <a:rPr lang="en-US" altLang="zh-CN" sz="2000" b="0" dirty="0" err="1"/>
              <a:t>DOSBox</a:t>
            </a:r>
            <a:r>
              <a:rPr lang="zh-CN" altLang="en-US" sz="2000" b="0" dirty="0"/>
              <a:t>程序，然后在</a:t>
            </a:r>
            <a:r>
              <a:rPr lang="en-US" altLang="zh-CN" sz="2000" b="0" dirty="0" err="1"/>
              <a:t>DOSBox</a:t>
            </a:r>
            <a:r>
              <a:rPr lang="zh-CN" altLang="en-US" sz="2000" b="0" dirty="0"/>
              <a:t>环境下运行</a:t>
            </a:r>
            <a:r>
              <a:rPr lang="en-US" altLang="zh-CN" sz="2000" b="0" dirty="0"/>
              <a:t>debug</a:t>
            </a:r>
            <a:r>
              <a:rPr lang="zh-CN" altLang="en-US" sz="2000" b="0" dirty="0"/>
              <a:t>程序。</a:t>
            </a:r>
            <a:endParaRPr lang="en-US" altLang="zh-CN" sz="2000" b="0" dirty="0"/>
          </a:p>
          <a:p>
            <a:r>
              <a:rPr lang="zh-CN" altLang="en-US" sz="2000" b="0" dirty="0"/>
              <a:t>步骤：</a:t>
            </a:r>
            <a:r>
              <a:rPr lang="en-US" altLang="zh-CN" sz="2000" b="0" dirty="0"/>
              <a:t>1</a:t>
            </a:r>
            <a:r>
              <a:rPr lang="zh-CN" altLang="en-US" sz="2000" b="0" dirty="0"/>
              <a:t>）先安装</a:t>
            </a:r>
            <a:r>
              <a:rPr lang="en-US" altLang="zh-CN" sz="2000" b="0" dirty="0" err="1"/>
              <a:t>DOSBox</a:t>
            </a:r>
            <a:r>
              <a:rPr lang="zh-CN" altLang="en-US" sz="2000" b="0" dirty="0"/>
              <a:t>程序；</a:t>
            </a:r>
            <a:r>
              <a:rPr lang="en-US" altLang="zh-CN" sz="2000" b="0" dirty="0"/>
              <a:t>2</a:t>
            </a:r>
            <a:r>
              <a:rPr lang="zh-CN" altLang="en-US" sz="2000" b="0" dirty="0"/>
              <a:t>）将</a:t>
            </a:r>
            <a:r>
              <a:rPr lang="en-US" altLang="zh-CN" sz="2000" b="0" dirty="0"/>
              <a:t>debug.exe</a:t>
            </a:r>
            <a:r>
              <a:rPr lang="zh-CN" altLang="en-US" sz="2000" b="0" dirty="0"/>
              <a:t>文件保存在磁盘的根目录（如</a:t>
            </a:r>
            <a:r>
              <a:rPr lang="en-US" altLang="zh-CN" sz="2000" b="0" dirty="0"/>
              <a:t>C</a:t>
            </a:r>
            <a:r>
              <a:rPr lang="zh-CN" altLang="en-US" sz="2000" b="0" dirty="0"/>
              <a:t>盘）；</a:t>
            </a:r>
            <a:r>
              <a:rPr lang="en-US" altLang="zh-CN" sz="2000" b="0" dirty="0"/>
              <a:t>3</a:t>
            </a:r>
            <a:r>
              <a:rPr lang="zh-CN" altLang="en-US" sz="2000" b="0" dirty="0"/>
              <a:t>）打开已经安装好的</a:t>
            </a:r>
            <a:r>
              <a:rPr lang="en-US" altLang="zh-CN" sz="2000" b="0" dirty="0" err="1"/>
              <a:t>DOSBox</a:t>
            </a:r>
            <a:r>
              <a:rPr lang="zh-CN" altLang="en-US" sz="2000" b="0" dirty="0"/>
              <a:t>，输入命令：</a:t>
            </a:r>
            <a:r>
              <a:rPr lang="en-US" altLang="zh-CN" sz="2000" b="0" dirty="0"/>
              <a:t>mount c c:\ </a:t>
            </a:r>
            <a:r>
              <a:rPr lang="zh-CN" altLang="en-US" sz="2000" b="0" dirty="0"/>
              <a:t>；</a:t>
            </a:r>
            <a:endParaRPr lang="en-US" altLang="zh-CN" sz="2000" b="0" dirty="0"/>
          </a:p>
          <a:p>
            <a:r>
              <a:rPr lang="en-US" altLang="zh-CN" sz="2000" b="0" dirty="0"/>
              <a:t>4</a:t>
            </a:r>
            <a:r>
              <a:rPr lang="zh-CN" altLang="en-US" sz="2000" b="0" dirty="0"/>
              <a:t>）在</a:t>
            </a:r>
            <a:r>
              <a:rPr lang="en-US" altLang="zh-CN" sz="2000" b="0" dirty="0" err="1"/>
              <a:t>DOSBox</a:t>
            </a:r>
            <a:r>
              <a:rPr lang="zh-CN" altLang="en-US" sz="2000" b="0" dirty="0"/>
              <a:t>环境下运行</a:t>
            </a:r>
            <a:r>
              <a:rPr lang="en-US" altLang="zh-CN" sz="2000" b="0" dirty="0"/>
              <a:t>debug</a:t>
            </a:r>
            <a:r>
              <a:rPr lang="zh-CN" altLang="en-US" sz="2000" b="0" dirty="0"/>
              <a:t>程序。</a:t>
            </a:r>
            <a:endParaRPr lang="zh-CN" altLang="en-US" sz="2000" b="0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457200" y="332656"/>
            <a:ext cx="8229600" cy="49227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buFontTx/>
            </a:pPr>
            <a:r>
              <a:rPr lang="zh-CN" altLang="en-US" sz="2600" kern="0" dirty="0">
                <a:ea typeface="宋体" panose="02010600030101010101" pitchFamily="2" charset="-122"/>
              </a:rPr>
              <a:t>汇编语言程序</a:t>
            </a:r>
            <a:r>
              <a:rPr lang="en-US" altLang="zh-CN" sz="2600" kern="0" dirty="0"/>
              <a:t>—</a:t>
            </a:r>
            <a:r>
              <a:rPr lang="zh-CN" altLang="en-US" sz="2600" kern="0" dirty="0">
                <a:ea typeface="宋体" panose="02010600030101010101" pitchFamily="2" charset="-122"/>
              </a:rPr>
              <a:t>上机过程</a:t>
            </a:r>
            <a:endParaRPr lang="zh-CN" altLang="en-US" sz="2600" kern="0" dirty="0">
              <a:ea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1784" y="960363"/>
            <a:ext cx="19688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Debug</a:t>
            </a:r>
            <a:r>
              <a:rPr lang="zh-CN" altLang="en-US" dirty="0"/>
              <a:t>命令：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640" y="1340768"/>
            <a:ext cx="6737689" cy="515769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 rotWithShape="1">
          <a:blip r:embed="rId1"/>
          <a:srcRect b="48897"/>
          <a:stretch>
            <a:fillRect/>
          </a:stretch>
        </p:blipFill>
        <p:spPr>
          <a:xfrm>
            <a:off x="339328" y="1002740"/>
            <a:ext cx="6171670" cy="137029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52120" y="317500"/>
            <a:ext cx="6392545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汇编语言程序设计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—</a:t>
            </a:r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上机过程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3140968"/>
            <a:ext cx="6187471" cy="15811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13" y="2373039"/>
            <a:ext cx="6160785" cy="9429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328" y="4551834"/>
            <a:ext cx="6171670" cy="18764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624228" y="1304764"/>
            <a:ext cx="2052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U</a:t>
            </a:r>
            <a:r>
              <a:rPr lang="zh-CN" altLang="en-US" dirty="0"/>
              <a:t>反汇编指令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6624228" y="2672916"/>
            <a:ext cx="1836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</a:t>
            </a:r>
            <a:r>
              <a:rPr lang="zh-CN" altLang="en-US" dirty="0"/>
              <a:t>执行指令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6624228" y="3537012"/>
            <a:ext cx="2052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</a:t>
            </a:r>
            <a:r>
              <a:rPr lang="zh-CN" altLang="en-US" dirty="0"/>
              <a:t>内存</a:t>
            </a:r>
            <a:r>
              <a:rPr lang="en-US" altLang="zh-CN" dirty="0"/>
              <a:t>16</a:t>
            </a:r>
            <a:r>
              <a:rPr lang="zh-CN" altLang="en-US" dirty="0"/>
              <a:t>进制显示指令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6624228" y="4551834"/>
            <a:ext cx="23042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</a:t>
            </a:r>
            <a:r>
              <a:rPr lang="zh-CN" altLang="en-US" dirty="0"/>
              <a:t>修改内存字节指令</a:t>
            </a:r>
            <a:endParaRPr lang="zh-CN" altLang="en-US" dirty="0"/>
          </a:p>
        </p:txBody>
      </p:sp>
      <p:cxnSp>
        <p:nvCxnSpPr>
          <p:cNvPr id="16" name="直接箭头连接符 15"/>
          <p:cNvCxnSpPr/>
          <p:nvPr/>
        </p:nvCxnSpPr>
        <p:spPr bwMode="auto">
          <a:xfrm flipH="1" flipV="1">
            <a:off x="791580" y="4653136"/>
            <a:ext cx="5832648" cy="18002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11" idx="1"/>
          </p:cNvCxnSpPr>
          <p:nvPr/>
        </p:nvCxnSpPr>
        <p:spPr bwMode="auto">
          <a:xfrm flipH="1" flipV="1">
            <a:off x="539552" y="3320988"/>
            <a:ext cx="6084676" cy="631523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 bwMode="auto">
          <a:xfrm flipH="1" flipV="1">
            <a:off x="539552" y="2566789"/>
            <a:ext cx="6187470" cy="405573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9" idx="1"/>
          </p:cNvCxnSpPr>
          <p:nvPr/>
        </p:nvCxnSpPr>
        <p:spPr bwMode="auto">
          <a:xfrm flipH="1" flipV="1">
            <a:off x="539552" y="1282803"/>
            <a:ext cx="6084676" cy="252794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457200" y="332656"/>
            <a:ext cx="8229600" cy="49227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buFontTx/>
            </a:pPr>
            <a:r>
              <a:rPr lang="zh-CN" altLang="en-US" sz="2600" kern="0" dirty="0">
                <a:ea typeface="宋体" panose="02010600030101010101" pitchFamily="2" charset="-122"/>
              </a:rPr>
              <a:t>汇编语言程序</a:t>
            </a:r>
            <a:r>
              <a:rPr lang="en-US" altLang="zh-CN" sz="2600" kern="0" dirty="0"/>
              <a:t>—</a:t>
            </a:r>
            <a:r>
              <a:rPr lang="zh-CN" altLang="en-US" sz="2600" kern="0" dirty="0">
                <a:ea typeface="宋体" panose="02010600030101010101" pitchFamily="2" charset="-122"/>
              </a:rPr>
              <a:t>上机过程</a:t>
            </a:r>
            <a:endParaRPr lang="zh-CN" altLang="en-US" sz="2600" kern="0" dirty="0">
              <a:ea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03848" y="1267522"/>
            <a:ext cx="2412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上机过程总结：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83568" y="2168860"/>
            <a:ext cx="3598659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MASM5.0+DosBox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en-US" altLang="zh-CN" dirty="0"/>
              <a:t>EDIT.COM, MASM.EXE, LINK.EXE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83568" y="4326195"/>
            <a:ext cx="3598659" cy="830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</a:lstStyle>
          <a:p>
            <a:r>
              <a:rPr lang="en-US" altLang="zh-CN" dirty="0"/>
              <a:t>MASM for Windows </a:t>
            </a:r>
            <a:r>
              <a:rPr lang="zh-CN" altLang="en-US" dirty="0"/>
              <a:t>集成实验环境</a:t>
            </a:r>
            <a:r>
              <a:rPr lang="en-US" altLang="zh-CN" dirty="0"/>
              <a:t>(</a:t>
            </a:r>
            <a:r>
              <a:rPr lang="zh-CN" altLang="en-US" dirty="0"/>
              <a:t>内嵌</a:t>
            </a:r>
            <a:r>
              <a:rPr lang="en-US" altLang="zh-CN" dirty="0" err="1"/>
              <a:t>DosBox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894661" y="3320987"/>
            <a:ext cx="936104" cy="830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</a:lstStyle>
          <a:p>
            <a:r>
              <a:rPr lang="zh-CN" altLang="en-US" dirty="0"/>
              <a:t>调试工具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928887" y="3505653"/>
            <a:ext cx="1279517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</a:lstStyle>
          <a:p>
            <a:r>
              <a:rPr lang="en-US" altLang="zh-CN" dirty="0"/>
              <a:t>DEBUG</a:t>
            </a:r>
            <a:endParaRPr lang="zh-CN" altLang="en-US" dirty="0"/>
          </a:p>
        </p:txBody>
      </p:sp>
      <p:sp>
        <p:nvSpPr>
          <p:cNvPr id="8" name="右大括号 7"/>
          <p:cNvSpPr/>
          <p:nvPr/>
        </p:nvSpPr>
        <p:spPr bwMode="auto">
          <a:xfrm>
            <a:off x="4372603" y="2759732"/>
            <a:ext cx="468052" cy="1953508"/>
          </a:xfrm>
          <a:prstGeom prst="rightBrace">
            <a:avLst/>
          </a:prstGeom>
          <a:solidFill>
            <a:schemeClr val="bg1"/>
          </a:solidFill>
          <a:ln w="9525" cap="flat" cmpd="sng" algn="ctr">
            <a:solidFill>
              <a:srgbClr val="3333FF"/>
            </a:solidFill>
            <a:prstDash val="solid"/>
            <a:round/>
            <a:headEnd type="none" w="med" len="med"/>
            <a:tailEnd type="stealth" w="lg" len="lg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0" name="直接箭头连接符 9"/>
          <p:cNvCxnSpPr>
            <a:stCxn id="6" idx="3"/>
            <a:endCxn id="7" idx="1"/>
          </p:cNvCxnSpPr>
          <p:nvPr/>
        </p:nvCxnSpPr>
        <p:spPr bwMode="auto">
          <a:xfrm>
            <a:off x="5830765" y="3736486"/>
            <a:ext cx="1098122" cy="0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3333FF"/>
            </a:solidFill>
            <a:prstDash val="solid"/>
            <a:round/>
            <a:headEnd type="none" w="med" len="med"/>
            <a:tailEnd type="arrow"/>
          </a:ln>
        </p:spPr>
      </p:cxnSp>
      <p:sp>
        <p:nvSpPr>
          <p:cNvPr id="12" name="椭圆形标注 11"/>
          <p:cNvSpPr/>
          <p:nvPr/>
        </p:nvSpPr>
        <p:spPr bwMode="auto">
          <a:xfrm>
            <a:off x="4858658" y="5517232"/>
            <a:ext cx="3313742" cy="1044116"/>
          </a:xfrm>
          <a:prstGeom prst="wedgeEllipseCallout">
            <a:avLst>
              <a:gd name="adj1" fmla="val -63374"/>
              <a:gd name="adj2" fmla="val -120559"/>
            </a:avLst>
          </a:prstGeom>
          <a:solidFill>
            <a:schemeClr val="bg1"/>
          </a:solidFill>
          <a:ln w="9525" cap="flat" cmpd="sng" algn="ctr">
            <a:solidFill>
              <a:srgbClr val="66CCFF"/>
            </a:solidFill>
            <a:prstDash val="solid"/>
            <a:round/>
            <a:headEnd type="none" w="med" len="med"/>
            <a:tailEnd type="stealth" w="lg" len="lg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以</a:t>
            </a:r>
            <a:r>
              <a:rPr lang="en-US" altLang="zh-CN" dirty="0">
                <a:solidFill>
                  <a:srgbClr val="FF0000"/>
                </a:solidFill>
              </a:rPr>
              <a:t>MASM for Windows </a:t>
            </a:r>
            <a:r>
              <a:rPr lang="zh-CN" altLang="en-US" dirty="0">
                <a:solidFill>
                  <a:srgbClr val="FF0000"/>
                </a:solidFill>
              </a:rPr>
              <a:t>为主</a:t>
            </a:r>
            <a:endParaRPr kumimoji="0" lang="zh-CN" altLang="en-US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2120" y="317500"/>
            <a:ext cx="6392545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汇编语言程序设计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—</a:t>
            </a:r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上机过程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  <p:sp>
        <p:nvSpPr>
          <p:cNvPr id="5" name="内容占位符 1"/>
          <p:cNvSpPr>
            <a:spLocks noGrp="1"/>
          </p:cNvSpPr>
          <p:nvPr>
            <p:ph idx="1"/>
          </p:nvPr>
        </p:nvSpPr>
        <p:spPr>
          <a:xfrm>
            <a:off x="438286" y="944724"/>
            <a:ext cx="8229600" cy="5595776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必做题</a:t>
            </a:r>
            <a:endParaRPr lang="en-US" altLang="zh-CN" dirty="0"/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zh-CN" altLang="en-US" sz="2000" dirty="0"/>
              <a:t>编写</a:t>
            </a:r>
            <a:r>
              <a:rPr lang="en-US" altLang="zh-CN" sz="2000" dirty="0"/>
              <a:t>hello.asm</a:t>
            </a:r>
            <a:r>
              <a:rPr lang="zh-CN" altLang="en-US" sz="2000" dirty="0"/>
              <a:t>文件，实现输出</a:t>
            </a:r>
            <a:r>
              <a:rPr lang="en-US" altLang="zh-CN" sz="2000" dirty="0"/>
              <a:t>Hello World</a:t>
            </a:r>
            <a:r>
              <a:rPr lang="zh-CN" altLang="en-US" sz="2000" dirty="0"/>
              <a:t>！</a:t>
            </a:r>
            <a:endParaRPr lang="en-US" altLang="zh-CN" sz="20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20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000" dirty="0"/>
              <a:t>2. </a:t>
            </a:r>
            <a:r>
              <a:rPr lang="zh-CN" altLang="en-US" sz="2000" dirty="0"/>
              <a:t>编程实现以下功能，并在</a:t>
            </a:r>
            <a:r>
              <a:rPr lang="en-US" altLang="zh-CN" sz="2000" dirty="0"/>
              <a:t>debug</a:t>
            </a:r>
            <a:r>
              <a:rPr lang="zh-CN" altLang="en-US" sz="2000" dirty="0"/>
              <a:t>模式下，调试程序。</a:t>
            </a:r>
            <a:endParaRPr lang="en-US" altLang="zh-CN" sz="20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000" dirty="0"/>
              <a:t>X</a:t>
            </a:r>
            <a:r>
              <a:rPr lang="zh-CN" altLang="en-US" sz="2000" dirty="0"/>
              <a:t>、</a:t>
            </a:r>
            <a:r>
              <a:rPr lang="en-US" altLang="zh-CN" sz="2000" dirty="0"/>
              <a:t>Y</a:t>
            </a:r>
            <a:r>
              <a:rPr lang="zh-CN" altLang="en-US" sz="2000" dirty="0"/>
              <a:t>均为双精度数，其中</a:t>
            </a:r>
            <a:r>
              <a:rPr lang="en-US" altLang="zh-CN" sz="2000" dirty="0"/>
              <a:t>X=128000H</a:t>
            </a:r>
            <a:r>
              <a:rPr lang="zh-CN" altLang="en-US" sz="2000" dirty="0"/>
              <a:t>、</a:t>
            </a:r>
            <a:r>
              <a:rPr lang="en-US" altLang="zh-CN" sz="2000" dirty="0"/>
              <a:t>Y=109006H</a:t>
            </a:r>
            <a:r>
              <a:rPr lang="zh-CN" altLang="en-US" sz="2000" dirty="0"/>
              <a:t>，分别存放在地址为</a:t>
            </a:r>
            <a:r>
              <a:rPr lang="en-US" altLang="zh-CN" sz="2000" dirty="0"/>
              <a:t>X, X+2</a:t>
            </a:r>
            <a:r>
              <a:rPr lang="zh-CN" altLang="en-US" sz="2000" dirty="0"/>
              <a:t>；</a:t>
            </a:r>
            <a:r>
              <a:rPr lang="en-US" altLang="zh-CN" sz="2000" dirty="0"/>
              <a:t>Y, Y+2</a:t>
            </a:r>
            <a:r>
              <a:rPr lang="zh-CN" altLang="en-US" sz="2000" dirty="0"/>
              <a:t>的存储单元中（高字节存放在高地址中，低字节存放在低地址中），请编程计算</a:t>
            </a:r>
            <a:r>
              <a:rPr lang="en-US" altLang="zh-CN" sz="2000" dirty="0"/>
              <a:t>Z=X+Y-120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2000" dirty="0"/>
              <a:t>参考数据段定义：</a:t>
            </a:r>
            <a:endParaRPr lang="en-US" altLang="zh-CN" sz="20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000" dirty="0"/>
              <a:t>X  DW   12H, 4000H</a:t>
            </a:r>
            <a:endParaRPr lang="en-US" altLang="zh-CN" sz="20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000" dirty="0"/>
              <a:t>Y  DW    10H, 9006H</a:t>
            </a:r>
            <a:endParaRPr lang="en-US" altLang="zh-CN" sz="20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000" dirty="0"/>
              <a:t>Z   DW    ?, ?</a:t>
            </a:r>
            <a:endParaRPr lang="zh-CN" altLang="en-US" sz="2000" dirty="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2544" y="1121658"/>
            <a:ext cx="7235800" cy="4530725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选做题</a:t>
            </a:r>
            <a:endParaRPr lang="en-US" altLang="zh-CN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altLang="zh-CN" b="1" dirty="0"/>
              <a:t>1</a:t>
            </a:r>
            <a:r>
              <a:rPr lang="zh-CN" altLang="en-US" b="1" dirty="0"/>
              <a:t>）编写程序</a:t>
            </a:r>
            <a:r>
              <a:rPr lang="zh-CN" altLang="zh-CN" b="1" dirty="0"/>
              <a:t>实现</a:t>
            </a:r>
            <a:r>
              <a:rPr lang="en-US" altLang="zh-CN" b="1" dirty="0"/>
              <a:t>RES=X+Y</a:t>
            </a:r>
            <a:r>
              <a:rPr lang="zh-CN" altLang="zh-CN" b="1" dirty="0"/>
              <a:t>，结果保存在</a:t>
            </a:r>
            <a:r>
              <a:rPr lang="en-US" altLang="zh-CN" b="1" dirty="0"/>
              <a:t>RES</a:t>
            </a:r>
            <a:r>
              <a:rPr lang="zh-CN" altLang="zh-CN" b="1" dirty="0"/>
              <a:t>单元，其中</a:t>
            </a:r>
            <a:r>
              <a:rPr lang="en-US" altLang="zh-CN" b="1" dirty="0"/>
              <a:t>X=240</a:t>
            </a:r>
            <a:r>
              <a:rPr lang="zh-CN" altLang="zh-CN" b="1" dirty="0"/>
              <a:t>，</a:t>
            </a:r>
            <a:r>
              <a:rPr lang="en-US" altLang="zh-CN" b="1" dirty="0"/>
              <a:t>Y=98</a:t>
            </a:r>
            <a:r>
              <a:rPr lang="zh-CN" altLang="zh-CN" b="1" dirty="0"/>
              <a:t>。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b="1" dirty="0"/>
              <a:t>2</a:t>
            </a:r>
            <a:r>
              <a:rPr lang="zh-CN" altLang="en-US" b="1" dirty="0"/>
              <a:t>）编写</a:t>
            </a:r>
            <a:r>
              <a:rPr lang="zh-CN" altLang="zh-CN" b="1" dirty="0"/>
              <a:t>汇编</a:t>
            </a:r>
            <a:r>
              <a:rPr lang="zh-CN" altLang="en-US" b="1" dirty="0"/>
              <a:t>程序</a:t>
            </a:r>
            <a:r>
              <a:rPr lang="zh-CN" altLang="zh-CN" b="1" dirty="0"/>
              <a:t>实现</a:t>
            </a:r>
            <a:r>
              <a:rPr lang="zh-CN" altLang="en-US" b="1" dirty="0"/>
              <a:t>带符号数的计算</a:t>
            </a:r>
            <a:r>
              <a:rPr lang="en-US" altLang="zh-CN" b="1" dirty="0"/>
              <a:t> (2x-3y)/z</a:t>
            </a:r>
            <a:r>
              <a:rPr lang="zh-CN" altLang="en-US" b="1" dirty="0"/>
              <a:t>，</a:t>
            </a:r>
            <a:r>
              <a:rPr lang="zh-CN" altLang="zh-CN" b="1" dirty="0"/>
              <a:t>数据段定义如</a:t>
            </a:r>
            <a:r>
              <a:rPr lang="zh-CN" altLang="en-US" b="1" dirty="0"/>
              <a:t>下：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dirty="0">
                <a:effectLst/>
              </a:rPr>
              <a:t>    </a:t>
            </a:r>
            <a:r>
              <a:rPr lang="en-US" altLang="zh-CN" sz="2400" dirty="0" err="1">
                <a:effectLst/>
              </a:rPr>
              <a:t>dataseg</a:t>
            </a:r>
            <a:r>
              <a:rPr lang="en-US" altLang="zh-CN" sz="2400" dirty="0">
                <a:effectLst/>
              </a:rPr>
              <a:t> segment</a:t>
            </a:r>
            <a:endParaRPr lang="zh-CN" altLang="zh-CN" sz="2400" dirty="0">
              <a:effectLst/>
            </a:endParaRPr>
          </a:p>
          <a:p>
            <a:pPr marL="0" indent="0">
              <a:buNone/>
            </a:pPr>
            <a:r>
              <a:rPr lang="en-US" altLang="zh-CN" sz="2400" dirty="0">
                <a:effectLst/>
              </a:rPr>
              <a:t>	x  DB   30</a:t>
            </a:r>
            <a:endParaRPr lang="zh-CN" altLang="zh-CN" sz="2400" dirty="0">
              <a:effectLst/>
            </a:endParaRPr>
          </a:p>
          <a:p>
            <a:pPr marL="0" indent="0">
              <a:buNone/>
            </a:pPr>
            <a:r>
              <a:rPr lang="en-US" altLang="zh-CN" sz="2400" dirty="0">
                <a:effectLst/>
              </a:rPr>
              <a:t>	y  DB   8</a:t>
            </a:r>
            <a:endParaRPr lang="zh-CN" altLang="zh-CN" sz="2400" dirty="0">
              <a:effectLst/>
            </a:endParaRPr>
          </a:p>
          <a:p>
            <a:pPr marL="0" indent="0">
              <a:buNone/>
            </a:pPr>
            <a:r>
              <a:rPr lang="en-US" altLang="zh-CN" sz="2400" dirty="0">
                <a:effectLst/>
              </a:rPr>
              <a:t>	z  DB    5</a:t>
            </a:r>
            <a:endParaRPr lang="zh-CN" altLang="zh-CN" sz="2400" dirty="0">
              <a:effectLst/>
            </a:endParaRPr>
          </a:p>
          <a:p>
            <a:pPr marL="0" indent="0">
              <a:buNone/>
            </a:pPr>
            <a:r>
              <a:rPr lang="en-US" altLang="zh-CN" sz="2400" dirty="0">
                <a:effectLst/>
              </a:rPr>
              <a:t>	sum1   DB   ?     ;</a:t>
            </a:r>
            <a:r>
              <a:rPr lang="zh-CN" altLang="en-US" sz="2400" dirty="0">
                <a:effectLst/>
              </a:rPr>
              <a:t>保存商</a:t>
            </a:r>
            <a:endParaRPr lang="zh-CN" altLang="zh-CN" sz="2400" dirty="0">
              <a:effectLst/>
            </a:endParaRPr>
          </a:p>
          <a:p>
            <a:pPr marL="0" indent="0">
              <a:buNone/>
            </a:pPr>
            <a:r>
              <a:rPr lang="en-US" altLang="zh-CN" sz="2400" dirty="0">
                <a:effectLst/>
              </a:rPr>
              <a:t>	sum2   DB   ?     ;</a:t>
            </a:r>
            <a:r>
              <a:rPr lang="zh-CN" altLang="en-US" sz="2400" dirty="0">
                <a:effectLst/>
              </a:rPr>
              <a:t>保存余数</a:t>
            </a:r>
            <a:endParaRPr lang="zh-CN" altLang="zh-CN" sz="2400" dirty="0">
              <a:effectLst/>
            </a:endParaRPr>
          </a:p>
          <a:p>
            <a:pPr marL="0" indent="0">
              <a:buNone/>
            </a:pPr>
            <a:r>
              <a:rPr lang="en-US" altLang="zh-CN" sz="2400" dirty="0">
                <a:effectLst/>
              </a:rPr>
              <a:t>     </a:t>
            </a:r>
            <a:r>
              <a:rPr lang="en-US" altLang="zh-CN" sz="2400" dirty="0" err="1">
                <a:effectLst/>
              </a:rPr>
              <a:t>dataseg</a:t>
            </a:r>
            <a:r>
              <a:rPr lang="en-US" altLang="zh-CN" sz="2400" dirty="0">
                <a:effectLst/>
              </a:rPr>
              <a:t> ends	</a:t>
            </a:r>
            <a:endParaRPr lang="zh-CN" altLang="zh-CN" sz="2400" dirty="0">
              <a:effectLst/>
            </a:endParaRPr>
          </a:p>
          <a:p>
            <a:pPr marL="457200" lvl="1" indent="0">
              <a:buNone/>
            </a:pPr>
            <a:endParaRPr lang="zh-CN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452120" y="317500"/>
            <a:ext cx="6392545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汇编语言程序设计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—</a:t>
            </a:r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上机过程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2120" y="317500"/>
            <a:ext cx="6392545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汇编语言程序设计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—</a:t>
            </a:r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上机过程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51820" y="2636912"/>
            <a:ext cx="443290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600" dirty="0"/>
              <a:t>谢谢！</a:t>
            </a:r>
            <a:endParaRPr lang="zh-CN" altLang="en-US" sz="9600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Level">
  <a:themeElements>
    <a:clrScheme name="Level 9">
      <a:dk1>
        <a:srgbClr val="000000"/>
      </a:dk1>
      <a:lt1>
        <a:srgbClr val="FFFFFF"/>
      </a:lt1>
      <a:dk2>
        <a:srgbClr val="CC3300"/>
      </a:dk2>
      <a:lt2>
        <a:srgbClr val="663300"/>
      </a:lt2>
      <a:accent1>
        <a:srgbClr val="FFCC00"/>
      </a:accent1>
      <a:accent2>
        <a:srgbClr val="CC6600"/>
      </a:accent2>
      <a:accent3>
        <a:srgbClr val="FFFFFF"/>
      </a:accent3>
      <a:accent4>
        <a:srgbClr val="000000"/>
      </a:accent4>
      <a:accent5>
        <a:srgbClr val="FFE2AA"/>
      </a:accent5>
      <a:accent6>
        <a:srgbClr val="B95C00"/>
      </a:accent6>
      <a:hlink>
        <a:srgbClr val="FF0000"/>
      </a:hlink>
      <a:folHlink>
        <a:srgbClr val="996633"/>
      </a:folHlink>
    </a:clrScheme>
    <a:fontScheme name="Level">
      <a:majorFont>
        <a:latin typeface="Times New Roman"/>
        <a:ea typeface="隶书"/>
        <a:cs typeface=""/>
      </a:majorFont>
      <a:minorFont>
        <a:latin typeface="Times New Roman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rgbClr val="66CCFF"/>
          </a:solidFill>
          <a:prstDash val="solid"/>
          <a:round/>
          <a:headEnd type="none" w="med" len="med"/>
          <a:tailEnd type="stealth" w="lg" len="lg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rgbClr val="66CCFF"/>
          </a:solidFill>
          <a:prstDash val="solid"/>
          <a:round/>
          <a:headEnd type="none" w="med" len="med"/>
          <a:tailEnd type="stealth" w="lg" len="lg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9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FF00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Level</Template>
  <TotalTime>0</TotalTime>
  <Words>1655</Words>
  <Application>WPS 演示</Application>
  <PresentationFormat>全屏显示(4:3)</PresentationFormat>
  <Paragraphs>133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Times New Roman</vt:lpstr>
      <vt:lpstr>Verdana</vt:lpstr>
      <vt:lpstr>隶书</vt:lpstr>
      <vt:lpstr>华文楷体</vt:lpstr>
      <vt:lpstr>微软雅黑</vt:lpstr>
      <vt:lpstr>Arial Unicode MS</vt:lpstr>
      <vt:lpstr>Level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哈尔滨工业大学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陈磊工作总结</dc:title>
  <dc:creator>陈磊</dc:creator>
  <cp:lastModifiedBy>高呈歌</cp:lastModifiedBy>
  <cp:revision>864</cp:revision>
  <dcterms:created xsi:type="dcterms:W3CDTF">2004-04-02T12:11:00Z</dcterms:created>
  <dcterms:modified xsi:type="dcterms:W3CDTF">2026-09-18T02:45:09Z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4</vt:r8>
  </property>
  <property fmtid="{D5CDD505-2E9C-101B-9397-08002B2CF9AE}" pid="3" name="KSOProductBuildVer">
    <vt:lpwstr>2052-12.1.0.28043</vt:lpwstr>
  </property>
  <property fmtid="{D5CDD505-2E9C-101B-9397-08002B2CF9AE}" pid="4" name="ICV">
    <vt:lpwstr>CF8D91960BA4443BBED784781E91DBCC_12</vt:lpwstr>
  </property>
</Properties>
</file>