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7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5" d="100"/>
          <a:sy n="95" d="100"/>
        </p:scale>
        <p:origin x="4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304800" y="3587751"/>
            <a:ext cx="114808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0250"/>
            <a:ext cx="85344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242888"/>
            <a:ext cx="27432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242888"/>
            <a:ext cx="80264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-242888"/>
            <a:ext cx="109728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-242888"/>
            <a:ext cx="109728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2400" b="1" noProof="1" dirty="0">
                <a:solidFill>
                  <a:srgbClr val="000000"/>
                </a:solidFill>
                <a:ea typeface="宋体" panose="02010600030101010101" pitchFamily="2" charset="-122"/>
                <a:cs typeface="+mn-ea"/>
              </a:rPr>
            </a:fld>
            <a:endParaRPr lang="zh-CN" altLang="en-US" sz="2400" b="1" noProof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hyperlink" Target="mailto:luguangm@" TargetMode="External"/><Relationship Id="rId17" Type="http://schemas.openxmlformats.org/officeDocument/2006/relationships/image" Target="../media/image2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242887"/>
            <a:ext cx="109728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1" name="Line 8"/>
          <p:cNvSpPr/>
          <p:nvPr/>
        </p:nvSpPr>
        <p:spPr>
          <a:xfrm>
            <a:off x="609600" y="908050"/>
            <a:ext cx="107696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pic>
        <p:nvPicPr>
          <p:cNvPr id="1034" name="Picture 15" descr="logo"/>
          <p:cNvPicPr>
            <a:picLocks noChangeAspect="1"/>
          </p:cNvPicPr>
          <p:nvPr/>
        </p:nvPicPr>
        <p:blipFill>
          <a:blip r:embed="rId17"/>
          <a:srcRect l="9596"/>
          <a:stretch>
            <a:fillRect/>
          </a:stretch>
        </p:blipFill>
        <p:spPr>
          <a:xfrm>
            <a:off x="337096" y="6473825"/>
            <a:ext cx="3022600" cy="37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9012768" y="6491289"/>
            <a:ext cx="2361544" cy="369332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hlinkClick r:id="rId18"/>
              </a:rPr>
              <a:t>luguangm@</a:t>
            </a: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hit.edu.cn</a:t>
            </a:r>
            <a:endParaRPr lang="zh-CN" altLang="en-US" sz="1800" b="1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11041229" y="8620"/>
            <a:ext cx="1151449" cy="89943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9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20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631951" y="1843088"/>
            <a:ext cx="8893175" cy="632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663300"/>
              </a:buClr>
              <a:buSzPct val="75000"/>
              <a:defRPr/>
            </a:pPr>
            <a:r>
              <a:rPr lang="zh-CN" sz="4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实验二：分支程序与循环程序设计</a:t>
            </a:r>
            <a:endParaRPr lang="zh-CN" sz="4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3076" name="Picture 8" descr="logo"/>
          <p:cNvPicPr>
            <a:picLocks noChangeAspect="1"/>
          </p:cNvPicPr>
          <p:nvPr/>
        </p:nvPicPr>
        <p:blipFill>
          <a:blip r:embed="rId1"/>
          <a:srcRect l="9596"/>
          <a:stretch>
            <a:fillRect/>
          </a:stretch>
        </p:blipFill>
        <p:spPr>
          <a:xfrm>
            <a:off x="1524000" y="1"/>
            <a:ext cx="6445250" cy="1069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8184"/>
            <a:ext cx="10972800" cy="638754"/>
          </a:xfrm>
        </p:spPr>
        <p:txBody>
          <a:bodyPr/>
          <a:lstStyle/>
          <a:p>
            <a:r>
              <a:rPr lang="zh-CN" altLang="en-US" dirty="0"/>
              <a:t>必做题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935" y="1163320"/>
            <a:ext cx="10705465" cy="4530725"/>
          </a:xfrm>
        </p:spPr>
        <p:txBody>
          <a:bodyPr/>
          <a:lstStyle/>
          <a:p>
            <a:pPr latinLnBrk="0">
              <a:spcBef>
                <a:spcPts val="1200"/>
              </a:spcBef>
            </a:pPr>
            <a:r>
              <a:rPr lang="zh-CN" altLang="en-US" sz="3600" dirty="0" err="1"/>
              <a:t>在数据段中定义一个有符号字节数组：</a:t>
            </a:r>
            <a:r>
              <a:rPr lang="en-US" altLang="zh-CN" sz="3600" dirty="0">
                <a:sym typeface="+mn-ea"/>
              </a:rPr>
              <a:t> -5, 0, 8, -1, 0, 12, -7, 3, 0, 9</a:t>
            </a:r>
            <a:r>
              <a:rPr lang="zh-CN" altLang="en-US" sz="3600" dirty="0">
                <a:sym typeface="+mn-ea"/>
              </a:rPr>
              <a:t>，</a:t>
            </a:r>
            <a:r>
              <a:rPr lang="zh-CN" altLang="en-US" sz="3600" dirty="0"/>
              <a:t>编写程序遍历该数组，统计：</a:t>
            </a:r>
            <a:endParaRPr lang="zh-CN" altLang="en-US" sz="3600" dirty="0"/>
          </a:p>
          <a:p>
            <a:pPr lvl="1" latinLnBrk="0">
              <a:spcBef>
                <a:spcPts val="1200"/>
              </a:spcBef>
            </a:pPr>
            <a:r>
              <a:rPr lang="zh-CN" altLang="en-US" sz="3600" dirty="0"/>
              <a:t>正数个数</a:t>
            </a:r>
            <a:endParaRPr lang="zh-CN" altLang="en-US" sz="3600" dirty="0"/>
          </a:p>
          <a:p>
            <a:pPr lvl="1" latinLnBrk="0">
              <a:spcBef>
                <a:spcPts val="1200"/>
              </a:spcBef>
            </a:pPr>
            <a:r>
              <a:rPr lang="zh-CN" altLang="en-US" sz="3600" dirty="0"/>
              <a:t>负数个数</a:t>
            </a:r>
            <a:endParaRPr lang="zh-CN" altLang="en-US" sz="3600" dirty="0"/>
          </a:p>
          <a:p>
            <a:pPr lvl="1" latinLnBrk="0">
              <a:spcBef>
                <a:spcPts val="1200"/>
              </a:spcBef>
            </a:pPr>
            <a:r>
              <a:rPr lang="zh-CN" altLang="en-US" sz="3600" dirty="0"/>
              <a:t>零的个数</a:t>
            </a:r>
            <a:endParaRPr lang="zh-CN" altLang="en-US" sz="3600" dirty="0"/>
          </a:p>
          <a:p>
            <a:pPr lvl="1" latinLnBrk="0">
              <a:spcBef>
                <a:spcPts val="1200"/>
              </a:spcBef>
            </a:pPr>
            <a:r>
              <a:rPr lang="zh-CN" altLang="en-US" sz="3600" dirty="0"/>
              <a:t>最大值</a:t>
            </a:r>
            <a:endParaRPr lang="zh-CN" altLang="en-US" sz="3600" dirty="0"/>
          </a:p>
          <a:p>
            <a:pPr lvl="1" latinLnBrk="0">
              <a:spcBef>
                <a:spcPts val="1200"/>
              </a:spcBef>
            </a:pPr>
            <a:r>
              <a:rPr lang="zh-CN" altLang="en-US" sz="3600" dirty="0"/>
              <a:t>最小值</a:t>
            </a:r>
            <a:endParaRPr lang="zh-CN" altLang="en-US" sz="36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8184"/>
            <a:ext cx="10972800" cy="638754"/>
          </a:xfrm>
        </p:spPr>
        <p:txBody>
          <a:bodyPr/>
          <a:lstStyle/>
          <a:p>
            <a:r>
              <a:rPr lang="zh-CN" altLang="en-US" dirty="0"/>
              <a:t>选做题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09345"/>
            <a:ext cx="9291320" cy="4530725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1200"/>
              </a:spcBef>
            </a:pPr>
            <a:r>
              <a:rPr lang="zh-CN" altLang="en-US" sz="3600" dirty="0"/>
              <a:t>从键盘输入一个整数 </a:t>
            </a:r>
            <a:r>
              <a:rPr lang="en-US" altLang="zh-CN" sz="3600" dirty="0"/>
              <a:t>N，</a:t>
            </a:r>
            <a:r>
              <a:rPr lang="zh-CN" altLang="en-US" sz="3600" dirty="0"/>
              <a:t>要求 </a:t>
            </a:r>
            <a:r>
              <a:rPr lang="en-US" altLang="zh-CN" sz="3600" dirty="0"/>
              <a:t>N </a:t>
            </a:r>
            <a:r>
              <a:rPr lang="zh-CN" altLang="en-US" sz="3600" dirty="0"/>
              <a:t>在 1～99 之间。编写程序计算：</a:t>
            </a:r>
            <a:endParaRPr lang="zh-CN" altLang="en-US" sz="3600" dirty="0"/>
          </a:p>
          <a:p>
            <a:pPr lvl="1" latinLnBrk="0">
              <a:lnSpc>
                <a:spcPct val="150000"/>
              </a:lnSpc>
              <a:spcBef>
                <a:spcPts val="1200"/>
              </a:spcBef>
            </a:pPr>
            <a:r>
              <a:rPr lang="en-US" altLang="zh-CN" sz="3600" dirty="0"/>
              <a:t>S = 1 + 2 + 3 + ... + N</a:t>
            </a:r>
            <a:endParaRPr lang="en-US" altLang="zh-CN" sz="3600" dirty="0"/>
          </a:p>
          <a:p>
            <a:pPr lvl="1" latinLnBrk="0">
              <a:lnSpc>
                <a:spcPct val="150000"/>
              </a:lnSpc>
              <a:spcBef>
                <a:spcPts val="1200"/>
              </a:spcBef>
            </a:pPr>
            <a:r>
              <a:rPr lang="zh-CN" altLang="en-US" sz="3600" dirty="0"/>
              <a:t>统计 1～</a:t>
            </a:r>
            <a:r>
              <a:rPr lang="en-US" altLang="zh-CN" sz="3600" dirty="0"/>
              <a:t>N </a:t>
            </a:r>
            <a:r>
              <a:rPr lang="zh-CN" altLang="en-US" sz="3600" dirty="0"/>
              <a:t>中奇数的个数</a:t>
            </a:r>
            <a:endParaRPr lang="zh-CN" altLang="en-US" sz="3600" dirty="0"/>
          </a:p>
          <a:p>
            <a:pPr lvl="1" latinLnBrk="0">
              <a:lnSpc>
                <a:spcPct val="150000"/>
              </a:lnSpc>
              <a:spcBef>
                <a:spcPts val="1200"/>
              </a:spcBef>
            </a:pPr>
            <a:r>
              <a:rPr lang="zh-CN" altLang="en-US" sz="3600" dirty="0"/>
              <a:t>统计 1～</a:t>
            </a:r>
            <a:r>
              <a:rPr lang="en-US" altLang="zh-CN" sz="3600" dirty="0"/>
              <a:t>N </a:t>
            </a:r>
            <a:r>
              <a:rPr lang="zh-CN" altLang="en-US" sz="3600" dirty="0"/>
              <a:t>中偶数的个数</a:t>
            </a:r>
            <a:endParaRPr lang="zh-CN" altLang="en-US" sz="3600" dirty="0"/>
          </a:p>
        </p:txBody>
      </p:sp>
      <p:sp>
        <p:nvSpPr>
          <p:cNvPr id="6" name="Text Box 3077"/>
          <p:cNvSpPr txBox="1">
            <a:spLocks noChangeArrowheads="1"/>
          </p:cNvSpPr>
          <p:nvPr/>
        </p:nvSpPr>
        <p:spPr bwMode="auto">
          <a:xfrm>
            <a:off x="7370063" y="2999100"/>
            <a:ext cx="4212468" cy="255333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/>
              <a:t>DOS</a:t>
            </a:r>
            <a:r>
              <a:rPr lang="zh-CN" altLang="en-US" sz="2000" dirty="0"/>
              <a:t>系统调用</a:t>
            </a:r>
            <a:r>
              <a:rPr lang="en-US" altLang="zh-CN" sz="2000" dirty="0"/>
              <a:t>INT 21H-</a:t>
            </a:r>
            <a:r>
              <a:rPr lang="zh-CN" altLang="en-US" sz="2000" b="1" dirty="0"/>
              <a:t>单字符输入：</a:t>
            </a:r>
            <a:endParaRPr lang="en-US" altLang="zh-CN" sz="2000" b="1" dirty="0"/>
          </a:p>
          <a:p>
            <a:pPr lvl="1">
              <a:spcBef>
                <a:spcPct val="50000"/>
              </a:spcBef>
            </a:pPr>
            <a:r>
              <a:rPr lang="zh-CN" altLang="en-US" sz="2000" b="1" dirty="0"/>
              <a:t>功能号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送</a:t>
            </a:r>
            <a:r>
              <a:rPr lang="en-US" altLang="zh-CN" sz="2000" b="1" dirty="0"/>
              <a:t>AH</a:t>
            </a:r>
            <a:endParaRPr lang="en-US" altLang="zh-CN" sz="2000" b="1" dirty="0"/>
          </a:p>
          <a:p>
            <a:pPr lvl="1">
              <a:spcBef>
                <a:spcPct val="50000"/>
              </a:spcBef>
            </a:pPr>
            <a:r>
              <a:rPr lang="en-US" altLang="zh-CN" sz="2000" b="1" dirty="0"/>
              <a:t>AL=</a:t>
            </a:r>
            <a:r>
              <a:rPr lang="zh-CN" altLang="en-US" sz="2000" b="1" dirty="0"/>
              <a:t>输入字符</a:t>
            </a:r>
            <a:endParaRPr lang="zh-CN" altLang="en-US" sz="2000" b="1" dirty="0"/>
          </a:p>
          <a:p>
            <a:pPr lvl="1">
              <a:spcBef>
                <a:spcPct val="50000"/>
              </a:spcBef>
            </a:pPr>
            <a:endParaRPr lang="zh-CN" altLang="en-US" sz="2000" b="1" dirty="0"/>
          </a:p>
          <a:p>
            <a:pPr lvl="1">
              <a:spcBef>
                <a:spcPct val="50000"/>
              </a:spcBef>
            </a:pPr>
            <a:r>
              <a:rPr lang="zh-CN" altLang="en-US" sz="2000" b="1" dirty="0"/>
              <a:t>注：输入的为</a:t>
            </a:r>
            <a:r>
              <a:rPr lang="zh-CN" altLang="en-US" sz="2000" b="1" dirty="0">
                <a:sym typeface="+mn-ea"/>
              </a:rPr>
              <a:t>数字的</a:t>
            </a:r>
            <a:r>
              <a:rPr lang="en-US" altLang="zh-CN" sz="2000" b="1" dirty="0"/>
              <a:t>ASCII</a:t>
            </a:r>
            <a:r>
              <a:rPr lang="zh-CN" altLang="en-US" sz="2000" b="1" dirty="0"/>
              <a:t>码，需要转换成数字再进行计算。</a:t>
            </a:r>
            <a:endParaRPr lang="zh-CN" altLang="en-US" sz="20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theme/theme1.xml><?xml version="1.0" encoding="utf-8"?>
<a:theme xmlns:a="http://schemas.openxmlformats.org/drawingml/2006/main" name="1_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WPS 演示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Verdana</vt:lpstr>
      <vt:lpstr>隶书</vt:lpstr>
      <vt:lpstr>微软雅黑</vt:lpstr>
      <vt:lpstr>Arial Unicode MS</vt:lpstr>
      <vt:lpstr>华文楷体</vt:lpstr>
      <vt:lpstr>Calibri</vt:lpstr>
      <vt:lpstr>Wingdings</vt:lpstr>
      <vt:lpstr>1_Level</vt:lpstr>
      <vt:lpstr>PowerPoint 演示文稿</vt:lpstr>
      <vt:lpstr>必做题</vt:lpstr>
      <vt:lpstr>选做题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Yff</dc:creator>
  <cp:lastModifiedBy>卢光明</cp:lastModifiedBy>
  <cp:revision>31</cp:revision>
  <dcterms:created xsi:type="dcterms:W3CDTF">2017-09-28T03:13:00Z</dcterms:created>
  <dcterms:modified xsi:type="dcterms:W3CDTF">2026-09-24T06:51:40Z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264D1C3DEBB54A4596C1FF4BC6C56D67_13</vt:lpwstr>
  </property>
</Properties>
</file>