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3"/>
    <p:sldId id="829" r:id="rId4"/>
    <p:sldId id="883" r:id="rId5"/>
    <p:sldId id="899" r:id="rId6"/>
    <p:sldId id="831" r:id="rId7"/>
    <p:sldId id="832" r:id="rId8"/>
    <p:sldId id="833" r:id="rId9"/>
    <p:sldId id="835" r:id="rId10"/>
    <p:sldId id="836" r:id="rId11"/>
    <p:sldId id="900" r:id="rId13"/>
    <p:sldId id="898" r:id="rId14"/>
    <p:sldId id="884" r:id="rId15"/>
    <p:sldId id="885" r:id="rId16"/>
    <p:sldId id="886" r:id="rId17"/>
    <p:sldId id="891" r:id="rId18"/>
    <p:sldId id="892" r:id="rId19"/>
    <p:sldId id="893" r:id="rId20"/>
    <p:sldId id="894" r:id="rId21"/>
    <p:sldId id="895" r:id="rId22"/>
    <p:sldId id="839" r:id="rId23"/>
    <p:sldId id="840" r:id="rId24"/>
    <p:sldId id="841" r:id="rId25"/>
    <p:sldId id="842" r:id="rId26"/>
    <p:sldId id="843" r:id="rId27"/>
    <p:sldId id="844" r:id="rId28"/>
    <p:sldId id="845" r:id="rId29"/>
    <p:sldId id="846" r:id="rId30"/>
    <p:sldId id="847" r:id="rId31"/>
    <p:sldId id="901" r:id="rId32"/>
    <p:sldId id="849" r:id="rId33"/>
    <p:sldId id="850" r:id="rId34"/>
    <p:sldId id="851" r:id="rId35"/>
    <p:sldId id="852" r:id="rId36"/>
    <p:sldId id="853" r:id="rId37"/>
    <p:sldId id="854" r:id="rId38"/>
    <p:sldId id="855" r:id="rId39"/>
    <p:sldId id="859" r:id="rId40"/>
    <p:sldId id="860" r:id="rId41"/>
    <p:sldId id="861" r:id="rId42"/>
    <p:sldId id="863" r:id="rId43"/>
    <p:sldId id="865" r:id="rId44"/>
    <p:sldId id="866" r:id="rId45"/>
    <p:sldId id="867" r:id="rId46"/>
    <p:sldId id="1105" r:id="rId47"/>
    <p:sldId id="1109" r:id="rId48"/>
    <p:sldId id="870" r:id="rId49"/>
    <p:sldId id="873" r:id="rId50"/>
    <p:sldId id="902" r:id="rId51"/>
    <p:sldId id="875" r:id="rId52"/>
    <p:sldId id="876" r:id="rId53"/>
    <p:sldId id="877" r:id="rId54"/>
    <p:sldId id="878" r:id="rId55"/>
    <p:sldId id="879" r:id="rId56"/>
    <p:sldId id="880" r:id="rId57"/>
    <p:sldId id="881" r:id="rId58"/>
    <p:sldId id="903" r:id="rId59"/>
    <p:sldId id="682" r:id="rId60"/>
    <p:sldId id="683" r:id="rId61"/>
    <p:sldId id="769" r:id="rId62"/>
    <p:sldId id="684" r:id="rId63"/>
    <p:sldId id="825" r:id="rId64"/>
    <p:sldId id="685" r:id="rId65"/>
    <p:sldId id="686" r:id="rId66"/>
    <p:sldId id="822" r:id="rId67"/>
    <p:sldId id="823" r:id="rId68"/>
    <p:sldId id="824" r:id="rId69"/>
    <p:sldId id="827" r:id="rId70"/>
    <p:sldId id="771" r:id="rId71"/>
    <p:sldId id="809" r:id="rId72"/>
    <p:sldId id="688" r:id="rId73"/>
    <p:sldId id="694" r:id="rId74"/>
    <p:sldId id="811" r:id="rId75"/>
    <p:sldId id="695" r:id="rId76"/>
    <p:sldId id="696" r:id="rId77"/>
    <p:sldId id="697" r:id="rId78"/>
    <p:sldId id="904" r:id="rId79"/>
    <p:sldId id="698" r:id="rId80"/>
    <p:sldId id="699" r:id="rId81"/>
    <p:sldId id="701" r:id="rId82"/>
    <p:sldId id="812" r:id="rId83"/>
    <p:sldId id="813" r:id="rId84"/>
    <p:sldId id="700" r:id="rId85"/>
    <p:sldId id="702" r:id="rId86"/>
    <p:sldId id="703" r:id="rId87"/>
    <p:sldId id="705" r:id="rId88"/>
    <p:sldId id="704" r:id="rId89"/>
    <p:sldId id="814" r:id="rId90"/>
    <p:sldId id="707" r:id="rId91"/>
    <p:sldId id="708" r:id="rId92"/>
    <p:sldId id="807" r:id="rId93"/>
    <p:sldId id="815" r:id="rId94"/>
    <p:sldId id="709" r:id="rId95"/>
    <p:sldId id="710" r:id="rId96"/>
    <p:sldId id="821" r:id="rId97"/>
    <p:sldId id="711" r:id="rId98"/>
    <p:sldId id="905" r:id="rId99"/>
    <p:sldId id="719" r:id="rId100"/>
    <p:sldId id="720" r:id="rId101"/>
    <p:sldId id="721" r:id="rId102"/>
    <p:sldId id="818" r:id="rId103"/>
    <p:sldId id="819" r:id="rId104"/>
    <p:sldId id="725" r:id="rId105"/>
    <p:sldId id="724" r:id="rId106"/>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9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FF3300"/>
    <a:srgbClr val="CCECFF"/>
    <a:srgbClr val="FFFFCC"/>
    <a:srgbClr val="66CCFF"/>
    <a:srgbClr val="6600FF"/>
    <a:srgbClr val="FF99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0" autoAdjust="0"/>
    <p:restoredTop sz="84886" autoAdjust="0"/>
  </p:normalViewPr>
  <p:slideViewPr>
    <p:cSldViewPr showGuides="1">
      <p:cViewPr varScale="1">
        <p:scale>
          <a:sx n="80" d="100"/>
          <a:sy n="80" d="100"/>
        </p:scale>
        <p:origin x="1920" y="40"/>
      </p:cViewPr>
      <p:guideLst>
        <p:guide orient="horz" pos="2160"/>
        <p:guide pos="2899"/>
      </p:guideLst>
    </p:cSldViewPr>
  </p:slideViewPr>
  <p:outlineViewPr>
    <p:cViewPr>
      <p:scale>
        <a:sx n="25" d="100"/>
        <a:sy n="25" d="100"/>
      </p:scale>
      <p:origin x="0" y="0"/>
    </p:cViewPr>
    <p:sldLst>
      <p:sld r:id="rId1" collapse="1"/>
      <p:sld r:id="rId2" collapse="1"/>
    </p:sldLst>
  </p:outlineViewPr>
  <p:notesTextViewPr>
    <p:cViewPr>
      <p:scale>
        <a:sx n="100" d="100"/>
        <a:sy n="100" d="100"/>
      </p:scale>
      <p:origin x="0" y="0"/>
    </p:cViewPr>
  </p:notesTextViewPr>
  <p:sorterViewPr showFormatting="0">
    <p:cViewPr>
      <p:scale>
        <a:sx n="66" d="100"/>
        <a:sy n="66" d="100"/>
      </p:scale>
      <p:origin x="0" y="0"/>
    </p:cViewPr>
  </p:sorterViewPr>
  <p:gridSpacing cx="36004" cy="36004"/>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9" Type="http://schemas.openxmlformats.org/officeDocument/2006/relationships/tableStyles" Target="tableStyles.xml"/><Relationship Id="rId108" Type="http://schemas.openxmlformats.org/officeDocument/2006/relationships/viewProps" Target="viewProps.xml"/><Relationship Id="rId107" Type="http://schemas.openxmlformats.org/officeDocument/2006/relationships/presProps" Target="presProps.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_rels/viewProps.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slide" Target="slides/slide3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07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072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buFontTx/>
              <a:buNone/>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508"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67072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Click to edit Master text styles</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Second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Third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Fourth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Fifth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072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buFontTx/>
              <a:buNone/>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072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IMUL</a:t>
            </a:r>
            <a:r>
              <a:rPr lang="zh-CN" altLang="en-US" dirty="0"/>
              <a:t>带符号数乘法</a:t>
            </a:r>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Arial" panose="020B0604020202020204" pitchFamily="34" charset="0"/>
              <a:buChar char="•"/>
            </a:pPr>
            <a:r>
              <a:rPr lang="en-US" altLang="zh-CN" b="1" i="0" dirty="0">
                <a:solidFill>
                  <a:srgbClr val="0F1115"/>
                </a:solidFill>
                <a:effectLst/>
                <a:latin typeface="quote-cjk-patch"/>
              </a:rPr>
              <a:t>mov AL, BL</a:t>
            </a:r>
            <a:r>
              <a:rPr lang="zh-CN" altLang="en-US" b="0" i="0" dirty="0">
                <a:solidFill>
                  <a:srgbClr val="0F1115"/>
                </a:solidFill>
                <a:effectLst/>
                <a:latin typeface="quote-cjk-patch"/>
              </a:rPr>
              <a:t>：这条指令需要从</a:t>
            </a:r>
            <a:r>
              <a:rPr lang="en-US" altLang="zh-CN" b="0" i="0" dirty="0">
                <a:solidFill>
                  <a:srgbClr val="0F1115"/>
                </a:solidFill>
                <a:effectLst/>
                <a:latin typeface="quote-cjk-patch"/>
              </a:rPr>
              <a:t>CPU</a:t>
            </a:r>
            <a:r>
              <a:rPr lang="zh-CN" altLang="en-US" b="0" i="0" dirty="0">
                <a:solidFill>
                  <a:srgbClr val="0F1115"/>
                </a:solidFill>
                <a:effectLst/>
                <a:latin typeface="quote-cjk-patch"/>
              </a:rPr>
              <a:t>的</a:t>
            </a:r>
            <a:r>
              <a:rPr lang="zh-CN" altLang="en-US" b="1" i="0" dirty="0">
                <a:solidFill>
                  <a:srgbClr val="0F1115"/>
                </a:solidFill>
                <a:effectLst/>
                <a:latin typeface="quote-cjk-patch"/>
              </a:rPr>
              <a:t>寄存器（</a:t>
            </a:r>
            <a:r>
              <a:rPr lang="en-US" altLang="zh-CN" b="1" i="0" dirty="0">
                <a:solidFill>
                  <a:srgbClr val="0F1115"/>
                </a:solidFill>
                <a:effectLst/>
                <a:latin typeface="quote-cjk-patch"/>
              </a:rPr>
              <a:t>Register</a:t>
            </a:r>
            <a:r>
              <a:rPr lang="zh-CN" altLang="en-US" b="1" i="0" dirty="0">
                <a:solidFill>
                  <a:srgbClr val="0F1115"/>
                </a:solidFill>
                <a:effectLst/>
                <a:latin typeface="quote-cjk-patch"/>
              </a:rPr>
              <a:t>）</a:t>
            </a:r>
            <a:r>
              <a:rPr lang="zh-CN" altLang="en-US" b="0" i="0" dirty="0">
                <a:solidFill>
                  <a:srgbClr val="0F1115"/>
                </a:solidFill>
                <a:effectLst/>
                <a:latin typeface="quote-cjk-patch"/>
              </a:rPr>
              <a:t> 中读取数据。具体来说，它需要等待</a:t>
            </a:r>
            <a:r>
              <a:rPr lang="en-US" altLang="zh-CN" b="0" i="0" dirty="0">
                <a:solidFill>
                  <a:srgbClr val="0F1115"/>
                </a:solidFill>
                <a:effectLst/>
                <a:latin typeface="quote-cjk-patch"/>
              </a:rPr>
              <a:t>CPU</a:t>
            </a:r>
            <a:r>
              <a:rPr lang="zh-CN" altLang="en-US" b="0" i="0" dirty="0">
                <a:solidFill>
                  <a:srgbClr val="0F1115"/>
                </a:solidFill>
                <a:effectLst/>
                <a:latin typeface="quote-cjk-patch"/>
              </a:rPr>
              <a:t>从</a:t>
            </a:r>
            <a:r>
              <a:rPr lang="en-US" altLang="zh-CN" b="1" i="0" dirty="0">
                <a:solidFill>
                  <a:srgbClr val="0F1115"/>
                </a:solidFill>
                <a:effectLst/>
                <a:latin typeface="quote-cjk-patch"/>
              </a:rPr>
              <a:t>BL</a:t>
            </a:r>
            <a:r>
              <a:rPr lang="zh-CN" altLang="en-US" b="1" i="0" dirty="0">
                <a:solidFill>
                  <a:srgbClr val="0F1115"/>
                </a:solidFill>
                <a:effectLst/>
                <a:latin typeface="quote-cjk-patch"/>
              </a:rPr>
              <a:t>寄存器</a:t>
            </a:r>
            <a:r>
              <a:rPr lang="zh-CN" altLang="en-US" b="0" i="0" dirty="0">
                <a:solidFill>
                  <a:srgbClr val="0F1115"/>
                </a:solidFill>
                <a:effectLst/>
                <a:latin typeface="quote-cjk-patch"/>
              </a:rPr>
              <a:t>中取出值，然后才能将其写入</a:t>
            </a:r>
            <a:r>
              <a:rPr lang="en-US" altLang="zh-CN" b="1" i="0" dirty="0">
                <a:solidFill>
                  <a:srgbClr val="0F1115"/>
                </a:solidFill>
                <a:effectLst/>
                <a:latin typeface="quote-cjk-patch"/>
              </a:rPr>
              <a:t>AL</a:t>
            </a:r>
            <a:r>
              <a:rPr lang="zh-CN" altLang="en-US" b="1" i="0" dirty="0">
                <a:solidFill>
                  <a:srgbClr val="0F1115"/>
                </a:solidFill>
                <a:effectLst/>
                <a:latin typeface="quote-cjk-patch"/>
              </a:rPr>
              <a:t>寄存器</a:t>
            </a:r>
            <a:r>
              <a:rPr lang="zh-CN" altLang="en-US" b="0" i="0" dirty="0">
                <a:solidFill>
                  <a:srgbClr val="0F1115"/>
                </a:solidFill>
                <a:effectLst/>
                <a:latin typeface="quote-cjk-patch"/>
              </a:rPr>
              <a:t>。虽然寄存器访问速度极快（在</a:t>
            </a:r>
            <a:r>
              <a:rPr lang="en-US" altLang="zh-CN" b="0" i="0" dirty="0">
                <a:solidFill>
                  <a:srgbClr val="0F1115"/>
                </a:solidFill>
                <a:effectLst/>
                <a:latin typeface="quote-cjk-patch"/>
              </a:rPr>
              <a:t>CPU</a:t>
            </a:r>
            <a:r>
              <a:rPr lang="zh-CN" altLang="en-US" b="0" i="0" dirty="0">
                <a:solidFill>
                  <a:srgbClr val="0F1115"/>
                </a:solidFill>
                <a:effectLst/>
                <a:latin typeface="quote-cjk-patch"/>
              </a:rPr>
              <a:t>内部，纳秒级别），但它仍然是一个“读取</a:t>
            </a:r>
            <a:r>
              <a:rPr lang="en-US" altLang="zh-CN" b="0" i="0" dirty="0">
                <a:solidFill>
                  <a:srgbClr val="0F1115"/>
                </a:solidFill>
                <a:effectLst/>
                <a:latin typeface="quote-cjk-patch"/>
              </a:rPr>
              <a:t>-</a:t>
            </a:r>
            <a:r>
              <a:rPr lang="zh-CN" altLang="en-US" b="0" i="0" dirty="0">
                <a:solidFill>
                  <a:srgbClr val="0F1115"/>
                </a:solidFill>
                <a:effectLst/>
                <a:latin typeface="quote-cjk-patch"/>
              </a:rPr>
              <a:t>传输</a:t>
            </a:r>
            <a:r>
              <a:rPr lang="en-US" altLang="zh-CN" b="0" i="0" dirty="0">
                <a:solidFill>
                  <a:srgbClr val="0F1115"/>
                </a:solidFill>
                <a:effectLst/>
                <a:latin typeface="quote-cjk-patch"/>
              </a:rPr>
              <a:t>-</a:t>
            </a:r>
            <a:r>
              <a:rPr lang="zh-CN" altLang="en-US" b="0" i="0" dirty="0">
                <a:solidFill>
                  <a:srgbClr val="0F1115"/>
                </a:solidFill>
                <a:effectLst/>
                <a:latin typeface="quote-cjk-patch"/>
              </a:rPr>
              <a:t>写入”的过程，并且依赖于</a:t>
            </a:r>
            <a:r>
              <a:rPr lang="en-US" altLang="zh-CN" b="0" i="0" dirty="0">
                <a:solidFill>
                  <a:srgbClr val="0F1115"/>
                </a:solidFill>
                <a:effectLst/>
                <a:latin typeface="quote-cjk-patch"/>
              </a:rPr>
              <a:t>BL</a:t>
            </a:r>
            <a:r>
              <a:rPr lang="zh-CN" altLang="en-US" b="0" i="0" dirty="0">
                <a:solidFill>
                  <a:srgbClr val="0F1115"/>
                </a:solidFill>
                <a:effectLst/>
                <a:latin typeface="quote-cjk-patch"/>
              </a:rPr>
              <a:t>寄存器中的值是否已经就绪（如果上一条指令正在计算</a:t>
            </a:r>
            <a:r>
              <a:rPr lang="en-US" altLang="zh-CN" b="0" i="0" dirty="0">
                <a:solidFill>
                  <a:srgbClr val="0F1115"/>
                </a:solidFill>
                <a:effectLst/>
                <a:latin typeface="quote-cjk-patch"/>
              </a:rPr>
              <a:t>BL</a:t>
            </a:r>
            <a:r>
              <a:rPr lang="zh-CN" altLang="en-US" b="0" i="0" dirty="0">
                <a:solidFill>
                  <a:srgbClr val="0F1115"/>
                </a:solidFill>
                <a:effectLst/>
                <a:latin typeface="quote-cjk-patch"/>
              </a:rPr>
              <a:t>的值，可能存在极短的依赖等待）。</a:t>
            </a:r>
            <a:endParaRPr lang="zh-CN" altLang="en-US" b="0" i="0" dirty="0">
              <a:solidFill>
                <a:srgbClr val="0F1115"/>
              </a:solidFill>
              <a:effectLst/>
              <a:latin typeface="quote-cjk-patch"/>
            </a:endParaRPr>
          </a:p>
          <a:p>
            <a:pPr algn="l">
              <a:buFont typeface="Arial" panose="020B0604020202020204" pitchFamily="34" charset="0"/>
              <a:buChar char="•"/>
            </a:pPr>
            <a:r>
              <a:rPr lang="en-US" altLang="zh-CN" b="1" i="0" dirty="0">
                <a:solidFill>
                  <a:srgbClr val="0F1115"/>
                </a:solidFill>
                <a:effectLst/>
                <a:latin typeface="quote-cjk-patch"/>
              </a:rPr>
              <a:t>mov AL, 0</a:t>
            </a:r>
            <a:r>
              <a:rPr lang="zh-CN" altLang="en-US" b="0" i="0" dirty="0">
                <a:solidFill>
                  <a:srgbClr val="0F1115"/>
                </a:solidFill>
                <a:effectLst/>
                <a:latin typeface="quote-cjk-patch"/>
              </a:rPr>
              <a:t>：这条指令的操作数是一个</a:t>
            </a:r>
            <a:r>
              <a:rPr lang="zh-CN" altLang="en-US" b="1" i="0" dirty="0">
                <a:solidFill>
                  <a:srgbClr val="0F1115"/>
                </a:solidFill>
                <a:effectLst/>
                <a:latin typeface="quote-cjk-patch"/>
              </a:rPr>
              <a:t>立即数（</a:t>
            </a:r>
            <a:r>
              <a:rPr lang="en-US" altLang="zh-CN" b="1" i="0" dirty="0">
                <a:solidFill>
                  <a:srgbClr val="0F1115"/>
                </a:solidFill>
                <a:effectLst/>
                <a:latin typeface="quote-cjk-patch"/>
              </a:rPr>
              <a:t>Immediate Value</a:t>
            </a:r>
            <a:r>
              <a:rPr lang="zh-CN" altLang="en-US" b="1" i="0" dirty="0">
                <a:solidFill>
                  <a:srgbClr val="0F1115"/>
                </a:solidFill>
                <a:effectLst/>
                <a:latin typeface="quote-cjk-patch"/>
              </a:rPr>
              <a:t>）</a:t>
            </a:r>
            <a:r>
              <a:rPr lang="zh-CN" altLang="en-US" b="0" i="0" dirty="0">
                <a:solidFill>
                  <a:srgbClr val="0F1115"/>
                </a:solidFill>
                <a:effectLst/>
                <a:latin typeface="quote-cjk-patch"/>
              </a:rPr>
              <a:t>，也就是常数 </a:t>
            </a:r>
            <a:r>
              <a:rPr lang="en-US" altLang="zh-CN" b="0" i="0" dirty="0">
                <a:solidFill>
                  <a:srgbClr val="0F1115"/>
                </a:solidFill>
                <a:effectLst/>
                <a:latin typeface="quote-cjk-patch"/>
              </a:rPr>
              <a:t>0</a:t>
            </a:r>
            <a:r>
              <a:rPr lang="zh-CN" altLang="en-US" b="0" i="0" dirty="0">
                <a:solidFill>
                  <a:srgbClr val="0F1115"/>
                </a:solidFill>
                <a:effectLst/>
                <a:latin typeface="quote-cjk-patch"/>
              </a:rPr>
              <a:t>。这个常数 </a:t>
            </a:r>
            <a:r>
              <a:rPr lang="en-US" altLang="zh-CN" b="0" i="0" dirty="0">
                <a:solidFill>
                  <a:srgbClr val="0F1115"/>
                </a:solidFill>
                <a:effectLst/>
                <a:latin typeface="quote-cjk-patch"/>
              </a:rPr>
              <a:t>0 </a:t>
            </a:r>
            <a:r>
              <a:rPr lang="zh-CN" altLang="en-US" b="0" i="0" dirty="0">
                <a:solidFill>
                  <a:srgbClr val="0F1115"/>
                </a:solidFill>
                <a:effectLst/>
                <a:latin typeface="quote-cjk-patch"/>
              </a:rPr>
              <a:t>是直接编码在指令本身的二进制代码里的。</a:t>
            </a:r>
            <a:r>
              <a:rPr lang="en-US" altLang="zh-CN" b="0" i="0" dirty="0">
                <a:solidFill>
                  <a:srgbClr val="0F1115"/>
                </a:solidFill>
                <a:effectLst/>
                <a:latin typeface="quote-cjk-patch"/>
              </a:rPr>
              <a:t>CPU</a:t>
            </a:r>
            <a:r>
              <a:rPr lang="zh-CN" altLang="en-US" b="0" i="0" dirty="0">
                <a:solidFill>
                  <a:srgbClr val="0F1115"/>
                </a:solidFill>
                <a:effectLst/>
                <a:latin typeface="quote-cjk-patch"/>
              </a:rPr>
              <a:t>在执行这条指令时，不需要去任何地方“读取”这个</a:t>
            </a:r>
            <a:r>
              <a:rPr lang="en-US" altLang="zh-CN" b="0" i="0" dirty="0">
                <a:solidFill>
                  <a:srgbClr val="0F1115"/>
                </a:solidFill>
                <a:effectLst/>
                <a:latin typeface="quote-cjk-patch"/>
              </a:rPr>
              <a:t>0</a:t>
            </a:r>
            <a:r>
              <a:rPr lang="zh-CN" altLang="en-US" b="0" i="0" dirty="0">
                <a:solidFill>
                  <a:srgbClr val="0F1115"/>
                </a:solidFill>
                <a:effectLst/>
                <a:latin typeface="quote-cjk-patch"/>
              </a:rPr>
              <a:t>，它直接从指令流中获取这个值。这减少了一个数据依赖环节。</a:t>
            </a:r>
            <a:endParaRPr lang="zh-CN" altLang="en-US" b="0" i="0" dirty="0">
              <a:solidFill>
                <a:srgbClr val="0F1115"/>
              </a:solidFill>
              <a:effectLst/>
              <a:latin typeface="quote-cjk-patch"/>
            </a:endParaRPr>
          </a:p>
          <a:p>
            <a:pPr algn="l">
              <a:buFont typeface="Arial" panose="020B0604020202020204" pitchFamily="34" charset="0"/>
              <a:buChar char="•"/>
            </a:pPr>
            <a:r>
              <a:rPr lang="en-US" altLang="zh-CN" b="1" i="0" dirty="0">
                <a:solidFill>
                  <a:srgbClr val="0F1115"/>
                </a:solidFill>
                <a:effectLst/>
                <a:latin typeface="quote-cjk-patch"/>
              </a:rPr>
              <a:t>mov AL, BL</a:t>
            </a:r>
            <a:r>
              <a:rPr lang="zh-CN" altLang="en-US" b="0" i="0" dirty="0">
                <a:solidFill>
                  <a:srgbClr val="0F1115"/>
                </a:solidFill>
                <a:effectLst/>
                <a:latin typeface="quote-cjk-patch"/>
              </a:rPr>
              <a:t> 的机器码更短（通常是</a:t>
            </a:r>
            <a:r>
              <a:rPr lang="en-US" altLang="zh-CN" b="0" i="0" dirty="0">
                <a:solidFill>
                  <a:srgbClr val="0F1115"/>
                </a:solidFill>
                <a:effectLst/>
                <a:latin typeface="quote-cjk-patch"/>
              </a:rPr>
              <a:t>2</a:t>
            </a:r>
            <a:r>
              <a:rPr lang="zh-CN" altLang="en-US" b="0" i="0" dirty="0">
                <a:solidFill>
                  <a:srgbClr val="0F1115"/>
                </a:solidFill>
                <a:effectLst/>
                <a:latin typeface="quote-cjk-patch"/>
              </a:rPr>
              <a:t>个字节：</a:t>
            </a:r>
            <a:r>
              <a:rPr lang="en-US" altLang="zh-CN" b="0" i="0" dirty="0">
                <a:solidFill>
                  <a:srgbClr val="0F1115"/>
                </a:solidFill>
                <a:effectLst/>
                <a:latin typeface="quote-cjk-patch"/>
              </a:rPr>
              <a:t>88 D8 </a:t>
            </a:r>
            <a:r>
              <a:rPr lang="zh-CN" altLang="en-US" b="0" i="0" dirty="0">
                <a:solidFill>
                  <a:srgbClr val="0F1115"/>
                </a:solidFill>
                <a:effectLst/>
                <a:latin typeface="quote-cjk-patch"/>
              </a:rPr>
              <a:t>或 </a:t>
            </a:r>
            <a:r>
              <a:rPr lang="en-US" altLang="zh-CN" b="0" i="0" dirty="0">
                <a:solidFill>
                  <a:srgbClr val="0F1115"/>
                </a:solidFill>
                <a:effectLst/>
                <a:latin typeface="quote-cjk-patch"/>
              </a:rPr>
              <a:t>8A C3</a:t>
            </a:r>
            <a:r>
              <a:rPr lang="zh-CN" altLang="en-US" b="0" i="0" dirty="0">
                <a:solidFill>
                  <a:srgbClr val="0F1115"/>
                </a:solidFill>
                <a:effectLst/>
                <a:latin typeface="quote-cjk-patch"/>
              </a:rPr>
              <a:t>，具体取决于编码）。</a:t>
            </a:r>
            <a:endParaRPr lang="zh-CN" altLang="en-US" b="0" i="0" dirty="0">
              <a:solidFill>
                <a:srgbClr val="0F1115"/>
              </a:solidFill>
              <a:effectLst/>
              <a:latin typeface="quote-cjk-patch"/>
            </a:endParaRPr>
          </a:p>
          <a:p>
            <a:pPr algn="l">
              <a:buFont typeface="Arial" panose="020B0604020202020204" pitchFamily="34" charset="0"/>
              <a:buChar char="•"/>
            </a:pPr>
            <a:r>
              <a:rPr lang="en-US" altLang="zh-CN" b="1" i="0" dirty="0">
                <a:solidFill>
                  <a:srgbClr val="0F1115"/>
                </a:solidFill>
                <a:effectLst/>
                <a:latin typeface="quote-cjk-patch"/>
              </a:rPr>
              <a:t>mov AL, 0</a:t>
            </a:r>
            <a:r>
              <a:rPr lang="zh-CN" altLang="en-US" b="0" i="0" dirty="0">
                <a:solidFill>
                  <a:srgbClr val="0F1115"/>
                </a:solidFill>
                <a:effectLst/>
                <a:latin typeface="quote-cjk-patch"/>
              </a:rPr>
              <a:t> 的机器码稍长（通常是</a:t>
            </a:r>
            <a:r>
              <a:rPr lang="en-US" altLang="zh-CN" b="0" i="0" dirty="0">
                <a:solidFill>
                  <a:srgbClr val="0F1115"/>
                </a:solidFill>
                <a:effectLst/>
                <a:latin typeface="quote-cjk-patch"/>
              </a:rPr>
              <a:t>2</a:t>
            </a:r>
            <a:r>
              <a:rPr lang="zh-CN" altLang="en-US" b="0" i="0" dirty="0">
                <a:solidFill>
                  <a:srgbClr val="0F1115"/>
                </a:solidFill>
                <a:effectLst/>
                <a:latin typeface="quote-cjk-patch"/>
              </a:rPr>
              <a:t>个或</a:t>
            </a:r>
            <a:r>
              <a:rPr lang="en-US" altLang="zh-CN" b="0" i="0" dirty="0">
                <a:solidFill>
                  <a:srgbClr val="0F1115"/>
                </a:solidFill>
                <a:effectLst/>
                <a:latin typeface="quote-cjk-patch"/>
              </a:rPr>
              <a:t>3</a:t>
            </a:r>
            <a:r>
              <a:rPr lang="zh-CN" altLang="en-US" b="0" i="0" dirty="0">
                <a:solidFill>
                  <a:srgbClr val="0F1115"/>
                </a:solidFill>
                <a:effectLst/>
                <a:latin typeface="quote-cjk-patch"/>
              </a:rPr>
              <a:t>个字节，例如：</a:t>
            </a:r>
            <a:r>
              <a:rPr lang="en-US" altLang="zh-CN" b="0" i="0" dirty="0">
                <a:solidFill>
                  <a:srgbClr val="0F1115"/>
                </a:solidFill>
                <a:effectLst/>
                <a:latin typeface="quote-cjk-patch"/>
              </a:rPr>
              <a:t>B0 00</a:t>
            </a:r>
            <a:r>
              <a:rPr lang="zh-CN" altLang="en-US" b="0" i="0" dirty="0">
                <a:solidFill>
                  <a:srgbClr val="0F1115"/>
                </a:solidFill>
                <a:effectLst/>
                <a:latin typeface="quote-cjk-patch"/>
              </a:rPr>
              <a:t>）。</a:t>
            </a:r>
            <a:endParaRPr lang="zh-CN" altLang="en-US" b="0" i="0" dirty="0">
              <a:solidFill>
                <a:srgbClr val="0F1115"/>
              </a:solidFill>
              <a:effectLst/>
              <a:latin typeface="quote-cjk-patch"/>
            </a:endParaRPr>
          </a:p>
          <a:p>
            <a:pPr algn="l"/>
            <a:r>
              <a:rPr lang="zh-CN" altLang="en-US" b="0" i="0" dirty="0">
                <a:solidFill>
                  <a:srgbClr val="0F1115"/>
                </a:solidFill>
                <a:effectLst/>
                <a:latin typeface="quote-cjk-patch"/>
              </a:rPr>
              <a:t>理论上，更短的指令可以更快地被解码器获取，有利于提高指令吞吐量。但是，这个微小的优势与 </a:t>
            </a:r>
            <a:r>
              <a:rPr lang="en-US" altLang="zh-CN" b="0" i="0" dirty="0">
                <a:solidFill>
                  <a:srgbClr val="0F1115"/>
                </a:solidFill>
                <a:effectLst/>
                <a:latin typeface="quote-cjk-patch"/>
              </a:rPr>
              <a:t>mov AL, 0 </a:t>
            </a:r>
            <a:r>
              <a:rPr lang="zh-CN" altLang="en-US" b="0" i="0" dirty="0">
                <a:solidFill>
                  <a:srgbClr val="0F1115"/>
                </a:solidFill>
                <a:effectLst/>
                <a:latin typeface="quote-cjk-patch"/>
              </a:rPr>
              <a:t>在</a:t>
            </a:r>
            <a:r>
              <a:rPr lang="zh-CN" altLang="en-US" b="1" i="0" dirty="0">
                <a:solidFill>
                  <a:srgbClr val="0F1115"/>
                </a:solidFill>
                <a:effectLst/>
                <a:latin typeface="quote-cjk-patch"/>
              </a:rPr>
              <a:t>执行阶段</a:t>
            </a:r>
            <a:r>
              <a:rPr lang="zh-CN" altLang="en-US" b="0" i="0" dirty="0">
                <a:solidFill>
                  <a:srgbClr val="0F1115"/>
                </a:solidFill>
                <a:effectLst/>
                <a:latin typeface="quote-cjk-patch"/>
              </a:rPr>
              <a:t>的巨大优势相比，完全可以忽略不计。</a:t>
            </a:r>
            <a:endParaRPr lang="zh-CN" altLang="en-US" b="0" i="0" dirty="0">
              <a:solidFill>
                <a:srgbClr val="0F1115"/>
              </a:solidFill>
              <a:effectLst/>
              <a:latin typeface="quote-cjk-patch"/>
            </a:endParaRPr>
          </a:p>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回车</a:t>
            </a:r>
            <a:r>
              <a:rPr lang="en-US" altLang="zh-CN"/>
              <a:t>13</a:t>
            </a:r>
            <a:r>
              <a:rPr lang="zh-CN" altLang="en-US"/>
              <a:t>，换行</a:t>
            </a:r>
            <a:r>
              <a:rPr lang="en-US" altLang="zh-CN"/>
              <a:t>10</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MOV DX</a:t>
            </a:r>
            <a:r>
              <a:rPr lang="zh-CN" altLang="en-US" dirty="0"/>
              <a:t>，</a:t>
            </a:r>
            <a:r>
              <a:rPr lang="en-US" altLang="zh-CN" dirty="0"/>
              <a:t>BLOCK+</a:t>
            </a:r>
            <a:r>
              <a:rPr lang="zh-CN" altLang="en-US" dirty="0"/>
              <a:t>（</a:t>
            </a:r>
            <a:r>
              <a:rPr lang="en-US" altLang="zh-CN" dirty="0"/>
              <a:t>6-1</a:t>
            </a:r>
            <a:r>
              <a:rPr lang="zh-CN" altLang="en-US" dirty="0"/>
              <a:t>）*</a:t>
            </a:r>
            <a:r>
              <a:rPr lang="en-US" altLang="zh-CN" dirty="0"/>
              <a:t>2</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effectLst/>
                <a:latin typeface="quote-cjk-patch"/>
              </a:rPr>
              <a:t>MOV DS, 0x4B00</a:t>
            </a:r>
            <a:r>
              <a:rPr lang="zh-CN" altLang="en-US" b="0" dirty="0">
                <a:effectLst/>
                <a:latin typeface="quote-cjk-patch"/>
              </a:rPr>
              <a:t>违反了</a:t>
            </a:r>
            <a:r>
              <a:rPr lang="en-US" altLang="zh-CN" b="0" dirty="0">
                <a:effectLst/>
                <a:latin typeface="quote-cjk-patch"/>
              </a:rPr>
              <a:t>x86</a:t>
            </a:r>
            <a:r>
              <a:rPr lang="zh-CN" altLang="en-US" b="0" dirty="0">
                <a:effectLst/>
                <a:latin typeface="quote-cjk-patch"/>
              </a:rPr>
              <a:t>指令集规则：</a:t>
            </a:r>
            <a:r>
              <a:rPr lang="zh-CN" altLang="en-US" b="1" dirty="0">
                <a:effectLst/>
                <a:latin typeface="quote-cjk-patch"/>
              </a:rPr>
              <a:t>不能将立即数直接移动到段寄存器</a:t>
            </a:r>
            <a:r>
              <a:rPr lang="zh-CN" altLang="en-US" b="0" dirty="0">
                <a:effectLst/>
                <a:latin typeface="quote-cjk-patch"/>
              </a:rPr>
              <a:t>。</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panose="020B0604020202020204" pitchFamily="34" charset="0"/>
                <a:ea typeface="宋体" panose="02010600030101010101" pitchFamily="2" charset="-122"/>
                <a:cs typeface="+mn-cs"/>
              </a:rPr>
              <a:t>若</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SP</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当前值等于</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SS</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段址的内的最小值，即</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SP</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为</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0</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时</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堆栈满</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若</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SP</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当前值等于堆栈指定的</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SP</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初始值时，堆栈空。</a:t>
            </a: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SP</a:t>
            </a:r>
            <a:r>
              <a:rPr lang="zh-CN" altLang="en-US" dirty="0"/>
              <a:t>指向栈顶，初始化时</a:t>
            </a:r>
            <a:r>
              <a:rPr lang="en-US" altLang="zh-CN" dirty="0" err="1"/>
              <a:t>sp</a:t>
            </a:r>
            <a:r>
              <a:rPr lang="zh-CN" altLang="en-US" dirty="0"/>
              <a:t>的值等于堆栈段的长度。</a:t>
            </a:r>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altLang="zh-CN" dirty="0"/>
              <a:t>OFFSET</a:t>
            </a:r>
            <a:r>
              <a:rPr lang="zh-CN" altLang="en-US" dirty="0"/>
              <a:t>只能与简单的符号地址连用，而不能与其他复杂的寻址方式连用，如</a:t>
            </a:r>
            <a:r>
              <a:rPr lang="en-US" altLang="zh-CN" sz="1200" dirty="0">
                <a:solidFill>
                  <a:srgbClr val="000000"/>
                </a:solidFill>
              </a:rPr>
              <a:t>[BX+SI+0F62H]</a:t>
            </a:r>
            <a:endParaRPr lang="en-US" altLang="zh-CN" sz="1200" dirty="0">
              <a:solidFill>
                <a:srgbClr val="000000"/>
              </a:solidFill>
            </a:endParaRPr>
          </a:p>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最简单的算术运算，计算机如何保证计算的正确性？</a:t>
            </a:r>
            <a:endParaRPr lang="en-US" altLang="zh-CN" dirty="0"/>
          </a:p>
          <a:p>
            <a:r>
              <a:rPr lang="zh-CN" altLang="en-US" dirty="0"/>
              <a:t>无符号数的最高有效位只有数值意义而无符号意义，即产生的进位是计算结果的实际进位值，但在有限数位的范围内就说明了结果的溢出情况。</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-128</a:t>
            </a: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带符号数乘法和除法的符号位：两个操作数的符号位异或的结果既代表了运算结果的符号。</a:t>
            </a: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无符号数在高位进行零扩展，数值不变</a:t>
            </a:r>
            <a:endParaRPr lang="en-US" altLang="zh-CN" dirty="0"/>
          </a:p>
          <a:p>
            <a:r>
              <a:rPr lang="zh-CN" altLang="en-US"/>
              <a:t>带符号数在高位进行符号扩展。</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7"/>
          <p:cNvGrpSpPr/>
          <p:nvPr/>
        </p:nvGrpSpPr>
        <p:grpSpPr>
          <a:xfrm>
            <a:off x="228600" y="3587750"/>
            <a:ext cx="8610600" cy="201613"/>
            <a:chOff x="144" y="1680"/>
            <a:chExt cx="5424" cy="144"/>
          </a:xfrm>
        </p:grpSpPr>
        <p:sp>
          <p:nvSpPr>
            <p:cNvPr id="13" name="Rectangle 8"/>
            <p:cNvSpPr>
              <a:spLocks noChangeArrowheads="1"/>
            </p:cNvSpPr>
            <p:nvPr/>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Rectangle 9"/>
            <p:cNvSpPr>
              <a:spLocks noChangeArrowheads="1"/>
            </p:cNvSpPr>
            <p:nvPr/>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Rectangle 10"/>
            <p:cNvSpPr>
              <a:spLocks noChangeArrowheads="1"/>
            </p:cNvSpPr>
            <p:nvPr/>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91842" name="Rectangle 2"/>
          <p:cNvSpPr>
            <a:spLocks noGrp="1" noChangeArrowheads="1"/>
          </p:cNvSpPr>
          <p:nvPr>
            <p:ph type="ctrTitle"/>
          </p:nvPr>
        </p:nvSpPr>
        <p:spPr>
          <a:xfrm>
            <a:off x="685800" y="685800"/>
            <a:ext cx="7772400" cy="2127250"/>
          </a:xfrm>
        </p:spPr>
        <p:txBody>
          <a:bodyPr/>
          <a:lstStyle>
            <a:lvl1pPr>
              <a:defRPr sz="2800">
                <a:solidFill>
                  <a:srgbClr val="3333FF"/>
                </a:solidFill>
                <a:latin typeface="宋体" panose="02010600030101010101" pitchFamily="2" charset="-122"/>
                <a:ea typeface="宋体" panose="02010600030101010101" pitchFamily="2" charset="-122"/>
              </a:defRPr>
            </a:lvl1pPr>
          </a:lstStyle>
          <a:p>
            <a:r>
              <a:rPr lang="zh-CN" altLang="en-US" noProof="1"/>
              <a:t>单击此处编辑母版标题样式</a:t>
            </a:r>
            <a:endParaRPr lang="zh-CN" altLang="en-US" noProof="1"/>
          </a:p>
        </p:txBody>
      </p:sp>
      <p:sp>
        <p:nvSpPr>
          <p:cNvPr id="291843" name="Rectangle 3"/>
          <p:cNvSpPr>
            <a:spLocks noGrp="1" noChangeArrowheads="1"/>
          </p:cNvSpPr>
          <p:nvPr>
            <p:ph type="subTitle" idx="1"/>
          </p:nvPr>
        </p:nvSpPr>
        <p:spPr>
          <a:xfrm>
            <a:off x="1371600" y="3270250"/>
            <a:ext cx="6400800" cy="2209800"/>
          </a:xfrm>
        </p:spPr>
        <p:txBody>
          <a:bodyPr/>
          <a:lstStyle>
            <a:lvl1pPr marL="0" indent="0" algn="ctr">
              <a:buFont typeface="Wingdings" panose="05000000000000000000" pitchFamily="2" charset="2"/>
              <a:buNone/>
              <a:defRPr sz="3000"/>
            </a:lvl1pPr>
          </a:lstStyle>
          <a:p>
            <a:r>
              <a:rPr lang="zh-CN" altLang="en-US" noProof="1"/>
              <a:t>单击此处编辑母版副标题样式</a:t>
            </a:r>
            <a:endParaRPr lang="zh-CN" altLang="en-US" noProof="1"/>
          </a:p>
        </p:txBody>
      </p:sp>
      <p:sp>
        <p:nvSpPr>
          <p:cNvPr id="16" name="Rectangle 4"/>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8" name="Rectangle 6"/>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t" anchorCtr="0" compatLnSpc="1"/>
          <a:lstStyle/>
          <a:p>
            <a:pPr lvl="0" algn="r" eaLnBrk="1" hangingPunct="1"/>
            <a:fld id="{9A0DB2DC-4C9A-4742-B13C-FB6460FD3503}" type="slidenum">
              <a:rPr lang="en-US" altLang="zh-CN" sz="1000" b="0" dirty="0">
                <a:latin typeface="Verdana" panose="020B0604030504040204" pitchFamily="34" charset="0"/>
              </a:rPr>
            </a:fld>
            <a:endParaRPr lang="en-US" altLang="zh-CN" sz="1000" b="0" dirty="0">
              <a:latin typeface="Verdana" panose="020B0604030504040204" pitchFamily="34" charset="0"/>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42888"/>
            <a:ext cx="2057400" cy="63738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42888"/>
            <a:ext cx="6019800" cy="63738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42888"/>
            <a:ext cx="8229600" cy="6373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42888"/>
            <a:ext cx="8229600" cy="1139826"/>
          </a:xfrm>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a:xfrm>
            <a:off x="457200" y="1600200"/>
            <a:ext cx="82296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Blip>
                <a:blip r:embed="rId2"/>
              </a:buBlip>
              <a:defRPr/>
            </a:pPr>
            <a:endParaRPr kumimoji="0" lang="zh-CN" altLang="en-US" sz="28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SmartArt 占位符 2"/>
          <p:cNvSpPr>
            <a:spLocks noGrp="1"/>
          </p:cNvSpPr>
          <p:nvPr>
            <p:ph type="pic" idx="1"/>
          </p:nvPr>
        </p:nvSpPr>
        <p:spPr/>
        <p:txBody>
          <a:bodyPr/>
          <a:lstStyle/>
          <a:p>
            <a:pPr fontAlgn="base"/>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p>
        </p:txBody>
      </p:sp>
      <p:sp>
        <p:nvSpPr>
          <p:cNvPr id="5" name="页脚占位符 4"/>
          <p:cNvSpPr>
            <a:spLocks noGrp="1"/>
          </p:cNvSpPr>
          <p:nvPr>
            <p:ph type="ftr" sz="quarter" idx="11"/>
          </p:nvPr>
        </p:nvSpPr>
        <p:spPr/>
        <p:txBody>
          <a:bodyPr/>
          <a:lstStyle/>
          <a:p>
            <a:pPr lvl="0" fontAlgn="base"/>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lstStyle/>
          <a:p>
            <a:pPr lvl="0" fontAlgn="base"/>
            <a:fld id="{9A0DB2DC-4C9A-4742-B13C-FB6460FD3503}" type="slidenum">
              <a:rPr lang="en-US" altLang="zh-CN" strike="noStrike" noProof="1" dirty="0">
                <a:latin typeface="Times New Roman" panose="02020603050405020304" pitchFamily="18" charset="0"/>
                <a:ea typeface="宋体" panose="02010600030101010101" pitchFamily="2" charset="-122"/>
                <a:cs typeface="+mn-ea"/>
              </a:rPr>
            </a:fld>
            <a:endParaRPr lang="zh-CN"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3.GIF"/><Relationship Id="rId18" Type="http://schemas.openxmlformats.org/officeDocument/2006/relationships/image" Target="../media/image1.png"/><Relationship Id="rId17" Type="http://schemas.openxmlformats.org/officeDocument/2006/relationships/image" Target="../media/image2.png"/><Relationship Id="rId16" Type="http://schemas.openxmlformats.org/officeDocument/2006/relationships/hyperlink" Target="mailto:luguangm@gmail.com" TargetMode="Externa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bwMode="auto">
          <a:xfrm>
            <a:off x="457200" y="-242887"/>
            <a:ext cx="8229600" cy="1139825"/>
          </a:xfrm>
          <a:prstGeom prst="rect">
            <a:avLst/>
          </a:prstGeom>
          <a:noFill/>
          <a:ln w="9525">
            <a:noFill/>
            <a:miter lim="800000"/>
          </a:ln>
          <a:effectLst/>
        </p:spPr>
        <p:txBody>
          <a:bodyPr vert="horz" wrap="square" lIns="91440" tIns="45720" rIns="91440" bIns="45720" numCol="1" anchor="b" anchorCtr="0" compatLnSpc="1"/>
          <a:lstStyle/>
          <a:p>
            <a:pPr lvl="0"/>
            <a:r>
              <a:rPr lang="zh-CN" altLang="en-US" noProof="1"/>
              <a:t>单击此处编辑母版标题样式</a:t>
            </a:r>
            <a:endParaRPr lang="zh-CN" altLang="en-US" noProof="1"/>
          </a:p>
        </p:txBody>
      </p:sp>
      <p:sp>
        <p:nvSpPr>
          <p:cNvPr id="290819" name="Rectangle 3"/>
          <p:cNvSpPr>
            <a:spLocks noGrp="1" noChangeArrowheads="1"/>
          </p:cNvSpPr>
          <p:nvPr>
            <p:ph type="body" idx="1"/>
          </p:nvPr>
        </p:nvSpPr>
        <p:spPr bwMode="auto">
          <a:xfrm>
            <a:off x="457200" y="1600200"/>
            <a:ext cx="8229600" cy="45307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290820" name="Rectangle 4"/>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000" b="0">
                <a:latin typeface="Verdan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9082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buFontTx/>
              <a:buNone/>
              <a:defRPr sz="1000" b="0">
                <a:latin typeface="Verdan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0"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1" name="Line 8"/>
          <p:cNvSpPr/>
          <p:nvPr/>
        </p:nvSpPr>
        <p:spPr>
          <a:xfrm>
            <a:off x="457200" y="908050"/>
            <a:ext cx="8077200" cy="0"/>
          </a:xfrm>
          <a:prstGeom prst="line">
            <a:avLst/>
          </a:prstGeom>
          <a:ln w="19050" cap="flat" cmpd="sng">
            <a:solidFill>
              <a:schemeClr val="tx2"/>
            </a:solidFill>
            <a:prstDash val="solid"/>
            <a:headEnd type="none" w="med" len="med"/>
            <a:tailEnd type="none" w="med" len="med"/>
          </a:ln>
        </p:spPr>
      </p:sp>
      <p:sp>
        <p:nvSpPr>
          <p:cNvPr id="1032"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60" name="Rectangle 12"/>
          <p:cNvSpPr>
            <a:spLocks noChangeArrowheads="1"/>
          </p:cNvSpPr>
          <p:nvPr/>
        </p:nvSpPr>
        <p:spPr bwMode="auto">
          <a:xfrm>
            <a:off x="6759575" y="6491288"/>
            <a:ext cx="2384425" cy="366713"/>
          </a:xfrm>
          <a:prstGeom prst="rect">
            <a:avLst/>
          </a:prstGeom>
          <a:noFill/>
          <a:ln w="9525">
            <a:noFill/>
            <a:miter lim="800000"/>
            <a:tailEnd type="none" w="lg" len="lg"/>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rgbClr val="3333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hlinkClick r:id="rId16"/>
              </a:rPr>
              <a:t>luguangm@gmail.com</a:t>
            </a:r>
            <a:endParaRPr kumimoji="0" lang="zh-CN" altLang="en-US" sz="1800" b="1" i="0" u="none" strike="noStrike" kern="1200" cap="none" spc="0" normalizeH="0" baseline="0" noProof="0">
              <a:ln>
                <a:noFill/>
              </a:ln>
              <a:solidFill>
                <a:srgbClr val="3333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2" name="Text Box 4"/>
          <p:cNvSpPr txBox="1">
            <a:spLocks noChangeArrowheads="1"/>
          </p:cNvSpPr>
          <p:nvPr userDrawn="1"/>
        </p:nvSpPr>
        <p:spPr bwMode="auto">
          <a:xfrm>
            <a:off x="7951787" y="8620"/>
            <a:ext cx="1192721" cy="764703"/>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/102</a:t>
            </a:r>
            <a:endParaRPr lang="en-US" altLang="zh-CN" sz="2000" b="0" dirty="0">
              <a:solidFill>
                <a:srgbClr val="FF0000"/>
              </a:solidFill>
              <a:ea typeface="宋体" panose="02010600030101010101" pitchFamily="2" charset="-122"/>
            </a:endParaRPr>
          </a:p>
        </p:txBody>
      </p:sp>
      <p:pic>
        <p:nvPicPr>
          <p:cNvPr id="13" name="图片 12"/>
          <p:cNvPicPr>
            <a:picLocks noChangeAspect="1"/>
          </p:cNvPicPr>
          <p:nvPr userDrawn="1"/>
        </p:nvPicPr>
        <p:blipFill>
          <a:blip r:embed="rId17"/>
          <a:stretch>
            <a:fillRect/>
          </a:stretch>
        </p:blipFill>
        <p:spPr>
          <a:xfrm>
            <a:off x="228531" y="6561348"/>
            <a:ext cx="1355137" cy="28963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hf sldNum="0"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2pPr>
      <a:lvl3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3pPr>
      <a:lvl4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4pPr>
      <a:lvl5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8"/>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19"/>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8"/>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GIF"/><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GIF"/><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oleObject" Target="../embeddings/oleObject1.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7.xml"/><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5" name="Rectangle 3"/>
          <p:cNvSpPr>
            <a:spLocks noGrp="1" noChangeArrowheads="1"/>
          </p:cNvSpPr>
          <p:nvPr>
            <p:ph type="subTitle" idx="1"/>
          </p:nvPr>
        </p:nvSpPr>
        <p:spPr>
          <a:xfrm>
            <a:off x="359093" y="4584065"/>
            <a:ext cx="8424863" cy="541338"/>
          </a:xfrm>
        </p:spPr>
        <p:txBody>
          <a:bodyPr vert="horz" wrap="square" lIns="91440" tIns="45720" rIns="91440" bIns="45720" numCol="1" anchor="t" anchorCtr="0" compatLnSpc="1"/>
          <a:lstStyle/>
          <a:p>
            <a:pPr marL="0" marR="0" lvl="0" indent="0" algn="ctr" defTabSz="914400" rtl="0" eaLnBrk="1" fontAlgn="base" latinLnBrk="0" hangingPunct="1">
              <a:lnSpc>
                <a:spcPct val="80000"/>
              </a:lnSpc>
              <a:spcBef>
                <a:spcPct val="20000"/>
              </a:spcBef>
              <a:spcAft>
                <a:spcPct val="0"/>
              </a:spcAft>
              <a:buClr>
                <a:schemeClr val="bg2"/>
              </a:buClr>
              <a:buSzPct val="75000"/>
              <a:buFont typeface="Wingdings" panose="05000000000000000000" pitchFamily="2" charset="2"/>
              <a:buNone/>
              <a:defRPr/>
            </a:pPr>
            <a:r>
              <a:rPr kumimoji="0" lang="zh-CN" altLang="en-US"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rPr>
              <a:t>卢光明</a:t>
            </a:r>
            <a:endParaRPr kumimoji="0" lang="en-US" altLang="zh-CN"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endParaRPr>
          </a:p>
          <a:p>
            <a:pPr marL="0" marR="0" lvl="0" indent="0" algn="ctr" defTabSz="914400" rtl="0" eaLnBrk="1" fontAlgn="base" latinLnBrk="0" hangingPunct="1">
              <a:lnSpc>
                <a:spcPct val="80000"/>
              </a:lnSpc>
              <a:spcBef>
                <a:spcPct val="20000"/>
              </a:spcBef>
              <a:spcAft>
                <a:spcPct val="0"/>
              </a:spcAft>
              <a:buClr>
                <a:schemeClr val="bg2"/>
              </a:buClr>
              <a:buSzPct val="75000"/>
              <a:buFont typeface="Wingdings" panose="05000000000000000000" pitchFamily="2" charset="2"/>
              <a:buNone/>
              <a:defRPr/>
            </a:pPr>
            <a:endParaRPr kumimoji="0" lang="zh-CN" altLang="en-US"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endParaRPr>
          </a:p>
        </p:txBody>
      </p:sp>
      <p:sp>
        <p:nvSpPr>
          <p:cNvPr id="320516" name="Text Box 4"/>
          <p:cNvSpPr txBox="1">
            <a:spLocks noChangeArrowheads="1"/>
          </p:cNvSpPr>
          <p:nvPr/>
        </p:nvSpPr>
        <p:spPr bwMode="auto">
          <a:xfrm>
            <a:off x="107950" y="1843088"/>
            <a:ext cx="8893175" cy="2022475"/>
          </a:xfrm>
          <a:prstGeom prst="rect">
            <a:avLst/>
          </a:prstGeom>
          <a:noFill/>
          <a:ln w="9525">
            <a:noFill/>
            <a:miter lim="800000"/>
          </a:ln>
          <a:effectLst/>
        </p:spPr>
        <p:txBody>
          <a:bodyPr>
            <a:spAutoFit/>
          </a:bodyPr>
          <a:lstStyle/>
          <a:p>
            <a:pPr marR="0" algn="ctr" defTabSz="914400">
              <a:lnSpc>
                <a:spcPct val="80000"/>
              </a:lnSpc>
              <a:spcBef>
                <a:spcPts val="1200"/>
              </a:spcBef>
              <a:buClr>
                <a:srgbClr val="663300"/>
              </a:buClr>
              <a:buSzPct val="75000"/>
              <a:buFontTx/>
              <a:buNone/>
              <a:defRPr/>
            </a:pPr>
            <a:r>
              <a:rPr kumimoji="0" lang="zh-CN" altLang="en-US"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rPr>
              <a:t>汇编语言与接口技术</a:t>
            </a:r>
            <a:endParaRPr kumimoji="0" lang="en-US" altLang="zh-CN"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endParaRPr>
          </a:p>
          <a:p>
            <a:pPr algn="ctr">
              <a:lnSpc>
                <a:spcPct val="80000"/>
              </a:lnSpc>
              <a:spcBef>
                <a:spcPts val="1200"/>
              </a:spcBef>
              <a:buClr>
                <a:srgbClr val="663300"/>
              </a:buClr>
              <a:buSzPct val="75000"/>
              <a:defRPr/>
            </a:pPr>
            <a:r>
              <a:rPr lang="zh-CN" altLang="en-US" sz="4400" dirty="0">
                <a:solidFill>
                  <a:srgbClr val="FF3300"/>
                </a:solidFill>
                <a:effectLst>
                  <a:outerShdw blurRad="38100" dist="38100" dir="2700000" algn="tl">
                    <a:srgbClr val="C0C0C0"/>
                  </a:outerShdw>
                </a:effectLst>
                <a:ea typeface="隶书" panose="02010509060101010101" pitchFamily="49" charset="-122"/>
              </a:rPr>
              <a:t>第</a:t>
            </a:r>
            <a:r>
              <a:rPr lang="en-US" altLang="zh-CN" sz="4400" dirty="0">
                <a:solidFill>
                  <a:srgbClr val="FF3300"/>
                </a:solidFill>
                <a:effectLst>
                  <a:outerShdw blurRad="38100" dist="38100" dir="2700000" algn="tl">
                    <a:srgbClr val="C0C0C0"/>
                  </a:outerShdw>
                </a:effectLst>
                <a:ea typeface="隶书" panose="02010509060101010101" pitchFamily="49" charset="-122"/>
              </a:rPr>
              <a:t>3&amp;4</a:t>
            </a:r>
            <a:r>
              <a:rPr lang="zh-CN" altLang="en-US" sz="4400" dirty="0">
                <a:solidFill>
                  <a:srgbClr val="FF3300"/>
                </a:solidFill>
                <a:effectLst>
                  <a:outerShdw blurRad="38100" dist="38100" dir="2700000" algn="tl">
                    <a:srgbClr val="C0C0C0"/>
                  </a:outerShdw>
                </a:effectLst>
                <a:ea typeface="隶书" panose="02010509060101010101" pitchFamily="49" charset="-122"/>
              </a:rPr>
              <a:t>讲：</a:t>
            </a:r>
            <a:r>
              <a:rPr lang="en-US" altLang="zh-CN" sz="4400" dirty="0">
                <a:solidFill>
                  <a:srgbClr val="FF3300"/>
                </a:solidFill>
                <a:effectLst>
                  <a:outerShdw blurRad="38100" dist="38100" dir="2700000" algn="tl">
                    <a:srgbClr val="C0C0C0"/>
                  </a:outerShdw>
                </a:effectLst>
                <a:ea typeface="隶书" panose="02010509060101010101" pitchFamily="49" charset="-122"/>
              </a:rPr>
              <a:t>8086/8088</a:t>
            </a:r>
            <a:r>
              <a:rPr lang="zh-CN" altLang="en-US" sz="4400" dirty="0">
                <a:solidFill>
                  <a:srgbClr val="FF3300"/>
                </a:solidFill>
                <a:effectLst>
                  <a:outerShdw blurRad="38100" dist="38100" dir="2700000" algn="tl">
                    <a:srgbClr val="C0C0C0"/>
                  </a:outerShdw>
                </a:effectLst>
                <a:ea typeface="隶书" panose="02010509060101010101" pitchFamily="49" charset="-122"/>
              </a:rPr>
              <a:t>的指令系统</a:t>
            </a:r>
            <a:endParaRPr lang="zh-CN" altLang="en-US" sz="4400" dirty="0">
              <a:solidFill>
                <a:srgbClr val="FF3300"/>
              </a:solidFill>
              <a:effectLst>
                <a:outerShdw blurRad="38100" dist="38100" dir="2700000" algn="tl">
                  <a:srgbClr val="C0C0C0"/>
                </a:outerShdw>
              </a:effectLst>
              <a:ea typeface="隶书" panose="02010509060101010101" pitchFamily="49" charset="-122"/>
            </a:endParaRPr>
          </a:p>
          <a:p>
            <a:pPr marR="0" algn="ctr" defTabSz="914400">
              <a:lnSpc>
                <a:spcPct val="80000"/>
              </a:lnSpc>
              <a:spcBef>
                <a:spcPts val="1200"/>
              </a:spcBef>
              <a:buClr>
                <a:srgbClr val="663300"/>
              </a:buClr>
              <a:buSzPct val="75000"/>
              <a:buFontTx/>
              <a:buNone/>
              <a:defRPr/>
            </a:pPr>
            <a:endParaRPr kumimoji="0" lang="zh-CN" altLang="en-US"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endParaRPr>
          </a:p>
        </p:txBody>
      </p:sp>
      <p:pic>
        <p:nvPicPr>
          <p:cNvPr id="6" name="图片 5"/>
          <p:cNvPicPr>
            <a:picLocks noChangeAspect="1"/>
          </p:cNvPicPr>
          <p:nvPr/>
        </p:nvPicPr>
        <p:blipFill>
          <a:blip r:embed="rId1"/>
          <a:stretch>
            <a:fillRect/>
          </a:stretch>
        </p:blipFill>
        <p:spPr>
          <a:xfrm>
            <a:off x="-2372" y="0"/>
            <a:ext cx="5262486" cy="1124744"/>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3&amp;4</a:t>
            </a:r>
            <a:r>
              <a:rPr lang="zh-CN" altLang="en-US" sz="2600" kern="0" dirty="0">
                <a:solidFill>
                  <a:schemeClr val="tx2"/>
                </a:solidFill>
                <a:effectLst>
                  <a:outerShdw blurRad="38100" dist="38100" dir="2700000" algn="tl">
                    <a:srgbClr val="C0C0C0"/>
                  </a:outerShdw>
                </a:effectLst>
                <a:latin typeface="+mj-lt"/>
                <a:cs typeface="+mj-cs"/>
              </a:rPr>
              <a:t>讲：</a:t>
            </a:r>
            <a:r>
              <a:rPr lang="en-US" altLang="zh-CN" sz="2600" kern="0" dirty="0">
                <a:solidFill>
                  <a:schemeClr val="tx2"/>
                </a:solidFill>
                <a:effectLst>
                  <a:outerShdw blurRad="38100" dist="38100" dir="2700000" algn="tl">
                    <a:srgbClr val="C0C0C0"/>
                  </a:outerShdw>
                </a:effectLst>
                <a:latin typeface="+mj-lt"/>
                <a:cs typeface="+mj-cs"/>
              </a:rPr>
              <a:t>8086/8088</a:t>
            </a:r>
            <a:r>
              <a:rPr lang="zh-CN" altLang="en-US" sz="2600" kern="0" dirty="0">
                <a:solidFill>
                  <a:schemeClr val="tx2"/>
                </a:solidFill>
                <a:effectLst>
                  <a:outerShdw blurRad="38100" dist="38100" dir="2700000" algn="tl">
                    <a:srgbClr val="C0C0C0"/>
                  </a:outerShdw>
                </a:effectLst>
                <a:latin typeface="+mj-lt"/>
                <a:cs typeface="+mj-cs"/>
              </a:rPr>
              <a:t>的指令系统</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079612" y="1124744"/>
            <a:ext cx="5508612" cy="4228850"/>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dirty="0">
                <a:sym typeface="+mn-ea"/>
              </a:rPr>
              <a:t>建立汇编程序</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sym typeface="+mn-ea"/>
              </a:rPr>
              <a:t>汇编语言程序格式</a:t>
            </a:r>
            <a:endParaRPr lang="zh-CN" altLang="en-US" dirty="0">
              <a:sym typeface="+mn-ea"/>
            </a:endParaRPr>
          </a:p>
          <a:p>
            <a:pPr marL="342900" indent="-342900">
              <a:lnSpc>
                <a:spcPct val="160000"/>
              </a:lnSpc>
              <a:buClr>
                <a:srgbClr val="FF3300"/>
              </a:buClr>
              <a:buFont typeface="Wingdings" panose="05000000000000000000" charset="0"/>
              <a:buChar char=""/>
            </a:pPr>
            <a:r>
              <a:rPr lang="zh-CN" altLang="en-US" dirty="0">
                <a:sym typeface="+mn-ea"/>
              </a:rPr>
              <a:t>伪指令</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sym typeface="+mn-ea"/>
              </a:rPr>
              <a:t>表达式操作符</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t>数据传送指令</a:t>
            </a:r>
            <a:endParaRPr lang="zh-CN" altLang="en-US" dirty="0"/>
          </a:p>
          <a:p>
            <a:pPr marL="342900" indent="-342900">
              <a:lnSpc>
                <a:spcPct val="160000"/>
              </a:lnSpc>
              <a:buClr>
                <a:srgbClr val="FF3300"/>
              </a:buClr>
              <a:buFont typeface="Wingdings" panose="05000000000000000000" charset="0"/>
              <a:buChar char=""/>
            </a:pPr>
            <a:r>
              <a:rPr lang="zh-CN" altLang="en-US" dirty="0"/>
              <a:t>算术指令</a:t>
            </a:r>
            <a:endParaRPr lang="zh-CN" altLang="en-US" dirty="0"/>
          </a:p>
          <a:p>
            <a:pPr marL="342900" indent="-342900">
              <a:lnSpc>
                <a:spcPct val="160000"/>
              </a:lnSpc>
              <a:buClr>
                <a:srgbClr val="FF3300"/>
              </a:buClr>
              <a:buFont typeface="Wingdings" panose="05000000000000000000" charset="0"/>
              <a:buChar char=""/>
            </a:pPr>
            <a:r>
              <a:rPr lang="zh-CN" altLang="en-US" dirty="0"/>
              <a:t>逻辑指令</a:t>
            </a:r>
            <a:endParaRPr lang="en-US" altLang="zh-CN" dirty="0">
              <a:sym typeface="+mn-ea"/>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文本框 28673"/>
          <p:cNvSpPr txBox="1"/>
          <p:nvPr/>
        </p:nvSpPr>
        <p:spPr>
          <a:xfrm>
            <a:off x="1979712" y="1520785"/>
            <a:ext cx="5486400" cy="3816429"/>
          </a:xfrm>
          <a:prstGeom prst="rect">
            <a:avLst/>
          </a:prstGeom>
          <a:noFill/>
          <a:ln w="12700">
            <a:noFill/>
          </a:ln>
        </p:spPr>
        <p:txBody>
          <a:bodyPr>
            <a:spAutoFit/>
          </a:bodyPr>
          <a:lstStyle/>
          <a:p>
            <a:pPr marL="457200" indent="-457200">
              <a:spcBef>
                <a:spcPct val="50000"/>
              </a:spcBef>
            </a:pPr>
            <a:r>
              <a:rPr lang="zh-CN" altLang="en-US" sz="3200" b="1" dirty="0">
                <a:solidFill>
                  <a:srgbClr val="000000"/>
                </a:solidFill>
                <a:latin typeface="Times New Roman" panose="02020603050405020304" pitchFamily="18" charset="0"/>
                <a:ea typeface="楷体_GB2312" pitchFamily="49" charset="-122"/>
              </a:rPr>
              <a:t>重点关注：</a:t>
            </a:r>
            <a:endParaRPr lang="zh-CN" altLang="en-US" sz="3200" b="1" dirty="0">
              <a:solidFill>
                <a:srgbClr val="000000"/>
              </a:solidFill>
              <a:latin typeface="Times New Roman" panose="02020603050405020304" pitchFamily="18" charset="0"/>
              <a:ea typeface="楷体_GB2312" pitchFamily="49" charset="-122"/>
            </a:endParaRPr>
          </a:p>
          <a:p>
            <a:pPr marL="457200" indent="-457200">
              <a:spcBef>
                <a:spcPct val="50000"/>
              </a:spcBef>
            </a:pPr>
            <a:endParaRPr lang="zh-CN" altLang="en-US" sz="2800" b="1" dirty="0">
              <a:solidFill>
                <a:srgbClr val="000000"/>
              </a:solidFill>
              <a:latin typeface="Times New Roman" panose="02020603050405020304" pitchFamily="18" charset="0"/>
              <a:ea typeface="楷体_GB2312" pitchFamily="49" charset="-122"/>
            </a:endParaRPr>
          </a:p>
          <a:p>
            <a:pPr marL="457200" indent="-457200">
              <a:spcBef>
                <a:spcPct val="50000"/>
              </a:spcBef>
              <a:buChar char="•"/>
            </a:pPr>
            <a:r>
              <a:rPr lang="zh-CN" altLang="en-US" sz="2800" b="1" dirty="0">
                <a:solidFill>
                  <a:srgbClr val="000000"/>
                </a:solidFill>
                <a:latin typeface="Times New Roman" panose="02020603050405020304" pitchFamily="18" charset="0"/>
                <a:ea typeface="楷体_GB2312" pitchFamily="49" charset="-122"/>
              </a:rPr>
              <a:t>指令的汇编格式及特点</a:t>
            </a:r>
            <a:endParaRPr lang="zh-CN" altLang="en-US" sz="2800" b="1" dirty="0">
              <a:solidFill>
                <a:srgbClr val="000000"/>
              </a:solidFill>
              <a:latin typeface="Times New Roman" panose="02020603050405020304" pitchFamily="18" charset="0"/>
              <a:ea typeface="楷体_GB2312" pitchFamily="49" charset="-122"/>
            </a:endParaRPr>
          </a:p>
          <a:p>
            <a:pPr marL="457200" indent="-457200">
              <a:spcBef>
                <a:spcPct val="50000"/>
              </a:spcBef>
              <a:buChar char="•"/>
            </a:pPr>
            <a:r>
              <a:rPr lang="zh-CN" altLang="en-US" sz="2800" b="1" dirty="0">
                <a:solidFill>
                  <a:srgbClr val="000000"/>
                </a:solidFill>
                <a:latin typeface="Times New Roman" panose="02020603050405020304" pitchFamily="18" charset="0"/>
                <a:ea typeface="楷体_GB2312" pitchFamily="49" charset="-122"/>
              </a:rPr>
              <a:t>指令的基本功能</a:t>
            </a:r>
            <a:endParaRPr lang="zh-CN" altLang="en-US" sz="2800" b="1" dirty="0">
              <a:solidFill>
                <a:srgbClr val="000000"/>
              </a:solidFill>
              <a:latin typeface="Times New Roman" panose="02020603050405020304" pitchFamily="18" charset="0"/>
              <a:ea typeface="楷体_GB2312" pitchFamily="49" charset="-122"/>
            </a:endParaRPr>
          </a:p>
          <a:p>
            <a:pPr marL="457200" indent="-457200">
              <a:spcBef>
                <a:spcPct val="50000"/>
              </a:spcBef>
              <a:buChar char="•"/>
            </a:pPr>
            <a:r>
              <a:rPr lang="zh-CN" altLang="en-US" sz="2800" b="1" dirty="0">
                <a:solidFill>
                  <a:srgbClr val="000000"/>
                </a:solidFill>
                <a:latin typeface="Times New Roman" panose="02020603050405020304" pitchFamily="18" charset="0"/>
                <a:ea typeface="楷体_GB2312" pitchFamily="49" charset="-122"/>
              </a:rPr>
              <a:t>指令的执行对标志位的影响</a:t>
            </a:r>
            <a:endParaRPr lang="zh-CN" altLang="en-US" sz="2800" b="1" dirty="0">
              <a:solidFill>
                <a:srgbClr val="000000"/>
              </a:solidFill>
              <a:latin typeface="Times New Roman" panose="02020603050405020304" pitchFamily="18" charset="0"/>
              <a:ea typeface="楷体_GB2312" pitchFamily="49" charset="-122"/>
            </a:endParaRPr>
          </a:p>
          <a:p>
            <a:pPr marL="457200" indent="-457200">
              <a:spcBef>
                <a:spcPct val="50000"/>
              </a:spcBef>
              <a:buChar char="•"/>
            </a:pPr>
            <a:r>
              <a:rPr lang="zh-CN" altLang="en-US" sz="2800" b="1" dirty="0">
                <a:solidFill>
                  <a:srgbClr val="000000"/>
                </a:solidFill>
                <a:latin typeface="Times New Roman" panose="02020603050405020304" pitchFamily="18" charset="0"/>
                <a:ea typeface="楷体_GB2312" pitchFamily="49" charset="-122"/>
              </a:rPr>
              <a:t>指令的特殊要求</a:t>
            </a:r>
            <a:endParaRPr lang="zh-CN" altLang="en-US" sz="2800" b="1" dirty="0">
              <a:solidFill>
                <a:srgbClr val="000000"/>
              </a:solidFill>
              <a:latin typeface="Times New Roman" panose="02020603050405020304" pitchFamily="18" charset="0"/>
              <a:ea typeface="楷体_GB2312" pitchFamily="49" charset="-122"/>
            </a:endParaRPr>
          </a:p>
        </p:txBody>
      </p:sp>
      <p:sp>
        <p:nvSpPr>
          <p:cNvPr id="6" name="文本框 1"/>
          <p:cNvSpPr txBox="1"/>
          <p:nvPr/>
        </p:nvSpPr>
        <p:spPr>
          <a:xfrm>
            <a:off x="452120" y="317500"/>
            <a:ext cx="6392545"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3&amp;4</a:t>
            </a:r>
            <a:r>
              <a:rPr lang="zh-CN" altLang="en-US" sz="2600" kern="0" dirty="0">
                <a:solidFill>
                  <a:schemeClr val="tx2"/>
                </a:solidFill>
                <a:effectLst>
                  <a:outerShdw blurRad="38100" dist="38100" dir="2700000" algn="tl">
                    <a:srgbClr val="C0C0C0"/>
                  </a:outerShdw>
                </a:effectLst>
                <a:latin typeface="+mj-lt"/>
                <a:cs typeface="+mj-cs"/>
              </a:rPr>
              <a:t>讲：</a:t>
            </a:r>
            <a:r>
              <a:rPr lang="en-US" altLang="zh-CN" sz="2600" kern="0" dirty="0">
                <a:solidFill>
                  <a:schemeClr val="tx2"/>
                </a:solidFill>
                <a:effectLst>
                  <a:outerShdw blurRad="38100" dist="38100" dir="2700000" algn="tl">
                    <a:srgbClr val="C0C0C0"/>
                  </a:outerShdw>
                </a:effectLst>
                <a:latin typeface="+mj-lt"/>
                <a:cs typeface="+mj-cs"/>
              </a:rPr>
              <a:t>8086/8088</a:t>
            </a:r>
            <a:r>
              <a:rPr lang="zh-CN" altLang="en-US" sz="2600" kern="0" dirty="0">
                <a:solidFill>
                  <a:schemeClr val="tx2"/>
                </a:solidFill>
                <a:effectLst>
                  <a:outerShdw blurRad="38100" dist="38100" dir="2700000" algn="tl">
                    <a:srgbClr val="C0C0C0"/>
                  </a:outerShdw>
                </a:effectLst>
                <a:latin typeface="+mj-lt"/>
                <a:cs typeface="+mj-cs"/>
              </a:rPr>
              <a:t>的指令系统</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3&amp;4</a:t>
            </a:r>
            <a:r>
              <a:rPr lang="zh-CN" altLang="en-US" sz="2600" kern="0" dirty="0">
                <a:solidFill>
                  <a:schemeClr val="tx2"/>
                </a:solidFill>
                <a:effectLst>
                  <a:outerShdw blurRad="38100" dist="38100" dir="2700000" algn="tl">
                    <a:srgbClr val="C0C0C0"/>
                  </a:outerShdw>
                </a:effectLst>
                <a:latin typeface="+mj-lt"/>
                <a:cs typeface="+mj-cs"/>
              </a:rPr>
              <a:t>讲：</a:t>
            </a:r>
            <a:r>
              <a:rPr lang="en-US" altLang="zh-CN" sz="2600" kern="0" dirty="0">
                <a:solidFill>
                  <a:schemeClr val="tx2"/>
                </a:solidFill>
                <a:effectLst>
                  <a:outerShdw blurRad="38100" dist="38100" dir="2700000" algn="tl">
                    <a:srgbClr val="C0C0C0"/>
                  </a:outerShdw>
                </a:effectLst>
                <a:latin typeface="+mj-lt"/>
                <a:cs typeface="+mj-cs"/>
              </a:rPr>
              <a:t>8086/8088</a:t>
            </a:r>
            <a:r>
              <a:rPr lang="zh-CN" altLang="en-US" sz="2600" kern="0" dirty="0">
                <a:solidFill>
                  <a:schemeClr val="tx2"/>
                </a:solidFill>
                <a:effectLst>
                  <a:outerShdw blurRad="38100" dist="38100" dir="2700000" algn="tl">
                    <a:srgbClr val="C0C0C0"/>
                  </a:outerShdw>
                </a:effectLst>
                <a:latin typeface="+mj-lt"/>
                <a:cs typeface="+mj-cs"/>
              </a:rPr>
              <a:t>的指令系统</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079612" y="1124744"/>
            <a:ext cx="5508612" cy="4228850"/>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dirty="0">
                <a:solidFill>
                  <a:srgbClr val="FF0000"/>
                </a:solidFill>
                <a:sym typeface="+mn-ea"/>
              </a:rPr>
              <a:t>建立汇编程序</a:t>
            </a:r>
            <a:endParaRPr lang="en-US" altLang="zh-CN" dirty="0">
              <a:solidFill>
                <a:srgbClr val="FF0000"/>
              </a:solidFill>
              <a:sym typeface="+mn-ea"/>
            </a:endParaRPr>
          </a:p>
          <a:p>
            <a:pPr marL="342900" indent="-342900">
              <a:lnSpc>
                <a:spcPct val="160000"/>
              </a:lnSpc>
              <a:buClr>
                <a:srgbClr val="FF3300"/>
              </a:buClr>
              <a:buFont typeface="Wingdings" panose="05000000000000000000" charset="0"/>
              <a:buChar char=""/>
            </a:pPr>
            <a:r>
              <a:rPr lang="zh-CN" altLang="en-US" dirty="0">
                <a:sym typeface="+mn-ea"/>
              </a:rPr>
              <a:t>汇编语言程序格式</a:t>
            </a:r>
            <a:endParaRPr lang="zh-CN" altLang="en-US" dirty="0">
              <a:sym typeface="+mn-ea"/>
            </a:endParaRPr>
          </a:p>
          <a:p>
            <a:pPr marL="342900" indent="-342900">
              <a:lnSpc>
                <a:spcPct val="160000"/>
              </a:lnSpc>
              <a:buClr>
                <a:srgbClr val="FF3300"/>
              </a:buClr>
              <a:buFont typeface="Wingdings" panose="05000000000000000000" charset="0"/>
              <a:buChar char=""/>
            </a:pPr>
            <a:r>
              <a:rPr lang="zh-CN" altLang="en-US" dirty="0">
                <a:sym typeface="+mn-ea"/>
              </a:rPr>
              <a:t>伪指令</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sym typeface="+mn-ea"/>
              </a:rPr>
              <a:t>表达式操作符</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t>数据传送指令</a:t>
            </a:r>
            <a:endParaRPr lang="zh-CN" altLang="en-US" dirty="0"/>
          </a:p>
          <a:p>
            <a:pPr marL="342900" indent="-342900">
              <a:lnSpc>
                <a:spcPct val="160000"/>
              </a:lnSpc>
              <a:buClr>
                <a:srgbClr val="FF3300"/>
              </a:buClr>
              <a:buFont typeface="Wingdings" panose="05000000000000000000" charset="0"/>
              <a:buChar char=""/>
            </a:pPr>
            <a:r>
              <a:rPr lang="zh-CN" altLang="en-US" dirty="0"/>
              <a:t>算术指令</a:t>
            </a:r>
            <a:endParaRPr lang="zh-CN" altLang="en-US" dirty="0"/>
          </a:p>
          <a:p>
            <a:pPr marL="342900" indent="-342900">
              <a:lnSpc>
                <a:spcPct val="160000"/>
              </a:lnSpc>
              <a:buClr>
                <a:srgbClr val="FF3300"/>
              </a:buClr>
              <a:buFont typeface="Wingdings" panose="05000000000000000000" charset="0"/>
              <a:buChar char=""/>
            </a:pPr>
            <a:r>
              <a:rPr lang="zh-CN" altLang="en-US" dirty="0"/>
              <a:t>逻辑指令</a:t>
            </a:r>
            <a:endParaRPr lang="en-US" altLang="zh-CN" dirty="0">
              <a:sym typeface="+mn-ea"/>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539552" y="1160748"/>
            <a:ext cx="8153400" cy="5155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66700">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indent="444500" algn="just">
              <a:lnSpc>
                <a:spcPct val="150000"/>
              </a:lnSpc>
              <a:spcBef>
                <a:spcPts val="600"/>
              </a:spcBef>
            </a:pPr>
            <a:r>
              <a:rPr lang="zh-CN" altLang="en-US" b="1" dirty="0">
                <a:latin typeface="华文宋体" panose="02010600040101010101" pitchFamily="2" charset="-122"/>
                <a:ea typeface="华文宋体" panose="02010600040101010101" pitchFamily="2" charset="-122"/>
              </a:rPr>
              <a:t>汇编语言是一种面向</a:t>
            </a:r>
            <a:r>
              <a:rPr lang="en-US" altLang="zh-CN" b="1" dirty="0">
                <a:latin typeface="华文宋体" panose="02010600040101010101" pitchFamily="2" charset="-122"/>
                <a:ea typeface="华文宋体" panose="02010600040101010101" pitchFamily="2" charset="-122"/>
              </a:rPr>
              <a:t>CPU</a:t>
            </a:r>
            <a:r>
              <a:rPr lang="zh-CN" altLang="en-US" b="1" dirty="0">
                <a:latin typeface="华文宋体" panose="02010600040101010101" pitchFamily="2" charset="-122"/>
                <a:ea typeface="华文宋体" panose="02010600040101010101" pitchFamily="2" charset="-122"/>
              </a:rPr>
              <a:t>指令系统的程序设计语言，它采用</a:t>
            </a:r>
            <a:r>
              <a:rPr lang="zh-CN" altLang="en-US" b="1" dirty="0">
                <a:solidFill>
                  <a:srgbClr val="FF0000"/>
                </a:solidFill>
                <a:latin typeface="华文宋体" panose="02010600040101010101" pitchFamily="2" charset="-122"/>
                <a:ea typeface="华文宋体" panose="02010600040101010101" pitchFamily="2" charset="-122"/>
              </a:rPr>
              <a:t>指令系统的助记符来表示操作码和操作数</a:t>
            </a:r>
            <a:r>
              <a:rPr lang="zh-CN" altLang="en-US" b="1" dirty="0">
                <a:latin typeface="华文宋体" panose="02010600040101010101" pitchFamily="2" charset="-122"/>
                <a:ea typeface="华文宋体" panose="02010600040101010101" pitchFamily="2" charset="-122"/>
              </a:rPr>
              <a:t>，</a:t>
            </a:r>
            <a:r>
              <a:rPr lang="zh-CN" altLang="en-US" b="1" dirty="0">
                <a:solidFill>
                  <a:srgbClr val="FF0000"/>
                </a:solidFill>
                <a:latin typeface="华文宋体" panose="02010600040101010101" pitchFamily="2" charset="-122"/>
                <a:ea typeface="华文宋体" panose="02010600040101010101" pitchFamily="2" charset="-122"/>
              </a:rPr>
              <a:t>用符号地址表示操作数地址</a:t>
            </a:r>
            <a:r>
              <a:rPr lang="zh-CN" altLang="en-US" b="1" dirty="0">
                <a:latin typeface="华文宋体" panose="02010600040101010101" pitchFamily="2" charset="-122"/>
                <a:ea typeface="华文宋体" panose="02010600040101010101" pitchFamily="2" charset="-122"/>
              </a:rPr>
              <a:t>。相对于机器语言，因而易记、易读、易修改，给编程带来很大方便。</a:t>
            </a:r>
            <a:endParaRPr lang="en-US" altLang="zh-CN" b="1" dirty="0">
              <a:latin typeface="华文宋体" panose="02010600040101010101" pitchFamily="2" charset="-122"/>
              <a:ea typeface="华文宋体" panose="02010600040101010101" pitchFamily="2" charset="-122"/>
            </a:endParaRPr>
          </a:p>
          <a:p>
            <a:pPr indent="444500" algn="just">
              <a:lnSpc>
                <a:spcPct val="150000"/>
              </a:lnSpc>
              <a:spcBef>
                <a:spcPts val="600"/>
              </a:spcBef>
            </a:pPr>
            <a:r>
              <a:rPr lang="zh-CN" altLang="en-US" b="1" dirty="0">
                <a:latin typeface="华文宋体" panose="02010600040101010101" pitchFamily="2" charset="-122"/>
                <a:ea typeface="华文宋体" panose="02010600040101010101" pitchFamily="2" charset="-122"/>
              </a:rPr>
              <a:t>用汇编语言编写的程序能够直接利用硬件系统的特性，直接对位、字节、字寄存器、存储单元、</a:t>
            </a:r>
            <a:r>
              <a:rPr lang="en-US" altLang="zh-CN" b="1" dirty="0">
                <a:latin typeface="华文宋体" panose="02010600040101010101" pitchFamily="2" charset="-122"/>
                <a:ea typeface="华文宋体" panose="02010600040101010101" pitchFamily="2" charset="-122"/>
              </a:rPr>
              <a:t>I/O</a:t>
            </a:r>
            <a:r>
              <a:rPr lang="zh-CN" altLang="en-US" b="1" dirty="0">
                <a:latin typeface="华文宋体" panose="02010600040101010101" pitchFamily="2" charset="-122"/>
                <a:ea typeface="华文宋体" panose="02010600040101010101" pitchFamily="2" charset="-122"/>
              </a:rPr>
              <a:t>端口等进行处理，同时也能直接使用</a:t>
            </a:r>
            <a:r>
              <a:rPr lang="en-US" altLang="zh-CN" b="1" dirty="0">
                <a:latin typeface="华文宋体" panose="02010600040101010101" pitchFamily="2" charset="-122"/>
                <a:ea typeface="华文宋体" panose="02010600040101010101" pitchFamily="2" charset="-122"/>
              </a:rPr>
              <a:t>CPU</a:t>
            </a:r>
            <a:r>
              <a:rPr lang="zh-CN" altLang="en-US" b="1" dirty="0">
                <a:latin typeface="华文宋体" panose="02010600040101010101" pitchFamily="2" charset="-122"/>
                <a:ea typeface="华文宋体" panose="02010600040101010101" pitchFamily="2" charset="-122"/>
              </a:rPr>
              <a:t>指令系统和指令系统提供的各种寻址方式编制出高质量的程序，这种程序不但</a:t>
            </a:r>
            <a:r>
              <a:rPr lang="zh-CN" altLang="en-US" b="1" dirty="0">
                <a:solidFill>
                  <a:srgbClr val="FF0000"/>
                </a:solidFill>
                <a:latin typeface="华文宋体" panose="02010600040101010101" pitchFamily="2" charset="-122"/>
                <a:ea typeface="华文宋体" panose="02010600040101010101" pitchFamily="2" charset="-122"/>
              </a:rPr>
              <a:t>占用内存空间少</a:t>
            </a:r>
            <a:r>
              <a:rPr lang="zh-CN" altLang="en-US" b="1" dirty="0">
                <a:latin typeface="华文宋体" panose="02010600040101010101" pitchFamily="2" charset="-122"/>
                <a:ea typeface="华文宋体" panose="02010600040101010101" pitchFamily="2" charset="-122"/>
              </a:rPr>
              <a:t>，而且</a:t>
            </a:r>
            <a:r>
              <a:rPr lang="zh-CN" altLang="en-US" dirty="0">
                <a:solidFill>
                  <a:srgbClr val="FF0000"/>
                </a:solidFill>
                <a:latin typeface="华文宋体" panose="02010600040101010101" pitchFamily="2" charset="-122"/>
                <a:ea typeface="华文宋体" panose="02010600040101010101" pitchFamily="2" charset="-122"/>
              </a:rPr>
              <a:t>执行速度快 </a:t>
            </a:r>
            <a:r>
              <a:rPr lang="zh-CN" altLang="en-US" b="1" dirty="0">
                <a:latin typeface="华文宋体" panose="02010600040101010101" pitchFamily="2" charset="-122"/>
                <a:ea typeface="华文宋体" panose="02010600040101010101" pitchFamily="2" charset="-122"/>
              </a:rPr>
              <a:t>。</a:t>
            </a:r>
            <a:endParaRPr lang="zh-CN" altLang="en-US" b="1" dirty="0">
              <a:latin typeface="华文宋体" panose="02010600040101010101" pitchFamily="2" charset="-122"/>
              <a:ea typeface="华文宋体" panose="02010600040101010101" pitchFamily="2" charset="-122"/>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汇编程序功能</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4030663" y="1979266"/>
            <a:ext cx="3810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endParaRPr kumimoji="0" lang="zh-CN" altLang="zh-CN" sz="1600" b="1">
              <a:solidFill>
                <a:srgbClr val="000000"/>
              </a:solidFill>
              <a:effectLst>
                <a:outerShdw blurRad="38100" dist="38100" dir="2700000" algn="tl">
                  <a:srgbClr val="C0C0C0"/>
                </a:outerShdw>
              </a:effectLst>
            </a:endParaRPr>
          </a:p>
        </p:txBody>
      </p:sp>
      <p:sp>
        <p:nvSpPr>
          <p:cNvPr id="9243" name="Rectangle 27"/>
          <p:cNvSpPr>
            <a:spLocks noChangeArrowheads="1"/>
          </p:cNvSpPr>
          <p:nvPr/>
        </p:nvSpPr>
        <p:spPr bwMode="auto">
          <a:xfrm>
            <a:off x="304800" y="1361728"/>
            <a:ext cx="1066800" cy="381000"/>
          </a:xfrm>
          <a:prstGeom prst="rect">
            <a:avLst/>
          </a:prstGeom>
          <a:solidFill>
            <a:srgbClr val="CCFFCC"/>
          </a:solidFill>
          <a:ln w="9525">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solidFill>
                <a:schemeClr val="accent2"/>
              </a:solidFill>
            </a:endParaRPr>
          </a:p>
        </p:txBody>
      </p:sp>
      <p:sp>
        <p:nvSpPr>
          <p:cNvPr id="9244" name="Text Box 28"/>
          <p:cNvSpPr txBox="1">
            <a:spLocks noChangeArrowheads="1"/>
          </p:cNvSpPr>
          <p:nvPr/>
        </p:nvSpPr>
        <p:spPr bwMode="auto">
          <a:xfrm>
            <a:off x="304800" y="1361728"/>
            <a:ext cx="1104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solidFill>
                  <a:srgbClr val="000099"/>
                </a:solidFill>
              </a:rPr>
              <a:t>编辑程序</a:t>
            </a:r>
            <a:endParaRPr lang="zh-CN" altLang="en-US" sz="1800" b="1">
              <a:solidFill>
                <a:srgbClr val="000099"/>
              </a:solidFill>
            </a:endParaRPr>
          </a:p>
        </p:txBody>
      </p:sp>
      <p:sp>
        <p:nvSpPr>
          <p:cNvPr id="9245" name="Oval 29"/>
          <p:cNvSpPr>
            <a:spLocks noChangeArrowheads="1"/>
          </p:cNvSpPr>
          <p:nvPr/>
        </p:nvSpPr>
        <p:spPr bwMode="auto">
          <a:xfrm>
            <a:off x="1752600" y="1056928"/>
            <a:ext cx="1143000" cy="990600"/>
          </a:xfrm>
          <a:prstGeom prst="ellipse">
            <a:avLst/>
          </a:prstGeom>
          <a:noFill/>
          <a:ln w="9525">
            <a:solidFill>
              <a:srgbClr val="008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6" name="Text Box 30"/>
          <p:cNvSpPr txBox="1">
            <a:spLocks noChangeArrowheads="1"/>
          </p:cNvSpPr>
          <p:nvPr/>
        </p:nvSpPr>
        <p:spPr bwMode="auto">
          <a:xfrm>
            <a:off x="1866900" y="1209328"/>
            <a:ext cx="82907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FF0000"/>
                </a:solidFill>
              </a:rPr>
              <a:t>.ASM</a:t>
            </a:r>
            <a:endParaRPr lang="en-US" altLang="zh-CN" sz="2000" b="1" dirty="0">
              <a:solidFill>
                <a:srgbClr val="FF0000"/>
              </a:solidFill>
            </a:endParaRPr>
          </a:p>
          <a:p>
            <a:r>
              <a:rPr lang="en-US" altLang="zh-CN" sz="2000" b="1" dirty="0">
                <a:solidFill>
                  <a:srgbClr val="000099"/>
                </a:solidFill>
              </a:rPr>
              <a:t>  </a:t>
            </a:r>
            <a:r>
              <a:rPr lang="zh-CN" altLang="en-US" sz="2000" b="1" dirty="0">
                <a:solidFill>
                  <a:srgbClr val="000099"/>
                </a:solidFill>
              </a:rPr>
              <a:t>文件</a:t>
            </a:r>
            <a:endParaRPr lang="zh-CN" altLang="en-US" sz="2000" b="1" dirty="0">
              <a:solidFill>
                <a:srgbClr val="000099"/>
              </a:solidFill>
            </a:endParaRPr>
          </a:p>
        </p:txBody>
      </p:sp>
      <p:sp>
        <p:nvSpPr>
          <p:cNvPr id="9247" name="Rectangle 31"/>
          <p:cNvSpPr>
            <a:spLocks noChangeArrowheads="1"/>
          </p:cNvSpPr>
          <p:nvPr/>
        </p:nvSpPr>
        <p:spPr bwMode="auto">
          <a:xfrm>
            <a:off x="3276600" y="1285528"/>
            <a:ext cx="1066800" cy="381000"/>
          </a:xfrm>
          <a:prstGeom prst="rect">
            <a:avLst/>
          </a:prstGeom>
          <a:solidFill>
            <a:srgbClr val="CCFFCC"/>
          </a:solidFill>
          <a:ln w="9525">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solidFill>
                <a:schemeClr val="accent2"/>
              </a:solidFill>
            </a:endParaRPr>
          </a:p>
        </p:txBody>
      </p:sp>
      <p:sp>
        <p:nvSpPr>
          <p:cNvPr id="9248" name="Text Box 32"/>
          <p:cNvSpPr txBox="1">
            <a:spLocks noChangeArrowheads="1"/>
          </p:cNvSpPr>
          <p:nvPr/>
        </p:nvSpPr>
        <p:spPr bwMode="auto">
          <a:xfrm>
            <a:off x="3276600" y="1285528"/>
            <a:ext cx="1104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solidFill>
                  <a:srgbClr val="000099"/>
                </a:solidFill>
              </a:rPr>
              <a:t>汇编程序</a:t>
            </a:r>
            <a:endParaRPr lang="zh-CN" altLang="en-US" sz="1800" b="1">
              <a:solidFill>
                <a:srgbClr val="000099"/>
              </a:solidFill>
            </a:endParaRPr>
          </a:p>
        </p:txBody>
      </p:sp>
      <p:sp>
        <p:nvSpPr>
          <p:cNvPr id="9249" name="Oval 33"/>
          <p:cNvSpPr>
            <a:spLocks noChangeArrowheads="1"/>
          </p:cNvSpPr>
          <p:nvPr/>
        </p:nvSpPr>
        <p:spPr bwMode="auto">
          <a:xfrm>
            <a:off x="4724400" y="980728"/>
            <a:ext cx="1143000" cy="990600"/>
          </a:xfrm>
          <a:prstGeom prst="ellipse">
            <a:avLst/>
          </a:prstGeom>
          <a:noFill/>
          <a:ln w="9525">
            <a:solidFill>
              <a:srgbClr val="008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0" name="Text Box 34"/>
          <p:cNvSpPr txBox="1">
            <a:spLocks noChangeArrowheads="1"/>
          </p:cNvSpPr>
          <p:nvPr/>
        </p:nvSpPr>
        <p:spPr bwMode="auto">
          <a:xfrm>
            <a:off x="4920342" y="1048828"/>
            <a:ext cx="74732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FF0000"/>
                </a:solidFill>
              </a:rPr>
              <a:t>.OBJ</a:t>
            </a:r>
            <a:endParaRPr lang="en-US" altLang="zh-CN" sz="2000" b="1" dirty="0">
              <a:solidFill>
                <a:srgbClr val="FF0000"/>
              </a:solidFill>
            </a:endParaRPr>
          </a:p>
          <a:p>
            <a:r>
              <a:rPr lang="en-US" altLang="zh-CN" sz="1600" dirty="0">
                <a:solidFill>
                  <a:srgbClr val="000099"/>
                </a:solidFill>
              </a:rPr>
              <a:t>.LST</a:t>
            </a:r>
            <a:endParaRPr lang="en-US" altLang="zh-CN" sz="1600" dirty="0">
              <a:solidFill>
                <a:srgbClr val="000099"/>
              </a:solidFill>
            </a:endParaRPr>
          </a:p>
          <a:p>
            <a:r>
              <a:rPr lang="en-US" altLang="zh-CN" sz="1600" dirty="0">
                <a:solidFill>
                  <a:srgbClr val="000099"/>
                </a:solidFill>
              </a:rPr>
              <a:t>.CRF</a:t>
            </a:r>
            <a:endParaRPr lang="en-US" altLang="zh-CN" sz="1600" dirty="0">
              <a:solidFill>
                <a:srgbClr val="000099"/>
              </a:solidFill>
            </a:endParaRPr>
          </a:p>
          <a:p>
            <a:endParaRPr lang="zh-CN" altLang="en-US" sz="2000" b="1" dirty="0">
              <a:solidFill>
                <a:srgbClr val="000099"/>
              </a:solidFill>
            </a:endParaRPr>
          </a:p>
        </p:txBody>
      </p:sp>
      <p:sp>
        <p:nvSpPr>
          <p:cNvPr id="9251" name="Rectangle 35"/>
          <p:cNvSpPr>
            <a:spLocks noChangeArrowheads="1"/>
          </p:cNvSpPr>
          <p:nvPr/>
        </p:nvSpPr>
        <p:spPr bwMode="auto">
          <a:xfrm>
            <a:off x="6248400" y="1285528"/>
            <a:ext cx="1066800" cy="381000"/>
          </a:xfrm>
          <a:prstGeom prst="rect">
            <a:avLst/>
          </a:prstGeom>
          <a:solidFill>
            <a:srgbClr val="CCFFCC"/>
          </a:solidFill>
          <a:ln w="9525">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b="1">
              <a:solidFill>
                <a:schemeClr val="accent2"/>
              </a:solidFill>
            </a:endParaRPr>
          </a:p>
        </p:txBody>
      </p:sp>
      <p:sp>
        <p:nvSpPr>
          <p:cNvPr id="9252" name="Text Box 36"/>
          <p:cNvSpPr txBox="1">
            <a:spLocks noChangeArrowheads="1"/>
          </p:cNvSpPr>
          <p:nvPr/>
        </p:nvSpPr>
        <p:spPr bwMode="auto">
          <a:xfrm>
            <a:off x="6248400" y="1285528"/>
            <a:ext cx="11049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800" b="1">
                <a:solidFill>
                  <a:srgbClr val="000099"/>
                </a:solidFill>
              </a:rPr>
              <a:t>连接程序</a:t>
            </a:r>
            <a:endParaRPr lang="zh-CN" altLang="en-US" sz="1800" b="1">
              <a:solidFill>
                <a:srgbClr val="000099"/>
              </a:solidFill>
            </a:endParaRPr>
          </a:p>
        </p:txBody>
      </p:sp>
      <p:sp>
        <p:nvSpPr>
          <p:cNvPr id="9253" name="Oval 37"/>
          <p:cNvSpPr>
            <a:spLocks noChangeArrowheads="1"/>
          </p:cNvSpPr>
          <p:nvPr/>
        </p:nvSpPr>
        <p:spPr bwMode="auto">
          <a:xfrm>
            <a:off x="7696200" y="980728"/>
            <a:ext cx="1143000" cy="990600"/>
          </a:xfrm>
          <a:prstGeom prst="ellipse">
            <a:avLst/>
          </a:prstGeom>
          <a:noFill/>
          <a:ln w="9525">
            <a:solidFill>
              <a:srgbClr val="008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4" name="Text Box 38"/>
          <p:cNvSpPr txBox="1">
            <a:spLocks noChangeArrowheads="1"/>
          </p:cNvSpPr>
          <p:nvPr/>
        </p:nvSpPr>
        <p:spPr bwMode="auto">
          <a:xfrm>
            <a:off x="7932266" y="1033907"/>
            <a:ext cx="77777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FF0000"/>
                </a:solidFill>
              </a:rPr>
              <a:t>.EXE</a:t>
            </a:r>
            <a:endParaRPr lang="en-US" altLang="zh-CN" sz="2000" b="1" dirty="0">
              <a:solidFill>
                <a:srgbClr val="FF0000"/>
              </a:solidFill>
            </a:endParaRPr>
          </a:p>
          <a:p>
            <a:r>
              <a:rPr lang="en-US" altLang="zh-CN" sz="1600" dirty="0">
                <a:solidFill>
                  <a:srgbClr val="000099"/>
                </a:solidFill>
              </a:rPr>
              <a:t>.LIB</a:t>
            </a:r>
            <a:endParaRPr lang="en-US" altLang="zh-CN" sz="1600" dirty="0">
              <a:solidFill>
                <a:srgbClr val="000099"/>
              </a:solidFill>
            </a:endParaRPr>
          </a:p>
          <a:p>
            <a:r>
              <a:rPr lang="en-US" altLang="zh-CN" sz="1600" b="1" dirty="0">
                <a:solidFill>
                  <a:srgbClr val="000099"/>
                </a:solidFill>
              </a:rPr>
              <a:t>.MAP</a:t>
            </a:r>
            <a:endParaRPr lang="en-US" altLang="zh-CN" sz="1600" b="1" dirty="0">
              <a:solidFill>
                <a:srgbClr val="000099"/>
              </a:solidFill>
            </a:endParaRPr>
          </a:p>
          <a:p>
            <a:r>
              <a:rPr lang="en-US" altLang="zh-CN" sz="2000" b="1" dirty="0">
                <a:solidFill>
                  <a:srgbClr val="000099"/>
                </a:solidFill>
              </a:rPr>
              <a:t>  </a:t>
            </a:r>
            <a:endParaRPr lang="zh-CN" altLang="en-US" sz="2000" b="1" dirty="0">
              <a:solidFill>
                <a:srgbClr val="000099"/>
              </a:solidFill>
            </a:endParaRPr>
          </a:p>
        </p:txBody>
      </p:sp>
      <p:sp>
        <p:nvSpPr>
          <p:cNvPr id="9255" name="Line 39"/>
          <p:cNvSpPr>
            <a:spLocks noChangeShapeType="1"/>
          </p:cNvSpPr>
          <p:nvPr/>
        </p:nvSpPr>
        <p:spPr bwMode="auto">
          <a:xfrm>
            <a:off x="1371600" y="1514128"/>
            <a:ext cx="381000" cy="0"/>
          </a:xfrm>
          <a:prstGeom prst="line">
            <a:avLst/>
          </a:prstGeom>
          <a:noFill/>
          <a:ln w="19050">
            <a:solidFill>
              <a:srgbClr val="008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6" name="Line 40"/>
          <p:cNvSpPr>
            <a:spLocks noChangeShapeType="1"/>
          </p:cNvSpPr>
          <p:nvPr/>
        </p:nvSpPr>
        <p:spPr bwMode="auto">
          <a:xfrm>
            <a:off x="2895600" y="1514128"/>
            <a:ext cx="381000" cy="0"/>
          </a:xfrm>
          <a:prstGeom prst="line">
            <a:avLst/>
          </a:prstGeom>
          <a:noFill/>
          <a:ln w="19050">
            <a:solidFill>
              <a:srgbClr val="008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7" name="Line 41"/>
          <p:cNvSpPr>
            <a:spLocks noChangeShapeType="1"/>
          </p:cNvSpPr>
          <p:nvPr/>
        </p:nvSpPr>
        <p:spPr bwMode="auto">
          <a:xfrm>
            <a:off x="4343400" y="1514128"/>
            <a:ext cx="381000" cy="0"/>
          </a:xfrm>
          <a:prstGeom prst="line">
            <a:avLst/>
          </a:prstGeom>
          <a:noFill/>
          <a:ln w="19050">
            <a:solidFill>
              <a:srgbClr val="008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8" name="Line 42"/>
          <p:cNvSpPr>
            <a:spLocks noChangeShapeType="1"/>
          </p:cNvSpPr>
          <p:nvPr/>
        </p:nvSpPr>
        <p:spPr bwMode="auto">
          <a:xfrm>
            <a:off x="5867400" y="1514128"/>
            <a:ext cx="381000" cy="0"/>
          </a:xfrm>
          <a:prstGeom prst="line">
            <a:avLst/>
          </a:prstGeom>
          <a:noFill/>
          <a:ln w="19050">
            <a:solidFill>
              <a:srgbClr val="008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9" name="Line 43"/>
          <p:cNvSpPr>
            <a:spLocks noChangeShapeType="1"/>
          </p:cNvSpPr>
          <p:nvPr/>
        </p:nvSpPr>
        <p:spPr bwMode="auto">
          <a:xfrm>
            <a:off x="7315200" y="1514128"/>
            <a:ext cx="381000" cy="0"/>
          </a:xfrm>
          <a:prstGeom prst="line">
            <a:avLst/>
          </a:prstGeom>
          <a:noFill/>
          <a:ln w="19050">
            <a:solidFill>
              <a:srgbClr val="008000"/>
            </a:solidFill>
            <a:rou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60" name="AutoShape 44"/>
          <p:cNvSpPr>
            <a:spLocks noChangeArrowheads="1"/>
          </p:cNvSpPr>
          <p:nvPr/>
        </p:nvSpPr>
        <p:spPr bwMode="auto">
          <a:xfrm>
            <a:off x="304800" y="2047528"/>
            <a:ext cx="1219200" cy="609600"/>
          </a:xfrm>
          <a:prstGeom prst="wedgeEllipseCallout">
            <a:avLst>
              <a:gd name="adj1" fmla="val 2472"/>
              <a:gd name="adj2" fmla="val -82292"/>
            </a:avLst>
          </a:prstGeom>
          <a:solidFill>
            <a:srgbClr val="FFCC99"/>
          </a:solidFill>
          <a:ln>
            <a:noFill/>
          </a:ln>
          <a:effectLst/>
          <a:extLs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b="1">
              <a:solidFill>
                <a:schemeClr val="accent2"/>
              </a:solidFill>
            </a:endParaRPr>
          </a:p>
        </p:txBody>
      </p:sp>
      <p:sp>
        <p:nvSpPr>
          <p:cNvPr id="9261" name="AutoShape 45"/>
          <p:cNvSpPr>
            <a:spLocks noChangeArrowheads="1"/>
          </p:cNvSpPr>
          <p:nvPr/>
        </p:nvSpPr>
        <p:spPr bwMode="auto">
          <a:xfrm>
            <a:off x="3276600" y="1971328"/>
            <a:ext cx="1219200" cy="685800"/>
          </a:xfrm>
          <a:prstGeom prst="wedgeEllipseCallout">
            <a:avLst>
              <a:gd name="adj1" fmla="val -1042"/>
              <a:gd name="adj2" fmla="val -87037"/>
            </a:avLst>
          </a:prstGeom>
          <a:solidFill>
            <a:srgbClr val="FFCC99"/>
          </a:solidFill>
          <a:ln>
            <a:noFill/>
          </a:ln>
          <a:effectLst/>
          <a:extLs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b="1">
              <a:solidFill>
                <a:schemeClr val="accent2"/>
              </a:solidFill>
            </a:endParaRPr>
          </a:p>
        </p:txBody>
      </p:sp>
      <p:sp>
        <p:nvSpPr>
          <p:cNvPr id="9262" name="AutoShape 46"/>
          <p:cNvSpPr>
            <a:spLocks noChangeArrowheads="1"/>
          </p:cNvSpPr>
          <p:nvPr/>
        </p:nvSpPr>
        <p:spPr bwMode="auto">
          <a:xfrm>
            <a:off x="6248400" y="1971328"/>
            <a:ext cx="1219200" cy="685800"/>
          </a:xfrm>
          <a:prstGeom prst="wedgeEllipseCallout">
            <a:avLst>
              <a:gd name="adj1" fmla="val -3255"/>
              <a:gd name="adj2" fmla="val -85185"/>
            </a:avLst>
          </a:prstGeom>
          <a:solidFill>
            <a:srgbClr val="FFCC99"/>
          </a:solidFill>
          <a:ln>
            <a:noFill/>
          </a:ln>
          <a:effectLst/>
          <a:extLs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000" b="1">
              <a:solidFill>
                <a:schemeClr val="accent2"/>
              </a:solidFill>
            </a:endParaRPr>
          </a:p>
        </p:txBody>
      </p:sp>
      <p:sp>
        <p:nvSpPr>
          <p:cNvPr id="9263" name="Text Box 47"/>
          <p:cNvSpPr txBox="1">
            <a:spLocks noChangeArrowheads="1"/>
          </p:cNvSpPr>
          <p:nvPr/>
        </p:nvSpPr>
        <p:spPr bwMode="auto">
          <a:xfrm>
            <a:off x="457200" y="2266603"/>
            <a:ext cx="99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70000"/>
              </a:lnSpc>
              <a:spcBef>
                <a:spcPct val="50000"/>
              </a:spcBef>
            </a:pPr>
            <a:r>
              <a:rPr lang="en-US" altLang="zh-CN" sz="2000" b="1">
                <a:solidFill>
                  <a:srgbClr val="FF3300"/>
                </a:solidFill>
              </a:rPr>
              <a:t>Edit </a:t>
            </a:r>
            <a:r>
              <a:rPr lang="zh-CN" altLang="en-US" sz="2000" b="1">
                <a:solidFill>
                  <a:srgbClr val="FF3300"/>
                </a:solidFill>
              </a:rPr>
              <a:t>等</a:t>
            </a:r>
            <a:endParaRPr lang="zh-CN" altLang="en-US" sz="2000" b="1">
              <a:solidFill>
                <a:srgbClr val="FF3300"/>
              </a:solidFill>
            </a:endParaRPr>
          </a:p>
        </p:txBody>
      </p:sp>
      <p:sp>
        <p:nvSpPr>
          <p:cNvPr id="9264" name="Text Box 48"/>
          <p:cNvSpPr txBox="1">
            <a:spLocks noChangeArrowheads="1"/>
          </p:cNvSpPr>
          <p:nvPr/>
        </p:nvSpPr>
        <p:spPr bwMode="auto">
          <a:xfrm>
            <a:off x="3429000" y="2199928"/>
            <a:ext cx="99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70000"/>
              </a:lnSpc>
              <a:spcBef>
                <a:spcPct val="50000"/>
              </a:spcBef>
            </a:pPr>
            <a:r>
              <a:rPr lang="en-US" altLang="zh-CN" sz="2000" b="1">
                <a:solidFill>
                  <a:srgbClr val="FF3300"/>
                </a:solidFill>
              </a:rPr>
              <a:t>MASM</a:t>
            </a:r>
            <a:endParaRPr lang="en-US" altLang="zh-CN" sz="2000" b="1">
              <a:solidFill>
                <a:srgbClr val="FF3300"/>
              </a:solidFill>
            </a:endParaRPr>
          </a:p>
        </p:txBody>
      </p:sp>
      <p:sp>
        <p:nvSpPr>
          <p:cNvPr id="9265" name="Text Box 49"/>
          <p:cNvSpPr txBox="1">
            <a:spLocks noChangeArrowheads="1"/>
          </p:cNvSpPr>
          <p:nvPr/>
        </p:nvSpPr>
        <p:spPr bwMode="auto">
          <a:xfrm>
            <a:off x="6477000" y="2199928"/>
            <a:ext cx="99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70000"/>
              </a:lnSpc>
              <a:spcBef>
                <a:spcPct val="50000"/>
              </a:spcBef>
            </a:pPr>
            <a:r>
              <a:rPr lang="en-US" altLang="zh-CN" sz="2000" b="1">
                <a:solidFill>
                  <a:srgbClr val="FF3300"/>
                </a:solidFill>
              </a:rPr>
              <a:t>LINK</a:t>
            </a:r>
            <a:endParaRPr lang="en-US" altLang="zh-CN" sz="2000" b="1">
              <a:solidFill>
                <a:srgbClr val="FF3300"/>
              </a:solidFill>
            </a:endParaRPr>
          </a:p>
        </p:txBody>
      </p:sp>
      <p:sp>
        <p:nvSpPr>
          <p:cNvPr id="9266" name="Text Box 50"/>
          <p:cNvSpPr txBox="1">
            <a:spLocks noChangeArrowheads="1"/>
          </p:cNvSpPr>
          <p:nvPr/>
        </p:nvSpPr>
        <p:spPr bwMode="auto">
          <a:xfrm>
            <a:off x="2220912" y="2753966"/>
            <a:ext cx="4918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b="1" dirty="0">
                <a:solidFill>
                  <a:srgbClr val="A50021"/>
                </a:solidFill>
              </a:rPr>
              <a:t>汇编语言程序的建立和汇编过程</a:t>
            </a:r>
            <a:endParaRPr lang="zh-CN" altLang="en-US" b="1" dirty="0">
              <a:solidFill>
                <a:srgbClr val="A50021"/>
              </a:solidFill>
            </a:endParaRPr>
          </a:p>
        </p:txBody>
      </p:sp>
      <p:sp>
        <p:nvSpPr>
          <p:cNvPr id="32" name="Text Box 2"/>
          <p:cNvSpPr txBox="1">
            <a:spLocks noChangeArrowheads="1"/>
          </p:cNvSpPr>
          <p:nvPr/>
        </p:nvSpPr>
        <p:spPr bwMode="auto">
          <a:xfrm>
            <a:off x="457200" y="3441680"/>
            <a:ext cx="819150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533400" algn="just"/>
            <a:r>
              <a:rPr kumimoji="0" lang="zh-CN" altLang="en-US" sz="2200" b="1" dirty="0">
                <a:latin typeface="华文宋体" panose="02010600040101010101" pitchFamily="2" charset="-122"/>
                <a:ea typeface="华文宋体" panose="02010600040101010101" pitchFamily="2" charset="-122"/>
              </a:rPr>
              <a:t>用汇编语言编写的源程序在输入计算机后，需要将其翻译成目标程序，计算机才能执行相应指令，这个翻译过程称为</a:t>
            </a:r>
            <a:r>
              <a:rPr kumimoji="0" lang="zh-CN" altLang="en-US" sz="2200" b="1" dirty="0">
                <a:solidFill>
                  <a:srgbClr val="FF0000"/>
                </a:solidFill>
                <a:latin typeface="华文宋体" panose="02010600040101010101" pitchFamily="2" charset="-122"/>
                <a:ea typeface="华文宋体" panose="02010600040101010101" pitchFamily="2" charset="-122"/>
              </a:rPr>
              <a:t>汇编</a:t>
            </a:r>
            <a:r>
              <a:rPr kumimoji="0" lang="zh-CN" altLang="en-US" sz="2200" b="1" dirty="0">
                <a:latin typeface="华文宋体" panose="02010600040101010101" pitchFamily="2" charset="-122"/>
                <a:ea typeface="华文宋体" panose="02010600040101010101" pitchFamily="2" charset="-122"/>
              </a:rPr>
              <a:t>，完成汇编任务的程序称为</a:t>
            </a:r>
            <a:r>
              <a:rPr kumimoji="0" lang="zh-CN" altLang="en-US" sz="2200" b="1" dirty="0">
                <a:solidFill>
                  <a:srgbClr val="FF0000"/>
                </a:solidFill>
                <a:latin typeface="华文宋体" panose="02010600040101010101" pitchFamily="2" charset="-122"/>
                <a:ea typeface="华文宋体" panose="02010600040101010101" pitchFamily="2" charset="-122"/>
              </a:rPr>
              <a:t>汇编程序</a:t>
            </a:r>
            <a:r>
              <a:rPr kumimoji="0" lang="zh-CN" altLang="en-US" sz="2200" b="1" dirty="0">
                <a:latin typeface="华文宋体" panose="02010600040101010101" pitchFamily="2" charset="-122"/>
                <a:ea typeface="华文宋体" panose="02010600040101010101" pitchFamily="2" charset="-122"/>
              </a:rPr>
              <a:t>。</a:t>
            </a:r>
            <a:endParaRPr kumimoji="0" lang="en-US" altLang="zh-CN" sz="2200" b="1" dirty="0">
              <a:latin typeface="华文宋体" panose="02010600040101010101" pitchFamily="2" charset="-122"/>
              <a:ea typeface="华文宋体" panose="02010600040101010101" pitchFamily="2" charset="-122"/>
            </a:endParaRPr>
          </a:p>
          <a:p>
            <a:pPr indent="533400" algn="just"/>
            <a:r>
              <a:rPr lang="zh-CN" altLang="en-US" sz="2200" dirty="0">
                <a:latin typeface="华文宋体" panose="02010600040101010101" pitchFamily="2" charset="-122"/>
                <a:ea typeface="华文宋体" panose="02010600040101010101" pitchFamily="2" charset="-122"/>
              </a:rPr>
              <a:t>汇编程序以</a:t>
            </a:r>
            <a:r>
              <a:rPr lang="zh-CN" altLang="en-US" sz="2200" dirty="0">
                <a:solidFill>
                  <a:srgbClr val="FF3300"/>
                </a:solidFill>
                <a:latin typeface="华文宋体" panose="02010600040101010101" pitchFamily="2" charset="-122"/>
                <a:ea typeface="华文宋体" panose="02010600040101010101" pitchFamily="2" charset="-122"/>
              </a:rPr>
              <a:t>汇编语言源程序文件</a:t>
            </a:r>
            <a:r>
              <a:rPr lang="zh-CN" altLang="en-US" sz="2200" dirty="0">
                <a:latin typeface="华文宋体" panose="02010600040101010101" pitchFamily="2" charset="-122"/>
                <a:ea typeface="华文宋体" panose="02010600040101010101" pitchFamily="2" charset="-122"/>
              </a:rPr>
              <a:t>作为输入，并由它产生输出文件：</a:t>
            </a:r>
            <a:r>
              <a:rPr lang="zh-CN" altLang="en-US" sz="2200" dirty="0">
                <a:solidFill>
                  <a:srgbClr val="FF3300"/>
                </a:solidFill>
                <a:latin typeface="华文宋体" panose="02010600040101010101" pitchFamily="2" charset="-122"/>
                <a:ea typeface="华文宋体" panose="02010600040101010101" pitchFamily="2" charset="-122"/>
              </a:rPr>
              <a:t>目标程序文件、源程序列表文件、交叉索引文件</a:t>
            </a:r>
            <a:r>
              <a:rPr lang="zh-CN" altLang="en-US" sz="2200" dirty="0">
                <a:latin typeface="华文宋体" panose="02010600040101010101" pitchFamily="2" charset="-122"/>
                <a:ea typeface="华文宋体" panose="02010600040101010101" pitchFamily="2" charset="-122"/>
              </a:rPr>
              <a:t>。</a:t>
            </a:r>
            <a:endParaRPr lang="en-US" altLang="zh-CN" sz="2200" dirty="0">
              <a:latin typeface="华文宋体" panose="02010600040101010101" pitchFamily="2" charset="-122"/>
              <a:ea typeface="华文宋体" panose="02010600040101010101" pitchFamily="2" charset="-122"/>
            </a:endParaRPr>
          </a:p>
          <a:p>
            <a:pPr indent="533400" algn="just"/>
            <a:r>
              <a:rPr lang="zh-CN" altLang="en-US" sz="2200" dirty="0">
                <a:latin typeface="华文宋体" panose="02010600040101010101" pitchFamily="2" charset="-122"/>
                <a:ea typeface="华文宋体" panose="02010600040101010101" pitchFamily="2" charset="-122"/>
              </a:rPr>
              <a:t>目标程序文件（</a:t>
            </a:r>
            <a:r>
              <a:rPr lang="en-US" altLang="zh-CN" sz="2200" dirty="0">
                <a:latin typeface="华文宋体" panose="02010600040101010101" pitchFamily="2" charset="-122"/>
                <a:ea typeface="华文宋体" panose="02010600040101010101" pitchFamily="2" charset="-122"/>
              </a:rPr>
              <a:t>.</a:t>
            </a:r>
            <a:r>
              <a:rPr lang="en-US" altLang="zh-CN" sz="2200" dirty="0" err="1">
                <a:latin typeface="华文宋体" panose="02010600040101010101" pitchFamily="2" charset="-122"/>
                <a:ea typeface="华文宋体" panose="02010600040101010101" pitchFamily="2" charset="-122"/>
              </a:rPr>
              <a:t>obj</a:t>
            </a:r>
            <a:r>
              <a:rPr lang="zh-CN" altLang="en-US" sz="2200" dirty="0">
                <a:latin typeface="华文宋体" panose="02010600040101010101" pitchFamily="2" charset="-122"/>
                <a:ea typeface="华文宋体" panose="02010600040101010101" pitchFamily="2" charset="-122"/>
              </a:rPr>
              <a:t>）文件虽然已经是二进制文件，但它还不能直接运行，必须经过连接程序（</a:t>
            </a:r>
            <a:r>
              <a:rPr lang="en-US" altLang="zh-CN" sz="2200" dirty="0">
                <a:latin typeface="华文宋体" panose="02010600040101010101" pitchFamily="2" charset="-122"/>
                <a:ea typeface="华文宋体" panose="02010600040101010101" pitchFamily="2" charset="-122"/>
              </a:rPr>
              <a:t>link</a:t>
            </a:r>
            <a:r>
              <a:rPr lang="zh-CN" altLang="en-US" sz="2200" dirty="0">
                <a:latin typeface="华文宋体" panose="02010600040101010101" pitchFamily="2" charset="-122"/>
                <a:ea typeface="华文宋体" panose="02010600040101010101" pitchFamily="2" charset="-122"/>
              </a:rPr>
              <a:t>）把目标文件与库文件或其它目标文件连接在一起形成可执行文件（</a:t>
            </a:r>
            <a:r>
              <a:rPr lang="en-US" altLang="zh-CN" sz="2200" dirty="0">
                <a:latin typeface="华文宋体" panose="02010600040101010101" pitchFamily="2" charset="-122"/>
                <a:ea typeface="华文宋体" panose="02010600040101010101" pitchFamily="2" charset="-122"/>
              </a:rPr>
              <a:t>EXE</a:t>
            </a:r>
            <a:r>
              <a:rPr lang="zh-CN" altLang="en-US" sz="2200" dirty="0">
                <a:latin typeface="华文宋体" panose="02010600040101010101" pitchFamily="2" charset="-122"/>
                <a:ea typeface="华文宋体" panose="02010600040101010101" pitchFamily="2" charset="-122"/>
              </a:rPr>
              <a:t>文件）。</a:t>
            </a:r>
            <a:endParaRPr lang="en-US" altLang="zh-CN" sz="2200" dirty="0">
              <a:latin typeface="华文宋体" panose="02010600040101010101" pitchFamily="2" charset="-122"/>
              <a:ea typeface="华文宋体" panose="02010600040101010101" pitchFamily="2" charset="-122"/>
            </a:endParaRPr>
          </a:p>
          <a:p>
            <a:endParaRPr kumimoji="0" lang="zh-CN" altLang="en-US" b="1" dirty="0">
              <a:latin typeface="华文新魏" panose="02010800040101010101" pitchFamily="2" charset="-122"/>
              <a:ea typeface="华文新魏" panose="02010800040101010101" pitchFamily="2" charset="-122"/>
            </a:endParaRPr>
          </a:p>
        </p:txBody>
      </p:sp>
      <p:sp>
        <p:nvSpPr>
          <p:cNvPr id="2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建立汇编程序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762000" y="1304764"/>
            <a:ext cx="7698432"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pPr>
            <a:r>
              <a:rPr kumimoji="0" lang="en-US" altLang="zh-CN" b="1" dirty="0">
                <a:latin typeface="华文宋体" panose="02010600040101010101" pitchFamily="2" charset="-122"/>
                <a:ea typeface="华文宋体" panose="02010600040101010101" pitchFamily="2" charset="-122"/>
              </a:rPr>
              <a:t>     </a:t>
            </a:r>
            <a:r>
              <a:rPr lang="zh-CN" altLang="en-US" dirty="0">
                <a:latin typeface="华文宋体" panose="02010600040101010101" pitchFamily="2" charset="-122"/>
                <a:ea typeface="华文宋体" panose="02010600040101010101" pitchFamily="2" charset="-122"/>
              </a:rPr>
              <a:t>常用的汇编程序有</a:t>
            </a:r>
            <a:r>
              <a:rPr lang="en-US" altLang="zh-CN" dirty="0">
                <a:solidFill>
                  <a:srgbClr val="FF3300"/>
                </a:solidFill>
                <a:latin typeface="华文宋体" panose="02010600040101010101" pitchFamily="2" charset="-122"/>
                <a:ea typeface="华文宋体" panose="02010600040101010101" pitchFamily="2" charset="-122"/>
              </a:rPr>
              <a:t>Microsoft</a:t>
            </a:r>
            <a:r>
              <a:rPr lang="zh-CN" altLang="en-US" dirty="0">
                <a:latin typeface="华文宋体" panose="02010600040101010101" pitchFamily="2" charset="-122"/>
                <a:ea typeface="华文宋体" panose="02010600040101010101" pitchFamily="2" charset="-122"/>
              </a:rPr>
              <a:t>公司的宏汇编程序</a:t>
            </a:r>
            <a:r>
              <a:rPr lang="en-US" altLang="zh-CN" dirty="0">
                <a:solidFill>
                  <a:srgbClr val="FF0000"/>
                </a:solidFill>
                <a:latin typeface="华文宋体" panose="02010600040101010101" pitchFamily="2" charset="-122"/>
                <a:ea typeface="华文宋体" panose="02010600040101010101" pitchFamily="2" charset="-122"/>
              </a:rPr>
              <a:t>MASM</a:t>
            </a:r>
            <a:r>
              <a:rPr lang="zh-CN" altLang="en-US" dirty="0">
                <a:latin typeface="华文宋体" panose="02010600040101010101" pitchFamily="2" charset="-122"/>
                <a:ea typeface="华文宋体" panose="02010600040101010101" pitchFamily="2" charset="-122"/>
              </a:rPr>
              <a:t>（</a:t>
            </a:r>
            <a:r>
              <a:rPr lang="en-US" altLang="zh-CN" dirty="0">
                <a:latin typeface="华文宋体" panose="02010600040101010101" pitchFamily="2" charset="-122"/>
                <a:ea typeface="华文宋体" panose="02010600040101010101" pitchFamily="2" charset="-122"/>
              </a:rPr>
              <a:t>Macro Assembler</a:t>
            </a:r>
            <a:r>
              <a:rPr lang="zh-CN" altLang="en-US" dirty="0">
                <a:latin typeface="华文宋体" panose="02010600040101010101" pitchFamily="2" charset="-122"/>
                <a:ea typeface="华文宋体" panose="02010600040101010101" pitchFamily="2" charset="-122"/>
              </a:rPr>
              <a:t>）和</a:t>
            </a:r>
            <a:r>
              <a:rPr lang="en-US" altLang="zh-CN" dirty="0">
                <a:solidFill>
                  <a:srgbClr val="FF0000"/>
                </a:solidFill>
                <a:latin typeface="华文宋体" panose="02010600040101010101" pitchFamily="2" charset="-122"/>
                <a:ea typeface="华文宋体" panose="02010600040101010101" pitchFamily="2" charset="-122"/>
              </a:rPr>
              <a:t>Borland</a:t>
            </a:r>
            <a:r>
              <a:rPr lang="zh-CN" altLang="en-US" dirty="0">
                <a:latin typeface="华文宋体" panose="02010600040101010101" pitchFamily="2" charset="-122"/>
                <a:ea typeface="华文宋体" panose="02010600040101010101" pitchFamily="2" charset="-122"/>
              </a:rPr>
              <a:t>公司推出的</a:t>
            </a:r>
            <a:r>
              <a:rPr lang="en-US" altLang="zh-CN" dirty="0">
                <a:solidFill>
                  <a:srgbClr val="FF0000"/>
                </a:solidFill>
                <a:latin typeface="华文宋体" panose="02010600040101010101" pitchFamily="2" charset="-122"/>
                <a:ea typeface="华文宋体" panose="02010600040101010101" pitchFamily="2" charset="-122"/>
              </a:rPr>
              <a:t>TASM</a:t>
            </a:r>
            <a:r>
              <a:rPr lang="zh-CN" altLang="en-US" dirty="0">
                <a:latin typeface="华文宋体" panose="02010600040101010101" pitchFamily="2" charset="-122"/>
                <a:ea typeface="华文宋体" panose="02010600040101010101" pitchFamily="2" charset="-122"/>
              </a:rPr>
              <a:t>（</a:t>
            </a:r>
            <a:r>
              <a:rPr lang="en-US" altLang="zh-CN" dirty="0">
                <a:latin typeface="华文宋体" panose="02010600040101010101" pitchFamily="2" charset="-122"/>
                <a:ea typeface="华文宋体" panose="02010600040101010101" pitchFamily="2" charset="-122"/>
              </a:rPr>
              <a:t>Turbo Assembler</a:t>
            </a:r>
            <a:r>
              <a:rPr lang="zh-CN" altLang="en-US" dirty="0">
                <a:latin typeface="华文宋体" panose="02010600040101010101" pitchFamily="2" charset="-122"/>
                <a:ea typeface="华文宋体" panose="02010600040101010101" pitchFamily="2" charset="-122"/>
              </a:rPr>
              <a:t>）两种。</a:t>
            </a:r>
            <a:endParaRPr lang="en-US" altLang="zh-CN" dirty="0">
              <a:latin typeface="华文宋体" panose="02010600040101010101" pitchFamily="2" charset="-122"/>
              <a:ea typeface="华文宋体" panose="02010600040101010101" pitchFamily="2" charset="-122"/>
            </a:endParaRPr>
          </a:p>
          <a:p>
            <a:pPr>
              <a:lnSpc>
                <a:spcPct val="150000"/>
              </a:lnSpc>
            </a:pPr>
            <a:r>
              <a:rPr kumimoji="0" lang="en-US" altLang="zh-CN" b="1" dirty="0">
                <a:latin typeface="华文宋体" panose="02010600040101010101" pitchFamily="2" charset="-122"/>
                <a:ea typeface="华文宋体" panose="02010600040101010101" pitchFamily="2" charset="-122"/>
              </a:rPr>
              <a:t>     </a:t>
            </a:r>
            <a:endParaRPr lang="en-US" altLang="zh-CN" dirty="0">
              <a:solidFill>
                <a:srgbClr val="000000"/>
              </a:solidFill>
              <a:latin typeface="华文宋体" panose="02010600040101010101" pitchFamily="2" charset="-122"/>
              <a:ea typeface="华文宋体" panose="02010600040101010101" pitchFamily="2" charset="-122"/>
            </a:endParaRPr>
          </a:p>
          <a:p>
            <a:pPr>
              <a:lnSpc>
                <a:spcPct val="150000"/>
              </a:lnSpc>
            </a:pPr>
            <a:r>
              <a:rPr lang="zh-CN" altLang="en-US" dirty="0">
                <a:solidFill>
                  <a:srgbClr val="FF3300"/>
                </a:solidFill>
                <a:latin typeface="华文宋体" panose="02010600040101010101" pitchFamily="2" charset="-122"/>
                <a:ea typeface="华文宋体" panose="02010600040101010101" pitchFamily="2" charset="-122"/>
              </a:rPr>
              <a:t>汇编程序的主要功能：</a:t>
            </a:r>
            <a:endParaRPr lang="zh-CN" altLang="en-US" dirty="0">
              <a:solidFill>
                <a:srgbClr val="000000"/>
              </a:solidFill>
              <a:latin typeface="华文宋体" panose="02010600040101010101" pitchFamily="2" charset="-122"/>
              <a:ea typeface="华文宋体" panose="02010600040101010101" pitchFamily="2" charset="-122"/>
            </a:endParaRPr>
          </a:p>
          <a:p>
            <a:pPr>
              <a:lnSpc>
                <a:spcPct val="150000"/>
              </a:lnSpc>
            </a:pPr>
            <a:r>
              <a:rPr lang="zh-CN" altLang="en-US" dirty="0">
                <a:solidFill>
                  <a:srgbClr val="000000"/>
                </a:solidFill>
                <a:latin typeface="华文宋体" panose="02010600040101010101" pitchFamily="2" charset="-122"/>
                <a:ea typeface="华文宋体" panose="02010600040101010101" pitchFamily="2" charset="-122"/>
              </a:rPr>
              <a:t> （</a:t>
            </a:r>
            <a:r>
              <a:rPr lang="en-US" altLang="zh-CN" dirty="0">
                <a:solidFill>
                  <a:srgbClr val="000000"/>
                </a:solidFill>
                <a:latin typeface="华文宋体" panose="02010600040101010101" pitchFamily="2" charset="-122"/>
                <a:ea typeface="华文宋体" panose="02010600040101010101" pitchFamily="2" charset="-122"/>
              </a:rPr>
              <a:t>1</a:t>
            </a:r>
            <a:r>
              <a:rPr lang="zh-CN" altLang="en-US" dirty="0">
                <a:solidFill>
                  <a:srgbClr val="000000"/>
                </a:solidFill>
                <a:latin typeface="华文宋体" panose="02010600040101010101" pitchFamily="2" charset="-122"/>
                <a:ea typeface="华文宋体" panose="02010600040101010101" pitchFamily="2" charset="-122"/>
              </a:rPr>
              <a:t>）检查源程序，给出出错信息。</a:t>
            </a:r>
            <a:endParaRPr lang="zh-CN" altLang="en-US" dirty="0">
              <a:solidFill>
                <a:srgbClr val="000000"/>
              </a:solidFill>
              <a:latin typeface="华文宋体" panose="02010600040101010101" pitchFamily="2" charset="-122"/>
              <a:ea typeface="华文宋体" panose="02010600040101010101" pitchFamily="2" charset="-122"/>
            </a:endParaRPr>
          </a:p>
          <a:p>
            <a:pPr marL="808355" indent="-808355">
              <a:lnSpc>
                <a:spcPct val="150000"/>
              </a:lnSpc>
            </a:pPr>
            <a:r>
              <a:rPr lang="zh-CN" altLang="en-US" dirty="0">
                <a:solidFill>
                  <a:srgbClr val="000000"/>
                </a:solidFill>
                <a:latin typeface="华文宋体" panose="02010600040101010101" pitchFamily="2" charset="-122"/>
                <a:ea typeface="华文宋体" panose="02010600040101010101" pitchFamily="2" charset="-122"/>
              </a:rPr>
              <a:t> （</a:t>
            </a:r>
            <a:r>
              <a:rPr lang="en-US" altLang="zh-CN" dirty="0">
                <a:solidFill>
                  <a:srgbClr val="000000"/>
                </a:solidFill>
                <a:latin typeface="华文宋体" panose="02010600040101010101" pitchFamily="2" charset="-122"/>
                <a:ea typeface="华文宋体" panose="02010600040101010101" pitchFamily="2" charset="-122"/>
              </a:rPr>
              <a:t>2</a:t>
            </a:r>
            <a:r>
              <a:rPr lang="zh-CN" altLang="en-US" dirty="0">
                <a:solidFill>
                  <a:srgbClr val="000000"/>
                </a:solidFill>
                <a:latin typeface="华文宋体" panose="02010600040101010101" pitchFamily="2" charset="-122"/>
                <a:ea typeface="华文宋体" panose="02010600040101010101" pitchFamily="2" charset="-122"/>
              </a:rPr>
              <a:t>）产生目标文件</a:t>
            </a:r>
            <a:r>
              <a:rPr lang="en-US" altLang="zh-CN" dirty="0">
                <a:solidFill>
                  <a:srgbClr val="000000"/>
                </a:solidFill>
                <a:latin typeface="华文宋体" panose="02010600040101010101" pitchFamily="2" charset="-122"/>
                <a:ea typeface="华文宋体" panose="02010600040101010101" pitchFamily="2" charset="-122"/>
              </a:rPr>
              <a:t>(.</a:t>
            </a:r>
            <a:r>
              <a:rPr lang="en-US" altLang="zh-CN" dirty="0" err="1">
                <a:solidFill>
                  <a:srgbClr val="000000"/>
                </a:solidFill>
                <a:latin typeface="华文宋体" panose="02010600040101010101" pitchFamily="2" charset="-122"/>
                <a:ea typeface="华文宋体" panose="02010600040101010101" pitchFamily="2" charset="-122"/>
              </a:rPr>
              <a:t>obj</a:t>
            </a:r>
            <a:r>
              <a:rPr lang="en-US" altLang="zh-CN" dirty="0">
                <a:solidFill>
                  <a:srgbClr val="000000"/>
                </a:solidFill>
                <a:latin typeface="华文宋体" panose="02010600040101010101" pitchFamily="2" charset="-122"/>
                <a:ea typeface="华文宋体" panose="02010600040101010101" pitchFamily="2" charset="-122"/>
              </a:rPr>
              <a:t>)</a:t>
            </a:r>
            <a:r>
              <a:rPr lang="zh-CN" altLang="en-US" dirty="0">
                <a:solidFill>
                  <a:srgbClr val="000000"/>
                </a:solidFill>
                <a:latin typeface="华文宋体" panose="02010600040101010101" pitchFamily="2" charset="-122"/>
                <a:ea typeface="华文宋体" panose="02010600040101010101" pitchFamily="2" charset="-122"/>
              </a:rPr>
              <a:t>、列表文件</a:t>
            </a:r>
            <a:r>
              <a:rPr lang="en-US" altLang="zh-CN" dirty="0">
                <a:solidFill>
                  <a:srgbClr val="000000"/>
                </a:solidFill>
                <a:latin typeface="华文宋体" panose="02010600040101010101" pitchFamily="2" charset="-122"/>
                <a:ea typeface="华文宋体" panose="02010600040101010101" pitchFamily="2" charset="-122"/>
              </a:rPr>
              <a:t>(.</a:t>
            </a:r>
            <a:r>
              <a:rPr lang="en-US" altLang="zh-CN" dirty="0" err="1">
                <a:solidFill>
                  <a:srgbClr val="000000"/>
                </a:solidFill>
                <a:latin typeface="华文宋体" panose="02010600040101010101" pitchFamily="2" charset="-122"/>
                <a:ea typeface="华文宋体" panose="02010600040101010101" pitchFamily="2" charset="-122"/>
              </a:rPr>
              <a:t>lst</a:t>
            </a:r>
            <a:r>
              <a:rPr lang="en-US" altLang="zh-CN" dirty="0">
                <a:solidFill>
                  <a:srgbClr val="000000"/>
                </a:solidFill>
                <a:latin typeface="华文宋体" panose="02010600040101010101" pitchFamily="2" charset="-122"/>
                <a:ea typeface="华文宋体" panose="02010600040101010101" pitchFamily="2" charset="-122"/>
              </a:rPr>
              <a:t>)</a:t>
            </a:r>
            <a:r>
              <a:rPr lang="zh-CN" altLang="en-US" dirty="0">
                <a:solidFill>
                  <a:srgbClr val="000000"/>
                </a:solidFill>
                <a:latin typeface="华文宋体" panose="02010600040101010101" pitchFamily="2" charset="-122"/>
                <a:ea typeface="华文宋体" panose="02010600040101010101" pitchFamily="2" charset="-122"/>
              </a:rPr>
              <a:t>和交差索引文件（</a:t>
            </a:r>
            <a:r>
              <a:rPr lang="en-US" altLang="zh-CN" dirty="0">
                <a:solidFill>
                  <a:srgbClr val="000000"/>
                </a:solidFill>
                <a:latin typeface="华文宋体" panose="02010600040101010101" pitchFamily="2" charset="-122"/>
                <a:ea typeface="华文宋体" panose="02010600040101010101" pitchFamily="2" charset="-122"/>
              </a:rPr>
              <a:t>.</a:t>
            </a:r>
            <a:r>
              <a:rPr lang="en-US" altLang="zh-CN" dirty="0" err="1">
                <a:solidFill>
                  <a:srgbClr val="000000"/>
                </a:solidFill>
                <a:latin typeface="华文宋体" panose="02010600040101010101" pitchFamily="2" charset="-122"/>
                <a:ea typeface="华文宋体" panose="02010600040101010101" pitchFamily="2" charset="-122"/>
              </a:rPr>
              <a:t>crf</a:t>
            </a:r>
            <a:r>
              <a:rPr lang="zh-CN" altLang="en-US" dirty="0">
                <a:solidFill>
                  <a:srgbClr val="000000"/>
                </a:solidFill>
                <a:latin typeface="华文宋体" panose="02010600040101010101" pitchFamily="2" charset="-122"/>
                <a:ea typeface="华文宋体" panose="02010600040101010101" pitchFamily="2" charset="-122"/>
              </a:rPr>
              <a:t>）。</a:t>
            </a:r>
            <a:endParaRPr lang="zh-CN" altLang="en-US" dirty="0">
              <a:solidFill>
                <a:srgbClr val="000000"/>
              </a:solidFill>
              <a:latin typeface="华文宋体" panose="02010600040101010101" pitchFamily="2" charset="-122"/>
              <a:ea typeface="华文宋体" panose="02010600040101010101" pitchFamily="2" charset="-122"/>
            </a:endParaRPr>
          </a:p>
          <a:p>
            <a:pPr>
              <a:lnSpc>
                <a:spcPct val="150000"/>
              </a:lnSpc>
            </a:pPr>
            <a:r>
              <a:rPr lang="zh-CN" altLang="en-US" dirty="0">
                <a:solidFill>
                  <a:srgbClr val="000000"/>
                </a:solidFill>
                <a:latin typeface="华文宋体" panose="02010600040101010101" pitchFamily="2" charset="-122"/>
                <a:ea typeface="华文宋体" panose="02010600040101010101" pitchFamily="2" charset="-122"/>
              </a:rPr>
              <a:t> （</a:t>
            </a:r>
            <a:r>
              <a:rPr lang="en-US" altLang="zh-CN" dirty="0">
                <a:solidFill>
                  <a:srgbClr val="000000"/>
                </a:solidFill>
                <a:latin typeface="华文宋体" panose="02010600040101010101" pitchFamily="2" charset="-122"/>
                <a:ea typeface="华文宋体" panose="02010600040101010101" pitchFamily="2" charset="-122"/>
              </a:rPr>
              <a:t>3</a:t>
            </a:r>
            <a:r>
              <a:rPr lang="zh-CN" altLang="en-US" dirty="0">
                <a:solidFill>
                  <a:srgbClr val="000000"/>
                </a:solidFill>
                <a:latin typeface="华文宋体" panose="02010600040101010101" pitchFamily="2" charset="-122"/>
                <a:ea typeface="华文宋体" panose="02010600040101010101" pitchFamily="2" charset="-122"/>
              </a:rPr>
              <a:t>）展开宏指令。</a:t>
            </a:r>
            <a:endParaRPr kumimoji="0" lang="zh-CN" altLang="en-US" b="1" dirty="0">
              <a:solidFill>
                <a:srgbClr val="000000"/>
              </a:solidFill>
              <a:latin typeface="华文宋体" panose="02010600040101010101" pitchFamily="2" charset="-122"/>
              <a:ea typeface="华文宋体" panose="02010600040101010101" pitchFamily="2" charset="-122"/>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rPr>
              <a:t>建立汇编程序</a:t>
            </a:r>
            <a:endParaRPr lang="zh-CN" altLang="en-US" sz="2600" kern="0" dirty="0">
              <a:solidFill>
                <a:schemeClr val="tx2"/>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9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468400" y="1012080"/>
            <a:ext cx="245221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50000"/>
              </a:spcBef>
            </a:pPr>
            <a:r>
              <a:rPr lang="zh-CN" altLang="en-US" b="1" dirty="0">
                <a:solidFill>
                  <a:srgbClr val="000000"/>
                </a:solidFill>
                <a:latin typeface="黑体" panose="02010609060101010101" pitchFamily="2" charset="-122"/>
                <a:ea typeface="黑体" panose="02010609060101010101" pitchFamily="2" charset="-122"/>
              </a:rPr>
              <a:t>建立</a:t>
            </a:r>
            <a:r>
              <a:rPr lang="en-US" altLang="zh-CN" b="1" dirty="0">
                <a:solidFill>
                  <a:srgbClr val="000000"/>
                </a:solidFill>
                <a:latin typeface="黑体" panose="02010609060101010101" pitchFamily="2" charset="-122"/>
                <a:ea typeface="黑体" panose="02010609060101010101" pitchFamily="2" charset="-122"/>
              </a:rPr>
              <a:t>, </a:t>
            </a:r>
            <a:r>
              <a:rPr lang="zh-CN" altLang="en-US" b="1" dirty="0">
                <a:solidFill>
                  <a:srgbClr val="000000"/>
                </a:solidFill>
                <a:latin typeface="黑体" panose="02010609060101010101" pitchFamily="2" charset="-122"/>
                <a:ea typeface="黑体" panose="02010609060101010101" pitchFamily="2" charset="-122"/>
              </a:rPr>
              <a:t>运行汇编语言程序</a:t>
            </a:r>
            <a:endParaRPr lang="zh-CN" altLang="en-US" b="1" dirty="0">
              <a:solidFill>
                <a:srgbClr val="000000"/>
              </a:solidFill>
              <a:latin typeface="黑体" panose="02010609060101010101" pitchFamily="2" charset="-122"/>
              <a:ea typeface="黑体" panose="02010609060101010101" pitchFamily="2" charset="-122"/>
            </a:endParaRPr>
          </a:p>
        </p:txBody>
      </p:sp>
      <p:grpSp>
        <p:nvGrpSpPr>
          <p:cNvPr id="2" name="组合 1"/>
          <p:cNvGrpSpPr/>
          <p:nvPr/>
        </p:nvGrpSpPr>
        <p:grpSpPr>
          <a:xfrm>
            <a:off x="2933896" y="1128712"/>
            <a:ext cx="5181600" cy="5729288"/>
            <a:chOff x="1447800" y="838200"/>
            <a:chExt cx="5181600" cy="5729288"/>
          </a:xfrm>
        </p:grpSpPr>
        <p:sp>
          <p:nvSpPr>
            <p:cNvPr id="5123" name="Text Box 3"/>
            <p:cNvSpPr txBox="1">
              <a:spLocks noChangeArrowheads="1"/>
            </p:cNvSpPr>
            <p:nvPr/>
          </p:nvSpPr>
          <p:spPr bwMode="auto">
            <a:xfrm>
              <a:off x="1447800" y="838200"/>
              <a:ext cx="5181600" cy="572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spcBef>
                  <a:spcPct val="50000"/>
                </a:spcBef>
              </a:pPr>
              <a:r>
                <a:rPr lang="en-US" altLang="zh-CN" sz="1400" b="1" dirty="0">
                  <a:solidFill>
                    <a:srgbClr val="000000"/>
                  </a:solidFill>
                  <a:ea typeface="黑体" panose="02010609060101010101" pitchFamily="2" charset="-122"/>
                </a:rPr>
                <a:t>C&gt;</a:t>
              </a:r>
              <a:r>
                <a:rPr lang="en-US" altLang="zh-CN" sz="1400" b="1" i="1" dirty="0">
                  <a:solidFill>
                    <a:srgbClr val="000000"/>
                  </a:solidFill>
                  <a:ea typeface="黑体" panose="02010609060101010101" pitchFamily="2" charset="-122"/>
                </a:rPr>
                <a:t>EDIT  MYFILE . ASM</a:t>
              </a:r>
              <a:endParaRPr lang="en-US" altLang="zh-CN" sz="1400" b="1" i="1" dirty="0">
                <a:solidFill>
                  <a:srgbClr val="000000"/>
                </a:solidFill>
                <a:ea typeface="黑体" panose="02010609060101010101" pitchFamily="2" charset="-122"/>
              </a:endParaRPr>
            </a:p>
            <a:p>
              <a:pPr algn="just" eaLnBrk="0" hangingPunct="0">
                <a:spcBef>
                  <a:spcPct val="50000"/>
                </a:spcBef>
              </a:pPr>
              <a:r>
                <a:rPr lang="en-US" altLang="zh-CN" sz="1400" b="1" dirty="0">
                  <a:solidFill>
                    <a:srgbClr val="000000"/>
                  </a:solidFill>
                  <a:ea typeface="黑体" panose="02010609060101010101" pitchFamily="2" charset="-122"/>
                </a:rPr>
                <a:t>C&gt;</a:t>
              </a:r>
              <a:r>
                <a:rPr lang="en-US" altLang="zh-CN" sz="1400" b="1" i="1" dirty="0">
                  <a:solidFill>
                    <a:srgbClr val="000000"/>
                  </a:solidFill>
                  <a:ea typeface="黑体" panose="02010609060101010101" pitchFamily="2" charset="-122"/>
                </a:rPr>
                <a:t>MASM  MYFILE . ASM</a:t>
              </a:r>
              <a:endParaRPr lang="en-US" altLang="zh-CN" sz="1400" b="1" dirty="0">
                <a:solidFill>
                  <a:srgbClr val="000000"/>
                </a:solidFill>
                <a:ea typeface="黑体" panose="02010609060101010101" pitchFamily="2" charset="-122"/>
              </a:endParaRPr>
            </a:p>
            <a:p>
              <a:pPr algn="just" eaLnBrk="0" hangingPunct="0">
                <a:spcBef>
                  <a:spcPct val="50000"/>
                </a:spcBef>
              </a:pPr>
              <a:r>
                <a:rPr lang="en-US" altLang="zh-CN" sz="1400" b="1" dirty="0">
                  <a:solidFill>
                    <a:srgbClr val="000000"/>
                  </a:solidFill>
                  <a:ea typeface="黑体" panose="02010609060101010101" pitchFamily="2" charset="-122"/>
                </a:rPr>
                <a:t>      Microsoft (R) Macro Assembler Version 5.10 </a:t>
              </a:r>
              <a:endParaRPr lang="en-US" altLang="zh-CN" sz="1400" b="1" dirty="0">
                <a:solidFill>
                  <a:srgbClr val="000000"/>
                </a:solidFill>
                <a:ea typeface="黑体" panose="02010609060101010101" pitchFamily="2" charset="-122"/>
              </a:endParaRPr>
            </a:p>
            <a:p>
              <a:pPr algn="just" eaLnBrk="0" hangingPunct="0">
                <a:spcBef>
                  <a:spcPct val="50000"/>
                </a:spcBef>
              </a:pPr>
              <a:r>
                <a:rPr lang="en-US" altLang="zh-CN" sz="1400" b="1" dirty="0">
                  <a:solidFill>
                    <a:srgbClr val="000000"/>
                  </a:solidFill>
                  <a:ea typeface="黑体" panose="02010609060101010101" pitchFamily="2" charset="-122"/>
                </a:rPr>
                <a:t>     Copyright (C) Microsoft Corp 1981,1988.All rights reserved.</a:t>
              </a:r>
              <a:endParaRPr lang="en-US" altLang="zh-CN" sz="1400" b="1" dirty="0">
                <a:solidFill>
                  <a:srgbClr val="000000"/>
                </a:solidFill>
                <a:ea typeface="黑体" panose="02010609060101010101" pitchFamily="2" charset="-122"/>
              </a:endParaRPr>
            </a:p>
            <a:p>
              <a:pPr algn="just" eaLnBrk="0" hangingPunct="0">
                <a:spcBef>
                  <a:spcPct val="50000"/>
                </a:spcBef>
              </a:pPr>
              <a:r>
                <a:rPr lang="en-US" altLang="zh-CN" sz="1400" b="1" dirty="0">
                  <a:solidFill>
                    <a:srgbClr val="000000"/>
                  </a:solidFill>
                  <a:ea typeface="黑体" panose="02010609060101010101" pitchFamily="2" charset="-122"/>
                </a:rPr>
                <a:t>     Object filename [MYFILE.OBJ]: </a:t>
              </a:r>
              <a:endParaRPr lang="en-US" altLang="zh-CN" sz="1400" b="1" dirty="0">
                <a:solidFill>
                  <a:srgbClr val="000000"/>
                </a:solidFill>
                <a:ea typeface="黑体" panose="02010609060101010101" pitchFamily="2" charset="-122"/>
              </a:endParaRPr>
            </a:p>
            <a:p>
              <a:pPr algn="just" eaLnBrk="0" hangingPunct="0">
                <a:spcBef>
                  <a:spcPct val="50000"/>
                </a:spcBef>
              </a:pPr>
              <a:r>
                <a:rPr lang="en-US" altLang="zh-CN" sz="1400" b="1" dirty="0">
                  <a:solidFill>
                    <a:srgbClr val="000000"/>
                  </a:solidFill>
                  <a:ea typeface="黑体" panose="02010609060101010101" pitchFamily="2" charset="-122"/>
                </a:rPr>
                <a:t>     Source listing  [NUL.LST]: MYFILE.LST</a:t>
              </a:r>
              <a:endParaRPr lang="en-US" altLang="zh-CN" sz="1400" b="1" dirty="0">
                <a:solidFill>
                  <a:srgbClr val="000000"/>
                </a:solidFill>
                <a:ea typeface="黑体" panose="02010609060101010101" pitchFamily="2" charset="-122"/>
              </a:endParaRPr>
            </a:p>
            <a:p>
              <a:pPr algn="just" eaLnBrk="0" hangingPunct="0">
                <a:spcBef>
                  <a:spcPct val="50000"/>
                </a:spcBef>
              </a:pPr>
              <a:r>
                <a:rPr lang="en-US" altLang="zh-CN" sz="1400" b="1" dirty="0">
                  <a:solidFill>
                    <a:srgbClr val="000000"/>
                  </a:solidFill>
                  <a:ea typeface="黑体" panose="02010609060101010101" pitchFamily="2" charset="-122"/>
                </a:rPr>
                <a:t>     Cross-reference [NUL.CRF]: </a:t>
              </a:r>
              <a:endParaRPr lang="en-US" altLang="zh-CN" sz="1400" b="1" dirty="0">
                <a:solidFill>
                  <a:srgbClr val="000000"/>
                </a:solidFill>
                <a:ea typeface="黑体" panose="02010609060101010101" pitchFamily="2" charset="-122"/>
              </a:endParaRPr>
            </a:p>
            <a:p>
              <a:pPr algn="just" eaLnBrk="0" hangingPunct="0">
                <a:spcBef>
                  <a:spcPct val="50000"/>
                </a:spcBef>
              </a:pPr>
              <a:r>
                <a:rPr lang="en-US" altLang="zh-CN" sz="1400" b="1" dirty="0">
                  <a:solidFill>
                    <a:srgbClr val="000000"/>
                  </a:solidFill>
                  <a:ea typeface="黑体" panose="02010609060101010101" pitchFamily="2" charset="-122"/>
                </a:rPr>
                <a:t>            47962 + 413345Bytes symbol space free</a:t>
              </a:r>
              <a:endParaRPr lang="en-US" altLang="zh-CN" sz="1400" b="1" dirty="0">
                <a:solidFill>
                  <a:srgbClr val="000000"/>
                </a:solidFill>
                <a:ea typeface="黑体" panose="02010609060101010101" pitchFamily="2" charset="-122"/>
              </a:endParaRPr>
            </a:p>
            <a:p>
              <a:pPr algn="just" eaLnBrk="0" hangingPunct="0">
                <a:spcBef>
                  <a:spcPct val="50000"/>
                </a:spcBef>
              </a:pPr>
              <a:r>
                <a:rPr lang="en-US" altLang="zh-CN" sz="1400" b="1" dirty="0">
                  <a:solidFill>
                    <a:srgbClr val="000000"/>
                  </a:solidFill>
                  <a:ea typeface="黑体" panose="02010609060101010101" pitchFamily="2" charset="-122"/>
                </a:rPr>
                <a:t>                 0 Warning Errors</a:t>
              </a:r>
              <a:endParaRPr lang="en-US" altLang="zh-CN" sz="1400" b="1" dirty="0">
                <a:solidFill>
                  <a:srgbClr val="000000"/>
                </a:solidFill>
                <a:ea typeface="黑体" panose="02010609060101010101" pitchFamily="2" charset="-122"/>
              </a:endParaRPr>
            </a:p>
            <a:p>
              <a:pPr algn="just" eaLnBrk="0" hangingPunct="0">
                <a:spcBef>
                  <a:spcPct val="50000"/>
                </a:spcBef>
              </a:pPr>
              <a:r>
                <a:rPr lang="en-US" altLang="zh-CN" sz="1400" b="1" dirty="0">
                  <a:solidFill>
                    <a:srgbClr val="000000"/>
                  </a:solidFill>
                  <a:ea typeface="黑体" panose="02010609060101010101" pitchFamily="2" charset="-122"/>
                </a:rPr>
                <a:t>                 0 Severe  Errors</a:t>
              </a:r>
              <a:endParaRPr lang="en-US" altLang="zh-CN" sz="1400" b="1" dirty="0">
                <a:solidFill>
                  <a:srgbClr val="000000"/>
                </a:solidFill>
                <a:ea typeface="黑体" panose="02010609060101010101" pitchFamily="2" charset="-122"/>
              </a:endParaRPr>
            </a:p>
            <a:p>
              <a:pPr algn="just" eaLnBrk="0" hangingPunct="0">
                <a:spcBef>
                  <a:spcPct val="50000"/>
                </a:spcBef>
              </a:pPr>
              <a:r>
                <a:rPr lang="en-US" altLang="zh-CN" sz="1400" b="1" dirty="0">
                  <a:solidFill>
                    <a:srgbClr val="000000"/>
                  </a:solidFill>
                  <a:ea typeface="黑体" panose="02010609060101010101" pitchFamily="2" charset="-122"/>
                </a:rPr>
                <a:t>C&gt;</a:t>
              </a:r>
              <a:r>
                <a:rPr lang="en-US" altLang="zh-CN" sz="1400" b="1" i="1" dirty="0">
                  <a:solidFill>
                    <a:srgbClr val="000000"/>
                  </a:solidFill>
                  <a:ea typeface="黑体" panose="02010609060101010101" pitchFamily="2" charset="-122"/>
                </a:rPr>
                <a:t>LINK  MYFILE . OBJ</a:t>
              </a:r>
              <a:endParaRPr lang="en-US" altLang="zh-CN" sz="1400" b="1" dirty="0">
                <a:solidFill>
                  <a:srgbClr val="000000"/>
                </a:solidFill>
                <a:ea typeface="黑体" panose="02010609060101010101" pitchFamily="2" charset="-122"/>
              </a:endParaRPr>
            </a:p>
            <a:p>
              <a:pPr algn="just" eaLnBrk="0" hangingPunct="0">
                <a:spcBef>
                  <a:spcPct val="50000"/>
                </a:spcBef>
              </a:pPr>
              <a:r>
                <a:rPr lang="en-US" altLang="zh-CN" sz="1400" b="1" dirty="0">
                  <a:solidFill>
                    <a:srgbClr val="000000"/>
                  </a:solidFill>
                  <a:ea typeface="黑体" panose="02010609060101010101" pitchFamily="2" charset="-122"/>
                </a:rPr>
                <a:t>     Microsoft (R) Overlay Linker  Version 3.64</a:t>
              </a:r>
              <a:endParaRPr lang="en-US" altLang="zh-CN" sz="1400" b="1" dirty="0">
                <a:solidFill>
                  <a:srgbClr val="000000"/>
                </a:solidFill>
                <a:ea typeface="黑体" panose="02010609060101010101" pitchFamily="2" charset="-122"/>
              </a:endParaRPr>
            </a:p>
            <a:p>
              <a:pPr algn="just" eaLnBrk="0" hangingPunct="0">
                <a:spcBef>
                  <a:spcPct val="50000"/>
                </a:spcBef>
              </a:pPr>
              <a:r>
                <a:rPr lang="en-US" altLang="zh-CN" sz="1400" b="1" dirty="0">
                  <a:solidFill>
                    <a:srgbClr val="000000"/>
                  </a:solidFill>
                  <a:ea typeface="黑体" panose="02010609060101010101" pitchFamily="2" charset="-122"/>
                </a:rPr>
                <a:t>    Copyright (C) Microsoft Corp 1983-1988. All rights reserved.</a:t>
              </a:r>
              <a:endParaRPr lang="en-US" altLang="zh-CN" sz="1400" b="1" dirty="0">
                <a:solidFill>
                  <a:srgbClr val="000000"/>
                </a:solidFill>
                <a:ea typeface="黑体" panose="02010609060101010101" pitchFamily="2" charset="-122"/>
              </a:endParaRPr>
            </a:p>
            <a:p>
              <a:pPr algn="just" eaLnBrk="0" hangingPunct="0">
                <a:spcBef>
                  <a:spcPct val="50000"/>
                </a:spcBef>
              </a:pPr>
              <a:r>
                <a:rPr lang="en-US" altLang="zh-CN" sz="1400" b="1" dirty="0">
                  <a:solidFill>
                    <a:srgbClr val="000000"/>
                  </a:solidFill>
                  <a:ea typeface="黑体" panose="02010609060101010101" pitchFamily="2" charset="-122"/>
                </a:rPr>
                <a:t>     Run File [MYFILE.EXE]: </a:t>
              </a:r>
              <a:endParaRPr lang="en-US" altLang="zh-CN" sz="1400" b="1" dirty="0">
                <a:solidFill>
                  <a:srgbClr val="000000"/>
                </a:solidFill>
                <a:ea typeface="黑体" panose="02010609060101010101" pitchFamily="2" charset="-122"/>
              </a:endParaRPr>
            </a:p>
            <a:p>
              <a:pPr algn="just" eaLnBrk="0" hangingPunct="0">
                <a:spcBef>
                  <a:spcPct val="50000"/>
                </a:spcBef>
              </a:pPr>
              <a:r>
                <a:rPr lang="en-US" altLang="zh-CN" sz="1400" b="1" dirty="0">
                  <a:solidFill>
                    <a:srgbClr val="000000"/>
                  </a:solidFill>
                  <a:ea typeface="黑体" panose="02010609060101010101" pitchFamily="2" charset="-122"/>
                </a:rPr>
                <a:t>     List File [NUL.MAP]:</a:t>
              </a:r>
              <a:r>
                <a:rPr lang="en-US" altLang="zh-CN" sz="1400" b="1" i="1" dirty="0">
                  <a:solidFill>
                    <a:srgbClr val="000000"/>
                  </a:solidFill>
                  <a:ea typeface="黑体" panose="02010609060101010101" pitchFamily="2" charset="-122"/>
                </a:rPr>
                <a:t> </a:t>
              </a:r>
              <a:endParaRPr lang="en-US" altLang="zh-CN" sz="1400" b="1" dirty="0">
                <a:solidFill>
                  <a:srgbClr val="000000"/>
                </a:solidFill>
                <a:ea typeface="黑体" panose="02010609060101010101" pitchFamily="2" charset="-122"/>
              </a:endParaRPr>
            </a:p>
            <a:p>
              <a:pPr algn="just" eaLnBrk="0" hangingPunct="0">
                <a:spcBef>
                  <a:spcPct val="50000"/>
                </a:spcBef>
              </a:pPr>
              <a:r>
                <a:rPr lang="en-US" altLang="zh-CN" sz="1400" b="1" dirty="0">
                  <a:solidFill>
                    <a:srgbClr val="000000"/>
                  </a:solidFill>
                  <a:ea typeface="黑体" panose="02010609060101010101" pitchFamily="2" charset="-122"/>
                </a:rPr>
                <a:t>    Libraries [.LIB]: </a:t>
              </a:r>
              <a:endParaRPr lang="en-US" altLang="zh-CN" sz="1400" b="1" dirty="0">
                <a:solidFill>
                  <a:srgbClr val="000000"/>
                </a:solidFill>
                <a:ea typeface="黑体" panose="02010609060101010101" pitchFamily="2" charset="-122"/>
              </a:endParaRPr>
            </a:p>
            <a:p>
              <a:pPr algn="just" eaLnBrk="0" hangingPunct="0">
                <a:spcBef>
                  <a:spcPct val="50000"/>
                </a:spcBef>
              </a:pPr>
              <a:r>
                <a:rPr lang="en-US" altLang="zh-CN" sz="1400" b="1" dirty="0">
                  <a:solidFill>
                    <a:srgbClr val="000000"/>
                  </a:solidFill>
                  <a:ea typeface="黑体" panose="02010609060101010101" pitchFamily="2" charset="-122"/>
                </a:rPr>
                <a:t>    LINK : warning L4021: no stack segment</a:t>
              </a:r>
              <a:endParaRPr lang="en-US" altLang="zh-CN" sz="1400" b="1" dirty="0">
                <a:solidFill>
                  <a:srgbClr val="000000"/>
                </a:solidFill>
                <a:ea typeface="黑体" panose="02010609060101010101" pitchFamily="2" charset="-122"/>
              </a:endParaRPr>
            </a:p>
            <a:p>
              <a:pPr eaLnBrk="0" hangingPunct="0">
                <a:spcBef>
                  <a:spcPct val="50000"/>
                </a:spcBef>
              </a:pPr>
              <a:r>
                <a:rPr lang="en-US" altLang="zh-CN" sz="1400" b="1" dirty="0">
                  <a:solidFill>
                    <a:srgbClr val="000000"/>
                  </a:solidFill>
                  <a:ea typeface="黑体" panose="02010609060101010101" pitchFamily="2" charset="-122"/>
                </a:rPr>
                <a:t>    C&gt;</a:t>
              </a:r>
              <a:r>
                <a:rPr lang="en-US" altLang="zh-CN" sz="1400" b="1" i="1" dirty="0">
                  <a:solidFill>
                    <a:srgbClr val="000000"/>
                  </a:solidFill>
                  <a:ea typeface="黑体" panose="02010609060101010101" pitchFamily="2" charset="-122"/>
                </a:rPr>
                <a:t>MYFILE</a:t>
              </a:r>
              <a:endParaRPr lang="en-US" altLang="zh-CN" sz="1400" b="1" dirty="0">
                <a:solidFill>
                  <a:srgbClr val="000000"/>
                </a:solidFill>
                <a:ea typeface="黑体" panose="02010609060101010101" pitchFamily="2" charset="-122"/>
              </a:endParaRPr>
            </a:p>
          </p:txBody>
        </p:sp>
        <p:sp>
          <p:nvSpPr>
            <p:cNvPr id="5124" name="Line 4"/>
            <p:cNvSpPr>
              <a:spLocks noChangeShapeType="1"/>
            </p:cNvSpPr>
            <p:nvPr/>
          </p:nvSpPr>
          <p:spPr bwMode="auto">
            <a:xfrm flipH="1">
              <a:off x="3581400" y="914400"/>
              <a:ext cx="152400" cy="152400"/>
            </a:xfrm>
            <a:prstGeom prst="line">
              <a:avLst/>
            </a:prstGeom>
            <a:noFill/>
            <a:ln w="12700" cap="sq">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125" name="Line 5"/>
            <p:cNvSpPr>
              <a:spLocks noChangeShapeType="1"/>
            </p:cNvSpPr>
            <p:nvPr/>
          </p:nvSpPr>
          <p:spPr bwMode="auto">
            <a:xfrm flipH="1">
              <a:off x="3657600" y="1219200"/>
              <a:ext cx="152400" cy="152400"/>
            </a:xfrm>
            <a:prstGeom prst="line">
              <a:avLst/>
            </a:prstGeom>
            <a:noFill/>
            <a:ln w="12700" cap="sq">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126" name="Line 6"/>
            <p:cNvSpPr>
              <a:spLocks noChangeShapeType="1"/>
            </p:cNvSpPr>
            <p:nvPr/>
          </p:nvSpPr>
          <p:spPr bwMode="auto">
            <a:xfrm flipH="1">
              <a:off x="4419600" y="2209800"/>
              <a:ext cx="152400" cy="152400"/>
            </a:xfrm>
            <a:prstGeom prst="line">
              <a:avLst/>
            </a:prstGeom>
            <a:noFill/>
            <a:ln w="12700" cap="sq">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127" name="Line 7"/>
            <p:cNvSpPr>
              <a:spLocks noChangeShapeType="1"/>
            </p:cNvSpPr>
            <p:nvPr/>
          </p:nvSpPr>
          <p:spPr bwMode="auto">
            <a:xfrm flipH="1">
              <a:off x="5029200" y="2514600"/>
              <a:ext cx="152400" cy="152400"/>
            </a:xfrm>
            <a:prstGeom prst="line">
              <a:avLst/>
            </a:prstGeom>
            <a:noFill/>
            <a:ln w="12700" cap="sq">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128" name="Line 8"/>
            <p:cNvSpPr>
              <a:spLocks noChangeShapeType="1"/>
            </p:cNvSpPr>
            <p:nvPr/>
          </p:nvSpPr>
          <p:spPr bwMode="auto">
            <a:xfrm flipH="1">
              <a:off x="4114800" y="2819400"/>
              <a:ext cx="152400" cy="228600"/>
            </a:xfrm>
            <a:prstGeom prst="line">
              <a:avLst/>
            </a:prstGeom>
            <a:noFill/>
            <a:ln w="12700" cap="sq">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129" name="Line 9"/>
            <p:cNvSpPr>
              <a:spLocks noChangeShapeType="1"/>
            </p:cNvSpPr>
            <p:nvPr/>
          </p:nvSpPr>
          <p:spPr bwMode="auto">
            <a:xfrm flipH="1">
              <a:off x="3810000" y="5105400"/>
              <a:ext cx="152400" cy="152400"/>
            </a:xfrm>
            <a:prstGeom prst="line">
              <a:avLst/>
            </a:prstGeom>
            <a:noFill/>
            <a:ln w="12700" cap="sq">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130" name="Line 10"/>
            <p:cNvSpPr>
              <a:spLocks noChangeShapeType="1"/>
            </p:cNvSpPr>
            <p:nvPr/>
          </p:nvSpPr>
          <p:spPr bwMode="auto">
            <a:xfrm flipH="1">
              <a:off x="3505200" y="5410200"/>
              <a:ext cx="152400" cy="152400"/>
            </a:xfrm>
            <a:prstGeom prst="line">
              <a:avLst/>
            </a:prstGeom>
            <a:noFill/>
            <a:ln w="12700" cap="sq">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131" name="Line 11"/>
            <p:cNvSpPr>
              <a:spLocks noChangeShapeType="1"/>
            </p:cNvSpPr>
            <p:nvPr/>
          </p:nvSpPr>
          <p:spPr bwMode="auto">
            <a:xfrm flipH="1">
              <a:off x="3124200" y="5715000"/>
              <a:ext cx="152400" cy="152400"/>
            </a:xfrm>
            <a:prstGeom prst="line">
              <a:avLst/>
            </a:prstGeom>
            <a:noFill/>
            <a:ln w="12700" cap="sq">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132" name="Line 12"/>
            <p:cNvSpPr>
              <a:spLocks noChangeShapeType="1"/>
            </p:cNvSpPr>
            <p:nvPr/>
          </p:nvSpPr>
          <p:spPr bwMode="auto">
            <a:xfrm flipH="1">
              <a:off x="2743200" y="6324600"/>
              <a:ext cx="152400" cy="152400"/>
            </a:xfrm>
            <a:prstGeom prst="line">
              <a:avLst/>
            </a:prstGeom>
            <a:noFill/>
            <a:ln w="12700" cap="sq">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133" name="Line 13"/>
            <p:cNvSpPr>
              <a:spLocks noChangeShapeType="1"/>
            </p:cNvSpPr>
            <p:nvPr/>
          </p:nvSpPr>
          <p:spPr bwMode="auto">
            <a:xfrm flipH="1">
              <a:off x="3581400" y="4114800"/>
              <a:ext cx="152400" cy="152400"/>
            </a:xfrm>
            <a:prstGeom prst="line">
              <a:avLst/>
            </a:prstGeom>
            <a:noFill/>
            <a:ln w="12700" cap="sq">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rPr>
              <a:t>建立汇编程序</a:t>
            </a:r>
            <a:endParaRPr lang="zh-CN" altLang="en-US" sz="2600" kern="0" dirty="0">
              <a:solidFill>
                <a:schemeClr val="tx2"/>
              </a:solidFill>
              <a:effectLst>
                <a:outerShdw blurRad="38100" dist="38100" dir="2700000" algn="tl">
                  <a:srgbClr val="C0C0C0"/>
                </a:outerShdw>
              </a:effectLst>
            </a:endParaRPr>
          </a:p>
        </p:txBody>
      </p:sp>
      <p:sp>
        <p:nvSpPr>
          <p:cNvPr id="3" name="矩形 2"/>
          <p:cNvSpPr/>
          <p:nvPr/>
        </p:nvSpPr>
        <p:spPr bwMode="auto">
          <a:xfrm>
            <a:off x="2966924" y="2429508"/>
            <a:ext cx="3960440" cy="1008112"/>
          </a:xfrm>
          <a:prstGeom prst="rect">
            <a:avLst/>
          </a:prstGeom>
          <a:noFill/>
          <a:ln w="19050" cap="flat" cmpd="sng" algn="ctr">
            <a:solidFill>
              <a:schemeClr val="tx2"/>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7" name="矩形 16"/>
          <p:cNvSpPr/>
          <p:nvPr/>
        </p:nvSpPr>
        <p:spPr bwMode="auto">
          <a:xfrm>
            <a:off x="2951508" y="3705224"/>
            <a:ext cx="3975856" cy="600980"/>
          </a:xfrm>
          <a:prstGeom prst="rect">
            <a:avLst/>
          </a:prstGeom>
          <a:noFill/>
          <a:ln w="19050" cap="flat" cmpd="sng" algn="ctr">
            <a:solidFill>
              <a:schemeClr val="tx2"/>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8" name="矩形 17"/>
          <p:cNvSpPr/>
          <p:nvPr/>
        </p:nvSpPr>
        <p:spPr bwMode="auto">
          <a:xfrm>
            <a:off x="2966924" y="5266420"/>
            <a:ext cx="3960440" cy="1008112"/>
          </a:xfrm>
          <a:prstGeom prst="rect">
            <a:avLst/>
          </a:prstGeom>
          <a:noFill/>
          <a:ln w="19050" cap="flat" cmpd="sng" algn="ctr">
            <a:solidFill>
              <a:schemeClr val="tx2"/>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grpSp>
        <p:nvGrpSpPr>
          <p:cNvPr id="4" name="组合 3"/>
          <p:cNvGrpSpPr/>
          <p:nvPr/>
        </p:nvGrpSpPr>
        <p:grpSpPr>
          <a:xfrm>
            <a:off x="330184" y="2320064"/>
            <a:ext cx="8711271" cy="1578835"/>
            <a:chOff x="330184" y="2320064"/>
            <a:chExt cx="8711271" cy="1578835"/>
          </a:xfrm>
        </p:grpSpPr>
        <p:sp>
          <p:nvSpPr>
            <p:cNvPr id="20" name="矩形 19"/>
            <p:cNvSpPr/>
            <p:nvPr/>
          </p:nvSpPr>
          <p:spPr>
            <a:xfrm>
              <a:off x="7049728" y="2320064"/>
              <a:ext cx="1991727" cy="1477328"/>
            </a:xfrm>
            <a:prstGeom prst="rect">
              <a:avLst/>
            </a:prstGeom>
          </p:spPr>
          <p:txBody>
            <a:bodyPr wrap="square">
              <a:spAutoFit/>
            </a:bodyPr>
            <a:lstStyle/>
            <a:p>
              <a:pPr algn="just" eaLnBrk="0" hangingPunct="0">
                <a:spcBef>
                  <a:spcPct val="20000"/>
                </a:spcBef>
                <a:buClr>
                  <a:srgbClr val="663300"/>
                </a:buClr>
                <a:buSzPct val="75000"/>
              </a:pPr>
              <a:r>
                <a:rPr lang="zh-CN" altLang="en-US" sz="1800" kern="0" dirty="0">
                  <a:solidFill>
                    <a:srgbClr val="3333FF"/>
                  </a:solidFill>
                  <a:latin typeface="Times New Roman" panose="02020603050405020304"/>
                  <a:ea typeface="华文楷体" panose="02010600040101010101" charset="-122"/>
                </a:rPr>
                <a:t>交叉索引文件</a:t>
              </a:r>
              <a:r>
                <a:rPr lang="en-US" altLang="zh-CN" sz="1800" kern="0" dirty="0">
                  <a:solidFill>
                    <a:srgbClr val="3333FF"/>
                  </a:solidFill>
                  <a:latin typeface="Times New Roman" panose="02020603050405020304"/>
                  <a:ea typeface="华文楷体" panose="02010600040101010101" charset="-122"/>
                </a:rPr>
                <a:t>(</a:t>
              </a:r>
              <a:r>
                <a:rPr lang="zh-CN" altLang="en-US" sz="1800" kern="0" dirty="0">
                  <a:solidFill>
                    <a:srgbClr val="3333FF"/>
                  </a:solidFill>
                  <a:latin typeface="Times New Roman" panose="02020603050405020304"/>
                  <a:ea typeface="华文楷体" panose="02010600040101010101" charset="-122"/>
                </a:rPr>
                <a:t>*</a:t>
              </a:r>
              <a:r>
                <a:rPr lang="en-US" altLang="zh-CN" sz="1800" kern="0" dirty="0">
                  <a:solidFill>
                    <a:srgbClr val="3333FF"/>
                  </a:solidFill>
                  <a:latin typeface="Times New Roman" panose="02020603050405020304"/>
                  <a:ea typeface="华文楷体" panose="02010600040101010101" charset="-122"/>
                </a:rPr>
                <a:t>.CRF)</a:t>
              </a:r>
              <a:r>
                <a:rPr lang="zh-CN" altLang="en-US" sz="1800" kern="0" dirty="0">
                  <a:solidFill>
                    <a:srgbClr val="3333FF"/>
                  </a:solidFill>
                  <a:latin typeface="Times New Roman" panose="02020603050405020304"/>
                  <a:ea typeface="华文楷体" panose="02010600040101010101" charset="-122"/>
                </a:rPr>
                <a:t>：它是一个对源程序所用的各种符号进行前后对照的文件</a:t>
              </a:r>
              <a:endParaRPr lang="zh-CN" altLang="en-US" sz="1800" kern="0" dirty="0">
                <a:solidFill>
                  <a:srgbClr val="3333FF"/>
                </a:solidFill>
                <a:latin typeface="Times New Roman" panose="02020603050405020304"/>
                <a:ea typeface="华文楷体" panose="02010600040101010101" charset="-122"/>
              </a:endParaRPr>
            </a:p>
          </p:txBody>
        </p:sp>
        <p:sp>
          <p:nvSpPr>
            <p:cNvPr id="21" name="矩形 20"/>
            <p:cNvSpPr/>
            <p:nvPr/>
          </p:nvSpPr>
          <p:spPr>
            <a:xfrm>
              <a:off x="330184" y="2698570"/>
              <a:ext cx="2158686" cy="1200329"/>
            </a:xfrm>
            <a:prstGeom prst="rect">
              <a:avLst/>
            </a:prstGeom>
          </p:spPr>
          <p:txBody>
            <a:bodyPr wrap="square">
              <a:spAutoFit/>
            </a:bodyPr>
            <a:lstStyle/>
            <a:p>
              <a:pPr lvl="0" algn="just" eaLnBrk="0" hangingPunct="0">
                <a:spcBef>
                  <a:spcPct val="20000"/>
                </a:spcBef>
                <a:buClr>
                  <a:srgbClr val="663300"/>
                </a:buClr>
                <a:buSzPct val="75000"/>
              </a:pPr>
              <a:r>
                <a:rPr lang="zh-CN" altLang="en-US" sz="1800" kern="0" dirty="0">
                  <a:solidFill>
                    <a:srgbClr val="3333FF"/>
                  </a:solidFill>
                  <a:latin typeface="Times New Roman" panose="02020603050405020304"/>
                  <a:ea typeface="华文楷体" panose="02010600040101010101" charset="-122"/>
                </a:rPr>
                <a:t>列表文件</a:t>
              </a:r>
              <a:r>
                <a:rPr lang="en-US" altLang="zh-CN" sz="1800" kern="0" dirty="0">
                  <a:solidFill>
                    <a:srgbClr val="3333FF"/>
                  </a:solidFill>
                  <a:latin typeface="Times New Roman" panose="02020603050405020304"/>
                  <a:ea typeface="华文楷体" panose="02010600040101010101" charset="-122"/>
                </a:rPr>
                <a:t>(</a:t>
              </a:r>
              <a:r>
                <a:rPr lang="zh-CN" altLang="en-US" sz="1800" kern="0" dirty="0">
                  <a:solidFill>
                    <a:srgbClr val="3333FF"/>
                  </a:solidFill>
                  <a:latin typeface="Times New Roman" panose="02020603050405020304"/>
                  <a:ea typeface="华文楷体" panose="02010600040101010101" charset="-122"/>
                </a:rPr>
                <a:t>*</a:t>
              </a:r>
              <a:r>
                <a:rPr lang="en-US" altLang="zh-CN" sz="1800" kern="0" dirty="0">
                  <a:solidFill>
                    <a:srgbClr val="3333FF"/>
                  </a:solidFill>
                  <a:latin typeface="Times New Roman" panose="02020603050405020304"/>
                  <a:ea typeface="华文楷体" panose="02010600040101010101" charset="-122"/>
                </a:rPr>
                <a:t>.LST)</a:t>
              </a:r>
              <a:r>
                <a:rPr lang="zh-CN" altLang="en-US" sz="1800" kern="0" dirty="0">
                  <a:solidFill>
                    <a:srgbClr val="3333FF"/>
                  </a:solidFill>
                  <a:latin typeface="Times New Roman" panose="02020603050405020304"/>
                  <a:ea typeface="华文楷体" panose="02010600040101010101" charset="-122"/>
                </a:rPr>
                <a:t>：把源程序和目标程序列表，以供检查程序用</a:t>
              </a:r>
              <a:endParaRPr lang="en-US" altLang="zh-CN" sz="1800" kern="0" dirty="0">
                <a:solidFill>
                  <a:srgbClr val="3333FF"/>
                </a:solidFill>
                <a:latin typeface="Times New Roman" panose="02020603050405020304"/>
                <a:ea typeface="华文楷体" panose="02010600040101010101" charset="-122"/>
              </a:endParaRPr>
            </a:p>
          </p:txBody>
        </p:sp>
      </p:grpSp>
      <p:grpSp>
        <p:nvGrpSpPr>
          <p:cNvPr id="5" name="组合 4"/>
          <p:cNvGrpSpPr/>
          <p:nvPr/>
        </p:nvGrpSpPr>
        <p:grpSpPr>
          <a:xfrm>
            <a:off x="345842" y="4869160"/>
            <a:ext cx="8633729" cy="1829820"/>
            <a:chOff x="345842" y="4869160"/>
            <a:chExt cx="8633729" cy="1829820"/>
          </a:xfrm>
        </p:grpSpPr>
        <p:sp>
          <p:nvSpPr>
            <p:cNvPr id="19" name="矩形 18"/>
            <p:cNvSpPr/>
            <p:nvPr/>
          </p:nvSpPr>
          <p:spPr>
            <a:xfrm>
              <a:off x="6973921" y="5221652"/>
              <a:ext cx="2005650" cy="1477328"/>
            </a:xfrm>
            <a:prstGeom prst="rect">
              <a:avLst/>
            </a:prstGeom>
          </p:spPr>
          <p:txBody>
            <a:bodyPr wrap="square">
              <a:spAutoFit/>
            </a:bodyPr>
            <a:lstStyle/>
            <a:p>
              <a:pPr lvl="0" algn="just" eaLnBrk="0" hangingPunct="0">
                <a:spcBef>
                  <a:spcPct val="20000"/>
                </a:spcBef>
                <a:buClr>
                  <a:srgbClr val="663300"/>
                </a:buClr>
                <a:buSzPct val="75000"/>
              </a:pPr>
              <a:r>
                <a:rPr lang="zh-CN" altLang="en-US" sz="1800" kern="0" dirty="0">
                  <a:solidFill>
                    <a:srgbClr val="3333FF"/>
                  </a:solidFill>
                  <a:latin typeface="Times New Roman" panose="02020603050405020304"/>
                  <a:ea typeface="华文楷体" panose="02010600040101010101" charset="-122"/>
                </a:rPr>
                <a:t>映像文件</a:t>
              </a:r>
              <a:r>
                <a:rPr lang="en-US" altLang="zh-CN" sz="1800" kern="0" dirty="0">
                  <a:solidFill>
                    <a:srgbClr val="3333FF"/>
                  </a:solidFill>
                  <a:latin typeface="Times New Roman" panose="02020603050405020304"/>
                  <a:ea typeface="华文楷体" panose="02010600040101010101" charset="-122"/>
                </a:rPr>
                <a:t>(</a:t>
              </a:r>
              <a:r>
                <a:rPr lang="zh-CN" altLang="en-US" sz="1800" kern="0" dirty="0">
                  <a:solidFill>
                    <a:srgbClr val="3333FF"/>
                  </a:solidFill>
                  <a:latin typeface="Times New Roman" panose="02020603050405020304"/>
                  <a:ea typeface="华文楷体" panose="02010600040101010101" charset="-122"/>
                </a:rPr>
                <a:t>*</a:t>
              </a:r>
              <a:r>
                <a:rPr lang="en-US" altLang="zh-CN" sz="1800" kern="0" dirty="0">
                  <a:solidFill>
                    <a:srgbClr val="3333FF"/>
                  </a:solidFill>
                  <a:latin typeface="Times New Roman" panose="02020603050405020304"/>
                  <a:ea typeface="华文楷体" panose="02010600040101010101" charset="-122"/>
                </a:rPr>
                <a:t>.MAP)</a:t>
              </a:r>
              <a:r>
                <a:rPr lang="zh-CN" altLang="en-US" sz="1800" kern="0" dirty="0">
                  <a:solidFill>
                    <a:srgbClr val="3333FF"/>
                  </a:solidFill>
                  <a:latin typeface="Times New Roman" panose="02020603050405020304"/>
                  <a:ea typeface="华文楷体" panose="02010600040101010101" charset="-122"/>
                </a:rPr>
                <a:t>：是一种文本文件，列出各段在存储器中的分配情况</a:t>
              </a:r>
              <a:endParaRPr lang="zh-CN" altLang="en-US" sz="1800" kern="0" dirty="0">
                <a:solidFill>
                  <a:srgbClr val="3333FF"/>
                </a:solidFill>
                <a:latin typeface="Times New Roman" panose="02020603050405020304"/>
                <a:ea typeface="华文楷体" panose="02010600040101010101" charset="-122"/>
              </a:endParaRPr>
            </a:p>
          </p:txBody>
        </p:sp>
        <p:sp>
          <p:nvSpPr>
            <p:cNvPr id="22" name="矩形 21"/>
            <p:cNvSpPr/>
            <p:nvPr/>
          </p:nvSpPr>
          <p:spPr>
            <a:xfrm>
              <a:off x="345842" y="4869160"/>
              <a:ext cx="2038038" cy="1200329"/>
            </a:xfrm>
            <a:prstGeom prst="rect">
              <a:avLst/>
            </a:prstGeom>
          </p:spPr>
          <p:txBody>
            <a:bodyPr wrap="square">
              <a:spAutoFit/>
            </a:bodyPr>
            <a:lstStyle/>
            <a:p>
              <a:pPr algn="just" eaLnBrk="0" hangingPunct="0">
                <a:spcBef>
                  <a:spcPct val="20000"/>
                </a:spcBef>
                <a:buClr>
                  <a:srgbClr val="663300"/>
                </a:buClr>
                <a:buSzPct val="75000"/>
              </a:pPr>
              <a:r>
                <a:rPr lang="zh-CN" altLang="en-US" sz="1800" kern="0" dirty="0">
                  <a:solidFill>
                    <a:srgbClr val="3333FF"/>
                  </a:solidFill>
                  <a:latin typeface="Times New Roman" panose="02020603050405020304"/>
                  <a:ea typeface="华文楷体" panose="02010600040101010101" charset="-122"/>
                </a:rPr>
                <a:t>库文件</a:t>
              </a:r>
              <a:r>
                <a:rPr lang="en-US" altLang="zh-CN" sz="1800" kern="0" dirty="0">
                  <a:solidFill>
                    <a:srgbClr val="3333FF"/>
                  </a:solidFill>
                  <a:latin typeface="Times New Roman" panose="02020603050405020304"/>
                  <a:ea typeface="华文楷体" panose="02010600040101010101" charset="-122"/>
                </a:rPr>
                <a:t>(</a:t>
              </a:r>
              <a:r>
                <a:rPr lang="zh-CN" altLang="en-US" sz="1800" kern="0" dirty="0">
                  <a:solidFill>
                    <a:srgbClr val="3333FF"/>
                  </a:solidFill>
                  <a:latin typeface="Times New Roman" panose="02020603050405020304"/>
                  <a:ea typeface="华文楷体" panose="02010600040101010101" charset="-122"/>
                </a:rPr>
                <a:t>*</a:t>
              </a:r>
              <a:r>
                <a:rPr lang="en-US" altLang="zh-CN" sz="1800" kern="0" dirty="0">
                  <a:solidFill>
                    <a:srgbClr val="3333FF"/>
                  </a:solidFill>
                  <a:latin typeface="Times New Roman" panose="02020603050405020304"/>
                  <a:ea typeface="华文楷体" panose="02010600040101010101" charset="-122"/>
                </a:rPr>
                <a:t>.LIB)</a:t>
              </a:r>
              <a:r>
                <a:rPr lang="zh-CN" altLang="en-US" sz="1800" kern="0" dirty="0">
                  <a:solidFill>
                    <a:srgbClr val="3333FF"/>
                  </a:solidFill>
                  <a:latin typeface="Times New Roman" panose="02020603050405020304"/>
                  <a:ea typeface="华文楷体" panose="02010600040101010101" charset="-122"/>
                </a:rPr>
                <a:t>：可以把函数编译成函数库，以便其他程序调用</a:t>
              </a:r>
              <a:endParaRPr lang="zh-CN" altLang="en-US" sz="1800" kern="0" dirty="0">
                <a:solidFill>
                  <a:srgbClr val="3333FF"/>
                </a:solidFill>
                <a:latin typeface="Times New Roman" panose="02020603050405020304"/>
                <a:ea typeface="华文楷体" panose="02010600040101010101"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additive="base">
                                        <p:cTn id="16" dur="500" fill="hold"/>
                                        <p:tgtEl>
                                          <p:spTgt spid="17"/>
                                        </p:tgtEl>
                                        <p:attrNameLst>
                                          <p:attrName>ppt_x</p:attrName>
                                        </p:attrNameLst>
                                      </p:cBhvr>
                                      <p:tavLst>
                                        <p:tav tm="0">
                                          <p:val>
                                            <p:strVal val="#ppt_x"/>
                                          </p:val>
                                        </p:tav>
                                        <p:tav tm="100000">
                                          <p:val>
                                            <p:strVal val="#ppt_x"/>
                                          </p:val>
                                        </p:tav>
                                      </p:tavLst>
                                    </p:anim>
                                    <p:anim calcmode="lin" valueType="num">
                                      <p:cBhvr additive="base">
                                        <p:cTn id="17"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additive="base">
                                        <p:cTn id="22" dur="500" fill="hold"/>
                                        <p:tgtEl>
                                          <p:spTgt spid="18"/>
                                        </p:tgtEl>
                                        <p:attrNameLst>
                                          <p:attrName>ppt_x</p:attrName>
                                        </p:attrNameLst>
                                      </p:cBhvr>
                                      <p:tavLst>
                                        <p:tav tm="0">
                                          <p:val>
                                            <p:strVal val="#ppt_x"/>
                                          </p:val>
                                        </p:tav>
                                        <p:tav tm="100000">
                                          <p:val>
                                            <p:strVal val="#ppt_x"/>
                                          </p:val>
                                        </p:tav>
                                      </p:tavLst>
                                    </p:anim>
                                    <p:anim calcmode="lin" valueType="num">
                                      <p:cBhvr additive="base">
                                        <p:cTn id="23" dur="500" fill="hold"/>
                                        <p:tgtEl>
                                          <p:spTgt spid="18"/>
                                        </p:tgtEl>
                                        <p:attrNameLst>
                                          <p:attrName>ppt_y</p:attrName>
                                        </p:attrNameLst>
                                      </p:cBhvr>
                                      <p:tavLst>
                                        <p:tav tm="0">
                                          <p:val>
                                            <p:strVal val="1+#ppt_h/2"/>
                                          </p:val>
                                        </p:tav>
                                        <p:tav tm="100000">
                                          <p:val>
                                            <p:strVal val="#ppt_y"/>
                                          </p:val>
                                        </p:tav>
                                      </p:tavLst>
                                    </p:anim>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452120" y="884338"/>
            <a:ext cx="56877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50000"/>
              </a:spcBef>
            </a:pPr>
            <a:r>
              <a:rPr lang="zh-CN" altLang="en-US" b="1" dirty="0">
                <a:solidFill>
                  <a:srgbClr val="000000"/>
                </a:solidFill>
                <a:latin typeface="黑体" panose="02010609060101010101" pitchFamily="2" charset="-122"/>
                <a:ea typeface="黑体" panose="02010609060101010101" pitchFamily="2" charset="-122"/>
              </a:rPr>
              <a:t>汇编语言程序：</a:t>
            </a:r>
            <a:r>
              <a:rPr lang="en-US" altLang="zh-CN" b="1" dirty="0">
                <a:solidFill>
                  <a:srgbClr val="000000"/>
                </a:solidFill>
                <a:latin typeface="黑体" panose="02010609060101010101" pitchFamily="2" charset="-122"/>
                <a:ea typeface="黑体" panose="02010609060101010101" pitchFamily="2" charset="-122"/>
              </a:rPr>
              <a:t>Hello World</a:t>
            </a:r>
            <a:r>
              <a:rPr lang="zh-CN" altLang="en-US" b="1" dirty="0">
                <a:solidFill>
                  <a:srgbClr val="000000"/>
                </a:solidFill>
                <a:latin typeface="黑体" panose="02010609060101010101" pitchFamily="2" charset="-122"/>
                <a:ea typeface="黑体" panose="02010609060101010101" pitchFamily="2" charset="-122"/>
              </a:rPr>
              <a:t>！</a:t>
            </a:r>
            <a:endParaRPr lang="zh-CN" altLang="en-US" b="1" dirty="0">
              <a:solidFill>
                <a:srgbClr val="000000"/>
              </a:solidFill>
              <a:latin typeface="黑体" panose="02010609060101010101" pitchFamily="2" charset="-122"/>
              <a:ea typeface="黑体" panose="02010609060101010101" pitchFamily="2" charset="-122"/>
            </a:endParaRPr>
          </a:p>
        </p:txBody>
      </p:sp>
      <p:sp>
        <p:nvSpPr>
          <p:cNvPr id="1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rPr>
              <a:t>建立汇编程序</a:t>
            </a:r>
            <a:endParaRPr lang="zh-CN" altLang="en-US" sz="2600" kern="0" dirty="0">
              <a:solidFill>
                <a:schemeClr val="tx2"/>
              </a:solidFill>
              <a:effectLst>
                <a:outerShdw blurRad="38100" dist="38100" dir="2700000" algn="tl">
                  <a:srgbClr val="C0C0C0"/>
                </a:outerShdw>
              </a:effectLst>
            </a:endParaRPr>
          </a:p>
        </p:txBody>
      </p:sp>
      <p:sp>
        <p:nvSpPr>
          <p:cNvPr id="19" name="内容占位符 1"/>
          <p:cNvSpPr txBox="1"/>
          <p:nvPr/>
        </p:nvSpPr>
        <p:spPr>
          <a:xfrm>
            <a:off x="1583668" y="1351836"/>
            <a:ext cx="5040560" cy="5506163"/>
          </a:xfrm>
          <a:prstGeom prst="rect">
            <a:avLst/>
          </a:prstGeom>
          <a:ln>
            <a:solidFill>
              <a:srgbClr val="FF0000"/>
            </a:solidFill>
          </a:ln>
        </p:spPr>
        <p:txBody>
          <a:bodyPr>
            <a:no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2"/>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a:lstStyle>
          <a:p>
            <a:pPr marL="109855" indent="0">
              <a:buFont typeface="Wingdings" panose="05000000000000000000" pitchFamily="2" charset="2"/>
              <a:buNone/>
            </a:pPr>
            <a:r>
              <a:rPr lang="en-US" altLang="zh-CN" sz="1800" kern="0" dirty="0">
                <a:solidFill>
                  <a:srgbClr val="0000FF"/>
                </a:solidFill>
                <a:effectLst/>
              </a:rPr>
              <a:t>DATAS  SEGMENT</a:t>
            </a:r>
            <a:endParaRPr lang="en-US" altLang="zh-CN" sz="1800" kern="0" dirty="0">
              <a:solidFill>
                <a:srgbClr val="0000FF"/>
              </a:solidFill>
              <a:effectLst/>
            </a:endParaRPr>
          </a:p>
          <a:p>
            <a:pPr marL="109855" indent="0">
              <a:buFont typeface="Wingdings" panose="05000000000000000000" pitchFamily="2" charset="2"/>
              <a:buNone/>
            </a:pPr>
            <a:r>
              <a:rPr lang="en-US" altLang="zh-CN" sz="1800" kern="0" dirty="0">
                <a:effectLst/>
              </a:rPr>
              <a:t>     </a:t>
            </a:r>
            <a:r>
              <a:rPr lang="en-US" altLang="zh-CN" sz="1800" kern="0" dirty="0">
                <a:solidFill>
                  <a:schemeClr val="tx1"/>
                </a:solidFill>
                <a:effectLst/>
              </a:rPr>
              <a:t>STRING  DB  'Hello World!',13,10,'$'</a:t>
            </a:r>
            <a:endParaRPr lang="en-US" altLang="zh-CN" sz="1800" kern="0" dirty="0">
              <a:solidFill>
                <a:schemeClr val="tx1"/>
              </a:solidFill>
              <a:effectLst/>
            </a:endParaRPr>
          </a:p>
          <a:p>
            <a:pPr marL="109855" indent="0">
              <a:buFont typeface="Wingdings" panose="05000000000000000000" pitchFamily="2" charset="2"/>
              <a:buNone/>
            </a:pPr>
            <a:r>
              <a:rPr lang="en-US" altLang="zh-CN" sz="1800" kern="0" dirty="0">
                <a:solidFill>
                  <a:srgbClr val="0000FF"/>
                </a:solidFill>
                <a:effectLst/>
              </a:rPr>
              <a:t>DATAS  ENDS</a:t>
            </a:r>
            <a:endParaRPr lang="en-US" altLang="zh-CN" sz="1800" kern="0" dirty="0">
              <a:solidFill>
                <a:srgbClr val="0000FF"/>
              </a:solidFill>
              <a:effectLst/>
            </a:endParaRPr>
          </a:p>
          <a:p>
            <a:pPr marL="109855" indent="0">
              <a:buFont typeface="Wingdings" panose="05000000000000000000" pitchFamily="2" charset="2"/>
              <a:buNone/>
            </a:pPr>
            <a:r>
              <a:rPr lang="en-US" altLang="zh-CN" sz="1800" kern="0" dirty="0">
                <a:solidFill>
                  <a:srgbClr val="FF0000"/>
                </a:solidFill>
                <a:effectLst/>
              </a:rPr>
              <a:t>CODES  SEGMENT</a:t>
            </a:r>
            <a:endParaRPr lang="en-US" altLang="zh-CN" sz="1800" kern="0" dirty="0">
              <a:solidFill>
                <a:srgbClr val="FF0000"/>
              </a:solidFill>
              <a:effectLst/>
            </a:endParaRPr>
          </a:p>
          <a:p>
            <a:pPr marL="109855" indent="0">
              <a:buFont typeface="Wingdings" panose="05000000000000000000" pitchFamily="2" charset="2"/>
              <a:buNone/>
            </a:pPr>
            <a:r>
              <a:rPr lang="en-US" altLang="zh-CN" sz="1800" kern="0" dirty="0">
                <a:effectLst/>
              </a:rPr>
              <a:t>     </a:t>
            </a:r>
            <a:r>
              <a:rPr lang="en-US" altLang="zh-CN" sz="1800" kern="0" dirty="0">
                <a:solidFill>
                  <a:schemeClr val="tx1"/>
                </a:solidFill>
                <a:effectLst/>
              </a:rPr>
              <a:t>ASSUME    CS: CODES, DS: DATAS</a:t>
            </a:r>
            <a:endParaRPr lang="en-US" altLang="zh-CN" sz="1800" kern="0" dirty="0">
              <a:solidFill>
                <a:schemeClr val="tx1"/>
              </a:solidFill>
              <a:effectLst/>
            </a:endParaRPr>
          </a:p>
          <a:p>
            <a:pPr marL="109855" indent="0">
              <a:buFont typeface="Wingdings" panose="05000000000000000000" pitchFamily="2" charset="2"/>
              <a:buNone/>
            </a:pPr>
            <a:r>
              <a:rPr lang="en-US" altLang="zh-CN" sz="1800" kern="0" dirty="0">
                <a:solidFill>
                  <a:schemeClr val="tx1"/>
                </a:solidFill>
                <a:effectLst/>
              </a:rPr>
              <a:t>START:</a:t>
            </a:r>
            <a:endParaRPr lang="en-US" altLang="zh-CN" sz="1800" kern="0" dirty="0">
              <a:solidFill>
                <a:schemeClr val="tx1"/>
              </a:solidFill>
              <a:effectLst/>
            </a:endParaRPr>
          </a:p>
          <a:p>
            <a:pPr marL="109855" indent="0">
              <a:buFont typeface="Wingdings" panose="05000000000000000000" pitchFamily="2" charset="2"/>
              <a:buNone/>
            </a:pPr>
            <a:r>
              <a:rPr lang="en-US" altLang="zh-CN" sz="1800" kern="0" dirty="0">
                <a:effectLst/>
              </a:rPr>
              <a:t>     </a:t>
            </a:r>
            <a:r>
              <a:rPr lang="en-US" altLang="zh-CN" sz="1800" kern="0" dirty="0">
                <a:solidFill>
                  <a:schemeClr val="tx1"/>
                </a:solidFill>
                <a:effectLst/>
              </a:rPr>
              <a:t>MOV	AX, DATAS</a:t>
            </a:r>
            <a:endParaRPr lang="en-US" altLang="zh-CN" sz="1800" kern="0" dirty="0">
              <a:solidFill>
                <a:schemeClr val="tx1"/>
              </a:solidFill>
              <a:effectLst/>
            </a:endParaRPr>
          </a:p>
          <a:p>
            <a:pPr marL="109855" indent="0">
              <a:buFont typeface="Wingdings" panose="05000000000000000000" pitchFamily="2" charset="2"/>
              <a:buNone/>
            </a:pPr>
            <a:r>
              <a:rPr lang="en-US" altLang="zh-CN" sz="1800" kern="0" dirty="0">
                <a:solidFill>
                  <a:schemeClr val="tx1"/>
                </a:solidFill>
                <a:effectLst/>
              </a:rPr>
              <a:t>     MOV  	DS, AX</a:t>
            </a:r>
            <a:endParaRPr lang="en-US" altLang="zh-CN" sz="1800" kern="0" dirty="0">
              <a:solidFill>
                <a:schemeClr val="tx1"/>
              </a:solidFill>
              <a:effectLst/>
            </a:endParaRPr>
          </a:p>
          <a:p>
            <a:pPr marL="109855" indent="0">
              <a:buFont typeface="Wingdings" panose="05000000000000000000" pitchFamily="2" charset="2"/>
              <a:buNone/>
            </a:pPr>
            <a:endParaRPr lang="en-US" altLang="zh-CN" sz="1600" kern="0" dirty="0">
              <a:solidFill>
                <a:schemeClr val="tx1"/>
              </a:solidFill>
              <a:effectLst/>
            </a:endParaRPr>
          </a:p>
          <a:p>
            <a:pPr marL="109855" indent="0">
              <a:buFont typeface="Wingdings" panose="05000000000000000000" pitchFamily="2" charset="2"/>
              <a:buNone/>
            </a:pPr>
            <a:r>
              <a:rPr lang="en-US" altLang="zh-CN" sz="1800" kern="0" dirty="0">
                <a:solidFill>
                  <a:schemeClr val="tx1"/>
                </a:solidFill>
                <a:effectLst/>
              </a:rPr>
              <a:t>     LEA  	DX, STRING</a:t>
            </a:r>
            <a:endParaRPr lang="en-US" altLang="zh-CN" sz="1800" kern="0" dirty="0">
              <a:solidFill>
                <a:schemeClr val="tx1"/>
              </a:solidFill>
              <a:effectLst/>
            </a:endParaRPr>
          </a:p>
          <a:p>
            <a:pPr marL="109855" indent="0">
              <a:buFont typeface="Wingdings" panose="05000000000000000000" pitchFamily="2" charset="2"/>
              <a:buNone/>
            </a:pPr>
            <a:r>
              <a:rPr lang="en-US" altLang="zh-CN" sz="1800" kern="0" dirty="0">
                <a:solidFill>
                  <a:schemeClr val="tx1"/>
                </a:solidFill>
                <a:effectLst/>
              </a:rPr>
              <a:t>     MOV  	AH, 9</a:t>
            </a:r>
            <a:endParaRPr lang="en-US" altLang="zh-CN" sz="1800" kern="0" dirty="0">
              <a:solidFill>
                <a:schemeClr val="tx1"/>
              </a:solidFill>
              <a:effectLst/>
            </a:endParaRPr>
          </a:p>
          <a:p>
            <a:pPr marL="109855" indent="0">
              <a:buFont typeface="Wingdings" panose="05000000000000000000" pitchFamily="2" charset="2"/>
              <a:buNone/>
            </a:pPr>
            <a:r>
              <a:rPr lang="en-US" altLang="zh-CN" sz="1800" kern="0" dirty="0">
                <a:solidFill>
                  <a:schemeClr val="tx1"/>
                </a:solidFill>
                <a:effectLst/>
              </a:rPr>
              <a:t>     INT  	21H</a:t>
            </a:r>
            <a:r>
              <a:rPr lang="zh-CN" altLang="en-US" sz="1800" kern="0" dirty="0">
                <a:solidFill>
                  <a:schemeClr val="tx1"/>
                </a:solidFill>
                <a:effectLst/>
              </a:rPr>
              <a:t> </a:t>
            </a:r>
            <a:endParaRPr lang="en-US" altLang="zh-CN" sz="1800" kern="0" dirty="0">
              <a:solidFill>
                <a:schemeClr val="tx1"/>
              </a:solidFill>
              <a:effectLst/>
            </a:endParaRPr>
          </a:p>
          <a:p>
            <a:pPr marL="109855" indent="0">
              <a:buFont typeface="Wingdings" panose="05000000000000000000" pitchFamily="2" charset="2"/>
              <a:buNone/>
            </a:pPr>
            <a:endParaRPr lang="zh-CN" altLang="en-US" sz="1600" kern="0" dirty="0">
              <a:solidFill>
                <a:schemeClr val="tx1"/>
              </a:solidFill>
              <a:effectLst/>
            </a:endParaRPr>
          </a:p>
          <a:p>
            <a:pPr marL="109855" indent="0">
              <a:buFont typeface="Wingdings" panose="05000000000000000000" pitchFamily="2" charset="2"/>
              <a:buNone/>
            </a:pPr>
            <a:r>
              <a:rPr lang="en-US" altLang="zh-CN" sz="1800" kern="0" dirty="0">
                <a:solidFill>
                  <a:schemeClr val="tx1"/>
                </a:solidFill>
                <a:effectLst/>
              </a:rPr>
              <a:t>     MOV  	AH, 4CH</a:t>
            </a:r>
            <a:endParaRPr lang="en-US" altLang="zh-CN" sz="1800" kern="0" dirty="0">
              <a:solidFill>
                <a:schemeClr val="tx1"/>
              </a:solidFill>
              <a:effectLst/>
            </a:endParaRPr>
          </a:p>
          <a:p>
            <a:pPr marL="109855" indent="0">
              <a:buFont typeface="Wingdings" panose="05000000000000000000" pitchFamily="2" charset="2"/>
              <a:buNone/>
            </a:pPr>
            <a:r>
              <a:rPr lang="en-US" altLang="zh-CN" sz="1800" kern="0" dirty="0">
                <a:solidFill>
                  <a:schemeClr val="tx1"/>
                </a:solidFill>
                <a:effectLst/>
              </a:rPr>
              <a:t>     INT  	21H</a:t>
            </a:r>
            <a:endParaRPr lang="en-US" altLang="zh-CN" sz="1800" kern="0" dirty="0">
              <a:solidFill>
                <a:schemeClr val="tx1"/>
              </a:solidFill>
              <a:effectLst/>
            </a:endParaRPr>
          </a:p>
          <a:p>
            <a:pPr marL="109855" indent="0">
              <a:buFont typeface="Wingdings" panose="05000000000000000000" pitchFamily="2" charset="2"/>
              <a:buNone/>
            </a:pPr>
            <a:r>
              <a:rPr lang="en-US" altLang="zh-CN" sz="1800" kern="0" dirty="0">
                <a:solidFill>
                  <a:srgbClr val="FF0000"/>
                </a:solidFill>
                <a:effectLst/>
              </a:rPr>
              <a:t>CODES  ENDS</a:t>
            </a:r>
            <a:endParaRPr lang="en-US" altLang="zh-CN" sz="1800" kern="0" dirty="0">
              <a:solidFill>
                <a:srgbClr val="FF0000"/>
              </a:solidFill>
              <a:effectLst/>
            </a:endParaRPr>
          </a:p>
          <a:p>
            <a:pPr marL="109855" indent="0">
              <a:buFont typeface="Wingdings" panose="05000000000000000000" pitchFamily="2" charset="2"/>
              <a:buNone/>
            </a:pPr>
            <a:r>
              <a:rPr lang="en-US" altLang="zh-CN" sz="1800" kern="0" dirty="0">
                <a:effectLst/>
              </a:rPr>
              <a:t>    </a:t>
            </a:r>
            <a:r>
              <a:rPr lang="en-US" altLang="zh-CN" sz="1800" kern="0" dirty="0">
                <a:solidFill>
                  <a:schemeClr val="tx1"/>
                </a:solidFill>
                <a:effectLst/>
              </a:rPr>
              <a:t>END   START</a:t>
            </a:r>
            <a:endParaRPr lang="zh-CN" altLang="en-US" sz="1800" kern="0" dirty="0">
              <a:solidFill>
                <a:schemeClr val="tx1"/>
              </a:solidFill>
              <a:effectLst/>
            </a:endParaRPr>
          </a:p>
        </p:txBody>
      </p:sp>
      <p:pic>
        <p:nvPicPr>
          <p:cNvPr id="4" name="图片 3"/>
          <p:cNvPicPr>
            <a:picLocks noChangeAspect="1"/>
          </p:cNvPicPr>
          <p:nvPr/>
        </p:nvPicPr>
        <p:blipFill>
          <a:blip r:embed="rId3"/>
          <a:stretch>
            <a:fillRect/>
          </a:stretch>
        </p:blipFill>
        <p:spPr>
          <a:xfrm>
            <a:off x="5052618" y="3789040"/>
            <a:ext cx="4076910" cy="2781443"/>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3&amp;4</a:t>
            </a:r>
            <a:r>
              <a:rPr lang="zh-CN" altLang="en-US" sz="2600" kern="0" dirty="0">
                <a:solidFill>
                  <a:schemeClr val="tx2"/>
                </a:solidFill>
                <a:effectLst>
                  <a:outerShdw blurRad="38100" dist="38100" dir="2700000" algn="tl">
                    <a:srgbClr val="C0C0C0"/>
                  </a:outerShdw>
                </a:effectLst>
                <a:latin typeface="+mj-lt"/>
                <a:cs typeface="+mj-cs"/>
              </a:rPr>
              <a:t>讲：</a:t>
            </a:r>
            <a:r>
              <a:rPr lang="en-US" altLang="zh-CN" sz="2600" kern="0" dirty="0">
                <a:solidFill>
                  <a:schemeClr val="tx2"/>
                </a:solidFill>
                <a:effectLst>
                  <a:outerShdw blurRad="38100" dist="38100" dir="2700000" algn="tl">
                    <a:srgbClr val="C0C0C0"/>
                  </a:outerShdw>
                </a:effectLst>
                <a:latin typeface="+mj-lt"/>
                <a:cs typeface="+mj-cs"/>
              </a:rPr>
              <a:t>8086/8088</a:t>
            </a:r>
            <a:r>
              <a:rPr lang="zh-CN" altLang="en-US" sz="2600" kern="0" dirty="0">
                <a:solidFill>
                  <a:schemeClr val="tx2"/>
                </a:solidFill>
                <a:effectLst>
                  <a:outerShdw blurRad="38100" dist="38100" dir="2700000" algn="tl">
                    <a:srgbClr val="C0C0C0"/>
                  </a:outerShdw>
                </a:effectLst>
                <a:latin typeface="+mj-lt"/>
                <a:cs typeface="+mj-cs"/>
              </a:rPr>
              <a:t>的指令系统</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079612" y="1124744"/>
            <a:ext cx="5508612" cy="4228850"/>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dirty="0">
                <a:sym typeface="+mn-ea"/>
              </a:rPr>
              <a:t>建立汇编程序</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solidFill>
                  <a:srgbClr val="FF0000"/>
                </a:solidFill>
                <a:sym typeface="+mn-ea"/>
              </a:rPr>
              <a:t>汇编语言程序格式</a:t>
            </a:r>
            <a:endParaRPr lang="zh-CN" altLang="en-US" dirty="0">
              <a:solidFill>
                <a:srgbClr val="FF0000"/>
              </a:solidFill>
              <a:sym typeface="+mn-ea"/>
            </a:endParaRPr>
          </a:p>
          <a:p>
            <a:pPr marL="342900" indent="-342900">
              <a:lnSpc>
                <a:spcPct val="160000"/>
              </a:lnSpc>
              <a:buClr>
                <a:srgbClr val="FF3300"/>
              </a:buClr>
              <a:buFont typeface="Wingdings" panose="05000000000000000000" charset="0"/>
              <a:buChar char=""/>
            </a:pPr>
            <a:r>
              <a:rPr lang="zh-CN" altLang="en-US" dirty="0">
                <a:sym typeface="+mn-ea"/>
              </a:rPr>
              <a:t>伪指令</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sym typeface="+mn-ea"/>
              </a:rPr>
              <a:t>表达式操作符</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t>数据传送指令</a:t>
            </a:r>
            <a:endParaRPr lang="zh-CN" altLang="en-US" dirty="0"/>
          </a:p>
          <a:p>
            <a:pPr marL="342900" indent="-342900">
              <a:lnSpc>
                <a:spcPct val="160000"/>
              </a:lnSpc>
              <a:buClr>
                <a:srgbClr val="FF3300"/>
              </a:buClr>
              <a:buFont typeface="Wingdings" panose="05000000000000000000" charset="0"/>
              <a:buChar char=""/>
            </a:pPr>
            <a:r>
              <a:rPr lang="zh-CN" altLang="en-US" dirty="0"/>
              <a:t>算术指令</a:t>
            </a:r>
            <a:endParaRPr lang="zh-CN" altLang="en-US" dirty="0"/>
          </a:p>
          <a:p>
            <a:pPr marL="342900" indent="-342900">
              <a:lnSpc>
                <a:spcPct val="160000"/>
              </a:lnSpc>
              <a:buClr>
                <a:srgbClr val="FF3300"/>
              </a:buClr>
              <a:buFont typeface="Wingdings" panose="05000000000000000000" charset="0"/>
              <a:buChar char=""/>
            </a:pPr>
            <a:r>
              <a:rPr lang="zh-CN" altLang="en-US" dirty="0"/>
              <a:t>逻辑指令</a:t>
            </a:r>
            <a:endParaRPr lang="en-US" altLang="zh-CN" dirty="0">
              <a:sym typeface="+mn-ea"/>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62" name="文本占位符 125961"/>
          <p:cNvSpPr>
            <a:spLocks noGrp="1"/>
          </p:cNvSpPr>
          <p:nvPr>
            <p:ph type="body" idx="1"/>
          </p:nvPr>
        </p:nvSpPr>
        <p:spPr>
          <a:xfrm>
            <a:off x="431540" y="1052736"/>
            <a:ext cx="8039236" cy="5257800"/>
          </a:xfrm>
        </p:spPr>
        <p:txBody>
          <a:bodyPr/>
          <a:lstStyle/>
          <a:p>
            <a:pPr marL="0" indent="187325">
              <a:buNone/>
            </a:pPr>
            <a:r>
              <a:rPr lang="zh-CN" altLang="en-US" sz="2200" dirty="0">
                <a:solidFill>
                  <a:schemeClr val="tx1"/>
                </a:solidFill>
                <a:effectLst/>
                <a:latin typeface="华文宋体" panose="02010600040101010101" pitchFamily="2" charset="-122"/>
                <a:ea typeface="华文宋体" panose="02010600040101010101" pitchFamily="2" charset="-122"/>
              </a:rPr>
              <a:t>    </a:t>
            </a:r>
            <a:r>
              <a:rPr lang="zh-CN" altLang="en-US" sz="2200" b="1" dirty="0">
                <a:solidFill>
                  <a:schemeClr val="tx1"/>
                </a:solidFill>
                <a:effectLst/>
                <a:latin typeface="华文宋体" panose="02010600040101010101" pitchFamily="2" charset="-122"/>
                <a:ea typeface="华文宋体" panose="02010600040101010101" pitchFamily="2" charset="-122"/>
              </a:rPr>
              <a:t>语句是汇编语言源程序的基本组成单位。一个汇编语言源程序中有3种基本语句：</a:t>
            </a:r>
            <a:r>
              <a:rPr lang="zh-CN" altLang="en-US" sz="2200" dirty="0">
                <a:effectLst/>
                <a:latin typeface="华文宋体" panose="02010600040101010101" pitchFamily="2" charset="-122"/>
                <a:ea typeface="华文宋体" panose="02010600040101010101" pitchFamily="2" charset="-122"/>
              </a:rPr>
              <a:t>指令语句、伪指令语句</a:t>
            </a:r>
            <a:r>
              <a:rPr lang="zh-CN" altLang="en-US" sz="2200" dirty="0">
                <a:solidFill>
                  <a:schemeClr val="tx1"/>
                </a:solidFill>
                <a:effectLst/>
                <a:latin typeface="华文宋体" panose="02010600040101010101" pitchFamily="2" charset="-122"/>
                <a:ea typeface="华文宋体" panose="02010600040101010101" pitchFamily="2" charset="-122"/>
              </a:rPr>
              <a:t>和</a:t>
            </a:r>
            <a:r>
              <a:rPr lang="zh-CN" altLang="en-US" sz="2200" dirty="0">
                <a:effectLst/>
                <a:latin typeface="华文宋体" panose="02010600040101010101" pitchFamily="2" charset="-122"/>
                <a:ea typeface="华文宋体" panose="02010600040101010101" pitchFamily="2" charset="-122"/>
              </a:rPr>
              <a:t>宏指令语句</a:t>
            </a:r>
            <a:r>
              <a:rPr lang="zh-CN" altLang="en-US" sz="2200" dirty="0">
                <a:solidFill>
                  <a:srgbClr val="FF0000"/>
                </a:solidFill>
                <a:effectLst/>
                <a:latin typeface="华文宋体" panose="02010600040101010101" pitchFamily="2" charset="-122"/>
                <a:ea typeface="华文宋体" panose="02010600040101010101" pitchFamily="2" charset="-122"/>
              </a:rPr>
              <a:t>（宏指令语句就是由若干条指令语句形成的语句）</a:t>
            </a:r>
            <a:r>
              <a:rPr lang="zh-CN" altLang="en-US" sz="2200" dirty="0">
                <a:solidFill>
                  <a:schemeClr val="tx1"/>
                </a:solidFill>
                <a:effectLst/>
                <a:latin typeface="华文宋体" panose="02010600040101010101" pitchFamily="2" charset="-122"/>
                <a:ea typeface="华文宋体" panose="02010600040101010101" pitchFamily="2" charset="-122"/>
              </a:rPr>
              <a:t>。</a:t>
            </a:r>
            <a:r>
              <a:rPr lang="zh-CN" altLang="en-US" sz="2200" b="1" dirty="0">
                <a:solidFill>
                  <a:schemeClr val="tx1"/>
                </a:solidFill>
                <a:effectLst/>
                <a:latin typeface="华文宋体" panose="02010600040101010101" pitchFamily="2" charset="-122"/>
                <a:ea typeface="华文宋体" panose="02010600040101010101" pitchFamily="2" charset="-122"/>
              </a:rPr>
              <a:t>前两种是最常见、最基本的语句。指令语句和伪指令语句不仅在程序中的功能不同，而且实现其功能的方法和时间也不同。</a:t>
            </a:r>
            <a:endParaRPr lang="en-US" altLang="zh-CN" sz="2200" b="1" dirty="0">
              <a:solidFill>
                <a:schemeClr val="tx1"/>
              </a:solidFill>
              <a:effectLst/>
              <a:latin typeface="华文宋体" panose="02010600040101010101" pitchFamily="2" charset="-122"/>
              <a:ea typeface="华文宋体" panose="02010600040101010101" pitchFamily="2" charset="-122"/>
            </a:endParaRPr>
          </a:p>
          <a:p>
            <a:pPr marL="0" indent="187325">
              <a:buNone/>
            </a:pPr>
            <a:endParaRPr lang="zh-CN" altLang="en-US" sz="2200" b="1" dirty="0">
              <a:solidFill>
                <a:schemeClr val="tx1"/>
              </a:solidFill>
              <a:effectLst/>
              <a:latin typeface="华文宋体" panose="02010600040101010101" pitchFamily="2" charset="-122"/>
              <a:ea typeface="华文宋体" panose="02010600040101010101" pitchFamily="2" charset="-122"/>
            </a:endParaRPr>
          </a:p>
          <a:p>
            <a:pPr marL="0" indent="187325">
              <a:buNone/>
            </a:pPr>
            <a:r>
              <a:rPr lang="zh-CN" altLang="en-US" sz="2200" b="1" dirty="0">
                <a:solidFill>
                  <a:schemeClr val="tx1"/>
                </a:solidFill>
                <a:effectLst/>
                <a:latin typeface="华文宋体" panose="02010600040101010101" pitchFamily="2" charset="-122"/>
                <a:ea typeface="华文宋体" panose="02010600040101010101" pitchFamily="2" charset="-122"/>
              </a:rPr>
              <a:t>1、指令语句 </a:t>
            </a:r>
            <a:endParaRPr lang="zh-CN" altLang="en-US" sz="2200" b="1" dirty="0">
              <a:solidFill>
                <a:schemeClr val="tx1"/>
              </a:solidFill>
              <a:effectLst/>
              <a:latin typeface="华文宋体" panose="02010600040101010101" pitchFamily="2" charset="-122"/>
              <a:ea typeface="华文宋体" panose="02010600040101010101" pitchFamily="2" charset="-122"/>
            </a:endParaRPr>
          </a:p>
          <a:p>
            <a:pPr marL="0" indent="187325">
              <a:buNone/>
            </a:pPr>
            <a:r>
              <a:rPr lang="zh-CN" altLang="en-US" sz="2200" b="1" dirty="0">
                <a:solidFill>
                  <a:schemeClr val="tx1"/>
                </a:solidFill>
                <a:effectLst/>
                <a:latin typeface="华文宋体" panose="02010600040101010101" pitchFamily="2" charset="-122"/>
                <a:ea typeface="华文宋体" panose="02010600040101010101" pitchFamily="2" charset="-122"/>
              </a:rPr>
              <a:t>   指令语句就是计算机中指令系统的各条指令，每条指令语句在汇编时都产生一个供</a:t>
            </a:r>
            <a:r>
              <a:rPr lang="en-US" altLang="zh-CN" sz="2200" b="1" dirty="0">
                <a:solidFill>
                  <a:schemeClr val="tx1"/>
                </a:solidFill>
                <a:effectLst/>
                <a:latin typeface="华文宋体" panose="02010600040101010101" pitchFamily="2" charset="-122"/>
                <a:ea typeface="华文宋体" panose="02010600040101010101" pitchFamily="2" charset="-122"/>
              </a:rPr>
              <a:t>CPU</a:t>
            </a:r>
            <a:r>
              <a:rPr lang="zh-CN" altLang="en-US" sz="2200" b="1" dirty="0">
                <a:solidFill>
                  <a:schemeClr val="tx1"/>
                </a:solidFill>
                <a:effectLst/>
                <a:latin typeface="华文宋体" panose="02010600040101010101" pitchFamily="2" charset="-122"/>
                <a:ea typeface="华文宋体" panose="02010600040101010101" pitchFamily="2" charset="-122"/>
              </a:rPr>
              <a:t>执行的机器目标代码。</a:t>
            </a:r>
            <a:endParaRPr lang="zh-CN" altLang="en-US" sz="2200" b="1" dirty="0">
              <a:solidFill>
                <a:schemeClr val="tx1"/>
              </a:solidFill>
              <a:effectLst/>
              <a:latin typeface="华文宋体" panose="02010600040101010101" pitchFamily="2" charset="-122"/>
              <a:ea typeface="华文宋体" panose="02010600040101010101" pitchFamily="2" charset="-122"/>
            </a:endParaRPr>
          </a:p>
          <a:p>
            <a:pPr marL="0" indent="187325">
              <a:buNone/>
            </a:pPr>
            <a:r>
              <a:rPr lang="zh-CN" altLang="en-US" sz="2200" b="1" dirty="0">
                <a:solidFill>
                  <a:schemeClr val="tx1"/>
                </a:solidFill>
                <a:effectLst/>
                <a:latin typeface="华文宋体" panose="02010600040101010101" pitchFamily="2" charset="-122"/>
                <a:ea typeface="华文宋体" panose="02010600040101010101" pitchFamily="2" charset="-122"/>
              </a:rPr>
              <a:t>   计算机中每条指令语句表示一种基本功能，这些基本功能是在程序运行期间由计算机硬件来实现的。</a:t>
            </a:r>
            <a:r>
              <a:rPr lang="zh-CN" altLang="en-US" sz="2000" dirty="0">
                <a:solidFill>
                  <a:schemeClr val="tx1"/>
                </a:solidFill>
                <a:effectLst/>
                <a:latin typeface="华文宋体" panose="02010600040101010101" pitchFamily="2" charset="-122"/>
                <a:ea typeface="华文宋体" panose="02010600040101010101" pitchFamily="2" charset="-122"/>
              </a:rPr>
              <a:t>一条指令语句由四个字段组成，其一般格式如下：</a:t>
            </a:r>
            <a:endParaRPr lang="zh-CN" altLang="en-US" sz="2000" dirty="0">
              <a:solidFill>
                <a:schemeClr val="tx1"/>
              </a:solidFill>
              <a:effectLst/>
              <a:latin typeface="华文宋体" panose="02010600040101010101" pitchFamily="2" charset="-122"/>
              <a:ea typeface="华文宋体" panose="02010600040101010101" pitchFamily="2" charset="-122"/>
            </a:endParaRPr>
          </a:p>
          <a:p>
            <a:pPr marL="0" indent="187325">
              <a:buNone/>
            </a:pPr>
            <a:r>
              <a:rPr lang="zh-CN" altLang="en-US" sz="2000" dirty="0">
                <a:solidFill>
                  <a:schemeClr val="tx1"/>
                </a:solidFill>
                <a:effectLst/>
                <a:latin typeface="华文宋体" panose="02010600040101010101" pitchFamily="2" charset="-122"/>
                <a:ea typeface="华文宋体" panose="02010600040101010101" pitchFamily="2" charset="-122"/>
              </a:rPr>
              <a:t>   </a:t>
            </a:r>
            <a:r>
              <a:rPr lang="zh-CN" altLang="en-US" sz="2000" dirty="0">
                <a:solidFill>
                  <a:srgbClr val="FF0000"/>
                </a:solidFill>
                <a:effectLst/>
                <a:latin typeface="华文宋体" panose="02010600040101010101" pitchFamily="2" charset="-122"/>
                <a:ea typeface="华文宋体" panose="02010600040101010101" pitchFamily="2" charset="-122"/>
              </a:rPr>
              <a:t>[标号名：]　操作码　[操作数]　[；注释]</a:t>
            </a:r>
            <a:endParaRPr lang="zh-CN" altLang="en-US" sz="2000" dirty="0">
              <a:solidFill>
                <a:srgbClr val="FF0000"/>
              </a:solidFill>
              <a:effectLst/>
              <a:latin typeface="华文宋体" panose="02010600040101010101" pitchFamily="2" charset="-122"/>
              <a:ea typeface="华文宋体" panose="02010600040101010101" pitchFamily="2" charset="-122"/>
            </a:endParaRPr>
          </a:p>
        </p:txBody>
      </p:sp>
      <p:sp>
        <p:nvSpPr>
          <p:cNvPr id="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汇编语言语句的基本格式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96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596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596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596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72" name="Rectangle 8"/>
          <p:cNvSpPr>
            <a:spLocks noChangeArrowheads="1"/>
          </p:cNvSpPr>
          <p:nvPr/>
        </p:nvSpPr>
        <p:spPr bwMode="auto">
          <a:xfrm>
            <a:off x="12700" y="2024001"/>
            <a:ext cx="7194550" cy="1296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lvl="1" algn="l">
              <a:spcAft>
                <a:spcPct val="30000"/>
              </a:spcAft>
            </a:pPr>
            <a:r>
              <a:rPr lang="en-US" altLang="zh-CN" sz="2400" dirty="0">
                <a:solidFill>
                  <a:srgbClr val="0000FF"/>
                </a:solidFill>
                <a:ea typeface="楷体_GB2312" pitchFamily="49" charset="-122"/>
              </a:rPr>
              <a:t>(1) </a:t>
            </a:r>
            <a:r>
              <a:rPr lang="zh-CN" altLang="en-US" sz="2400" dirty="0">
                <a:solidFill>
                  <a:srgbClr val="0000FF"/>
                </a:solidFill>
                <a:ea typeface="楷体_GB2312" pitchFamily="49" charset="-122"/>
              </a:rPr>
              <a:t>操作码</a:t>
            </a:r>
            <a:endParaRPr lang="zh-CN" altLang="en-US" sz="2400" dirty="0">
              <a:solidFill>
                <a:srgbClr val="0000FF"/>
              </a:solidFill>
              <a:ea typeface="楷体_GB2312" pitchFamily="49" charset="-122"/>
            </a:endParaRPr>
          </a:p>
          <a:p>
            <a:pPr lvl="2" algn="l"/>
            <a:r>
              <a:rPr lang="zh-CN" altLang="en-US" sz="2400" dirty="0">
                <a:ea typeface="楷体_GB2312" pitchFamily="49" charset="-122"/>
              </a:rPr>
              <a:t>指明</a:t>
            </a:r>
            <a:r>
              <a:rPr lang="en-US" altLang="zh-CN" sz="2400" dirty="0">
                <a:ea typeface="楷体_GB2312" pitchFamily="49" charset="-122"/>
              </a:rPr>
              <a:t>CPU</a:t>
            </a:r>
            <a:r>
              <a:rPr lang="zh-CN" altLang="en-US" sz="2400" dirty="0">
                <a:ea typeface="楷体_GB2312" pitchFamily="49" charset="-122"/>
              </a:rPr>
              <a:t>要执行什么样的操作。</a:t>
            </a:r>
            <a:endParaRPr lang="zh-CN" altLang="en-US" sz="2400" dirty="0">
              <a:ea typeface="楷体_GB2312" pitchFamily="49" charset="-122"/>
            </a:endParaRPr>
          </a:p>
          <a:p>
            <a:pPr lvl="2" algn="l"/>
            <a:r>
              <a:rPr lang="zh-CN" altLang="en-US" sz="2400" dirty="0">
                <a:ea typeface="楷体_GB2312" pitchFamily="49" charset="-122"/>
              </a:rPr>
              <a:t>是一条指令必不可少的部分，用助记符表示</a:t>
            </a:r>
            <a:r>
              <a:rPr lang="zh-CN" altLang="en-US" sz="2400" dirty="0"/>
              <a:t>。</a:t>
            </a:r>
            <a:endParaRPr lang="zh-CN" altLang="en-US" sz="2400" dirty="0"/>
          </a:p>
        </p:txBody>
      </p:sp>
      <p:sp>
        <p:nvSpPr>
          <p:cNvPr id="62466" name="Text Box 2"/>
          <p:cNvSpPr txBox="1">
            <a:spLocks noChangeArrowheads="1"/>
          </p:cNvSpPr>
          <p:nvPr/>
        </p:nvSpPr>
        <p:spPr bwMode="auto">
          <a:xfrm>
            <a:off x="503548" y="966162"/>
            <a:ext cx="5722404" cy="9417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spcAft>
                <a:spcPct val="30000"/>
              </a:spcAft>
              <a:buClr>
                <a:srgbClr val="FF3300"/>
              </a:buClr>
              <a:buFont typeface="Wingdings" panose="05000000000000000000" pitchFamily="2" charset="2"/>
              <a:buChar char="l"/>
            </a:pPr>
            <a:r>
              <a:rPr lang="en-US" altLang="zh-CN" sz="2400" dirty="0">
                <a:latin typeface="宋体" panose="02010600030101010101" pitchFamily="2" charset="-122"/>
              </a:rPr>
              <a:t> </a:t>
            </a:r>
            <a:r>
              <a:rPr lang="zh-CN" altLang="en-US" sz="2400" dirty="0">
                <a:ea typeface="楷体_GB2312" pitchFamily="49" charset="-122"/>
              </a:rPr>
              <a:t>指令格式        </a:t>
            </a:r>
            <a:r>
              <a:rPr lang="zh-CN" altLang="en-US" sz="2400" dirty="0">
                <a:solidFill>
                  <a:srgbClr val="0000FF"/>
                </a:solidFill>
                <a:ea typeface="楷体_GB2312" pitchFamily="49" charset="-122"/>
              </a:rPr>
              <a:t>操作码</a:t>
            </a:r>
            <a:r>
              <a:rPr lang="zh-CN" altLang="en-US" sz="2400" dirty="0">
                <a:ea typeface="楷体_GB2312" pitchFamily="49" charset="-122"/>
              </a:rPr>
              <a:t>        </a:t>
            </a:r>
            <a:r>
              <a:rPr lang="zh-CN" altLang="en-US" sz="2400" dirty="0">
                <a:solidFill>
                  <a:srgbClr val="0000FF"/>
                </a:solidFill>
                <a:ea typeface="楷体_GB2312" pitchFamily="49" charset="-122"/>
              </a:rPr>
              <a:t>操作数</a:t>
            </a:r>
            <a:endParaRPr lang="zh-CN" altLang="en-US" sz="2400" dirty="0">
              <a:ea typeface="楷体_GB2312" pitchFamily="49" charset="-122"/>
            </a:endParaRPr>
          </a:p>
          <a:p>
            <a:pPr lvl="1" algn="just">
              <a:spcAft>
                <a:spcPct val="30000"/>
              </a:spcAft>
            </a:pPr>
            <a:r>
              <a:rPr lang="zh-CN" altLang="en-US" sz="2400" dirty="0">
                <a:ea typeface="楷体_GB2312" pitchFamily="49" charset="-122"/>
              </a:rPr>
              <a:t>            例        </a:t>
            </a:r>
            <a:r>
              <a:rPr lang="en-US" altLang="zh-CN" sz="2400" dirty="0">
                <a:ea typeface="楷体_GB2312" pitchFamily="49" charset="-122"/>
              </a:rPr>
              <a:t>ADD         AL</a:t>
            </a:r>
            <a:r>
              <a:rPr lang="zh-CN" altLang="en-US" sz="2400" dirty="0">
                <a:ea typeface="楷体_GB2312" pitchFamily="49" charset="-122"/>
              </a:rPr>
              <a:t>，</a:t>
            </a:r>
            <a:r>
              <a:rPr lang="en-US" altLang="zh-CN" sz="2400" dirty="0">
                <a:ea typeface="楷体_GB2312" pitchFamily="49" charset="-122"/>
              </a:rPr>
              <a:t>10H</a:t>
            </a:r>
            <a:endParaRPr lang="en-US" altLang="zh-CN" sz="2400" dirty="0">
              <a:ea typeface="楷体_GB2312" pitchFamily="49" charset="-122"/>
            </a:endParaRPr>
          </a:p>
        </p:txBody>
      </p:sp>
      <p:grpSp>
        <p:nvGrpSpPr>
          <p:cNvPr id="62477" name="Group 13"/>
          <p:cNvGrpSpPr/>
          <p:nvPr/>
        </p:nvGrpSpPr>
        <p:grpSpPr bwMode="auto">
          <a:xfrm>
            <a:off x="1905000" y="3392996"/>
            <a:ext cx="4624388" cy="1962806"/>
            <a:chOff x="1104" y="1968"/>
            <a:chExt cx="2913" cy="1248"/>
          </a:xfrm>
        </p:grpSpPr>
        <p:sp>
          <p:nvSpPr>
            <p:cNvPr id="62469" name="Text Box 5"/>
            <p:cNvSpPr txBox="1">
              <a:spLocks noChangeArrowheads="1"/>
            </p:cNvSpPr>
            <p:nvPr/>
          </p:nvSpPr>
          <p:spPr bwMode="auto">
            <a:xfrm>
              <a:off x="2545" y="1968"/>
              <a:ext cx="1472" cy="1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Lst>
          </p:spPr>
          <p:txBody>
            <a:bodyPr lIns="0" tIns="0" rIns="0" bIns="0"/>
            <a:lstStyle/>
            <a:p>
              <a:pPr algn="just"/>
              <a:r>
                <a:rPr lang="zh-CN" altLang="en-US" sz="2200" dirty="0">
                  <a:ea typeface="楷体_GB2312" pitchFamily="49" charset="-122"/>
                </a:rPr>
                <a:t>数据传送</a:t>
              </a:r>
              <a:endParaRPr lang="zh-CN" altLang="en-US" sz="2200" dirty="0">
                <a:ea typeface="楷体_GB2312" pitchFamily="49" charset="-122"/>
              </a:endParaRPr>
            </a:p>
            <a:p>
              <a:pPr algn="just"/>
              <a:r>
                <a:rPr lang="zh-CN" altLang="en-US" sz="2200" dirty="0">
                  <a:ea typeface="楷体_GB2312" pitchFamily="49" charset="-122"/>
                </a:rPr>
                <a:t>算术运算</a:t>
              </a:r>
              <a:endParaRPr lang="zh-CN" altLang="en-US" sz="2200" dirty="0">
                <a:ea typeface="楷体_GB2312" pitchFamily="49" charset="-122"/>
              </a:endParaRPr>
            </a:p>
            <a:p>
              <a:pPr algn="just"/>
              <a:r>
                <a:rPr lang="zh-CN" altLang="en-US" sz="2200" dirty="0">
                  <a:ea typeface="楷体_GB2312" pitchFamily="49" charset="-122"/>
                </a:rPr>
                <a:t>逻辑运算</a:t>
              </a:r>
              <a:endParaRPr lang="zh-CN" altLang="en-US" sz="2200" dirty="0">
                <a:ea typeface="楷体_GB2312" pitchFamily="49" charset="-122"/>
              </a:endParaRPr>
            </a:p>
            <a:p>
              <a:pPr algn="just"/>
              <a:r>
                <a:rPr lang="zh-CN" altLang="en-US" sz="2200" dirty="0">
                  <a:ea typeface="楷体_GB2312" pitchFamily="49" charset="-122"/>
                </a:rPr>
                <a:t>串操作</a:t>
              </a:r>
              <a:endParaRPr lang="zh-CN" altLang="en-US" sz="2200" dirty="0">
                <a:ea typeface="楷体_GB2312" pitchFamily="49" charset="-122"/>
              </a:endParaRPr>
            </a:p>
            <a:p>
              <a:pPr algn="just"/>
              <a:r>
                <a:rPr lang="zh-CN" altLang="en-US" sz="2200" dirty="0">
                  <a:ea typeface="楷体_GB2312" pitchFamily="49" charset="-122"/>
                </a:rPr>
                <a:t>控制转移</a:t>
              </a:r>
              <a:endParaRPr lang="zh-CN" altLang="en-US" sz="2200" dirty="0">
                <a:ea typeface="楷体_GB2312" pitchFamily="49" charset="-122"/>
              </a:endParaRPr>
            </a:p>
            <a:p>
              <a:pPr algn="just"/>
              <a:r>
                <a:rPr lang="zh-CN" altLang="en-US" sz="2200" dirty="0">
                  <a:ea typeface="楷体_GB2312" pitchFamily="49" charset="-122"/>
                </a:rPr>
                <a:t>处理机控制</a:t>
              </a:r>
              <a:endParaRPr lang="zh-CN" altLang="en-US" sz="2200" b="0" dirty="0"/>
            </a:p>
          </p:txBody>
        </p:sp>
        <p:sp>
          <p:nvSpPr>
            <p:cNvPr id="62470" name="Text Box 6"/>
            <p:cNvSpPr txBox="1">
              <a:spLocks noChangeArrowheads="1"/>
            </p:cNvSpPr>
            <p:nvPr/>
          </p:nvSpPr>
          <p:spPr bwMode="auto">
            <a:xfrm>
              <a:off x="1104" y="2288"/>
              <a:ext cx="1298"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FFFF"/>
                  </a:solidFill>
                  <a:miter lim="800000"/>
                  <a:headEnd/>
                  <a:tailEnd/>
                </a14:hiddenLine>
              </a:ext>
            </a:extLst>
          </p:spPr>
          <p:txBody>
            <a:bodyPr lIns="0" tIns="0" rIns="0" bIns="0"/>
            <a:lstStyle/>
            <a:p>
              <a:pPr algn="just"/>
              <a:r>
                <a:rPr lang="en-US" altLang="zh-CN" sz="3600" dirty="0"/>
                <a:t>   </a:t>
              </a:r>
              <a:r>
                <a:rPr lang="zh-CN" altLang="en-US" sz="2200" dirty="0">
                  <a:solidFill>
                    <a:srgbClr val="FF3300"/>
                  </a:solidFill>
                  <a:ea typeface="楷体_GB2312" pitchFamily="49" charset="-122"/>
                </a:rPr>
                <a:t>按功能</a:t>
              </a:r>
              <a:endParaRPr lang="zh-CN" altLang="en-US" sz="2200" dirty="0">
                <a:solidFill>
                  <a:srgbClr val="FF3300"/>
                </a:solidFill>
                <a:ea typeface="楷体_GB2312" pitchFamily="49" charset="-122"/>
              </a:endParaRPr>
            </a:p>
            <a:p>
              <a:pPr algn="just"/>
              <a:r>
                <a:rPr lang="zh-CN" altLang="en-US" sz="2200" dirty="0">
                  <a:solidFill>
                    <a:srgbClr val="FF3300"/>
                  </a:solidFill>
                  <a:ea typeface="楷体_GB2312" pitchFamily="49" charset="-122"/>
                </a:rPr>
                <a:t>指令分六类</a:t>
              </a:r>
              <a:endParaRPr lang="zh-CN" altLang="en-US" sz="3600" dirty="0"/>
            </a:p>
            <a:p>
              <a:pPr algn="just"/>
              <a:endParaRPr lang="en-US" altLang="zh-CN" sz="1000" b="0" dirty="0"/>
            </a:p>
          </p:txBody>
        </p:sp>
        <p:sp>
          <p:nvSpPr>
            <p:cNvPr id="62471" name="AutoShape 7"/>
            <p:cNvSpPr/>
            <p:nvPr/>
          </p:nvSpPr>
          <p:spPr bwMode="auto">
            <a:xfrm>
              <a:off x="2256" y="2067"/>
              <a:ext cx="192" cy="1149"/>
            </a:xfrm>
            <a:prstGeom prst="leftBrace">
              <a:avLst>
                <a:gd name="adj1" fmla="val 49870"/>
                <a:gd name="adj2" fmla="val 50000"/>
              </a:avLst>
            </a:prstGeom>
            <a:noFill/>
            <a:ln w="254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2474" name="Text Box 10"/>
          <p:cNvSpPr txBox="1">
            <a:spLocks noChangeArrowheads="1"/>
          </p:cNvSpPr>
          <p:nvPr/>
        </p:nvSpPr>
        <p:spPr bwMode="auto">
          <a:xfrm>
            <a:off x="609600" y="5096873"/>
            <a:ext cx="7022740" cy="13511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spcAft>
                <a:spcPts val="600"/>
              </a:spcAft>
            </a:pPr>
            <a:r>
              <a:rPr lang="en-US" altLang="zh-CN" sz="2400" dirty="0">
                <a:solidFill>
                  <a:srgbClr val="0000FF"/>
                </a:solidFill>
                <a:ea typeface="楷体_GB2312" pitchFamily="49" charset="-122"/>
              </a:rPr>
              <a:t>(2) </a:t>
            </a:r>
            <a:r>
              <a:rPr lang="zh-CN" altLang="en-US" sz="2400" dirty="0">
                <a:solidFill>
                  <a:srgbClr val="0000FF"/>
                </a:solidFill>
                <a:ea typeface="楷体_GB2312" pitchFamily="49" charset="-122"/>
              </a:rPr>
              <a:t>操作数</a:t>
            </a:r>
            <a:endParaRPr lang="zh-CN" altLang="en-US" sz="2400" dirty="0">
              <a:solidFill>
                <a:srgbClr val="0000FF"/>
              </a:solidFill>
              <a:ea typeface="楷体_GB2312" pitchFamily="49" charset="-122"/>
            </a:endParaRPr>
          </a:p>
          <a:p>
            <a:pPr lvl="1" algn="just">
              <a:spcAft>
                <a:spcPct val="20000"/>
              </a:spcAft>
            </a:pPr>
            <a:r>
              <a:rPr lang="zh-CN" altLang="en-US" sz="2400" dirty="0">
                <a:ea typeface="楷体_GB2312" pitchFamily="49" charset="-122"/>
              </a:rPr>
              <a:t>指明参与操作的数据或数据所在的地方。</a:t>
            </a:r>
            <a:endParaRPr lang="zh-CN" altLang="en-US" sz="2400" dirty="0">
              <a:ea typeface="楷体_GB2312" pitchFamily="49" charset="-122"/>
            </a:endParaRPr>
          </a:p>
          <a:p>
            <a:pPr lvl="1" algn="just">
              <a:spcAft>
                <a:spcPct val="20000"/>
              </a:spcAft>
            </a:pPr>
            <a:r>
              <a:rPr lang="zh-CN" altLang="en-US" sz="2400" dirty="0">
                <a:ea typeface="楷体_GB2312" pitchFamily="49" charset="-122"/>
              </a:rPr>
              <a:t>了解操作数的</a:t>
            </a:r>
            <a:r>
              <a:rPr lang="zh-CN" altLang="en-US" sz="2400" dirty="0">
                <a:solidFill>
                  <a:srgbClr val="FF3300"/>
                </a:solidFill>
                <a:ea typeface="楷体_GB2312" pitchFamily="49" charset="-122"/>
              </a:rPr>
              <a:t>来源</a:t>
            </a:r>
            <a:r>
              <a:rPr lang="zh-CN" altLang="en-US" sz="2400" dirty="0">
                <a:ea typeface="楷体_GB2312" pitchFamily="49" charset="-122"/>
              </a:rPr>
              <a:t>、</a:t>
            </a:r>
            <a:r>
              <a:rPr lang="zh-CN" altLang="en-US" sz="2400" dirty="0">
                <a:solidFill>
                  <a:srgbClr val="FF3300"/>
                </a:solidFill>
                <a:ea typeface="楷体_GB2312" pitchFamily="49" charset="-122"/>
              </a:rPr>
              <a:t>个数</a:t>
            </a:r>
            <a:r>
              <a:rPr lang="zh-CN" altLang="en-US" sz="2400" dirty="0">
                <a:ea typeface="楷体_GB2312" pitchFamily="49" charset="-122"/>
              </a:rPr>
              <a:t>、</a:t>
            </a:r>
            <a:r>
              <a:rPr lang="zh-CN" altLang="en-US" sz="2400" dirty="0">
                <a:solidFill>
                  <a:srgbClr val="FF3300"/>
                </a:solidFill>
                <a:ea typeface="楷体_GB2312" pitchFamily="49" charset="-122"/>
              </a:rPr>
              <a:t>类型</a:t>
            </a:r>
            <a:r>
              <a:rPr lang="zh-CN" altLang="en-US" sz="2400" dirty="0">
                <a:ea typeface="楷体_GB2312" pitchFamily="49" charset="-122"/>
              </a:rPr>
              <a:t>、</a:t>
            </a:r>
            <a:r>
              <a:rPr lang="zh-CN" altLang="en-US" sz="2400" dirty="0">
                <a:solidFill>
                  <a:srgbClr val="FF3300"/>
                </a:solidFill>
                <a:ea typeface="楷体_GB2312" pitchFamily="49" charset="-122"/>
              </a:rPr>
              <a:t>执行速度</a:t>
            </a:r>
            <a:r>
              <a:rPr lang="zh-CN" altLang="en-US" sz="2400" dirty="0">
                <a:ea typeface="楷体_GB2312" pitchFamily="49" charset="-122"/>
              </a:rPr>
              <a:t>。</a:t>
            </a:r>
            <a:endParaRPr lang="zh-CN" altLang="en-US" dirty="0"/>
          </a:p>
        </p:txBody>
      </p:sp>
      <p:sp>
        <p:nvSpPr>
          <p:cNvPr id="12" name="文本框 1"/>
          <p:cNvSpPr txBox="1"/>
          <p:nvPr/>
        </p:nvSpPr>
        <p:spPr>
          <a:xfrm>
            <a:off x="452120" y="317500"/>
            <a:ext cx="6392545" cy="492443"/>
          </a:xfrm>
          <a:prstGeom prst="rect">
            <a:avLst/>
          </a:prstGeom>
          <a:noFill/>
        </p:spPr>
        <p:txBody>
          <a:bodyPr wrap="square" rtlCol="0" anchor="t">
            <a:spAutoFit/>
          </a:bodyPr>
          <a:lstStyle/>
          <a:p>
            <a:r>
              <a:rPr lang="en-US" altLang="zh-CN" sz="2600" kern="0" dirty="0">
                <a:solidFill>
                  <a:schemeClr val="tx2"/>
                </a:solidFill>
                <a:effectLst>
                  <a:outerShdw blurRad="38100" dist="38100" dir="2700000" algn="tl">
                    <a:srgbClr val="C0C0C0"/>
                  </a:outerShdw>
                </a:effectLst>
                <a:latin typeface="+mj-lt"/>
                <a:cs typeface="+mj-cs"/>
              </a:rPr>
              <a:t>8086/8088</a:t>
            </a:r>
            <a:r>
              <a:rPr lang="zh-CN" altLang="en-US" sz="2600" kern="0" dirty="0">
                <a:solidFill>
                  <a:schemeClr val="tx2"/>
                </a:solidFill>
                <a:effectLst>
                  <a:outerShdw blurRad="38100" dist="38100" dir="2700000" algn="tl">
                    <a:srgbClr val="C0C0C0"/>
                  </a:outerShdw>
                </a:effectLst>
                <a:latin typeface="+mj-lt"/>
                <a:cs typeface="+mj-cs"/>
              </a:rPr>
              <a:t>指令概述</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ChangeArrowheads="1"/>
          </p:cNvSpPr>
          <p:nvPr/>
        </p:nvSpPr>
        <p:spPr bwMode="auto">
          <a:xfrm>
            <a:off x="381000" y="981498"/>
            <a:ext cx="8537575" cy="5152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lvl="1">
              <a:spcAft>
                <a:spcPct val="80000"/>
              </a:spcAft>
            </a:pPr>
            <a:r>
              <a:rPr lang="zh-CN" altLang="en-US" dirty="0">
                <a:solidFill>
                  <a:srgbClr val="0000FF"/>
                </a:solidFill>
                <a:ea typeface="楷体_GB2312" pitchFamily="49" charset="-122"/>
              </a:rPr>
              <a:t>操作数</a:t>
            </a:r>
            <a:r>
              <a:rPr lang="zh-CN" altLang="en-US" sz="2400" dirty="0">
                <a:solidFill>
                  <a:srgbClr val="FF3300"/>
                </a:solidFill>
                <a:ea typeface="楷体_GB2312" pitchFamily="49" charset="-122"/>
              </a:rPr>
              <a:t>三种来源：</a:t>
            </a:r>
            <a:endParaRPr lang="zh-CN" altLang="en-US" sz="2400" dirty="0">
              <a:ea typeface="楷体_GB2312" pitchFamily="49" charset="-122"/>
            </a:endParaRPr>
          </a:p>
          <a:p>
            <a:pPr lvl="1" algn="l">
              <a:spcAft>
                <a:spcPct val="40000"/>
              </a:spcAft>
            </a:pPr>
            <a:r>
              <a:rPr lang="zh-CN" altLang="en-US" sz="2400" dirty="0">
                <a:solidFill>
                  <a:srgbClr val="FF3300"/>
                </a:solidFill>
                <a:ea typeface="楷体_GB2312" pitchFamily="49" charset="-122"/>
              </a:rPr>
              <a:t>①</a:t>
            </a:r>
            <a:r>
              <a:rPr lang="zh-CN" altLang="en-US" sz="2400" dirty="0">
                <a:ea typeface="楷体_GB2312" pitchFamily="49" charset="-122"/>
              </a:rPr>
              <a:t> 操作数在指令中，称</a:t>
            </a:r>
            <a:r>
              <a:rPr lang="zh-CN" altLang="en-US" sz="2400" dirty="0">
                <a:solidFill>
                  <a:srgbClr val="FF0000"/>
                </a:solidFill>
                <a:ea typeface="楷体_GB2312" pitchFamily="49" charset="-122"/>
              </a:rPr>
              <a:t>立即数操作数</a:t>
            </a:r>
            <a:endParaRPr lang="zh-CN" altLang="en-US" sz="2400" dirty="0">
              <a:ea typeface="楷体_GB2312" pitchFamily="49" charset="-122"/>
            </a:endParaRPr>
          </a:p>
          <a:p>
            <a:pPr lvl="2" algn="l">
              <a:spcAft>
                <a:spcPct val="80000"/>
              </a:spcAft>
            </a:pPr>
            <a:r>
              <a:rPr lang="zh-CN" altLang="en-US" sz="2400" dirty="0">
                <a:ea typeface="楷体_GB2312" pitchFamily="49" charset="-122"/>
              </a:rPr>
              <a:t>     如    </a:t>
            </a:r>
            <a:r>
              <a:rPr lang="en-US" altLang="zh-CN" sz="2400" dirty="0">
                <a:ea typeface="楷体_GB2312" pitchFamily="49" charset="-122"/>
              </a:rPr>
              <a:t>MOV  AL,  </a:t>
            </a:r>
            <a:r>
              <a:rPr lang="en-US" altLang="zh-CN" sz="2400" dirty="0">
                <a:solidFill>
                  <a:srgbClr val="FF0000"/>
                </a:solidFill>
                <a:ea typeface="楷体_GB2312" pitchFamily="49" charset="-122"/>
              </a:rPr>
              <a:t>9</a:t>
            </a:r>
            <a:r>
              <a:rPr lang="en-US" altLang="zh-CN" sz="2400" dirty="0">
                <a:ea typeface="楷体_GB2312" pitchFamily="49" charset="-122"/>
              </a:rPr>
              <a:t>  </a:t>
            </a:r>
            <a:endParaRPr lang="en-US" altLang="zh-CN" sz="2400" dirty="0">
              <a:ea typeface="楷体_GB2312" pitchFamily="49" charset="-122"/>
            </a:endParaRPr>
          </a:p>
          <a:p>
            <a:pPr lvl="1" algn="l">
              <a:spcAft>
                <a:spcPct val="40000"/>
              </a:spcAft>
            </a:pPr>
            <a:r>
              <a:rPr lang="en-US" altLang="zh-CN" sz="2400" dirty="0">
                <a:solidFill>
                  <a:srgbClr val="FF3300"/>
                </a:solidFill>
                <a:ea typeface="楷体_GB2312" pitchFamily="49" charset="-122"/>
              </a:rPr>
              <a:t>②</a:t>
            </a:r>
            <a:r>
              <a:rPr lang="en-US" altLang="zh-CN" sz="2400" dirty="0">
                <a:ea typeface="楷体_GB2312" pitchFamily="49" charset="-122"/>
              </a:rPr>
              <a:t> </a:t>
            </a:r>
            <a:r>
              <a:rPr lang="zh-CN" altLang="en-US" sz="2400" dirty="0">
                <a:ea typeface="楷体_GB2312" pitchFamily="49" charset="-122"/>
              </a:rPr>
              <a:t>操作数在寄存器中，称</a:t>
            </a:r>
            <a:r>
              <a:rPr lang="zh-CN" altLang="en-US" sz="2400" dirty="0">
                <a:solidFill>
                  <a:srgbClr val="FF0000"/>
                </a:solidFill>
                <a:ea typeface="楷体_GB2312" pitchFamily="49" charset="-122"/>
              </a:rPr>
              <a:t>寄存器操作数</a:t>
            </a:r>
            <a:endParaRPr lang="zh-CN" altLang="en-US" sz="2400" dirty="0">
              <a:ea typeface="楷体_GB2312" pitchFamily="49" charset="-122"/>
            </a:endParaRPr>
          </a:p>
          <a:p>
            <a:pPr lvl="2" algn="l">
              <a:spcAft>
                <a:spcPct val="40000"/>
              </a:spcAft>
            </a:pPr>
            <a:r>
              <a:rPr lang="zh-CN" altLang="en-US" sz="2400" dirty="0">
                <a:ea typeface="楷体_GB2312" pitchFamily="49" charset="-122"/>
              </a:rPr>
              <a:t>指令中给出用符号表示的寄存器名。</a:t>
            </a:r>
            <a:endParaRPr lang="zh-CN" altLang="en-US" sz="2400" dirty="0">
              <a:ea typeface="楷体_GB2312" pitchFamily="49" charset="-122"/>
            </a:endParaRPr>
          </a:p>
          <a:p>
            <a:pPr lvl="2" algn="l">
              <a:spcAft>
                <a:spcPct val="80000"/>
              </a:spcAft>
            </a:pPr>
            <a:r>
              <a:rPr lang="zh-CN" altLang="en-US" sz="2400" dirty="0">
                <a:ea typeface="楷体_GB2312" pitchFamily="49" charset="-122"/>
              </a:rPr>
              <a:t>    如    </a:t>
            </a:r>
            <a:r>
              <a:rPr lang="en-US" altLang="zh-CN" sz="2400" dirty="0">
                <a:ea typeface="楷体_GB2312" pitchFamily="49" charset="-122"/>
              </a:rPr>
              <a:t>MOV  </a:t>
            </a:r>
            <a:r>
              <a:rPr lang="en-US" altLang="zh-CN" sz="2400" dirty="0">
                <a:solidFill>
                  <a:srgbClr val="FF0000"/>
                </a:solidFill>
                <a:ea typeface="楷体_GB2312" pitchFamily="49" charset="-122"/>
              </a:rPr>
              <a:t>AL</a:t>
            </a:r>
            <a:r>
              <a:rPr lang="en-US" altLang="zh-CN" sz="2400" dirty="0">
                <a:ea typeface="楷体_GB2312" pitchFamily="49" charset="-122"/>
              </a:rPr>
              <a:t>,  9</a:t>
            </a:r>
            <a:r>
              <a:rPr lang="zh-CN" altLang="en-US" sz="2400" dirty="0">
                <a:ea typeface="楷体_GB2312" pitchFamily="49" charset="-122"/>
              </a:rPr>
              <a:t>；</a:t>
            </a:r>
            <a:r>
              <a:rPr lang="en-US" altLang="zh-CN" sz="2400" dirty="0">
                <a:ea typeface="楷体_GB2312" pitchFamily="49" charset="-122"/>
              </a:rPr>
              <a:t>MOV   </a:t>
            </a:r>
            <a:r>
              <a:rPr lang="en-US" altLang="zh-CN" sz="2400" dirty="0">
                <a:solidFill>
                  <a:srgbClr val="FF0000"/>
                </a:solidFill>
                <a:ea typeface="楷体_GB2312" pitchFamily="49" charset="-122"/>
              </a:rPr>
              <a:t>AL</a:t>
            </a:r>
            <a:r>
              <a:rPr lang="en-US" altLang="zh-CN" sz="2400" dirty="0">
                <a:ea typeface="楷体_GB2312" pitchFamily="49" charset="-122"/>
              </a:rPr>
              <a:t>,  </a:t>
            </a:r>
            <a:r>
              <a:rPr lang="en-US" altLang="zh-CN" sz="2400" dirty="0">
                <a:solidFill>
                  <a:srgbClr val="FF0000"/>
                </a:solidFill>
                <a:ea typeface="楷体_GB2312" pitchFamily="49" charset="-122"/>
              </a:rPr>
              <a:t>BL</a:t>
            </a:r>
            <a:r>
              <a:rPr lang="en-US" altLang="zh-CN" sz="2400" dirty="0">
                <a:ea typeface="楷体_GB2312" pitchFamily="49" charset="-122"/>
              </a:rPr>
              <a:t> </a:t>
            </a:r>
            <a:endParaRPr lang="en-US" altLang="zh-CN" sz="2400" dirty="0">
              <a:ea typeface="楷体_GB2312" pitchFamily="49" charset="-122"/>
            </a:endParaRPr>
          </a:p>
          <a:p>
            <a:pPr lvl="1" algn="l">
              <a:spcAft>
                <a:spcPct val="40000"/>
              </a:spcAft>
            </a:pPr>
            <a:r>
              <a:rPr lang="en-US" altLang="zh-CN" sz="2400" dirty="0">
                <a:solidFill>
                  <a:srgbClr val="FF3300"/>
                </a:solidFill>
                <a:ea typeface="楷体_GB2312" pitchFamily="49" charset="-122"/>
              </a:rPr>
              <a:t>③</a:t>
            </a:r>
            <a:r>
              <a:rPr lang="en-US" altLang="zh-CN" sz="2400" dirty="0">
                <a:ea typeface="楷体_GB2312" pitchFamily="49" charset="-122"/>
              </a:rPr>
              <a:t> </a:t>
            </a:r>
            <a:r>
              <a:rPr lang="zh-CN" altLang="en-US" sz="2400" dirty="0">
                <a:ea typeface="楷体_GB2312" pitchFamily="49" charset="-122"/>
              </a:rPr>
              <a:t>操作数在内存单元中，称</a:t>
            </a:r>
            <a:r>
              <a:rPr lang="zh-CN" altLang="en-US" sz="2400" dirty="0">
                <a:solidFill>
                  <a:srgbClr val="FF0000"/>
                </a:solidFill>
                <a:ea typeface="楷体_GB2312" pitchFamily="49" charset="-122"/>
              </a:rPr>
              <a:t>存储器操作数</a:t>
            </a:r>
            <a:r>
              <a:rPr lang="zh-CN" altLang="en-US" sz="2400" dirty="0">
                <a:ea typeface="楷体_GB2312" pitchFamily="49" charset="-122"/>
              </a:rPr>
              <a:t>或</a:t>
            </a:r>
            <a:r>
              <a:rPr lang="zh-CN" altLang="en-US" sz="2400" dirty="0">
                <a:solidFill>
                  <a:srgbClr val="FF0000"/>
                </a:solidFill>
                <a:ea typeface="楷体_GB2312" pitchFamily="49" charset="-122"/>
              </a:rPr>
              <a:t>内存操作数</a:t>
            </a:r>
            <a:endParaRPr lang="zh-CN" altLang="en-US" sz="2400" dirty="0">
              <a:ea typeface="楷体_GB2312" pitchFamily="49" charset="-122"/>
            </a:endParaRPr>
          </a:p>
          <a:p>
            <a:pPr lvl="1" algn="l">
              <a:spcAft>
                <a:spcPct val="40000"/>
              </a:spcAft>
            </a:pPr>
            <a:r>
              <a:rPr lang="zh-CN" altLang="en-US" sz="2400" dirty="0">
                <a:ea typeface="楷体_GB2312" pitchFamily="49" charset="-122"/>
              </a:rPr>
              <a:t>     指令中给出该内存单元的地址。用</a:t>
            </a:r>
            <a:r>
              <a:rPr lang="en-US" altLang="zh-CN" sz="2400" dirty="0">
                <a:solidFill>
                  <a:srgbClr val="FF3300"/>
                </a:solidFill>
                <a:ea typeface="楷体_GB2312" pitchFamily="49" charset="-122"/>
              </a:rPr>
              <a:t>[   ]</a:t>
            </a:r>
            <a:r>
              <a:rPr lang="zh-CN" altLang="en-US" sz="2400" dirty="0">
                <a:ea typeface="楷体_GB2312" pitchFamily="49" charset="-122"/>
              </a:rPr>
              <a:t>表示存储器操作数</a:t>
            </a:r>
            <a:endParaRPr lang="zh-CN" altLang="en-US" sz="2400" dirty="0">
              <a:ea typeface="楷体_GB2312" pitchFamily="49" charset="-122"/>
            </a:endParaRPr>
          </a:p>
          <a:p>
            <a:pPr lvl="2" algn="l">
              <a:spcAft>
                <a:spcPct val="40000"/>
              </a:spcAft>
            </a:pPr>
            <a:r>
              <a:rPr lang="zh-CN" altLang="en-US" sz="2400" dirty="0">
                <a:ea typeface="楷体_GB2312" pitchFamily="49" charset="-122"/>
              </a:rPr>
              <a:t>    如    </a:t>
            </a:r>
            <a:r>
              <a:rPr lang="en-US" altLang="zh-CN" sz="2400" dirty="0">
                <a:ea typeface="楷体_GB2312" pitchFamily="49" charset="-122"/>
              </a:rPr>
              <a:t>MOV  AL ,  </a:t>
            </a:r>
            <a:r>
              <a:rPr lang="en-US" altLang="zh-CN" sz="2400" dirty="0">
                <a:solidFill>
                  <a:srgbClr val="FF0000"/>
                </a:solidFill>
                <a:ea typeface="楷体_GB2312" pitchFamily="49" charset="-122"/>
              </a:rPr>
              <a:t>[2000H]</a:t>
            </a:r>
            <a:endParaRPr lang="en-US" altLang="zh-CN" sz="2400" dirty="0">
              <a:solidFill>
                <a:srgbClr val="FF0000"/>
              </a:solidFill>
              <a:ea typeface="楷体_GB2312" pitchFamily="49" charset="-122"/>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en-US" altLang="zh-CN" sz="2600" kern="0" dirty="0">
                <a:solidFill>
                  <a:schemeClr val="tx2"/>
                </a:solidFill>
                <a:effectLst>
                  <a:outerShdw blurRad="38100" dist="38100" dir="2700000" algn="tl">
                    <a:srgbClr val="C0C0C0"/>
                  </a:outerShdw>
                </a:effectLst>
                <a:latin typeface="+mj-lt"/>
                <a:cs typeface="+mj-cs"/>
              </a:rPr>
              <a:t>8086/8088</a:t>
            </a:r>
            <a:r>
              <a:rPr lang="zh-CN" altLang="en-US" sz="2600" kern="0" dirty="0">
                <a:solidFill>
                  <a:schemeClr val="tx2"/>
                </a:solidFill>
                <a:effectLst>
                  <a:outerShdw blurRad="38100" dist="38100" dir="2700000" algn="tl">
                    <a:srgbClr val="C0C0C0"/>
                  </a:outerShdw>
                </a:effectLst>
                <a:latin typeface="+mj-lt"/>
                <a:cs typeface="+mj-cs"/>
              </a:rPr>
              <a:t>指令概述</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611560" y="1124744"/>
            <a:ext cx="8234680" cy="51090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buFont typeface="Wingdings" panose="05000000000000000000" pitchFamily="2" charset="2"/>
              <a:buChar char="q"/>
            </a:pPr>
            <a:r>
              <a:rPr lang="en-US" altLang="zh-CN" sz="2800" dirty="0">
                <a:solidFill>
                  <a:srgbClr val="0000FF"/>
                </a:solidFill>
                <a:ea typeface="楷体_GB2312" pitchFamily="49" charset="-122"/>
              </a:rPr>
              <a:t> </a:t>
            </a:r>
            <a:r>
              <a:rPr lang="zh-CN" altLang="en-US" sz="2800" dirty="0">
                <a:solidFill>
                  <a:srgbClr val="0000FF"/>
                </a:solidFill>
                <a:ea typeface="楷体_GB2312" pitchFamily="49" charset="-122"/>
              </a:rPr>
              <a:t>操作数个数      </a:t>
            </a:r>
            <a:endParaRPr lang="en-US" altLang="zh-CN" sz="2800" dirty="0">
              <a:solidFill>
                <a:srgbClr val="0000FF"/>
              </a:solidFill>
              <a:ea typeface="楷体_GB2312" pitchFamily="49" charset="-122"/>
            </a:endParaRPr>
          </a:p>
          <a:p>
            <a:pPr algn="just"/>
            <a:endParaRPr lang="en-US" altLang="zh-CN" sz="2800" dirty="0">
              <a:solidFill>
                <a:srgbClr val="0000FF"/>
              </a:solidFill>
              <a:ea typeface="楷体_GB2312" pitchFamily="49" charset="-122"/>
            </a:endParaRPr>
          </a:p>
          <a:p>
            <a:pPr algn="just">
              <a:lnSpc>
                <a:spcPct val="150000"/>
              </a:lnSpc>
            </a:pPr>
            <a:r>
              <a:rPr lang="zh-CN" altLang="en-US" sz="2000" dirty="0">
                <a:ea typeface="楷体_GB2312" pitchFamily="49" charset="-122"/>
              </a:rPr>
              <a:t>按指令格式中，操作数个数的多少分为四类：</a:t>
            </a:r>
            <a:endParaRPr lang="en-US" altLang="zh-CN" sz="2000" dirty="0">
              <a:ea typeface="楷体_GB2312" pitchFamily="49" charset="-122"/>
            </a:endParaRPr>
          </a:p>
          <a:p>
            <a:pPr algn="just">
              <a:lnSpc>
                <a:spcPct val="150000"/>
              </a:lnSpc>
            </a:pPr>
            <a:r>
              <a:rPr lang="zh-CN" altLang="en-US" sz="2000" dirty="0">
                <a:solidFill>
                  <a:srgbClr val="FF0000"/>
                </a:solidFill>
                <a:ea typeface="楷体_GB2312" pitchFamily="49" charset="-122"/>
              </a:rPr>
              <a:t>无操作数</a:t>
            </a:r>
            <a:r>
              <a:rPr lang="en-US" altLang="zh-CN" sz="2000" dirty="0">
                <a:solidFill>
                  <a:srgbClr val="FF0000"/>
                </a:solidFill>
                <a:ea typeface="楷体_GB2312" pitchFamily="49" charset="-122"/>
              </a:rPr>
              <a:t>: </a:t>
            </a:r>
            <a:r>
              <a:rPr lang="zh-CN" altLang="en-US" sz="2000" dirty="0">
                <a:ea typeface="楷体_GB2312" pitchFamily="49" charset="-122"/>
              </a:rPr>
              <a:t>指令只有一个操作码，没有操作数</a:t>
            </a:r>
            <a:endParaRPr lang="en-US" altLang="zh-CN" sz="2000" dirty="0">
              <a:ea typeface="楷体_GB2312" pitchFamily="49" charset="-122"/>
            </a:endParaRPr>
          </a:p>
          <a:p>
            <a:pPr algn="just">
              <a:lnSpc>
                <a:spcPct val="150000"/>
              </a:lnSpc>
            </a:pPr>
            <a:r>
              <a:rPr lang="en-US" altLang="zh-CN" sz="2000" dirty="0">
                <a:ea typeface="楷体_GB2312" pitchFamily="49" charset="-122"/>
              </a:rPr>
              <a:t>	</a:t>
            </a:r>
            <a:r>
              <a:rPr lang="zh-CN" altLang="en-US" sz="2000" dirty="0">
                <a:ea typeface="楷体_GB2312" pitchFamily="49" charset="-122"/>
              </a:rPr>
              <a:t>如  </a:t>
            </a:r>
            <a:r>
              <a:rPr lang="en-US" altLang="zh-CN" sz="2000" dirty="0">
                <a:ea typeface="楷体_GB2312" pitchFamily="49" charset="-122"/>
              </a:rPr>
              <a:t>STC </a:t>
            </a:r>
            <a:r>
              <a:rPr lang="zh-CN" altLang="en-US" sz="2000" dirty="0">
                <a:solidFill>
                  <a:srgbClr val="FF0000"/>
                </a:solidFill>
                <a:ea typeface="楷体_GB2312" pitchFamily="49" charset="-122"/>
              </a:rPr>
              <a:t>（</a:t>
            </a:r>
            <a:r>
              <a:rPr lang="en-US" altLang="zh-CN" sz="2000" dirty="0">
                <a:solidFill>
                  <a:srgbClr val="FF0000"/>
                </a:solidFill>
                <a:ea typeface="楷体_GB2312" pitchFamily="49" charset="-122"/>
              </a:rPr>
              <a:t>CF=1</a:t>
            </a:r>
            <a:r>
              <a:rPr lang="zh-CN" altLang="en-US" sz="2000" dirty="0">
                <a:solidFill>
                  <a:srgbClr val="FF0000"/>
                </a:solidFill>
                <a:ea typeface="楷体_GB2312" pitchFamily="49" charset="-122"/>
              </a:rPr>
              <a:t>）</a:t>
            </a:r>
            <a:r>
              <a:rPr lang="en-US" altLang="zh-CN" sz="2000" dirty="0">
                <a:ea typeface="楷体_GB2312" pitchFamily="49" charset="-122"/>
              </a:rPr>
              <a:t>,  CLC</a:t>
            </a:r>
            <a:r>
              <a:rPr lang="zh-CN" altLang="en-US" sz="2000" dirty="0">
                <a:ea typeface="楷体_GB2312" pitchFamily="49" charset="-122"/>
              </a:rPr>
              <a:t> </a:t>
            </a:r>
            <a:r>
              <a:rPr lang="zh-CN" altLang="en-US" sz="2000" dirty="0">
                <a:solidFill>
                  <a:srgbClr val="FF0000"/>
                </a:solidFill>
                <a:ea typeface="楷体_GB2312" pitchFamily="49" charset="-122"/>
              </a:rPr>
              <a:t>（</a:t>
            </a:r>
            <a:r>
              <a:rPr lang="en-US" altLang="zh-CN" sz="2000" dirty="0">
                <a:solidFill>
                  <a:srgbClr val="FF0000"/>
                </a:solidFill>
                <a:ea typeface="楷体_GB2312" pitchFamily="49" charset="-122"/>
              </a:rPr>
              <a:t>CF=0</a:t>
            </a:r>
            <a:r>
              <a:rPr lang="zh-CN" altLang="en-US" sz="2000" dirty="0">
                <a:solidFill>
                  <a:srgbClr val="FF0000"/>
                </a:solidFill>
                <a:ea typeface="楷体_GB2312" pitchFamily="49" charset="-122"/>
              </a:rPr>
              <a:t>）</a:t>
            </a:r>
            <a:r>
              <a:rPr lang="zh-CN" altLang="en-US" sz="2000" dirty="0">
                <a:ea typeface="楷体_GB2312" pitchFamily="49" charset="-122"/>
              </a:rPr>
              <a:t>等处理机控制命令。</a:t>
            </a:r>
            <a:endParaRPr lang="en-US" altLang="zh-CN" sz="2000" dirty="0">
              <a:solidFill>
                <a:srgbClr val="FF0000"/>
              </a:solidFill>
              <a:ea typeface="楷体_GB2312" pitchFamily="49" charset="-122"/>
            </a:endParaRPr>
          </a:p>
          <a:p>
            <a:pPr algn="just">
              <a:lnSpc>
                <a:spcPct val="150000"/>
              </a:lnSpc>
            </a:pPr>
            <a:r>
              <a:rPr lang="zh-CN" altLang="en-US" sz="2000" dirty="0">
                <a:solidFill>
                  <a:srgbClr val="FF0000"/>
                </a:solidFill>
                <a:ea typeface="楷体_GB2312" pitchFamily="49" charset="-122"/>
              </a:rPr>
              <a:t>单操作数</a:t>
            </a:r>
            <a:r>
              <a:rPr lang="en-US" altLang="zh-CN" sz="2000" dirty="0">
                <a:solidFill>
                  <a:srgbClr val="FF0000"/>
                </a:solidFill>
                <a:ea typeface="楷体_GB2312" pitchFamily="49" charset="-122"/>
              </a:rPr>
              <a:t>: </a:t>
            </a:r>
            <a:r>
              <a:rPr lang="zh-CN" altLang="en-US" sz="2000" dirty="0">
                <a:ea typeface="楷体_GB2312" pitchFamily="49" charset="-122"/>
              </a:rPr>
              <a:t>指令中给出一个操作数</a:t>
            </a:r>
            <a:endParaRPr lang="en-US" altLang="zh-CN" sz="2000" dirty="0">
              <a:ea typeface="楷体_GB2312" pitchFamily="49" charset="-122"/>
            </a:endParaRPr>
          </a:p>
          <a:p>
            <a:pPr algn="just">
              <a:lnSpc>
                <a:spcPct val="150000"/>
              </a:lnSpc>
            </a:pPr>
            <a:r>
              <a:rPr lang="en-US" altLang="zh-CN" sz="2000" dirty="0">
                <a:ea typeface="楷体_GB2312" pitchFamily="49" charset="-122"/>
              </a:rPr>
              <a:t>	</a:t>
            </a:r>
            <a:r>
              <a:rPr lang="zh-CN" altLang="en-US" sz="2000" dirty="0">
                <a:ea typeface="楷体_GB2312" pitchFamily="49" charset="-122"/>
              </a:rPr>
              <a:t>如  </a:t>
            </a:r>
            <a:r>
              <a:rPr lang="en-US" altLang="zh-CN" sz="2000" dirty="0">
                <a:ea typeface="楷体_GB2312" pitchFamily="49" charset="-122"/>
              </a:rPr>
              <a:t>INC     AL         </a:t>
            </a:r>
            <a:r>
              <a:rPr lang="zh-CN" altLang="en-US" sz="2000" dirty="0">
                <a:ea typeface="楷体_GB2312" pitchFamily="49" charset="-122"/>
              </a:rPr>
              <a:t>； （</a:t>
            </a:r>
            <a:r>
              <a:rPr lang="en-US" altLang="zh-CN" sz="2000" dirty="0">
                <a:ea typeface="楷体_GB2312" pitchFamily="49" charset="-122"/>
              </a:rPr>
              <a:t>AL</a:t>
            </a:r>
            <a:r>
              <a:rPr lang="zh-CN" altLang="en-US" sz="2000" dirty="0">
                <a:ea typeface="楷体_GB2312" pitchFamily="49" charset="-122"/>
              </a:rPr>
              <a:t>） ←  （</a:t>
            </a:r>
            <a:r>
              <a:rPr lang="en-US" altLang="zh-CN" sz="2000" dirty="0">
                <a:ea typeface="楷体_GB2312" pitchFamily="49" charset="-122"/>
              </a:rPr>
              <a:t>AL</a:t>
            </a:r>
            <a:r>
              <a:rPr lang="zh-CN" altLang="en-US" sz="2000" dirty="0">
                <a:ea typeface="楷体_GB2312" pitchFamily="49" charset="-122"/>
              </a:rPr>
              <a:t>）</a:t>
            </a:r>
            <a:r>
              <a:rPr lang="en-US" altLang="zh-CN" sz="2000" dirty="0">
                <a:ea typeface="楷体_GB2312" pitchFamily="49" charset="-122"/>
              </a:rPr>
              <a:t>+ 1</a:t>
            </a:r>
            <a:endParaRPr lang="en-US" altLang="zh-CN" sz="2000" dirty="0">
              <a:ea typeface="楷体_GB2312" pitchFamily="49" charset="-122"/>
            </a:endParaRPr>
          </a:p>
          <a:p>
            <a:pPr algn="just">
              <a:lnSpc>
                <a:spcPct val="150000"/>
              </a:lnSpc>
            </a:pPr>
            <a:r>
              <a:rPr lang="zh-CN" altLang="en-US" sz="2000" dirty="0">
                <a:solidFill>
                  <a:srgbClr val="FF0000"/>
                </a:solidFill>
                <a:ea typeface="楷体_GB2312" pitchFamily="49" charset="-122"/>
              </a:rPr>
              <a:t>双操作数</a:t>
            </a:r>
            <a:r>
              <a:rPr lang="en-US" altLang="zh-CN" sz="2000" dirty="0">
                <a:solidFill>
                  <a:srgbClr val="FF0000"/>
                </a:solidFill>
                <a:ea typeface="楷体_GB2312" pitchFamily="49" charset="-122"/>
              </a:rPr>
              <a:t>: </a:t>
            </a:r>
            <a:r>
              <a:rPr lang="zh-CN" altLang="en-US" sz="2000" dirty="0">
                <a:ea typeface="楷体_GB2312" pitchFamily="49" charset="-122"/>
              </a:rPr>
              <a:t>指令中给出两个操作数</a:t>
            </a:r>
            <a:endParaRPr lang="en-US" altLang="zh-CN" sz="2000" dirty="0">
              <a:ea typeface="楷体_GB2312" pitchFamily="49" charset="-122"/>
            </a:endParaRPr>
          </a:p>
          <a:p>
            <a:pPr algn="just">
              <a:lnSpc>
                <a:spcPct val="150000"/>
              </a:lnSpc>
            </a:pPr>
            <a:r>
              <a:rPr lang="en-US" altLang="zh-CN" sz="2000" dirty="0">
                <a:ea typeface="楷体_GB2312" pitchFamily="49" charset="-122"/>
              </a:rPr>
              <a:t>	</a:t>
            </a:r>
            <a:r>
              <a:rPr lang="zh-CN" altLang="en-US" sz="2000" dirty="0">
                <a:ea typeface="楷体_GB2312" pitchFamily="49" charset="-122"/>
              </a:rPr>
              <a:t>如  </a:t>
            </a:r>
            <a:r>
              <a:rPr lang="en-US" altLang="zh-CN" sz="2000" dirty="0">
                <a:ea typeface="楷体_GB2312" pitchFamily="49" charset="-122"/>
              </a:rPr>
              <a:t>ADD     AL ,  BL         </a:t>
            </a:r>
            <a:r>
              <a:rPr lang="zh-CN" altLang="en-US" sz="2000" dirty="0">
                <a:ea typeface="楷体_GB2312" pitchFamily="49" charset="-122"/>
              </a:rPr>
              <a:t>；</a:t>
            </a:r>
            <a:r>
              <a:rPr lang="en-US" altLang="zh-CN" sz="2000" dirty="0">
                <a:ea typeface="楷体_GB2312" pitchFamily="49" charset="-122"/>
              </a:rPr>
              <a:t>(AL) ← (AL) + (BL)</a:t>
            </a:r>
            <a:endParaRPr lang="en-US" altLang="zh-CN" sz="2000" dirty="0">
              <a:ea typeface="楷体_GB2312" pitchFamily="49" charset="-122"/>
            </a:endParaRPr>
          </a:p>
          <a:p>
            <a:pPr algn="just">
              <a:lnSpc>
                <a:spcPct val="150000"/>
              </a:lnSpc>
            </a:pPr>
            <a:r>
              <a:rPr lang="zh-CN" altLang="en-US" sz="2000" dirty="0">
                <a:solidFill>
                  <a:srgbClr val="FF0000"/>
                </a:solidFill>
                <a:ea typeface="楷体_GB2312" pitchFamily="49" charset="-122"/>
              </a:rPr>
              <a:t>三操作数</a:t>
            </a:r>
            <a:r>
              <a:rPr lang="en-US" altLang="zh-CN" sz="2000" dirty="0">
                <a:solidFill>
                  <a:srgbClr val="FF0000"/>
                </a:solidFill>
                <a:ea typeface="楷体_GB2312" pitchFamily="49" charset="-122"/>
              </a:rPr>
              <a:t>: </a:t>
            </a:r>
            <a:r>
              <a:rPr lang="zh-CN" altLang="en-US" sz="2000" dirty="0">
                <a:ea typeface="楷体_GB2312" pitchFamily="49" charset="-122"/>
              </a:rPr>
              <a:t>指令中给出三个操作数</a:t>
            </a:r>
            <a:endParaRPr lang="en-US" altLang="zh-CN" sz="2000" dirty="0">
              <a:ea typeface="楷体_GB2312" pitchFamily="49" charset="-122"/>
            </a:endParaRPr>
          </a:p>
          <a:p>
            <a:pPr algn="just">
              <a:lnSpc>
                <a:spcPct val="150000"/>
              </a:lnSpc>
            </a:pPr>
            <a:r>
              <a:rPr lang="en-US" altLang="zh-CN" sz="2000" dirty="0">
                <a:ea typeface="楷体_GB2312" pitchFamily="49" charset="-122"/>
              </a:rPr>
              <a:t>	</a:t>
            </a:r>
            <a:r>
              <a:rPr lang="zh-CN" altLang="en-US" sz="2000" dirty="0">
                <a:ea typeface="楷体_GB2312" pitchFamily="49" charset="-122"/>
              </a:rPr>
              <a:t>如  </a:t>
            </a:r>
            <a:r>
              <a:rPr lang="en-US" altLang="zh-CN" sz="2000" dirty="0">
                <a:ea typeface="楷体_GB2312" pitchFamily="49" charset="-122"/>
              </a:rPr>
              <a:t>IMUL     BX, Array[100], 7 	 ; BX </a:t>
            </a:r>
            <a:r>
              <a:rPr lang="zh-CN" altLang="en-US" sz="2000" dirty="0">
                <a:ea typeface="楷体_GB2312" pitchFamily="49" charset="-122"/>
              </a:rPr>
              <a:t>← </a:t>
            </a:r>
            <a:r>
              <a:rPr lang="en-US" altLang="zh-CN" sz="2000" dirty="0">
                <a:ea typeface="楷体_GB2312" pitchFamily="49" charset="-122"/>
              </a:rPr>
              <a:t>7</a:t>
            </a:r>
            <a:r>
              <a:rPr lang="zh-CN" altLang="en-US" sz="2000" dirty="0">
                <a:ea typeface="楷体_GB2312" pitchFamily="49" charset="-122"/>
              </a:rPr>
              <a:t>*</a:t>
            </a:r>
            <a:r>
              <a:rPr lang="en-US" altLang="zh-CN" sz="2000" dirty="0">
                <a:ea typeface="楷体_GB2312" pitchFamily="49" charset="-122"/>
              </a:rPr>
              <a:t>(Array[100])</a:t>
            </a:r>
            <a:endParaRPr lang="en-US" altLang="zh-CN" sz="2000" dirty="0">
              <a:ea typeface="楷体_GB2312" pitchFamily="49" charset="-122"/>
            </a:endParaRPr>
          </a:p>
        </p:txBody>
      </p:sp>
      <p:sp>
        <p:nvSpPr>
          <p:cNvPr id="6" name="文本框 1"/>
          <p:cNvSpPr txBox="1"/>
          <p:nvPr/>
        </p:nvSpPr>
        <p:spPr>
          <a:xfrm>
            <a:off x="452120" y="317500"/>
            <a:ext cx="6392545" cy="492443"/>
          </a:xfrm>
          <a:prstGeom prst="rect">
            <a:avLst/>
          </a:prstGeom>
          <a:noFill/>
        </p:spPr>
        <p:txBody>
          <a:bodyPr wrap="square" rtlCol="0" anchor="t">
            <a:spAutoFit/>
          </a:bodyPr>
          <a:lstStyle/>
          <a:p>
            <a:r>
              <a:rPr lang="en-US" altLang="zh-CN" sz="2600" kern="0" dirty="0">
                <a:solidFill>
                  <a:schemeClr val="tx2"/>
                </a:solidFill>
                <a:effectLst>
                  <a:outerShdw blurRad="38100" dist="38100" dir="2700000" algn="tl">
                    <a:srgbClr val="C0C0C0"/>
                  </a:outerShdw>
                </a:effectLst>
                <a:latin typeface="+mj-lt"/>
                <a:cs typeface="+mj-cs"/>
              </a:rPr>
              <a:t>8086/8088</a:t>
            </a:r>
            <a:r>
              <a:rPr lang="zh-CN" altLang="en-US" sz="2600" kern="0" dirty="0">
                <a:solidFill>
                  <a:schemeClr val="tx2"/>
                </a:solidFill>
                <a:effectLst>
                  <a:outerShdw blurRad="38100" dist="38100" dir="2700000" algn="tl">
                    <a:srgbClr val="C0C0C0"/>
                  </a:outerShdw>
                </a:effectLst>
                <a:latin typeface="+mj-lt"/>
                <a:cs typeface="+mj-cs"/>
              </a:rPr>
              <a:t>指令概述</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p:cNvSpPr txBox="1">
            <a:spLocks noChangeArrowheads="1"/>
          </p:cNvSpPr>
          <p:nvPr/>
        </p:nvSpPr>
        <p:spPr bwMode="auto">
          <a:xfrm>
            <a:off x="465944" y="980728"/>
            <a:ext cx="7547756"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spcAft>
                <a:spcPts val="1200"/>
              </a:spcAft>
              <a:buFont typeface="Wingdings" panose="05000000000000000000" pitchFamily="2" charset="2"/>
              <a:buChar char="q"/>
            </a:pPr>
            <a:r>
              <a:rPr lang="en-US" altLang="zh-CN" sz="2800" dirty="0">
                <a:solidFill>
                  <a:srgbClr val="0000FF"/>
                </a:solidFill>
                <a:ea typeface="楷体_GB2312" pitchFamily="49" charset="-122"/>
              </a:rPr>
              <a:t> </a:t>
            </a:r>
            <a:r>
              <a:rPr lang="zh-CN" altLang="en-US" sz="2800" dirty="0">
                <a:solidFill>
                  <a:srgbClr val="0000FF"/>
                </a:solidFill>
                <a:ea typeface="楷体_GB2312" pitchFamily="49" charset="-122"/>
              </a:rPr>
              <a:t>操作数类型</a:t>
            </a:r>
            <a:endParaRPr lang="zh-CN" altLang="en-US" sz="2800" dirty="0">
              <a:solidFill>
                <a:srgbClr val="FF0000"/>
              </a:solidFill>
              <a:ea typeface="楷体_GB2312" pitchFamily="49" charset="-122"/>
            </a:endParaRPr>
          </a:p>
        </p:txBody>
      </p:sp>
      <p:sp>
        <p:nvSpPr>
          <p:cNvPr id="70659" name="Rectangle 3"/>
          <p:cNvSpPr>
            <a:spLocks noChangeArrowheads="1"/>
          </p:cNvSpPr>
          <p:nvPr/>
        </p:nvSpPr>
        <p:spPr bwMode="auto">
          <a:xfrm>
            <a:off x="228600" y="4274791"/>
            <a:ext cx="8123820" cy="19389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marL="800100" lvl="1" indent="-342900" algn="l">
              <a:spcAft>
                <a:spcPct val="50000"/>
              </a:spcAft>
              <a:buFont typeface="Wingdings" panose="05000000000000000000" pitchFamily="2" charset="2"/>
              <a:buChar char="u"/>
            </a:pPr>
            <a:r>
              <a:rPr lang="zh-CN" altLang="en-US" sz="2400" dirty="0">
                <a:solidFill>
                  <a:srgbClr val="FF00FF"/>
                </a:solidFill>
                <a:ea typeface="楷体_GB2312" pitchFamily="49" charset="-122"/>
              </a:rPr>
              <a:t>指令应指明</a:t>
            </a:r>
            <a:r>
              <a:rPr lang="zh-CN" altLang="en-US" sz="2400" dirty="0">
                <a:ea typeface="楷体_GB2312" pitchFamily="49" charset="-122"/>
              </a:rPr>
              <a:t>参与操作的数是</a:t>
            </a:r>
            <a:r>
              <a:rPr lang="zh-CN" altLang="en-US" sz="2400" dirty="0">
                <a:solidFill>
                  <a:srgbClr val="FF0000"/>
                </a:solidFill>
                <a:ea typeface="楷体_GB2312" pitchFamily="49" charset="-122"/>
              </a:rPr>
              <a:t>字节</a:t>
            </a:r>
            <a:r>
              <a:rPr lang="zh-CN" altLang="en-US" sz="2400" dirty="0">
                <a:ea typeface="楷体_GB2312" pitchFamily="49" charset="-122"/>
              </a:rPr>
              <a:t>还是</a:t>
            </a:r>
            <a:r>
              <a:rPr lang="zh-CN" altLang="en-US" sz="2400" dirty="0">
                <a:solidFill>
                  <a:srgbClr val="FF0000"/>
                </a:solidFill>
                <a:ea typeface="楷体_GB2312" pitchFamily="49" charset="-122"/>
              </a:rPr>
              <a:t>字</a:t>
            </a:r>
            <a:r>
              <a:rPr lang="zh-CN" altLang="en-US" sz="2400" dirty="0">
                <a:ea typeface="楷体_GB2312" pitchFamily="49" charset="-122"/>
              </a:rPr>
              <a:t>，即</a:t>
            </a:r>
            <a:r>
              <a:rPr lang="zh-CN" altLang="en-US" sz="2400" dirty="0">
                <a:solidFill>
                  <a:srgbClr val="FF00FF"/>
                </a:solidFill>
                <a:ea typeface="楷体_GB2312" pitchFamily="49" charset="-122"/>
              </a:rPr>
              <a:t>操作数的类型</a:t>
            </a:r>
            <a:r>
              <a:rPr lang="zh-CN" altLang="en-US" sz="2400" dirty="0">
                <a:ea typeface="楷体_GB2312" pitchFamily="49" charset="-122"/>
              </a:rPr>
              <a:t>。</a:t>
            </a:r>
            <a:endParaRPr lang="zh-CN" altLang="en-US" sz="2400" dirty="0">
              <a:ea typeface="楷体_GB2312" pitchFamily="49" charset="-122"/>
            </a:endParaRPr>
          </a:p>
          <a:p>
            <a:pPr marL="800100" lvl="1" indent="-342900" algn="l">
              <a:spcAft>
                <a:spcPct val="50000"/>
              </a:spcAft>
              <a:buFont typeface="Wingdings" panose="05000000000000000000" pitchFamily="2" charset="2"/>
              <a:buChar char="u"/>
            </a:pPr>
            <a:r>
              <a:rPr lang="zh-CN" altLang="en-US" sz="2400" dirty="0">
                <a:solidFill>
                  <a:srgbClr val="0000FF"/>
                </a:solidFill>
                <a:ea typeface="楷体_GB2312" pitchFamily="49" charset="-122"/>
              </a:rPr>
              <a:t>通常操作数的类型可由操作数本身隐含给出。</a:t>
            </a:r>
            <a:endParaRPr lang="zh-CN" altLang="en-US" sz="2400" dirty="0">
              <a:solidFill>
                <a:srgbClr val="0000FF"/>
              </a:solidFill>
              <a:ea typeface="楷体_GB2312" pitchFamily="49" charset="-122"/>
            </a:endParaRPr>
          </a:p>
          <a:p>
            <a:pPr marL="800100" lvl="1" indent="-342900" algn="l">
              <a:spcAft>
                <a:spcPct val="50000"/>
              </a:spcAft>
              <a:buFont typeface="Wingdings" panose="05000000000000000000" pitchFamily="2" charset="2"/>
              <a:buChar char="u"/>
            </a:pPr>
            <a:r>
              <a:rPr lang="zh-CN" altLang="en-US" sz="2400" dirty="0">
                <a:ea typeface="楷体_GB2312" pitchFamily="49" charset="-122"/>
              </a:rPr>
              <a:t>在特殊情况下需要指明。</a:t>
            </a:r>
            <a:endParaRPr lang="zh-CN" altLang="en-US" sz="2400" dirty="0">
              <a:ea typeface="楷体_GB2312" pitchFamily="49" charset="-122"/>
            </a:endParaRPr>
          </a:p>
        </p:txBody>
      </p:sp>
      <p:sp>
        <p:nvSpPr>
          <p:cNvPr id="70660" name="Rectangle 4"/>
          <p:cNvSpPr>
            <a:spLocks noChangeArrowheads="1"/>
          </p:cNvSpPr>
          <p:nvPr/>
        </p:nvSpPr>
        <p:spPr bwMode="auto">
          <a:xfrm>
            <a:off x="838200" y="1895128"/>
            <a:ext cx="7175500" cy="222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spcAft>
                <a:spcPct val="50000"/>
              </a:spcAft>
            </a:pPr>
            <a:r>
              <a:rPr lang="en-US" altLang="zh-CN" sz="2800" dirty="0">
                <a:solidFill>
                  <a:srgbClr val="FF0000"/>
                </a:solidFill>
                <a:ea typeface="楷体_GB2312" pitchFamily="49" charset="-122"/>
              </a:rPr>
              <a:t>8086/8088:</a:t>
            </a:r>
            <a:endParaRPr lang="en-US" altLang="zh-CN" sz="2800" dirty="0">
              <a:solidFill>
                <a:srgbClr val="FF0000"/>
              </a:solidFill>
              <a:ea typeface="楷体_GB2312" pitchFamily="49" charset="-122"/>
            </a:endParaRPr>
          </a:p>
          <a:p>
            <a:pPr algn="l">
              <a:spcAft>
                <a:spcPct val="50000"/>
              </a:spcAft>
            </a:pPr>
            <a:r>
              <a:rPr lang="en-US" altLang="zh-CN" sz="2800" dirty="0">
                <a:solidFill>
                  <a:srgbClr val="FF0000"/>
                </a:solidFill>
                <a:ea typeface="楷体_GB2312" pitchFamily="49" charset="-122"/>
              </a:rPr>
              <a:t>      </a:t>
            </a:r>
            <a:r>
              <a:rPr lang="zh-CN" altLang="en-US" sz="2800" dirty="0">
                <a:solidFill>
                  <a:srgbClr val="FF0000"/>
                </a:solidFill>
                <a:ea typeface="楷体_GB2312" pitchFamily="49" charset="-122"/>
              </a:rPr>
              <a:t>有的操作既可对</a:t>
            </a:r>
            <a:r>
              <a:rPr lang="zh-CN" altLang="en-US" sz="2800" dirty="0">
                <a:solidFill>
                  <a:srgbClr val="0000FF"/>
                </a:solidFill>
                <a:ea typeface="楷体_GB2312" pitchFamily="49" charset="-122"/>
              </a:rPr>
              <a:t>字节操作</a:t>
            </a:r>
            <a:r>
              <a:rPr lang="zh-CN" altLang="en-US" sz="2800" dirty="0">
                <a:solidFill>
                  <a:srgbClr val="FF0000"/>
                </a:solidFill>
                <a:ea typeface="楷体_GB2312" pitchFamily="49" charset="-122"/>
              </a:rPr>
              <a:t>，又可对字操作</a:t>
            </a:r>
            <a:endParaRPr lang="zh-CN" altLang="en-US" sz="2800" dirty="0">
              <a:solidFill>
                <a:srgbClr val="FF0000"/>
              </a:solidFill>
              <a:ea typeface="楷体_GB2312" pitchFamily="49" charset="-122"/>
            </a:endParaRPr>
          </a:p>
          <a:p>
            <a:pPr algn="l">
              <a:spcAft>
                <a:spcPct val="100000"/>
              </a:spcAft>
            </a:pPr>
            <a:r>
              <a:rPr lang="zh-CN" altLang="en-US" sz="2800" dirty="0">
                <a:solidFill>
                  <a:srgbClr val="FF0000"/>
                </a:solidFill>
                <a:ea typeface="楷体_GB2312" pitchFamily="49" charset="-122"/>
              </a:rPr>
              <a:t>      有的操作只允许</a:t>
            </a:r>
            <a:r>
              <a:rPr lang="zh-CN" altLang="en-US" sz="2800" dirty="0">
                <a:solidFill>
                  <a:srgbClr val="0000FF"/>
                </a:solidFill>
                <a:ea typeface="楷体_GB2312" pitchFamily="49" charset="-122"/>
              </a:rPr>
              <a:t>对字操作</a:t>
            </a:r>
            <a:endParaRPr lang="zh-CN" altLang="en-US" sz="2800" dirty="0">
              <a:solidFill>
                <a:srgbClr val="0000FF"/>
              </a:solidFill>
              <a:ea typeface="楷体_GB2312" pitchFamily="49" charset="-122"/>
            </a:endParaRPr>
          </a:p>
        </p:txBody>
      </p:sp>
      <p:sp>
        <p:nvSpPr>
          <p:cNvPr id="6" name="文本框 1"/>
          <p:cNvSpPr txBox="1"/>
          <p:nvPr/>
        </p:nvSpPr>
        <p:spPr>
          <a:xfrm>
            <a:off x="452120" y="317500"/>
            <a:ext cx="6392545" cy="492443"/>
          </a:xfrm>
          <a:prstGeom prst="rect">
            <a:avLst/>
          </a:prstGeom>
          <a:noFill/>
        </p:spPr>
        <p:txBody>
          <a:bodyPr wrap="square" rtlCol="0" anchor="t">
            <a:spAutoFit/>
          </a:bodyPr>
          <a:lstStyle/>
          <a:p>
            <a:r>
              <a:rPr lang="en-US" altLang="zh-CN" sz="2600" kern="0" dirty="0">
                <a:solidFill>
                  <a:schemeClr val="tx2"/>
                </a:solidFill>
                <a:effectLst>
                  <a:outerShdw blurRad="38100" dist="38100" dir="2700000" algn="tl">
                    <a:srgbClr val="C0C0C0"/>
                  </a:outerShdw>
                </a:effectLst>
                <a:latin typeface="+mj-lt"/>
                <a:cs typeface="+mj-cs"/>
              </a:rPr>
              <a:t>8086/8088</a:t>
            </a:r>
            <a:r>
              <a:rPr lang="zh-CN" altLang="en-US" sz="2600" kern="0" dirty="0">
                <a:solidFill>
                  <a:schemeClr val="tx2"/>
                </a:solidFill>
                <a:effectLst>
                  <a:outerShdw blurRad="38100" dist="38100" dir="2700000" algn="tl">
                    <a:srgbClr val="C0C0C0"/>
                  </a:outerShdw>
                </a:effectLst>
                <a:latin typeface="+mj-lt"/>
                <a:cs typeface="+mj-cs"/>
              </a:rPr>
              <a:t>指令概述</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70660"/>
                                        </p:tgtEl>
                                        <p:attrNameLst>
                                          <p:attrName>style.visibility</p:attrName>
                                        </p:attrNameLst>
                                      </p:cBhvr>
                                      <p:to>
                                        <p:strVal val="visible"/>
                                      </p:to>
                                    </p:set>
                                    <p:animEffect transition="in" filter="blinds(vertical)">
                                      <p:cBhvr>
                                        <p:cTn id="7" dur="500"/>
                                        <p:tgtEl>
                                          <p:spTgt spid="7066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70659"/>
                                        </p:tgtEl>
                                        <p:attrNameLst>
                                          <p:attrName>style.visibility</p:attrName>
                                        </p:attrNameLst>
                                      </p:cBhvr>
                                      <p:to>
                                        <p:strVal val="visible"/>
                                      </p:to>
                                    </p:set>
                                    <p:animEffect transition="in" filter="blinds(vertical)">
                                      <p:cBhvr>
                                        <p:cTn id="12" dur="500"/>
                                        <p:tgtEl>
                                          <p:spTgt spid="70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autoUpdateAnimBg="0"/>
      <p:bldP spid="7066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p:cNvSpPr txBox="1">
            <a:spLocks noChangeArrowheads="1"/>
          </p:cNvSpPr>
          <p:nvPr/>
        </p:nvSpPr>
        <p:spPr bwMode="auto">
          <a:xfrm>
            <a:off x="503548" y="1076164"/>
            <a:ext cx="776378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r>
              <a:rPr lang="en-US" altLang="zh-CN" sz="2400" dirty="0">
                <a:solidFill>
                  <a:srgbClr val="FF00FF"/>
                </a:solidFill>
                <a:ea typeface="楷体_GB2312" pitchFamily="49" charset="-122"/>
              </a:rPr>
              <a:t>①</a:t>
            </a:r>
            <a:r>
              <a:rPr lang="en-US" altLang="zh-CN" sz="2400" dirty="0">
                <a:ea typeface="楷体_GB2312" pitchFamily="49" charset="-122"/>
              </a:rPr>
              <a:t> </a:t>
            </a:r>
            <a:r>
              <a:rPr lang="zh-CN" altLang="en-US" sz="2400" dirty="0">
                <a:ea typeface="楷体_GB2312" pitchFamily="49" charset="-122"/>
              </a:rPr>
              <a:t>指令中有寄存器操作数，</a:t>
            </a:r>
            <a:r>
              <a:rPr lang="zh-CN" altLang="en-US" sz="2400" dirty="0">
                <a:solidFill>
                  <a:srgbClr val="FF3300"/>
                </a:solidFill>
                <a:ea typeface="楷体_GB2312" pitchFamily="49" charset="-122"/>
              </a:rPr>
              <a:t>由寄存器操作数决定类型</a:t>
            </a:r>
            <a:r>
              <a:rPr lang="zh-CN" altLang="en-US" sz="2400" dirty="0">
                <a:ea typeface="楷体_GB2312" pitchFamily="49" charset="-122"/>
              </a:rPr>
              <a:t>。</a:t>
            </a:r>
            <a:endParaRPr lang="zh-CN" altLang="en-US" sz="2400" dirty="0">
              <a:ea typeface="楷体_GB2312" pitchFamily="49" charset="-122"/>
            </a:endParaRPr>
          </a:p>
        </p:txBody>
      </p:sp>
      <p:sp>
        <p:nvSpPr>
          <p:cNvPr id="71684" name="Rectangle 4"/>
          <p:cNvSpPr>
            <a:spLocks noChangeArrowheads="1"/>
          </p:cNvSpPr>
          <p:nvPr/>
        </p:nvSpPr>
        <p:spPr bwMode="auto">
          <a:xfrm>
            <a:off x="404235" y="1879104"/>
            <a:ext cx="8739765" cy="27699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spcAft>
                <a:spcPct val="50000"/>
              </a:spcAft>
            </a:pPr>
            <a:r>
              <a:rPr lang="zh-CN" altLang="en-US" sz="2800" dirty="0">
                <a:solidFill>
                  <a:srgbClr val="0000FF"/>
                </a:solidFill>
                <a:ea typeface="楷体_GB2312" pitchFamily="49" charset="-122"/>
              </a:rPr>
              <a:t>例 ：  </a:t>
            </a:r>
            <a:r>
              <a:rPr lang="zh-CN" altLang="en-US" sz="2400" dirty="0">
                <a:ea typeface="楷体_GB2312" pitchFamily="49" charset="-122"/>
              </a:rPr>
              <a:t> </a:t>
            </a:r>
            <a:r>
              <a:rPr lang="en-US" altLang="zh-CN" sz="2400" dirty="0">
                <a:ea typeface="楷体_GB2312" pitchFamily="49" charset="-122"/>
              </a:rPr>
              <a:t>MOV   [BX],  </a:t>
            </a:r>
            <a:r>
              <a:rPr lang="en-US" altLang="zh-CN" sz="2400" dirty="0">
                <a:solidFill>
                  <a:srgbClr val="FF0000"/>
                </a:solidFill>
                <a:ea typeface="楷体_GB2312" pitchFamily="49" charset="-122"/>
              </a:rPr>
              <a:t>AL</a:t>
            </a:r>
            <a:r>
              <a:rPr lang="en-US" altLang="zh-CN" sz="2400" dirty="0">
                <a:ea typeface="楷体_GB2312" pitchFamily="49" charset="-122"/>
              </a:rPr>
              <a:t>       </a:t>
            </a:r>
            <a:r>
              <a:rPr lang="en-US" altLang="zh-CN" sz="2400" dirty="0">
                <a:solidFill>
                  <a:srgbClr val="FF00FF"/>
                </a:solidFill>
                <a:ea typeface="楷体_GB2312" pitchFamily="49" charset="-122"/>
              </a:rPr>
              <a:t>;</a:t>
            </a:r>
            <a:r>
              <a:rPr lang="zh-CN" altLang="en-US" sz="2400" dirty="0">
                <a:solidFill>
                  <a:srgbClr val="FF00FF"/>
                </a:solidFill>
                <a:ea typeface="楷体_GB2312" pitchFamily="49" charset="-122"/>
              </a:rPr>
              <a:t>字节操作</a:t>
            </a:r>
            <a:r>
              <a:rPr lang="en-US" altLang="zh-CN" sz="2400" dirty="0">
                <a:ea typeface="楷体_GB2312" pitchFamily="49" charset="-122"/>
              </a:rPr>
              <a:t>,  </a:t>
            </a:r>
            <a:r>
              <a:rPr lang="en-US" altLang="zh-CN" sz="2400" dirty="0">
                <a:solidFill>
                  <a:srgbClr val="FF00FF"/>
                </a:solidFill>
                <a:ea typeface="楷体_GB2312" pitchFamily="49" charset="-122"/>
              </a:rPr>
              <a:t>[BX] ← AL</a:t>
            </a:r>
            <a:endParaRPr lang="en-US" altLang="zh-CN" sz="2400" dirty="0">
              <a:solidFill>
                <a:srgbClr val="FF00FF"/>
              </a:solidFill>
              <a:ea typeface="楷体_GB2312" pitchFamily="49" charset="-122"/>
            </a:endParaRPr>
          </a:p>
          <a:p>
            <a:pPr lvl="2" algn="l">
              <a:spcAft>
                <a:spcPct val="50000"/>
              </a:spcAft>
            </a:pPr>
            <a:r>
              <a:rPr lang="en-US" altLang="zh-CN" sz="2400" dirty="0">
                <a:ea typeface="楷体_GB2312" pitchFamily="49" charset="-122"/>
              </a:rPr>
              <a:t>  MOV   [BX] , </a:t>
            </a:r>
            <a:r>
              <a:rPr lang="en-US" altLang="zh-CN" sz="2400" dirty="0">
                <a:solidFill>
                  <a:srgbClr val="FF0000"/>
                </a:solidFill>
                <a:ea typeface="楷体_GB2312" pitchFamily="49" charset="-122"/>
              </a:rPr>
              <a:t>AX</a:t>
            </a:r>
            <a:r>
              <a:rPr lang="en-US" altLang="zh-CN" sz="2400" dirty="0">
                <a:ea typeface="楷体_GB2312" pitchFamily="49" charset="-122"/>
              </a:rPr>
              <a:t>       </a:t>
            </a:r>
            <a:r>
              <a:rPr lang="en-US" altLang="zh-CN" sz="2400" dirty="0">
                <a:solidFill>
                  <a:srgbClr val="FF00FF"/>
                </a:solidFill>
                <a:ea typeface="楷体_GB2312" pitchFamily="49" charset="-122"/>
              </a:rPr>
              <a:t>;</a:t>
            </a:r>
            <a:r>
              <a:rPr lang="zh-CN" altLang="en-US" sz="2400" dirty="0">
                <a:solidFill>
                  <a:srgbClr val="FF00FF"/>
                </a:solidFill>
                <a:ea typeface="楷体_GB2312" pitchFamily="49" charset="-122"/>
              </a:rPr>
              <a:t>字操作</a:t>
            </a:r>
            <a:r>
              <a:rPr lang="en-US" altLang="zh-CN" sz="2400" dirty="0">
                <a:ea typeface="楷体_GB2312" pitchFamily="49" charset="-122"/>
              </a:rPr>
              <a:t>, </a:t>
            </a:r>
            <a:r>
              <a:rPr lang="en-US" altLang="zh-CN" sz="2400" dirty="0">
                <a:solidFill>
                  <a:srgbClr val="FF00FF"/>
                </a:solidFill>
                <a:ea typeface="楷体_GB2312" pitchFamily="49" charset="-122"/>
              </a:rPr>
              <a:t>[BX] ←AL,  [BX+1] ←AH</a:t>
            </a:r>
            <a:endParaRPr lang="en-US" altLang="zh-CN" sz="2400" dirty="0">
              <a:solidFill>
                <a:srgbClr val="FF00FF"/>
              </a:solidFill>
              <a:ea typeface="楷体_GB2312" pitchFamily="49" charset="-122"/>
            </a:endParaRPr>
          </a:p>
          <a:p>
            <a:pPr lvl="2" algn="l">
              <a:spcAft>
                <a:spcPct val="50000"/>
              </a:spcAft>
            </a:pPr>
            <a:endParaRPr lang="en-US" altLang="zh-CN" dirty="0">
              <a:solidFill>
                <a:srgbClr val="FF00FF"/>
              </a:solidFill>
              <a:ea typeface="楷体_GB2312" pitchFamily="49" charset="-122"/>
            </a:endParaRPr>
          </a:p>
          <a:p>
            <a:pPr lvl="2" algn="l">
              <a:spcAft>
                <a:spcPct val="50000"/>
              </a:spcAft>
            </a:pPr>
            <a:endParaRPr lang="en-US" altLang="zh-CN" sz="2400" dirty="0">
              <a:solidFill>
                <a:srgbClr val="FF00FF"/>
              </a:solidFill>
              <a:ea typeface="楷体_GB2312" pitchFamily="49" charset="-122"/>
            </a:endParaRPr>
          </a:p>
          <a:p>
            <a:pPr lvl="2">
              <a:spcAft>
                <a:spcPct val="50000"/>
              </a:spcAft>
            </a:pPr>
            <a:r>
              <a:rPr lang="en-US" altLang="zh-CN" dirty="0">
                <a:ea typeface="楷体_GB2312" pitchFamily="49" charset="-122"/>
              </a:rPr>
              <a:t>  MOV   BX,  </a:t>
            </a:r>
            <a:r>
              <a:rPr lang="en-US" altLang="zh-CN" dirty="0">
                <a:solidFill>
                  <a:srgbClr val="FF0000"/>
                </a:solidFill>
                <a:ea typeface="楷体_GB2312" pitchFamily="49" charset="-122"/>
              </a:rPr>
              <a:t>AL	</a:t>
            </a:r>
            <a:r>
              <a:rPr lang="zh-CN" altLang="en-US" dirty="0">
                <a:solidFill>
                  <a:srgbClr val="FF0000"/>
                </a:solidFill>
                <a:ea typeface="楷体_GB2312" pitchFamily="49" charset="-122"/>
              </a:rPr>
              <a:t>；？？？</a:t>
            </a:r>
            <a:endParaRPr lang="en-US" altLang="zh-CN" sz="2400" dirty="0">
              <a:ea typeface="楷体_GB2312" pitchFamily="49" charset="-122"/>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en-US" altLang="zh-CN" sz="2600" kern="0" dirty="0">
                <a:solidFill>
                  <a:schemeClr val="tx2"/>
                </a:solidFill>
                <a:effectLst>
                  <a:outerShdw blurRad="38100" dist="38100" dir="2700000" algn="tl">
                    <a:srgbClr val="C0C0C0"/>
                  </a:outerShdw>
                </a:effectLst>
                <a:latin typeface="+mj-lt"/>
                <a:cs typeface="+mj-cs"/>
              </a:rPr>
              <a:t>8086/8088</a:t>
            </a:r>
            <a:r>
              <a:rPr lang="zh-CN" altLang="en-US" sz="2600" kern="0" dirty="0">
                <a:solidFill>
                  <a:schemeClr val="tx2"/>
                </a:solidFill>
                <a:effectLst>
                  <a:outerShdw blurRad="38100" dist="38100" dir="2700000" algn="tl">
                    <a:srgbClr val="C0C0C0"/>
                  </a:outerShdw>
                </a:effectLst>
                <a:latin typeface="+mj-lt"/>
                <a:cs typeface="+mj-cs"/>
              </a:rPr>
              <a:t>指令概述</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p:cNvSpPr txBox="1">
            <a:spLocks noChangeArrowheads="1"/>
          </p:cNvSpPr>
          <p:nvPr/>
        </p:nvSpPr>
        <p:spPr bwMode="auto">
          <a:xfrm>
            <a:off x="381000" y="958552"/>
            <a:ext cx="8001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a:r>
              <a:rPr lang="en-US" altLang="zh-CN" sz="2400">
                <a:solidFill>
                  <a:srgbClr val="FF00FF"/>
                </a:solidFill>
                <a:ea typeface="楷体_GB2312" pitchFamily="49" charset="-122"/>
              </a:rPr>
              <a:t>②</a:t>
            </a:r>
            <a:r>
              <a:rPr lang="en-US" altLang="zh-CN" sz="2400">
                <a:ea typeface="楷体_GB2312" pitchFamily="49" charset="-122"/>
              </a:rPr>
              <a:t> </a:t>
            </a:r>
            <a:r>
              <a:rPr lang="zh-CN" altLang="en-US" sz="2400">
                <a:ea typeface="楷体_GB2312" pitchFamily="49" charset="-122"/>
              </a:rPr>
              <a:t>指令操作数中无寄存器，则</a:t>
            </a:r>
            <a:r>
              <a:rPr lang="zh-CN" altLang="en-US" sz="2400">
                <a:solidFill>
                  <a:srgbClr val="FF3300"/>
                </a:solidFill>
                <a:ea typeface="楷体_GB2312" pitchFamily="49" charset="-122"/>
              </a:rPr>
              <a:t>由内存操作数的类型决定</a:t>
            </a:r>
            <a:r>
              <a:rPr lang="zh-CN" altLang="en-US" sz="2400">
                <a:ea typeface="楷体_GB2312" pitchFamily="49" charset="-122"/>
              </a:rPr>
              <a:t>。</a:t>
            </a:r>
            <a:endParaRPr lang="zh-CN" altLang="en-US" sz="2400">
              <a:ea typeface="楷体_GB2312" pitchFamily="49" charset="-122"/>
            </a:endParaRPr>
          </a:p>
        </p:txBody>
      </p:sp>
      <p:grpSp>
        <p:nvGrpSpPr>
          <p:cNvPr id="72748" name="Group 44"/>
          <p:cNvGrpSpPr/>
          <p:nvPr/>
        </p:nvGrpSpPr>
        <p:grpSpPr bwMode="auto">
          <a:xfrm>
            <a:off x="257175" y="1857077"/>
            <a:ext cx="8582025" cy="4740275"/>
            <a:chOff x="162" y="758"/>
            <a:chExt cx="5406" cy="2986"/>
          </a:xfrm>
        </p:grpSpPr>
        <p:sp>
          <p:nvSpPr>
            <p:cNvPr id="72710" name="Rectangle 6"/>
            <p:cNvSpPr>
              <a:spLocks noChangeArrowheads="1"/>
            </p:cNvSpPr>
            <p:nvPr/>
          </p:nvSpPr>
          <p:spPr bwMode="auto">
            <a:xfrm>
              <a:off x="4940" y="1026"/>
              <a:ext cx="623" cy="1134"/>
            </a:xfrm>
            <a:prstGeom prst="rect">
              <a:avLst/>
            </a:prstGeom>
            <a:solidFill>
              <a:srgbClr val="CCFFCC"/>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a:p>
          </p:txBody>
        </p:sp>
        <p:sp>
          <p:nvSpPr>
            <p:cNvPr id="72711" name="Text Box 7"/>
            <p:cNvSpPr txBox="1">
              <a:spLocks noChangeArrowheads="1"/>
            </p:cNvSpPr>
            <p:nvPr/>
          </p:nvSpPr>
          <p:spPr bwMode="auto">
            <a:xfrm>
              <a:off x="4080" y="1382"/>
              <a:ext cx="139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FFFF"/>
                  </a:solidFill>
                  <a:miter lim="800000"/>
                  <a:headEnd/>
                  <a:tailEnd/>
                </a14:hiddenLine>
              </a:ext>
            </a:extLst>
          </p:spPr>
          <p:txBody>
            <a:bodyPr lIns="0" tIns="0" rIns="0" bIns="0"/>
            <a:lstStyle/>
            <a:p>
              <a:pPr algn="just"/>
              <a:r>
                <a:rPr lang="en-US" altLang="zh-CN" sz="2400">
                  <a:solidFill>
                    <a:srgbClr val="0000FF"/>
                  </a:solidFill>
                </a:rPr>
                <a:t>value</a:t>
              </a:r>
              <a:r>
                <a:rPr lang="en-US" altLang="zh-CN" sz="2400"/>
                <a:t>            </a:t>
              </a:r>
              <a:r>
                <a:rPr lang="en-US" altLang="zh-CN" sz="2400">
                  <a:solidFill>
                    <a:srgbClr val="FF3300"/>
                  </a:solidFill>
                </a:rPr>
                <a:t>00H</a:t>
              </a:r>
              <a:endParaRPr lang="en-US" altLang="zh-CN" sz="2200"/>
            </a:p>
          </p:txBody>
        </p:sp>
        <p:sp>
          <p:nvSpPr>
            <p:cNvPr id="72712" name="Line 8"/>
            <p:cNvSpPr>
              <a:spLocks noChangeShapeType="1"/>
            </p:cNvSpPr>
            <p:nvPr/>
          </p:nvSpPr>
          <p:spPr bwMode="auto">
            <a:xfrm flipH="1">
              <a:off x="4942" y="1033"/>
              <a:ext cx="0" cy="112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713" name="Line 9"/>
            <p:cNvSpPr>
              <a:spLocks noChangeShapeType="1"/>
            </p:cNvSpPr>
            <p:nvPr/>
          </p:nvSpPr>
          <p:spPr bwMode="auto">
            <a:xfrm>
              <a:off x="5560" y="1033"/>
              <a:ext cx="0" cy="1113"/>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714" name="Line 10"/>
            <p:cNvSpPr>
              <a:spLocks noChangeShapeType="1"/>
            </p:cNvSpPr>
            <p:nvPr/>
          </p:nvSpPr>
          <p:spPr bwMode="auto">
            <a:xfrm>
              <a:off x="4950" y="1380"/>
              <a:ext cx="610"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715" name="Line 11"/>
            <p:cNvSpPr>
              <a:spLocks noChangeShapeType="1"/>
            </p:cNvSpPr>
            <p:nvPr/>
          </p:nvSpPr>
          <p:spPr bwMode="auto">
            <a:xfrm>
              <a:off x="4950" y="1614"/>
              <a:ext cx="610"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716" name="Line 12"/>
            <p:cNvSpPr>
              <a:spLocks noChangeShapeType="1"/>
            </p:cNvSpPr>
            <p:nvPr/>
          </p:nvSpPr>
          <p:spPr bwMode="auto">
            <a:xfrm>
              <a:off x="4683" y="1509"/>
              <a:ext cx="213" cy="0"/>
            </a:xfrm>
            <a:prstGeom prst="line">
              <a:avLst/>
            </a:prstGeom>
            <a:noFill/>
            <a:ln w="127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17" name="Line 13"/>
            <p:cNvSpPr>
              <a:spLocks noChangeShapeType="1"/>
            </p:cNvSpPr>
            <p:nvPr/>
          </p:nvSpPr>
          <p:spPr bwMode="auto">
            <a:xfrm>
              <a:off x="4957" y="1864"/>
              <a:ext cx="611"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718" name="Text Box 14"/>
            <p:cNvSpPr txBox="1">
              <a:spLocks noChangeArrowheads="1"/>
            </p:cNvSpPr>
            <p:nvPr/>
          </p:nvSpPr>
          <p:spPr bwMode="auto">
            <a:xfrm>
              <a:off x="5148" y="1646"/>
              <a:ext cx="35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FFFF"/>
                  </a:solidFill>
                  <a:miter lim="800000"/>
                  <a:headEnd/>
                  <a:tailEnd/>
                </a14:hiddenLine>
              </a:ext>
            </a:extLst>
          </p:spPr>
          <p:txBody>
            <a:bodyPr lIns="0" tIns="0" rIns="0" bIns="0"/>
            <a:lstStyle/>
            <a:p>
              <a:pPr algn="just"/>
              <a:r>
                <a:rPr lang="en-US" altLang="zh-CN" sz="2400"/>
                <a:t>….</a:t>
              </a:r>
              <a:endParaRPr lang="en-US" altLang="zh-CN" sz="2400"/>
            </a:p>
          </p:txBody>
        </p:sp>
        <p:sp>
          <p:nvSpPr>
            <p:cNvPr id="72719" name="Oval 15"/>
            <p:cNvSpPr>
              <a:spLocks noChangeArrowheads="1"/>
            </p:cNvSpPr>
            <p:nvPr/>
          </p:nvSpPr>
          <p:spPr bwMode="auto">
            <a:xfrm>
              <a:off x="5202" y="1055"/>
              <a:ext cx="32" cy="34"/>
            </a:xfrm>
            <a:prstGeom prst="ellipse">
              <a:avLst/>
            </a:prstGeom>
            <a:solidFill>
              <a:srgbClr val="000000"/>
            </a:solidFill>
            <a:ln w="12700">
              <a:solidFill>
                <a:srgbClr val="000000"/>
              </a:solidFill>
              <a:round/>
            </a:ln>
          </p:spPr>
          <p:txBody>
            <a:bodyPr/>
            <a:lstStyle/>
            <a:p>
              <a:endParaRPr lang="zh-CN" altLang="en-US"/>
            </a:p>
          </p:txBody>
        </p:sp>
        <p:sp>
          <p:nvSpPr>
            <p:cNvPr id="72720" name="Oval 16"/>
            <p:cNvSpPr>
              <a:spLocks noChangeArrowheads="1"/>
            </p:cNvSpPr>
            <p:nvPr/>
          </p:nvSpPr>
          <p:spPr bwMode="auto">
            <a:xfrm>
              <a:off x="5202" y="1152"/>
              <a:ext cx="32" cy="34"/>
            </a:xfrm>
            <a:prstGeom prst="ellipse">
              <a:avLst/>
            </a:prstGeom>
            <a:solidFill>
              <a:srgbClr val="000000"/>
            </a:solidFill>
            <a:ln w="12700">
              <a:solidFill>
                <a:srgbClr val="000000"/>
              </a:solidFill>
              <a:round/>
            </a:ln>
          </p:spPr>
          <p:txBody>
            <a:bodyPr/>
            <a:lstStyle/>
            <a:p>
              <a:endParaRPr lang="zh-CN" altLang="en-US"/>
            </a:p>
          </p:txBody>
        </p:sp>
        <p:sp>
          <p:nvSpPr>
            <p:cNvPr id="72721" name="Oval 17"/>
            <p:cNvSpPr>
              <a:spLocks noChangeArrowheads="1"/>
            </p:cNvSpPr>
            <p:nvPr/>
          </p:nvSpPr>
          <p:spPr bwMode="auto">
            <a:xfrm>
              <a:off x="5202" y="1249"/>
              <a:ext cx="32" cy="34"/>
            </a:xfrm>
            <a:prstGeom prst="ellipse">
              <a:avLst/>
            </a:prstGeom>
            <a:solidFill>
              <a:srgbClr val="000000"/>
            </a:solidFill>
            <a:ln w="12700">
              <a:solidFill>
                <a:srgbClr val="000000"/>
              </a:solidFill>
              <a:round/>
            </a:ln>
          </p:spPr>
          <p:txBody>
            <a:bodyPr/>
            <a:lstStyle/>
            <a:p>
              <a:endParaRPr lang="zh-CN" altLang="en-US"/>
            </a:p>
          </p:txBody>
        </p:sp>
        <p:sp>
          <p:nvSpPr>
            <p:cNvPr id="72722" name="Oval 18"/>
            <p:cNvSpPr>
              <a:spLocks noChangeArrowheads="1"/>
            </p:cNvSpPr>
            <p:nvPr/>
          </p:nvSpPr>
          <p:spPr bwMode="auto">
            <a:xfrm>
              <a:off x="5225" y="1928"/>
              <a:ext cx="32" cy="35"/>
            </a:xfrm>
            <a:prstGeom prst="ellipse">
              <a:avLst/>
            </a:prstGeom>
            <a:solidFill>
              <a:srgbClr val="000000"/>
            </a:solidFill>
            <a:ln w="12700">
              <a:solidFill>
                <a:srgbClr val="000000"/>
              </a:solidFill>
              <a:round/>
            </a:ln>
          </p:spPr>
          <p:txBody>
            <a:bodyPr/>
            <a:lstStyle/>
            <a:p>
              <a:endParaRPr lang="zh-CN" altLang="en-US"/>
            </a:p>
          </p:txBody>
        </p:sp>
        <p:sp>
          <p:nvSpPr>
            <p:cNvPr id="72723" name="Oval 19"/>
            <p:cNvSpPr>
              <a:spLocks noChangeArrowheads="1"/>
            </p:cNvSpPr>
            <p:nvPr/>
          </p:nvSpPr>
          <p:spPr bwMode="auto">
            <a:xfrm>
              <a:off x="5225" y="2025"/>
              <a:ext cx="32" cy="35"/>
            </a:xfrm>
            <a:prstGeom prst="ellipse">
              <a:avLst/>
            </a:prstGeom>
            <a:solidFill>
              <a:srgbClr val="000000"/>
            </a:solidFill>
            <a:ln w="12700">
              <a:solidFill>
                <a:srgbClr val="000000"/>
              </a:solidFill>
              <a:round/>
            </a:ln>
          </p:spPr>
          <p:txBody>
            <a:bodyPr/>
            <a:lstStyle/>
            <a:p>
              <a:endParaRPr lang="zh-CN" altLang="en-US"/>
            </a:p>
          </p:txBody>
        </p:sp>
        <p:sp>
          <p:nvSpPr>
            <p:cNvPr id="72724" name="Oval 20"/>
            <p:cNvSpPr>
              <a:spLocks noChangeArrowheads="1"/>
            </p:cNvSpPr>
            <p:nvPr/>
          </p:nvSpPr>
          <p:spPr bwMode="auto">
            <a:xfrm>
              <a:off x="5225" y="2122"/>
              <a:ext cx="32" cy="34"/>
            </a:xfrm>
            <a:prstGeom prst="ellipse">
              <a:avLst/>
            </a:prstGeom>
            <a:solidFill>
              <a:srgbClr val="000000"/>
            </a:solidFill>
            <a:ln w="12700">
              <a:solidFill>
                <a:srgbClr val="000000"/>
              </a:solidFill>
              <a:round/>
            </a:ln>
          </p:spPr>
          <p:txBody>
            <a:bodyPr/>
            <a:lstStyle/>
            <a:p>
              <a:endParaRPr lang="zh-CN" altLang="en-US"/>
            </a:p>
          </p:txBody>
        </p:sp>
        <p:sp>
          <p:nvSpPr>
            <p:cNvPr id="72725" name="Text Box 21"/>
            <p:cNvSpPr txBox="1">
              <a:spLocks noChangeArrowheads="1"/>
            </p:cNvSpPr>
            <p:nvPr/>
          </p:nvSpPr>
          <p:spPr bwMode="auto">
            <a:xfrm>
              <a:off x="5040" y="758"/>
              <a:ext cx="47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FFFF"/>
                  </a:solidFill>
                  <a:miter lim="800000"/>
                  <a:headEnd/>
                  <a:tailEnd/>
                </a14:hiddenLine>
              </a:ext>
            </a:extLst>
          </p:spPr>
          <p:txBody>
            <a:bodyPr lIns="0" tIns="0" rIns="0" bIns="0"/>
            <a:lstStyle/>
            <a:p>
              <a:pPr algn="just"/>
              <a:r>
                <a:rPr lang="zh-CN" altLang="en-US" sz="2400">
                  <a:ea typeface="楷体_GB2312" pitchFamily="49" charset="-122"/>
                </a:rPr>
                <a:t>内存</a:t>
              </a:r>
              <a:endParaRPr lang="zh-CN" altLang="en-US" sz="4200">
                <a:solidFill>
                  <a:srgbClr val="008080"/>
                </a:solidFill>
              </a:endParaRPr>
            </a:p>
          </p:txBody>
        </p:sp>
        <p:sp>
          <p:nvSpPr>
            <p:cNvPr id="72728" name="Rectangle 24"/>
            <p:cNvSpPr>
              <a:spLocks noChangeArrowheads="1"/>
            </p:cNvSpPr>
            <p:nvPr/>
          </p:nvSpPr>
          <p:spPr bwMode="auto">
            <a:xfrm>
              <a:off x="4940" y="2610"/>
              <a:ext cx="623" cy="1134"/>
            </a:xfrm>
            <a:prstGeom prst="rect">
              <a:avLst/>
            </a:prstGeom>
            <a:solidFill>
              <a:srgbClr val="CCFFCC"/>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p>
              <a:endParaRPr lang="zh-CN" altLang="en-US"/>
            </a:p>
          </p:txBody>
        </p:sp>
        <p:sp>
          <p:nvSpPr>
            <p:cNvPr id="72729" name="Text Box 25"/>
            <p:cNvSpPr txBox="1">
              <a:spLocks noChangeArrowheads="1"/>
            </p:cNvSpPr>
            <p:nvPr/>
          </p:nvSpPr>
          <p:spPr bwMode="auto">
            <a:xfrm>
              <a:off x="4080" y="2966"/>
              <a:ext cx="139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FFFF"/>
                  </a:solidFill>
                  <a:miter lim="800000"/>
                  <a:headEnd/>
                  <a:tailEnd/>
                </a14:hiddenLine>
              </a:ext>
            </a:extLst>
          </p:spPr>
          <p:txBody>
            <a:bodyPr lIns="0" tIns="0" rIns="0" bIns="0"/>
            <a:lstStyle/>
            <a:p>
              <a:pPr algn="just"/>
              <a:r>
                <a:rPr lang="en-US" altLang="zh-CN" sz="2400">
                  <a:solidFill>
                    <a:srgbClr val="0000FF"/>
                  </a:solidFill>
                </a:rPr>
                <a:t>value</a:t>
              </a:r>
              <a:r>
                <a:rPr lang="en-US" altLang="zh-CN" sz="2400"/>
                <a:t>            </a:t>
              </a:r>
              <a:r>
                <a:rPr lang="en-US" altLang="zh-CN" sz="2400">
                  <a:solidFill>
                    <a:srgbClr val="FF3300"/>
                  </a:solidFill>
                </a:rPr>
                <a:t>00H</a:t>
              </a:r>
              <a:endParaRPr lang="en-US" altLang="zh-CN" sz="2400">
                <a:solidFill>
                  <a:srgbClr val="FF3300"/>
                </a:solidFill>
              </a:endParaRPr>
            </a:p>
          </p:txBody>
        </p:sp>
        <p:sp>
          <p:nvSpPr>
            <p:cNvPr id="72730" name="Line 26"/>
            <p:cNvSpPr>
              <a:spLocks noChangeShapeType="1"/>
            </p:cNvSpPr>
            <p:nvPr/>
          </p:nvSpPr>
          <p:spPr bwMode="auto">
            <a:xfrm flipH="1">
              <a:off x="4942" y="2617"/>
              <a:ext cx="0" cy="112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731" name="Line 27"/>
            <p:cNvSpPr>
              <a:spLocks noChangeShapeType="1"/>
            </p:cNvSpPr>
            <p:nvPr/>
          </p:nvSpPr>
          <p:spPr bwMode="auto">
            <a:xfrm>
              <a:off x="5560" y="2617"/>
              <a:ext cx="0" cy="1113"/>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732" name="Line 28"/>
            <p:cNvSpPr>
              <a:spLocks noChangeShapeType="1"/>
            </p:cNvSpPr>
            <p:nvPr/>
          </p:nvSpPr>
          <p:spPr bwMode="auto">
            <a:xfrm>
              <a:off x="4950" y="2964"/>
              <a:ext cx="610"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733" name="Line 29"/>
            <p:cNvSpPr>
              <a:spLocks noChangeShapeType="1"/>
            </p:cNvSpPr>
            <p:nvPr/>
          </p:nvSpPr>
          <p:spPr bwMode="auto">
            <a:xfrm>
              <a:off x="4950" y="3198"/>
              <a:ext cx="610"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734" name="Line 30"/>
            <p:cNvSpPr>
              <a:spLocks noChangeShapeType="1"/>
            </p:cNvSpPr>
            <p:nvPr/>
          </p:nvSpPr>
          <p:spPr bwMode="auto">
            <a:xfrm>
              <a:off x="4683" y="3093"/>
              <a:ext cx="213" cy="0"/>
            </a:xfrm>
            <a:prstGeom prst="line">
              <a:avLst/>
            </a:prstGeom>
            <a:noFill/>
            <a:ln w="127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735" name="Line 31"/>
            <p:cNvSpPr>
              <a:spLocks noChangeShapeType="1"/>
            </p:cNvSpPr>
            <p:nvPr/>
          </p:nvSpPr>
          <p:spPr bwMode="auto">
            <a:xfrm>
              <a:off x="4957" y="3448"/>
              <a:ext cx="611"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736" name="Text Box 32"/>
            <p:cNvSpPr txBox="1">
              <a:spLocks noChangeArrowheads="1"/>
            </p:cNvSpPr>
            <p:nvPr/>
          </p:nvSpPr>
          <p:spPr bwMode="auto">
            <a:xfrm>
              <a:off x="5088" y="3230"/>
              <a:ext cx="351"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FFFF"/>
                  </a:solidFill>
                  <a:miter lim="800000"/>
                  <a:headEnd/>
                  <a:tailEnd/>
                </a14:hiddenLine>
              </a:ext>
            </a:extLst>
          </p:spPr>
          <p:txBody>
            <a:bodyPr lIns="0" tIns="0" rIns="0" bIns="0"/>
            <a:lstStyle/>
            <a:p>
              <a:pPr algn="just"/>
              <a:r>
                <a:rPr lang="en-US" altLang="zh-CN" sz="2400">
                  <a:solidFill>
                    <a:srgbClr val="FF3300"/>
                  </a:solidFill>
                </a:rPr>
                <a:t>00H</a:t>
              </a:r>
              <a:endParaRPr lang="en-US" altLang="zh-CN" sz="2400"/>
            </a:p>
          </p:txBody>
        </p:sp>
        <p:sp>
          <p:nvSpPr>
            <p:cNvPr id="72737" name="Oval 33"/>
            <p:cNvSpPr>
              <a:spLocks noChangeArrowheads="1"/>
            </p:cNvSpPr>
            <p:nvPr/>
          </p:nvSpPr>
          <p:spPr bwMode="auto">
            <a:xfrm>
              <a:off x="5202" y="2639"/>
              <a:ext cx="32" cy="34"/>
            </a:xfrm>
            <a:prstGeom prst="ellipse">
              <a:avLst/>
            </a:prstGeom>
            <a:solidFill>
              <a:srgbClr val="000000"/>
            </a:solidFill>
            <a:ln w="12700">
              <a:solidFill>
                <a:srgbClr val="000000"/>
              </a:solidFill>
              <a:round/>
            </a:ln>
          </p:spPr>
          <p:txBody>
            <a:bodyPr/>
            <a:lstStyle/>
            <a:p>
              <a:endParaRPr lang="zh-CN" altLang="en-US"/>
            </a:p>
          </p:txBody>
        </p:sp>
        <p:sp>
          <p:nvSpPr>
            <p:cNvPr id="72738" name="Oval 34"/>
            <p:cNvSpPr>
              <a:spLocks noChangeArrowheads="1"/>
            </p:cNvSpPr>
            <p:nvPr/>
          </p:nvSpPr>
          <p:spPr bwMode="auto">
            <a:xfrm>
              <a:off x="5202" y="2736"/>
              <a:ext cx="32" cy="34"/>
            </a:xfrm>
            <a:prstGeom prst="ellipse">
              <a:avLst/>
            </a:prstGeom>
            <a:solidFill>
              <a:srgbClr val="000000"/>
            </a:solidFill>
            <a:ln w="12700">
              <a:solidFill>
                <a:srgbClr val="000000"/>
              </a:solidFill>
              <a:round/>
            </a:ln>
          </p:spPr>
          <p:txBody>
            <a:bodyPr/>
            <a:lstStyle/>
            <a:p>
              <a:endParaRPr lang="zh-CN" altLang="en-US"/>
            </a:p>
          </p:txBody>
        </p:sp>
        <p:sp>
          <p:nvSpPr>
            <p:cNvPr id="72739" name="Oval 35"/>
            <p:cNvSpPr>
              <a:spLocks noChangeArrowheads="1"/>
            </p:cNvSpPr>
            <p:nvPr/>
          </p:nvSpPr>
          <p:spPr bwMode="auto">
            <a:xfrm>
              <a:off x="5202" y="2833"/>
              <a:ext cx="32" cy="34"/>
            </a:xfrm>
            <a:prstGeom prst="ellipse">
              <a:avLst/>
            </a:prstGeom>
            <a:solidFill>
              <a:srgbClr val="000000"/>
            </a:solidFill>
            <a:ln w="12700">
              <a:solidFill>
                <a:srgbClr val="000000"/>
              </a:solidFill>
              <a:round/>
            </a:ln>
          </p:spPr>
          <p:txBody>
            <a:bodyPr/>
            <a:lstStyle/>
            <a:p>
              <a:endParaRPr lang="zh-CN" altLang="en-US"/>
            </a:p>
          </p:txBody>
        </p:sp>
        <p:sp>
          <p:nvSpPr>
            <p:cNvPr id="72740" name="Oval 36"/>
            <p:cNvSpPr>
              <a:spLocks noChangeArrowheads="1"/>
            </p:cNvSpPr>
            <p:nvPr/>
          </p:nvSpPr>
          <p:spPr bwMode="auto">
            <a:xfrm>
              <a:off x="5225" y="3512"/>
              <a:ext cx="32" cy="35"/>
            </a:xfrm>
            <a:prstGeom prst="ellipse">
              <a:avLst/>
            </a:prstGeom>
            <a:solidFill>
              <a:srgbClr val="000000"/>
            </a:solidFill>
            <a:ln w="12700">
              <a:solidFill>
                <a:srgbClr val="000000"/>
              </a:solidFill>
              <a:round/>
            </a:ln>
          </p:spPr>
          <p:txBody>
            <a:bodyPr/>
            <a:lstStyle/>
            <a:p>
              <a:endParaRPr lang="zh-CN" altLang="en-US"/>
            </a:p>
          </p:txBody>
        </p:sp>
        <p:sp>
          <p:nvSpPr>
            <p:cNvPr id="72741" name="Oval 37"/>
            <p:cNvSpPr>
              <a:spLocks noChangeArrowheads="1"/>
            </p:cNvSpPr>
            <p:nvPr/>
          </p:nvSpPr>
          <p:spPr bwMode="auto">
            <a:xfrm>
              <a:off x="5225" y="3609"/>
              <a:ext cx="32" cy="35"/>
            </a:xfrm>
            <a:prstGeom prst="ellipse">
              <a:avLst/>
            </a:prstGeom>
            <a:solidFill>
              <a:srgbClr val="000000"/>
            </a:solidFill>
            <a:ln w="12700">
              <a:solidFill>
                <a:srgbClr val="000000"/>
              </a:solidFill>
              <a:round/>
            </a:ln>
          </p:spPr>
          <p:txBody>
            <a:bodyPr/>
            <a:lstStyle/>
            <a:p>
              <a:endParaRPr lang="zh-CN" altLang="en-US"/>
            </a:p>
          </p:txBody>
        </p:sp>
        <p:sp>
          <p:nvSpPr>
            <p:cNvPr id="72742" name="Oval 38"/>
            <p:cNvSpPr>
              <a:spLocks noChangeArrowheads="1"/>
            </p:cNvSpPr>
            <p:nvPr/>
          </p:nvSpPr>
          <p:spPr bwMode="auto">
            <a:xfrm>
              <a:off x="5225" y="3706"/>
              <a:ext cx="32" cy="34"/>
            </a:xfrm>
            <a:prstGeom prst="ellipse">
              <a:avLst/>
            </a:prstGeom>
            <a:solidFill>
              <a:srgbClr val="000000"/>
            </a:solidFill>
            <a:ln w="12700">
              <a:solidFill>
                <a:srgbClr val="000000"/>
              </a:solidFill>
              <a:round/>
            </a:ln>
          </p:spPr>
          <p:txBody>
            <a:bodyPr/>
            <a:lstStyle/>
            <a:p>
              <a:endParaRPr lang="zh-CN" altLang="en-US"/>
            </a:p>
          </p:txBody>
        </p:sp>
        <p:sp>
          <p:nvSpPr>
            <p:cNvPr id="72745" name="Rectangle 41"/>
            <p:cNvSpPr>
              <a:spLocks noChangeArrowheads="1"/>
            </p:cNvSpPr>
            <p:nvPr/>
          </p:nvSpPr>
          <p:spPr bwMode="auto">
            <a:xfrm>
              <a:off x="162" y="864"/>
              <a:ext cx="3862" cy="27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l"/>
              <a:r>
                <a:rPr lang="zh-CN" altLang="en-US" sz="2800" i="1" dirty="0">
                  <a:solidFill>
                    <a:srgbClr val="0000FF"/>
                  </a:solidFill>
                  <a:ea typeface="楷体_GB2312" pitchFamily="49" charset="-122"/>
                </a:rPr>
                <a:t>例 </a:t>
              </a:r>
              <a:r>
                <a:rPr lang="zh-CN" altLang="en-US" sz="2400" dirty="0">
                  <a:ea typeface="楷体_GB2312" pitchFamily="49" charset="-122"/>
                </a:rPr>
                <a:t>    </a:t>
              </a:r>
              <a:r>
                <a:rPr lang="en-US" altLang="zh-CN" sz="2400" dirty="0">
                  <a:ea typeface="楷体_GB2312" pitchFamily="49" charset="-122"/>
                </a:rPr>
                <a:t>value </a:t>
              </a:r>
              <a:r>
                <a:rPr lang="zh-CN" altLang="en-US" sz="2400" dirty="0">
                  <a:ea typeface="楷体_GB2312" pitchFamily="49" charset="-122"/>
                </a:rPr>
                <a:t>是一个变量 </a:t>
              </a:r>
              <a:r>
                <a:rPr lang="en-US" altLang="zh-CN" sz="2400" dirty="0">
                  <a:ea typeface="楷体_GB2312" pitchFamily="49" charset="-122"/>
                </a:rPr>
                <a:t>(</a:t>
              </a:r>
              <a:r>
                <a:rPr lang="zh-CN" altLang="en-US" sz="2400" dirty="0">
                  <a:ea typeface="楷体_GB2312" pitchFamily="49" charset="-122"/>
                </a:rPr>
                <a:t>即内存操作数</a:t>
              </a:r>
              <a:r>
                <a:rPr lang="en-US" altLang="zh-CN" sz="2400" dirty="0">
                  <a:ea typeface="楷体_GB2312" pitchFamily="49" charset="-122"/>
                </a:rPr>
                <a:t>);</a:t>
              </a:r>
              <a:endParaRPr lang="en-US" altLang="zh-CN" sz="2400" dirty="0">
                <a:ea typeface="楷体_GB2312" pitchFamily="49" charset="-122"/>
              </a:endParaRPr>
            </a:p>
            <a:p>
              <a:pPr algn="l"/>
              <a:endParaRPr lang="en-US" altLang="zh-CN" sz="2400" dirty="0">
                <a:ea typeface="楷体_GB2312" pitchFamily="49" charset="-122"/>
              </a:endParaRPr>
            </a:p>
            <a:p>
              <a:pPr lvl="1" algn="l">
                <a:spcAft>
                  <a:spcPts val="2400"/>
                </a:spcAft>
              </a:pPr>
              <a:r>
                <a:rPr lang="en-US" altLang="zh-CN" sz="2400" dirty="0">
                  <a:ea typeface="楷体_GB2312" pitchFamily="49" charset="-122"/>
                </a:rPr>
                <a:t>   </a:t>
              </a:r>
              <a:r>
                <a:rPr lang="zh-CN" altLang="en-US" sz="2400" dirty="0">
                  <a:ea typeface="楷体_GB2312" pitchFamily="49" charset="-122"/>
                </a:rPr>
                <a:t>若定义</a:t>
              </a:r>
              <a:r>
                <a:rPr lang="en-US" altLang="zh-CN" sz="2400" dirty="0">
                  <a:solidFill>
                    <a:srgbClr val="0000FF"/>
                  </a:solidFill>
                  <a:ea typeface="楷体_GB2312" pitchFamily="49" charset="-122"/>
                </a:rPr>
                <a:t>value </a:t>
              </a:r>
              <a:r>
                <a:rPr lang="zh-CN" altLang="en-US" sz="2400" dirty="0">
                  <a:solidFill>
                    <a:srgbClr val="0000FF"/>
                  </a:solidFill>
                  <a:ea typeface="楷体_GB2312" pitchFamily="49" charset="-122"/>
                </a:rPr>
                <a:t>为字节类型</a:t>
              </a:r>
              <a:r>
                <a:rPr lang="zh-CN" altLang="en-US" sz="2400" dirty="0">
                  <a:ea typeface="楷体_GB2312" pitchFamily="49" charset="-122"/>
                </a:rPr>
                <a:t> </a:t>
              </a:r>
              <a:r>
                <a:rPr lang="en-US" altLang="zh-CN" sz="2400" dirty="0">
                  <a:ea typeface="楷体_GB2312" pitchFamily="49" charset="-122"/>
                </a:rPr>
                <a:t>:</a:t>
              </a:r>
              <a:endParaRPr lang="en-US" altLang="zh-CN" sz="2400" dirty="0">
                <a:ea typeface="楷体_GB2312" pitchFamily="49" charset="-122"/>
              </a:endParaRPr>
            </a:p>
            <a:p>
              <a:pPr lvl="1" algn="l">
                <a:spcAft>
                  <a:spcPts val="100"/>
                </a:spcAft>
              </a:pPr>
              <a:r>
                <a:rPr lang="en-US" altLang="zh-CN" sz="2400" dirty="0">
                  <a:ea typeface="楷体_GB2312" pitchFamily="49" charset="-122"/>
                </a:rPr>
                <a:t>          </a:t>
              </a:r>
              <a:r>
                <a:rPr lang="zh-CN" altLang="en-US" sz="2400" dirty="0">
                  <a:ea typeface="楷体_GB2312" pitchFamily="49" charset="-122"/>
                </a:rPr>
                <a:t>则  </a:t>
              </a:r>
              <a:r>
                <a:rPr lang="en-US" altLang="zh-CN" sz="2400" dirty="0">
                  <a:ea typeface="楷体_GB2312" pitchFamily="49" charset="-122"/>
                </a:rPr>
                <a:t>MOV  </a:t>
              </a:r>
              <a:r>
                <a:rPr lang="en-US" altLang="zh-CN" sz="2400" dirty="0">
                  <a:solidFill>
                    <a:srgbClr val="FF0000"/>
                  </a:solidFill>
                  <a:ea typeface="楷体_GB2312" pitchFamily="49" charset="-122"/>
                </a:rPr>
                <a:t>value </a:t>
              </a:r>
              <a:r>
                <a:rPr lang="en-US" altLang="zh-CN" sz="2400" dirty="0">
                  <a:ea typeface="楷体_GB2312" pitchFamily="49" charset="-122"/>
                </a:rPr>
                <a:t>, 0   </a:t>
              </a:r>
              <a:r>
                <a:rPr lang="zh-CN" altLang="en-US" sz="2400" dirty="0">
                  <a:ea typeface="楷体_GB2312" pitchFamily="49" charset="-122"/>
                </a:rPr>
                <a:t>是字节操作。</a:t>
              </a:r>
              <a:endParaRPr lang="zh-CN" altLang="en-US" sz="2400" dirty="0">
                <a:ea typeface="楷体_GB2312" pitchFamily="49" charset="-122"/>
              </a:endParaRPr>
            </a:p>
            <a:p>
              <a:pPr lvl="1" algn="l">
                <a:spcAft>
                  <a:spcPts val="100"/>
                </a:spcAft>
              </a:pPr>
              <a:r>
                <a:rPr lang="zh-CN" altLang="en-US" sz="2400" dirty="0">
                  <a:ea typeface="楷体_GB2312" pitchFamily="49" charset="-122"/>
                </a:rPr>
                <a:t>                     </a:t>
              </a:r>
              <a:endParaRPr lang="zh-CN" altLang="en-US" sz="2400" dirty="0">
                <a:ea typeface="楷体_GB2312" pitchFamily="49" charset="-122"/>
              </a:endParaRPr>
            </a:p>
            <a:p>
              <a:pPr lvl="1" algn="l">
                <a:spcAft>
                  <a:spcPts val="100"/>
                </a:spcAft>
              </a:pPr>
              <a:endParaRPr lang="zh-CN" altLang="en-US" sz="2400" dirty="0">
                <a:ea typeface="楷体_GB2312" pitchFamily="49" charset="-122"/>
              </a:endParaRPr>
            </a:p>
            <a:p>
              <a:pPr lvl="1" algn="l">
                <a:spcAft>
                  <a:spcPts val="2400"/>
                </a:spcAft>
              </a:pPr>
              <a:r>
                <a:rPr lang="zh-CN" altLang="en-US" sz="2400" dirty="0">
                  <a:ea typeface="楷体_GB2312" pitchFamily="49" charset="-122"/>
                </a:rPr>
                <a:t>   若定义</a:t>
              </a:r>
              <a:r>
                <a:rPr lang="en-US" altLang="zh-CN" sz="2400" dirty="0">
                  <a:solidFill>
                    <a:srgbClr val="0000FF"/>
                  </a:solidFill>
                  <a:ea typeface="楷体_GB2312" pitchFamily="49" charset="-122"/>
                </a:rPr>
                <a:t>value </a:t>
              </a:r>
              <a:r>
                <a:rPr lang="zh-CN" altLang="en-US" sz="2400" dirty="0">
                  <a:solidFill>
                    <a:srgbClr val="0000FF"/>
                  </a:solidFill>
                  <a:ea typeface="楷体_GB2312" pitchFamily="49" charset="-122"/>
                </a:rPr>
                <a:t>为字类型</a:t>
              </a:r>
              <a:r>
                <a:rPr lang="zh-CN" altLang="en-US" sz="2400" dirty="0">
                  <a:ea typeface="楷体_GB2312" pitchFamily="49" charset="-122"/>
                </a:rPr>
                <a:t> </a:t>
              </a:r>
              <a:r>
                <a:rPr lang="en-US" altLang="zh-CN" sz="2400" dirty="0">
                  <a:ea typeface="楷体_GB2312" pitchFamily="49" charset="-122"/>
                </a:rPr>
                <a:t>:</a:t>
              </a:r>
              <a:endParaRPr lang="en-US" altLang="zh-CN" sz="2400" dirty="0">
                <a:ea typeface="楷体_GB2312" pitchFamily="49" charset="-122"/>
              </a:endParaRPr>
            </a:p>
            <a:p>
              <a:pPr lvl="1" algn="l">
                <a:spcAft>
                  <a:spcPts val="2400"/>
                </a:spcAft>
              </a:pPr>
              <a:r>
                <a:rPr lang="en-US" altLang="zh-CN" sz="2400" dirty="0">
                  <a:ea typeface="楷体_GB2312" pitchFamily="49" charset="-122"/>
                </a:rPr>
                <a:t>         </a:t>
              </a:r>
              <a:r>
                <a:rPr lang="zh-CN" altLang="en-US" sz="2400" dirty="0">
                  <a:ea typeface="楷体_GB2312" pitchFamily="49" charset="-122"/>
                </a:rPr>
                <a:t>则  </a:t>
              </a:r>
              <a:r>
                <a:rPr lang="en-US" altLang="zh-CN" sz="2400" dirty="0">
                  <a:ea typeface="楷体_GB2312" pitchFamily="49" charset="-122"/>
                </a:rPr>
                <a:t>MOV</a:t>
              </a:r>
              <a:r>
                <a:rPr lang="en-US" altLang="zh-CN" sz="2400" dirty="0"/>
                <a:t>  </a:t>
              </a:r>
              <a:r>
                <a:rPr lang="en-US" altLang="zh-CN" sz="2400" dirty="0">
                  <a:solidFill>
                    <a:srgbClr val="FF0000"/>
                  </a:solidFill>
                </a:rPr>
                <a:t>value </a:t>
              </a:r>
              <a:r>
                <a:rPr lang="en-US" altLang="zh-CN" sz="2400" dirty="0"/>
                <a:t>, 0   </a:t>
              </a:r>
              <a:r>
                <a:rPr lang="zh-CN" altLang="en-US" sz="2400" dirty="0">
                  <a:ea typeface="楷体_GB2312" pitchFamily="49" charset="-122"/>
                </a:rPr>
                <a:t>是一个字操作</a:t>
              </a:r>
              <a:r>
                <a:rPr lang="zh-CN" altLang="en-US" sz="2400" dirty="0"/>
                <a:t>。</a:t>
              </a:r>
              <a:endParaRPr lang="zh-CN" altLang="en-US" sz="2400" dirty="0"/>
            </a:p>
            <a:p>
              <a:pPr algn="l">
                <a:spcBef>
                  <a:spcPct val="50000"/>
                </a:spcBef>
              </a:pPr>
              <a:endParaRPr lang="en-US" altLang="zh-CN" dirty="0"/>
            </a:p>
          </p:txBody>
        </p:sp>
      </p:grpSp>
      <p:sp>
        <p:nvSpPr>
          <p:cNvPr id="37" name="文本框 1"/>
          <p:cNvSpPr txBox="1"/>
          <p:nvPr/>
        </p:nvSpPr>
        <p:spPr>
          <a:xfrm>
            <a:off x="452120" y="317500"/>
            <a:ext cx="6392545" cy="492443"/>
          </a:xfrm>
          <a:prstGeom prst="rect">
            <a:avLst/>
          </a:prstGeom>
          <a:noFill/>
        </p:spPr>
        <p:txBody>
          <a:bodyPr wrap="square" rtlCol="0" anchor="t">
            <a:spAutoFit/>
          </a:bodyPr>
          <a:lstStyle/>
          <a:p>
            <a:r>
              <a:rPr lang="en-US" altLang="zh-CN" sz="2600" kern="0" dirty="0">
                <a:solidFill>
                  <a:schemeClr val="tx2"/>
                </a:solidFill>
                <a:effectLst>
                  <a:outerShdw blurRad="38100" dist="38100" dir="2700000" algn="tl">
                    <a:srgbClr val="C0C0C0"/>
                  </a:outerShdw>
                </a:effectLst>
                <a:latin typeface="+mj-lt"/>
                <a:cs typeface="+mj-cs"/>
              </a:rPr>
              <a:t>8086/8088</a:t>
            </a:r>
            <a:r>
              <a:rPr lang="zh-CN" altLang="en-US" sz="2600" kern="0" dirty="0">
                <a:solidFill>
                  <a:schemeClr val="tx2"/>
                </a:solidFill>
                <a:effectLst>
                  <a:outerShdw blurRad="38100" dist="38100" dir="2700000" algn="tl">
                    <a:srgbClr val="C0C0C0"/>
                  </a:outerShdw>
                </a:effectLst>
                <a:latin typeface="+mj-lt"/>
                <a:cs typeface="+mj-cs"/>
              </a:rPr>
              <a:t>指令概述</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a:spLocks noChangeArrowheads="1"/>
          </p:cNvSpPr>
          <p:nvPr/>
        </p:nvSpPr>
        <p:spPr bwMode="auto">
          <a:xfrm>
            <a:off x="135396" y="2032595"/>
            <a:ext cx="4304977"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lvl="2" algn="just"/>
            <a:r>
              <a:rPr lang="zh-CN" altLang="en-US" sz="3200" i="1" dirty="0">
                <a:solidFill>
                  <a:srgbClr val="0000FF"/>
                </a:solidFill>
                <a:ea typeface="楷体_GB2312" pitchFamily="49" charset="-122"/>
              </a:rPr>
              <a:t>例</a:t>
            </a:r>
            <a:r>
              <a:rPr lang="zh-CN" altLang="en-US" sz="3200" i="1" dirty="0">
                <a:ea typeface="楷体_GB2312" pitchFamily="49" charset="-122"/>
              </a:rPr>
              <a:t>  </a:t>
            </a:r>
            <a:r>
              <a:rPr lang="zh-CN" altLang="en-US" sz="2400" dirty="0">
                <a:ea typeface="楷体_GB2312" pitchFamily="49" charset="-122"/>
              </a:rPr>
              <a:t>    </a:t>
            </a:r>
            <a:r>
              <a:rPr lang="en-US" altLang="zh-CN" sz="2400" dirty="0">
                <a:ea typeface="楷体_GB2312" pitchFamily="49" charset="-122"/>
              </a:rPr>
              <a:t>MOV  [ BX ],  0      </a:t>
            </a:r>
            <a:endParaRPr lang="en-US" altLang="zh-CN" sz="2400" dirty="0">
              <a:ea typeface="楷体_GB2312" pitchFamily="49" charset="-122"/>
            </a:endParaRPr>
          </a:p>
        </p:txBody>
      </p:sp>
      <p:grpSp>
        <p:nvGrpSpPr>
          <p:cNvPr id="73731" name="Group 3"/>
          <p:cNvGrpSpPr/>
          <p:nvPr/>
        </p:nvGrpSpPr>
        <p:grpSpPr bwMode="auto">
          <a:xfrm>
            <a:off x="5292080" y="2015312"/>
            <a:ext cx="387350" cy="749300"/>
            <a:chOff x="5332" y="12997"/>
            <a:chExt cx="360" cy="360"/>
          </a:xfrm>
        </p:grpSpPr>
        <p:sp>
          <p:nvSpPr>
            <p:cNvPr id="73732" name="Line 4"/>
            <p:cNvSpPr>
              <a:spLocks noChangeShapeType="1"/>
            </p:cNvSpPr>
            <p:nvPr/>
          </p:nvSpPr>
          <p:spPr bwMode="auto">
            <a:xfrm flipH="1">
              <a:off x="5332" y="12997"/>
              <a:ext cx="340" cy="340"/>
            </a:xfrm>
            <a:prstGeom prst="line">
              <a:avLst/>
            </a:prstGeom>
            <a:noFill/>
            <a:ln w="508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3733" name="Line 5"/>
            <p:cNvSpPr>
              <a:spLocks noChangeShapeType="1"/>
            </p:cNvSpPr>
            <p:nvPr/>
          </p:nvSpPr>
          <p:spPr bwMode="auto">
            <a:xfrm>
              <a:off x="5352" y="13017"/>
              <a:ext cx="340" cy="340"/>
            </a:xfrm>
            <a:prstGeom prst="line">
              <a:avLst/>
            </a:prstGeom>
            <a:noFill/>
            <a:ln w="508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3734" name="Rectangle 6"/>
          <p:cNvSpPr>
            <a:spLocks noChangeArrowheads="1"/>
          </p:cNvSpPr>
          <p:nvPr/>
        </p:nvSpPr>
        <p:spPr bwMode="auto">
          <a:xfrm>
            <a:off x="384311" y="975320"/>
            <a:ext cx="81121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r>
              <a:rPr lang="en-US" altLang="zh-CN" sz="2400" dirty="0">
                <a:solidFill>
                  <a:srgbClr val="FF00FF"/>
                </a:solidFill>
                <a:ea typeface="楷体_GB2312" pitchFamily="49" charset="-122"/>
              </a:rPr>
              <a:t>③</a:t>
            </a:r>
            <a:r>
              <a:rPr lang="en-US" altLang="zh-CN" sz="2400" dirty="0">
                <a:ea typeface="楷体_GB2312" pitchFamily="49" charset="-122"/>
              </a:rPr>
              <a:t> </a:t>
            </a:r>
            <a:r>
              <a:rPr lang="zh-CN" altLang="en-US" sz="2400" dirty="0">
                <a:ea typeface="楷体_GB2312" pitchFamily="49" charset="-122"/>
              </a:rPr>
              <a:t>指令中无类型的依据，需对存储器操作数加类型说明。  </a:t>
            </a:r>
            <a:endParaRPr lang="zh-CN" altLang="en-US" sz="2400" dirty="0">
              <a:ea typeface="楷体_GB2312" pitchFamily="49" charset="-122"/>
            </a:endParaRPr>
          </a:p>
        </p:txBody>
      </p:sp>
      <p:sp>
        <p:nvSpPr>
          <p:cNvPr id="73736" name="Rectangle 8"/>
          <p:cNvSpPr>
            <a:spLocks noChangeArrowheads="1"/>
          </p:cNvSpPr>
          <p:nvPr/>
        </p:nvSpPr>
        <p:spPr bwMode="auto">
          <a:xfrm>
            <a:off x="533400" y="3113683"/>
            <a:ext cx="7573963" cy="3195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lvl="2" algn="l"/>
            <a:r>
              <a:rPr lang="zh-CN" altLang="en-US" sz="2400">
                <a:ea typeface="楷体_GB2312" pitchFamily="49" charset="-122"/>
              </a:rPr>
              <a:t>用 </a:t>
            </a:r>
            <a:r>
              <a:rPr lang="en-US" altLang="zh-CN" sz="2400">
                <a:solidFill>
                  <a:srgbClr val="FF0000"/>
                </a:solidFill>
                <a:ea typeface="楷体_GB2312" pitchFamily="49" charset="-122"/>
              </a:rPr>
              <a:t>PTR </a:t>
            </a:r>
            <a:r>
              <a:rPr lang="zh-CN" altLang="en-US" sz="2400">
                <a:ea typeface="楷体_GB2312" pitchFamily="49" charset="-122"/>
              </a:rPr>
              <a:t>属性伪操作说明类型。</a:t>
            </a:r>
            <a:endParaRPr lang="zh-CN" altLang="en-US" sz="2400">
              <a:ea typeface="楷体_GB2312" pitchFamily="49" charset="-122"/>
            </a:endParaRPr>
          </a:p>
          <a:p>
            <a:pPr lvl="3" algn="l"/>
            <a:endParaRPr lang="zh-CN" altLang="en-US" sz="2400">
              <a:ea typeface="楷体_GB2312" pitchFamily="49" charset="-122"/>
            </a:endParaRPr>
          </a:p>
          <a:p>
            <a:pPr lvl="3" algn="l">
              <a:spcAft>
                <a:spcPct val="50000"/>
              </a:spcAft>
            </a:pPr>
            <a:r>
              <a:rPr lang="zh-CN" altLang="en-US" sz="2400">
                <a:ea typeface="楷体_GB2312" pitchFamily="49" charset="-122"/>
              </a:rPr>
              <a:t>  </a:t>
            </a:r>
            <a:r>
              <a:rPr lang="en-US" altLang="zh-CN" sz="2400">
                <a:ea typeface="楷体_GB2312" pitchFamily="49" charset="-122"/>
              </a:rPr>
              <a:t>MOV    </a:t>
            </a:r>
            <a:r>
              <a:rPr lang="en-US" altLang="zh-CN" sz="2400">
                <a:solidFill>
                  <a:srgbClr val="FF0000"/>
                </a:solidFill>
                <a:ea typeface="楷体_GB2312" pitchFamily="49" charset="-122"/>
              </a:rPr>
              <a:t>byte  PTR</a:t>
            </a:r>
            <a:r>
              <a:rPr lang="en-US" altLang="zh-CN" sz="2400">
                <a:ea typeface="楷体_GB2312" pitchFamily="49" charset="-122"/>
              </a:rPr>
              <a:t>   [BX] , 0  </a:t>
            </a:r>
            <a:endParaRPr lang="en-US" altLang="zh-CN" sz="2400">
              <a:ea typeface="楷体_GB2312" pitchFamily="49" charset="-122"/>
            </a:endParaRPr>
          </a:p>
          <a:p>
            <a:pPr lvl="3" algn="l">
              <a:spcAft>
                <a:spcPct val="100000"/>
              </a:spcAft>
            </a:pPr>
            <a:r>
              <a:rPr lang="en-US" altLang="zh-CN" sz="2400">
                <a:ea typeface="楷体_GB2312" pitchFamily="49" charset="-122"/>
              </a:rPr>
              <a:t>                  </a:t>
            </a:r>
            <a:r>
              <a:rPr lang="en-US" altLang="zh-CN" sz="2400">
                <a:solidFill>
                  <a:srgbClr val="008080"/>
                </a:solidFill>
                <a:ea typeface="楷体_GB2312" pitchFamily="49" charset="-122"/>
              </a:rPr>
              <a:t> </a:t>
            </a:r>
            <a:r>
              <a:rPr lang="zh-CN" altLang="en-US" sz="2400">
                <a:solidFill>
                  <a:srgbClr val="0000FF"/>
                </a:solidFill>
                <a:ea typeface="楷体_GB2312" pitchFamily="49" charset="-122"/>
              </a:rPr>
              <a:t>字节操作，</a:t>
            </a:r>
            <a:r>
              <a:rPr lang="zh-CN" altLang="en-US" sz="2400">
                <a:solidFill>
                  <a:srgbClr val="008080"/>
                </a:solidFill>
                <a:ea typeface="楷体_GB2312" pitchFamily="49" charset="-122"/>
              </a:rPr>
              <a:t> </a:t>
            </a:r>
            <a:r>
              <a:rPr lang="en-US" altLang="zh-CN" sz="2400">
                <a:ea typeface="楷体_GB2312" pitchFamily="49" charset="-122"/>
              </a:rPr>
              <a:t>[ BX ] ← 0</a:t>
            </a:r>
            <a:endParaRPr lang="en-US" altLang="zh-CN" sz="2400">
              <a:solidFill>
                <a:srgbClr val="008080"/>
              </a:solidFill>
              <a:ea typeface="楷体_GB2312" pitchFamily="49" charset="-122"/>
            </a:endParaRPr>
          </a:p>
          <a:p>
            <a:pPr lvl="3" algn="l">
              <a:spcAft>
                <a:spcPct val="50000"/>
              </a:spcAft>
            </a:pPr>
            <a:r>
              <a:rPr lang="en-US" altLang="zh-CN" sz="2400">
                <a:ea typeface="楷体_GB2312" pitchFamily="49" charset="-122"/>
              </a:rPr>
              <a:t>  MOV   </a:t>
            </a:r>
            <a:r>
              <a:rPr lang="en-US" altLang="zh-CN" sz="2400">
                <a:solidFill>
                  <a:srgbClr val="FF0000"/>
                </a:solidFill>
                <a:ea typeface="楷体_GB2312" pitchFamily="49" charset="-122"/>
              </a:rPr>
              <a:t>word  PTR </a:t>
            </a:r>
            <a:r>
              <a:rPr lang="en-US" altLang="zh-CN" sz="2400">
                <a:ea typeface="楷体_GB2312" pitchFamily="49" charset="-122"/>
              </a:rPr>
              <a:t> [BX] , 0  </a:t>
            </a:r>
            <a:endParaRPr lang="en-US" altLang="zh-CN" sz="2400">
              <a:ea typeface="楷体_GB2312" pitchFamily="49" charset="-122"/>
            </a:endParaRPr>
          </a:p>
          <a:p>
            <a:pPr algn="l">
              <a:spcAft>
                <a:spcPct val="50000"/>
              </a:spcAft>
            </a:pPr>
            <a:r>
              <a:rPr lang="en-US" altLang="zh-CN" sz="2400">
                <a:ea typeface="楷体_GB2312" pitchFamily="49" charset="-122"/>
              </a:rPr>
              <a:t>                                     </a:t>
            </a:r>
            <a:r>
              <a:rPr lang="zh-CN" altLang="en-US" sz="2400">
                <a:solidFill>
                  <a:srgbClr val="0000FF"/>
                </a:solidFill>
                <a:ea typeface="楷体_GB2312" pitchFamily="49" charset="-122"/>
              </a:rPr>
              <a:t>字操作，</a:t>
            </a:r>
            <a:r>
              <a:rPr lang="zh-CN" altLang="en-US" sz="2400">
                <a:solidFill>
                  <a:srgbClr val="008080"/>
                </a:solidFill>
                <a:ea typeface="楷体_GB2312" pitchFamily="49" charset="-122"/>
              </a:rPr>
              <a:t> </a:t>
            </a:r>
            <a:r>
              <a:rPr lang="en-US" altLang="zh-CN" sz="2400">
                <a:ea typeface="楷体_GB2312" pitchFamily="49" charset="-122"/>
              </a:rPr>
              <a:t>[ BX ] ← 0, [ BX+1 ] ← 0</a:t>
            </a:r>
            <a:endParaRPr lang="en-US" altLang="zh-CN" sz="2400">
              <a:ea typeface="楷体_GB2312" pitchFamily="49" charset="-122"/>
            </a:endParaRPr>
          </a:p>
        </p:txBody>
      </p:sp>
      <p:sp>
        <p:nvSpPr>
          <p:cNvPr id="10" name="文本框 1"/>
          <p:cNvSpPr txBox="1"/>
          <p:nvPr/>
        </p:nvSpPr>
        <p:spPr>
          <a:xfrm>
            <a:off x="452120" y="317500"/>
            <a:ext cx="6392545" cy="492443"/>
          </a:xfrm>
          <a:prstGeom prst="rect">
            <a:avLst/>
          </a:prstGeom>
          <a:noFill/>
        </p:spPr>
        <p:txBody>
          <a:bodyPr wrap="square" rtlCol="0" anchor="t">
            <a:spAutoFit/>
          </a:bodyPr>
          <a:lstStyle/>
          <a:p>
            <a:r>
              <a:rPr lang="en-US" altLang="zh-CN" sz="2600" kern="0" dirty="0">
                <a:solidFill>
                  <a:schemeClr val="tx2"/>
                </a:solidFill>
                <a:effectLst>
                  <a:outerShdw blurRad="38100" dist="38100" dir="2700000" algn="tl">
                    <a:srgbClr val="C0C0C0"/>
                  </a:outerShdw>
                </a:effectLst>
                <a:latin typeface="+mj-lt"/>
                <a:cs typeface="+mj-cs"/>
              </a:rPr>
              <a:t>8086/8088</a:t>
            </a:r>
            <a:r>
              <a:rPr lang="zh-CN" altLang="en-US" sz="2600" kern="0" dirty="0">
                <a:solidFill>
                  <a:schemeClr val="tx2"/>
                </a:solidFill>
                <a:effectLst>
                  <a:outerShdw blurRad="38100" dist="38100" dir="2700000" algn="tl">
                    <a:srgbClr val="C0C0C0"/>
                  </a:outerShdw>
                </a:effectLst>
                <a:latin typeface="+mj-lt"/>
                <a:cs typeface="+mj-cs"/>
              </a:rPr>
              <a:t>指令概述</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7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7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5" fill="hold" grpId="0" nodeType="clickEffect">
                                  <p:stCondLst>
                                    <p:cond delay="0"/>
                                  </p:stCondLst>
                                  <p:childTnLst>
                                    <p:set>
                                      <p:cBhvr>
                                        <p:cTn id="14" dur="1" fill="hold">
                                          <p:stCondLst>
                                            <p:cond delay="0"/>
                                          </p:stCondLst>
                                        </p:cTn>
                                        <p:tgtEl>
                                          <p:spTgt spid="73736"/>
                                        </p:tgtEl>
                                        <p:attrNameLst>
                                          <p:attrName>style.visibility</p:attrName>
                                        </p:attrNameLst>
                                      </p:cBhvr>
                                      <p:to>
                                        <p:strVal val="visible"/>
                                      </p:to>
                                    </p:set>
                                    <p:animEffect transition="in" filter="blinds(vertical)">
                                      <p:cBhvr>
                                        <p:cTn id="15" dur="500"/>
                                        <p:tgtEl>
                                          <p:spTgt spid="737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p:bldP spid="73736"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533400" y="1052736"/>
            <a:ext cx="5523148" cy="884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buFont typeface="Wingdings" panose="05000000000000000000" pitchFamily="2" charset="2"/>
              <a:buChar char="q"/>
            </a:pPr>
            <a:r>
              <a:rPr lang="en-US" altLang="zh-CN" sz="2800" dirty="0">
                <a:solidFill>
                  <a:srgbClr val="0000FF"/>
                </a:solidFill>
                <a:ea typeface="楷体_GB2312" pitchFamily="49" charset="-122"/>
              </a:rPr>
              <a:t>  </a:t>
            </a:r>
            <a:r>
              <a:rPr lang="zh-CN" altLang="en-US" sz="2800" dirty="0">
                <a:solidFill>
                  <a:srgbClr val="0000FF"/>
                </a:solidFill>
                <a:ea typeface="楷体_GB2312" pitchFamily="49" charset="-122"/>
              </a:rPr>
              <a:t>执行速度</a:t>
            </a:r>
            <a:endParaRPr lang="zh-CN" altLang="en-US" sz="2800" dirty="0">
              <a:solidFill>
                <a:srgbClr val="0000FF"/>
              </a:solidFill>
              <a:ea typeface="楷体_GB2312" pitchFamily="49" charset="-122"/>
            </a:endParaRPr>
          </a:p>
          <a:p>
            <a:pPr algn="just"/>
            <a:endParaRPr lang="en-US" altLang="zh-CN" sz="2400" dirty="0">
              <a:ea typeface="楷体_GB2312" pitchFamily="49" charset="-122"/>
            </a:endParaRPr>
          </a:p>
        </p:txBody>
      </p:sp>
      <p:sp>
        <p:nvSpPr>
          <p:cNvPr id="74762" name="Text Box 10"/>
          <p:cNvSpPr txBox="1">
            <a:spLocks noChangeArrowheads="1"/>
          </p:cNvSpPr>
          <p:nvPr/>
        </p:nvSpPr>
        <p:spPr bwMode="auto">
          <a:xfrm>
            <a:off x="981980" y="1675656"/>
            <a:ext cx="7010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a:r>
              <a:rPr lang="zh-CN" altLang="en-US" sz="2400" dirty="0">
                <a:solidFill>
                  <a:srgbClr val="FF3300"/>
                </a:solidFill>
                <a:ea typeface="楷体_GB2312" pitchFamily="49" charset="-122"/>
              </a:rPr>
              <a:t>寄存器操作数      立即数操作数       存储器操作数</a:t>
            </a:r>
            <a:endParaRPr lang="zh-CN" altLang="en-US" sz="2400" dirty="0">
              <a:ea typeface="楷体_GB2312" pitchFamily="49" charset="-122"/>
            </a:endParaRPr>
          </a:p>
        </p:txBody>
      </p:sp>
      <p:grpSp>
        <p:nvGrpSpPr>
          <p:cNvPr id="74871" name="Group 119"/>
          <p:cNvGrpSpPr/>
          <p:nvPr/>
        </p:nvGrpSpPr>
        <p:grpSpPr bwMode="auto">
          <a:xfrm>
            <a:off x="685800" y="2362200"/>
            <a:ext cx="7696200" cy="2552700"/>
            <a:chOff x="0" y="1488"/>
            <a:chExt cx="4848" cy="1608"/>
          </a:xfrm>
        </p:grpSpPr>
        <p:sp>
          <p:nvSpPr>
            <p:cNvPr id="74865" name="Text Box 113"/>
            <p:cNvSpPr txBox="1">
              <a:spLocks noChangeArrowheads="1"/>
            </p:cNvSpPr>
            <p:nvPr/>
          </p:nvSpPr>
          <p:spPr bwMode="auto">
            <a:xfrm>
              <a:off x="0" y="1488"/>
              <a:ext cx="2448" cy="1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r>
                <a:rPr lang="zh-CN" altLang="en-US" sz="2800" i="1" dirty="0">
                  <a:solidFill>
                    <a:srgbClr val="0000FF"/>
                  </a:solidFill>
                  <a:ea typeface="楷体_GB2312" pitchFamily="49" charset="-122"/>
                </a:rPr>
                <a:t>例</a:t>
              </a:r>
              <a:r>
                <a:rPr lang="zh-CN" altLang="en-US" sz="2400" dirty="0">
                  <a:ea typeface="楷体_GB2312" pitchFamily="49" charset="-122"/>
                </a:rPr>
                <a:t>           </a:t>
              </a:r>
              <a:r>
                <a:rPr lang="en-US" altLang="zh-CN" dirty="0">
                  <a:ea typeface="楷体_GB2312" pitchFamily="49" charset="-122"/>
                  <a:sym typeface="+mn-ea"/>
                </a:rPr>
                <a:t>mov     AL , </a:t>
              </a:r>
              <a:r>
                <a:rPr lang="en-US" altLang="zh-CN" dirty="0">
                  <a:solidFill>
                    <a:srgbClr val="0000FF"/>
                  </a:solidFill>
                  <a:ea typeface="楷体_GB2312" pitchFamily="49" charset="-122"/>
                  <a:sym typeface="+mn-ea"/>
                </a:rPr>
                <a:t>0 </a:t>
              </a:r>
              <a:endParaRPr lang="en-US" altLang="zh-CN" dirty="0">
                <a:solidFill>
                  <a:srgbClr val="0000FF"/>
                </a:solidFill>
                <a:ea typeface="楷体_GB2312" pitchFamily="49" charset="-122"/>
                <a:sym typeface="+mn-ea"/>
              </a:endParaRPr>
            </a:p>
            <a:p>
              <a:pPr algn="l"/>
              <a:endParaRPr lang="en-US" altLang="zh-CN" dirty="0">
                <a:solidFill>
                  <a:srgbClr val="0000FF"/>
                </a:solidFill>
                <a:ea typeface="楷体_GB2312" pitchFamily="49" charset="-122"/>
                <a:sym typeface="+mn-ea"/>
              </a:endParaRPr>
            </a:p>
            <a:p>
              <a:pPr algn="l"/>
              <a:r>
                <a:rPr lang="en-US" altLang="zh-CN" dirty="0">
                  <a:solidFill>
                    <a:srgbClr val="0000FF"/>
                  </a:solidFill>
                  <a:ea typeface="楷体_GB2312" pitchFamily="49" charset="-122"/>
                  <a:sym typeface="+mn-ea"/>
                </a:rPr>
                <a:t>                </a:t>
              </a:r>
              <a:r>
                <a:rPr lang="en-US" altLang="zh-CN" sz="2400" dirty="0">
                  <a:ea typeface="楷体_GB2312" pitchFamily="49" charset="-122"/>
                </a:rPr>
                <a:t>mov     AL , </a:t>
              </a:r>
              <a:r>
                <a:rPr lang="en-US" altLang="zh-CN" sz="2400" dirty="0">
                  <a:solidFill>
                    <a:srgbClr val="0000FF"/>
                  </a:solidFill>
                  <a:ea typeface="楷体_GB2312" pitchFamily="49" charset="-122"/>
                </a:rPr>
                <a:t>BL</a:t>
              </a:r>
              <a:endParaRPr lang="en-US" altLang="zh-CN" sz="2400" dirty="0">
                <a:solidFill>
                  <a:srgbClr val="0000FF"/>
                </a:solidFill>
                <a:ea typeface="楷体_GB2312" pitchFamily="49" charset="-122"/>
              </a:endParaRPr>
            </a:p>
            <a:p>
              <a:pPr algn="l"/>
              <a:endParaRPr lang="en-US" altLang="zh-CN" sz="2400" dirty="0">
                <a:ea typeface="楷体_GB2312" pitchFamily="49" charset="-122"/>
              </a:endParaRPr>
            </a:p>
            <a:p>
              <a:pPr lvl="1" algn="l"/>
              <a:r>
                <a:rPr lang="en-US" altLang="zh-CN" sz="2400" dirty="0">
                  <a:ea typeface="楷体_GB2312" pitchFamily="49" charset="-122"/>
                </a:rPr>
                <a:t>          mov     AL , </a:t>
              </a:r>
              <a:r>
                <a:rPr lang="en-US" altLang="zh-CN" sz="2400" dirty="0">
                  <a:solidFill>
                    <a:srgbClr val="0000FF"/>
                  </a:solidFill>
                  <a:ea typeface="楷体_GB2312" pitchFamily="49" charset="-122"/>
                </a:rPr>
                <a:t>[ BX ]</a:t>
              </a:r>
              <a:endParaRPr lang="en-US" altLang="zh-CN" dirty="0"/>
            </a:p>
            <a:p>
              <a:pPr algn="l">
                <a:spcBef>
                  <a:spcPct val="50000"/>
                </a:spcBef>
              </a:pPr>
              <a:endParaRPr lang="en-US" altLang="zh-CN" dirty="0"/>
            </a:p>
          </p:txBody>
        </p:sp>
        <p:grpSp>
          <p:nvGrpSpPr>
            <p:cNvPr id="74870" name="Group 118"/>
            <p:cNvGrpSpPr/>
            <p:nvPr/>
          </p:nvGrpSpPr>
          <p:grpSpPr bwMode="auto">
            <a:xfrm>
              <a:off x="2544" y="1584"/>
              <a:ext cx="2304" cy="1152"/>
              <a:chOff x="3024" y="1584"/>
              <a:chExt cx="2304" cy="1152"/>
            </a:xfrm>
          </p:grpSpPr>
          <p:sp>
            <p:nvSpPr>
              <p:cNvPr id="74867" name="Text Box 115"/>
              <p:cNvSpPr txBox="1">
                <a:spLocks noChangeArrowheads="1"/>
              </p:cNvSpPr>
              <p:nvPr/>
            </p:nvSpPr>
            <p:spPr bwMode="auto">
              <a:xfrm>
                <a:off x="3360" y="1968"/>
                <a:ext cx="196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a:r>
                  <a:rPr lang="zh-CN" altLang="en-US" sz="2400">
                    <a:solidFill>
                      <a:srgbClr val="FF00FF"/>
                    </a:solidFill>
                    <a:ea typeface="楷体_GB2312" pitchFamily="49" charset="-122"/>
                  </a:rPr>
                  <a:t>哪条指令执行速度快？</a:t>
                </a:r>
                <a:endParaRPr lang="zh-CN" altLang="en-US" sz="2400">
                  <a:ea typeface="楷体_GB2312" pitchFamily="49" charset="-122"/>
                </a:endParaRPr>
              </a:p>
            </p:txBody>
          </p:sp>
          <p:sp>
            <p:nvSpPr>
              <p:cNvPr id="74869" name="AutoShape 117"/>
              <p:cNvSpPr/>
              <p:nvPr/>
            </p:nvSpPr>
            <p:spPr bwMode="auto">
              <a:xfrm>
                <a:off x="3024" y="1584"/>
                <a:ext cx="240" cy="1152"/>
              </a:xfrm>
              <a:prstGeom prst="rightBrace">
                <a:avLst>
                  <a:gd name="adj1" fmla="val 40000"/>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sp>
        <p:nvSpPr>
          <p:cNvPr id="74872" name="Text Box 120"/>
          <p:cNvSpPr txBox="1">
            <a:spLocks noChangeArrowheads="1"/>
          </p:cNvSpPr>
          <p:nvPr/>
        </p:nvSpPr>
        <p:spPr bwMode="auto">
          <a:xfrm>
            <a:off x="533400" y="4437112"/>
            <a:ext cx="7386972" cy="21236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l">
              <a:spcBef>
                <a:spcPct val="50000"/>
              </a:spcBef>
            </a:pPr>
            <a:r>
              <a:rPr lang="zh-CN" altLang="en-US" sz="2400" dirty="0">
                <a:ea typeface="楷体_GB2312" pitchFamily="49" charset="-122"/>
              </a:rPr>
              <a:t>三条指令：</a:t>
            </a:r>
            <a:endParaRPr lang="zh-CN" altLang="en-US" sz="2400" dirty="0">
              <a:ea typeface="楷体_GB2312" pitchFamily="49" charset="-122"/>
            </a:endParaRPr>
          </a:p>
          <a:p>
            <a:pPr marL="800100" lvl="1" indent="-342900">
              <a:spcBef>
                <a:spcPct val="50000"/>
              </a:spcBef>
              <a:buFont typeface="Wingdings" panose="05000000000000000000" pitchFamily="2" charset="2"/>
              <a:buChar char="u"/>
            </a:pPr>
            <a:r>
              <a:rPr lang="zh-CN" altLang="en-US" dirty="0">
                <a:ea typeface="楷体_GB2312" pitchFamily="49" charset="-122"/>
              </a:rPr>
              <a:t>操作类型相同，都是传送指令（传送一个字节）</a:t>
            </a:r>
            <a:endParaRPr lang="en-US" altLang="zh-CN" dirty="0">
              <a:ea typeface="楷体_GB2312" pitchFamily="49" charset="-122"/>
            </a:endParaRPr>
          </a:p>
          <a:p>
            <a:pPr marL="800100" lvl="1" indent="-342900">
              <a:spcBef>
                <a:spcPct val="50000"/>
              </a:spcBef>
              <a:buFont typeface="Wingdings" panose="05000000000000000000" pitchFamily="2" charset="2"/>
              <a:buChar char="u"/>
            </a:pPr>
            <a:r>
              <a:rPr lang="zh-CN" altLang="en-US" dirty="0">
                <a:ea typeface="楷体_GB2312" pitchFamily="49" charset="-122"/>
              </a:rPr>
              <a:t>且目的操作数相同</a:t>
            </a:r>
            <a:endParaRPr lang="zh-CN" altLang="en-US" dirty="0">
              <a:ea typeface="楷体_GB2312" pitchFamily="49" charset="-122"/>
            </a:endParaRPr>
          </a:p>
          <a:p>
            <a:pPr marL="800100" lvl="1" indent="-342900">
              <a:spcBef>
                <a:spcPct val="50000"/>
              </a:spcBef>
              <a:buFont typeface="Wingdings" panose="05000000000000000000" pitchFamily="2" charset="2"/>
              <a:buChar char="u"/>
            </a:pPr>
            <a:r>
              <a:rPr lang="zh-CN" altLang="en-US" dirty="0">
                <a:ea typeface="楷体_GB2312" pitchFamily="49" charset="-122"/>
              </a:rPr>
              <a:t>仅源操作数不同</a:t>
            </a:r>
            <a:endParaRPr lang="zh-CN" altLang="en-US" dirty="0">
              <a:ea typeface="楷体_GB2312" pitchFamily="49" charset="-122"/>
            </a:endParaRPr>
          </a:p>
        </p:txBody>
      </p:sp>
      <p:sp>
        <p:nvSpPr>
          <p:cNvPr id="11" name="文本框 1"/>
          <p:cNvSpPr txBox="1"/>
          <p:nvPr/>
        </p:nvSpPr>
        <p:spPr>
          <a:xfrm>
            <a:off x="452120" y="317500"/>
            <a:ext cx="6392545" cy="492443"/>
          </a:xfrm>
          <a:prstGeom prst="rect">
            <a:avLst/>
          </a:prstGeom>
          <a:noFill/>
        </p:spPr>
        <p:txBody>
          <a:bodyPr wrap="square" rtlCol="0" anchor="t">
            <a:spAutoFit/>
          </a:bodyPr>
          <a:lstStyle/>
          <a:p>
            <a:r>
              <a:rPr lang="en-US" altLang="zh-CN" sz="2600" kern="0" dirty="0">
                <a:solidFill>
                  <a:schemeClr val="tx2"/>
                </a:solidFill>
                <a:effectLst>
                  <a:outerShdw blurRad="38100" dist="38100" dir="2700000" algn="tl">
                    <a:srgbClr val="C0C0C0"/>
                  </a:outerShdw>
                </a:effectLst>
                <a:latin typeface="+mj-lt"/>
                <a:cs typeface="+mj-cs"/>
              </a:rPr>
              <a:t>8086/8088</a:t>
            </a:r>
            <a:r>
              <a:rPr lang="zh-CN" altLang="en-US" sz="2600" kern="0" dirty="0">
                <a:solidFill>
                  <a:schemeClr val="tx2"/>
                </a:solidFill>
                <a:effectLst>
                  <a:outerShdw blurRad="38100" dist="38100" dir="2700000" algn="tl">
                    <a:srgbClr val="C0C0C0"/>
                  </a:outerShdw>
                </a:effectLst>
                <a:latin typeface="+mj-lt"/>
                <a:cs typeface="+mj-cs"/>
              </a:rPr>
              <a:t>指令概述</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矩形 130049"/>
          <p:cNvSpPr/>
          <p:nvPr/>
        </p:nvSpPr>
        <p:spPr>
          <a:xfrm>
            <a:off x="1447800" y="3352800"/>
            <a:ext cx="7696200" cy="457200"/>
          </a:xfrm>
          <a:prstGeom prst="rect">
            <a:avLst/>
          </a:prstGeom>
          <a:noFill/>
          <a:ln w="9525">
            <a:noFill/>
          </a:ln>
        </p:spPr>
        <p:txBody>
          <a:bodyPr>
            <a:spAutoFit/>
          </a:bodyPr>
          <a:lstStyle/>
          <a:p>
            <a:pPr algn="just">
              <a:buClr>
                <a:schemeClr val="bg1"/>
              </a:buClr>
            </a:pPr>
            <a:endParaRPr lang="zh-CN" altLang="en-US" dirty="0">
              <a:latin typeface="Times New Roman" panose="02020603050405020304" pitchFamily="18" charset="0"/>
              <a:ea typeface="宋体" panose="02010600030101010101" pitchFamily="2" charset="-122"/>
            </a:endParaRPr>
          </a:p>
        </p:txBody>
      </p:sp>
      <p:sp>
        <p:nvSpPr>
          <p:cNvPr id="130051" name="矩形 130050"/>
          <p:cNvSpPr/>
          <p:nvPr/>
        </p:nvSpPr>
        <p:spPr>
          <a:xfrm>
            <a:off x="533400" y="980728"/>
            <a:ext cx="8035044" cy="3173176"/>
          </a:xfrm>
          <a:prstGeom prst="rect">
            <a:avLst/>
          </a:prstGeom>
          <a:noFill/>
          <a:ln w="9525">
            <a:noFill/>
          </a:ln>
        </p:spPr>
        <p:txBody>
          <a:bodyPr wrap="square">
            <a:spAutoFit/>
          </a:bodyPr>
          <a:lstStyle/>
          <a:p>
            <a:pPr algn="l">
              <a:spcBef>
                <a:spcPct val="50000"/>
              </a:spcBef>
              <a:buClr>
                <a:schemeClr val="bg1"/>
              </a:buClr>
            </a:pPr>
            <a:r>
              <a:rPr lang="zh-CN" altLang="en-US" b="1" dirty="0">
                <a:latin typeface="华文宋体" panose="02010600040101010101" pitchFamily="2" charset="-122"/>
                <a:ea typeface="华文宋体" panose="02010600040101010101" pitchFamily="2" charset="-122"/>
              </a:rPr>
              <a:t>2、</a:t>
            </a:r>
            <a:r>
              <a:rPr lang="zh-CN" altLang="en-US" sz="2200" b="1" dirty="0">
                <a:latin typeface="华文宋体" panose="02010600040101010101" pitchFamily="2" charset="-122"/>
                <a:ea typeface="华文宋体" panose="02010600040101010101" pitchFamily="2" charset="-122"/>
              </a:rPr>
              <a:t>伪指令语句 </a:t>
            </a:r>
            <a:endParaRPr lang="zh-CN" altLang="en-US" sz="2200" b="1" dirty="0">
              <a:latin typeface="华文宋体" panose="02010600040101010101" pitchFamily="2" charset="-122"/>
              <a:ea typeface="华文宋体" panose="02010600040101010101" pitchFamily="2" charset="-122"/>
            </a:endParaRPr>
          </a:p>
          <a:p>
            <a:pPr algn="l">
              <a:spcBef>
                <a:spcPct val="30000"/>
              </a:spcBef>
              <a:buClr>
                <a:schemeClr val="bg1"/>
              </a:buClr>
            </a:pPr>
            <a:r>
              <a:rPr lang="zh-CN" altLang="en-US" sz="2200" b="1" dirty="0">
                <a:latin typeface="华文宋体" panose="02010600040101010101" pitchFamily="2" charset="-122"/>
                <a:ea typeface="华文宋体" panose="02010600040101010101" pitchFamily="2" charset="-122"/>
              </a:rPr>
              <a:t>    伪指令语句指示汇编程序在汇编源程序时完成某些工作，比如完成数据定义、分配存储区、指示程序结束等。</a:t>
            </a:r>
            <a:endParaRPr lang="zh-CN" altLang="en-US" sz="2200" b="1" dirty="0">
              <a:latin typeface="华文宋体" panose="02010600040101010101" pitchFamily="2" charset="-122"/>
              <a:ea typeface="华文宋体" panose="02010600040101010101" pitchFamily="2" charset="-122"/>
            </a:endParaRPr>
          </a:p>
          <a:p>
            <a:pPr algn="just">
              <a:spcBef>
                <a:spcPct val="30000"/>
              </a:spcBef>
              <a:buClr>
                <a:schemeClr val="bg1"/>
              </a:buClr>
            </a:pPr>
            <a:r>
              <a:rPr lang="zh-CN" altLang="en-US" sz="2200" b="1" dirty="0">
                <a:latin typeface="华文宋体" panose="02010600040101010101" pitchFamily="2" charset="-122"/>
                <a:ea typeface="华文宋体" panose="02010600040101010101" pitchFamily="2" charset="-122"/>
              </a:rPr>
              <a:t>    </a:t>
            </a:r>
            <a:r>
              <a:rPr lang="zh-CN" altLang="en-US" sz="2200" b="1" dirty="0">
                <a:solidFill>
                  <a:srgbClr val="FF0000"/>
                </a:solidFill>
                <a:latin typeface="华文宋体" panose="02010600040101010101" pitchFamily="2" charset="-122"/>
                <a:ea typeface="华文宋体" panose="02010600040101010101" pitchFamily="2" charset="-122"/>
              </a:rPr>
              <a:t>伪指令属于汇编控制命令，它所指示的操作是由汇编程序在汇编源程序时完成的，在汇编时，它不产生目标代码，在将源程序汇编成目标程序后，它就不复存在了</a:t>
            </a:r>
            <a:r>
              <a:rPr lang="zh-CN" altLang="en-US" sz="2200" b="1" dirty="0">
                <a:latin typeface="华文宋体" panose="02010600040101010101" pitchFamily="2" charset="-122"/>
                <a:ea typeface="华文宋体" panose="02010600040101010101" pitchFamily="2" charset="-122"/>
              </a:rPr>
              <a:t>。</a:t>
            </a:r>
            <a:r>
              <a:rPr lang="zh-CN" altLang="en-US" sz="2000" dirty="0">
                <a:latin typeface="华文宋体" panose="02010600040101010101" pitchFamily="2" charset="-122"/>
                <a:ea typeface="华文宋体" panose="02010600040101010101" pitchFamily="2" charset="-122"/>
              </a:rPr>
              <a:t>一条伪指令语句也由四个字段组成，其一般格式如下：</a:t>
            </a:r>
            <a:endParaRPr lang="zh-CN" altLang="en-US" sz="2000" dirty="0">
              <a:latin typeface="华文宋体" panose="02010600040101010101" pitchFamily="2" charset="-122"/>
              <a:ea typeface="华文宋体" panose="02010600040101010101" pitchFamily="2" charset="-122"/>
            </a:endParaRPr>
          </a:p>
          <a:p>
            <a:pPr algn="just">
              <a:spcBef>
                <a:spcPct val="50000"/>
              </a:spcBef>
              <a:buClr>
                <a:schemeClr val="bg1"/>
              </a:buClr>
            </a:pPr>
            <a:r>
              <a:rPr lang="zh-CN" altLang="en-US" sz="2000" dirty="0">
                <a:solidFill>
                  <a:srgbClr val="0000FF"/>
                </a:solidFill>
                <a:latin typeface="华文宋体" panose="02010600040101010101" pitchFamily="2" charset="-122"/>
                <a:ea typeface="华文宋体" panose="02010600040101010101" pitchFamily="2" charset="-122"/>
              </a:rPr>
              <a:t>  [变量名]　伪操作码　</a:t>
            </a:r>
            <a:r>
              <a:rPr lang="en-US" altLang="zh-CN" sz="2000" dirty="0">
                <a:solidFill>
                  <a:srgbClr val="0000FF"/>
                </a:solidFill>
                <a:latin typeface="华文宋体" panose="02010600040101010101" pitchFamily="2" charset="-122"/>
                <a:ea typeface="华文宋体" panose="02010600040101010101" pitchFamily="2" charset="-122"/>
              </a:rPr>
              <a:t>[</a:t>
            </a:r>
            <a:r>
              <a:rPr lang="zh-CN" altLang="en-US" sz="2000" dirty="0">
                <a:solidFill>
                  <a:srgbClr val="0000FF"/>
                </a:solidFill>
                <a:latin typeface="华文宋体" panose="02010600040101010101" pitchFamily="2" charset="-122"/>
                <a:ea typeface="华文宋体" panose="02010600040101010101" pitchFamily="2" charset="-122"/>
              </a:rPr>
              <a:t>操作数</a:t>
            </a:r>
            <a:r>
              <a:rPr lang="en-US" altLang="zh-CN" sz="2000" dirty="0">
                <a:solidFill>
                  <a:srgbClr val="0000FF"/>
                </a:solidFill>
                <a:latin typeface="华文宋体" panose="02010600040101010101" pitchFamily="2" charset="-122"/>
                <a:ea typeface="华文宋体" panose="02010600040101010101" pitchFamily="2" charset="-122"/>
              </a:rPr>
              <a:t>]</a:t>
            </a:r>
            <a:r>
              <a:rPr lang="zh-CN" altLang="en-US" sz="2000" dirty="0">
                <a:solidFill>
                  <a:srgbClr val="0000FF"/>
                </a:solidFill>
                <a:latin typeface="华文宋体" panose="02010600040101010101" pitchFamily="2" charset="-122"/>
                <a:ea typeface="华文宋体" panose="02010600040101010101" pitchFamily="2" charset="-122"/>
              </a:rPr>
              <a:t>　[；注释]</a:t>
            </a:r>
            <a:r>
              <a:rPr lang="zh-CN" altLang="en-US" sz="2200" b="1" dirty="0">
                <a:latin typeface="华文宋体" panose="02010600040101010101" pitchFamily="2" charset="-122"/>
                <a:ea typeface="华文宋体" panose="02010600040101010101" pitchFamily="2" charset="-122"/>
              </a:rPr>
              <a:t>   </a:t>
            </a:r>
            <a:endParaRPr lang="zh-CN" altLang="en-US" sz="2200" b="1" dirty="0">
              <a:solidFill>
                <a:srgbClr val="FF0000"/>
              </a:solidFill>
              <a:latin typeface="华文宋体" panose="02010600040101010101" pitchFamily="2" charset="-122"/>
              <a:ea typeface="华文宋体" panose="02010600040101010101" pitchFamily="2" charset="-122"/>
            </a:endParaRPr>
          </a:p>
        </p:txBody>
      </p:sp>
      <p:sp>
        <p:nvSpPr>
          <p:cNvPr id="6" name="文本框 1"/>
          <p:cNvSpPr txBox="1"/>
          <p:nvPr/>
        </p:nvSpPr>
        <p:spPr>
          <a:xfrm>
            <a:off x="452120" y="317500"/>
            <a:ext cx="6392545" cy="892552"/>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汇编语言语句的基本格式</a:t>
            </a:r>
            <a:endParaRPr lang="zh-CN" altLang="en-US" sz="2600" kern="0" dirty="0">
              <a:solidFill>
                <a:schemeClr val="tx2"/>
              </a:solidFill>
              <a:effectLst>
                <a:outerShdw blurRad="38100" dist="38100" dir="2700000" algn="tl">
                  <a:srgbClr val="C0C0C0"/>
                </a:outerShdw>
              </a:effectLst>
              <a:latin typeface="+mj-lt"/>
              <a:cs typeface="+mj-cs"/>
            </a:endParaRPr>
          </a:p>
          <a:p>
            <a:pPr algn="l"/>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533400" y="4537107"/>
            <a:ext cx="7992888" cy="1988237"/>
          </a:xfrm>
          <a:prstGeom prst="rect">
            <a:avLst/>
          </a:prstGeom>
        </p:spPr>
        <p:txBody>
          <a:bodyPr wrap="square">
            <a:spAutoFit/>
          </a:bodyPr>
          <a:lstStyle/>
          <a:p>
            <a:pPr algn="just">
              <a:spcBef>
                <a:spcPct val="30000"/>
              </a:spcBef>
              <a:buClr>
                <a:schemeClr val="bg1"/>
              </a:buClr>
            </a:pPr>
            <a:r>
              <a:rPr lang="zh-CN" altLang="en-US" sz="2200" dirty="0">
                <a:latin typeface="华文宋体" panose="02010600040101010101" pitchFamily="2" charset="-122"/>
                <a:ea typeface="华文宋体" panose="02010600040101010101" pitchFamily="2" charset="-122"/>
              </a:rPr>
              <a:t>由上可知，伪指令语句与指令语句的主要区别是：</a:t>
            </a:r>
            <a:endParaRPr lang="en-US" altLang="zh-CN" sz="2200" dirty="0">
              <a:latin typeface="华文宋体" panose="02010600040101010101" pitchFamily="2" charset="-122"/>
              <a:ea typeface="华文宋体" panose="02010600040101010101" pitchFamily="2" charset="-122"/>
            </a:endParaRPr>
          </a:p>
          <a:p>
            <a:pPr marL="342900" indent="-342900" algn="just">
              <a:spcBef>
                <a:spcPct val="30000"/>
              </a:spcBef>
              <a:buFont typeface="Wingdings" panose="05000000000000000000" pitchFamily="2" charset="2"/>
              <a:buChar char="u"/>
            </a:pPr>
            <a:r>
              <a:rPr lang="zh-CN" altLang="en-US" sz="2200" dirty="0">
                <a:solidFill>
                  <a:srgbClr val="FF0000"/>
                </a:solidFill>
                <a:latin typeface="华文宋体" panose="02010600040101010101" pitchFamily="2" charset="-122"/>
                <a:ea typeface="华文宋体" panose="02010600040101010101" pitchFamily="2" charset="-122"/>
              </a:rPr>
              <a:t>伪指令语句经汇编后不产生机器目标代码，而指令语句经汇编后将产生相应的机器目标代码；</a:t>
            </a:r>
            <a:endParaRPr lang="en-US" altLang="zh-CN" sz="2200" dirty="0">
              <a:solidFill>
                <a:srgbClr val="FF0000"/>
              </a:solidFill>
              <a:latin typeface="华文宋体" panose="02010600040101010101" pitchFamily="2" charset="-122"/>
              <a:ea typeface="华文宋体" panose="02010600040101010101" pitchFamily="2" charset="-122"/>
            </a:endParaRPr>
          </a:p>
          <a:p>
            <a:pPr marL="342900" indent="-342900" algn="just">
              <a:spcBef>
                <a:spcPct val="30000"/>
              </a:spcBef>
              <a:buFont typeface="Wingdings" panose="05000000000000000000" pitchFamily="2" charset="2"/>
              <a:buChar char="u"/>
            </a:pPr>
            <a:r>
              <a:rPr lang="zh-CN" altLang="en-US" sz="2200" dirty="0">
                <a:solidFill>
                  <a:srgbClr val="FF0000"/>
                </a:solidFill>
                <a:latin typeface="华文宋体" panose="02010600040101010101" pitchFamily="2" charset="-122"/>
                <a:ea typeface="华文宋体" panose="02010600040101010101" pitchFamily="2" charset="-122"/>
              </a:rPr>
              <a:t>伪指令语句所指示的操作是在程序汇编时完成的，而指令语句的操作必须在程序运行时才能完成。</a:t>
            </a:r>
            <a:endParaRPr lang="zh-CN" altLang="en-US" sz="2200" dirty="0">
              <a:solidFill>
                <a:srgbClr val="FF0000"/>
              </a:solidFill>
              <a:latin typeface="华文宋体" panose="02010600040101010101" pitchFamily="2" charset="-122"/>
              <a:ea typeface="华文宋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7" name="Rectangle 3"/>
          <p:cNvSpPr>
            <a:spLocks noGrp="1" noChangeArrowheads="1"/>
          </p:cNvSpPr>
          <p:nvPr>
            <p:ph type="body" idx="1"/>
          </p:nvPr>
        </p:nvSpPr>
        <p:spPr>
          <a:xfrm>
            <a:off x="467544" y="1412776"/>
            <a:ext cx="8532948" cy="4525963"/>
          </a:xfrm>
        </p:spPr>
        <p:txBody>
          <a:bodyPr/>
          <a:lstStyle/>
          <a:p>
            <a:pPr algn="just">
              <a:buFontTx/>
              <a:buNone/>
            </a:pPr>
            <a:r>
              <a:rPr lang="zh-CN" altLang="en-US" sz="2400" dirty="0">
                <a:effectLst/>
                <a:latin typeface="华文宋体" panose="02010600040101010101" pitchFamily="2" charset="-122"/>
                <a:ea typeface="华文宋体" panose="02010600040101010101" pitchFamily="2" charset="-122"/>
              </a:rPr>
              <a:t>在格式上，指令语句和伪指令语句略有差别。</a:t>
            </a:r>
            <a:endParaRPr lang="en-US" altLang="zh-CN" sz="2400" dirty="0">
              <a:effectLst/>
              <a:latin typeface="华文宋体" panose="02010600040101010101" pitchFamily="2" charset="-122"/>
              <a:ea typeface="华文宋体" panose="02010600040101010101" pitchFamily="2" charset="-122"/>
            </a:endParaRPr>
          </a:p>
          <a:p>
            <a:pPr algn="just">
              <a:buFontTx/>
              <a:buNone/>
            </a:pPr>
            <a:endParaRPr lang="zh-CN" altLang="en-US" sz="2400" dirty="0">
              <a:effectLst/>
              <a:latin typeface="华文宋体" panose="02010600040101010101" pitchFamily="2" charset="-122"/>
              <a:ea typeface="华文宋体" panose="02010600040101010101" pitchFamily="2" charset="-122"/>
              <a:cs typeface="Times New Roman" panose="02020603050405020304" pitchFamily="18" charset="0"/>
            </a:endParaRPr>
          </a:p>
          <a:p>
            <a:pPr algn="just">
              <a:buFontTx/>
              <a:buNone/>
            </a:pPr>
            <a:r>
              <a:rPr lang="zh-CN" altLang="en-US" sz="2400" dirty="0">
                <a:effectLst/>
                <a:latin typeface="华文宋体" panose="02010600040101010101" pitchFamily="2" charset="-122"/>
                <a:ea typeface="华文宋体" panose="02010600040101010101" pitchFamily="2" charset="-122"/>
              </a:rPr>
              <a:t>指令性语句的格式如下：</a:t>
            </a:r>
            <a:endParaRPr lang="zh-CN" altLang="en-US" sz="2400" dirty="0">
              <a:effectLst/>
              <a:latin typeface="华文宋体" panose="02010600040101010101" pitchFamily="2" charset="-122"/>
              <a:ea typeface="华文宋体" panose="02010600040101010101" pitchFamily="2" charset="-122"/>
              <a:cs typeface="Times New Roman" panose="02020603050405020304" pitchFamily="18" charset="0"/>
            </a:endParaRPr>
          </a:p>
          <a:p>
            <a:pPr algn="just">
              <a:buFontTx/>
              <a:buNone/>
            </a:pPr>
            <a:r>
              <a:rPr lang="en-US" altLang="zh-CN" sz="2400" dirty="0">
                <a:effectLst/>
                <a:latin typeface="华文宋体" panose="02010600040101010101" pitchFamily="2" charset="-122"/>
                <a:ea typeface="华文宋体" panose="02010600040101010101" pitchFamily="2" charset="-122"/>
                <a:cs typeface="Times New Roman" panose="02020603050405020304" pitchFamily="18" charset="0"/>
              </a:rPr>
              <a:t>[</a:t>
            </a:r>
            <a:r>
              <a:rPr lang="zh-CN" altLang="en-US" sz="240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标号名</a:t>
            </a:r>
            <a:r>
              <a:rPr lang="zh-CN" altLang="en-US" sz="2400" dirty="0">
                <a:effectLst/>
                <a:latin typeface="华文宋体" panose="02010600040101010101" pitchFamily="2" charset="-122"/>
                <a:ea typeface="华文宋体" panose="02010600040101010101" pitchFamily="2" charset="-122"/>
              </a:rPr>
              <a:t>：</a:t>
            </a:r>
            <a:r>
              <a:rPr lang="en-US" altLang="zh-CN" sz="2400" dirty="0">
                <a:effectLst/>
                <a:latin typeface="华文宋体" panose="02010600040101010101" pitchFamily="2" charset="-122"/>
                <a:ea typeface="华文宋体" panose="02010600040101010101" pitchFamily="2" charset="-122"/>
                <a:cs typeface="Times New Roman" panose="02020603050405020304" pitchFamily="18" charset="0"/>
              </a:rPr>
              <a:t>]  </a:t>
            </a:r>
            <a:r>
              <a:rPr lang="zh-CN" altLang="en-US" sz="2400" dirty="0">
                <a:effectLst/>
                <a:latin typeface="华文宋体" panose="02010600040101010101" pitchFamily="2" charset="-122"/>
                <a:ea typeface="华文宋体" panose="02010600040101010101" pitchFamily="2" charset="-122"/>
              </a:rPr>
              <a:t>操作码</a:t>
            </a:r>
            <a:r>
              <a:rPr lang="zh-CN" altLang="en-US" sz="2400" dirty="0">
                <a:effectLst/>
                <a:latin typeface="华文宋体" panose="02010600040101010101" pitchFamily="2" charset="-122"/>
                <a:ea typeface="华文宋体" panose="02010600040101010101" pitchFamily="2" charset="-122"/>
                <a:cs typeface="Times New Roman" panose="02020603050405020304" pitchFamily="18" charset="0"/>
              </a:rPr>
              <a:t>  </a:t>
            </a:r>
            <a:r>
              <a:rPr lang="en-US" altLang="zh-CN" sz="2400" dirty="0">
                <a:effectLst/>
                <a:latin typeface="华文宋体" panose="02010600040101010101" pitchFamily="2" charset="-122"/>
                <a:ea typeface="华文宋体" panose="02010600040101010101" pitchFamily="2" charset="-122"/>
                <a:cs typeface="Times New Roman" panose="02020603050405020304" pitchFamily="18" charset="0"/>
              </a:rPr>
              <a:t>[</a:t>
            </a:r>
            <a:r>
              <a:rPr lang="zh-CN" altLang="en-US" sz="2400" dirty="0">
                <a:effectLst/>
                <a:latin typeface="华文宋体" panose="02010600040101010101" pitchFamily="2" charset="-122"/>
                <a:ea typeface="华文宋体" panose="02010600040101010101" pitchFamily="2" charset="-122"/>
              </a:rPr>
              <a:t>操作数</a:t>
            </a:r>
            <a:r>
              <a:rPr lang="en-US" altLang="zh-CN" sz="2400" dirty="0">
                <a:effectLst/>
                <a:latin typeface="华文宋体" panose="02010600040101010101" pitchFamily="2" charset="-122"/>
                <a:ea typeface="华文宋体" panose="02010600040101010101" pitchFamily="2" charset="-122"/>
                <a:cs typeface="Times New Roman" panose="02020603050405020304" pitchFamily="18" charset="0"/>
              </a:rPr>
              <a:t>]  [</a:t>
            </a:r>
            <a:r>
              <a:rPr lang="zh-CN" altLang="en-US" sz="2400" dirty="0">
                <a:effectLst/>
                <a:latin typeface="华文宋体" panose="02010600040101010101" pitchFamily="2" charset="-122"/>
                <a:ea typeface="华文宋体" panose="02010600040101010101" pitchFamily="2" charset="-122"/>
              </a:rPr>
              <a:t>；注释</a:t>
            </a:r>
            <a:r>
              <a:rPr lang="en-US" altLang="zh-CN" sz="2400" dirty="0">
                <a:effectLst/>
                <a:latin typeface="华文宋体" panose="02010600040101010101" pitchFamily="2" charset="-122"/>
                <a:ea typeface="华文宋体" panose="02010600040101010101" pitchFamily="2" charset="-122"/>
                <a:cs typeface="Times New Roman" panose="02020603050405020304" pitchFamily="18" charset="0"/>
              </a:rPr>
              <a:t>]</a:t>
            </a:r>
            <a:endParaRPr lang="en-US" altLang="zh-CN" sz="2400" dirty="0">
              <a:effectLst/>
              <a:latin typeface="华文宋体" panose="02010600040101010101" pitchFamily="2" charset="-122"/>
              <a:ea typeface="华文宋体" panose="02010600040101010101" pitchFamily="2" charset="-122"/>
              <a:cs typeface="Times New Roman" panose="02020603050405020304" pitchFamily="18" charset="0"/>
            </a:endParaRPr>
          </a:p>
          <a:p>
            <a:pPr algn="just">
              <a:buFontTx/>
              <a:buNone/>
            </a:pPr>
            <a:r>
              <a:rPr lang="en-US" altLang="zh-CN" sz="2400" dirty="0">
                <a:effectLst/>
                <a:latin typeface="华文宋体" panose="02010600040101010101" pitchFamily="2" charset="-122"/>
                <a:ea typeface="华文宋体" panose="02010600040101010101" pitchFamily="2" charset="-122"/>
                <a:cs typeface="Times New Roman" panose="02020603050405020304" pitchFamily="18" charset="0"/>
              </a:rPr>
              <a:t>		</a:t>
            </a:r>
            <a:r>
              <a:rPr lang="en-US" altLang="zh-CN" sz="240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Next:	</a:t>
            </a:r>
            <a:r>
              <a:rPr lang="en-US" altLang="zh-CN" sz="2400" u="sng"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MOV</a:t>
            </a:r>
            <a:r>
              <a:rPr lang="en-US" altLang="zh-CN" sz="240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  AX, BX	         ;BX</a:t>
            </a:r>
            <a:r>
              <a:rPr lang="zh-CN" altLang="en-US" sz="240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内容送</a:t>
            </a:r>
            <a:r>
              <a:rPr lang="en-US" altLang="zh-CN" sz="240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AX, Next</a:t>
            </a:r>
            <a:r>
              <a:rPr lang="zh-CN" altLang="en-US" sz="240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为标号</a:t>
            </a:r>
            <a:endParaRPr lang="en-US" altLang="zh-CN" sz="240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endParaRPr>
          </a:p>
          <a:p>
            <a:pPr algn="just">
              <a:buFontTx/>
              <a:buNone/>
            </a:pPr>
            <a:endParaRPr lang="en-US" altLang="zh-CN" sz="2400" dirty="0">
              <a:effectLst/>
              <a:latin typeface="华文宋体" panose="02010600040101010101" pitchFamily="2" charset="-122"/>
              <a:ea typeface="华文宋体" panose="02010600040101010101" pitchFamily="2" charset="-122"/>
              <a:cs typeface="Times New Roman" panose="02020603050405020304" pitchFamily="18" charset="0"/>
            </a:endParaRPr>
          </a:p>
          <a:p>
            <a:pPr algn="just">
              <a:buFontTx/>
              <a:buNone/>
            </a:pPr>
            <a:r>
              <a:rPr lang="zh-CN" altLang="en-US" sz="2400" dirty="0">
                <a:effectLst/>
                <a:latin typeface="华文宋体" panose="02010600040101010101" pitchFamily="2" charset="-122"/>
                <a:ea typeface="华文宋体" panose="02010600040101010101" pitchFamily="2" charset="-122"/>
              </a:rPr>
              <a:t>伪指令语句的格式如下：</a:t>
            </a:r>
            <a:endParaRPr lang="zh-CN" altLang="en-US" sz="2400" dirty="0">
              <a:effectLst/>
              <a:latin typeface="华文宋体" panose="02010600040101010101" pitchFamily="2" charset="-122"/>
              <a:ea typeface="华文宋体" panose="02010600040101010101" pitchFamily="2" charset="-122"/>
              <a:cs typeface="Times New Roman" panose="02020603050405020304" pitchFamily="18" charset="0"/>
            </a:endParaRPr>
          </a:p>
          <a:p>
            <a:pPr algn="just">
              <a:buFontTx/>
              <a:buNone/>
            </a:pPr>
            <a:r>
              <a:rPr lang="en-US" altLang="zh-CN" sz="2400" dirty="0">
                <a:effectLst/>
                <a:latin typeface="华文宋体" panose="02010600040101010101" pitchFamily="2" charset="-122"/>
                <a:ea typeface="华文宋体" panose="02010600040101010101" pitchFamily="2" charset="-122"/>
                <a:cs typeface="Times New Roman" panose="02020603050405020304" pitchFamily="18" charset="0"/>
              </a:rPr>
              <a:t>[</a:t>
            </a:r>
            <a:r>
              <a:rPr lang="zh-CN" altLang="en-US" sz="240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变量名</a:t>
            </a:r>
            <a:r>
              <a:rPr lang="en-US" altLang="zh-CN" sz="2400" dirty="0">
                <a:effectLst/>
                <a:latin typeface="华文宋体" panose="02010600040101010101" pitchFamily="2" charset="-122"/>
                <a:ea typeface="华文宋体" panose="02010600040101010101" pitchFamily="2" charset="-122"/>
                <a:cs typeface="Times New Roman" panose="02020603050405020304" pitchFamily="18" charset="0"/>
              </a:rPr>
              <a:t>]  </a:t>
            </a:r>
            <a:r>
              <a:rPr lang="zh-CN" altLang="en-US" sz="2400" dirty="0">
                <a:effectLst/>
                <a:latin typeface="华文宋体" panose="02010600040101010101" pitchFamily="2" charset="-122"/>
                <a:ea typeface="华文宋体" panose="02010600040101010101" pitchFamily="2" charset="-122"/>
              </a:rPr>
              <a:t>伪操作码</a:t>
            </a:r>
            <a:r>
              <a:rPr lang="zh-CN" altLang="en-US" sz="2400" dirty="0">
                <a:effectLst/>
                <a:latin typeface="华文宋体" panose="02010600040101010101" pitchFamily="2" charset="-122"/>
                <a:ea typeface="华文宋体" panose="02010600040101010101" pitchFamily="2" charset="-122"/>
                <a:cs typeface="Times New Roman" panose="02020603050405020304" pitchFamily="18" charset="0"/>
              </a:rPr>
              <a:t>   </a:t>
            </a:r>
            <a:r>
              <a:rPr lang="en-US" altLang="zh-CN" sz="2400" dirty="0">
                <a:effectLst/>
                <a:latin typeface="华文宋体" panose="02010600040101010101" pitchFamily="2" charset="-122"/>
                <a:ea typeface="华文宋体" panose="02010600040101010101" pitchFamily="2" charset="-122"/>
                <a:cs typeface="Times New Roman" panose="02020603050405020304" pitchFamily="18" charset="0"/>
              </a:rPr>
              <a:t>[</a:t>
            </a:r>
            <a:r>
              <a:rPr lang="zh-CN" altLang="en-US" sz="2400" dirty="0">
                <a:effectLst/>
                <a:latin typeface="华文宋体" panose="02010600040101010101" pitchFamily="2" charset="-122"/>
                <a:ea typeface="华文宋体" panose="02010600040101010101" pitchFamily="2" charset="-122"/>
              </a:rPr>
              <a:t>操作数</a:t>
            </a:r>
            <a:r>
              <a:rPr lang="en-US" altLang="zh-CN" sz="2400" dirty="0">
                <a:effectLst/>
                <a:latin typeface="华文宋体" panose="02010600040101010101" pitchFamily="2" charset="-122"/>
                <a:ea typeface="华文宋体" panose="02010600040101010101" pitchFamily="2" charset="-122"/>
                <a:cs typeface="Times New Roman" panose="02020603050405020304" pitchFamily="18" charset="0"/>
              </a:rPr>
              <a:t>]  [</a:t>
            </a:r>
            <a:r>
              <a:rPr lang="zh-CN" altLang="en-US" sz="2400" dirty="0">
                <a:effectLst/>
                <a:latin typeface="华文宋体" panose="02010600040101010101" pitchFamily="2" charset="-122"/>
                <a:ea typeface="华文宋体" panose="02010600040101010101" pitchFamily="2" charset="-122"/>
              </a:rPr>
              <a:t>；注释</a:t>
            </a:r>
            <a:r>
              <a:rPr lang="en-US" altLang="zh-CN" sz="2400" dirty="0">
                <a:effectLst/>
                <a:latin typeface="华文宋体" panose="02010600040101010101" pitchFamily="2" charset="-122"/>
                <a:ea typeface="华文宋体" panose="02010600040101010101" pitchFamily="2" charset="-122"/>
                <a:cs typeface="Times New Roman" panose="02020603050405020304" pitchFamily="18" charset="0"/>
              </a:rPr>
              <a:t>]</a:t>
            </a:r>
            <a:endParaRPr lang="en-US" altLang="zh-CN" sz="2400" dirty="0">
              <a:effectLst/>
              <a:latin typeface="华文宋体" panose="02010600040101010101" pitchFamily="2" charset="-122"/>
              <a:ea typeface="华文宋体" panose="02010600040101010101" pitchFamily="2" charset="-122"/>
              <a:cs typeface="Times New Roman" panose="02020603050405020304" pitchFamily="18" charset="0"/>
            </a:endParaRPr>
          </a:p>
          <a:p>
            <a:pPr algn="just">
              <a:buFontTx/>
              <a:buNone/>
            </a:pPr>
            <a:r>
              <a:rPr lang="en-US" altLang="zh-CN" sz="2400" dirty="0">
                <a:effectLst/>
                <a:latin typeface="华文宋体" panose="02010600040101010101" pitchFamily="2" charset="-122"/>
                <a:ea typeface="华文宋体" panose="02010600040101010101" pitchFamily="2" charset="-122"/>
                <a:cs typeface="Times New Roman" panose="02020603050405020304" pitchFamily="18" charset="0"/>
              </a:rPr>
              <a:t>		</a:t>
            </a:r>
            <a:r>
              <a:rPr lang="en-US" altLang="zh-CN" sz="240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Name  </a:t>
            </a:r>
            <a:r>
              <a:rPr lang="en-US" altLang="zh-CN" sz="2400" u="sng"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DB</a:t>
            </a:r>
            <a:r>
              <a:rPr lang="en-US" altLang="zh-CN" sz="240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  1, 2     ;</a:t>
            </a:r>
            <a:r>
              <a:rPr lang="zh-CN" altLang="en-US" sz="240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定义字节类型的变量</a:t>
            </a:r>
            <a:r>
              <a:rPr lang="en-US" altLang="zh-CN" sz="240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Name</a:t>
            </a:r>
            <a:r>
              <a:rPr lang="zh-CN" altLang="en-US" sz="240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并赋初值</a:t>
            </a:r>
            <a:endParaRPr lang="en-US" altLang="zh-CN" sz="2400" dirty="0">
              <a:solidFill>
                <a:srgbClr val="FF0000"/>
              </a:solidFill>
              <a:effectLst/>
              <a:latin typeface="华文宋体" panose="02010600040101010101" pitchFamily="2" charset="-122"/>
              <a:ea typeface="华文宋体" panose="02010600040101010101" pitchFamily="2" charset="-122"/>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汇编语言语句的基本格式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3" name="Rectangle 3"/>
          <p:cNvSpPr>
            <a:spLocks noGrp="1" noChangeArrowheads="1"/>
          </p:cNvSpPr>
          <p:nvPr>
            <p:ph type="body" idx="1"/>
          </p:nvPr>
        </p:nvSpPr>
        <p:spPr>
          <a:xfrm>
            <a:off x="439686" y="1160748"/>
            <a:ext cx="7912734" cy="5112568"/>
          </a:xfrm>
        </p:spPr>
        <p:txBody>
          <a:bodyPr/>
          <a:lstStyle/>
          <a:p>
            <a:pPr algn="just">
              <a:buNone/>
            </a:pPr>
            <a:r>
              <a:rPr lang="zh-CN" altLang="en-US" sz="2600" dirty="0">
                <a:solidFill>
                  <a:srgbClr val="FF0000"/>
                </a:solidFill>
                <a:effectLst/>
                <a:ea typeface="华文宋体" panose="02010600040101010101" pitchFamily="2" charset="-122"/>
              </a:rPr>
              <a:t>操作项（操作码、伪操作码） ：</a:t>
            </a:r>
            <a:endParaRPr lang="en-US" altLang="zh-CN" sz="2600" dirty="0">
              <a:solidFill>
                <a:srgbClr val="FF0000"/>
              </a:solidFill>
              <a:effectLst/>
              <a:ea typeface="华文宋体" panose="02010600040101010101" pitchFamily="2" charset="-122"/>
            </a:endParaRPr>
          </a:p>
          <a:p>
            <a:pPr algn="just"/>
            <a:r>
              <a:rPr lang="zh-CN" altLang="en-US" sz="2600" b="0" dirty="0">
                <a:effectLst/>
                <a:ea typeface="宋体" panose="02010600030101010101" pitchFamily="2" charset="-122"/>
              </a:rPr>
              <a:t>操作项可以是指令、伪指令或宏指令的操作码，或称</a:t>
            </a:r>
            <a:r>
              <a:rPr lang="zh-CN" altLang="en-US" sz="2600" b="0" dirty="0">
                <a:solidFill>
                  <a:srgbClr val="FF0000"/>
                </a:solidFill>
                <a:effectLst/>
                <a:ea typeface="宋体" panose="02010600030101010101" pitchFamily="2" charset="-122"/>
              </a:rPr>
              <a:t>助记符</a:t>
            </a:r>
            <a:r>
              <a:rPr lang="zh-CN" altLang="en-US" sz="2600" b="0" dirty="0">
                <a:effectLst/>
                <a:ea typeface="宋体" panose="02010600030101010101" pitchFamily="2" charset="-122"/>
              </a:rPr>
              <a:t>。</a:t>
            </a:r>
            <a:endParaRPr lang="en-US" altLang="zh-CN" sz="2600" b="0" dirty="0">
              <a:effectLst/>
              <a:ea typeface="宋体" panose="02010600030101010101" pitchFamily="2" charset="-122"/>
            </a:endParaRPr>
          </a:p>
          <a:p>
            <a:pPr lvl="1" algn="just"/>
            <a:r>
              <a:rPr lang="zh-CN" altLang="en-US" sz="2600" b="0" dirty="0">
                <a:effectLst/>
                <a:ea typeface="宋体" panose="02010600030101010101" pitchFamily="2" charset="-122"/>
              </a:rPr>
              <a:t>对于指令：汇编程序将其翻译成机器语言指令。</a:t>
            </a:r>
            <a:endParaRPr lang="en-US" altLang="zh-CN" sz="2600" b="0" dirty="0">
              <a:effectLst/>
              <a:ea typeface="宋体" panose="02010600030101010101" pitchFamily="2" charset="-122"/>
            </a:endParaRPr>
          </a:p>
          <a:p>
            <a:pPr lvl="1" algn="just"/>
            <a:r>
              <a:rPr lang="zh-CN" altLang="en-US" sz="2600" b="0" dirty="0">
                <a:effectLst/>
                <a:ea typeface="宋体" panose="02010600030101010101" pitchFamily="2" charset="-122"/>
              </a:rPr>
              <a:t>对于伪指令：汇编程序将根据其所要求的功能进行处理。</a:t>
            </a:r>
            <a:endParaRPr lang="en-US" altLang="zh-CN" sz="2600" b="0" dirty="0">
              <a:effectLst/>
              <a:ea typeface="宋体" panose="02010600030101010101" pitchFamily="2" charset="-122"/>
            </a:endParaRPr>
          </a:p>
          <a:p>
            <a:pPr lvl="1" algn="just"/>
            <a:r>
              <a:rPr lang="zh-CN" altLang="en-US" sz="2600" b="0" dirty="0">
                <a:effectLst/>
                <a:ea typeface="宋体" panose="02010600030101010101" pitchFamily="2" charset="-122"/>
              </a:rPr>
              <a:t>对于宏指令：则将根据其定义展开。（后续章节介绍）</a:t>
            </a:r>
            <a:endParaRPr lang="en-US" altLang="zh-CN" sz="2600" b="0" dirty="0">
              <a:effectLst/>
              <a:ea typeface="宋体" panose="02010600030101010101" pitchFamily="2" charset="-122"/>
            </a:endParaRPr>
          </a:p>
          <a:p>
            <a:pPr algn="just"/>
            <a:r>
              <a:rPr lang="zh-CN" altLang="en-US" sz="2600" b="0" dirty="0">
                <a:effectLst/>
                <a:ea typeface="宋体" panose="02010600030101010101" pitchFamily="2" charset="-122"/>
              </a:rPr>
              <a:t>助记符表示指令语句的功能，如</a:t>
            </a:r>
            <a:r>
              <a:rPr lang="en-US" altLang="zh-CN" sz="2600" b="0" dirty="0">
                <a:effectLst/>
                <a:ea typeface="宋体" panose="02010600030101010101" pitchFamily="2" charset="-122"/>
                <a:cs typeface="Times New Roman" panose="02020603050405020304" pitchFamily="18" charset="0"/>
              </a:rPr>
              <a:t>INC</a:t>
            </a:r>
            <a:r>
              <a:rPr lang="zh-CN" altLang="en-US" sz="2600" b="0" dirty="0">
                <a:effectLst/>
                <a:ea typeface="宋体" panose="02010600030101010101" pitchFamily="2" charset="-122"/>
              </a:rPr>
              <a:t>，</a:t>
            </a:r>
            <a:r>
              <a:rPr lang="en-US" altLang="zh-CN" sz="2600" b="0" dirty="0">
                <a:effectLst/>
                <a:ea typeface="宋体" panose="02010600030101010101" pitchFamily="2" charset="-122"/>
                <a:cs typeface="Times New Roman" panose="02020603050405020304" pitchFamily="18" charset="0"/>
              </a:rPr>
              <a:t>MOV</a:t>
            </a:r>
            <a:r>
              <a:rPr lang="zh-CN" altLang="en-US" sz="2600" b="0" dirty="0">
                <a:effectLst/>
                <a:ea typeface="宋体" panose="02010600030101010101" pitchFamily="2" charset="-122"/>
              </a:rPr>
              <a:t>等。</a:t>
            </a:r>
            <a:endParaRPr lang="en-US" altLang="zh-CN" sz="2600" b="0" dirty="0">
              <a:effectLst/>
              <a:ea typeface="宋体" panose="02010600030101010101" pitchFamily="2" charset="-122"/>
            </a:endParaRPr>
          </a:p>
          <a:p>
            <a:pPr algn="just"/>
            <a:r>
              <a:rPr lang="zh-CN" altLang="en-US" sz="2600" b="0" dirty="0">
                <a:effectLst/>
                <a:ea typeface="宋体" panose="02010600030101010101" pitchFamily="2" charset="-122"/>
              </a:rPr>
              <a:t>操作项是由系统定义的，编程时必须照写不误，既不能多写，也不能少写。（不区分大小写）</a:t>
            </a:r>
            <a:endParaRPr lang="zh-CN" altLang="en-US" sz="2600" b="0" dirty="0">
              <a:effectLst/>
              <a:ea typeface="宋体" panose="02010600030101010101" pitchFamily="2" charset="-122"/>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汇编语言语句的基本格式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1" name="Rectangle 3"/>
          <p:cNvSpPr>
            <a:spLocks noGrp="1" noChangeArrowheads="1"/>
          </p:cNvSpPr>
          <p:nvPr>
            <p:ph type="body" idx="1"/>
          </p:nvPr>
        </p:nvSpPr>
        <p:spPr>
          <a:xfrm>
            <a:off x="503548" y="980728"/>
            <a:ext cx="8244916" cy="5364596"/>
          </a:xfrm>
        </p:spPr>
        <p:txBody>
          <a:bodyPr/>
          <a:lstStyle/>
          <a:p>
            <a:pPr algn="just">
              <a:buFontTx/>
              <a:buNone/>
            </a:pPr>
            <a:r>
              <a:rPr lang="zh-CN" altLang="en-US" dirty="0">
                <a:solidFill>
                  <a:srgbClr val="FF0000"/>
                </a:solidFill>
                <a:effectLst/>
                <a:latin typeface="华文宋体" panose="02010600040101010101" pitchFamily="2" charset="-122"/>
                <a:ea typeface="华文宋体" panose="02010600040101010101" pitchFamily="2" charset="-122"/>
              </a:rPr>
              <a:t>名字项（标号、变量等）：</a:t>
            </a:r>
            <a:endParaRPr lang="en-US" altLang="zh-CN" dirty="0">
              <a:solidFill>
                <a:srgbClr val="FF0000"/>
              </a:solidFill>
              <a:effectLst/>
              <a:latin typeface="华文宋体" panose="02010600040101010101" pitchFamily="2" charset="-122"/>
              <a:ea typeface="华文宋体" panose="02010600040101010101" pitchFamily="2" charset="-122"/>
            </a:endParaRPr>
          </a:p>
          <a:p>
            <a:pPr algn="just">
              <a:buFont typeface="Wingdings" panose="05000000000000000000" pitchFamily="2" charset="2"/>
              <a:buChar char="u"/>
            </a:pPr>
            <a:r>
              <a:rPr lang="zh-CN" altLang="en-US" sz="2000" dirty="0">
                <a:effectLst/>
                <a:ea typeface="华文宋体" panose="02010600040101010101" pitchFamily="2" charset="-122"/>
              </a:rPr>
              <a:t>名字就是由用户按一定规则定义的标识符。</a:t>
            </a:r>
            <a:endParaRPr lang="en-US" altLang="zh-CN" sz="2000" dirty="0">
              <a:effectLst/>
              <a:ea typeface="华文宋体" panose="02010600040101010101" pitchFamily="2" charset="-122"/>
            </a:endParaRPr>
          </a:p>
          <a:p>
            <a:pPr algn="just">
              <a:buFont typeface="Wingdings" panose="05000000000000000000" pitchFamily="2" charset="2"/>
              <a:buChar char="u"/>
            </a:pPr>
            <a:r>
              <a:rPr lang="zh-CN" altLang="en-US" sz="2000" dirty="0">
                <a:effectLst/>
                <a:ea typeface="华文宋体" panose="02010600040101010101" pitchFamily="2" charset="-122"/>
              </a:rPr>
              <a:t>名字可用下列字符组成：</a:t>
            </a:r>
            <a:endParaRPr lang="en-US" altLang="zh-CN" sz="2000" dirty="0">
              <a:effectLst/>
              <a:ea typeface="华文宋体" panose="02010600040101010101" pitchFamily="2" charset="-122"/>
            </a:endParaRPr>
          </a:p>
          <a:p>
            <a:pPr lvl="1" algn="just">
              <a:buFont typeface="Wingdings" panose="05000000000000000000" pitchFamily="2" charset="2"/>
              <a:buChar char="u"/>
            </a:pPr>
            <a:r>
              <a:rPr lang="zh-CN" altLang="en-US" sz="2000" dirty="0">
                <a:ea typeface="华文宋体" panose="02010600040101010101" pitchFamily="2" charset="-122"/>
              </a:rPr>
              <a:t>英文字母（</a:t>
            </a:r>
            <a:r>
              <a:rPr lang="en-US" altLang="zh-CN" sz="2000" dirty="0">
                <a:ea typeface="华文宋体" panose="02010600040101010101" pitchFamily="2" charset="-122"/>
                <a:cs typeface="Times New Roman" panose="02020603050405020304" pitchFamily="18" charset="0"/>
              </a:rPr>
              <a:t>A ~ Z</a:t>
            </a:r>
            <a:r>
              <a:rPr lang="zh-CN" altLang="en-US" sz="2000" dirty="0">
                <a:ea typeface="华文宋体" panose="02010600040101010101" pitchFamily="2" charset="-122"/>
              </a:rPr>
              <a:t>，</a:t>
            </a:r>
            <a:r>
              <a:rPr lang="en-US" altLang="zh-CN" sz="2000" dirty="0">
                <a:ea typeface="华文宋体" panose="02010600040101010101" pitchFamily="2" charset="-122"/>
                <a:cs typeface="Times New Roman" panose="02020603050405020304" pitchFamily="18" charset="0"/>
              </a:rPr>
              <a:t>a ~ z</a:t>
            </a:r>
            <a:r>
              <a:rPr lang="zh-CN" altLang="en-US" sz="2000" dirty="0">
                <a:ea typeface="华文宋体" panose="02010600040101010101" pitchFamily="2" charset="-122"/>
              </a:rPr>
              <a:t>）</a:t>
            </a:r>
            <a:endParaRPr lang="en-US" altLang="zh-CN" sz="2000" dirty="0">
              <a:ea typeface="华文宋体" panose="02010600040101010101" pitchFamily="2" charset="-122"/>
            </a:endParaRPr>
          </a:p>
          <a:p>
            <a:pPr lvl="1" algn="just">
              <a:buFont typeface="Wingdings" panose="05000000000000000000" pitchFamily="2" charset="2"/>
              <a:buChar char="u"/>
            </a:pPr>
            <a:r>
              <a:rPr lang="zh-CN" altLang="en-US" sz="2000" dirty="0">
                <a:ea typeface="华文宋体" panose="02010600040101010101" pitchFamily="2" charset="-122"/>
              </a:rPr>
              <a:t>数字（</a:t>
            </a:r>
            <a:r>
              <a:rPr lang="en-US" altLang="zh-CN" sz="2000" dirty="0">
                <a:ea typeface="华文宋体" panose="02010600040101010101" pitchFamily="2" charset="-122"/>
                <a:cs typeface="Times New Roman" panose="02020603050405020304" pitchFamily="18" charset="0"/>
              </a:rPr>
              <a:t>0~9</a:t>
            </a:r>
            <a:r>
              <a:rPr lang="zh-CN" altLang="en-US" sz="2000" dirty="0">
                <a:ea typeface="华文宋体" panose="02010600040101010101" pitchFamily="2" charset="-122"/>
              </a:rPr>
              <a:t>）</a:t>
            </a:r>
            <a:endParaRPr lang="en-US" altLang="zh-CN" sz="2000" dirty="0">
              <a:ea typeface="华文宋体" panose="02010600040101010101" pitchFamily="2" charset="-122"/>
            </a:endParaRPr>
          </a:p>
          <a:p>
            <a:pPr lvl="1" algn="just">
              <a:buFont typeface="Wingdings" panose="05000000000000000000" pitchFamily="2" charset="2"/>
              <a:buChar char="u"/>
            </a:pPr>
            <a:r>
              <a:rPr lang="zh-CN" altLang="en-US" sz="2000" dirty="0">
                <a:ea typeface="华文宋体" panose="02010600040101010101" pitchFamily="2" charset="-122"/>
              </a:rPr>
              <a:t>特殊字符（</a:t>
            </a:r>
            <a:r>
              <a:rPr lang="en-US" altLang="zh-CN" sz="2000" dirty="0">
                <a:ea typeface="华文宋体" panose="02010600040101010101" pitchFamily="2" charset="-122"/>
                <a:cs typeface="Times New Roman" panose="02020603050405020304" pitchFamily="18" charset="0"/>
              </a:rPr>
              <a:t>?</a:t>
            </a:r>
            <a:r>
              <a:rPr lang="zh-CN" altLang="en-US" sz="2000" dirty="0">
                <a:ea typeface="华文宋体" panose="02010600040101010101" pitchFamily="2" charset="-122"/>
              </a:rPr>
              <a:t>、</a:t>
            </a:r>
            <a:r>
              <a:rPr lang="en-US" altLang="zh-CN" sz="2000" dirty="0">
                <a:ea typeface="华文宋体" panose="02010600040101010101" pitchFamily="2" charset="-122"/>
              </a:rPr>
              <a:t>· </a:t>
            </a:r>
            <a:r>
              <a:rPr lang="zh-CN" altLang="en-US" sz="2000" dirty="0">
                <a:ea typeface="华文宋体" panose="02010600040101010101" pitchFamily="2" charset="-122"/>
              </a:rPr>
              <a:t>、</a:t>
            </a:r>
            <a:r>
              <a:rPr lang="en-US" altLang="zh-CN" sz="2000" dirty="0">
                <a:ea typeface="华文宋体" panose="02010600040101010101" pitchFamily="2" charset="-122"/>
                <a:cs typeface="Times New Roman" panose="02020603050405020304" pitchFamily="18" charset="0"/>
              </a:rPr>
              <a:t>@</a:t>
            </a:r>
            <a:r>
              <a:rPr lang="zh-CN" altLang="en-US" sz="2000" dirty="0">
                <a:ea typeface="华文宋体" panose="02010600040101010101" pitchFamily="2" charset="-122"/>
              </a:rPr>
              <a:t>、</a:t>
            </a:r>
            <a:r>
              <a:rPr lang="en-US" altLang="zh-CN" sz="2000" dirty="0">
                <a:ea typeface="华文宋体" panose="02010600040101010101" pitchFamily="2" charset="-122"/>
              </a:rPr>
              <a:t>—</a:t>
            </a:r>
            <a:r>
              <a:rPr lang="zh-CN" altLang="en-US" sz="2000" dirty="0">
                <a:ea typeface="华文宋体" panose="02010600040101010101" pitchFamily="2" charset="-122"/>
              </a:rPr>
              <a:t>、</a:t>
            </a:r>
            <a:r>
              <a:rPr lang="en-US" altLang="zh-CN" sz="2000" dirty="0">
                <a:ea typeface="华文宋体" panose="02010600040101010101" pitchFamily="2" charset="-122"/>
                <a:cs typeface="Times New Roman" panose="02020603050405020304" pitchFamily="18" charset="0"/>
              </a:rPr>
              <a:t>$</a:t>
            </a:r>
            <a:r>
              <a:rPr lang="zh-CN" altLang="en-US" sz="2000" dirty="0">
                <a:ea typeface="华文宋体" panose="02010600040101010101" pitchFamily="2" charset="-122"/>
              </a:rPr>
              <a:t>）</a:t>
            </a:r>
            <a:endParaRPr lang="zh-CN" altLang="en-US" sz="2000" dirty="0">
              <a:ea typeface="华文宋体" panose="02010600040101010101" pitchFamily="2" charset="-122"/>
            </a:endParaRPr>
          </a:p>
          <a:p>
            <a:pPr algn="just">
              <a:buFont typeface="Wingdings" panose="05000000000000000000" pitchFamily="2" charset="2"/>
              <a:buChar char="u"/>
            </a:pPr>
            <a:r>
              <a:rPr lang="zh-CN" altLang="en-US" sz="2000" dirty="0">
                <a:effectLst/>
                <a:ea typeface="华文宋体" panose="02010600040101010101" pitchFamily="2" charset="-122"/>
              </a:rPr>
              <a:t>名字的定义要满足如下规则：</a:t>
            </a:r>
            <a:endParaRPr lang="zh-CN" altLang="en-US" sz="2000" dirty="0">
              <a:effectLst/>
              <a:ea typeface="华文宋体" panose="02010600040101010101" pitchFamily="2" charset="-122"/>
            </a:endParaRPr>
          </a:p>
          <a:p>
            <a:pPr lvl="1" algn="just">
              <a:buFont typeface="Wingdings" panose="05000000000000000000" pitchFamily="2" charset="2"/>
              <a:buChar char="u"/>
            </a:pPr>
            <a:r>
              <a:rPr lang="zh-CN" altLang="en-US" sz="2000" dirty="0">
                <a:ea typeface="华文宋体" panose="02010600040101010101" pitchFamily="2" charset="-122"/>
              </a:rPr>
              <a:t>数字不能作名字项的第一个字符。</a:t>
            </a:r>
            <a:endParaRPr lang="zh-CN" altLang="en-US" sz="2000" dirty="0">
              <a:ea typeface="华文宋体" panose="02010600040101010101" pitchFamily="2" charset="-122"/>
            </a:endParaRPr>
          </a:p>
          <a:p>
            <a:pPr lvl="1" algn="just">
              <a:buFont typeface="Wingdings" panose="05000000000000000000" pitchFamily="2" charset="2"/>
              <a:buChar char="u"/>
            </a:pPr>
            <a:r>
              <a:rPr lang="zh-CN" altLang="en-US" sz="2000" dirty="0">
                <a:ea typeface="华文宋体" panose="02010600040101010101" pitchFamily="2" charset="-122"/>
              </a:rPr>
              <a:t>圆点（</a:t>
            </a:r>
            <a:r>
              <a:rPr lang="en-US" altLang="zh-CN" sz="2000" dirty="0">
                <a:ea typeface="华文宋体" panose="02010600040101010101" pitchFamily="2" charset="-122"/>
              </a:rPr>
              <a:t>.</a:t>
            </a:r>
            <a:r>
              <a:rPr lang="zh-CN" altLang="en-US" sz="2000" dirty="0">
                <a:ea typeface="华文宋体" panose="02010600040101010101" pitchFamily="2" charset="-122"/>
              </a:rPr>
              <a:t>）仅能用作第一个字符。</a:t>
            </a:r>
            <a:endParaRPr lang="zh-CN" altLang="en-US" sz="2000" dirty="0">
              <a:ea typeface="华文宋体" panose="02010600040101010101" pitchFamily="2" charset="-122"/>
            </a:endParaRPr>
          </a:p>
          <a:p>
            <a:pPr lvl="1" algn="just">
              <a:buFont typeface="Wingdings" panose="05000000000000000000" pitchFamily="2" charset="2"/>
              <a:buChar char="u"/>
            </a:pPr>
            <a:r>
              <a:rPr lang="zh-CN" altLang="en-US" sz="2000" dirty="0">
                <a:ea typeface="华文宋体" panose="02010600040101010101" pitchFamily="2" charset="-122"/>
              </a:rPr>
              <a:t>单独的“</a:t>
            </a:r>
            <a:r>
              <a:rPr lang="en-US" altLang="zh-CN" sz="2000" dirty="0">
                <a:ea typeface="华文宋体" panose="02010600040101010101" pitchFamily="2" charset="-122"/>
              </a:rPr>
              <a:t>?</a:t>
            </a:r>
            <a:r>
              <a:rPr lang="zh-CN" altLang="en-US" sz="2000" dirty="0">
                <a:ea typeface="华文宋体" panose="02010600040101010101" pitchFamily="2" charset="-122"/>
              </a:rPr>
              <a:t>”不能作为名字。</a:t>
            </a:r>
            <a:endParaRPr lang="zh-CN" altLang="en-US" sz="2000" dirty="0">
              <a:ea typeface="华文宋体" panose="02010600040101010101" pitchFamily="2" charset="-122"/>
            </a:endParaRPr>
          </a:p>
          <a:p>
            <a:pPr lvl="1" algn="just">
              <a:buFont typeface="Wingdings" panose="05000000000000000000" pitchFamily="2" charset="2"/>
              <a:buChar char="u"/>
            </a:pPr>
            <a:r>
              <a:rPr lang="zh-CN" altLang="en-US" sz="2000" dirty="0">
                <a:ea typeface="华文宋体" panose="02010600040101010101" pitchFamily="2" charset="-122"/>
              </a:rPr>
              <a:t>汇编语言中有特定含义的保留字，如操作码、寄存器名等，不能作为名字使用。</a:t>
            </a:r>
            <a:endParaRPr lang="zh-CN" altLang="en-US" sz="2000" dirty="0">
              <a:ea typeface="华文宋体" panose="02010600040101010101" pitchFamily="2" charset="-122"/>
            </a:endParaRPr>
          </a:p>
          <a:p>
            <a:pPr lvl="1" algn="just">
              <a:buFont typeface="Wingdings" panose="05000000000000000000" pitchFamily="2" charset="2"/>
              <a:buChar char="u"/>
            </a:pPr>
            <a:r>
              <a:rPr lang="zh-CN" altLang="en-US" sz="2000" dirty="0">
                <a:ea typeface="华文宋体" panose="02010600040101010101" pitchFamily="2" charset="-122"/>
              </a:rPr>
              <a:t>可以用很多字符来说明名字，但只有前面的</a:t>
            </a:r>
            <a:r>
              <a:rPr lang="en-US" altLang="zh-CN" sz="2000" dirty="0">
                <a:ea typeface="华文宋体" panose="02010600040101010101" pitchFamily="2" charset="-122"/>
              </a:rPr>
              <a:t>31</a:t>
            </a:r>
            <a:r>
              <a:rPr lang="zh-CN" altLang="en-US" sz="2000" dirty="0">
                <a:ea typeface="华文宋体" panose="02010600040101010101" pitchFamily="2" charset="-122"/>
              </a:rPr>
              <a:t>个字符能被汇编程序所识别。</a:t>
            </a:r>
            <a:endParaRPr lang="zh-CN" altLang="en-US" sz="2000" dirty="0">
              <a:ea typeface="华文宋体" panose="02010600040101010101" pitchFamily="2" charset="-122"/>
            </a:endParaRPr>
          </a:p>
        </p:txBody>
      </p:sp>
      <p:sp>
        <p:nvSpPr>
          <p:cNvPr id="7" name="矩形 6"/>
          <p:cNvSpPr/>
          <p:nvPr/>
        </p:nvSpPr>
        <p:spPr>
          <a:xfrm>
            <a:off x="5328084" y="2240868"/>
            <a:ext cx="3380556" cy="1569660"/>
          </a:xfrm>
          <a:prstGeom prst="rect">
            <a:avLst/>
          </a:prstGeom>
          <a:ln>
            <a:solidFill>
              <a:srgbClr val="FF0000"/>
            </a:solidFill>
          </a:ln>
        </p:spPr>
        <p:txBody>
          <a:bodyPr wrap="square">
            <a:spAutoFit/>
          </a:bodyPr>
          <a:lstStyle/>
          <a:p>
            <a:r>
              <a:rPr lang="zh-CN" altLang="en-US" dirty="0"/>
              <a:t>例如：一些有效的名字</a:t>
            </a:r>
            <a:endParaRPr lang="zh-CN" altLang="en-US" dirty="0"/>
          </a:p>
          <a:p>
            <a:r>
              <a:rPr lang="en-US" altLang="zh-CN" dirty="0"/>
              <a:t>var123   Count    </a:t>
            </a:r>
            <a:r>
              <a:rPr lang="en-US" altLang="zh-CN" dirty="0" err="1"/>
              <a:t>myFile</a:t>
            </a:r>
            <a:endParaRPr lang="en-US" altLang="zh-CN" dirty="0"/>
          </a:p>
          <a:p>
            <a:r>
              <a:rPr lang="en-US" altLang="zh-CN" dirty="0">
                <a:solidFill>
                  <a:srgbClr val="FF0000"/>
                </a:solidFill>
              </a:rPr>
              <a:t>_main   $first   .</a:t>
            </a:r>
            <a:r>
              <a:rPr lang="en-US" altLang="zh-CN" dirty="0" err="1">
                <a:solidFill>
                  <a:srgbClr val="FF0000"/>
                </a:solidFill>
              </a:rPr>
              <a:t>mylife</a:t>
            </a:r>
            <a:r>
              <a:rPr lang="en-US" altLang="zh-CN" dirty="0">
                <a:solidFill>
                  <a:srgbClr val="FF0000"/>
                </a:solidFill>
              </a:rPr>
              <a:t> (</a:t>
            </a:r>
            <a:r>
              <a:rPr lang="zh-CN" altLang="en-US" dirty="0">
                <a:solidFill>
                  <a:srgbClr val="FF0000"/>
                </a:solidFill>
              </a:rPr>
              <a:t>合法但不可取</a:t>
            </a:r>
            <a:r>
              <a:rPr lang="en-US" altLang="zh-CN" dirty="0">
                <a:solidFill>
                  <a:srgbClr val="FF0000"/>
                </a:solidFill>
              </a:rPr>
              <a:t>)</a:t>
            </a:r>
            <a:endParaRPr lang="zh-CN" altLang="en-US" dirty="0">
              <a:solidFill>
                <a:srgbClr val="FF0000"/>
              </a:solidFill>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汇编语言语句的基本格式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p:cNvSpPr>
            <a:spLocks noGrp="1" noChangeArrowheads="1"/>
          </p:cNvSpPr>
          <p:nvPr>
            <p:ph type="title"/>
          </p:nvPr>
        </p:nvSpPr>
        <p:spPr/>
        <p:txBody>
          <a:bodyPr/>
          <a:lstStyle/>
          <a:p>
            <a:r>
              <a:rPr lang="zh-CN" altLang="en-US" dirty="0"/>
              <a:t> </a:t>
            </a:r>
            <a:endParaRPr lang="zh-CN" altLang="en-US" dirty="0"/>
          </a:p>
        </p:txBody>
      </p:sp>
      <p:sp>
        <p:nvSpPr>
          <p:cNvPr id="334851" name="Rectangle 3"/>
          <p:cNvSpPr>
            <a:spLocks noGrp="1" noChangeArrowheads="1"/>
          </p:cNvSpPr>
          <p:nvPr>
            <p:ph type="body" idx="1"/>
          </p:nvPr>
        </p:nvSpPr>
        <p:spPr>
          <a:xfrm>
            <a:off x="575556" y="1232756"/>
            <a:ext cx="7992888" cy="4932548"/>
          </a:xfrm>
        </p:spPr>
        <p:txBody>
          <a:bodyPr/>
          <a:lstStyle/>
          <a:p>
            <a:pPr algn="just">
              <a:buNone/>
            </a:pPr>
            <a:r>
              <a:rPr lang="zh-CN" altLang="en-US" dirty="0">
                <a:solidFill>
                  <a:srgbClr val="FF0000"/>
                </a:solidFill>
                <a:effectLst/>
                <a:latin typeface="华文宋体" panose="02010600040101010101" pitchFamily="2" charset="-122"/>
                <a:ea typeface="华文宋体" panose="02010600040101010101" pitchFamily="2" charset="-122"/>
              </a:rPr>
              <a:t>标号：</a:t>
            </a:r>
            <a:endParaRPr lang="en-US" altLang="zh-CN" dirty="0">
              <a:solidFill>
                <a:srgbClr val="FF0000"/>
              </a:solidFill>
              <a:effectLst/>
              <a:latin typeface="华文宋体" panose="02010600040101010101" pitchFamily="2" charset="-122"/>
              <a:ea typeface="华文宋体" panose="02010600040101010101" pitchFamily="2" charset="-122"/>
            </a:endParaRPr>
          </a:p>
          <a:p>
            <a:pPr algn="just"/>
            <a:r>
              <a:rPr lang="zh-CN" altLang="en-US" b="0" dirty="0">
                <a:solidFill>
                  <a:schemeClr val="tx1"/>
                </a:solidFill>
                <a:effectLst/>
                <a:ea typeface="宋体" panose="02010600030101010101" pitchFamily="2" charset="-122"/>
              </a:rPr>
              <a:t>标号用来代表一条指令所在单元的地址，在代码段中定义及使用。</a:t>
            </a:r>
            <a:endParaRPr lang="en-US" altLang="zh-CN" b="0" dirty="0">
              <a:solidFill>
                <a:schemeClr val="tx1"/>
              </a:solidFill>
              <a:effectLst/>
              <a:ea typeface="宋体" panose="02010600030101010101" pitchFamily="2" charset="-122"/>
            </a:endParaRPr>
          </a:p>
          <a:p>
            <a:pPr marL="457200" lvl="1" indent="0" algn="just">
              <a:buNone/>
            </a:pPr>
            <a:r>
              <a:rPr lang="en-US" altLang="zh-CN"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Next:     </a:t>
            </a:r>
            <a:r>
              <a:rPr lang="en-US" altLang="zh-CN" dirty="0" err="1">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Mov</a:t>
            </a:r>
            <a:r>
              <a:rPr lang="en-US" altLang="zh-CN"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  AX, BX	;BX</a:t>
            </a:r>
            <a:r>
              <a:rPr lang="zh-CN" altLang="en-US"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内容送</a:t>
            </a:r>
            <a:r>
              <a:rPr lang="en-US" altLang="zh-CN"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AX, Next</a:t>
            </a:r>
            <a:r>
              <a:rPr lang="zh-CN" altLang="en-US"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为标号</a:t>
            </a:r>
            <a:endParaRPr lang="en-US" altLang="zh-CN"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endParaRPr>
          </a:p>
          <a:p>
            <a:pPr algn="just"/>
            <a:r>
              <a:rPr lang="zh-CN" altLang="en-US" b="0" dirty="0">
                <a:solidFill>
                  <a:schemeClr val="tx1"/>
                </a:solidFill>
                <a:effectLst/>
                <a:ea typeface="宋体" panose="02010600030101010101" pitchFamily="2" charset="-122"/>
              </a:rPr>
              <a:t>标号放在语句的前面，并用冒号“</a:t>
            </a:r>
            <a:r>
              <a:rPr lang="en-US" altLang="zh-CN" b="0" dirty="0">
                <a:solidFill>
                  <a:schemeClr val="tx1"/>
                </a:solidFill>
                <a:effectLst/>
                <a:ea typeface="宋体" panose="02010600030101010101" pitchFamily="2" charset="-122"/>
              </a:rPr>
              <a:t>:</a:t>
            </a:r>
            <a:r>
              <a:rPr lang="zh-CN" altLang="en-US" b="0" dirty="0">
                <a:solidFill>
                  <a:schemeClr val="tx1"/>
                </a:solidFill>
                <a:effectLst/>
                <a:ea typeface="宋体" panose="02010600030101010101" pitchFamily="2" charset="-122"/>
              </a:rPr>
              <a:t>”与操作项分开。</a:t>
            </a:r>
            <a:endParaRPr lang="en-US" altLang="zh-CN" b="0" dirty="0">
              <a:solidFill>
                <a:schemeClr val="tx1"/>
              </a:solidFill>
              <a:effectLst/>
              <a:ea typeface="宋体" panose="02010600030101010101" pitchFamily="2" charset="-122"/>
            </a:endParaRPr>
          </a:p>
          <a:p>
            <a:pPr algn="just"/>
            <a:r>
              <a:rPr lang="zh-CN" altLang="en-US" b="0" dirty="0">
                <a:solidFill>
                  <a:schemeClr val="tx1"/>
                </a:solidFill>
                <a:effectLst/>
                <a:ea typeface="宋体" panose="02010600030101010101" pitchFamily="2" charset="-122"/>
              </a:rPr>
              <a:t>标号经常在</a:t>
            </a:r>
            <a:r>
              <a:rPr lang="zh-CN" altLang="en-US" b="0" dirty="0">
                <a:solidFill>
                  <a:srgbClr val="FF0000"/>
                </a:solidFill>
                <a:effectLst/>
                <a:ea typeface="宋体" panose="02010600030101010101" pitchFamily="2" charset="-122"/>
              </a:rPr>
              <a:t>转移指令</a:t>
            </a:r>
            <a:r>
              <a:rPr lang="zh-CN" altLang="en-US" b="0" dirty="0">
                <a:solidFill>
                  <a:schemeClr val="tx1"/>
                </a:solidFill>
                <a:effectLst/>
                <a:ea typeface="宋体" panose="02010600030101010101" pitchFamily="2" charset="-122"/>
              </a:rPr>
              <a:t>或</a:t>
            </a:r>
            <a:r>
              <a:rPr lang="en-US" altLang="zh-CN" b="0" dirty="0">
                <a:solidFill>
                  <a:srgbClr val="FF0000"/>
                </a:solidFill>
                <a:effectLst/>
                <a:ea typeface="宋体" panose="02010600030101010101" pitchFamily="2" charset="-122"/>
                <a:cs typeface="Times New Roman" panose="02020603050405020304" pitchFamily="18" charset="0"/>
              </a:rPr>
              <a:t>CALL</a:t>
            </a:r>
            <a:r>
              <a:rPr lang="zh-CN" altLang="en-US" b="0" dirty="0">
                <a:solidFill>
                  <a:schemeClr val="tx1"/>
                </a:solidFill>
                <a:effectLst/>
                <a:ea typeface="宋体" panose="02010600030101010101" pitchFamily="2" charset="-122"/>
              </a:rPr>
              <a:t>指令的操作数字段出现，用以表示转向的目标地址。</a:t>
            </a:r>
            <a:endParaRPr lang="zh-CN" altLang="en-US" b="0" dirty="0">
              <a:solidFill>
                <a:schemeClr val="tx1"/>
              </a:solidFill>
              <a:effectLst/>
              <a:ea typeface="宋体" panose="02010600030101010101" pitchFamily="2" charset="-122"/>
            </a:endParaRPr>
          </a:p>
          <a:p>
            <a:pPr algn="just"/>
            <a:r>
              <a:rPr lang="zh-CN" altLang="en-US" b="0" dirty="0">
                <a:solidFill>
                  <a:schemeClr val="tx1"/>
                </a:solidFill>
                <a:effectLst/>
                <a:ea typeface="宋体" panose="02010600030101010101" pitchFamily="2" charset="-122"/>
              </a:rPr>
              <a:t>标号不是每条指令所必需的，它也可以用</a:t>
            </a:r>
            <a:r>
              <a:rPr lang="en-US" altLang="zh-CN" b="0" dirty="0">
                <a:solidFill>
                  <a:srgbClr val="FF0000"/>
                </a:solidFill>
                <a:effectLst/>
                <a:ea typeface="宋体" panose="02010600030101010101" pitchFamily="2" charset="-122"/>
                <a:cs typeface="Times New Roman" panose="02020603050405020304" pitchFamily="18" charset="0"/>
              </a:rPr>
              <a:t>LABEL</a:t>
            </a:r>
            <a:r>
              <a:rPr lang="zh-CN" altLang="en-US" b="0" dirty="0">
                <a:solidFill>
                  <a:schemeClr val="tx1"/>
                </a:solidFill>
                <a:effectLst/>
                <a:ea typeface="宋体" panose="02010600030101010101" pitchFamily="2" charset="-122"/>
              </a:rPr>
              <a:t>或</a:t>
            </a:r>
            <a:r>
              <a:rPr lang="en-US" altLang="zh-CN" b="0" dirty="0">
                <a:solidFill>
                  <a:srgbClr val="FF0000"/>
                </a:solidFill>
                <a:effectLst/>
                <a:ea typeface="宋体" panose="02010600030101010101" pitchFamily="2" charset="-122"/>
                <a:cs typeface="Times New Roman" panose="02020603050405020304" pitchFamily="18" charset="0"/>
              </a:rPr>
              <a:t>EQU</a:t>
            </a:r>
            <a:r>
              <a:rPr lang="zh-CN" altLang="en-US" b="0" dirty="0">
                <a:solidFill>
                  <a:schemeClr val="tx1"/>
                </a:solidFill>
                <a:effectLst/>
                <a:ea typeface="宋体" panose="02010600030101010101" pitchFamily="2" charset="-122"/>
              </a:rPr>
              <a:t>伪指令来定义。（后面介绍）</a:t>
            </a:r>
            <a:endParaRPr lang="zh-CN" altLang="en-US" b="0" dirty="0">
              <a:solidFill>
                <a:schemeClr val="tx1"/>
              </a:solidFill>
              <a:effectLst/>
              <a:ea typeface="宋体" panose="02010600030101010101" pitchFamily="2" charset="-122"/>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汇编语言语句的基本格式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2"/>
          <p:cNvSpPr>
            <a:spLocks noGrp="1" noChangeArrowheads="1"/>
          </p:cNvSpPr>
          <p:nvPr>
            <p:ph type="title"/>
          </p:nvPr>
        </p:nvSpPr>
        <p:spPr/>
        <p:txBody>
          <a:bodyPr/>
          <a:lstStyle/>
          <a:p>
            <a:r>
              <a:rPr lang="zh-CN" altLang="en-US" dirty="0"/>
              <a:t> </a:t>
            </a:r>
            <a:endParaRPr lang="zh-CN" altLang="en-US" dirty="0"/>
          </a:p>
        </p:txBody>
      </p:sp>
      <p:sp>
        <p:nvSpPr>
          <p:cNvPr id="335875" name="Rectangle 3"/>
          <p:cNvSpPr>
            <a:spLocks noGrp="1" noChangeArrowheads="1"/>
          </p:cNvSpPr>
          <p:nvPr>
            <p:ph type="body" idx="1"/>
          </p:nvPr>
        </p:nvSpPr>
        <p:spPr>
          <a:xfrm>
            <a:off x="539552" y="944724"/>
            <a:ext cx="8229600" cy="5112568"/>
          </a:xfrm>
        </p:spPr>
        <p:txBody>
          <a:bodyPr/>
          <a:lstStyle/>
          <a:p>
            <a:pPr algn="just">
              <a:lnSpc>
                <a:spcPct val="90000"/>
              </a:lnSpc>
              <a:buNone/>
            </a:pPr>
            <a:r>
              <a:rPr lang="zh-CN" altLang="en-US" sz="2400" dirty="0">
                <a:solidFill>
                  <a:srgbClr val="FF0000"/>
                </a:solidFill>
                <a:effectLst/>
                <a:latin typeface="华文宋体" panose="02010600040101010101" pitchFamily="2" charset="-122"/>
                <a:ea typeface="华文宋体" panose="02010600040101010101" pitchFamily="2" charset="-122"/>
              </a:rPr>
              <a:t>变量：</a:t>
            </a:r>
            <a:endParaRPr lang="en-US" altLang="zh-CN" sz="2400" dirty="0">
              <a:solidFill>
                <a:srgbClr val="FF0000"/>
              </a:solidFill>
              <a:effectLst/>
              <a:latin typeface="华文宋体" panose="02010600040101010101" pitchFamily="2" charset="-122"/>
              <a:ea typeface="华文宋体" panose="02010600040101010101" pitchFamily="2" charset="-122"/>
            </a:endParaRPr>
          </a:p>
          <a:p>
            <a:pPr algn="just">
              <a:lnSpc>
                <a:spcPct val="90000"/>
              </a:lnSpc>
            </a:pPr>
            <a:r>
              <a:rPr lang="zh-CN" altLang="en-US" sz="2400" b="0" dirty="0">
                <a:solidFill>
                  <a:schemeClr val="tx1"/>
                </a:solidFill>
                <a:effectLst/>
                <a:ea typeface="宋体" panose="02010600030101010101" pitchFamily="2" charset="-122"/>
              </a:rPr>
              <a:t>变量在数据段、附加段和堆栈段中定义，后面不跟冒号。</a:t>
            </a:r>
            <a:endParaRPr lang="zh-CN" altLang="en-US" sz="2400" b="0" dirty="0">
              <a:solidFill>
                <a:schemeClr val="tx1"/>
              </a:solidFill>
              <a:effectLst/>
              <a:ea typeface="宋体" panose="02010600030101010101" pitchFamily="2" charset="-122"/>
            </a:endParaRPr>
          </a:p>
          <a:p>
            <a:pPr algn="just">
              <a:lnSpc>
                <a:spcPct val="90000"/>
              </a:lnSpc>
            </a:pPr>
            <a:r>
              <a:rPr lang="zh-CN" altLang="en-US" sz="2400" b="0" dirty="0">
                <a:solidFill>
                  <a:schemeClr val="tx1"/>
                </a:solidFill>
                <a:effectLst/>
                <a:ea typeface="宋体" panose="02010600030101010101" pitchFamily="2" charset="-122"/>
              </a:rPr>
              <a:t>变量是一个可以存放数据的存储单元的名字，即存放数据的存储单元的地址符号名。</a:t>
            </a:r>
            <a:endParaRPr lang="zh-CN" altLang="en-US" sz="2400" b="0" dirty="0">
              <a:solidFill>
                <a:schemeClr val="tx1"/>
              </a:solidFill>
              <a:effectLst/>
              <a:ea typeface="宋体" panose="02010600030101010101" pitchFamily="2" charset="-122"/>
            </a:endParaRPr>
          </a:p>
          <a:p>
            <a:pPr algn="just">
              <a:lnSpc>
                <a:spcPct val="90000"/>
              </a:lnSpc>
            </a:pPr>
            <a:r>
              <a:rPr lang="zh-CN" altLang="en-US" sz="2400" b="0" dirty="0">
                <a:solidFill>
                  <a:schemeClr val="tx1"/>
                </a:solidFill>
                <a:effectLst/>
                <a:ea typeface="宋体" panose="02010600030101010101" pitchFamily="2" charset="-122"/>
              </a:rPr>
              <a:t>变量可以是用</a:t>
            </a:r>
            <a:r>
              <a:rPr lang="en-US" altLang="zh-CN" sz="2400" b="0" dirty="0">
                <a:solidFill>
                  <a:schemeClr val="tx1"/>
                </a:solidFill>
                <a:effectLst/>
                <a:ea typeface="宋体" panose="02010600030101010101" pitchFamily="2" charset="-122"/>
                <a:cs typeface="Times New Roman" panose="02020603050405020304" pitchFamily="18" charset="0"/>
              </a:rPr>
              <a:t>DB</a:t>
            </a:r>
            <a:r>
              <a:rPr lang="zh-CN" altLang="en-US" sz="2400" b="0" dirty="0">
                <a:solidFill>
                  <a:schemeClr val="tx1"/>
                </a:solidFill>
                <a:effectLst/>
                <a:ea typeface="宋体" panose="02010600030101010101" pitchFamily="2" charset="-122"/>
              </a:rPr>
              <a:t>、</a:t>
            </a:r>
            <a:r>
              <a:rPr lang="en-US" altLang="zh-CN" sz="2400" b="0" dirty="0">
                <a:solidFill>
                  <a:schemeClr val="tx1"/>
                </a:solidFill>
                <a:effectLst/>
                <a:ea typeface="宋体" panose="02010600030101010101" pitchFamily="2" charset="-122"/>
                <a:cs typeface="Times New Roman" panose="02020603050405020304" pitchFamily="18" charset="0"/>
              </a:rPr>
              <a:t>DW</a:t>
            </a:r>
            <a:r>
              <a:rPr lang="zh-CN" altLang="en-US" sz="2400" b="0" dirty="0">
                <a:solidFill>
                  <a:schemeClr val="tx1"/>
                </a:solidFill>
                <a:effectLst/>
                <a:ea typeface="宋体" panose="02010600030101010101" pitchFamily="2" charset="-122"/>
              </a:rPr>
              <a:t>、</a:t>
            </a:r>
            <a:r>
              <a:rPr lang="en-US" altLang="zh-CN" sz="2400" b="0" dirty="0">
                <a:solidFill>
                  <a:schemeClr val="tx1"/>
                </a:solidFill>
                <a:effectLst/>
                <a:ea typeface="宋体" panose="02010600030101010101" pitchFamily="2" charset="-122"/>
                <a:cs typeface="Times New Roman" panose="02020603050405020304" pitchFamily="18" charset="0"/>
              </a:rPr>
              <a:t>DD</a:t>
            </a:r>
            <a:r>
              <a:rPr lang="zh-CN" altLang="en-US" sz="2400" b="0" dirty="0">
                <a:solidFill>
                  <a:schemeClr val="tx1"/>
                </a:solidFill>
                <a:effectLst/>
                <a:ea typeface="宋体" panose="02010600030101010101" pitchFamily="2" charset="-122"/>
              </a:rPr>
              <a:t>定义的字节、字或双字操作数，也可以被定义为一个数据区（有具体数值）或存储区（只定义存储区域，而不指定具体的数值）。</a:t>
            </a:r>
            <a:endParaRPr lang="zh-CN" altLang="en-US" sz="2400" b="0" dirty="0">
              <a:solidFill>
                <a:schemeClr val="tx1"/>
              </a:solidFill>
              <a:effectLst/>
              <a:ea typeface="宋体" panose="02010600030101010101" pitchFamily="2" charset="-122"/>
            </a:endParaRPr>
          </a:p>
          <a:p>
            <a:pPr algn="just">
              <a:lnSpc>
                <a:spcPct val="90000"/>
              </a:lnSpc>
            </a:pPr>
            <a:r>
              <a:rPr lang="zh-CN" altLang="en-US" sz="2400" dirty="0">
                <a:solidFill>
                  <a:srgbClr val="FF0000"/>
                </a:solidFill>
                <a:effectLst/>
                <a:ea typeface="宋体" panose="02010600030101010101" pitchFamily="2" charset="-122"/>
              </a:rPr>
              <a:t>变量名仅表示该数据区或存储区的第一个数据单元的首地址</a:t>
            </a:r>
            <a:r>
              <a:rPr lang="zh-CN" altLang="en-US" sz="2400" b="0" dirty="0">
                <a:solidFill>
                  <a:schemeClr val="tx1"/>
                </a:solidFill>
                <a:effectLst/>
                <a:ea typeface="宋体" panose="02010600030101010101" pitchFamily="2" charset="-122"/>
              </a:rPr>
              <a:t>。变量经常在操作数字段出现。</a:t>
            </a:r>
            <a:endParaRPr lang="en-US" altLang="zh-CN" sz="2400" b="0" dirty="0">
              <a:solidFill>
                <a:schemeClr val="tx1"/>
              </a:solidFill>
              <a:effectLst/>
              <a:ea typeface="宋体" panose="02010600030101010101" pitchFamily="2" charset="-122"/>
            </a:endParaRPr>
          </a:p>
          <a:p>
            <a:pPr algn="just">
              <a:lnSpc>
                <a:spcPct val="90000"/>
              </a:lnSpc>
            </a:pPr>
            <a:r>
              <a:rPr lang="zh-CN" altLang="en-US" sz="2400" b="0" dirty="0">
                <a:solidFill>
                  <a:schemeClr val="tx1"/>
                </a:solidFill>
                <a:effectLst/>
                <a:ea typeface="宋体" panose="02010600030101010101" pitchFamily="2" charset="-122"/>
              </a:rPr>
              <a:t>它也可以用</a:t>
            </a:r>
            <a:r>
              <a:rPr lang="en-US" altLang="zh-CN" sz="2400" b="0" dirty="0">
                <a:solidFill>
                  <a:srgbClr val="FF0000"/>
                </a:solidFill>
                <a:effectLst/>
                <a:ea typeface="宋体" panose="02010600030101010101" pitchFamily="2" charset="-122"/>
                <a:cs typeface="Times New Roman" panose="02020603050405020304" pitchFamily="18" charset="0"/>
              </a:rPr>
              <a:t>LABEL</a:t>
            </a:r>
            <a:r>
              <a:rPr lang="zh-CN" altLang="en-US" sz="2400" b="0" dirty="0">
                <a:solidFill>
                  <a:schemeClr val="tx1"/>
                </a:solidFill>
                <a:effectLst/>
                <a:ea typeface="宋体" panose="02010600030101010101" pitchFamily="2" charset="-122"/>
              </a:rPr>
              <a:t>或</a:t>
            </a:r>
            <a:r>
              <a:rPr lang="en-US" altLang="zh-CN" sz="2400" b="0" dirty="0">
                <a:solidFill>
                  <a:srgbClr val="FF0000"/>
                </a:solidFill>
                <a:effectLst/>
                <a:ea typeface="宋体" panose="02010600030101010101" pitchFamily="2" charset="-122"/>
                <a:cs typeface="Times New Roman" panose="02020603050405020304" pitchFamily="18" charset="0"/>
              </a:rPr>
              <a:t>EQU</a:t>
            </a:r>
            <a:r>
              <a:rPr lang="zh-CN" altLang="en-US" sz="2400" b="0" dirty="0">
                <a:solidFill>
                  <a:schemeClr val="tx1"/>
                </a:solidFill>
                <a:effectLst/>
                <a:ea typeface="宋体" panose="02010600030101010101" pitchFamily="2" charset="-122"/>
              </a:rPr>
              <a:t>伪指令来定义。</a:t>
            </a:r>
            <a:endParaRPr lang="zh-CN" altLang="en-US" sz="2400" b="0" dirty="0">
              <a:solidFill>
                <a:schemeClr val="tx1"/>
              </a:solidFill>
              <a:effectLst/>
              <a:ea typeface="宋体" panose="02010600030101010101" pitchFamily="2" charset="-122"/>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汇编语言语句的基本格式</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6" name="文本框 5"/>
          <p:cNvSpPr txBox="1"/>
          <p:nvPr/>
        </p:nvSpPr>
        <p:spPr>
          <a:xfrm>
            <a:off x="683568" y="4895458"/>
            <a:ext cx="8316924" cy="1569660"/>
          </a:xfrm>
          <a:prstGeom prst="rect">
            <a:avLst/>
          </a:prstGeom>
          <a:noFill/>
        </p:spPr>
        <p:txBody>
          <a:bodyPr wrap="square">
            <a:spAutoFit/>
          </a:bodyPr>
          <a:lstStyle/>
          <a:p>
            <a:r>
              <a:rPr lang="en-US" altLang="zh-CN" b="0" dirty="0"/>
              <a:t>DATAS  SEGMENT</a:t>
            </a:r>
            <a:endParaRPr lang="en-US" altLang="zh-CN" b="0" dirty="0"/>
          </a:p>
          <a:p>
            <a:r>
              <a:rPr lang="en-US" altLang="zh-CN" b="0" dirty="0">
                <a:solidFill>
                  <a:srgbClr val="FF0000"/>
                </a:solidFill>
              </a:rPr>
              <a:t>     STRING   DB   ‘Harbin Institute of Technology, Shenzhen'</a:t>
            </a:r>
            <a:endParaRPr lang="en-US" altLang="zh-CN" b="0" dirty="0">
              <a:solidFill>
                <a:srgbClr val="FF0000"/>
              </a:solidFill>
            </a:endParaRPr>
          </a:p>
          <a:p>
            <a:r>
              <a:rPr lang="en-US" altLang="zh-CN" b="0" dirty="0">
                <a:solidFill>
                  <a:srgbClr val="FF0000"/>
                </a:solidFill>
              </a:rPr>
              <a:t>     ARRAY2  DW  100  DUP(?)</a:t>
            </a:r>
            <a:endParaRPr lang="en-US" altLang="zh-CN" b="0" dirty="0">
              <a:solidFill>
                <a:srgbClr val="FF0000"/>
              </a:solidFill>
            </a:endParaRPr>
          </a:p>
          <a:p>
            <a:r>
              <a:rPr lang="en-US" altLang="zh-CN" b="0" dirty="0"/>
              <a:t>DATAS  ENDS</a:t>
            </a:r>
            <a:endParaRPr lang="en-US" altLang="zh-CN" b="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9" name="Rectangle 3"/>
          <p:cNvSpPr>
            <a:spLocks noGrp="1" noChangeArrowheads="1"/>
          </p:cNvSpPr>
          <p:nvPr>
            <p:ph type="body" idx="1"/>
          </p:nvPr>
        </p:nvSpPr>
        <p:spPr>
          <a:xfrm>
            <a:off x="431540" y="980728"/>
            <a:ext cx="8352928" cy="5436604"/>
          </a:xfrm>
        </p:spPr>
        <p:txBody>
          <a:bodyPr/>
          <a:lstStyle/>
          <a:p>
            <a:pPr marL="0" indent="0" algn="just">
              <a:spcBef>
                <a:spcPts val="1200"/>
              </a:spcBef>
              <a:buNone/>
            </a:pPr>
            <a:r>
              <a:rPr lang="zh-CN" altLang="en-US" sz="2200" b="0" dirty="0">
                <a:solidFill>
                  <a:schemeClr val="tx1"/>
                </a:solidFill>
                <a:effectLst/>
                <a:ea typeface="宋体" panose="02010600030101010101" pitchFamily="2" charset="-122"/>
              </a:rPr>
              <a:t>标号和变量都具有三种属性：段属性、偏移属性及类型属性</a:t>
            </a:r>
            <a:endParaRPr lang="zh-CN" altLang="en-US" sz="2200" b="0" dirty="0">
              <a:solidFill>
                <a:schemeClr val="tx1"/>
              </a:solidFill>
              <a:effectLst/>
              <a:ea typeface="宋体" panose="02010600030101010101" pitchFamily="2" charset="-122"/>
              <a:cs typeface="Times New Roman" panose="02020603050405020304" pitchFamily="18" charset="0"/>
            </a:endParaRPr>
          </a:p>
          <a:p>
            <a:pPr algn="just">
              <a:spcBef>
                <a:spcPts val="1200"/>
              </a:spcBef>
            </a:pPr>
            <a:r>
              <a:rPr lang="zh-CN" altLang="en-US" sz="2200" b="0" dirty="0">
                <a:solidFill>
                  <a:srgbClr val="FF0000"/>
                </a:solidFill>
                <a:effectLst/>
                <a:ea typeface="宋体" panose="02010600030101010101" pitchFamily="2" charset="-122"/>
              </a:rPr>
              <a:t>段属性：</a:t>
            </a:r>
            <a:r>
              <a:rPr lang="zh-CN" altLang="en-US" sz="2200" b="0" dirty="0">
                <a:solidFill>
                  <a:schemeClr val="tx1"/>
                </a:solidFill>
                <a:effectLst/>
                <a:ea typeface="宋体" panose="02010600030101010101" pitchFamily="2" charset="-122"/>
              </a:rPr>
              <a:t>指示标号或变量所在段的段起始地址（段基址），此值在一个段寄存器中。</a:t>
            </a:r>
            <a:endParaRPr lang="zh-CN" altLang="en-US" sz="2200" b="0" dirty="0">
              <a:solidFill>
                <a:schemeClr val="tx1"/>
              </a:solidFill>
              <a:effectLst/>
              <a:ea typeface="宋体" panose="02010600030101010101" pitchFamily="2" charset="-122"/>
              <a:cs typeface="Times New Roman" panose="02020603050405020304" pitchFamily="18" charset="0"/>
            </a:endParaRPr>
          </a:p>
          <a:p>
            <a:pPr algn="just">
              <a:spcBef>
                <a:spcPts val="1200"/>
              </a:spcBef>
            </a:pPr>
            <a:r>
              <a:rPr lang="zh-CN" altLang="en-US" sz="2200" b="0" dirty="0">
                <a:solidFill>
                  <a:srgbClr val="FF0000"/>
                </a:solidFill>
                <a:effectLst/>
                <a:ea typeface="宋体" panose="02010600030101010101" pitchFamily="2" charset="-122"/>
              </a:rPr>
              <a:t>偏移属性：</a:t>
            </a:r>
            <a:r>
              <a:rPr lang="zh-CN" altLang="en-US" sz="2200" b="0" dirty="0">
                <a:solidFill>
                  <a:schemeClr val="tx1"/>
                </a:solidFill>
                <a:effectLst/>
                <a:ea typeface="宋体" panose="02010600030101010101" pitchFamily="2" charset="-122"/>
              </a:rPr>
              <a:t>是标号或变量所在的地址距段基址的偏移量。可以通过伪指令</a:t>
            </a:r>
            <a:r>
              <a:rPr lang="en-US" altLang="zh-CN" sz="2200" b="0" dirty="0">
                <a:solidFill>
                  <a:srgbClr val="FF0000"/>
                </a:solidFill>
                <a:effectLst/>
                <a:ea typeface="宋体" panose="02010600030101010101" pitchFamily="2" charset="-122"/>
              </a:rPr>
              <a:t>OFFSET</a:t>
            </a:r>
            <a:r>
              <a:rPr lang="zh-CN" altLang="en-US" sz="2200" b="0" dirty="0">
                <a:solidFill>
                  <a:schemeClr val="tx1"/>
                </a:solidFill>
                <a:effectLst/>
                <a:ea typeface="宋体" panose="02010600030101010101" pitchFamily="2" charset="-122"/>
              </a:rPr>
              <a:t>获取标号或变量相对于段基址的偏移地址。</a:t>
            </a:r>
            <a:endParaRPr lang="zh-CN" altLang="en-US" sz="2200" b="0" dirty="0">
              <a:solidFill>
                <a:schemeClr val="tx1"/>
              </a:solidFill>
              <a:effectLst/>
              <a:ea typeface="宋体" panose="02010600030101010101" pitchFamily="2" charset="-122"/>
              <a:cs typeface="Times New Roman" panose="02020603050405020304" pitchFamily="18" charset="0"/>
            </a:endParaRPr>
          </a:p>
          <a:p>
            <a:pPr algn="just">
              <a:spcBef>
                <a:spcPts val="1200"/>
              </a:spcBef>
            </a:pPr>
            <a:r>
              <a:rPr lang="zh-CN" altLang="en-US" sz="2200" b="0" dirty="0">
                <a:solidFill>
                  <a:srgbClr val="FF0000"/>
                </a:solidFill>
                <a:effectLst/>
                <a:ea typeface="宋体" panose="02010600030101010101" pitchFamily="2" charset="-122"/>
              </a:rPr>
              <a:t>类型属性</a:t>
            </a:r>
            <a:endParaRPr lang="en-US" altLang="zh-CN" sz="2200" b="0" dirty="0">
              <a:solidFill>
                <a:srgbClr val="FF0000"/>
              </a:solidFill>
              <a:effectLst/>
              <a:ea typeface="宋体" panose="02010600030101010101" pitchFamily="2" charset="-122"/>
            </a:endParaRPr>
          </a:p>
          <a:p>
            <a:pPr lvl="1" algn="just">
              <a:spcBef>
                <a:spcPts val="1200"/>
              </a:spcBef>
            </a:pPr>
            <a:r>
              <a:rPr lang="zh-CN" altLang="en-US" sz="1800" b="1" dirty="0">
                <a:solidFill>
                  <a:srgbClr val="FF0000"/>
                </a:solidFill>
                <a:ea typeface="宋体" panose="02010600030101010101" pitchFamily="2" charset="-122"/>
              </a:rPr>
              <a:t>变量</a:t>
            </a:r>
            <a:r>
              <a:rPr lang="zh-CN" altLang="en-US" sz="1800" dirty="0">
                <a:ea typeface="宋体" panose="02010600030101010101" pitchFamily="2" charset="-122"/>
              </a:rPr>
              <a:t>的类型属性定义该变量所保留的字节数。如</a:t>
            </a:r>
            <a:r>
              <a:rPr lang="en-US" altLang="zh-CN" sz="1800" dirty="0">
                <a:ea typeface="宋体" panose="02010600030101010101" pitchFamily="2" charset="-122"/>
              </a:rPr>
              <a:t>BYTE</a:t>
            </a:r>
            <a:r>
              <a:rPr lang="zh-CN" altLang="en-US" sz="1800" dirty="0">
                <a:ea typeface="宋体" panose="02010600030101010101" pitchFamily="2" charset="-122"/>
              </a:rPr>
              <a:t>（</a:t>
            </a:r>
            <a:r>
              <a:rPr lang="en-US" altLang="zh-CN" sz="1800" dirty="0">
                <a:ea typeface="宋体" panose="02010600030101010101" pitchFamily="2" charset="-122"/>
              </a:rPr>
              <a:t>1</a:t>
            </a:r>
            <a:r>
              <a:rPr lang="zh-CN" altLang="en-US" sz="1800" dirty="0">
                <a:ea typeface="宋体" panose="02010600030101010101" pitchFamily="2" charset="-122"/>
              </a:rPr>
              <a:t>字节），</a:t>
            </a:r>
            <a:r>
              <a:rPr lang="en-US" altLang="zh-CN" sz="1800" dirty="0">
                <a:ea typeface="宋体" panose="02010600030101010101" pitchFamily="2" charset="-122"/>
              </a:rPr>
              <a:t>WORD</a:t>
            </a:r>
            <a:r>
              <a:rPr lang="zh-CN" altLang="en-US" sz="1800" dirty="0">
                <a:ea typeface="宋体" panose="02010600030101010101" pitchFamily="2" charset="-122"/>
              </a:rPr>
              <a:t>（</a:t>
            </a:r>
            <a:r>
              <a:rPr lang="en-US" altLang="zh-CN" sz="1800" dirty="0">
                <a:ea typeface="宋体" panose="02010600030101010101" pitchFamily="2" charset="-122"/>
              </a:rPr>
              <a:t>2</a:t>
            </a:r>
            <a:r>
              <a:rPr lang="zh-CN" altLang="en-US" sz="1800" dirty="0">
                <a:ea typeface="宋体" panose="02010600030101010101" pitchFamily="2" charset="-122"/>
              </a:rPr>
              <a:t>字节），</a:t>
            </a:r>
            <a:r>
              <a:rPr lang="en-US" altLang="zh-CN" sz="1800" dirty="0">
                <a:ea typeface="宋体" panose="02010600030101010101" pitchFamily="2" charset="-122"/>
              </a:rPr>
              <a:t>DWORD</a:t>
            </a:r>
            <a:r>
              <a:rPr lang="zh-CN" altLang="en-US" sz="1800" dirty="0">
                <a:ea typeface="宋体" panose="02010600030101010101" pitchFamily="2" charset="-122"/>
              </a:rPr>
              <a:t>（</a:t>
            </a:r>
            <a:r>
              <a:rPr lang="en-US" altLang="zh-CN" sz="1800" dirty="0">
                <a:ea typeface="宋体" panose="02010600030101010101" pitchFamily="2" charset="-122"/>
              </a:rPr>
              <a:t>4</a:t>
            </a:r>
            <a:r>
              <a:rPr lang="zh-CN" altLang="en-US" sz="1800" dirty="0">
                <a:ea typeface="宋体" panose="02010600030101010101" pitchFamily="2" charset="-122"/>
              </a:rPr>
              <a:t>字节），</a:t>
            </a:r>
            <a:r>
              <a:rPr lang="en-US" altLang="zh-CN" sz="1800" dirty="0">
                <a:ea typeface="宋体" panose="02010600030101010101" pitchFamily="2" charset="-122"/>
              </a:rPr>
              <a:t>FWORD</a:t>
            </a:r>
            <a:r>
              <a:rPr lang="zh-CN" altLang="en-US" sz="1800" dirty="0">
                <a:ea typeface="宋体" panose="02010600030101010101" pitchFamily="2" charset="-122"/>
              </a:rPr>
              <a:t>（</a:t>
            </a:r>
            <a:r>
              <a:rPr lang="en-US" altLang="zh-CN" sz="1800" dirty="0">
                <a:ea typeface="宋体" panose="02010600030101010101" pitchFamily="2" charset="-122"/>
              </a:rPr>
              <a:t>6</a:t>
            </a:r>
            <a:r>
              <a:rPr lang="zh-CN" altLang="en-US" sz="1800" dirty="0">
                <a:ea typeface="宋体" panose="02010600030101010101" pitchFamily="2" charset="-122"/>
              </a:rPr>
              <a:t>字节），</a:t>
            </a:r>
            <a:r>
              <a:rPr lang="en-US" altLang="zh-CN" sz="1800" dirty="0">
                <a:ea typeface="宋体" panose="02010600030101010101" pitchFamily="2" charset="-122"/>
              </a:rPr>
              <a:t>QWORD</a:t>
            </a:r>
            <a:r>
              <a:rPr lang="zh-CN" altLang="en-US" sz="1800" dirty="0">
                <a:ea typeface="宋体" panose="02010600030101010101" pitchFamily="2" charset="-122"/>
              </a:rPr>
              <a:t>（</a:t>
            </a:r>
            <a:r>
              <a:rPr lang="en-US" altLang="zh-CN" sz="1800" dirty="0">
                <a:ea typeface="宋体" panose="02010600030101010101" pitchFamily="2" charset="-122"/>
              </a:rPr>
              <a:t>8</a:t>
            </a:r>
            <a:r>
              <a:rPr lang="zh-CN" altLang="en-US" sz="1800" dirty="0">
                <a:ea typeface="宋体" panose="02010600030101010101" pitchFamily="2" charset="-122"/>
              </a:rPr>
              <a:t>字节），</a:t>
            </a:r>
            <a:r>
              <a:rPr lang="en-US" altLang="zh-CN" sz="1800" dirty="0">
                <a:ea typeface="宋体" panose="02010600030101010101" pitchFamily="2" charset="-122"/>
              </a:rPr>
              <a:t>TBYTE</a:t>
            </a:r>
            <a:r>
              <a:rPr lang="zh-CN" altLang="en-US" sz="1800" dirty="0">
                <a:ea typeface="宋体" panose="02010600030101010101" pitchFamily="2" charset="-122"/>
              </a:rPr>
              <a:t>（</a:t>
            </a:r>
            <a:r>
              <a:rPr lang="en-US" altLang="zh-CN" sz="1800" dirty="0">
                <a:ea typeface="宋体" panose="02010600030101010101" pitchFamily="2" charset="-122"/>
              </a:rPr>
              <a:t>10</a:t>
            </a:r>
            <a:r>
              <a:rPr lang="zh-CN" altLang="en-US" sz="1800" dirty="0">
                <a:ea typeface="宋体" panose="02010600030101010101" pitchFamily="2" charset="-122"/>
              </a:rPr>
              <a:t>字节）。</a:t>
            </a:r>
            <a:endParaRPr lang="en-US" altLang="zh-CN" sz="1800" dirty="0">
              <a:ea typeface="宋体" panose="02010600030101010101" pitchFamily="2" charset="-122"/>
            </a:endParaRPr>
          </a:p>
          <a:p>
            <a:pPr lvl="1" algn="just">
              <a:spcBef>
                <a:spcPts val="1200"/>
              </a:spcBef>
            </a:pPr>
            <a:r>
              <a:rPr lang="zh-CN" altLang="en-US" sz="1800" b="1" dirty="0">
                <a:solidFill>
                  <a:srgbClr val="FF0000"/>
                </a:solidFill>
                <a:effectLst/>
                <a:ea typeface="宋体" panose="02010600030101010101" pitchFamily="2" charset="-122"/>
              </a:rPr>
              <a:t>标号</a:t>
            </a:r>
            <a:r>
              <a:rPr lang="zh-CN" altLang="en-US" sz="1800" b="0" dirty="0">
                <a:solidFill>
                  <a:schemeClr val="tx1"/>
                </a:solidFill>
                <a:effectLst/>
                <a:ea typeface="宋体" panose="02010600030101010101" pitchFamily="2" charset="-122"/>
              </a:rPr>
              <a:t>的类型属性用来指出该标号是只在本段内引用还是可以在其它段中引用。如在段内引用的，则称为</a:t>
            </a:r>
            <a:r>
              <a:rPr lang="en-US" altLang="zh-CN" sz="1800" b="0" dirty="0">
                <a:solidFill>
                  <a:srgbClr val="FF0000"/>
                </a:solidFill>
                <a:effectLst/>
                <a:ea typeface="宋体" panose="02010600030101010101" pitchFamily="2" charset="-122"/>
                <a:cs typeface="Times New Roman" panose="02020603050405020304" pitchFamily="18" charset="0"/>
              </a:rPr>
              <a:t>NEAR</a:t>
            </a:r>
            <a:r>
              <a:rPr lang="zh-CN" altLang="en-US" sz="1800" b="0" dirty="0">
                <a:solidFill>
                  <a:schemeClr val="tx1"/>
                </a:solidFill>
                <a:effectLst/>
                <a:ea typeface="宋体" panose="02010600030101010101" pitchFamily="2" charset="-122"/>
              </a:rPr>
              <a:t>，地址长度为</a:t>
            </a:r>
            <a:r>
              <a:rPr lang="en-US" altLang="zh-CN" sz="1800" b="0" dirty="0">
                <a:solidFill>
                  <a:schemeClr val="tx1"/>
                </a:solidFill>
                <a:effectLst/>
                <a:ea typeface="宋体" panose="02010600030101010101" pitchFamily="2" charset="-122"/>
                <a:cs typeface="Times New Roman" panose="02020603050405020304" pitchFamily="18" charset="0"/>
              </a:rPr>
              <a:t>2</a:t>
            </a:r>
            <a:r>
              <a:rPr lang="zh-CN" altLang="en-US" sz="1800" b="0" dirty="0">
                <a:solidFill>
                  <a:schemeClr val="tx1"/>
                </a:solidFill>
                <a:effectLst/>
                <a:ea typeface="宋体" panose="02010600030101010101" pitchFamily="2" charset="-122"/>
              </a:rPr>
              <a:t>个字节；如在段外引用，则称为</a:t>
            </a:r>
            <a:r>
              <a:rPr lang="en-US" altLang="zh-CN" sz="1800" b="0" dirty="0">
                <a:solidFill>
                  <a:srgbClr val="FF0000"/>
                </a:solidFill>
                <a:effectLst/>
                <a:ea typeface="宋体" panose="02010600030101010101" pitchFamily="2" charset="-122"/>
                <a:cs typeface="Times New Roman" panose="02020603050405020304" pitchFamily="18" charset="0"/>
              </a:rPr>
              <a:t>FAR</a:t>
            </a:r>
            <a:r>
              <a:rPr lang="zh-CN" altLang="en-US" sz="1800" b="0" dirty="0">
                <a:solidFill>
                  <a:schemeClr val="tx1"/>
                </a:solidFill>
                <a:effectLst/>
                <a:ea typeface="宋体" panose="02010600030101010101" pitchFamily="2" charset="-122"/>
              </a:rPr>
              <a:t>，地址长度为</a:t>
            </a:r>
            <a:r>
              <a:rPr lang="en-US" altLang="zh-CN" sz="1800" b="0" dirty="0">
                <a:solidFill>
                  <a:schemeClr val="tx1"/>
                </a:solidFill>
                <a:effectLst/>
                <a:ea typeface="宋体" panose="02010600030101010101" pitchFamily="2" charset="-122"/>
                <a:cs typeface="Times New Roman" panose="02020603050405020304" pitchFamily="18" charset="0"/>
              </a:rPr>
              <a:t>4</a:t>
            </a:r>
            <a:r>
              <a:rPr lang="zh-CN" altLang="en-US" sz="1800" b="0" dirty="0">
                <a:solidFill>
                  <a:schemeClr val="tx1"/>
                </a:solidFill>
                <a:effectLst/>
                <a:ea typeface="宋体" panose="02010600030101010101" pitchFamily="2" charset="-122"/>
              </a:rPr>
              <a:t>个字节。</a:t>
            </a:r>
            <a:endParaRPr lang="en-US" altLang="zh-CN" sz="1800" b="0" dirty="0">
              <a:solidFill>
                <a:schemeClr val="tx1"/>
              </a:solidFill>
              <a:effectLst/>
              <a:ea typeface="宋体" panose="02010600030101010101" pitchFamily="2" charset="-122"/>
            </a:endParaRPr>
          </a:p>
          <a:p>
            <a:pPr algn="just">
              <a:spcBef>
                <a:spcPts val="1200"/>
              </a:spcBef>
            </a:pPr>
            <a:r>
              <a:rPr lang="zh-CN" altLang="en-US" sz="2200" b="0" dirty="0">
                <a:solidFill>
                  <a:srgbClr val="FF0000"/>
                </a:solidFill>
                <a:effectLst/>
                <a:ea typeface="宋体" panose="02010600030101010101" pitchFamily="2" charset="-122"/>
              </a:rPr>
              <a:t>在同一个程序中，同样的标号或变量的定义只允许出现一次</a:t>
            </a:r>
            <a:r>
              <a:rPr lang="zh-CN" altLang="en-US" sz="2200" b="0" dirty="0">
                <a:solidFill>
                  <a:schemeClr val="tx1"/>
                </a:solidFill>
                <a:effectLst/>
                <a:ea typeface="宋体" panose="02010600030101010101" pitchFamily="2" charset="-122"/>
              </a:rPr>
              <a:t>，否则汇编程序会提示出错。</a:t>
            </a:r>
            <a:endParaRPr lang="zh-CN" altLang="en-US" sz="2200" b="0" dirty="0">
              <a:solidFill>
                <a:schemeClr val="tx1"/>
              </a:solidFill>
              <a:effectLst/>
              <a:ea typeface="宋体" panose="02010600030101010101" pitchFamily="2" charset="-122"/>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汇编语言语句的基本格式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20" name="文本占位符 188419"/>
          <p:cNvSpPr>
            <a:spLocks noGrp="1"/>
          </p:cNvSpPr>
          <p:nvPr>
            <p:ph type="body" idx="1"/>
          </p:nvPr>
        </p:nvSpPr>
        <p:spPr>
          <a:xfrm>
            <a:off x="431540" y="990364"/>
            <a:ext cx="8437884" cy="5715000"/>
          </a:xfrm>
        </p:spPr>
        <p:txBody>
          <a:bodyPr vert="horz" wrap="square" lIns="91440" tIns="45720" rIns="91440" bIns="45720" anchor="t"/>
          <a:lstStyle/>
          <a:p>
            <a:pPr marL="0" indent="187325">
              <a:lnSpc>
                <a:spcPct val="80000"/>
              </a:lnSpc>
              <a:buNone/>
            </a:pPr>
            <a:r>
              <a:rPr lang="zh-CN" altLang="en-US" sz="2400" dirty="0">
                <a:solidFill>
                  <a:srgbClr val="FF0000"/>
                </a:solidFill>
                <a:effectLst/>
                <a:latin typeface="华文宋体" panose="02010600040101010101" pitchFamily="2" charset="-122"/>
                <a:ea typeface="华文宋体" panose="02010600040101010101" pitchFamily="2" charset="-122"/>
              </a:rPr>
              <a:t>常量：</a:t>
            </a:r>
            <a:endParaRPr lang="zh-CN" altLang="en-US" sz="2400" dirty="0">
              <a:solidFill>
                <a:srgbClr val="FF0000"/>
              </a:solidFill>
              <a:effectLst/>
              <a:latin typeface="华文宋体" panose="02010600040101010101" pitchFamily="2" charset="-122"/>
              <a:ea typeface="华文宋体" panose="02010600040101010101" pitchFamily="2" charset="-122"/>
            </a:endParaRPr>
          </a:p>
          <a:p>
            <a:pPr marL="0" indent="187325">
              <a:lnSpc>
                <a:spcPct val="90000"/>
              </a:lnSpc>
              <a:buNone/>
            </a:pPr>
            <a:r>
              <a:rPr lang="zh-CN" altLang="en-US" sz="2400" b="0" dirty="0">
                <a:solidFill>
                  <a:schemeClr val="tx1"/>
                </a:solidFill>
                <a:latin typeface="华文宋体" panose="02010600040101010101" pitchFamily="2" charset="-122"/>
                <a:ea typeface="华文宋体" panose="02010600040101010101" pitchFamily="2" charset="-122"/>
              </a:rPr>
              <a:t>　</a:t>
            </a:r>
            <a:r>
              <a:rPr lang="zh-CN" altLang="en-US" sz="2400" b="0" dirty="0">
                <a:solidFill>
                  <a:schemeClr val="tx1"/>
                </a:solidFill>
                <a:effectLst/>
                <a:latin typeface="华文宋体" panose="02010600040101010101" pitchFamily="2" charset="-122"/>
                <a:ea typeface="华文宋体" panose="02010600040101010101" pitchFamily="2" charset="-122"/>
              </a:rPr>
              <a:t>常量是没有任何属性的纯数值，它的值在汇编期间确定，且在程序运行中也不会发生变化。常量分为</a:t>
            </a:r>
            <a:r>
              <a:rPr lang="zh-CN" altLang="en-US" sz="2400" b="0" dirty="0">
                <a:solidFill>
                  <a:srgbClr val="FF0000"/>
                </a:solidFill>
                <a:effectLst/>
                <a:latin typeface="华文宋体" panose="02010600040101010101" pitchFamily="2" charset="-122"/>
                <a:ea typeface="华文宋体" panose="02010600040101010101" pitchFamily="2" charset="-122"/>
              </a:rPr>
              <a:t>数值常量、字符串常量</a:t>
            </a:r>
            <a:r>
              <a:rPr lang="zh-CN" altLang="en-US" sz="2400" b="0" dirty="0">
                <a:solidFill>
                  <a:schemeClr val="tx1"/>
                </a:solidFill>
                <a:effectLst/>
                <a:latin typeface="华文宋体" panose="02010600040101010101" pitchFamily="2" charset="-122"/>
                <a:ea typeface="华文宋体" panose="02010600040101010101" pitchFamily="2" charset="-122"/>
              </a:rPr>
              <a:t>和</a:t>
            </a:r>
            <a:r>
              <a:rPr lang="zh-CN" altLang="en-US" sz="2400" b="0" dirty="0">
                <a:solidFill>
                  <a:srgbClr val="FF0000"/>
                </a:solidFill>
                <a:effectLst/>
                <a:latin typeface="华文宋体" panose="02010600040101010101" pitchFamily="2" charset="-122"/>
                <a:ea typeface="华文宋体" panose="02010600040101010101" pitchFamily="2" charset="-122"/>
              </a:rPr>
              <a:t>符号常量</a:t>
            </a:r>
            <a:r>
              <a:rPr lang="zh-CN" altLang="en-US" sz="2400" b="0" dirty="0">
                <a:solidFill>
                  <a:schemeClr val="tx1"/>
                </a:solidFill>
                <a:effectLst/>
                <a:latin typeface="华文宋体" panose="02010600040101010101" pitchFamily="2" charset="-122"/>
                <a:ea typeface="华文宋体" panose="02010600040101010101" pitchFamily="2" charset="-122"/>
              </a:rPr>
              <a:t>，它主要用于指令语句中的立即数或伪指令语句中给变量赋初值等。</a:t>
            </a:r>
            <a:endParaRPr lang="en-US" altLang="zh-CN" sz="2400" b="0" dirty="0">
              <a:solidFill>
                <a:schemeClr val="tx1"/>
              </a:solidFill>
              <a:effectLst/>
              <a:latin typeface="华文宋体" panose="02010600040101010101" pitchFamily="2" charset="-122"/>
              <a:ea typeface="华文宋体" panose="02010600040101010101" pitchFamily="2" charset="-122"/>
            </a:endParaRPr>
          </a:p>
          <a:p>
            <a:pPr marL="0" indent="187325">
              <a:lnSpc>
                <a:spcPct val="90000"/>
              </a:lnSpc>
              <a:buNone/>
            </a:pPr>
            <a:endParaRPr lang="zh-CN" altLang="en-US" sz="2400" b="0" dirty="0">
              <a:solidFill>
                <a:schemeClr val="tx1"/>
              </a:solidFill>
              <a:effectLst/>
              <a:latin typeface="华文宋体" panose="02010600040101010101" pitchFamily="2" charset="-122"/>
              <a:ea typeface="华文宋体" panose="02010600040101010101" pitchFamily="2" charset="-122"/>
            </a:endParaRPr>
          </a:p>
          <a:p>
            <a:pPr marL="0" indent="187325">
              <a:lnSpc>
                <a:spcPct val="90000"/>
              </a:lnSpc>
              <a:buNone/>
            </a:pPr>
            <a:r>
              <a:rPr lang="zh-CN" altLang="en-US" sz="2400" b="0" dirty="0">
                <a:solidFill>
                  <a:schemeClr val="tx1"/>
                </a:solidFill>
                <a:effectLst/>
                <a:latin typeface="华文宋体" panose="02010600040101010101" pitchFamily="2" charset="-122"/>
                <a:ea typeface="华文宋体" panose="02010600040101010101" pitchFamily="2" charset="-122"/>
              </a:rPr>
              <a:t>1）数值常量：</a:t>
            </a:r>
            <a:endParaRPr lang="en-US" altLang="zh-CN" sz="2400" b="0" dirty="0">
              <a:solidFill>
                <a:schemeClr val="tx1"/>
              </a:solidFill>
              <a:effectLst/>
              <a:latin typeface="华文宋体" panose="02010600040101010101" pitchFamily="2" charset="-122"/>
              <a:ea typeface="华文宋体" panose="02010600040101010101" pitchFamily="2" charset="-122"/>
            </a:endParaRPr>
          </a:p>
          <a:p>
            <a:pPr lvl="1">
              <a:lnSpc>
                <a:spcPct val="90000"/>
              </a:lnSpc>
              <a:buFont typeface="Wingdings" panose="05000000000000000000" pitchFamily="2" charset="2"/>
              <a:buChar char="u"/>
            </a:pPr>
            <a:r>
              <a:rPr lang="zh-CN" altLang="en-US" dirty="0">
                <a:solidFill>
                  <a:schemeClr val="tx1"/>
                </a:solidFill>
                <a:latin typeface="华文宋体" panose="02010600040101010101" pitchFamily="2" charset="-122"/>
                <a:ea typeface="华文宋体" panose="02010600040101010101" pitchFamily="2" charset="-122"/>
              </a:rPr>
              <a:t>基数后缀：</a:t>
            </a:r>
            <a:r>
              <a:rPr lang="en-US" altLang="zh-CN" dirty="0">
                <a:solidFill>
                  <a:schemeClr val="tx1"/>
                </a:solidFill>
                <a:latin typeface="华文宋体" panose="02010600040101010101" pitchFamily="2" charset="-122"/>
                <a:ea typeface="华文宋体" panose="02010600040101010101" pitchFamily="2" charset="-122"/>
              </a:rPr>
              <a:t>h</a:t>
            </a:r>
            <a:r>
              <a:rPr lang="zh-CN" altLang="en-US" dirty="0">
                <a:solidFill>
                  <a:schemeClr val="tx1"/>
                </a:solidFill>
                <a:latin typeface="华文宋体" panose="02010600040101010101" pitchFamily="2" charset="-122"/>
                <a:ea typeface="华文宋体" panose="02010600040101010101" pitchFamily="2" charset="-122"/>
              </a:rPr>
              <a:t>、</a:t>
            </a:r>
            <a:r>
              <a:rPr lang="en-US" altLang="zh-CN" dirty="0">
                <a:solidFill>
                  <a:schemeClr val="tx1"/>
                </a:solidFill>
                <a:latin typeface="华文宋体" panose="02010600040101010101" pitchFamily="2" charset="-122"/>
                <a:ea typeface="华文宋体" panose="02010600040101010101" pitchFamily="2" charset="-122"/>
              </a:rPr>
              <a:t>q/o</a:t>
            </a:r>
            <a:r>
              <a:rPr lang="zh-CN" altLang="en-US" dirty="0">
                <a:solidFill>
                  <a:schemeClr val="tx1"/>
                </a:solidFill>
                <a:latin typeface="华文宋体" panose="02010600040101010101" pitchFamily="2" charset="-122"/>
                <a:ea typeface="华文宋体" panose="02010600040101010101" pitchFamily="2" charset="-122"/>
              </a:rPr>
              <a:t>、</a:t>
            </a:r>
            <a:r>
              <a:rPr lang="en-US" altLang="zh-CN" dirty="0">
                <a:solidFill>
                  <a:schemeClr val="tx1"/>
                </a:solidFill>
                <a:latin typeface="华文宋体" panose="02010600040101010101" pitchFamily="2" charset="-122"/>
                <a:ea typeface="华文宋体" panose="02010600040101010101" pitchFamily="2" charset="-122"/>
              </a:rPr>
              <a:t>d</a:t>
            </a:r>
            <a:r>
              <a:rPr lang="zh-CN" altLang="en-US" dirty="0">
                <a:solidFill>
                  <a:schemeClr val="tx1"/>
                </a:solidFill>
                <a:latin typeface="华文宋体" panose="02010600040101010101" pitchFamily="2" charset="-122"/>
                <a:ea typeface="华文宋体" panose="02010600040101010101" pitchFamily="2" charset="-122"/>
              </a:rPr>
              <a:t>、</a:t>
            </a:r>
            <a:r>
              <a:rPr lang="en-US" altLang="zh-CN" dirty="0">
                <a:solidFill>
                  <a:schemeClr val="tx1"/>
                </a:solidFill>
                <a:latin typeface="华文宋体" panose="02010600040101010101" pitchFamily="2" charset="-122"/>
                <a:ea typeface="华文宋体" panose="02010600040101010101" pitchFamily="2" charset="-122"/>
              </a:rPr>
              <a:t>b</a:t>
            </a:r>
            <a:endParaRPr lang="en-US" altLang="zh-CN" dirty="0">
              <a:solidFill>
                <a:schemeClr val="tx1"/>
              </a:solidFill>
              <a:latin typeface="华文宋体" panose="02010600040101010101" pitchFamily="2" charset="-122"/>
              <a:ea typeface="华文宋体" panose="02010600040101010101" pitchFamily="2" charset="-122"/>
            </a:endParaRPr>
          </a:p>
          <a:p>
            <a:pPr lvl="1">
              <a:lnSpc>
                <a:spcPct val="90000"/>
              </a:lnSpc>
              <a:buFont typeface="Wingdings" panose="05000000000000000000" pitchFamily="2" charset="2"/>
              <a:buChar char="u"/>
            </a:pPr>
            <a:r>
              <a:rPr lang="zh-CN" altLang="en-US" dirty="0">
                <a:solidFill>
                  <a:schemeClr val="tx1"/>
                </a:solidFill>
                <a:latin typeface="华文宋体" panose="02010600040101010101" pitchFamily="2" charset="-122"/>
                <a:ea typeface="华文宋体" panose="02010600040101010101" pitchFamily="2" charset="-122"/>
              </a:rPr>
              <a:t>如果整数常量后面没有后缀，就被认为是十进制的</a:t>
            </a:r>
            <a:endParaRPr lang="zh-CN" altLang="en-US" dirty="0">
              <a:solidFill>
                <a:schemeClr val="tx1"/>
              </a:solidFill>
              <a:latin typeface="华文宋体" panose="02010600040101010101" pitchFamily="2" charset="-122"/>
              <a:ea typeface="华文宋体" panose="02010600040101010101" pitchFamily="2" charset="-122"/>
            </a:endParaRPr>
          </a:p>
          <a:p>
            <a:pPr lvl="1">
              <a:lnSpc>
                <a:spcPct val="90000"/>
              </a:lnSpc>
              <a:buFont typeface="Wingdings" panose="05000000000000000000" pitchFamily="2" charset="2"/>
              <a:buChar char="u"/>
            </a:pPr>
            <a:r>
              <a:rPr lang="zh-CN" altLang="en-US" dirty="0">
                <a:solidFill>
                  <a:schemeClr val="tx1"/>
                </a:solidFill>
                <a:latin typeface="华文宋体" panose="02010600040101010101" pitchFamily="2" charset="-122"/>
                <a:ea typeface="华文宋体" panose="02010600040101010101" pitchFamily="2" charset="-122"/>
              </a:rPr>
              <a:t>以字母开头的十六进制常量前面必须加一个</a:t>
            </a:r>
            <a:r>
              <a:rPr lang="en-US" altLang="zh-CN" dirty="0">
                <a:solidFill>
                  <a:schemeClr val="tx1"/>
                </a:solidFill>
                <a:latin typeface="华文宋体" panose="02010600040101010101" pitchFamily="2" charset="-122"/>
                <a:ea typeface="华文宋体" panose="02010600040101010101" pitchFamily="2" charset="-122"/>
              </a:rPr>
              <a:t>0 </a:t>
            </a:r>
            <a:endParaRPr lang="en-US" altLang="zh-CN" dirty="0">
              <a:solidFill>
                <a:schemeClr val="tx1"/>
              </a:solidFill>
              <a:latin typeface="华文宋体" panose="02010600040101010101" pitchFamily="2" charset="-122"/>
              <a:ea typeface="华文宋体" panose="02010600040101010101" pitchFamily="2" charset="-122"/>
            </a:endParaRPr>
          </a:p>
          <a:p>
            <a:pPr marL="457200" lvl="1" indent="0">
              <a:lnSpc>
                <a:spcPct val="90000"/>
              </a:lnSpc>
              <a:buNone/>
            </a:pPr>
            <a:endParaRPr lang="en-US" altLang="zh-CN" dirty="0">
              <a:solidFill>
                <a:schemeClr val="tx1"/>
              </a:solidFill>
              <a:latin typeface="华文宋体" panose="02010600040101010101" pitchFamily="2" charset="-122"/>
              <a:ea typeface="华文宋体" panose="02010600040101010101" pitchFamily="2" charset="-122"/>
            </a:endParaRPr>
          </a:p>
          <a:p>
            <a:pPr marL="0" indent="187325">
              <a:lnSpc>
                <a:spcPct val="90000"/>
              </a:lnSpc>
              <a:buNone/>
            </a:pPr>
            <a:r>
              <a:rPr lang="zh-CN" altLang="en-US" sz="2400" b="0" dirty="0">
                <a:solidFill>
                  <a:schemeClr val="tx1"/>
                </a:solidFill>
                <a:effectLst/>
                <a:latin typeface="华文宋体" panose="02010600040101010101" pitchFamily="2" charset="-122"/>
                <a:ea typeface="华文宋体" panose="02010600040101010101" pitchFamily="2" charset="-122"/>
              </a:rPr>
              <a:t>　例如：</a:t>
            </a:r>
            <a:endParaRPr lang="zh-CN" altLang="en-US" sz="2400" b="1" dirty="0">
              <a:solidFill>
                <a:schemeClr val="tx1"/>
              </a:solidFill>
              <a:effectLst/>
              <a:latin typeface="楷体_GB2312" pitchFamily="49" charset="-122"/>
              <a:ea typeface="楷体_GB2312" pitchFamily="49" charset="-122"/>
            </a:endParaRPr>
          </a:p>
        </p:txBody>
      </p:sp>
      <p:sp>
        <p:nvSpPr>
          <p:cNvPr id="3" name="矩形 2"/>
          <p:cNvSpPr/>
          <p:nvPr/>
        </p:nvSpPr>
        <p:spPr>
          <a:xfrm>
            <a:off x="935596" y="5625244"/>
            <a:ext cx="7632848" cy="707886"/>
          </a:xfrm>
          <a:prstGeom prst="rect">
            <a:avLst/>
          </a:prstGeom>
        </p:spPr>
        <p:txBody>
          <a:bodyPr wrap="square">
            <a:spAutoFit/>
          </a:bodyPr>
          <a:lstStyle/>
          <a:p>
            <a:r>
              <a:rPr lang="en-US" altLang="zh-CN" sz="2000" b="0" dirty="0"/>
              <a:t>26 </a:t>
            </a:r>
            <a:r>
              <a:rPr lang="zh-CN" altLang="en-US" sz="2000" b="0" dirty="0"/>
              <a:t>十进制      </a:t>
            </a:r>
            <a:r>
              <a:rPr lang="en-US" altLang="zh-CN" sz="2000" b="0" dirty="0"/>
              <a:t>26d </a:t>
            </a:r>
            <a:r>
              <a:rPr lang="zh-CN" altLang="en-US" sz="2000" b="0" dirty="0"/>
              <a:t>十进制       </a:t>
            </a:r>
            <a:r>
              <a:rPr lang="en-US" altLang="zh-CN" sz="2000" b="0" dirty="0"/>
              <a:t>11011110b </a:t>
            </a:r>
            <a:r>
              <a:rPr lang="zh-CN" altLang="en-US" sz="2000" b="0" dirty="0"/>
              <a:t>二进制</a:t>
            </a:r>
            <a:endParaRPr lang="zh-CN" altLang="en-US" sz="2000" b="0" dirty="0"/>
          </a:p>
          <a:p>
            <a:r>
              <a:rPr lang="en-US" altLang="zh-CN" sz="2000" b="0" dirty="0"/>
              <a:t>42q </a:t>
            </a:r>
            <a:r>
              <a:rPr lang="zh-CN" altLang="en-US" sz="2000" b="0" dirty="0"/>
              <a:t>八进制    </a:t>
            </a:r>
            <a:r>
              <a:rPr lang="en-US" altLang="zh-CN" sz="2000" b="0" dirty="0"/>
              <a:t>42o </a:t>
            </a:r>
            <a:r>
              <a:rPr lang="zh-CN" altLang="en-US" sz="2000" b="0" dirty="0"/>
              <a:t>八进制       </a:t>
            </a:r>
            <a:r>
              <a:rPr lang="en-US" altLang="zh-CN" sz="2000" b="0" dirty="0"/>
              <a:t>1Ah </a:t>
            </a:r>
            <a:r>
              <a:rPr lang="zh-CN" altLang="en-US" sz="2000" b="0" dirty="0"/>
              <a:t>十六进制</a:t>
            </a:r>
            <a:r>
              <a:rPr lang="en-US" altLang="zh-CN" sz="2000" b="0" dirty="0"/>
              <a:t>	0A3h </a:t>
            </a:r>
            <a:r>
              <a:rPr lang="zh-CN" altLang="en-US" sz="2000" b="0" dirty="0"/>
              <a:t>十六进制</a:t>
            </a:r>
            <a:endParaRPr lang="en-US" altLang="zh-CN" sz="2000" b="0" dirty="0"/>
          </a:p>
        </p:txBody>
      </p:sp>
      <p:sp>
        <p:nvSpPr>
          <p:cNvPr id="8" name="文本框 1"/>
          <p:cNvSpPr txBox="1"/>
          <p:nvPr/>
        </p:nvSpPr>
        <p:spPr>
          <a:xfrm>
            <a:off x="444096"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汇编语言语句的基本格式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20" name="文本占位符 188419"/>
          <p:cNvSpPr>
            <a:spLocks noGrp="1"/>
          </p:cNvSpPr>
          <p:nvPr>
            <p:ph type="body" idx="1"/>
          </p:nvPr>
        </p:nvSpPr>
        <p:spPr>
          <a:xfrm>
            <a:off x="287524" y="944724"/>
            <a:ext cx="8424936" cy="5715000"/>
          </a:xfrm>
        </p:spPr>
        <p:txBody>
          <a:bodyPr vert="horz" wrap="square" lIns="91440" tIns="45720" rIns="91440" bIns="45720" anchor="t"/>
          <a:lstStyle/>
          <a:p>
            <a:pPr marL="0" indent="187325">
              <a:spcBef>
                <a:spcPts val="600"/>
              </a:spcBef>
              <a:buNone/>
            </a:pPr>
            <a:r>
              <a:rPr lang="zh-CN" altLang="en-US" sz="2200" b="0" dirty="0">
                <a:solidFill>
                  <a:schemeClr val="tx1"/>
                </a:solidFill>
                <a:effectLst/>
                <a:latin typeface="华文宋体" panose="02010600040101010101" pitchFamily="2" charset="-122"/>
                <a:ea typeface="华文宋体" panose="02010600040101010101" pitchFamily="2" charset="-122"/>
              </a:rPr>
              <a:t>2）字符串常量</a:t>
            </a:r>
            <a:endParaRPr lang="zh-CN" altLang="en-US" sz="2200" b="0" dirty="0">
              <a:solidFill>
                <a:schemeClr val="tx1"/>
              </a:solidFill>
              <a:effectLst/>
              <a:latin typeface="华文宋体" panose="02010600040101010101" pitchFamily="2" charset="-122"/>
              <a:ea typeface="华文宋体" panose="02010600040101010101" pitchFamily="2" charset="-122"/>
            </a:endParaRPr>
          </a:p>
          <a:p>
            <a:pPr marL="0" indent="187325" algn="just">
              <a:spcBef>
                <a:spcPts val="600"/>
              </a:spcBef>
              <a:buNone/>
            </a:pPr>
            <a:r>
              <a:rPr lang="zh-CN" altLang="en-US" sz="2200" b="0" dirty="0">
                <a:solidFill>
                  <a:schemeClr val="tx1"/>
                </a:solidFill>
                <a:effectLst/>
                <a:ea typeface="华文宋体" panose="02010600040101010101" pitchFamily="2" charset="-122"/>
              </a:rPr>
              <a:t>字符串常量是用</a:t>
            </a:r>
            <a:r>
              <a:rPr lang="zh-CN" altLang="en-US" sz="2200" b="0" dirty="0">
                <a:solidFill>
                  <a:srgbClr val="FF0000"/>
                </a:solidFill>
                <a:effectLst/>
                <a:ea typeface="华文宋体" panose="02010600040101010101" pitchFamily="2" charset="-122"/>
              </a:rPr>
              <a:t>单引号</a:t>
            </a:r>
            <a:r>
              <a:rPr lang="zh-CN" altLang="en-US" sz="2200" b="0" dirty="0">
                <a:solidFill>
                  <a:schemeClr val="tx1"/>
                </a:solidFill>
                <a:effectLst/>
                <a:ea typeface="华文宋体" panose="02010600040101010101" pitchFamily="2" charset="-122"/>
              </a:rPr>
              <a:t>或</a:t>
            </a:r>
            <a:r>
              <a:rPr lang="zh-CN" altLang="en-US" sz="2200" b="0" dirty="0">
                <a:solidFill>
                  <a:srgbClr val="FF0000"/>
                </a:solidFill>
                <a:effectLst/>
                <a:ea typeface="华文宋体" panose="02010600040101010101" pitchFamily="2" charset="-122"/>
              </a:rPr>
              <a:t>双引号</a:t>
            </a:r>
            <a:r>
              <a:rPr lang="zh-CN" altLang="en-US" sz="2200" b="0" dirty="0">
                <a:solidFill>
                  <a:schemeClr val="tx1"/>
                </a:solidFill>
                <a:effectLst/>
                <a:ea typeface="华文宋体" panose="02010600040101010101" pitchFamily="2" charset="-122"/>
              </a:rPr>
              <a:t>括起来的一个字符或多个字符。</a:t>
            </a:r>
            <a:endParaRPr lang="en-US" altLang="zh-CN" sz="2200" b="0" dirty="0">
              <a:solidFill>
                <a:schemeClr val="tx1"/>
              </a:solidFill>
              <a:effectLst/>
              <a:ea typeface="华文宋体" panose="02010600040101010101" pitchFamily="2" charset="-122"/>
            </a:endParaRPr>
          </a:p>
          <a:p>
            <a:pPr marL="0" indent="187325" algn="just">
              <a:spcBef>
                <a:spcPts val="600"/>
              </a:spcBef>
              <a:buNone/>
            </a:pPr>
            <a:r>
              <a:rPr lang="zh-CN" altLang="en-US" sz="2200" b="0" dirty="0">
                <a:solidFill>
                  <a:schemeClr val="tx1"/>
                </a:solidFill>
                <a:effectLst/>
                <a:ea typeface="华文宋体" panose="02010600040101010101" pitchFamily="2" charset="-122"/>
              </a:rPr>
              <a:t>字符串常量以各字符的</a:t>
            </a:r>
            <a:r>
              <a:rPr lang="en-US" altLang="zh-CN" sz="2200" b="0" dirty="0">
                <a:solidFill>
                  <a:schemeClr val="tx1"/>
                </a:solidFill>
                <a:effectLst/>
                <a:ea typeface="华文宋体" panose="02010600040101010101" pitchFamily="2" charset="-122"/>
              </a:rPr>
              <a:t>ASCII</a:t>
            </a:r>
            <a:r>
              <a:rPr lang="zh-CN" altLang="en-US" sz="2200" b="0" dirty="0">
                <a:solidFill>
                  <a:schemeClr val="tx1"/>
                </a:solidFill>
                <a:effectLst/>
                <a:ea typeface="华文宋体" panose="02010600040101010101" pitchFamily="2" charset="-122"/>
              </a:rPr>
              <a:t>码形式存储在内存中，如‘</a:t>
            </a:r>
            <a:r>
              <a:rPr lang="en-US" altLang="zh-CN" sz="2200" b="0" dirty="0">
                <a:solidFill>
                  <a:schemeClr val="tx1"/>
                </a:solidFill>
                <a:effectLst/>
                <a:ea typeface="华文宋体" panose="02010600040101010101" pitchFamily="2" charset="-122"/>
              </a:rPr>
              <a:t>B’，</a:t>
            </a:r>
            <a:r>
              <a:rPr lang="zh-CN" altLang="en-US" sz="2200" b="0" dirty="0">
                <a:solidFill>
                  <a:schemeClr val="tx1"/>
                </a:solidFill>
                <a:effectLst/>
                <a:ea typeface="华文宋体" panose="02010600040101010101" pitchFamily="2" charset="-122"/>
              </a:rPr>
              <a:t>在内存中就是4</a:t>
            </a:r>
            <a:r>
              <a:rPr lang="en-US" altLang="zh-CN" sz="2200" b="0" dirty="0">
                <a:solidFill>
                  <a:schemeClr val="tx1"/>
                </a:solidFill>
                <a:effectLst/>
                <a:ea typeface="华文宋体" panose="02010600040101010101" pitchFamily="2" charset="-122"/>
              </a:rPr>
              <a:t>2H，‘12’</a:t>
            </a:r>
            <a:r>
              <a:rPr lang="zh-CN" altLang="en-US" sz="2200" b="0" dirty="0">
                <a:solidFill>
                  <a:schemeClr val="tx1"/>
                </a:solidFill>
                <a:effectLst/>
                <a:ea typeface="华文宋体" panose="02010600040101010101" pitchFamily="2" charset="-122"/>
              </a:rPr>
              <a:t>就是31</a:t>
            </a:r>
            <a:r>
              <a:rPr lang="en-US" altLang="zh-CN" sz="2200" b="0" dirty="0">
                <a:solidFill>
                  <a:schemeClr val="tx1"/>
                </a:solidFill>
                <a:effectLst/>
                <a:ea typeface="华文宋体" panose="02010600040101010101" pitchFamily="2" charset="-122"/>
              </a:rPr>
              <a:t>H，32H。</a:t>
            </a:r>
            <a:r>
              <a:rPr lang="zh-CN" altLang="en-US" sz="2200" b="0" dirty="0">
                <a:solidFill>
                  <a:schemeClr val="tx1"/>
                </a:solidFill>
                <a:effectLst/>
                <a:ea typeface="华文宋体" panose="02010600040101010101" pitchFamily="2" charset="-122"/>
              </a:rPr>
              <a:t>使用时可在单引号内直接写字符序列，如‘12</a:t>
            </a:r>
            <a:r>
              <a:rPr lang="en-US" altLang="zh-CN" sz="2200" b="0" dirty="0">
                <a:solidFill>
                  <a:schemeClr val="tx1"/>
                </a:solidFill>
                <a:effectLst/>
                <a:ea typeface="华文宋体" panose="02010600040101010101" pitchFamily="2" charset="-122"/>
              </a:rPr>
              <a:t>AB’，</a:t>
            </a:r>
            <a:r>
              <a:rPr lang="zh-CN" altLang="en-US" sz="2200" b="0" dirty="0">
                <a:solidFill>
                  <a:schemeClr val="tx1"/>
                </a:solidFill>
                <a:effectLst/>
                <a:ea typeface="华文宋体" panose="02010600040101010101" pitchFamily="2" charset="-122"/>
              </a:rPr>
              <a:t>也可写字符的</a:t>
            </a:r>
            <a:r>
              <a:rPr lang="en-US" altLang="zh-CN" sz="2200" b="0" dirty="0">
                <a:solidFill>
                  <a:schemeClr val="tx1"/>
                </a:solidFill>
                <a:effectLst/>
                <a:ea typeface="华文宋体" panose="02010600040101010101" pitchFamily="2" charset="-122"/>
              </a:rPr>
              <a:t>ASCII</a:t>
            </a:r>
            <a:r>
              <a:rPr lang="zh-CN" altLang="en-US" sz="2200" b="0" dirty="0">
                <a:solidFill>
                  <a:schemeClr val="tx1"/>
                </a:solidFill>
                <a:effectLst/>
                <a:ea typeface="华文宋体" panose="02010600040101010101" pitchFamily="2" charset="-122"/>
              </a:rPr>
              <a:t>码，</a:t>
            </a:r>
            <a:r>
              <a:rPr lang="en-US" altLang="zh-CN" sz="2200" b="0" dirty="0">
                <a:solidFill>
                  <a:schemeClr val="tx1"/>
                </a:solidFill>
                <a:effectLst/>
                <a:ea typeface="华文宋体" panose="02010600040101010101" pitchFamily="2" charset="-122"/>
              </a:rPr>
              <a:t>ASCII</a:t>
            </a:r>
            <a:r>
              <a:rPr lang="zh-CN" altLang="en-US" sz="2200" b="0" dirty="0">
                <a:solidFill>
                  <a:schemeClr val="tx1"/>
                </a:solidFill>
                <a:effectLst/>
                <a:ea typeface="华文宋体" panose="02010600040101010101" pitchFamily="2" charset="-122"/>
              </a:rPr>
              <a:t>码之间用逗号分隔（此时不需要用单引号），如31</a:t>
            </a:r>
            <a:r>
              <a:rPr lang="en-US" altLang="zh-CN" sz="2200" b="0" dirty="0">
                <a:solidFill>
                  <a:schemeClr val="tx1"/>
                </a:solidFill>
                <a:effectLst/>
                <a:ea typeface="华文宋体" panose="02010600040101010101" pitchFamily="2" charset="-122"/>
              </a:rPr>
              <a:t>H，32H，41H，42H</a:t>
            </a:r>
            <a:r>
              <a:rPr lang="zh-CN" altLang="en-US" sz="2200" b="0" dirty="0">
                <a:solidFill>
                  <a:schemeClr val="tx1"/>
                </a:solidFill>
                <a:effectLst/>
                <a:ea typeface="华文宋体" panose="02010600040101010101" pitchFamily="2" charset="-122"/>
              </a:rPr>
              <a:t>，该序列等同字符串‘12</a:t>
            </a:r>
            <a:r>
              <a:rPr lang="en-US" altLang="zh-CN" sz="2200" b="0" dirty="0">
                <a:solidFill>
                  <a:schemeClr val="tx1"/>
                </a:solidFill>
                <a:effectLst/>
                <a:ea typeface="华文宋体" panose="02010600040101010101" pitchFamily="2" charset="-122"/>
              </a:rPr>
              <a:t>AB’。</a:t>
            </a:r>
            <a:endParaRPr lang="en-US" altLang="zh-CN" sz="2200" b="0" dirty="0">
              <a:solidFill>
                <a:schemeClr val="tx1"/>
              </a:solidFill>
              <a:effectLst/>
              <a:ea typeface="华文宋体" panose="02010600040101010101" pitchFamily="2" charset="-122"/>
            </a:endParaRPr>
          </a:p>
          <a:p>
            <a:pPr marL="0" indent="187325" algn="just">
              <a:spcBef>
                <a:spcPts val="600"/>
              </a:spcBef>
              <a:buNone/>
            </a:pPr>
            <a:r>
              <a:rPr lang="zh-CN" altLang="en-US" sz="2200" b="0" dirty="0">
                <a:solidFill>
                  <a:schemeClr val="tx1"/>
                </a:solidFill>
                <a:effectLst/>
                <a:ea typeface="华文宋体" panose="02010600040101010101" pitchFamily="2" charset="-122"/>
              </a:rPr>
              <a:t>引号可以嵌套：</a:t>
            </a:r>
            <a:endParaRPr lang="en-US" altLang="zh-CN" sz="2200" b="0" dirty="0">
              <a:solidFill>
                <a:schemeClr val="tx1"/>
              </a:solidFill>
              <a:effectLst/>
              <a:ea typeface="华文宋体" panose="02010600040101010101" pitchFamily="2" charset="-122"/>
            </a:endParaRPr>
          </a:p>
          <a:p>
            <a:pPr marL="400050" lvl="1" indent="187325" algn="just">
              <a:spcBef>
                <a:spcPts val="600"/>
              </a:spcBef>
              <a:buNone/>
            </a:pPr>
            <a:r>
              <a:rPr lang="en-US" altLang="zh-CN" sz="2200" b="0" dirty="0">
                <a:solidFill>
                  <a:schemeClr val="tx1"/>
                </a:solidFill>
                <a:effectLst/>
                <a:ea typeface="华文宋体" panose="02010600040101010101" pitchFamily="2" charset="-122"/>
              </a:rPr>
              <a:t>“This isn’t a test”</a:t>
            </a:r>
            <a:endParaRPr lang="en-US" altLang="zh-CN" sz="2200" b="0" dirty="0">
              <a:solidFill>
                <a:schemeClr val="tx1"/>
              </a:solidFill>
              <a:effectLst/>
              <a:ea typeface="华文宋体" panose="02010600040101010101" pitchFamily="2" charset="-122"/>
            </a:endParaRPr>
          </a:p>
          <a:p>
            <a:pPr marL="400050" lvl="1" indent="187325" algn="just">
              <a:spcBef>
                <a:spcPts val="600"/>
              </a:spcBef>
              <a:buNone/>
            </a:pPr>
            <a:r>
              <a:rPr lang="en-US" altLang="zh-CN" sz="2200" b="0" dirty="0">
                <a:solidFill>
                  <a:schemeClr val="tx1"/>
                </a:solidFill>
                <a:effectLst/>
                <a:ea typeface="华文宋体" panose="02010600040101010101" pitchFamily="2" charset="-122"/>
              </a:rPr>
              <a:t>‘Say “Goodnight,” Gracie’</a:t>
            </a:r>
            <a:endParaRPr lang="en-US" altLang="zh-CN" sz="2200" b="0" dirty="0">
              <a:solidFill>
                <a:schemeClr val="tx1"/>
              </a:solidFill>
              <a:effectLst/>
              <a:ea typeface="华文宋体" panose="02010600040101010101" pitchFamily="2" charset="-122"/>
            </a:endParaRPr>
          </a:p>
          <a:p>
            <a:pPr marL="0" indent="187325">
              <a:spcBef>
                <a:spcPts val="600"/>
              </a:spcBef>
              <a:buNone/>
            </a:pPr>
            <a:endParaRPr lang="en-US" altLang="zh-CN" sz="2200" b="0" dirty="0">
              <a:solidFill>
                <a:schemeClr val="tx1"/>
              </a:solidFill>
              <a:effectLst/>
              <a:latin typeface="华文宋体" panose="02010600040101010101" pitchFamily="2" charset="-122"/>
              <a:ea typeface="华文宋体" panose="02010600040101010101" pitchFamily="2" charset="-122"/>
            </a:endParaRPr>
          </a:p>
          <a:p>
            <a:pPr marL="0" indent="187325">
              <a:spcBef>
                <a:spcPts val="600"/>
              </a:spcBef>
              <a:buNone/>
            </a:pPr>
            <a:r>
              <a:rPr lang="en-US" altLang="zh-CN" sz="2200" b="0" dirty="0">
                <a:solidFill>
                  <a:schemeClr val="tx1"/>
                </a:solidFill>
                <a:effectLst/>
                <a:latin typeface="华文宋体" panose="02010600040101010101" pitchFamily="2" charset="-122"/>
                <a:ea typeface="华文宋体" panose="02010600040101010101" pitchFamily="2" charset="-122"/>
              </a:rPr>
              <a:t>3）</a:t>
            </a:r>
            <a:r>
              <a:rPr lang="zh-CN" altLang="en-US" sz="2200" b="0" dirty="0">
                <a:solidFill>
                  <a:schemeClr val="tx1"/>
                </a:solidFill>
                <a:effectLst/>
                <a:latin typeface="华文宋体" panose="02010600040101010101" pitchFamily="2" charset="-122"/>
                <a:ea typeface="华文宋体" panose="02010600040101010101" pitchFamily="2" charset="-122"/>
              </a:rPr>
              <a:t>符号常量</a:t>
            </a:r>
            <a:endParaRPr lang="zh-CN" altLang="en-US" sz="2200" b="0" dirty="0">
              <a:solidFill>
                <a:schemeClr val="tx1"/>
              </a:solidFill>
              <a:effectLst/>
              <a:latin typeface="华文宋体" panose="02010600040101010101" pitchFamily="2" charset="-122"/>
              <a:ea typeface="华文宋体" panose="02010600040101010101" pitchFamily="2" charset="-122"/>
            </a:endParaRPr>
          </a:p>
          <a:p>
            <a:pPr marL="0" indent="187325">
              <a:spcBef>
                <a:spcPts val="600"/>
              </a:spcBef>
              <a:buNone/>
            </a:pPr>
            <a:r>
              <a:rPr lang="zh-CN" altLang="en-US" sz="2200" b="0" dirty="0">
                <a:solidFill>
                  <a:schemeClr val="tx1"/>
                </a:solidFill>
                <a:effectLst/>
                <a:latin typeface="华文宋体" panose="02010600040101010101" pitchFamily="2" charset="-122"/>
                <a:ea typeface="华文宋体" panose="02010600040101010101" pitchFamily="2" charset="-122"/>
              </a:rPr>
              <a:t>　符号常量是指用</a:t>
            </a:r>
            <a:r>
              <a:rPr lang="en-US" altLang="zh-CN" sz="2200" b="0" dirty="0">
                <a:solidFill>
                  <a:schemeClr val="tx1"/>
                </a:solidFill>
                <a:effectLst/>
                <a:latin typeface="华文宋体" panose="02010600040101010101" pitchFamily="2" charset="-122"/>
                <a:ea typeface="华文宋体" panose="02010600040101010101" pitchFamily="2" charset="-122"/>
              </a:rPr>
              <a:t>EQU</a:t>
            </a:r>
            <a:r>
              <a:rPr lang="zh-CN" altLang="en-US" sz="2200" b="0" dirty="0">
                <a:solidFill>
                  <a:schemeClr val="tx1"/>
                </a:solidFill>
                <a:effectLst/>
                <a:latin typeface="华文宋体" panose="02010600040101010101" pitchFamily="2" charset="-122"/>
                <a:ea typeface="华文宋体" panose="02010600040101010101" pitchFamily="2" charset="-122"/>
              </a:rPr>
              <a:t>伪指令或赋值语句“=”定义过的符号名，可作操作数项或在表达式中使用，例：</a:t>
            </a:r>
            <a:r>
              <a:rPr lang="en-US" altLang="zh-CN" sz="2200" b="0" dirty="0">
                <a:solidFill>
                  <a:schemeClr val="tx1"/>
                </a:solidFill>
                <a:effectLst/>
                <a:latin typeface="华文宋体" panose="02010600040101010101" pitchFamily="2" charset="-122"/>
                <a:ea typeface="华文宋体" panose="02010600040101010101" pitchFamily="2" charset="-122"/>
              </a:rPr>
              <a:t>temp </a:t>
            </a:r>
            <a:r>
              <a:rPr lang="en-US" altLang="zh-CN" sz="2200" b="0" dirty="0" err="1">
                <a:solidFill>
                  <a:schemeClr val="tx1"/>
                </a:solidFill>
                <a:effectLst/>
                <a:latin typeface="华文宋体" panose="02010600040101010101" pitchFamily="2" charset="-122"/>
                <a:ea typeface="华文宋体" panose="02010600040101010101" pitchFamily="2" charset="-122"/>
              </a:rPr>
              <a:t>equ</a:t>
            </a:r>
            <a:r>
              <a:rPr lang="en-US" altLang="zh-CN" sz="2200" b="0" dirty="0">
                <a:solidFill>
                  <a:schemeClr val="tx1"/>
                </a:solidFill>
                <a:effectLst/>
                <a:latin typeface="华文宋体" panose="02010600040101010101" pitchFamily="2" charset="-122"/>
                <a:ea typeface="华文宋体" panose="02010600040101010101" pitchFamily="2" charset="-122"/>
              </a:rPr>
              <a:t> 1, </a:t>
            </a:r>
            <a:r>
              <a:rPr lang="zh-CN" altLang="en-US" sz="2200" b="0" dirty="0">
                <a:solidFill>
                  <a:schemeClr val="tx1"/>
                </a:solidFill>
                <a:effectLst/>
                <a:latin typeface="华文宋体" panose="02010600040101010101" pitchFamily="2" charset="-122"/>
                <a:ea typeface="华文宋体" panose="02010600040101010101" pitchFamily="2" charset="-122"/>
              </a:rPr>
              <a:t>或 </a:t>
            </a:r>
            <a:r>
              <a:rPr lang="en-US" altLang="zh-CN" sz="2200" b="0" dirty="0">
                <a:solidFill>
                  <a:schemeClr val="tx1"/>
                </a:solidFill>
                <a:effectLst/>
                <a:latin typeface="华文宋体" panose="02010600040101010101" pitchFamily="2" charset="-122"/>
                <a:ea typeface="华文宋体" panose="02010600040101010101" pitchFamily="2" charset="-122"/>
              </a:rPr>
              <a:t>temp=1</a:t>
            </a:r>
            <a:r>
              <a:rPr lang="zh-CN" altLang="en-US" sz="2200" b="0" dirty="0">
                <a:solidFill>
                  <a:schemeClr val="tx1"/>
                </a:solidFill>
                <a:effectLst/>
                <a:latin typeface="华文宋体" panose="02010600040101010101" pitchFamily="2" charset="-122"/>
                <a:ea typeface="华文宋体" panose="02010600040101010101" pitchFamily="2" charset="-122"/>
              </a:rPr>
              <a:t>。</a:t>
            </a:r>
            <a:endParaRPr lang="zh-CN" altLang="en-US" sz="2200" b="0" dirty="0">
              <a:solidFill>
                <a:schemeClr val="tx1"/>
              </a:solidFill>
              <a:effectLst/>
              <a:latin typeface="华文宋体" panose="02010600040101010101" pitchFamily="2" charset="-122"/>
              <a:ea typeface="华文宋体" panose="02010600040101010101" pitchFamily="2" charset="-122"/>
            </a:endParaRPr>
          </a:p>
        </p:txBody>
      </p:sp>
      <p:sp>
        <p:nvSpPr>
          <p:cNvPr id="5" name="文本框 1"/>
          <p:cNvSpPr txBox="1"/>
          <p:nvPr/>
        </p:nvSpPr>
        <p:spPr>
          <a:xfrm>
            <a:off x="452120" y="317500"/>
            <a:ext cx="6392545" cy="892552"/>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汇编语言语句的基本格式</a:t>
            </a:r>
            <a:endParaRPr lang="zh-CN" altLang="en-US" sz="2600" kern="0" dirty="0">
              <a:solidFill>
                <a:schemeClr val="tx2"/>
              </a:solidFill>
              <a:effectLst>
                <a:outerShdw blurRad="38100" dist="38100" dir="2700000" algn="tl">
                  <a:srgbClr val="C0C0C0"/>
                </a:outerShdw>
              </a:effectLst>
              <a:latin typeface="+mj-lt"/>
              <a:cs typeface="+mj-cs"/>
            </a:endParaRPr>
          </a:p>
          <a:p>
            <a:pPr algn="l"/>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3&amp;4</a:t>
            </a:r>
            <a:r>
              <a:rPr lang="zh-CN" altLang="en-US" sz="2600" kern="0" dirty="0">
                <a:solidFill>
                  <a:schemeClr val="tx2"/>
                </a:solidFill>
                <a:effectLst>
                  <a:outerShdw blurRad="38100" dist="38100" dir="2700000" algn="tl">
                    <a:srgbClr val="C0C0C0"/>
                  </a:outerShdw>
                </a:effectLst>
                <a:latin typeface="+mj-lt"/>
                <a:cs typeface="+mj-cs"/>
              </a:rPr>
              <a:t>讲：</a:t>
            </a:r>
            <a:r>
              <a:rPr lang="en-US" altLang="zh-CN" sz="2600" kern="0" dirty="0">
                <a:solidFill>
                  <a:schemeClr val="tx2"/>
                </a:solidFill>
                <a:effectLst>
                  <a:outerShdw blurRad="38100" dist="38100" dir="2700000" algn="tl">
                    <a:srgbClr val="C0C0C0"/>
                  </a:outerShdw>
                </a:effectLst>
                <a:latin typeface="+mj-lt"/>
                <a:cs typeface="+mj-cs"/>
              </a:rPr>
              <a:t>8086/8088</a:t>
            </a:r>
            <a:r>
              <a:rPr lang="zh-CN" altLang="en-US" sz="2600" kern="0" dirty="0">
                <a:solidFill>
                  <a:schemeClr val="tx2"/>
                </a:solidFill>
                <a:effectLst>
                  <a:outerShdw blurRad="38100" dist="38100" dir="2700000" algn="tl">
                    <a:srgbClr val="C0C0C0"/>
                  </a:outerShdw>
                </a:effectLst>
                <a:latin typeface="+mj-lt"/>
                <a:cs typeface="+mj-cs"/>
              </a:rPr>
              <a:t>的指令系统</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079612" y="1124744"/>
            <a:ext cx="5508612" cy="4228850"/>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dirty="0">
                <a:sym typeface="+mn-ea"/>
              </a:rPr>
              <a:t>建立汇编程序</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sym typeface="+mn-ea"/>
              </a:rPr>
              <a:t>汇编语言程序格式</a:t>
            </a:r>
            <a:endParaRPr lang="zh-CN" altLang="en-US" dirty="0">
              <a:sym typeface="+mn-ea"/>
            </a:endParaRPr>
          </a:p>
          <a:p>
            <a:pPr marL="342900" indent="-342900">
              <a:lnSpc>
                <a:spcPct val="160000"/>
              </a:lnSpc>
              <a:buClr>
                <a:srgbClr val="FF3300"/>
              </a:buClr>
              <a:buFont typeface="Wingdings" panose="05000000000000000000" charset="0"/>
              <a:buChar char=""/>
            </a:pPr>
            <a:r>
              <a:rPr lang="zh-CN" altLang="en-US" dirty="0">
                <a:solidFill>
                  <a:srgbClr val="FF0000"/>
                </a:solidFill>
                <a:sym typeface="+mn-ea"/>
              </a:rPr>
              <a:t>伪指令</a:t>
            </a:r>
            <a:endParaRPr lang="en-US" altLang="zh-CN" dirty="0">
              <a:solidFill>
                <a:srgbClr val="FF0000"/>
              </a:solidFill>
              <a:sym typeface="+mn-ea"/>
            </a:endParaRPr>
          </a:p>
          <a:p>
            <a:pPr marL="342900" indent="-342900">
              <a:lnSpc>
                <a:spcPct val="160000"/>
              </a:lnSpc>
              <a:buClr>
                <a:srgbClr val="FF3300"/>
              </a:buClr>
              <a:buFont typeface="Wingdings" panose="05000000000000000000" charset="0"/>
              <a:buChar char=""/>
            </a:pPr>
            <a:r>
              <a:rPr lang="zh-CN" altLang="en-US" dirty="0">
                <a:sym typeface="+mn-ea"/>
              </a:rPr>
              <a:t>表达式操作符</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t>数据传送指令</a:t>
            </a:r>
            <a:endParaRPr lang="zh-CN" altLang="en-US" dirty="0"/>
          </a:p>
          <a:p>
            <a:pPr marL="342900" indent="-342900">
              <a:lnSpc>
                <a:spcPct val="160000"/>
              </a:lnSpc>
              <a:buClr>
                <a:srgbClr val="FF3300"/>
              </a:buClr>
              <a:buFont typeface="Wingdings" panose="05000000000000000000" charset="0"/>
              <a:buChar char=""/>
            </a:pPr>
            <a:r>
              <a:rPr lang="zh-CN" altLang="en-US" dirty="0"/>
              <a:t>算术指令</a:t>
            </a:r>
            <a:endParaRPr lang="zh-CN" altLang="en-US" dirty="0"/>
          </a:p>
          <a:p>
            <a:pPr marL="342900" indent="-342900">
              <a:lnSpc>
                <a:spcPct val="160000"/>
              </a:lnSpc>
              <a:buClr>
                <a:srgbClr val="FF3300"/>
              </a:buClr>
              <a:buFont typeface="Wingdings" panose="05000000000000000000" charset="0"/>
              <a:buChar char=""/>
            </a:pPr>
            <a:r>
              <a:rPr lang="zh-CN" altLang="en-US" dirty="0"/>
              <a:t>逻辑指令</a:t>
            </a:r>
            <a:endParaRPr lang="en-US" altLang="zh-CN" dirty="0">
              <a:sym typeface="+mn-ea"/>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3" name="Rectangle 3"/>
          <p:cNvSpPr>
            <a:spLocks noGrp="1" noChangeArrowheads="1"/>
          </p:cNvSpPr>
          <p:nvPr>
            <p:ph type="body" idx="1"/>
          </p:nvPr>
        </p:nvSpPr>
        <p:spPr>
          <a:xfrm>
            <a:off x="464956" y="1052736"/>
            <a:ext cx="7815456" cy="5148572"/>
          </a:xfrm>
        </p:spPr>
        <p:txBody>
          <a:bodyPr/>
          <a:lstStyle/>
          <a:p>
            <a:pPr algn="just"/>
            <a:r>
              <a:rPr lang="zh-CN" altLang="en-US" sz="2800" dirty="0">
                <a:effectLst/>
                <a:latin typeface="宋体" panose="02010600030101010101" pitchFamily="2" charset="-122"/>
              </a:rPr>
              <a:t>伪指令无相应的目标代码，因此也称为伪操作。</a:t>
            </a:r>
            <a:endParaRPr lang="en-US" altLang="zh-CN" sz="2800" dirty="0">
              <a:effectLst/>
              <a:latin typeface="宋体" panose="02010600030101010101" pitchFamily="2" charset="-122"/>
            </a:endParaRPr>
          </a:p>
          <a:p>
            <a:pPr algn="just"/>
            <a:r>
              <a:rPr lang="zh-CN" altLang="en-US" sz="2800" dirty="0">
                <a:effectLst/>
                <a:latin typeface="宋体" panose="02010600030101010101" pitchFamily="2" charset="-122"/>
              </a:rPr>
              <a:t>伪指令语句又称为说明性语句或管理语句。它不同于指令性语句，不是直接命令</a:t>
            </a:r>
            <a:r>
              <a:rPr lang="en-US" altLang="zh-CN" sz="2800" dirty="0">
                <a:effectLst/>
                <a:latin typeface="Times New Roman" panose="02020603050405020304" pitchFamily="18" charset="0"/>
                <a:cs typeface="Times New Roman" panose="02020603050405020304" pitchFamily="18" charset="0"/>
              </a:rPr>
              <a:t>CPU</a:t>
            </a:r>
            <a:r>
              <a:rPr lang="zh-CN" altLang="en-US" sz="2800" dirty="0">
                <a:effectLst/>
                <a:latin typeface="宋体" panose="02010600030101010101" pitchFamily="2" charset="-122"/>
              </a:rPr>
              <a:t>去执行某一操作，而是命令汇编程序应当如何生成目标代码。</a:t>
            </a:r>
            <a:endParaRPr lang="en-US" altLang="zh-CN" sz="2800" dirty="0">
              <a:effectLst/>
              <a:latin typeface="宋体" panose="02010600030101010101" pitchFamily="2" charset="-122"/>
            </a:endParaRPr>
          </a:p>
          <a:p>
            <a:pPr algn="just"/>
            <a:r>
              <a:rPr lang="zh-CN" altLang="en-US" dirty="0">
                <a:effectLst/>
                <a:latin typeface="宋体" panose="02010600030101010101" pitchFamily="2" charset="-122"/>
              </a:rPr>
              <a:t>伪指令是汇编程序对源程序进行汇编时处理的操作，完成</a:t>
            </a:r>
            <a:r>
              <a:rPr lang="zh-CN" altLang="en-US" dirty="0">
                <a:solidFill>
                  <a:srgbClr val="FF0000"/>
                </a:solidFill>
                <a:effectLst/>
                <a:latin typeface="宋体" panose="02010600030101010101" pitchFamily="2" charset="-122"/>
              </a:rPr>
              <a:t>逻辑段的定义、数据定义、存储器分配、指示程序开始结束</a:t>
            </a:r>
            <a:r>
              <a:rPr lang="zh-CN" altLang="en-US" dirty="0">
                <a:effectLst/>
                <a:latin typeface="宋体" panose="02010600030101010101" pitchFamily="2" charset="-122"/>
              </a:rPr>
              <a:t>等功能。</a:t>
            </a:r>
            <a:endParaRPr lang="zh-CN" altLang="en-US" dirty="0">
              <a:effectLst/>
              <a:latin typeface="宋体" panose="02010600030101010101" pitchFamily="2" charset="-122"/>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4"/>
          <p:cNvSpPr txBox="1">
            <a:spLocks noChangeArrowheads="1"/>
          </p:cNvSpPr>
          <p:nvPr/>
        </p:nvSpPr>
        <p:spPr bwMode="auto">
          <a:xfrm>
            <a:off x="659160" y="1143129"/>
            <a:ext cx="742914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eaLnBrk="0" hangingPunct="0"/>
            <a:r>
              <a:rPr lang="en-US" altLang="zh-CN" dirty="0">
                <a:solidFill>
                  <a:srgbClr val="000000"/>
                </a:solidFill>
              </a:rPr>
              <a:t>        </a:t>
            </a:r>
            <a:r>
              <a:rPr lang="zh-CN" altLang="en-US" dirty="0">
                <a:solidFill>
                  <a:srgbClr val="000000"/>
                </a:solidFill>
              </a:rPr>
              <a:t>常用</a:t>
            </a:r>
            <a:r>
              <a:rPr lang="zh-CN" altLang="en-US" sz="2200" b="1" dirty="0">
                <a:solidFill>
                  <a:srgbClr val="000000"/>
                </a:solidFill>
                <a:ea typeface="楷体_GB2312" pitchFamily="49" charset="-122"/>
              </a:rPr>
              <a:t>伪指令：</a:t>
            </a:r>
            <a:endParaRPr lang="zh-CN" altLang="en-US" sz="2200" b="1" dirty="0">
              <a:solidFill>
                <a:srgbClr val="000000"/>
              </a:solidFill>
              <a:ea typeface="楷体_GB2312" pitchFamily="49" charset="-122"/>
            </a:endParaRPr>
          </a:p>
        </p:txBody>
      </p:sp>
      <p:sp>
        <p:nvSpPr>
          <p:cNvPr id="7173" name="Text Box 5"/>
          <p:cNvSpPr txBox="1">
            <a:spLocks noChangeArrowheads="1"/>
          </p:cNvSpPr>
          <p:nvPr/>
        </p:nvSpPr>
        <p:spPr bwMode="auto">
          <a:xfrm>
            <a:off x="2087730" y="1988840"/>
            <a:ext cx="45720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buFontTx/>
              <a:buChar char="•"/>
            </a:pPr>
            <a:r>
              <a:rPr lang="zh-CN" altLang="en-US" b="1" dirty="0">
                <a:solidFill>
                  <a:srgbClr val="000000"/>
                </a:solidFill>
              </a:rPr>
              <a:t>   段定义伪操作</a:t>
            </a:r>
            <a:endParaRPr lang="zh-CN" altLang="en-US" b="1" dirty="0">
              <a:solidFill>
                <a:srgbClr val="000000"/>
              </a:solidFill>
            </a:endParaRPr>
          </a:p>
          <a:p>
            <a:pPr>
              <a:lnSpc>
                <a:spcPct val="150000"/>
              </a:lnSpc>
              <a:buFontTx/>
              <a:buChar char="•"/>
            </a:pPr>
            <a:r>
              <a:rPr lang="zh-CN" altLang="en-US" b="1" dirty="0">
                <a:solidFill>
                  <a:srgbClr val="000000"/>
                </a:solidFill>
              </a:rPr>
              <a:t>   数据定义及存储器分配伪操作</a:t>
            </a:r>
            <a:endParaRPr lang="zh-CN" altLang="en-US" b="1" dirty="0">
              <a:solidFill>
                <a:srgbClr val="000000"/>
              </a:solidFill>
            </a:endParaRPr>
          </a:p>
          <a:p>
            <a:pPr>
              <a:lnSpc>
                <a:spcPct val="150000"/>
              </a:lnSpc>
              <a:buFontTx/>
              <a:buChar char="•"/>
            </a:pPr>
            <a:r>
              <a:rPr lang="zh-CN" altLang="en-US" b="1" dirty="0">
                <a:solidFill>
                  <a:srgbClr val="000000"/>
                </a:solidFill>
              </a:rPr>
              <a:t>   表达式赋值伪操作</a:t>
            </a:r>
            <a:endParaRPr lang="zh-CN" altLang="en-US" b="1" dirty="0">
              <a:solidFill>
                <a:srgbClr val="000000"/>
              </a:solidFill>
            </a:endParaRPr>
          </a:p>
          <a:p>
            <a:pPr>
              <a:lnSpc>
                <a:spcPct val="150000"/>
              </a:lnSpc>
              <a:buFontTx/>
              <a:buChar char="•"/>
            </a:pPr>
            <a:r>
              <a:rPr lang="zh-CN" altLang="en-US" b="1" dirty="0">
                <a:solidFill>
                  <a:srgbClr val="000000"/>
                </a:solidFill>
              </a:rPr>
              <a:t>   基数控制伪操作</a:t>
            </a:r>
            <a:endParaRPr lang="zh-CN" altLang="en-US" b="1" dirty="0">
              <a:solidFill>
                <a:srgbClr val="000000"/>
              </a:solidFill>
            </a:endParaRPr>
          </a:p>
        </p:txBody>
      </p:sp>
      <p:sp>
        <p:nvSpPr>
          <p:cNvPr id="2" name="矩形 1"/>
          <p:cNvSpPr/>
          <p:nvPr/>
        </p:nvSpPr>
        <p:spPr bwMode="auto">
          <a:xfrm>
            <a:off x="971600" y="5643246"/>
            <a:ext cx="7429140" cy="540060"/>
          </a:xfrm>
          <a:prstGeom prst="rect">
            <a:avLst/>
          </a:prstGeom>
          <a:solidFill>
            <a:schemeClr val="bg1"/>
          </a:solidFill>
          <a:ln w="9525" cap="flat" cmpd="sng" algn="ctr">
            <a:solidFill>
              <a:srgbClr val="FF0000"/>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有关过程定义、宏汇编的伪指令将在后续章节介绍。</a:t>
            </a:r>
            <a:endParaRPr kumimoji="0"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611560" y="1016732"/>
            <a:ext cx="4343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dirty="0">
                <a:solidFill>
                  <a:srgbClr val="000000"/>
                </a:solidFill>
              </a:rPr>
              <a:t>◆ </a:t>
            </a:r>
            <a:r>
              <a:rPr lang="zh-CN" altLang="en-US" b="1" dirty="0">
                <a:solidFill>
                  <a:srgbClr val="000000"/>
                </a:solidFill>
              </a:rPr>
              <a:t>段定义伪指令：</a:t>
            </a:r>
            <a:endParaRPr lang="zh-CN" altLang="en-US" b="1" dirty="0">
              <a:solidFill>
                <a:srgbClr val="000000"/>
              </a:solidFill>
            </a:endParaRPr>
          </a:p>
        </p:txBody>
      </p:sp>
      <p:sp>
        <p:nvSpPr>
          <p:cNvPr id="1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19" name="Rectangle 3"/>
          <p:cNvSpPr txBox="1">
            <a:spLocks noChangeArrowheads="1"/>
          </p:cNvSpPr>
          <p:nvPr/>
        </p:nvSpPr>
        <p:spPr>
          <a:xfrm>
            <a:off x="611560" y="1600199"/>
            <a:ext cx="8229600" cy="4525963"/>
          </a:xfrm>
          <a:prstGeom prst="rect">
            <a:avLst/>
          </a:prstGeom>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2"/>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a:lstStyle>
          <a:p>
            <a:pPr>
              <a:spcBef>
                <a:spcPts val="600"/>
              </a:spcBef>
            </a:pPr>
            <a:r>
              <a:rPr lang="zh-CN" altLang="en-US" sz="2200" b="0" kern="0" dirty="0">
                <a:solidFill>
                  <a:schemeClr val="tx1"/>
                </a:solidFill>
                <a:effectLst/>
                <a:latin typeface="华文宋体" panose="02010600040101010101" pitchFamily="2" charset="-122"/>
                <a:ea typeface="华文宋体" panose="02010600040101010101" pitchFamily="2" charset="-122"/>
              </a:rPr>
              <a:t>汇编语言源程序是用分段的方法来组织程序、数据和变量的。一个汇编语言源程序由若干个逻辑段组成。 </a:t>
            </a:r>
            <a:endParaRPr lang="zh-CN" altLang="en-US" sz="2200" b="0" kern="0" dirty="0">
              <a:solidFill>
                <a:schemeClr val="tx1"/>
              </a:solidFill>
              <a:effectLst/>
              <a:latin typeface="华文宋体" panose="02010600040101010101" pitchFamily="2" charset="-122"/>
              <a:ea typeface="华文宋体" panose="02010600040101010101" pitchFamily="2" charset="-122"/>
            </a:endParaRPr>
          </a:p>
          <a:p>
            <a:pPr>
              <a:spcBef>
                <a:spcPts val="600"/>
              </a:spcBef>
            </a:pPr>
            <a:r>
              <a:rPr lang="zh-CN" altLang="en-US" sz="2200" b="0" kern="0" dirty="0">
                <a:solidFill>
                  <a:schemeClr val="tx1"/>
                </a:solidFill>
                <a:effectLst/>
                <a:latin typeface="华文宋体" panose="02010600040101010101" pitchFamily="2" charset="-122"/>
                <a:ea typeface="华文宋体" panose="02010600040101010101" pitchFamily="2" charset="-122"/>
              </a:rPr>
              <a:t>段定义伪指令的格式如下：</a:t>
            </a:r>
            <a:endParaRPr lang="en-US" altLang="zh-CN" sz="2200" b="0" kern="0" dirty="0">
              <a:solidFill>
                <a:schemeClr val="tx1"/>
              </a:solidFill>
              <a:effectLst/>
              <a:latin typeface="华文宋体" panose="02010600040101010101" pitchFamily="2" charset="-122"/>
              <a:ea typeface="华文宋体" panose="02010600040101010101" pitchFamily="2" charset="-122"/>
            </a:endParaRPr>
          </a:p>
          <a:p>
            <a:pPr>
              <a:lnSpc>
                <a:spcPct val="90000"/>
              </a:lnSpc>
              <a:spcBef>
                <a:spcPts val="600"/>
              </a:spcBef>
            </a:pPr>
            <a:endParaRPr lang="en-US" altLang="zh-CN" sz="2200" b="0" kern="0" dirty="0">
              <a:solidFill>
                <a:schemeClr val="tx1"/>
              </a:solidFill>
              <a:effectLst/>
              <a:latin typeface="华文宋体" panose="02010600040101010101" pitchFamily="2" charset="-122"/>
              <a:ea typeface="华文宋体" panose="02010600040101010101" pitchFamily="2" charset="-122"/>
              <a:cs typeface="Times New Roman" panose="02020603050405020304" pitchFamily="18" charset="0"/>
            </a:endParaRPr>
          </a:p>
          <a:p>
            <a:pPr>
              <a:lnSpc>
                <a:spcPct val="90000"/>
              </a:lnSpc>
              <a:spcBef>
                <a:spcPts val="600"/>
              </a:spcBef>
            </a:pPr>
            <a:endParaRPr lang="en-US" altLang="zh-CN" sz="2200" b="0" kern="0" dirty="0">
              <a:solidFill>
                <a:schemeClr val="tx1"/>
              </a:solidFill>
              <a:effectLst/>
              <a:latin typeface="华文宋体" panose="02010600040101010101" pitchFamily="2" charset="-122"/>
              <a:ea typeface="华文宋体" panose="02010600040101010101" pitchFamily="2" charset="-122"/>
              <a:cs typeface="Times New Roman" panose="02020603050405020304" pitchFamily="18" charset="0"/>
            </a:endParaRPr>
          </a:p>
          <a:p>
            <a:pPr>
              <a:lnSpc>
                <a:spcPct val="90000"/>
              </a:lnSpc>
              <a:spcBef>
                <a:spcPts val="600"/>
              </a:spcBef>
            </a:pPr>
            <a:endParaRPr lang="en-US" altLang="zh-CN" sz="2200" b="0" kern="0" dirty="0">
              <a:solidFill>
                <a:schemeClr val="tx1"/>
              </a:solidFill>
              <a:effectLst/>
              <a:latin typeface="华文宋体" panose="02010600040101010101" pitchFamily="2" charset="-122"/>
              <a:ea typeface="华文宋体" panose="02010600040101010101" pitchFamily="2" charset="-122"/>
              <a:cs typeface="Times New Roman" panose="02020603050405020304" pitchFamily="18" charset="0"/>
            </a:endParaRPr>
          </a:p>
          <a:p>
            <a:pPr marL="0" indent="0">
              <a:lnSpc>
                <a:spcPct val="90000"/>
              </a:lnSpc>
              <a:spcBef>
                <a:spcPts val="600"/>
              </a:spcBef>
              <a:buNone/>
            </a:pPr>
            <a:endParaRPr lang="zh-CN" altLang="en-US" sz="2200" b="0" kern="0" dirty="0">
              <a:solidFill>
                <a:schemeClr val="tx1"/>
              </a:solidFill>
              <a:effectLst/>
              <a:latin typeface="华文宋体" panose="02010600040101010101" pitchFamily="2" charset="-122"/>
              <a:ea typeface="华文宋体" panose="02010600040101010101" pitchFamily="2" charset="-122"/>
              <a:cs typeface="Times New Roman" panose="02020603050405020304" pitchFamily="18" charset="0"/>
            </a:endParaRPr>
          </a:p>
          <a:p>
            <a:pPr>
              <a:spcBef>
                <a:spcPts val="600"/>
              </a:spcBef>
            </a:pPr>
            <a:endParaRPr lang="en-US" altLang="zh-CN" sz="2200" b="0" kern="0" dirty="0">
              <a:solidFill>
                <a:schemeClr val="tx1"/>
              </a:solidFill>
              <a:effectLst/>
              <a:latin typeface="华文宋体" panose="02010600040101010101" pitchFamily="2" charset="-122"/>
              <a:ea typeface="华文宋体" panose="02010600040101010101" pitchFamily="2" charset="-122"/>
              <a:cs typeface="Times New Roman" panose="02020603050405020304" pitchFamily="18" charset="0"/>
            </a:endParaRPr>
          </a:p>
          <a:p>
            <a:pPr algn="just">
              <a:spcBef>
                <a:spcPts val="600"/>
              </a:spcBef>
            </a:pPr>
            <a:r>
              <a:rPr lang="en-US" altLang="zh-CN" sz="2200" b="0" kern="0" dirty="0">
                <a:solidFill>
                  <a:schemeClr val="tx1"/>
                </a:solidFill>
                <a:effectLst/>
                <a:latin typeface="华文宋体" panose="02010600040101010101" pitchFamily="2" charset="-122"/>
                <a:ea typeface="华文宋体" panose="02010600040101010101" pitchFamily="2" charset="-122"/>
                <a:cs typeface="Times New Roman" panose="02020603050405020304" pitchFamily="18" charset="0"/>
              </a:rPr>
              <a:t>SEGMENT</a:t>
            </a:r>
            <a:r>
              <a:rPr lang="zh-CN" altLang="en-US" sz="2200" b="0" kern="0" dirty="0">
                <a:solidFill>
                  <a:schemeClr val="tx1"/>
                </a:solidFill>
                <a:effectLst/>
                <a:latin typeface="华文宋体" panose="02010600040101010101" pitchFamily="2" charset="-122"/>
                <a:ea typeface="华文宋体" panose="02010600040101010101" pitchFamily="2" charset="-122"/>
              </a:rPr>
              <a:t>和</a:t>
            </a:r>
            <a:r>
              <a:rPr lang="en-US" altLang="zh-CN" sz="2200" b="0" kern="0" dirty="0">
                <a:solidFill>
                  <a:schemeClr val="tx1"/>
                </a:solidFill>
                <a:effectLst/>
                <a:latin typeface="华文宋体" panose="02010600040101010101" pitchFamily="2" charset="-122"/>
                <a:ea typeface="华文宋体" panose="02010600040101010101" pitchFamily="2" charset="-122"/>
                <a:cs typeface="Times New Roman" panose="02020603050405020304" pitchFamily="18" charset="0"/>
              </a:rPr>
              <a:t>ENDS</a:t>
            </a:r>
            <a:r>
              <a:rPr lang="zh-CN" altLang="en-US" sz="2200" b="0" kern="0" dirty="0">
                <a:solidFill>
                  <a:schemeClr val="tx1"/>
                </a:solidFill>
                <a:effectLst/>
                <a:latin typeface="华文宋体" panose="02010600040101010101" pitchFamily="2" charset="-122"/>
                <a:ea typeface="华文宋体" panose="02010600040101010101" pitchFamily="2" charset="-122"/>
              </a:rPr>
              <a:t>前边的段名表示定义的逻辑段的名字，必须相同，否则汇编程序将无法辨认。起什么名字可由程序员自行决定，要有一定的意义，</a:t>
            </a:r>
            <a:r>
              <a:rPr lang="zh-CN" altLang="en-US" sz="2200" b="0" kern="0" dirty="0">
                <a:solidFill>
                  <a:srgbClr val="FF0000"/>
                </a:solidFill>
                <a:effectLst/>
                <a:latin typeface="华文宋体" panose="02010600040101010101" pitchFamily="2" charset="-122"/>
                <a:ea typeface="华文宋体" panose="02010600040101010101" pitchFamily="2" charset="-122"/>
              </a:rPr>
              <a:t>不要与指令助记符或伪指令重名</a:t>
            </a:r>
            <a:r>
              <a:rPr lang="zh-CN" altLang="en-US" sz="2200" b="0" kern="0" dirty="0">
                <a:solidFill>
                  <a:schemeClr val="tx1"/>
                </a:solidFill>
                <a:effectLst/>
                <a:latin typeface="华文宋体" panose="02010600040101010101" pitchFamily="2" charset="-122"/>
                <a:ea typeface="华文宋体" panose="02010600040101010101" pitchFamily="2" charset="-122"/>
              </a:rPr>
              <a:t>。 </a:t>
            </a:r>
            <a:endParaRPr lang="en-US" altLang="zh-CN" sz="2200" b="0" kern="0" dirty="0">
              <a:solidFill>
                <a:schemeClr val="tx1"/>
              </a:solidFill>
              <a:effectLst/>
              <a:latin typeface="华文宋体" panose="02010600040101010101" pitchFamily="2" charset="-122"/>
              <a:ea typeface="华文宋体" panose="02010600040101010101" pitchFamily="2" charset="-122"/>
            </a:endParaRPr>
          </a:p>
          <a:p>
            <a:pPr>
              <a:spcBef>
                <a:spcPts val="600"/>
              </a:spcBef>
            </a:pPr>
            <a:r>
              <a:rPr lang="zh-CN" altLang="en-US" sz="2200" b="0" kern="0" dirty="0">
                <a:solidFill>
                  <a:srgbClr val="FF0000"/>
                </a:solidFill>
                <a:effectLst/>
                <a:latin typeface="华文宋体" panose="02010600040101010101" pitchFamily="2" charset="-122"/>
                <a:ea typeface="华文宋体" panose="02010600040101010101" pitchFamily="2" charset="-122"/>
              </a:rPr>
              <a:t>当定义除代码段以外其他段时，段内不能包括指令语句</a:t>
            </a:r>
            <a:r>
              <a:rPr lang="zh-CN" altLang="en-US" sz="2200" b="0" kern="0" dirty="0">
                <a:solidFill>
                  <a:schemeClr val="tx1"/>
                </a:solidFill>
                <a:effectLst/>
                <a:latin typeface="华文宋体" panose="02010600040101010101" pitchFamily="2" charset="-122"/>
                <a:ea typeface="华文宋体" panose="02010600040101010101" pitchFamily="2" charset="-122"/>
              </a:rPr>
              <a:t>。</a:t>
            </a:r>
            <a:endParaRPr lang="zh-CN" altLang="en-US" sz="2200" b="0" kern="0" dirty="0">
              <a:solidFill>
                <a:schemeClr val="tx1"/>
              </a:solidFill>
              <a:effectLst/>
              <a:latin typeface="华文宋体" panose="02010600040101010101" pitchFamily="2" charset="-122"/>
              <a:ea typeface="华文宋体" panose="02010600040101010101" pitchFamily="2" charset="-122"/>
            </a:endParaRPr>
          </a:p>
        </p:txBody>
      </p:sp>
      <p:sp>
        <p:nvSpPr>
          <p:cNvPr id="21" name="Text Box 2"/>
          <p:cNvSpPr txBox="1">
            <a:spLocks noChangeArrowheads="1"/>
          </p:cNvSpPr>
          <p:nvPr/>
        </p:nvSpPr>
        <p:spPr bwMode="auto">
          <a:xfrm>
            <a:off x="899592" y="3068960"/>
            <a:ext cx="7344816" cy="1323439"/>
          </a:xfrm>
          <a:prstGeom prst="rect">
            <a:avLst/>
          </a:prstGeom>
          <a:solidFill>
            <a:schemeClr val="bg1"/>
          </a:solidFill>
          <a:ln>
            <a:solidFill>
              <a:srgbClr val="FF0000"/>
            </a:solidFill>
          </a:ln>
          <a:effectLst/>
        </p:spPr>
        <p:txBody>
          <a:bodyPr wrap="square">
            <a:spAutoFit/>
          </a:bodyPr>
          <a:lstStyle/>
          <a:p>
            <a:pPr algn="just" eaLnBrk="0" hangingPunct="0"/>
            <a:r>
              <a:rPr lang="zh-CN" altLang="en-US" sz="2000" b="1" dirty="0">
                <a:solidFill>
                  <a:srgbClr val="FF0000"/>
                </a:solidFill>
              </a:rPr>
              <a:t>段名  </a:t>
            </a:r>
            <a:r>
              <a:rPr lang="en-US" altLang="zh-CN" sz="2000" b="1" dirty="0">
                <a:solidFill>
                  <a:srgbClr val="FF0000"/>
                </a:solidFill>
              </a:rPr>
              <a:t>SEGMENT </a:t>
            </a:r>
            <a:endParaRPr lang="en-US" altLang="zh-CN" sz="2000" b="1" dirty="0">
              <a:solidFill>
                <a:srgbClr val="FF0000"/>
              </a:solidFill>
            </a:endParaRPr>
          </a:p>
          <a:p>
            <a:pPr algn="just" eaLnBrk="0" hangingPunct="0"/>
            <a:r>
              <a:rPr lang="en-US" altLang="zh-CN" sz="2000" dirty="0">
                <a:solidFill>
                  <a:srgbClr val="FF0000"/>
                </a:solidFill>
              </a:rPr>
              <a:t>          ……</a:t>
            </a:r>
            <a:endParaRPr lang="en-US" altLang="zh-CN" sz="2000" dirty="0">
              <a:solidFill>
                <a:srgbClr val="FF0000"/>
              </a:solidFill>
            </a:endParaRPr>
          </a:p>
          <a:p>
            <a:pPr algn="just" eaLnBrk="0" hangingPunct="0"/>
            <a:r>
              <a:rPr lang="en-US" altLang="zh-CN" sz="2000" dirty="0">
                <a:solidFill>
                  <a:srgbClr val="FF0000"/>
                </a:solidFill>
              </a:rPr>
              <a:t>          ……                          ; </a:t>
            </a:r>
            <a:r>
              <a:rPr lang="zh-CN" altLang="en-US" sz="2000" dirty="0">
                <a:solidFill>
                  <a:srgbClr val="FF0000"/>
                </a:solidFill>
                <a:latin typeface="楷体_GB2312" pitchFamily="49" charset="-122"/>
                <a:ea typeface="楷体_GB2312" pitchFamily="49" charset="-122"/>
              </a:rPr>
              <a:t>语句序列</a:t>
            </a:r>
            <a:endParaRPr lang="zh-CN" altLang="en-US" sz="2000" dirty="0">
              <a:solidFill>
                <a:srgbClr val="FF0000"/>
              </a:solidFill>
            </a:endParaRPr>
          </a:p>
          <a:p>
            <a:pPr algn="just" eaLnBrk="0" hangingPunct="0"/>
            <a:r>
              <a:rPr lang="zh-CN" altLang="en-US" sz="2000" b="1" dirty="0">
                <a:solidFill>
                  <a:srgbClr val="FF0000"/>
                </a:solidFill>
              </a:rPr>
              <a:t>段名  </a:t>
            </a:r>
            <a:r>
              <a:rPr lang="en-US" altLang="zh-CN" sz="2000" b="1" dirty="0">
                <a:solidFill>
                  <a:srgbClr val="FF0000"/>
                </a:solidFill>
              </a:rPr>
              <a:t>ENDS</a:t>
            </a:r>
            <a:endParaRPr lang="en-US" altLang="zh-CN" sz="2000" b="1" dirty="0">
              <a:solidFill>
                <a:srgbClr val="FF0000"/>
              </a:solidFill>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3" name="Rectangle 3"/>
          <p:cNvSpPr>
            <a:spLocks noGrp="1" noChangeArrowheads="1"/>
          </p:cNvSpPr>
          <p:nvPr>
            <p:ph type="body" idx="1"/>
          </p:nvPr>
        </p:nvSpPr>
        <p:spPr>
          <a:xfrm>
            <a:off x="287524" y="1016732"/>
            <a:ext cx="8856476" cy="5400600"/>
          </a:xfrm>
        </p:spPr>
        <p:txBody>
          <a:bodyPr/>
          <a:lstStyle/>
          <a:p>
            <a:pPr marL="0" indent="0">
              <a:spcBef>
                <a:spcPts val="0"/>
              </a:spcBef>
              <a:buNone/>
            </a:pPr>
            <a:r>
              <a:rPr lang="zh-CN" altLang="en-US" sz="2000" b="0" dirty="0">
                <a:effectLst/>
              </a:rPr>
              <a:t>　</a:t>
            </a:r>
            <a:r>
              <a:rPr lang="en-US" altLang="zh-CN" sz="2000" b="0" dirty="0">
                <a:effectLst/>
              </a:rPr>
              <a:t>;* * * * * * * * * * * * * * * * * * * * * * *</a:t>
            </a:r>
            <a:br>
              <a:rPr lang="en-US" altLang="zh-CN" sz="2000" dirty="0"/>
            </a:br>
            <a:r>
              <a:rPr lang="zh-CN" altLang="en-US" sz="2000" b="0" dirty="0">
                <a:effectLst/>
              </a:rPr>
              <a:t>　</a:t>
            </a:r>
            <a:r>
              <a:rPr lang="en-US" altLang="zh-CN" sz="2000" b="0" dirty="0">
                <a:effectLst/>
              </a:rPr>
              <a:t>data1    segment        </a:t>
            </a:r>
            <a:r>
              <a:rPr lang="zh-CN" altLang="en-US" sz="2000" b="0" dirty="0">
                <a:effectLst/>
              </a:rPr>
              <a:t>　</a:t>
            </a:r>
            <a:r>
              <a:rPr lang="en-US" altLang="zh-CN" sz="2000" b="0" dirty="0">
                <a:effectLst/>
              </a:rPr>
              <a:t>; </a:t>
            </a:r>
            <a:r>
              <a:rPr lang="zh-CN" altLang="en-US" sz="2000" b="0" dirty="0">
                <a:effectLst/>
              </a:rPr>
              <a:t>定义数据段</a:t>
            </a:r>
            <a:br>
              <a:rPr lang="zh-CN" altLang="en-US" sz="2000" dirty="0"/>
            </a:br>
            <a:r>
              <a:rPr lang="zh-CN" altLang="en-US" sz="2000" b="0" dirty="0">
                <a:effectLst/>
              </a:rPr>
              <a:t>　　　</a:t>
            </a:r>
            <a:r>
              <a:rPr lang="en-US" altLang="zh-CN" sz="2000" b="0" dirty="0">
                <a:effectLst/>
              </a:rPr>
              <a:t>.</a:t>
            </a:r>
            <a:br>
              <a:rPr lang="zh-CN" altLang="en-US" sz="2000" dirty="0"/>
            </a:br>
            <a:r>
              <a:rPr lang="zh-CN" altLang="en-US" sz="2000" b="0" dirty="0">
                <a:effectLst/>
              </a:rPr>
              <a:t>　　　</a:t>
            </a:r>
            <a:r>
              <a:rPr lang="en-US" altLang="zh-CN" sz="2000" b="0" dirty="0">
                <a:effectLst/>
              </a:rPr>
              <a:t>.</a:t>
            </a:r>
            <a:br>
              <a:rPr lang="zh-CN" altLang="en-US" sz="2000" dirty="0"/>
            </a:br>
            <a:r>
              <a:rPr lang="zh-CN" altLang="en-US" sz="2000" dirty="0"/>
              <a:t>    </a:t>
            </a:r>
            <a:r>
              <a:rPr lang="en-US" altLang="zh-CN" sz="2000" b="0" dirty="0">
                <a:effectLst/>
              </a:rPr>
              <a:t>data1    ends</a:t>
            </a:r>
            <a:br>
              <a:rPr lang="en-US" altLang="zh-CN" sz="2000" dirty="0"/>
            </a:br>
            <a:r>
              <a:rPr lang="zh-CN" altLang="en-US" sz="2000" b="0" dirty="0">
                <a:effectLst/>
              </a:rPr>
              <a:t>　</a:t>
            </a:r>
            <a:r>
              <a:rPr lang="en-US" altLang="zh-CN" sz="2000" b="0" dirty="0">
                <a:effectLst/>
              </a:rPr>
              <a:t>; * * * * * * * * * * * * * * * * * * * * * * *</a:t>
            </a:r>
            <a:br>
              <a:rPr lang="en-US" altLang="zh-CN" sz="2000" dirty="0"/>
            </a:br>
            <a:r>
              <a:rPr lang="en-US" altLang="zh-CN" sz="2000" dirty="0"/>
              <a:t>    </a:t>
            </a:r>
            <a:r>
              <a:rPr lang="en-US" altLang="zh-CN" sz="2000" b="0" dirty="0">
                <a:effectLst/>
              </a:rPr>
              <a:t>data2    segment </a:t>
            </a:r>
            <a:r>
              <a:rPr lang="zh-CN" altLang="en-US" sz="2000" b="0" dirty="0">
                <a:effectLst/>
              </a:rPr>
              <a:t>　　　</a:t>
            </a:r>
            <a:r>
              <a:rPr lang="en-US" altLang="zh-CN" sz="2000" b="0" dirty="0">
                <a:effectLst/>
              </a:rPr>
              <a:t>; </a:t>
            </a:r>
            <a:r>
              <a:rPr lang="zh-CN" altLang="en-US" sz="2000" b="0" dirty="0">
                <a:effectLst/>
              </a:rPr>
              <a:t>定义附加段</a:t>
            </a:r>
            <a:br>
              <a:rPr lang="zh-CN" altLang="en-US" sz="2000" dirty="0"/>
            </a:br>
            <a:r>
              <a:rPr lang="zh-CN" altLang="en-US" sz="2000" b="0" dirty="0">
                <a:effectLst/>
              </a:rPr>
              <a:t>　　　</a:t>
            </a:r>
            <a:r>
              <a:rPr lang="en-US" altLang="zh-CN" sz="2000" b="0" dirty="0">
                <a:effectLst/>
              </a:rPr>
              <a:t>.</a:t>
            </a:r>
            <a:br>
              <a:rPr lang="zh-CN" altLang="en-US" sz="2000" dirty="0"/>
            </a:br>
            <a:r>
              <a:rPr lang="zh-CN" altLang="en-US" sz="2000" b="0" dirty="0">
                <a:effectLst/>
              </a:rPr>
              <a:t>　　　</a:t>
            </a:r>
            <a:r>
              <a:rPr lang="en-US" altLang="zh-CN" sz="2000" b="0" dirty="0">
                <a:effectLst/>
              </a:rPr>
              <a:t>.</a:t>
            </a:r>
            <a:br>
              <a:rPr lang="zh-CN" altLang="en-US" sz="2000" dirty="0"/>
            </a:br>
            <a:r>
              <a:rPr lang="zh-CN" altLang="en-US" sz="2000" b="0" dirty="0">
                <a:effectLst/>
              </a:rPr>
              <a:t>　</a:t>
            </a:r>
            <a:r>
              <a:rPr lang="en-US" altLang="zh-CN" sz="2000" b="0" dirty="0">
                <a:effectLst/>
              </a:rPr>
              <a:t>data2    ends</a:t>
            </a:r>
            <a:br>
              <a:rPr lang="en-US" altLang="zh-CN" sz="2000" dirty="0"/>
            </a:br>
            <a:r>
              <a:rPr lang="zh-CN" altLang="en-US" sz="2000" b="0" dirty="0">
                <a:effectLst/>
              </a:rPr>
              <a:t>　</a:t>
            </a:r>
            <a:r>
              <a:rPr lang="en-US" altLang="zh-CN" sz="2000" b="0" dirty="0">
                <a:effectLst/>
              </a:rPr>
              <a:t>; * * * * * * * * * * * * * * * * * * * * * * *</a:t>
            </a:r>
            <a:br>
              <a:rPr lang="en-US" altLang="zh-CN" sz="2000" dirty="0"/>
            </a:br>
            <a:r>
              <a:rPr lang="zh-CN" altLang="en-US" sz="2000" b="0" dirty="0">
                <a:effectLst/>
              </a:rPr>
              <a:t>　</a:t>
            </a:r>
            <a:r>
              <a:rPr lang="en-US" altLang="zh-CN" sz="2000" b="0" dirty="0" err="1">
                <a:effectLst/>
              </a:rPr>
              <a:t>codeseg</a:t>
            </a:r>
            <a:r>
              <a:rPr lang="en-US" altLang="zh-CN" sz="2000" b="0" dirty="0">
                <a:effectLst/>
              </a:rPr>
              <a:t>     segment </a:t>
            </a:r>
            <a:r>
              <a:rPr lang="zh-CN" altLang="en-US" sz="2000" b="0" dirty="0">
                <a:effectLst/>
              </a:rPr>
              <a:t>　　</a:t>
            </a:r>
            <a:r>
              <a:rPr lang="en-US" altLang="zh-CN" sz="2000" b="0" dirty="0">
                <a:effectLst/>
              </a:rPr>
              <a:t>; </a:t>
            </a:r>
            <a:r>
              <a:rPr lang="zh-CN" altLang="en-US" sz="2000" b="0" dirty="0">
                <a:effectLst/>
              </a:rPr>
              <a:t>定义代码段</a:t>
            </a:r>
            <a:endParaRPr lang="en-US" altLang="zh-CN" sz="2000" b="0" dirty="0">
              <a:effectLst/>
            </a:endParaRPr>
          </a:p>
          <a:p>
            <a:pPr marL="0" indent="0">
              <a:spcBef>
                <a:spcPts val="0"/>
              </a:spcBef>
              <a:buNone/>
            </a:pPr>
            <a:r>
              <a:rPr lang="en-US" altLang="zh-CN" sz="2000" b="0" dirty="0">
                <a:effectLst/>
              </a:rPr>
              <a:t>	ASSUME   cs: </a:t>
            </a:r>
            <a:r>
              <a:rPr lang="en-US" altLang="zh-CN" sz="2000" b="0" dirty="0" err="1">
                <a:effectLst/>
              </a:rPr>
              <a:t>codeseg</a:t>
            </a:r>
            <a:r>
              <a:rPr lang="en-US" altLang="zh-CN" sz="2000" b="0" dirty="0">
                <a:effectLst/>
              </a:rPr>
              <a:t>, ds: data1, es: data2</a:t>
            </a:r>
            <a:br>
              <a:rPr lang="zh-CN" altLang="en-US" sz="2000" dirty="0"/>
            </a:br>
            <a:r>
              <a:rPr lang="zh-CN" altLang="en-US" sz="2000" b="0" dirty="0">
                <a:effectLst/>
              </a:rPr>
              <a:t>　　</a:t>
            </a:r>
            <a:r>
              <a:rPr lang="en-US" altLang="zh-CN" sz="2000" b="0" dirty="0">
                <a:solidFill>
                  <a:srgbClr val="FF0000"/>
                </a:solidFill>
                <a:effectLst/>
              </a:rPr>
              <a:t>start: </a:t>
            </a:r>
            <a:r>
              <a:rPr lang="zh-CN" altLang="en-US" sz="2000" b="0" dirty="0">
                <a:effectLst/>
              </a:rPr>
              <a:t>　　　　　　　 </a:t>
            </a:r>
            <a:r>
              <a:rPr lang="en-US" altLang="zh-CN" sz="2000" b="0" dirty="0">
                <a:effectLst/>
              </a:rPr>
              <a:t>; </a:t>
            </a:r>
            <a:r>
              <a:rPr lang="zh-CN" altLang="en-US" sz="2000" b="0" dirty="0">
                <a:effectLst/>
              </a:rPr>
              <a:t>程序执行的起始地址，</a:t>
            </a:r>
            <a:r>
              <a:rPr lang="en-US" altLang="zh-CN" sz="2000" b="0" dirty="0">
                <a:solidFill>
                  <a:srgbClr val="FF0000"/>
                </a:solidFill>
                <a:effectLst/>
              </a:rPr>
              <a:t>start</a:t>
            </a:r>
            <a:r>
              <a:rPr lang="zh-CN" altLang="en-US" sz="2000" b="0" dirty="0">
                <a:solidFill>
                  <a:srgbClr val="FF0000"/>
                </a:solidFill>
                <a:effectLst/>
              </a:rPr>
              <a:t>表示程序执行的入口</a:t>
            </a:r>
            <a:br>
              <a:rPr lang="zh-CN" altLang="en-US" sz="2000" dirty="0"/>
            </a:br>
            <a:r>
              <a:rPr lang="zh-CN" altLang="en-US" sz="2000" b="0" dirty="0">
                <a:effectLst/>
              </a:rPr>
              <a:t>　　　　　　　　　　　　</a:t>
            </a:r>
            <a:br>
              <a:rPr lang="zh-CN" altLang="en-US" sz="2000" dirty="0"/>
            </a:br>
            <a:r>
              <a:rPr lang="zh-CN" altLang="en-US" sz="2000" b="0" dirty="0">
                <a:effectLst/>
              </a:rPr>
              <a:t>　 </a:t>
            </a:r>
            <a:r>
              <a:rPr lang="en-US" altLang="zh-CN" sz="2000" b="0" dirty="0" err="1">
                <a:effectLst/>
              </a:rPr>
              <a:t>codeseg</a:t>
            </a:r>
            <a:r>
              <a:rPr lang="en-US" altLang="zh-CN" sz="2000" b="0" dirty="0">
                <a:effectLst/>
              </a:rPr>
              <a:t>    ends </a:t>
            </a:r>
            <a:r>
              <a:rPr lang="zh-CN" altLang="en-US" sz="2000" b="0" dirty="0">
                <a:effectLst/>
              </a:rPr>
              <a:t>　　　   </a:t>
            </a:r>
            <a:r>
              <a:rPr lang="en-US" altLang="zh-CN" sz="2000" b="0" dirty="0">
                <a:effectLst/>
              </a:rPr>
              <a:t>; </a:t>
            </a:r>
            <a:r>
              <a:rPr lang="zh-CN" altLang="en-US" sz="2000" b="0" dirty="0">
                <a:solidFill>
                  <a:srgbClr val="FF0000"/>
                </a:solidFill>
                <a:effectLst/>
              </a:rPr>
              <a:t>代码段结束</a:t>
            </a:r>
            <a:br>
              <a:rPr lang="zh-CN" altLang="en-US" sz="2000" dirty="0"/>
            </a:br>
            <a:r>
              <a:rPr lang="zh-CN" altLang="en-US" sz="2000" b="0" dirty="0">
                <a:effectLst/>
              </a:rPr>
              <a:t>　　　  </a:t>
            </a:r>
            <a:r>
              <a:rPr lang="en-US" altLang="zh-CN" sz="2000" b="0" dirty="0">
                <a:effectLst/>
              </a:rPr>
              <a:t>end </a:t>
            </a:r>
            <a:r>
              <a:rPr lang="zh-CN" altLang="en-US" sz="2000" b="0" dirty="0">
                <a:effectLst/>
              </a:rPr>
              <a:t>　　</a:t>
            </a:r>
            <a:r>
              <a:rPr lang="en-US" altLang="zh-CN" sz="2000" b="0" dirty="0">
                <a:solidFill>
                  <a:srgbClr val="FF0000"/>
                </a:solidFill>
                <a:effectLst/>
              </a:rPr>
              <a:t>start	   ;</a:t>
            </a:r>
            <a:r>
              <a:rPr lang="zh-CN" altLang="en-US" sz="2000" b="0" dirty="0">
                <a:solidFill>
                  <a:srgbClr val="FF0000"/>
                </a:solidFill>
                <a:effectLst/>
              </a:rPr>
              <a:t>源程序结束</a:t>
            </a:r>
            <a:endParaRPr lang="zh-CN" altLang="en-US" sz="2000" b="0" dirty="0">
              <a:solidFill>
                <a:srgbClr val="FF0000"/>
              </a:solidFill>
              <a:effectLst/>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5" name="Rectangle 3"/>
          <p:cNvSpPr>
            <a:spLocks noGrp="1" noChangeArrowheads="1"/>
          </p:cNvSpPr>
          <p:nvPr>
            <p:ph type="body" idx="1"/>
          </p:nvPr>
        </p:nvSpPr>
        <p:spPr>
          <a:xfrm>
            <a:off x="611560" y="1613178"/>
            <a:ext cx="8136904" cy="5328592"/>
          </a:xfrm>
        </p:spPr>
        <p:txBody>
          <a:bodyPr/>
          <a:lstStyle/>
          <a:p>
            <a:pPr algn="just">
              <a:spcBef>
                <a:spcPts val="1200"/>
              </a:spcBef>
            </a:pPr>
            <a:r>
              <a:rPr lang="zh-CN" altLang="en-US" sz="2200" b="0" dirty="0">
                <a:effectLst/>
                <a:latin typeface="华文宋体" panose="02010600040101010101" pitchFamily="2" charset="-122"/>
                <a:ea typeface="华文宋体" panose="02010600040101010101" pitchFamily="2" charset="-122"/>
              </a:rPr>
              <a:t>段定义后，还要规定段的性质，也就是要明确段和段寄存器的关系</a:t>
            </a:r>
            <a:r>
              <a:rPr lang="zh-CN" altLang="fr-FR" sz="2200" b="0" dirty="0">
                <a:effectLst/>
                <a:latin typeface="华文宋体" panose="02010600040101010101" pitchFamily="2" charset="-122"/>
                <a:ea typeface="华文宋体" panose="02010600040101010101" pitchFamily="2" charset="-122"/>
              </a:rPr>
              <a:t>，</a:t>
            </a:r>
            <a:r>
              <a:rPr lang="zh-CN" altLang="en-US" sz="2200" b="0" dirty="0">
                <a:effectLst/>
                <a:latin typeface="华文宋体" panose="02010600040101010101" pitchFamily="2" charset="-122"/>
                <a:ea typeface="华文宋体" panose="02010600040101010101" pitchFamily="2" charset="-122"/>
              </a:rPr>
              <a:t>这可用</a:t>
            </a:r>
            <a:r>
              <a:rPr lang="fr-FR" altLang="zh-CN" sz="2200" b="0" dirty="0">
                <a:effectLst/>
                <a:latin typeface="华文宋体" panose="02010600040101010101" pitchFamily="2" charset="-122"/>
                <a:ea typeface="华文宋体" panose="02010600040101010101" pitchFamily="2" charset="-122"/>
                <a:cs typeface="Times New Roman" panose="02020603050405020304" pitchFamily="18" charset="0"/>
              </a:rPr>
              <a:t>ASSUME</a:t>
            </a:r>
            <a:r>
              <a:rPr lang="zh-CN" altLang="en-US" sz="2200" b="0" dirty="0">
                <a:effectLst/>
                <a:latin typeface="华文宋体" panose="02010600040101010101" pitchFamily="2" charset="-122"/>
                <a:ea typeface="华文宋体" panose="02010600040101010101" pitchFamily="2" charset="-122"/>
              </a:rPr>
              <a:t>伪指令来实现。</a:t>
            </a:r>
            <a:endParaRPr lang="zh-CN" altLang="en-US" sz="2200" b="0" dirty="0">
              <a:effectLst/>
              <a:latin typeface="华文宋体" panose="02010600040101010101" pitchFamily="2" charset="-122"/>
              <a:ea typeface="华文宋体" panose="02010600040101010101" pitchFamily="2" charset="-122"/>
              <a:cs typeface="Times New Roman" panose="02020603050405020304" pitchFamily="18" charset="0"/>
            </a:endParaRPr>
          </a:p>
          <a:p>
            <a:pPr algn="just">
              <a:spcBef>
                <a:spcPts val="1200"/>
              </a:spcBef>
            </a:pPr>
            <a:r>
              <a:rPr lang="en-US" altLang="zh-CN" sz="2200" b="0" dirty="0">
                <a:effectLst/>
                <a:latin typeface="华文宋体" panose="02010600040101010101" pitchFamily="2" charset="-122"/>
                <a:ea typeface="华文宋体" panose="02010600040101010101" pitchFamily="2" charset="-122"/>
                <a:cs typeface="Times New Roman" panose="02020603050405020304" pitchFamily="18" charset="0"/>
              </a:rPr>
              <a:t>ASSUME</a:t>
            </a:r>
            <a:r>
              <a:rPr lang="zh-CN" altLang="en-US" sz="2200" b="0" dirty="0">
                <a:effectLst/>
                <a:latin typeface="华文宋体" panose="02010600040101010101" pitchFamily="2" charset="-122"/>
                <a:ea typeface="华文宋体" panose="02010600040101010101" pitchFamily="2" charset="-122"/>
              </a:rPr>
              <a:t>伪指令的格式为：</a:t>
            </a:r>
            <a:endParaRPr lang="zh-CN" altLang="en-US" sz="2200" b="0" dirty="0">
              <a:effectLst/>
              <a:latin typeface="华文宋体" panose="02010600040101010101" pitchFamily="2" charset="-122"/>
              <a:ea typeface="华文宋体" panose="02010600040101010101" pitchFamily="2" charset="-122"/>
              <a:cs typeface="Times New Roman" panose="02020603050405020304" pitchFamily="18" charset="0"/>
            </a:endParaRPr>
          </a:p>
          <a:p>
            <a:pPr algn="just">
              <a:spcBef>
                <a:spcPts val="1200"/>
              </a:spcBef>
              <a:buFontTx/>
              <a:buNone/>
            </a:pPr>
            <a:r>
              <a:rPr lang="en-US" altLang="zh-CN" sz="2200" b="0" dirty="0">
                <a:effectLst/>
                <a:latin typeface="华文宋体" panose="02010600040101010101" pitchFamily="2" charset="-122"/>
                <a:ea typeface="华文宋体" panose="02010600040101010101" pitchFamily="2" charset="-122"/>
                <a:cs typeface="Times New Roman" panose="02020603050405020304" pitchFamily="18" charset="0"/>
              </a:rPr>
              <a:t>	</a:t>
            </a:r>
            <a:r>
              <a:rPr lang="en-US" altLang="zh-CN" sz="2200" b="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ASSUME    </a:t>
            </a:r>
            <a:r>
              <a:rPr lang="zh-CN" altLang="en-US" sz="2200" b="0" dirty="0">
                <a:solidFill>
                  <a:srgbClr val="FF0000"/>
                </a:solidFill>
                <a:effectLst/>
                <a:latin typeface="华文宋体" panose="02010600040101010101" pitchFamily="2" charset="-122"/>
                <a:ea typeface="华文宋体" panose="02010600040101010101" pitchFamily="2" charset="-122"/>
              </a:rPr>
              <a:t>段寄存器：段名</a:t>
            </a:r>
            <a:r>
              <a:rPr lang="en-US" altLang="zh-CN" sz="2200" b="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a:t>
            </a:r>
            <a:r>
              <a:rPr lang="zh-CN" altLang="en-US" sz="2200" b="0" dirty="0">
                <a:solidFill>
                  <a:srgbClr val="FF0000"/>
                </a:solidFill>
                <a:effectLst/>
                <a:latin typeface="华文宋体" panose="02010600040101010101" pitchFamily="2" charset="-122"/>
                <a:ea typeface="华文宋体" panose="02010600040101010101" pitchFamily="2" charset="-122"/>
              </a:rPr>
              <a:t>，段寄存器：段名</a:t>
            </a:r>
            <a:r>
              <a:rPr lang="en-US" altLang="zh-CN" sz="2200" b="0" dirty="0">
                <a:solidFill>
                  <a:srgbClr val="FF0000"/>
                </a:solidFill>
                <a:effectLst/>
                <a:latin typeface="华文宋体" panose="02010600040101010101" pitchFamily="2" charset="-122"/>
                <a:ea typeface="华文宋体" panose="02010600040101010101" pitchFamily="2" charset="-122"/>
              </a:rPr>
              <a:t>……</a:t>
            </a:r>
            <a:r>
              <a:rPr lang="en-US" altLang="zh-CN" sz="2200" b="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 ]</a:t>
            </a:r>
            <a:endParaRPr lang="en-US" altLang="zh-CN" sz="2200" b="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endParaRPr>
          </a:p>
          <a:p>
            <a:pPr algn="just">
              <a:spcBef>
                <a:spcPts val="1200"/>
              </a:spcBef>
            </a:pPr>
            <a:r>
              <a:rPr lang="zh-CN" altLang="en-US" sz="2200" b="0" dirty="0">
                <a:effectLst/>
                <a:latin typeface="华文宋体" panose="02010600040101010101" pitchFamily="2" charset="-122"/>
                <a:ea typeface="华文宋体" panose="02010600040101010101" pitchFamily="2" charset="-122"/>
              </a:rPr>
              <a:t>或者：</a:t>
            </a:r>
            <a:endParaRPr lang="zh-CN" altLang="en-US" sz="2200" b="0" dirty="0">
              <a:effectLst/>
              <a:latin typeface="华文宋体" panose="02010600040101010101" pitchFamily="2" charset="-122"/>
              <a:ea typeface="华文宋体" panose="02010600040101010101" pitchFamily="2" charset="-122"/>
              <a:cs typeface="Times New Roman" panose="02020603050405020304" pitchFamily="18" charset="0"/>
            </a:endParaRPr>
          </a:p>
          <a:p>
            <a:pPr algn="just">
              <a:spcBef>
                <a:spcPts val="1200"/>
              </a:spcBef>
              <a:buFontTx/>
              <a:buNone/>
            </a:pPr>
            <a:r>
              <a:rPr lang="en-US" altLang="zh-CN" sz="2200" b="0" dirty="0">
                <a:effectLst/>
                <a:latin typeface="华文宋体" panose="02010600040101010101" pitchFamily="2" charset="-122"/>
                <a:ea typeface="华文宋体" panose="02010600040101010101" pitchFamily="2" charset="-122"/>
                <a:cs typeface="Times New Roman" panose="02020603050405020304" pitchFamily="18" charset="0"/>
              </a:rPr>
              <a:t>	</a:t>
            </a:r>
            <a:r>
              <a:rPr lang="en-US" altLang="zh-CN" sz="2200" b="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ASSUME    </a:t>
            </a:r>
            <a:r>
              <a:rPr lang="zh-CN" altLang="fr-FR" sz="2200" b="0" dirty="0">
                <a:solidFill>
                  <a:srgbClr val="FF0000"/>
                </a:solidFill>
                <a:effectLst/>
                <a:latin typeface="华文宋体" panose="02010600040101010101" pitchFamily="2" charset="-122"/>
                <a:ea typeface="华文宋体" panose="02010600040101010101" pitchFamily="2" charset="-122"/>
              </a:rPr>
              <a:t>段寄存器</a:t>
            </a:r>
            <a:r>
              <a:rPr lang="zh-CN" altLang="en-US" sz="2200" b="0" dirty="0">
                <a:solidFill>
                  <a:srgbClr val="FF0000"/>
                </a:solidFill>
                <a:effectLst/>
                <a:latin typeface="华文宋体" panose="02010600040101010101" pitchFamily="2" charset="-122"/>
                <a:ea typeface="华文宋体" panose="02010600040101010101" pitchFamily="2" charset="-122"/>
              </a:rPr>
              <a:t>：</a:t>
            </a:r>
            <a:r>
              <a:rPr lang="en-US" altLang="zh-CN" sz="2200" b="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rPr>
              <a:t>NOTHING   </a:t>
            </a:r>
            <a:r>
              <a:rPr lang="zh-CN" altLang="en-US" sz="2200" b="0" dirty="0">
                <a:solidFill>
                  <a:srgbClr val="FF0000"/>
                </a:solidFill>
                <a:effectLst/>
                <a:latin typeface="华文宋体" panose="02010600040101010101" pitchFamily="2" charset="-122"/>
                <a:ea typeface="华文宋体" panose="02010600040101010101" pitchFamily="2" charset="-122"/>
              </a:rPr>
              <a:t>；取消原段寄存器的指定</a:t>
            </a:r>
            <a:endParaRPr lang="zh-CN" altLang="en-US" sz="2200" b="0" dirty="0">
              <a:solidFill>
                <a:srgbClr val="FF0000"/>
              </a:solidFill>
              <a:effectLst/>
              <a:latin typeface="华文宋体" panose="02010600040101010101" pitchFamily="2" charset="-122"/>
              <a:ea typeface="华文宋体" panose="02010600040101010101" pitchFamily="2" charset="-122"/>
              <a:cs typeface="Times New Roman" panose="02020603050405020304" pitchFamily="18" charset="0"/>
            </a:endParaRPr>
          </a:p>
          <a:p>
            <a:pPr algn="just">
              <a:spcBef>
                <a:spcPts val="1200"/>
              </a:spcBef>
            </a:pPr>
            <a:r>
              <a:rPr lang="zh-CN" altLang="en-US" sz="2200" b="0" dirty="0">
                <a:effectLst/>
                <a:latin typeface="华文宋体" panose="02010600040101010101" pitchFamily="2" charset="-122"/>
                <a:ea typeface="华文宋体" panose="02010600040101010101" pitchFamily="2" charset="-122"/>
              </a:rPr>
              <a:t>段寄存器可以是</a:t>
            </a:r>
            <a:r>
              <a:rPr lang="en-US" altLang="zh-CN" sz="2200" b="0" dirty="0">
                <a:effectLst/>
                <a:latin typeface="华文宋体" panose="02010600040101010101" pitchFamily="2" charset="-122"/>
                <a:ea typeface="华文宋体" panose="02010600040101010101" pitchFamily="2" charset="-122"/>
                <a:cs typeface="Times New Roman" panose="02020603050405020304" pitchFamily="18" charset="0"/>
              </a:rPr>
              <a:t>CS</a:t>
            </a:r>
            <a:r>
              <a:rPr lang="zh-CN" altLang="en-US" sz="2200" b="0" dirty="0">
                <a:effectLst/>
                <a:latin typeface="华文宋体" panose="02010600040101010101" pitchFamily="2" charset="-122"/>
                <a:ea typeface="华文宋体" panose="02010600040101010101" pitchFamily="2" charset="-122"/>
              </a:rPr>
              <a:t>、</a:t>
            </a:r>
            <a:r>
              <a:rPr lang="en-US" altLang="zh-CN" sz="2200" b="0" dirty="0">
                <a:effectLst/>
                <a:latin typeface="华文宋体" panose="02010600040101010101" pitchFamily="2" charset="-122"/>
                <a:ea typeface="华文宋体" panose="02010600040101010101" pitchFamily="2" charset="-122"/>
                <a:cs typeface="Times New Roman" panose="02020603050405020304" pitchFamily="18" charset="0"/>
              </a:rPr>
              <a:t>DS</a:t>
            </a:r>
            <a:r>
              <a:rPr lang="zh-CN" altLang="en-US" sz="2200" b="0" dirty="0">
                <a:effectLst/>
                <a:latin typeface="华文宋体" panose="02010600040101010101" pitchFamily="2" charset="-122"/>
                <a:ea typeface="华文宋体" panose="02010600040101010101" pitchFamily="2" charset="-122"/>
              </a:rPr>
              <a:t>、</a:t>
            </a:r>
            <a:r>
              <a:rPr lang="en-US" altLang="zh-CN" sz="2200" b="0" dirty="0">
                <a:effectLst/>
                <a:latin typeface="华文宋体" panose="02010600040101010101" pitchFamily="2" charset="-122"/>
                <a:ea typeface="华文宋体" panose="02010600040101010101" pitchFamily="2" charset="-122"/>
                <a:cs typeface="Times New Roman" panose="02020603050405020304" pitchFamily="18" charset="0"/>
              </a:rPr>
              <a:t>ES</a:t>
            </a:r>
            <a:r>
              <a:rPr lang="zh-CN" altLang="en-US" sz="2200" b="0" dirty="0">
                <a:effectLst/>
                <a:latin typeface="华文宋体" panose="02010600040101010101" pitchFamily="2" charset="-122"/>
                <a:ea typeface="华文宋体" panose="02010600040101010101" pitchFamily="2" charset="-122"/>
              </a:rPr>
              <a:t>、</a:t>
            </a:r>
            <a:r>
              <a:rPr lang="en-US" altLang="zh-CN" sz="2200" b="0" dirty="0">
                <a:effectLst/>
                <a:latin typeface="华文宋体" panose="02010600040101010101" pitchFamily="2" charset="-122"/>
                <a:ea typeface="华文宋体" panose="02010600040101010101" pitchFamily="2" charset="-122"/>
                <a:cs typeface="Times New Roman" panose="02020603050405020304" pitchFamily="18" charset="0"/>
              </a:rPr>
              <a:t>SS</a:t>
            </a:r>
            <a:r>
              <a:rPr lang="zh-CN" altLang="en-US" sz="2200" b="0" dirty="0">
                <a:effectLst/>
                <a:latin typeface="华文宋体" panose="02010600040101010101" pitchFamily="2" charset="-122"/>
                <a:ea typeface="华文宋体" panose="02010600040101010101" pitchFamily="2" charset="-122"/>
              </a:rPr>
              <a:t>。</a:t>
            </a:r>
            <a:endParaRPr lang="en-US" altLang="zh-CN" sz="2200" b="0" dirty="0">
              <a:effectLst/>
              <a:latin typeface="华文宋体" panose="02010600040101010101" pitchFamily="2" charset="-122"/>
              <a:ea typeface="华文宋体" panose="02010600040101010101" pitchFamily="2" charset="-122"/>
            </a:endParaRPr>
          </a:p>
          <a:p>
            <a:pPr algn="just">
              <a:spcBef>
                <a:spcPts val="1200"/>
              </a:spcBef>
            </a:pPr>
            <a:r>
              <a:rPr lang="zh-CN" altLang="en-US" sz="2200" b="0" dirty="0">
                <a:effectLst/>
                <a:latin typeface="华文宋体" panose="02010600040101010101" pitchFamily="2" charset="-122"/>
                <a:ea typeface="华文宋体" panose="02010600040101010101" pitchFamily="2" charset="-122"/>
              </a:rPr>
              <a:t>注意：</a:t>
            </a:r>
            <a:r>
              <a:rPr lang="en-US" altLang="zh-CN" sz="2200" b="0" dirty="0">
                <a:effectLst/>
                <a:latin typeface="华文宋体" panose="02010600040101010101" pitchFamily="2" charset="-122"/>
                <a:ea typeface="华文宋体" panose="02010600040101010101" pitchFamily="2" charset="-122"/>
              </a:rPr>
              <a:t>ASSUME</a:t>
            </a:r>
            <a:r>
              <a:rPr lang="zh-CN" altLang="en-US" sz="2200" b="0" dirty="0">
                <a:effectLst/>
                <a:latin typeface="华文宋体" panose="02010600040101010101" pitchFamily="2" charset="-122"/>
                <a:ea typeface="华文宋体" panose="02010600040101010101" pitchFamily="2" charset="-122"/>
              </a:rPr>
              <a:t>伪指令只是指出各逻辑段应该装填的地址，但并未真正将段基址装入相应的段寄存器中，所以在程序的代码段开始处必须先进行</a:t>
            </a:r>
            <a:r>
              <a:rPr lang="en-US" altLang="zh-CN" sz="2200" b="0" dirty="0">
                <a:effectLst/>
                <a:latin typeface="华文宋体" panose="02010600040101010101" pitchFamily="2" charset="-122"/>
                <a:ea typeface="华文宋体" panose="02010600040101010101" pitchFamily="2" charset="-122"/>
              </a:rPr>
              <a:t>DS</a:t>
            </a:r>
            <a:r>
              <a:rPr lang="zh-CN" altLang="en-US" sz="2200" b="0" dirty="0">
                <a:effectLst/>
                <a:latin typeface="华文宋体" panose="02010600040101010101" pitchFamily="2" charset="-122"/>
                <a:ea typeface="华文宋体" panose="02010600040101010101" pitchFamily="2" charset="-122"/>
              </a:rPr>
              <a:t>、</a:t>
            </a:r>
            <a:r>
              <a:rPr lang="en-US" altLang="zh-CN" sz="2200" b="0" dirty="0">
                <a:effectLst/>
                <a:latin typeface="华文宋体" panose="02010600040101010101" pitchFamily="2" charset="-122"/>
                <a:ea typeface="华文宋体" panose="02010600040101010101" pitchFamily="2" charset="-122"/>
              </a:rPr>
              <a:t>ES</a:t>
            </a:r>
            <a:r>
              <a:rPr lang="zh-CN" altLang="en-US" sz="2200" b="0" dirty="0">
                <a:effectLst/>
                <a:latin typeface="华文宋体" panose="02010600040101010101" pitchFamily="2" charset="-122"/>
                <a:ea typeface="华文宋体" panose="02010600040101010101" pitchFamily="2" charset="-122"/>
              </a:rPr>
              <a:t>、</a:t>
            </a:r>
            <a:r>
              <a:rPr lang="en-US" altLang="zh-CN" sz="2200" b="0" dirty="0">
                <a:effectLst/>
                <a:latin typeface="华文宋体" panose="02010600040101010101" pitchFamily="2" charset="-122"/>
                <a:ea typeface="华文宋体" panose="02010600040101010101" pitchFamily="2" charset="-122"/>
              </a:rPr>
              <a:t>SS</a:t>
            </a:r>
            <a:r>
              <a:rPr lang="zh-CN" altLang="en-US" sz="2200" b="0" dirty="0">
                <a:effectLst/>
                <a:latin typeface="华文宋体" panose="02010600040101010101" pitchFamily="2" charset="-122"/>
                <a:ea typeface="华文宋体" panose="02010600040101010101" pitchFamily="2" charset="-122"/>
              </a:rPr>
              <a:t>段基址的装填，否则无法正确对数据进行寻址操作。只有</a:t>
            </a:r>
            <a:r>
              <a:rPr lang="en-US" altLang="zh-CN" sz="2200" dirty="0">
                <a:solidFill>
                  <a:srgbClr val="FF0000"/>
                </a:solidFill>
                <a:effectLst/>
                <a:latin typeface="华文宋体" panose="02010600040101010101" pitchFamily="2" charset="-122"/>
                <a:ea typeface="华文宋体" panose="02010600040101010101" pitchFamily="2" charset="-122"/>
              </a:rPr>
              <a:t>CS</a:t>
            </a:r>
            <a:r>
              <a:rPr lang="zh-CN" altLang="en-US" sz="2200" dirty="0">
                <a:solidFill>
                  <a:srgbClr val="FF0000"/>
                </a:solidFill>
                <a:effectLst/>
                <a:latin typeface="华文宋体" panose="02010600040101010101" pitchFamily="2" charset="-122"/>
                <a:ea typeface="华文宋体" panose="02010600040101010101" pitchFamily="2" charset="-122"/>
              </a:rPr>
              <a:t>由系统自动装填</a:t>
            </a:r>
            <a:r>
              <a:rPr lang="zh-CN" altLang="en-US" sz="2200" b="0" dirty="0">
                <a:effectLst/>
                <a:latin typeface="华文宋体" panose="02010600040101010101" pitchFamily="2" charset="-122"/>
                <a:ea typeface="华文宋体" panose="02010600040101010101" pitchFamily="2" charset="-122"/>
              </a:rPr>
              <a:t>。</a:t>
            </a:r>
            <a:endParaRPr lang="zh-CN" altLang="en-US" sz="2200" b="0" dirty="0">
              <a:effectLst/>
              <a:latin typeface="华文宋体" panose="02010600040101010101" pitchFamily="2" charset="-122"/>
              <a:ea typeface="华文宋体" panose="02010600040101010101" pitchFamily="2" charset="-122"/>
            </a:endParaRPr>
          </a:p>
        </p:txBody>
      </p:sp>
      <p:sp>
        <p:nvSpPr>
          <p:cNvPr id="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8" name="Rectangle 2"/>
          <p:cNvSpPr>
            <a:spLocks noChangeArrowheads="1"/>
          </p:cNvSpPr>
          <p:nvPr/>
        </p:nvSpPr>
        <p:spPr bwMode="auto">
          <a:xfrm>
            <a:off x="596163" y="980728"/>
            <a:ext cx="4343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dirty="0">
                <a:solidFill>
                  <a:srgbClr val="000000"/>
                </a:solidFill>
              </a:rPr>
              <a:t>◆ </a:t>
            </a:r>
            <a:r>
              <a:rPr lang="en-US" altLang="zh-CN" dirty="0">
                <a:solidFill>
                  <a:srgbClr val="000000"/>
                </a:solidFill>
              </a:rPr>
              <a:t>ASSUME</a:t>
            </a:r>
            <a:r>
              <a:rPr lang="zh-CN" altLang="en-US" dirty="0">
                <a:solidFill>
                  <a:srgbClr val="000000"/>
                </a:solidFill>
              </a:rPr>
              <a:t>伪指令 ：</a:t>
            </a:r>
            <a:endParaRPr lang="zh-CN" altLang="en-US" b="1" dirty="0">
              <a:solidFill>
                <a:srgbClr val="000000"/>
              </a:solidFill>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307120" y="1237828"/>
            <a:ext cx="25006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b="1" dirty="0">
                <a:solidFill>
                  <a:srgbClr val="000000"/>
                </a:solidFill>
              </a:rPr>
              <a:t>◆</a:t>
            </a:r>
            <a:r>
              <a:rPr lang="zh-CN" altLang="en-US" b="1" dirty="0">
                <a:solidFill>
                  <a:srgbClr val="000000"/>
                </a:solidFill>
              </a:rPr>
              <a:t>段定义伪指令：</a:t>
            </a:r>
            <a:endParaRPr lang="zh-CN" altLang="en-US" b="1" dirty="0">
              <a:solidFill>
                <a:srgbClr val="000000"/>
              </a:solidFill>
            </a:endParaRPr>
          </a:p>
        </p:txBody>
      </p:sp>
      <p:sp>
        <p:nvSpPr>
          <p:cNvPr id="9220" name="Rectangle 4"/>
          <p:cNvSpPr>
            <a:spLocks noChangeArrowheads="1"/>
          </p:cNvSpPr>
          <p:nvPr/>
        </p:nvSpPr>
        <p:spPr bwMode="auto">
          <a:xfrm>
            <a:off x="2807804" y="1016732"/>
            <a:ext cx="5904656" cy="5407634"/>
          </a:xfrm>
          <a:prstGeom prst="rect">
            <a:avLst/>
          </a:prstGeom>
          <a:noFill/>
          <a:ln w="127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eaLnBrk="0" hangingPunct="0">
              <a:lnSpc>
                <a:spcPct val="110000"/>
              </a:lnSpc>
            </a:pPr>
            <a:r>
              <a:rPr lang="en-US" altLang="zh-CN" sz="1600" b="1" dirty="0">
                <a:solidFill>
                  <a:srgbClr val="000000"/>
                </a:solidFill>
                <a:latin typeface="Lucida Console" panose="020B0609040504020204" pitchFamily="49" charset="0"/>
              </a:rPr>
              <a:t>data   segment         </a:t>
            </a:r>
            <a:r>
              <a:rPr lang="en-US" altLang="zh-CN" sz="1600" b="1" dirty="0">
                <a:solidFill>
                  <a:srgbClr val="000000"/>
                </a:solidFill>
              </a:rPr>
              <a:t>; </a:t>
            </a:r>
            <a:r>
              <a:rPr lang="zh-CN" altLang="en-US" sz="1800" b="1" dirty="0">
                <a:solidFill>
                  <a:srgbClr val="000000"/>
                </a:solidFill>
                <a:latin typeface="Lucida Console" panose="020B0609040504020204" pitchFamily="49" charset="0"/>
                <a:ea typeface="楷体_GB2312" pitchFamily="49" charset="-122"/>
              </a:rPr>
              <a:t>定义数据段</a:t>
            </a:r>
            <a:endParaRPr lang="zh-CN" altLang="en-US" sz="1800" b="1" dirty="0">
              <a:solidFill>
                <a:srgbClr val="000000"/>
              </a:solidFill>
              <a:latin typeface="Lucida Console" panose="020B0609040504020204" pitchFamily="49" charset="0"/>
            </a:endParaRPr>
          </a:p>
          <a:p>
            <a:pPr eaLnBrk="0" hangingPunct="0">
              <a:lnSpc>
                <a:spcPct val="110000"/>
              </a:lnSpc>
            </a:pPr>
            <a:r>
              <a:rPr lang="zh-CN" altLang="en-US" sz="1600" b="1" dirty="0">
                <a:solidFill>
                  <a:srgbClr val="000000"/>
                </a:solidFill>
                <a:latin typeface="Lucida Console" panose="020B0609040504020204" pitchFamily="49" charset="0"/>
              </a:rPr>
              <a:t>       </a:t>
            </a:r>
            <a:r>
              <a:rPr lang="en-US" altLang="zh-CN" sz="1600" b="1" dirty="0">
                <a:solidFill>
                  <a:srgbClr val="000000"/>
                </a:solidFill>
                <a:latin typeface="Lucida Console" panose="020B0609040504020204" pitchFamily="49" charset="0"/>
              </a:rPr>
              <a:t>…</a:t>
            </a:r>
            <a:endParaRPr lang="en-US" altLang="zh-CN" sz="1600" b="1" dirty="0">
              <a:solidFill>
                <a:srgbClr val="000000"/>
              </a:solidFill>
              <a:latin typeface="Lucida Console" panose="020B0609040504020204" pitchFamily="49" charset="0"/>
            </a:endParaRPr>
          </a:p>
          <a:p>
            <a:pPr eaLnBrk="0" hangingPunct="0">
              <a:lnSpc>
                <a:spcPct val="110000"/>
              </a:lnSpc>
            </a:pPr>
            <a:r>
              <a:rPr lang="en-US" altLang="zh-CN" sz="1600" b="1" dirty="0">
                <a:solidFill>
                  <a:srgbClr val="000000"/>
                </a:solidFill>
                <a:latin typeface="Lucida Console" panose="020B0609040504020204" pitchFamily="49" charset="0"/>
              </a:rPr>
              <a:t>data   ends</a:t>
            </a:r>
            <a:endParaRPr lang="en-US" altLang="zh-CN" sz="1600" b="1" dirty="0">
              <a:solidFill>
                <a:srgbClr val="000000"/>
              </a:solidFill>
              <a:latin typeface="Lucida Console" panose="020B0609040504020204" pitchFamily="49" charset="0"/>
            </a:endParaRPr>
          </a:p>
          <a:p>
            <a:pPr eaLnBrk="0" hangingPunct="0">
              <a:lnSpc>
                <a:spcPct val="110000"/>
              </a:lnSpc>
            </a:pPr>
            <a:r>
              <a:rPr lang="en-US" altLang="zh-CN" sz="1600" b="1" dirty="0">
                <a:solidFill>
                  <a:srgbClr val="000000"/>
                </a:solidFill>
                <a:latin typeface="Lucida Console" panose="020B0609040504020204" pitchFamily="49" charset="0"/>
              </a:rPr>
              <a:t>;----------------------------------------</a:t>
            </a:r>
            <a:endParaRPr lang="en-US" altLang="zh-CN" sz="1600" b="1" dirty="0">
              <a:solidFill>
                <a:srgbClr val="000000"/>
              </a:solidFill>
              <a:latin typeface="Lucida Console" panose="020B0609040504020204" pitchFamily="49" charset="0"/>
            </a:endParaRPr>
          </a:p>
          <a:p>
            <a:pPr eaLnBrk="0" hangingPunct="0">
              <a:lnSpc>
                <a:spcPct val="110000"/>
              </a:lnSpc>
            </a:pPr>
            <a:r>
              <a:rPr lang="en-US" altLang="zh-CN" sz="1600" b="1" dirty="0">
                <a:solidFill>
                  <a:srgbClr val="000000"/>
                </a:solidFill>
                <a:latin typeface="Lucida Console" panose="020B0609040504020204" pitchFamily="49" charset="0"/>
              </a:rPr>
              <a:t>extra  segment         </a:t>
            </a:r>
            <a:r>
              <a:rPr lang="en-US" altLang="zh-CN" sz="1600" b="1" dirty="0">
                <a:solidFill>
                  <a:srgbClr val="000000"/>
                </a:solidFill>
              </a:rPr>
              <a:t>; </a:t>
            </a:r>
            <a:r>
              <a:rPr lang="zh-CN" altLang="en-US" sz="1800" b="1" dirty="0">
                <a:solidFill>
                  <a:srgbClr val="000000"/>
                </a:solidFill>
                <a:latin typeface="Lucida Console" panose="020B0609040504020204" pitchFamily="49" charset="0"/>
                <a:ea typeface="楷体_GB2312" pitchFamily="49" charset="-122"/>
              </a:rPr>
              <a:t>定义附加段</a:t>
            </a:r>
            <a:endParaRPr lang="zh-CN" altLang="en-US" sz="1800" b="1" dirty="0">
              <a:solidFill>
                <a:srgbClr val="000000"/>
              </a:solidFill>
              <a:latin typeface="Lucida Console" panose="020B0609040504020204" pitchFamily="49" charset="0"/>
            </a:endParaRPr>
          </a:p>
          <a:p>
            <a:pPr eaLnBrk="0" hangingPunct="0">
              <a:lnSpc>
                <a:spcPct val="110000"/>
              </a:lnSpc>
            </a:pPr>
            <a:r>
              <a:rPr lang="zh-CN" altLang="en-US" sz="1600" b="1" dirty="0">
                <a:solidFill>
                  <a:srgbClr val="000000"/>
                </a:solidFill>
                <a:latin typeface="Lucida Console" panose="020B0609040504020204" pitchFamily="49" charset="0"/>
              </a:rPr>
              <a:t>       </a:t>
            </a:r>
            <a:r>
              <a:rPr lang="en-US" altLang="zh-CN" sz="1600" b="1" dirty="0">
                <a:solidFill>
                  <a:srgbClr val="000000"/>
                </a:solidFill>
                <a:latin typeface="Lucida Console" panose="020B0609040504020204" pitchFamily="49" charset="0"/>
              </a:rPr>
              <a:t>…</a:t>
            </a:r>
            <a:endParaRPr lang="en-US" altLang="zh-CN" sz="1600" b="1" dirty="0">
              <a:solidFill>
                <a:srgbClr val="000000"/>
              </a:solidFill>
              <a:latin typeface="Lucida Console" panose="020B0609040504020204" pitchFamily="49" charset="0"/>
            </a:endParaRPr>
          </a:p>
          <a:p>
            <a:pPr eaLnBrk="0" hangingPunct="0">
              <a:lnSpc>
                <a:spcPct val="110000"/>
              </a:lnSpc>
            </a:pPr>
            <a:r>
              <a:rPr lang="en-US" altLang="zh-CN" sz="1600" b="1" dirty="0">
                <a:solidFill>
                  <a:srgbClr val="000000"/>
                </a:solidFill>
                <a:latin typeface="Lucida Console" panose="020B0609040504020204" pitchFamily="49" charset="0"/>
              </a:rPr>
              <a:t>extra  ends</a:t>
            </a:r>
            <a:endParaRPr lang="en-US" altLang="zh-CN" sz="1600" b="1" dirty="0">
              <a:solidFill>
                <a:srgbClr val="000000"/>
              </a:solidFill>
              <a:latin typeface="Lucida Console" panose="020B0609040504020204" pitchFamily="49" charset="0"/>
            </a:endParaRPr>
          </a:p>
          <a:p>
            <a:pPr eaLnBrk="0" hangingPunct="0">
              <a:lnSpc>
                <a:spcPct val="110000"/>
              </a:lnSpc>
            </a:pPr>
            <a:r>
              <a:rPr lang="en-US" altLang="zh-CN" sz="1600" b="1" dirty="0">
                <a:solidFill>
                  <a:srgbClr val="000000"/>
                </a:solidFill>
                <a:latin typeface="Lucida Console" panose="020B0609040504020204" pitchFamily="49" charset="0"/>
              </a:rPr>
              <a:t>;----------------------------------------</a:t>
            </a:r>
            <a:endParaRPr lang="en-US" altLang="zh-CN" sz="1600" b="1" dirty="0">
              <a:solidFill>
                <a:srgbClr val="000000"/>
              </a:solidFill>
              <a:latin typeface="Lucida Console" panose="020B0609040504020204" pitchFamily="49" charset="0"/>
            </a:endParaRPr>
          </a:p>
          <a:p>
            <a:pPr eaLnBrk="0" hangingPunct="0">
              <a:lnSpc>
                <a:spcPct val="110000"/>
              </a:lnSpc>
            </a:pPr>
            <a:r>
              <a:rPr lang="en-US" altLang="zh-CN" sz="1600" b="1" dirty="0">
                <a:solidFill>
                  <a:srgbClr val="000000"/>
                </a:solidFill>
                <a:latin typeface="Lucida Console" panose="020B0609040504020204" pitchFamily="49" charset="0"/>
              </a:rPr>
              <a:t>code   segment         </a:t>
            </a:r>
            <a:r>
              <a:rPr lang="en-US" altLang="zh-CN" sz="1600" b="1" dirty="0">
                <a:solidFill>
                  <a:srgbClr val="000000"/>
                </a:solidFill>
              </a:rPr>
              <a:t>; </a:t>
            </a:r>
            <a:r>
              <a:rPr lang="zh-CN" altLang="en-US" sz="1800" b="1" dirty="0">
                <a:solidFill>
                  <a:srgbClr val="000000"/>
                </a:solidFill>
                <a:latin typeface="Lucida Console" panose="020B0609040504020204" pitchFamily="49" charset="0"/>
                <a:ea typeface="楷体_GB2312" pitchFamily="49" charset="-122"/>
              </a:rPr>
              <a:t>定义代码段</a:t>
            </a:r>
            <a:endParaRPr lang="zh-CN" altLang="en-US" sz="1800" b="1" dirty="0">
              <a:solidFill>
                <a:srgbClr val="000000"/>
              </a:solidFill>
              <a:latin typeface="Lucida Console" panose="020B0609040504020204" pitchFamily="49" charset="0"/>
            </a:endParaRPr>
          </a:p>
          <a:p>
            <a:pPr eaLnBrk="0" hangingPunct="0">
              <a:lnSpc>
                <a:spcPct val="110000"/>
              </a:lnSpc>
            </a:pPr>
            <a:r>
              <a:rPr lang="zh-CN" altLang="en-US" sz="1600" b="1" dirty="0">
                <a:solidFill>
                  <a:srgbClr val="FF0000"/>
                </a:solidFill>
                <a:latin typeface="Lucida Console" panose="020B0609040504020204" pitchFamily="49" charset="0"/>
              </a:rPr>
              <a:t>       </a:t>
            </a:r>
            <a:r>
              <a:rPr lang="en-US" altLang="zh-CN" sz="1600" b="1" dirty="0">
                <a:solidFill>
                  <a:srgbClr val="FF0000"/>
                </a:solidFill>
                <a:latin typeface="Lucida Console" panose="020B0609040504020204" pitchFamily="49" charset="0"/>
              </a:rPr>
              <a:t>assume </a:t>
            </a:r>
            <a:r>
              <a:rPr lang="en-US" altLang="zh-CN" sz="1600" b="1" dirty="0" err="1">
                <a:solidFill>
                  <a:srgbClr val="FF0000"/>
                </a:solidFill>
                <a:latin typeface="Lucida Console" panose="020B0609040504020204" pitchFamily="49" charset="0"/>
              </a:rPr>
              <a:t>cs:code</a:t>
            </a:r>
            <a:r>
              <a:rPr lang="en-US" altLang="zh-CN" sz="1600" b="1" dirty="0">
                <a:solidFill>
                  <a:srgbClr val="FF0000"/>
                </a:solidFill>
                <a:latin typeface="Lucida Console" panose="020B0609040504020204" pitchFamily="49" charset="0"/>
              </a:rPr>
              <a:t>, </a:t>
            </a:r>
            <a:r>
              <a:rPr lang="en-US" altLang="zh-CN" sz="1600" b="1" dirty="0" err="1">
                <a:solidFill>
                  <a:srgbClr val="FF0000"/>
                </a:solidFill>
                <a:latin typeface="Lucida Console" panose="020B0609040504020204" pitchFamily="49" charset="0"/>
              </a:rPr>
              <a:t>ds:data</a:t>
            </a:r>
            <a:r>
              <a:rPr lang="en-US" altLang="zh-CN" sz="1600" b="1" dirty="0">
                <a:solidFill>
                  <a:srgbClr val="FF0000"/>
                </a:solidFill>
                <a:latin typeface="Lucida Console" panose="020B0609040504020204" pitchFamily="49" charset="0"/>
              </a:rPr>
              <a:t>, </a:t>
            </a:r>
            <a:r>
              <a:rPr lang="en-US" altLang="zh-CN" sz="1600" b="1" dirty="0" err="1">
                <a:solidFill>
                  <a:srgbClr val="FF0000"/>
                </a:solidFill>
                <a:latin typeface="Lucida Console" panose="020B0609040504020204" pitchFamily="49" charset="0"/>
              </a:rPr>
              <a:t>es:extra</a:t>
            </a:r>
            <a:endParaRPr lang="en-US" altLang="zh-CN" sz="1600" b="1" dirty="0">
              <a:solidFill>
                <a:srgbClr val="FF0000"/>
              </a:solidFill>
              <a:latin typeface="Lucida Console" panose="020B0609040504020204" pitchFamily="49" charset="0"/>
            </a:endParaRPr>
          </a:p>
          <a:p>
            <a:pPr eaLnBrk="0" hangingPunct="0">
              <a:lnSpc>
                <a:spcPct val="110000"/>
              </a:lnSpc>
            </a:pPr>
            <a:r>
              <a:rPr lang="en-US" altLang="zh-CN" sz="1600" b="1" dirty="0">
                <a:solidFill>
                  <a:srgbClr val="000000"/>
                </a:solidFill>
                <a:latin typeface="Lucida Console" panose="020B0609040504020204" pitchFamily="49" charset="0"/>
              </a:rPr>
              <a:t>start: </a:t>
            </a:r>
            <a:endParaRPr lang="en-US" altLang="zh-CN" sz="1600" b="1" dirty="0">
              <a:solidFill>
                <a:srgbClr val="000000"/>
              </a:solidFill>
              <a:latin typeface="Lucida Console" panose="020B0609040504020204" pitchFamily="49" charset="0"/>
            </a:endParaRPr>
          </a:p>
          <a:p>
            <a:pPr eaLnBrk="0" hangingPunct="0">
              <a:lnSpc>
                <a:spcPct val="110000"/>
              </a:lnSpc>
            </a:pPr>
            <a:r>
              <a:rPr lang="en-US" altLang="zh-CN" sz="1600" b="1" dirty="0">
                <a:solidFill>
                  <a:srgbClr val="000000"/>
                </a:solidFill>
                <a:latin typeface="Lucida Console" panose="020B0609040504020204" pitchFamily="49" charset="0"/>
              </a:rPr>
              <a:t>       </a:t>
            </a:r>
            <a:r>
              <a:rPr lang="en-US" altLang="zh-CN" sz="1600" b="1" dirty="0" err="1">
                <a:solidFill>
                  <a:srgbClr val="FF0000"/>
                </a:solidFill>
                <a:latin typeface="Lucida Console" panose="020B0609040504020204" pitchFamily="49" charset="0"/>
              </a:rPr>
              <a:t>mov</a:t>
            </a:r>
            <a:r>
              <a:rPr lang="en-US" altLang="zh-CN" sz="1600" b="1" dirty="0">
                <a:solidFill>
                  <a:srgbClr val="FF0000"/>
                </a:solidFill>
                <a:latin typeface="Lucida Console" panose="020B0609040504020204" pitchFamily="49" charset="0"/>
              </a:rPr>
              <a:t>   ax, data</a:t>
            </a:r>
            <a:endParaRPr lang="en-US" altLang="zh-CN" sz="1600" b="1" dirty="0">
              <a:solidFill>
                <a:srgbClr val="FF0000"/>
              </a:solidFill>
              <a:latin typeface="Lucida Console" panose="020B0609040504020204" pitchFamily="49" charset="0"/>
            </a:endParaRPr>
          </a:p>
          <a:p>
            <a:pPr eaLnBrk="0" hangingPunct="0">
              <a:lnSpc>
                <a:spcPct val="110000"/>
              </a:lnSpc>
            </a:pPr>
            <a:r>
              <a:rPr lang="en-US" altLang="zh-CN" sz="1600" b="1" dirty="0">
                <a:solidFill>
                  <a:srgbClr val="FF0000"/>
                </a:solidFill>
                <a:latin typeface="Lucida Console" panose="020B0609040504020204" pitchFamily="49" charset="0"/>
              </a:rPr>
              <a:t>       </a:t>
            </a:r>
            <a:r>
              <a:rPr lang="en-US" altLang="zh-CN" sz="1600" b="1" dirty="0" err="1">
                <a:solidFill>
                  <a:srgbClr val="FF0000"/>
                </a:solidFill>
                <a:latin typeface="Lucida Console" panose="020B0609040504020204" pitchFamily="49" charset="0"/>
              </a:rPr>
              <a:t>mov</a:t>
            </a:r>
            <a:r>
              <a:rPr lang="en-US" altLang="zh-CN" sz="1600" b="1" dirty="0">
                <a:solidFill>
                  <a:srgbClr val="FF0000"/>
                </a:solidFill>
                <a:latin typeface="Lucida Console" panose="020B0609040504020204" pitchFamily="49" charset="0"/>
              </a:rPr>
              <a:t>   ds, ax    </a:t>
            </a:r>
            <a:r>
              <a:rPr lang="en-US" altLang="zh-CN" sz="1600" b="1" dirty="0">
                <a:solidFill>
                  <a:srgbClr val="FF0000"/>
                </a:solidFill>
              </a:rPr>
              <a:t>; </a:t>
            </a:r>
            <a:r>
              <a:rPr lang="zh-CN" altLang="en-US" sz="1600" dirty="0">
                <a:solidFill>
                  <a:srgbClr val="FF0000"/>
                </a:solidFill>
                <a:latin typeface="Lucida Console" panose="020B0609040504020204" pitchFamily="49" charset="0"/>
                <a:ea typeface="楷体_GB2312" pitchFamily="49" charset="-122"/>
              </a:rPr>
              <a:t>数据段段地址 </a:t>
            </a:r>
            <a:r>
              <a:rPr lang="zh-CN" altLang="en-US" sz="1800" b="1" dirty="0">
                <a:solidFill>
                  <a:srgbClr val="FF0000"/>
                </a:solidFill>
                <a:latin typeface="Lucida Console" panose="020B0609040504020204" pitchFamily="49" charset="0"/>
                <a:ea typeface="楷体_GB2312" pitchFamily="49" charset="-122"/>
                <a:sym typeface="Symbol" panose="05050102010706020507" pitchFamily="18" charset="2"/>
              </a:rPr>
              <a:t> </a:t>
            </a:r>
            <a:r>
              <a:rPr lang="zh-CN" altLang="en-US" sz="1800" b="1" dirty="0">
                <a:solidFill>
                  <a:srgbClr val="FF0000"/>
                </a:solidFill>
                <a:latin typeface="Lucida Console" panose="020B0609040504020204" pitchFamily="49" charset="0"/>
                <a:ea typeface="楷体_GB2312" pitchFamily="49" charset="-122"/>
              </a:rPr>
              <a:t>段寄存器</a:t>
            </a:r>
            <a:endParaRPr lang="en-US" altLang="zh-CN" sz="1800" b="1" dirty="0">
              <a:solidFill>
                <a:srgbClr val="FF0000"/>
              </a:solidFill>
              <a:latin typeface="Lucida Console" panose="020B0609040504020204" pitchFamily="49" charset="0"/>
              <a:ea typeface="楷体_GB2312" pitchFamily="49" charset="-122"/>
            </a:endParaRPr>
          </a:p>
          <a:p>
            <a:pPr eaLnBrk="0" hangingPunct="0">
              <a:lnSpc>
                <a:spcPct val="110000"/>
              </a:lnSpc>
            </a:pPr>
            <a:r>
              <a:rPr lang="en-US" altLang="zh-CN" sz="1600" dirty="0">
                <a:solidFill>
                  <a:srgbClr val="FF0000"/>
                </a:solidFill>
                <a:latin typeface="Lucida Console" panose="020B0609040504020204" pitchFamily="49" charset="0"/>
              </a:rPr>
              <a:t>       </a:t>
            </a:r>
            <a:r>
              <a:rPr lang="en-US" altLang="zh-CN" sz="1600" dirty="0" err="1">
                <a:solidFill>
                  <a:srgbClr val="FF0000"/>
                </a:solidFill>
                <a:latin typeface="Lucida Console" panose="020B0609040504020204" pitchFamily="49" charset="0"/>
              </a:rPr>
              <a:t>mov</a:t>
            </a:r>
            <a:r>
              <a:rPr lang="en-US" altLang="zh-CN" sz="1600" dirty="0">
                <a:solidFill>
                  <a:srgbClr val="FF0000"/>
                </a:solidFill>
                <a:latin typeface="Lucida Console" panose="020B0609040504020204" pitchFamily="49" charset="0"/>
              </a:rPr>
              <a:t>   ax, extra</a:t>
            </a:r>
            <a:endParaRPr lang="en-US" altLang="zh-CN" sz="1600" dirty="0">
              <a:solidFill>
                <a:srgbClr val="FF0000"/>
              </a:solidFill>
              <a:latin typeface="Lucida Console" panose="020B0609040504020204" pitchFamily="49" charset="0"/>
            </a:endParaRPr>
          </a:p>
          <a:p>
            <a:pPr eaLnBrk="0" hangingPunct="0">
              <a:lnSpc>
                <a:spcPct val="110000"/>
              </a:lnSpc>
            </a:pPr>
            <a:r>
              <a:rPr lang="en-US" altLang="zh-CN" sz="1600" dirty="0">
                <a:solidFill>
                  <a:srgbClr val="FF0000"/>
                </a:solidFill>
                <a:latin typeface="Lucida Console" panose="020B0609040504020204" pitchFamily="49" charset="0"/>
              </a:rPr>
              <a:t>       </a:t>
            </a:r>
            <a:r>
              <a:rPr lang="en-US" altLang="zh-CN" sz="1600" dirty="0" err="1">
                <a:solidFill>
                  <a:srgbClr val="FF0000"/>
                </a:solidFill>
                <a:latin typeface="Lucida Console" panose="020B0609040504020204" pitchFamily="49" charset="0"/>
              </a:rPr>
              <a:t>mov</a:t>
            </a:r>
            <a:r>
              <a:rPr lang="en-US" altLang="zh-CN" sz="1600" dirty="0">
                <a:solidFill>
                  <a:srgbClr val="FF0000"/>
                </a:solidFill>
                <a:latin typeface="Lucida Console" panose="020B0609040504020204" pitchFamily="49" charset="0"/>
              </a:rPr>
              <a:t>   </a:t>
            </a:r>
            <a:r>
              <a:rPr lang="en-US" altLang="zh-CN" sz="1600" dirty="0" err="1">
                <a:solidFill>
                  <a:srgbClr val="FF0000"/>
                </a:solidFill>
                <a:latin typeface="Lucida Console" panose="020B0609040504020204" pitchFamily="49" charset="0"/>
              </a:rPr>
              <a:t>es</a:t>
            </a:r>
            <a:r>
              <a:rPr lang="en-US" altLang="zh-CN" sz="1600" dirty="0">
                <a:solidFill>
                  <a:srgbClr val="FF0000"/>
                </a:solidFill>
                <a:latin typeface="Lucida Console" panose="020B0609040504020204" pitchFamily="49" charset="0"/>
              </a:rPr>
              <a:t>, ax	 </a:t>
            </a:r>
            <a:r>
              <a:rPr lang="en-US" altLang="zh-CN" sz="1400" dirty="0">
                <a:solidFill>
                  <a:srgbClr val="FF0000"/>
                </a:solidFill>
              </a:rPr>
              <a:t>; </a:t>
            </a:r>
            <a:r>
              <a:rPr lang="zh-CN" altLang="en-US" sz="1600" dirty="0">
                <a:solidFill>
                  <a:srgbClr val="FF0000"/>
                </a:solidFill>
                <a:latin typeface="Lucida Console" panose="020B0609040504020204" pitchFamily="49" charset="0"/>
                <a:ea typeface="楷体_GB2312" pitchFamily="49" charset="-122"/>
              </a:rPr>
              <a:t>附加段段地址 </a:t>
            </a:r>
            <a:r>
              <a:rPr lang="zh-CN" altLang="en-US" sz="1600" dirty="0">
                <a:solidFill>
                  <a:srgbClr val="FF0000"/>
                </a:solidFill>
                <a:latin typeface="Lucida Console" panose="020B0609040504020204" pitchFamily="49" charset="0"/>
                <a:ea typeface="楷体_GB2312" pitchFamily="49" charset="-122"/>
                <a:sym typeface="Symbol" panose="05050102010706020507" pitchFamily="18" charset="2"/>
              </a:rPr>
              <a:t> </a:t>
            </a:r>
            <a:r>
              <a:rPr lang="zh-CN" altLang="en-US" sz="1600" dirty="0">
                <a:solidFill>
                  <a:srgbClr val="FF0000"/>
                </a:solidFill>
                <a:latin typeface="Lucida Console" panose="020B0609040504020204" pitchFamily="49" charset="0"/>
                <a:ea typeface="楷体_GB2312" pitchFamily="49" charset="-122"/>
              </a:rPr>
              <a:t>段寄存器</a:t>
            </a:r>
            <a:endParaRPr lang="en-US" altLang="zh-CN" sz="1600" dirty="0">
              <a:solidFill>
                <a:srgbClr val="FF0000"/>
              </a:solidFill>
              <a:latin typeface="Lucida Console" panose="020B0609040504020204" pitchFamily="49" charset="0"/>
              <a:ea typeface="楷体_GB2312" pitchFamily="49" charset="-122"/>
            </a:endParaRPr>
          </a:p>
          <a:p>
            <a:pPr eaLnBrk="0" hangingPunct="0">
              <a:lnSpc>
                <a:spcPct val="110000"/>
              </a:lnSpc>
            </a:pPr>
            <a:endParaRPr lang="zh-CN" altLang="en-US" sz="1600" dirty="0">
              <a:solidFill>
                <a:srgbClr val="000000"/>
              </a:solidFill>
              <a:latin typeface="Lucida Console" panose="020B0609040504020204" pitchFamily="49" charset="0"/>
            </a:endParaRPr>
          </a:p>
          <a:p>
            <a:pPr eaLnBrk="0" hangingPunct="0">
              <a:lnSpc>
                <a:spcPct val="110000"/>
              </a:lnSpc>
            </a:pPr>
            <a:r>
              <a:rPr lang="zh-CN" altLang="en-US" sz="1600" b="1" dirty="0">
                <a:solidFill>
                  <a:srgbClr val="000000"/>
                </a:solidFill>
                <a:latin typeface="Lucida Console" panose="020B0609040504020204" pitchFamily="49" charset="0"/>
              </a:rPr>
              <a:t>       </a:t>
            </a:r>
            <a:r>
              <a:rPr lang="en-US" altLang="zh-CN" sz="1600" b="1" dirty="0">
                <a:solidFill>
                  <a:srgbClr val="000000"/>
                </a:solidFill>
                <a:latin typeface="Lucida Console" panose="020B0609040504020204" pitchFamily="49" charset="0"/>
              </a:rPr>
              <a:t>…</a:t>
            </a:r>
            <a:endParaRPr lang="en-US" altLang="zh-CN" sz="1600" b="1" dirty="0">
              <a:solidFill>
                <a:srgbClr val="000000"/>
              </a:solidFill>
              <a:latin typeface="Lucida Console" panose="020B0609040504020204" pitchFamily="49" charset="0"/>
            </a:endParaRPr>
          </a:p>
          <a:p>
            <a:pPr eaLnBrk="0" hangingPunct="0">
              <a:lnSpc>
                <a:spcPct val="110000"/>
              </a:lnSpc>
            </a:pPr>
            <a:r>
              <a:rPr lang="en-US" altLang="zh-CN" sz="1600" b="1" dirty="0">
                <a:solidFill>
                  <a:srgbClr val="000000"/>
                </a:solidFill>
                <a:latin typeface="Lucida Console" panose="020B0609040504020204" pitchFamily="49" charset="0"/>
              </a:rPr>
              <a:t>code   ends</a:t>
            </a:r>
            <a:endParaRPr lang="en-US" altLang="zh-CN" sz="1600" b="1" dirty="0">
              <a:solidFill>
                <a:srgbClr val="000000"/>
              </a:solidFill>
              <a:latin typeface="Lucida Console" panose="020B0609040504020204" pitchFamily="49" charset="0"/>
            </a:endParaRPr>
          </a:p>
          <a:p>
            <a:pPr eaLnBrk="0" hangingPunct="0">
              <a:lnSpc>
                <a:spcPct val="110000"/>
              </a:lnSpc>
            </a:pPr>
            <a:r>
              <a:rPr lang="en-US" altLang="zh-CN" sz="1600" b="1" dirty="0">
                <a:solidFill>
                  <a:srgbClr val="000000"/>
                </a:solidFill>
                <a:latin typeface="Lucida Console" panose="020B0609040504020204" pitchFamily="49" charset="0"/>
              </a:rPr>
              <a:t>       end   start</a:t>
            </a:r>
            <a:endParaRPr lang="en-US" altLang="zh-CN" sz="1600" b="1" dirty="0">
              <a:solidFill>
                <a:srgbClr val="000000"/>
              </a:solidFill>
              <a:latin typeface="Lucida Console" panose="020B0609040504020204" pitchFamily="49" charset="0"/>
            </a:endParaRPr>
          </a:p>
        </p:txBody>
      </p:sp>
      <p:sp>
        <p:nvSpPr>
          <p:cNvPr id="1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3" name="Rectangle 3"/>
          <p:cNvSpPr>
            <a:spLocks noGrp="1" noChangeArrowheads="1"/>
          </p:cNvSpPr>
          <p:nvPr>
            <p:ph type="body" idx="1"/>
          </p:nvPr>
        </p:nvSpPr>
        <p:spPr>
          <a:xfrm>
            <a:off x="503548" y="944724"/>
            <a:ext cx="3636404" cy="2160240"/>
          </a:xfrm>
          <a:ln>
            <a:solidFill>
              <a:schemeClr val="tx2"/>
            </a:solidFill>
          </a:ln>
        </p:spPr>
        <p:txBody>
          <a:bodyPr/>
          <a:lstStyle/>
          <a:p>
            <a:pPr marL="0" indent="0">
              <a:spcBef>
                <a:spcPts val="0"/>
              </a:spcBef>
              <a:buNone/>
            </a:pPr>
            <a:r>
              <a:rPr lang="en-US" altLang="zh-CN" sz="2000" b="0" dirty="0">
                <a:effectLst/>
              </a:rPr>
              <a:t>code segment</a:t>
            </a:r>
            <a:endParaRPr lang="en-US" altLang="zh-CN" sz="2000" b="0" dirty="0">
              <a:effectLst/>
            </a:endParaRPr>
          </a:p>
          <a:p>
            <a:pPr marL="0" indent="0">
              <a:spcBef>
                <a:spcPts val="0"/>
              </a:spcBef>
              <a:buNone/>
            </a:pPr>
            <a:r>
              <a:rPr lang="en-US" altLang="zh-CN" sz="2000" b="0" dirty="0">
                <a:effectLst/>
              </a:rPr>
              <a:t>assume </a:t>
            </a:r>
            <a:r>
              <a:rPr lang="en-US" altLang="zh-CN" sz="2000" b="0" dirty="0" err="1">
                <a:effectLst/>
              </a:rPr>
              <a:t>cs:code</a:t>
            </a:r>
            <a:r>
              <a:rPr lang="en-US" altLang="zh-CN" sz="2000" b="0" dirty="0">
                <a:effectLst/>
              </a:rPr>
              <a:t>, </a:t>
            </a:r>
            <a:r>
              <a:rPr lang="en-US" altLang="zh-CN" sz="2000" b="0" dirty="0" err="1">
                <a:effectLst/>
              </a:rPr>
              <a:t>ds:data</a:t>
            </a:r>
            <a:r>
              <a:rPr lang="zh-CN" altLang="en-US" sz="2000" b="0" dirty="0">
                <a:effectLst/>
              </a:rPr>
              <a:t>　　　　</a:t>
            </a:r>
            <a:endParaRPr lang="en-US" altLang="zh-CN" sz="2000" b="0" dirty="0">
              <a:effectLst/>
            </a:endParaRPr>
          </a:p>
          <a:p>
            <a:pPr marL="0" indent="0">
              <a:spcBef>
                <a:spcPts val="0"/>
              </a:spcBef>
              <a:buNone/>
            </a:pPr>
            <a:r>
              <a:rPr lang="en-US" altLang="zh-CN" sz="2000" b="0" dirty="0">
                <a:solidFill>
                  <a:srgbClr val="FF0000"/>
                </a:solidFill>
                <a:effectLst/>
              </a:rPr>
              <a:t>     </a:t>
            </a:r>
            <a:r>
              <a:rPr lang="en-US" altLang="zh-CN" sz="2000" b="0" dirty="0" err="1">
                <a:solidFill>
                  <a:srgbClr val="FF0000"/>
                </a:solidFill>
                <a:effectLst/>
              </a:rPr>
              <a:t>mov</a:t>
            </a:r>
            <a:r>
              <a:rPr lang="en-US" altLang="zh-CN" sz="2000" b="0" dirty="0">
                <a:solidFill>
                  <a:srgbClr val="FF0000"/>
                </a:solidFill>
                <a:effectLst/>
              </a:rPr>
              <a:t> ax, </a:t>
            </a:r>
            <a:r>
              <a:rPr lang="en-US" altLang="zh-CN" sz="2000" b="0" dirty="0" err="1">
                <a:solidFill>
                  <a:srgbClr val="FF0000"/>
                </a:solidFill>
                <a:effectLst/>
              </a:rPr>
              <a:t>datas</a:t>
            </a:r>
            <a:endParaRPr lang="en-US" altLang="zh-CN" sz="2000" b="0" dirty="0">
              <a:solidFill>
                <a:srgbClr val="FF0000"/>
              </a:solidFill>
              <a:effectLst/>
            </a:endParaRPr>
          </a:p>
          <a:p>
            <a:pPr marL="0" indent="0">
              <a:spcBef>
                <a:spcPts val="0"/>
              </a:spcBef>
              <a:buNone/>
            </a:pPr>
            <a:r>
              <a:rPr lang="en-US" altLang="zh-CN" sz="2000" b="0" dirty="0">
                <a:solidFill>
                  <a:srgbClr val="FF0000"/>
                </a:solidFill>
                <a:effectLst/>
              </a:rPr>
              <a:t>     mov ds, ax </a:t>
            </a:r>
            <a:r>
              <a:rPr lang="zh-CN" altLang="en-US" sz="2000" b="0" dirty="0">
                <a:effectLst/>
              </a:rPr>
              <a:t>　　　　　　　　　　</a:t>
            </a:r>
            <a:br>
              <a:rPr lang="zh-CN" altLang="en-US" sz="2000" dirty="0"/>
            </a:br>
            <a:r>
              <a:rPr lang="zh-CN" altLang="en-US" sz="2000" dirty="0"/>
              <a:t> </a:t>
            </a:r>
            <a:r>
              <a:rPr lang="zh-CN" altLang="en-US" sz="2000" b="0" dirty="0">
                <a:effectLst/>
              </a:rPr>
              <a:t>　</a:t>
            </a:r>
            <a:r>
              <a:rPr lang="en-US" altLang="zh-CN" sz="2000" b="0" dirty="0">
                <a:effectLst/>
              </a:rPr>
              <a:t>……</a:t>
            </a:r>
            <a:r>
              <a:rPr lang="zh-CN" altLang="en-US" sz="2000" b="0" dirty="0">
                <a:effectLst/>
              </a:rPr>
              <a:t>　　　　　　</a:t>
            </a:r>
            <a:br>
              <a:rPr lang="zh-CN" altLang="en-US" sz="2000" dirty="0"/>
            </a:br>
            <a:r>
              <a:rPr lang="en-US" altLang="zh-CN" sz="2000" b="0" dirty="0">
                <a:effectLst/>
              </a:rPr>
              <a:t>code ends </a:t>
            </a:r>
            <a:r>
              <a:rPr lang="zh-CN" altLang="en-US" sz="2000" b="0" dirty="0">
                <a:effectLst/>
              </a:rPr>
              <a:t>　　　　　　　</a:t>
            </a:r>
            <a:br>
              <a:rPr lang="zh-CN" altLang="en-US" sz="2000" dirty="0"/>
            </a:br>
            <a:r>
              <a:rPr lang="zh-CN" altLang="en-US" sz="2000" b="0" dirty="0">
                <a:effectLst/>
              </a:rPr>
              <a:t>　 </a:t>
            </a:r>
            <a:r>
              <a:rPr lang="en-US" altLang="zh-CN" sz="2000" b="0" dirty="0">
                <a:effectLst/>
              </a:rPr>
              <a:t>end</a:t>
            </a:r>
            <a:endParaRPr lang="zh-CN" altLang="en-US" sz="2000" b="0" dirty="0">
              <a:solidFill>
                <a:srgbClr val="FF0000"/>
              </a:solidFill>
              <a:effectLst/>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4" name="Rectangle 3"/>
          <p:cNvSpPr txBox="1">
            <a:spLocks noChangeArrowheads="1"/>
          </p:cNvSpPr>
          <p:nvPr/>
        </p:nvSpPr>
        <p:spPr bwMode="auto">
          <a:xfrm>
            <a:off x="5364088" y="1016732"/>
            <a:ext cx="3240360" cy="2556284"/>
          </a:xfrm>
          <a:prstGeom prst="rect">
            <a:avLst/>
          </a:prstGeom>
          <a:noFill/>
          <a:ln w="9525">
            <a:solidFill>
              <a:schemeClr val="tx2"/>
            </a:solidFill>
            <a:miter lim="800000"/>
          </a:ln>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2"/>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a:lstStyle>
          <a:p>
            <a:pPr marL="0" indent="0">
              <a:spcBef>
                <a:spcPts val="0"/>
              </a:spcBef>
              <a:buFont typeface="Wingdings" panose="05000000000000000000" pitchFamily="2" charset="2"/>
              <a:buNone/>
            </a:pPr>
            <a:r>
              <a:rPr lang="en-US" altLang="zh-CN" sz="2000" b="0" kern="0" dirty="0">
                <a:effectLst/>
              </a:rPr>
              <a:t>code segment</a:t>
            </a:r>
            <a:endParaRPr lang="en-US" altLang="zh-CN" sz="2000" b="0" kern="0" dirty="0">
              <a:effectLst/>
            </a:endParaRPr>
          </a:p>
          <a:p>
            <a:pPr marL="0" indent="0">
              <a:spcBef>
                <a:spcPts val="0"/>
              </a:spcBef>
              <a:buNone/>
            </a:pPr>
            <a:r>
              <a:rPr lang="en-US" altLang="zh-CN" sz="2000" b="0" kern="0" dirty="0">
                <a:effectLst/>
              </a:rPr>
              <a:t>  assume </a:t>
            </a:r>
            <a:r>
              <a:rPr lang="en-US" altLang="zh-CN" sz="2000" b="0" kern="0" dirty="0" err="1">
                <a:effectLst/>
              </a:rPr>
              <a:t>cs:code</a:t>
            </a:r>
            <a:r>
              <a:rPr lang="en-US" altLang="zh-CN" sz="2000" b="0" kern="0" dirty="0">
                <a:effectLst/>
              </a:rPr>
              <a:t>, </a:t>
            </a:r>
            <a:r>
              <a:rPr lang="en-US" altLang="zh-CN" sz="2000" b="0" kern="0" dirty="0" err="1">
                <a:effectLst/>
              </a:rPr>
              <a:t>ds:data</a:t>
            </a:r>
            <a:endParaRPr lang="en-US" altLang="zh-CN" sz="2000" b="0" kern="0" dirty="0">
              <a:effectLst/>
            </a:endParaRPr>
          </a:p>
          <a:p>
            <a:pPr marL="0" indent="0">
              <a:spcBef>
                <a:spcPts val="0"/>
              </a:spcBef>
              <a:buNone/>
            </a:pPr>
            <a:r>
              <a:rPr lang="en-US" altLang="zh-CN" sz="2000" b="0" kern="0" dirty="0">
                <a:solidFill>
                  <a:srgbClr val="FF0000"/>
                </a:solidFill>
                <a:effectLst/>
              </a:rPr>
              <a:t>start:</a:t>
            </a:r>
            <a:endParaRPr lang="en-US" altLang="zh-CN" sz="2000" b="0" kern="0" dirty="0">
              <a:solidFill>
                <a:srgbClr val="FF0000"/>
              </a:solidFill>
              <a:effectLst/>
            </a:endParaRPr>
          </a:p>
          <a:p>
            <a:pPr marL="0" indent="0">
              <a:spcBef>
                <a:spcPts val="0"/>
              </a:spcBef>
              <a:buFont typeface="Wingdings" panose="05000000000000000000" pitchFamily="2" charset="2"/>
              <a:buNone/>
            </a:pPr>
            <a:r>
              <a:rPr lang="en-US" altLang="zh-CN" sz="2000" b="0" kern="0" dirty="0">
                <a:solidFill>
                  <a:srgbClr val="FF0000"/>
                </a:solidFill>
                <a:effectLst/>
              </a:rPr>
              <a:t>       mov ax, </a:t>
            </a:r>
            <a:r>
              <a:rPr lang="en-US" altLang="zh-CN" sz="2000" b="0" kern="0" dirty="0" err="1">
                <a:solidFill>
                  <a:srgbClr val="FF0000"/>
                </a:solidFill>
                <a:effectLst/>
              </a:rPr>
              <a:t>datas</a:t>
            </a:r>
            <a:endParaRPr lang="en-US" altLang="zh-CN" sz="2000" b="0" kern="0" dirty="0">
              <a:solidFill>
                <a:srgbClr val="FF0000"/>
              </a:solidFill>
              <a:effectLst/>
            </a:endParaRPr>
          </a:p>
          <a:p>
            <a:pPr marL="0" indent="0">
              <a:spcBef>
                <a:spcPts val="0"/>
              </a:spcBef>
              <a:buFont typeface="Wingdings" panose="05000000000000000000" pitchFamily="2" charset="2"/>
              <a:buNone/>
            </a:pPr>
            <a:r>
              <a:rPr lang="en-US" altLang="zh-CN" sz="2000" b="0" kern="0" dirty="0">
                <a:solidFill>
                  <a:srgbClr val="FF0000"/>
                </a:solidFill>
                <a:effectLst/>
              </a:rPr>
              <a:t>       mov ds, ax </a:t>
            </a:r>
            <a:r>
              <a:rPr lang="zh-CN" altLang="en-US" sz="2000" b="0" kern="0" dirty="0">
                <a:effectLst/>
              </a:rPr>
              <a:t>　　　　　　　　　　</a:t>
            </a:r>
            <a:br>
              <a:rPr lang="zh-CN" altLang="en-US" sz="2000" kern="0" dirty="0"/>
            </a:br>
            <a:r>
              <a:rPr lang="zh-CN" altLang="en-US" sz="2000" kern="0" dirty="0"/>
              <a:t>   </a:t>
            </a:r>
            <a:r>
              <a:rPr lang="zh-CN" altLang="en-US" sz="2000" b="0" kern="0" dirty="0">
                <a:effectLst/>
              </a:rPr>
              <a:t>　</a:t>
            </a:r>
            <a:r>
              <a:rPr lang="en-US" altLang="zh-CN" sz="2000" b="0" kern="0" dirty="0">
                <a:effectLst/>
              </a:rPr>
              <a:t>……</a:t>
            </a:r>
            <a:r>
              <a:rPr lang="zh-CN" altLang="en-US" sz="2000" b="0" kern="0" dirty="0">
                <a:effectLst/>
              </a:rPr>
              <a:t>　　　　　　</a:t>
            </a:r>
            <a:br>
              <a:rPr lang="zh-CN" altLang="en-US" sz="2000" kern="0" dirty="0"/>
            </a:br>
            <a:r>
              <a:rPr lang="en-US" altLang="zh-CN" sz="2000" b="0" kern="0" dirty="0">
                <a:effectLst/>
              </a:rPr>
              <a:t>code ends </a:t>
            </a:r>
            <a:r>
              <a:rPr lang="zh-CN" altLang="en-US" sz="2000" b="0" kern="0" dirty="0">
                <a:effectLst/>
              </a:rPr>
              <a:t>　　　　　　　</a:t>
            </a:r>
            <a:br>
              <a:rPr lang="zh-CN" altLang="en-US" sz="2000" kern="0" dirty="0"/>
            </a:br>
            <a:r>
              <a:rPr lang="zh-CN" altLang="en-US" sz="2000" kern="0" dirty="0"/>
              <a:t>  </a:t>
            </a:r>
            <a:r>
              <a:rPr lang="zh-CN" altLang="en-US" sz="2000" b="0" kern="0" dirty="0">
                <a:effectLst/>
              </a:rPr>
              <a:t>　 </a:t>
            </a:r>
            <a:r>
              <a:rPr lang="en-US" altLang="zh-CN" sz="2000" b="0" kern="0" dirty="0">
                <a:effectLst/>
              </a:rPr>
              <a:t>end </a:t>
            </a:r>
            <a:r>
              <a:rPr lang="zh-CN" altLang="en-US" sz="2000" b="0" kern="0" dirty="0">
                <a:effectLst/>
              </a:rPr>
              <a:t>　</a:t>
            </a:r>
            <a:r>
              <a:rPr lang="en-US" altLang="zh-CN" sz="2000" b="0" kern="0" dirty="0">
                <a:solidFill>
                  <a:srgbClr val="FF0000"/>
                </a:solidFill>
                <a:effectLst/>
              </a:rPr>
              <a:t>start		</a:t>
            </a:r>
            <a:endParaRPr lang="zh-CN" altLang="en-US" sz="2000" b="0" kern="0" dirty="0">
              <a:solidFill>
                <a:srgbClr val="FF0000"/>
              </a:solidFill>
              <a:effectLst/>
            </a:endParaRPr>
          </a:p>
        </p:txBody>
      </p:sp>
      <p:sp>
        <p:nvSpPr>
          <p:cNvPr id="3" name="矩形 2"/>
          <p:cNvSpPr/>
          <p:nvPr/>
        </p:nvSpPr>
        <p:spPr>
          <a:xfrm>
            <a:off x="452120" y="3061436"/>
            <a:ext cx="4695944" cy="3477875"/>
          </a:xfrm>
          <a:prstGeom prst="rect">
            <a:avLst/>
          </a:prstGeom>
        </p:spPr>
        <p:txBody>
          <a:bodyPr wrap="square">
            <a:spAutoFit/>
          </a:bodyPr>
          <a:lstStyle/>
          <a:p>
            <a:pPr marL="342900" indent="-342900" algn="just">
              <a:buFont typeface="Wingdings" panose="05000000000000000000" pitchFamily="2" charset="2"/>
              <a:buChar char="u"/>
            </a:pPr>
            <a:r>
              <a:rPr lang="en-US" altLang="zh-CN" sz="2000" b="0" kern="0" dirty="0">
                <a:solidFill>
                  <a:srgbClr val="3333FF"/>
                </a:solidFill>
              </a:rPr>
              <a:t>code </a:t>
            </a:r>
            <a:r>
              <a:rPr lang="en-US" altLang="zh-CN" sz="2000" b="0" kern="0" dirty="0"/>
              <a:t>ends </a:t>
            </a:r>
            <a:r>
              <a:rPr lang="zh-CN" altLang="en-US" sz="2000" b="0" kern="0" dirty="0"/>
              <a:t>表示代码段结束，</a:t>
            </a:r>
            <a:r>
              <a:rPr lang="en-US" altLang="zh-CN" sz="2000" b="0" dirty="0">
                <a:solidFill>
                  <a:srgbClr val="FF0000"/>
                </a:solidFill>
              </a:rPr>
              <a:t>end</a:t>
            </a:r>
            <a:r>
              <a:rPr lang="zh-CN" altLang="en-US" sz="2000" b="0" dirty="0">
                <a:solidFill>
                  <a:srgbClr val="FF0000"/>
                </a:solidFill>
              </a:rPr>
              <a:t>表示源程序结束。</a:t>
            </a:r>
            <a:endParaRPr lang="en-US" altLang="zh-CN" sz="2000" b="0" dirty="0">
              <a:solidFill>
                <a:srgbClr val="FF0000"/>
              </a:solidFill>
            </a:endParaRPr>
          </a:p>
          <a:p>
            <a:pPr marL="342900" indent="-342900" algn="just">
              <a:buFont typeface="Wingdings" panose="05000000000000000000" pitchFamily="2" charset="2"/>
              <a:buChar char="u"/>
            </a:pPr>
            <a:r>
              <a:rPr lang="zh-CN" altLang="en-US" sz="2000" dirty="0"/>
              <a:t>“</a:t>
            </a:r>
            <a:r>
              <a:rPr lang="en-US" altLang="zh-CN" sz="2000" dirty="0"/>
              <a:t>start:</a:t>
            </a:r>
            <a:r>
              <a:rPr lang="zh-CN" altLang="en-US" sz="2000" dirty="0"/>
              <a:t>”一个标号，定义了程序的入口，既程序从“</a:t>
            </a:r>
            <a:r>
              <a:rPr lang="en-US" altLang="zh-CN" sz="2000" dirty="0"/>
              <a:t>start:</a:t>
            </a:r>
            <a:r>
              <a:rPr lang="zh-CN" altLang="en-US" sz="2000" dirty="0"/>
              <a:t>”处开始执行，</a:t>
            </a:r>
            <a:endParaRPr lang="zh-CN" altLang="en-US" sz="2000" dirty="0"/>
          </a:p>
          <a:p>
            <a:pPr marL="342900" indent="-342900" algn="just">
              <a:buFont typeface="Wingdings" panose="05000000000000000000" pitchFamily="2" charset="2"/>
              <a:buChar char="u"/>
            </a:pPr>
            <a:r>
              <a:rPr lang="zh-CN" altLang="en-US" sz="2000" dirty="0"/>
              <a:t>若程序的第一条指令就是程序的入口，则</a:t>
            </a:r>
            <a:r>
              <a:rPr lang="en-US" altLang="zh-CN" sz="2000" dirty="0"/>
              <a:t>start</a:t>
            </a:r>
            <a:r>
              <a:rPr lang="zh-CN" altLang="en-US" sz="2000" dirty="0"/>
              <a:t>可以缺省。 </a:t>
            </a:r>
            <a:endParaRPr lang="zh-CN" altLang="en-US" sz="2000" dirty="0"/>
          </a:p>
          <a:p>
            <a:pPr marL="342900" indent="-342900" algn="just">
              <a:buFont typeface="Wingdings" panose="05000000000000000000" pitchFamily="2" charset="2"/>
              <a:buChar char="u"/>
            </a:pPr>
            <a:r>
              <a:rPr lang="zh-CN" altLang="en-US" sz="2000" dirty="0"/>
              <a:t>其中 </a:t>
            </a:r>
            <a:r>
              <a:rPr lang="en-US" altLang="zh-CN" sz="2000" dirty="0"/>
              <a:t>start </a:t>
            </a:r>
            <a:r>
              <a:rPr lang="zh-CN" altLang="en-US" sz="2000" dirty="0"/>
              <a:t>可以用其他字符代替，但是对应的</a:t>
            </a:r>
            <a:r>
              <a:rPr lang="en-US" altLang="zh-CN" sz="2000" dirty="0"/>
              <a:t>end start </a:t>
            </a:r>
            <a:r>
              <a:rPr lang="zh-CN" altLang="en-US" sz="2000" dirty="0"/>
              <a:t>中的</a:t>
            </a:r>
            <a:r>
              <a:rPr lang="en-US" altLang="zh-CN" sz="2000" dirty="0"/>
              <a:t>start </a:t>
            </a:r>
            <a:r>
              <a:rPr lang="zh-CN" altLang="en-US" sz="2000" dirty="0"/>
              <a:t>也必须用同字符代替。 </a:t>
            </a:r>
            <a:endParaRPr lang="zh-CN" altLang="en-US" sz="2000" dirty="0"/>
          </a:p>
          <a:p>
            <a:pPr marL="342900" indent="-342900" algn="just">
              <a:buFont typeface="Wingdings" panose="05000000000000000000" pitchFamily="2" charset="2"/>
              <a:buChar char="u"/>
            </a:pPr>
            <a:r>
              <a:rPr lang="zh-CN" altLang="en-US" sz="2000" dirty="0"/>
              <a:t>若</a:t>
            </a:r>
            <a:r>
              <a:rPr lang="en-US" altLang="zh-CN" sz="2000" dirty="0"/>
              <a:t>start</a:t>
            </a:r>
            <a:r>
              <a:rPr lang="zh-CN" altLang="en-US" sz="2000" dirty="0"/>
              <a:t>缺省，则</a:t>
            </a:r>
            <a:r>
              <a:rPr lang="en-US" altLang="zh-CN" sz="2000" dirty="0"/>
              <a:t>end start</a:t>
            </a:r>
            <a:r>
              <a:rPr lang="zh-CN" altLang="en-US" sz="2000" dirty="0"/>
              <a:t>中的 </a:t>
            </a:r>
            <a:r>
              <a:rPr lang="en-US" altLang="zh-CN" sz="2000" dirty="0"/>
              <a:t>start </a:t>
            </a:r>
            <a:r>
              <a:rPr lang="zh-CN" altLang="en-US" sz="2000" dirty="0"/>
              <a:t>也必须去掉。</a:t>
            </a:r>
            <a:endParaRPr lang="zh-CN" altLang="en-US" sz="2000" dirty="0"/>
          </a:p>
        </p:txBody>
      </p:sp>
      <p:sp>
        <p:nvSpPr>
          <p:cNvPr id="8" name="左右箭头 7"/>
          <p:cNvSpPr/>
          <p:nvPr/>
        </p:nvSpPr>
        <p:spPr bwMode="auto">
          <a:xfrm>
            <a:off x="4139952" y="1824308"/>
            <a:ext cx="1224136" cy="668588"/>
          </a:xfrm>
          <a:prstGeom prst="leftRightArrow">
            <a:avLst/>
          </a:prstGeom>
          <a:solidFill>
            <a:schemeClr val="bg1"/>
          </a:solidFill>
          <a:ln w="15875" cap="flat" cmpd="sng" algn="ctr">
            <a:solidFill>
              <a:schemeClr val="tx2"/>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zh-CN" altLang="en-US" sz="2000" dirty="0"/>
              <a:t>等价</a:t>
            </a:r>
            <a:endParaRPr kumimoji="0" lang="zh-CN" altLang="en-US" sz="2000" b="1" i="0" u="none" strike="noStrike" cap="none" normalizeH="0" baseline="0" dirty="0">
              <a:ln>
                <a:noFill/>
              </a:ln>
              <a:solidFill>
                <a:schemeClr val="tx1"/>
              </a:solidFill>
              <a:effectLst/>
            </a:endParaRPr>
          </a:p>
        </p:txBody>
      </p:sp>
      <p:grpSp>
        <p:nvGrpSpPr>
          <p:cNvPr id="12" name="组合 11"/>
          <p:cNvGrpSpPr/>
          <p:nvPr/>
        </p:nvGrpSpPr>
        <p:grpSpPr>
          <a:xfrm>
            <a:off x="5364088" y="3588818"/>
            <a:ext cx="3240360" cy="2972530"/>
            <a:chOff x="5364088" y="3588818"/>
            <a:chExt cx="3240360" cy="2972530"/>
          </a:xfrm>
        </p:grpSpPr>
        <p:sp>
          <p:nvSpPr>
            <p:cNvPr id="6" name="Rectangle 3"/>
            <p:cNvSpPr txBox="1">
              <a:spLocks noChangeArrowheads="1"/>
            </p:cNvSpPr>
            <p:nvPr/>
          </p:nvSpPr>
          <p:spPr bwMode="auto">
            <a:xfrm>
              <a:off x="5364088" y="3994837"/>
              <a:ext cx="3240360" cy="2566511"/>
            </a:xfrm>
            <a:prstGeom prst="rect">
              <a:avLst/>
            </a:prstGeom>
            <a:noFill/>
            <a:ln w="9525">
              <a:solidFill>
                <a:schemeClr val="tx2"/>
              </a:solidFill>
              <a:miter lim="800000"/>
            </a:ln>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2"/>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a:lstStyle>
            <a:p>
              <a:pPr marL="0" indent="0">
                <a:spcBef>
                  <a:spcPts val="0"/>
                </a:spcBef>
                <a:buFont typeface="Wingdings" panose="05000000000000000000" pitchFamily="2" charset="2"/>
                <a:buNone/>
              </a:pPr>
              <a:r>
                <a:rPr lang="en-US" altLang="zh-CN" sz="2000" b="0" kern="0" dirty="0">
                  <a:effectLst/>
                </a:rPr>
                <a:t>code segment </a:t>
              </a:r>
              <a:r>
                <a:rPr lang="zh-CN" altLang="en-US" sz="2000" b="0" kern="0" dirty="0">
                  <a:effectLst/>
                </a:rPr>
                <a:t>　</a:t>
              </a:r>
              <a:endParaRPr lang="en-US" altLang="zh-CN" sz="2000" b="0" kern="0" dirty="0">
                <a:effectLst/>
              </a:endParaRPr>
            </a:p>
            <a:p>
              <a:pPr marL="0" indent="0">
                <a:spcBef>
                  <a:spcPts val="0"/>
                </a:spcBef>
                <a:buNone/>
              </a:pPr>
              <a:r>
                <a:rPr lang="en-US" altLang="zh-CN" sz="2000" b="0" kern="0" dirty="0">
                  <a:effectLst/>
                </a:rPr>
                <a:t>  assume </a:t>
              </a:r>
              <a:r>
                <a:rPr lang="en-US" altLang="zh-CN" sz="2000" b="0" kern="0" dirty="0" err="1">
                  <a:effectLst/>
                </a:rPr>
                <a:t>cs:code</a:t>
              </a:r>
              <a:r>
                <a:rPr lang="en-US" altLang="zh-CN" sz="2000" b="0" kern="0" dirty="0">
                  <a:effectLst/>
                </a:rPr>
                <a:t>, </a:t>
              </a:r>
              <a:r>
                <a:rPr lang="en-US" altLang="zh-CN" sz="2000" b="0" kern="0" dirty="0" err="1">
                  <a:effectLst/>
                </a:rPr>
                <a:t>ds:data</a:t>
              </a:r>
              <a:endParaRPr lang="en-US" altLang="zh-CN" sz="2000" b="0" kern="0" dirty="0">
                <a:effectLst/>
              </a:endParaRPr>
            </a:p>
            <a:p>
              <a:pPr marL="0" indent="0">
                <a:spcBef>
                  <a:spcPts val="0"/>
                </a:spcBef>
                <a:buFont typeface="Wingdings" panose="05000000000000000000" pitchFamily="2" charset="2"/>
                <a:buNone/>
              </a:pPr>
              <a:r>
                <a:rPr lang="en-US" altLang="zh-CN" sz="2000" b="0" kern="0" dirty="0">
                  <a:solidFill>
                    <a:srgbClr val="FF0000"/>
                  </a:solidFill>
                  <a:effectLst/>
                </a:rPr>
                <a:t>       </a:t>
              </a:r>
              <a:r>
                <a:rPr lang="en-US" altLang="zh-CN" sz="2000" b="0" kern="0" dirty="0" err="1">
                  <a:solidFill>
                    <a:srgbClr val="FF0000"/>
                  </a:solidFill>
                  <a:effectLst/>
                </a:rPr>
                <a:t>mov</a:t>
              </a:r>
              <a:r>
                <a:rPr lang="en-US" altLang="zh-CN" sz="2000" b="0" kern="0" dirty="0">
                  <a:solidFill>
                    <a:srgbClr val="FF0000"/>
                  </a:solidFill>
                  <a:effectLst/>
                </a:rPr>
                <a:t> ax, </a:t>
              </a:r>
              <a:r>
                <a:rPr lang="en-US" altLang="zh-CN" sz="2000" b="0" kern="0" dirty="0" err="1">
                  <a:solidFill>
                    <a:srgbClr val="FF0000"/>
                  </a:solidFill>
                  <a:effectLst/>
                </a:rPr>
                <a:t>datas</a:t>
              </a:r>
              <a:endParaRPr lang="en-US" altLang="zh-CN" sz="2000" b="0" kern="0" dirty="0">
                <a:solidFill>
                  <a:srgbClr val="FF0000"/>
                </a:solidFill>
                <a:effectLst/>
              </a:endParaRPr>
            </a:p>
            <a:p>
              <a:pPr marL="0" indent="0">
                <a:spcBef>
                  <a:spcPts val="0"/>
                </a:spcBef>
                <a:buNone/>
              </a:pPr>
              <a:r>
                <a:rPr lang="en-US" altLang="zh-CN" sz="2000" b="0" kern="0" dirty="0">
                  <a:solidFill>
                    <a:srgbClr val="FF0000"/>
                  </a:solidFill>
                  <a:effectLst/>
                </a:rPr>
                <a:t>start:</a:t>
              </a:r>
              <a:endParaRPr lang="en-US" altLang="zh-CN" sz="2000" b="0" kern="0" dirty="0">
                <a:solidFill>
                  <a:srgbClr val="FF0000"/>
                </a:solidFill>
                <a:effectLst/>
              </a:endParaRPr>
            </a:p>
            <a:p>
              <a:pPr marL="0" indent="0">
                <a:spcBef>
                  <a:spcPts val="0"/>
                </a:spcBef>
                <a:buFont typeface="Wingdings" panose="05000000000000000000" pitchFamily="2" charset="2"/>
                <a:buNone/>
              </a:pPr>
              <a:r>
                <a:rPr lang="en-US" altLang="zh-CN" sz="2000" b="0" kern="0" dirty="0">
                  <a:solidFill>
                    <a:srgbClr val="FF0000"/>
                  </a:solidFill>
                  <a:effectLst/>
                </a:rPr>
                <a:t>       mov ds, ax </a:t>
              </a:r>
              <a:r>
                <a:rPr lang="zh-CN" altLang="en-US" sz="2000" b="0" kern="0" dirty="0">
                  <a:effectLst/>
                </a:rPr>
                <a:t>　　　　　　　　　　</a:t>
              </a:r>
              <a:br>
                <a:rPr lang="zh-CN" altLang="en-US" sz="2000" kern="0" dirty="0"/>
              </a:br>
              <a:r>
                <a:rPr lang="zh-CN" altLang="en-US" sz="2000" b="0" kern="0" dirty="0">
                  <a:effectLst/>
                </a:rPr>
                <a:t>　　</a:t>
              </a:r>
              <a:r>
                <a:rPr lang="en-US" altLang="zh-CN" sz="2000" b="0" kern="0" dirty="0">
                  <a:effectLst/>
                </a:rPr>
                <a:t>……</a:t>
              </a:r>
              <a:r>
                <a:rPr lang="zh-CN" altLang="en-US" sz="2000" b="0" kern="0" dirty="0">
                  <a:effectLst/>
                </a:rPr>
                <a:t>　　　　　　</a:t>
              </a:r>
              <a:br>
                <a:rPr lang="zh-CN" altLang="en-US" sz="2000" kern="0" dirty="0"/>
              </a:br>
              <a:r>
                <a:rPr lang="en-US" altLang="zh-CN" sz="2000" b="0" kern="0" dirty="0">
                  <a:effectLst/>
                </a:rPr>
                <a:t>code ends </a:t>
              </a:r>
              <a:r>
                <a:rPr lang="zh-CN" altLang="en-US" sz="2000" b="0" kern="0" dirty="0">
                  <a:effectLst/>
                </a:rPr>
                <a:t>　　　　　　　</a:t>
              </a:r>
              <a:br>
                <a:rPr lang="zh-CN" altLang="en-US" sz="2000" kern="0" dirty="0"/>
              </a:br>
              <a:r>
                <a:rPr lang="zh-CN" altLang="en-US" sz="2000" kern="0" dirty="0"/>
                <a:t>  </a:t>
              </a:r>
              <a:r>
                <a:rPr lang="zh-CN" altLang="en-US" sz="2000" b="0" kern="0" dirty="0">
                  <a:effectLst/>
                </a:rPr>
                <a:t>　 </a:t>
              </a:r>
              <a:r>
                <a:rPr lang="en-US" altLang="zh-CN" sz="2000" b="0" kern="0" dirty="0">
                  <a:effectLst/>
                </a:rPr>
                <a:t>end </a:t>
              </a:r>
              <a:r>
                <a:rPr lang="zh-CN" altLang="en-US" sz="2000" b="0" kern="0" dirty="0">
                  <a:effectLst/>
                </a:rPr>
                <a:t>　</a:t>
              </a:r>
              <a:r>
                <a:rPr lang="en-US" altLang="zh-CN" sz="2000" b="0" kern="0" dirty="0">
                  <a:solidFill>
                    <a:srgbClr val="FF0000"/>
                  </a:solidFill>
                  <a:effectLst/>
                </a:rPr>
                <a:t>start		</a:t>
              </a:r>
              <a:endParaRPr lang="zh-CN" altLang="en-US" sz="2000" b="0" kern="0" dirty="0">
                <a:solidFill>
                  <a:srgbClr val="FF0000"/>
                </a:solidFill>
                <a:effectLst/>
              </a:endParaRPr>
            </a:p>
          </p:txBody>
        </p:sp>
        <p:grpSp>
          <p:nvGrpSpPr>
            <p:cNvPr id="11" name="组合 10"/>
            <p:cNvGrpSpPr/>
            <p:nvPr/>
          </p:nvGrpSpPr>
          <p:grpSpPr>
            <a:xfrm>
              <a:off x="6988681" y="3588818"/>
              <a:ext cx="934121" cy="406019"/>
              <a:chOff x="6844665" y="3588818"/>
              <a:chExt cx="934121" cy="406019"/>
            </a:xfrm>
          </p:grpSpPr>
          <p:sp>
            <p:nvSpPr>
              <p:cNvPr id="9" name="上下箭头 8"/>
              <p:cNvSpPr/>
              <p:nvPr/>
            </p:nvSpPr>
            <p:spPr bwMode="auto">
              <a:xfrm>
                <a:off x="6844665" y="3588818"/>
                <a:ext cx="247615" cy="396044"/>
              </a:xfrm>
              <a:prstGeom prst="upDownArrow">
                <a:avLst/>
              </a:prstGeom>
              <a:solidFill>
                <a:schemeClr val="bg1"/>
              </a:solidFill>
              <a:ln w="15875" cap="flat" cmpd="sng" algn="ctr">
                <a:solidFill>
                  <a:schemeClr val="tx2"/>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0" name="文本框 9"/>
              <p:cNvSpPr txBox="1"/>
              <p:nvPr/>
            </p:nvSpPr>
            <p:spPr>
              <a:xfrm>
                <a:off x="7077953" y="3594727"/>
                <a:ext cx="700833" cy="400110"/>
              </a:xfrm>
              <a:prstGeom prst="rect">
                <a:avLst/>
              </a:prstGeom>
              <a:noFill/>
            </p:spPr>
            <p:txBody>
              <a:bodyPr wrap="none" rtlCol="0">
                <a:spAutoFit/>
              </a:bodyPr>
              <a:lstStyle/>
              <a:p>
                <a:r>
                  <a:rPr lang="zh-CN" altLang="en-US" sz="2000" dirty="0"/>
                  <a:t>不同</a:t>
                </a:r>
                <a:endParaRPr lang="zh-CN" altLang="en-US" sz="2000" dirty="0"/>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647564" y="1016732"/>
            <a:ext cx="5486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buFont typeface="Wingdings" panose="05000000000000000000" pitchFamily="2" charset="2"/>
              <a:buChar char="u"/>
            </a:pPr>
            <a:r>
              <a:rPr lang="zh-CN" altLang="en-US" dirty="0">
                <a:solidFill>
                  <a:srgbClr val="000000"/>
                </a:solidFill>
              </a:rPr>
              <a:t>简化的段定义伪指令：</a:t>
            </a:r>
            <a:endParaRPr lang="zh-CN" altLang="en-US" dirty="0">
              <a:solidFill>
                <a:srgbClr val="000000"/>
              </a:solidFill>
            </a:endParaRPr>
          </a:p>
        </p:txBody>
      </p:sp>
      <p:sp>
        <p:nvSpPr>
          <p:cNvPr id="12294" name="Rectangle 6"/>
          <p:cNvSpPr>
            <a:spLocks noChangeArrowheads="1"/>
          </p:cNvSpPr>
          <p:nvPr/>
        </p:nvSpPr>
        <p:spPr bwMode="auto">
          <a:xfrm>
            <a:off x="647564" y="1412776"/>
            <a:ext cx="792088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a:lnSpc>
                <a:spcPct val="120000"/>
              </a:lnSpc>
            </a:pPr>
            <a:r>
              <a:rPr lang="en-US" altLang="zh-CN" sz="2000" b="0" dirty="0">
                <a:solidFill>
                  <a:srgbClr val="000000"/>
                </a:solidFill>
                <a:latin typeface="+mn-lt"/>
              </a:rPr>
              <a:t>.code [name]		</a:t>
            </a:r>
            <a:r>
              <a:rPr lang="zh-CN" altLang="en-US" sz="2000" b="0" dirty="0">
                <a:solidFill>
                  <a:srgbClr val="000000"/>
                </a:solidFill>
                <a:latin typeface="+mn-lt"/>
              </a:rPr>
              <a:t>；代码段</a:t>
            </a:r>
            <a:endParaRPr lang="en-US" altLang="zh-CN" sz="2000" b="0" dirty="0">
              <a:solidFill>
                <a:srgbClr val="000000"/>
              </a:solidFill>
              <a:latin typeface="+mn-lt"/>
            </a:endParaRPr>
          </a:p>
          <a:p>
            <a:pPr lvl="1">
              <a:lnSpc>
                <a:spcPct val="120000"/>
              </a:lnSpc>
            </a:pPr>
            <a:r>
              <a:rPr lang="en-US" altLang="zh-CN" sz="2000" b="0" dirty="0">
                <a:solidFill>
                  <a:srgbClr val="000000"/>
                </a:solidFill>
                <a:latin typeface="+mn-lt"/>
              </a:rPr>
              <a:t>.data		</a:t>
            </a:r>
            <a:r>
              <a:rPr lang="zh-CN" altLang="en-US" sz="2000" b="0" dirty="0">
                <a:solidFill>
                  <a:srgbClr val="000000"/>
                </a:solidFill>
                <a:latin typeface="+mn-lt"/>
              </a:rPr>
              <a:t>；初始化数据段</a:t>
            </a:r>
            <a:endParaRPr lang="en-US" altLang="zh-CN" sz="2000" b="0" dirty="0">
              <a:solidFill>
                <a:srgbClr val="000000"/>
              </a:solidFill>
              <a:latin typeface="+mn-lt"/>
            </a:endParaRPr>
          </a:p>
          <a:p>
            <a:pPr lvl="1">
              <a:lnSpc>
                <a:spcPct val="120000"/>
              </a:lnSpc>
            </a:pPr>
            <a:r>
              <a:rPr lang="en-US" altLang="zh-CN" sz="2000" b="0" dirty="0">
                <a:solidFill>
                  <a:srgbClr val="000000"/>
                </a:solidFill>
                <a:latin typeface="+mn-lt"/>
              </a:rPr>
              <a:t>.data?		</a:t>
            </a:r>
            <a:r>
              <a:rPr lang="zh-CN" altLang="en-US" sz="2000" b="0" dirty="0">
                <a:solidFill>
                  <a:srgbClr val="000000"/>
                </a:solidFill>
                <a:latin typeface="+mn-lt"/>
              </a:rPr>
              <a:t>；未初始化数据段</a:t>
            </a:r>
            <a:endParaRPr lang="en-US" altLang="zh-CN" sz="2000" b="0" dirty="0">
              <a:solidFill>
                <a:srgbClr val="000000"/>
              </a:solidFill>
              <a:latin typeface="+mn-lt"/>
            </a:endParaRPr>
          </a:p>
          <a:p>
            <a:pPr lvl="1">
              <a:lnSpc>
                <a:spcPct val="120000"/>
              </a:lnSpc>
            </a:pPr>
            <a:r>
              <a:rPr lang="en-US" altLang="zh-CN" sz="2000" b="0" dirty="0">
                <a:solidFill>
                  <a:srgbClr val="000000"/>
                </a:solidFill>
                <a:latin typeface="+mn-lt"/>
              </a:rPr>
              <a:t>.</a:t>
            </a:r>
            <a:r>
              <a:rPr lang="en-US" altLang="zh-CN" sz="2000" b="0" dirty="0" err="1">
                <a:solidFill>
                  <a:srgbClr val="000000"/>
                </a:solidFill>
                <a:latin typeface="+mn-lt"/>
              </a:rPr>
              <a:t>fardata</a:t>
            </a:r>
            <a:r>
              <a:rPr lang="en-US" altLang="zh-CN" sz="2000" b="0" dirty="0">
                <a:solidFill>
                  <a:srgbClr val="000000"/>
                </a:solidFill>
                <a:latin typeface="+mn-lt"/>
              </a:rPr>
              <a:t> [name]	</a:t>
            </a:r>
            <a:r>
              <a:rPr lang="zh-CN" altLang="en-US" sz="2000" b="0" dirty="0">
                <a:solidFill>
                  <a:srgbClr val="000000"/>
                </a:solidFill>
                <a:latin typeface="+mn-lt"/>
              </a:rPr>
              <a:t>；远始化数据段</a:t>
            </a:r>
            <a:endParaRPr lang="en-US" altLang="zh-CN" sz="2000" b="0" dirty="0">
              <a:solidFill>
                <a:srgbClr val="000000"/>
              </a:solidFill>
              <a:latin typeface="+mn-lt"/>
            </a:endParaRPr>
          </a:p>
          <a:p>
            <a:pPr lvl="1">
              <a:lnSpc>
                <a:spcPct val="120000"/>
              </a:lnSpc>
            </a:pPr>
            <a:r>
              <a:rPr lang="en-US" altLang="zh-CN" sz="2000" b="0" dirty="0">
                <a:solidFill>
                  <a:srgbClr val="000000"/>
                </a:solidFill>
                <a:latin typeface="+mn-lt"/>
              </a:rPr>
              <a:t>.</a:t>
            </a:r>
            <a:r>
              <a:rPr lang="en-US" altLang="zh-CN" sz="2000" b="0" dirty="0" err="1">
                <a:solidFill>
                  <a:srgbClr val="000000"/>
                </a:solidFill>
                <a:latin typeface="+mn-lt"/>
              </a:rPr>
              <a:t>fardata</a:t>
            </a:r>
            <a:r>
              <a:rPr lang="en-US" altLang="zh-CN" sz="2000" b="0" dirty="0">
                <a:solidFill>
                  <a:srgbClr val="000000"/>
                </a:solidFill>
                <a:latin typeface="+mn-lt"/>
              </a:rPr>
              <a:t>? [name]	</a:t>
            </a:r>
            <a:r>
              <a:rPr lang="zh-CN" altLang="en-US" sz="2000" b="0" dirty="0">
                <a:solidFill>
                  <a:srgbClr val="000000"/>
                </a:solidFill>
                <a:latin typeface="+mn-lt"/>
              </a:rPr>
              <a:t>；远未初始化数据段</a:t>
            </a:r>
            <a:endParaRPr lang="en-US" altLang="zh-CN" sz="2000" b="0" dirty="0">
              <a:solidFill>
                <a:srgbClr val="000000"/>
              </a:solidFill>
              <a:latin typeface="+mn-lt"/>
            </a:endParaRPr>
          </a:p>
          <a:p>
            <a:pPr lvl="1">
              <a:lnSpc>
                <a:spcPct val="120000"/>
              </a:lnSpc>
            </a:pPr>
            <a:r>
              <a:rPr lang="en-US" altLang="zh-CN" sz="2000" b="0" dirty="0">
                <a:solidFill>
                  <a:srgbClr val="000000"/>
                </a:solidFill>
                <a:latin typeface="+mn-lt"/>
              </a:rPr>
              <a:t>.</a:t>
            </a:r>
            <a:r>
              <a:rPr lang="en-US" altLang="zh-CN" sz="2000" b="0" dirty="0" err="1">
                <a:solidFill>
                  <a:srgbClr val="000000"/>
                </a:solidFill>
                <a:latin typeface="+mn-lt"/>
              </a:rPr>
              <a:t>const</a:t>
            </a:r>
            <a:r>
              <a:rPr lang="en-US" altLang="zh-CN" sz="2000" b="0" dirty="0">
                <a:solidFill>
                  <a:srgbClr val="000000"/>
                </a:solidFill>
                <a:latin typeface="+mn-lt"/>
              </a:rPr>
              <a:t>		</a:t>
            </a:r>
            <a:r>
              <a:rPr lang="zh-CN" altLang="en-US" sz="2000" b="0" dirty="0">
                <a:solidFill>
                  <a:srgbClr val="000000"/>
                </a:solidFill>
                <a:latin typeface="+mn-lt"/>
              </a:rPr>
              <a:t>；常数段</a:t>
            </a:r>
            <a:endParaRPr lang="en-US" altLang="zh-CN" sz="2000" b="0" dirty="0">
              <a:solidFill>
                <a:srgbClr val="000000"/>
              </a:solidFill>
              <a:latin typeface="+mn-lt"/>
            </a:endParaRPr>
          </a:p>
          <a:p>
            <a:pPr lvl="1">
              <a:lnSpc>
                <a:spcPct val="120000"/>
              </a:lnSpc>
            </a:pPr>
            <a:r>
              <a:rPr lang="en-US" altLang="zh-CN" sz="2000" b="0" dirty="0">
                <a:solidFill>
                  <a:srgbClr val="000000"/>
                </a:solidFill>
                <a:latin typeface="+mn-lt"/>
              </a:rPr>
              <a:t>.stack [size]		</a:t>
            </a:r>
            <a:r>
              <a:rPr lang="zh-CN" altLang="en-US" sz="2000" b="0" dirty="0">
                <a:solidFill>
                  <a:srgbClr val="000000"/>
                </a:solidFill>
                <a:latin typeface="+mn-lt"/>
              </a:rPr>
              <a:t>；堆栈段，若不指定大小，默认值为</a:t>
            </a:r>
            <a:r>
              <a:rPr lang="en-US" altLang="zh-CN" sz="2000" b="0" dirty="0">
                <a:solidFill>
                  <a:srgbClr val="000000"/>
                </a:solidFill>
                <a:latin typeface="+mn-lt"/>
              </a:rPr>
              <a:t>1KB</a:t>
            </a:r>
            <a:endParaRPr lang="en-US" altLang="zh-CN" sz="2000" b="0" dirty="0">
              <a:solidFill>
                <a:srgbClr val="000000"/>
              </a:solidFill>
              <a:latin typeface="+mn-lt"/>
            </a:endParaRPr>
          </a:p>
          <a:p>
            <a:pPr lvl="1">
              <a:lnSpc>
                <a:spcPct val="120000"/>
              </a:lnSpc>
            </a:pPr>
            <a:endParaRPr lang="en-US" altLang="zh-CN" sz="2000" b="0" dirty="0">
              <a:solidFill>
                <a:srgbClr val="000000"/>
              </a:solidFill>
              <a:latin typeface="+mn-lt"/>
            </a:endParaRPr>
          </a:p>
          <a:p>
            <a:pPr lvl="1">
              <a:lnSpc>
                <a:spcPct val="120000"/>
              </a:lnSpc>
            </a:pPr>
            <a:r>
              <a:rPr lang="zh-CN" altLang="en-US" sz="2000" b="0" dirty="0">
                <a:solidFill>
                  <a:srgbClr val="000000"/>
                </a:solidFill>
                <a:latin typeface="+mn-lt"/>
              </a:rPr>
              <a:t>这种分段方法把数据段分的更细：</a:t>
            </a:r>
            <a:endParaRPr lang="en-US" altLang="zh-CN" sz="2000" b="0" dirty="0">
              <a:solidFill>
                <a:srgbClr val="000000"/>
              </a:solidFill>
              <a:latin typeface="+mn-lt"/>
            </a:endParaRPr>
          </a:p>
          <a:p>
            <a:pPr lvl="2">
              <a:lnSpc>
                <a:spcPct val="120000"/>
              </a:lnSpc>
              <a:buFont typeface="Wingdings" panose="05000000000000000000" pitchFamily="2" charset="2"/>
              <a:buChar char="u"/>
            </a:pPr>
            <a:r>
              <a:rPr lang="zh-CN" altLang="en-US" sz="2000" b="0" dirty="0">
                <a:solidFill>
                  <a:srgbClr val="000000"/>
                </a:solidFill>
                <a:latin typeface="+mn-lt"/>
              </a:rPr>
              <a:t>初始化数据段和未初始化数据段分开。</a:t>
            </a:r>
            <a:endParaRPr lang="en-US" altLang="zh-CN" sz="2000" b="0" dirty="0">
              <a:solidFill>
                <a:srgbClr val="000000"/>
              </a:solidFill>
              <a:latin typeface="+mn-lt"/>
            </a:endParaRPr>
          </a:p>
          <a:p>
            <a:pPr lvl="2">
              <a:lnSpc>
                <a:spcPct val="120000"/>
              </a:lnSpc>
              <a:buFont typeface="Wingdings" panose="05000000000000000000" pitchFamily="2" charset="2"/>
              <a:buChar char="u"/>
            </a:pPr>
            <a:r>
              <a:rPr lang="zh-CN" altLang="en-US" sz="2000" b="0" dirty="0">
                <a:solidFill>
                  <a:srgbClr val="000000"/>
                </a:solidFill>
                <a:latin typeface="+mn-lt"/>
              </a:rPr>
              <a:t>近和远的数据段分开。</a:t>
            </a:r>
            <a:endParaRPr lang="en-US" altLang="zh-CN" sz="2000" b="0" dirty="0">
              <a:solidFill>
                <a:srgbClr val="000000"/>
              </a:solidFill>
              <a:latin typeface="+mn-lt"/>
            </a:endParaRPr>
          </a:p>
          <a:p>
            <a:pPr lvl="2">
              <a:lnSpc>
                <a:spcPct val="120000"/>
              </a:lnSpc>
              <a:buFont typeface="Wingdings" panose="05000000000000000000" pitchFamily="2" charset="2"/>
              <a:buChar char="u"/>
            </a:pPr>
            <a:r>
              <a:rPr lang="zh-CN" altLang="en-US" sz="2000" b="0" dirty="0">
                <a:solidFill>
                  <a:srgbClr val="000000"/>
                </a:solidFill>
                <a:latin typeface="+mn-lt"/>
              </a:rPr>
              <a:t>常数段和数据段分开。</a:t>
            </a:r>
            <a:endParaRPr lang="en-US" altLang="zh-CN" sz="2000" b="0" dirty="0">
              <a:solidFill>
                <a:srgbClr val="000000"/>
              </a:solidFill>
              <a:latin typeface="+mn-lt"/>
            </a:endParaRPr>
          </a:p>
          <a:p>
            <a:pPr lvl="2">
              <a:lnSpc>
                <a:spcPct val="120000"/>
              </a:lnSpc>
              <a:buFont typeface="Wingdings" panose="05000000000000000000" pitchFamily="2" charset="2"/>
              <a:buChar char="u"/>
            </a:pPr>
            <a:r>
              <a:rPr lang="zh-CN" altLang="en-US" sz="2000" b="0" dirty="0">
                <a:solidFill>
                  <a:srgbClr val="000000"/>
                </a:solidFill>
                <a:latin typeface="+mn-lt"/>
              </a:rPr>
              <a:t>便于与高级语言兼容。若汇编程序独立，则不必细分。</a:t>
            </a:r>
            <a:endParaRPr lang="en-US" altLang="zh-CN" sz="2000" b="0" dirty="0">
              <a:solidFill>
                <a:srgbClr val="000000"/>
              </a:solidFill>
              <a:latin typeface="+mn-lt"/>
            </a:endParaRPr>
          </a:p>
        </p:txBody>
      </p:sp>
      <p:sp>
        <p:nvSpPr>
          <p:cNvPr id="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31540" y="978979"/>
            <a:ext cx="4536504" cy="5632311"/>
          </a:xfrm>
          <a:prstGeom prst="rect">
            <a:avLst/>
          </a:prstGeom>
          <a:ln>
            <a:solidFill>
              <a:srgbClr val="FF0000"/>
            </a:solidFill>
          </a:ln>
        </p:spPr>
        <p:txBody>
          <a:bodyPr wrap="square">
            <a:spAutoFit/>
          </a:bodyPr>
          <a:lstStyle/>
          <a:p>
            <a:r>
              <a:rPr lang="en-US" altLang="zh-CN" sz="1800" b="0" dirty="0"/>
              <a:t>DATA SEGMENT</a:t>
            </a:r>
            <a:endParaRPr lang="en-US" altLang="zh-CN" sz="1800" b="0" dirty="0"/>
          </a:p>
          <a:p>
            <a:r>
              <a:rPr lang="zh-CN" altLang="en-US" sz="1800" b="0" dirty="0"/>
              <a:t>   </a:t>
            </a:r>
            <a:r>
              <a:rPr lang="en-US" altLang="zh-CN" sz="1800" b="0" dirty="0"/>
              <a:t>	</a:t>
            </a:r>
            <a:r>
              <a:rPr lang="zh-CN" altLang="en-US" sz="1800" b="0" dirty="0"/>
              <a:t> </a:t>
            </a:r>
            <a:r>
              <a:rPr lang="en-US" altLang="zh-CN" sz="1800" b="0" dirty="0"/>
              <a:t>;</a:t>
            </a:r>
            <a:r>
              <a:rPr lang="zh-CN" altLang="en-US" sz="1800" b="0" dirty="0"/>
              <a:t>此处输入数据段代码  </a:t>
            </a:r>
            <a:endParaRPr lang="zh-CN" altLang="en-US" sz="1800" b="0" dirty="0"/>
          </a:p>
          <a:p>
            <a:r>
              <a:rPr lang="en-US" altLang="zh-CN" sz="1800" b="0" dirty="0"/>
              <a:t>DATA ENDS</a:t>
            </a:r>
            <a:endParaRPr lang="en-US" altLang="zh-CN" sz="1800" b="0" dirty="0"/>
          </a:p>
          <a:p>
            <a:endParaRPr lang="zh-CN" altLang="en-US" sz="1800" b="0" dirty="0"/>
          </a:p>
          <a:p>
            <a:r>
              <a:rPr lang="en-US" altLang="zh-CN" sz="1800" b="0" dirty="0"/>
              <a:t>STACK SEGMENT 	</a:t>
            </a:r>
            <a:endParaRPr lang="en-US" altLang="zh-CN" sz="1800" b="0" dirty="0"/>
          </a:p>
          <a:p>
            <a:r>
              <a:rPr lang="en-US" altLang="zh-CN" sz="1800" b="0" dirty="0"/>
              <a:t>	</a:t>
            </a:r>
            <a:r>
              <a:rPr lang="zh-CN" altLang="en-US" sz="1800" b="0" dirty="0"/>
              <a:t> </a:t>
            </a:r>
            <a:r>
              <a:rPr lang="en-US" altLang="zh-CN" sz="1800" b="0" dirty="0"/>
              <a:t>;</a:t>
            </a:r>
            <a:r>
              <a:rPr lang="zh-CN" altLang="en-US" sz="1800" b="0" dirty="0"/>
              <a:t>此处输入堆栈段代码</a:t>
            </a:r>
            <a:endParaRPr lang="zh-CN" altLang="en-US" sz="1800" b="0" dirty="0"/>
          </a:p>
          <a:p>
            <a:r>
              <a:rPr lang="en-US" altLang="zh-CN" sz="1800" b="0" dirty="0"/>
              <a:t>STACK ENDS</a:t>
            </a:r>
            <a:endParaRPr lang="en-US" altLang="zh-CN" sz="1800" b="0" dirty="0"/>
          </a:p>
          <a:p>
            <a:endParaRPr lang="zh-CN" altLang="en-US" sz="1800" b="0" dirty="0"/>
          </a:p>
          <a:p>
            <a:r>
              <a:rPr lang="en-US" altLang="zh-CN" sz="1800" b="0" dirty="0"/>
              <a:t>CODE SEGMENT </a:t>
            </a:r>
            <a:endParaRPr lang="en-US" altLang="zh-CN" sz="1800" b="0" dirty="0"/>
          </a:p>
          <a:p>
            <a:r>
              <a:rPr lang="en-US" altLang="zh-CN" sz="1800" b="0" dirty="0">
                <a:solidFill>
                  <a:srgbClr val="FF0000"/>
                </a:solidFill>
              </a:rPr>
              <a:t>ASSUME CS:CODE,DS:DATA,SS:STACK</a:t>
            </a:r>
            <a:endParaRPr lang="en-US" altLang="zh-CN" sz="1800" b="0" dirty="0">
              <a:solidFill>
                <a:srgbClr val="FF0000"/>
              </a:solidFill>
            </a:endParaRPr>
          </a:p>
          <a:p>
            <a:r>
              <a:rPr lang="en-US" altLang="zh-CN" sz="1800" b="0" dirty="0"/>
              <a:t>START:</a:t>
            </a:r>
            <a:endParaRPr lang="en-US" altLang="zh-CN" sz="1800" b="0" dirty="0"/>
          </a:p>
          <a:p>
            <a:r>
              <a:rPr lang="en-US" altLang="zh-CN" sz="1800" b="0" dirty="0"/>
              <a:t>    MOV AX, DATA</a:t>
            </a:r>
            <a:endParaRPr lang="en-US" altLang="zh-CN" sz="1800" b="0" dirty="0"/>
          </a:p>
          <a:p>
            <a:r>
              <a:rPr lang="en-US" altLang="zh-CN" sz="1800" b="0" dirty="0"/>
              <a:t>    MOV DS, AX</a:t>
            </a:r>
            <a:endParaRPr lang="en-US" altLang="zh-CN" sz="1800" b="0" dirty="0"/>
          </a:p>
          <a:p>
            <a:r>
              <a:rPr lang="en-US" altLang="zh-CN" sz="1800" b="0" dirty="0"/>
              <a:t>    MOV AX, STACK</a:t>
            </a:r>
            <a:endParaRPr lang="en-US" altLang="zh-CN" sz="1800" b="0" dirty="0"/>
          </a:p>
          <a:p>
            <a:r>
              <a:rPr lang="en-US" altLang="zh-CN" sz="1800" b="0" dirty="0"/>
              <a:t>    MOV SS, AX</a:t>
            </a:r>
            <a:endParaRPr lang="en-US" altLang="zh-CN" sz="1800" b="0" dirty="0"/>
          </a:p>
          <a:p>
            <a:r>
              <a:rPr lang="zh-CN" altLang="en-US" sz="1800" b="0" dirty="0"/>
              <a:t>    </a:t>
            </a:r>
            <a:r>
              <a:rPr lang="en-US" altLang="zh-CN" sz="1800" b="0" dirty="0"/>
              <a:t>	;</a:t>
            </a:r>
            <a:r>
              <a:rPr lang="zh-CN" altLang="en-US" sz="1800" b="0" dirty="0"/>
              <a:t>此处输入代码段代码</a:t>
            </a:r>
            <a:endParaRPr lang="zh-CN" altLang="en-US" sz="1800" b="0" dirty="0"/>
          </a:p>
          <a:p>
            <a:r>
              <a:rPr lang="en-US" altLang="zh-CN" sz="1800" b="0" dirty="0"/>
              <a:t>    MOV AH, 4CH</a:t>
            </a:r>
            <a:endParaRPr lang="en-US" altLang="zh-CN" sz="1800" b="0" dirty="0"/>
          </a:p>
          <a:p>
            <a:r>
              <a:rPr lang="en-US" altLang="zh-CN" sz="1800" b="0" dirty="0"/>
              <a:t>    INT 21H</a:t>
            </a:r>
            <a:endParaRPr lang="en-US" altLang="zh-CN" sz="1800" b="0" dirty="0"/>
          </a:p>
          <a:p>
            <a:r>
              <a:rPr lang="en-US" altLang="zh-CN" sz="1800" b="0" dirty="0"/>
              <a:t>CODE ENDS</a:t>
            </a:r>
            <a:endParaRPr lang="en-US" altLang="zh-CN" sz="1800" b="0" dirty="0"/>
          </a:p>
          <a:p>
            <a:r>
              <a:rPr lang="en-US" altLang="zh-CN" sz="1800" b="0" dirty="0"/>
              <a:t>    END START</a:t>
            </a:r>
            <a:endParaRPr lang="zh-CN" altLang="en-US" sz="1800" b="0" dirty="0"/>
          </a:p>
        </p:txBody>
      </p:sp>
      <p:sp>
        <p:nvSpPr>
          <p:cNvPr id="4" name="矩形 3"/>
          <p:cNvSpPr/>
          <p:nvPr/>
        </p:nvSpPr>
        <p:spPr>
          <a:xfrm>
            <a:off x="5004048" y="978979"/>
            <a:ext cx="3744416" cy="4524315"/>
          </a:xfrm>
          <a:prstGeom prst="rect">
            <a:avLst/>
          </a:prstGeom>
          <a:ln>
            <a:solidFill>
              <a:srgbClr val="FF0000"/>
            </a:solidFill>
          </a:ln>
        </p:spPr>
        <p:txBody>
          <a:bodyPr wrap="square">
            <a:spAutoFit/>
          </a:bodyPr>
          <a:lstStyle/>
          <a:p>
            <a:r>
              <a:rPr lang="en-US" altLang="zh-CN" sz="1800" b="0" dirty="0">
                <a:solidFill>
                  <a:srgbClr val="FF0000"/>
                </a:solidFill>
              </a:rPr>
              <a:t>.MODEL SMALL</a:t>
            </a:r>
            <a:endParaRPr lang="en-US" altLang="zh-CN" sz="1800" b="0" dirty="0">
              <a:solidFill>
                <a:srgbClr val="FF0000"/>
              </a:solidFill>
            </a:endParaRPr>
          </a:p>
          <a:p>
            <a:r>
              <a:rPr lang="en-US" altLang="zh-CN" sz="1800" b="0" dirty="0"/>
              <a:t>.DATA</a:t>
            </a:r>
            <a:endParaRPr lang="en-US" altLang="zh-CN" sz="1800" b="0" dirty="0"/>
          </a:p>
          <a:p>
            <a:r>
              <a:rPr lang="zh-CN" altLang="en-US" sz="1800" b="0" dirty="0"/>
              <a:t>   </a:t>
            </a:r>
            <a:r>
              <a:rPr lang="en-US" altLang="zh-CN" sz="1800" b="0" dirty="0"/>
              <a:t>	</a:t>
            </a:r>
            <a:r>
              <a:rPr lang="zh-CN" altLang="en-US" sz="1800" b="0" dirty="0"/>
              <a:t> </a:t>
            </a:r>
            <a:r>
              <a:rPr lang="en-US" altLang="zh-CN" sz="1800" b="0" dirty="0"/>
              <a:t>;</a:t>
            </a:r>
            <a:r>
              <a:rPr lang="zh-CN" altLang="en-US" sz="1800" b="0" dirty="0"/>
              <a:t>此处输入数据段代码  </a:t>
            </a:r>
            <a:endParaRPr lang="zh-CN" altLang="en-US" sz="1800" b="0" dirty="0"/>
          </a:p>
          <a:p>
            <a:r>
              <a:rPr lang="en-US" altLang="zh-CN" sz="1800" b="0" dirty="0"/>
              <a:t>.STACK</a:t>
            </a:r>
            <a:endParaRPr lang="en-US" altLang="zh-CN" sz="1800" b="0" dirty="0"/>
          </a:p>
          <a:p>
            <a:r>
              <a:rPr lang="zh-CN" altLang="en-US" sz="1800" b="0" dirty="0"/>
              <a:t>   </a:t>
            </a:r>
            <a:r>
              <a:rPr lang="en-US" altLang="zh-CN" sz="1800" b="0" dirty="0"/>
              <a:t>	</a:t>
            </a:r>
            <a:r>
              <a:rPr lang="zh-CN" altLang="en-US" sz="1800" b="0" dirty="0"/>
              <a:t> </a:t>
            </a:r>
            <a:r>
              <a:rPr lang="en-US" altLang="zh-CN" sz="1800" b="0" dirty="0"/>
              <a:t>;</a:t>
            </a:r>
            <a:r>
              <a:rPr lang="zh-CN" altLang="en-US" sz="1800" b="0" dirty="0"/>
              <a:t>此处输入堆栈段代码</a:t>
            </a:r>
            <a:endParaRPr lang="zh-CN" altLang="en-US" sz="1800" b="0" dirty="0"/>
          </a:p>
          <a:p>
            <a:endParaRPr lang="zh-CN" altLang="en-US" sz="1800" b="0" dirty="0"/>
          </a:p>
          <a:p>
            <a:r>
              <a:rPr lang="en-US" altLang="zh-CN" sz="1800" b="0" dirty="0"/>
              <a:t>.CODE</a:t>
            </a:r>
            <a:endParaRPr lang="en-US" altLang="zh-CN" sz="1800" b="0" dirty="0"/>
          </a:p>
          <a:p>
            <a:r>
              <a:rPr lang="en-US" altLang="zh-CN" sz="1800" b="0" dirty="0"/>
              <a:t>START:</a:t>
            </a:r>
            <a:endParaRPr lang="en-US" altLang="zh-CN" sz="1800" b="0" dirty="0"/>
          </a:p>
          <a:p>
            <a:r>
              <a:rPr lang="en-US" altLang="zh-CN" sz="1800" b="0" dirty="0">
                <a:solidFill>
                  <a:srgbClr val="FF0000"/>
                </a:solidFill>
              </a:rPr>
              <a:t>    MOV AX, @DATA</a:t>
            </a:r>
            <a:endParaRPr lang="en-US" altLang="zh-CN" sz="1800" b="0" dirty="0">
              <a:solidFill>
                <a:srgbClr val="FF0000"/>
              </a:solidFill>
            </a:endParaRPr>
          </a:p>
          <a:p>
            <a:r>
              <a:rPr lang="en-US" altLang="zh-CN" sz="1800" b="0" dirty="0">
                <a:solidFill>
                  <a:srgbClr val="FF0000"/>
                </a:solidFill>
              </a:rPr>
              <a:t>    MOV DS, AX</a:t>
            </a:r>
            <a:endParaRPr lang="en-US" altLang="zh-CN" sz="1800" b="0" dirty="0">
              <a:solidFill>
                <a:srgbClr val="FF0000"/>
              </a:solidFill>
            </a:endParaRPr>
          </a:p>
          <a:p>
            <a:r>
              <a:rPr lang="en-US" altLang="zh-CN" sz="1800" b="0" dirty="0">
                <a:solidFill>
                  <a:srgbClr val="FF0000"/>
                </a:solidFill>
              </a:rPr>
              <a:t>    MOV AX, @STACK</a:t>
            </a:r>
            <a:endParaRPr lang="en-US" altLang="zh-CN" sz="1800" b="0" dirty="0">
              <a:solidFill>
                <a:srgbClr val="FF0000"/>
              </a:solidFill>
            </a:endParaRPr>
          </a:p>
          <a:p>
            <a:r>
              <a:rPr lang="en-US" altLang="zh-CN" sz="1800" b="0" dirty="0">
                <a:solidFill>
                  <a:srgbClr val="FF0000"/>
                </a:solidFill>
              </a:rPr>
              <a:t>    MOV SS, AX</a:t>
            </a:r>
            <a:endParaRPr lang="en-US" altLang="zh-CN" sz="1800" b="0" dirty="0">
              <a:solidFill>
                <a:srgbClr val="FF0000"/>
              </a:solidFill>
            </a:endParaRPr>
          </a:p>
          <a:p>
            <a:r>
              <a:rPr lang="en-US" altLang="zh-CN" sz="1800" b="0" dirty="0"/>
              <a:t>	;</a:t>
            </a:r>
            <a:r>
              <a:rPr lang="zh-CN" altLang="en-US" sz="1800" b="0" dirty="0"/>
              <a:t>此处输入代码段代码</a:t>
            </a:r>
            <a:endParaRPr lang="zh-CN" altLang="en-US" sz="1800" b="0" dirty="0"/>
          </a:p>
          <a:p>
            <a:r>
              <a:rPr lang="en-US" altLang="zh-CN" sz="1800" b="0" dirty="0"/>
              <a:t>    MOV AH, 4CH</a:t>
            </a:r>
            <a:endParaRPr lang="en-US" altLang="zh-CN" sz="1800" b="0" dirty="0"/>
          </a:p>
          <a:p>
            <a:r>
              <a:rPr lang="en-US" altLang="zh-CN" sz="1800" b="0" dirty="0"/>
              <a:t>    INT 21H</a:t>
            </a:r>
            <a:endParaRPr lang="en-US" altLang="zh-CN" sz="1800" b="0" dirty="0"/>
          </a:p>
          <a:p>
            <a:r>
              <a:rPr lang="en-US" altLang="zh-CN" sz="1800" b="0" dirty="0"/>
              <a:t>    END START</a:t>
            </a:r>
            <a:endParaRPr lang="zh-CN" altLang="en-US" sz="1800" b="0" dirty="0"/>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矩形 2"/>
          <p:cNvSpPr/>
          <p:nvPr/>
        </p:nvSpPr>
        <p:spPr>
          <a:xfrm>
            <a:off x="5018960" y="5595627"/>
            <a:ext cx="3735784" cy="1015663"/>
          </a:xfrm>
          <a:prstGeom prst="rect">
            <a:avLst/>
          </a:prstGeom>
        </p:spPr>
        <p:txBody>
          <a:bodyPr wrap="square">
            <a:spAutoFit/>
          </a:bodyPr>
          <a:lstStyle/>
          <a:p>
            <a:pPr algn="just"/>
            <a:r>
              <a:rPr lang="zh-CN" altLang="en-US" sz="2000" b="0" dirty="0"/>
              <a:t>使用简化段定义时，必须有存储模式</a:t>
            </a:r>
            <a:r>
              <a:rPr lang="en-US" altLang="zh-CN" sz="2000" b="0" dirty="0"/>
              <a:t>.MODEL</a:t>
            </a:r>
            <a:r>
              <a:rPr lang="zh-CN" altLang="en-US" sz="2000" b="0" dirty="0"/>
              <a:t>语句，且位于所有简化段定义语句之前。</a:t>
            </a:r>
            <a:endParaRPr lang="zh-CN" altLang="en-US" sz="2000" b="0"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5" name="Rectangle 3"/>
          <p:cNvSpPr>
            <a:spLocks noGrp="1" noChangeArrowheads="1"/>
          </p:cNvSpPr>
          <p:nvPr>
            <p:ph type="body" idx="1"/>
          </p:nvPr>
        </p:nvSpPr>
        <p:spPr>
          <a:xfrm>
            <a:off x="395288" y="1052513"/>
            <a:ext cx="8351837" cy="5184775"/>
          </a:xfrm>
        </p:spPr>
        <p:txBody>
          <a:bodyPr/>
          <a:lstStyle/>
          <a:p>
            <a:pPr marL="0" indent="0">
              <a:lnSpc>
                <a:spcPct val="150000"/>
              </a:lnSpc>
              <a:buNone/>
            </a:pPr>
            <a:r>
              <a:rPr lang="zh-CN" altLang="en-US" dirty="0"/>
              <a:t>注意：</a:t>
            </a:r>
            <a:endParaRPr lang="en-US" altLang="zh-CN" dirty="0"/>
          </a:p>
          <a:p>
            <a:pPr>
              <a:lnSpc>
                <a:spcPct val="150000"/>
              </a:lnSpc>
              <a:spcBef>
                <a:spcPts val="1200"/>
              </a:spcBef>
            </a:pPr>
            <a:r>
              <a:rPr lang="zh-CN" altLang="en-US" sz="2400" dirty="0">
                <a:effectLst/>
              </a:rPr>
              <a:t>完整段定义利用</a:t>
            </a:r>
            <a:r>
              <a:rPr lang="en-US" altLang="zh-CN" sz="2400" dirty="0">
                <a:solidFill>
                  <a:srgbClr val="CC0099"/>
                </a:solidFill>
                <a:effectLst/>
              </a:rPr>
              <a:t>SEGMENT</a:t>
            </a:r>
            <a:r>
              <a:rPr lang="zh-CN" altLang="en-US" sz="2400" dirty="0">
                <a:effectLst/>
              </a:rPr>
              <a:t>和</a:t>
            </a:r>
            <a:r>
              <a:rPr lang="en-US" altLang="zh-CN" sz="2400" dirty="0">
                <a:solidFill>
                  <a:srgbClr val="CC0099"/>
                </a:solidFill>
                <a:effectLst/>
              </a:rPr>
              <a:t>ENDS</a:t>
            </a:r>
            <a:r>
              <a:rPr lang="zh-CN" altLang="en-US" sz="2400" dirty="0">
                <a:effectLst/>
              </a:rPr>
              <a:t>一对伪指令定义逻辑段。同时需要配合</a:t>
            </a:r>
            <a:r>
              <a:rPr lang="en-US" altLang="zh-CN" sz="2400" dirty="0">
                <a:solidFill>
                  <a:srgbClr val="CC0099"/>
                </a:solidFill>
                <a:effectLst/>
              </a:rPr>
              <a:t>ASSUME</a:t>
            </a:r>
            <a:r>
              <a:rPr lang="zh-CN" altLang="en-US" sz="2400" dirty="0">
                <a:effectLst/>
              </a:rPr>
              <a:t>伪指令指明逻辑段是代码段、堆栈段、数据段还是附加段。</a:t>
            </a:r>
            <a:endParaRPr lang="zh-CN" altLang="en-US" sz="2400" dirty="0">
              <a:effectLst/>
            </a:endParaRPr>
          </a:p>
          <a:p>
            <a:pPr>
              <a:lnSpc>
                <a:spcPct val="150000"/>
              </a:lnSpc>
              <a:spcBef>
                <a:spcPts val="1200"/>
              </a:spcBef>
            </a:pPr>
            <a:r>
              <a:rPr lang="zh-CN" altLang="en-US" sz="2400" dirty="0">
                <a:effectLst/>
              </a:rPr>
              <a:t>简化的段定义</a:t>
            </a:r>
            <a:r>
              <a:rPr lang="en-US" altLang="zh-CN" sz="2400" dirty="0">
                <a:effectLst/>
              </a:rPr>
              <a:t>ASSUME</a:t>
            </a:r>
            <a:r>
              <a:rPr lang="zh-CN" altLang="en-US" sz="2400" dirty="0">
                <a:effectLst/>
              </a:rPr>
              <a:t>伪指令可以省掉（如果只有</a:t>
            </a:r>
            <a:r>
              <a:rPr lang="en-US" altLang="zh-CN" sz="2400" dirty="0">
                <a:effectLst/>
              </a:rPr>
              <a:t>.Data, .STACK, .CODE</a:t>
            </a:r>
            <a:r>
              <a:rPr lang="zh-CN" altLang="en-US" sz="2400" dirty="0">
                <a:effectLst/>
              </a:rPr>
              <a:t>）。</a:t>
            </a:r>
            <a:endParaRPr lang="en-US" altLang="zh-CN" sz="2400" dirty="0">
              <a:effectLst/>
            </a:endParaRPr>
          </a:p>
          <a:p>
            <a:pPr>
              <a:lnSpc>
                <a:spcPct val="150000"/>
              </a:lnSpc>
              <a:spcBef>
                <a:spcPts val="1200"/>
              </a:spcBef>
            </a:pPr>
            <a:r>
              <a:rPr lang="zh-CN" altLang="en-US" sz="2400" dirty="0">
                <a:effectLst/>
              </a:rPr>
              <a:t>完整段定义和简化段定义的实质是一致的。</a:t>
            </a:r>
            <a:endParaRPr lang="zh-CN" altLang="en-US" sz="2400" dirty="0">
              <a:effectLst/>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stCondLst>
                                    <p:cond delay="0"/>
                                  </p:stCondLst>
                                  <p:childTnLst>
                                    <p:set>
                                      <p:cBhvr>
                                        <p:cTn id="6" dur="1" fill="hold">
                                          <p:stCondLst>
                                            <p:cond delay="0"/>
                                          </p:stCondLst>
                                        </p:cTn>
                                        <p:tgtEl>
                                          <p:spTgt spid="320515">
                                            <p:txEl>
                                              <p:pRg st="0" end="0"/>
                                            </p:txEl>
                                          </p:spTgt>
                                        </p:tgtEl>
                                        <p:attrNameLst>
                                          <p:attrName>style.visibility</p:attrName>
                                        </p:attrNameLst>
                                      </p:cBhvr>
                                      <p:to>
                                        <p:strVal val="visible"/>
                                      </p:to>
                                    </p:set>
                                    <p:anim calcmode="lin" valueType="num">
                                      <p:cBhvr additive="base">
                                        <p:cTn id="7" dur="500" fill="hold"/>
                                        <p:tgtEl>
                                          <p:spTgt spid="32051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205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320515">
                                            <p:txEl>
                                              <p:pRg st="1" end="1"/>
                                            </p:txEl>
                                          </p:spTgt>
                                        </p:tgtEl>
                                        <p:attrNameLst>
                                          <p:attrName>style.visibility</p:attrName>
                                        </p:attrNameLst>
                                      </p:cBhvr>
                                      <p:to>
                                        <p:strVal val="visible"/>
                                      </p:to>
                                    </p:set>
                                    <p:anim calcmode="lin" valueType="num">
                                      <p:cBhvr additive="base">
                                        <p:cTn id="13" dur="500" fill="hold"/>
                                        <p:tgtEl>
                                          <p:spTgt spid="32051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205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6" fill="hold" grpId="0" nodeType="clickEffect">
                                  <p:stCondLst>
                                    <p:cond delay="0"/>
                                  </p:stCondLst>
                                  <p:childTnLst>
                                    <p:set>
                                      <p:cBhvr>
                                        <p:cTn id="18" dur="1" fill="hold">
                                          <p:stCondLst>
                                            <p:cond delay="0"/>
                                          </p:stCondLst>
                                        </p:cTn>
                                        <p:tgtEl>
                                          <p:spTgt spid="320515">
                                            <p:txEl>
                                              <p:pRg st="2" end="2"/>
                                            </p:txEl>
                                          </p:spTgt>
                                        </p:tgtEl>
                                        <p:attrNameLst>
                                          <p:attrName>style.visibility</p:attrName>
                                        </p:attrNameLst>
                                      </p:cBhvr>
                                      <p:to>
                                        <p:strVal val="visible"/>
                                      </p:to>
                                    </p:set>
                                    <p:anim calcmode="lin" valueType="num">
                                      <p:cBhvr additive="base">
                                        <p:cTn id="19" dur="500" fill="hold"/>
                                        <p:tgtEl>
                                          <p:spTgt spid="32051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20515">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6" fill="hold" grpId="0" nodeType="withEffect">
                                  <p:stCondLst>
                                    <p:cond delay="0"/>
                                  </p:stCondLst>
                                  <p:childTnLst>
                                    <p:set>
                                      <p:cBhvr>
                                        <p:cTn id="22" dur="1" fill="hold">
                                          <p:stCondLst>
                                            <p:cond delay="0"/>
                                          </p:stCondLst>
                                        </p:cTn>
                                        <p:tgtEl>
                                          <p:spTgt spid="320515">
                                            <p:txEl>
                                              <p:pRg st="3" end="3"/>
                                            </p:txEl>
                                          </p:spTgt>
                                        </p:tgtEl>
                                        <p:attrNameLst>
                                          <p:attrName>style.visibility</p:attrName>
                                        </p:attrNameLst>
                                      </p:cBhvr>
                                      <p:to>
                                        <p:strVal val="visible"/>
                                      </p:to>
                                    </p:set>
                                    <p:anim calcmode="lin" valueType="num">
                                      <p:cBhvr additive="base">
                                        <p:cTn id="23" dur="500" fill="hold"/>
                                        <p:tgtEl>
                                          <p:spTgt spid="320515">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3205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5"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863588" y="995363"/>
            <a:ext cx="496642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000000"/>
                </a:solidFill>
              </a:rPr>
              <a:t>◆ </a:t>
            </a:r>
            <a:r>
              <a:rPr lang="zh-CN" altLang="en-US" dirty="0">
                <a:solidFill>
                  <a:srgbClr val="000000"/>
                </a:solidFill>
              </a:rPr>
              <a:t>数据定义及存储器分配伪操作：</a:t>
            </a:r>
            <a:endParaRPr lang="zh-CN" altLang="en-US" dirty="0">
              <a:solidFill>
                <a:srgbClr val="000000"/>
              </a:solidFill>
            </a:endParaRPr>
          </a:p>
        </p:txBody>
      </p:sp>
      <p:sp>
        <p:nvSpPr>
          <p:cNvPr id="17411" name="Text Box 3"/>
          <p:cNvSpPr txBox="1">
            <a:spLocks noChangeArrowheads="1"/>
          </p:cNvSpPr>
          <p:nvPr/>
        </p:nvSpPr>
        <p:spPr bwMode="auto">
          <a:xfrm>
            <a:off x="685800" y="1533525"/>
            <a:ext cx="6934200" cy="800219"/>
          </a:xfrm>
          <a:prstGeom prst="rect">
            <a:avLst/>
          </a:prstGeom>
          <a:noFill/>
          <a:ln w="9525">
            <a:solidFill>
              <a:srgbClr val="FF0000"/>
            </a:solid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eaLnBrk="0" hangingPunct="0">
              <a:lnSpc>
                <a:spcPct val="115000"/>
              </a:lnSpc>
            </a:pPr>
            <a:r>
              <a:rPr lang="en-US" altLang="zh-CN" sz="2000" b="0" dirty="0">
                <a:solidFill>
                  <a:srgbClr val="000000"/>
                </a:solidFill>
              </a:rPr>
              <a:t>[</a:t>
            </a:r>
            <a:r>
              <a:rPr lang="zh-CN" altLang="en-US" sz="2000" b="0" dirty="0">
                <a:solidFill>
                  <a:srgbClr val="000000"/>
                </a:solidFill>
              </a:rPr>
              <a:t>变量</a:t>
            </a:r>
            <a:r>
              <a:rPr lang="en-US" altLang="zh-CN" sz="2000" b="0" dirty="0">
                <a:solidFill>
                  <a:srgbClr val="000000"/>
                </a:solidFill>
              </a:rPr>
              <a:t>]   </a:t>
            </a:r>
            <a:r>
              <a:rPr lang="zh-CN" altLang="en-US" sz="2000" b="0" dirty="0">
                <a:solidFill>
                  <a:srgbClr val="000000"/>
                </a:solidFill>
              </a:rPr>
              <a:t>助记符   操作数 </a:t>
            </a:r>
            <a:r>
              <a:rPr lang="en-US" altLang="zh-CN" sz="2000" b="0" dirty="0">
                <a:solidFill>
                  <a:srgbClr val="000000"/>
                </a:solidFill>
              </a:rPr>
              <a:t>[ , </a:t>
            </a:r>
            <a:r>
              <a:rPr lang="zh-CN" altLang="en-US" sz="2000" b="0" dirty="0">
                <a:solidFill>
                  <a:srgbClr val="000000"/>
                </a:solidFill>
              </a:rPr>
              <a:t>操作数 </a:t>
            </a:r>
            <a:r>
              <a:rPr lang="en-US" altLang="zh-CN" sz="2000" b="0" dirty="0">
                <a:solidFill>
                  <a:srgbClr val="000000"/>
                </a:solidFill>
              </a:rPr>
              <a:t>, … ]  [ ; </a:t>
            </a:r>
            <a:r>
              <a:rPr lang="zh-CN" altLang="en-US" sz="2000" b="0" dirty="0">
                <a:solidFill>
                  <a:srgbClr val="000000"/>
                </a:solidFill>
                <a:ea typeface="楷体_GB2312" pitchFamily="49" charset="-122"/>
              </a:rPr>
              <a:t>注释</a:t>
            </a:r>
            <a:r>
              <a:rPr lang="en-US" altLang="zh-CN" sz="2000" b="0" dirty="0">
                <a:solidFill>
                  <a:srgbClr val="000000"/>
                </a:solidFill>
              </a:rPr>
              <a:t>] </a:t>
            </a:r>
            <a:endParaRPr lang="en-US" altLang="zh-CN" sz="2000" b="0" dirty="0">
              <a:solidFill>
                <a:srgbClr val="000000"/>
              </a:solidFill>
            </a:endParaRPr>
          </a:p>
          <a:p>
            <a:pPr algn="just" eaLnBrk="0" hangingPunct="0">
              <a:lnSpc>
                <a:spcPct val="115000"/>
              </a:lnSpc>
            </a:pPr>
            <a:r>
              <a:rPr lang="en-US" altLang="zh-CN" sz="2000" b="0" dirty="0">
                <a:solidFill>
                  <a:srgbClr val="000000"/>
                </a:solidFill>
              </a:rPr>
              <a:t>              </a:t>
            </a:r>
            <a:r>
              <a:rPr lang="zh-CN" altLang="en-US" sz="2000" b="0" dirty="0">
                <a:solidFill>
                  <a:srgbClr val="000000"/>
                </a:solidFill>
              </a:rPr>
              <a:t>助记符：</a:t>
            </a:r>
            <a:r>
              <a:rPr lang="en-US" altLang="zh-CN" sz="2000" b="0" dirty="0">
                <a:solidFill>
                  <a:srgbClr val="000000"/>
                </a:solidFill>
                <a:latin typeface="Lucida Console" panose="020B0609040504020204" pitchFamily="49" charset="0"/>
              </a:rPr>
              <a:t>DB DW DD DF DQ DT</a:t>
            </a:r>
            <a:endParaRPr lang="en-US" altLang="zh-CN" sz="2000" b="0" dirty="0">
              <a:solidFill>
                <a:srgbClr val="000000"/>
              </a:solidFill>
              <a:latin typeface="Lucida Console" panose="020B0609040504020204" pitchFamily="49" charset="0"/>
            </a:endParaRPr>
          </a:p>
        </p:txBody>
      </p:sp>
      <p:sp>
        <p:nvSpPr>
          <p:cNvPr id="17412" name="Text Box 4"/>
          <p:cNvSpPr txBox="1">
            <a:spLocks noChangeArrowheads="1"/>
          </p:cNvSpPr>
          <p:nvPr/>
        </p:nvSpPr>
        <p:spPr bwMode="auto">
          <a:xfrm>
            <a:off x="766165" y="3836333"/>
            <a:ext cx="60785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lnSpc>
                <a:spcPct val="120000"/>
              </a:lnSpc>
            </a:pPr>
            <a:r>
              <a:rPr lang="zh-CN" altLang="en-US" sz="2000" dirty="0">
                <a:solidFill>
                  <a:srgbClr val="000000"/>
                </a:solidFill>
              </a:rPr>
              <a:t>例：</a:t>
            </a:r>
            <a:endParaRPr lang="zh-CN" altLang="en-US" sz="2000" dirty="0">
              <a:solidFill>
                <a:srgbClr val="000000"/>
              </a:solidFill>
            </a:endParaRPr>
          </a:p>
          <a:p>
            <a:pPr algn="just" eaLnBrk="0" hangingPunct="0">
              <a:lnSpc>
                <a:spcPct val="120000"/>
              </a:lnSpc>
            </a:pPr>
            <a:r>
              <a:rPr lang="en-US" altLang="zh-CN" sz="2000" dirty="0">
                <a:solidFill>
                  <a:srgbClr val="000000"/>
                </a:solidFill>
                <a:latin typeface="Lucida Console" panose="020B0609040504020204" pitchFamily="49" charset="0"/>
              </a:rPr>
              <a:t>DATA Segment</a:t>
            </a:r>
            <a:endParaRPr lang="en-US" altLang="zh-CN" sz="2000" dirty="0">
              <a:solidFill>
                <a:srgbClr val="000000"/>
              </a:solidFill>
              <a:latin typeface="Lucida Console" panose="020B0609040504020204" pitchFamily="49" charset="0"/>
            </a:endParaRPr>
          </a:p>
          <a:p>
            <a:pPr algn="just" eaLnBrk="0" hangingPunct="0">
              <a:lnSpc>
                <a:spcPct val="120000"/>
              </a:lnSpc>
            </a:pPr>
            <a:r>
              <a:rPr lang="en-US" altLang="zh-CN" sz="2000" dirty="0">
                <a:solidFill>
                  <a:srgbClr val="000000"/>
                </a:solidFill>
                <a:latin typeface="Lucida Console" panose="020B0609040504020204" pitchFamily="49" charset="0"/>
              </a:rPr>
              <a:t>	DATA_BYTE  DB  10,4,10H,</a:t>
            </a:r>
            <a:r>
              <a:rPr lang="en-US" altLang="zh-CN" sz="2000" dirty="0">
                <a:solidFill>
                  <a:srgbClr val="FF0000"/>
                </a:solidFill>
                <a:latin typeface="Lucida Console" panose="020B0609040504020204" pitchFamily="49" charset="0"/>
              </a:rPr>
              <a:t>?</a:t>
            </a:r>
            <a:endParaRPr lang="en-US" altLang="zh-CN" sz="2000" dirty="0">
              <a:solidFill>
                <a:srgbClr val="FF0000"/>
              </a:solidFill>
              <a:latin typeface="Lucida Console" panose="020B0609040504020204" pitchFamily="49" charset="0"/>
            </a:endParaRPr>
          </a:p>
          <a:p>
            <a:pPr algn="just" eaLnBrk="0" hangingPunct="0">
              <a:lnSpc>
                <a:spcPct val="120000"/>
              </a:lnSpc>
            </a:pPr>
            <a:r>
              <a:rPr lang="en-US" altLang="zh-CN" sz="2000" dirty="0">
                <a:solidFill>
                  <a:srgbClr val="000000"/>
                </a:solidFill>
                <a:latin typeface="Lucida Console" panose="020B0609040504020204" pitchFamily="49" charset="0"/>
              </a:rPr>
              <a:t>	DATA_WORD  DW  100,100H,-5,</a:t>
            </a:r>
            <a:r>
              <a:rPr lang="en-US" altLang="zh-CN" sz="2000" dirty="0">
                <a:solidFill>
                  <a:srgbClr val="FF0000"/>
                </a:solidFill>
                <a:latin typeface="Lucida Console" panose="020B0609040504020204" pitchFamily="49" charset="0"/>
              </a:rPr>
              <a:t>?</a:t>
            </a:r>
            <a:endParaRPr lang="en-US" altLang="zh-CN" sz="2000" dirty="0">
              <a:solidFill>
                <a:srgbClr val="FF0000"/>
              </a:solidFill>
              <a:latin typeface="Lucida Console" panose="020B0609040504020204" pitchFamily="49" charset="0"/>
            </a:endParaRPr>
          </a:p>
          <a:p>
            <a:pPr algn="just" eaLnBrk="0" hangingPunct="0">
              <a:lnSpc>
                <a:spcPct val="120000"/>
              </a:lnSpc>
            </a:pPr>
            <a:r>
              <a:rPr lang="en-US" altLang="zh-CN" sz="2000" dirty="0">
                <a:latin typeface="Lucida Console" panose="020B0609040504020204" pitchFamily="49" charset="0"/>
              </a:rPr>
              <a:t>DATA ENDS</a:t>
            </a:r>
            <a:endParaRPr lang="en-US" altLang="zh-CN" sz="2000" dirty="0">
              <a:latin typeface="Lucida Console" panose="020B0609040504020204" pitchFamily="49" charset="0"/>
            </a:endParaRPr>
          </a:p>
        </p:txBody>
      </p:sp>
      <p:grpSp>
        <p:nvGrpSpPr>
          <p:cNvPr id="17413" name="Group 5"/>
          <p:cNvGrpSpPr/>
          <p:nvPr/>
        </p:nvGrpSpPr>
        <p:grpSpPr bwMode="auto">
          <a:xfrm>
            <a:off x="7924800" y="2117725"/>
            <a:ext cx="762000" cy="4343400"/>
            <a:chOff x="4512" y="1440"/>
            <a:chExt cx="480" cy="2736"/>
          </a:xfrm>
        </p:grpSpPr>
        <p:grpSp>
          <p:nvGrpSpPr>
            <p:cNvPr id="17414" name="Group 6"/>
            <p:cNvGrpSpPr/>
            <p:nvPr/>
          </p:nvGrpSpPr>
          <p:grpSpPr bwMode="auto">
            <a:xfrm>
              <a:off x="4512" y="3744"/>
              <a:ext cx="480" cy="220"/>
              <a:chOff x="4176" y="2352"/>
              <a:chExt cx="480" cy="220"/>
            </a:xfrm>
          </p:grpSpPr>
          <p:sp>
            <p:nvSpPr>
              <p:cNvPr id="17415" name="Rectangle 7"/>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416" name="Text Box 8"/>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00"/>
                    </a:solidFill>
                    <a:latin typeface="Lucida Console" panose="020B0609040504020204" pitchFamily="49" charset="0"/>
                  </a:rPr>
                  <a:t>  </a:t>
                </a:r>
                <a:r>
                  <a:rPr lang="en-US" altLang="zh-CN" sz="1600" b="1">
                    <a:solidFill>
                      <a:srgbClr val="000000"/>
                    </a:solidFill>
                    <a:latin typeface="Lucida Console" panose="020B0609040504020204" pitchFamily="49" charset="0"/>
                  </a:rPr>
                  <a:t>-</a:t>
                </a:r>
                <a:endParaRPr lang="en-US" altLang="zh-CN" sz="1600" b="1">
                  <a:solidFill>
                    <a:srgbClr val="000000"/>
                  </a:solidFill>
                  <a:latin typeface="Lucida Console" panose="020B0609040504020204" pitchFamily="49" charset="0"/>
                </a:endParaRPr>
              </a:p>
            </p:txBody>
          </p:sp>
        </p:grpSp>
        <p:grpSp>
          <p:nvGrpSpPr>
            <p:cNvPr id="17417" name="Group 9"/>
            <p:cNvGrpSpPr/>
            <p:nvPr/>
          </p:nvGrpSpPr>
          <p:grpSpPr bwMode="auto">
            <a:xfrm>
              <a:off x="4512" y="1632"/>
              <a:ext cx="480" cy="2140"/>
              <a:chOff x="4176" y="1920"/>
              <a:chExt cx="480" cy="2140"/>
            </a:xfrm>
          </p:grpSpPr>
          <p:grpSp>
            <p:nvGrpSpPr>
              <p:cNvPr id="17418" name="Group 10"/>
              <p:cNvGrpSpPr/>
              <p:nvPr/>
            </p:nvGrpSpPr>
            <p:grpSpPr bwMode="auto">
              <a:xfrm>
                <a:off x="4176" y="1920"/>
                <a:ext cx="480" cy="1756"/>
                <a:chOff x="4176" y="2352"/>
                <a:chExt cx="480" cy="1756"/>
              </a:xfrm>
            </p:grpSpPr>
            <p:grpSp>
              <p:nvGrpSpPr>
                <p:cNvPr id="17419" name="Group 11"/>
                <p:cNvGrpSpPr/>
                <p:nvPr/>
              </p:nvGrpSpPr>
              <p:grpSpPr bwMode="auto">
                <a:xfrm>
                  <a:off x="4176" y="2352"/>
                  <a:ext cx="480" cy="220"/>
                  <a:chOff x="4176" y="2352"/>
                  <a:chExt cx="480" cy="220"/>
                </a:xfrm>
              </p:grpSpPr>
              <p:sp>
                <p:nvSpPr>
                  <p:cNvPr id="17420" name="Rectangle 12"/>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421" name="Text Box 13"/>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00"/>
                        </a:solidFill>
                        <a:latin typeface="Lucida Console" panose="020B0609040504020204" pitchFamily="49" charset="0"/>
                      </a:rPr>
                      <a:t> </a:t>
                    </a:r>
                    <a:r>
                      <a:rPr lang="en-US" altLang="zh-CN" sz="1600" b="1">
                        <a:solidFill>
                          <a:srgbClr val="000000"/>
                        </a:solidFill>
                        <a:latin typeface="Lucida Console" panose="020B0609040504020204" pitchFamily="49" charset="0"/>
                      </a:rPr>
                      <a:t>0AH</a:t>
                    </a:r>
                    <a:endParaRPr lang="en-US" altLang="zh-CN" sz="1600" b="1">
                      <a:solidFill>
                        <a:srgbClr val="000000"/>
                      </a:solidFill>
                      <a:latin typeface="Lucida Console" panose="020B0609040504020204" pitchFamily="49" charset="0"/>
                    </a:endParaRPr>
                  </a:p>
                </p:txBody>
              </p:sp>
            </p:grpSp>
            <p:grpSp>
              <p:nvGrpSpPr>
                <p:cNvPr id="17422" name="Group 14"/>
                <p:cNvGrpSpPr/>
                <p:nvPr/>
              </p:nvGrpSpPr>
              <p:grpSpPr bwMode="auto">
                <a:xfrm>
                  <a:off x="4176" y="2544"/>
                  <a:ext cx="480" cy="220"/>
                  <a:chOff x="4176" y="2352"/>
                  <a:chExt cx="480" cy="220"/>
                </a:xfrm>
              </p:grpSpPr>
              <p:sp>
                <p:nvSpPr>
                  <p:cNvPr id="17423" name="Rectangle 15"/>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424" name="Text Box 16"/>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00"/>
                        </a:solidFill>
                        <a:latin typeface="Lucida Console" panose="020B0609040504020204" pitchFamily="49" charset="0"/>
                      </a:rPr>
                      <a:t> </a:t>
                    </a:r>
                    <a:r>
                      <a:rPr lang="en-US" altLang="zh-CN" sz="1600" b="1">
                        <a:solidFill>
                          <a:srgbClr val="000000"/>
                        </a:solidFill>
                        <a:latin typeface="Lucida Console" panose="020B0609040504020204" pitchFamily="49" charset="0"/>
                      </a:rPr>
                      <a:t>04H</a:t>
                    </a:r>
                    <a:endParaRPr lang="en-US" altLang="zh-CN" sz="1600" b="1">
                      <a:solidFill>
                        <a:srgbClr val="000000"/>
                      </a:solidFill>
                      <a:latin typeface="Lucida Console" panose="020B0609040504020204" pitchFamily="49" charset="0"/>
                    </a:endParaRPr>
                  </a:p>
                </p:txBody>
              </p:sp>
            </p:grpSp>
            <p:grpSp>
              <p:nvGrpSpPr>
                <p:cNvPr id="17425" name="Group 17"/>
                <p:cNvGrpSpPr/>
                <p:nvPr/>
              </p:nvGrpSpPr>
              <p:grpSpPr bwMode="auto">
                <a:xfrm>
                  <a:off x="4176" y="2736"/>
                  <a:ext cx="480" cy="220"/>
                  <a:chOff x="4176" y="2352"/>
                  <a:chExt cx="480" cy="220"/>
                </a:xfrm>
              </p:grpSpPr>
              <p:sp>
                <p:nvSpPr>
                  <p:cNvPr id="17426" name="Rectangle 18"/>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427" name="Text Box 19"/>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00"/>
                        </a:solidFill>
                        <a:latin typeface="Lucida Console" panose="020B0609040504020204" pitchFamily="49" charset="0"/>
                      </a:rPr>
                      <a:t> </a:t>
                    </a:r>
                    <a:r>
                      <a:rPr lang="en-US" altLang="zh-CN" sz="1600" b="1">
                        <a:solidFill>
                          <a:srgbClr val="000000"/>
                        </a:solidFill>
                        <a:latin typeface="Lucida Console" panose="020B0609040504020204" pitchFamily="49" charset="0"/>
                      </a:rPr>
                      <a:t>10H</a:t>
                    </a:r>
                    <a:endParaRPr lang="en-US" altLang="zh-CN" sz="1600" b="1">
                      <a:solidFill>
                        <a:srgbClr val="000000"/>
                      </a:solidFill>
                      <a:latin typeface="Lucida Console" panose="020B0609040504020204" pitchFamily="49" charset="0"/>
                    </a:endParaRPr>
                  </a:p>
                </p:txBody>
              </p:sp>
            </p:grpSp>
            <p:grpSp>
              <p:nvGrpSpPr>
                <p:cNvPr id="17428" name="Group 20"/>
                <p:cNvGrpSpPr/>
                <p:nvPr/>
              </p:nvGrpSpPr>
              <p:grpSpPr bwMode="auto">
                <a:xfrm>
                  <a:off x="4176" y="2928"/>
                  <a:ext cx="480" cy="220"/>
                  <a:chOff x="4176" y="2352"/>
                  <a:chExt cx="480" cy="220"/>
                </a:xfrm>
              </p:grpSpPr>
              <p:sp>
                <p:nvSpPr>
                  <p:cNvPr id="17429" name="Rectangle 21"/>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430" name="Text Box 22"/>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00"/>
                        </a:solidFill>
                        <a:latin typeface="Lucida Console" panose="020B0609040504020204" pitchFamily="49" charset="0"/>
                      </a:rPr>
                      <a:t>  </a:t>
                    </a:r>
                    <a:r>
                      <a:rPr lang="en-US" altLang="zh-CN" sz="1600" b="1">
                        <a:solidFill>
                          <a:srgbClr val="000000"/>
                        </a:solidFill>
                        <a:latin typeface="Lucida Console" panose="020B0609040504020204" pitchFamily="49" charset="0"/>
                      </a:rPr>
                      <a:t>-</a:t>
                    </a:r>
                    <a:endParaRPr lang="en-US" altLang="zh-CN" sz="1600" b="1">
                      <a:solidFill>
                        <a:srgbClr val="000000"/>
                      </a:solidFill>
                      <a:latin typeface="Lucida Console" panose="020B0609040504020204" pitchFamily="49" charset="0"/>
                    </a:endParaRPr>
                  </a:p>
                </p:txBody>
              </p:sp>
            </p:grpSp>
            <p:grpSp>
              <p:nvGrpSpPr>
                <p:cNvPr id="17431" name="Group 23"/>
                <p:cNvGrpSpPr/>
                <p:nvPr/>
              </p:nvGrpSpPr>
              <p:grpSpPr bwMode="auto">
                <a:xfrm>
                  <a:off x="4176" y="3120"/>
                  <a:ext cx="480" cy="220"/>
                  <a:chOff x="4176" y="2352"/>
                  <a:chExt cx="480" cy="220"/>
                </a:xfrm>
              </p:grpSpPr>
              <p:sp>
                <p:nvSpPr>
                  <p:cNvPr id="17432" name="Rectangle 24"/>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433" name="Text Box 25"/>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00"/>
                        </a:solidFill>
                        <a:latin typeface="Lucida Console" panose="020B0609040504020204" pitchFamily="49" charset="0"/>
                      </a:rPr>
                      <a:t> </a:t>
                    </a:r>
                    <a:r>
                      <a:rPr lang="en-US" altLang="zh-CN" sz="1600" b="1">
                        <a:solidFill>
                          <a:srgbClr val="000000"/>
                        </a:solidFill>
                        <a:latin typeface="Lucida Console" panose="020B0609040504020204" pitchFamily="49" charset="0"/>
                      </a:rPr>
                      <a:t>64H</a:t>
                    </a:r>
                    <a:endParaRPr lang="en-US" altLang="zh-CN" sz="1600" b="1">
                      <a:solidFill>
                        <a:srgbClr val="000000"/>
                      </a:solidFill>
                      <a:latin typeface="Lucida Console" panose="020B0609040504020204" pitchFamily="49" charset="0"/>
                    </a:endParaRPr>
                  </a:p>
                </p:txBody>
              </p:sp>
            </p:grpSp>
            <p:grpSp>
              <p:nvGrpSpPr>
                <p:cNvPr id="17434" name="Group 26"/>
                <p:cNvGrpSpPr/>
                <p:nvPr/>
              </p:nvGrpSpPr>
              <p:grpSpPr bwMode="auto">
                <a:xfrm>
                  <a:off x="4176" y="3312"/>
                  <a:ext cx="480" cy="220"/>
                  <a:chOff x="4176" y="2352"/>
                  <a:chExt cx="480" cy="220"/>
                </a:xfrm>
              </p:grpSpPr>
              <p:sp>
                <p:nvSpPr>
                  <p:cNvPr id="17435" name="Rectangle 27"/>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436" name="Text Box 28"/>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00"/>
                        </a:solidFill>
                        <a:latin typeface="Lucida Console" panose="020B0609040504020204" pitchFamily="49" charset="0"/>
                      </a:rPr>
                      <a:t> </a:t>
                    </a:r>
                    <a:r>
                      <a:rPr lang="en-US" altLang="zh-CN" sz="1600" b="1">
                        <a:solidFill>
                          <a:srgbClr val="000000"/>
                        </a:solidFill>
                        <a:latin typeface="Lucida Console" panose="020B0609040504020204" pitchFamily="49" charset="0"/>
                      </a:rPr>
                      <a:t>00H</a:t>
                    </a:r>
                    <a:endParaRPr lang="en-US" altLang="zh-CN" sz="1600" b="1">
                      <a:solidFill>
                        <a:srgbClr val="000000"/>
                      </a:solidFill>
                      <a:latin typeface="Lucida Console" panose="020B0609040504020204" pitchFamily="49" charset="0"/>
                    </a:endParaRPr>
                  </a:p>
                </p:txBody>
              </p:sp>
            </p:grpSp>
            <p:grpSp>
              <p:nvGrpSpPr>
                <p:cNvPr id="17437" name="Group 29"/>
                <p:cNvGrpSpPr/>
                <p:nvPr/>
              </p:nvGrpSpPr>
              <p:grpSpPr bwMode="auto">
                <a:xfrm>
                  <a:off x="4176" y="3504"/>
                  <a:ext cx="480" cy="220"/>
                  <a:chOff x="4176" y="2352"/>
                  <a:chExt cx="480" cy="220"/>
                </a:xfrm>
              </p:grpSpPr>
              <p:sp>
                <p:nvSpPr>
                  <p:cNvPr id="17438" name="Rectangle 30"/>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439" name="Text Box 31"/>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00"/>
                        </a:solidFill>
                        <a:latin typeface="Lucida Console" panose="020B0609040504020204" pitchFamily="49" charset="0"/>
                      </a:rPr>
                      <a:t> </a:t>
                    </a:r>
                    <a:r>
                      <a:rPr lang="en-US" altLang="zh-CN" sz="1600" b="1">
                        <a:solidFill>
                          <a:srgbClr val="000000"/>
                        </a:solidFill>
                        <a:latin typeface="Lucida Console" panose="020B0609040504020204" pitchFamily="49" charset="0"/>
                      </a:rPr>
                      <a:t>00H</a:t>
                    </a:r>
                    <a:endParaRPr lang="en-US" altLang="zh-CN" sz="1600" b="1">
                      <a:solidFill>
                        <a:srgbClr val="000000"/>
                      </a:solidFill>
                      <a:latin typeface="Lucida Console" panose="020B0609040504020204" pitchFamily="49" charset="0"/>
                    </a:endParaRPr>
                  </a:p>
                </p:txBody>
              </p:sp>
            </p:grpSp>
            <p:grpSp>
              <p:nvGrpSpPr>
                <p:cNvPr id="17440" name="Group 32"/>
                <p:cNvGrpSpPr/>
                <p:nvPr/>
              </p:nvGrpSpPr>
              <p:grpSpPr bwMode="auto">
                <a:xfrm>
                  <a:off x="4176" y="3696"/>
                  <a:ext cx="480" cy="220"/>
                  <a:chOff x="4176" y="2352"/>
                  <a:chExt cx="480" cy="220"/>
                </a:xfrm>
              </p:grpSpPr>
              <p:sp>
                <p:nvSpPr>
                  <p:cNvPr id="17441" name="Rectangle 33"/>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442" name="Text Box 34"/>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solidFill>
                          <a:srgbClr val="000000"/>
                        </a:solidFill>
                        <a:latin typeface="Lucida Console" panose="020B0609040504020204" pitchFamily="49" charset="0"/>
                      </a:rPr>
                      <a:t> 01H</a:t>
                    </a:r>
                    <a:endParaRPr lang="en-US" altLang="zh-CN" sz="1600" b="1">
                      <a:solidFill>
                        <a:srgbClr val="000000"/>
                      </a:solidFill>
                      <a:latin typeface="Lucida Console" panose="020B0609040504020204" pitchFamily="49" charset="0"/>
                    </a:endParaRPr>
                  </a:p>
                </p:txBody>
              </p:sp>
            </p:grpSp>
            <p:grpSp>
              <p:nvGrpSpPr>
                <p:cNvPr id="17443" name="Group 35"/>
                <p:cNvGrpSpPr/>
                <p:nvPr/>
              </p:nvGrpSpPr>
              <p:grpSpPr bwMode="auto">
                <a:xfrm>
                  <a:off x="4176" y="3888"/>
                  <a:ext cx="480" cy="220"/>
                  <a:chOff x="4176" y="2352"/>
                  <a:chExt cx="480" cy="220"/>
                </a:xfrm>
              </p:grpSpPr>
              <p:sp>
                <p:nvSpPr>
                  <p:cNvPr id="17444" name="Rectangle 36"/>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445" name="Text Box 37"/>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00"/>
                        </a:solidFill>
                        <a:latin typeface="Lucida Console" panose="020B0609040504020204" pitchFamily="49" charset="0"/>
                      </a:rPr>
                      <a:t> </a:t>
                    </a:r>
                    <a:r>
                      <a:rPr lang="en-US" altLang="zh-CN" sz="1600" b="1">
                        <a:solidFill>
                          <a:srgbClr val="000000"/>
                        </a:solidFill>
                        <a:latin typeface="Lucida Console" panose="020B0609040504020204" pitchFamily="49" charset="0"/>
                      </a:rPr>
                      <a:t>FBH</a:t>
                    </a:r>
                    <a:endParaRPr lang="en-US" altLang="zh-CN" sz="1600" b="1">
                      <a:solidFill>
                        <a:srgbClr val="000000"/>
                      </a:solidFill>
                      <a:latin typeface="Lucida Console" panose="020B0609040504020204" pitchFamily="49" charset="0"/>
                    </a:endParaRPr>
                  </a:p>
                </p:txBody>
              </p:sp>
            </p:grpSp>
          </p:grpSp>
          <p:grpSp>
            <p:nvGrpSpPr>
              <p:cNvPr id="17446" name="Group 38"/>
              <p:cNvGrpSpPr/>
              <p:nvPr/>
            </p:nvGrpSpPr>
            <p:grpSpPr bwMode="auto">
              <a:xfrm>
                <a:off x="4176" y="3648"/>
                <a:ext cx="480" cy="220"/>
                <a:chOff x="4176" y="2352"/>
                <a:chExt cx="480" cy="220"/>
              </a:xfrm>
            </p:grpSpPr>
            <p:sp>
              <p:nvSpPr>
                <p:cNvPr id="17447" name="Rectangle 39"/>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448" name="Text Box 40"/>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00"/>
                      </a:solidFill>
                      <a:latin typeface="Lucida Console" panose="020B0609040504020204" pitchFamily="49" charset="0"/>
                    </a:rPr>
                    <a:t> </a:t>
                  </a:r>
                  <a:r>
                    <a:rPr lang="en-US" altLang="zh-CN" sz="1600" b="1">
                      <a:solidFill>
                        <a:srgbClr val="000000"/>
                      </a:solidFill>
                      <a:latin typeface="Lucida Console" panose="020B0609040504020204" pitchFamily="49" charset="0"/>
                    </a:rPr>
                    <a:t>FFH</a:t>
                  </a:r>
                  <a:endParaRPr lang="en-US" altLang="zh-CN" sz="1600" b="1">
                    <a:solidFill>
                      <a:srgbClr val="000000"/>
                    </a:solidFill>
                    <a:latin typeface="Lucida Console" panose="020B0609040504020204" pitchFamily="49" charset="0"/>
                  </a:endParaRPr>
                </a:p>
              </p:txBody>
            </p:sp>
          </p:grpSp>
          <p:grpSp>
            <p:nvGrpSpPr>
              <p:cNvPr id="17449" name="Group 41"/>
              <p:cNvGrpSpPr/>
              <p:nvPr/>
            </p:nvGrpSpPr>
            <p:grpSpPr bwMode="auto">
              <a:xfrm>
                <a:off x="4176" y="3840"/>
                <a:ext cx="480" cy="220"/>
                <a:chOff x="4176" y="2352"/>
                <a:chExt cx="480" cy="220"/>
              </a:xfrm>
            </p:grpSpPr>
            <p:sp>
              <p:nvSpPr>
                <p:cNvPr id="17450" name="Rectangle 42"/>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7451" name="Text Box 43"/>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00"/>
                      </a:solidFill>
                      <a:latin typeface="Lucida Console" panose="020B0609040504020204" pitchFamily="49" charset="0"/>
                    </a:rPr>
                    <a:t>  </a:t>
                  </a:r>
                  <a:r>
                    <a:rPr lang="en-US" altLang="zh-CN" sz="1600" b="1">
                      <a:solidFill>
                        <a:srgbClr val="000000"/>
                      </a:solidFill>
                      <a:latin typeface="Lucida Console" panose="020B0609040504020204" pitchFamily="49" charset="0"/>
                    </a:rPr>
                    <a:t>-</a:t>
                  </a:r>
                  <a:endParaRPr lang="en-US" altLang="zh-CN" sz="1600" b="1">
                    <a:solidFill>
                      <a:srgbClr val="000000"/>
                    </a:solidFill>
                    <a:latin typeface="Lucida Console" panose="020B0609040504020204" pitchFamily="49" charset="0"/>
                  </a:endParaRPr>
                </a:p>
              </p:txBody>
            </p:sp>
          </p:grpSp>
        </p:grpSp>
        <p:sp>
          <p:nvSpPr>
            <p:cNvPr id="17452" name="Line 44"/>
            <p:cNvSpPr>
              <a:spLocks noChangeShapeType="1"/>
            </p:cNvSpPr>
            <p:nvPr/>
          </p:nvSpPr>
          <p:spPr bwMode="auto">
            <a:xfrm>
              <a:off x="4992" y="1440"/>
              <a:ext cx="0" cy="240"/>
            </a:xfrm>
            <a:prstGeom prst="line">
              <a:avLst/>
            </a:prstGeom>
            <a:noFill/>
            <a:ln w="127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7453" name="Line 45"/>
            <p:cNvSpPr>
              <a:spLocks noChangeShapeType="1"/>
            </p:cNvSpPr>
            <p:nvPr/>
          </p:nvSpPr>
          <p:spPr bwMode="auto">
            <a:xfrm>
              <a:off x="4512" y="1440"/>
              <a:ext cx="0" cy="240"/>
            </a:xfrm>
            <a:prstGeom prst="line">
              <a:avLst/>
            </a:prstGeom>
            <a:noFill/>
            <a:ln w="127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7454" name="Line 46"/>
            <p:cNvSpPr>
              <a:spLocks noChangeShapeType="1"/>
            </p:cNvSpPr>
            <p:nvPr/>
          </p:nvSpPr>
          <p:spPr bwMode="auto">
            <a:xfrm>
              <a:off x="4992" y="3936"/>
              <a:ext cx="0" cy="240"/>
            </a:xfrm>
            <a:prstGeom prst="line">
              <a:avLst/>
            </a:prstGeom>
            <a:noFill/>
            <a:ln w="127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7455" name="Line 47"/>
            <p:cNvSpPr>
              <a:spLocks noChangeShapeType="1"/>
            </p:cNvSpPr>
            <p:nvPr/>
          </p:nvSpPr>
          <p:spPr bwMode="auto">
            <a:xfrm>
              <a:off x="4512" y="3936"/>
              <a:ext cx="0" cy="240"/>
            </a:xfrm>
            <a:prstGeom prst="line">
              <a:avLst/>
            </a:prstGeom>
            <a:noFill/>
            <a:ln w="127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7456" name="Text Box 48"/>
          <p:cNvSpPr txBox="1">
            <a:spLocks noChangeArrowheads="1"/>
          </p:cNvSpPr>
          <p:nvPr/>
        </p:nvSpPr>
        <p:spPr bwMode="auto">
          <a:xfrm>
            <a:off x="6324600" y="2422525"/>
            <a:ext cx="1676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solidFill>
                  <a:srgbClr val="000000"/>
                </a:solidFill>
                <a:latin typeface="Lucida Console" panose="020B0609040504020204" pitchFamily="49" charset="0"/>
              </a:rPr>
              <a:t>DATA_BYTE </a:t>
            </a:r>
            <a:r>
              <a:rPr lang="en-US" altLang="zh-CN" sz="1600" b="1">
                <a:solidFill>
                  <a:srgbClr val="000000"/>
                </a:solidFill>
                <a:latin typeface="Lucida Console" panose="020B0609040504020204" pitchFamily="49" charset="0"/>
                <a:sym typeface="Symbol" panose="05050102010706020507" pitchFamily="18" charset="2"/>
              </a:rPr>
              <a:t></a:t>
            </a:r>
            <a:endParaRPr lang="en-US" altLang="zh-CN" sz="1600" b="1">
              <a:solidFill>
                <a:srgbClr val="000000"/>
              </a:solidFill>
              <a:latin typeface="Lucida Console" panose="020B0609040504020204" pitchFamily="49" charset="0"/>
            </a:endParaRPr>
          </a:p>
        </p:txBody>
      </p:sp>
      <p:sp>
        <p:nvSpPr>
          <p:cNvPr id="17457" name="Text Box 49"/>
          <p:cNvSpPr txBox="1">
            <a:spLocks noChangeArrowheads="1"/>
          </p:cNvSpPr>
          <p:nvPr/>
        </p:nvSpPr>
        <p:spPr bwMode="auto">
          <a:xfrm>
            <a:off x="6248400" y="3641725"/>
            <a:ext cx="1676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solidFill>
                  <a:srgbClr val="000000"/>
                </a:solidFill>
                <a:latin typeface="Lucida Console" panose="020B0609040504020204" pitchFamily="49" charset="0"/>
              </a:rPr>
              <a:t>DATA_WORD </a:t>
            </a:r>
            <a:r>
              <a:rPr lang="en-US" altLang="zh-CN" sz="1600" b="1">
                <a:solidFill>
                  <a:srgbClr val="000000"/>
                </a:solidFill>
                <a:latin typeface="Lucida Console" panose="020B0609040504020204" pitchFamily="49" charset="0"/>
                <a:sym typeface="Symbol" panose="05050102010706020507" pitchFamily="18" charset="2"/>
              </a:rPr>
              <a:t></a:t>
            </a:r>
            <a:endParaRPr lang="en-US" altLang="zh-CN" sz="1600" b="1">
              <a:solidFill>
                <a:srgbClr val="000000"/>
              </a:solidFill>
              <a:latin typeface="Lucida Console" panose="020B0609040504020204" pitchFamily="49" charset="0"/>
            </a:endParaRPr>
          </a:p>
        </p:txBody>
      </p:sp>
      <p:sp>
        <p:nvSpPr>
          <p:cNvPr id="51"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52" name="文本框 51"/>
          <p:cNvSpPr txBox="1"/>
          <p:nvPr/>
        </p:nvSpPr>
        <p:spPr>
          <a:xfrm>
            <a:off x="745122" y="5976283"/>
            <a:ext cx="6120586" cy="400110"/>
          </a:xfrm>
          <a:prstGeom prst="rect">
            <a:avLst/>
          </a:prstGeom>
          <a:noFill/>
          <a:ln w="12700">
            <a:noFill/>
          </a:ln>
        </p:spPr>
        <p:txBody>
          <a:bodyPr wrap="none">
            <a:spAutoFit/>
          </a:bodyPr>
          <a:lstStyle/>
          <a:p>
            <a:pPr>
              <a:spcBef>
                <a:spcPct val="50000"/>
              </a:spcBef>
            </a:pPr>
            <a:r>
              <a:rPr lang="zh-CN" altLang="en-US" sz="2000" b="1" dirty="0">
                <a:solidFill>
                  <a:srgbClr val="FF0000"/>
                </a:solidFill>
                <a:latin typeface="Times New Roman" panose="02020603050405020304" pitchFamily="18" charset="0"/>
              </a:rPr>
              <a:t>注意：低字节</a:t>
            </a:r>
            <a:r>
              <a:rPr lang="zh-CN" altLang="en-US" sz="2000" dirty="0">
                <a:solidFill>
                  <a:srgbClr val="FF0000"/>
                </a:solidFill>
              </a:rPr>
              <a:t>在低地址单元，高字节在高地址单元！</a:t>
            </a:r>
            <a:endParaRPr lang="zh-CN" altLang="en-US" dirty="0">
              <a:solidFill>
                <a:srgbClr val="FF00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416848" y="1052736"/>
            <a:ext cx="3657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0" hangingPunct="0">
              <a:lnSpc>
                <a:spcPct val="120000"/>
              </a:lnSpc>
            </a:pPr>
            <a:r>
              <a:rPr lang="en-US" altLang="zh-CN" sz="2000" dirty="0">
                <a:solidFill>
                  <a:srgbClr val="000000"/>
                </a:solidFill>
                <a:latin typeface="Lucida Console" panose="020B0609040504020204" pitchFamily="49" charset="0"/>
              </a:rPr>
              <a:t>ARRAY  DB  ‘HELLO’</a:t>
            </a:r>
            <a:endParaRPr lang="en-US" altLang="zh-CN" sz="2000" dirty="0">
              <a:solidFill>
                <a:srgbClr val="000000"/>
              </a:solidFill>
              <a:latin typeface="Lucida Console" panose="020B0609040504020204" pitchFamily="49" charset="0"/>
            </a:endParaRPr>
          </a:p>
          <a:p>
            <a:pPr algn="just" eaLnBrk="0" hangingPunct="0">
              <a:lnSpc>
                <a:spcPct val="120000"/>
              </a:lnSpc>
            </a:pPr>
            <a:r>
              <a:rPr lang="en-US" altLang="zh-CN" sz="2000" dirty="0">
                <a:solidFill>
                  <a:srgbClr val="FF0000"/>
                </a:solidFill>
                <a:latin typeface="Lucida Console" panose="020B0609040504020204" pitchFamily="49" charset="0"/>
              </a:rPr>
              <a:t>       DB  ‘AB’	</a:t>
            </a:r>
            <a:endParaRPr lang="en-US" altLang="zh-CN" sz="2000" dirty="0">
              <a:solidFill>
                <a:srgbClr val="FF0000"/>
              </a:solidFill>
              <a:latin typeface="Lucida Console" panose="020B0609040504020204" pitchFamily="49" charset="0"/>
            </a:endParaRPr>
          </a:p>
          <a:p>
            <a:pPr algn="just" eaLnBrk="0" hangingPunct="0">
              <a:lnSpc>
                <a:spcPct val="120000"/>
              </a:lnSpc>
            </a:pPr>
            <a:r>
              <a:rPr lang="en-US" altLang="zh-CN" sz="2000" dirty="0">
                <a:solidFill>
                  <a:srgbClr val="FF0000"/>
                </a:solidFill>
                <a:latin typeface="Lucida Console" panose="020B0609040504020204" pitchFamily="49" charset="0"/>
              </a:rPr>
              <a:t>       DW  ‘AB’     </a:t>
            </a:r>
            <a:endParaRPr lang="en-US" altLang="zh-CN" sz="2000" dirty="0">
              <a:solidFill>
                <a:srgbClr val="FF0000"/>
              </a:solidFill>
              <a:latin typeface="Lucida Console" panose="020B0609040504020204" pitchFamily="49" charset="0"/>
            </a:endParaRPr>
          </a:p>
        </p:txBody>
      </p:sp>
      <p:grpSp>
        <p:nvGrpSpPr>
          <p:cNvPr id="5" name="组合 4"/>
          <p:cNvGrpSpPr/>
          <p:nvPr/>
        </p:nvGrpSpPr>
        <p:grpSpPr>
          <a:xfrm>
            <a:off x="980728" y="2986535"/>
            <a:ext cx="2286000" cy="3429000"/>
            <a:chOff x="5486400" y="1088740"/>
            <a:chExt cx="2286000" cy="3429000"/>
          </a:xfrm>
        </p:grpSpPr>
        <p:grpSp>
          <p:nvGrpSpPr>
            <p:cNvPr id="18435" name="Group 3"/>
            <p:cNvGrpSpPr/>
            <p:nvPr/>
          </p:nvGrpSpPr>
          <p:grpSpPr bwMode="auto">
            <a:xfrm>
              <a:off x="7010400" y="1393540"/>
              <a:ext cx="762000" cy="2787650"/>
              <a:chOff x="4176" y="2352"/>
              <a:chExt cx="480" cy="1756"/>
            </a:xfrm>
          </p:grpSpPr>
          <p:grpSp>
            <p:nvGrpSpPr>
              <p:cNvPr id="18436" name="Group 4"/>
              <p:cNvGrpSpPr/>
              <p:nvPr/>
            </p:nvGrpSpPr>
            <p:grpSpPr bwMode="auto">
              <a:xfrm>
                <a:off x="4176" y="2352"/>
                <a:ext cx="480" cy="220"/>
                <a:chOff x="4176" y="2352"/>
                <a:chExt cx="480" cy="220"/>
              </a:xfrm>
            </p:grpSpPr>
            <p:sp>
              <p:nvSpPr>
                <p:cNvPr id="18437" name="Rectangle 5"/>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38" name="Text Box 6"/>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00"/>
                      </a:solidFill>
                      <a:latin typeface="Lucida Console" panose="020B0609040504020204" pitchFamily="49" charset="0"/>
                    </a:rPr>
                    <a:t> </a:t>
                  </a:r>
                  <a:r>
                    <a:rPr lang="en-US" altLang="zh-CN" sz="1600" b="1">
                      <a:solidFill>
                        <a:srgbClr val="000000"/>
                      </a:solidFill>
                      <a:latin typeface="Lucida Console" panose="020B0609040504020204" pitchFamily="49" charset="0"/>
                    </a:rPr>
                    <a:t>48H</a:t>
                  </a:r>
                  <a:endParaRPr lang="en-US" altLang="zh-CN" sz="1600" b="1">
                    <a:solidFill>
                      <a:srgbClr val="000000"/>
                    </a:solidFill>
                    <a:latin typeface="Lucida Console" panose="020B0609040504020204" pitchFamily="49" charset="0"/>
                  </a:endParaRPr>
                </a:p>
              </p:txBody>
            </p:sp>
          </p:grpSp>
          <p:grpSp>
            <p:nvGrpSpPr>
              <p:cNvPr id="18439" name="Group 7"/>
              <p:cNvGrpSpPr/>
              <p:nvPr/>
            </p:nvGrpSpPr>
            <p:grpSpPr bwMode="auto">
              <a:xfrm>
                <a:off x="4176" y="2544"/>
                <a:ext cx="480" cy="220"/>
                <a:chOff x="4176" y="2352"/>
                <a:chExt cx="480" cy="220"/>
              </a:xfrm>
            </p:grpSpPr>
            <p:sp>
              <p:nvSpPr>
                <p:cNvPr id="18440" name="Rectangle 8"/>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41" name="Text Box 9"/>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00"/>
                      </a:solidFill>
                      <a:latin typeface="Lucida Console" panose="020B0609040504020204" pitchFamily="49" charset="0"/>
                    </a:rPr>
                    <a:t> </a:t>
                  </a:r>
                  <a:r>
                    <a:rPr lang="en-US" altLang="zh-CN" sz="1600" b="1">
                      <a:solidFill>
                        <a:srgbClr val="000000"/>
                      </a:solidFill>
                      <a:latin typeface="Lucida Console" panose="020B0609040504020204" pitchFamily="49" charset="0"/>
                    </a:rPr>
                    <a:t>45H</a:t>
                  </a:r>
                  <a:endParaRPr lang="en-US" altLang="zh-CN" sz="1600" b="1">
                    <a:solidFill>
                      <a:srgbClr val="000000"/>
                    </a:solidFill>
                    <a:latin typeface="Lucida Console" panose="020B0609040504020204" pitchFamily="49" charset="0"/>
                  </a:endParaRPr>
                </a:p>
              </p:txBody>
            </p:sp>
          </p:grpSp>
          <p:grpSp>
            <p:nvGrpSpPr>
              <p:cNvPr id="18442" name="Group 10"/>
              <p:cNvGrpSpPr/>
              <p:nvPr/>
            </p:nvGrpSpPr>
            <p:grpSpPr bwMode="auto">
              <a:xfrm>
                <a:off x="4176" y="2736"/>
                <a:ext cx="480" cy="220"/>
                <a:chOff x="4176" y="2352"/>
                <a:chExt cx="480" cy="220"/>
              </a:xfrm>
            </p:grpSpPr>
            <p:sp>
              <p:nvSpPr>
                <p:cNvPr id="18443" name="Rectangle 11"/>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44" name="Text Box 12"/>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solidFill>
                        <a:srgbClr val="000000"/>
                      </a:solidFill>
                      <a:latin typeface="Lucida Console" panose="020B0609040504020204" pitchFamily="49" charset="0"/>
                    </a:rPr>
                    <a:t> </a:t>
                  </a:r>
                  <a:r>
                    <a:rPr lang="en-US" altLang="zh-CN" sz="1600" b="1" dirty="0">
                      <a:solidFill>
                        <a:srgbClr val="000000"/>
                      </a:solidFill>
                      <a:latin typeface="Lucida Console" panose="020B0609040504020204" pitchFamily="49" charset="0"/>
                    </a:rPr>
                    <a:t>4CH</a:t>
                  </a:r>
                  <a:endParaRPr lang="en-US" altLang="zh-CN" sz="1600" b="1" dirty="0">
                    <a:solidFill>
                      <a:srgbClr val="000000"/>
                    </a:solidFill>
                    <a:latin typeface="Lucida Console" panose="020B0609040504020204" pitchFamily="49" charset="0"/>
                  </a:endParaRPr>
                </a:p>
              </p:txBody>
            </p:sp>
          </p:grpSp>
          <p:grpSp>
            <p:nvGrpSpPr>
              <p:cNvPr id="18445" name="Group 13"/>
              <p:cNvGrpSpPr/>
              <p:nvPr/>
            </p:nvGrpSpPr>
            <p:grpSpPr bwMode="auto">
              <a:xfrm>
                <a:off x="4176" y="2928"/>
                <a:ext cx="480" cy="220"/>
                <a:chOff x="4176" y="2352"/>
                <a:chExt cx="480" cy="220"/>
              </a:xfrm>
            </p:grpSpPr>
            <p:sp>
              <p:nvSpPr>
                <p:cNvPr id="18446" name="Rectangle 14"/>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47" name="Text Box 15"/>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00"/>
                      </a:solidFill>
                      <a:latin typeface="Lucida Console" panose="020B0609040504020204" pitchFamily="49" charset="0"/>
                    </a:rPr>
                    <a:t> </a:t>
                  </a:r>
                  <a:r>
                    <a:rPr lang="en-US" altLang="zh-CN" sz="1600" b="1">
                      <a:solidFill>
                        <a:srgbClr val="000000"/>
                      </a:solidFill>
                      <a:latin typeface="Lucida Console" panose="020B0609040504020204" pitchFamily="49" charset="0"/>
                    </a:rPr>
                    <a:t>4CH</a:t>
                  </a:r>
                  <a:endParaRPr lang="en-US" altLang="zh-CN" sz="1600" b="1">
                    <a:solidFill>
                      <a:srgbClr val="000000"/>
                    </a:solidFill>
                    <a:latin typeface="Lucida Console" panose="020B0609040504020204" pitchFamily="49" charset="0"/>
                  </a:endParaRPr>
                </a:p>
              </p:txBody>
            </p:sp>
          </p:grpSp>
          <p:grpSp>
            <p:nvGrpSpPr>
              <p:cNvPr id="18448" name="Group 16"/>
              <p:cNvGrpSpPr/>
              <p:nvPr/>
            </p:nvGrpSpPr>
            <p:grpSpPr bwMode="auto">
              <a:xfrm>
                <a:off x="4176" y="3120"/>
                <a:ext cx="480" cy="220"/>
                <a:chOff x="4176" y="2352"/>
                <a:chExt cx="480" cy="220"/>
              </a:xfrm>
            </p:grpSpPr>
            <p:sp>
              <p:nvSpPr>
                <p:cNvPr id="18449" name="Rectangle 17"/>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50" name="Text Box 18"/>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00"/>
                      </a:solidFill>
                      <a:latin typeface="Lucida Console" panose="020B0609040504020204" pitchFamily="49" charset="0"/>
                    </a:rPr>
                    <a:t> </a:t>
                  </a:r>
                  <a:r>
                    <a:rPr lang="en-US" altLang="zh-CN" sz="1600" b="1">
                      <a:solidFill>
                        <a:srgbClr val="000000"/>
                      </a:solidFill>
                      <a:latin typeface="Lucida Console" panose="020B0609040504020204" pitchFamily="49" charset="0"/>
                    </a:rPr>
                    <a:t>4FH</a:t>
                  </a:r>
                  <a:endParaRPr lang="en-US" altLang="zh-CN" sz="1600" b="1">
                    <a:solidFill>
                      <a:srgbClr val="000000"/>
                    </a:solidFill>
                    <a:latin typeface="Lucida Console" panose="020B0609040504020204" pitchFamily="49" charset="0"/>
                  </a:endParaRPr>
                </a:p>
              </p:txBody>
            </p:sp>
          </p:grpSp>
          <p:grpSp>
            <p:nvGrpSpPr>
              <p:cNvPr id="18451" name="Group 19"/>
              <p:cNvGrpSpPr/>
              <p:nvPr/>
            </p:nvGrpSpPr>
            <p:grpSpPr bwMode="auto">
              <a:xfrm>
                <a:off x="4176" y="3312"/>
                <a:ext cx="480" cy="220"/>
                <a:chOff x="4176" y="2352"/>
                <a:chExt cx="480" cy="220"/>
              </a:xfrm>
            </p:grpSpPr>
            <p:sp>
              <p:nvSpPr>
                <p:cNvPr id="18452" name="Rectangle 20"/>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53" name="Text Box 21"/>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solidFill>
                        <a:srgbClr val="000000"/>
                      </a:solidFill>
                      <a:latin typeface="Lucida Console" panose="020B0609040504020204" pitchFamily="49" charset="0"/>
                    </a:rPr>
                    <a:t> </a:t>
                  </a:r>
                  <a:r>
                    <a:rPr lang="en-US" altLang="zh-CN" sz="1600" b="1" dirty="0">
                      <a:solidFill>
                        <a:srgbClr val="000000"/>
                      </a:solidFill>
                      <a:latin typeface="Lucida Console" panose="020B0609040504020204" pitchFamily="49" charset="0"/>
                    </a:rPr>
                    <a:t>41H</a:t>
                  </a:r>
                  <a:endParaRPr lang="en-US" altLang="zh-CN" sz="1600" b="1" dirty="0">
                    <a:solidFill>
                      <a:srgbClr val="000000"/>
                    </a:solidFill>
                    <a:latin typeface="Lucida Console" panose="020B0609040504020204" pitchFamily="49" charset="0"/>
                  </a:endParaRPr>
                </a:p>
              </p:txBody>
            </p:sp>
          </p:grpSp>
          <p:grpSp>
            <p:nvGrpSpPr>
              <p:cNvPr id="18454" name="Group 22"/>
              <p:cNvGrpSpPr/>
              <p:nvPr/>
            </p:nvGrpSpPr>
            <p:grpSpPr bwMode="auto">
              <a:xfrm>
                <a:off x="4176" y="3504"/>
                <a:ext cx="480" cy="220"/>
                <a:chOff x="4176" y="2352"/>
                <a:chExt cx="480" cy="220"/>
              </a:xfrm>
            </p:grpSpPr>
            <p:sp>
              <p:nvSpPr>
                <p:cNvPr id="18455" name="Rectangle 23"/>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56" name="Text Box 24"/>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00"/>
                      </a:solidFill>
                      <a:latin typeface="Lucida Console" panose="020B0609040504020204" pitchFamily="49" charset="0"/>
                    </a:rPr>
                    <a:t> </a:t>
                  </a:r>
                  <a:r>
                    <a:rPr lang="en-US" altLang="zh-CN" sz="1600" b="1">
                      <a:solidFill>
                        <a:srgbClr val="000000"/>
                      </a:solidFill>
                      <a:latin typeface="Lucida Console" panose="020B0609040504020204" pitchFamily="49" charset="0"/>
                    </a:rPr>
                    <a:t>42H</a:t>
                  </a:r>
                  <a:endParaRPr lang="en-US" altLang="zh-CN" sz="1600" b="1">
                    <a:solidFill>
                      <a:srgbClr val="000000"/>
                    </a:solidFill>
                    <a:latin typeface="Lucida Console" panose="020B0609040504020204" pitchFamily="49" charset="0"/>
                  </a:endParaRPr>
                </a:p>
              </p:txBody>
            </p:sp>
          </p:grpSp>
          <p:grpSp>
            <p:nvGrpSpPr>
              <p:cNvPr id="18457" name="Group 25"/>
              <p:cNvGrpSpPr/>
              <p:nvPr/>
            </p:nvGrpSpPr>
            <p:grpSpPr bwMode="auto">
              <a:xfrm>
                <a:off x="4176" y="3696"/>
                <a:ext cx="480" cy="220"/>
                <a:chOff x="4176" y="2352"/>
                <a:chExt cx="480" cy="220"/>
              </a:xfrm>
            </p:grpSpPr>
            <p:sp>
              <p:nvSpPr>
                <p:cNvPr id="18458" name="Rectangle 26"/>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59" name="Text Box 27"/>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00"/>
                      </a:solidFill>
                      <a:latin typeface="Lucida Console" panose="020B0609040504020204" pitchFamily="49" charset="0"/>
                    </a:rPr>
                    <a:t> </a:t>
                  </a:r>
                  <a:r>
                    <a:rPr lang="en-US" altLang="zh-CN" sz="1600" b="1">
                      <a:solidFill>
                        <a:srgbClr val="000000"/>
                      </a:solidFill>
                      <a:latin typeface="Lucida Console" panose="020B0609040504020204" pitchFamily="49" charset="0"/>
                    </a:rPr>
                    <a:t>42H</a:t>
                  </a:r>
                  <a:endParaRPr lang="en-US" altLang="zh-CN" sz="1600" b="1">
                    <a:solidFill>
                      <a:srgbClr val="000000"/>
                    </a:solidFill>
                    <a:latin typeface="Lucida Console" panose="020B0609040504020204" pitchFamily="49" charset="0"/>
                  </a:endParaRPr>
                </a:p>
              </p:txBody>
            </p:sp>
          </p:grpSp>
          <p:grpSp>
            <p:nvGrpSpPr>
              <p:cNvPr id="18460" name="Group 28"/>
              <p:cNvGrpSpPr/>
              <p:nvPr/>
            </p:nvGrpSpPr>
            <p:grpSpPr bwMode="auto">
              <a:xfrm>
                <a:off x="4176" y="3888"/>
                <a:ext cx="480" cy="220"/>
                <a:chOff x="4176" y="2352"/>
                <a:chExt cx="480" cy="220"/>
              </a:xfrm>
            </p:grpSpPr>
            <p:sp>
              <p:nvSpPr>
                <p:cNvPr id="18461" name="Rectangle 29"/>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62" name="Text Box 30"/>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solidFill>
                        <a:srgbClr val="000000"/>
                      </a:solidFill>
                      <a:latin typeface="Lucida Console" panose="020B0609040504020204" pitchFamily="49" charset="0"/>
                    </a:rPr>
                    <a:t> 41H</a:t>
                  </a:r>
                  <a:endParaRPr lang="en-US" altLang="zh-CN" sz="1600" b="1">
                    <a:solidFill>
                      <a:srgbClr val="000000"/>
                    </a:solidFill>
                    <a:latin typeface="Lucida Console" panose="020B0609040504020204" pitchFamily="49" charset="0"/>
                  </a:endParaRPr>
                </a:p>
              </p:txBody>
            </p:sp>
          </p:grpSp>
        </p:grpSp>
        <p:sp>
          <p:nvSpPr>
            <p:cNvPr id="18463" name="Line 31"/>
            <p:cNvSpPr>
              <a:spLocks noChangeShapeType="1"/>
            </p:cNvSpPr>
            <p:nvPr/>
          </p:nvSpPr>
          <p:spPr bwMode="auto">
            <a:xfrm>
              <a:off x="7772400" y="1088740"/>
              <a:ext cx="0" cy="381000"/>
            </a:xfrm>
            <a:prstGeom prst="line">
              <a:avLst/>
            </a:prstGeom>
            <a:noFill/>
            <a:ln w="127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8464" name="Line 32"/>
            <p:cNvSpPr>
              <a:spLocks noChangeShapeType="1"/>
            </p:cNvSpPr>
            <p:nvPr/>
          </p:nvSpPr>
          <p:spPr bwMode="auto">
            <a:xfrm>
              <a:off x="7010400" y="1088740"/>
              <a:ext cx="0" cy="381000"/>
            </a:xfrm>
            <a:prstGeom prst="line">
              <a:avLst/>
            </a:prstGeom>
            <a:noFill/>
            <a:ln w="127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8465" name="Line 33"/>
            <p:cNvSpPr>
              <a:spLocks noChangeShapeType="1"/>
            </p:cNvSpPr>
            <p:nvPr/>
          </p:nvSpPr>
          <p:spPr bwMode="auto">
            <a:xfrm>
              <a:off x="7772400" y="4136740"/>
              <a:ext cx="0" cy="381000"/>
            </a:xfrm>
            <a:prstGeom prst="line">
              <a:avLst/>
            </a:prstGeom>
            <a:noFill/>
            <a:ln w="127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8466" name="Line 34"/>
            <p:cNvSpPr>
              <a:spLocks noChangeShapeType="1"/>
            </p:cNvSpPr>
            <p:nvPr/>
          </p:nvSpPr>
          <p:spPr bwMode="auto">
            <a:xfrm>
              <a:off x="7010400" y="4136740"/>
              <a:ext cx="0" cy="381000"/>
            </a:xfrm>
            <a:prstGeom prst="line">
              <a:avLst/>
            </a:prstGeom>
            <a:noFill/>
            <a:ln w="127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8467" name="Text Box 35"/>
            <p:cNvSpPr txBox="1">
              <a:spLocks noChangeArrowheads="1"/>
            </p:cNvSpPr>
            <p:nvPr/>
          </p:nvSpPr>
          <p:spPr bwMode="auto">
            <a:xfrm>
              <a:off x="5486400" y="1393540"/>
              <a:ext cx="16764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solidFill>
                    <a:srgbClr val="000000"/>
                  </a:solidFill>
                  <a:latin typeface="Lucida Console" panose="020B0609040504020204" pitchFamily="49" charset="0"/>
                </a:rPr>
                <a:t>    </a:t>
              </a:r>
              <a:r>
                <a:rPr lang="en-US" altLang="zh-CN" sz="1600" b="1" dirty="0">
                  <a:solidFill>
                    <a:srgbClr val="000000"/>
                  </a:solidFill>
                  <a:latin typeface="Lucida Console" panose="020B0609040504020204" pitchFamily="49" charset="0"/>
                </a:rPr>
                <a:t>ARRAY </a:t>
              </a:r>
              <a:r>
                <a:rPr lang="en-US" altLang="zh-CN" sz="1600" b="1" dirty="0">
                  <a:solidFill>
                    <a:srgbClr val="000000"/>
                  </a:solidFill>
                  <a:latin typeface="Lucida Console" panose="020B0609040504020204" pitchFamily="49" charset="0"/>
                  <a:sym typeface="Symbol" panose="05050102010706020507" pitchFamily="18" charset="2"/>
                </a:rPr>
                <a:t></a:t>
              </a:r>
              <a:endParaRPr lang="en-US" altLang="zh-CN" sz="1600" b="1" dirty="0">
                <a:solidFill>
                  <a:srgbClr val="000000"/>
                </a:solidFill>
                <a:latin typeface="Lucida Console" panose="020B0609040504020204" pitchFamily="49" charset="0"/>
              </a:endParaRPr>
            </a:p>
          </p:txBody>
        </p:sp>
      </p:grpSp>
      <p:sp>
        <p:nvSpPr>
          <p:cNvPr id="3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上箭头 1"/>
          <p:cNvSpPr/>
          <p:nvPr/>
        </p:nvSpPr>
        <p:spPr bwMode="auto">
          <a:xfrm rot="16200000">
            <a:off x="3113125" y="1293391"/>
            <a:ext cx="504056" cy="958850"/>
          </a:xfrm>
          <a:prstGeom prst="upArrow">
            <a:avLst/>
          </a:prstGeom>
          <a:solidFill>
            <a:schemeClr val="bg1"/>
          </a:solidFill>
          <a:ln w="9525" cap="flat" cmpd="sng" algn="ctr">
            <a:solidFill>
              <a:srgbClr val="FF0000"/>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3" name="TextBox 2"/>
          <p:cNvSpPr txBox="1"/>
          <p:nvPr/>
        </p:nvSpPr>
        <p:spPr>
          <a:xfrm>
            <a:off x="3846674" y="1521298"/>
            <a:ext cx="1112805" cy="461665"/>
          </a:xfrm>
          <a:prstGeom prst="rect">
            <a:avLst/>
          </a:prstGeom>
          <a:noFill/>
        </p:spPr>
        <p:txBody>
          <a:bodyPr wrap="none" rtlCol="0">
            <a:spAutoFit/>
          </a:bodyPr>
          <a:lstStyle/>
          <a:p>
            <a:r>
              <a:rPr lang="zh-CN" altLang="en-US" dirty="0"/>
              <a:t>区别？</a:t>
            </a:r>
            <a:endParaRPr lang="zh-CN" altLang="en-US" dirty="0"/>
          </a:p>
        </p:txBody>
      </p:sp>
      <p:pic>
        <p:nvPicPr>
          <p:cNvPr id="2355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44108" y="932310"/>
            <a:ext cx="3333750" cy="5676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635855" y="3953273"/>
            <a:ext cx="590242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eaLnBrk="0" hangingPunct="0">
              <a:lnSpc>
                <a:spcPct val="120000"/>
              </a:lnSpc>
            </a:pPr>
            <a:r>
              <a:rPr lang="zh-CN" altLang="en-US" sz="2000" dirty="0">
                <a:solidFill>
                  <a:srgbClr val="000000"/>
                </a:solidFill>
                <a:latin typeface="Lucida Console" panose="020B0609040504020204" pitchFamily="49" charset="0"/>
              </a:rPr>
              <a:t>例：</a:t>
            </a:r>
            <a:endParaRPr lang="en-US" altLang="zh-CN" sz="2000" dirty="0">
              <a:solidFill>
                <a:srgbClr val="000000"/>
              </a:solidFill>
              <a:latin typeface="Lucida Console" panose="020B0609040504020204" pitchFamily="49" charset="0"/>
            </a:endParaRPr>
          </a:p>
          <a:p>
            <a:pPr algn="just" eaLnBrk="0" hangingPunct="0">
              <a:lnSpc>
                <a:spcPct val="120000"/>
              </a:lnSpc>
            </a:pPr>
            <a:r>
              <a:rPr lang="en-US" altLang="zh-CN" sz="2000" dirty="0">
                <a:solidFill>
                  <a:srgbClr val="000000"/>
                </a:solidFill>
                <a:latin typeface="Lucida Console" panose="020B0609040504020204" pitchFamily="49" charset="0"/>
              </a:rPr>
              <a:t>ARRAY1 DB  2    DUP(0,1,2,?)</a:t>
            </a:r>
            <a:endParaRPr lang="en-US" altLang="zh-CN" sz="2000" dirty="0">
              <a:solidFill>
                <a:srgbClr val="000000"/>
              </a:solidFill>
              <a:latin typeface="Lucida Console" panose="020B0609040504020204" pitchFamily="49" charset="0"/>
            </a:endParaRPr>
          </a:p>
          <a:p>
            <a:pPr algn="just" eaLnBrk="0" hangingPunct="0">
              <a:lnSpc>
                <a:spcPct val="120000"/>
              </a:lnSpc>
            </a:pPr>
            <a:r>
              <a:rPr lang="en-US" altLang="zh-CN" sz="2000" dirty="0">
                <a:solidFill>
                  <a:srgbClr val="000000"/>
                </a:solidFill>
                <a:latin typeface="Lucida Console" panose="020B0609040504020204" pitchFamily="49" charset="0"/>
              </a:rPr>
              <a:t>ARRAY2 DB  100  DUP(?)</a:t>
            </a:r>
            <a:endParaRPr lang="en-US" altLang="zh-CN" sz="2000" dirty="0">
              <a:solidFill>
                <a:srgbClr val="000000"/>
              </a:solidFill>
              <a:latin typeface="Lucida Console" panose="020B0609040504020204" pitchFamily="49" charset="0"/>
            </a:endParaRPr>
          </a:p>
        </p:txBody>
      </p:sp>
      <p:grpSp>
        <p:nvGrpSpPr>
          <p:cNvPr id="18435" name="Group 3"/>
          <p:cNvGrpSpPr/>
          <p:nvPr/>
        </p:nvGrpSpPr>
        <p:grpSpPr bwMode="auto">
          <a:xfrm>
            <a:off x="7220272" y="2581673"/>
            <a:ext cx="774700" cy="3681413"/>
            <a:chOff x="4176" y="2352"/>
            <a:chExt cx="488" cy="2319"/>
          </a:xfrm>
        </p:grpSpPr>
        <p:grpSp>
          <p:nvGrpSpPr>
            <p:cNvPr id="18436" name="Group 4"/>
            <p:cNvGrpSpPr/>
            <p:nvPr/>
          </p:nvGrpSpPr>
          <p:grpSpPr bwMode="auto">
            <a:xfrm>
              <a:off x="4176" y="2352"/>
              <a:ext cx="480" cy="220"/>
              <a:chOff x="4176" y="2352"/>
              <a:chExt cx="480" cy="220"/>
            </a:xfrm>
          </p:grpSpPr>
          <p:sp>
            <p:nvSpPr>
              <p:cNvPr id="18437" name="Rectangle 5"/>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38" name="Text Box 6"/>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solidFill>
                      <a:srgbClr val="000000"/>
                    </a:solidFill>
                    <a:latin typeface="Lucida Console" panose="020B0609040504020204" pitchFamily="49" charset="0"/>
                  </a:rPr>
                  <a:t> </a:t>
                </a:r>
                <a:r>
                  <a:rPr lang="en-US" altLang="zh-CN" sz="1600" b="1" dirty="0">
                    <a:solidFill>
                      <a:srgbClr val="000000"/>
                    </a:solidFill>
                    <a:latin typeface="Lucida Console" panose="020B0609040504020204" pitchFamily="49" charset="0"/>
                  </a:rPr>
                  <a:t>0</a:t>
                </a:r>
                <a:endParaRPr lang="en-US" altLang="zh-CN" sz="1600" b="1" dirty="0">
                  <a:solidFill>
                    <a:srgbClr val="000000"/>
                  </a:solidFill>
                  <a:latin typeface="Lucida Console" panose="020B0609040504020204" pitchFamily="49" charset="0"/>
                </a:endParaRPr>
              </a:p>
            </p:txBody>
          </p:sp>
        </p:grpSp>
        <p:grpSp>
          <p:nvGrpSpPr>
            <p:cNvPr id="18439" name="Group 7"/>
            <p:cNvGrpSpPr/>
            <p:nvPr/>
          </p:nvGrpSpPr>
          <p:grpSpPr bwMode="auto">
            <a:xfrm>
              <a:off x="4176" y="2544"/>
              <a:ext cx="480" cy="220"/>
              <a:chOff x="4176" y="2352"/>
              <a:chExt cx="480" cy="220"/>
            </a:xfrm>
          </p:grpSpPr>
          <p:sp>
            <p:nvSpPr>
              <p:cNvPr id="18440" name="Rectangle 8"/>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41" name="Text Box 9"/>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solidFill>
                      <a:srgbClr val="000000"/>
                    </a:solidFill>
                    <a:latin typeface="Lucida Console" panose="020B0609040504020204" pitchFamily="49" charset="0"/>
                  </a:rPr>
                  <a:t> </a:t>
                </a:r>
                <a:r>
                  <a:rPr lang="en-US" altLang="zh-CN" sz="1600" b="1" dirty="0">
                    <a:solidFill>
                      <a:srgbClr val="000000"/>
                    </a:solidFill>
                    <a:latin typeface="Lucida Console" panose="020B0609040504020204" pitchFamily="49" charset="0"/>
                  </a:rPr>
                  <a:t>1</a:t>
                </a:r>
                <a:endParaRPr lang="en-US" altLang="zh-CN" sz="1600" b="1" dirty="0">
                  <a:solidFill>
                    <a:srgbClr val="000000"/>
                  </a:solidFill>
                  <a:latin typeface="Lucida Console" panose="020B0609040504020204" pitchFamily="49" charset="0"/>
                </a:endParaRPr>
              </a:p>
            </p:txBody>
          </p:sp>
        </p:grpSp>
        <p:grpSp>
          <p:nvGrpSpPr>
            <p:cNvPr id="18442" name="Group 10"/>
            <p:cNvGrpSpPr/>
            <p:nvPr/>
          </p:nvGrpSpPr>
          <p:grpSpPr bwMode="auto">
            <a:xfrm>
              <a:off x="4176" y="2736"/>
              <a:ext cx="480" cy="220"/>
              <a:chOff x="4176" y="2352"/>
              <a:chExt cx="480" cy="220"/>
            </a:xfrm>
          </p:grpSpPr>
          <p:sp>
            <p:nvSpPr>
              <p:cNvPr id="18443" name="Rectangle 11"/>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44" name="Text Box 12"/>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solidFill>
                      <a:srgbClr val="000000"/>
                    </a:solidFill>
                    <a:latin typeface="Lucida Console" panose="020B0609040504020204" pitchFamily="49" charset="0"/>
                  </a:rPr>
                  <a:t> </a:t>
                </a:r>
                <a:r>
                  <a:rPr lang="en-US" altLang="zh-CN" sz="1600" b="1" dirty="0">
                    <a:solidFill>
                      <a:srgbClr val="000000"/>
                    </a:solidFill>
                    <a:latin typeface="Lucida Console" panose="020B0609040504020204" pitchFamily="49" charset="0"/>
                  </a:rPr>
                  <a:t>2</a:t>
                </a:r>
                <a:endParaRPr lang="en-US" altLang="zh-CN" sz="1600" b="1" dirty="0">
                  <a:solidFill>
                    <a:srgbClr val="000000"/>
                  </a:solidFill>
                  <a:latin typeface="Lucida Console" panose="020B0609040504020204" pitchFamily="49" charset="0"/>
                </a:endParaRPr>
              </a:p>
            </p:txBody>
          </p:sp>
        </p:grpSp>
        <p:grpSp>
          <p:nvGrpSpPr>
            <p:cNvPr id="18445" name="Group 13"/>
            <p:cNvGrpSpPr/>
            <p:nvPr/>
          </p:nvGrpSpPr>
          <p:grpSpPr bwMode="auto">
            <a:xfrm>
              <a:off x="4176" y="2928"/>
              <a:ext cx="480" cy="220"/>
              <a:chOff x="4176" y="2352"/>
              <a:chExt cx="480" cy="220"/>
            </a:xfrm>
          </p:grpSpPr>
          <p:sp>
            <p:nvSpPr>
              <p:cNvPr id="18446" name="Rectangle 14"/>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47" name="Text Box 15"/>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solidFill>
                      <a:srgbClr val="000000"/>
                    </a:solidFill>
                    <a:latin typeface="Lucida Console" panose="020B0609040504020204" pitchFamily="49" charset="0"/>
                  </a:rPr>
                  <a:t> -</a:t>
                </a:r>
                <a:endParaRPr lang="en-US" altLang="zh-CN" sz="1600" b="1" dirty="0">
                  <a:solidFill>
                    <a:srgbClr val="000000"/>
                  </a:solidFill>
                  <a:latin typeface="Lucida Console" panose="020B0609040504020204" pitchFamily="49" charset="0"/>
                </a:endParaRPr>
              </a:p>
            </p:txBody>
          </p:sp>
        </p:grpSp>
        <p:grpSp>
          <p:nvGrpSpPr>
            <p:cNvPr id="18448" name="Group 16"/>
            <p:cNvGrpSpPr/>
            <p:nvPr/>
          </p:nvGrpSpPr>
          <p:grpSpPr bwMode="auto">
            <a:xfrm>
              <a:off x="4176" y="3120"/>
              <a:ext cx="480" cy="220"/>
              <a:chOff x="4176" y="2352"/>
              <a:chExt cx="480" cy="220"/>
            </a:xfrm>
          </p:grpSpPr>
          <p:sp>
            <p:nvSpPr>
              <p:cNvPr id="18449" name="Rectangle 17"/>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50" name="Text Box 18"/>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solidFill>
                      <a:srgbClr val="000000"/>
                    </a:solidFill>
                    <a:latin typeface="Lucida Console" panose="020B0609040504020204" pitchFamily="49" charset="0"/>
                  </a:rPr>
                  <a:t> </a:t>
                </a:r>
                <a:r>
                  <a:rPr lang="en-US" altLang="zh-CN" sz="1600" b="1" dirty="0">
                    <a:solidFill>
                      <a:srgbClr val="000000"/>
                    </a:solidFill>
                    <a:latin typeface="Lucida Console" panose="020B0609040504020204" pitchFamily="49" charset="0"/>
                  </a:rPr>
                  <a:t>0</a:t>
                </a:r>
                <a:endParaRPr lang="en-US" altLang="zh-CN" sz="1600" b="1" dirty="0">
                  <a:solidFill>
                    <a:srgbClr val="000000"/>
                  </a:solidFill>
                  <a:latin typeface="Lucida Console" panose="020B0609040504020204" pitchFamily="49" charset="0"/>
                </a:endParaRPr>
              </a:p>
            </p:txBody>
          </p:sp>
        </p:grpSp>
        <p:grpSp>
          <p:nvGrpSpPr>
            <p:cNvPr id="18451" name="Group 19"/>
            <p:cNvGrpSpPr/>
            <p:nvPr/>
          </p:nvGrpSpPr>
          <p:grpSpPr bwMode="auto">
            <a:xfrm>
              <a:off x="4176" y="3312"/>
              <a:ext cx="480" cy="220"/>
              <a:chOff x="4176" y="2352"/>
              <a:chExt cx="480" cy="220"/>
            </a:xfrm>
          </p:grpSpPr>
          <p:sp>
            <p:nvSpPr>
              <p:cNvPr id="18452" name="Rectangle 20"/>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53" name="Text Box 21"/>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solidFill>
                      <a:srgbClr val="000000"/>
                    </a:solidFill>
                    <a:latin typeface="Lucida Console" panose="020B0609040504020204" pitchFamily="49" charset="0"/>
                  </a:rPr>
                  <a:t> 1</a:t>
                </a:r>
                <a:endParaRPr lang="en-US" altLang="zh-CN" sz="1600" b="1" dirty="0">
                  <a:solidFill>
                    <a:srgbClr val="000000"/>
                  </a:solidFill>
                  <a:latin typeface="Lucida Console" panose="020B0609040504020204" pitchFamily="49" charset="0"/>
                </a:endParaRPr>
              </a:p>
            </p:txBody>
          </p:sp>
        </p:grpSp>
        <p:grpSp>
          <p:nvGrpSpPr>
            <p:cNvPr id="18454" name="Group 22"/>
            <p:cNvGrpSpPr/>
            <p:nvPr/>
          </p:nvGrpSpPr>
          <p:grpSpPr bwMode="auto">
            <a:xfrm>
              <a:off x="4176" y="3504"/>
              <a:ext cx="480" cy="220"/>
              <a:chOff x="4176" y="2352"/>
              <a:chExt cx="480" cy="220"/>
            </a:xfrm>
          </p:grpSpPr>
          <p:sp>
            <p:nvSpPr>
              <p:cNvPr id="18455" name="Rectangle 23"/>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56" name="Text Box 24"/>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solidFill>
                      <a:srgbClr val="000000"/>
                    </a:solidFill>
                    <a:latin typeface="Lucida Console" panose="020B0609040504020204" pitchFamily="49" charset="0"/>
                  </a:rPr>
                  <a:t> </a:t>
                </a:r>
                <a:r>
                  <a:rPr lang="en-US" altLang="zh-CN" sz="1600" b="1" dirty="0">
                    <a:solidFill>
                      <a:srgbClr val="000000"/>
                    </a:solidFill>
                    <a:latin typeface="Lucida Console" panose="020B0609040504020204" pitchFamily="49" charset="0"/>
                  </a:rPr>
                  <a:t>2</a:t>
                </a:r>
                <a:endParaRPr lang="en-US" altLang="zh-CN" sz="1600" b="1" dirty="0">
                  <a:solidFill>
                    <a:srgbClr val="000000"/>
                  </a:solidFill>
                  <a:latin typeface="Lucida Console" panose="020B0609040504020204" pitchFamily="49" charset="0"/>
                </a:endParaRPr>
              </a:p>
            </p:txBody>
          </p:sp>
        </p:grpSp>
        <p:grpSp>
          <p:nvGrpSpPr>
            <p:cNvPr id="18457" name="Group 25"/>
            <p:cNvGrpSpPr/>
            <p:nvPr/>
          </p:nvGrpSpPr>
          <p:grpSpPr bwMode="auto">
            <a:xfrm>
              <a:off x="4176" y="3696"/>
              <a:ext cx="480" cy="220"/>
              <a:chOff x="4176" y="2352"/>
              <a:chExt cx="480" cy="220"/>
            </a:xfrm>
          </p:grpSpPr>
          <p:sp>
            <p:nvSpPr>
              <p:cNvPr id="18458" name="Rectangle 26"/>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59" name="Text Box 27"/>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dirty="0">
                    <a:solidFill>
                      <a:srgbClr val="000000"/>
                    </a:solidFill>
                    <a:latin typeface="Lucida Console" panose="020B0609040504020204" pitchFamily="49" charset="0"/>
                  </a:rPr>
                  <a:t> -</a:t>
                </a:r>
                <a:endParaRPr lang="en-US" altLang="zh-CN" sz="1600" b="1" dirty="0">
                  <a:solidFill>
                    <a:srgbClr val="000000"/>
                  </a:solidFill>
                  <a:latin typeface="Lucida Console" panose="020B0609040504020204" pitchFamily="49" charset="0"/>
                </a:endParaRPr>
              </a:p>
            </p:txBody>
          </p:sp>
        </p:grpSp>
        <p:grpSp>
          <p:nvGrpSpPr>
            <p:cNvPr id="18460" name="Group 28"/>
            <p:cNvGrpSpPr/>
            <p:nvPr/>
          </p:nvGrpSpPr>
          <p:grpSpPr bwMode="auto">
            <a:xfrm>
              <a:off x="4176" y="3888"/>
              <a:ext cx="488" cy="783"/>
              <a:chOff x="4176" y="2352"/>
              <a:chExt cx="488" cy="783"/>
            </a:xfrm>
          </p:grpSpPr>
          <p:sp>
            <p:nvSpPr>
              <p:cNvPr id="18461" name="Rectangle 29"/>
              <p:cNvSpPr>
                <a:spLocks noChangeArrowheads="1"/>
              </p:cNvSpPr>
              <p:nvPr/>
            </p:nvSpPr>
            <p:spPr bwMode="auto">
              <a:xfrm>
                <a:off x="4176" y="2352"/>
                <a:ext cx="480" cy="192"/>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462" name="Text Box 30"/>
              <p:cNvSpPr txBox="1">
                <a:spLocks noChangeArrowheads="1"/>
              </p:cNvSpPr>
              <p:nvPr/>
            </p:nvSpPr>
            <p:spPr bwMode="auto">
              <a:xfrm>
                <a:off x="4176" y="2352"/>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dirty="0">
                    <a:solidFill>
                      <a:srgbClr val="000000"/>
                    </a:solidFill>
                    <a:latin typeface="Lucida Console" panose="020B0609040504020204" pitchFamily="49" charset="0"/>
                  </a:rPr>
                  <a:t> -</a:t>
                </a:r>
                <a:endParaRPr lang="en-US" altLang="zh-CN" sz="1600" b="1" dirty="0">
                  <a:solidFill>
                    <a:srgbClr val="000000"/>
                  </a:solidFill>
                  <a:latin typeface="Lucida Console" panose="020B0609040504020204" pitchFamily="49" charset="0"/>
                </a:endParaRPr>
              </a:p>
            </p:txBody>
          </p:sp>
          <p:sp>
            <p:nvSpPr>
              <p:cNvPr id="40" name="Text Box 30"/>
              <p:cNvSpPr txBox="1">
                <a:spLocks noChangeArrowheads="1"/>
              </p:cNvSpPr>
              <p:nvPr/>
            </p:nvSpPr>
            <p:spPr bwMode="auto">
              <a:xfrm>
                <a:off x="4184" y="2915"/>
                <a:ext cx="480" cy="220"/>
              </a:xfrm>
              <a:prstGeom prst="rect">
                <a:avLst/>
              </a:prstGeom>
              <a:noFill/>
              <a:ln w="12700" cap="sq">
                <a:solidFill>
                  <a:schemeClr val="bg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dirty="0">
                    <a:solidFill>
                      <a:srgbClr val="000000"/>
                    </a:solidFill>
                    <a:latin typeface="Lucida Console" panose="020B0609040504020204" pitchFamily="49" charset="0"/>
                  </a:rPr>
                  <a:t> -</a:t>
                </a:r>
                <a:endParaRPr lang="en-US" altLang="zh-CN" sz="1600" b="1" dirty="0">
                  <a:solidFill>
                    <a:srgbClr val="000000"/>
                  </a:solidFill>
                  <a:latin typeface="Lucida Console" panose="020B0609040504020204" pitchFamily="49" charset="0"/>
                </a:endParaRPr>
              </a:p>
            </p:txBody>
          </p:sp>
        </p:grpSp>
      </p:grpSp>
      <p:sp>
        <p:nvSpPr>
          <p:cNvPr id="18463" name="Line 31"/>
          <p:cNvSpPr>
            <a:spLocks noChangeShapeType="1"/>
          </p:cNvSpPr>
          <p:nvPr/>
        </p:nvSpPr>
        <p:spPr bwMode="auto">
          <a:xfrm>
            <a:off x="7982272" y="2276872"/>
            <a:ext cx="0" cy="381000"/>
          </a:xfrm>
          <a:prstGeom prst="line">
            <a:avLst/>
          </a:prstGeom>
          <a:noFill/>
          <a:ln w="127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8464" name="Line 32"/>
          <p:cNvSpPr>
            <a:spLocks noChangeShapeType="1"/>
          </p:cNvSpPr>
          <p:nvPr/>
        </p:nvSpPr>
        <p:spPr bwMode="auto">
          <a:xfrm>
            <a:off x="7220272" y="2276872"/>
            <a:ext cx="0" cy="381000"/>
          </a:xfrm>
          <a:prstGeom prst="line">
            <a:avLst/>
          </a:prstGeom>
          <a:noFill/>
          <a:ln w="127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8465" name="Line 33"/>
          <p:cNvSpPr>
            <a:spLocks noChangeShapeType="1"/>
          </p:cNvSpPr>
          <p:nvPr/>
        </p:nvSpPr>
        <p:spPr bwMode="auto">
          <a:xfrm>
            <a:off x="7982272" y="5324872"/>
            <a:ext cx="12700" cy="1092460"/>
          </a:xfrm>
          <a:prstGeom prst="line">
            <a:avLst/>
          </a:prstGeom>
          <a:noFill/>
          <a:ln w="127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18466" name="Line 34"/>
          <p:cNvSpPr>
            <a:spLocks noChangeShapeType="1"/>
          </p:cNvSpPr>
          <p:nvPr/>
        </p:nvSpPr>
        <p:spPr bwMode="auto">
          <a:xfrm>
            <a:off x="7220272" y="5324872"/>
            <a:ext cx="12700" cy="1092460"/>
          </a:xfrm>
          <a:prstGeom prst="line">
            <a:avLst/>
          </a:prstGeom>
          <a:noFill/>
          <a:ln w="12700"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18467" name="Text Box 35"/>
          <p:cNvSpPr txBox="1">
            <a:spLocks noChangeArrowheads="1"/>
          </p:cNvSpPr>
          <p:nvPr/>
        </p:nvSpPr>
        <p:spPr bwMode="auto">
          <a:xfrm>
            <a:off x="5544108" y="2581672"/>
            <a:ext cx="182856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600" dirty="0">
                <a:solidFill>
                  <a:srgbClr val="000000"/>
                </a:solidFill>
                <a:latin typeface="Lucida Console" panose="020B0609040504020204" pitchFamily="49" charset="0"/>
              </a:rPr>
              <a:t>    </a:t>
            </a:r>
            <a:r>
              <a:rPr lang="en-US" altLang="zh-CN" sz="1600" b="1" dirty="0">
                <a:solidFill>
                  <a:srgbClr val="000000"/>
                </a:solidFill>
                <a:latin typeface="Lucida Console" panose="020B0609040504020204" pitchFamily="49" charset="0"/>
              </a:rPr>
              <a:t>ARRAY1 </a:t>
            </a:r>
            <a:r>
              <a:rPr lang="en-US" altLang="zh-CN" sz="1600" b="1" dirty="0">
                <a:solidFill>
                  <a:srgbClr val="000000"/>
                </a:solidFill>
                <a:latin typeface="Lucida Console" panose="020B0609040504020204" pitchFamily="49" charset="0"/>
                <a:sym typeface="Symbol" panose="05050102010706020507" pitchFamily="18" charset="2"/>
              </a:rPr>
              <a:t></a:t>
            </a:r>
            <a:endParaRPr lang="en-US" altLang="zh-CN" sz="1600" b="1" dirty="0">
              <a:solidFill>
                <a:srgbClr val="000000"/>
              </a:solidFill>
              <a:latin typeface="Lucida Console" panose="020B0609040504020204" pitchFamily="49" charset="0"/>
            </a:endParaRPr>
          </a:p>
        </p:txBody>
      </p:sp>
      <p:sp>
        <p:nvSpPr>
          <p:cNvPr id="3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8" name="Rectangle 2"/>
          <p:cNvSpPr>
            <a:spLocks noChangeArrowheads="1"/>
          </p:cNvSpPr>
          <p:nvPr/>
        </p:nvSpPr>
        <p:spPr bwMode="auto">
          <a:xfrm>
            <a:off x="863588" y="995363"/>
            <a:ext cx="775084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000000"/>
                </a:solidFill>
              </a:rPr>
              <a:t>◆ </a:t>
            </a:r>
            <a:r>
              <a:rPr lang="zh-CN" altLang="en-US" dirty="0">
                <a:solidFill>
                  <a:srgbClr val="000000"/>
                </a:solidFill>
              </a:rPr>
              <a:t>复制操作符（与前面的数据定义操作符联合应用）：</a:t>
            </a:r>
            <a:endParaRPr lang="zh-CN" altLang="en-US" dirty="0">
              <a:solidFill>
                <a:srgbClr val="000000"/>
              </a:solidFill>
            </a:endParaRPr>
          </a:p>
        </p:txBody>
      </p:sp>
      <p:sp>
        <p:nvSpPr>
          <p:cNvPr id="39" name="Text Box 3"/>
          <p:cNvSpPr txBox="1">
            <a:spLocks noChangeArrowheads="1"/>
          </p:cNvSpPr>
          <p:nvPr/>
        </p:nvSpPr>
        <p:spPr bwMode="auto">
          <a:xfrm>
            <a:off x="685800" y="1533525"/>
            <a:ext cx="6934200" cy="414794"/>
          </a:xfrm>
          <a:prstGeom prst="rect">
            <a:avLst/>
          </a:prstGeom>
          <a:noFill/>
          <a:ln w="9525">
            <a:solidFill>
              <a:srgbClr val="FF0000"/>
            </a:solidFill>
            <a:prstDash val="solid"/>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eaLnBrk="0" hangingPunct="0">
              <a:lnSpc>
                <a:spcPct val="115000"/>
              </a:lnSpc>
            </a:pPr>
            <a:r>
              <a:rPr lang="en-US" altLang="zh-CN" sz="2000" b="0" dirty="0" err="1">
                <a:solidFill>
                  <a:srgbClr val="000000"/>
                </a:solidFill>
              </a:rPr>
              <a:t>Repeat_count</a:t>
            </a:r>
            <a:r>
              <a:rPr lang="en-US" altLang="zh-CN" sz="2000" b="0" dirty="0">
                <a:solidFill>
                  <a:srgbClr val="000000"/>
                </a:solidFill>
              </a:rPr>
              <a:t>  DUP</a:t>
            </a:r>
            <a:r>
              <a:rPr lang="zh-CN" altLang="en-US" sz="2000" b="0" dirty="0">
                <a:solidFill>
                  <a:srgbClr val="000000"/>
                </a:solidFill>
              </a:rPr>
              <a:t>   </a:t>
            </a:r>
            <a:r>
              <a:rPr lang="en-US" altLang="zh-CN" sz="2000" b="0" dirty="0">
                <a:solidFill>
                  <a:srgbClr val="000000"/>
                </a:solidFill>
              </a:rPr>
              <a:t>(</a:t>
            </a:r>
            <a:r>
              <a:rPr lang="zh-CN" altLang="en-US" sz="2000" b="0" dirty="0">
                <a:solidFill>
                  <a:srgbClr val="000000"/>
                </a:solidFill>
              </a:rPr>
              <a:t>操作数</a:t>
            </a:r>
            <a:r>
              <a:rPr lang="en-US" altLang="zh-CN" sz="2000" b="0" dirty="0">
                <a:solidFill>
                  <a:srgbClr val="000000"/>
                </a:solidFill>
              </a:rPr>
              <a:t>1, </a:t>
            </a:r>
            <a:r>
              <a:rPr lang="zh-CN" altLang="en-US" sz="2000" b="0" dirty="0">
                <a:solidFill>
                  <a:srgbClr val="000000"/>
                </a:solidFill>
              </a:rPr>
              <a:t>操作数</a:t>
            </a:r>
            <a:r>
              <a:rPr lang="en-US" altLang="zh-CN" sz="2000" b="0" dirty="0">
                <a:solidFill>
                  <a:srgbClr val="000000"/>
                </a:solidFill>
              </a:rPr>
              <a:t>2, … )  [ ; </a:t>
            </a:r>
            <a:r>
              <a:rPr lang="zh-CN" altLang="en-US" sz="2000" b="0" dirty="0">
                <a:solidFill>
                  <a:srgbClr val="000000"/>
                </a:solidFill>
                <a:ea typeface="楷体_GB2312" pitchFamily="49" charset="-122"/>
              </a:rPr>
              <a:t>注释</a:t>
            </a:r>
            <a:r>
              <a:rPr lang="en-US" altLang="zh-CN" sz="2000" b="0" dirty="0">
                <a:solidFill>
                  <a:srgbClr val="000000"/>
                </a:solidFill>
              </a:rPr>
              <a:t>] </a:t>
            </a:r>
            <a:endParaRPr lang="en-US" altLang="zh-CN" sz="2000" b="0" dirty="0">
              <a:solidFill>
                <a:srgbClr val="000000"/>
              </a:solidFill>
            </a:endParaRPr>
          </a:p>
        </p:txBody>
      </p:sp>
      <p:sp>
        <p:nvSpPr>
          <p:cNvPr id="41" name="右大括号 40"/>
          <p:cNvSpPr/>
          <p:nvPr/>
        </p:nvSpPr>
        <p:spPr>
          <a:xfrm>
            <a:off x="8090284" y="5064523"/>
            <a:ext cx="45719" cy="1181112"/>
          </a:xfrm>
          <a:prstGeom prst="rightBrace">
            <a:avLst>
              <a:gd name="adj1" fmla="val 17824"/>
              <a:gd name="adj2" fmla="val 50000"/>
            </a:avLst>
          </a:prstGeom>
          <a:noFill/>
          <a:ln w="12700" cap="sq" cmpd="sng">
            <a:solidFill>
              <a:schemeClr val="bg2"/>
            </a:solidFill>
            <a:prstDash val="solid"/>
            <a:headEnd type="none" w="sm" len="sm"/>
            <a:tailEnd type="none" w="sm" len="sm"/>
          </a:ln>
        </p:spPr>
        <p:txBody>
          <a:bodyPr wrap="square" anchor="ctr">
            <a:spAutoFit/>
          </a:bodyPr>
          <a:lstStyle/>
          <a:p>
            <a:pPr algn="ctr"/>
            <a:endParaRPr>
              <a:solidFill>
                <a:srgbClr val="000000"/>
              </a:solidFill>
              <a:latin typeface="Times New Roman" panose="02020603050405020304" pitchFamily="18" charset="0"/>
              <a:ea typeface="宋体" panose="02010600030101010101" pitchFamily="2" charset="-122"/>
            </a:endParaRPr>
          </a:p>
        </p:txBody>
      </p:sp>
      <p:sp>
        <p:nvSpPr>
          <p:cNvPr id="42" name="文本框 20502"/>
          <p:cNvSpPr txBox="1"/>
          <p:nvPr/>
        </p:nvSpPr>
        <p:spPr>
          <a:xfrm>
            <a:off x="8054280" y="5265204"/>
            <a:ext cx="838200" cy="707886"/>
          </a:xfrm>
          <a:prstGeom prst="rect">
            <a:avLst/>
          </a:prstGeom>
          <a:noFill/>
          <a:ln w="12700">
            <a:noFill/>
          </a:ln>
        </p:spPr>
        <p:txBody>
          <a:bodyPr>
            <a:spAutoFit/>
          </a:bodyPr>
          <a:lstStyle/>
          <a:p>
            <a:pPr>
              <a:spcBef>
                <a:spcPts val="0"/>
              </a:spcBef>
            </a:pPr>
            <a:r>
              <a:rPr lang="en-US" altLang="zh-CN" sz="2000" dirty="0">
                <a:solidFill>
                  <a:srgbClr val="000000"/>
                </a:solidFill>
                <a:latin typeface="Times New Roman" panose="02020603050405020304" pitchFamily="18" charset="0"/>
                <a:ea typeface="宋体" panose="02010600030101010101" pitchFamily="2" charset="-122"/>
              </a:rPr>
              <a:t>100</a:t>
            </a:r>
            <a:endParaRPr lang="en-US" altLang="zh-CN" sz="2000" dirty="0">
              <a:solidFill>
                <a:srgbClr val="000000"/>
              </a:solidFill>
              <a:latin typeface="Times New Roman" panose="02020603050405020304" pitchFamily="18" charset="0"/>
              <a:ea typeface="宋体" panose="02010600030101010101" pitchFamily="2" charset="-122"/>
            </a:endParaRPr>
          </a:p>
          <a:p>
            <a:pPr>
              <a:spcBef>
                <a:spcPts val="0"/>
              </a:spcBef>
            </a:pPr>
            <a:r>
              <a:rPr lang="zh-CN" altLang="en-US" sz="2000" dirty="0">
                <a:solidFill>
                  <a:srgbClr val="000000"/>
                </a:solidFill>
                <a:latin typeface="Times New Roman" panose="02020603050405020304" pitchFamily="18" charset="0"/>
                <a:ea typeface="宋体" panose="02010600030101010101" pitchFamily="2" charset="-122"/>
              </a:rPr>
              <a:t>字节</a:t>
            </a:r>
            <a:endParaRPr lang="zh-CN" altLang="en-US" sz="2000" dirty="0">
              <a:solidFill>
                <a:srgbClr val="000000"/>
              </a:solidFill>
              <a:latin typeface="Times New Roman" panose="02020603050405020304" pitchFamily="18" charset="0"/>
              <a:ea typeface="宋体" panose="02010600030101010101" pitchFamily="2" charset="-122"/>
            </a:endParaRPr>
          </a:p>
        </p:txBody>
      </p:sp>
      <p:sp>
        <p:nvSpPr>
          <p:cNvPr id="2" name="矩形 1"/>
          <p:cNvSpPr/>
          <p:nvPr/>
        </p:nvSpPr>
        <p:spPr>
          <a:xfrm>
            <a:off x="552048" y="5557591"/>
            <a:ext cx="6192688" cy="830997"/>
          </a:xfrm>
          <a:prstGeom prst="rect">
            <a:avLst/>
          </a:prstGeom>
        </p:spPr>
        <p:txBody>
          <a:bodyPr wrap="square">
            <a:spAutoFit/>
          </a:bodyPr>
          <a:lstStyle/>
          <a:p>
            <a:pPr algn="just" eaLnBrk="0" hangingPunct="0">
              <a:lnSpc>
                <a:spcPct val="120000"/>
              </a:lnSpc>
            </a:pPr>
            <a:r>
              <a:rPr lang="en-US" altLang="zh-CN" sz="2000" dirty="0">
                <a:solidFill>
                  <a:srgbClr val="FF0000"/>
                </a:solidFill>
                <a:latin typeface="Lucida Console" panose="020B0609040504020204" pitchFamily="49" charset="0"/>
              </a:rPr>
              <a:t>DUP</a:t>
            </a:r>
            <a:r>
              <a:rPr lang="zh-CN" altLang="en-US" sz="2000" dirty="0">
                <a:solidFill>
                  <a:srgbClr val="FF0000"/>
                </a:solidFill>
                <a:latin typeface="Lucida Console" panose="020B0609040504020204" pitchFamily="49" charset="0"/>
              </a:rPr>
              <a:t>指令可以嵌套使用：</a:t>
            </a:r>
            <a:endParaRPr lang="en-US" altLang="zh-CN" sz="2000" dirty="0">
              <a:solidFill>
                <a:srgbClr val="FF0000"/>
              </a:solidFill>
              <a:latin typeface="Lucida Console" panose="020B0609040504020204" pitchFamily="49" charset="0"/>
            </a:endParaRPr>
          </a:p>
          <a:p>
            <a:pPr algn="just" eaLnBrk="0" hangingPunct="0">
              <a:lnSpc>
                <a:spcPct val="120000"/>
              </a:lnSpc>
            </a:pPr>
            <a:r>
              <a:rPr lang="en-US" altLang="zh-CN" sz="2000" dirty="0">
                <a:solidFill>
                  <a:srgbClr val="000000"/>
                </a:solidFill>
                <a:latin typeface="Lucida Console" panose="020B0609040504020204" pitchFamily="49" charset="0"/>
              </a:rPr>
              <a:t>ARRAY3 DB  2 DUP(0,2 DUP(1,2),0,3)</a:t>
            </a:r>
            <a:endParaRPr lang="en-US" altLang="zh-CN" sz="2000" dirty="0">
              <a:solidFill>
                <a:srgbClr val="000000"/>
              </a:solidFill>
              <a:latin typeface="Lucida Console" panose="020B0609040504020204" pitchFamily="49" charset="0"/>
            </a:endParaRPr>
          </a:p>
        </p:txBody>
      </p:sp>
      <p:sp>
        <p:nvSpPr>
          <p:cNvPr id="3" name="矩形 2"/>
          <p:cNvSpPr/>
          <p:nvPr/>
        </p:nvSpPr>
        <p:spPr>
          <a:xfrm>
            <a:off x="635855" y="2045662"/>
            <a:ext cx="4952405" cy="1200329"/>
          </a:xfrm>
          <a:prstGeom prst="rect">
            <a:avLst/>
          </a:prstGeom>
        </p:spPr>
        <p:txBody>
          <a:bodyPr wrap="square">
            <a:spAutoFit/>
          </a:bodyPr>
          <a:lstStyle/>
          <a:p>
            <a:pPr algn="just"/>
            <a:r>
              <a:rPr lang="en-US" altLang="zh-CN" b="0" dirty="0" err="1">
                <a:solidFill>
                  <a:srgbClr val="000000"/>
                </a:solidFill>
              </a:rPr>
              <a:t>Repeat_count</a:t>
            </a:r>
            <a:r>
              <a:rPr lang="zh-CN" altLang="en-US" b="0" dirty="0">
                <a:solidFill>
                  <a:srgbClr val="000000"/>
                </a:solidFill>
              </a:rPr>
              <a:t>可以是一个值或表达式，必须是正整数，用来指定括号里操作数的重复次数。</a:t>
            </a:r>
            <a:endParaRPr lang="zh-CN" altLang="en-US" dirty="0"/>
          </a:p>
        </p:txBody>
      </p:sp>
      <p:sp>
        <p:nvSpPr>
          <p:cNvPr id="44" name="Text Box 35"/>
          <p:cNvSpPr txBox="1">
            <a:spLocks noChangeArrowheads="1"/>
          </p:cNvSpPr>
          <p:nvPr/>
        </p:nvSpPr>
        <p:spPr bwMode="auto">
          <a:xfrm>
            <a:off x="5544108" y="5034662"/>
            <a:ext cx="182856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1600" dirty="0">
                <a:solidFill>
                  <a:srgbClr val="000000"/>
                </a:solidFill>
                <a:latin typeface="Lucida Console" panose="020B0609040504020204" pitchFamily="49" charset="0"/>
              </a:rPr>
              <a:t>    </a:t>
            </a:r>
            <a:r>
              <a:rPr lang="en-US" altLang="zh-CN" sz="1600" b="1" dirty="0">
                <a:solidFill>
                  <a:srgbClr val="000000"/>
                </a:solidFill>
                <a:latin typeface="Lucida Console" panose="020B0609040504020204" pitchFamily="49" charset="0"/>
              </a:rPr>
              <a:t>ARRAY2 </a:t>
            </a:r>
            <a:r>
              <a:rPr lang="en-US" altLang="zh-CN" sz="1600" b="1" dirty="0">
                <a:solidFill>
                  <a:srgbClr val="000000"/>
                </a:solidFill>
                <a:latin typeface="Lucida Console" panose="020B0609040504020204" pitchFamily="49" charset="0"/>
                <a:sym typeface="Symbol" panose="05050102010706020507" pitchFamily="18" charset="2"/>
              </a:rPr>
              <a:t></a:t>
            </a:r>
            <a:endParaRPr lang="en-US" altLang="zh-CN" sz="1600" b="1" dirty="0">
              <a:solidFill>
                <a:srgbClr val="000000"/>
              </a:solidFill>
              <a:latin typeface="Lucida Console" panose="020B060904050402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1524124" y="2339002"/>
            <a:ext cx="6172200" cy="1477328"/>
          </a:xfrm>
          <a:prstGeom prst="rect">
            <a:avLst/>
          </a:prstGeom>
          <a:noFill/>
          <a:ln w="9525">
            <a:solidFill>
              <a:srgbClr val="FF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eaLnBrk="0" hangingPunct="0"/>
            <a:r>
              <a:rPr lang="en-US" altLang="zh-CN" sz="1800" b="0" dirty="0">
                <a:solidFill>
                  <a:srgbClr val="000000"/>
                </a:solidFill>
                <a:latin typeface="+mn-lt"/>
              </a:rPr>
              <a:t>OPER1  DB  ?, ?</a:t>
            </a:r>
            <a:endParaRPr lang="en-US" altLang="zh-CN" sz="1800" b="0" dirty="0">
              <a:solidFill>
                <a:srgbClr val="000000"/>
              </a:solidFill>
              <a:latin typeface="+mn-lt"/>
            </a:endParaRPr>
          </a:p>
          <a:p>
            <a:pPr algn="just" eaLnBrk="0" hangingPunct="0"/>
            <a:r>
              <a:rPr lang="en-US" altLang="zh-CN" sz="1800" b="0" dirty="0">
                <a:solidFill>
                  <a:srgbClr val="000000"/>
                </a:solidFill>
                <a:latin typeface="+mn-lt"/>
              </a:rPr>
              <a:t>OPER2  DW  ?, ?</a:t>
            </a:r>
            <a:endParaRPr lang="en-US" altLang="zh-CN" sz="1800" b="0" dirty="0">
              <a:solidFill>
                <a:srgbClr val="000000"/>
              </a:solidFill>
              <a:latin typeface="+mn-lt"/>
            </a:endParaRPr>
          </a:p>
          <a:p>
            <a:pPr algn="just" eaLnBrk="0" hangingPunct="0"/>
            <a:r>
              <a:rPr lang="en-US" altLang="zh-CN" sz="1800" b="0" dirty="0">
                <a:solidFill>
                  <a:srgbClr val="000000"/>
                </a:solidFill>
                <a:latin typeface="+mn-lt"/>
              </a:rPr>
              <a:t>       ……</a:t>
            </a:r>
            <a:endParaRPr lang="en-US" altLang="zh-CN" sz="1800" b="0" dirty="0">
              <a:solidFill>
                <a:srgbClr val="000000"/>
              </a:solidFill>
              <a:latin typeface="+mn-lt"/>
            </a:endParaRPr>
          </a:p>
          <a:p>
            <a:pPr algn="just" eaLnBrk="0" hangingPunct="0"/>
            <a:r>
              <a:rPr lang="en-US" altLang="zh-CN" sz="1800" b="0" dirty="0">
                <a:solidFill>
                  <a:srgbClr val="000000"/>
                </a:solidFill>
                <a:latin typeface="+mn-lt"/>
              </a:rPr>
              <a:t>       MOV  OPER1, 0   </a:t>
            </a:r>
            <a:r>
              <a:rPr lang="en-US" altLang="zh-CN" sz="1800" b="0" dirty="0">
                <a:solidFill>
                  <a:srgbClr val="000000"/>
                </a:solidFill>
                <a:latin typeface="+mn-lt"/>
                <a:ea typeface="楷体_GB2312" pitchFamily="49" charset="-122"/>
              </a:rPr>
              <a:t>;</a:t>
            </a:r>
            <a:r>
              <a:rPr lang="zh-CN" altLang="en-US" sz="1800" b="0" dirty="0">
                <a:solidFill>
                  <a:srgbClr val="000000"/>
                </a:solidFill>
                <a:latin typeface="+mn-lt"/>
                <a:ea typeface="楷体_GB2312" pitchFamily="49" charset="-122"/>
              </a:rPr>
              <a:t>字节指令</a:t>
            </a:r>
            <a:endParaRPr lang="zh-CN" altLang="en-US" sz="1800" b="0" dirty="0">
              <a:solidFill>
                <a:srgbClr val="000000"/>
              </a:solidFill>
              <a:latin typeface="+mn-lt"/>
              <a:ea typeface="楷体_GB2312" pitchFamily="49" charset="-122"/>
            </a:endParaRPr>
          </a:p>
          <a:p>
            <a:pPr algn="just" eaLnBrk="0" hangingPunct="0"/>
            <a:r>
              <a:rPr lang="zh-CN" altLang="en-US" sz="1800" b="0" dirty="0">
                <a:solidFill>
                  <a:srgbClr val="000000"/>
                </a:solidFill>
                <a:latin typeface="+mn-lt"/>
              </a:rPr>
              <a:t>       </a:t>
            </a:r>
            <a:r>
              <a:rPr lang="en-US" altLang="zh-CN" sz="1800" b="0" dirty="0">
                <a:solidFill>
                  <a:srgbClr val="000000"/>
                </a:solidFill>
                <a:latin typeface="+mn-lt"/>
              </a:rPr>
              <a:t>MOV  OPER2, 0   </a:t>
            </a:r>
            <a:r>
              <a:rPr lang="en-US" altLang="zh-CN" sz="1800" b="0" dirty="0">
                <a:solidFill>
                  <a:srgbClr val="000000"/>
                </a:solidFill>
                <a:latin typeface="+mn-lt"/>
                <a:ea typeface="楷体_GB2312" pitchFamily="49" charset="-122"/>
              </a:rPr>
              <a:t>;</a:t>
            </a:r>
            <a:r>
              <a:rPr lang="zh-CN" altLang="en-US" sz="1800" b="0" dirty="0">
                <a:solidFill>
                  <a:srgbClr val="000000"/>
                </a:solidFill>
                <a:latin typeface="+mn-lt"/>
                <a:ea typeface="楷体_GB2312" pitchFamily="49" charset="-122"/>
              </a:rPr>
              <a:t>字指令</a:t>
            </a:r>
            <a:endParaRPr lang="zh-CN" altLang="en-US" sz="1800" b="0" dirty="0">
              <a:solidFill>
                <a:srgbClr val="000000"/>
              </a:solidFill>
              <a:latin typeface="+mn-lt"/>
            </a:endParaRPr>
          </a:p>
        </p:txBody>
      </p:sp>
      <p:sp>
        <p:nvSpPr>
          <p:cNvPr id="19459" name="Rectangle 3"/>
          <p:cNvSpPr>
            <a:spLocks noChangeArrowheads="1"/>
          </p:cNvSpPr>
          <p:nvPr/>
        </p:nvSpPr>
        <p:spPr bwMode="auto">
          <a:xfrm>
            <a:off x="6037123" y="6192016"/>
            <a:ext cx="13003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1800" dirty="0">
                <a:solidFill>
                  <a:srgbClr val="FF0000"/>
                </a:solidFill>
                <a:latin typeface="Lucida Console" panose="020B0609040504020204" pitchFamily="49" charset="0"/>
              </a:rPr>
              <a:t>(AL)=34H</a:t>
            </a:r>
            <a:endParaRPr lang="en-US" altLang="zh-CN" sz="1800" dirty="0">
              <a:solidFill>
                <a:srgbClr val="FF0000"/>
              </a:solidFill>
              <a:latin typeface="Lucida Console" panose="020B0609040504020204" pitchFamily="49" charset="0"/>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5" name="Text Box 3"/>
          <p:cNvSpPr txBox="1">
            <a:spLocks noChangeArrowheads="1"/>
          </p:cNvSpPr>
          <p:nvPr/>
        </p:nvSpPr>
        <p:spPr bwMode="auto">
          <a:xfrm>
            <a:off x="467288" y="1016732"/>
            <a:ext cx="8071872" cy="1277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600"/>
              </a:spcBef>
            </a:pPr>
            <a:r>
              <a:rPr lang="en-US" altLang="zh-CN" b="1" dirty="0">
                <a:solidFill>
                  <a:srgbClr val="000000"/>
                </a:solidFill>
                <a:latin typeface="+mn-lt"/>
              </a:rPr>
              <a:t>PTR</a:t>
            </a:r>
            <a:r>
              <a:rPr lang="zh-CN" altLang="en-US" b="1" dirty="0">
                <a:solidFill>
                  <a:srgbClr val="000000"/>
                </a:solidFill>
                <a:latin typeface="+mn-lt"/>
              </a:rPr>
              <a:t>伪指令：  </a:t>
            </a:r>
            <a:r>
              <a:rPr lang="en-US" altLang="zh-CN" b="1" dirty="0">
                <a:solidFill>
                  <a:srgbClr val="000000"/>
                </a:solidFill>
                <a:latin typeface="+mn-lt"/>
              </a:rPr>
              <a:t>type  PTR  </a:t>
            </a:r>
            <a:r>
              <a:rPr lang="zh-CN" altLang="en-US" b="1" dirty="0">
                <a:solidFill>
                  <a:srgbClr val="000000"/>
                </a:solidFill>
                <a:latin typeface="+mn-lt"/>
              </a:rPr>
              <a:t>变量或常量</a:t>
            </a:r>
            <a:endParaRPr lang="en-US" altLang="zh-CN" b="1" dirty="0">
              <a:solidFill>
                <a:srgbClr val="000000"/>
              </a:solidFill>
              <a:latin typeface="+mn-lt"/>
            </a:endParaRPr>
          </a:p>
          <a:p>
            <a:pPr>
              <a:spcBef>
                <a:spcPts val="600"/>
              </a:spcBef>
            </a:pPr>
            <a:r>
              <a:rPr lang="en-US" altLang="zh-CN" dirty="0">
                <a:solidFill>
                  <a:srgbClr val="000000"/>
                </a:solidFill>
                <a:latin typeface="+mn-lt"/>
              </a:rPr>
              <a:t>	</a:t>
            </a:r>
            <a:r>
              <a:rPr lang="zh-CN" altLang="en-US" dirty="0">
                <a:solidFill>
                  <a:srgbClr val="FF0000"/>
                </a:solidFill>
                <a:latin typeface="+mn-lt"/>
              </a:rPr>
              <a:t>指定操作数的类型属性</a:t>
            </a:r>
            <a:r>
              <a:rPr lang="zh-CN" altLang="en-US" dirty="0">
                <a:solidFill>
                  <a:srgbClr val="000000"/>
                </a:solidFill>
                <a:latin typeface="+mn-lt"/>
              </a:rPr>
              <a:t>，其中</a:t>
            </a:r>
            <a:r>
              <a:rPr lang="en-US" altLang="zh-CN" dirty="0">
                <a:solidFill>
                  <a:srgbClr val="000000"/>
                </a:solidFill>
                <a:latin typeface="+mn-lt"/>
              </a:rPr>
              <a:t>type</a:t>
            </a:r>
            <a:r>
              <a:rPr lang="zh-CN" altLang="en-US" dirty="0">
                <a:solidFill>
                  <a:srgbClr val="000000"/>
                </a:solidFill>
                <a:latin typeface="+mn-lt"/>
              </a:rPr>
              <a:t>可以是</a:t>
            </a:r>
            <a:r>
              <a:rPr lang="en-US" altLang="zh-CN" dirty="0">
                <a:solidFill>
                  <a:srgbClr val="000000"/>
                </a:solidFill>
                <a:latin typeface="+mn-lt"/>
              </a:rPr>
              <a:t>BYTE</a:t>
            </a:r>
            <a:r>
              <a:rPr lang="zh-CN" altLang="en-US" dirty="0">
                <a:solidFill>
                  <a:srgbClr val="000000"/>
                </a:solidFill>
                <a:latin typeface="+mn-lt"/>
              </a:rPr>
              <a:t>，</a:t>
            </a:r>
            <a:r>
              <a:rPr lang="en-US" altLang="zh-CN" dirty="0">
                <a:solidFill>
                  <a:srgbClr val="000000"/>
                </a:solidFill>
                <a:latin typeface="+mn-lt"/>
              </a:rPr>
              <a:t>WORD</a:t>
            </a:r>
            <a:r>
              <a:rPr lang="zh-CN" altLang="en-US" dirty="0">
                <a:solidFill>
                  <a:srgbClr val="000000"/>
                </a:solidFill>
                <a:latin typeface="+mn-lt"/>
              </a:rPr>
              <a:t>，</a:t>
            </a:r>
            <a:r>
              <a:rPr lang="en-US" altLang="zh-CN" dirty="0">
                <a:solidFill>
                  <a:srgbClr val="000000"/>
                </a:solidFill>
                <a:latin typeface="+mn-lt"/>
              </a:rPr>
              <a:t>DWORD</a:t>
            </a:r>
            <a:r>
              <a:rPr lang="zh-CN" altLang="en-US" dirty="0">
                <a:solidFill>
                  <a:srgbClr val="000000"/>
                </a:solidFill>
                <a:latin typeface="+mn-lt"/>
              </a:rPr>
              <a:t>，</a:t>
            </a:r>
            <a:r>
              <a:rPr lang="en-US" altLang="zh-CN" dirty="0">
                <a:solidFill>
                  <a:srgbClr val="000000"/>
                </a:solidFill>
                <a:latin typeface="+mn-lt"/>
              </a:rPr>
              <a:t>FWORD</a:t>
            </a:r>
            <a:r>
              <a:rPr lang="zh-CN" altLang="en-US" dirty="0">
                <a:solidFill>
                  <a:srgbClr val="000000"/>
                </a:solidFill>
                <a:latin typeface="+mn-lt"/>
              </a:rPr>
              <a:t>，</a:t>
            </a:r>
            <a:r>
              <a:rPr lang="en-US" altLang="zh-CN" dirty="0">
                <a:solidFill>
                  <a:srgbClr val="000000"/>
                </a:solidFill>
                <a:latin typeface="+mn-lt"/>
              </a:rPr>
              <a:t>QWORD</a:t>
            </a:r>
            <a:r>
              <a:rPr lang="zh-CN" altLang="en-US" dirty="0">
                <a:solidFill>
                  <a:srgbClr val="000000"/>
                </a:solidFill>
                <a:latin typeface="+mn-lt"/>
              </a:rPr>
              <a:t>，</a:t>
            </a:r>
            <a:r>
              <a:rPr lang="en-US" altLang="zh-CN" dirty="0">
                <a:solidFill>
                  <a:srgbClr val="000000"/>
                </a:solidFill>
                <a:latin typeface="+mn-lt"/>
              </a:rPr>
              <a:t>TBYTE</a:t>
            </a:r>
            <a:r>
              <a:rPr lang="zh-CN" altLang="en-US" dirty="0">
                <a:solidFill>
                  <a:srgbClr val="000000"/>
                </a:solidFill>
                <a:latin typeface="+mn-lt"/>
              </a:rPr>
              <a:t>等等</a:t>
            </a:r>
            <a:endParaRPr lang="en-US" altLang="zh-CN" b="1" dirty="0">
              <a:solidFill>
                <a:srgbClr val="000000"/>
              </a:solidFill>
              <a:latin typeface="+mn-lt"/>
            </a:endParaRPr>
          </a:p>
        </p:txBody>
      </p:sp>
      <p:sp>
        <p:nvSpPr>
          <p:cNvPr id="2" name="矩形 1"/>
          <p:cNvSpPr/>
          <p:nvPr/>
        </p:nvSpPr>
        <p:spPr>
          <a:xfrm>
            <a:off x="1640210" y="5525360"/>
            <a:ext cx="6316166" cy="1015663"/>
          </a:xfrm>
          <a:prstGeom prst="rect">
            <a:avLst/>
          </a:prstGeom>
        </p:spPr>
        <p:txBody>
          <a:bodyPr wrap="square">
            <a:spAutoFit/>
          </a:bodyPr>
          <a:lstStyle/>
          <a:p>
            <a:r>
              <a:rPr lang="en-US" altLang="zh-CN" dirty="0"/>
              <a:t>    </a:t>
            </a:r>
            <a:r>
              <a:rPr lang="en-US" altLang="zh-CN" sz="1800" b="0" dirty="0"/>
              <a:t>MOV  AX, WORD PTR  OPER1+1</a:t>
            </a:r>
            <a:endParaRPr lang="en-US" altLang="zh-CN" sz="1800" b="0" dirty="0"/>
          </a:p>
          <a:p>
            <a:endParaRPr lang="en-US" altLang="zh-CN" sz="1800" b="0" dirty="0"/>
          </a:p>
          <a:p>
            <a:r>
              <a:rPr lang="en-US" altLang="zh-CN" sz="1800" b="0" dirty="0"/>
              <a:t>     MOV  AL, BYTE PTR  OPER2</a:t>
            </a:r>
            <a:endParaRPr lang="en-US" altLang="zh-CN" sz="1800" b="0" dirty="0"/>
          </a:p>
        </p:txBody>
      </p:sp>
      <p:sp>
        <p:nvSpPr>
          <p:cNvPr id="6" name="矩形 5"/>
          <p:cNvSpPr/>
          <p:nvPr/>
        </p:nvSpPr>
        <p:spPr>
          <a:xfrm>
            <a:off x="6037123" y="5615952"/>
            <a:ext cx="1718740" cy="369332"/>
          </a:xfrm>
          <a:prstGeom prst="rect">
            <a:avLst/>
          </a:prstGeom>
        </p:spPr>
        <p:txBody>
          <a:bodyPr wrap="none">
            <a:spAutoFit/>
          </a:bodyPr>
          <a:lstStyle/>
          <a:p>
            <a:r>
              <a:rPr lang="en-US" altLang="zh-CN" sz="1800" dirty="0">
                <a:solidFill>
                  <a:srgbClr val="FF0000"/>
                </a:solidFill>
                <a:latin typeface="Lucida Console" panose="020B0609040504020204" pitchFamily="49" charset="0"/>
              </a:rPr>
              <a:t>(AX)=3405H </a:t>
            </a:r>
            <a:endParaRPr lang="zh-CN" altLang="en-US" sz="1800" dirty="0">
              <a:solidFill>
                <a:srgbClr val="FF0000"/>
              </a:solidFill>
            </a:endParaRPr>
          </a:p>
        </p:txBody>
      </p:sp>
      <p:sp>
        <p:nvSpPr>
          <p:cNvPr id="7" name="TextBox 6"/>
          <p:cNvSpPr txBox="1"/>
          <p:nvPr/>
        </p:nvSpPr>
        <p:spPr>
          <a:xfrm>
            <a:off x="4400642" y="4833156"/>
            <a:ext cx="1800493" cy="646331"/>
          </a:xfrm>
          <a:prstGeom prst="rect">
            <a:avLst/>
          </a:prstGeom>
          <a:noFill/>
        </p:spPr>
        <p:txBody>
          <a:bodyPr wrap="none" rtlCol="0">
            <a:spAutoFit/>
          </a:bodyPr>
          <a:lstStyle/>
          <a:p>
            <a:r>
              <a:rPr lang="en-US" altLang="zh-CN" sz="1800" b="0" dirty="0">
                <a:solidFill>
                  <a:srgbClr val="FF0000"/>
                </a:solidFill>
              </a:rPr>
              <a:t>;</a:t>
            </a:r>
            <a:r>
              <a:rPr lang="en-US" altLang="zh-CN" sz="1800" b="0" dirty="0">
                <a:solidFill>
                  <a:srgbClr val="FF0000"/>
                </a:solidFill>
                <a:latin typeface="Lucida Console" panose="020B0609040504020204" pitchFamily="49" charset="0"/>
              </a:rPr>
              <a:t>X</a:t>
            </a:r>
            <a:endParaRPr lang="en-US" altLang="zh-CN" sz="1800" b="0" dirty="0">
              <a:solidFill>
                <a:srgbClr val="FF0000"/>
              </a:solidFill>
              <a:latin typeface="Lucida Console" panose="020B0609040504020204" pitchFamily="49" charset="0"/>
            </a:endParaRPr>
          </a:p>
          <a:p>
            <a:r>
              <a:rPr lang="en-US" altLang="zh-CN" sz="1800" b="0" dirty="0">
                <a:solidFill>
                  <a:srgbClr val="FF0000"/>
                </a:solidFill>
              </a:rPr>
              <a:t>;</a:t>
            </a:r>
            <a:r>
              <a:rPr lang="en-US" altLang="zh-CN" sz="1800" b="0" dirty="0">
                <a:solidFill>
                  <a:srgbClr val="FF0000"/>
                </a:solidFill>
                <a:latin typeface="Lucida Console" panose="020B0609040504020204" pitchFamily="49" charset="0"/>
              </a:rPr>
              <a:t>X</a:t>
            </a:r>
            <a:r>
              <a:rPr lang="en-US" altLang="zh-CN" sz="1800" b="0" dirty="0">
                <a:solidFill>
                  <a:srgbClr val="FF0000"/>
                </a:solidFill>
              </a:rPr>
              <a:t>    </a:t>
            </a:r>
            <a:r>
              <a:rPr lang="zh-CN" altLang="en-US" sz="1800" b="0" dirty="0">
                <a:solidFill>
                  <a:srgbClr val="FF0000"/>
                </a:solidFill>
              </a:rPr>
              <a:t>类型不匹配</a:t>
            </a:r>
            <a:endParaRPr lang="zh-CN" altLang="en-US" sz="1800" b="0" dirty="0">
              <a:solidFill>
                <a:srgbClr val="FF0000"/>
              </a:solidFill>
            </a:endParaRPr>
          </a:p>
        </p:txBody>
      </p:sp>
      <p:sp>
        <p:nvSpPr>
          <p:cNvPr id="3" name="矩形 2"/>
          <p:cNvSpPr/>
          <p:nvPr/>
        </p:nvSpPr>
        <p:spPr>
          <a:xfrm>
            <a:off x="1524124" y="4008228"/>
            <a:ext cx="6172200" cy="1477328"/>
          </a:xfrm>
          <a:prstGeom prst="rect">
            <a:avLst/>
          </a:prstGeom>
          <a:ln>
            <a:solidFill>
              <a:srgbClr val="FF0000"/>
            </a:solidFill>
          </a:ln>
        </p:spPr>
        <p:txBody>
          <a:bodyPr wrap="square">
            <a:spAutoFit/>
          </a:bodyPr>
          <a:lstStyle/>
          <a:p>
            <a:pPr algn="just" eaLnBrk="0" hangingPunct="0"/>
            <a:r>
              <a:rPr lang="en-US" altLang="zh-CN" sz="1800" b="0" dirty="0">
                <a:solidFill>
                  <a:srgbClr val="000000"/>
                </a:solidFill>
              </a:rPr>
              <a:t>OPER1  DB  1, 5</a:t>
            </a:r>
            <a:endParaRPr lang="en-US" altLang="zh-CN" sz="1800" b="0" dirty="0">
              <a:solidFill>
                <a:srgbClr val="000000"/>
              </a:solidFill>
            </a:endParaRPr>
          </a:p>
          <a:p>
            <a:pPr algn="just" eaLnBrk="0" hangingPunct="0"/>
            <a:r>
              <a:rPr lang="en-US" altLang="zh-CN" sz="1800" b="0" dirty="0">
                <a:solidFill>
                  <a:srgbClr val="000000"/>
                </a:solidFill>
              </a:rPr>
              <a:t>OPER2  DW  1234H, 5678H</a:t>
            </a:r>
            <a:endParaRPr lang="en-US" altLang="zh-CN" sz="1800" b="0" dirty="0">
              <a:solidFill>
                <a:srgbClr val="000000"/>
              </a:solidFill>
            </a:endParaRPr>
          </a:p>
          <a:p>
            <a:pPr algn="just" eaLnBrk="0" hangingPunct="0"/>
            <a:r>
              <a:rPr lang="en-US" altLang="zh-CN" sz="1800" b="0" dirty="0">
                <a:solidFill>
                  <a:srgbClr val="000000"/>
                </a:solidFill>
              </a:rPr>
              <a:t>       ……</a:t>
            </a:r>
            <a:endParaRPr lang="en-US" altLang="zh-CN" sz="1800" b="0" dirty="0">
              <a:solidFill>
                <a:srgbClr val="000000"/>
              </a:solidFill>
            </a:endParaRPr>
          </a:p>
          <a:p>
            <a:pPr algn="just" eaLnBrk="0" hangingPunct="0"/>
            <a:r>
              <a:rPr lang="en-US" altLang="zh-CN" sz="1800" b="0" dirty="0">
                <a:solidFill>
                  <a:srgbClr val="000000"/>
                </a:solidFill>
              </a:rPr>
              <a:t>       MOV  AX, OPER1+1 	  </a:t>
            </a:r>
            <a:endParaRPr lang="en-US" altLang="zh-CN" sz="1800" b="0" dirty="0">
              <a:solidFill>
                <a:srgbClr val="FF0000"/>
              </a:solidFill>
            </a:endParaRPr>
          </a:p>
          <a:p>
            <a:pPr algn="just" eaLnBrk="0" hangingPunct="0"/>
            <a:r>
              <a:rPr lang="en-US" altLang="zh-CN" sz="1800" b="0" dirty="0">
                <a:solidFill>
                  <a:srgbClr val="000000"/>
                </a:solidFill>
              </a:rPr>
              <a:t>       MOV  AL, OPER2  	</a:t>
            </a:r>
            <a:endParaRPr lang="zh-CN" altLang="en-US" sz="1800" b="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4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2" grpId="0"/>
      <p:bldP spid="6" grpId="0"/>
      <p:bldP spid="7" grpId="0"/>
      <p:bldP spid="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文本框 20481"/>
          <p:cNvSpPr txBox="1"/>
          <p:nvPr/>
        </p:nvSpPr>
        <p:spPr>
          <a:xfrm>
            <a:off x="683568" y="2844316"/>
            <a:ext cx="4884142" cy="3631763"/>
          </a:xfrm>
          <a:prstGeom prst="rect">
            <a:avLst/>
          </a:prstGeom>
          <a:noFill/>
          <a:ln w="12700">
            <a:noFill/>
          </a:ln>
        </p:spPr>
        <p:txBody>
          <a:bodyPr wrap="square" anchor="ctr">
            <a:spAutoFit/>
          </a:bodyPr>
          <a:lstStyle/>
          <a:p>
            <a:pPr eaLnBrk="0" hangingPunct="0">
              <a:spcBef>
                <a:spcPct val="50000"/>
              </a:spcBef>
            </a:pPr>
            <a:r>
              <a:rPr lang="zh-CN" altLang="en-US" sz="2000" dirty="0">
                <a:solidFill>
                  <a:srgbClr val="000000"/>
                </a:solidFill>
                <a:latin typeface="Lucida Console" panose="020B0609040504020204" pitchFamily="49" charset="0"/>
                <a:ea typeface="宋体" panose="02010600030101010101" pitchFamily="2" charset="-122"/>
              </a:rPr>
              <a:t>例：</a:t>
            </a:r>
            <a:endParaRPr lang="en-US" altLang="zh-CN" sz="2000" dirty="0">
              <a:solidFill>
                <a:srgbClr val="000000"/>
              </a:solidFill>
              <a:latin typeface="Lucida Console" panose="020B0609040504020204" pitchFamily="49" charset="0"/>
              <a:ea typeface="宋体" panose="02010600030101010101" pitchFamily="2" charset="-122"/>
            </a:endParaRPr>
          </a:p>
          <a:p>
            <a:pPr eaLnBrk="0" hangingPunct="0">
              <a:spcBef>
                <a:spcPct val="50000"/>
              </a:spcBef>
            </a:pPr>
            <a:r>
              <a:rPr lang="en-US" altLang="zh-CN" sz="2000" dirty="0">
                <a:solidFill>
                  <a:srgbClr val="000000"/>
                </a:solidFill>
                <a:latin typeface="Lucida Console" panose="020B0609040504020204" pitchFamily="49" charset="0"/>
                <a:ea typeface="宋体" panose="02010600030101010101" pitchFamily="2" charset="-122"/>
              </a:rPr>
              <a:t>BYTE_ARRAY  LABEL  BYTE</a:t>
            </a:r>
            <a:endParaRPr lang="en-US" altLang="zh-CN" sz="2000" dirty="0">
              <a:solidFill>
                <a:srgbClr val="000000"/>
              </a:solidFill>
              <a:latin typeface="Lucida Console" panose="020B0609040504020204" pitchFamily="49" charset="0"/>
              <a:ea typeface="宋体" panose="02010600030101010101" pitchFamily="2" charset="-122"/>
            </a:endParaRPr>
          </a:p>
          <a:p>
            <a:pPr eaLnBrk="0" hangingPunct="0">
              <a:spcBef>
                <a:spcPct val="50000"/>
              </a:spcBef>
            </a:pPr>
            <a:r>
              <a:rPr lang="en-US" altLang="zh-CN" sz="2000" dirty="0">
                <a:solidFill>
                  <a:srgbClr val="000000"/>
                </a:solidFill>
                <a:latin typeface="Lucida Console" panose="020B0609040504020204" pitchFamily="49" charset="0"/>
                <a:ea typeface="宋体" panose="02010600030101010101" pitchFamily="2" charset="-122"/>
              </a:rPr>
              <a:t>WORD_ARRAY  DW  50  DUP (?)</a:t>
            </a:r>
            <a:endParaRPr lang="en-US" altLang="zh-CN" sz="2000" dirty="0">
              <a:solidFill>
                <a:srgbClr val="000000"/>
              </a:solidFill>
              <a:latin typeface="Lucida Console" panose="020B0609040504020204" pitchFamily="49" charset="0"/>
              <a:ea typeface="宋体" panose="02010600030101010101" pitchFamily="2" charset="-122"/>
            </a:endParaRPr>
          </a:p>
          <a:p>
            <a:pPr eaLnBrk="0" hangingPunct="0">
              <a:spcBef>
                <a:spcPct val="50000"/>
              </a:spcBef>
            </a:pPr>
            <a:endParaRPr lang="en-US" altLang="zh-CN" sz="2000" dirty="0">
              <a:solidFill>
                <a:srgbClr val="000000"/>
              </a:solidFill>
              <a:latin typeface="Lucida Console" panose="020B0609040504020204" pitchFamily="49" charset="0"/>
            </a:endParaRPr>
          </a:p>
          <a:p>
            <a:pPr eaLnBrk="0" hangingPunct="0">
              <a:spcBef>
                <a:spcPct val="50000"/>
              </a:spcBef>
            </a:pPr>
            <a:r>
              <a:rPr lang="zh-CN" altLang="en-US" sz="2000" dirty="0">
                <a:solidFill>
                  <a:srgbClr val="000000"/>
                </a:solidFill>
                <a:latin typeface="Lucida Console" panose="020B0609040504020204" pitchFamily="49" charset="0"/>
                <a:ea typeface="宋体" panose="02010600030101010101" pitchFamily="2" charset="-122"/>
              </a:rPr>
              <a:t>思考：</a:t>
            </a:r>
            <a:endParaRPr lang="en-US" altLang="zh-CN" sz="2000" dirty="0">
              <a:solidFill>
                <a:srgbClr val="000000"/>
              </a:solidFill>
              <a:latin typeface="Lucida Console" panose="020B0609040504020204" pitchFamily="49" charset="0"/>
              <a:ea typeface="宋体" panose="02010600030101010101" pitchFamily="2" charset="-122"/>
            </a:endParaRPr>
          </a:p>
          <a:p>
            <a:pPr eaLnBrk="0" hangingPunct="0">
              <a:spcBef>
                <a:spcPct val="50000"/>
              </a:spcBef>
            </a:pPr>
            <a:r>
              <a:rPr lang="en-US" altLang="zh-CN" sz="2000" dirty="0">
                <a:solidFill>
                  <a:srgbClr val="000000"/>
                </a:solidFill>
                <a:latin typeface="Lucida Console" panose="020B0609040504020204" pitchFamily="49" charset="0"/>
              </a:rPr>
              <a:t>MOV WORD_ARRAY+2,  0</a:t>
            </a:r>
            <a:endParaRPr lang="en-US" altLang="zh-CN" sz="2000" dirty="0">
              <a:solidFill>
                <a:srgbClr val="000000"/>
              </a:solidFill>
              <a:latin typeface="Lucida Console" panose="020B0609040504020204" pitchFamily="49" charset="0"/>
            </a:endParaRPr>
          </a:p>
          <a:p>
            <a:pPr eaLnBrk="0" hangingPunct="0">
              <a:spcBef>
                <a:spcPct val="50000"/>
              </a:spcBef>
            </a:pPr>
            <a:r>
              <a:rPr lang="en-US" altLang="zh-CN" sz="2000" dirty="0">
                <a:solidFill>
                  <a:srgbClr val="000000"/>
                </a:solidFill>
                <a:latin typeface="Lucida Console" panose="020B0609040504020204" pitchFamily="49" charset="0"/>
              </a:rPr>
              <a:t>MOV BYTE_ARRAY+2,  0</a:t>
            </a:r>
            <a:endParaRPr lang="en-US" altLang="zh-CN" sz="2000" dirty="0">
              <a:solidFill>
                <a:srgbClr val="000000"/>
              </a:solidFill>
              <a:latin typeface="Lucida Console" panose="020B0609040504020204" pitchFamily="49" charset="0"/>
            </a:endParaRPr>
          </a:p>
          <a:p>
            <a:pPr eaLnBrk="0" hangingPunct="0">
              <a:spcBef>
                <a:spcPct val="50000"/>
              </a:spcBef>
            </a:pPr>
            <a:r>
              <a:rPr lang="zh-CN" altLang="en-US" sz="2000" dirty="0">
                <a:solidFill>
                  <a:srgbClr val="000000"/>
                </a:solidFill>
                <a:latin typeface="Lucida Console" panose="020B0609040504020204" pitchFamily="49" charset="0"/>
              </a:rPr>
              <a:t>分别执行的结果是？</a:t>
            </a:r>
            <a:endParaRPr lang="en-US" altLang="zh-CN" sz="2000" dirty="0">
              <a:solidFill>
                <a:srgbClr val="000000"/>
              </a:solidFill>
              <a:latin typeface="Lucida Console" panose="020B0609040504020204" pitchFamily="49" charset="0"/>
              <a:ea typeface="宋体" panose="02010600030101010101" pitchFamily="2" charset="-122"/>
            </a:endParaRPr>
          </a:p>
        </p:txBody>
      </p:sp>
      <p:sp>
        <p:nvSpPr>
          <p:cNvPr id="20483" name="文本框 20482"/>
          <p:cNvSpPr txBox="1"/>
          <p:nvPr/>
        </p:nvSpPr>
        <p:spPr>
          <a:xfrm>
            <a:off x="452120" y="944724"/>
            <a:ext cx="8120379" cy="1754326"/>
          </a:xfrm>
          <a:prstGeom prst="rect">
            <a:avLst/>
          </a:prstGeom>
          <a:noFill/>
          <a:ln w="12700">
            <a:noFill/>
          </a:ln>
        </p:spPr>
        <p:txBody>
          <a:bodyPr wrap="square">
            <a:spAutoFit/>
          </a:bodyPr>
          <a:lstStyle/>
          <a:p>
            <a:pPr>
              <a:spcBef>
                <a:spcPct val="50000"/>
              </a:spcBef>
            </a:pPr>
            <a:r>
              <a:rPr lang="en-US" altLang="zh-CN" b="0" dirty="0">
                <a:solidFill>
                  <a:srgbClr val="000000"/>
                </a:solidFill>
                <a:latin typeface="+mn-lt"/>
              </a:rPr>
              <a:t>LABEL </a:t>
            </a:r>
            <a:r>
              <a:rPr lang="zh-CN" altLang="en-US" b="0" dirty="0">
                <a:solidFill>
                  <a:srgbClr val="000000"/>
                </a:solidFill>
                <a:latin typeface="+mn-lt"/>
              </a:rPr>
              <a:t>伪操作：  </a:t>
            </a:r>
            <a:r>
              <a:rPr lang="en-US" altLang="zh-CN" b="0" dirty="0">
                <a:solidFill>
                  <a:srgbClr val="000000"/>
                </a:solidFill>
                <a:latin typeface="+mn-lt"/>
              </a:rPr>
              <a:t>name  LABEL  type</a:t>
            </a:r>
            <a:endParaRPr lang="en-US" altLang="zh-CN" b="0" dirty="0">
              <a:solidFill>
                <a:srgbClr val="000000"/>
              </a:solidFill>
              <a:latin typeface="+mn-lt"/>
            </a:endParaRPr>
          </a:p>
          <a:p>
            <a:pPr>
              <a:spcBef>
                <a:spcPct val="50000"/>
              </a:spcBef>
            </a:pPr>
            <a:r>
              <a:rPr lang="en-US" altLang="zh-CN" b="0" dirty="0">
                <a:solidFill>
                  <a:srgbClr val="000000"/>
                </a:solidFill>
                <a:latin typeface="+mn-lt"/>
              </a:rPr>
              <a:t>	</a:t>
            </a:r>
            <a:r>
              <a:rPr lang="zh-CN" altLang="en-US" b="0" dirty="0">
                <a:solidFill>
                  <a:srgbClr val="000000"/>
                </a:solidFill>
                <a:latin typeface="+mn-lt"/>
              </a:rPr>
              <a:t>除了</a:t>
            </a:r>
            <a:r>
              <a:rPr lang="en-US" altLang="zh-CN" b="0" dirty="0">
                <a:solidFill>
                  <a:srgbClr val="000000"/>
                </a:solidFill>
                <a:latin typeface="+mn-lt"/>
              </a:rPr>
              <a:t>PTR</a:t>
            </a:r>
            <a:r>
              <a:rPr lang="zh-CN" altLang="en-US" b="0" dirty="0">
                <a:solidFill>
                  <a:srgbClr val="000000"/>
                </a:solidFill>
                <a:latin typeface="+mn-lt"/>
              </a:rPr>
              <a:t>伪操作，还可以用</a:t>
            </a:r>
            <a:r>
              <a:rPr lang="en-US" altLang="zh-CN" b="0" dirty="0">
                <a:solidFill>
                  <a:srgbClr val="000000"/>
                </a:solidFill>
                <a:latin typeface="+mn-lt"/>
              </a:rPr>
              <a:t>LABEL</a:t>
            </a:r>
            <a:r>
              <a:rPr lang="zh-CN" altLang="en-US" b="0" dirty="0">
                <a:solidFill>
                  <a:srgbClr val="000000"/>
                </a:solidFill>
                <a:latin typeface="+mn-lt"/>
              </a:rPr>
              <a:t>来定义操作数类型，其中</a:t>
            </a:r>
            <a:r>
              <a:rPr lang="en-US" altLang="zh-CN" b="0" dirty="0">
                <a:solidFill>
                  <a:srgbClr val="000000"/>
                </a:solidFill>
                <a:latin typeface="+mn-lt"/>
              </a:rPr>
              <a:t>type</a:t>
            </a:r>
            <a:r>
              <a:rPr lang="zh-CN" altLang="en-US" b="0" dirty="0">
                <a:solidFill>
                  <a:srgbClr val="000000"/>
                </a:solidFill>
                <a:latin typeface="+mn-lt"/>
              </a:rPr>
              <a:t>可以是</a:t>
            </a:r>
            <a:r>
              <a:rPr lang="en-US" altLang="zh-CN" b="0" dirty="0">
                <a:solidFill>
                  <a:srgbClr val="000000"/>
                </a:solidFill>
                <a:latin typeface="+mn-lt"/>
              </a:rPr>
              <a:t>BYTE</a:t>
            </a:r>
            <a:r>
              <a:rPr lang="zh-CN" altLang="en-US" b="0" dirty="0">
                <a:solidFill>
                  <a:srgbClr val="000000"/>
                </a:solidFill>
                <a:latin typeface="+mn-lt"/>
              </a:rPr>
              <a:t>，</a:t>
            </a:r>
            <a:r>
              <a:rPr lang="en-US" altLang="zh-CN" b="0" dirty="0">
                <a:solidFill>
                  <a:srgbClr val="000000"/>
                </a:solidFill>
                <a:latin typeface="+mn-lt"/>
              </a:rPr>
              <a:t>WORD</a:t>
            </a:r>
            <a:r>
              <a:rPr lang="zh-CN" altLang="en-US" b="0" dirty="0">
                <a:solidFill>
                  <a:srgbClr val="000000"/>
                </a:solidFill>
                <a:latin typeface="+mn-lt"/>
              </a:rPr>
              <a:t>，</a:t>
            </a:r>
            <a:r>
              <a:rPr lang="en-US" altLang="zh-CN" b="0" dirty="0">
                <a:solidFill>
                  <a:srgbClr val="000000"/>
                </a:solidFill>
                <a:latin typeface="+mn-lt"/>
              </a:rPr>
              <a:t>DWORD</a:t>
            </a:r>
            <a:r>
              <a:rPr lang="zh-CN" altLang="en-US" b="0" dirty="0">
                <a:solidFill>
                  <a:srgbClr val="000000"/>
                </a:solidFill>
                <a:latin typeface="+mn-lt"/>
              </a:rPr>
              <a:t>，</a:t>
            </a:r>
            <a:r>
              <a:rPr lang="en-US" altLang="zh-CN" b="0" dirty="0">
                <a:solidFill>
                  <a:srgbClr val="000000"/>
                </a:solidFill>
                <a:latin typeface="+mn-lt"/>
              </a:rPr>
              <a:t>FWORD</a:t>
            </a:r>
            <a:r>
              <a:rPr lang="zh-CN" altLang="en-US" b="0" dirty="0">
                <a:solidFill>
                  <a:srgbClr val="000000"/>
                </a:solidFill>
                <a:latin typeface="+mn-lt"/>
              </a:rPr>
              <a:t>，</a:t>
            </a:r>
            <a:r>
              <a:rPr lang="en-US" altLang="zh-CN" b="0" dirty="0">
                <a:solidFill>
                  <a:srgbClr val="000000"/>
                </a:solidFill>
                <a:latin typeface="+mn-lt"/>
              </a:rPr>
              <a:t>QWORD</a:t>
            </a:r>
            <a:r>
              <a:rPr lang="zh-CN" altLang="en-US" b="0" dirty="0">
                <a:solidFill>
                  <a:srgbClr val="000000"/>
                </a:solidFill>
                <a:latin typeface="+mn-lt"/>
              </a:rPr>
              <a:t>，</a:t>
            </a:r>
            <a:r>
              <a:rPr lang="en-US" altLang="zh-CN" b="0" dirty="0">
                <a:solidFill>
                  <a:srgbClr val="000000"/>
                </a:solidFill>
                <a:latin typeface="+mn-lt"/>
              </a:rPr>
              <a:t>TBYTE</a:t>
            </a:r>
            <a:r>
              <a:rPr lang="zh-CN" altLang="en-US" b="0" dirty="0">
                <a:solidFill>
                  <a:srgbClr val="000000"/>
                </a:solidFill>
                <a:latin typeface="+mn-lt"/>
              </a:rPr>
              <a:t>等等。</a:t>
            </a:r>
            <a:endParaRPr lang="en-US" altLang="zh-CN" b="1" dirty="0">
              <a:solidFill>
                <a:srgbClr val="000000"/>
              </a:solidFill>
              <a:latin typeface="Times New Roman" panose="02020603050405020304" pitchFamily="18" charset="0"/>
              <a:ea typeface="宋体" panose="02010600030101010101" pitchFamily="2" charset="-122"/>
            </a:endParaRPr>
          </a:p>
        </p:txBody>
      </p:sp>
      <p:grpSp>
        <p:nvGrpSpPr>
          <p:cNvPr id="20484" name="组合 20483"/>
          <p:cNvGrpSpPr/>
          <p:nvPr/>
        </p:nvGrpSpPr>
        <p:grpSpPr>
          <a:xfrm>
            <a:off x="7010400" y="2689684"/>
            <a:ext cx="762000" cy="349250"/>
            <a:chOff x="4176" y="2352"/>
            <a:chExt cx="480" cy="220"/>
          </a:xfrm>
        </p:grpSpPr>
        <p:sp>
          <p:nvSpPr>
            <p:cNvPr id="20485" name="矩形 20484"/>
            <p:cNvSpPr/>
            <p:nvPr/>
          </p:nvSpPr>
          <p:spPr>
            <a:xfrm>
              <a:off x="4176" y="2352"/>
              <a:ext cx="480" cy="192"/>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20486" name="文本框 20485"/>
            <p:cNvSpPr txBox="1"/>
            <p:nvPr/>
          </p:nvSpPr>
          <p:spPr>
            <a:xfrm>
              <a:off x="4176" y="2352"/>
              <a:ext cx="480" cy="22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grpSp>
        <p:nvGrpSpPr>
          <p:cNvPr id="20487" name="组合 20486"/>
          <p:cNvGrpSpPr/>
          <p:nvPr/>
        </p:nvGrpSpPr>
        <p:grpSpPr>
          <a:xfrm>
            <a:off x="7010400" y="5737684"/>
            <a:ext cx="762000" cy="349250"/>
            <a:chOff x="4176" y="2352"/>
            <a:chExt cx="480" cy="220"/>
          </a:xfrm>
        </p:grpSpPr>
        <p:sp>
          <p:nvSpPr>
            <p:cNvPr id="20488" name="矩形 20487"/>
            <p:cNvSpPr/>
            <p:nvPr/>
          </p:nvSpPr>
          <p:spPr>
            <a:xfrm>
              <a:off x="4176" y="2352"/>
              <a:ext cx="480" cy="192"/>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20489" name="文本框 20488"/>
            <p:cNvSpPr txBox="1"/>
            <p:nvPr/>
          </p:nvSpPr>
          <p:spPr>
            <a:xfrm>
              <a:off x="4176" y="2352"/>
              <a:ext cx="480" cy="22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sp>
        <p:nvSpPr>
          <p:cNvPr id="20490" name="直接连接符 20489"/>
          <p:cNvSpPr/>
          <p:nvPr/>
        </p:nvSpPr>
        <p:spPr>
          <a:xfrm>
            <a:off x="7772400" y="2384884"/>
            <a:ext cx="0" cy="381000"/>
          </a:xfrm>
          <a:prstGeom prst="line">
            <a:avLst/>
          </a:prstGeom>
          <a:ln w="12700" cap="sq" cmpd="sng">
            <a:solidFill>
              <a:schemeClr val="bg2"/>
            </a:solidFill>
            <a:prstDash val="solid"/>
            <a:headEnd type="none" w="sm" len="sm"/>
            <a:tailEnd type="none" w="sm" len="sm"/>
          </a:ln>
        </p:spPr>
      </p:sp>
      <p:sp>
        <p:nvSpPr>
          <p:cNvPr id="20491" name="直接连接符 20490"/>
          <p:cNvSpPr/>
          <p:nvPr/>
        </p:nvSpPr>
        <p:spPr>
          <a:xfrm>
            <a:off x="7010400" y="2384884"/>
            <a:ext cx="0" cy="381000"/>
          </a:xfrm>
          <a:prstGeom prst="line">
            <a:avLst/>
          </a:prstGeom>
          <a:ln w="12700" cap="sq" cmpd="sng">
            <a:solidFill>
              <a:schemeClr val="bg2"/>
            </a:solidFill>
            <a:prstDash val="solid"/>
            <a:headEnd type="none" w="sm" len="sm"/>
            <a:tailEnd type="none" w="sm" len="sm"/>
          </a:ln>
        </p:spPr>
      </p:sp>
      <p:sp>
        <p:nvSpPr>
          <p:cNvPr id="20492" name="直接连接符 20491"/>
          <p:cNvSpPr/>
          <p:nvPr/>
        </p:nvSpPr>
        <p:spPr>
          <a:xfrm>
            <a:off x="7010400" y="2994484"/>
            <a:ext cx="0" cy="3581400"/>
          </a:xfrm>
          <a:prstGeom prst="line">
            <a:avLst/>
          </a:prstGeom>
          <a:ln w="12700" cap="sq" cmpd="sng">
            <a:solidFill>
              <a:schemeClr val="bg2"/>
            </a:solidFill>
            <a:prstDash val="solid"/>
            <a:headEnd type="none" w="sm" len="sm"/>
            <a:tailEnd type="none" w="sm" len="sm"/>
          </a:ln>
        </p:spPr>
      </p:sp>
      <p:sp>
        <p:nvSpPr>
          <p:cNvPr id="20493" name="文本框 20492"/>
          <p:cNvSpPr txBox="1"/>
          <p:nvPr/>
        </p:nvSpPr>
        <p:spPr>
          <a:xfrm>
            <a:off x="5334000" y="2613484"/>
            <a:ext cx="1828800" cy="482600"/>
          </a:xfrm>
          <a:prstGeom prst="rect">
            <a:avLst/>
          </a:prstGeom>
          <a:noFill/>
          <a:ln w="12700">
            <a:noFill/>
          </a:ln>
        </p:spPr>
        <p:txBody>
          <a:bodyPr>
            <a:spAutoFit/>
          </a:bodyPr>
          <a:lstStyle/>
          <a:p>
            <a:pPr>
              <a:lnSpc>
                <a:spcPct val="80000"/>
              </a:lnSpc>
            </a:pPr>
            <a:r>
              <a:rPr lang="en-US" altLang="zh-CN" sz="1600" b="1">
                <a:solidFill>
                  <a:srgbClr val="000000"/>
                </a:solidFill>
                <a:latin typeface="Lucida Console" panose="020B0609040504020204" pitchFamily="49" charset="0"/>
                <a:ea typeface="宋体" panose="02010600030101010101" pitchFamily="2" charset="-122"/>
              </a:rPr>
              <a:t>BYTE_ARRAY </a:t>
            </a:r>
            <a:r>
              <a:rPr lang="en-US" altLang="zh-CN" sz="1600" b="1">
                <a:solidFill>
                  <a:srgbClr val="000000"/>
                </a:solidFill>
                <a:latin typeface="Lucida Console" panose="020B0609040504020204" pitchFamily="49" charset="0"/>
                <a:ea typeface="宋体" panose="02010600030101010101" pitchFamily="2" charset="-122"/>
                <a:sym typeface="Symbol" panose="05050102010706020507" pitchFamily="18" charset="2"/>
              </a:rPr>
              <a:t></a:t>
            </a:r>
            <a:endParaRPr lang="en-US" altLang="zh-CN" sz="1600" b="1">
              <a:solidFill>
                <a:srgbClr val="000000"/>
              </a:solidFill>
              <a:latin typeface="Lucida Console" panose="020B0609040504020204" pitchFamily="49" charset="0"/>
              <a:ea typeface="宋体" panose="02010600030101010101" pitchFamily="2" charset="-122"/>
              <a:sym typeface="Symbol" panose="05050102010706020507" pitchFamily="18" charset="2"/>
            </a:endParaRPr>
          </a:p>
          <a:p>
            <a:pPr>
              <a:lnSpc>
                <a:spcPct val="80000"/>
              </a:lnSpc>
            </a:pPr>
            <a:r>
              <a:rPr lang="en-US" altLang="zh-CN" sz="1600" b="1">
                <a:solidFill>
                  <a:srgbClr val="000000"/>
                </a:solidFill>
                <a:latin typeface="Lucida Console" panose="020B0609040504020204" pitchFamily="49" charset="0"/>
                <a:ea typeface="宋体" panose="02010600030101010101" pitchFamily="2" charset="-122"/>
              </a:rPr>
              <a:t>WORD_ARRAY </a:t>
            </a:r>
            <a:r>
              <a:rPr lang="en-US" altLang="zh-CN" sz="1600" b="1">
                <a:solidFill>
                  <a:srgbClr val="000000"/>
                </a:solidFill>
                <a:latin typeface="Lucida Console" panose="020B0609040504020204" pitchFamily="49" charset="0"/>
                <a:ea typeface="宋体" panose="02010600030101010101" pitchFamily="2" charset="-122"/>
                <a:sym typeface="Symbol" panose="05050102010706020507" pitchFamily="18" charset="2"/>
              </a:rPr>
              <a:t></a:t>
            </a:r>
            <a:endParaRPr lang="en-US" altLang="zh-CN" sz="1600" b="1">
              <a:solidFill>
                <a:srgbClr val="000000"/>
              </a:solidFill>
              <a:latin typeface="Lucida Console" panose="020B0609040504020204" pitchFamily="49" charset="0"/>
              <a:ea typeface="宋体" panose="02010600030101010101" pitchFamily="2" charset="-122"/>
              <a:sym typeface="Symbol" panose="05050102010706020507" pitchFamily="18" charset="2"/>
            </a:endParaRPr>
          </a:p>
        </p:txBody>
      </p:sp>
      <p:sp>
        <p:nvSpPr>
          <p:cNvPr id="20495" name="直接连接符 20494"/>
          <p:cNvSpPr/>
          <p:nvPr/>
        </p:nvSpPr>
        <p:spPr>
          <a:xfrm>
            <a:off x="7772400" y="2994484"/>
            <a:ext cx="0" cy="3581400"/>
          </a:xfrm>
          <a:prstGeom prst="line">
            <a:avLst/>
          </a:prstGeom>
          <a:ln w="12700" cap="sq" cmpd="sng">
            <a:solidFill>
              <a:schemeClr val="bg2"/>
            </a:solidFill>
            <a:prstDash val="solid"/>
            <a:headEnd type="none" w="sm" len="sm"/>
            <a:tailEnd type="none" w="sm" len="sm"/>
          </a:ln>
        </p:spPr>
      </p:sp>
      <p:grpSp>
        <p:nvGrpSpPr>
          <p:cNvPr id="20496" name="组合 20495"/>
          <p:cNvGrpSpPr/>
          <p:nvPr/>
        </p:nvGrpSpPr>
        <p:grpSpPr>
          <a:xfrm>
            <a:off x="7010400" y="5432884"/>
            <a:ext cx="762000" cy="349250"/>
            <a:chOff x="4176" y="2352"/>
            <a:chExt cx="480" cy="220"/>
          </a:xfrm>
        </p:grpSpPr>
        <p:sp>
          <p:nvSpPr>
            <p:cNvPr id="20497" name="矩形 20496"/>
            <p:cNvSpPr/>
            <p:nvPr/>
          </p:nvSpPr>
          <p:spPr>
            <a:xfrm>
              <a:off x="4176" y="2352"/>
              <a:ext cx="480" cy="192"/>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20498" name="文本框 20497"/>
            <p:cNvSpPr txBox="1"/>
            <p:nvPr/>
          </p:nvSpPr>
          <p:spPr>
            <a:xfrm>
              <a:off x="4176" y="2352"/>
              <a:ext cx="480" cy="22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grpSp>
        <p:nvGrpSpPr>
          <p:cNvPr id="20499" name="组合 20498"/>
          <p:cNvGrpSpPr/>
          <p:nvPr/>
        </p:nvGrpSpPr>
        <p:grpSpPr>
          <a:xfrm>
            <a:off x="7010400" y="2994484"/>
            <a:ext cx="762000" cy="349250"/>
            <a:chOff x="4176" y="2352"/>
            <a:chExt cx="480" cy="220"/>
          </a:xfrm>
        </p:grpSpPr>
        <p:sp>
          <p:nvSpPr>
            <p:cNvPr id="20500" name="矩形 20499"/>
            <p:cNvSpPr/>
            <p:nvPr/>
          </p:nvSpPr>
          <p:spPr>
            <a:xfrm>
              <a:off x="4176" y="2352"/>
              <a:ext cx="480" cy="192"/>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20501" name="文本框 20500"/>
            <p:cNvSpPr txBox="1"/>
            <p:nvPr/>
          </p:nvSpPr>
          <p:spPr>
            <a:xfrm>
              <a:off x="4176" y="2352"/>
              <a:ext cx="480" cy="22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sp>
        <p:nvSpPr>
          <p:cNvPr id="20502" name="右大括号 20501"/>
          <p:cNvSpPr/>
          <p:nvPr/>
        </p:nvSpPr>
        <p:spPr>
          <a:xfrm>
            <a:off x="7924800" y="2721409"/>
            <a:ext cx="57150" cy="2711475"/>
          </a:xfrm>
          <a:prstGeom prst="rightBrace">
            <a:avLst>
              <a:gd name="adj1" fmla="val 17824"/>
              <a:gd name="adj2" fmla="val 50000"/>
            </a:avLst>
          </a:prstGeom>
          <a:noFill/>
          <a:ln w="12700" cap="sq" cmpd="sng">
            <a:solidFill>
              <a:schemeClr val="bg2"/>
            </a:solidFill>
            <a:prstDash val="solid"/>
            <a:headEnd type="none" w="sm" len="sm"/>
            <a:tailEnd type="none" w="sm" len="sm"/>
          </a:ln>
        </p:spPr>
        <p:txBody>
          <a:bodyPr wrap="square" anchor="ctr">
            <a:spAutoFit/>
          </a:bodyPr>
          <a:lstStyle/>
          <a:p>
            <a:pPr algn="ctr"/>
            <a:endParaRPr>
              <a:solidFill>
                <a:srgbClr val="000000"/>
              </a:solidFill>
              <a:latin typeface="Times New Roman" panose="02020603050405020304" pitchFamily="18" charset="0"/>
              <a:ea typeface="宋体" panose="02010600030101010101" pitchFamily="2" charset="-122"/>
            </a:endParaRPr>
          </a:p>
        </p:txBody>
      </p:sp>
      <p:sp>
        <p:nvSpPr>
          <p:cNvPr id="20503" name="文本框 20502"/>
          <p:cNvSpPr txBox="1"/>
          <p:nvPr/>
        </p:nvSpPr>
        <p:spPr>
          <a:xfrm>
            <a:off x="8064388" y="3896221"/>
            <a:ext cx="838200" cy="396875"/>
          </a:xfrm>
          <a:prstGeom prst="rect">
            <a:avLst/>
          </a:prstGeom>
          <a:noFill/>
          <a:ln w="12700">
            <a:noFill/>
          </a:ln>
        </p:spPr>
        <p:txBody>
          <a:bodyPr>
            <a:spAutoFit/>
          </a:bodyPr>
          <a:lstStyle/>
          <a:p>
            <a:pPr>
              <a:spcBef>
                <a:spcPct val="50000"/>
              </a:spcBef>
            </a:pPr>
            <a:r>
              <a:rPr lang="en-US" altLang="zh-CN" sz="2000" dirty="0">
                <a:solidFill>
                  <a:srgbClr val="000000"/>
                </a:solidFill>
                <a:latin typeface="Times New Roman" panose="02020603050405020304" pitchFamily="18" charset="0"/>
                <a:ea typeface="宋体" panose="02010600030101010101" pitchFamily="2" charset="-122"/>
              </a:rPr>
              <a:t>50</a:t>
            </a:r>
            <a:r>
              <a:rPr lang="zh-CN" altLang="en-US" sz="2000" dirty="0">
                <a:solidFill>
                  <a:srgbClr val="000000"/>
                </a:solidFill>
                <a:latin typeface="Times New Roman" panose="02020603050405020304" pitchFamily="18" charset="0"/>
                <a:ea typeface="宋体" panose="02010600030101010101" pitchFamily="2" charset="-122"/>
              </a:rPr>
              <a:t>字</a:t>
            </a:r>
            <a:endParaRPr lang="zh-CN" altLang="en-US" sz="2000" dirty="0">
              <a:solidFill>
                <a:srgbClr val="000000"/>
              </a:solidFill>
              <a:latin typeface="Times New Roman" panose="02020603050405020304" pitchFamily="18" charset="0"/>
              <a:ea typeface="宋体" panose="02010600030101010101" pitchFamily="2" charset="-122"/>
            </a:endParaRPr>
          </a:p>
        </p:txBody>
      </p:sp>
      <p:sp>
        <p:nvSpPr>
          <p:cNvPr id="2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grpSp>
        <p:nvGrpSpPr>
          <p:cNvPr id="27" name="组合 26"/>
          <p:cNvGrpSpPr/>
          <p:nvPr/>
        </p:nvGrpSpPr>
        <p:grpSpPr>
          <a:xfrm>
            <a:off x="7010400" y="3353718"/>
            <a:ext cx="762000" cy="349250"/>
            <a:chOff x="4176" y="2352"/>
            <a:chExt cx="480" cy="220"/>
          </a:xfrm>
        </p:grpSpPr>
        <p:sp>
          <p:nvSpPr>
            <p:cNvPr id="28" name="矩形 27"/>
            <p:cNvSpPr/>
            <p:nvPr/>
          </p:nvSpPr>
          <p:spPr>
            <a:xfrm>
              <a:off x="4176" y="2352"/>
              <a:ext cx="480" cy="192"/>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29" name="文本框 20497"/>
            <p:cNvSpPr txBox="1"/>
            <p:nvPr/>
          </p:nvSpPr>
          <p:spPr>
            <a:xfrm>
              <a:off x="4176" y="2352"/>
              <a:ext cx="480" cy="22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grpSp>
        <p:nvGrpSpPr>
          <p:cNvPr id="30" name="组合 29"/>
          <p:cNvGrpSpPr/>
          <p:nvPr/>
        </p:nvGrpSpPr>
        <p:grpSpPr>
          <a:xfrm>
            <a:off x="7010400" y="3745408"/>
            <a:ext cx="762000" cy="349250"/>
            <a:chOff x="4176" y="2352"/>
            <a:chExt cx="480" cy="220"/>
          </a:xfrm>
        </p:grpSpPr>
        <p:sp>
          <p:nvSpPr>
            <p:cNvPr id="31" name="矩形 30"/>
            <p:cNvSpPr/>
            <p:nvPr/>
          </p:nvSpPr>
          <p:spPr>
            <a:xfrm>
              <a:off x="4176" y="2352"/>
              <a:ext cx="480" cy="192"/>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32" name="文本框 20497"/>
            <p:cNvSpPr txBox="1"/>
            <p:nvPr/>
          </p:nvSpPr>
          <p:spPr>
            <a:xfrm>
              <a:off x="4176" y="2352"/>
              <a:ext cx="480" cy="22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文本框 20481"/>
          <p:cNvSpPr txBox="1"/>
          <p:nvPr/>
        </p:nvSpPr>
        <p:spPr>
          <a:xfrm>
            <a:off x="452120" y="1044301"/>
            <a:ext cx="8332348" cy="861774"/>
          </a:xfrm>
          <a:prstGeom prst="rect">
            <a:avLst/>
          </a:prstGeom>
          <a:noFill/>
          <a:ln w="12700">
            <a:noFill/>
          </a:ln>
        </p:spPr>
        <p:txBody>
          <a:bodyPr wrap="square" anchor="ctr">
            <a:spAutoFit/>
          </a:bodyPr>
          <a:lstStyle/>
          <a:p>
            <a:pPr eaLnBrk="0" hangingPunct="0">
              <a:spcBef>
                <a:spcPct val="50000"/>
              </a:spcBef>
            </a:pPr>
            <a:r>
              <a:rPr lang="zh-CN" altLang="en-US" sz="2000" dirty="0">
                <a:solidFill>
                  <a:srgbClr val="000000"/>
                </a:solidFill>
                <a:latin typeface="Lucida Console" panose="020B0609040504020204" pitchFamily="49" charset="0"/>
                <a:ea typeface="宋体" panose="02010600030101010101" pitchFamily="2" charset="-122"/>
              </a:rPr>
              <a:t>思考：</a:t>
            </a:r>
            <a:endParaRPr lang="en-US" altLang="zh-CN" sz="2000" dirty="0">
              <a:solidFill>
                <a:srgbClr val="000000"/>
              </a:solidFill>
              <a:latin typeface="Lucida Console" panose="020B0609040504020204" pitchFamily="49" charset="0"/>
              <a:ea typeface="宋体" panose="02010600030101010101" pitchFamily="2" charset="-122"/>
            </a:endParaRPr>
          </a:p>
          <a:p>
            <a:pPr eaLnBrk="0" hangingPunct="0">
              <a:spcBef>
                <a:spcPct val="50000"/>
              </a:spcBef>
            </a:pPr>
            <a:r>
              <a:rPr lang="en-US" altLang="zh-CN" sz="2000" dirty="0">
                <a:solidFill>
                  <a:srgbClr val="000000"/>
                </a:solidFill>
                <a:latin typeface="Lucida Console" panose="020B0609040504020204" pitchFamily="49" charset="0"/>
              </a:rPr>
              <a:t>MOV WORD_ARRAY+2,  0             MOV BYTE_ARRAY+2,  0</a:t>
            </a:r>
            <a:endParaRPr lang="en-US" altLang="zh-CN" sz="2000" dirty="0">
              <a:solidFill>
                <a:srgbClr val="000000"/>
              </a:solidFill>
              <a:latin typeface="Lucida Console" panose="020B0609040504020204" pitchFamily="49" charset="0"/>
            </a:endParaRPr>
          </a:p>
        </p:txBody>
      </p:sp>
      <p:grpSp>
        <p:nvGrpSpPr>
          <p:cNvPr id="20484" name="组合 20483"/>
          <p:cNvGrpSpPr/>
          <p:nvPr/>
        </p:nvGrpSpPr>
        <p:grpSpPr>
          <a:xfrm>
            <a:off x="7010400" y="2689684"/>
            <a:ext cx="762000" cy="349250"/>
            <a:chOff x="4176" y="2352"/>
            <a:chExt cx="480" cy="220"/>
          </a:xfrm>
        </p:grpSpPr>
        <p:sp>
          <p:nvSpPr>
            <p:cNvPr id="20485" name="矩形 20484"/>
            <p:cNvSpPr/>
            <p:nvPr/>
          </p:nvSpPr>
          <p:spPr>
            <a:xfrm>
              <a:off x="4176" y="2352"/>
              <a:ext cx="480" cy="192"/>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20486" name="文本框 20485"/>
            <p:cNvSpPr txBox="1"/>
            <p:nvPr/>
          </p:nvSpPr>
          <p:spPr>
            <a:xfrm>
              <a:off x="4176" y="2352"/>
              <a:ext cx="480" cy="22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grpSp>
        <p:nvGrpSpPr>
          <p:cNvPr id="20487" name="组合 20486"/>
          <p:cNvGrpSpPr/>
          <p:nvPr/>
        </p:nvGrpSpPr>
        <p:grpSpPr>
          <a:xfrm>
            <a:off x="7010400" y="5737684"/>
            <a:ext cx="762000" cy="349250"/>
            <a:chOff x="4176" y="2352"/>
            <a:chExt cx="480" cy="220"/>
          </a:xfrm>
        </p:grpSpPr>
        <p:sp>
          <p:nvSpPr>
            <p:cNvPr id="20488" name="矩形 20487"/>
            <p:cNvSpPr/>
            <p:nvPr/>
          </p:nvSpPr>
          <p:spPr>
            <a:xfrm>
              <a:off x="4176" y="2352"/>
              <a:ext cx="480" cy="192"/>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20489" name="文本框 20488"/>
            <p:cNvSpPr txBox="1"/>
            <p:nvPr/>
          </p:nvSpPr>
          <p:spPr>
            <a:xfrm>
              <a:off x="4176" y="2352"/>
              <a:ext cx="480" cy="22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sp>
        <p:nvSpPr>
          <p:cNvPr id="20490" name="直接连接符 20489"/>
          <p:cNvSpPr/>
          <p:nvPr/>
        </p:nvSpPr>
        <p:spPr>
          <a:xfrm>
            <a:off x="7772400" y="2384884"/>
            <a:ext cx="0" cy="381000"/>
          </a:xfrm>
          <a:prstGeom prst="line">
            <a:avLst/>
          </a:prstGeom>
          <a:ln w="12700" cap="sq" cmpd="sng">
            <a:solidFill>
              <a:schemeClr val="bg2"/>
            </a:solidFill>
            <a:prstDash val="solid"/>
            <a:headEnd type="none" w="sm" len="sm"/>
            <a:tailEnd type="none" w="sm" len="sm"/>
          </a:ln>
        </p:spPr>
      </p:sp>
      <p:sp>
        <p:nvSpPr>
          <p:cNvPr id="20491" name="直接连接符 20490"/>
          <p:cNvSpPr/>
          <p:nvPr/>
        </p:nvSpPr>
        <p:spPr>
          <a:xfrm>
            <a:off x="7010400" y="2384884"/>
            <a:ext cx="0" cy="381000"/>
          </a:xfrm>
          <a:prstGeom prst="line">
            <a:avLst/>
          </a:prstGeom>
          <a:ln w="12700" cap="sq" cmpd="sng">
            <a:solidFill>
              <a:schemeClr val="bg2"/>
            </a:solidFill>
            <a:prstDash val="solid"/>
            <a:headEnd type="none" w="sm" len="sm"/>
            <a:tailEnd type="none" w="sm" len="sm"/>
          </a:ln>
        </p:spPr>
      </p:sp>
      <p:sp>
        <p:nvSpPr>
          <p:cNvPr id="20492" name="直接连接符 20491"/>
          <p:cNvSpPr/>
          <p:nvPr/>
        </p:nvSpPr>
        <p:spPr>
          <a:xfrm>
            <a:off x="7010400" y="2994484"/>
            <a:ext cx="0" cy="3581400"/>
          </a:xfrm>
          <a:prstGeom prst="line">
            <a:avLst/>
          </a:prstGeom>
          <a:ln w="12700" cap="sq" cmpd="sng">
            <a:solidFill>
              <a:schemeClr val="bg2"/>
            </a:solidFill>
            <a:prstDash val="solid"/>
            <a:headEnd type="none" w="sm" len="sm"/>
            <a:tailEnd type="none" w="sm" len="sm"/>
          </a:ln>
        </p:spPr>
      </p:sp>
      <p:sp>
        <p:nvSpPr>
          <p:cNvPr id="20493" name="文本框 20492"/>
          <p:cNvSpPr txBox="1"/>
          <p:nvPr/>
        </p:nvSpPr>
        <p:spPr>
          <a:xfrm>
            <a:off x="5334000" y="2613484"/>
            <a:ext cx="1828800" cy="482600"/>
          </a:xfrm>
          <a:prstGeom prst="rect">
            <a:avLst/>
          </a:prstGeom>
          <a:noFill/>
          <a:ln w="12700">
            <a:noFill/>
          </a:ln>
        </p:spPr>
        <p:txBody>
          <a:bodyPr>
            <a:spAutoFit/>
          </a:bodyPr>
          <a:lstStyle/>
          <a:p>
            <a:pPr>
              <a:lnSpc>
                <a:spcPct val="80000"/>
              </a:lnSpc>
            </a:pPr>
            <a:r>
              <a:rPr lang="en-US" altLang="zh-CN" sz="1600" b="1">
                <a:solidFill>
                  <a:srgbClr val="000000"/>
                </a:solidFill>
                <a:latin typeface="Lucida Console" panose="020B0609040504020204" pitchFamily="49" charset="0"/>
                <a:ea typeface="宋体" panose="02010600030101010101" pitchFamily="2" charset="-122"/>
              </a:rPr>
              <a:t>BYTE_ARRAY </a:t>
            </a:r>
            <a:r>
              <a:rPr lang="en-US" altLang="zh-CN" sz="1600" b="1">
                <a:solidFill>
                  <a:srgbClr val="000000"/>
                </a:solidFill>
                <a:latin typeface="Lucida Console" panose="020B0609040504020204" pitchFamily="49" charset="0"/>
                <a:ea typeface="宋体" panose="02010600030101010101" pitchFamily="2" charset="-122"/>
                <a:sym typeface="Symbol" panose="05050102010706020507" pitchFamily="18" charset="2"/>
              </a:rPr>
              <a:t></a:t>
            </a:r>
            <a:endParaRPr lang="en-US" altLang="zh-CN" sz="1600" b="1">
              <a:solidFill>
                <a:srgbClr val="000000"/>
              </a:solidFill>
              <a:latin typeface="Lucida Console" panose="020B0609040504020204" pitchFamily="49" charset="0"/>
              <a:ea typeface="宋体" panose="02010600030101010101" pitchFamily="2" charset="-122"/>
              <a:sym typeface="Symbol" panose="05050102010706020507" pitchFamily="18" charset="2"/>
            </a:endParaRPr>
          </a:p>
          <a:p>
            <a:pPr>
              <a:lnSpc>
                <a:spcPct val="80000"/>
              </a:lnSpc>
            </a:pPr>
            <a:r>
              <a:rPr lang="en-US" altLang="zh-CN" sz="1600" b="1">
                <a:solidFill>
                  <a:srgbClr val="000000"/>
                </a:solidFill>
                <a:latin typeface="Lucida Console" panose="020B0609040504020204" pitchFamily="49" charset="0"/>
                <a:ea typeface="宋体" panose="02010600030101010101" pitchFamily="2" charset="-122"/>
              </a:rPr>
              <a:t>WORD_ARRAY </a:t>
            </a:r>
            <a:r>
              <a:rPr lang="en-US" altLang="zh-CN" sz="1600" b="1">
                <a:solidFill>
                  <a:srgbClr val="000000"/>
                </a:solidFill>
                <a:latin typeface="Lucida Console" panose="020B0609040504020204" pitchFamily="49" charset="0"/>
                <a:ea typeface="宋体" panose="02010600030101010101" pitchFamily="2" charset="-122"/>
                <a:sym typeface="Symbol" panose="05050102010706020507" pitchFamily="18" charset="2"/>
              </a:rPr>
              <a:t></a:t>
            </a:r>
            <a:endParaRPr lang="en-US" altLang="zh-CN" sz="1600" b="1">
              <a:solidFill>
                <a:srgbClr val="000000"/>
              </a:solidFill>
              <a:latin typeface="Lucida Console" panose="020B0609040504020204" pitchFamily="49" charset="0"/>
              <a:ea typeface="宋体" panose="02010600030101010101" pitchFamily="2" charset="-122"/>
              <a:sym typeface="Symbol" panose="05050102010706020507" pitchFamily="18" charset="2"/>
            </a:endParaRPr>
          </a:p>
        </p:txBody>
      </p:sp>
      <p:sp>
        <p:nvSpPr>
          <p:cNvPr id="20495" name="直接连接符 20494"/>
          <p:cNvSpPr/>
          <p:nvPr/>
        </p:nvSpPr>
        <p:spPr>
          <a:xfrm>
            <a:off x="7772400" y="2994484"/>
            <a:ext cx="0" cy="3581400"/>
          </a:xfrm>
          <a:prstGeom prst="line">
            <a:avLst/>
          </a:prstGeom>
          <a:ln w="12700" cap="sq" cmpd="sng">
            <a:solidFill>
              <a:schemeClr val="bg2"/>
            </a:solidFill>
            <a:prstDash val="solid"/>
            <a:headEnd type="none" w="sm" len="sm"/>
            <a:tailEnd type="none" w="sm" len="sm"/>
          </a:ln>
        </p:spPr>
      </p:sp>
      <p:grpSp>
        <p:nvGrpSpPr>
          <p:cNvPr id="20496" name="组合 20495"/>
          <p:cNvGrpSpPr/>
          <p:nvPr/>
        </p:nvGrpSpPr>
        <p:grpSpPr>
          <a:xfrm>
            <a:off x="7010400" y="5432884"/>
            <a:ext cx="762000" cy="349250"/>
            <a:chOff x="4176" y="2352"/>
            <a:chExt cx="480" cy="220"/>
          </a:xfrm>
        </p:grpSpPr>
        <p:sp>
          <p:nvSpPr>
            <p:cNvPr id="20497" name="矩形 20496"/>
            <p:cNvSpPr/>
            <p:nvPr/>
          </p:nvSpPr>
          <p:spPr>
            <a:xfrm>
              <a:off x="4176" y="2352"/>
              <a:ext cx="480" cy="192"/>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20498" name="文本框 20497"/>
            <p:cNvSpPr txBox="1"/>
            <p:nvPr/>
          </p:nvSpPr>
          <p:spPr>
            <a:xfrm>
              <a:off x="4176" y="2352"/>
              <a:ext cx="480" cy="22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grpSp>
        <p:nvGrpSpPr>
          <p:cNvPr id="20499" name="组合 20498"/>
          <p:cNvGrpSpPr/>
          <p:nvPr/>
        </p:nvGrpSpPr>
        <p:grpSpPr>
          <a:xfrm>
            <a:off x="7010400" y="2994484"/>
            <a:ext cx="762000" cy="349250"/>
            <a:chOff x="4176" y="2352"/>
            <a:chExt cx="480" cy="220"/>
          </a:xfrm>
        </p:grpSpPr>
        <p:sp>
          <p:nvSpPr>
            <p:cNvPr id="20500" name="矩形 20499"/>
            <p:cNvSpPr/>
            <p:nvPr/>
          </p:nvSpPr>
          <p:spPr>
            <a:xfrm>
              <a:off x="4176" y="2352"/>
              <a:ext cx="480" cy="192"/>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20501" name="文本框 20500"/>
            <p:cNvSpPr txBox="1"/>
            <p:nvPr/>
          </p:nvSpPr>
          <p:spPr>
            <a:xfrm>
              <a:off x="4176" y="2352"/>
              <a:ext cx="480" cy="22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sp>
        <p:nvSpPr>
          <p:cNvPr id="20502" name="右大括号 20501"/>
          <p:cNvSpPr/>
          <p:nvPr/>
        </p:nvSpPr>
        <p:spPr>
          <a:xfrm>
            <a:off x="7924800" y="2721409"/>
            <a:ext cx="57150" cy="2711475"/>
          </a:xfrm>
          <a:prstGeom prst="rightBrace">
            <a:avLst>
              <a:gd name="adj1" fmla="val 17824"/>
              <a:gd name="adj2" fmla="val 50000"/>
            </a:avLst>
          </a:prstGeom>
          <a:noFill/>
          <a:ln w="12700" cap="sq" cmpd="sng">
            <a:solidFill>
              <a:schemeClr val="bg2"/>
            </a:solidFill>
            <a:prstDash val="solid"/>
            <a:headEnd type="none" w="sm" len="sm"/>
            <a:tailEnd type="none" w="sm" len="sm"/>
          </a:ln>
        </p:spPr>
        <p:txBody>
          <a:bodyPr wrap="square" anchor="ctr">
            <a:spAutoFit/>
          </a:bodyPr>
          <a:lstStyle/>
          <a:p>
            <a:pPr algn="ctr"/>
            <a:endParaRPr>
              <a:solidFill>
                <a:srgbClr val="000000"/>
              </a:solidFill>
              <a:latin typeface="Times New Roman" panose="02020603050405020304" pitchFamily="18" charset="0"/>
              <a:ea typeface="宋体" panose="02010600030101010101" pitchFamily="2" charset="-122"/>
            </a:endParaRPr>
          </a:p>
        </p:txBody>
      </p:sp>
      <p:sp>
        <p:nvSpPr>
          <p:cNvPr id="20503" name="文本框 20502"/>
          <p:cNvSpPr txBox="1"/>
          <p:nvPr/>
        </p:nvSpPr>
        <p:spPr>
          <a:xfrm>
            <a:off x="8064388" y="3896221"/>
            <a:ext cx="838200" cy="396875"/>
          </a:xfrm>
          <a:prstGeom prst="rect">
            <a:avLst/>
          </a:prstGeom>
          <a:noFill/>
          <a:ln w="12700">
            <a:noFill/>
          </a:ln>
        </p:spPr>
        <p:txBody>
          <a:bodyPr>
            <a:spAutoFit/>
          </a:bodyPr>
          <a:lstStyle/>
          <a:p>
            <a:pPr>
              <a:spcBef>
                <a:spcPct val="50000"/>
              </a:spcBef>
            </a:pPr>
            <a:r>
              <a:rPr lang="en-US" altLang="zh-CN" sz="2000" dirty="0">
                <a:solidFill>
                  <a:srgbClr val="000000"/>
                </a:solidFill>
                <a:latin typeface="Times New Roman" panose="02020603050405020304" pitchFamily="18" charset="0"/>
                <a:ea typeface="宋体" panose="02010600030101010101" pitchFamily="2" charset="-122"/>
              </a:rPr>
              <a:t>50</a:t>
            </a:r>
            <a:r>
              <a:rPr lang="zh-CN" altLang="en-US" sz="2000" dirty="0">
                <a:solidFill>
                  <a:srgbClr val="000000"/>
                </a:solidFill>
                <a:latin typeface="Times New Roman" panose="02020603050405020304" pitchFamily="18" charset="0"/>
                <a:ea typeface="宋体" panose="02010600030101010101" pitchFamily="2" charset="-122"/>
              </a:rPr>
              <a:t>字</a:t>
            </a:r>
            <a:endParaRPr lang="zh-CN" altLang="en-US" sz="2000" dirty="0">
              <a:solidFill>
                <a:srgbClr val="000000"/>
              </a:solidFill>
              <a:latin typeface="Times New Roman" panose="02020603050405020304" pitchFamily="18" charset="0"/>
              <a:ea typeface="宋体" panose="02010600030101010101" pitchFamily="2" charset="-122"/>
            </a:endParaRPr>
          </a:p>
        </p:txBody>
      </p:sp>
      <p:sp>
        <p:nvSpPr>
          <p:cNvPr id="2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grpSp>
        <p:nvGrpSpPr>
          <p:cNvPr id="27" name="组合 26"/>
          <p:cNvGrpSpPr/>
          <p:nvPr/>
        </p:nvGrpSpPr>
        <p:grpSpPr>
          <a:xfrm>
            <a:off x="7010400" y="3353718"/>
            <a:ext cx="762000" cy="349250"/>
            <a:chOff x="4176" y="2352"/>
            <a:chExt cx="480" cy="220"/>
          </a:xfrm>
        </p:grpSpPr>
        <p:sp>
          <p:nvSpPr>
            <p:cNvPr id="28" name="矩形 27"/>
            <p:cNvSpPr/>
            <p:nvPr/>
          </p:nvSpPr>
          <p:spPr>
            <a:xfrm>
              <a:off x="4176" y="2352"/>
              <a:ext cx="480" cy="192"/>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29" name="文本框 20497"/>
            <p:cNvSpPr txBox="1"/>
            <p:nvPr/>
          </p:nvSpPr>
          <p:spPr>
            <a:xfrm>
              <a:off x="4176" y="2352"/>
              <a:ext cx="480" cy="22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grpSp>
        <p:nvGrpSpPr>
          <p:cNvPr id="30" name="组合 29"/>
          <p:cNvGrpSpPr/>
          <p:nvPr/>
        </p:nvGrpSpPr>
        <p:grpSpPr>
          <a:xfrm>
            <a:off x="7010400" y="3745408"/>
            <a:ext cx="762000" cy="349250"/>
            <a:chOff x="4176" y="2352"/>
            <a:chExt cx="480" cy="220"/>
          </a:xfrm>
        </p:grpSpPr>
        <p:sp>
          <p:nvSpPr>
            <p:cNvPr id="31" name="矩形 30"/>
            <p:cNvSpPr/>
            <p:nvPr/>
          </p:nvSpPr>
          <p:spPr>
            <a:xfrm>
              <a:off x="4176" y="2352"/>
              <a:ext cx="480" cy="192"/>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32" name="文本框 20497"/>
            <p:cNvSpPr txBox="1"/>
            <p:nvPr/>
          </p:nvSpPr>
          <p:spPr>
            <a:xfrm>
              <a:off x="4176" y="2352"/>
              <a:ext cx="480" cy="22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grpSp>
        <p:nvGrpSpPr>
          <p:cNvPr id="33" name="组合 32"/>
          <p:cNvGrpSpPr/>
          <p:nvPr/>
        </p:nvGrpSpPr>
        <p:grpSpPr>
          <a:xfrm>
            <a:off x="2477852" y="2763627"/>
            <a:ext cx="762000" cy="349250"/>
            <a:chOff x="4176" y="2352"/>
            <a:chExt cx="480" cy="220"/>
          </a:xfrm>
        </p:grpSpPr>
        <p:sp>
          <p:nvSpPr>
            <p:cNvPr id="34" name="矩形 33"/>
            <p:cNvSpPr/>
            <p:nvPr/>
          </p:nvSpPr>
          <p:spPr>
            <a:xfrm>
              <a:off x="4176" y="2352"/>
              <a:ext cx="480" cy="192"/>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35" name="文本框 20485"/>
            <p:cNvSpPr txBox="1"/>
            <p:nvPr/>
          </p:nvSpPr>
          <p:spPr>
            <a:xfrm>
              <a:off x="4176" y="2352"/>
              <a:ext cx="480" cy="22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grpSp>
        <p:nvGrpSpPr>
          <p:cNvPr id="36" name="组合 35"/>
          <p:cNvGrpSpPr/>
          <p:nvPr/>
        </p:nvGrpSpPr>
        <p:grpSpPr>
          <a:xfrm>
            <a:off x="2477852" y="5811627"/>
            <a:ext cx="762000" cy="349250"/>
            <a:chOff x="4176" y="2352"/>
            <a:chExt cx="480" cy="220"/>
          </a:xfrm>
        </p:grpSpPr>
        <p:sp>
          <p:nvSpPr>
            <p:cNvPr id="37" name="矩形 36"/>
            <p:cNvSpPr/>
            <p:nvPr/>
          </p:nvSpPr>
          <p:spPr>
            <a:xfrm>
              <a:off x="4176" y="2352"/>
              <a:ext cx="480" cy="192"/>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38" name="文本框 20488"/>
            <p:cNvSpPr txBox="1"/>
            <p:nvPr/>
          </p:nvSpPr>
          <p:spPr>
            <a:xfrm>
              <a:off x="4176" y="2352"/>
              <a:ext cx="480" cy="22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sp>
        <p:nvSpPr>
          <p:cNvPr id="39" name="直接连接符 38"/>
          <p:cNvSpPr/>
          <p:nvPr/>
        </p:nvSpPr>
        <p:spPr>
          <a:xfrm>
            <a:off x="3239852" y="2458827"/>
            <a:ext cx="0" cy="381000"/>
          </a:xfrm>
          <a:prstGeom prst="line">
            <a:avLst/>
          </a:prstGeom>
          <a:ln w="12700" cap="sq" cmpd="sng">
            <a:solidFill>
              <a:schemeClr val="bg2"/>
            </a:solidFill>
            <a:prstDash val="solid"/>
            <a:headEnd type="none" w="sm" len="sm"/>
            <a:tailEnd type="none" w="sm" len="sm"/>
          </a:ln>
        </p:spPr>
      </p:sp>
      <p:sp>
        <p:nvSpPr>
          <p:cNvPr id="40" name="直接连接符 39"/>
          <p:cNvSpPr/>
          <p:nvPr/>
        </p:nvSpPr>
        <p:spPr>
          <a:xfrm>
            <a:off x="2477852" y="2458827"/>
            <a:ext cx="0" cy="381000"/>
          </a:xfrm>
          <a:prstGeom prst="line">
            <a:avLst/>
          </a:prstGeom>
          <a:ln w="12700" cap="sq" cmpd="sng">
            <a:solidFill>
              <a:schemeClr val="bg2"/>
            </a:solidFill>
            <a:prstDash val="solid"/>
            <a:headEnd type="none" w="sm" len="sm"/>
            <a:tailEnd type="none" w="sm" len="sm"/>
          </a:ln>
        </p:spPr>
      </p:sp>
      <p:sp>
        <p:nvSpPr>
          <p:cNvPr id="41" name="直接连接符 40"/>
          <p:cNvSpPr/>
          <p:nvPr/>
        </p:nvSpPr>
        <p:spPr>
          <a:xfrm>
            <a:off x="2477852" y="3068427"/>
            <a:ext cx="0" cy="3581400"/>
          </a:xfrm>
          <a:prstGeom prst="line">
            <a:avLst/>
          </a:prstGeom>
          <a:ln w="12700" cap="sq" cmpd="sng">
            <a:solidFill>
              <a:schemeClr val="bg2"/>
            </a:solidFill>
            <a:prstDash val="solid"/>
            <a:headEnd type="none" w="sm" len="sm"/>
            <a:tailEnd type="none" w="sm" len="sm"/>
          </a:ln>
        </p:spPr>
      </p:sp>
      <p:sp>
        <p:nvSpPr>
          <p:cNvPr id="42" name="文本框 20492"/>
          <p:cNvSpPr txBox="1"/>
          <p:nvPr/>
        </p:nvSpPr>
        <p:spPr>
          <a:xfrm>
            <a:off x="801452" y="2687427"/>
            <a:ext cx="1828800" cy="482600"/>
          </a:xfrm>
          <a:prstGeom prst="rect">
            <a:avLst/>
          </a:prstGeom>
          <a:noFill/>
          <a:ln w="12700">
            <a:noFill/>
          </a:ln>
        </p:spPr>
        <p:txBody>
          <a:bodyPr>
            <a:spAutoFit/>
          </a:bodyPr>
          <a:lstStyle/>
          <a:p>
            <a:pPr>
              <a:lnSpc>
                <a:spcPct val="80000"/>
              </a:lnSpc>
            </a:pPr>
            <a:r>
              <a:rPr lang="en-US" altLang="zh-CN" sz="1600" b="1">
                <a:solidFill>
                  <a:srgbClr val="000000"/>
                </a:solidFill>
                <a:latin typeface="Lucida Console" panose="020B0609040504020204" pitchFamily="49" charset="0"/>
                <a:ea typeface="宋体" panose="02010600030101010101" pitchFamily="2" charset="-122"/>
              </a:rPr>
              <a:t>BYTE_ARRAY </a:t>
            </a:r>
            <a:r>
              <a:rPr lang="en-US" altLang="zh-CN" sz="1600" b="1">
                <a:solidFill>
                  <a:srgbClr val="000000"/>
                </a:solidFill>
                <a:latin typeface="Lucida Console" panose="020B0609040504020204" pitchFamily="49" charset="0"/>
                <a:ea typeface="宋体" panose="02010600030101010101" pitchFamily="2" charset="-122"/>
                <a:sym typeface="Symbol" panose="05050102010706020507" pitchFamily="18" charset="2"/>
              </a:rPr>
              <a:t></a:t>
            </a:r>
            <a:endParaRPr lang="en-US" altLang="zh-CN" sz="1600" b="1">
              <a:solidFill>
                <a:srgbClr val="000000"/>
              </a:solidFill>
              <a:latin typeface="Lucida Console" panose="020B0609040504020204" pitchFamily="49" charset="0"/>
              <a:ea typeface="宋体" panose="02010600030101010101" pitchFamily="2" charset="-122"/>
              <a:sym typeface="Symbol" panose="05050102010706020507" pitchFamily="18" charset="2"/>
            </a:endParaRPr>
          </a:p>
          <a:p>
            <a:pPr>
              <a:lnSpc>
                <a:spcPct val="80000"/>
              </a:lnSpc>
            </a:pPr>
            <a:r>
              <a:rPr lang="en-US" altLang="zh-CN" sz="1600" b="1">
                <a:solidFill>
                  <a:srgbClr val="000000"/>
                </a:solidFill>
                <a:latin typeface="Lucida Console" panose="020B0609040504020204" pitchFamily="49" charset="0"/>
                <a:ea typeface="宋体" panose="02010600030101010101" pitchFamily="2" charset="-122"/>
              </a:rPr>
              <a:t>WORD_ARRAY </a:t>
            </a:r>
            <a:r>
              <a:rPr lang="en-US" altLang="zh-CN" sz="1600" b="1">
                <a:solidFill>
                  <a:srgbClr val="000000"/>
                </a:solidFill>
                <a:latin typeface="Lucida Console" panose="020B0609040504020204" pitchFamily="49" charset="0"/>
                <a:ea typeface="宋体" panose="02010600030101010101" pitchFamily="2" charset="-122"/>
                <a:sym typeface="Symbol" panose="05050102010706020507" pitchFamily="18" charset="2"/>
              </a:rPr>
              <a:t></a:t>
            </a:r>
            <a:endParaRPr lang="en-US" altLang="zh-CN" sz="1600" b="1">
              <a:solidFill>
                <a:srgbClr val="000000"/>
              </a:solidFill>
              <a:latin typeface="Lucida Console" panose="020B0609040504020204" pitchFamily="49" charset="0"/>
              <a:ea typeface="宋体" panose="02010600030101010101" pitchFamily="2" charset="-122"/>
              <a:sym typeface="Symbol" panose="05050102010706020507" pitchFamily="18" charset="2"/>
            </a:endParaRPr>
          </a:p>
        </p:txBody>
      </p:sp>
      <p:sp>
        <p:nvSpPr>
          <p:cNvPr id="43" name="直接连接符 42"/>
          <p:cNvSpPr/>
          <p:nvPr/>
        </p:nvSpPr>
        <p:spPr>
          <a:xfrm>
            <a:off x="3239852" y="3068427"/>
            <a:ext cx="0" cy="3581400"/>
          </a:xfrm>
          <a:prstGeom prst="line">
            <a:avLst/>
          </a:prstGeom>
          <a:ln w="12700" cap="sq" cmpd="sng">
            <a:solidFill>
              <a:schemeClr val="bg2"/>
            </a:solidFill>
            <a:prstDash val="solid"/>
            <a:headEnd type="none" w="sm" len="sm"/>
            <a:tailEnd type="none" w="sm" len="sm"/>
          </a:ln>
        </p:spPr>
      </p:sp>
      <p:grpSp>
        <p:nvGrpSpPr>
          <p:cNvPr id="44" name="组合 43"/>
          <p:cNvGrpSpPr/>
          <p:nvPr/>
        </p:nvGrpSpPr>
        <p:grpSpPr>
          <a:xfrm>
            <a:off x="2477852" y="5506827"/>
            <a:ext cx="762000" cy="349250"/>
            <a:chOff x="4176" y="2352"/>
            <a:chExt cx="480" cy="220"/>
          </a:xfrm>
        </p:grpSpPr>
        <p:sp>
          <p:nvSpPr>
            <p:cNvPr id="45" name="矩形 44"/>
            <p:cNvSpPr/>
            <p:nvPr/>
          </p:nvSpPr>
          <p:spPr>
            <a:xfrm>
              <a:off x="4176" y="2352"/>
              <a:ext cx="480" cy="192"/>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46" name="文本框 20497"/>
            <p:cNvSpPr txBox="1"/>
            <p:nvPr/>
          </p:nvSpPr>
          <p:spPr>
            <a:xfrm>
              <a:off x="4176" y="2352"/>
              <a:ext cx="480" cy="22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grpSp>
        <p:nvGrpSpPr>
          <p:cNvPr id="47" name="组合 46"/>
          <p:cNvGrpSpPr/>
          <p:nvPr/>
        </p:nvGrpSpPr>
        <p:grpSpPr>
          <a:xfrm>
            <a:off x="2477852" y="3068427"/>
            <a:ext cx="762000" cy="349250"/>
            <a:chOff x="4176" y="2352"/>
            <a:chExt cx="480" cy="220"/>
          </a:xfrm>
        </p:grpSpPr>
        <p:sp>
          <p:nvSpPr>
            <p:cNvPr id="48" name="矩形 47"/>
            <p:cNvSpPr/>
            <p:nvPr/>
          </p:nvSpPr>
          <p:spPr>
            <a:xfrm>
              <a:off x="4176" y="2352"/>
              <a:ext cx="480" cy="192"/>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49" name="文本框 20500"/>
            <p:cNvSpPr txBox="1"/>
            <p:nvPr/>
          </p:nvSpPr>
          <p:spPr>
            <a:xfrm>
              <a:off x="4176" y="2352"/>
              <a:ext cx="480" cy="22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sp>
        <p:nvSpPr>
          <p:cNvPr id="50" name="右大括号 49"/>
          <p:cNvSpPr/>
          <p:nvPr/>
        </p:nvSpPr>
        <p:spPr>
          <a:xfrm>
            <a:off x="3392252" y="2795352"/>
            <a:ext cx="57150" cy="2711475"/>
          </a:xfrm>
          <a:prstGeom prst="rightBrace">
            <a:avLst>
              <a:gd name="adj1" fmla="val 17824"/>
              <a:gd name="adj2" fmla="val 50000"/>
            </a:avLst>
          </a:prstGeom>
          <a:noFill/>
          <a:ln w="12700" cap="sq" cmpd="sng">
            <a:solidFill>
              <a:schemeClr val="bg2"/>
            </a:solidFill>
            <a:prstDash val="solid"/>
            <a:headEnd type="none" w="sm" len="sm"/>
            <a:tailEnd type="none" w="sm" len="sm"/>
          </a:ln>
        </p:spPr>
        <p:txBody>
          <a:bodyPr wrap="square" anchor="ctr">
            <a:spAutoFit/>
          </a:bodyPr>
          <a:lstStyle/>
          <a:p>
            <a:pPr algn="ctr"/>
            <a:endParaRPr>
              <a:solidFill>
                <a:srgbClr val="000000"/>
              </a:solidFill>
              <a:latin typeface="Times New Roman" panose="02020603050405020304" pitchFamily="18" charset="0"/>
              <a:ea typeface="宋体" panose="02010600030101010101" pitchFamily="2" charset="-122"/>
            </a:endParaRPr>
          </a:p>
        </p:txBody>
      </p:sp>
      <p:sp>
        <p:nvSpPr>
          <p:cNvPr id="51" name="文本框 20502"/>
          <p:cNvSpPr txBox="1"/>
          <p:nvPr/>
        </p:nvSpPr>
        <p:spPr>
          <a:xfrm>
            <a:off x="3531840" y="3970164"/>
            <a:ext cx="838200" cy="396875"/>
          </a:xfrm>
          <a:prstGeom prst="rect">
            <a:avLst/>
          </a:prstGeom>
          <a:noFill/>
          <a:ln w="12700">
            <a:noFill/>
          </a:ln>
        </p:spPr>
        <p:txBody>
          <a:bodyPr>
            <a:spAutoFit/>
          </a:bodyPr>
          <a:lstStyle/>
          <a:p>
            <a:pPr>
              <a:spcBef>
                <a:spcPct val="50000"/>
              </a:spcBef>
            </a:pPr>
            <a:r>
              <a:rPr lang="en-US" altLang="zh-CN" sz="2000" dirty="0">
                <a:solidFill>
                  <a:srgbClr val="000000"/>
                </a:solidFill>
                <a:latin typeface="Times New Roman" panose="02020603050405020304" pitchFamily="18" charset="0"/>
                <a:ea typeface="宋体" panose="02010600030101010101" pitchFamily="2" charset="-122"/>
              </a:rPr>
              <a:t>50</a:t>
            </a:r>
            <a:r>
              <a:rPr lang="zh-CN" altLang="en-US" sz="2000" dirty="0">
                <a:solidFill>
                  <a:srgbClr val="000000"/>
                </a:solidFill>
                <a:latin typeface="Times New Roman" panose="02020603050405020304" pitchFamily="18" charset="0"/>
                <a:ea typeface="宋体" panose="02010600030101010101" pitchFamily="2" charset="-122"/>
              </a:rPr>
              <a:t>字</a:t>
            </a:r>
            <a:endParaRPr lang="zh-CN" altLang="en-US" sz="2000" dirty="0">
              <a:solidFill>
                <a:srgbClr val="000000"/>
              </a:solidFill>
              <a:latin typeface="Times New Roman" panose="02020603050405020304" pitchFamily="18" charset="0"/>
              <a:ea typeface="宋体" panose="02010600030101010101" pitchFamily="2" charset="-122"/>
            </a:endParaRPr>
          </a:p>
        </p:txBody>
      </p:sp>
      <p:sp>
        <p:nvSpPr>
          <p:cNvPr id="53" name="矩形 52"/>
          <p:cNvSpPr/>
          <p:nvPr/>
        </p:nvSpPr>
        <p:spPr>
          <a:xfrm>
            <a:off x="2477852" y="3427661"/>
            <a:ext cx="762000" cy="304800"/>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54" name="文本框 20497"/>
          <p:cNvSpPr txBox="1"/>
          <p:nvPr/>
        </p:nvSpPr>
        <p:spPr>
          <a:xfrm>
            <a:off x="2477852" y="3427661"/>
            <a:ext cx="762000" cy="34925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nvGrpSpPr>
          <p:cNvPr id="55" name="组合 54"/>
          <p:cNvGrpSpPr/>
          <p:nvPr/>
        </p:nvGrpSpPr>
        <p:grpSpPr>
          <a:xfrm>
            <a:off x="2477852" y="3819351"/>
            <a:ext cx="762000" cy="349250"/>
            <a:chOff x="4176" y="2352"/>
            <a:chExt cx="480" cy="220"/>
          </a:xfrm>
        </p:grpSpPr>
        <p:sp>
          <p:nvSpPr>
            <p:cNvPr id="56" name="矩形 55"/>
            <p:cNvSpPr/>
            <p:nvPr/>
          </p:nvSpPr>
          <p:spPr>
            <a:xfrm>
              <a:off x="4176" y="2352"/>
              <a:ext cx="480" cy="192"/>
            </a:xfrm>
            <a:prstGeom prst="rect">
              <a:avLst/>
            </a:prstGeom>
            <a:noFill/>
            <a:ln w="12700" cap="sq" cmpd="sng">
              <a:solidFill>
                <a:schemeClr val="bg2"/>
              </a:solidFill>
              <a:prstDash val="solid"/>
              <a:miter/>
              <a:headEnd type="none" w="sm" len="sm"/>
              <a:tailEnd type="none" w="sm" len="sm"/>
            </a:ln>
          </p:spPr>
          <p:txBody>
            <a:bodyPr/>
            <a:lstStyle/>
            <a:p>
              <a:endParaRPr lang="zh-CN" altLang="en-US"/>
            </a:p>
          </p:txBody>
        </p:sp>
        <p:sp>
          <p:nvSpPr>
            <p:cNvPr id="57" name="文本框 20497"/>
            <p:cNvSpPr txBox="1"/>
            <p:nvPr/>
          </p:nvSpPr>
          <p:spPr>
            <a:xfrm>
              <a:off x="4176" y="2352"/>
              <a:ext cx="480" cy="220"/>
            </a:xfrm>
            <a:prstGeom prst="rect">
              <a:avLst/>
            </a:prstGeom>
            <a:noFill/>
            <a:ln w="12700" cap="sq" cmpd="sng">
              <a:solidFill>
                <a:schemeClr val="bg2"/>
              </a:solidFill>
              <a:prstDash val="solid"/>
              <a:miter/>
              <a:headEnd type="none" w="sm" len="sm"/>
              <a:tailEnd type="none" w="sm" len="sm"/>
            </a:ln>
          </p:spPr>
          <p:txBody>
            <a:bodyPr>
              <a:spAutoFit/>
            </a:bodyPr>
            <a:lstStyle/>
            <a:p>
              <a:pPr>
                <a:spcBef>
                  <a:spcPct val="50000"/>
                </a:spcBef>
              </a:pPr>
              <a:r>
                <a:rPr lang="en-US" altLang="zh-CN" sz="1600">
                  <a:solidFill>
                    <a:srgbClr val="000000"/>
                  </a:solidFill>
                  <a:latin typeface="Lucida Console" panose="020B0609040504020204" pitchFamily="49" charset="0"/>
                  <a:ea typeface="宋体" panose="02010600030101010101" pitchFamily="2" charset="-122"/>
                </a:rPr>
                <a:t> </a:t>
              </a:r>
              <a:endParaRPr lang="en-US" altLang="zh-CN" sz="1600">
                <a:solidFill>
                  <a:srgbClr val="000000"/>
                </a:solidFill>
                <a:latin typeface="Lucida Console" panose="020B0609040504020204" pitchFamily="49" charset="0"/>
                <a:ea typeface="宋体" panose="02010600030101010101" pitchFamily="2" charset="-122"/>
              </a:endParaRPr>
            </a:p>
          </p:txBody>
        </p:sp>
      </p:grpSp>
      <p:sp>
        <p:nvSpPr>
          <p:cNvPr id="2" name="TextBox 1"/>
          <p:cNvSpPr txBox="1"/>
          <p:nvPr/>
        </p:nvSpPr>
        <p:spPr>
          <a:xfrm>
            <a:off x="7234947" y="3325143"/>
            <a:ext cx="312906" cy="400110"/>
          </a:xfrm>
          <a:prstGeom prst="rect">
            <a:avLst/>
          </a:prstGeom>
          <a:noFill/>
        </p:spPr>
        <p:txBody>
          <a:bodyPr wrap="none" rtlCol="0">
            <a:spAutoFit/>
          </a:bodyPr>
          <a:lstStyle/>
          <a:p>
            <a:r>
              <a:rPr lang="en-US" altLang="zh-CN" sz="2000" b="0" dirty="0"/>
              <a:t>0</a:t>
            </a:r>
            <a:endParaRPr lang="zh-CN" altLang="en-US" sz="2000" b="0" dirty="0"/>
          </a:p>
        </p:txBody>
      </p:sp>
      <p:sp>
        <p:nvSpPr>
          <p:cNvPr id="58" name="TextBox 57"/>
          <p:cNvSpPr txBox="1"/>
          <p:nvPr/>
        </p:nvSpPr>
        <p:spPr>
          <a:xfrm>
            <a:off x="2702399" y="3356992"/>
            <a:ext cx="312906" cy="400110"/>
          </a:xfrm>
          <a:prstGeom prst="rect">
            <a:avLst/>
          </a:prstGeom>
          <a:noFill/>
        </p:spPr>
        <p:txBody>
          <a:bodyPr wrap="none" rtlCol="0">
            <a:spAutoFit/>
          </a:bodyPr>
          <a:lstStyle/>
          <a:p>
            <a:r>
              <a:rPr lang="en-US" altLang="zh-CN" sz="2000" b="0" dirty="0"/>
              <a:t>0</a:t>
            </a:r>
            <a:endParaRPr lang="zh-CN" altLang="en-US" sz="2000" b="0" dirty="0"/>
          </a:p>
        </p:txBody>
      </p:sp>
      <p:sp>
        <p:nvSpPr>
          <p:cNvPr id="59" name="TextBox 58"/>
          <p:cNvSpPr txBox="1"/>
          <p:nvPr/>
        </p:nvSpPr>
        <p:spPr>
          <a:xfrm>
            <a:off x="2702399" y="3793921"/>
            <a:ext cx="312906" cy="400110"/>
          </a:xfrm>
          <a:prstGeom prst="rect">
            <a:avLst/>
          </a:prstGeom>
          <a:noFill/>
        </p:spPr>
        <p:txBody>
          <a:bodyPr wrap="none" rtlCol="0">
            <a:spAutoFit/>
          </a:bodyPr>
          <a:lstStyle/>
          <a:p>
            <a:r>
              <a:rPr lang="en-US" altLang="zh-CN" sz="2000" b="0" dirty="0"/>
              <a:t>0</a:t>
            </a:r>
            <a:endParaRPr lang="zh-CN" altLang="en-US" sz="2000" b="0" dirty="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460628" y="944724"/>
            <a:ext cx="798151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b="1" dirty="0">
                <a:solidFill>
                  <a:srgbClr val="800000"/>
                </a:solidFill>
              </a:rPr>
              <a:t>◆ </a:t>
            </a:r>
            <a:r>
              <a:rPr lang="zh-CN" altLang="en-US" dirty="0">
                <a:solidFill>
                  <a:srgbClr val="000000"/>
                </a:solidFill>
              </a:rPr>
              <a:t>表达式赋值伪操作：</a:t>
            </a:r>
            <a:endParaRPr lang="en-US" altLang="zh-CN" dirty="0">
              <a:solidFill>
                <a:srgbClr val="000000"/>
              </a:solidFill>
            </a:endParaRPr>
          </a:p>
          <a:p>
            <a:pPr marL="742950" lvl="1" indent="-285750">
              <a:lnSpc>
                <a:spcPct val="90000"/>
              </a:lnSpc>
              <a:buFont typeface="Wingdings" panose="05000000000000000000" pitchFamily="2" charset="2"/>
              <a:buChar char="u"/>
            </a:pPr>
            <a:r>
              <a:rPr lang="en-US" altLang="zh-CN" sz="2000" b="0" kern="0" dirty="0">
                <a:latin typeface="+mn-lt"/>
                <a:cs typeface="Times New Roman" panose="02020603050405020304" pitchFamily="18" charset="0"/>
              </a:rPr>
              <a:t>EQU</a:t>
            </a:r>
            <a:r>
              <a:rPr lang="zh-CN" altLang="en-US" sz="2000" b="0" kern="0" dirty="0">
                <a:latin typeface="+mn-lt"/>
              </a:rPr>
              <a:t>伪指令的功能是给各种形式的表达式赋予一个名字。</a:t>
            </a:r>
            <a:endParaRPr lang="zh-CN" altLang="en-US" sz="2000" b="0" kern="0" dirty="0">
              <a:latin typeface="+mn-lt"/>
            </a:endParaRPr>
          </a:p>
          <a:p>
            <a:pPr marL="742950" lvl="1" indent="-285750">
              <a:lnSpc>
                <a:spcPct val="90000"/>
              </a:lnSpc>
              <a:buFont typeface="Wingdings" panose="05000000000000000000" pitchFamily="2" charset="2"/>
              <a:buChar char="u"/>
            </a:pPr>
            <a:r>
              <a:rPr lang="zh-CN" altLang="en-US" sz="2000" b="0" kern="0" dirty="0">
                <a:latin typeface="+mn-lt"/>
              </a:rPr>
              <a:t>表达式一旦赋予了一个名字，在以后的程序语句中，凡是出现该表达式的地方，均可用它的名字来代替。 格式：</a:t>
            </a:r>
            <a:endParaRPr lang="zh-CN" altLang="en-US" sz="2000" b="0" kern="0" dirty="0">
              <a:latin typeface="+mn-lt"/>
            </a:endParaRPr>
          </a:p>
          <a:p>
            <a:pPr lvl="1" algn="just">
              <a:lnSpc>
                <a:spcPct val="90000"/>
              </a:lnSpc>
            </a:pPr>
            <a:r>
              <a:rPr lang="en-US" altLang="zh-CN" sz="2000" b="0" kern="0" dirty="0">
                <a:solidFill>
                  <a:srgbClr val="FF0000"/>
                </a:solidFill>
                <a:latin typeface="+mn-lt"/>
              </a:rPr>
              <a:t>		</a:t>
            </a:r>
            <a:r>
              <a:rPr lang="zh-CN" altLang="en-US" sz="2000" b="0" kern="0" dirty="0">
                <a:solidFill>
                  <a:srgbClr val="FF0000"/>
                </a:solidFill>
                <a:latin typeface="+mn-lt"/>
              </a:rPr>
              <a:t>表达式名</a:t>
            </a:r>
            <a:r>
              <a:rPr lang="zh-CN" altLang="en-US" sz="2000" b="0" kern="0" dirty="0">
                <a:solidFill>
                  <a:srgbClr val="FF0000"/>
                </a:solidFill>
                <a:latin typeface="+mn-lt"/>
                <a:cs typeface="Times New Roman" panose="02020603050405020304" pitchFamily="18" charset="0"/>
              </a:rPr>
              <a:t>    </a:t>
            </a:r>
            <a:r>
              <a:rPr lang="en-US" altLang="zh-CN" sz="2000" b="0" kern="0" dirty="0">
                <a:solidFill>
                  <a:srgbClr val="FF0000"/>
                </a:solidFill>
                <a:latin typeface="+mn-lt"/>
                <a:cs typeface="Times New Roman" panose="02020603050405020304" pitchFamily="18" charset="0"/>
              </a:rPr>
              <a:t>EQU    </a:t>
            </a:r>
            <a:r>
              <a:rPr lang="zh-CN" altLang="en-US" sz="2000" b="0" kern="0" dirty="0">
                <a:solidFill>
                  <a:srgbClr val="FF0000"/>
                </a:solidFill>
                <a:latin typeface="+mn-lt"/>
              </a:rPr>
              <a:t>表达式</a:t>
            </a:r>
            <a:endParaRPr lang="zh-CN" altLang="en-US" sz="2000" b="0" kern="0" dirty="0">
              <a:solidFill>
                <a:srgbClr val="FF0000"/>
              </a:solidFill>
              <a:latin typeface="+mn-lt"/>
              <a:cs typeface="Times New Roman" panose="02020603050405020304" pitchFamily="18" charset="0"/>
            </a:endParaRPr>
          </a:p>
          <a:p>
            <a:pPr marL="742950" lvl="1" indent="-285750" algn="just">
              <a:lnSpc>
                <a:spcPct val="90000"/>
              </a:lnSpc>
              <a:buFont typeface="Wingdings" panose="05000000000000000000" pitchFamily="2" charset="2"/>
              <a:buChar char="u"/>
            </a:pPr>
            <a:r>
              <a:rPr lang="zh-CN" altLang="en-US" sz="2000" b="0" kern="0" dirty="0">
                <a:latin typeface="+mn-lt"/>
              </a:rPr>
              <a:t>上式中的表达式可以是任何有效的操作数格式，可以是任何可以求出常数值的表达式，也可以是任何有效的助记符。</a:t>
            </a:r>
            <a:endParaRPr lang="zh-CN" altLang="en-US" sz="2000" b="0" kern="0" dirty="0">
              <a:latin typeface="+mn-lt"/>
            </a:endParaRPr>
          </a:p>
          <a:p>
            <a:endParaRPr lang="zh-CN" altLang="en-US" dirty="0">
              <a:solidFill>
                <a:srgbClr val="000000"/>
              </a:solidFill>
            </a:endParaRPr>
          </a:p>
        </p:txBody>
      </p:sp>
      <p:sp>
        <p:nvSpPr>
          <p:cNvPr id="21507" name="Text Box 3"/>
          <p:cNvSpPr txBox="1">
            <a:spLocks noChangeArrowheads="1"/>
          </p:cNvSpPr>
          <p:nvPr/>
        </p:nvSpPr>
        <p:spPr bwMode="auto">
          <a:xfrm>
            <a:off x="2123728" y="3213595"/>
            <a:ext cx="5181600" cy="3513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lvl="2" algn="just" eaLnBrk="0" hangingPunct="0">
              <a:lnSpc>
                <a:spcPct val="120000"/>
              </a:lnSpc>
            </a:pPr>
            <a:r>
              <a:rPr lang="en-US" altLang="zh-CN" sz="1800" b="0" dirty="0">
                <a:solidFill>
                  <a:srgbClr val="000000"/>
                </a:solidFill>
                <a:latin typeface="+mn-lt"/>
              </a:rPr>
              <a:t>ALPHA   EQU  9</a:t>
            </a:r>
            <a:endParaRPr lang="en-US" altLang="zh-CN" sz="1800" b="0" dirty="0">
              <a:solidFill>
                <a:srgbClr val="000000"/>
              </a:solidFill>
              <a:latin typeface="+mn-lt"/>
            </a:endParaRPr>
          </a:p>
          <a:p>
            <a:pPr lvl="2" algn="just" eaLnBrk="0" hangingPunct="0">
              <a:lnSpc>
                <a:spcPct val="120000"/>
              </a:lnSpc>
            </a:pPr>
            <a:r>
              <a:rPr lang="en-US" altLang="zh-CN" sz="1800" b="0" dirty="0">
                <a:solidFill>
                  <a:srgbClr val="000000"/>
                </a:solidFill>
                <a:latin typeface="+mn-lt"/>
              </a:rPr>
              <a:t>BETA    EQU  ALPHA+18</a:t>
            </a:r>
            <a:endParaRPr lang="en-US" altLang="zh-CN" sz="1800" b="0" dirty="0">
              <a:solidFill>
                <a:srgbClr val="000000"/>
              </a:solidFill>
              <a:latin typeface="+mn-lt"/>
            </a:endParaRPr>
          </a:p>
          <a:p>
            <a:pPr lvl="2" algn="just" eaLnBrk="0" hangingPunct="0">
              <a:lnSpc>
                <a:spcPct val="120000"/>
              </a:lnSpc>
            </a:pPr>
            <a:r>
              <a:rPr lang="en-US" altLang="zh-CN" sz="1800" b="0" dirty="0">
                <a:solidFill>
                  <a:srgbClr val="000000"/>
                </a:solidFill>
                <a:latin typeface="+mn-lt"/>
              </a:rPr>
              <a:t>BB      EQU  [BP+8]</a:t>
            </a:r>
            <a:endParaRPr lang="en-US" altLang="zh-CN" sz="1800" b="0" dirty="0">
              <a:solidFill>
                <a:srgbClr val="000000"/>
              </a:solidFill>
              <a:latin typeface="+mn-lt"/>
            </a:endParaRPr>
          </a:p>
          <a:p>
            <a:pPr algn="just" eaLnBrk="0" hangingPunct="0"/>
            <a:endParaRPr lang="en-US" altLang="zh-CN" sz="1800" b="0" dirty="0">
              <a:solidFill>
                <a:srgbClr val="000000"/>
              </a:solidFill>
              <a:latin typeface="+mn-lt"/>
            </a:endParaRPr>
          </a:p>
          <a:p>
            <a:pPr algn="just" eaLnBrk="0" hangingPunct="0"/>
            <a:r>
              <a:rPr lang="zh-CN" altLang="en-US" sz="1800" b="0" dirty="0">
                <a:solidFill>
                  <a:srgbClr val="000000"/>
                </a:solidFill>
                <a:latin typeface="+mn-lt"/>
              </a:rPr>
              <a:t>功能与“</a:t>
            </a:r>
            <a:r>
              <a:rPr lang="en-US" altLang="zh-CN" sz="1800" b="0" dirty="0">
                <a:solidFill>
                  <a:srgbClr val="000000"/>
                </a:solidFill>
                <a:latin typeface="+mn-lt"/>
              </a:rPr>
              <a:t>=</a:t>
            </a:r>
            <a:r>
              <a:rPr lang="zh-CN" altLang="en-US" sz="1800" b="0" dirty="0">
                <a:solidFill>
                  <a:srgbClr val="000000"/>
                </a:solidFill>
                <a:latin typeface="+mn-lt"/>
              </a:rPr>
              <a:t>”相似，区别在于</a:t>
            </a:r>
            <a:r>
              <a:rPr lang="en-US" altLang="zh-CN" sz="1800" b="0" dirty="0">
                <a:solidFill>
                  <a:srgbClr val="000000"/>
                </a:solidFill>
                <a:latin typeface="+mn-lt"/>
              </a:rPr>
              <a:t>EQU</a:t>
            </a:r>
            <a:r>
              <a:rPr lang="zh-CN" altLang="en-US" sz="1800" b="0" dirty="0">
                <a:solidFill>
                  <a:srgbClr val="000000"/>
                </a:solidFill>
                <a:latin typeface="+mn-lt"/>
              </a:rPr>
              <a:t>不允许重复定义，而</a:t>
            </a:r>
            <a:r>
              <a:rPr lang="en-US" altLang="zh-CN" sz="1800" b="0" dirty="0">
                <a:solidFill>
                  <a:srgbClr val="000000"/>
                </a:solidFill>
                <a:latin typeface="+mn-lt"/>
              </a:rPr>
              <a:t> “ = ” </a:t>
            </a:r>
            <a:r>
              <a:rPr lang="zh-CN" altLang="en-US" sz="1800" b="0" dirty="0">
                <a:solidFill>
                  <a:srgbClr val="000000"/>
                </a:solidFill>
                <a:latin typeface="+mn-lt"/>
              </a:rPr>
              <a:t>伪操作（</a:t>
            </a:r>
            <a:r>
              <a:rPr lang="zh-CN" altLang="en-US" sz="1800" b="0" dirty="0">
                <a:solidFill>
                  <a:srgbClr val="000000"/>
                </a:solidFill>
                <a:latin typeface="+mn-lt"/>
                <a:ea typeface="楷体_GB2312" pitchFamily="49" charset="-122"/>
              </a:rPr>
              <a:t>允许重复定义</a:t>
            </a:r>
            <a:r>
              <a:rPr lang="zh-CN" altLang="en-US" sz="1800" b="0" dirty="0">
                <a:solidFill>
                  <a:srgbClr val="000000"/>
                </a:solidFill>
                <a:latin typeface="+mn-lt"/>
              </a:rPr>
              <a:t>）：</a:t>
            </a:r>
            <a:endParaRPr lang="zh-CN" altLang="en-US" sz="1800" b="0" dirty="0">
              <a:solidFill>
                <a:srgbClr val="000000"/>
              </a:solidFill>
              <a:latin typeface="+mn-lt"/>
            </a:endParaRPr>
          </a:p>
          <a:p>
            <a:pPr lvl="2" algn="just" eaLnBrk="0" hangingPunct="0">
              <a:lnSpc>
                <a:spcPct val="115000"/>
              </a:lnSpc>
            </a:pPr>
            <a:r>
              <a:rPr lang="en-US" altLang="zh-CN" sz="1800" b="0" dirty="0">
                <a:solidFill>
                  <a:srgbClr val="000000"/>
                </a:solidFill>
                <a:latin typeface="+mn-lt"/>
              </a:rPr>
              <a:t>……</a:t>
            </a:r>
            <a:endParaRPr lang="en-US" altLang="zh-CN" sz="1800" b="0" dirty="0">
              <a:solidFill>
                <a:srgbClr val="000000"/>
              </a:solidFill>
              <a:latin typeface="+mn-lt"/>
            </a:endParaRPr>
          </a:p>
          <a:p>
            <a:pPr lvl="2" algn="just" eaLnBrk="0" hangingPunct="0">
              <a:lnSpc>
                <a:spcPct val="115000"/>
              </a:lnSpc>
            </a:pPr>
            <a:r>
              <a:rPr lang="en-US" altLang="zh-CN" sz="1800" b="0" dirty="0">
                <a:solidFill>
                  <a:srgbClr val="000000"/>
                </a:solidFill>
                <a:latin typeface="+mn-lt"/>
              </a:rPr>
              <a:t>EMP = 7</a:t>
            </a:r>
            <a:endParaRPr lang="en-US" altLang="zh-CN" sz="1800" b="0" dirty="0">
              <a:solidFill>
                <a:srgbClr val="000000"/>
              </a:solidFill>
              <a:latin typeface="+mn-lt"/>
            </a:endParaRPr>
          </a:p>
          <a:p>
            <a:pPr lvl="2" algn="just" eaLnBrk="0" hangingPunct="0">
              <a:lnSpc>
                <a:spcPct val="115000"/>
              </a:lnSpc>
            </a:pPr>
            <a:r>
              <a:rPr lang="en-US" altLang="zh-CN" sz="1800" b="0" dirty="0">
                <a:solidFill>
                  <a:srgbClr val="000000"/>
                </a:solidFill>
                <a:latin typeface="+mn-lt"/>
              </a:rPr>
              <a:t>……</a:t>
            </a:r>
            <a:endParaRPr lang="en-US" altLang="zh-CN" sz="1800" b="0" dirty="0">
              <a:solidFill>
                <a:srgbClr val="000000"/>
              </a:solidFill>
              <a:latin typeface="+mn-lt"/>
            </a:endParaRPr>
          </a:p>
          <a:p>
            <a:pPr lvl="2" algn="just" eaLnBrk="0" hangingPunct="0">
              <a:lnSpc>
                <a:spcPct val="115000"/>
              </a:lnSpc>
            </a:pPr>
            <a:r>
              <a:rPr lang="en-US" altLang="zh-CN" sz="1800" b="0" dirty="0">
                <a:solidFill>
                  <a:srgbClr val="000000"/>
                </a:solidFill>
                <a:latin typeface="+mn-lt"/>
              </a:rPr>
              <a:t>EMP = EMP+1</a:t>
            </a:r>
            <a:endParaRPr lang="en-US" altLang="zh-CN" sz="1800" b="0" dirty="0">
              <a:solidFill>
                <a:srgbClr val="000000"/>
              </a:solidFill>
              <a:latin typeface="+mn-lt"/>
            </a:endParaRPr>
          </a:p>
          <a:p>
            <a:pPr lvl="2" algn="just" eaLnBrk="0" hangingPunct="0">
              <a:lnSpc>
                <a:spcPct val="115000"/>
              </a:lnSpc>
            </a:pPr>
            <a:r>
              <a:rPr lang="en-US" altLang="zh-CN" sz="1800" b="0" dirty="0">
                <a:solidFill>
                  <a:srgbClr val="000000"/>
                </a:solidFill>
                <a:latin typeface="+mn-lt"/>
              </a:rPr>
              <a:t>……</a:t>
            </a:r>
            <a:endParaRPr lang="en-US" altLang="zh-CN" sz="1800" b="0" dirty="0">
              <a:solidFill>
                <a:srgbClr val="000000"/>
              </a:solidFill>
              <a:latin typeface="+mn-lt"/>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452120" y="979512"/>
            <a:ext cx="808032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b="1" dirty="0">
                <a:solidFill>
                  <a:srgbClr val="800000"/>
                </a:solidFill>
              </a:rPr>
              <a:t>◆ </a:t>
            </a:r>
            <a:r>
              <a:rPr lang="zh-CN" altLang="en-US" dirty="0">
                <a:solidFill>
                  <a:srgbClr val="000000"/>
                </a:solidFill>
              </a:rPr>
              <a:t>基数控制伪操作：</a:t>
            </a:r>
            <a:endParaRPr lang="en-US" altLang="zh-CN" dirty="0">
              <a:solidFill>
                <a:srgbClr val="000000"/>
              </a:solidFill>
            </a:endParaRPr>
          </a:p>
          <a:p>
            <a:endParaRPr lang="en-US" altLang="zh-CN" dirty="0">
              <a:solidFill>
                <a:srgbClr val="000000"/>
              </a:solidFill>
            </a:endParaRPr>
          </a:p>
          <a:p>
            <a:pPr marL="342900" indent="-342900">
              <a:buFont typeface="Wingdings" panose="05000000000000000000" pitchFamily="2" charset="2"/>
              <a:buChar char="Ø"/>
            </a:pPr>
            <a:r>
              <a:rPr lang="zh-CN" altLang="en-US" b="0" dirty="0">
                <a:solidFill>
                  <a:srgbClr val="000000"/>
                </a:solidFill>
              </a:rPr>
              <a:t>汇编语言默认的数是十进制，</a:t>
            </a:r>
            <a:r>
              <a:rPr lang="en-US" altLang="zh-CN" b="0" dirty="0">
                <a:solidFill>
                  <a:srgbClr val="000000"/>
                </a:solidFill>
              </a:rPr>
              <a:t>.RADIX</a:t>
            </a:r>
            <a:r>
              <a:rPr lang="zh-CN" altLang="en-US" b="0" dirty="0">
                <a:solidFill>
                  <a:srgbClr val="000000"/>
                </a:solidFill>
              </a:rPr>
              <a:t>伪指令可以把默认的基数改变为</a:t>
            </a:r>
            <a:r>
              <a:rPr lang="en-US" altLang="zh-CN" b="0" dirty="0">
                <a:solidFill>
                  <a:srgbClr val="000000"/>
                </a:solidFill>
              </a:rPr>
              <a:t>2~16</a:t>
            </a:r>
            <a:r>
              <a:rPr lang="zh-CN" altLang="en-US" b="0" dirty="0">
                <a:solidFill>
                  <a:srgbClr val="000000"/>
                </a:solidFill>
              </a:rPr>
              <a:t>范围内的任何基数。</a:t>
            </a:r>
            <a:endParaRPr lang="en-US" altLang="zh-CN" b="0" dirty="0">
              <a:solidFill>
                <a:srgbClr val="000000"/>
              </a:solidFill>
            </a:endParaRPr>
          </a:p>
          <a:p>
            <a:pPr marL="342900" indent="-342900">
              <a:buFont typeface="Wingdings" panose="05000000000000000000" pitchFamily="2" charset="2"/>
              <a:buChar char="Ø"/>
            </a:pPr>
            <a:r>
              <a:rPr lang="zh-CN" altLang="en-US" b="0" dirty="0">
                <a:solidFill>
                  <a:srgbClr val="000000"/>
                </a:solidFill>
              </a:rPr>
              <a:t>指令格式：</a:t>
            </a:r>
            <a:r>
              <a:rPr lang="en-US" altLang="zh-CN" b="0" dirty="0">
                <a:solidFill>
                  <a:srgbClr val="000000"/>
                </a:solidFill>
              </a:rPr>
              <a:t>. RADIX  </a:t>
            </a:r>
            <a:r>
              <a:rPr lang="zh-CN" altLang="zh-CN" b="0" dirty="0">
                <a:solidFill>
                  <a:srgbClr val="000000"/>
                </a:solidFill>
              </a:rPr>
              <a:t>表达式</a:t>
            </a:r>
            <a:endParaRPr lang="en-US" altLang="zh-CN" b="0" dirty="0">
              <a:solidFill>
                <a:srgbClr val="000000"/>
              </a:solidFill>
            </a:endParaRPr>
          </a:p>
          <a:p>
            <a:pPr marL="342900" indent="-342900">
              <a:buFont typeface="Wingdings" panose="05000000000000000000" pitchFamily="2" charset="2"/>
              <a:buChar char="Ø"/>
            </a:pPr>
            <a:endParaRPr lang="en-US" altLang="zh-CN" dirty="0">
              <a:solidFill>
                <a:srgbClr val="000000"/>
              </a:solidFill>
            </a:endParaRPr>
          </a:p>
          <a:p>
            <a:pPr marL="342900" indent="-342900">
              <a:buFont typeface="Wingdings" panose="05000000000000000000" pitchFamily="2" charset="2"/>
              <a:buChar char="Ø"/>
            </a:pPr>
            <a:endParaRPr lang="en-US" altLang="zh-CN" dirty="0">
              <a:solidFill>
                <a:srgbClr val="000000"/>
              </a:solidFill>
            </a:endParaRPr>
          </a:p>
          <a:p>
            <a:pPr marL="342900" indent="-342900">
              <a:buFont typeface="Wingdings" panose="05000000000000000000" pitchFamily="2" charset="2"/>
              <a:buChar char="Ø"/>
            </a:pPr>
            <a:endParaRPr lang="en-US" altLang="zh-CN" dirty="0">
              <a:solidFill>
                <a:srgbClr val="000000"/>
              </a:solidFill>
            </a:endParaRPr>
          </a:p>
          <a:p>
            <a:pPr marL="342900" indent="-342900">
              <a:buFont typeface="Wingdings" panose="05000000000000000000" pitchFamily="2" charset="2"/>
              <a:buChar char="Ø"/>
            </a:pPr>
            <a:endParaRPr lang="en-US" altLang="zh-CN" dirty="0">
              <a:solidFill>
                <a:srgbClr val="000000"/>
              </a:solidFill>
            </a:endParaRPr>
          </a:p>
          <a:p>
            <a:pPr marL="342900" indent="-342900">
              <a:buFont typeface="Wingdings" panose="05000000000000000000" pitchFamily="2" charset="2"/>
              <a:buChar char="Ø"/>
            </a:pPr>
            <a:endParaRPr lang="en-US" altLang="zh-CN" dirty="0">
              <a:solidFill>
                <a:srgbClr val="000000"/>
              </a:solidFill>
            </a:endParaRPr>
          </a:p>
          <a:p>
            <a:pPr marL="342900" indent="-342900">
              <a:buFont typeface="Wingdings" panose="05000000000000000000" pitchFamily="2" charset="2"/>
              <a:buChar char="Ø"/>
            </a:pPr>
            <a:endParaRPr lang="en-US" altLang="zh-CN" dirty="0">
              <a:solidFill>
                <a:srgbClr val="000000"/>
              </a:solidFill>
            </a:endParaRPr>
          </a:p>
          <a:p>
            <a:pPr marL="0" lvl="2"/>
            <a:r>
              <a:rPr lang="zh-CN" altLang="en-US" b="0" dirty="0">
                <a:solidFill>
                  <a:srgbClr val="000000"/>
                </a:solidFill>
              </a:rPr>
              <a:t>注意：在用“</a:t>
            </a:r>
            <a:r>
              <a:rPr lang="en-US" altLang="zh-CN" b="0" dirty="0">
                <a:solidFill>
                  <a:srgbClr val="000000"/>
                </a:solidFill>
                <a:latin typeface="Lucida Console" panose="020B0609040504020204" pitchFamily="49" charset="0"/>
              </a:rPr>
              <a:t>.RADIX  16</a:t>
            </a:r>
            <a:r>
              <a:rPr lang="zh-CN" altLang="en-US" b="0" dirty="0">
                <a:solidFill>
                  <a:srgbClr val="000000"/>
                </a:solidFill>
              </a:rPr>
              <a:t>”</a:t>
            </a:r>
            <a:r>
              <a:rPr lang="zh-CN" altLang="en-US" sz="2200" b="0" dirty="0">
                <a:solidFill>
                  <a:srgbClr val="000000"/>
                </a:solidFill>
                <a:latin typeface="Lucida Console" panose="020B0609040504020204" pitchFamily="49" charset="0"/>
              </a:rPr>
              <a:t>把基数改为</a:t>
            </a:r>
            <a:r>
              <a:rPr lang="en-US" altLang="zh-CN" sz="2200" b="0" dirty="0">
                <a:solidFill>
                  <a:srgbClr val="000000"/>
                </a:solidFill>
                <a:latin typeface="Lucida Console" panose="020B0609040504020204" pitchFamily="49" charset="0"/>
              </a:rPr>
              <a:t>16</a:t>
            </a:r>
            <a:r>
              <a:rPr lang="zh-CN" altLang="en-US" sz="2200" b="0" dirty="0">
                <a:solidFill>
                  <a:srgbClr val="000000"/>
                </a:solidFill>
                <a:latin typeface="Lucida Console" panose="020B0609040504020204" pitchFamily="49" charset="0"/>
              </a:rPr>
              <a:t>进制后，十进制后面的数都应该加</a:t>
            </a:r>
            <a:r>
              <a:rPr lang="en-US" altLang="zh-CN" sz="2200" b="0" dirty="0">
                <a:solidFill>
                  <a:srgbClr val="000000"/>
                </a:solidFill>
                <a:latin typeface="Lucida Console" panose="020B0609040504020204" pitchFamily="49" charset="0"/>
              </a:rPr>
              <a:t>D</a:t>
            </a:r>
            <a:r>
              <a:rPr lang="zh-CN" altLang="en-US" sz="2200" b="0" dirty="0">
                <a:solidFill>
                  <a:srgbClr val="000000"/>
                </a:solidFill>
                <a:latin typeface="Lucida Console" panose="020B0609040504020204" pitchFamily="49" charset="0"/>
              </a:rPr>
              <a:t>。在这种情况下，如果某个</a:t>
            </a:r>
            <a:r>
              <a:rPr lang="en-US" altLang="zh-CN" sz="2200" b="0" dirty="0">
                <a:solidFill>
                  <a:srgbClr val="000000"/>
                </a:solidFill>
                <a:latin typeface="Lucida Console" panose="020B0609040504020204" pitchFamily="49" charset="0"/>
              </a:rPr>
              <a:t>16</a:t>
            </a:r>
            <a:r>
              <a:rPr lang="zh-CN" altLang="en-US" sz="2200" b="0" dirty="0">
                <a:solidFill>
                  <a:srgbClr val="000000"/>
                </a:solidFill>
                <a:latin typeface="Lucida Console" panose="020B0609040504020204" pitchFamily="49" charset="0"/>
              </a:rPr>
              <a:t>进制的末尾字符为</a:t>
            </a:r>
            <a:r>
              <a:rPr lang="en-US" altLang="zh-CN" sz="2200" b="0" dirty="0">
                <a:solidFill>
                  <a:srgbClr val="000000"/>
                </a:solidFill>
                <a:latin typeface="Lucida Console" panose="020B0609040504020204" pitchFamily="49" charset="0"/>
              </a:rPr>
              <a:t>D</a:t>
            </a:r>
            <a:r>
              <a:rPr lang="zh-CN" altLang="en-US" sz="2200" b="0" dirty="0">
                <a:solidFill>
                  <a:srgbClr val="000000"/>
                </a:solidFill>
                <a:latin typeface="Lucida Console" panose="020B0609040504020204" pitchFamily="49" charset="0"/>
              </a:rPr>
              <a:t>，则应在其后跟字母</a:t>
            </a:r>
            <a:r>
              <a:rPr lang="en-US" altLang="zh-CN" sz="2200" b="0" dirty="0">
                <a:solidFill>
                  <a:srgbClr val="000000"/>
                </a:solidFill>
                <a:latin typeface="Lucida Console" panose="020B0609040504020204" pitchFamily="49" charset="0"/>
              </a:rPr>
              <a:t>H</a:t>
            </a:r>
            <a:r>
              <a:rPr lang="zh-CN" altLang="en-US" sz="2200" b="0" dirty="0">
                <a:solidFill>
                  <a:srgbClr val="000000"/>
                </a:solidFill>
                <a:latin typeface="Lucida Console" panose="020B0609040504020204" pitchFamily="49" charset="0"/>
              </a:rPr>
              <a:t>，以免产生混淆。</a:t>
            </a:r>
            <a:endParaRPr lang="en-US" altLang="zh-CN" sz="2200" b="0" dirty="0">
              <a:solidFill>
                <a:srgbClr val="000000"/>
              </a:solidFill>
              <a:latin typeface="Lucida Console" panose="020B0609040504020204" pitchFamily="49" charset="0"/>
            </a:endParaRPr>
          </a:p>
          <a:p>
            <a:endParaRPr lang="zh-CN" altLang="en-US" dirty="0">
              <a:solidFill>
                <a:srgbClr val="000000"/>
              </a:solidFill>
            </a:endParaRPr>
          </a:p>
        </p:txBody>
      </p:sp>
      <p:grpSp>
        <p:nvGrpSpPr>
          <p:cNvPr id="3" name="组合 2"/>
          <p:cNvGrpSpPr/>
          <p:nvPr/>
        </p:nvGrpSpPr>
        <p:grpSpPr>
          <a:xfrm>
            <a:off x="4969680" y="3103545"/>
            <a:ext cx="3048980" cy="1634096"/>
            <a:chOff x="3809020" y="3592996"/>
            <a:chExt cx="3048980" cy="1634096"/>
          </a:xfrm>
        </p:grpSpPr>
        <p:sp>
          <p:nvSpPr>
            <p:cNvPr id="25604" name="Text Box 4"/>
            <p:cNvSpPr txBox="1">
              <a:spLocks noChangeArrowheads="1"/>
            </p:cNvSpPr>
            <p:nvPr/>
          </p:nvSpPr>
          <p:spPr bwMode="auto">
            <a:xfrm>
              <a:off x="4031940" y="3657432"/>
              <a:ext cx="282606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lvl="2">
                <a:spcBef>
                  <a:spcPct val="50000"/>
                </a:spcBef>
              </a:pPr>
              <a:r>
                <a:rPr lang="en-US" altLang="zh-CN" b="0" dirty="0">
                  <a:solidFill>
                    <a:srgbClr val="000000"/>
                  </a:solidFill>
                  <a:latin typeface="+mn-lt"/>
                </a:rPr>
                <a:t>.RADIX  16</a:t>
              </a:r>
              <a:endParaRPr lang="en-US" altLang="zh-CN" b="0" dirty="0">
                <a:solidFill>
                  <a:srgbClr val="000000"/>
                </a:solidFill>
                <a:latin typeface="+mn-lt"/>
              </a:endParaRPr>
            </a:p>
            <a:p>
              <a:pPr marL="0" lvl="2">
                <a:spcBef>
                  <a:spcPct val="50000"/>
                </a:spcBef>
              </a:pPr>
              <a:r>
                <a:rPr lang="en-US" altLang="zh-CN" b="0" dirty="0">
                  <a:solidFill>
                    <a:srgbClr val="000000"/>
                  </a:solidFill>
                  <a:latin typeface="+mn-lt"/>
                </a:rPr>
                <a:t>MOV  BX, 0FF</a:t>
              </a:r>
              <a:endParaRPr lang="en-US" altLang="zh-CN" b="0" dirty="0">
                <a:solidFill>
                  <a:srgbClr val="000000"/>
                </a:solidFill>
                <a:latin typeface="+mn-lt"/>
              </a:endParaRPr>
            </a:p>
            <a:p>
              <a:pPr marL="0" lvl="2">
                <a:spcBef>
                  <a:spcPct val="50000"/>
                </a:spcBef>
              </a:pPr>
              <a:r>
                <a:rPr lang="en-US" altLang="zh-CN" b="0" dirty="0">
                  <a:solidFill>
                    <a:srgbClr val="000000"/>
                  </a:solidFill>
                  <a:latin typeface="+mn-lt"/>
                </a:rPr>
                <a:t>MOV  BX, 178D</a:t>
              </a:r>
              <a:endParaRPr lang="en-US" altLang="zh-CN" b="0" dirty="0">
                <a:solidFill>
                  <a:srgbClr val="000000"/>
                </a:solidFill>
                <a:latin typeface="+mn-lt"/>
              </a:endParaRPr>
            </a:p>
          </p:txBody>
        </p:sp>
        <p:sp>
          <p:nvSpPr>
            <p:cNvPr id="25606" name="Rectangle 6"/>
            <p:cNvSpPr>
              <a:spLocks noChangeArrowheads="1"/>
            </p:cNvSpPr>
            <p:nvPr/>
          </p:nvSpPr>
          <p:spPr bwMode="auto">
            <a:xfrm>
              <a:off x="3809020" y="3592996"/>
              <a:ext cx="2971800" cy="1600200"/>
            </a:xfrm>
            <a:prstGeom prst="rect">
              <a:avLst/>
            </a:prstGeom>
            <a:noFill/>
            <a:ln w="12700">
              <a:solidFill>
                <a:schemeClr val="hlink"/>
              </a:solidFill>
              <a:prstDash val="dash"/>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伪指令</a:t>
            </a:r>
            <a:endParaRPr lang="zh-CN" altLang="en-US" sz="2600" kern="0" dirty="0">
              <a:solidFill>
                <a:schemeClr val="tx2"/>
              </a:solidFill>
              <a:effectLst>
                <a:outerShdw blurRad="38100" dist="38100" dir="2700000" algn="tl">
                  <a:srgbClr val="C0C0C0"/>
                </a:outerShdw>
              </a:effectLst>
              <a:latin typeface="+mj-lt"/>
              <a:cs typeface="+mj-cs"/>
            </a:endParaRPr>
          </a:p>
        </p:txBody>
      </p:sp>
      <p:grpSp>
        <p:nvGrpSpPr>
          <p:cNvPr id="4" name="组合 3"/>
          <p:cNvGrpSpPr/>
          <p:nvPr/>
        </p:nvGrpSpPr>
        <p:grpSpPr>
          <a:xfrm>
            <a:off x="984312" y="3368633"/>
            <a:ext cx="2819400" cy="1068412"/>
            <a:chOff x="740904" y="3441869"/>
            <a:chExt cx="2819400" cy="1068412"/>
          </a:xfrm>
        </p:grpSpPr>
        <p:sp>
          <p:nvSpPr>
            <p:cNvPr id="25605" name="Rectangle 5"/>
            <p:cNvSpPr>
              <a:spLocks noChangeArrowheads="1"/>
            </p:cNvSpPr>
            <p:nvPr/>
          </p:nvSpPr>
          <p:spPr bwMode="auto">
            <a:xfrm>
              <a:off x="740904" y="3443481"/>
              <a:ext cx="2819400" cy="1066800"/>
            </a:xfrm>
            <a:prstGeom prst="rect">
              <a:avLst/>
            </a:prstGeom>
            <a:noFill/>
            <a:ln w="12700">
              <a:solidFill>
                <a:schemeClr val="hlink"/>
              </a:solidFill>
              <a:prstDash val="dash"/>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 name="矩形 1"/>
            <p:cNvSpPr/>
            <p:nvPr/>
          </p:nvSpPr>
          <p:spPr>
            <a:xfrm>
              <a:off x="827584" y="3441869"/>
              <a:ext cx="2646040" cy="1015663"/>
            </a:xfrm>
            <a:prstGeom prst="rect">
              <a:avLst/>
            </a:prstGeom>
          </p:spPr>
          <p:txBody>
            <a:bodyPr wrap="square">
              <a:spAutoFit/>
            </a:bodyPr>
            <a:lstStyle/>
            <a:p>
              <a:pPr>
                <a:spcBef>
                  <a:spcPct val="50000"/>
                </a:spcBef>
              </a:pPr>
              <a:r>
                <a:rPr lang="en-US" altLang="zh-CN" b="0" dirty="0">
                  <a:solidFill>
                    <a:srgbClr val="000000"/>
                  </a:solidFill>
                  <a:latin typeface="+mn-lt"/>
                </a:rPr>
                <a:t>MOV  BX, 0FFH</a:t>
              </a:r>
              <a:endParaRPr lang="en-US" altLang="zh-CN" b="0" dirty="0">
                <a:solidFill>
                  <a:srgbClr val="000000"/>
                </a:solidFill>
                <a:latin typeface="+mn-lt"/>
              </a:endParaRPr>
            </a:p>
            <a:p>
              <a:pPr>
                <a:spcBef>
                  <a:spcPct val="50000"/>
                </a:spcBef>
              </a:pPr>
              <a:r>
                <a:rPr lang="en-US" altLang="zh-CN" b="0" dirty="0">
                  <a:solidFill>
                    <a:srgbClr val="000000"/>
                  </a:solidFill>
                  <a:latin typeface="+mn-lt"/>
                </a:rPr>
                <a:t>MOV  BX, 178</a:t>
              </a:r>
              <a:endParaRPr lang="en-US" altLang="zh-CN" b="0" dirty="0">
                <a:solidFill>
                  <a:srgbClr val="000000"/>
                </a:solidFill>
                <a:latin typeface="+mn-lt"/>
              </a:endParaRPr>
            </a:p>
          </p:txBody>
        </p:sp>
      </p:grpSp>
      <p:sp>
        <p:nvSpPr>
          <p:cNvPr id="5" name="左右箭头 4"/>
          <p:cNvSpPr/>
          <p:nvPr/>
        </p:nvSpPr>
        <p:spPr bwMode="auto">
          <a:xfrm>
            <a:off x="3959932" y="3726938"/>
            <a:ext cx="900100" cy="353413"/>
          </a:xfrm>
          <a:prstGeom prst="leftRightArrow">
            <a:avLst/>
          </a:prstGeom>
          <a:solidFill>
            <a:schemeClr val="bg1"/>
          </a:solidFill>
          <a:ln w="9525" cap="flat" cmpd="sng" algn="ctr">
            <a:solidFill>
              <a:srgbClr val="FF0000"/>
            </a:solidFill>
            <a:prstDash val="solid"/>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3&amp;4</a:t>
            </a:r>
            <a:r>
              <a:rPr lang="zh-CN" altLang="en-US" sz="2600" kern="0" dirty="0">
                <a:solidFill>
                  <a:schemeClr val="tx2"/>
                </a:solidFill>
                <a:effectLst>
                  <a:outerShdw blurRad="38100" dist="38100" dir="2700000" algn="tl">
                    <a:srgbClr val="C0C0C0"/>
                  </a:outerShdw>
                </a:effectLst>
                <a:latin typeface="+mj-lt"/>
                <a:cs typeface="+mj-cs"/>
              </a:rPr>
              <a:t>讲：</a:t>
            </a:r>
            <a:r>
              <a:rPr lang="en-US" altLang="zh-CN" sz="2600" kern="0" dirty="0">
                <a:solidFill>
                  <a:schemeClr val="tx2"/>
                </a:solidFill>
                <a:effectLst>
                  <a:outerShdw blurRad="38100" dist="38100" dir="2700000" algn="tl">
                    <a:srgbClr val="C0C0C0"/>
                  </a:outerShdw>
                </a:effectLst>
                <a:latin typeface="+mj-lt"/>
                <a:cs typeface="+mj-cs"/>
              </a:rPr>
              <a:t>8086/8088</a:t>
            </a:r>
            <a:r>
              <a:rPr lang="zh-CN" altLang="en-US" sz="2600" kern="0" dirty="0">
                <a:solidFill>
                  <a:schemeClr val="tx2"/>
                </a:solidFill>
                <a:effectLst>
                  <a:outerShdw blurRad="38100" dist="38100" dir="2700000" algn="tl">
                    <a:srgbClr val="C0C0C0"/>
                  </a:outerShdw>
                </a:effectLst>
                <a:latin typeface="+mj-lt"/>
                <a:cs typeface="+mj-cs"/>
              </a:rPr>
              <a:t>的指令系统</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079612" y="1124744"/>
            <a:ext cx="5508612" cy="4228850"/>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dirty="0">
                <a:sym typeface="+mn-ea"/>
              </a:rPr>
              <a:t>建立汇编程序</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sym typeface="+mn-ea"/>
              </a:rPr>
              <a:t>汇编语言程序格式</a:t>
            </a:r>
            <a:endParaRPr lang="zh-CN" altLang="en-US" dirty="0">
              <a:sym typeface="+mn-ea"/>
            </a:endParaRPr>
          </a:p>
          <a:p>
            <a:pPr marL="342900" indent="-342900">
              <a:lnSpc>
                <a:spcPct val="160000"/>
              </a:lnSpc>
              <a:buClr>
                <a:srgbClr val="FF3300"/>
              </a:buClr>
              <a:buFont typeface="Wingdings" panose="05000000000000000000" charset="0"/>
              <a:buChar char=""/>
            </a:pPr>
            <a:r>
              <a:rPr lang="zh-CN" altLang="en-US" dirty="0">
                <a:sym typeface="+mn-ea"/>
              </a:rPr>
              <a:t>伪指令</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solidFill>
                  <a:srgbClr val="FF0000"/>
                </a:solidFill>
                <a:sym typeface="+mn-ea"/>
              </a:rPr>
              <a:t>表达式操作符</a:t>
            </a:r>
            <a:endParaRPr lang="en-US" altLang="zh-CN" dirty="0">
              <a:solidFill>
                <a:srgbClr val="FF0000"/>
              </a:solidFill>
              <a:sym typeface="+mn-ea"/>
            </a:endParaRPr>
          </a:p>
          <a:p>
            <a:pPr marL="342900" indent="-342900">
              <a:lnSpc>
                <a:spcPct val="160000"/>
              </a:lnSpc>
              <a:buClr>
                <a:srgbClr val="FF3300"/>
              </a:buClr>
              <a:buFont typeface="Wingdings" panose="05000000000000000000" charset="0"/>
              <a:buChar char=""/>
            </a:pPr>
            <a:r>
              <a:rPr lang="zh-CN" altLang="en-US" dirty="0"/>
              <a:t>数据传送指令</a:t>
            </a:r>
            <a:endParaRPr lang="zh-CN" altLang="en-US" dirty="0"/>
          </a:p>
          <a:p>
            <a:pPr marL="342900" indent="-342900">
              <a:lnSpc>
                <a:spcPct val="160000"/>
              </a:lnSpc>
              <a:buClr>
                <a:srgbClr val="FF3300"/>
              </a:buClr>
              <a:buFont typeface="Wingdings" panose="05000000000000000000" charset="0"/>
              <a:buChar char=""/>
            </a:pPr>
            <a:r>
              <a:rPr lang="zh-CN" altLang="en-US" dirty="0"/>
              <a:t>算术指令</a:t>
            </a:r>
            <a:endParaRPr lang="zh-CN" altLang="en-US" dirty="0"/>
          </a:p>
          <a:p>
            <a:pPr marL="342900" indent="-342900">
              <a:lnSpc>
                <a:spcPct val="160000"/>
              </a:lnSpc>
              <a:buClr>
                <a:srgbClr val="FF3300"/>
              </a:buClr>
              <a:buFont typeface="Wingdings" panose="05000000000000000000" charset="0"/>
              <a:buChar char=""/>
            </a:pPr>
            <a:r>
              <a:rPr lang="zh-CN" altLang="en-US" dirty="0"/>
              <a:t>逻辑指令</a:t>
            </a:r>
            <a:endParaRPr lang="en-US" altLang="zh-CN" dirty="0">
              <a:sym typeface="+mn-ea"/>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Text Box 4"/>
          <p:cNvSpPr txBox="1">
            <a:spLocks noChangeArrowheads="1"/>
          </p:cNvSpPr>
          <p:nvPr/>
        </p:nvSpPr>
        <p:spPr bwMode="auto">
          <a:xfrm>
            <a:off x="633041" y="908720"/>
            <a:ext cx="790726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457200" indent="-457200">
              <a:defRPr kumimoji="1" sz="2400">
                <a:solidFill>
                  <a:schemeClr val="tx1"/>
                </a:solidFill>
                <a:latin typeface="Times New Roman" panose="02020603050405020304" pitchFamily="18" charset="0"/>
                <a:ea typeface="宋体" panose="02010600030101010101" pitchFamily="2" charset="-122"/>
              </a:defRPr>
            </a:lvl1pPr>
            <a:lvl2pPr marL="914400" indent="-457200">
              <a:defRPr kumimoji="1" sz="2400">
                <a:solidFill>
                  <a:schemeClr val="tx1"/>
                </a:solidFill>
                <a:latin typeface="Times New Roman" panose="02020603050405020304" pitchFamily="18" charset="0"/>
                <a:ea typeface="宋体" panose="02010600030101010101" pitchFamily="2" charset="-122"/>
              </a:defRPr>
            </a:lvl2pPr>
            <a:lvl3pPr marL="1371600" indent="-457200">
              <a:defRPr kumimoji="1" sz="2400">
                <a:solidFill>
                  <a:schemeClr val="tx1"/>
                </a:solidFill>
                <a:latin typeface="Times New Roman" panose="02020603050405020304" pitchFamily="18" charset="0"/>
                <a:ea typeface="宋体" panose="02010600030101010101" pitchFamily="2" charset="-122"/>
              </a:defRPr>
            </a:lvl3pPr>
            <a:lvl4pPr marL="1828800" indent="-457200">
              <a:defRPr kumimoji="1" sz="2400">
                <a:solidFill>
                  <a:schemeClr val="tx1"/>
                </a:solidFill>
                <a:latin typeface="Times New Roman" panose="02020603050405020304" pitchFamily="18" charset="0"/>
                <a:ea typeface="宋体" panose="02010600030101010101" pitchFamily="2" charset="-122"/>
              </a:defRPr>
            </a:lvl4pPr>
            <a:lvl5pPr marL="2286000" indent="-457200">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lnSpc>
                <a:spcPct val="150000"/>
              </a:lnSpc>
            </a:pPr>
            <a:r>
              <a:rPr lang="zh-CN" altLang="en-US" sz="2000" b="0" dirty="0">
                <a:solidFill>
                  <a:srgbClr val="FF0000"/>
                </a:solidFill>
                <a:latin typeface="楷体_GB2312" pitchFamily="49" charset="-122"/>
                <a:ea typeface="楷体_GB2312" pitchFamily="49" charset="-122"/>
              </a:rPr>
              <a:t>汇编指令：[标号：]　操作码　[操作数]　[；注释]</a:t>
            </a:r>
            <a:endParaRPr lang="zh-CN" altLang="en-US" sz="2000" b="0" dirty="0">
              <a:solidFill>
                <a:srgbClr val="FF0000"/>
              </a:solidFill>
              <a:latin typeface="楷体_GB2312" pitchFamily="49" charset="-122"/>
              <a:ea typeface="楷体_GB2312" pitchFamily="49" charset="-122"/>
            </a:endParaRPr>
          </a:p>
          <a:p>
            <a:pPr eaLnBrk="0" hangingPunct="0">
              <a:lnSpc>
                <a:spcPct val="150000"/>
              </a:lnSpc>
              <a:buFont typeface="Wingdings" panose="05000000000000000000" pitchFamily="2" charset="2"/>
              <a:buChar char="Ø"/>
            </a:pPr>
            <a:r>
              <a:rPr lang="zh-CN" altLang="en-US" sz="2000" b="0" dirty="0"/>
              <a:t>其中的操作数项可以是常数、寄存器、标号、变量、</a:t>
            </a:r>
            <a:r>
              <a:rPr lang="zh-CN" altLang="en-US" sz="2000" b="0" dirty="0">
                <a:solidFill>
                  <a:srgbClr val="FF0000"/>
                </a:solidFill>
              </a:rPr>
              <a:t>或表达式</a:t>
            </a:r>
            <a:r>
              <a:rPr lang="zh-CN" altLang="en-US" sz="2000" b="0" dirty="0"/>
              <a:t>。这里将专门对表达式加以说明。</a:t>
            </a:r>
            <a:endParaRPr lang="en-US" altLang="zh-CN" sz="2000" b="0" dirty="0"/>
          </a:p>
          <a:p>
            <a:pPr eaLnBrk="0" hangingPunct="0">
              <a:lnSpc>
                <a:spcPct val="150000"/>
              </a:lnSpc>
              <a:buFont typeface="Wingdings" panose="05000000000000000000" pitchFamily="2" charset="2"/>
              <a:buChar char="Ø"/>
            </a:pPr>
            <a:r>
              <a:rPr lang="zh-CN" altLang="en-US" sz="2000" b="0" dirty="0"/>
              <a:t>表达式是常数、寄存器、标号、变量与一些操作符组合的序列，可以有</a:t>
            </a:r>
            <a:r>
              <a:rPr lang="zh-CN" altLang="en-US" sz="2000" b="0" dirty="0">
                <a:solidFill>
                  <a:srgbClr val="FF0000"/>
                </a:solidFill>
              </a:rPr>
              <a:t>数字表达式</a:t>
            </a:r>
            <a:r>
              <a:rPr lang="zh-CN" altLang="en-US" sz="2000" b="0" dirty="0"/>
              <a:t>和</a:t>
            </a:r>
            <a:r>
              <a:rPr lang="zh-CN" altLang="en-US" sz="2000" b="0" dirty="0">
                <a:solidFill>
                  <a:srgbClr val="FF0000"/>
                </a:solidFill>
              </a:rPr>
              <a:t>地址表达式</a:t>
            </a:r>
            <a:r>
              <a:rPr lang="zh-CN" altLang="en-US" sz="2000" b="0" dirty="0"/>
              <a:t>两种。</a:t>
            </a:r>
            <a:endParaRPr lang="en-US" altLang="zh-CN" sz="2000" b="0" dirty="0"/>
          </a:p>
          <a:p>
            <a:pPr eaLnBrk="0" hangingPunct="0">
              <a:lnSpc>
                <a:spcPct val="150000"/>
              </a:lnSpc>
              <a:buAutoNum type="arabicParenBoth"/>
            </a:pPr>
            <a:r>
              <a:rPr lang="zh-CN" altLang="en-US" sz="2000" dirty="0">
                <a:solidFill>
                  <a:srgbClr val="FF0000"/>
                </a:solidFill>
              </a:rPr>
              <a:t>算术操作符：  </a:t>
            </a:r>
            <a:r>
              <a:rPr lang="zh-CN" altLang="en-US" sz="2000" dirty="0">
                <a:solidFill>
                  <a:srgbClr val="FF0000"/>
                </a:solidFill>
                <a:sym typeface="Symbol" panose="05050102010706020507" pitchFamily="18" charset="2"/>
              </a:rPr>
              <a:t> 、 、、 、</a:t>
            </a:r>
            <a:r>
              <a:rPr lang="en-US" altLang="zh-CN" sz="2000" dirty="0">
                <a:solidFill>
                  <a:srgbClr val="FF0000"/>
                </a:solidFill>
                <a:sym typeface="Symbol" panose="05050102010706020507" pitchFamily="18" charset="2"/>
              </a:rPr>
              <a:t>Mod</a:t>
            </a:r>
            <a:endParaRPr lang="en-US" altLang="zh-CN" sz="2000" dirty="0">
              <a:solidFill>
                <a:srgbClr val="FF0000"/>
              </a:solidFill>
              <a:sym typeface="Symbol" panose="05050102010706020507" pitchFamily="18" charset="2"/>
            </a:endParaRPr>
          </a:p>
          <a:p>
            <a:pPr marL="0" indent="0" eaLnBrk="0" hangingPunct="0">
              <a:lnSpc>
                <a:spcPct val="150000"/>
              </a:lnSpc>
            </a:pPr>
            <a:r>
              <a:rPr lang="zh-CN" altLang="en-US" sz="2000" b="0" dirty="0">
                <a:sym typeface="Symbol" panose="05050102010706020507" pitchFamily="18" charset="2"/>
              </a:rPr>
              <a:t>算术操作符可以用于数字表达式或地址表达式，但用于地址表达式时，只有其结果有明确的物理意义时才是有效的结果。例如：地址</a:t>
            </a:r>
            <a:r>
              <a:rPr lang="en-US" altLang="zh-CN" sz="2000" b="0" dirty="0">
                <a:sym typeface="Symbol" panose="05050102010706020507" pitchFamily="18" charset="2"/>
              </a:rPr>
              <a:t>+</a:t>
            </a:r>
            <a:r>
              <a:rPr lang="zh-CN" altLang="en-US" sz="2000" b="0" dirty="0">
                <a:sym typeface="Symbol" panose="05050102010706020507" pitchFamily="18" charset="2"/>
              </a:rPr>
              <a:t>或</a:t>
            </a:r>
            <a:r>
              <a:rPr lang="en-US" altLang="zh-CN" sz="2000" b="0" dirty="0">
                <a:sym typeface="Symbol" panose="05050102010706020507" pitchFamily="18" charset="2"/>
              </a:rPr>
              <a:t>-</a:t>
            </a:r>
            <a:r>
              <a:rPr lang="zh-CN" altLang="en-US" sz="2000" b="0" dirty="0">
                <a:sym typeface="Symbol" panose="05050102010706020507" pitchFamily="18" charset="2"/>
              </a:rPr>
              <a:t>是有意义的，一般两个地址*或</a:t>
            </a:r>
            <a:r>
              <a:rPr lang="en-US" altLang="zh-CN" sz="2000" b="0" dirty="0">
                <a:sym typeface="Symbol" panose="05050102010706020507" pitchFamily="18" charset="2"/>
              </a:rPr>
              <a:t>/</a:t>
            </a:r>
            <a:r>
              <a:rPr lang="zh-CN" altLang="en-US" sz="2000" b="0" dirty="0">
                <a:sym typeface="Symbol" panose="05050102010706020507" pitchFamily="18" charset="2"/>
              </a:rPr>
              <a:t>是无意义的。</a:t>
            </a:r>
            <a:endParaRPr lang="en-US" altLang="zh-CN" sz="2000" b="0" dirty="0">
              <a:sym typeface="Symbol" panose="05050102010706020507" pitchFamily="18" charset="2"/>
            </a:endParaRPr>
          </a:p>
        </p:txBody>
      </p:sp>
      <p:sp>
        <p:nvSpPr>
          <p:cNvPr id="27654" name="Text Box 6"/>
          <p:cNvSpPr txBox="1">
            <a:spLocks noChangeArrowheads="1"/>
          </p:cNvSpPr>
          <p:nvPr/>
        </p:nvSpPr>
        <p:spPr bwMode="auto">
          <a:xfrm>
            <a:off x="431540" y="5410903"/>
            <a:ext cx="3445513" cy="1006429"/>
          </a:xfrm>
          <a:prstGeom prst="rect">
            <a:avLst/>
          </a:prstGeom>
          <a:noFill/>
          <a:ln w="12700" cap="sq">
            <a:solidFill>
              <a:srgbClr val="FF0000"/>
            </a:solidFill>
            <a:prstDash val="dash"/>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en-US" altLang="zh-CN" sz="1800" b="0" dirty="0">
                <a:solidFill>
                  <a:srgbClr val="000000"/>
                </a:solidFill>
                <a:latin typeface="+mn-lt"/>
              </a:rPr>
              <a:t>ARRAY   DW   1,2,3,4,5,6,7</a:t>
            </a:r>
            <a:endParaRPr lang="en-US" altLang="zh-CN" sz="1800" b="0" dirty="0">
              <a:solidFill>
                <a:srgbClr val="000000"/>
              </a:solidFill>
              <a:latin typeface="+mn-lt"/>
            </a:endParaRPr>
          </a:p>
          <a:p>
            <a:pPr>
              <a:lnSpc>
                <a:spcPct val="110000"/>
              </a:lnSpc>
            </a:pPr>
            <a:r>
              <a:rPr lang="en-US" altLang="zh-CN" sz="1800" b="0" dirty="0">
                <a:solidFill>
                  <a:srgbClr val="000000"/>
                </a:solidFill>
                <a:latin typeface="+mn-lt"/>
              </a:rPr>
              <a:t>ARYEND  DW   ?</a:t>
            </a:r>
            <a:endParaRPr lang="en-US" altLang="zh-CN" sz="1800" b="0" dirty="0">
              <a:solidFill>
                <a:srgbClr val="000000"/>
              </a:solidFill>
              <a:latin typeface="+mn-lt"/>
            </a:endParaRPr>
          </a:p>
          <a:p>
            <a:pPr>
              <a:lnSpc>
                <a:spcPct val="110000"/>
              </a:lnSpc>
            </a:pPr>
            <a:r>
              <a:rPr lang="en-US" altLang="zh-CN" sz="1800" b="0" dirty="0">
                <a:solidFill>
                  <a:srgbClr val="000000"/>
                </a:solidFill>
                <a:latin typeface="+mn-lt"/>
              </a:rPr>
              <a:t>MOV  CX, </a:t>
            </a:r>
            <a:r>
              <a:rPr lang="en-US" altLang="zh-CN" sz="1800" b="0" dirty="0">
                <a:solidFill>
                  <a:srgbClr val="FF0000"/>
                </a:solidFill>
                <a:latin typeface="+mn-lt"/>
              </a:rPr>
              <a:t>(ARYEND-ARRAY)/2</a:t>
            </a:r>
            <a:endParaRPr lang="en-US" altLang="zh-CN" sz="1800" b="0" dirty="0">
              <a:solidFill>
                <a:srgbClr val="FF0000"/>
              </a:solidFill>
              <a:latin typeface="+mn-lt"/>
            </a:endParaRPr>
          </a:p>
        </p:txBody>
      </p:sp>
      <p:sp>
        <p:nvSpPr>
          <p:cNvPr id="27655" name="Rectangle 7"/>
          <p:cNvSpPr>
            <a:spLocks noChangeArrowheads="1"/>
          </p:cNvSpPr>
          <p:nvPr/>
        </p:nvSpPr>
        <p:spPr bwMode="auto">
          <a:xfrm>
            <a:off x="4139952" y="5214216"/>
            <a:ext cx="4916618" cy="1311128"/>
          </a:xfrm>
          <a:prstGeom prst="rect">
            <a:avLst/>
          </a:prstGeom>
          <a:noFill/>
          <a:ln w="12700" cap="sq">
            <a:solidFill>
              <a:srgbClr val="FF0000"/>
            </a:solidFill>
            <a:prstDash val="dash"/>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en-US" altLang="zh-CN" sz="1800" b="0" dirty="0">
                <a:solidFill>
                  <a:srgbClr val="000000"/>
                </a:solidFill>
                <a:latin typeface="+mn-lt"/>
                <a:sym typeface="Symbol" panose="05050102010706020507" pitchFamily="18" charset="2"/>
              </a:rPr>
              <a:t>ADD  AX, BLOCK+2   ;  </a:t>
            </a:r>
            <a:r>
              <a:rPr lang="zh-CN" altLang="zh-CN" sz="1800" b="0" dirty="0">
                <a:solidFill>
                  <a:srgbClr val="000000"/>
                </a:solidFill>
                <a:latin typeface="+mn-lt"/>
                <a:sym typeface="Symbol" panose="05050102010706020507" pitchFamily="18" charset="2"/>
              </a:rPr>
              <a:t>符号地址常数</a:t>
            </a:r>
            <a:r>
              <a:rPr lang="zh-CN" altLang="en-US" sz="1800" b="0" dirty="0">
                <a:solidFill>
                  <a:srgbClr val="000000"/>
                </a:solidFill>
                <a:latin typeface="+mn-lt"/>
                <a:sym typeface="Symbol" panose="05050102010706020507" pitchFamily="18" charset="2"/>
              </a:rPr>
              <a:t> </a:t>
            </a:r>
            <a:r>
              <a:rPr lang="zh-CN" altLang="zh-CN" sz="1800" b="0" dirty="0">
                <a:solidFill>
                  <a:srgbClr val="000000"/>
                </a:solidFill>
                <a:latin typeface="+mn-lt"/>
                <a:sym typeface="Symbol" panose="05050102010706020507" pitchFamily="18" charset="2"/>
              </a:rPr>
              <a:t>有意义</a:t>
            </a:r>
            <a:endParaRPr lang="zh-CN" altLang="en-US" sz="1800" b="0" dirty="0">
              <a:solidFill>
                <a:srgbClr val="000000"/>
              </a:solidFill>
              <a:latin typeface="+mn-lt"/>
              <a:sym typeface="Symbol" panose="05050102010706020507" pitchFamily="18" charset="2"/>
            </a:endParaRPr>
          </a:p>
          <a:p>
            <a:pPr>
              <a:lnSpc>
                <a:spcPct val="110000"/>
              </a:lnSpc>
            </a:pPr>
            <a:r>
              <a:rPr lang="zh-CN" altLang="en-US" sz="1800" b="0" dirty="0">
                <a:solidFill>
                  <a:srgbClr val="000000"/>
                </a:solidFill>
                <a:latin typeface="+mn-lt"/>
                <a:sym typeface="Symbol" panose="05050102010706020507" pitchFamily="18" charset="2"/>
              </a:rPr>
              <a:t>                   </a:t>
            </a:r>
            <a:r>
              <a:rPr lang="en-US" altLang="zh-CN" sz="1800" b="0" dirty="0">
                <a:solidFill>
                  <a:srgbClr val="000000"/>
                </a:solidFill>
                <a:latin typeface="+mn-lt"/>
                <a:sym typeface="Symbol" panose="05050102010706020507" pitchFamily="18" charset="2"/>
              </a:rPr>
              <a:t>;   </a:t>
            </a:r>
            <a:r>
              <a:rPr lang="zh-CN" altLang="en-US" sz="1800" b="0" dirty="0">
                <a:solidFill>
                  <a:srgbClr val="000000"/>
                </a:solidFill>
                <a:latin typeface="+mn-lt"/>
                <a:sym typeface="Symbol" panose="05050102010706020507" pitchFamily="18" charset="2"/>
              </a:rPr>
              <a:t>时意义不明确</a:t>
            </a:r>
            <a:endParaRPr lang="zh-CN" altLang="en-US" sz="1800" b="0" dirty="0">
              <a:solidFill>
                <a:srgbClr val="000000"/>
              </a:solidFill>
              <a:latin typeface="+mn-lt"/>
              <a:sym typeface="Symbol" panose="05050102010706020507" pitchFamily="18" charset="2"/>
            </a:endParaRPr>
          </a:p>
          <a:p>
            <a:pPr>
              <a:lnSpc>
                <a:spcPct val="110000"/>
              </a:lnSpc>
            </a:pPr>
            <a:r>
              <a:rPr lang="en-US" altLang="zh-CN" sz="1800" b="0" dirty="0">
                <a:solidFill>
                  <a:srgbClr val="000000"/>
                </a:solidFill>
                <a:latin typeface="+mn-lt"/>
                <a:sym typeface="Symbol" panose="05050102010706020507" pitchFamily="18" charset="2"/>
              </a:rPr>
              <a:t>MOV  AX, BX+1      ; </a:t>
            </a:r>
            <a:endParaRPr lang="en-US" altLang="zh-CN" sz="1800" b="0" dirty="0">
              <a:solidFill>
                <a:srgbClr val="000000"/>
              </a:solidFill>
              <a:latin typeface="+mn-lt"/>
              <a:sym typeface="Symbol" panose="05050102010706020507" pitchFamily="18" charset="2"/>
            </a:endParaRPr>
          </a:p>
          <a:p>
            <a:pPr>
              <a:lnSpc>
                <a:spcPct val="110000"/>
              </a:lnSpc>
            </a:pPr>
            <a:r>
              <a:rPr lang="en-US" altLang="zh-CN" sz="1800" b="0" dirty="0">
                <a:solidFill>
                  <a:srgbClr val="000000"/>
                </a:solidFill>
                <a:latin typeface="+mn-lt"/>
                <a:sym typeface="Symbol" panose="05050102010706020507" pitchFamily="18" charset="2"/>
              </a:rPr>
              <a:t>MOV  AX, [BX+1]    ; </a:t>
            </a:r>
            <a:r>
              <a:rPr lang="zh-CN" altLang="en-US" sz="1800" b="0" dirty="0">
                <a:solidFill>
                  <a:srgbClr val="000000"/>
                </a:solidFill>
                <a:latin typeface="+mn-lt"/>
                <a:sym typeface="Symbol" panose="05050102010706020507" pitchFamily="18" charset="2"/>
              </a:rPr>
              <a:t>寄存器间接寻址</a:t>
            </a:r>
            <a:endParaRPr lang="en-US" altLang="zh-CN" sz="1800" b="0" dirty="0">
              <a:solidFill>
                <a:srgbClr val="000000"/>
              </a:solidFill>
              <a:latin typeface="+mn-lt"/>
              <a:sym typeface="Symbol" panose="05050102010706020507" pitchFamily="18" charset="2"/>
            </a:endParaRPr>
          </a:p>
        </p:txBody>
      </p:sp>
      <p:sp>
        <p:nvSpPr>
          <p:cNvPr id="1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表达式操作符</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4" grpId="0" animBg="1"/>
      <p:bldP spid="2765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503548" y="997568"/>
            <a:ext cx="81009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eaLnBrk="0" hangingPunct="0">
              <a:lnSpc>
                <a:spcPct val="150000"/>
              </a:lnSpc>
              <a:buAutoNum type="arabicParenBoth" startAt="2"/>
            </a:pPr>
            <a:r>
              <a:rPr kumimoji="1" lang="zh-CN" altLang="en-US" sz="2000" dirty="0">
                <a:solidFill>
                  <a:srgbClr val="FF0000"/>
                </a:solidFill>
                <a:ea typeface="宋体" panose="02010600030101010101" pitchFamily="2" charset="-122"/>
              </a:rPr>
              <a:t>关系操作符： </a:t>
            </a:r>
            <a:r>
              <a:rPr kumimoji="1" lang="en-US" altLang="en-US" sz="2000" dirty="0">
                <a:solidFill>
                  <a:srgbClr val="FF0000"/>
                </a:solidFill>
                <a:ea typeface="宋体" panose="02010600030101010101" pitchFamily="2" charset="-122"/>
              </a:rPr>
              <a:t>EQ</a:t>
            </a:r>
            <a:r>
              <a:rPr kumimoji="1" lang="zh-CN" altLang="en-US" sz="2000" dirty="0">
                <a:solidFill>
                  <a:srgbClr val="FF0000"/>
                </a:solidFill>
                <a:ea typeface="宋体" panose="02010600030101010101" pitchFamily="2" charset="-122"/>
              </a:rPr>
              <a:t>、</a:t>
            </a:r>
            <a:r>
              <a:rPr kumimoji="1" lang="en-US" altLang="en-US" sz="2000" dirty="0">
                <a:solidFill>
                  <a:srgbClr val="FF0000"/>
                </a:solidFill>
                <a:ea typeface="宋体" panose="02010600030101010101" pitchFamily="2" charset="-122"/>
              </a:rPr>
              <a:t>NE</a:t>
            </a:r>
            <a:r>
              <a:rPr kumimoji="1" lang="zh-CN" altLang="en-US" sz="2000" dirty="0">
                <a:solidFill>
                  <a:srgbClr val="FF0000"/>
                </a:solidFill>
                <a:ea typeface="宋体" panose="02010600030101010101" pitchFamily="2" charset="-122"/>
              </a:rPr>
              <a:t>、</a:t>
            </a:r>
            <a:r>
              <a:rPr kumimoji="1" lang="en-US" altLang="en-US" sz="2000" dirty="0">
                <a:solidFill>
                  <a:srgbClr val="FF0000"/>
                </a:solidFill>
                <a:ea typeface="宋体" panose="02010600030101010101" pitchFamily="2" charset="-122"/>
              </a:rPr>
              <a:t>LT</a:t>
            </a:r>
            <a:r>
              <a:rPr kumimoji="1" lang="zh-CN" altLang="en-US" sz="2000" dirty="0">
                <a:solidFill>
                  <a:srgbClr val="FF0000"/>
                </a:solidFill>
                <a:ea typeface="宋体" panose="02010600030101010101" pitchFamily="2" charset="-122"/>
              </a:rPr>
              <a:t>、</a:t>
            </a:r>
            <a:r>
              <a:rPr kumimoji="1" lang="en-US" altLang="en-US" sz="2000" dirty="0">
                <a:solidFill>
                  <a:srgbClr val="FF0000"/>
                </a:solidFill>
                <a:ea typeface="宋体" panose="02010600030101010101" pitchFamily="2" charset="-122"/>
              </a:rPr>
              <a:t>LE</a:t>
            </a:r>
            <a:r>
              <a:rPr kumimoji="1" lang="zh-CN" altLang="en-US" sz="2000" dirty="0">
                <a:solidFill>
                  <a:srgbClr val="FF0000"/>
                </a:solidFill>
                <a:ea typeface="宋体" panose="02010600030101010101" pitchFamily="2" charset="-122"/>
              </a:rPr>
              <a:t>、</a:t>
            </a:r>
            <a:r>
              <a:rPr kumimoji="1" lang="en-US" altLang="en-US" sz="2000" dirty="0">
                <a:solidFill>
                  <a:srgbClr val="FF0000"/>
                </a:solidFill>
                <a:ea typeface="宋体" panose="02010600030101010101" pitchFamily="2" charset="-122"/>
              </a:rPr>
              <a:t>GT</a:t>
            </a:r>
            <a:r>
              <a:rPr kumimoji="1" lang="zh-CN" altLang="en-US" sz="2000" dirty="0">
                <a:solidFill>
                  <a:srgbClr val="FF0000"/>
                </a:solidFill>
                <a:ea typeface="宋体" panose="02010600030101010101" pitchFamily="2" charset="-122"/>
              </a:rPr>
              <a:t>、</a:t>
            </a:r>
            <a:r>
              <a:rPr kumimoji="1" lang="en-US" altLang="en-US" sz="2000" dirty="0">
                <a:solidFill>
                  <a:srgbClr val="FF0000"/>
                </a:solidFill>
                <a:ea typeface="宋体" panose="02010600030101010101" pitchFamily="2" charset="-122"/>
              </a:rPr>
              <a:t>GE</a:t>
            </a:r>
            <a:endParaRPr kumimoji="1" lang="en-US" altLang="en-US" sz="2000" dirty="0">
              <a:solidFill>
                <a:srgbClr val="FF0000"/>
              </a:solidFill>
              <a:ea typeface="宋体" panose="02010600030101010101" pitchFamily="2" charset="-122"/>
            </a:endParaRPr>
          </a:p>
          <a:p>
            <a:pPr eaLnBrk="0" hangingPunct="0">
              <a:lnSpc>
                <a:spcPct val="150000"/>
              </a:lnSpc>
            </a:pPr>
            <a:r>
              <a:rPr kumimoji="1" lang="en-US" altLang="zh-CN" sz="2000" b="0" dirty="0">
                <a:solidFill>
                  <a:srgbClr val="FF0000"/>
                </a:solidFill>
                <a:ea typeface="宋体" panose="02010600030101010101" pitchFamily="2" charset="-122"/>
              </a:rPr>
              <a:t>	</a:t>
            </a:r>
            <a:r>
              <a:rPr kumimoji="1" lang="zh-CN" altLang="en-US" sz="2000" dirty="0">
                <a:ea typeface="宋体" panose="02010600030101010101" pitchFamily="2" charset="-122"/>
              </a:rPr>
              <a:t>指令格式：变量</a:t>
            </a:r>
            <a:r>
              <a:rPr kumimoji="1" lang="en-US" altLang="zh-CN" sz="2000" dirty="0">
                <a:ea typeface="宋体" panose="02010600030101010101" pitchFamily="2" charset="-122"/>
              </a:rPr>
              <a:t>1    EQ	</a:t>
            </a:r>
            <a:r>
              <a:rPr kumimoji="1" lang="zh-CN" altLang="en-US" sz="2000" dirty="0">
                <a:ea typeface="宋体" panose="02010600030101010101" pitchFamily="2" charset="-122"/>
              </a:rPr>
              <a:t>变量</a:t>
            </a:r>
            <a:r>
              <a:rPr kumimoji="1" lang="en-US" altLang="zh-CN" sz="2000" dirty="0">
                <a:ea typeface="宋体" panose="02010600030101010101" pitchFamily="2" charset="-122"/>
              </a:rPr>
              <a:t>2</a:t>
            </a:r>
            <a:endParaRPr kumimoji="1" lang="en-US" altLang="zh-CN" sz="2000" dirty="0">
              <a:ea typeface="宋体" panose="02010600030101010101" pitchFamily="2" charset="-122"/>
            </a:endParaRPr>
          </a:p>
          <a:p>
            <a:pPr eaLnBrk="0" hangingPunct="0">
              <a:lnSpc>
                <a:spcPct val="150000"/>
              </a:lnSpc>
            </a:pPr>
            <a:r>
              <a:rPr kumimoji="1" lang="zh-CN" altLang="en-US" sz="2000" b="0" dirty="0">
                <a:ea typeface="宋体" panose="02010600030101010101" pitchFamily="2" charset="-122"/>
              </a:rPr>
              <a:t>计算结果为逻辑值：真   </a:t>
            </a:r>
            <a:r>
              <a:rPr kumimoji="1" lang="en-US" altLang="zh-CN" sz="2000" b="0" dirty="0">
                <a:ea typeface="宋体" panose="02010600030101010101" pitchFamily="2" charset="-122"/>
              </a:rPr>
              <a:t>0FFFFH</a:t>
            </a:r>
            <a:endParaRPr kumimoji="1" lang="en-US" altLang="zh-CN" sz="2000" b="0" dirty="0">
              <a:ea typeface="宋体" panose="02010600030101010101" pitchFamily="2" charset="-122"/>
            </a:endParaRPr>
          </a:p>
          <a:p>
            <a:pPr eaLnBrk="0" hangingPunct="0">
              <a:lnSpc>
                <a:spcPct val="150000"/>
              </a:lnSpc>
            </a:pPr>
            <a:r>
              <a:rPr kumimoji="1" lang="en-US" altLang="zh-CN" sz="2000" b="0" dirty="0">
                <a:ea typeface="宋体" panose="02010600030101010101" pitchFamily="2" charset="-122"/>
              </a:rPr>
              <a:t>                                    </a:t>
            </a:r>
            <a:r>
              <a:rPr kumimoji="1" lang="zh-CN" altLang="en-US" sz="2000" b="0" dirty="0">
                <a:ea typeface="宋体" panose="02010600030101010101" pitchFamily="2" charset="-122"/>
              </a:rPr>
              <a:t>假   </a:t>
            </a:r>
            <a:r>
              <a:rPr kumimoji="1" lang="en-US" altLang="zh-CN" sz="2000" b="0" dirty="0">
                <a:ea typeface="宋体" panose="02010600030101010101" pitchFamily="2" charset="-122"/>
              </a:rPr>
              <a:t>0000H</a:t>
            </a:r>
            <a:endParaRPr kumimoji="1" lang="en-US" altLang="en-US" sz="2000" dirty="0">
              <a:solidFill>
                <a:srgbClr val="FF0000"/>
              </a:solidFill>
              <a:ea typeface="宋体" panose="02010600030101010101" pitchFamily="2" charset="-122"/>
            </a:endParaRPr>
          </a:p>
        </p:txBody>
      </p:sp>
      <p:sp>
        <p:nvSpPr>
          <p:cNvPr id="29702" name="Rectangle 6"/>
          <p:cNvSpPr>
            <a:spLocks noChangeArrowheads="1"/>
          </p:cNvSpPr>
          <p:nvPr/>
        </p:nvSpPr>
        <p:spPr bwMode="auto">
          <a:xfrm>
            <a:off x="1835696" y="3026304"/>
            <a:ext cx="6012668" cy="1286250"/>
          </a:xfrm>
          <a:prstGeom prst="rect">
            <a:avLst/>
          </a:prstGeom>
          <a:noFill/>
          <a:ln w="12700" cap="sq">
            <a:solidFill>
              <a:srgbClr val="FF0000"/>
            </a:solidFill>
            <a:prstDash val="dash"/>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zh-CN" altLang="zh-CN" sz="1800" b="0" dirty="0">
                <a:solidFill>
                  <a:srgbClr val="000000"/>
                </a:solidFill>
                <a:latin typeface="+mn-lt"/>
                <a:sym typeface="Symbol" panose="05050102010706020507" pitchFamily="18" charset="2"/>
              </a:rPr>
              <a:t>MOV </a:t>
            </a:r>
            <a:r>
              <a:rPr lang="en-US" altLang="zh-CN" sz="1800" b="0" dirty="0">
                <a:solidFill>
                  <a:srgbClr val="000000"/>
                </a:solidFill>
                <a:latin typeface="+mn-lt"/>
                <a:sym typeface="Symbol" panose="05050102010706020507" pitchFamily="18" charset="2"/>
              </a:rPr>
              <a:t>AX</a:t>
            </a:r>
            <a:r>
              <a:rPr lang="zh-CN" altLang="zh-CN" sz="1800" b="0" dirty="0">
                <a:solidFill>
                  <a:srgbClr val="000000"/>
                </a:solidFill>
                <a:latin typeface="+mn-lt"/>
                <a:sym typeface="Symbol" panose="05050102010706020507" pitchFamily="18" charset="2"/>
              </a:rPr>
              <a:t>,</a:t>
            </a:r>
            <a:r>
              <a:rPr lang="en-US" altLang="zh-CN" sz="1800" b="0" dirty="0">
                <a:solidFill>
                  <a:srgbClr val="000000"/>
                </a:solidFill>
                <a:latin typeface="+mn-lt"/>
                <a:sym typeface="Symbol" panose="05050102010706020507" pitchFamily="18" charset="2"/>
              </a:rPr>
              <a:t> </a:t>
            </a:r>
            <a:r>
              <a:rPr lang="zh-CN" altLang="zh-CN" sz="1800" b="0" dirty="0">
                <a:solidFill>
                  <a:srgbClr val="000000"/>
                </a:solidFill>
                <a:latin typeface="+mn-lt"/>
                <a:sym typeface="Symbol" panose="05050102010706020507" pitchFamily="18" charset="2"/>
              </a:rPr>
              <a:t>(OFFSETY - OFFSETX) LE 128</a:t>
            </a:r>
            <a:endParaRPr lang="en-US" altLang="zh-CN" sz="1800" b="0" dirty="0">
              <a:solidFill>
                <a:srgbClr val="000000"/>
              </a:solidFill>
              <a:latin typeface="+mn-lt"/>
              <a:sym typeface="Symbol" panose="05050102010706020507" pitchFamily="18" charset="2"/>
            </a:endParaRPr>
          </a:p>
          <a:p>
            <a:pPr>
              <a:lnSpc>
                <a:spcPct val="110000"/>
              </a:lnSpc>
            </a:pPr>
            <a:endParaRPr lang="en-US" altLang="zh-CN" sz="1800" b="0" dirty="0">
              <a:solidFill>
                <a:srgbClr val="000000"/>
              </a:solidFill>
              <a:latin typeface="+mn-lt"/>
              <a:sym typeface="Symbol" panose="05050102010706020507" pitchFamily="18" charset="2"/>
            </a:endParaRPr>
          </a:p>
          <a:p>
            <a:pPr>
              <a:lnSpc>
                <a:spcPct val="110000"/>
              </a:lnSpc>
            </a:pPr>
            <a:r>
              <a:rPr lang="zh-CN" altLang="en-US" sz="1800" b="0" dirty="0">
                <a:solidFill>
                  <a:srgbClr val="000000"/>
                </a:solidFill>
                <a:latin typeface="+mn-lt"/>
                <a:sym typeface="Symbol" panose="05050102010706020507" pitchFamily="18" charset="2"/>
              </a:rPr>
              <a:t>若 </a:t>
            </a:r>
            <a:r>
              <a:rPr lang="en-US" altLang="zh-CN" sz="1800" b="0" dirty="0">
                <a:solidFill>
                  <a:srgbClr val="000000"/>
                </a:solidFill>
                <a:latin typeface="+mn-lt"/>
                <a:sym typeface="Symbol" panose="05050102010706020507" pitchFamily="18" charset="2"/>
              </a:rPr>
              <a:t>128  (</a:t>
            </a:r>
            <a:r>
              <a:rPr lang="zh-CN" altLang="en-US" sz="1800" b="0" dirty="0">
                <a:solidFill>
                  <a:srgbClr val="000000"/>
                </a:solidFill>
                <a:latin typeface="+mn-lt"/>
                <a:sym typeface="Symbol" panose="05050102010706020507" pitchFamily="18" charset="2"/>
              </a:rPr>
              <a:t>真</a:t>
            </a:r>
            <a:r>
              <a:rPr lang="en-US" altLang="zh-CN" sz="1800" b="0" dirty="0">
                <a:solidFill>
                  <a:srgbClr val="000000"/>
                </a:solidFill>
                <a:latin typeface="+mn-lt"/>
                <a:sym typeface="Symbol" panose="05050102010706020507" pitchFamily="18" charset="2"/>
              </a:rPr>
              <a:t>)   </a:t>
            </a:r>
            <a:r>
              <a:rPr lang="zh-CN" altLang="en-US" sz="1800" b="0" dirty="0">
                <a:solidFill>
                  <a:srgbClr val="000000"/>
                </a:solidFill>
                <a:latin typeface="+mn-lt"/>
                <a:sym typeface="Symbol" panose="05050102010706020507" pitchFamily="18" charset="2"/>
              </a:rPr>
              <a:t>汇编结果：  </a:t>
            </a:r>
            <a:r>
              <a:rPr lang="en-US" altLang="zh-CN" sz="1800" b="0" dirty="0">
                <a:solidFill>
                  <a:srgbClr val="000000"/>
                </a:solidFill>
                <a:latin typeface="+mn-lt"/>
                <a:sym typeface="Symbol" panose="05050102010706020507" pitchFamily="18" charset="2"/>
              </a:rPr>
              <a:t>MOV  AX, 0FFFFH	</a:t>
            </a:r>
            <a:endParaRPr lang="en-US" altLang="zh-CN" sz="1800" b="0" dirty="0">
              <a:solidFill>
                <a:srgbClr val="000000"/>
              </a:solidFill>
              <a:latin typeface="+mn-lt"/>
              <a:sym typeface="Symbol" panose="05050102010706020507" pitchFamily="18" charset="2"/>
            </a:endParaRPr>
          </a:p>
          <a:p>
            <a:pPr>
              <a:lnSpc>
                <a:spcPct val="110000"/>
              </a:lnSpc>
            </a:pPr>
            <a:r>
              <a:rPr lang="zh-CN" altLang="en-US" sz="1800" b="0" dirty="0">
                <a:solidFill>
                  <a:srgbClr val="000000"/>
                </a:solidFill>
                <a:latin typeface="+mn-lt"/>
                <a:sym typeface="Symbol" panose="05050102010706020507" pitchFamily="18" charset="2"/>
              </a:rPr>
              <a:t>若 </a:t>
            </a:r>
            <a:r>
              <a:rPr lang="en-US" altLang="zh-CN" sz="1800" b="0" dirty="0">
                <a:solidFill>
                  <a:srgbClr val="000000"/>
                </a:solidFill>
                <a:latin typeface="+mn-lt"/>
                <a:sym typeface="Symbol" panose="05050102010706020507" pitchFamily="18" charset="2"/>
              </a:rPr>
              <a:t>128  (</a:t>
            </a:r>
            <a:r>
              <a:rPr lang="zh-CN" altLang="en-US" sz="1800" b="0" dirty="0">
                <a:solidFill>
                  <a:srgbClr val="000000"/>
                </a:solidFill>
                <a:latin typeface="+mn-lt"/>
                <a:sym typeface="Symbol" panose="05050102010706020507" pitchFamily="18" charset="2"/>
              </a:rPr>
              <a:t>假</a:t>
            </a:r>
            <a:r>
              <a:rPr lang="en-US" altLang="zh-CN" sz="1800" b="0" dirty="0">
                <a:solidFill>
                  <a:srgbClr val="000000"/>
                </a:solidFill>
                <a:latin typeface="+mn-lt"/>
                <a:sym typeface="Symbol" panose="05050102010706020507" pitchFamily="18" charset="2"/>
              </a:rPr>
              <a:t>)   </a:t>
            </a:r>
            <a:r>
              <a:rPr lang="zh-CN" altLang="en-US" sz="1800" b="0" dirty="0">
                <a:solidFill>
                  <a:srgbClr val="000000"/>
                </a:solidFill>
                <a:latin typeface="+mn-lt"/>
                <a:sym typeface="Symbol" panose="05050102010706020507" pitchFamily="18" charset="2"/>
              </a:rPr>
              <a:t>汇编结果：  </a:t>
            </a:r>
            <a:r>
              <a:rPr lang="en-US" altLang="zh-CN" sz="1800" b="0" dirty="0">
                <a:solidFill>
                  <a:srgbClr val="000000"/>
                </a:solidFill>
                <a:latin typeface="+mn-lt"/>
                <a:sym typeface="Symbol" panose="05050102010706020507" pitchFamily="18" charset="2"/>
              </a:rPr>
              <a:t>MOV  AX, 0</a:t>
            </a:r>
            <a:endParaRPr lang="en-US" altLang="zh-CN" sz="1800" b="0" dirty="0">
              <a:solidFill>
                <a:srgbClr val="000000"/>
              </a:solidFill>
              <a:latin typeface="+mn-lt"/>
              <a:sym typeface="Symbol" panose="05050102010706020507" pitchFamily="18" charset="2"/>
            </a:endParaRPr>
          </a:p>
        </p:txBody>
      </p:sp>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表达式操作符</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10" name="Rectangle 6"/>
          <p:cNvSpPr>
            <a:spLocks noChangeArrowheads="1"/>
          </p:cNvSpPr>
          <p:nvPr/>
        </p:nvSpPr>
        <p:spPr bwMode="auto">
          <a:xfrm>
            <a:off x="1825836" y="4761148"/>
            <a:ext cx="6022528" cy="1311128"/>
          </a:xfrm>
          <a:prstGeom prst="rect">
            <a:avLst/>
          </a:prstGeom>
          <a:noFill/>
          <a:ln w="12700" cap="sq">
            <a:solidFill>
              <a:srgbClr val="FF0000"/>
            </a:solidFill>
            <a:prstDash val="dash"/>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10000"/>
              </a:lnSpc>
            </a:pPr>
            <a:r>
              <a:rPr lang="zh-CN" altLang="zh-CN" sz="1800" b="0" dirty="0">
                <a:solidFill>
                  <a:srgbClr val="000000"/>
                </a:solidFill>
                <a:latin typeface="+mn-lt"/>
                <a:sym typeface="Symbol" panose="05050102010706020507" pitchFamily="18" charset="2"/>
              </a:rPr>
              <a:t>MOV </a:t>
            </a:r>
            <a:r>
              <a:rPr lang="en-US" altLang="zh-CN" sz="1800" b="0" dirty="0">
                <a:solidFill>
                  <a:srgbClr val="000000"/>
                </a:solidFill>
                <a:latin typeface="+mn-lt"/>
                <a:sym typeface="Symbol" panose="05050102010706020507" pitchFamily="18" charset="2"/>
              </a:rPr>
              <a:t>BX</a:t>
            </a:r>
            <a:r>
              <a:rPr lang="zh-CN" altLang="zh-CN" sz="1800" b="0" dirty="0">
                <a:solidFill>
                  <a:srgbClr val="000000"/>
                </a:solidFill>
                <a:latin typeface="+mn-lt"/>
                <a:sym typeface="Symbol" panose="05050102010706020507" pitchFamily="18" charset="2"/>
              </a:rPr>
              <a:t>,</a:t>
            </a:r>
            <a:r>
              <a:rPr lang="en-US" altLang="zh-CN" sz="1800" b="0" dirty="0">
                <a:solidFill>
                  <a:srgbClr val="000000"/>
                </a:solidFill>
                <a:latin typeface="+mn-lt"/>
                <a:sym typeface="Symbol" panose="05050102010706020507" pitchFamily="18" charset="2"/>
              </a:rPr>
              <a:t> </a:t>
            </a:r>
            <a:r>
              <a:rPr lang="zh-CN" altLang="zh-CN" sz="1800" b="0" dirty="0">
                <a:solidFill>
                  <a:srgbClr val="000000"/>
                </a:solidFill>
                <a:latin typeface="+mn-lt"/>
                <a:sym typeface="Symbol" panose="05050102010706020507" pitchFamily="18" charset="2"/>
              </a:rPr>
              <a:t>(</a:t>
            </a:r>
            <a:r>
              <a:rPr lang="en-US" altLang="zh-CN" sz="1800" b="0" dirty="0">
                <a:solidFill>
                  <a:srgbClr val="000000"/>
                </a:solidFill>
                <a:latin typeface="+mn-lt"/>
                <a:sym typeface="Symbol" panose="05050102010706020507" pitchFamily="18" charset="2"/>
              </a:rPr>
              <a:t>(val1 LT 5) AND 20) OR ((val1 GE 5) AND 30)</a:t>
            </a:r>
            <a:endParaRPr lang="en-US" altLang="zh-CN" sz="1800" b="0" dirty="0">
              <a:solidFill>
                <a:srgbClr val="000000"/>
              </a:solidFill>
              <a:latin typeface="+mn-lt"/>
              <a:sym typeface="Symbol" panose="05050102010706020507" pitchFamily="18" charset="2"/>
            </a:endParaRPr>
          </a:p>
          <a:p>
            <a:pPr>
              <a:lnSpc>
                <a:spcPct val="110000"/>
              </a:lnSpc>
            </a:pPr>
            <a:endParaRPr lang="en-US" altLang="zh-CN" sz="1800" b="0" dirty="0">
              <a:solidFill>
                <a:srgbClr val="000000"/>
              </a:solidFill>
              <a:latin typeface="+mn-lt"/>
              <a:sym typeface="Symbol" panose="05050102010706020507" pitchFamily="18" charset="2"/>
            </a:endParaRPr>
          </a:p>
          <a:p>
            <a:pPr>
              <a:lnSpc>
                <a:spcPct val="110000"/>
              </a:lnSpc>
            </a:pPr>
            <a:r>
              <a:rPr lang="zh-CN" altLang="en-US" sz="1800" b="0" dirty="0">
                <a:solidFill>
                  <a:srgbClr val="000000"/>
                </a:solidFill>
                <a:latin typeface="+mn-lt"/>
                <a:sym typeface="Symbol" panose="05050102010706020507" pitchFamily="18" charset="2"/>
              </a:rPr>
              <a:t>若</a:t>
            </a:r>
            <a:r>
              <a:rPr lang="en-US" altLang="zh-CN" sz="1800" b="0" dirty="0">
                <a:solidFill>
                  <a:srgbClr val="000000"/>
                </a:solidFill>
                <a:latin typeface="+mn-lt"/>
                <a:sym typeface="Symbol" panose="05050102010706020507" pitchFamily="18" charset="2"/>
              </a:rPr>
              <a:t>val1&lt;5, </a:t>
            </a:r>
            <a:r>
              <a:rPr lang="zh-CN" altLang="en-US" sz="1800" b="0" dirty="0">
                <a:solidFill>
                  <a:srgbClr val="000000"/>
                </a:solidFill>
                <a:latin typeface="+mn-lt"/>
                <a:sym typeface="Symbol" panose="05050102010706020507" pitchFamily="18" charset="2"/>
              </a:rPr>
              <a:t>汇编结果：</a:t>
            </a:r>
            <a:r>
              <a:rPr lang="en-US" altLang="zh-CN" sz="1800" b="0" dirty="0">
                <a:solidFill>
                  <a:srgbClr val="000000"/>
                </a:solidFill>
                <a:latin typeface="+mn-lt"/>
                <a:sym typeface="Symbol" panose="05050102010706020507" pitchFamily="18" charset="2"/>
              </a:rPr>
              <a:t>MOV  BX, 20</a:t>
            </a:r>
            <a:endParaRPr lang="en-US" altLang="zh-CN" sz="1800" b="0" dirty="0">
              <a:solidFill>
                <a:srgbClr val="000000"/>
              </a:solidFill>
              <a:latin typeface="+mn-lt"/>
              <a:sym typeface="Symbol" panose="05050102010706020507" pitchFamily="18" charset="2"/>
            </a:endParaRPr>
          </a:p>
          <a:p>
            <a:pPr>
              <a:lnSpc>
                <a:spcPct val="110000"/>
              </a:lnSpc>
            </a:pPr>
            <a:r>
              <a:rPr lang="zh-CN" altLang="en-US" sz="1800" b="0" dirty="0">
                <a:solidFill>
                  <a:srgbClr val="000000"/>
                </a:solidFill>
                <a:latin typeface="+mn-lt"/>
                <a:sym typeface="Symbol" panose="05050102010706020507" pitchFamily="18" charset="2"/>
              </a:rPr>
              <a:t>否则，汇编结果：     </a:t>
            </a:r>
            <a:r>
              <a:rPr lang="en-US" altLang="zh-CN" sz="1800" b="0" dirty="0">
                <a:solidFill>
                  <a:srgbClr val="000000"/>
                </a:solidFill>
                <a:latin typeface="+mn-lt"/>
                <a:sym typeface="Symbol" panose="05050102010706020507" pitchFamily="18" charset="2"/>
              </a:rPr>
              <a:t>MOV  BX, 30</a:t>
            </a:r>
            <a:endParaRPr lang="en-US" altLang="zh-CN" sz="1800" b="0" dirty="0">
              <a:solidFill>
                <a:srgbClr val="000000"/>
              </a:solidFill>
              <a:latin typeface="+mn-lt"/>
              <a:sym typeface="Symbol" panose="05050102010706020507" pitchFamily="18"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animBg="1"/>
      <p:bldP spid="10"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ext Box 3"/>
          <p:cNvSpPr txBox="1">
            <a:spLocks noChangeArrowheads="1"/>
          </p:cNvSpPr>
          <p:nvPr/>
        </p:nvSpPr>
        <p:spPr bwMode="auto">
          <a:xfrm>
            <a:off x="1259632" y="3242565"/>
            <a:ext cx="6734356" cy="1311128"/>
          </a:xfrm>
          <a:prstGeom prst="rect">
            <a:avLst/>
          </a:prstGeom>
          <a:noFill/>
          <a:ln w="12700" cap="sq">
            <a:solidFill>
              <a:srgbClr val="FF0000"/>
            </a:solidFill>
            <a:prstDash val="dash"/>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nSpc>
                <a:spcPct val="110000"/>
              </a:lnSpc>
              <a:defRPr sz="1800" b="0">
                <a:solidFill>
                  <a:srgbClr val="000000"/>
                </a:solidFill>
                <a:latin typeface="+mn-lt"/>
              </a:defRPr>
            </a:lvl1pPr>
          </a:lstStyle>
          <a:p>
            <a:r>
              <a:rPr lang="zh-CN" altLang="zh-CN" dirty="0">
                <a:sym typeface="Symbol" panose="05050102010706020507" pitchFamily="18" charset="2"/>
              </a:rPr>
              <a:t>OPR1  EQU  25</a:t>
            </a:r>
            <a:r>
              <a:rPr lang="en-US" altLang="zh-CN" dirty="0">
                <a:sym typeface="Symbol" panose="05050102010706020507" pitchFamily="18" charset="2"/>
              </a:rPr>
              <a:t>	</a:t>
            </a:r>
            <a:r>
              <a:rPr lang="zh-CN" altLang="en-US" dirty="0">
                <a:sym typeface="Symbol" panose="05050102010706020507" pitchFamily="18" charset="2"/>
              </a:rPr>
              <a:t>；</a:t>
            </a:r>
            <a:r>
              <a:rPr lang="en-US" altLang="zh-CN" dirty="0">
                <a:sym typeface="Symbol" panose="05050102010706020507" pitchFamily="18" charset="2"/>
              </a:rPr>
              <a:t>00011001B</a:t>
            </a:r>
            <a:endParaRPr lang="zh-CN" altLang="zh-CN" dirty="0">
              <a:sym typeface="Symbol" panose="05050102010706020507" pitchFamily="18" charset="2"/>
            </a:endParaRPr>
          </a:p>
          <a:p>
            <a:r>
              <a:rPr lang="zh-CN" altLang="zh-CN" dirty="0">
                <a:sym typeface="Symbol" panose="05050102010706020507" pitchFamily="18" charset="2"/>
              </a:rPr>
              <a:t>OPR2  EQU  7</a:t>
            </a:r>
            <a:r>
              <a:rPr lang="en-US" altLang="zh-CN" dirty="0">
                <a:sym typeface="Symbol" panose="05050102010706020507" pitchFamily="18" charset="2"/>
              </a:rPr>
              <a:t>   	</a:t>
            </a:r>
            <a:r>
              <a:rPr lang="zh-CN" altLang="en-US" dirty="0">
                <a:sym typeface="Symbol" panose="05050102010706020507" pitchFamily="18" charset="2"/>
              </a:rPr>
              <a:t>；</a:t>
            </a:r>
            <a:r>
              <a:rPr lang="en-US" altLang="zh-CN" dirty="0">
                <a:sym typeface="Symbol" panose="05050102010706020507" pitchFamily="18" charset="2"/>
              </a:rPr>
              <a:t>00000111B</a:t>
            </a:r>
            <a:endParaRPr lang="zh-CN" altLang="zh-CN" dirty="0">
              <a:sym typeface="Symbol" panose="05050102010706020507" pitchFamily="18" charset="2"/>
            </a:endParaRPr>
          </a:p>
          <a:p>
            <a:endParaRPr lang="en-US" altLang="zh-CN" dirty="0">
              <a:sym typeface="Symbol" panose="05050102010706020507" pitchFamily="18" charset="2"/>
            </a:endParaRPr>
          </a:p>
          <a:p>
            <a:r>
              <a:rPr lang="zh-CN" altLang="zh-CN" dirty="0">
                <a:sym typeface="Symbol" panose="05050102010706020507" pitchFamily="18" charset="2"/>
              </a:rPr>
              <a:t>A</a:t>
            </a:r>
            <a:r>
              <a:rPr lang="en-US" altLang="zh-CN" dirty="0">
                <a:sym typeface="Symbol" panose="05050102010706020507" pitchFamily="18" charset="2"/>
              </a:rPr>
              <a:t>D</a:t>
            </a:r>
            <a:r>
              <a:rPr lang="zh-CN" altLang="zh-CN" dirty="0">
                <a:sym typeface="Symbol" panose="05050102010706020507" pitchFamily="18" charset="2"/>
              </a:rPr>
              <a:t>D  AX, OPR1 AND OPR2</a:t>
            </a:r>
            <a:r>
              <a:rPr lang="en-US" altLang="zh-CN" dirty="0">
                <a:sym typeface="Symbol" panose="05050102010706020507" pitchFamily="18" charset="2"/>
              </a:rPr>
              <a:t>	</a:t>
            </a:r>
            <a:r>
              <a:rPr lang="en-US" altLang="en-US" dirty="0"/>
              <a:t>; A</a:t>
            </a:r>
            <a:r>
              <a:rPr lang="en-US" altLang="zh-CN" dirty="0"/>
              <a:t>D</a:t>
            </a:r>
            <a:r>
              <a:rPr lang="en-US" altLang="en-US" dirty="0"/>
              <a:t>D AX, 1</a:t>
            </a:r>
            <a:endParaRPr lang="en-US" altLang="zh-CN" dirty="0">
              <a:sym typeface="Symbol" panose="05050102010706020507" pitchFamily="18" charset="2"/>
            </a:endParaRPr>
          </a:p>
        </p:txBody>
      </p:sp>
      <p:sp>
        <p:nvSpPr>
          <p:cNvPr id="28676" name="Rectangle 4"/>
          <p:cNvSpPr>
            <a:spLocks noChangeArrowheads="1"/>
          </p:cNvSpPr>
          <p:nvPr/>
        </p:nvSpPr>
        <p:spPr bwMode="auto">
          <a:xfrm>
            <a:off x="452119" y="1037617"/>
            <a:ext cx="8114737" cy="1418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457200" indent="-457200" eaLnBrk="0" hangingPunct="0">
              <a:lnSpc>
                <a:spcPct val="150000"/>
              </a:lnSpc>
              <a:buFont typeface="Wingdings" panose="05000000000000000000" pitchFamily="2" charset="2"/>
              <a:buAutoNum type="arabicParenBoth" startAt="3"/>
            </a:pPr>
            <a:r>
              <a:rPr kumimoji="1" lang="zh-CN" altLang="en-US" sz="2000" dirty="0">
                <a:solidFill>
                  <a:srgbClr val="FF0000"/>
                </a:solidFill>
                <a:ea typeface="宋体" panose="02010600030101010101" pitchFamily="2" charset="-122"/>
              </a:rPr>
              <a:t>逻辑和移位操作符： </a:t>
            </a:r>
            <a:r>
              <a:rPr kumimoji="1" lang="en-US" altLang="en-US" sz="2000" dirty="0">
                <a:solidFill>
                  <a:srgbClr val="FF0000"/>
                </a:solidFill>
                <a:ea typeface="宋体" panose="02010600030101010101" pitchFamily="2" charset="-122"/>
              </a:rPr>
              <a:t>AND</a:t>
            </a:r>
            <a:r>
              <a:rPr kumimoji="1" lang="zh-CN" altLang="en-US" sz="2000" dirty="0">
                <a:solidFill>
                  <a:srgbClr val="FF0000"/>
                </a:solidFill>
                <a:ea typeface="宋体" panose="02010600030101010101" pitchFamily="2" charset="-122"/>
              </a:rPr>
              <a:t>、</a:t>
            </a:r>
            <a:r>
              <a:rPr kumimoji="1" lang="en-US" altLang="en-US" sz="2000" dirty="0">
                <a:solidFill>
                  <a:srgbClr val="FF0000"/>
                </a:solidFill>
                <a:ea typeface="宋体" panose="02010600030101010101" pitchFamily="2" charset="-122"/>
              </a:rPr>
              <a:t>OR</a:t>
            </a:r>
            <a:r>
              <a:rPr kumimoji="1" lang="zh-CN" altLang="en-US" sz="2000" dirty="0">
                <a:solidFill>
                  <a:srgbClr val="FF0000"/>
                </a:solidFill>
                <a:ea typeface="宋体" panose="02010600030101010101" pitchFamily="2" charset="-122"/>
              </a:rPr>
              <a:t>、</a:t>
            </a:r>
            <a:r>
              <a:rPr kumimoji="1" lang="en-US" altLang="en-US" sz="2000" dirty="0">
                <a:solidFill>
                  <a:srgbClr val="FF0000"/>
                </a:solidFill>
                <a:ea typeface="宋体" panose="02010600030101010101" pitchFamily="2" charset="-122"/>
              </a:rPr>
              <a:t>XOR</a:t>
            </a:r>
            <a:r>
              <a:rPr kumimoji="1" lang="zh-CN" altLang="en-US" sz="2000" dirty="0">
                <a:solidFill>
                  <a:srgbClr val="FF0000"/>
                </a:solidFill>
                <a:ea typeface="宋体" panose="02010600030101010101" pitchFamily="2" charset="-122"/>
              </a:rPr>
              <a:t>、</a:t>
            </a:r>
            <a:r>
              <a:rPr kumimoji="1" lang="en-US" altLang="en-US" sz="2000" dirty="0">
                <a:solidFill>
                  <a:srgbClr val="FF0000"/>
                </a:solidFill>
                <a:ea typeface="宋体" panose="02010600030101010101" pitchFamily="2" charset="-122"/>
              </a:rPr>
              <a:t>NOT</a:t>
            </a:r>
            <a:endParaRPr kumimoji="1" lang="en-US" altLang="en-US" sz="2000" dirty="0">
              <a:solidFill>
                <a:srgbClr val="FF0000"/>
              </a:solidFill>
              <a:ea typeface="宋体" panose="02010600030101010101" pitchFamily="2" charset="-122"/>
            </a:endParaRPr>
          </a:p>
          <a:p>
            <a:pPr eaLnBrk="0" hangingPunct="0">
              <a:lnSpc>
                <a:spcPct val="150000"/>
              </a:lnSpc>
            </a:pPr>
            <a:r>
              <a:rPr kumimoji="1" lang="en-US" altLang="zh-CN" sz="2000" dirty="0">
                <a:solidFill>
                  <a:srgbClr val="FF0000"/>
                </a:solidFill>
                <a:ea typeface="宋体" panose="02010600030101010101" pitchFamily="2" charset="-122"/>
              </a:rPr>
              <a:t>	</a:t>
            </a:r>
            <a:r>
              <a:rPr kumimoji="1" lang="zh-CN" altLang="en-US" sz="2000" dirty="0">
                <a:ea typeface="宋体" panose="02010600030101010101" pitchFamily="2" charset="-122"/>
              </a:rPr>
              <a:t>指令格式：变量</a:t>
            </a:r>
            <a:r>
              <a:rPr kumimoji="1" lang="en-US" altLang="zh-CN" sz="2000" dirty="0">
                <a:ea typeface="宋体" panose="02010600030101010101" pitchFamily="2" charset="-122"/>
              </a:rPr>
              <a:t>1   AND(OR, XOR)  </a:t>
            </a:r>
            <a:r>
              <a:rPr kumimoji="1" lang="zh-CN" altLang="en-US" sz="2000" dirty="0">
                <a:ea typeface="宋体" panose="02010600030101010101" pitchFamily="2" charset="-122"/>
              </a:rPr>
              <a:t>变量</a:t>
            </a:r>
            <a:r>
              <a:rPr kumimoji="1" lang="en-US" altLang="zh-CN" sz="2000" dirty="0">
                <a:ea typeface="宋体" panose="02010600030101010101" pitchFamily="2" charset="-122"/>
              </a:rPr>
              <a:t>2	</a:t>
            </a:r>
            <a:endParaRPr kumimoji="1" lang="en-US" altLang="zh-CN" sz="2000" dirty="0">
              <a:ea typeface="宋体" panose="02010600030101010101" pitchFamily="2" charset="-122"/>
            </a:endParaRPr>
          </a:p>
          <a:p>
            <a:pPr eaLnBrk="0" hangingPunct="0">
              <a:lnSpc>
                <a:spcPct val="150000"/>
              </a:lnSpc>
            </a:pPr>
            <a:r>
              <a:rPr kumimoji="1" lang="en-US" altLang="zh-CN" sz="2000" dirty="0">
                <a:ea typeface="宋体" panose="02010600030101010101" pitchFamily="2" charset="-122"/>
              </a:rPr>
              <a:t>		      NOT   </a:t>
            </a:r>
            <a:r>
              <a:rPr kumimoji="1" lang="zh-CN" altLang="en-US" sz="2000">
                <a:ea typeface="宋体" panose="02010600030101010101" pitchFamily="2" charset="-122"/>
              </a:rPr>
              <a:t>变量</a:t>
            </a:r>
            <a:r>
              <a:rPr kumimoji="1" lang="en-US" altLang="zh-CN" sz="2000" dirty="0">
                <a:ea typeface="宋体" panose="02010600030101010101" pitchFamily="2" charset="-122"/>
              </a:rPr>
              <a:t>		</a:t>
            </a:r>
            <a:endParaRPr kumimoji="1" lang="en-US" altLang="zh-CN" sz="2000" dirty="0">
              <a:ea typeface="宋体" panose="02010600030101010101" pitchFamily="2" charset="-122"/>
            </a:endParaRPr>
          </a:p>
        </p:txBody>
      </p:sp>
      <p:sp>
        <p:nvSpPr>
          <p:cNvPr id="1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表达式操作符</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575556" y="975890"/>
            <a:ext cx="7992888" cy="4816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eaLnBrk="0" hangingPunct="0">
              <a:lnSpc>
                <a:spcPct val="150000"/>
              </a:lnSpc>
              <a:buFont typeface="Wingdings" panose="05000000000000000000" pitchFamily="2" charset="2"/>
              <a:buAutoNum type="arabicParenBoth" startAt="4"/>
            </a:pPr>
            <a:r>
              <a:rPr kumimoji="1" lang="zh-CN" altLang="en-US" sz="2000" dirty="0">
                <a:solidFill>
                  <a:srgbClr val="FF0000"/>
                </a:solidFill>
                <a:ea typeface="宋体" panose="02010600030101010101" pitchFamily="2" charset="-122"/>
              </a:rPr>
              <a:t>数值回送操作符：</a:t>
            </a:r>
            <a:r>
              <a:rPr kumimoji="1" lang="en-US" altLang="zh-CN" sz="2000" dirty="0">
                <a:solidFill>
                  <a:srgbClr val="FF0000"/>
                </a:solidFill>
                <a:ea typeface="宋体" panose="02010600030101010101" pitchFamily="2" charset="-122"/>
              </a:rPr>
              <a:t>TYPE</a:t>
            </a:r>
            <a:r>
              <a:rPr kumimoji="1" lang="zh-CN" altLang="en-US" sz="2000" dirty="0">
                <a:solidFill>
                  <a:srgbClr val="FF0000"/>
                </a:solidFill>
                <a:ea typeface="宋体" panose="02010600030101010101" pitchFamily="2" charset="-122"/>
              </a:rPr>
              <a:t>、</a:t>
            </a:r>
            <a:r>
              <a:rPr kumimoji="1" lang="en-US" altLang="zh-CN" sz="2000" dirty="0">
                <a:solidFill>
                  <a:srgbClr val="FF0000"/>
                </a:solidFill>
                <a:ea typeface="宋体" panose="02010600030101010101" pitchFamily="2" charset="-122"/>
              </a:rPr>
              <a:t>LENGTH</a:t>
            </a:r>
            <a:r>
              <a:rPr kumimoji="1" lang="zh-CN" altLang="en-US" sz="2000" dirty="0">
                <a:solidFill>
                  <a:srgbClr val="FF0000"/>
                </a:solidFill>
                <a:ea typeface="宋体" panose="02010600030101010101" pitchFamily="2" charset="-122"/>
              </a:rPr>
              <a:t>、</a:t>
            </a:r>
            <a:r>
              <a:rPr kumimoji="1" lang="en-US" altLang="zh-CN" sz="2000" dirty="0">
                <a:solidFill>
                  <a:srgbClr val="FF0000"/>
                </a:solidFill>
                <a:ea typeface="宋体" panose="02010600030101010101" pitchFamily="2" charset="-122"/>
              </a:rPr>
              <a:t>SIZE</a:t>
            </a:r>
            <a:r>
              <a:rPr kumimoji="1" lang="zh-CN" altLang="en-US" sz="2000" dirty="0">
                <a:solidFill>
                  <a:srgbClr val="FF0000"/>
                </a:solidFill>
                <a:ea typeface="宋体" panose="02010600030101010101" pitchFamily="2" charset="-122"/>
              </a:rPr>
              <a:t>、 </a:t>
            </a:r>
            <a:r>
              <a:rPr kumimoji="1" lang="en-US" altLang="en-US" sz="2000" dirty="0">
                <a:solidFill>
                  <a:srgbClr val="FF0000"/>
                </a:solidFill>
                <a:ea typeface="宋体" panose="02010600030101010101" pitchFamily="2" charset="-122"/>
              </a:rPr>
              <a:t>OFFSET</a:t>
            </a:r>
            <a:r>
              <a:rPr kumimoji="1" lang="zh-CN" altLang="en-US" sz="2000" dirty="0">
                <a:solidFill>
                  <a:srgbClr val="FF0000"/>
                </a:solidFill>
                <a:ea typeface="宋体" panose="02010600030101010101" pitchFamily="2" charset="-122"/>
              </a:rPr>
              <a:t>、</a:t>
            </a:r>
            <a:r>
              <a:rPr kumimoji="1" lang="en-US" altLang="en-US" sz="2000" dirty="0">
                <a:solidFill>
                  <a:srgbClr val="FF0000"/>
                </a:solidFill>
                <a:ea typeface="宋体" panose="02010600030101010101" pitchFamily="2" charset="-122"/>
              </a:rPr>
              <a:t>SEG</a:t>
            </a:r>
            <a:r>
              <a:rPr kumimoji="1" lang="en-US" altLang="zh-CN" sz="2000" dirty="0">
                <a:solidFill>
                  <a:srgbClr val="FF0000"/>
                </a:solidFill>
                <a:ea typeface="宋体" panose="02010600030101010101" pitchFamily="2" charset="-122"/>
              </a:rPr>
              <a:t>	</a:t>
            </a:r>
            <a:r>
              <a:rPr kumimoji="1" lang="zh-CN" altLang="en-US" sz="2000" dirty="0">
                <a:solidFill>
                  <a:srgbClr val="FF0000"/>
                </a:solidFill>
                <a:ea typeface="宋体" panose="02010600030101010101" pitchFamily="2" charset="-122"/>
              </a:rPr>
              <a:t>指令格式：操作符</a:t>
            </a:r>
            <a:r>
              <a:rPr kumimoji="1" lang="en-US" altLang="zh-CN" sz="2000" dirty="0">
                <a:solidFill>
                  <a:srgbClr val="FF0000"/>
                </a:solidFill>
                <a:ea typeface="宋体" panose="02010600030101010101" pitchFamily="2" charset="-122"/>
              </a:rPr>
              <a:t>   </a:t>
            </a:r>
            <a:r>
              <a:rPr kumimoji="1" lang="zh-CN" altLang="en-US" sz="2000" dirty="0">
                <a:solidFill>
                  <a:srgbClr val="FF0000"/>
                </a:solidFill>
                <a:ea typeface="宋体" panose="02010600030101010101" pitchFamily="2" charset="-122"/>
              </a:rPr>
              <a:t>变量</a:t>
            </a:r>
            <a:r>
              <a:rPr kumimoji="1" lang="en-US" altLang="zh-CN" sz="2000" dirty="0">
                <a:solidFill>
                  <a:srgbClr val="FF0000"/>
                </a:solidFill>
                <a:ea typeface="宋体" panose="02010600030101010101" pitchFamily="2" charset="-122"/>
              </a:rPr>
              <a:t> </a:t>
            </a:r>
            <a:endParaRPr kumimoji="1" lang="en-US" altLang="zh-CN" sz="2000" dirty="0">
              <a:solidFill>
                <a:srgbClr val="FF0000"/>
              </a:solidFill>
              <a:ea typeface="宋体" panose="02010600030101010101" pitchFamily="2" charset="-122"/>
            </a:endParaRPr>
          </a:p>
          <a:p>
            <a:pPr marL="342900" indent="-342900" eaLnBrk="0" hangingPunct="0">
              <a:lnSpc>
                <a:spcPct val="150000"/>
              </a:lnSpc>
              <a:spcBef>
                <a:spcPts val="1200"/>
              </a:spcBef>
              <a:buFont typeface="Wingdings" panose="05000000000000000000" pitchFamily="2" charset="2"/>
              <a:buChar char="Ø"/>
            </a:pPr>
            <a:r>
              <a:rPr kumimoji="1" lang="en-US" altLang="zh-CN" sz="2000" b="0" dirty="0">
                <a:ea typeface="宋体" panose="02010600030101010101" pitchFamily="2" charset="-122"/>
              </a:rPr>
              <a:t>TYPE</a:t>
            </a:r>
            <a:r>
              <a:rPr kumimoji="1" lang="zh-CN" altLang="en-US" sz="2000" b="0" dirty="0">
                <a:ea typeface="宋体" panose="02010600030101010101" pitchFamily="2" charset="-122"/>
              </a:rPr>
              <a:t>：返回变量以字节数表示的类型</a:t>
            </a:r>
            <a:endParaRPr kumimoji="1" lang="en-US" altLang="zh-CN" sz="2000" b="0" dirty="0">
              <a:ea typeface="宋体" panose="02010600030101010101" pitchFamily="2" charset="-122"/>
            </a:endParaRPr>
          </a:p>
          <a:p>
            <a:pPr eaLnBrk="0" hangingPunct="0">
              <a:lnSpc>
                <a:spcPct val="105000"/>
              </a:lnSpc>
              <a:spcBef>
                <a:spcPts val="1200"/>
              </a:spcBef>
            </a:pPr>
            <a:r>
              <a:rPr lang="en-US" altLang="zh-CN" sz="2000" b="0" dirty="0">
                <a:latin typeface="Lucida Console" panose="020B0609040504020204" pitchFamily="49" charset="0"/>
                <a:ea typeface="楷体_GB2312" pitchFamily="49" charset="-122"/>
              </a:rPr>
              <a:t>	DB DW DD DF DQ DT   NEAR FAR   </a:t>
            </a:r>
            <a:r>
              <a:rPr lang="zh-CN" altLang="en-US" sz="2000" b="0" dirty="0">
                <a:latin typeface="Lucida Console" panose="020B0609040504020204" pitchFamily="49" charset="0"/>
                <a:ea typeface="楷体_GB2312" pitchFamily="49" charset="-122"/>
              </a:rPr>
              <a:t>常数</a:t>
            </a:r>
            <a:endParaRPr lang="zh-CN" altLang="en-US" sz="2000" b="0" dirty="0">
              <a:latin typeface="Lucida Console" panose="020B0609040504020204" pitchFamily="49" charset="0"/>
              <a:ea typeface="楷体_GB2312" pitchFamily="49" charset="-122"/>
            </a:endParaRPr>
          </a:p>
          <a:p>
            <a:pPr eaLnBrk="0" hangingPunct="0">
              <a:lnSpc>
                <a:spcPct val="105000"/>
              </a:lnSpc>
              <a:spcBef>
                <a:spcPts val="1200"/>
              </a:spcBef>
            </a:pPr>
            <a:r>
              <a:rPr lang="zh-CN" altLang="en-US" sz="2000" b="0" dirty="0">
                <a:latin typeface="Lucida Console" panose="020B0609040504020204" pitchFamily="49" charset="0"/>
                <a:ea typeface="楷体_GB2312" pitchFamily="49" charset="-122"/>
              </a:rPr>
              <a:t>   </a:t>
            </a:r>
            <a:r>
              <a:rPr lang="en-US" altLang="zh-CN" sz="2000" b="0" dirty="0">
                <a:latin typeface="Lucida Console" panose="020B0609040504020204" pitchFamily="49" charset="0"/>
                <a:ea typeface="楷体_GB2312" pitchFamily="49" charset="-122"/>
              </a:rPr>
              <a:t>	 1  2  4  6  8 10     -1  -2     0</a:t>
            </a:r>
            <a:endParaRPr lang="en-US" altLang="zh-CN" sz="2000" b="0" dirty="0">
              <a:latin typeface="Lucida Console" panose="020B0609040504020204" pitchFamily="49" charset="0"/>
              <a:ea typeface="楷体_GB2312" pitchFamily="49" charset="-122"/>
            </a:endParaRPr>
          </a:p>
          <a:p>
            <a:pPr marL="342900" indent="-342900" eaLnBrk="0" hangingPunct="0">
              <a:lnSpc>
                <a:spcPct val="105000"/>
              </a:lnSpc>
              <a:spcBef>
                <a:spcPts val="1200"/>
              </a:spcBef>
              <a:buFont typeface="Wingdings" panose="05000000000000000000" pitchFamily="2" charset="2"/>
              <a:buChar char="Ø"/>
            </a:pPr>
            <a:r>
              <a:rPr lang="en-US" altLang="zh-CN" sz="2000" b="0" dirty="0">
                <a:latin typeface="Lucida Console" panose="020B0609040504020204" pitchFamily="49" charset="0"/>
                <a:ea typeface="楷体_GB2312" pitchFamily="49" charset="-122"/>
              </a:rPr>
              <a:t>LENGTH</a:t>
            </a:r>
            <a:r>
              <a:rPr lang="zh-CN" altLang="en-US" sz="2000" b="0" dirty="0">
                <a:latin typeface="Lucida Console" panose="020B0609040504020204" pitchFamily="49" charset="0"/>
                <a:ea typeface="楷体_GB2312" pitchFamily="49" charset="-122"/>
              </a:rPr>
              <a:t>：对于变量中使用</a:t>
            </a:r>
            <a:r>
              <a:rPr lang="en-US" altLang="zh-CN" sz="2000" b="0" dirty="0">
                <a:latin typeface="Lucida Console" panose="020B0609040504020204" pitchFamily="49" charset="0"/>
                <a:ea typeface="楷体_GB2312" pitchFamily="49" charset="-122"/>
              </a:rPr>
              <a:t>DUP</a:t>
            </a:r>
            <a:r>
              <a:rPr lang="zh-CN" altLang="en-US" sz="2000" b="0" dirty="0">
                <a:latin typeface="Lucida Console" panose="020B0609040504020204" pitchFamily="49" charset="0"/>
                <a:ea typeface="楷体_GB2312" pitchFamily="49" charset="-122"/>
              </a:rPr>
              <a:t>的情况，返回分配给该变量的单元数，其他情况返回</a:t>
            </a:r>
            <a:r>
              <a:rPr lang="en-US" altLang="zh-CN" sz="2000" b="0" dirty="0">
                <a:latin typeface="Lucida Console" panose="020B0609040504020204" pitchFamily="49" charset="0"/>
                <a:ea typeface="楷体_GB2312" pitchFamily="49" charset="-122"/>
              </a:rPr>
              <a:t>1.</a:t>
            </a:r>
            <a:endParaRPr lang="en-US" altLang="zh-CN" sz="2000" b="0" dirty="0">
              <a:latin typeface="Lucida Console" panose="020B0609040504020204" pitchFamily="49" charset="0"/>
              <a:ea typeface="楷体_GB2312" pitchFamily="49" charset="-122"/>
            </a:endParaRPr>
          </a:p>
          <a:p>
            <a:pPr marL="342900" indent="-342900" eaLnBrk="0" hangingPunct="0">
              <a:lnSpc>
                <a:spcPct val="105000"/>
              </a:lnSpc>
              <a:spcBef>
                <a:spcPts val="1200"/>
              </a:spcBef>
              <a:buFont typeface="Wingdings" panose="05000000000000000000" pitchFamily="2" charset="2"/>
              <a:buChar char="Ø"/>
            </a:pPr>
            <a:r>
              <a:rPr lang="en-US" altLang="zh-CN" sz="2000" b="0" dirty="0">
                <a:latin typeface="Lucida Console" panose="020B0609040504020204" pitchFamily="49" charset="0"/>
                <a:ea typeface="楷体_GB2312" pitchFamily="49" charset="-122"/>
              </a:rPr>
              <a:t>SIZE</a:t>
            </a:r>
            <a:r>
              <a:rPr lang="zh-CN" altLang="en-US" sz="2000" b="0" dirty="0">
                <a:latin typeface="Lucida Console" panose="020B0609040504020204" pitchFamily="49" charset="0"/>
                <a:ea typeface="楷体_GB2312" pitchFamily="49" charset="-122"/>
              </a:rPr>
              <a:t>：返回分配给该变量的字节数，等于</a:t>
            </a:r>
            <a:r>
              <a:rPr lang="en-US" altLang="zh-CN" sz="2000" b="0" dirty="0">
                <a:latin typeface="Lucida Console" panose="020B0609040504020204" pitchFamily="49" charset="0"/>
                <a:ea typeface="楷体_GB2312" pitchFamily="49" charset="-122"/>
              </a:rPr>
              <a:t>TYPE</a:t>
            </a:r>
            <a:r>
              <a:rPr lang="zh-CN" altLang="en-US" sz="2000" b="0" dirty="0">
                <a:latin typeface="Lucida Console" panose="020B0609040504020204" pitchFamily="49" charset="0"/>
                <a:ea typeface="楷体_GB2312" pitchFamily="49" charset="-122"/>
              </a:rPr>
              <a:t>值*</a:t>
            </a:r>
            <a:r>
              <a:rPr lang="en-US" altLang="zh-CN" sz="2000" b="0" dirty="0">
                <a:latin typeface="Lucida Console" panose="020B0609040504020204" pitchFamily="49" charset="0"/>
                <a:ea typeface="楷体_GB2312" pitchFamily="49" charset="-122"/>
              </a:rPr>
              <a:t>LENGTH</a:t>
            </a:r>
            <a:r>
              <a:rPr lang="zh-CN" altLang="en-US" sz="2000" b="0" dirty="0">
                <a:latin typeface="Lucida Console" panose="020B0609040504020204" pitchFamily="49" charset="0"/>
                <a:ea typeface="楷体_GB2312" pitchFamily="49" charset="-122"/>
              </a:rPr>
              <a:t>值。</a:t>
            </a:r>
            <a:endParaRPr lang="en-US" altLang="zh-CN" sz="2000" b="0" dirty="0">
              <a:latin typeface="Lucida Console" panose="020B0609040504020204" pitchFamily="49" charset="0"/>
              <a:ea typeface="楷体_GB2312" pitchFamily="49" charset="-122"/>
            </a:endParaRPr>
          </a:p>
          <a:p>
            <a:pPr marL="342900" indent="-342900" eaLnBrk="0" hangingPunct="0">
              <a:lnSpc>
                <a:spcPct val="105000"/>
              </a:lnSpc>
              <a:spcBef>
                <a:spcPts val="1200"/>
              </a:spcBef>
              <a:buFont typeface="Wingdings" panose="05000000000000000000" pitchFamily="2" charset="2"/>
              <a:buChar char="Ø"/>
            </a:pPr>
            <a:r>
              <a:rPr lang="en-US" altLang="zh-CN" sz="2000" b="0" dirty="0">
                <a:latin typeface="Lucida Console" panose="020B0609040504020204" pitchFamily="49" charset="0"/>
                <a:ea typeface="楷体_GB2312" pitchFamily="49" charset="-122"/>
              </a:rPr>
              <a:t>OFFSET:</a:t>
            </a:r>
            <a:r>
              <a:rPr lang="zh-CN" altLang="en-US" sz="2000" b="0" dirty="0">
                <a:latin typeface="楷体_GB2312" pitchFamily="49" charset="-122"/>
                <a:ea typeface="楷体_GB2312" pitchFamily="49" charset="-122"/>
              </a:rPr>
              <a:t>回送变量或标号的偏移地址</a:t>
            </a:r>
            <a:endParaRPr lang="en-US" altLang="en-US" sz="2000" b="0" dirty="0">
              <a:latin typeface="楷体_GB2312" pitchFamily="49" charset="-122"/>
              <a:ea typeface="楷体_GB2312" pitchFamily="49" charset="-122"/>
            </a:endParaRPr>
          </a:p>
          <a:p>
            <a:pPr marL="342900" indent="-342900" eaLnBrk="0" hangingPunct="0">
              <a:lnSpc>
                <a:spcPct val="105000"/>
              </a:lnSpc>
              <a:spcBef>
                <a:spcPts val="1200"/>
              </a:spcBef>
              <a:buFont typeface="Wingdings" panose="05000000000000000000" pitchFamily="2" charset="2"/>
              <a:buChar char="Ø"/>
            </a:pPr>
            <a:r>
              <a:rPr lang="en-US" altLang="zh-CN" sz="2000" b="0" dirty="0">
                <a:latin typeface="Lucida Console" panose="020B0609040504020204" pitchFamily="49" charset="0"/>
                <a:ea typeface="楷体_GB2312" pitchFamily="49" charset="-122"/>
              </a:rPr>
              <a:t>SEG</a:t>
            </a:r>
            <a:r>
              <a:rPr lang="zh-CN" altLang="en-US" sz="2000" b="0" dirty="0">
                <a:latin typeface="Lucida Console" panose="020B0609040504020204" pitchFamily="49" charset="0"/>
                <a:ea typeface="楷体_GB2312" pitchFamily="49" charset="-122"/>
              </a:rPr>
              <a:t>：</a:t>
            </a:r>
            <a:r>
              <a:rPr lang="zh-CN" altLang="en-US" sz="2000" b="0" dirty="0">
                <a:latin typeface="楷体_GB2312" pitchFamily="49" charset="-122"/>
                <a:ea typeface="楷体_GB2312" pitchFamily="49" charset="-122"/>
              </a:rPr>
              <a:t>回送变量或标号的段地址</a:t>
            </a:r>
            <a:endParaRPr kumimoji="1" lang="en-US" altLang="zh-CN" sz="2000" dirty="0">
              <a:solidFill>
                <a:srgbClr val="FF0000"/>
              </a:solidFill>
              <a:ea typeface="宋体" panose="02010600030101010101" pitchFamily="2" charset="-122"/>
            </a:endParaRP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表达式操作符</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611560" y="1016732"/>
            <a:ext cx="7812868" cy="5447645"/>
          </a:xfrm>
          <a:prstGeom prst="rect">
            <a:avLst/>
          </a:prstGeom>
          <a:noFill/>
          <a:ln w="12700" cap="sq">
            <a:solidFill>
              <a:srgbClr val="FF0000"/>
            </a:solidFill>
            <a:prstDash val="dash"/>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nSpc>
                <a:spcPct val="110000"/>
              </a:lnSpc>
              <a:defRPr sz="1800" b="0">
                <a:solidFill>
                  <a:srgbClr val="000000"/>
                </a:solidFill>
                <a:latin typeface="+mn-lt"/>
              </a:defRPr>
            </a:lvl1pPr>
          </a:lstStyle>
          <a:p>
            <a:r>
              <a:rPr lang="zh-CN" altLang="en-US" sz="2000" dirty="0"/>
              <a:t>例：</a:t>
            </a:r>
            <a:endParaRPr lang="en-US" altLang="en-US" sz="2000" dirty="0"/>
          </a:p>
          <a:p>
            <a:r>
              <a:rPr lang="en-US" altLang="en-US" sz="2000" dirty="0"/>
              <a:t>Data segment</a:t>
            </a:r>
            <a:endParaRPr lang="en-US" altLang="en-US" sz="2000" dirty="0"/>
          </a:p>
          <a:p>
            <a:pPr lvl="1"/>
            <a:r>
              <a:rPr lang="en-US" altLang="en-US" sz="2000" b="0" dirty="0"/>
              <a:t>ARRAY  DW   100 DUP (?)</a:t>
            </a:r>
            <a:endParaRPr lang="en-US" altLang="en-US" sz="2000" b="0" dirty="0"/>
          </a:p>
          <a:p>
            <a:pPr lvl="1"/>
            <a:r>
              <a:rPr lang="en-US" altLang="en-US" sz="2000" b="0" dirty="0"/>
              <a:t>TABLE   DB    ‘ABCD’</a:t>
            </a:r>
            <a:endParaRPr lang="en-US" altLang="en-US" sz="2000" b="0" dirty="0"/>
          </a:p>
          <a:p>
            <a:r>
              <a:rPr lang="en-US" altLang="en-US" sz="2000" dirty="0"/>
              <a:t>Data ends</a:t>
            </a:r>
            <a:endParaRPr lang="en-US" altLang="en-US" sz="2000" dirty="0"/>
          </a:p>
          <a:p>
            <a:r>
              <a:rPr lang="en-US" altLang="en-US" sz="2000" dirty="0"/>
              <a:t>…        </a:t>
            </a:r>
            <a:endParaRPr lang="en-US" altLang="en-US" sz="2000" dirty="0"/>
          </a:p>
          <a:p>
            <a:r>
              <a:rPr lang="en-US" altLang="en-US" sz="2000" dirty="0"/>
              <a:t>ADD  SI,  </a:t>
            </a:r>
            <a:r>
              <a:rPr lang="en-US" altLang="en-US" sz="2000" dirty="0">
                <a:solidFill>
                  <a:srgbClr val="FF0000"/>
                </a:solidFill>
              </a:rPr>
              <a:t>TYPE</a:t>
            </a:r>
            <a:r>
              <a:rPr lang="en-US" altLang="en-US" sz="2000" dirty="0"/>
              <a:t>    ARRAY   	</a:t>
            </a:r>
            <a:r>
              <a:rPr lang="en-US" altLang="zh-CN" sz="2000" dirty="0"/>
              <a:t>; ADD  SI, 2</a:t>
            </a:r>
            <a:endParaRPr lang="en-US" altLang="zh-CN" sz="2000" dirty="0"/>
          </a:p>
          <a:p>
            <a:r>
              <a:rPr lang="en-US" altLang="en-US" sz="2000" dirty="0"/>
              <a:t>ADD  </a:t>
            </a:r>
            <a:r>
              <a:rPr lang="en-US" altLang="zh-CN" sz="2000" dirty="0"/>
              <a:t>D</a:t>
            </a:r>
            <a:r>
              <a:rPr lang="en-US" altLang="en-US" sz="2000" dirty="0"/>
              <a:t>I,  </a:t>
            </a:r>
            <a:r>
              <a:rPr lang="en-US" altLang="en-US" sz="2000" dirty="0">
                <a:solidFill>
                  <a:srgbClr val="FF0000"/>
                </a:solidFill>
              </a:rPr>
              <a:t>TYPE</a:t>
            </a:r>
            <a:r>
              <a:rPr lang="en-US" altLang="en-US" sz="2000" dirty="0"/>
              <a:t>    TABLE   	</a:t>
            </a:r>
            <a:r>
              <a:rPr lang="en-US" altLang="zh-CN" sz="2000" dirty="0"/>
              <a:t>; ADD  DI, 1</a:t>
            </a:r>
            <a:endParaRPr lang="en-US" altLang="zh-CN" sz="2000" dirty="0"/>
          </a:p>
          <a:p>
            <a:r>
              <a:rPr lang="en-US" altLang="en-US" sz="2000" dirty="0"/>
              <a:t>MOV  </a:t>
            </a:r>
            <a:r>
              <a:rPr lang="en-US" altLang="zh-CN" sz="2000" dirty="0"/>
              <a:t>A</a:t>
            </a:r>
            <a:r>
              <a:rPr lang="en-US" altLang="en-US" sz="2000" dirty="0"/>
              <a:t>X,  </a:t>
            </a:r>
            <a:r>
              <a:rPr lang="en-US" altLang="en-US" sz="2000" dirty="0">
                <a:solidFill>
                  <a:srgbClr val="FF0000"/>
                </a:solidFill>
              </a:rPr>
              <a:t>LENGTH</a:t>
            </a:r>
            <a:r>
              <a:rPr lang="en-US" altLang="en-US" sz="2000" dirty="0"/>
              <a:t>  ARRAY  	</a:t>
            </a:r>
            <a:r>
              <a:rPr lang="en-US" altLang="zh-CN" sz="2000" dirty="0"/>
              <a:t>; MOV  AX, 100</a:t>
            </a:r>
            <a:endParaRPr lang="en-US" altLang="zh-CN" sz="2000" dirty="0"/>
          </a:p>
          <a:p>
            <a:r>
              <a:rPr lang="en-US" altLang="en-US" sz="2000" dirty="0"/>
              <a:t>MOV  </a:t>
            </a:r>
            <a:r>
              <a:rPr lang="en-US" altLang="zh-CN" sz="2000" dirty="0"/>
              <a:t>B</a:t>
            </a:r>
            <a:r>
              <a:rPr lang="en-US" altLang="en-US" sz="2000" dirty="0"/>
              <a:t>X,  </a:t>
            </a:r>
            <a:r>
              <a:rPr lang="en-US" altLang="en-US" sz="2000" dirty="0">
                <a:solidFill>
                  <a:srgbClr val="FF0000"/>
                </a:solidFill>
              </a:rPr>
              <a:t>LENGTH</a:t>
            </a:r>
            <a:r>
              <a:rPr lang="en-US" altLang="en-US" sz="2000" dirty="0"/>
              <a:t>  TABLE  	</a:t>
            </a:r>
            <a:r>
              <a:rPr lang="en-US" altLang="zh-CN" sz="2000" dirty="0"/>
              <a:t>; MOV  BX, 1</a:t>
            </a:r>
            <a:endParaRPr lang="en-US" altLang="zh-CN" sz="2000" dirty="0"/>
          </a:p>
          <a:p>
            <a:r>
              <a:rPr lang="en-US" altLang="en-US" sz="2000" dirty="0"/>
              <a:t>MOV  CX,  </a:t>
            </a:r>
            <a:r>
              <a:rPr lang="en-US" altLang="en-US" sz="2000" dirty="0">
                <a:solidFill>
                  <a:srgbClr val="FF0000"/>
                </a:solidFill>
              </a:rPr>
              <a:t>SIZE</a:t>
            </a:r>
            <a:r>
              <a:rPr lang="en-US" altLang="en-US" sz="2000" dirty="0"/>
              <a:t>    ARRAY  	</a:t>
            </a:r>
            <a:r>
              <a:rPr lang="en-US" altLang="zh-CN" sz="2000" dirty="0"/>
              <a:t>; MOV  CX, 200</a:t>
            </a:r>
            <a:endParaRPr lang="en-US" altLang="zh-CN" sz="2000" dirty="0"/>
          </a:p>
          <a:p>
            <a:r>
              <a:rPr lang="en-US" altLang="en-US" sz="2000" dirty="0"/>
              <a:t>MOV  </a:t>
            </a:r>
            <a:r>
              <a:rPr lang="en-US" altLang="zh-CN" sz="2000" dirty="0"/>
              <a:t>D</a:t>
            </a:r>
            <a:r>
              <a:rPr lang="en-US" altLang="en-US" sz="2000" dirty="0"/>
              <a:t>X,  </a:t>
            </a:r>
            <a:r>
              <a:rPr lang="en-US" altLang="en-US" sz="2000" dirty="0">
                <a:solidFill>
                  <a:srgbClr val="FF0000"/>
                </a:solidFill>
              </a:rPr>
              <a:t>SIZE</a:t>
            </a:r>
            <a:r>
              <a:rPr lang="en-US" altLang="en-US" sz="2000" dirty="0"/>
              <a:t>    TABLE  	</a:t>
            </a:r>
            <a:r>
              <a:rPr lang="en-US" altLang="zh-CN" sz="2000" dirty="0"/>
              <a:t>; MOV  DX, 1</a:t>
            </a:r>
            <a:endParaRPr lang="en-US" altLang="zh-CN" sz="2000" dirty="0"/>
          </a:p>
          <a:p>
            <a:endParaRPr lang="en-US" altLang="zh-CN" sz="2000" dirty="0"/>
          </a:p>
          <a:p>
            <a:r>
              <a:rPr lang="en-US" altLang="zh-CN" sz="2000" dirty="0"/>
              <a:t>MOV BX, </a:t>
            </a:r>
            <a:r>
              <a:rPr lang="en-US" altLang="zh-CN" sz="2000" dirty="0">
                <a:solidFill>
                  <a:srgbClr val="FF0000"/>
                </a:solidFill>
              </a:rPr>
              <a:t>OFFSET</a:t>
            </a:r>
            <a:r>
              <a:rPr lang="en-US" altLang="zh-CN" sz="2000" dirty="0"/>
              <a:t> TABLE	; </a:t>
            </a:r>
            <a:r>
              <a:rPr lang="zh-CN" altLang="en-US" sz="2000" dirty="0"/>
              <a:t>返回变量</a:t>
            </a:r>
            <a:r>
              <a:rPr lang="en-US" altLang="zh-CN" sz="2000" dirty="0"/>
              <a:t>TABLE</a:t>
            </a:r>
            <a:r>
              <a:rPr lang="zh-CN" altLang="en-US" sz="2000" dirty="0"/>
              <a:t>的偏移地址</a:t>
            </a:r>
            <a:endParaRPr lang="en-US" altLang="zh-CN" sz="2000" dirty="0"/>
          </a:p>
          <a:p>
            <a:endParaRPr lang="en-US" altLang="zh-CN" sz="2000" dirty="0"/>
          </a:p>
          <a:p>
            <a:r>
              <a:rPr lang="en-US" altLang="zh-CN" sz="2000" dirty="0"/>
              <a:t>MOV BX, </a:t>
            </a:r>
            <a:r>
              <a:rPr lang="en-US" altLang="zh-CN" sz="2000" dirty="0">
                <a:solidFill>
                  <a:srgbClr val="FF0000"/>
                </a:solidFill>
              </a:rPr>
              <a:t>SEG</a:t>
            </a:r>
            <a:r>
              <a:rPr lang="en-US" altLang="zh-CN" sz="2000" dirty="0"/>
              <a:t> TABLE		; </a:t>
            </a:r>
            <a:r>
              <a:rPr lang="zh-CN" altLang="en-US" sz="2000" dirty="0"/>
              <a:t>返回变量</a:t>
            </a:r>
            <a:r>
              <a:rPr lang="en-US" altLang="zh-CN" sz="2000" dirty="0"/>
              <a:t>TABLE</a:t>
            </a:r>
            <a:r>
              <a:rPr lang="zh-CN" altLang="en-US" sz="2000" dirty="0"/>
              <a:t>所在段的段地址</a:t>
            </a:r>
            <a:endParaRPr lang="en-US" altLang="zh-CN" sz="2000" dirty="0"/>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表达式操作符</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359532" y="1003300"/>
            <a:ext cx="8136904"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eaLnBrk="0" hangingPunct="0">
              <a:lnSpc>
                <a:spcPct val="150000"/>
              </a:lnSpc>
              <a:buAutoNum type="arabicParenBoth" startAt="5"/>
            </a:pPr>
            <a:r>
              <a:rPr kumimoji="1" lang="zh-CN" altLang="en-US" sz="2000" dirty="0">
                <a:solidFill>
                  <a:srgbClr val="FF0000"/>
                </a:solidFill>
                <a:ea typeface="宋体" panose="02010600030101010101" pitchFamily="2" charset="-122"/>
              </a:rPr>
              <a:t>属性操作符： </a:t>
            </a:r>
            <a:r>
              <a:rPr kumimoji="1" lang="en-US" altLang="zh-CN" sz="2000" dirty="0">
                <a:solidFill>
                  <a:srgbClr val="FF0000"/>
                </a:solidFill>
                <a:ea typeface="宋体" panose="02010600030101010101" pitchFamily="2" charset="-122"/>
              </a:rPr>
              <a:t>SHORT</a:t>
            </a:r>
            <a:r>
              <a:rPr kumimoji="1" lang="zh-CN" altLang="en-US" sz="2000" dirty="0">
                <a:solidFill>
                  <a:srgbClr val="FF0000"/>
                </a:solidFill>
                <a:ea typeface="宋体" panose="02010600030101010101" pitchFamily="2" charset="-122"/>
              </a:rPr>
              <a:t>、 </a:t>
            </a:r>
            <a:r>
              <a:rPr kumimoji="1" lang="en-US" altLang="zh-CN" sz="2000" dirty="0">
                <a:solidFill>
                  <a:srgbClr val="FF0000"/>
                </a:solidFill>
                <a:ea typeface="宋体" panose="02010600030101010101" pitchFamily="2" charset="-122"/>
              </a:rPr>
              <a:t>HIGH</a:t>
            </a:r>
            <a:r>
              <a:rPr kumimoji="1" lang="zh-CN" altLang="en-US" sz="2000" dirty="0">
                <a:solidFill>
                  <a:srgbClr val="FF0000"/>
                </a:solidFill>
                <a:ea typeface="宋体" panose="02010600030101010101" pitchFamily="2" charset="-122"/>
              </a:rPr>
              <a:t>、</a:t>
            </a:r>
            <a:r>
              <a:rPr kumimoji="1" lang="en-US" altLang="zh-CN" sz="2000" dirty="0">
                <a:solidFill>
                  <a:srgbClr val="FF0000"/>
                </a:solidFill>
                <a:ea typeface="宋体" panose="02010600030101010101" pitchFamily="2" charset="-122"/>
              </a:rPr>
              <a:t>LOW</a:t>
            </a:r>
            <a:r>
              <a:rPr kumimoji="1" lang="zh-CN" altLang="en-US" sz="2000" dirty="0">
                <a:solidFill>
                  <a:srgbClr val="FF0000"/>
                </a:solidFill>
                <a:ea typeface="宋体" panose="02010600030101010101" pitchFamily="2" charset="-122"/>
              </a:rPr>
              <a:t>、</a:t>
            </a:r>
            <a:r>
              <a:rPr kumimoji="1" lang="en-US" altLang="zh-CN" sz="2000" dirty="0">
                <a:solidFill>
                  <a:srgbClr val="FF0000"/>
                </a:solidFill>
                <a:ea typeface="宋体" panose="02010600030101010101" pitchFamily="2" charset="-122"/>
              </a:rPr>
              <a:t>HIGHWORD</a:t>
            </a:r>
            <a:r>
              <a:rPr kumimoji="1" lang="zh-CN" altLang="en-US" sz="2000" dirty="0">
                <a:solidFill>
                  <a:srgbClr val="FF0000"/>
                </a:solidFill>
                <a:ea typeface="宋体" panose="02010600030101010101" pitchFamily="2" charset="-122"/>
              </a:rPr>
              <a:t>、</a:t>
            </a:r>
            <a:r>
              <a:rPr kumimoji="1" lang="en-US" altLang="zh-CN" sz="2000" dirty="0">
                <a:solidFill>
                  <a:srgbClr val="FF0000"/>
                </a:solidFill>
                <a:ea typeface="宋体" panose="02010600030101010101" pitchFamily="2" charset="-122"/>
              </a:rPr>
              <a:t>LOWWORD</a:t>
            </a:r>
            <a:endParaRPr kumimoji="1" lang="en-US" altLang="zh-CN" sz="2000" dirty="0">
              <a:solidFill>
                <a:srgbClr val="FF0000"/>
              </a:solidFill>
              <a:ea typeface="宋体" panose="02010600030101010101" pitchFamily="2" charset="-122"/>
            </a:endParaRPr>
          </a:p>
          <a:p>
            <a:pPr eaLnBrk="0" hangingPunct="0">
              <a:lnSpc>
                <a:spcPct val="150000"/>
              </a:lnSpc>
            </a:pPr>
            <a:endParaRPr kumimoji="1" lang="en-US" altLang="zh-CN" sz="2000" dirty="0">
              <a:solidFill>
                <a:srgbClr val="FF0000"/>
              </a:solidFill>
              <a:ea typeface="宋体" panose="02010600030101010101" pitchFamily="2" charset="-122"/>
            </a:endParaRPr>
          </a:p>
          <a:p>
            <a:pPr marL="342900" indent="-342900">
              <a:lnSpc>
                <a:spcPct val="125000"/>
              </a:lnSpc>
              <a:buFont typeface="Wingdings" panose="05000000000000000000" pitchFamily="2" charset="2"/>
              <a:buChar char="Ø"/>
            </a:pPr>
            <a:r>
              <a:rPr lang="en-US" altLang="zh-CN" sz="2000" b="0" dirty="0">
                <a:solidFill>
                  <a:srgbClr val="000000"/>
                </a:solidFill>
              </a:rPr>
              <a:t>SHORT</a:t>
            </a:r>
            <a:r>
              <a:rPr lang="zh-CN" altLang="en-US" sz="2000" b="0" dirty="0">
                <a:solidFill>
                  <a:srgbClr val="000000"/>
                </a:solidFill>
              </a:rPr>
              <a:t>：用来修饰跳转指令中转向地址的属性，指出转向地址在下一条指令的</a:t>
            </a:r>
            <a:r>
              <a:rPr lang="en-US" altLang="zh-CN" sz="2000" b="0" dirty="0">
                <a:solidFill>
                  <a:srgbClr val="000000"/>
                </a:solidFill>
              </a:rPr>
              <a:t>-127~+127</a:t>
            </a:r>
            <a:r>
              <a:rPr lang="zh-CN" altLang="en-US" sz="2000" b="0" dirty="0">
                <a:solidFill>
                  <a:srgbClr val="000000"/>
                </a:solidFill>
              </a:rPr>
              <a:t>个字节范围之内。如：</a:t>
            </a:r>
            <a:endParaRPr lang="en-US" altLang="zh-CN" sz="2000" b="0" dirty="0">
              <a:solidFill>
                <a:srgbClr val="000000"/>
              </a:solidFill>
            </a:endParaRPr>
          </a:p>
          <a:p>
            <a:pPr>
              <a:lnSpc>
                <a:spcPct val="125000"/>
              </a:lnSpc>
            </a:pPr>
            <a:r>
              <a:rPr lang="en-US" altLang="zh-CN" sz="2000" b="0" dirty="0">
                <a:solidFill>
                  <a:srgbClr val="000000"/>
                </a:solidFill>
              </a:rPr>
              <a:t>		JMP  SHORT  NEXT</a:t>
            </a:r>
            <a:endParaRPr lang="en-US" altLang="zh-CN" sz="2000" b="0" dirty="0">
              <a:solidFill>
                <a:srgbClr val="000000"/>
              </a:solidFill>
            </a:endParaRPr>
          </a:p>
          <a:p>
            <a:pPr marL="342900" indent="-342900">
              <a:lnSpc>
                <a:spcPct val="125000"/>
              </a:lnSpc>
              <a:buFont typeface="Wingdings" panose="05000000000000000000" pitchFamily="2" charset="2"/>
              <a:buChar char="Ø"/>
            </a:pPr>
            <a:r>
              <a:rPr lang="en-US" altLang="en-US" sz="2000" b="0" dirty="0">
                <a:solidFill>
                  <a:srgbClr val="000000"/>
                </a:solidFill>
              </a:rPr>
              <a:t>HIGH</a:t>
            </a:r>
            <a:r>
              <a:rPr lang="zh-CN" altLang="en-US" sz="2000" b="0" dirty="0">
                <a:solidFill>
                  <a:srgbClr val="000000"/>
                </a:solidFill>
              </a:rPr>
              <a:t>和</a:t>
            </a:r>
            <a:r>
              <a:rPr lang="en-US" altLang="zh-CN" sz="2000" b="0" dirty="0">
                <a:solidFill>
                  <a:srgbClr val="000000"/>
                </a:solidFill>
              </a:rPr>
              <a:t>LOW </a:t>
            </a:r>
            <a:r>
              <a:rPr lang="zh-CN" altLang="en-US" sz="2000" b="0" dirty="0">
                <a:solidFill>
                  <a:srgbClr val="000000"/>
                </a:solidFill>
              </a:rPr>
              <a:t>：字节分离操作符。对一个数或表达式，</a:t>
            </a:r>
            <a:r>
              <a:rPr lang="en-US" altLang="zh-CN" sz="2000" b="0" dirty="0">
                <a:solidFill>
                  <a:srgbClr val="000000"/>
                </a:solidFill>
              </a:rPr>
              <a:t>HIGH</a:t>
            </a:r>
            <a:r>
              <a:rPr lang="zh-CN" altLang="en-US" sz="2000" b="0" dirty="0">
                <a:solidFill>
                  <a:srgbClr val="000000"/>
                </a:solidFill>
              </a:rPr>
              <a:t>取其高字节，</a:t>
            </a:r>
            <a:r>
              <a:rPr lang="en-US" altLang="zh-CN" sz="2000" b="0" dirty="0">
                <a:solidFill>
                  <a:srgbClr val="000000"/>
                </a:solidFill>
              </a:rPr>
              <a:t>LOW</a:t>
            </a:r>
            <a:r>
              <a:rPr lang="zh-CN" altLang="en-US" sz="2000" b="0" dirty="0">
                <a:solidFill>
                  <a:srgbClr val="000000"/>
                </a:solidFill>
              </a:rPr>
              <a:t>取其低字节。如：</a:t>
            </a:r>
            <a:endParaRPr lang="en-US" altLang="zh-CN" sz="2000" b="0" dirty="0">
              <a:solidFill>
                <a:srgbClr val="000000"/>
              </a:solidFill>
            </a:endParaRPr>
          </a:p>
          <a:p>
            <a:pPr>
              <a:lnSpc>
                <a:spcPct val="125000"/>
              </a:lnSpc>
            </a:pPr>
            <a:r>
              <a:rPr lang="en-US" altLang="en-US" sz="2000" b="0" dirty="0">
                <a:solidFill>
                  <a:srgbClr val="000000"/>
                </a:solidFill>
              </a:rPr>
              <a:t>		CONS  EQU  1234H</a:t>
            </a:r>
            <a:endParaRPr lang="en-US" altLang="zh-CN" sz="2000" b="0" dirty="0">
              <a:solidFill>
                <a:srgbClr val="000000"/>
              </a:solidFill>
            </a:endParaRPr>
          </a:p>
          <a:p>
            <a:pPr>
              <a:lnSpc>
                <a:spcPct val="125000"/>
              </a:lnSpc>
            </a:pPr>
            <a:r>
              <a:rPr lang="en-US" altLang="zh-CN" sz="2000" b="0" dirty="0">
                <a:solidFill>
                  <a:srgbClr val="000000"/>
                </a:solidFill>
              </a:rPr>
              <a:t>	              MOV   AH,  </a:t>
            </a:r>
            <a:r>
              <a:rPr lang="en-US" altLang="zh-CN" sz="2000" b="0" dirty="0">
                <a:solidFill>
                  <a:srgbClr val="FF0000"/>
                </a:solidFill>
              </a:rPr>
              <a:t>HIGH</a:t>
            </a:r>
            <a:r>
              <a:rPr lang="en-US" altLang="zh-CN" sz="2000" b="0" dirty="0">
                <a:solidFill>
                  <a:srgbClr val="000000"/>
                </a:solidFill>
              </a:rPr>
              <a:t>  CONS</a:t>
            </a:r>
            <a:endParaRPr lang="en-US" altLang="zh-CN" sz="2000" b="0" dirty="0">
              <a:solidFill>
                <a:srgbClr val="000000"/>
              </a:solidFill>
            </a:endParaRPr>
          </a:p>
          <a:p>
            <a:pPr>
              <a:lnSpc>
                <a:spcPct val="125000"/>
              </a:lnSpc>
            </a:pPr>
            <a:r>
              <a:rPr lang="en-US" altLang="zh-CN" sz="2000" b="0" dirty="0">
                <a:solidFill>
                  <a:srgbClr val="000000"/>
                </a:solidFill>
              </a:rPr>
              <a:t>              		MOV   AL,  </a:t>
            </a:r>
            <a:r>
              <a:rPr lang="en-US" altLang="zh-CN" sz="2000" b="0" dirty="0">
                <a:solidFill>
                  <a:srgbClr val="FF0000"/>
                </a:solidFill>
              </a:rPr>
              <a:t>LOW</a:t>
            </a:r>
            <a:r>
              <a:rPr lang="en-US" altLang="zh-CN" sz="2000" b="0" dirty="0">
                <a:solidFill>
                  <a:srgbClr val="000000"/>
                </a:solidFill>
              </a:rPr>
              <a:t>   CONS </a:t>
            </a:r>
            <a:endParaRPr lang="en-US" altLang="en-US" sz="2000" b="0" dirty="0">
              <a:solidFill>
                <a:srgbClr val="000000"/>
              </a:solidFill>
            </a:endParaRPr>
          </a:p>
          <a:p>
            <a:pPr marL="342900" indent="-342900">
              <a:lnSpc>
                <a:spcPct val="125000"/>
              </a:lnSpc>
              <a:buFont typeface="Wingdings" panose="05000000000000000000" pitchFamily="2" charset="2"/>
              <a:buChar char="Ø"/>
            </a:pPr>
            <a:r>
              <a:rPr lang="en-US" altLang="zh-CN" sz="2000" b="0" dirty="0">
                <a:solidFill>
                  <a:srgbClr val="000000"/>
                </a:solidFill>
              </a:rPr>
              <a:t>HIGHWORD</a:t>
            </a:r>
            <a:r>
              <a:rPr lang="zh-CN" altLang="en-US" sz="2000" b="0" dirty="0">
                <a:solidFill>
                  <a:srgbClr val="000000"/>
                </a:solidFill>
              </a:rPr>
              <a:t>、</a:t>
            </a:r>
            <a:r>
              <a:rPr lang="en-US" altLang="zh-CN" sz="2000" b="0" dirty="0">
                <a:solidFill>
                  <a:srgbClr val="000000"/>
                </a:solidFill>
              </a:rPr>
              <a:t>LOWWORD</a:t>
            </a:r>
            <a:r>
              <a:rPr lang="zh-CN" altLang="en-US" sz="2000" b="0" dirty="0">
                <a:solidFill>
                  <a:srgbClr val="000000"/>
                </a:solidFill>
              </a:rPr>
              <a:t>：字分离操作符。对一个数或表达式，</a:t>
            </a:r>
            <a:r>
              <a:rPr lang="en-US" altLang="zh-CN" sz="2000" b="0" dirty="0">
                <a:solidFill>
                  <a:srgbClr val="000000"/>
                </a:solidFill>
              </a:rPr>
              <a:t>HIGHWORD</a:t>
            </a:r>
            <a:r>
              <a:rPr lang="zh-CN" altLang="en-US" sz="2000" b="0" dirty="0">
                <a:solidFill>
                  <a:srgbClr val="000000"/>
                </a:solidFill>
              </a:rPr>
              <a:t>取其高位字，</a:t>
            </a:r>
            <a:r>
              <a:rPr lang="en-US" altLang="zh-CN" sz="2000" b="0" dirty="0">
                <a:solidFill>
                  <a:srgbClr val="000000"/>
                </a:solidFill>
              </a:rPr>
              <a:t>LOWWORD</a:t>
            </a:r>
            <a:r>
              <a:rPr lang="zh-CN" altLang="en-US" sz="2000" b="0" dirty="0">
                <a:solidFill>
                  <a:srgbClr val="000000"/>
                </a:solidFill>
              </a:rPr>
              <a:t>取其低位字。</a:t>
            </a:r>
            <a:endParaRPr kumimoji="1" lang="en-US" altLang="en-US" sz="2000" dirty="0">
              <a:solidFill>
                <a:srgbClr val="FF0000"/>
              </a:solidFill>
              <a:ea typeface="宋体" panose="02010600030101010101" pitchFamily="2" charset="-122"/>
            </a:endParaRPr>
          </a:p>
        </p:txBody>
      </p:sp>
      <p:sp>
        <p:nvSpPr>
          <p:cNvPr id="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表达式操作符</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a:xfrm>
            <a:off x="452120" y="1016732"/>
            <a:ext cx="8229600" cy="500988"/>
          </a:xfrm>
        </p:spPr>
        <p:txBody>
          <a:bodyPr/>
          <a:lstStyle/>
          <a:p>
            <a:r>
              <a:rPr lang="zh-CN" altLang="en-US" sz="2400" b="1" dirty="0">
                <a:solidFill>
                  <a:srgbClr val="336699"/>
                </a:solidFill>
                <a:effectLst/>
                <a:latin typeface="宋体" panose="02010600030101010101" pitchFamily="2" charset="-122"/>
                <a:ea typeface="宋体" panose="02010600030101010101" pitchFamily="2" charset="-122"/>
              </a:rPr>
              <a:t>运算符的优先级别</a:t>
            </a:r>
            <a:r>
              <a:rPr lang="zh-CN" altLang="en-US" sz="2400" dirty="0">
                <a:effectLst/>
                <a:latin typeface="宋体" panose="02010600030101010101" pitchFamily="2" charset="-122"/>
                <a:ea typeface="宋体" panose="02010600030101010101" pitchFamily="2" charset="-122"/>
              </a:rPr>
              <a:t> </a:t>
            </a:r>
            <a:endParaRPr lang="zh-CN" altLang="en-US" sz="2400" dirty="0">
              <a:effectLst/>
              <a:latin typeface="宋体" panose="02010600030101010101" pitchFamily="2" charset="-122"/>
              <a:ea typeface="宋体" panose="02010600030101010101" pitchFamily="2" charset="-122"/>
            </a:endParaRPr>
          </a:p>
        </p:txBody>
      </p:sp>
      <p:graphicFrame>
        <p:nvGraphicFramePr>
          <p:cNvPr id="344068" name="Object 4"/>
          <p:cNvGraphicFramePr>
            <a:graphicFrameLocks noChangeAspect="1"/>
          </p:cNvGraphicFramePr>
          <p:nvPr/>
        </p:nvGraphicFramePr>
        <p:xfrm>
          <a:off x="611560" y="1664804"/>
          <a:ext cx="7897763" cy="4356484"/>
        </p:xfrm>
        <a:graphic>
          <a:graphicData uri="http://schemas.openxmlformats.org/presentationml/2006/ole">
            <mc:AlternateContent xmlns:mc="http://schemas.openxmlformats.org/markup-compatibility/2006">
              <mc:Choice xmlns:v="urn:schemas-microsoft-com:vml" Requires="v">
                <p:oleObj spid="_x0000_s2124" name="位图图像" r:id="rId1" imgW="4524375" imgH="2495550" progId="Paint.Picture">
                  <p:embed/>
                </p:oleObj>
              </mc:Choice>
              <mc:Fallback>
                <p:oleObj name="位图图像" r:id="rId1" imgW="4524375" imgH="2495550" progId="Paint.Picture">
                  <p:embed/>
                  <p:pic>
                    <p:nvPicPr>
                      <p:cNvPr id="0" name="图片 21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664804"/>
                        <a:ext cx="7897763" cy="4356484"/>
                      </a:xfrm>
                      <a:prstGeom prst="rect">
                        <a:avLst/>
                      </a:prstGeom>
                      <a:noFill/>
                      <a:ln>
                        <a:noFill/>
                      </a:ln>
                      <a:effectLst/>
                    </p:spPr>
                  </p:pic>
                </p:oleObj>
              </mc:Fallback>
            </mc:AlternateContent>
          </a:graphicData>
        </a:graphic>
      </p:graphicFrame>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表达式操作符</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3&amp;4</a:t>
            </a:r>
            <a:r>
              <a:rPr lang="zh-CN" altLang="en-US" sz="2600" kern="0" dirty="0">
                <a:solidFill>
                  <a:schemeClr val="tx2"/>
                </a:solidFill>
                <a:effectLst>
                  <a:outerShdw blurRad="38100" dist="38100" dir="2700000" algn="tl">
                    <a:srgbClr val="C0C0C0"/>
                  </a:outerShdw>
                </a:effectLst>
                <a:latin typeface="+mj-lt"/>
                <a:cs typeface="+mj-cs"/>
              </a:rPr>
              <a:t>讲：</a:t>
            </a:r>
            <a:r>
              <a:rPr lang="en-US" altLang="zh-CN" sz="2600" kern="0" dirty="0">
                <a:solidFill>
                  <a:schemeClr val="tx2"/>
                </a:solidFill>
                <a:effectLst>
                  <a:outerShdw blurRad="38100" dist="38100" dir="2700000" algn="tl">
                    <a:srgbClr val="C0C0C0"/>
                  </a:outerShdw>
                </a:effectLst>
                <a:latin typeface="+mj-lt"/>
                <a:cs typeface="+mj-cs"/>
              </a:rPr>
              <a:t>8086/8088</a:t>
            </a:r>
            <a:r>
              <a:rPr lang="zh-CN" altLang="en-US" sz="2600" kern="0" dirty="0">
                <a:solidFill>
                  <a:schemeClr val="tx2"/>
                </a:solidFill>
                <a:effectLst>
                  <a:outerShdw blurRad="38100" dist="38100" dir="2700000" algn="tl">
                    <a:srgbClr val="C0C0C0"/>
                  </a:outerShdw>
                </a:effectLst>
                <a:latin typeface="+mj-lt"/>
                <a:cs typeface="+mj-cs"/>
              </a:rPr>
              <a:t>的指令系统</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079612" y="1124744"/>
            <a:ext cx="5508612" cy="4228850"/>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dirty="0">
                <a:sym typeface="+mn-ea"/>
              </a:rPr>
              <a:t>建立汇编程序</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sym typeface="+mn-ea"/>
              </a:rPr>
              <a:t>汇编语言程序格式</a:t>
            </a:r>
            <a:endParaRPr lang="zh-CN" altLang="en-US" dirty="0">
              <a:sym typeface="+mn-ea"/>
            </a:endParaRPr>
          </a:p>
          <a:p>
            <a:pPr marL="342900" indent="-342900">
              <a:lnSpc>
                <a:spcPct val="160000"/>
              </a:lnSpc>
              <a:buClr>
                <a:srgbClr val="FF3300"/>
              </a:buClr>
              <a:buFont typeface="Wingdings" panose="05000000000000000000" charset="0"/>
              <a:buChar char=""/>
            </a:pPr>
            <a:r>
              <a:rPr lang="zh-CN" altLang="en-US" dirty="0">
                <a:sym typeface="+mn-ea"/>
              </a:rPr>
              <a:t>伪指令</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sym typeface="+mn-ea"/>
              </a:rPr>
              <a:t>表达式操作符</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solidFill>
                  <a:srgbClr val="FF0000"/>
                </a:solidFill>
              </a:rPr>
              <a:t>数据传送指令</a:t>
            </a:r>
            <a:endParaRPr lang="zh-CN" altLang="en-US" dirty="0">
              <a:solidFill>
                <a:srgbClr val="FF0000"/>
              </a:solidFill>
            </a:endParaRPr>
          </a:p>
          <a:p>
            <a:pPr marL="342900" indent="-342900">
              <a:lnSpc>
                <a:spcPct val="160000"/>
              </a:lnSpc>
              <a:buClr>
                <a:srgbClr val="FF3300"/>
              </a:buClr>
              <a:buFont typeface="Wingdings" panose="05000000000000000000" charset="0"/>
              <a:buChar char=""/>
            </a:pPr>
            <a:r>
              <a:rPr lang="zh-CN" altLang="en-US" dirty="0"/>
              <a:t>算术指令</a:t>
            </a:r>
            <a:endParaRPr lang="zh-CN" altLang="en-US" dirty="0"/>
          </a:p>
          <a:p>
            <a:pPr marL="342900" indent="-342900">
              <a:lnSpc>
                <a:spcPct val="160000"/>
              </a:lnSpc>
              <a:buClr>
                <a:srgbClr val="FF3300"/>
              </a:buClr>
              <a:buFont typeface="Wingdings" panose="05000000000000000000" charset="0"/>
              <a:buChar char=""/>
            </a:pPr>
            <a:r>
              <a:rPr lang="zh-CN" altLang="en-US" dirty="0"/>
              <a:t>逻辑指令</a:t>
            </a:r>
            <a:endParaRPr lang="en-US" altLang="zh-CN" dirty="0">
              <a:sym typeface="+mn-ea"/>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矩形 29697"/>
          <p:cNvSpPr/>
          <p:nvPr/>
        </p:nvSpPr>
        <p:spPr>
          <a:xfrm>
            <a:off x="755576" y="1409313"/>
            <a:ext cx="6781800" cy="4350804"/>
          </a:xfrm>
          <a:prstGeom prst="rect">
            <a:avLst/>
          </a:prstGeom>
          <a:noFill/>
          <a:ln w="12700">
            <a:noFill/>
          </a:ln>
        </p:spPr>
        <p:txBody>
          <a:bodyPr/>
          <a:lstStyle/>
          <a:p>
            <a:pPr marL="342900" indent="-342900" algn="just">
              <a:spcBef>
                <a:spcPct val="20000"/>
              </a:spcBef>
              <a:buClr>
                <a:schemeClr val="tx2"/>
              </a:buClr>
              <a:buSzPct val="90000"/>
              <a:buFont typeface="Symbol" panose="05050102010706020507" pitchFamily="18" charset="2"/>
              <a:buNone/>
            </a:pPr>
            <a:r>
              <a:rPr lang="en-US" altLang="zh-CN" b="1" dirty="0">
                <a:solidFill>
                  <a:srgbClr val="000000"/>
                </a:solidFill>
                <a:latin typeface="Times New Roman" panose="02020603050405020304" pitchFamily="18" charset="0"/>
                <a:sym typeface="Symbol" panose="05050102010706020507" pitchFamily="18" charset="2"/>
              </a:rPr>
              <a:t>		   </a:t>
            </a:r>
            <a:r>
              <a:rPr lang="zh-CN" altLang="en-US" b="1" dirty="0">
                <a:solidFill>
                  <a:srgbClr val="000000"/>
                </a:solidFill>
                <a:latin typeface="Times New Roman" panose="02020603050405020304" pitchFamily="18" charset="0"/>
                <a:ea typeface="楷体_GB2312" pitchFamily="49" charset="-122"/>
              </a:rPr>
              <a:t>通用数据传送指令</a:t>
            </a:r>
            <a:endParaRPr lang="zh-CN" altLang="en-US" b="1" dirty="0">
              <a:solidFill>
                <a:srgbClr val="000000"/>
              </a:solidFill>
              <a:latin typeface="Times New Roman" panose="02020603050405020304" pitchFamily="18" charset="0"/>
              <a:ea typeface="楷体_GB2312" pitchFamily="49" charset="-122"/>
            </a:endParaRPr>
          </a:p>
          <a:p>
            <a:pPr marL="1143000" lvl="2" indent="-228600" algn="just">
              <a:lnSpc>
                <a:spcPct val="130000"/>
              </a:lnSpc>
              <a:spcBef>
                <a:spcPct val="20000"/>
              </a:spcBef>
            </a:pPr>
            <a:r>
              <a:rPr lang="zh-CN" altLang="en-US" b="1" dirty="0">
                <a:solidFill>
                  <a:srgbClr val="000000"/>
                </a:solidFill>
                <a:latin typeface="Times New Roman" panose="02020603050405020304" pitchFamily="18" charset="0"/>
              </a:rPr>
              <a:t>      </a:t>
            </a:r>
            <a:r>
              <a:rPr lang="en-US" altLang="zh-CN" b="1" dirty="0">
                <a:solidFill>
                  <a:srgbClr val="000000"/>
                </a:solidFill>
                <a:latin typeface="Times New Roman" panose="02020603050405020304" pitchFamily="18" charset="0"/>
              </a:rPr>
              <a:t>MOV</a:t>
            </a:r>
            <a:r>
              <a:rPr lang="zh-CN" altLang="en-US" b="1" dirty="0">
                <a:solidFill>
                  <a:srgbClr val="000000"/>
                </a:solidFill>
                <a:latin typeface="Times New Roman" panose="02020603050405020304" pitchFamily="18" charset="0"/>
              </a:rPr>
              <a:t>、</a:t>
            </a:r>
            <a:r>
              <a:rPr lang="en-US" altLang="zh-CN" b="1" dirty="0">
                <a:solidFill>
                  <a:srgbClr val="000000"/>
                </a:solidFill>
                <a:latin typeface="Times New Roman" panose="02020603050405020304" pitchFamily="18" charset="0"/>
              </a:rPr>
              <a:t>PUSH</a:t>
            </a:r>
            <a:r>
              <a:rPr lang="zh-CN" altLang="en-US" b="1" dirty="0">
                <a:solidFill>
                  <a:srgbClr val="000000"/>
                </a:solidFill>
                <a:latin typeface="Times New Roman" panose="02020603050405020304" pitchFamily="18" charset="0"/>
              </a:rPr>
              <a:t>、</a:t>
            </a:r>
            <a:r>
              <a:rPr lang="en-US" altLang="zh-CN" b="1" dirty="0">
                <a:solidFill>
                  <a:srgbClr val="000000"/>
                </a:solidFill>
                <a:latin typeface="Times New Roman" panose="02020603050405020304" pitchFamily="18" charset="0"/>
              </a:rPr>
              <a:t>POP</a:t>
            </a:r>
            <a:r>
              <a:rPr lang="zh-CN" altLang="en-US" b="1" dirty="0">
                <a:solidFill>
                  <a:srgbClr val="000000"/>
                </a:solidFill>
                <a:latin typeface="Times New Roman" panose="02020603050405020304" pitchFamily="18" charset="0"/>
              </a:rPr>
              <a:t>、</a:t>
            </a:r>
            <a:r>
              <a:rPr lang="en-US" altLang="zh-CN" b="1" dirty="0">
                <a:solidFill>
                  <a:srgbClr val="000000"/>
                </a:solidFill>
                <a:latin typeface="Times New Roman" panose="02020603050405020304" pitchFamily="18" charset="0"/>
              </a:rPr>
              <a:t>XCHG</a:t>
            </a:r>
            <a:r>
              <a:rPr lang="en-US" altLang="zh-CN" dirty="0">
                <a:solidFill>
                  <a:srgbClr val="000000"/>
                </a:solidFill>
              </a:rPr>
              <a:t> </a:t>
            </a:r>
            <a:endParaRPr lang="en-US" altLang="zh-CN" b="1" dirty="0">
              <a:solidFill>
                <a:srgbClr val="000000"/>
              </a:solidFill>
              <a:latin typeface="Times New Roman" panose="02020603050405020304" pitchFamily="18" charset="0"/>
            </a:endParaRPr>
          </a:p>
          <a:p>
            <a:pPr marL="1143000" lvl="2" indent="-228600" algn="just">
              <a:lnSpc>
                <a:spcPct val="130000"/>
              </a:lnSpc>
              <a:spcBef>
                <a:spcPct val="20000"/>
              </a:spcBef>
            </a:pPr>
            <a:r>
              <a:rPr lang="en-US" altLang="zh-CN" b="1" dirty="0">
                <a:solidFill>
                  <a:srgbClr val="000000"/>
                </a:solidFill>
                <a:latin typeface="Times New Roman" panose="02020603050405020304" pitchFamily="18" charset="0"/>
                <a:sym typeface="Symbol" panose="05050102010706020507" pitchFamily="18" charset="2"/>
              </a:rPr>
              <a:t>   </a:t>
            </a:r>
            <a:r>
              <a:rPr lang="zh-CN" altLang="en-US" b="1" dirty="0">
                <a:solidFill>
                  <a:srgbClr val="000000"/>
                </a:solidFill>
                <a:latin typeface="Times New Roman" panose="02020603050405020304" pitchFamily="18" charset="0"/>
                <a:ea typeface="楷体_GB2312" pitchFamily="49" charset="-122"/>
              </a:rPr>
              <a:t>地址传送指令</a:t>
            </a:r>
            <a:endParaRPr lang="zh-CN" altLang="en-US" b="1" dirty="0">
              <a:solidFill>
                <a:srgbClr val="000000"/>
              </a:solidFill>
              <a:latin typeface="Times New Roman" panose="02020603050405020304" pitchFamily="18" charset="0"/>
              <a:ea typeface="楷体_GB2312" pitchFamily="49" charset="-122"/>
            </a:endParaRPr>
          </a:p>
          <a:p>
            <a:pPr marL="1143000" lvl="2" indent="-228600" algn="just">
              <a:lnSpc>
                <a:spcPct val="130000"/>
              </a:lnSpc>
              <a:spcBef>
                <a:spcPct val="20000"/>
              </a:spcBef>
            </a:pPr>
            <a:r>
              <a:rPr lang="zh-CN" altLang="en-US" b="1" dirty="0">
                <a:solidFill>
                  <a:srgbClr val="000000"/>
                </a:solidFill>
                <a:latin typeface="Times New Roman" panose="02020603050405020304" pitchFamily="18" charset="0"/>
              </a:rPr>
              <a:t>      </a:t>
            </a:r>
            <a:r>
              <a:rPr lang="en-US" altLang="zh-CN" b="1" dirty="0">
                <a:solidFill>
                  <a:srgbClr val="000000"/>
                </a:solidFill>
                <a:latin typeface="Times New Roman" panose="02020603050405020304" pitchFamily="18" charset="0"/>
              </a:rPr>
              <a:t>LEA</a:t>
            </a:r>
            <a:r>
              <a:rPr lang="zh-CN" altLang="en-US" b="1" dirty="0">
                <a:solidFill>
                  <a:srgbClr val="000000"/>
                </a:solidFill>
                <a:latin typeface="Times New Roman" panose="02020603050405020304" pitchFamily="18" charset="0"/>
              </a:rPr>
              <a:t>、</a:t>
            </a:r>
            <a:r>
              <a:rPr lang="en-US" altLang="zh-CN" b="1" dirty="0">
                <a:solidFill>
                  <a:srgbClr val="000000"/>
                </a:solidFill>
                <a:latin typeface="Times New Roman" panose="02020603050405020304" pitchFamily="18" charset="0"/>
              </a:rPr>
              <a:t>LDS</a:t>
            </a:r>
            <a:r>
              <a:rPr lang="zh-CN" altLang="en-US" b="1" dirty="0">
                <a:solidFill>
                  <a:srgbClr val="000000"/>
                </a:solidFill>
                <a:latin typeface="Times New Roman" panose="02020603050405020304" pitchFamily="18" charset="0"/>
              </a:rPr>
              <a:t>、</a:t>
            </a:r>
            <a:r>
              <a:rPr lang="en-US" altLang="zh-CN" b="1" dirty="0">
                <a:solidFill>
                  <a:srgbClr val="000000"/>
                </a:solidFill>
                <a:latin typeface="Times New Roman" panose="02020603050405020304" pitchFamily="18" charset="0"/>
              </a:rPr>
              <a:t>LES </a:t>
            </a:r>
            <a:endParaRPr lang="en-US" altLang="zh-CN" b="1" dirty="0">
              <a:solidFill>
                <a:srgbClr val="000000"/>
              </a:solidFill>
              <a:latin typeface="Times New Roman" panose="02020603050405020304" pitchFamily="18" charset="0"/>
            </a:endParaRPr>
          </a:p>
          <a:p>
            <a:pPr marL="1143000" lvl="2" indent="-228600" algn="just">
              <a:lnSpc>
                <a:spcPct val="130000"/>
              </a:lnSpc>
              <a:spcBef>
                <a:spcPct val="20000"/>
              </a:spcBef>
            </a:pPr>
            <a:r>
              <a:rPr lang="en-US" altLang="zh-CN" b="1" dirty="0">
                <a:solidFill>
                  <a:srgbClr val="000000"/>
                </a:solidFill>
                <a:latin typeface="Times New Roman" panose="02020603050405020304" pitchFamily="18" charset="0"/>
                <a:sym typeface="Symbol" panose="05050102010706020507" pitchFamily="18" charset="2"/>
              </a:rPr>
              <a:t>   </a:t>
            </a:r>
            <a:r>
              <a:rPr lang="zh-CN" altLang="en-US" b="1" dirty="0">
                <a:solidFill>
                  <a:srgbClr val="000000"/>
                </a:solidFill>
                <a:latin typeface="Times New Roman" panose="02020603050405020304" pitchFamily="18" charset="0"/>
                <a:ea typeface="楷体_GB2312" pitchFamily="49" charset="-122"/>
              </a:rPr>
              <a:t>标志寄存器传送指令</a:t>
            </a:r>
            <a:endParaRPr lang="zh-CN" altLang="en-US" b="1" dirty="0">
              <a:solidFill>
                <a:srgbClr val="000000"/>
              </a:solidFill>
              <a:latin typeface="Times New Roman" panose="02020603050405020304" pitchFamily="18" charset="0"/>
              <a:ea typeface="楷体_GB2312" pitchFamily="49" charset="-122"/>
            </a:endParaRPr>
          </a:p>
          <a:p>
            <a:pPr marL="1143000" lvl="2" indent="-228600" algn="just">
              <a:lnSpc>
                <a:spcPct val="130000"/>
              </a:lnSpc>
              <a:spcBef>
                <a:spcPct val="20000"/>
              </a:spcBef>
            </a:pPr>
            <a:r>
              <a:rPr lang="zh-CN" altLang="en-US" b="1" dirty="0">
                <a:solidFill>
                  <a:srgbClr val="000000"/>
                </a:solidFill>
                <a:latin typeface="Times New Roman" panose="02020603050405020304" pitchFamily="18" charset="0"/>
              </a:rPr>
              <a:t>      </a:t>
            </a:r>
            <a:r>
              <a:rPr lang="en-US" altLang="zh-CN" b="1" dirty="0">
                <a:solidFill>
                  <a:srgbClr val="000000"/>
                </a:solidFill>
                <a:latin typeface="Times New Roman" panose="02020603050405020304" pitchFamily="18" charset="0"/>
              </a:rPr>
              <a:t>LAHF</a:t>
            </a:r>
            <a:r>
              <a:rPr lang="zh-CN" altLang="en-US" b="1" dirty="0">
                <a:solidFill>
                  <a:srgbClr val="000000"/>
                </a:solidFill>
                <a:latin typeface="Times New Roman" panose="02020603050405020304" pitchFamily="18" charset="0"/>
              </a:rPr>
              <a:t>、</a:t>
            </a:r>
            <a:r>
              <a:rPr lang="en-US" altLang="zh-CN" b="1" dirty="0">
                <a:solidFill>
                  <a:srgbClr val="000000"/>
                </a:solidFill>
                <a:latin typeface="Times New Roman" panose="02020603050405020304" pitchFamily="18" charset="0"/>
              </a:rPr>
              <a:t>SAHF</a:t>
            </a:r>
            <a:r>
              <a:rPr lang="zh-CN" altLang="en-US" b="1" dirty="0">
                <a:solidFill>
                  <a:srgbClr val="000000"/>
                </a:solidFill>
                <a:latin typeface="Times New Roman" panose="02020603050405020304" pitchFamily="18" charset="0"/>
              </a:rPr>
              <a:t>、</a:t>
            </a:r>
            <a:r>
              <a:rPr lang="en-US" altLang="zh-CN" b="1" dirty="0">
                <a:solidFill>
                  <a:srgbClr val="000000"/>
                </a:solidFill>
                <a:latin typeface="Times New Roman" panose="02020603050405020304" pitchFamily="18" charset="0"/>
              </a:rPr>
              <a:t>PUSHF</a:t>
            </a:r>
            <a:r>
              <a:rPr lang="zh-CN" altLang="en-US" b="1" dirty="0">
                <a:solidFill>
                  <a:srgbClr val="000000"/>
                </a:solidFill>
                <a:latin typeface="Times New Roman" panose="02020603050405020304" pitchFamily="18" charset="0"/>
              </a:rPr>
              <a:t>、</a:t>
            </a:r>
            <a:r>
              <a:rPr lang="en-US" altLang="zh-CN" b="1" dirty="0">
                <a:solidFill>
                  <a:srgbClr val="000000"/>
                </a:solidFill>
                <a:latin typeface="Times New Roman" panose="02020603050405020304" pitchFamily="18" charset="0"/>
              </a:rPr>
              <a:t>POPF </a:t>
            </a:r>
            <a:endParaRPr lang="en-US" altLang="zh-CN" b="1" dirty="0">
              <a:solidFill>
                <a:srgbClr val="000000"/>
              </a:solidFill>
              <a:latin typeface="Times New Roman" panose="02020603050405020304" pitchFamily="18" charset="0"/>
            </a:endParaRPr>
          </a:p>
          <a:p>
            <a:pPr marL="1143000" lvl="2" indent="-228600" algn="just">
              <a:lnSpc>
                <a:spcPct val="130000"/>
              </a:lnSpc>
              <a:spcBef>
                <a:spcPct val="20000"/>
              </a:spcBef>
            </a:pPr>
            <a:r>
              <a:rPr lang="en-US" altLang="zh-CN" b="1" dirty="0">
                <a:solidFill>
                  <a:srgbClr val="000000"/>
                </a:solidFill>
                <a:latin typeface="Times New Roman" panose="02020603050405020304" pitchFamily="18" charset="0"/>
                <a:sym typeface="Symbol" panose="05050102010706020507" pitchFamily="18" charset="2"/>
              </a:rPr>
              <a:t>   </a:t>
            </a:r>
            <a:r>
              <a:rPr lang="zh-CN" altLang="en-US" b="1" dirty="0">
                <a:solidFill>
                  <a:srgbClr val="000000"/>
                </a:solidFill>
                <a:latin typeface="Times New Roman" panose="02020603050405020304" pitchFamily="18" charset="0"/>
                <a:ea typeface="楷体_GB2312" pitchFamily="49" charset="-122"/>
              </a:rPr>
              <a:t>类型转换指令</a:t>
            </a:r>
            <a:endParaRPr lang="zh-CN" altLang="en-US" b="1" dirty="0">
              <a:solidFill>
                <a:srgbClr val="000000"/>
              </a:solidFill>
              <a:latin typeface="Times New Roman" panose="02020603050405020304" pitchFamily="18" charset="0"/>
              <a:ea typeface="楷体_GB2312" pitchFamily="49" charset="-122"/>
            </a:endParaRPr>
          </a:p>
          <a:p>
            <a:pPr marL="1143000" lvl="2" indent="-228600" algn="just">
              <a:lnSpc>
                <a:spcPct val="130000"/>
              </a:lnSpc>
              <a:spcBef>
                <a:spcPct val="20000"/>
              </a:spcBef>
            </a:pPr>
            <a:r>
              <a:rPr lang="zh-CN" altLang="en-US" b="1" dirty="0">
                <a:solidFill>
                  <a:srgbClr val="000000"/>
                </a:solidFill>
                <a:latin typeface="Times New Roman" panose="02020603050405020304" pitchFamily="18" charset="0"/>
              </a:rPr>
              <a:t>      </a:t>
            </a:r>
            <a:r>
              <a:rPr lang="en-US" altLang="zh-CN" b="1" dirty="0">
                <a:solidFill>
                  <a:srgbClr val="000000"/>
                </a:solidFill>
                <a:latin typeface="Times New Roman" panose="02020603050405020304" pitchFamily="18" charset="0"/>
              </a:rPr>
              <a:t>CBW</a:t>
            </a:r>
            <a:r>
              <a:rPr lang="zh-CN" altLang="en-US" b="1" dirty="0">
                <a:solidFill>
                  <a:srgbClr val="000000"/>
                </a:solidFill>
                <a:latin typeface="Times New Roman" panose="02020603050405020304" pitchFamily="18" charset="0"/>
              </a:rPr>
              <a:t>、</a:t>
            </a:r>
            <a:r>
              <a:rPr lang="en-US" altLang="zh-CN" b="1" dirty="0">
                <a:solidFill>
                  <a:srgbClr val="000000"/>
                </a:solidFill>
                <a:latin typeface="Times New Roman" panose="02020603050405020304" pitchFamily="18" charset="0"/>
              </a:rPr>
              <a:t>CWD </a:t>
            </a:r>
            <a:endParaRPr lang="en-US" altLang="zh-CN" b="1" dirty="0">
              <a:solidFill>
                <a:srgbClr val="000000"/>
              </a:solidFill>
              <a:latin typeface="Times New Roman" panose="02020603050405020304" pitchFamily="18" charset="0"/>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文本框 30721"/>
          <p:cNvSpPr txBox="1"/>
          <p:nvPr/>
        </p:nvSpPr>
        <p:spPr>
          <a:xfrm>
            <a:off x="899795" y="1556792"/>
            <a:ext cx="7957820" cy="5001369"/>
          </a:xfrm>
          <a:prstGeom prst="rect">
            <a:avLst/>
          </a:prstGeom>
          <a:noFill/>
          <a:ln w="9525">
            <a:noFill/>
          </a:ln>
        </p:spPr>
        <p:txBody>
          <a:bodyPr wrap="square">
            <a:spAutoFit/>
          </a:bodyPr>
          <a:lstStyle/>
          <a:p>
            <a:pPr>
              <a:spcBef>
                <a:spcPct val="50000"/>
              </a:spcBef>
            </a:pPr>
            <a:r>
              <a:rPr lang="zh-CN" altLang="en-US" sz="2200" b="1" dirty="0">
                <a:solidFill>
                  <a:srgbClr val="000000"/>
                </a:solidFill>
                <a:latin typeface="Times New Roman" panose="02020603050405020304" pitchFamily="18" charset="0"/>
              </a:rPr>
              <a:t>传送指令：    </a:t>
            </a:r>
            <a:r>
              <a:rPr lang="en-US" altLang="zh-CN" sz="2200" b="1" dirty="0">
                <a:solidFill>
                  <a:srgbClr val="000000"/>
                </a:solidFill>
                <a:latin typeface="Times New Roman" panose="02020603050405020304" pitchFamily="18" charset="0"/>
              </a:rPr>
              <a:t>MOV    DST,  SRC</a:t>
            </a:r>
            <a:endParaRPr lang="en-US" altLang="zh-CN" sz="2200" b="1" dirty="0">
              <a:solidFill>
                <a:srgbClr val="000000"/>
              </a:solidFill>
              <a:latin typeface="Times New Roman" panose="02020603050405020304" pitchFamily="18" charset="0"/>
            </a:endParaRPr>
          </a:p>
          <a:p>
            <a:pPr>
              <a:spcBef>
                <a:spcPct val="50000"/>
              </a:spcBef>
            </a:pPr>
            <a:r>
              <a:rPr lang="zh-CN" altLang="en-US" sz="2200" b="1" dirty="0">
                <a:solidFill>
                  <a:srgbClr val="000000"/>
                </a:solidFill>
                <a:latin typeface="Times New Roman" panose="02020603050405020304" pitchFamily="18" charset="0"/>
              </a:rPr>
              <a:t>执行操作：    </a:t>
            </a:r>
            <a:r>
              <a:rPr lang="en-US" altLang="zh-CN" sz="2200" b="1" dirty="0">
                <a:solidFill>
                  <a:srgbClr val="000000"/>
                </a:solidFill>
                <a:latin typeface="Times New Roman" panose="02020603050405020304" pitchFamily="18" charset="0"/>
              </a:rPr>
              <a:t>(DST)  </a:t>
            </a:r>
            <a:r>
              <a:rPr lang="en-US" altLang="zh-CN" sz="2200" b="1" dirty="0">
                <a:solidFill>
                  <a:srgbClr val="000000"/>
                </a:solidFill>
                <a:latin typeface="Times New Roman" panose="02020603050405020304" pitchFamily="18" charset="0"/>
                <a:sym typeface="Symbol" panose="05050102010706020507" pitchFamily="18" charset="2"/>
              </a:rPr>
              <a:t>  (</a:t>
            </a:r>
            <a:r>
              <a:rPr lang="en-US" altLang="zh-CN" sz="2200" b="1" dirty="0">
                <a:solidFill>
                  <a:srgbClr val="000000"/>
                </a:solidFill>
                <a:latin typeface="Times New Roman" panose="02020603050405020304" pitchFamily="18" charset="0"/>
              </a:rPr>
              <a:t>SRC)</a:t>
            </a:r>
            <a:endParaRPr lang="en-US" altLang="zh-CN" sz="2200" b="1" dirty="0">
              <a:solidFill>
                <a:srgbClr val="000000"/>
              </a:solidFill>
              <a:latin typeface="Times New Roman" panose="02020603050405020304" pitchFamily="18" charset="0"/>
            </a:endParaRPr>
          </a:p>
          <a:p>
            <a:pPr>
              <a:spcBef>
                <a:spcPct val="50000"/>
              </a:spcBef>
            </a:pPr>
            <a:endParaRPr lang="en-US" altLang="zh-CN" sz="1600" b="1" dirty="0">
              <a:solidFill>
                <a:srgbClr val="000000"/>
              </a:solidFill>
              <a:latin typeface="Times New Roman" panose="02020603050405020304" pitchFamily="18" charset="0"/>
            </a:endParaRPr>
          </a:p>
          <a:p>
            <a:pPr>
              <a:spcBef>
                <a:spcPct val="50000"/>
              </a:spcBef>
            </a:pPr>
            <a:r>
              <a:rPr lang="zh-CN" altLang="en-US" sz="2000" dirty="0">
                <a:solidFill>
                  <a:srgbClr val="FF0000"/>
                </a:solidFill>
                <a:latin typeface="华文宋体" panose="02010600040101010101" pitchFamily="2" charset="-122"/>
                <a:ea typeface="华文宋体" panose="02010600040101010101" pitchFamily="2" charset="-122"/>
              </a:rPr>
              <a:t>注意</a:t>
            </a:r>
            <a:r>
              <a:rPr lang="en-US" altLang="zh-CN" sz="2000" dirty="0">
                <a:solidFill>
                  <a:srgbClr val="FF0000"/>
                </a:solidFill>
                <a:latin typeface="华文宋体" panose="02010600040101010101" pitchFamily="2" charset="-122"/>
                <a:ea typeface="华文宋体" panose="02010600040101010101" pitchFamily="2" charset="-122"/>
              </a:rPr>
              <a:t>: </a:t>
            </a:r>
            <a:endParaRPr lang="en-US" altLang="zh-CN" sz="2000" dirty="0">
              <a:solidFill>
                <a:srgbClr val="FF0000"/>
              </a:solidFill>
              <a:latin typeface="华文宋体" panose="02010600040101010101" pitchFamily="2" charset="-122"/>
              <a:ea typeface="华文宋体" panose="02010600040101010101" pitchFamily="2" charset="-122"/>
            </a:endParaRPr>
          </a:p>
          <a:p>
            <a:pPr>
              <a:spcBef>
                <a:spcPct val="50000"/>
              </a:spcBef>
            </a:pPr>
            <a:r>
              <a:rPr lang="zh-CN" altLang="zh-CN" sz="2000" b="0" dirty="0">
                <a:solidFill>
                  <a:srgbClr val="000000"/>
                </a:solidFill>
                <a:ea typeface="楷体_GB2312" pitchFamily="49" charset="-122"/>
                <a:sym typeface="Symbol" panose="05050102010706020507" pitchFamily="18" charset="2"/>
              </a:rPr>
              <a:t>*  </a:t>
            </a:r>
            <a:r>
              <a:rPr lang="zh-CN" altLang="en-US" sz="2000" b="0" dirty="0">
                <a:latin typeface="华文宋体" panose="02010600040101010101" pitchFamily="2" charset="-122"/>
                <a:ea typeface="华文宋体" panose="02010600040101010101" pitchFamily="2" charset="-122"/>
                <a:sym typeface="+mn-ea"/>
              </a:rPr>
              <a:t>两个操作数的数据类型要相同：</a:t>
            </a:r>
            <a:r>
              <a:rPr lang="en-US" altLang="zh-CN" sz="2000" b="0" dirty="0">
                <a:solidFill>
                  <a:srgbClr val="FF0000"/>
                </a:solidFill>
                <a:latin typeface="华文宋体" panose="02010600040101010101" pitchFamily="2" charset="-122"/>
                <a:ea typeface="华文宋体" panose="02010600040101010101" pitchFamily="2" charset="-122"/>
                <a:sym typeface="+mn-ea"/>
              </a:rPr>
              <a:t>MOV  BL</a:t>
            </a:r>
            <a:r>
              <a:rPr lang="zh-CN" altLang="en-US" sz="2000" b="0" dirty="0">
                <a:solidFill>
                  <a:srgbClr val="FF0000"/>
                </a:solidFill>
                <a:latin typeface="华文宋体" panose="02010600040101010101" pitchFamily="2" charset="-122"/>
                <a:ea typeface="华文宋体" panose="02010600040101010101" pitchFamily="2" charset="-122"/>
                <a:sym typeface="+mn-ea"/>
              </a:rPr>
              <a:t>，</a:t>
            </a:r>
            <a:r>
              <a:rPr lang="en-US" altLang="zh-CN" sz="2000" b="0" dirty="0">
                <a:solidFill>
                  <a:srgbClr val="FF0000"/>
                </a:solidFill>
                <a:latin typeface="华文宋体" panose="02010600040101010101" pitchFamily="2" charset="-122"/>
                <a:ea typeface="华文宋体" panose="02010600040101010101" pitchFamily="2" charset="-122"/>
                <a:sym typeface="+mn-ea"/>
              </a:rPr>
              <a:t>AX</a:t>
            </a:r>
            <a:r>
              <a:rPr lang="zh-CN" altLang="en-US" sz="2000" b="0" dirty="0">
                <a:solidFill>
                  <a:srgbClr val="FF0000"/>
                </a:solidFill>
                <a:ea typeface="楷体_GB2312" pitchFamily="49" charset="-122"/>
                <a:sym typeface="Symbol" panose="05050102010706020507" pitchFamily="18" charset="2"/>
              </a:rPr>
              <a:t>（</a:t>
            </a:r>
            <a:r>
              <a:rPr lang="zh-CN" altLang="zh-CN" sz="2000" b="0" dirty="0">
                <a:solidFill>
                  <a:srgbClr val="FF0000"/>
                </a:solidFill>
                <a:ea typeface="楷体_GB2312" pitchFamily="49" charset="-122"/>
                <a:sym typeface="Symbol" panose="05050102010706020507" pitchFamily="18" charset="2"/>
              </a:rPr>
              <a:t>  </a:t>
            </a:r>
            <a:r>
              <a:rPr lang="zh-CN" altLang="en-US" sz="2000" b="0" dirty="0">
                <a:solidFill>
                  <a:srgbClr val="FF0000"/>
                </a:solidFill>
                <a:ea typeface="楷体_GB2312" pitchFamily="49" charset="-122"/>
                <a:sym typeface="Symbol" panose="05050102010706020507" pitchFamily="18" charset="2"/>
              </a:rPr>
              <a:t>）</a:t>
            </a:r>
            <a:endParaRPr lang="en-US" altLang="zh-CN" sz="2000" b="0" dirty="0">
              <a:solidFill>
                <a:srgbClr val="FF0000"/>
              </a:solidFill>
              <a:ea typeface="楷体_GB2312" pitchFamily="49" charset="-122"/>
              <a:sym typeface="Symbol" panose="05050102010706020507" pitchFamily="18" charset="2"/>
            </a:endParaRPr>
          </a:p>
          <a:p>
            <a:pPr>
              <a:spcBef>
                <a:spcPct val="50000"/>
              </a:spcBef>
            </a:pPr>
            <a:r>
              <a:rPr lang="zh-CN" altLang="zh-CN" sz="2000" b="0" dirty="0">
                <a:solidFill>
                  <a:srgbClr val="000000"/>
                </a:solidFill>
                <a:ea typeface="楷体_GB2312" pitchFamily="49" charset="-122"/>
                <a:sym typeface="Symbol" panose="05050102010706020507" pitchFamily="18" charset="2"/>
              </a:rPr>
              <a:t>*  DST、SRC 不能同时为段寄存器：</a:t>
            </a:r>
            <a:r>
              <a:rPr lang="zh-CN" altLang="zh-CN" sz="2000" b="0" dirty="0">
                <a:solidFill>
                  <a:srgbClr val="FF0000"/>
                </a:solidFill>
                <a:latin typeface="华文宋体" panose="02010600040101010101" pitchFamily="2" charset="-122"/>
                <a:ea typeface="华文宋体" panose="02010600040101010101" pitchFamily="2" charset="-122"/>
                <a:sym typeface="Symbol" panose="05050102010706020507" pitchFamily="18" charset="2"/>
              </a:rPr>
              <a:t>MOV  DS, ES </a:t>
            </a:r>
            <a:r>
              <a:rPr lang="zh-CN" altLang="en-US" sz="2000" b="0" dirty="0">
                <a:solidFill>
                  <a:srgbClr val="FF0000"/>
                </a:solidFill>
                <a:latin typeface="华文宋体" panose="02010600040101010101" pitchFamily="2" charset="-122"/>
                <a:ea typeface="华文宋体" panose="02010600040101010101" pitchFamily="2" charset="-122"/>
                <a:sym typeface="Symbol" panose="05050102010706020507" pitchFamily="18" charset="2"/>
              </a:rPr>
              <a:t>（</a:t>
            </a:r>
            <a:r>
              <a:rPr lang="zh-CN" altLang="zh-CN" sz="2000" b="0" dirty="0">
                <a:solidFill>
                  <a:srgbClr val="FF0000"/>
                </a:solidFill>
                <a:latin typeface="华文宋体" panose="02010600040101010101" pitchFamily="2" charset="-122"/>
                <a:ea typeface="华文宋体" panose="02010600040101010101" pitchFamily="2" charset="-122"/>
                <a:sym typeface="Symbol" panose="05050102010706020507" pitchFamily="18" charset="2"/>
              </a:rPr>
              <a:t>  </a:t>
            </a:r>
            <a:r>
              <a:rPr lang="zh-CN" altLang="en-US" sz="2000" b="0" dirty="0">
                <a:solidFill>
                  <a:srgbClr val="FF0000"/>
                </a:solidFill>
                <a:latin typeface="华文宋体" panose="02010600040101010101" pitchFamily="2" charset="-122"/>
                <a:ea typeface="华文宋体" panose="02010600040101010101" pitchFamily="2" charset="-122"/>
                <a:sym typeface="Symbol" panose="05050102010706020507" pitchFamily="18" charset="2"/>
              </a:rPr>
              <a:t>）</a:t>
            </a:r>
            <a:endParaRPr lang="en-US" altLang="zh-CN" sz="2000" b="0" dirty="0">
              <a:solidFill>
                <a:srgbClr val="FF0000"/>
              </a:solidFill>
              <a:latin typeface="华文宋体" panose="02010600040101010101" pitchFamily="2" charset="-122"/>
              <a:ea typeface="华文宋体" panose="02010600040101010101" pitchFamily="2" charset="-122"/>
              <a:sym typeface="Symbol" panose="05050102010706020507" pitchFamily="18" charset="2"/>
            </a:endParaRPr>
          </a:p>
          <a:p>
            <a:pPr>
              <a:spcBef>
                <a:spcPct val="50000"/>
              </a:spcBef>
            </a:pPr>
            <a:r>
              <a:rPr lang="en-US" altLang="zh-CN" sz="2000" b="0" dirty="0">
                <a:solidFill>
                  <a:srgbClr val="000000"/>
                </a:solidFill>
                <a:ea typeface="楷体_GB2312" pitchFamily="49" charset="-122"/>
                <a:sym typeface="Symbol" panose="05050102010706020507" pitchFamily="18" charset="2"/>
              </a:rPr>
              <a:t>*  </a:t>
            </a:r>
            <a:r>
              <a:rPr lang="zh-CN" altLang="en-US" sz="2000" b="0" dirty="0">
                <a:solidFill>
                  <a:srgbClr val="000000"/>
                </a:solidFill>
                <a:ea typeface="楷体_GB2312" pitchFamily="49" charset="-122"/>
              </a:rPr>
              <a:t>立即数不能直接送段寄存器：</a:t>
            </a:r>
            <a:r>
              <a:rPr lang="en-US" altLang="zh-CN" sz="2000" b="0" dirty="0">
                <a:solidFill>
                  <a:srgbClr val="FF0000"/>
                </a:solidFill>
                <a:latin typeface="华文宋体" panose="02010600040101010101" pitchFamily="2" charset="-122"/>
                <a:ea typeface="华文宋体" panose="02010600040101010101" pitchFamily="2" charset="-122"/>
              </a:rPr>
              <a:t>MOV  DS, 2000H </a:t>
            </a:r>
            <a:r>
              <a:rPr lang="zh-CN" altLang="en-US" sz="2000" b="0" dirty="0">
                <a:solidFill>
                  <a:srgbClr val="FF0000"/>
                </a:solidFill>
                <a:latin typeface="华文宋体" panose="02010600040101010101" pitchFamily="2" charset="-122"/>
                <a:ea typeface="华文宋体" panose="02010600040101010101" pitchFamily="2" charset="-122"/>
                <a:sym typeface="Symbol" panose="05050102010706020507" pitchFamily="18" charset="2"/>
              </a:rPr>
              <a:t>（</a:t>
            </a:r>
            <a:r>
              <a:rPr lang="zh-CN" altLang="zh-CN" sz="2000" b="0" dirty="0">
                <a:solidFill>
                  <a:srgbClr val="FF0000"/>
                </a:solidFill>
                <a:latin typeface="华文宋体" panose="02010600040101010101" pitchFamily="2" charset="-122"/>
                <a:ea typeface="华文宋体" panose="02010600040101010101" pitchFamily="2" charset="-122"/>
                <a:sym typeface="Symbol" panose="05050102010706020507" pitchFamily="18" charset="2"/>
              </a:rPr>
              <a:t>  </a:t>
            </a:r>
            <a:r>
              <a:rPr lang="zh-CN" altLang="en-US" sz="2000" b="0" dirty="0">
                <a:solidFill>
                  <a:srgbClr val="FF0000"/>
                </a:solidFill>
                <a:latin typeface="华文宋体" panose="02010600040101010101" pitchFamily="2" charset="-122"/>
                <a:ea typeface="华文宋体" panose="02010600040101010101" pitchFamily="2" charset="-122"/>
                <a:sym typeface="Symbol" panose="05050102010706020507" pitchFamily="18" charset="2"/>
              </a:rPr>
              <a:t>）</a:t>
            </a:r>
            <a:endParaRPr lang="en-US" altLang="zh-CN" sz="2000" b="0" dirty="0">
              <a:solidFill>
                <a:srgbClr val="FF0000"/>
              </a:solidFill>
              <a:latin typeface="华文宋体" panose="02010600040101010101" pitchFamily="2" charset="-122"/>
              <a:ea typeface="华文宋体" panose="02010600040101010101" pitchFamily="2" charset="-122"/>
              <a:sym typeface="Symbol" panose="05050102010706020507" pitchFamily="18" charset="2"/>
            </a:endParaRPr>
          </a:p>
          <a:p>
            <a:pPr>
              <a:spcBef>
                <a:spcPct val="50000"/>
              </a:spcBef>
            </a:pPr>
            <a:r>
              <a:rPr lang="en-US" altLang="zh-CN" sz="2000" b="0" dirty="0">
                <a:solidFill>
                  <a:srgbClr val="000000"/>
                </a:solidFill>
                <a:ea typeface="楷体_GB2312" pitchFamily="49" charset="-122"/>
                <a:sym typeface="Symbol" panose="05050102010706020507" pitchFamily="18" charset="2"/>
              </a:rPr>
              <a:t>*  </a:t>
            </a:r>
            <a:r>
              <a:rPr lang="en-US" altLang="zh-CN" sz="2000" b="0" dirty="0">
                <a:solidFill>
                  <a:srgbClr val="000000"/>
                </a:solidFill>
                <a:ea typeface="楷体_GB2312" pitchFamily="49" charset="-122"/>
              </a:rPr>
              <a:t>DST </a:t>
            </a:r>
            <a:r>
              <a:rPr lang="zh-CN" altLang="en-US" sz="2000" b="0" dirty="0">
                <a:solidFill>
                  <a:srgbClr val="000000"/>
                </a:solidFill>
                <a:ea typeface="楷体_GB2312" pitchFamily="49" charset="-122"/>
              </a:rPr>
              <a:t>不能是立即数或</a:t>
            </a:r>
            <a:r>
              <a:rPr lang="en-US" altLang="zh-CN" sz="2000" b="0" dirty="0">
                <a:solidFill>
                  <a:srgbClr val="000000"/>
                </a:solidFill>
                <a:ea typeface="楷体_GB2312" pitchFamily="49" charset="-122"/>
              </a:rPr>
              <a:t>CS</a:t>
            </a:r>
            <a:r>
              <a:rPr lang="zh-CN" altLang="en-US" sz="2000" b="0" dirty="0">
                <a:solidFill>
                  <a:srgbClr val="000000"/>
                </a:solidFill>
                <a:ea typeface="楷体_GB2312" pitchFamily="49" charset="-122"/>
              </a:rPr>
              <a:t>：</a:t>
            </a:r>
            <a:r>
              <a:rPr lang="en-US" altLang="zh-CN" sz="2000" b="0" dirty="0">
                <a:solidFill>
                  <a:srgbClr val="FF0000"/>
                </a:solidFill>
                <a:latin typeface="华文宋体" panose="02010600040101010101" pitchFamily="2" charset="-122"/>
                <a:ea typeface="华文宋体" panose="02010600040101010101" pitchFamily="2" charset="-122"/>
                <a:sym typeface="+mn-ea"/>
              </a:rPr>
              <a:t>MOV  CS, AX</a:t>
            </a:r>
            <a:r>
              <a:rPr lang="zh-CN" altLang="en-US" sz="2000" b="0" dirty="0">
                <a:solidFill>
                  <a:srgbClr val="FF0000"/>
                </a:solidFill>
                <a:latin typeface="华文宋体" panose="02010600040101010101" pitchFamily="2" charset="-122"/>
                <a:ea typeface="华文宋体" panose="02010600040101010101" pitchFamily="2" charset="-122"/>
                <a:sym typeface="+mn-ea"/>
              </a:rPr>
              <a:t>；</a:t>
            </a:r>
            <a:r>
              <a:rPr lang="en-US" altLang="zh-CN" sz="2000" b="0" dirty="0">
                <a:solidFill>
                  <a:srgbClr val="FF0000"/>
                </a:solidFill>
                <a:latin typeface="华文宋体" panose="02010600040101010101" pitchFamily="2" charset="-122"/>
                <a:ea typeface="华文宋体" panose="02010600040101010101" pitchFamily="2" charset="-122"/>
                <a:sym typeface="+mn-ea"/>
              </a:rPr>
              <a:t>MOV  100H</a:t>
            </a:r>
            <a:r>
              <a:rPr lang="zh-CN" altLang="en-US" sz="2000" b="0" dirty="0">
                <a:solidFill>
                  <a:srgbClr val="FF0000"/>
                </a:solidFill>
                <a:latin typeface="华文宋体" panose="02010600040101010101" pitchFamily="2" charset="-122"/>
                <a:ea typeface="华文宋体" panose="02010600040101010101" pitchFamily="2" charset="-122"/>
                <a:sym typeface="+mn-ea"/>
              </a:rPr>
              <a:t>，</a:t>
            </a:r>
            <a:r>
              <a:rPr lang="en-US" altLang="zh-CN" sz="2000" b="0" dirty="0">
                <a:solidFill>
                  <a:srgbClr val="FF0000"/>
                </a:solidFill>
                <a:latin typeface="华文宋体" panose="02010600040101010101" pitchFamily="2" charset="-122"/>
                <a:ea typeface="华文宋体" panose="02010600040101010101" pitchFamily="2" charset="-122"/>
                <a:sym typeface="+mn-ea"/>
              </a:rPr>
              <a:t>AX</a:t>
            </a:r>
            <a:r>
              <a:rPr lang="zh-CN" altLang="en-US" sz="2000" b="0" dirty="0">
                <a:solidFill>
                  <a:srgbClr val="FF0000"/>
                </a:solidFill>
                <a:latin typeface="华文宋体" panose="02010600040101010101" pitchFamily="2" charset="-122"/>
                <a:ea typeface="华文宋体" panose="02010600040101010101" pitchFamily="2" charset="-122"/>
                <a:sym typeface="Symbol" panose="05050102010706020507" pitchFamily="18" charset="2"/>
              </a:rPr>
              <a:t>（</a:t>
            </a:r>
            <a:r>
              <a:rPr lang="zh-CN" altLang="zh-CN" sz="2000" b="0" dirty="0">
                <a:solidFill>
                  <a:srgbClr val="FF0000"/>
                </a:solidFill>
                <a:latin typeface="华文宋体" panose="02010600040101010101" pitchFamily="2" charset="-122"/>
                <a:ea typeface="华文宋体" panose="02010600040101010101" pitchFamily="2" charset="-122"/>
                <a:sym typeface="Symbol" panose="05050102010706020507" pitchFamily="18" charset="2"/>
              </a:rPr>
              <a:t>  </a:t>
            </a:r>
            <a:r>
              <a:rPr lang="zh-CN" altLang="en-US" sz="2000" b="0" dirty="0">
                <a:solidFill>
                  <a:srgbClr val="FF0000"/>
                </a:solidFill>
                <a:latin typeface="华文宋体" panose="02010600040101010101" pitchFamily="2" charset="-122"/>
                <a:ea typeface="华文宋体" panose="02010600040101010101" pitchFamily="2" charset="-122"/>
                <a:sym typeface="Symbol" panose="05050102010706020507" pitchFamily="18" charset="2"/>
              </a:rPr>
              <a:t>）</a:t>
            </a:r>
            <a:endParaRPr lang="zh-CN" altLang="en-US" sz="2000" b="0" dirty="0">
              <a:solidFill>
                <a:srgbClr val="FF0000"/>
              </a:solidFill>
              <a:latin typeface="华文宋体" panose="02010600040101010101" pitchFamily="2" charset="-122"/>
              <a:ea typeface="华文宋体" panose="02010600040101010101" pitchFamily="2" charset="-122"/>
              <a:sym typeface="+mn-ea"/>
            </a:endParaRPr>
          </a:p>
          <a:p>
            <a:pPr>
              <a:spcBef>
                <a:spcPct val="50000"/>
              </a:spcBef>
            </a:pPr>
            <a:r>
              <a:rPr lang="zh-CN" altLang="zh-CN" sz="2000" b="0" dirty="0">
                <a:solidFill>
                  <a:srgbClr val="000000"/>
                </a:solidFill>
                <a:ea typeface="楷体_GB2312" pitchFamily="49" charset="-122"/>
                <a:sym typeface="Symbol" panose="05050102010706020507" pitchFamily="18" charset="2"/>
              </a:rPr>
              <a:t>*  DST、SRC 不能同时为存储器寻址：</a:t>
            </a:r>
            <a:r>
              <a:rPr lang="en-US" altLang="zh-CN" sz="2000" b="0" dirty="0">
                <a:solidFill>
                  <a:srgbClr val="FF0000"/>
                </a:solidFill>
                <a:latin typeface="华文宋体" panose="02010600040101010101" pitchFamily="2" charset="-122"/>
                <a:ea typeface="华文宋体" panose="02010600040101010101" pitchFamily="2" charset="-122"/>
                <a:sym typeface="+mn-ea"/>
              </a:rPr>
              <a:t>MOV  VARA</a:t>
            </a:r>
            <a:r>
              <a:rPr lang="zh-CN" altLang="en-US" sz="2000" b="0" dirty="0">
                <a:solidFill>
                  <a:srgbClr val="FF0000"/>
                </a:solidFill>
                <a:latin typeface="华文宋体" panose="02010600040101010101" pitchFamily="2" charset="-122"/>
                <a:ea typeface="华文宋体" panose="02010600040101010101" pitchFamily="2" charset="-122"/>
                <a:sym typeface="+mn-ea"/>
              </a:rPr>
              <a:t>，</a:t>
            </a:r>
            <a:r>
              <a:rPr lang="en-US" altLang="zh-CN" sz="2000" b="0" dirty="0">
                <a:solidFill>
                  <a:srgbClr val="FF0000"/>
                </a:solidFill>
                <a:latin typeface="华文宋体" panose="02010600040101010101" pitchFamily="2" charset="-122"/>
                <a:ea typeface="华文宋体" panose="02010600040101010101" pitchFamily="2" charset="-122"/>
                <a:sym typeface="+mn-ea"/>
              </a:rPr>
              <a:t>VARB</a:t>
            </a:r>
            <a:r>
              <a:rPr lang="zh-CN" altLang="en-US" sz="2000" b="0" dirty="0">
                <a:solidFill>
                  <a:srgbClr val="FF0000"/>
                </a:solidFill>
                <a:latin typeface="华文宋体" panose="02010600040101010101" pitchFamily="2" charset="-122"/>
                <a:ea typeface="华文宋体" panose="02010600040101010101" pitchFamily="2" charset="-122"/>
                <a:sym typeface="Symbol" panose="05050102010706020507" pitchFamily="18" charset="2"/>
              </a:rPr>
              <a:t>（</a:t>
            </a:r>
            <a:r>
              <a:rPr lang="zh-CN" altLang="zh-CN" sz="2000" b="0" dirty="0">
                <a:solidFill>
                  <a:srgbClr val="FF0000"/>
                </a:solidFill>
                <a:latin typeface="华文宋体" panose="02010600040101010101" pitchFamily="2" charset="-122"/>
                <a:ea typeface="华文宋体" panose="02010600040101010101" pitchFamily="2" charset="-122"/>
                <a:sym typeface="Symbol" panose="05050102010706020507" pitchFamily="18" charset="2"/>
              </a:rPr>
              <a:t>  </a:t>
            </a:r>
            <a:r>
              <a:rPr lang="zh-CN" altLang="en-US" sz="2000" b="0" dirty="0">
                <a:solidFill>
                  <a:srgbClr val="FF0000"/>
                </a:solidFill>
                <a:latin typeface="华文宋体" panose="02010600040101010101" pitchFamily="2" charset="-122"/>
                <a:ea typeface="华文宋体" panose="02010600040101010101" pitchFamily="2" charset="-122"/>
                <a:sym typeface="Symbol" panose="05050102010706020507" pitchFamily="18" charset="2"/>
              </a:rPr>
              <a:t>）</a:t>
            </a:r>
            <a:endParaRPr lang="zh-CN" altLang="en-US" sz="2000" b="0" dirty="0">
              <a:solidFill>
                <a:srgbClr val="FF0000"/>
              </a:solidFill>
              <a:latin typeface="华文宋体" panose="02010600040101010101" pitchFamily="2" charset="-122"/>
              <a:ea typeface="华文宋体" panose="02010600040101010101" pitchFamily="2" charset="-122"/>
              <a:sym typeface="Symbol" panose="05050102010706020507" pitchFamily="18" charset="2"/>
            </a:endParaRPr>
          </a:p>
          <a:p>
            <a:pPr>
              <a:spcBef>
                <a:spcPct val="50000"/>
              </a:spcBef>
            </a:pPr>
            <a:r>
              <a:rPr lang="zh-CN" altLang="zh-CN" sz="2000" b="0" dirty="0">
                <a:solidFill>
                  <a:srgbClr val="000000"/>
                </a:solidFill>
                <a:ea typeface="楷体_GB2312" pitchFamily="49" charset="-122"/>
                <a:sym typeface="Symbol" panose="05050102010706020507" pitchFamily="18" charset="2"/>
              </a:rPr>
              <a:t>*  </a:t>
            </a:r>
            <a:r>
              <a:rPr lang="zh-CN" altLang="en-US" sz="2000" b="0" dirty="0">
                <a:latin typeface="华文宋体" panose="02010600040101010101" pitchFamily="2" charset="-122"/>
                <a:ea typeface="华文宋体" panose="02010600040101010101" pitchFamily="2" charset="-122"/>
                <a:sym typeface="+mn-ea"/>
              </a:rPr>
              <a:t>指令指针</a:t>
            </a:r>
            <a:r>
              <a:rPr lang="en-US" altLang="zh-CN" sz="2000" b="0" dirty="0">
                <a:latin typeface="华文宋体" panose="02010600040101010101" pitchFamily="2" charset="-122"/>
                <a:ea typeface="华文宋体" panose="02010600040101010101" pitchFamily="2" charset="-122"/>
                <a:sym typeface="+mn-ea"/>
              </a:rPr>
              <a:t>IP</a:t>
            </a:r>
            <a:r>
              <a:rPr lang="zh-CN" altLang="en-US" sz="2000" b="0" dirty="0">
                <a:latin typeface="华文宋体" panose="02010600040101010101" pitchFamily="2" charset="-122"/>
                <a:ea typeface="华文宋体" panose="02010600040101010101" pitchFamily="2" charset="-122"/>
                <a:sym typeface="+mn-ea"/>
              </a:rPr>
              <a:t>，不能作为</a:t>
            </a:r>
            <a:r>
              <a:rPr lang="en-US" altLang="zh-CN" sz="2000" b="0" dirty="0">
                <a:latin typeface="华文宋体" panose="02010600040101010101" pitchFamily="2" charset="-122"/>
                <a:ea typeface="华文宋体" panose="02010600040101010101" pitchFamily="2" charset="-122"/>
                <a:sym typeface="+mn-ea"/>
              </a:rPr>
              <a:t>MOV</a:t>
            </a:r>
            <a:r>
              <a:rPr lang="zh-CN" altLang="en-US" sz="2000" b="0" dirty="0">
                <a:latin typeface="华文宋体" panose="02010600040101010101" pitchFamily="2" charset="-122"/>
                <a:ea typeface="华文宋体" panose="02010600040101010101" pitchFamily="2" charset="-122"/>
                <a:sym typeface="+mn-ea"/>
              </a:rPr>
              <a:t>指令的操作数</a:t>
            </a:r>
            <a:endParaRPr lang="en-US" altLang="zh-CN" sz="2000" b="0" dirty="0">
              <a:solidFill>
                <a:srgbClr val="000000"/>
              </a:solidFill>
              <a:ea typeface="楷体_GB2312" pitchFamily="49" charset="-122"/>
              <a:sym typeface="Symbol" panose="05050102010706020507" pitchFamily="18" charset="2"/>
            </a:endParaRPr>
          </a:p>
          <a:p>
            <a:pPr>
              <a:spcBef>
                <a:spcPct val="50000"/>
              </a:spcBef>
            </a:pPr>
            <a:r>
              <a:rPr lang="en-US" altLang="zh-CN" sz="2000" b="0" dirty="0">
                <a:solidFill>
                  <a:srgbClr val="000000"/>
                </a:solidFill>
                <a:ea typeface="楷体_GB2312" pitchFamily="49" charset="-122"/>
                <a:sym typeface="Symbol" panose="05050102010706020507" pitchFamily="18" charset="2"/>
              </a:rPr>
              <a:t>*  </a:t>
            </a:r>
            <a:r>
              <a:rPr lang="zh-CN" altLang="en-US" sz="2000" b="0" dirty="0">
                <a:solidFill>
                  <a:srgbClr val="000000"/>
                </a:solidFill>
                <a:ea typeface="楷体_GB2312" pitchFamily="49" charset="-122"/>
                <a:sym typeface="Symbol" panose="05050102010706020507" pitchFamily="18" charset="2"/>
              </a:rPr>
              <a:t>不影响标志位</a:t>
            </a:r>
            <a:endParaRPr lang="zh-CN" altLang="en-US" sz="2000" b="0" dirty="0">
              <a:solidFill>
                <a:srgbClr val="000000"/>
              </a:solidFill>
              <a:ea typeface="楷体_GB2312" pitchFamily="49" charset="-122"/>
              <a:sym typeface="Symbol" panose="05050102010706020507" pitchFamily="18" charset="2"/>
            </a:endParaRPr>
          </a:p>
        </p:txBody>
      </p:sp>
      <p:sp>
        <p:nvSpPr>
          <p:cNvPr id="30723" name="矩形 30722"/>
          <p:cNvSpPr/>
          <p:nvPr/>
        </p:nvSpPr>
        <p:spPr>
          <a:xfrm>
            <a:off x="931738" y="1016732"/>
            <a:ext cx="3424238" cy="519113"/>
          </a:xfrm>
          <a:prstGeom prst="rect">
            <a:avLst/>
          </a:prstGeom>
          <a:noFill/>
          <a:ln w="12700">
            <a:noFill/>
          </a:ln>
        </p:spPr>
        <p:txBody>
          <a:bodyPr wrap="none" anchor="t">
            <a:spAutoFit/>
          </a:bodyPr>
          <a:lstStyle/>
          <a:p>
            <a:r>
              <a:rPr lang="en-US" altLang="zh-CN" b="1" dirty="0">
                <a:solidFill>
                  <a:srgbClr val="000000"/>
                </a:solidFill>
                <a:latin typeface="Times New Roman" panose="02020603050405020304" pitchFamily="18" charset="0"/>
                <a:sym typeface="Symbol" panose="05050102010706020507" pitchFamily="18" charset="2"/>
              </a:rPr>
              <a:t></a:t>
            </a:r>
            <a:r>
              <a:rPr lang="en-US" altLang="zh-CN" dirty="0">
                <a:solidFill>
                  <a:srgbClr val="000000"/>
                </a:solidFill>
                <a:latin typeface="Times New Roman" panose="02020603050405020304" pitchFamily="18" charset="0"/>
                <a:sym typeface="Symbol" panose="05050102010706020507" pitchFamily="18" charset="2"/>
              </a:rPr>
              <a:t>   </a:t>
            </a:r>
            <a:r>
              <a:rPr lang="zh-CN" altLang="en-US" sz="2800" b="1" dirty="0">
                <a:solidFill>
                  <a:srgbClr val="000000"/>
                </a:solidFill>
                <a:latin typeface="Times New Roman" panose="02020603050405020304" pitchFamily="18" charset="0"/>
              </a:rPr>
              <a:t>通用数据传送指令</a:t>
            </a:r>
            <a:endParaRPr lang="zh-CN" altLang="en-US" sz="2800" b="1" dirty="0">
              <a:solidFill>
                <a:srgbClr val="000000"/>
              </a:solidFill>
              <a:latin typeface="Times New Roman" panose="02020603050405020304" pitchFamily="18" charset="0"/>
            </a:endParaRPr>
          </a:p>
        </p:txBody>
      </p:sp>
      <p:sp>
        <p:nvSpPr>
          <p:cNvPr id="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04" name="Group 4"/>
          <p:cNvGrpSpPr/>
          <p:nvPr/>
        </p:nvGrpSpPr>
        <p:grpSpPr bwMode="auto">
          <a:xfrm>
            <a:off x="1143000" y="2809875"/>
            <a:ext cx="7467600" cy="3167063"/>
            <a:chOff x="912" y="1008"/>
            <a:chExt cx="4032" cy="1632"/>
          </a:xfrm>
        </p:grpSpPr>
        <p:sp>
          <p:nvSpPr>
            <p:cNvPr id="153605" name="Rectangle 5"/>
            <p:cNvSpPr>
              <a:spLocks noChangeArrowheads="1"/>
            </p:cNvSpPr>
            <p:nvPr/>
          </p:nvSpPr>
          <p:spPr bwMode="auto">
            <a:xfrm>
              <a:off x="912" y="1008"/>
              <a:ext cx="1584" cy="528"/>
            </a:xfrm>
            <a:prstGeom prst="rect">
              <a:avLst/>
            </a:prstGeom>
            <a:solidFill>
              <a:srgbClr val="CCFFFF"/>
            </a:solidFill>
            <a:ln w="28575">
              <a:solidFill>
                <a:srgbClr val="66FF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3614" tIns="91808" rIns="183614" bIns="91808" anchor="ctr"/>
            <a:lstStyle>
              <a:lvl1pPr defTabSz="1089025">
                <a:spcBef>
                  <a:spcPct val="0"/>
                </a:spcBef>
                <a:defRPr kumimoji="1" sz="2400">
                  <a:solidFill>
                    <a:schemeClr val="tx1"/>
                  </a:solidFill>
                  <a:latin typeface="Times New Roman" panose="02020603050405020304" pitchFamily="18" charset="0"/>
                  <a:ea typeface="宋体" panose="02010600030101010101" pitchFamily="2" charset="-122"/>
                </a:defRPr>
              </a:lvl1pPr>
              <a:lvl2pPr marL="544830" defTabSz="1089025">
                <a:spcBef>
                  <a:spcPct val="0"/>
                </a:spcBef>
                <a:defRPr kumimoji="1" sz="2400">
                  <a:solidFill>
                    <a:schemeClr val="tx1"/>
                  </a:solidFill>
                  <a:latin typeface="Times New Roman" panose="02020603050405020304" pitchFamily="18" charset="0"/>
                  <a:ea typeface="宋体" panose="02010600030101010101" pitchFamily="2" charset="-122"/>
                </a:defRPr>
              </a:lvl2pPr>
              <a:lvl3pPr marL="1089025" defTabSz="1089025">
                <a:spcBef>
                  <a:spcPct val="0"/>
                </a:spcBef>
                <a:defRPr kumimoji="1" sz="2400">
                  <a:solidFill>
                    <a:schemeClr val="tx1"/>
                  </a:solidFill>
                  <a:latin typeface="Times New Roman" panose="02020603050405020304" pitchFamily="18" charset="0"/>
                  <a:ea typeface="宋体" panose="02010600030101010101" pitchFamily="2" charset="-122"/>
                </a:defRPr>
              </a:lvl3pPr>
              <a:lvl4pPr marL="1633855" defTabSz="1089025">
                <a:spcBef>
                  <a:spcPct val="0"/>
                </a:spcBef>
                <a:defRPr kumimoji="1" sz="2400">
                  <a:solidFill>
                    <a:schemeClr val="tx1"/>
                  </a:solidFill>
                  <a:latin typeface="Times New Roman" panose="02020603050405020304" pitchFamily="18" charset="0"/>
                  <a:ea typeface="宋体" panose="02010600030101010101" pitchFamily="2" charset="-122"/>
                </a:defRPr>
              </a:lvl4pPr>
              <a:lvl5pPr marL="2176780" defTabSz="1089025">
                <a:spcBef>
                  <a:spcPct val="0"/>
                </a:spcBef>
                <a:defRPr kumimoji="1" sz="2400">
                  <a:solidFill>
                    <a:schemeClr val="tx1"/>
                  </a:solidFill>
                  <a:latin typeface="Times New Roman" panose="02020603050405020304" pitchFamily="18" charset="0"/>
                  <a:ea typeface="宋体" panose="02010600030101010101" pitchFamily="2" charset="-122"/>
                </a:defRPr>
              </a:lvl5pPr>
              <a:lvl6pPr marL="26339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911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83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55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b="1" dirty="0">
                  <a:latin typeface="华文宋体" panose="02010600040101010101" pitchFamily="2" charset="-122"/>
                  <a:ea typeface="华文宋体" panose="02010600040101010101" pitchFamily="2" charset="-122"/>
                </a:rPr>
                <a:t>段寄存器</a:t>
              </a:r>
              <a:endParaRPr lang="zh-CN" altLang="en-US" b="1" dirty="0">
                <a:latin typeface="华文宋体" panose="02010600040101010101" pitchFamily="2" charset="-122"/>
                <a:ea typeface="华文宋体" panose="02010600040101010101" pitchFamily="2" charset="-122"/>
              </a:endParaRPr>
            </a:p>
            <a:p>
              <a:pPr algn="ctr"/>
              <a:r>
                <a:rPr lang="en-US" altLang="zh-CN" b="1" dirty="0">
                  <a:solidFill>
                    <a:srgbClr val="FF0000"/>
                  </a:solidFill>
                  <a:latin typeface="华文宋体" panose="02010600040101010101" pitchFamily="2" charset="-122"/>
                  <a:ea typeface="华文宋体" panose="02010600040101010101" pitchFamily="2" charset="-122"/>
                </a:rPr>
                <a:t>CS</a:t>
              </a:r>
              <a:r>
                <a:rPr lang="zh-CN" altLang="en-US" b="1" dirty="0">
                  <a:latin typeface="华文宋体" panose="02010600040101010101" pitchFamily="2" charset="-122"/>
                  <a:ea typeface="华文宋体" panose="02010600040101010101" pitchFamily="2" charset="-122"/>
                </a:rPr>
                <a:t>、</a:t>
              </a:r>
              <a:r>
                <a:rPr lang="en-US" altLang="zh-CN" b="1" dirty="0">
                  <a:latin typeface="华文宋体" panose="02010600040101010101" pitchFamily="2" charset="-122"/>
                  <a:ea typeface="华文宋体" panose="02010600040101010101" pitchFamily="2" charset="-122"/>
                </a:rPr>
                <a:t>DS</a:t>
              </a:r>
              <a:r>
                <a:rPr lang="zh-CN" altLang="en-US" b="1" dirty="0">
                  <a:latin typeface="华文宋体" panose="02010600040101010101" pitchFamily="2" charset="-122"/>
                  <a:ea typeface="华文宋体" panose="02010600040101010101" pitchFamily="2" charset="-122"/>
                </a:rPr>
                <a:t>、</a:t>
              </a:r>
              <a:r>
                <a:rPr lang="en-US" altLang="zh-CN" b="1" dirty="0">
                  <a:latin typeface="华文宋体" panose="02010600040101010101" pitchFamily="2" charset="-122"/>
                  <a:ea typeface="华文宋体" panose="02010600040101010101" pitchFamily="2" charset="-122"/>
                </a:rPr>
                <a:t>SS</a:t>
              </a:r>
              <a:r>
                <a:rPr lang="zh-CN" altLang="en-US" b="1" dirty="0">
                  <a:latin typeface="华文宋体" panose="02010600040101010101" pitchFamily="2" charset="-122"/>
                  <a:ea typeface="华文宋体" panose="02010600040101010101" pitchFamily="2" charset="-122"/>
                </a:rPr>
                <a:t>、</a:t>
              </a:r>
              <a:r>
                <a:rPr lang="en-US" altLang="zh-CN" b="1" dirty="0">
                  <a:latin typeface="华文宋体" panose="02010600040101010101" pitchFamily="2" charset="-122"/>
                  <a:ea typeface="华文宋体" panose="02010600040101010101" pitchFamily="2" charset="-122"/>
                </a:rPr>
                <a:t>ES</a:t>
              </a:r>
              <a:endParaRPr lang="en-US" altLang="zh-CN" b="1" dirty="0">
                <a:latin typeface="华文宋体" panose="02010600040101010101" pitchFamily="2" charset="-122"/>
                <a:ea typeface="华文宋体" panose="02010600040101010101" pitchFamily="2" charset="-122"/>
              </a:endParaRPr>
            </a:p>
          </p:txBody>
        </p:sp>
        <p:sp>
          <p:nvSpPr>
            <p:cNvPr id="153606" name="Rectangle 6"/>
            <p:cNvSpPr>
              <a:spLocks noChangeArrowheads="1"/>
            </p:cNvSpPr>
            <p:nvPr/>
          </p:nvSpPr>
          <p:spPr bwMode="auto">
            <a:xfrm>
              <a:off x="3168" y="1008"/>
              <a:ext cx="1584" cy="528"/>
            </a:xfrm>
            <a:prstGeom prst="rect">
              <a:avLst/>
            </a:prstGeom>
            <a:solidFill>
              <a:srgbClr val="CCFFFF"/>
            </a:solidFill>
            <a:ln w="28575">
              <a:solidFill>
                <a:srgbClr val="66FF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3614" tIns="91808" rIns="183614" bIns="91808" anchor="ctr"/>
            <a:lstStyle>
              <a:lvl1pPr defTabSz="1089025">
                <a:spcBef>
                  <a:spcPct val="0"/>
                </a:spcBef>
                <a:defRPr kumimoji="1" sz="2400">
                  <a:solidFill>
                    <a:schemeClr val="tx1"/>
                  </a:solidFill>
                  <a:latin typeface="Times New Roman" panose="02020603050405020304" pitchFamily="18" charset="0"/>
                  <a:ea typeface="宋体" panose="02010600030101010101" pitchFamily="2" charset="-122"/>
                </a:defRPr>
              </a:lvl1pPr>
              <a:lvl2pPr marL="544830" defTabSz="1089025">
                <a:spcBef>
                  <a:spcPct val="0"/>
                </a:spcBef>
                <a:defRPr kumimoji="1" sz="2400">
                  <a:solidFill>
                    <a:schemeClr val="tx1"/>
                  </a:solidFill>
                  <a:latin typeface="Times New Roman" panose="02020603050405020304" pitchFamily="18" charset="0"/>
                  <a:ea typeface="宋体" panose="02010600030101010101" pitchFamily="2" charset="-122"/>
                </a:defRPr>
              </a:lvl2pPr>
              <a:lvl3pPr marL="1089025" defTabSz="1089025">
                <a:spcBef>
                  <a:spcPct val="0"/>
                </a:spcBef>
                <a:defRPr kumimoji="1" sz="2400">
                  <a:solidFill>
                    <a:schemeClr val="tx1"/>
                  </a:solidFill>
                  <a:latin typeface="Times New Roman" panose="02020603050405020304" pitchFamily="18" charset="0"/>
                  <a:ea typeface="宋体" panose="02010600030101010101" pitchFamily="2" charset="-122"/>
                </a:defRPr>
              </a:lvl3pPr>
              <a:lvl4pPr marL="1633855" defTabSz="1089025">
                <a:spcBef>
                  <a:spcPct val="0"/>
                </a:spcBef>
                <a:defRPr kumimoji="1" sz="2400">
                  <a:solidFill>
                    <a:schemeClr val="tx1"/>
                  </a:solidFill>
                  <a:latin typeface="Times New Roman" panose="02020603050405020304" pitchFamily="18" charset="0"/>
                  <a:ea typeface="宋体" panose="02010600030101010101" pitchFamily="2" charset="-122"/>
                </a:defRPr>
              </a:lvl4pPr>
              <a:lvl5pPr marL="2176780" defTabSz="1089025">
                <a:spcBef>
                  <a:spcPct val="0"/>
                </a:spcBef>
                <a:defRPr kumimoji="1" sz="2400">
                  <a:solidFill>
                    <a:schemeClr val="tx1"/>
                  </a:solidFill>
                  <a:latin typeface="Times New Roman" panose="02020603050405020304" pitchFamily="18" charset="0"/>
                  <a:ea typeface="宋体" panose="02010600030101010101" pitchFamily="2" charset="-122"/>
                </a:defRPr>
              </a:lvl5pPr>
              <a:lvl6pPr marL="26339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911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83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55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b="1" dirty="0">
                  <a:latin typeface="华文宋体" panose="02010600040101010101" pitchFamily="2" charset="-122"/>
                  <a:ea typeface="华文宋体" panose="02010600040101010101" pitchFamily="2" charset="-122"/>
                </a:rPr>
                <a:t>通用寄存器</a:t>
              </a:r>
              <a:endParaRPr lang="zh-CN" altLang="en-US" b="1" dirty="0">
                <a:latin typeface="华文宋体" panose="02010600040101010101" pitchFamily="2" charset="-122"/>
                <a:ea typeface="华文宋体" panose="02010600040101010101" pitchFamily="2" charset="-122"/>
              </a:endParaRPr>
            </a:p>
            <a:p>
              <a:pPr algn="ctr"/>
              <a:r>
                <a:rPr lang="en-US" altLang="zh-CN" b="1" dirty="0">
                  <a:latin typeface="华文宋体" panose="02010600040101010101" pitchFamily="2" charset="-122"/>
                  <a:ea typeface="华文宋体" panose="02010600040101010101" pitchFamily="2" charset="-122"/>
                </a:rPr>
                <a:t>8</a:t>
              </a:r>
              <a:r>
                <a:rPr lang="zh-CN" altLang="en-US" b="1" dirty="0">
                  <a:latin typeface="华文宋体" panose="02010600040101010101" pitchFamily="2" charset="-122"/>
                  <a:ea typeface="华文宋体" panose="02010600040101010101" pitchFamily="2" charset="-122"/>
                </a:rPr>
                <a:t>位或者</a:t>
              </a:r>
              <a:r>
                <a:rPr lang="en-US" altLang="zh-CN" b="1" dirty="0">
                  <a:latin typeface="华文宋体" panose="02010600040101010101" pitchFamily="2" charset="-122"/>
                  <a:ea typeface="华文宋体" panose="02010600040101010101" pitchFamily="2" charset="-122"/>
                </a:rPr>
                <a:t>16</a:t>
              </a:r>
              <a:r>
                <a:rPr lang="zh-CN" altLang="en-US" b="1" dirty="0">
                  <a:latin typeface="华文宋体" panose="02010600040101010101" pitchFamily="2" charset="-122"/>
                  <a:ea typeface="华文宋体" panose="02010600040101010101" pitchFamily="2" charset="-122"/>
                </a:rPr>
                <a:t>位</a:t>
              </a:r>
              <a:endParaRPr lang="zh-CN" altLang="en-US" b="1" dirty="0">
                <a:latin typeface="华文宋体" panose="02010600040101010101" pitchFamily="2" charset="-122"/>
                <a:ea typeface="华文宋体" panose="02010600040101010101" pitchFamily="2" charset="-122"/>
              </a:endParaRPr>
            </a:p>
          </p:txBody>
        </p:sp>
        <p:sp>
          <p:nvSpPr>
            <p:cNvPr id="153607" name="Rectangle 7"/>
            <p:cNvSpPr>
              <a:spLocks noChangeArrowheads="1"/>
            </p:cNvSpPr>
            <p:nvPr/>
          </p:nvSpPr>
          <p:spPr bwMode="auto">
            <a:xfrm>
              <a:off x="912" y="2112"/>
              <a:ext cx="1584" cy="528"/>
            </a:xfrm>
            <a:prstGeom prst="rect">
              <a:avLst/>
            </a:prstGeom>
            <a:solidFill>
              <a:srgbClr val="CCFFFF"/>
            </a:solidFill>
            <a:ln w="28575">
              <a:solidFill>
                <a:srgbClr val="66FF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3614" tIns="91808" rIns="183614" bIns="91808" anchor="ctr"/>
            <a:lstStyle>
              <a:lvl1pPr defTabSz="1089025">
                <a:spcBef>
                  <a:spcPct val="0"/>
                </a:spcBef>
                <a:defRPr kumimoji="1" sz="2400">
                  <a:solidFill>
                    <a:schemeClr val="tx1"/>
                  </a:solidFill>
                  <a:latin typeface="Times New Roman" panose="02020603050405020304" pitchFamily="18" charset="0"/>
                  <a:ea typeface="宋体" panose="02010600030101010101" pitchFamily="2" charset="-122"/>
                </a:defRPr>
              </a:lvl1pPr>
              <a:lvl2pPr marL="544830" defTabSz="1089025">
                <a:spcBef>
                  <a:spcPct val="0"/>
                </a:spcBef>
                <a:defRPr kumimoji="1" sz="2400">
                  <a:solidFill>
                    <a:schemeClr val="tx1"/>
                  </a:solidFill>
                  <a:latin typeface="Times New Roman" panose="02020603050405020304" pitchFamily="18" charset="0"/>
                  <a:ea typeface="宋体" panose="02010600030101010101" pitchFamily="2" charset="-122"/>
                </a:defRPr>
              </a:lvl2pPr>
              <a:lvl3pPr marL="1089025" defTabSz="1089025">
                <a:spcBef>
                  <a:spcPct val="0"/>
                </a:spcBef>
                <a:defRPr kumimoji="1" sz="2400">
                  <a:solidFill>
                    <a:schemeClr val="tx1"/>
                  </a:solidFill>
                  <a:latin typeface="Times New Roman" panose="02020603050405020304" pitchFamily="18" charset="0"/>
                  <a:ea typeface="宋体" panose="02010600030101010101" pitchFamily="2" charset="-122"/>
                </a:defRPr>
              </a:lvl3pPr>
              <a:lvl4pPr marL="1633855" defTabSz="1089025">
                <a:spcBef>
                  <a:spcPct val="0"/>
                </a:spcBef>
                <a:defRPr kumimoji="1" sz="2400">
                  <a:solidFill>
                    <a:schemeClr val="tx1"/>
                  </a:solidFill>
                  <a:latin typeface="Times New Roman" panose="02020603050405020304" pitchFamily="18" charset="0"/>
                  <a:ea typeface="宋体" panose="02010600030101010101" pitchFamily="2" charset="-122"/>
                </a:defRPr>
              </a:lvl4pPr>
              <a:lvl5pPr marL="2176780" defTabSz="1089025">
                <a:spcBef>
                  <a:spcPct val="0"/>
                </a:spcBef>
                <a:defRPr kumimoji="1" sz="2400">
                  <a:solidFill>
                    <a:schemeClr val="tx1"/>
                  </a:solidFill>
                  <a:latin typeface="Times New Roman" panose="02020603050405020304" pitchFamily="18" charset="0"/>
                  <a:ea typeface="宋体" panose="02010600030101010101" pitchFamily="2" charset="-122"/>
                </a:defRPr>
              </a:lvl5pPr>
              <a:lvl6pPr marL="26339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911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83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55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b="1" dirty="0">
                  <a:latin typeface="华文宋体" panose="02010600040101010101" pitchFamily="2" charset="-122"/>
                  <a:ea typeface="华文宋体" panose="02010600040101010101" pitchFamily="2" charset="-122"/>
                </a:rPr>
                <a:t>存储器</a:t>
              </a:r>
              <a:endParaRPr lang="zh-CN" altLang="en-US" b="1" dirty="0">
                <a:latin typeface="华文宋体" panose="02010600040101010101" pitchFamily="2" charset="-122"/>
                <a:ea typeface="华文宋体" panose="02010600040101010101" pitchFamily="2" charset="-122"/>
              </a:endParaRPr>
            </a:p>
          </p:txBody>
        </p:sp>
        <p:sp>
          <p:nvSpPr>
            <p:cNvPr id="153608" name="Rectangle 8"/>
            <p:cNvSpPr>
              <a:spLocks noChangeArrowheads="1"/>
            </p:cNvSpPr>
            <p:nvPr/>
          </p:nvSpPr>
          <p:spPr bwMode="auto">
            <a:xfrm>
              <a:off x="3216" y="2112"/>
              <a:ext cx="1584" cy="528"/>
            </a:xfrm>
            <a:prstGeom prst="rect">
              <a:avLst/>
            </a:prstGeom>
            <a:solidFill>
              <a:srgbClr val="CCFFFF"/>
            </a:solidFill>
            <a:ln w="28575">
              <a:solidFill>
                <a:srgbClr val="66FF33"/>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3614" tIns="91808" rIns="183614" bIns="91808" anchor="ctr"/>
            <a:lstStyle>
              <a:lvl1pPr defTabSz="1089025">
                <a:spcBef>
                  <a:spcPct val="0"/>
                </a:spcBef>
                <a:defRPr kumimoji="1" sz="2400">
                  <a:solidFill>
                    <a:schemeClr val="tx1"/>
                  </a:solidFill>
                  <a:latin typeface="Times New Roman" panose="02020603050405020304" pitchFamily="18" charset="0"/>
                  <a:ea typeface="宋体" panose="02010600030101010101" pitchFamily="2" charset="-122"/>
                </a:defRPr>
              </a:lvl1pPr>
              <a:lvl2pPr marL="544830" defTabSz="1089025">
                <a:spcBef>
                  <a:spcPct val="0"/>
                </a:spcBef>
                <a:defRPr kumimoji="1" sz="2400">
                  <a:solidFill>
                    <a:schemeClr val="tx1"/>
                  </a:solidFill>
                  <a:latin typeface="Times New Roman" panose="02020603050405020304" pitchFamily="18" charset="0"/>
                  <a:ea typeface="宋体" panose="02010600030101010101" pitchFamily="2" charset="-122"/>
                </a:defRPr>
              </a:lvl2pPr>
              <a:lvl3pPr marL="1089025" defTabSz="1089025">
                <a:spcBef>
                  <a:spcPct val="0"/>
                </a:spcBef>
                <a:defRPr kumimoji="1" sz="2400">
                  <a:solidFill>
                    <a:schemeClr val="tx1"/>
                  </a:solidFill>
                  <a:latin typeface="Times New Roman" panose="02020603050405020304" pitchFamily="18" charset="0"/>
                  <a:ea typeface="宋体" panose="02010600030101010101" pitchFamily="2" charset="-122"/>
                </a:defRPr>
              </a:lvl3pPr>
              <a:lvl4pPr marL="1633855" defTabSz="1089025">
                <a:spcBef>
                  <a:spcPct val="0"/>
                </a:spcBef>
                <a:defRPr kumimoji="1" sz="2400">
                  <a:solidFill>
                    <a:schemeClr val="tx1"/>
                  </a:solidFill>
                  <a:latin typeface="Times New Roman" panose="02020603050405020304" pitchFamily="18" charset="0"/>
                  <a:ea typeface="宋体" panose="02010600030101010101" pitchFamily="2" charset="-122"/>
                </a:defRPr>
              </a:lvl4pPr>
              <a:lvl5pPr marL="2176780" defTabSz="1089025">
                <a:spcBef>
                  <a:spcPct val="0"/>
                </a:spcBef>
                <a:defRPr kumimoji="1" sz="2400">
                  <a:solidFill>
                    <a:schemeClr val="tx1"/>
                  </a:solidFill>
                  <a:latin typeface="Times New Roman" panose="02020603050405020304" pitchFamily="18" charset="0"/>
                  <a:ea typeface="宋体" panose="02010600030101010101" pitchFamily="2" charset="-122"/>
                </a:defRPr>
              </a:lvl5pPr>
              <a:lvl6pPr marL="26339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911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83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55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b="1" dirty="0">
                  <a:latin typeface="华文宋体" panose="02010600040101010101" pitchFamily="2" charset="-122"/>
                  <a:ea typeface="华文宋体" panose="02010600040101010101" pitchFamily="2" charset="-122"/>
                </a:rPr>
                <a:t>立即数</a:t>
              </a:r>
              <a:endParaRPr lang="zh-CN" altLang="en-US" b="1" dirty="0">
                <a:latin typeface="华文宋体" panose="02010600040101010101" pitchFamily="2" charset="-122"/>
                <a:ea typeface="华文宋体" panose="02010600040101010101" pitchFamily="2" charset="-122"/>
              </a:endParaRPr>
            </a:p>
            <a:p>
              <a:pPr algn="ctr"/>
              <a:r>
                <a:rPr lang="en-US" altLang="zh-CN" b="1" dirty="0">
                  <a:latin typeface="华文宋体" panose="02010600040101010101" pitchFamily="2" charset="-122"/>
                  <a:ea typeface="华文宋体" panose="02010600040101010101" pitchFamily="2" charset="-122"/>
                </a:rPr>
                <a:t>8</a:t>
              </a:r>
              <a:r>
                <a:rPr lang="zh-CN" altLang="en-US" b="1" dirty="0">
                  <a:latin typeface="华文宋体" panose="02010600040101010101" pitchFamily="2" charset="-122"/>
                  <a:ea typeface="华文宋体" panose="02010600040101010101" pitchFamily="2" charset="-122"/>
                </a:rPr>
                <a:t>位或者</a:t>
              </a:r>
              <a:r>
                <a:rPr lang="en-US" altLang="zh-CN" b="1" dirty="0">
                  <a:latin typeface="华文宋体" panose="02010600040101010101" pitchFamily="2" charset="-122"/>
                  <a:ea typeface="华文宋体" panose="02010600040101010101" pitchFamily="2" charset="-122"/>
                </a:rPr>
                <a:t>16</a:t>
              </a:r>
              <a:r>
                <a:rPr lang="zh-CN" altLang="en-US" b="1" dirty="0">
                  <a:latin typeface="华文宋体" panose="02010600040101010101" pitchFamily="2" charset="-122"/>
                  <a:ea typeface="华文宋体" panose="02010600040101010101" pitchFamily="2" charset="-122"/>
                </a:rPr>
                <a:t>位</a:t>
              </a:r>
              <a:endParaRPr lang="zh-CN" altLang="en-US" b="1" dirty="0">
                <a:latin typeface="华文宋体" panose="02010600040101010101" pitchFamily="2" charset="-122"/>
                <a:ea typeface="华文宋体" panose="02010600040101010101" pitchFamily="2" charset="-122"/>
              </a:endParaRPr>
            </a:p>
          </p:txBody>
        </p:sp>
        <p:sp>
          <p:nvSpPr>
            <p:cNvPr id="153609" name="Line 9"/>
            <p:cNvSpPr>
              <a:spLocks noChangeShapeType="1"/>
            </p:cNvSpPr>
            <p:nvPr/>
          </p:nvSpPr>
          <p:spPr bwMode="auto">
            <a:xfrm>
              <a:off x="2496" y="1248"/>
              <a:ext cx="672" cy="0"/>
            </a:xfrm>
            <a:prstGeom prst="line">
              <a:avLst/>
            </a:prstGeom>
            <a:noFill/>
            <a:ln w="28575">
              <a:solidFill>
                <a:srgbClr val="00FFFF"/>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3614" tIns="91808" rIns="183614" bIns="91808" anchor="ctr"/>
            <a:lstStyle/>
            <a:p>
              <a:endParaRPr lang="zh-CN" altLang="en-US"/>
            </a:p>
          </p:txBody>
        </p:sp>
        <p:sp>
          <p:nvSpPr>
            <p:cNvPr id="153610" name="Line 10"/>
            <p:cNvSpPr>
              <a:spLocks noChangeShapeType="1"/>
            </p:cNvSpPr>
            <p:nvPr/>
          </p:nvSpPr>
          <p:spPr bwMode="auto">
            <a:xfrm>
              <a:off x="1728" y="1536"/>
              <a:ext cx="0" cy="576"/>
            </a:xfrm>
            <a:prstGeom prst="line">
              <a:avLst/>
            </a:prstGeom>
            <a:noFill/>
            <a:ln w="28575">
              <a:solidFill>
                <a:srgbClr val="00FFFF"/>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3614" tIns="91808" rIns="183614" bIns="91808" anchor="ctr"/>
            <a:lstStyle/>
            <a:p>
              <a:endParaRPr lang="zh-CN" altLang="en-US"/>
            </a:p>
          </p:txBody>
        </p:sp>
        <p:sp>
          <p:nvSpPr>
            <p:cNvPr id="153611" name="Line 11"/>
            <p:cNvSpPr>
              <a:spLocks noChangeShapeType="1"/>
            </p:cNvSpPr>
            <p:nvPr/>
          </p:nvSpPr>
          <p:spPr bwMode="auto">
            <a:xfrm flipH="1">
              <a:off x="2496" y="1536"/>
              <a:ext cx="672" cy="576"/>
            </a:xfrm>
            <a:prstGeom prst="line">
              <a:avLst/>
            </a:prstGeom>
            <a:noFill/>
            <a:ln w="28575">
              <a:solidFill>
                <a:srgbClr val="00FFFF"/>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3614" tIns="91808" rIns="183614" bIns="91808" anchor="ctr"/>
            <a:lstStyle/>
            <a:p>
              <a:endParaRPr lang="zh-CN" altLang="en-US"/>
            </a:p>
          </p:txBody>
        </p:sp>
        <p:sp>
          <p:nvSpPr>
            <p:cNvPr id="153612" name="Line 12"/>
            <p:cNvSpPr>
              <a:spLocks noChangeShapeType="1"/>
            </p:cNvSpPr>
            <p:nvPr/>
          </p:nvSpPr>
          <p:spPr bwMode="auto">
            <a:xfrm flipH="1">
              <a:off x="2496" y="2400"/>
              <a:ext cx="720" cy="0"/>
            </a:xfrm>
            <a:prstGeom prst="line">
              <a:avLst/>
            </a:prstGeom>
            <a:noFill/>
            <a:ln w="28575">
              <a:solidFill>
                <a:srgbClr val="00FFFF"/>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3614" tIns="91808" rIns="183614" bIns="91808" anchor="ctr"/>
            <a:lstStyle/>
            <a:p>
              <a:endParaRPr lang="zh-CN" altLang="en-US"/>
            </a:p>
          </p:txBody>
        </p:sp>
        <p:sp>
          <p:nvSpPr>
            <p:cNvPr id="153613" name="Line 13"/>
            <p:cNvSpPr>
              <a:spLocks noChangeShapeType="1"/>
            </p:cNvSpPr>
            <p:nvPr/>
          </p:nvSpPr>
          <p:spPr bwMode="auto">
            <a:xfrm flipV="1">
              <a:off x="4032" y="1536"/>
              <a:ext cx="0" cy="576"/>
            </a:xfrm>
            <a:prstGeom prst="line">
              <a:avLst/>
            </a:prstGeom>
            <a:noFill/>
            <a:ln w="28575">
              <a:solidFill>
                <a:srgbClr val="00FFFF"/>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3614" tIns="91808" rIns="183614" bIns="91808" anchor="ctr"/>
            <a:lstStyle/>
            <a:p>
              <a:endParaRPr lang="zh-CN" altLang="en-US"/>
            </a:p>
          </p:txBody>
        </p:sp>
        <p:sp>
          <p:nvSpPr>
            <p:cNvPr id="153614" name="AutoShape 14"/>
            <p:cNvSpPr>
              <a:spLocks noChangeArrowheads="1"/>
            </p:cNvSpPr>
            <p:nvPr/>
          </p:nvSpPr>
          <p:spPr bwMode="auto">
            <a:xfrm>
              <a:off x="4752" y="1056"/>
              <a:ext cx="192" cy="432"/>
            </a:xfrm>
            <a:prstGeom prst="curvedLeftArrow">
              <a:avLst>
                <a:gd name="adj1" fmla="val 45000"/>
                <a:gd name="adj2" fmla="val 90000"/>
                <a:gd name="adj3" fmla="val 33333"/>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3614" tIns="91808" rIns="183614" bIns="91808" anchor="ctr"/>
            <a:lstStyle/>
            <a:p>
              <a:endParaRPr lang="zh-CN" altLang="en-US"/>
            </a:p>
          </p:txBody>
        </p:sp>
      </p:grpSp>
      <p:sp>
        <p:nvSpPr>
          <p:cNvPr id="153615" name="Rectangle 15"/>
          <p:cNvSpPr>
            <a:spLocks noChangeArrowheads="1"/>
          </p:cNvSpPr>
          <p:nvPr/>
        </p:nvSpPr>
        <p:spPr bwMode="auto">
          <a:xfrm>
            <a:off x="412751" y="1096963"/>
            <a:ext cx="8197850" cy="1481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08850" tIns="54425" rIns="108850" bIns="54425">
            <a:spAutoFit/>
          </a:bodyPr>
          <a:lstStyle>
            <a:lvl1pPr defTabSz="1089025">
              <a:spcBef>
                <a:spcPct val="0"/>
              </a:spcBef>
              <a:defRPr kumimoji="1" sz="2400">
                <a:solidFill>
                  <a:schemeClr val="tx1"/>
                </a:solidFill>
                <a:latin typeface="Times New Roman" panose="02020603050405020304" pitchFamily="18" charset="0"/>
                <a:ea typeface="宋体" panose="02010600030101010101" pitchFamily="2" charset="-122"/>
              </a:defRPr>
            </a:lvl1pPr>
            <a:lvl2pPr marL="544830" defTabSz="1089025">
              <a:spcBef>
                <a:spcPct val="0"/>
              </a:spcBef>
              <a:defRPr kumimoji="1" sz="2400">
                <a:solidFill>
                  <a:schemeClr val="tx1"/>
                </a:solidFill>
                <a:latin typeface="Times New Roman" panose="02020603050405020304" pitchFamily="18" charset="0"/>
                <a:ea typeface="宋体" panose="02010600030101010101" pitchFamily="2" charset="-122"/>
              </a:defRPr>
            </a:lvl2pPr>
            <a:lvl3pPr marL="1089025" defTabSz="1089025">
              <a:spcBef>
                <a:spcPct val="0"/>
              </a:spcBef>
              <a:defRPr kumimoji="1" sz="2400">
                <a:solidFill>
                  <a:schemeClr val="tx1"/>
                </a:solidFill>
                <a:latin typeface="Times New Roman" panose="02020603050405020304" pitchFamily="18" charset="0"/>
                <a:ea typeface="宋体" panose="02010600030101010101" pitchFamily="2" charset="-122"/>
              </a:defRPr>
            </a:lvl3pPr>
            <a:lvl4pPr marL="1633855" defTabSz="1089025">
              <a:spcBef>
                <a:spcPct val="0"/>
              </a:spcBef>
              <a:defRPr kumimoji="1" sz="2400">
                <a:solidFill>
                  <a:schemeClr val="tx1"/>
                </a:solidFill>
                <a:latin typeface="Times New Roman" panose="02020603050405020304" pitchFamily="18" charset="0"/>
                <a:ea typeface="宋体" panose="02010600030101010101" pitchFamily="2" charset="-122"/>
              </a:defRPr>
            </a:lvl4pPr>
            <a:lvl5pPr marL="2176780" defTabSz="1089025">
              <a:spcBef>
                <a:spcPct val="0"/>
              </a:spcBef>
              <a:defRPr kumimoji="1" sz="2400">
                <a:solidFill>
                  <a:schemeClr val="tx1"/>
                </a:solidFill>
                <a:latin typeface="Times New Roman" panose="02020603050405020304" pitchFamily="18" charset="0"/>
                <a:ea typeface="宋体" panose="02010600030101010101" pitchFamily="2" charset="-122"/>
              </a:defRPr>
            </a:lvl5pPr>
            <a:lvl6pPr marL="26339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911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83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5580" defTabSz="108902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35000"/>
              </a:lnSpc>
            </a:pPr>
            <a:r>
              <a:rPr lang="en-US" altLang="zh-CN" sz="2200" b="0" dirty="0">
                <a:latin typeface="华文宋体" panose="02010600040101010101" pitchFamily="2" charset="-122"/>
                <a:ea typeface="华文宋体" panose="02010600040101010101" pitchFamily="2" charset="-122"/>
              </a:rPr>
              <a:t>        </a:t>
            </a:r>
            <a:r>
              <a:rPr lang="zh-CN" altLang="en-US" sz="2200" b="0" dirty="0">
                <a:latin typeface="华文宋体" panose="02010600040101010101" pitchFamily="2" charset="-122"/>
                <a:ea typeface="华文宋体" panose="02010600040101010101" pitchFamily="2" charset="-122"/>
              </a:rPr>
              <a:t>在汇编语言中，主要的数据传送方式如下图所示。虽然一条</a:t>
            </a:r>
            <a:r>
              <a:rPr lang="en-US" altLang="zh-CN" sz="2200" b="0" dirty="0">
                <a:latin typeface="华文宋体" panose="02010600040101010101" pitchFamily="2" charset="-122"/>
                <a:ea typeface="华文宋体" panose="02010600040101010101" pitchFamily="2" charset="-122"/>
              </a:rPr>
              <a:t>MOV</a:t>
            </a:r>
            <a:r>
              <a:rPr lang="zh-CN" altLang="en-US" sz="2200" b="0" dirty="0">
                <a:latin typeface="华文宋体" panose="02010600040101010101" pitchFamily="2" charset="-122"/>
                <a:ea typeface="华文宋体" panose="02010600040101010101" pitchFamily="2" charset="-122"/>
              </a:rPr>
              <a:t>指令能实现其中大多数的数据传送方式，但也存在</a:t>
            </a:r>
            <a:r>
              <a:rPr lang="en-US" altLang="zh-CN" sz="2200" b="0" dirty="0">
                <a:latin typeface="华文宋体" panose="02010600040101010101" pitchFamily="2" charset="-122"/>
                <a:ea typeface="华文宋体" panose="02010600040101010101" pitchFamily="2" charset="-122"/>
              </a:rPr>
              <a:t>MOV</a:t>
            </a:r>
            <a:r>
              <a:rPr lang="zh-CN" altLang="en-US" sz="2200" b="0" dirty="0">
                <a:latin typeface="华文宋体" panose="02010600040101010101" pitchFamily="2" charset="-122"/>
                <a:ea typeface="华文宋体" panose="02010600040101010101" pitchFamily="2" charset="-122"/>
              </a:rPr>
              <a:t>指令不能实现的传送方式。 </a:t>
            </a:r>
            <a:endParaRPr lang="zh-CN" altLang="en-US" sz="2200" b="0" dirty="0">
              <a:latin typeface="华文宋体" panose="02010600040101010101" pitchFamily="2" charset="-122"/>
              <a:ea typeface="华文宋体" panose="02010600040101010101" pitchFamily="2" charset="-122"/>
            </a:endParaRPr>
          </a:p>
        </p:txBody>
      </p:sp>
      <p:sp>
        <p:nvSpPr>
          <p:cNvPr id="1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文本框 31745"/>
          <p:cNvSpPr txBox="1"/>
          <p:nvPr/>
        </p:nvSpPr>
        <p:spPr>
          <a:xfrm>
            <a:off x="296416" y="1016144"/>
            <a:ext cx="8272028" cy="5509200"/>
          </a:xfrm>
          <a:prstGeom prst="rect">
            <a:avLst/>
          </a:prstGeom>
          <a:noFill/>
          <a:ln w="9525">
            <a:noFill/>
          </a:ln>
        </p:spPr>
        <p:txBody>
          <a:bodyPr wrap="square">
            <a:spAutoFit/>
          </a:bodyPr>
          <a:lstStyle/>
          <a:p>
            <a:pPr algn="just" eaLnBrk="0" hangingPunct="0"/>
            <a:r>
              <a:rPr lang="en-US" altLang="zh-CN" sz="2200" dirty="0">
                <a:solidFill>
                  <a:srgbClr val="000000"/>
                </a:solidFill>
                <a:latin typeface="Times New Roman" panose="02020603050405020304" pitchFamily="18" charset="0"/>
                <a:sym typeface="Webdings" panose="05030102010509060703" pitchFamily="18" charset="2"/>
              </a:rPr>
              <a:t>     </a:t>
            </a:r>
            <a:r>
              <a:rPr lang="zh-CN" altLang="en-US" sz="2200" b="1" dirty="0">
                <a:solidFill>
                  <a:srgbClr val="000000"/>
                </a:solidFill>
                <a:latin typeface="Times New Roman" panose="02020603050405020304" pitchFamily="18" charset="0"/>
              </a:rPr>
              <a:t>进栈指令：</a:t>
            </a:r>
            <a:r>
              <a:rPr lang="en-US" altLang="zh-CN" sz="2200" b="1" dirty="0">
                <a:solidFill>
                  <a:srgbClr val="000000"/>
                </a:solidFill>
                <a:latin typeface="Times New Roman" panose="02020603050405020304" pitchFamily="18" charset="0"/>
              </a:rPr>
              <a:t>PUSH  SRC</a:t>
            </a:r>
            <a:endParaRPr lang="en-US" altLang="zh-CN" sz="2200" b="1" dirty="0">
              <a:solidFill>
                <a:srgbClr val="000000"/>
              </a:solidFill>
              <a:latin typeface="Times New Roman" panose="02020603050405020304" pitchFamily="18" charset="0"/>
            </a:endParaRPr>
          </a:p>
          <a:p>
            <a:pPr algn="just" eaLnBrk="0" hangingPunct="0"/>
            <a:r>
              <a:rPr lang="en-US" altLang="zh-CN" sz="2200" b="1" dirty="0">
                <a:solidFill>
                  <a:srgbClr val="000000"/>
                </a:solidFill>
                <a:latin typeface="Times New Roman" panose="02020603050405020304" pitchFamily="18" charset="0"/>
              </a:rPr>
              <a:t>     </a:t>
            </a:r>
            <a:r>
              <a:rPr lang="zh-CN" altLang="en-US" sz="2200" b="1" dirty="0">
                <a:solidFill>
                  <a:srgbClr val="000000"/>
                </a:solidFill>
                <a:latin typeface="Times New Roman" panose="02020603050405020304" pitchFamily="18" charset="0"/>
              </a:rPr>
              <a:t>执行操作： </a:t>
            </a:r>
            <a:r>
              <a:rPr lang="en-US" altLang="zh-CN" sz="2200" b="1" dirty="0">
                <a:solidFill>
                  <a:srgbClr val="000000"/>
                </a:solidFill>
                <a:latin typeface="Times New Roman" panose="02020603050405020304" pitchFamily="18" charset="0"/>
              </a:rPr>
              <a:t>(SP)  </a:t>
            </a:r>
            <a:r>
              <a:rPr lang="en-US" altLang="zh-CN" sz="2200" b="1" dirty="0">
                <a:solidFill>
                  <a:srgbClr val="000000"/>
                </a:solidFill>
                <a:latin typeface="Times New Roman" panose="02020603050405020304" pitchFamily="18" charset="0"/>
                <a:sym typeface="Symbol" panose="05050102010706020507" pitchFamily="18" charset="2"/>
              </a:rPr>
              <a:t></a:t>
            </a:r>
            <a:r>
              <a:rPr lang="en-US" altLang="zh-CN" sz="2200" b="1" dirty="0">
                <a:solidFill>
                  <a:srgbClr val="000000"/>
                </a:solidFill>
                <a:latin typeface="Times New Roman" panose="02020603050405020304" pitchFamily="18" charset="0"/>
              </a:rPr>
              <a:t>  (SP) – 2 </a:t>
            </a:r>
            <a:endParaRPr lang="en-US" altLang="zh-CN" sz="2200" b="1" dirty="0">
              <a:solidFill>
                <a:srgbClr val="000000"/>
              </a:solidFill>
              <a:latin typeface="Times New Roman" panose="02020603050405020304" pitchFamily="18" charset="0"/>
            </a:endParaRPr>
          </a:p>
          <a:p>
            <a:pPr lvl="2" algn="just" eaLnBrk="0" hangingPunct="0"/>
            <a:r>
              <a:rPr lang="en-US" altLang="zh-CN" sz="2200" b="1" dirty="0">
                <a:solidFill>
                  <a:srgbClr val="000000"/>
                </a:solidFill>
                <a:latin typeface="Times New Roman" panose="02020603050405020304" pitchFamily="18" charset="0"/>
              </a:rPr>
              <a:t>             ( (SP)+1,  (SP) )  </a:t>
            </a:r>
            <a:r>
              <a:rPr lang="en-US" altLang="zh-CN" sz="2200" b="1" dirty="0">
                <a:solidFill>
                  <a:srgbClr val="000000"/>
                </a:solidFill>
                <a:latin typeface="Times New Roman" panose="02020603050405020304" pitchFamily="18" charset="0"/>
                <a:sym typeface="Symbol" panose="05050102010706020507" pitchFamily="18" charset="2"/>
              </a:rPr>
              <a:t>  </a:t>
            </a:r>
            <a:r>
              <a:rPr lang="en-US" altLang="zh-CN" sz="2200" b="1" dirty="0">
                <a:solidFill>
                  <a:srgbClr val="000000"/>
                </a:solidFill>
                <a:latin typeface="Times New Roman" panose="02020603050405020304" pitchFamily="18" charset="0"/>
              </a:rPr>
              <a:t>(SRC)</a:t>
            </a:r>
            <a:endParaRPr lang="en-US" altLang="zh-CN" sz="2200" b="1" dirty="0">
              <a:solidFill>
                <a:srgbClr val="000000"/>
              </a:solidFill>
              <a:latin typeface="Times New Roman" panose="02020603050405020304" pitchFamily="18" charset="0"/>
            </a:endParaRPr>
          </a:p>
          <a:p>
            <a:pPr lvl="2" algn="just" eaLnBrk="0" hangingPunct="0"/>
            <a:endParaRPr lang="en-US" altLang="zh-CN" sz="2200" b="1" dirty="0">
              <a:solidFill>
                <a:srgbClr val="000000"/>
              </a:solidFill>
              <a:latin typeface="Times New Roman" panose="02020603050405020304" pitchFamily="18" charset="0"/>
            </a:endParaRPr>
          </a:p>
          <a:p>
            <a:pPr algn="just" eaLnBrk="0" hangingPunct="0"/>
            <a:r>
              <a:rPr lang="en-US" altLang="zh-CN" sz="2200" b="1" dirty="0">
                <a:solidFill>
                  <a:srgbClr val="000000"/>
                </a:solidFill>
                <a:latin typeface="Times New Roman" panose="02020603050405020304" pitchFamily="18" charset="0"/>
                <a:sym typeface="Webdings" panose="05030102010509060703" pitchFamily="18" charset="2"/>
              </a:rPr>
              <a:t>     </a:t>
            </a:r>
            <a:r>
              <a:rPr lang="zh-CN" altLang="en-US" sz="2200" b="1" dirty="0">
                <a:solidFill>
                  <a:srgbClr val="000000"/>
                </a:solidFill>
                <a:latin typeface="Times New Roman" panose="02020603050405020304" pitchFamily="18" charset="0"/>
              </a:rPr>
              <a:t>出栈指令： </a:t>
            </a:r>
            <a:r>
              <a:rPr lang="en-US" altLang="zh-CN" sz="2200" b="1" dirty="0">
                <a:solidFill>
                  <a:srgbClr val="000000"/>
                </a:solidFill>
                <a:latin typeface="Times New Roman" panose="02020603050405020304" pitchFamily="18" charset="0"/>
              </a:rPr>
              <a:t>POP  DST</a:t>
            </a:r>
            <a:endParaRPr lang="en-US" altLang="zh-CN" sz="2200" b="1" dirty="0">
              <a:solidFill>
                <a:srgbClr val="000000"/>
              </a:solidFill>
              <a:latin typeface="Times New Roman" panose="02020603050405020304" pitchFamily="18" charset="0"/>
            </a:endParaRPr>
          </a:p>
          <a:p>
            <a:pPr algn="just" eaLnBrk="0" hangingPunct="0"/>
            <a:r>
              <a:rPr lang="en-US" altLang="zh-CN" sz="2200" b="1" dirty="0">
                <a:solidFill>
                  <a:srgbClr val="000000"/>
                </a:solidFill>
                <a:latin typeface="Times New Roman" panose="02020603050405020304" pitchFamily="18" charset="0"/>
              </a:rPr>
              <a:t>     </a:t>
            </a:r>
            <a:r>
              <a:rPr lang="zh-CN" altLang="en-US" sz="2200" b="1" dirty="0">
                <a:solidFill>
                  <a:srgbClr val="000000"/>
                </a:solidFill>
                <a:latin typeface="Times New Roman" panose="02020603050405020304" pitchFamily="18" charset="0"/>
              </a:rPr>
              <a:t>执行操作： </a:t>
            </a:r>
            <a:r>
              <a:rPr lang="en-US" altLang="zh-CN" sz="2200" b="1" dirty="0">
                <a:solidFill>
                  <a:srgbClr val="000000"/>
                </a:solidFill>
                <a:latin typeface="Times New Roman" panose="02020603050405020304" pitchFamily="18" charset="0"/>
              </a:rPr>
              <a:t>(DST)  </a:t>
            </a:r>
            <a:r>
              <a:rPr lang="en-US" altLang="zh-CN" sz="2200" b="1" dirty="0">
                <a:solidFill>
                  <a:srgbClr val="000000"/>
                </a:solidFill>
                <a:latin typeface="Times New Roman" panose="02020603050405020304" pitchFamily="18" charset="0"/>
                <a:sym typeface="Symbol" panose="05050102010706020507" pitchFamily="18" charset="2"/>
              </a:rPr>
              <a:t></a:t>
            </a:r>
            <a:r>
              <a:rPr lang="en-US" altLang="zh-CN" sz="2200" b="1" dirty="0">
                <a:solidFill>
                  <a:srgbClr val="000000"/>
                </a:solidFill>
                <a:latin typeface="Times New Roman" panose="02020603050405020304" pitchFamily="18" charset="0"/>
              </a:rPr>
              <a:t>  ( (SP)+1,  (SP) )                           </a:t>
            </a:r>
            <a:endParaRPr lang="en-US" altLang="zh-CN" sz="2200" b="1" dirty="0">
              <a:solidFill>
                <a:srgbClr val="000000"/>
              </a:solidFill>
              <a:latin typeface="Times New Roman" panose="02020603050405020304" pitchFamily="18" charset="0"/>
            </a:endParaRPr>
          </a:p>
          <a:p>
            <a:pPr lvl="2" algn="just" eaLnBrk="0" hangingPunct="0"/>
            <a:r>
              <a:rPr lang="en-US" altLang="zh-CN" sz="2200" b="1" dirty="0">
                <a:solidFill>
                  <a:srgbClr val="000000"/>
                </a:solidFill>
                <a:latin typeface="Times New Roman" panose="02020603050405020304" pitchFamily="18" charset="0"/>
              </a:rPr>
              <a:t>	(SP)  </a:t>
            </a:r>
            <a:r>
              <a:rPr lang="en-US" altLang="zh-CN" sz="2200" b="1" dirty="0">
                <a:solidFill>
                  <a:srgbClr val="000000"/>
                </a:solidFill>
                <a:latin typeface="Times New Roman" panose="02020603050405020304" pitchFamily="18" charset="0"/>
                <a:sym typeface="Symbol" panose="05050102010706020507" pitchFamily="18" charset="2"/>
              </a:rPr>
              <a:t></a:t>
            </a:r>
            <a:r>
              <a:rPr lang="en-US" altLang="zh-CN" sz="2200" b="1" dirty="0">
                <a:solidFill>
                  <a:srgbClr val="000000"/>
                </a:solidFill>
                <a:latin typeface="Times New Roman" panose="02020603050405020304" pitchFamily="18" charset="0"/>
              </a:rPr>
              <a:t>  (SP) + 2</a:t>
            </a:r>
            <a:endParaRPr lang="en-US" altLang="zh-CN" sz="2200" b="1" dirty="0">
              <a:solidFill>
                <a:srgbClr val="000000"/>
              </a:solidFill>
              <a:latin typeface="Times New Roman" panose="02020603050405020304" pitchFamily="18" charset="0"/>
            </a:endParaRPr>
          </a:p>
          <a:p>
            <a:pPr algn="just" eaLnBrk="0" hangingPunct="0"/>
            <a:endParaRPr lang="en-US" altLang="zh-CN" sz="2200" b="1" dirty="0">
              <a:solidFill>
                <a:srgbClr val="000000"/>
              </a:solidFill>
              <a:latin typeface="Times New Roman" panose="02020603050405020304" pitchFamily="18" charset="0"/>
            </a:endParaRPr>
          </a:p>
          <a:p>
            <a:pPr algn="just" eaLnBrk="0" hangingPunct="0"/>
            <a:r>
              <a:rPr lang="zh-CN" altLang="en-US" b="1" dirty="0">
                <a:solidFill>
                  <a:srgbClr val="FF0000"/>
                </a:solidFill>
                <a:latin typeface="Times New Roman" panose="02020603050405020304" pitchFamily="18" charset="0"/>
              </a:rPr>
              <a:t>堆栈：</a:t>
            </a:r>
            <a:r>
              <a:rPr lang="zh-CN" altLang="en-US" sz="2200" b="1" dirty="0">
                <a:solidFill>
                  <a:srgbClr val="FF0000"/>
                </a:solidFill>
                <a:latin typeface="楷体_GB2312" pitchFamily="49" charset="-122"/>
                <a:ea typeface="楷体_GB2312" pitchFamily="49" charset="-122"/>
              </a:rPr>
              <a:t>‘先进后出’的存储区，段地址存放在</a:t>
            </a:r>
            <a:r>
              <a:rPr lang="en-US" altLang="zh-CN" sz="2200" b="1" dirty="0">
                <a:solidFill>
                  <a:srgbClr val="FF0000"/>
                </a:solidFill>
                <a:latin typeface="楷体_GB2312" pitchFamily="49" charset="-122"/>
                <a:ea typeface="楷体_GB2312" pitchFamily="49" charset="-122"/>
              </a:rPr>
              <a:t>SS</a:t>
            </a:r>
            <a:r>
              <a:rPr lang="zh-CN" altLang="en-US" sz="2200" b="1" dirty="0">
                <a:solidFill>
                  <a:srgbClr val="FF0000"/>
                </a:solidFill>
                <a:latin typeface="楷体_GB2312" pitchFamily="49" charset="-122"/>
                <a:ea typeface="楷体_GB2312" pitchFamily="49" charset="-122"/>
              </a:rPr>
              <a:t>中，</a:t>
            </a:r>
            <a:endParaRPr lang="zh-CN" altLang="en-US" sz="2200" b="1" dirty="0">
              <a:solidFill>
                <a:srgbClr val="FF0000"/>
              </a:solidFill>
              <a:latin typeface="楷体_GB2312" pitchFamily="49" charset="-122"/>
              <a:ea typeface="楷体_GB2312" pitchFamily="49" charset="-122"/>
            </a:endParaRPr>
          </a:p>
          <a:p>
            <a:pPr algn="just" eaLnBrk="0" hangingPunct="0"/>
            <a:r>
              <a:rPr lang="zh-CN" altLang="en-US" sz="2200" b="1" dirty="0">
                <a:solidFill>
                  <a:srgbClr val="FF0000"/>
                </a:solidFill>
                <a:latin typeface="楷体_GB2312" pitchFamily="49" charset="-122"/>
                <a:ea typeface="楷体_GB2312" pitchFamily="49" charset="-122"/>
              </a:rPr>
              <a:t>      </a:t>
            </a:r>
            <a:r>
              <a:rPr lang="en-US" altLang="zh-CN" sz="2200" b="1" dirty="0">
                <a:solidFill>
                  <a:srgbClr val="FF0000"/>
                </a:solidFill>
                <a:latin typeface="Times New Roman" panose="02020603050405020304" pitchFamily="18" charset="0"/>
                <a:ea typeface="楷体_GB2312" pitchFamily="49" charset="-122"/>
              </a:rPr>
              <a:t>SP</a:t>
            </a:r>
            <a:r>
              <a:rPr lang="zh-CN" altLang="en-US" sz="2200" b="1" dirty="0">
                <a:solidFill>
                  <a:srgbClr val="FF0000"/>
                </a:solidFill>
                <a:latin typeface="楷体_GB2312" pitchFamily="49" charset="-122"/>
                <a:ea typeface="楷体_GB2312" pitchFamily="49" charset="-122"/>
              </a:rPr>
              <a:t>在任何时候都指向栈顶，进出栈后自动修改</a:t>
            </a:r>
            <a:r>
              <a:rPr lang="en-US" altLang="zh-CN" sz="2200" b="1" dirty="0">
                <a:solidFill>
                  <a:srgbClr val="FF0000"/>
                </a:solidFill>
                <a:latin typeface="楷体_GB2312" pitchFamily="49" charset="-122"/>
                <a:ea typeface="楷体_GB2312" pitchFamily="49" charset="-122"/>
              </a:rPr>
              <a:t>SP</a:t>
            </a:r>
            <a:r>
              <a:rPr lang="zh-CN" altLang="en-US" sz="2200" b="1" dirty="0">
                <a:solidFill>
                  <a:srgbClr val="FF0000"/>
                </a:solidFill>
                <a:latin typeface="楷体_GB2312" pitchFamily="49" charset="-122"/>
                <a:ea typeface="楷体_GB2312" pitchFamily="49" charset="-122"/>
              </a:rPr>
              <a:t>。</a:t>
            </a:r>
            <a:endParaRPr lang="zh-CN" altLang="en-US" sz="2200" b="1" dirty="0">
              <a:solidFill>
                <a:srgbClr val="FF0000"/>
              </a:solidFill>
              <a:latin typeface="楷体_GB2312" pitchFamily="49" charset="-122"/>
              <a:ea typeface="楷体_GB2312" pitchFamily="49" charset="-122"/>
            </a:endParaRPr>
          </a:p>
          <a:p>
            <a:pPr algn="just" eaLnBrk="0" hangingPunct="0"/>
            <a:r>
              <a:rPr lang="zh-CN" altLang="en-US" b="1" dirty="0">
                <a:solidFill>
                  <a:srgbClr val="000000"/>
                </a:solidFill>
                <a:latin typeface="Times New Roman" panose="02020603050405020304" pitchFamily="18" charset="0"/>
                <a:ea typeface="楷体_GB2312" pitchFamily="49" charset="-122"/>
              </a:rPr>
              <a:t>    </a:t>
            </a:r>
            <a:endParaRPr lang="zh-CN" altLang="en-US" b="1" dirty="0">
              <a:solidFill>
                <a:srgbClr val="000000"/>
              </a:solidFill>
              <a:latin typeface="Times New Roman" panose="02020603050405020304" pitchFamily="18" charset="0"/>
              <a:ea typeface="楷体_GB2312" pitchFamily="49" charset="-122"/>
            </a:endParaRPr>
          </a:p>
          <a:p>
            <a:pPr algn="just" eaLnBrk="0" hangingPunct="0"/>
            <a:r>
              <a:rPr lang="zh-CN" altLang="en-US" b="1" dirty="0">
                <a:solidFill>
                  <a:srgbClr val="000000"/>
                </a:solidFill>
                <a:latin typeface="Times New Roman" panose="02020603050405020304" pitchFamily="18" charset="0"/>
                <a:ea typeface="楷体_GB2312" pitchFamily="49" charset="-122"/>
              </a:rPr>
              <a:t> </a:t>
            </a:r>
            <a:r>
              <a:rPr lang="zh-CN" altLang="en-US" sz="2200" b="1" dirty="0">
                <a:solidFill>
                  <a:srgbClr val="000000"/>
                </a:solidFill>
                <a:latin typeface="Times New Roman" panose="02020603050405020304" pitchFamily="18" charset="0"/>
                <a:ea typeface="楷体_GB2312" pitchFamily="49" charset="-122"/>
              </a:rPr>
              <a:t>注意</a:t>
            </a:r>
            <a:r>
              <a:rPr lang="en-US" altLang="zh-CN" sz="2200" b="1" dirty="0">
                <a:solidFill>
                  <a:srgbClr val="000000"/>
                </a:solidFill>
                <a:latin typeface="Times New Roman" panose="02020603050405020304" pitchFamily="18" charset="0"/>
                <a:ea typeface="楷体_GB2312" pitchFamily="49" charset="-122"/>
              </a:rPr>
              <a:t>:   </a:t>
            </a:r>
            <a:endParaRPr lang="en-US" altLang="zh-CN" sz="2200" b="1" dirty="0">
              <a:solidFill>
                <a:srgbClr val="000000"/>
              </a:solidFill>
              <a:latin typeface="Times New Roman" panose="02020603050405020304" pitchFamily="18" charset="0"/>
              <a:ea typeface="楷体_GB2312" pitchFamily="49" charset="-122"/>
            </a:endParaRPr>
          </a:p>
          <a:p>
            <a:pPr algn="just" eaLnBrk="0" hangingPunct="0"/>
            <a:r>
              <a:rPr lang="en-US" altLang="zh-CN" sz="2200" b="1" dirty="0">
                <a:solidFill>
                  <a:srgbClr val="000000"/>
                </a:solidFill>
                <a:latin typeface="Times New Roman" panose="02020603050405020304" pitchFamily="18" charset="0"/>
                <a:ea typeface="楷体_GB2312" pitchFamily="49" charset="-122"/>
              </a:rPr>
              <a:t>              </a:t>
            </a:r>
            <a:r>
              <a:rPr lang="en-US" altLang="zh-CN" sz="2000" b="1" dirty="0">
                <a:solidFill>
                  <a:srgbClr val="000000"/>
                </a:solidFill>
                <a:latin typeface="Times New Roman" panose="02020603050405020304" pitchFamily="18" charset="0"/>
                <a:ea typeface="楷体_GB2312" pitchFamily="49" charset="-122"/>
              </a:rPr>
              <a:t>*  </a:t>
            </a:r>
            <a:r>
              <a:rPr lang="zh-CN" altLang="en-US" sz="2000" b="1" dirty="0">
                <a:solidFill>
                  <a:srgbClr val="FF0000"/>
                </a:solidFill>
                <a:latin typeface="Times New Roman" panose="02020603050405020304" pitchFamily="18" charset="0"/>
                <a:ea typeface="楷体_GB2312" pitchFamily="49" charset="-122"/>
              </a:rPr>
              <a:t>堆栈操作必须以字为单位。 </a:t>
            </a:r>
            <a:endParaRPr lang="zh-CN" altLang="en-US" sz="2000" b="1" dirty="0">
              <a:solidFill>
                <a:srgbClr val="FF0000"/>
              </a:solidFill>
              <a:latin typeface="Times New Roman" panose="02020603050405020304" pitchFamily="18" charset="0"/>
              <a:ea typeface="楷体_GB2312" pitchFamily="49" charset="-122"/>
              <a:sym typeface="Symbol" panose="05050102010706020507" pitchFamily="18" charset="2"/>
            </a:endParaRPr>
          </a:p>
          <a:p>
            <a:pPr lvl="1" eaLnBrk="0" hangingPunct="0"/>
            <a:r>
              <a:rPr lang="zh-CN" altLang="en-US" sz="2000" b="1"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sz="2000" b="1" dirty="0">
                <a:solidFill>
                  <a:srgbClr val="000000"/>
                </a:solidFill>
                <a:latin typeface="Times New Roman" panose="02020603050405020304" pitchFamily="18" charset="0"/>
                <a:ea typeface="楷体_GB2312" pitchFamily="49" charset="-122"/>
              </a:rPr>
              <a:t>*</a:t>
            </a:r>
            <a:r>
              <a:rPr lang="en-US" altLang="zh-CN" sz="2000" b="1" dirty="0">
                <a:solidFill>
                  <a:srgbClr val="000000"/>
                </a:solidFill>
                <a:latin typeface="Times New Roman" panose="02020603050405020304" pitchFamily="18" charset="0"/>
                <a:ea typeface="楷体_GB2312" pitchFamily="49" charset="-122"/>
                <a:sym typeface="Symbol" panose="05050102010706020507" pitchFamily="18" charset="2"/>
              </a:rPr>
              <a:t>  </a:t>
            </a:r>
            <a:r>
              <a:rPr lang="zh-CN" altLang="en-US" sz="2000" b="1" dirty="0">
                <a:solidFill>
                  <a:srgbClr val="000000"/>
                </a:solidFill>
                <a:latin typeface="Times New Roman" panose="02020603050405020304" pitchFamily="18" charset="0"/>
                <a:ea typeface="楷体_GB2312" pitchFamily="49" charset="-122"/>
                <a:sym typeface="Symbol" panose="05050102010706020507" pitchFamily="18" charset="2"/>
              </a:rPr>
              <a:t>不影响标志位</a:t>
            </a:r>
            <a:endParaRPr lang="zh-CN" altLang="en-US" sz="2000" b="1" dirty="0">
              <a:solidFill>
                <a:srgbClr val="000000"/>
              </a:solidFill>
              <a:latin typeface="Times New Roman" panose="02020603050405020304" pitchFamily="18" charset="0"/>
              <a:ea typeface="楷体_GB2312" pitchFamily="49" charset="-122"/>
              <a:sym typeface="Symbol" panose="05050102010706020507" pitchFamily="18" charset="2"/>
            </a:endParaRPr>
          </a:p>
          <a:p>
            <a:pPr lvl="1" eaLnBrk="0" hangingPunct="0"/>
            <a:r>
              <a:rPr lang="zh-CN" altLang="en-US" sz="2000" b="1"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sz="2000" b="1" dirty="0">
                <a:solidFill>
                  <a:srgbClr val="000000"/>
                </a:solidFill>
                <a:latin typeface="Times New Roman" panose="02020603050405020304" pitchFamily="18" charset="0"/>
                <a:ea typeface="楷体_GB2312" pitchFamily="49" charset="-122"/>
              </a:rPr>
              <a:t>*</a:t>
            </a:r>
            <a:r>
              <a:rPr lang="en-US" altLang="zh-CN" sz="2000" b="1" dirty="0">
                <a:solidFill>
                  <a:srgbClr val="000000"/>
                </a:solidFill>
                <a:latin typeface="Times New Roman" panose="02020603050405020304" pitchFamily="18" charset="0"/>
                <a:ea typeface="楷体_GB2312" pitchFamily="49" charset="-122"/>
                <a:sym typeface="Symbol" panose="05050102010706020507" pitchFamily="18" charset="2"/>
              </a:rPr>
              <a:t>  POP</a:t>
            </a:r>
            <a:r>
              <a:rPr lang="zh-CN" altLang="en-US" sz="2000" b="1" dirty="0">
                <a:solidFill>
                  <a:srgbClr val="000000"/>
                </a:solidFill>
                <a:latin typeface="Times New Roman" panose="02020603050405020304" pitchFamily="18" charset="0"/>
                <a:ea typeface="楷体_GB2312" pitchFamily="49" charset="-122"/>
                <a:sym typeface="Symbol" panose="05050102010706020507" pitchFamily="18" charset="2"/>
              </a:rPr>
              <a:t>不能用立即寻址方式</a:t>
            </a:r>
            <a:r>
              <a:rPr lang="zh-CN" altLang="zh-CN" sz="2000" b="1" dirty="0">
                <a:solidFill>
                  <a:srgbClr val="000000"/>
                </a:solidFill>
                <a:latin typeface="Times New Roman" panose="02020603050405020304" pitchFamily="18" charset="0"/>
                <a:ea typeface="楷体_GB2312" pitchFamily="49" charset="-122"/>
                <a:sym typeface="Symbol" panose="05050102010706020507" pitchFamily="18" charset="2"/>
              </a:rPr>
              <a:t>          P</a:t>
            </a:r>
            <a:r>
              <a:rPr lang="en-US" altLang="zh-CN" sz="2000" b="1" dirty="0">
                <a:solidFill>
                  <a:srgbClr val="000000"/>
                </a:solidFill>
                <a:latin typeface="Times New Roman" panose="02020603050405020304" pitchFamily="18" charset="0"/>
                <a:ea typeface="楷体_GB2312" pitchFamily="49" charset="-122"/>
                <a:sym typeface="Symbol" panose="05050102010706020507" pitchFamily="18" charset="2"/>
              </a:rPr>
              <a:t>OP</a:t>
            </a:r>
            <a:r>
              <a:rPr lang="zh-CN" altLang="zh-CN" sz="2000" b="1" dirty="0">
                <a:solidFill>
                  <a:srgbClr val="000000"/>
                </a:solidFill>
                <a:latin typeface="Times New Roman" panose="02020603050405020304" pitchFamily="18" charset="0"/>
                <a:ea typeface="楷体_GB2312" pitchFamily="49" charset="-122"/>
                <a:sym typeface="Symbol" panose="05050102010706020507" pitchFamily="18" charset="2"/>
              </a:rPr>
              <a:t>  1234H  </a:t>
            </a:r>
            <a:r>
              <a:rPr lang="zh-CN" altLang="en-US" sz="2000" dirty="0">
                <a:solidFill>
                  <a:srgbClr val="FF0000"/>
                </a:solidFill>
                <a:ea typeface="楷体_GB2312" pitchFamily="49" charset="-122"/>
                <a:sym typeface="Symbol" panose="05050102010706020507" pitchFamily="18" charset="2"/>
              </a:rPr>
              <a:t>（</a:t>
            </a:r>
            <a:r>
              <a:rPr lang="zh-CN" altLang="zh-CN" sz="2000" dirty="0">
                <a:solidFill>
                  <a:srgbClr val="FF0000"/>
                </a:solidFill>
                <a:ea typeface="楷体_GB2312" pitchFamily="49" charset="-122"/>
                <a:sym typeface="Symbol" panose="05050102010706020507" pitchFamily="18" charset="2"/>
              </a:rPr>
              <a:t>  </a:t>
            </a:r>
            <a:r>
              <a:rPr lang="zh-CN" altLang="en-US" sz="2000" dirty="0">
                <a:solidFill>
                  <a:srgbClr val="FF0000"/>
                </a:solidFill>
                <a:ea typeface="楷体_GB2312" pitchFamily="49" charset="-122"/>
                <a:sym typeface="Symbol" panose="05050102010706020507" pitchFamily="18" charset="2"/>
              </a:rPr>
              <a:t>）</a:t>
            </a:r>
            <a:endParaRPr lang="zh-CN" altLang="en-US" sz="2000" b="1" dirty="0">
              <a:solidFill>
                <a:srgbClr val="000000"/>
              </a:solidFill>
              <a:latin typeface="Times New Roman" panose="02020603050405020304" pitchFamily="18" charset="0"/>
              <a:ea typeface="楷体_GB2312" pitchFamily="49" charset="-122"/>
              <a:sym typeface="Symbol" panose="05050102010706020507" pitchFamily="18" charset="2"/>
            </a:endParaRPr>
          </a:p>
          <a:p>
            <a:pPr lvl="1" eaLnBrk="0" hangingPunct="0"/>
            <a:r>
              <a:rPr lang="zh-CN" altLang="en-US" sz="2000" b="1"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sz="2000" b="1" dirty="0">
                <a:solidFill>
                  <a:srgbClr val="000000"/>
                </a:solidFill>
                <a:latin typeface="Times New Roman" panose="02020603050405020304" pitchFamily="18" charset="0"/>
                <a:ea typeface="楷体_GB2312" pitchFamily="49" charset="-122"/>
              </a:rPr>
              <a:t>*</a:t>
            </a:r>
            <a:r>
              <a:rPr lang="zh-CN" altLang="zh-CN" sz="2000" b="1"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sz="2000" b="1" dirty="0">
                <a:solidFill>
                  <a:srgbClr val="000000"/>
                </a:solidFill>
                <a:latin typeface="Times New Roman" panose="02020603050405020304" pitchFamily="18" charset="0"/>
                <a:ea typeface="楷体_GB2312" pitchFamily="49" charset="-122"/>
                <a:sym typeface="Symbol" panose="05050102010706020507" pitchFamily="18" charset="2"/>
              </a:rPr>
              <a:t>POP</a:t>
            </a:r>
            <a:r>
              <a:rPr lang="zh-CN" altLang="en-US" sz="2000" b="1" dirty="0">
                <a:solidFill>
                  <a:srgbClr val="000000"/>
                </a:solidFill>
                <a:latin typeface="Times New Roman" panose="02020603050405020304" pitchFamily="18" charset="0"/>
                <a:ea typeface="楷体_GB2312" pitchFamily="49" charset="-122"/>
                <a:sym typeface="Symbol" panose="05050102010706020507" pitchFamily="18" charset="2"/>
              </a:rPr>
              <a:t>指令</a:t>
            </a:r>
            <a:r>
              <a:rPr lang="zh-CN" altLang="zh-CN" sz="2000" b="1" dirty="0">
                <a:solidFill>
                  <a:srgbClr val="000000"/>
                </a:solidFill>
                <a:latin typeface="Times New Roman" panose="02020603050405020304" pitchFamily="18" charset="0"/>
                <a:ea typeface="楷体_GB2312" pitchFamily="49" charset="-122"/>
                <a:sym typeface="Symbol" panose="05050102010706020507" pitchFamily="18" charset="2"/>
              </a:rPr>
              <a:t>DST不能是</a:t>
            </a:r>
            <a:r>
              <a:rPr lang="en-US" altLang="zh-CN" sz="2000" b="1" dirty="0">
                <a:solidFill>
                  <a:srgbClr val="000000"/>
                </a:solidFill>
                <a:latin typeface="Times New Roman" panose="02020603050405020304" pitchFamily="18" charset="0"/>
                <a:ea typeface="楷体_GB2312" pitchFamily="49" charset="-122"/>
                <a:sym typeface="Symbol" panose="05050102010706020507" pitchFamily="18" charset="2"/>
              </a:rPr>
              <a:t>CS</a:t>
            </a:r>
            <a:r>
              <a:rPr lang="en-US" altLang="zh-CN" sz="2000" b="1" dirty="0">
                <a:solidFill>
                  <a:srgbClr val="000000"/>
                </a:solidFill>
                <a:latin typeface="Times New Roman" panose="02020603050405020304" pitchFamily="18" charset="0"/>
                <a:ea typeface="楷体_GB2312" pitchFamily="49" charset="-122"/>
              </a:rPr>
              <a:t>             POP     CS      </a:t>
            </a:r>
            <a:r>
              <a:rPr lang="zh-CN" altLang="en-US" sz="2000" dirty="0">
                <a:solidFill>
                  <a:srgbClr val="FF0000"/>
                </a:solidFill>
                <a:ea typeface="楷体_GB2312" pitchFamily="49" charset="-122"/>
                <a:sym typeface="Symbol" panose="05050102010706020507" pitchFamily="18" charset="2"/>
              </a:rPr>
              <a:t>（</a:t>
            </a:r>
            <a:r>
              <a:rPr lang="zh-CN" altLang="zh-CN" sz="2000" dirty="0">
                <a:solidFill>
                  <a:srgbClr val="FF0000"/>
                </a:solidFill>
                <a:ea typeface="楷体_GB2312" pitchFamily="49" charset="-122"/>
                <a:sym typeface="Symbol" panose="05050102010706020507" pitchFamily="18" charset="2"/>
              </a:rPr>
              <a:t>  </a:t>
            </a:r>
            <a:r>
              <a:rPr lang="zh-CN" altLang="en-US" sz="2000" dirty="0">
                <a:solidFill>
                  <a:srgbClr val="FF0000"/>
                </a:solidFill>
                <a:ea typeface="楷体_GB2312" pitchFamily="49" charset="-122"/>
                <a:sym typeface="Symbol" panose="05050102010706020507" pitchFamily="18" charset="2"/>
              </a:rPr>
              <a:t>）</a:t>
            </a:r>
            <a:endParaRPr lang="en-US" altLang="zh-CN" sz="2000" b="1" dirty="0">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grpSp>
        <p:nvGrpSpPr>
          <p:cNvPr id="13" name="组合 12"/>
          <p:cNvGrpSpPr/>
          <p:nvPr/>
        </p:nvGrpSpPr>
        <p:grpSpPr>
          <a:xfrm>
            <a:off x="5688848" y="988301"/>
            <a:ext cx="3347648" cy="2584182"/>
            <a:chOff x="5688848" y="988301"/>
            <a:chExt cx="3347648" cy="2584182"/>
          </a:xfrm>
        </p:grpSpPr>
        <p:sp>
          <p:nvSpPr>
            <p:cNvPr id="4" name="文本框 32780"/>
            <p:cNvSpPr txBox="1"/>
            <p:nvPr/>
          </p:nvSpPr>
          <p:spPr>
            <a:xfrm>
              <a:off x="5697252" y="1879997"/>
              <a:ext cx="1295400" cy="396875"/>
            </a:xfrm>
            <a:prstGeom prst="rect">
              <a:avLst/>
            </a:prstGeom>
            <a:noFill/>
            <a:ln w="9525">
              <a:noFill/>
            </a:ln>
          </p:spPr>
          <p:txBody>
            <a:bodyPr>
              <a:spAutoFit/>
            </a:bodyPr>
            <a:lstStyle/>
            <a:p>
              <a:pPr>
                <a:spcBef>
                  <a:spcPct val="50000"/>
                </a:spcBef>
              </a:pPr>
              <a:r>
                <a:rPr lang="en-US" altLang="zh-CN" sz="2000" b="1" dirty="0">
                  <a:solidFill>
                    <a:srgbClr val="000000"/>
                  </a:solidFill>
                  <a:latin typeface="Times New Roman" panose="02020603050405020304" pitchFamily="18" charset="0"/>
                </a:rPr>
                <a:t>(SP)</a:t>
              </a:r>
              <a:r>
                <a:rPr lang="en-US" altLang="zh-CN" sz="2000" b="1" dirty="0">
                  <a:solidFill>
                    <a:srgbClr val="000000"/>
                  </a:solidFill>
                  <a:latin typeface="Times New Roman" panose="02020603050405020304" pitchFamily="18" charset="0"/>
                  <a:sym typeface="Symbol" panose="05050102010706020507" pitchFamily="18" charset="2"/>
                </a:rPr>
                <a:t></a:t>
              </a:r>
              <a:endParaRPr lang="en-US" altLang="zh-CN" b="1" dirty="0">
                <a:solidFill>
                  <a:srgbClr val="000000"/>
                </a:solidFill>
                <a:latin typeface="Times New Roman" panose="02020603050405020304" pitchFamily="18" charset="0"/>
              </a:endParaRPr>
            </a:p>
          </p:txBody>
        </p:sp>
        <p:sp>
          <p:nvSpPr>
            <p:cNvPr id="5" name="直接连接符 4"/>
            <p:cNvSpPr/>
            <p:nvPr/>
          </p:nvSpPr>
          <p:spPr>
            <a:xfrm>
              <a:off x="7875314" y="1304764"/>
              <a:ext cx="6350" cy="2162944"/>
            </a:xfrm>
            <a:prstGeom prst="line">
              <a:avLst/>
            </a:prstGeom>
            <a:ln w="12700" cap="sq" cmpd="sng">
              <a:solidFill>
                <a:schemeClr val="bg2"/>
              </a:solidFill>
              <a:prstDash val="solid"/>
              <a:headEnd type="none" w="sm" len="sm"/>
              <a:tailEnd type="none" w="sm" len="sm"/>
            </a:ln>
          </p:spPr>
        </p:sp>
        <p:sp>
          <p:nvSpPr>
            <p:cNvPr id="6" name="直接连接符 5"/>
            <p:cNvSpPr/>
            <p:nvPr/>
          </p:nvSpPr>
          <p:spPr>
            <a:xfrm>
              <a:off x="6510064" y="3467708"/>
              <a:ext cx="1365250" cy="0"/>
            </a:xfrm>
            <a:prstGeom prst="line">
              <a:avLst/>
            </a:prstGeom>
            <a:ln w="12700" cap="sq" cmpd="sng">
              <a:solidFill>
                <a:schemeClr val="bg2"/>
              </a:solidFill>
              <a:prstDash val="solid"/>
              <a:headEnd type="none" w="sm" len="sm"/>
              <a:tailEnd type="none" w="sm" len="sm"/>
            </a:ln>
          </p:spPr>
        </p:sp>
        <p:sp>
          <p:nvSpPr>
            <p:cNvPr id="7" name="直接连接符 6"/>
            <p:cNvSpPr/>
            <p:nvPr/>
          </p:nvSpPr>
          <p:spPr>
            <a:xfrm>
              <a:off x="6516414" y="3086708"/>
              <a:ext cx="1365250" cy="0"/>
            </a:xfrm>
            <a:prstGeom prst="line">
              <a:avLst/>
            </a:prstGeom>
            <a:ln w="12700" cap="sq" cmpd="sng">
              <a:solidFill>
                <a:schemeClr val="bg2"/>
              </a:solidFill>
              <a:prstDash val="solid"/>
              <a:headEnd type="none" w="sm" len="sm"/>
              <a:tailEnd type="none" w="sm" len="sm"/>
            </a:ln>
          </p:spPr>
        </p:sp>
        <p:sp>
          <p:nvSpPr>
            <p:cNvPr id="8" name="直接连接符 7"/>
            <p:cNvSpPr/>
            <p:nvPr/>
          </p:nvSpPr>
          <p:spPr>
            <a:xfrm>
              <a:off x="6516414" y="2705708"/>
              <a:ext cx="1365250" cy="0"/>
            </a:xfrm>
            <a:prstGeom prst="line">
              <a:avLst/>
            </a:prstGeom>
            <a:ln w="12700" cap="sq" cmpd="sng">
              <a:solidFill>
                <a:schemeClr val="bg2"/>
              </a:solidFill>
              <a:prstDash val="solid"/>
              <a:headEnd type="none" w="sm" len="sm"/>
              <a:tailEnd type="none" w="sm" len="sm"/>
            </a:ln>
          </p:spPr>
        </p:sp>
        <p:sp>
          <p:nvSpPr>
            <p:cNvPr id="9" name="直接连接符 8"/>
            <p:cNvSpPr/>
            <p:nvPr/>
          </p:nvSpPr>
          <p:spPr>
            <a:xfrm>
              <a:off x="6516414" y="2324708"/>
              <a:ext cx="1365250" cy="0"/>
            </a:xfrm>
            <a:prstGeom prst="line">
              <a:avLst/>
            </a:prstGeom>
            <a:ln w="12700" cap="sq" cmpd="sng">
              <a:solidFill>
                <a:schemeClr val="bg2"/>
              </a:solidFill>
              <a:prstDash val="solid"/>
              <a:headEnd type="none" w="sm" len="sm"/>
              <a:tailEnd type="none" w="sm" len="sm"/>
            </a:ln>
          </p:spPr>
        </p:sp>
        <p:sp>
          <p:nvSpPr>
            <p:cNvPr id="10" name="直接连接符 9"/>
            <p:cNvSpPr/>
            <p:nvPr/>
          </p:nvSpPr>
          <p:spPr>
            <a:xfrm>
              <a:off x="6516414" y="1943708"/>
              <a:ext cx="1365250" cy="0"/>
            </a:xfrm>
            <a:prstGeom prst="line">
              <a:avLst/>
            </a:prstGeom>
            <a:ln w="12700" cap="sq" cmpd="sng">
              <a:solidFill>
                <a:schemeClr val="bg2"/>
              </a:solidFill>
              <a:prstDash val="solid"/>
              <a:headEnd type="none" w="sm" len="sm"/>
              <a:tailEnd type="none" w="sm" len="sm"/>
            </a:ln>
          </p:spPr>
        </p:sp>
        <p:sp>
          <p:nvSpPr>
            <p:cNvPr id="11" name="文本框 32787"/>
            <p:cNvSpPr txBox="1"/>
            <p:nvPr/>
          </p:nvSpPr>
          <p:spPr>
            <a:xfrm>
              <a:off x="6875189" y="2019908"/>
              <a:ext cx="647700" cy="1552575"/>
            </a:xfrm>
            <a:prstGeom prst="rect">
              <a:avLst/>
            </a:prstGeom>
            <a:noFill/>
            <a:ln w="12700">
              <a:noFill/>
            </a:ln>
          </p:spPr>
          <p:txBody>
            <a:bodyPr>
              <a:spAutoFit/>
            </a:bodyPr>
            <a:lstStyle/>
            <a:p>
              <a:r>
                <a:rPr lang="en-US" altLang="zh-CN" dirty="0">
                  <a:solidFill>
                    <a:srgbClr val="000000"/>
                  </a:solidFill>
                  <a:latin typeface="Times New Roman" panose="02020603050405020304" pitchFamily="18" charset="0"/>
                </a:rPr>
                <a:t>*  *</a:t>
              </a:r>
              <a:endParaRPr lang="en-US" altLang="zh-CN"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  *</a:t>
              </a:r>
              <a:endParaRPr lang="en-US" altLang="zh-CN"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  *</a:t>
              </a:r>
              <a:endParaRPr lang="en-US" altLang="zh-CN"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  *</a:t>
              </a:r>
              <a:endParaRPr lang="en-US" altLang="zh-CN">
                <a:solidFill>
                  <a:srgbClr val="000000"/>
                </a:solidFill>
                <a:latin typeface="Times New Roman" panose="02020603050405020304" pitchFamily="18" charset="0"/>
              </a:endParaRPr>
            </a:p>
          </p:txBody>
        </p:sp>
        <p:sp>
          <p:nvSpPr>
            <p:cNvPr id="12" name="直接连接符 11"/>
            <p:cNvSpPr/>
            <p:nvPr/>
          </p:nvSpPr>
          <p:spPr>
            <a:xfrm>
              <a:off x="6516414" y="1304764"/>
              <a:ext cx="0" cy="2162944"/>
            </a:xfrm>
            <a:prstGeom prst="line">
              <a:avLst/>
            </a:prstGeom>
            <a:ln w="12700" cap="sq" cmpd="sng">
              <a:solidFill>
                <a:schemeClr val="bg2"/>
              </a:solidFill>
              <a:prstDash val="solid"/>
              <a:headEnd type="none" w="sm" len="sm"/>
              <a:tailEnd type="none" w="sm" len="sm"/>
            </a:ln>
          </p:spPr>
        </p:sp>
        <p:sp>
          <p:nvSpPr>
            <p:cNvPr id="15" name="文本框 32791"/>
            <p:cNvSpPr txBox="1"/>
            <p:nvPr/>
          </p:nvSpPr>
          <p:spPr>
            <a:xfrm>
              <a:off x="7893496" y="1376772"/>
              <a:ext cx="1143000" cy="2092881"/>
            </a:xfrm>
            <a:prstGeom prst="rect">
              <a:avLst/>
            </a:prstGeom>
            <a:noFill/>
            <a:ln w="9525">
              <a:noFill/>
            </a:ln>
          </p:spPr>
          <p:txBody>
            <a:bodyPr>
              <a:spAutoFit/>
            </a:bodyPr>
            <a:lstStyle/>
            <a:p>
              <a:pPr>
                <a:spcBef>
                  <a:spcPct val="50000"/>
                </a:spcBef>
              </a:pPr>
              <a:r>
                <a:rPr lang="zh-CN" altLang="en-US" sz="1600" b="1" dirty="0">
                  <a:solidFill>
                    <a:srgbClr val="000000"/>
                  </a:solidFill>
                  <a:latin typeface="Times New Roman" panose="02020603050405020304" pitchFamily="18" charset="0"/>
                  <a:ea typeface="楷体_GB2312" pitchFamily="49" charset="-122"/>
                </a:rPr>
                <a:t>低地址</a:t>
              </a:r>
              <a:endParaRPr lang="zh-CN" altLang="en-US" sz="1600" b="1" dirty="0">
                <a:solidFill>
                  <a:srgbClr val="000000"/>
                </a:solidFill>
                <a:latin typeface="Times New Roman" panose="02020603050405020304" pitchFamily="18" charset="0"/>
                <a:ea typeface="楷体_GB2312" pitchFamily="49" charset="-122"/>
              </a:endParaRPr>
            </a:p>
            <a:p>
              <a:pPr>
                <a:spcBef>
                  <a:spcPct val="50000"/>
                </a:spcBef>
              </a:pPr>
              <a:endParaRPr lang="zh-CN" altLang="en-US" sz="2000" b="1" dirty="0">
                <a:solidFill>
                  <a:srgbClr val="000000"/>
                </a:solidFill>
                <a:latin typeface="Times New Roman" panose="02020603050405020304" pitchFamily="18" charset="0"/>
                <a:ea typeface="楷体_GB2312" pitchFamily="49" charset="-122"/>
              </a:endParaRPr>
            </a:p>
            <a:p>
              <a:pPr>
                <a:spcBef>
                  <a:spcPct val="50000"/>
                </a:spcBef>
              </a:pPr>
              <a:endParaRPr lang="zh-CN" altLang="en-US" sz="2000" b="1" dirty="0">
                <a:solidFill>
                  <a:srgbClr val="000000"/>
                </a:solidFill>
                <a:latin typeface="Times New Roman" panose="02020603050405020304" pitchFamily="18" charset="0"/>
                <a:ea typeface="楷体_GB2312" pitchFamily="49" charset="-122"/>
              </a:endParaRPr>
            </a:p>
            <a:p>
              <a:pPr>
                <a:spcBef>
                  <a:spcPct val="50000"/>
                </a:spcBef>
              </a:pPr>
              <a:r>
                <a:rPr lang="zh-CN" altLang="en-US" sz="2000" b="1" dirty="0">
                  <a:solidFill>
                    <a:srgbClr val="000000"/>
                  </a:solidFill>
                  <a:latin typeface="Times New Roman" panose="02020603050405020304" pitchFamily="18" charset="0"/>
                  <a:ea typeface="楷体_GB2312" pitchFamily="49" charset="-122"/>
                </a:rPr>
                <a:t>  </a:t>
              </a:r>
              <a:endParaRPr lang="zh-CN" altLang="en-US" sz="2000" b="1" dirty="0">
                <a:solidFill>
                  <a:srgbClr val="000000"/>
                </a:solidFill>
                <a:latin typeface="Times New Roman" panose="02020603050405020304" pitchFamily="18" charset="0"/>
                <a:ea typeface="楷体_GB2312" pitchFamily="49" charset="-122"/>
              </a:endParaRPr>
            </a:p>
            <a:p>
              <a:pPr>
                <a:spcBef>
                  <a:spcPct val="50000"/>
                </a:spcBef>
              </a:pPr>
              <a:r>
                <a:rPr lang="zh-CN" altLang="en-US" sz="1600" b="1" dirty="0">
                  <a:solidFill>
                    <a:srgbClr val="000000"/>
                  </a:solidFill>
                  <a:latin typeface="Times New Roman" panose="02020603050405020304" pitchFamily="18" charset="0"/>
                  <a:ea typeface="楷体_GB2312" pitchFamily="49" charset="-122"/>
                </a:rPr>
                <a:t>高地址</a:t>
              </a:r>
              <a:endParaRPr lang="zh-CN" altLang="en-US" sz="1600" b="1" dirty="0">
                <a:solidFill>
                  <a:srgbClr val="000000"/>
                </a:solidFill>
                <a:latin typeface="Times New Roman" panose="02020603050405020304" pitchFamily="18" charset="0"/>
                <a:ea typeface="楷体_GB2312" pitchFamily="49" charset="-122"/>
              </a:endParaRPr>
            </a:p>
          </p:txBody>
        </p:sp>
        <p:grpSp>
          <p:nvGrpSpPr>
            <p:cNvPr id="17" name="组合 16"/>
            <p:cNvGrpSpPr/>
            <p:nvPr/>
          </p:nvGrpSpPr>
          <p:grpSpPr>
            <a:xfrm>
              <a:off x="8028384" y="2014736"/>
              <a:ext cx="602940" cy="838200"/>
              <a:chOff x="4416" y="2352"/>
              <a:chExt cx="816" cy="528"/>
            </a:xfrm>
          </p:grpSpPr>
          <p:sp>
            <p:nvSpPr>
              <p:cNvPr id="18" name="文本框 32795"/>
              <p:cNvSpPr txBox="1"/>
              <p:nvPr/>
            </p:nvSpPr>
            <p:spPr>
              <a:xfrm>
                <a:off x="4416" y="2449"/>
                <a:ext cx="816" cy="213"/>
              </a:xfrm>
              <a:prstGeom prst="rect">
                <a:avLst/>
              </a:prstGeom>
              <a:noFill/>
              <a:ln w="9525">
                <a:noFill/>
              </a:ln>
            </p:spPr>
            <p:txBody>
              <a:bodyPr>
                <a:spAutoFit/>
              </a:bodyPr>
              <a:lstStyle/>
              <a:p>
                <a:pPr>
                  <a:spcBef>
                    <a:spcPct val="50000"/>
                  </a:spcBef>
                </a:pPr>
                <a:r>
                  <a:rPr lang="zh-CN" altLang="en-US" sz="1600" b="1" dirty="0">
                    <a:solidFill>
                      <a:srgbClr val="000000"/>
                    </a:solidFill>
                    <a:latin typeface="Times New Roman" panose="02020603050405020304" pitchFamily="18" charset="0"/>
                  </a:rPr>
                  <a:t>进栈方向</a:t>
                </a:r>
                <a:endParaRPr lang="zh-CN" altLang="en-US" sz="1600" b="1" dirty="0">
                  <a:solidFill>
                    <a:srgbClr val="000000"/>
                  </a:solidFill>
                  <a:latin typeface="Times New Roman" panose="02020603050405020304" pitchFamily="18" charset="0"/>
                </a:endParaRPr>
              </a:p>
            </p:txBody>
          </p:sp>
          <p:sp>
            <p:nvSpPr>
              <p:cNvPr id="19" name="直接连接符 18"/>
              <p:cNvSpPr/>
              <p:nvPr/>
            </p:nvSpPr>
            <p:spPr>
              <a:xfrm flipV="1">
                <a:off x="4416" y="2352"/>
                <a:ext cx="0" cy="528"/>
              </a:xfrm>
              <a:prstGeom prst="line">
                <a:avLst/>
              </a:prstGeom>
              <a:ln w="19050" cap="flat" cmpd="sng">
                <a:solidFill>
                  <a:schemeClr val="tx2"/>
                </a:solidFill>
                <a:prstDash val="solid"/>
                <a:headEnd type="none" w="med" len="med"/>
                <a:tailEnd type="triangle" w="lg" len="lg"/>
              </a:ln>
            </p:spPr>
          </p:sp>
        </p:grpSp>
        <p:sp>
          <p:nvSpPr>
            <p:cNvPr id="20" name="文本框 32780"/>
            <p:cNvSpPr txBox="1"/>
            <p:nvPr/>
          </p:nvSpPr>
          <p:spPr>
            <a:xfrm>
              <a:off x="5688848" y="988301"/>
              <a:ext cx="1295400" cy="396875"/>
            </a:xfrm>
            <a:prstGeom prst="rect">
              <a:avLst/>
            </a:prstGeom>
            <a:noFill/>
            <a:ln w="9525">
              <a:noFill/>
            </a:ln>
          </p:spPr>
          <p:txBody>
            <a:bodyPr>
              <a:spAutoFit/>
            </a:bodyPr>
            <a:lstStyle/>
            <a:p>
              <a:pPr>
                <a:spcBef>
                  <a:spcPct val="50000"/>
                </a:spcBef>
              </a:pPr>
              <a:r>
                <a:rPr lang="en-US" altLang="zh-CN" sz="2000" b="1" dirty="0">
                  <a:solidFill>
                    <a:srgbClr val="000000"/>
                  </a:solidFill>
                  <a:latin typeface="Times New Roman" panose="02020603050405020304" pitchFamily="18" charset="0"/>
                </a:rPr>
                <a:t>(SS)</a:t>
              </a:r>
              <a:r>
                <a:rPr lang="en-US" altLang="zh-CN" sz="2000" b="1" dirty="0">
                  <a:solidFill>
                    <a:srgbClr val="000000"/>
                  </a:solidFill>
                  <a:latin typeface="Times New Roman" panose="02020603050405020304" pitchFamily="18" charset="0"/>
                  <a:sym typeface="Symbol" panose="05050102010706020507" pitchFamily="18" charset="2"/>
                </a:rPr>
                <a:t></a:t>
              </a:r>
              <a:endParaRPr lang="en-US" altLang="zh-CN" b="1" dirty="0">
                <a:solidFill>
                  <a:srgbClr val="000000"/>
                </a:solidFill>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6">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746">
                                            <p:txEl>
                                              <p:pRg st="12" end="1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746">
                                            <p:txEl>
                                              <p:pRg st="13" end="1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746">
                                            <p:txEl>
                                              <p:pRg st="14" end="1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746">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文本框 31745"/>
          <p:cNvSpPr txBox="1"/>
          <p:nvPr/>
        </p:nvSpPr>
        <p:spPr>
          <a:xfrm>
            <a:off x="632140" y="1028988"/>
            <a:ext cx="3363796" cy="2585323"/>
          </a:xfrm>
          <a:prstGeom prst="rect">
            <a:avLst/>
          </a:prstGeom>
          <a:noFill/>
          <a:ln w="9525">
            <a:noFill/>
          </a:ln>
        </p:spPr>
        <p:txBody>
          <a:bodyPr wrap="square">
            <a:spAutoFit/>
          </a:bodyPr>
          <a:lstStyle/>
          <a:p>
            <a:pPr algn="just" eaLnBrk="0" hangingPunct="0"/>
            <a:r>
              <a:rPr lang="en-US" altLang="zh-CN" sz="2200" b="1" dirty="0">
                <a:solidFill>
                  <a:srgbClr val="000000"/>
                </a:solidFill>
                <a:latin typeface="Times New Roman" panose="02020603050405020304" pitchFamily="18" charset="0"/>
              </a:rPr>
              <a:t>PUSH</a:t>
            </a:r>
            <a:r>
              <a:rPr lang="zh-CN" altLang="en-US" sz="2200" b="1" dirty="0">
                <a:solidFill>
                  <a:srgbClr val="000000"/>
                </a:solidFill>
                <a:latin typeface="Times New Roman" panose="02020603050405020304" pitchFamily="18" charset="0"/>
              </a:rPr>
              <a:t>指令的三种格式：</a:t>
            </a:r>
            <a:endParaRPr lang="en-US" altLang="zh-CN" sz="2200" b="1" dirty="0">
              <a:solidFill>
                <a:srgbClr val="000000"/>
              </a:solidFill>
              <a:latin typeface="Times New Roman" panose="02020603050405020304" pitchFamily="18" charset="0"/>
            </a:endParaRPr>
          </a:p>
          <a:p>
            <a:pPr algn="just" eaLnBrk="0" hangingPunct="0"/>
            <a:endParaRPr lang="en-US" altLang="zh-CN" sz="2000" b="1" dirty="0">
              <a:solidFill>
                <a:srgbClr val="000000"/>
              </a:solidFill>
              <a:latin typeface="Times New Roman" panose="02020603050405020304" pitchFamily="18" charset="0"/>
              <a:ea typeface="楷体_GB2312" pitchFamily="49" charset="-122"/>
              <a:sym typeface="Symbol" panose="05050102010706020507" pitchFamily="18" charset="2"/>
            </a:endParaRPr>
          </a:p>
          <a:p>
            <a:pPr algn="just" eaLnBrk="0" hangingPunct="0"/>
            <a:r>
              <a:rPr lang="en-US" altLang="zh-CN" sz="2000" dirty="0">
                <a:solidFill>
                  <a:srgbClr val="000000"/>
                </a:solidFill>
                <a:ea typeface="楷体_GB2312" pitchFamily="49" charset="-122"/>
                <a:sym typeface="Symbol" panose="05050102010706020507" pitchFamily="18" charset="2"/>
              </a:rPr>
              <a:t>PUSH	reg</a:t>
            </a:r>
            <a:r>
              <a:rPr lang="zh-CN" altLang="en-US" sz="2000" dirty="0">
                <a:solidFill>
                  <a:srgbClr val="000000"/>
                </a:solidFill>
                <a:ea typeface="楷体_GB2312" pitchFamily="49" charset="-122"/>
                <a:sym typeface="Symbol" panose="05050102010706020507" pitchFamily="18" charset="2"/>
              </a:rPr>
              <a:t>（寄存器）</a:t>
            </a:r>
            <a:endParaRPr lang="en-US" altLang="zh-CN" sz="2000" dirty="0">
              <a:solidFill>
                <a:srgbClr val="000000"/>
              </a:solidFill>
              <a:ea typeface="楷体_GB2312" pitchFamily="49" charset="-122"/>
              <a:sym typeface="Symbol" panose="05050102010706020507" pitchFamily="18" charset="2"/>
            </a:endParaRPr>
          </a:p>
          <a:p>
            <a:pPr algn="just" eaLnBrk="0" hangingPunct="0"/>
            <a:endParaRPr lang="en-US" altLang="zh-CN" sz="2000" b="1" dirty="0">
              <a:solidFill>
                <a:srgbClr val="000000"/>
              </a:solidFill>
              <a:latin typeface="Times New Roman" panose="02020603050405020304" pitchFamily="18" charset="0"/>
              <a:ea typeface="楷体_GB2312" pitchFamily="49" charset="-122"/>
              <a:sym typeface="Symbol" panose="05050102010706020507" pitchFamily="18" charset="2"/>
            </a:endParaRPr>
          </a:p>
          <a:p>
            <a:pPr algn="just" eaLnBrk="0" hangingPunct="0"/>
            <a:r>
              <a:rPr lang="en-US" altLang="zh-CN" sz="2000" dirty="0">
                <a:solidFill>
                  <a:srgbClr val="000000"/>
                </a:solidFill>
                <a:ea typeface="楷体_GB2312" pitchFamily="49" charset="-122"/>
                <a:sym typeface="Symbol" panose="05050102010706020507" pitchFamily="18" charset="2"/>
              </a:rPr>
              <a:t>PUSH	mem</a:t>
            </a:r>
            <a:r>
              <a:rPr lang="zh-CN" altLang="en-US" sz="2000" dirty="0">
                <a:solidFill>
                  <a:srgbClr val="000000"/>
                </a:solidFill>
                <a:ea typeface="楷体_GB2312" pitchFamily="49" charset="-122"/>
                <a:sym typeface="Symbol" panose="05050102010706020507" pitchFamily="18" charset="2"/>
              </a:rPr>
              <a:t>（存储器）</a:t>
            </a:r>
            <a:endParaRPr lang="en-US" altLang="zh-CN" sz="2000" dirty="0">
              <a:solidFill>
                <a:srgbClr val="000000"/>
              </a:solidFill>
              <a:ea typeface="楷体_GB2312" pitchFamily="49" charset="-122"/>
              <a:sym typeface="Symbol" panose="05050102010706020507" pitchFamily="18" charset="2"/>
            </a:endParaRPr>
          </a:p>
          <a:p>
            <a:pPr algn="just" eaLnBrk="0" hangingPunct="0"/>
            <a:endParaRPr lang="en-US" altLang="zh-CN" sz="2000" b="1" dirty="0">
              <a:solidFill>
                <a:srgbClr val="000000"/>
              </a:solidFill>
              <a:latin typeface="Times New Roman" panose="02020603050405020304" pitchFamily="18" charset="0"/>
              <a:ea typeface="楷体_GB2312" pitchFamily="49" charset="-122"/>
              <a:sym typeface="Symbol" panose="05050102010706020507" pitchFamily="18" charset="2"/>
            </a:endParaRPr>
          </a:p>
          <a:p>
            <a:pPr algn="just" eaLnBrk="0" hangingPunct="0"/>
            <a:r>
              <a:rPr lang="en-US" altLang="zh-CN" sz="2000" dirty="0">
                <a:solidFill>
                  <a:srgbClr val="000000"/>
                </a:solidFill>
                <a:ea typeface="楷体_GB2312" pitchFamily="49" charset="-122"/>
                <a:sym typeface="Symbol" panose="05050102010706020507" pitchFamily="18" charset="2"/>
              </a:rPr>
              <a:t>PUSH	</a:t>
            </a:r>
            <a:r>
              <a:rPr lang="en-US" altLang="zh-CN" sz="2000" dirty="0" err="1">
                <a:solidFill>
                  <a:srgbClr val="000000"/>
                </a:solidFill>
                <a:ea typeface="楷体_GB2312" pitchFamily="49" charset="-122"/>
                <a:sym typeface="Symbol" panose="05050102010706020507" pitchFamily="18" charset="2"/>
              </a:rPr>
              <a:t>segreg</a:t>
            </a:r>
            <a:r>
              <a:rPr lang="zh-CN" altLang="en-US" sz="2000" dirty="0">
                <a:solidFill>
                  <a:srgbClr val="000000"/>
                </a:solidFill>
                <a:ea typeface="楷体_GB2312" pitchFamily="49" charset="-122"/>
                <a:sym typeface="Symbol" panose="05050102010706020507" pitchFamily="18" charset="2"/>
              </a:rPr>
              <a:t>（段寄存器）</a:t>
            </a:r>
            <a:endParaRPr lang="en-US" altLang="zh-CN" sz="2000" dirty="0">
              <a:solidFill>
                <a:srgbClr val="000000"/>
              </a:solidFill>
              <a:ea typeface="楷体_GB2312" pitchFamily="49" charset="-122"/>
              <a:sym typeface="Symbol" panose="05050102010706020507" pitchFamily="18" charset="2"/>
            </a:endParaRPr>
          </a:p>
          <a:p>
            <a:pPr algn="just" eaLnBrk="0" hangingPunct="0"/>
            <a:endParaRPr lang="en-US" altLang="zh-CN" sz="2000" b="1" dirty="0">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0" name="文本框 31745"/>
          <p:cNvSpPr txBox="1"/>
          <p:nvPr/>
        </p:nvSpPr>
        <p:spPr>
          <a:xfrm>
            <a:off x="4896036" y="1028988"/>
            <a:ext cx="3363796" cy="2585323"/>
          </a:xfrm>
          <a:prstGeom prst="rect">
            <a:avLst/>
          </a:prstGeom>
          <a:noFill/>
          <a:ln w="9525">
            <a:noFill/>
          </a:ln>
        </p:spPr>
        <p:txBody>
          <a:bodyPr wrap="square">
            <a:spAutoFit/>
          </a:bodyPr>
          <a:lstStyle/>
          <a:p>
            <a:pPr algn="just" eaLnBrk="0" hangingPunct="0"/>
            <a:r>
              <a:rPr lang="en-US" altLang="zh-CN" sz="2200" b="1" dirty="0">
                <a:solidFill>
                  <a:srgbClr val="000000"/>
                </a:solidFill>
                <a:latin typeface="Times New Roman" panose="02020603050405020304" pitchFamily="18" charset="0"/>
              </a:rPr>
              <a:t>POP</a:t>
            </a:r>
            <a:r>
              <a:rPr lang="zh-CN" altLang="en-US" sz="2200" b="1" dirty="0">
                <a:solidFill>
                  <a:srgbClr val="000000"/>
                </a:solidFill>
                <a:latin typeface="Times New Roman" panose="02020603050405020304" pitchFamily="18" charset="0"/>
              </a:rPr>
              <a:t>指令的三种格式：</a:t>
            </a:r>
            <a:endParaRPr lang="en-US" altLang="zh-CN" sz="2200" b="1" dirty="0">
              <a:solidFill>
                <a:srgbClr val="000000"/>
              </a:solidFill>
              <a:latin typeface="Times New Roman" panose="02020603050405020304" pitchFamily="18" charset="0"/>
            </a:endParaRPr>
          </a:p>
          <a:p>
            <a:pPr algn="just" eaLnBrk="0" hangingPunct="0"/>
            <a:endParaRPr lang="en-US" altLang="zh-CN" sz="2000" b="1" dirty="0">
              <a:solidFill>
                <a:srgbClr val="000000"/>
              </a:solidFill>
              <a:latin typeface="Times New Roman" panose="02020603050405020304" pitchFamily="18" charset="0"/>
              <a:ea typeface="楷体_GB2312" pitchFamily="49" charset="-122"/>
              <a:sym typeface="Symbol" panose="05050102010706020507" pitchFamily="18" charset="2"/>
            </a:endParaRPr>
          </a:p>
          <a:p>
            <a:pPr algn="just" eaLnBrk="0" hangingPunct="0"/>
            <a:r>
              <a:rPr lang="en-US" altLang="zh-CN" sz="2000" dirty="0">
                <a:solidFill>
                  <a:srgbClr val="000000"/>
                </a:solidFill>
                <a:ea typeface="楷体_GB2312" pitchFamily="49" charset="-122"/>
                <a:sym typeface="Symbol" panose="05050102010706020507" pitchFamily="18" charset="2"/>
              </a:rPr>
              <a:t>POP	</a:t>
            </a:r>
            <a:r>
              <a:rPr lang="en-US" altLang="zh-CN" sz="2000" dirty="0" err="1">
                <a:solidFill>
                  <a:srgbClr val="000000"/>
                </a:solidFill>
                <a:ea typeface="楷体_GB2312" pitchFamily="49" charset="-122"/>
                <a:sym typeface="Symbol" panose="05050102010706020507" pitchFamily="18" charset="2"/>
              </a:rPr>
              <a:t>reg</a:t>
            </a:r>
            <a:endParaRPr lang="en-US" altLang="zh-CN" sz="2000" dirty="0">
              <a:solidFill>
                <a:srgbClr val="000000"/>
              </a:solidFill>
              <a:ea typeface="楷体_GB2312" pitchFamily="49" charset="-122"/>
              <a:sym typeface="Symbol" panose="05050102010706020507" pitchFamily="18" charset="2"/>
            </a:endParaRPr>
          </a:p>
          <a:p>
            <a:pPr algn="just" eaLnBrk="0" hangingPunct="0"/>
            <a:endParaRPr lang="en-US" altLang="zh-CN" sz="2000" b="1" dirty="0">
              <a:solidFill>
                <a:srgbClr val="000000"/>
              </a:solidFill>
              <a:latin typeface="Times New Roman" panose="02020603050405020304" pitchFamily="18" charset="0"/>
              <a:ea typeface="楷体_GB2312" pitchFamily="49" charset="-122"/>
              <a:sym typeface="Symbol" panose="05050102010706020507" pitchFamily="18" charset="2"/>
            </a:endParaRPr>
          </a:p>
          <a:p>
            <a:pPr algn="just" eaLnBrk="0" hangingPunct="0"/>
            <a:r>
              <a:rPr lang="en-US" altLang="zh-CN" sz="2000" dirty="0">
                <a:solidFill>
                  <a:srgbClr val="000000"/>
                </a:solidFill>
                <a:ea typeface="楷体_GB2312" pitchFamily="49" charset="-122"/>
                <a:sym typeface="Symbol" panose="05050102010706020507" pitchFamily="18" charset="2"/>
              </a:rPr>
              <a:t>POP	mem</a:t>
            </a:r>
            <a:endParaRPr lang="en-US" altLang="zh-CN" sz="2000" dirty="0">
              <a:solidFill>
                <a:srgbClr val="000000"/>
              </a:solidFill>
              <a:ea typeface="楷体_GB2312" pitchFamily="49" charset="-122"/>
              <a:sym typeface="Symbol" panose="05050102010706020507" pitchFamily="18" charset="2"/>
            </a:endParaRPr>
          </a:p>
          <a:p>
            <a:pPr algn="just" eaLnBrk="0" hangingPunct="0"/>
            <a:endParaRPr lang="en-US" altLang="zh-CN" sz="2000" b="1" dirty="0">
              <a:solidFill>
                <a:srgbClr val="000000"/>
              </a:solidFill>
              <a:latin typeface="Times New Roman" panose="02020603050405020304" pitchFamily="18" charset="0"/>
              <a:ea typeface="楷体_GB2312" pitchFamily="49" charset="-122"/>
              <a:sym typeface="Symbol" panose="05050102010706020507" pitchFamily="18" charset="2"/>
            </a:endParaRPr>
          </a:p>
          <a:p>
            <a:pPr algn="just" eaLnBrk="0" hangingPunct="0"/>
            <a:r>
              <a:rPr lang="en-US" altLang="zh-CN" sz="2000" dirty="0">
                <a:solidFill>
                  <a:srgbClr val="000000"/>
                </a:solidFill>
                <a:ea typeface="楷体_GB2312" pitchFamily="49" charset="-122"/>
                <a:sym typeface="Symbol" panose="05050102010706020507" pitchFamily="18" charset="2"/>
              </a:rPr>
              <a:t>POP	</a:t>
            </a:r>
            <a:r>
              <a:rPr lang="en-US" altLang="zh-CN" sz="2000" dirty="0" err="1">
                <a:solidFill>
                  <a:srgbClr val="000000"/>
                </a:solidFill>
                <a:ea typeface="楷体_GB2312" pitchFamily="49" charset="-122"/>
                <a:sym typeface="Symbol" panose="05050102010706020507" pitchFamily="18" charset="2"/>
              </a:rPr>
              <a:t>segreg</a:t>
            </a:r>
            <a:r>
              <a:rPr lang="en-US" altLang="zh-CN" sz="2000" dirty="0">
                <a:solidFill>
                  <a:srgbClr val="000000"/>
                </a:solidFill>
                <a:ea typeface="楷体_GB2312" pitchFamily="49" charset="-122"/>
                <a:sym typeface="Symbol" panose="05050102010706020507" pitchFamily="18" charset="2"/>
              </a:rPr>
              <a:t> </a:t>
            </a:r>
            <a:r>
              <a:rPr lang="zh-CN" altLang="en-US" sz="2000" dirty="0">
                <a:solidFill>
                  <a:srgbClr val="000000"/>
                </a:solidFill>
                <a:ea typeface="楷体_GB2312" pitchFamily="49" charset="-122"/>
                <a:sym typeface="Symbol" panose="05050102010706020507" pitchFamily="18" charset="2"/>
              </a:rPr>
              <a:t>（</a:t>
            </a:r>
            <a:r>
              <a:rPr lang="en-US" altLang="zh-CN" sz="2000" dirty="0">
                <a:solidFill>
                  <a:srgbClr val="000000"/>
                </a:solidFill>
                <a:ea typeface="楷体_GB2312" pitchFamily="49" charset="-122"/>
                <a:sym typeface="Symbol" panose="05050102010706020507" pitchFamily="18" charset="2"/>
              </a:rPr>
              <a:t>no CS</a:t>
            </a:r>
            <a:r>
              <a:rPr lang="zh-CN" altLang="en-US" sz="2000" dirty="0">
                <a:solidFill>
                  <a:srgbClr val="000000"/>
                </a:solidFill>
                <a:ea typeface="楷体_GB2312" pitchFamily="49" charset="-122"/>
                <a:sym typeface="Symbol" panose="05050102010706020507" pitchFamily="18" charset="2"/>
              </a:rPr>
              <a:t>）</a:t>
            </a:r>
            <a:endParaRPr lang="en-US" altLang="zh-CN" sz="2000" dirty="0">
              <a:solidFill>
                <a:srgbClr val="000000"/>
              </a:solidFill>
              <a:ea typeface="楷体_GB2312" pitchFamily="49" charset="-122"/>
              <a:sym typeface="Symbol" panose="05050102010706020507" pitchFamily="18" charset="2"/>
            </a:endParaRPr>
          </a:p>
          <a:p>
            <a:pPr algn="just" eaLnBrk="0" hangingPunct="0"/>
            <a:endParaRPr lang="en-US" altLang="zh-CN" sz="2000" b="1" dirty="0">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21" name="文本框 31745"/>
          <p:cNvSpPr txBox="1"/>
          <p:nvPr/>
        </p:nvSpPr>
        <p:spPr>
          <a:xfrm>
            <a:off x="641392" y="4113076"/>
            <a:ext cx="3102516" cy="2246769"/>
          </a:xfrm>
          <a:prstGeom prst="rect">
            <a:avLst/>
          </a:prstGeom>
          <a:noFill/>
          <a:ln w="9525">
            <a:noFill/>
          </a:ln>
        </p:spPr>
        <p:txBody>
          <a:bodyPr wrap="square">
            <a:spAutoFit/>
          </a:bodyPr>
          <a:lstStyle/>
          <a:p>
            <a:pPr algn="just" eaLnBrk="0" hangingPunct="0"/>
            <a:endParaRPr lang="en-US" altLang="zh-CN" sz="2000" b="1" dirty="0">
              <a:solidFill>
                <a:srgbClr val="000000"/>
              </a:solidFill>
              <a:latin typeface="Times New Roman" panose="02020603050405020304" pitchFamily="18" charset="0"/>
              <a:ea typeface="楷体_GB2312" pitchFamily="49" charset="-122"/>
              <a:sym typeface="Symbol" panose="05050102010706020507" pitchFamily="18" charset="2"/>
            </a:endParaRPr>
          </a:p>
          <a:p>
            <a:pPr algn="just" eaLnBrk="0" hangingPunct="0"/>
            <a:r>
              <a:rPr lang="zh-CN" altLang="en-US" sz="2000" dirty="0">
                <a:solidFill>
                  <a:srgbClr val="000000"/>
                </a:solidFill>
                <a:ea typeface="楷体_GB2312" pitchFamily="49" charset="-122"/>
                <a:sym typeface="Symbol" panose="05050102010706020507" pitchFamily="18" charset="2"/>
              </a:rPr>
              <a:t>例：</a:t>
            </a:r>
            <a:endParaRPr lang="en-US" altLang="zh-CN" sz="2000" dirty="0">
              <a:solidFill>
                <a:srgbClr val="000000"/>
              </a:solidFill>
              <a:ea typeface="楷体_GB2312" pitchFamily="49" charset="-122"/>
              <a:sym typeface="Symbol" panose="05050102010706020507" pitchFamily="18" charset="2"/>
            </a:endParaRPr>
          </a:p>
          <a:p>
            <a:pPr algn="just" eaLnBrk="0" hangingPunct="0"/>
            <a:r>
              <a:rPr lang="en-US" altLang="zh-CN" sz="2000" dirty="0">
                <a:solidFill>
                  <a:srgbClr val="000000"/>
                </a:solidFill>
                <a:ea typeface="楷体_GB2312" pitchFamily="49" charset="-122"/>
                <a:sym typeface="Symbol" panose="05050102010706020507" pitchFamily="18" charset="2"/>
              </a:rPr>
              <a:t>	PUSH    temp</a:t>
            </a:r>
            <a:endParaRPr lang="en-US" altLang="zh-CN" sz="2000" dirty="0">
              <a:solidFill>
                <a:srgbClr val="000000"/>
              </a:solidFill>
              <a:ea typeface="楷体_GB2312" pitchFamily="49" charset="-122"/>
              <a:sym typeface="Symbol" panose="05050102010706020507" pitchFamily="18" charset="2"/>
            </a:endParaRPr>
          </a:p>
          <a:p>
            <a:pPr algn="just" eaLnBrk="0" hangingPunct="0"/>
            <a:r>
              <a:rPr lang="en-US" altLang="zh-CN" sz="2000" dirty="0">
                <a:solidFill>
                  <a:srgbClr val="000000"/>
                </a:solidFill>
                <a:ea typeface="楷体_GB2312" pitchFamily="49" charset="-122"/>
                <a:sym typeface="Symbol" panose="05050102010706020507" pitchFamily="18" charset="2"/>
              </a:rPr>
              <a:t>	PUSH	AX</a:t>
            </a:r>
            <a:endParaRPr lang="en-US" altLang="zh-CN" sz="2000" dirty="0">
              <a:solidFill>
                <a:srgbClr val="000000"/>
              </a:solidFill>
              <a:ea typeface="楷体_GB2312" pitchFamily="49" charset="-122"/>
              <a:sym typeface="Symbol" panose="05050102010706020507" pitchFamily="18" charset="2"/>
            </a:endParaRPr>
          </a:p>
          <a:p>
            <a:pPr algn="just" eaLnBrk="0" hangingPunct="0"/>
            <a:r>
              <a:rPr lang="en-US" altLang="zh-CN" sz="2000" dirty="0">
                <a:solidFill>
                  <a:srgbClr val="000000"/>
                </a:solidFill>
                <a:ea typeface="楷体_GB2312" pitchFamily="49" charset="-122"/>
                <a:sym typeface="Symbol" panose="05050102010706020507" pitchFamily="18" charset="2"/>
              </a:rPr>
              <a:t>	…</a:t>
            </a:r>
            <a:endParaRPr lang="en-US" altLang="zh-CN" sz="2000" dirty="0">
              <a:solidFill>
                <a:srgbClr val="000000"/>
              </a:solidFill>
              <a:ea typeface="楷体_GB2312" pitchFamily="49" charset="-122"/>
              <a:sym typeface="Symbol" panose="05050102010706020507" pitchFamily="18" charset="2"/>
            </a:endParaRPr>
          </a:p>
          <a:p>
            <a:pPr algn="just" eaLnBrk="0" hangingPunct="0"/>
            <a:r>
              <a:rPr lang="en-US" altLang="zh-CN" sz="2000" dirty="0">
                <a:solidFill>
                  <a:srgbClr val="000000"/>
                </a:solidFill>
                <a:ea typeface="楷体_GB2312" pitchFamily="49" charset="-122"/>
                <a:sym typeface="Symbol" panose="05050102010706020507" pitchFamily="18" charset="2"/>
              </a:rPr>
              <a:t>	POP	AX</a:t>
            </a:r>
            <a:endParaRPr lang="en-US" altLang="zh-CN" sz="2000" dirty="0">
              <a:solidFill>
                <a:srgbClr val="000000"/>
              </a:solidFill>
              <a:ea typeface="楷体_GB2312" pitchFamily="49" charset="-122"/>
              <a:sym typeface="Symbol" panose="05050102010706020507" pitchFamily="18" charset="2"/>
            </a:endParaRPr>
          </a:p>
          <a:p>
            <a:pPr algn="just" eaLnBrk="0" hangingPunct="0"/>
            <a:r>
              <a:rPr lang="en-US" altLang="zh-CN" sz="2000" dirty="0">
                <a:solidFill>
                  <a:srgbClr val="000000"/>
                </a:solidFill>
                <a:ea typeface="楷体_GB2312" pitchFamily="49" charset="-122"/>
                <a:sym typeface="Symbol" panose="05050102010706020507" pitchFamily="18" charset="2"/>
              </a:rPr>
              <a:t>	POP	BX</a:t>
            </a:r>
            <a:endParaRPr lang="en-US" altLang="zh-CN" sz="2000" b="1" dirty="0">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2" name="矩形 1"/>
          <p:cNvSpPr/>
          <p:nvPr/>
        </p:nvSpPr>
        <p:spPr>
          <a:xfrm>
            <a:off x="4103948" y="4420853"/>
            <a:ext cx="4668266" cy="1938992"/>
          </a:xfrm>
          <a:prstGeom prst="rect">
            <a:avLst/>
          </a:prstGeom>
        </p:spPr>
        <p:txBody>
          <a:bodyPr wrap="none">
            <a:spAutoFit/>
          </a:bodyPr>
          <a:lstStyle/>
          <a:p>
            <a:r>
              <a:rPr lang="zh-CN" altLang="en-US" dirty="0">
                <a:solidFill>
                  <a:srgbClr val="FF0000"/>
                </a:solidFill>
              </a:rPr>
              <a:t>错误：</a:t>
            </a:r>
            <a:endParaRPr lang="en-US" altLang="zh-CN" dirty="0">
              <a:solidFill>
                <a:srgbClr val="FF0000"/>
              </a:solidFill>
            </a:endParaRPr>
          </a:p>
          <a:p>
            <a:r>
              <a:rPr lang="en-US" altLang="zh-CN" dirty="0">
                <a:solidFill>
                  <a:srgbClr val="FF0000"/>
                </a:solidFill>
              </a:rPr>
              <a:t>PUSH	100</a:t>
            </a:r>
            <a:endParaRPr lang="en-US" altLang="zh-CN" dirty="0">
              <a:solidFill>
                <a:srgbClr val="FF0000"/>
              </a:solidFill>
            </a:endParaRPr>
          </a:p>
          <a:p>
            <a:r>
              <a:rPr lang="en-US" altLang="zh-CN" dirty="0">
                <a:solidFill>
                  <a:srgbClr val="FF0000"/>
                </a:solidFill>
              </a:rPr>
              <a:t>286</a:t>
            </a:r>
            <a:r>
              <a:rPr lang="zh-CN" altLang="en-US" dirty="0">
                <a:solidFill>
                  <a:srgbClr val="FF0000"/>
                </a:solidFill>
              </a:rPr>
              <a:t>及以后机型允许立即数进栈。</a:t>
            </a:r>
            <a:endParaRPr lang="en-US" altLang="zh-CN" dirty="0">
              <a:solidFill>
                <a:srgbClr val="FF0000"/>
              </a:solidFill>
            </a:endParaRPr>
          </a:p>
          <a:p>
            <a:endParaRPr lang="en-US" altLang="zh-CN" dirty="0">
              <a:solidFill>
                <a:srgbClr val="FF0000"/>
              </a:solidFill>
            </a:endParaRPr>
          </a:p>
          <a:p>
            <a:r>
              <a:rPr lang="en-US" altLang="zh-CN" dirty="0">
                <a:solidFill>
                  <a:srgbClr val="FF0000"/>
                </a:solidFill>
              </a:rPr>
              <a:t>POP	100</a:t>
            </a:r>
            <a:r>
              <a:rPr lang="zh-CN" altLang="en-US" dirty="0">
                <a:solidFill>
                  <a:srgbClr val="FF0000"/>
                </a:solidFill>
              </a:rPr>
              <a:t>（立即数）</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文本框 32769"/>
          <p:cNvSpPr txBox="1"/>
          <p:nvPr/>
        </p:nvSpPr>
        <p:spPr>
          <a:xfrm>
            <a:off x="1600200" y="1085057"/>
            <a:ext cx="5410200" cy="427038"/>
          </a:xfrm>
          <a:prstGeom prst="rect">
            <a:avLst/>
          </a:prstGeom>
          <a:noFill/>
          <a:ln w="9525">
            <a:noFill/>
          </a:ln>
        </p:spPr>
        <p:txBody>
          <a:bodyPr>
            <a:spAutoFit/>
          </a:bodyPr>
          <a:lstStyle/>
          <a:p>
            <a:pPr algn="just" eaLnBrk="0" hangingPunct="0"/>
            <a:r>
              <a:rPr lang="zh-CN" altLang="en-US" sz="2200" b="1" dirty="0">
                <a:solidFill>
                  <a:srgbClr val="000000"/>
                </a:solidFill>
                <a:latin typeface="Times New Roman" panose="02020603050405020304" pitchFamily="18" charset="0"/>
              </a:rPr>
              <a:t>例：假设 </a:t>
            </a:r>
            <a:r>
              <a:rPr lang="zh-CN" altLang="zh-CN" sz="2200" b="1" dirty="0">
                <a:solidFill>
                  <a:srgbClr val="000000"/>
                </a:solidFill>
                <a:latin typeface="Times New Roman" panose="02020603050405020304" pitchFamily="18" charset="0"/>
              </a:rPr>
              <a:t>(AX) = 2107 H ,  执行</a:t>
            </a:r>
            <a:r>
              <a:rPr lang="zh-CN" altLang="en-US" sz="2200" b="1" dirty="0">
                <a:solidFill>
                  <a:srgbClr val="000000"/>
                </a:solidFill>
                <a:latin typeface="Times New Roman" panose="02020603050405020304" pitchFamily="18" charset="0"/>
              </a:rPr>
              <a:t>  </a:t>
            </a:r>
            <a:r>
              <a:rPr lang="en-US" altLang="zh-CN" sz="2200" b="1" dirty="0">
                <a:solidFill>
                  <a:srgbClr val="000000"/>
                </a:solidFill>
                <a:latin typeface="Times New Roman" panose="02020603050405020304" pitchFamily="18" charset="0"/>
              </a:rPr>
              <a:t>PUSH  AX</a:t>
            </a:r>
            <a:endParaRPr lang="en-US" altLang="zh-CN" sz="2200" dirty="0">
              <a:solidFill>
                <a:srgbClr val="000000"/>
              </a:solidFill>
              <a:latin typeface="Times New Roman" panose="02020603050405020304" pitchFamily="18" charset="0"/>
            </a:endParaRPr>
          </a:p>
        </p:txBody>
      </p:sp>
      <p:sp>
        <p:nvSpPr>
          <p:cNvPr id="32771" name="直接连接符 32770"/>
          <p:cNvSpPr/>
          <p:nvPr/>
        </p:nvSpPr>
        <p:spPr>
          <a:xfrm>
            <a:off x="3962400" y="2286000"/>
            <a:ext cx="0" cy="2590800"/>
          </a:xfrm>
          <a:prstGeom prst="line">
            <a:avLst/>
          </a:prstGeom>
          <a:ln w="12700" cap="sq" cmpd="sng">
            <a:solidFill>
              <a:schemeClr val="bg2"/>
            </a:solidFill>
            <a:prstDash val="solid"/>
            <a:headEnd type="none" w="sm" len="sm"/>
            <a:tailEnd type="none" w="sm" len="sm"/>
          </a:ln>
        </p:spPr>
      </p:sp>
      <p:sp>
        <p:nvSpPr>
          <p:cNvPr id="32772" name="直接连接符 32771"/>
          <p:cNvSpPr/>
          <p:nvPr/>
        </p:nvSpPr>
        <p:spPr>
          <a:xfrm>
            <a:off x="2597150" y="4876800"/>
            <a:ext cx="1365250" cy="0"/>
          </a:xfrm>
          <a:prstGeom prst="line">
            <a:avLst/>
          </a:prstGeom>
          <a:ln w="12700" cap="sq" cmpd="sng">
            <a:solidFill>
              <a:schemeClr val="bg2"/>
            </a:solidFill>
            <a:prstDash val="solid"/>
            <a:headEnd type="none" w="sm" len="sm"/>
            <a:tailEnd type="none" w="sm" len="sm"/>
          </a:ln>
        </p:spPr>
      </p:sp>
      <p:sp>
        <p:nvSpPr>
          <p:cNvPr id="32773" name="直接连接符 32772"/>
          <p:cNvSpPr/>
          <p:nvPr/>
        </p:nvSpPr>
        <p:spPr>
          <a:xfrm>
            <a:off x="2597150" y="4495800"/>
            <a:ext cx="1365250" cy="0"/>
          </a:xfrm>
          <a:prstGeom prst="line">
            <a:avLst/>
          </a:prstGeom>
          <a:ln w="12700" cap="sq" cmpd="sng">
            <a:solidFill>
              <a:schemeClr val="bg2"/>
            </a:solidFill>
            <a:prstDash val="solid"/>
            <a:headEnd type="none" w="sm" len="sm"/>
            <a:tailEnd type="none" w="sm" len="sm"/>
          </a:ln>
        </p:spPr>
      </p:sp>
      <p:sp>
        <p:nvSpPr>
          <p:cNvPr id="32774" name="直接连接符 32773"/>
          <p:cNvSpPr/>
          <p:nvPr/>
        </p:nvSpPr>
        <p:spPr>
          <a:xfrm>
            <a:off x="2597150" y="4114800"/>
            <a:ext cx="1365250" cy="0"/>
          </a:xfrm>
          <a:prstGeom prst="line">
            <a:avLst/>
          </a:prstGeom>
          <a:ln w="12700" cap="sq" cmpd="sng">
            <a:solidFill>
              <a:schemeClr val="bg2"/>
            </a:solidFill>
            <a:prstDash val="solid"/>
            <a:headEnd type="none" w="sm" len="sm"/>
            <a:tailEnd type="none" w="sm" len="sm"/>
          </a:ln>
        </p:spPr>
      </p:sp>
      <p:sp>
        <p:nvSpPr>
          <p:cNvPr id="32775" name="直接连接符 32774"/>
          <p:cNvSpPr/>
          <p:nvPr/>
        </p:nvSpPr>
        <p:spPr>
          <a:xfrm>
            <a:off x="2597150" y="3733800"/>
            <a:ext cx="1365250" cy="0"/>
          </a:xfrm>
          <a:prstGeom prst="line">
            <a:avLst/>
          </a:prstGeom>
          <a:ln w="12700" cap="sq" cmpd="sng">
            <a:solidFill>
              <a:schemeClr val="bg2"/>
            </a:solidFill>
            <a:prstDash val="solid"/>
            <a:headEnd type="none" w="sm" len="sm"/>
            <a:tailEnd type="none" w="sm" len="sm"/>
          </a:ln>
        </p:spPr>
      </p:sp>
      <p:sp>
        <p:nvSpPr>
          <p:cNvPr id="32776" name="直接连接符 32775"/>
          <p:cNvSpPr/>
          <p:nvPr/>
        </p:nvSpPr>
        <p:spPr>
          <a:xfrm>
            <a:off x="2597150" y="3352800"/>
            <a:ext cx="1365250" cy="0"/>
          </a:xfrm>
          <a:prstGeom prst="line">
            <a:avLst/>
          </a:prstGeom>
          <a:ln w="12700" cap="sq" cmpd="sng">
            <a:solidFill>
              <a:schemeClr val="bg2"/>
            </a:solidFill>
            <a:prstDash val="solid"/>
            <a:headEnd type="none" w="sm" len="sm"/>
            <a:tailEnd type="none" w="sm" len="sm"/>
          </a:ln>
        </p:spPr>
      </p:sp>
      <p:sp>
        <p:nvSpPr>
          <p:cNvPr id="32777" name="文本框 32776"/>
          <p:cNvSpPr txBox="1"/>
          <p:nvPr/>
        </p:nvSpPr>
        <p:spPr>
          <a:xfrm>
            <a:off x="2955925" y="3429000"/>
            <a:ext cx="647700" cy="1552575"/>
          </a:xfrm>
          <a:prstGeom prst="rect">
            <a:avLst/>
          </a:prstGeom>
          <a:noFill/>
          <a:ln w="12700">
            <a:noFill/>
          </a:ln>
        </p:spPr>
        <p:txBody>
          <a:bodyPr>
            <a:spAutoFit/>
          </a:bodyPr>
          <a:lstStyle/>
          <a:p>
            <a:r>
              <a:rPr lang="en-US" altLang="zh-CN" dirty="0">
                <a:solidFill>
                  <a:srgbClr val="000000"/>
                </a:solidFill>
                <a:latin typeface="Times New Roman" panose="02020603050405020304" pitchFamily="18" charset="0"/>
              </a:rPr>
              <a:t>*  *</a:t>
            </a:r>
            <a:endParaRPr lang="en-US" altLang="zh-CN"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  *</a:t>
            </a:r>
            <a:endParaRPr lang="en-US" altLang="zh-CN"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  *</a:t>
            </a:r>
            <a:endParaRPr lang="en-US" altLang="zh-CN"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  *</a:t>
            </a:r>
            <a:endParaRPr lang="en-US" altLang="zh-CN">
              <a:solidFill>
                <a:srgbClr val="000000"/>
              </a:solidFill>
              <a:latin typeface="Times New Roman" panose="02020603050405020304" pitchFamily="18" charset="0"/>
            </a:endParaRPr>
          </a:p>
        </p:txBody>
      </p:sp>
      <p:sp>
        <p:nvSpPr>
          <p:cNvPr id="32778" name="文本框 32777"/>
          <p:cNvSpPr txBox="1"/>
          <p:nvPr/>
        </p:nvSpPr>
        <p:spPr>
          <a:xfrm>
            <a:off x="1447800" y="3352800"/>
            <a:ext cx="1295400" cy="396875"/>
          </a:xfrm>
          <a:prstGeom prst="rect">
            <a:avLst/>
          </a:prstGeom>
          <a:noFill/>
          <a:ln w="9525">
            <a:noFill/>
          </a:ln>
        </p:spPr>
        <p:txBody>
          <a:bodyPr>
            <a:spAutoFit/>
          </a:bodyPr>
          <a:lstStyle/>
          <a:p>
            <a:pPr>
              <a:spcBef>
                <a:spcPct val="50000"/>
              </a:spcBef>
            </a:pPr>
            <a:r>
              <a:rPr lang="zh-CN" altLang="en-US" sz="2000" b="1">
                <a:solidFill>
                  <a:srgbClr val="000000"/>
                </a:solidFill>
                <a:latin typeface="Times New Roman" panose="02020603050405020304" pitchFamily="18" charset="0"/>
              </a:rPr>
              <a:t>（</a:t>
            </a:r>
            <a:r>
              <a:rPr lang="en-US" altLang="zh-CN" sz="2000" b="1">
                <a:solidFill>
                  <a:srgbClr val="000000"/>
                </a:solidFill>
                <a:latin typeface="Times New Roman" panose="02020603050405020304" pitchFamily="18" charset="0"/>
              </a:rPr>
              <a:t>SP</a:t>
            </a:r>
            <a:r>
              <a:rPr lang="zh-CN" altLang="en-US" sz="2000" b="1">
                <a:solidFill>
                  <a:srgbClr val="000000"/>
                </a:solidFill>
                <a:latin typeface="Times New Roman" panose="02020603050405020304" pitchFamily="18" charset="0"/>
              </a:rPr>
              <a:t>）</a:t>
            </a:r>
            <a:r>
              <a:rPr lang="en-US" altLang="zh-CN" sz="2000" b="1">
                <a:solidFill>
                  <a:srgbClr val="000000"/>
                </a:solidFill>
                <a:latin typeface="Times New Roman" panose="02020603050405020304" pitchFamily="18" charset="0"/>
                <a:sym typeface="Symbol" panose="05050102010706020507" pitchFamily="18" charset="2"/>
              </a:rPr>
              <a:t></a:t>
            </a:r>
            <a:endParaRPr lang="en-US" altLang="zh-CN" b="1">
              <a:solidFill>
                <a:srgbClr val="000000"/>
              </a:solidFill>
              <a:latin typeface="Times New Roman" panose="02020603050405020304" pitchFamily="18" charset="0"/>
            </a:endParaRPr>
          </a:p>
        </p:txBody>
      </p:sp>
      <p:sp>
        <p:nvSpPr>
          <p:cNvPr id="32779" name="直接连接符 32778"/>
          <p:cNvSpPr/>
          <p:nvPr/>
        </p:nvSpPr>
        <p:spPr>
          <a:xfrm>
            <a:off x="2597150" y="2286000"/>
            <a:ext cx="0" cy="2590800"/>
          </a:xfrm>
          <a:prstGeom prst="line">
            <a:avLst/>
          </a:prstGeom>
          <a:ln w="12700" cap="sq" cmpd="sng">
            <a:solidFill>
              <a:schemeClr val="bg2"/>
            </a:solidFill>
            <a:prstDash val="solid"/>
            <a:headEnd type="none" w="sm" len="sm"/>
            <a:tailEnd type="none" w="sm" len="sm"/>
          </a:ln>
        </p:spPr>
      </p:sp>
      <p:sp>
        <p:nvSpPr>
          <p:cNvPr id="32780" name="文本框 32779"/>
          <p:cNvSpPr txBox="1"/>
          <p:nvPr/>
        </p:nvSpPr>
        <p:spPr>
          <a:xfrm>
            <a:off x="2209800" y="5181600"/>
            <a:ext cx="2187575" cy="396875"/>
          </a:xfrm>
          <a:prstGeom prst="rect">
            <a:avLst/>
          </a:prstGeom>
          <a:noFill/>
          <a:ln w="12700">
            <a:noFill/>
          </a:ln>
        </p:spPr>
        <p:txBody>
          <a:bodyPr wrap="none">
            <a:spAutoFit/>
          </a:bodyPr>
          <a:lstStyle/>
          <a:p>
            <a:pPr>
              <a:spcBef>
                <a:spcPct val="50000"/>
              </a:spcBef>
            </a:pPr>
            <a:r>
              <a:rPr lang="zh-CN" altLang="zh-CN" sz="2000" b="1" dirty="0">
                <a:solidFill>
                  <a:srgbClr val="000000"/>
                </a:solidFill>
                <a:latin typeface="Times New Roman" panose="02020603050405020304" pitchFamily="18" charset="0"/>
              </a:rPr>
              <a:t>PUSH  AX 执行前</a:t>
            </a:r>
            <a:endParaRPr lang="en-US" altLang="zh-CN">
              <a:solidFill>
                <a:srgbClr val="000000"/>
              </a:solidFill>
              <a:latin typeface="Times New Roman" panose="02020603050405020304" pitchFamily="18" charset="0"/>
            </a:endParaRPr>
          </a:p>
        </p:txBody>
      </p:sp>
      <p:sp>
        <p:nvSpPr>
          <p:cNvPr id="32781" name="文本框 32780"/>
          <p:cNvSpPr txBox="1"/>
          <p:nvPr/>
        </p:nvSpPr>
        <p:spPr>
          <a:xfrm>
            <a:off x="4419600" y="2590800"/>
            <a:ext cx="1295400" cy="396875"/>
          </a:xfrm>
          <a:prstGeom prst="rect">
            <a:avLst/>
          </a:prstGeom>
          <a:noFill/>
          <a:ln w="9525">
            <a:noFill/>
          </a:ln>
        </p:spPr>
        <p:txBody>
          <a:bodyPr>
            <a:spAutoFit/>
          </a:bodyPr>
          <a:lstStyle/>
          <a:p>
            <a:pPr>
              <a:spcBef>
                <a:spcPct val="50000"/>
              </a:spcBef>
            </a:pPr>
            <a:r>
              <a:rPr lang="zh-CN" altLang="en-US" sz="2000" b="1">
                <a:solidFill>
                  <a:srgbClr val="000000"/>
                </a:solidFill>
                <a:latin typeface="Times New Roman" panose="02020603050405020304" pitchFamily="18" charset="0"/>
              </a:rPr>
              <a:t>（</a:t>
            </a:r>
            <a:r>
              <a:rPr lang="en-US" altLang="zh-CN" sz="2000" b="1">
                <a:solidFill>
                  <a:srgbClr val="000000"/>
                </a:solidFill>
                <a:latin typeface="Times New Roman" panose="02020603050405020304" pitchFamily="18" charset="0"/>
              </a:rPr>
              <a:t>SP</a:t>
            </a:r>
            <a:r>
              <a:rPr lang="zh-CN" altLang="en-US" sz="2000" b="1">
                <a:solidFill>
                  <a:srgbClr val="000000"/>
                </a:solidFill>
                <a:latin typeface="Times New Roman" panose="02020603050405020304" pitchFamily="18" charset="0"/>
              </a:rPr>
              <a:t>）</a:t>
            </a:r>
            <a:r>
              <a:rPr lang="en-US" altLang="zh-CN" sz="2000" b="1">
                <a:solidFill>
                  <a:srgbClr val="000000"/>
                </a:solidFill>
                <a:latin typeface="Times New Roman" panose="02020603050405020304" pitchFamily="18" charset="0"/>
                <a:sym typeface="Symbol" panose="05050102010706020507" pitchFamily="18" charset="2"/>
              </a:rPr>
              <a:t></a:t>
            </a:r>
            <a:endParaRPr lang="en-US" altLang="zh-CN" b="1">
              <a:solidFill>
                <a:srgbClr val="000000"/>
              </a:solidFill>
              <a:latin typeface="Times New Roman" panose="02020603050405020304" pitchFamily="18" charset="0"/>
            </a:endParaRPr>
          </a:p>
        </p:txBody>
      </p:sp>
      <p:sp>
        <p:nvSpPr>
          <p:cNvPr id="32782" name="直接连接符 32781"/>
          <p:cNvSpPr/>
          <p:nvPr/>
        </p:nvSpPr>
        <p:spPr>
          <a:xfrm>
            <a:off x="6934200" y="2286000"/>
            <a:ext cx="0" cy="2590800"/>
          </a:xfrm>
          <a:prstGeom prst="line">
            <a:avLst/>
          </a:prstGeom>
          <a:ln w="12700" cap="sq" cmpd="sng">
            <a:solidFill>
              <a:schemeClr val="bg2"/>
            </a:solidFill>
            <a:prstDash val="solid"/>
            <a:headEnd type="none" w="sm" len="sm"/>
            <a:tailEnd type="none" w="sm" len="sm"/>
          </a:ln>
        </p:spPr>
      </p:sp>
      <p:sp>
        <p:nvSpPr>
          <p:cNvPr id="32783" name="直接连接符 32782"/>
          <p:cNvSpPr/>
          <p:nvPr/>
        </p:nvSpPr>
        <p:spPr>
          <a:xfrm>
            <a:off x="5562600" y="4876800"/>
            <a:ext cx="1365250" cy="0"/>
          </a:xfrm>
          <a:prstGeom prst="line">
            <a:avLst/>
          </a:prstGeom>
          <a:ln w="12700" cap="sq" cmpd="sng">
            <a:solidFill>
              <a:schemeClr val="bg2"/>
            </a:solidFill>
            <a:prstDash val="solid"/>
            <a:headEnd type="none" w="sm" len="sm"/>
            <a:tailEnd type="none" w="sm" len="sm"/>
          </a:ln>
        </p:spPr>
      </p:sp>
      <p:sp>
        <p:nvSpPr>
          <p:cNvPr id="32784" name="直接连接符 32783"/>
          <p:cNvSpPr/>
          <p:nvPr/>
        </p:nvSpPr>
        <p:spPr>
          <a:xfrm>
            <a:off x="5568950" y="4495800"/>
            <a:ext cx="1365250" cy="0"/>
          </a:xfrm>
          <a:prstGeom prst="line">
            <a:avLst/>
          </a:prstGeom>
          <a:ln w="12700" cap="sq" cmpd="sng">
            <a:solidFill>
              <a:schemeClr val="bg2"/>
            </a:solidFill>
            <a:prstDash val="solid"/>
            <a:headEnd type="none" w="sm" len="sm"/>
            <a:tailEnd type="none" w="sm" len="sm"/>
          </a:ln>
        </p:spPr>
      </p:sp>
      <p:sp>
        <p:nvSpPr>
          <p:cNvPr id="32785" name="直接连接符 32784"/>
          <p:cNvSpPr/>
          <p:nvPr/>
        </p:nvSpPr>
        <p:spPr>
          <a:xfrm>
            <a:off x="5568950" y="4114800"/>
            <a:ext cx="1365250" cy="0"/>
          </a:xfrm>
          <a:prstGeom prst="line">
            <a:avLst/>
          </a:prstGeom>
          <a:ln w="12700" cap="sq" cmpd="sng">
            <a:solidFill>
              <a:schemeClr val="bg2"/>
            </a:solidFill>
            <a:prstDash val="solid"/>
            <a:headEnd type="none" w="sm" len="sm"/>
            <a:tailEnd type="none" w="sm" len="sm"/>
          </a:ln>
        </p:spPr>
      </p:sp>
      <p:sp>
        <p:nvSpPr>
          <p:cNvPr id="32786" name="直接连接符 32785"/>
          <p:cNvSpPr/>
          <p:nvPr/>
        </p:nvSpPr>
        <p:spPr>
          <a:xfrm>
            <a:off x="5568950" y="3733800"/>
            <a:ext cx="1365250" cy="0"/>
          </a:xfrm>
          <a:prstGeom prst="line">
            <a:avLst/>
          </a:prstGeom>
          <a:ln w="12700" cap="sq" cmpd="sng">
            <a:solidFill>
              <a:schemeClr val="bg2"/>
            </a:solidFill>
            <a:prstDash val="solid"/>
            <a:headEnd type="none" w="sm" len="sm"/>
            <a:tailEnd type="none" w="sm" len="sm"/>
          </a:ln>
        </p:spPr>
      </p:sp>
      <p:sp>
        <p:nvSpPr>
          <p:cNvPr id="32787" name="直接连接符 32786"/>
          <p:cNvSpPr/>
          <p:nvPr/>
        </p:nvSpPr>
        <p:spPr>
          <a:xfrm>
            <a:off x="5568950" y="3352800"/>
            <a:ext cx="1365250" cy="0"/>
          </a:xfrm>
          <a:prstGeom prst="line">
            <a:avLst/>
          </a:prstGeom>
          <a:ln w="12700" cap="sq" cmpd="sng">
            <a:solidFill>
              <a:schemeClr val="bg2"/>
            </a:solidFill>
            <a:prstDash val="solid"/>
            <a:headEnd type="none" w="sm" len="sm"/>
            <a:tailEnd type="none" w="sm" len="sm"/>
          </a:ln>
        </p:spPr>
      </p:sp>
      <p:sp>
        <p:nvSpPr>
          <p:cNvPr id="32788" name="文本框 32787"/>
          <p:cNvSpPr txBox="1"/>
          <p:nvPr/>
        </p:nvSpPr>
        <p:spPr>
          <a:xfrm>
            <a:off x="5927725" y="3429000"/>
            <a:ext cx="647700" cy="1552575"/>
          </a:xfrm>
          <a:prstGeom prst="rect">
            <a:avLst/>
          </a:prstGeom>
          <a:noFill/>
          <a:ln w="12700">
            <a:noFill/>
          </a:ln>
        </p:spPr>
        <p:txBody>
          <a:bodyPr>
            <a:spAutoFit/>
          </a:bodyPr>
          <a:lstStyle/>
          <a:p>
            <a:r>
              <a:rPr lang="en-US" altLang="zh-CN" dirty="0">
                <a:solidFill>
                  <a:srgbClr val="000000"/>
                </a:solidFill>
                <a:latin typeface="Times New Roman" panose="02020603050405020304" pitchFamily="18" charset="0"/>
              </a:rPr>
              <a:t>*  *</a:t>
            </a:r>
            <a:endParaRPr lang="en-US" altLang="zh-CN"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  *</a:t>
            </a:r>
            <a:endParaRPr lang="en-US" altLang="zh-CN"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  *</a:t>
            </a:r>
            <a:endParaRPr lang="en-US" altLang="zh-CN"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  *</a:t>
            </a:r>
            <a:endParaRPr lang="en-US" altLang="zh-CN">
              <a:solidFill>
                <a:srgbClr val="000000"/>
              </a:solidFill>
              <a:latin typeface="Times New Roman" panose="02020603050405020304" pitchFamily="18" charset="0"/>
            </a:endParaRPr>
          </a:p>
        </p:txBody>
      </p:sp>
      <p:sp>
        <p:nvSpPr>
          <p:cNvPr id="32789" name="直接连接符 32788"/>
          <p:cNvSpPr/>
          <p:nvPr/>
        </p:nvSpPr>
        <p:spPr>
          <a:xfrm>
            <a:off x="5568950" y="2286000"/>
            <a:ext cx="0" cy="2590800"/>
          </a:xfrm>
          <a:prstGeom prst="line">
            <a:avLst/>
          </a:prstGeom>
          <a:ln w="12700" cap="sq" cmpd="sng">
            <a:solidFill>
              <a:schemeClr val="bg2"/>
            </a:solidFill>
            <a:prstDash val="solid"/>
            <a:headEnd type="none" w="sm" len="sm"/>
            <a:tailEnd type="none" w="sm" len="sm"/>
          </a:ln>
        </p:spPr>
      </p:sp>
      <p:sp>
        <p:nvSpPr>
          <p:cNvPr id="32790" name="直接连接符 32789"/>
          <p:cNvSpPr/>
          <p:nvPr/>
        </p:nvSpPr>
        <p:spPr>
          <a:xfrm>
            <a:off x="5572125" y="2590800"/>
            <a:ext cx="1365250" cy="0"/>
          </a:xfrm>
          <a:prstGeom prst="line">
            <a:avLst/>
          </a:prstGeom>
          <a:ln w="12700" cap="sq" cmpd="sng">
            <a:solidFill>
              <a:schemeClr val="bg2"/>
            </a:solidFill>
            <a:prstDash val="solid"/>
            <a:headEnd type="none" w="sm" len="sm"/>
            <a:tailEnd type="none" w="sm" len="sm"/>
          </a:ln>
        </p:spPr>
      </p:sp>
      <p:sp>
        <p:nvSpPr>
          <p:cNvPr id="32791" name="矩形 32790"/>
          <p:cNvSpPr/>
          <p:nvPr/>
        </p:nvSpPr>
        <p:spPr>
          <a:xfrm>
            <a:off x="5943600" y="2617788"/>
            <a:ext cx="838200" cy="779462"/>
          </a:xfrm>
          <a:prstGeom prst="rect">
            <a:avLst/>
          </a:prstGeom>
          <a:noFill/>
          <a:ln w="12700">
            <a:noFill/>
          </a:ln>
        </p:spPr>
        <p:txBody>
          <a:bodyPr>
            <a:spAutoFit/>
          </a:bodyPr>
          <a:lstStyle/>
          <a:p>
            <a:pPr>
              <a:spcBef>
                <a:spcPct val="50000"/>
              </a:spcBef>
            </a:pPr>
            <a:r>
              <a:rPr lang="en-US" altLang="zh-CN" sz="1800" b="1">
                <a:solidFill>
                  <a:srgbClr val="000000"/>
                </a:solidFill>
                <a:latin typeface="Lucida Sans Unicode" panose="020B0602030504020204" pitchFamily="34" charset="0"/>
              </a:rPr>
              <a:t>07H</a:t>
            </a:r>
            <a:endParaRPr lang="en-US" altLang="zh-CN" sz="1800" b="1">
              <a:solidFill>
                <a:srgbClr val="000000"/>
              </a:solidFill>
              <a:latin typeface="Lucida Sans Unicode" panose="020B0602030504020204" pitchFamily="34" charset="0"/>
            </a:endParaRPr>
          </a:p>
          <a:p>
            <a:pPr>
              <a:spcBef>
                <a:spcPct val="50000"/>
              </a:spcBef>
            </a:pPr>
            <a:r>
              <a:rPr lang="en-US" altLang="zh-CN" sz="1800" b="1">
                <a:solidFill>
                  <a:srgbClr val="000000"/>
                </a:solidFill>
                <a:latin typeface="Lucida Sans Unicode" panose="020B0602030504020204" pitchFamily="34" charset="0"/>
              </a:rPr>
              <a:t>21H</a:t>
            </a:r>
            <a:endParaRPr lang="en-US" altLang="zh-CN" sz="1800" b="1">
              <a:solidFill>
                <a:srgbClr val="000000"/>
              </a:solidFill>
              <a:latin typeface="Lucida Sans Unicode" panose="020B0602030504020204" pitchFamily="34" charset="0"/>
            </a:endParaRPr>
          </a:p>
        </p:txBody>
      </p:sp>
      <p:sp>
        <p:nvSpPr>
          <p:cNvPr id="32792" name="文本框 32791"/>
          <p:cNvSpPr txBox="1"/>
          <p:nvPr/>
        </p:nvSpPr>
        <p:spPr>
          <a:xfrm>
            <a:off x="7010400" y="2209800"/>
            <a:ext cx="1143000" cy="2682875"/>
          </a:xfrm>
          <a:prstGeom prst="rect">
            <a:avLst/>
          </a:prstGeom>
          <a:noFill/>
          <a:ln w="9525">
            <a:noFill/>
          </a:ln>
        </p:spPr>
        <p:txBody>
          <a:bodyPr>
            <a:spAutoFit/>
          </a:bodyPr>
          <a:lstStyle/>
          <a:p>
            <a:pPr>
              <a:spcBef>
                <a:spcPct val="50000"/>
              </a:spcBef>
            </a:pPr>
            <a:r>
              <a:rPr lang="zh-CN" altLang="en-US" sz="2000" b="1" dirty="0">
                <a:solidFill>
                  <a:srgbClr val="000000"/>
                </a:solidFill>
                <a:latin typeface="Times New Roman" panose="02020603050405020304" pitchFamily="18" charset="0"/>
                <a:ea typeface="楷体_GB2312" pitchFamily="49" charset="-122"/>
              </a:rPr>
              <a:t>低地址</a:t>
            </a:r>
            <a:endParaRPr lang="zh-CN" altLang="en-US" sz="2000" b="1" dirty="0">
              <a:solidFill>
                <a:srgbClr val="000000"/>
              </a:solidFill>
              <a:latin typeface="Times New Roman" panose="02020603050405020304" pitchFamily="18" charset="0"/>
              <a:ea typeface="楷体_GB2312" pitchFamily="49" charset="-122"/>
            </a:endParaRPr>
          </a:p>
          <a:p>
            <a:pPr>
              <a:spcBef>
                <a:spcPct val="50000"/>
              </a:spcBef>
            </a:pPr>
            <a:endParaRPr lang="zh-CN" altLang="en-US" sz="2000" b="1" dirty="0">
              <a:solidFill>
                <a:srgbClr val="000000"/>
              </a:solidFill>
              <a:latin typeface="Times New Roman" panose="02020603050405020304" pitchFamily="18" charset="0"/>
              <a:ea typeface="楷体_GB2312" pitchFamily="49" charset="-122"/>
            </a:endParaRPr>
          </a:p>
          <a:p>
            <a:pPr>
              <a:spcBef>
                <a:spcPct val="50000"/>
              </a:spcBef>
            </a:pPr>
            <a:endParaRPr lang="zh-CN" altLang="en-US" sz="2000" b="1" dirty="0">
              <a:solidFill>
                <a:srgbClr val="000000"/>
              </a:solidFill>
              <a:latin typeface="Times New Roman" panose="02020603050405020304" pitchFamily="18" charset="0"/>
              <a:ea typeface="楷体_GB2312" pitchFamily="49" charset="-122"/>
            </a:endParaRPr>
          </a:p>
          <a:p>
            <a:pPr>
              <a:spcBef>
                <a:spcPct val="50000"/>
              </a:spcBef>
            </a:pPr>
            <a:endParaRPr lang="zh-CN" altLang="en-US" sz="2000" b="1" dirty="0">
              <a:solidFill>
                <a:srgbClr val="000000"/>
              </a:solidFill>
              <a:latin typeface="Times New Roman" panose="02020603050405020304" pitchFamily="18" charset="0"/>
              <a:ea typeface="楷体_GB2312" pitchFamily="49" charset="-122"/>
            </a:endParaRPr>
          </a:p>
          <a:p>
            <a:pPr>
              <a:spcBef>
                <a:spcPct val="50000"/>
              </a:spcBef>
            </a:pPr>
            <a:r>
              <a:rPr lang="zh-CN" altLang="en-US" sz="2000" b="1" dirty="0">
                <a:solidFill>
                  <a:srgbClr val="000000"/>
                </a:solidFill>
                <a:latin typeface="Times New Roman" panose="02020603050405020304" pitchFamily="18" charset="0"/>
                <a:ea typeface="楷体_GB2312" pitchFamily="49" charset="-122"/>
              </a:rPr>
              <a:t>  </a:t>
            </a:r>
            <a:endParaRPr lang="zh-CN" altLang="en-US" sz="2000" b="1" dirty="0">
              <a:solidFill>
                <a:srgbClr val="000000"/>
              </a:solidFill>
              <a:latin typeface="Times New Roman" panose="02020603050405020304" pitchFamily="18" charset="0"/>
              <a:ea typeface="楷体_GB2312" pitchFamily="49" charset="-122"/>
            </a:endParaRPr>
          </a:p>
          <a:p>
            <a:pPr>
              <a:spcBef>
                <a:spcPct val="50000"/>
              </a:spcBef>
            </a:pPr>
            <a:r>
              <a:rPr lang="zh-CN" altLang="en-US" sz="2000" b="1" dirty="0">
                <a:solidFill>
                  <a:srgbClr val="000000"/>
                </a:solidFill>
                <a:latin typeface="Times New Roman" panose="02020603050405020304" pitchFamily="18" charset="0"/>
                <a:ea typeface="楷体_GB2312" pitchFamily="49" charset="-122"/>
              </a:rPr>
              <a:t>高地址</a:t>
            </a:r>
            <a:endParaRPr lang="zh-CN" altLang="en-US" sz="2000" b="1">
              <a:solidFill>
                <a:srgbClr val="000000"/>
              </a:solidFill>
              <a:latin typeface="Times New Roman" panose="02020603050405020304" pitchFamily="18" charset="0"/>
              <a:ea typeface="楷体_GB2312" pitchFamily="49" charset="-122"/>
            </a:endParaRPr>
          </a:p>
        </p:txBody>
      </p:sp>
      <p:sp>
        <p:nvSpPr>
          <p:cNvPr id="32793" name="直接连接符 32792"/>
          <p:cNvSpPr/>
          <p:nvPr/>
        </p:nvSpPr>
        <p:spPr>
          <a:xfrm>
            <a:off x="5572125" y="2971800"/>
            <a:ext cx="1365250" cy="0"/>
          </a:xfrm>
          <a:prstGeom prst="line">
            <a:avLst/>
          </a:prstGeom>
          <a:ln w="12700" cap="sq" cmpd="sng">
            <a:solidFill>
              <a:schemeClr val="bg2"/>
            </a:solidFill>
            <a:prstDash val="solid"/>
            <a:headEnd type="none" w="sm" len="sm"/>
            <a:tailEnd type="none" w="sm" len="sm"/>
          </a:ln>
        </p:spPr>
      </p:sp>
      <p:sp>
        <p:nvSpPr>
          <p:cNvPr id="32794" name="文本框 32793"/>
          <p:cNvSpPr txBox="1"/>
          <p:nvPr/>
        </p:nvSpPr>
        <p:spPr>
          <a:xfrm>
            <a:off x="5192737" y="5181600"/>
            <a:ext cx="2187575" cy="396875"/>
          </a:xfrm>
          <a:prstGeom prst="rect">
            <a:avLst/>
          </a:prstGeom>
          <a:noFill/>
          <a:ln w="12700">
            <a:noFill/>
          </a:ln>
        </p:spPr>
        <p:txBody>
          <a:bodyPr wrap="none">
            <a:spAutoFit/>
          </a:bodyPr>
          <a:lstStyle/>
          <a:p>
            <a:pPr>
              <a:spcBef>
                <a:spcPct val="50000"/>
              </a:spcBef>
            </a:pPr>
            <a:r>
              <a:rPr lang="zh-CN" altLang="zh-CN" sz="2000" b="1" dirty="0">
                <a:solidFill>
                  <a:srgbClr val="000000"/>
                </a:solidFill>
                <a:latin typeface="Times New Roman" panose="02020603050405020304" pitchFamily="18" charset="0"/>
              </a:rPr>
              <a:t>PUSH  AX 执行后</a:t>
            </a:r>
            <a:endParaRPr lang="en-US" altLang="zh-CN" dirty="0">
              <a:solidFill>
                <a:srgbClr val="000000"/>
              </a:solidFill>
              <a:latin typeface="Times New Roman" panose="02020603050405020304" pitchFamily="18" charset="0"/>
            </a:endParaRPr>
          </a:p>
        </p:txBody>
      </p:sp>
      <p:grpSp>
        <p:nvGrpSpPr>
          <p:cNvPr id="32795" name="组合 32794"/>
          <p:cNvGrpSpPr/>
          <p:nvPr/>
        </p:nvGrpSpPr>
        <p:grpSpPr>
          <a:xfrm>
            <a:off x="7162800" y="3124200"/>
            <a:ext cx="1295400" cy="838200"/>
            <a:chOff x="4416" y="2352"/>
            <a:chExt cx="816" cy="528"/>
          </a:xfrm>
        </p:grpSpPr>
        <p:sp>
          <p:nvSpPr>
            <p:cNvPr id="32796" name="文本框 32795"/>
            <p:cNvSpPr txBox="1"/>
            <p:nvPr/>
          </p:nvSpPr>
          <p:spPr>
            <a:xfrm>
              <a:off x="4416" y="2544"/>
              <a:ext cx="816" cy="250"/>
            </a:xfrm>
            <a:prstGeom prst="rect">
              <a:avLst/>
            </a:prstGeom>
            <a:noFill/>
            <a:ln w="9525">
              <a:noFill/>
            </a:ln>
          </p:spPr>
          <p:txBody>
            <a:bodyPr>
              <a:spAutoFit/>
            </a:bodyPr>
            <a:lstStyle/>
            <a:p>
              <a:pPr>
                <a:spcBef>
                  <a:spcPct val="50000"/>
                </a:spcBef>
              </a:pPr>
              <a:r>
                <a:rPr lang="zh-CN" altLang="en-US" sz="2000" b="1" dirty="0">
                  <a:solidFill>
                    <a:srgbClr val="000000"/>
                  </a:solidFill>
                  <a:latin typeface="Times New Roman" panose="02020603050405020304" pitchFamily="18" charset="0"/>
                </a:rPr>
                <a:t>进栈方向</a:t>
              </a:r>
              <a:endParaRPr lang="zh-CN" altLang="en-US" sz="2000" b="1">
                <a:solidFill>
                  <a:srgbClr val="000000"/>
                </a:solidFill>
                <a:latin typeface="Times New Roman" panose="02020603050405020304" pitchFamily="18" charset="0"/>
              </a:endParaRPr>
            </a:p>
          </p:txBody>
        </p:sp>
        <p:sp>
          <p:nvSpPr>
            <p:cNvPr id="32797" name="直接连接符 32796"/>
            <p:cNvSpPr/>
            <p:nvPr/>
          </p:nvSpPr>
          <p:spPr>
            <a:xfrm flipV="1">
              <a:off x="4416" y="2352"/>
              <a:ext cx="0" cy="528"/>
            </a:xfrm>
            <a:prstGeom prst="line">
              <a:avLst/>
            </a:prstGeom>
            <a:ln w="19050" cap="flat" cmpd="sng">
              <a:solidFill>
                <a:schemeClr val="tx2"/>
              </a:solidFill>
              <a:prstDash val="solid"/>
              <a:headEnd type="none" w="med" len="med"/>
              <a:tailEnd type="triangle" w="lg" len="lg"/>
            </a:ln>
          </p:spPr>
        </p:sp>
      </p:grpSp>
      <p:sp>
        <p:nvSpPr>
          <p:cNvPr id="32798" name="直接连接符 32797"/>
          <p:cNvSpPr/>
          <p:nvPr/>
        </p:nvSpPr>
        <p:spPr>
          <a:xfrm>
            <a:off x="5334000" y="2819400"/>
            <a:ext cx="0" cy="762000"/>
          </a:xfrm>
          <a:prstGeom prst="line">
            <a:avLst/>
          </a:prstGeom>
          <a:ln w="12700" cap="sq" cmpd="sng">
            <a:solidFill>
              <a:schemeClr val="bg2"/>
            </a:solidFill>
            <a:prstDash val="solid"/>
            <a:headEnd type="none" w="sm" len="sm"/>
            <a:tailEnd type="none" w="sm" len="sm"/>
          </a:ln>
        </p:spPr>
      </p:sp>
      <p:sp>
        <p:nvSpPr>
          <p:cNvPr id="32799" name="直接连接符 32798"/>
          <p:cNvSpPr/>
          <p:nvPr/>
        </p:nvSpPr>
        <p:spPr>
          <a:xfrm>
            <a:off x="5334000" y="3581400"/>
            <a:ext cx="228600" cy="0"/>
          </a:xfrm>
          <a:prstGeom prst="line">
            <a:avLst/>
          </a:prstGeom>
          <a:ln w="12700" cap="sq" cmpd="sng">
            <a:solidFill>
              <a:schemeClr val="bg2"/>
            </a:solidFill>
            <a:prstDash val="solid"/>
            <a:headEnd type="none" w="sm" len="sm"/>
            <a:tailEnd type="none" w="sm" len="sm"/>
          </a:ln>
        </p:spPr>
      </p:sp>
      <p:sp>
        <p:nvSpPr>
          <p:cNvPr id="32800" name="直接连接符 32799"/>
          <p:cNvSpPr/>
          <p:nvPr/>
        </p:nvSpPr>
        <p:spPr>
          <a:xfrm>
            <a:off x="5257800" y="2819400"/>
            <a:ext cx="76200" cy="0"/>
          </a:xfrm>
          <a:prstGeom prst="line">
            <a:avLst/>
          </a:prstGeom>
          <a:ln w="12700" cap="sq" cmpd="sng">
            <a:solidFill>
              <a:schemeClr val="bg2"/>
            </a:solidFill>
            <a:prstDash val="solid"/>
            <a:headEnd type="none" w="sm" len="sm"/>
            <a:tailEnd type="none" w="sm" len="sm"/>
          </a:ln>
        </p:spPr>
      </p:sp>
      <p:sp>
        <p:nvSpPr>
          <p:cNvPr id="32801" name="上下箭头 32800"/>
          <p:cNvSpPr/>
          <p:nvPr/>
        </p:nvSpPr>
        <p:spPr>
          <a:xfrm>
            <a:off x="3203575" y="2060575"/>
            <a:ext cx="144463" cy="647700"/>
          </a:xfrm>
          <a:prstGeom prst="upDownArrow">
            <a:avLst>
              <a:gd name="adj1" fmla="val 50000"/>
              <a:gd name="adj2" fmla="val 89670"/>
            </a:avLst>
          </a:prstGeom>
          <a:solidFill>
            <a:schemeClr val="accent1"/>
          </a:solidFill>
          <a:ln w="12700" cap="sq" cmpd="sng">
            <a:solidFill>
              <a:schemeClr val="bg2"/>
            </a:solidFill>
            <a:prstDash val="solid"/>
            <a:miter/>
            <a:headEnd type="none" w="sm" len="sm"/>
            <a:tailEnd type="none" w="sm" len="sm"/>
          </a:ln>
        </p:spPr>
        <p:txBody>
          <a:bodyPr/>
          <a:lstStyle/>
          <a:p>
            <a:endParaRPr lang="zh-CN" altLang="en-US"/>
          </a:p>
        </p:txBody>
      </p:sp>
      <p:sp>
        <p:nvSpPr>
          <p:cNvPr id="3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5" name="文本框 34"/>
          <p:cNvSpPr txBox="1"/>
          <p:nvPr/>
        </p:nvSpPr>
        <p:spPr>
          <a:xfrm>
            <a:off x="1405976" y="2027237"/>
            <a:ext cx="1295400" cy="396875"/>
          </a:xfrm>
          <a:prstGeom prst="rect">
            <a:avLst/>
          </a:prstGeom>
          <a:noFill/>
          <a:ln w="9525">
            <a:noFill/>
          </a:ln>
        </p:spPr>
        <p:txBody>
          <a:bodyPr>
            <a:spAutoFit/>
          </a:bodyPr>
          <a:lstStyle/>
          <a:p>
            <a:pPr>
              <a:spcBef>
                <a:spcPct val="50000"/>
              </a:spcBef>
            </a:pP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SS</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sym typeface="Symbol" panose="05050102010706020507" pitchFamily="18" charset="2"/>
              </a:rPr>
              <a:t></a:t>
            </a:r>
            <a:endParaRPr lang="en-US" altLang="zh-CN" b="1" dirty="0">
              <a:solidFill>
                <a:srgbClr val="000000"/>
              </a:solidFill>
              <a:latin typeface="Times New Roman" panose="02020603050405020304" pitchFamily="18" charset="0"/>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文本框 33793"/>
          <p:cNvSpPr txBox="1"/>
          <p:nvPr/>
        </p:nvSpPr>
        <p:spPr>
          <a:xfrm>
            <a:off x="1676400" y="2438400"/>
            <a:ext cx="1295400" cy="396875"/>
          </a:xfrm>
          <a:prstGeom prst="rect">
            <a:avLst/>
          </a:prstGeom>
          <a:noFill/>
          <a:ln w="9525">
            <a:noFill/>
          </a:ln>
        </p:spPr>
        <p:txBody>
          <a:bodyPr>
            <a:spAutoFit/>
          </a:bodyPr>
          <a:lstStyle/>
          <a:p>
            <a:pPr>
              <a:spcBef>
                <a:spcPct val="50000"/>
              </a:spcBef>
            </a:pPr>
            <a:r>
              <a:rPr lang="zh-CN" altLang="en-US" sz="2000" b="1">
                <a:solidFill>
                  <a:srgbClr val="000000"/>
                </a:solidFill>
                <a:latin typeface="Times New Roman" panose="02020603050405020304" pitchFamily="18" charset="0"/>
              </a:rPr>
              <a:t>（</a:t>
            </a:r>
            <a:r>
              <a:rPr lang="en-US" altLang="zh-CN" sz="2000" b="1">
                <a:solidFill>
                  <a:srgbClr val="000000"/>
                </a:solidFill>
                <a:latin typeface="Times New Roman" panose="02020603050405020304" pitchFamily="18" charset="0"/>
              </a:rPr>
              <a:t>SP</a:t>
            </a:r>
            <a:r>
              <a:rPr lang="zh-CN" altLang="en-US" sz="2000" b="1">
                <a:solidFill>
                  <a:srgbClr val="000000"/>
                </a:solidFill>
                <a:latin typeface="Times New Roman" panose="02020603050405020304" pitchFamily="18" charset="0"/>
              </a:rPr>
              <a:t>）</a:t>
            </a:r>
            <a:r>
              <a:rPr lang="en-US" altLang="zh-CN" sz="2000" b="1">
                <a:solidFill>
                  <a:srgbClr val="000000"/>
                </a:solidFill>
                <a:latin typeface="Times New Roman" panose="02020603050405020304" pitchFamily="18" charset="0"/>
                <a:sym typeface="Symbol" panose="05050102010706020507" pitchFamily="18" charset="2"/>
              </a:rPr>
              <a:t></a:t>
            </a:r>
            <a:endParaRPr lang="en-US" altLang="zh-CN" b="1">
              <a:solidFill>
                <a:srgbClr val="000000"/>
              </a:solidFill>
              <a:latin typeface="Times New Roman" panose="02020603050405020304" pitchFamily="18" charset="0"/>
            </a:endParaRPr>
          </a:p>
        </p:txBody>
      </p:sp>
      <p:sp>
        <p:nvSpPr>
          <p:cNvPr id="33795" name="直接连接符 33794"/>
          <p:cNvSpPr/>
          <p:nvPr/>
        </p:nvSpPr>
        <p:spPr>
          <a:xfrm>
            <a:off x="4191000" y="2133600"/>
            <a:ext cx="0" cy="2590800"/>
          </a:xfrm>
          <a:prstGeom prst="line">
            <a:avLst/>
          </a:prstGeom>
          <a:ln w="12700" cap="sq" cmpd="sng">
            <a:solidFill>
              <a:schemeClr val="bg2"/>
            </a:solidFill>
            <a:prstDash val="solid"/>
            <a:headEnd type="none" w="sm" len="sm"/>
            <a:tailEnd type="none" w="sm" len="sm"/>
          </a:ln>
        </p:spPr>
      </p:sp>
      <p:sp>
        <p:nvSpPr>
          <p:cNvPr id="33796" name="直接连接符 33795"/>
          <p:cNvSpPr/>
          <p:nvPr/>
        </p:nvSpPr>
        <p:spPr>
          <a:xfrm>
            <a:off x="2819400" y="4724400"/>
            <a:ext cx="1365250" cy="0"/>
          </a:xfrm>
          <a:prstGeom prst="line">
            <a:avLst/>
          </a:prstGeom>
          <a:ln w="12700" cap="sq" cmpd="sng">
            <a:solidFill>
              <a:schemeClr val="bg2"/>
            </a:solidFill>
            <a:prstDash val="solid"/>
            <a:headEnd type="none" w="sm" len="sm"/>
            <a:tailEnd type="none" w="sm" len="sm"/>
          </a:ln>
        </p:spPr>
      </p:sp>
      <p:sp>
        <p:nvSpPr>
          <p:cNvPr id="33797" name="直接连接符 33796"/>
          <p:cNvSpPr/>
          <p:nvPr/>
        </p:nvSpPr>
        <p:spPr>
          <a:xfrm>
            <a:off x="2825750" y="4343400"/>
            <a:ext cx="1365250" cy="0"/>
          </a:xfrm>
          <a:prstGeom prst="line">
            <a:avLst/>
          </a:prstGeom>
          <a:ln w="12700" cap="sq" cmpd="sng">
            <a:solidFill>
              <a:schemeClr val="bg2"/>
            </a:solidFill>
            <a:prstDash val="solid"/>
            <a:headEnd type="none" w="sm" len="sm"/>
            <a:tailEnd type="none" w="sm" len="sm"/>
          </a:ln>
        </p:spPr>
      </p:sp>
      <p:sp>
        <p:nvSpPr>
          <p:cNvPr id="33798" name="直接连接符 33797"/>
          <p:cNvSpPr/>
          <p:nvPr/>
        </p:nvSpPr>
        <p:spPr>
          <a:xfrm>
            <a:off x="2825750" y="3962400"/>
            <a:ext cx="1365250" cy="0"/>
          </a:xfrm>
          <a:prstGeom prst="line">
            <a:avLst/>
          </a:prstGeom>
          <a:ln w="12700" cap="sq" cmpd="sng">
            <a:solidFill>
              <a:schemeClr val="bg2"/>
            </a:solidFill>
            <a:prstDash val="solid"/>
            <a:headEnd type="none" w="sm" len="sm"/>
            <a:tailEnd type="none" w="sm" len="sm"/>
          </a:ln>
        </p:spPr>
      </p:sp>
      <p:sp>
        <p:nvSpPr>
          <p:cNvPr id="33799" name="直接连接符 33798"/>
          <p:cNvSpPr/>
          <p:nvPr/>
        </p:nvSpPr>
        <p:spPr>
          <a:xfrm>
            <a:off x="2825750" y="3581400"/>
            <a:ext cx="1365250" cy="0"/>
          </a:xfrm>
          <a:prstGeom prst="line">
            <a:avLst/>
          </a:prstGeom>
          <a:ln w="12700" cap="sq" cmpd="sng">
            <a:solidFill>
              <a:schemeClr val="bg2"/>
            </a:solidFill>
            <a:prstDash val="solid"/>
            <a:headEnd type="none" w="sm" len="sm"/>
            <a:tailEnd type="none" w="sm" len="sm"/>
          </a:ln>
        </p:spPr>
      </p:sp>
      <p:sp>
        <p:nvSpPr>
          <p:cNvPr id="33800" name="直接连接符 33799"/>
          <p:cNvSpPr/>
          <p:nvPr/>
        </p:nvSpPr>
        <p:spPr>
          <a:xfrm>
            <a:off x="2825750" y="3200400"/>
            <a:ext cx="1365250" cy="0"/>
          </a:xfrm>
          <a:prstGeom prst="line">
            <a:avLst/>
          </a:prstGeom>
          <a:ln w="12700" cap="sq" cmpd="sng">
            <a:solidFill>
              <a:schemeClr val="bg2"/>
            </a:solidFill>
            <a:prstDash val="solid"/>
            <a:headEnd type="none" w="sm" len="sm"/>
            <a:tailEnd type="none" w="sm" len="sm"/>
          </a:ln>
        </p:spPr>
      </p:sp>
      <p:sp>
        <p:nvSpPr>
          <p:cNvPr id="33801" name="文本框 33800"/>
          <p:cNvSpPr txBox="1"/>
          <p:nvPr/>
        </p:nvSpPr>
        <p:spPr>
          <a:xfrm>
            <a:off x="3184525" y="3276600"/>
            <a:ext cx="647700" cy="1552575"/>
          </a:xfrm>
          <a:prstGeom prst="rect">
            <a:avLst/>
          </a:prstGeom>
          <a:noFill/>
          <a:ln w="12700">
            <a:noFill/>
          </a:ln>
        </p:spPr>
        <p:txBody>
          <a:bodyPr>
            <a:spAutoFit/>
          </a:bodyPr>
          <a:lstStyle/>
          <a:p>
            <a:r>
              <a:rPr lang="en-US" altLang="zh-CN" dirty="0">
                <a:solidFill>
                  <a:srgbClr val="000000"/>
                </a:solidFill>
                <a:latin typeface="Times New Roman" panose="02020603050405020304" pitchFamily="18" charset="0"/>
              </a:rPr>
              <a:t>*  *</a:t>
            </a:r>
            <a:endParaRPr lang="en-US" altLang="zh-CN"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  *</a:t>
            </a:r>
            <a:endParaRPr lang="en-US" altLang="zh-CN"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  *</a:t>
            </a:r>
            <a:endParaRPr lang="en-US" altLang="zh-CN"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  *</a:t>
            </a:r>
            <a:endParaRPr lang="en-US" altLang="zh-CN">
              <a:solidFill>
                <a:srgbClr val="000000"/>
              </a:solidFill>
              <a:latin typeface="Times New Roman" panose="02020603050405020304" pitchFamily="18" charset="0"/>
            </a:endParaRPr>
          </a:p>
        </p:txBody>
      </p:sp>
      <p:sp>
        <p:nvSpPr>
          <p:cNvPr id="33802" name="直接连接符 33801"/>
          <p:cNvSpPr/>
          <p:nvPr/>
        </p:nvSpPr>
        <p:spPr>
          <a:xfrm>
            <a:off x="2825750" y="2133600"/>
            <a:ext cx="0" cy="2590800"/>
          </a:xfrm>
          <a:prstGeom prst="line">
            <a:avLst/>
          </a:prstGeom>
          <a:ln w="12700" cap="sq" cmpd="sng">
            <a:solidFill>
              <a:schemeClr val="bg2"/>
            </a:solidFill>
            <a:prstDash val="solid"/>
            <a:headEnd type="none" w="sm" len="sm"/>
            <a:tailEnd type="none" w="sm" len="sm"/>
          </a:ln>
        </p:spPr>
      </p:sp>
      <p:sp>
        <p:nvSpPr>
          <p:cNvPr id="33803" name="直接连接符 33802"/>
          <p:cNvSpPr/>
          <p:nvPr/>
        </p:nvSpPr>
        <p:spPr>
          <a:xfrm>
            <a:off x="2828925" y="2438400"/>
            <a:ext cx="1365250" cy="0"/>
          </a:xfrm>
          <a:prstGeom prst="line">
            <a:avLst/>
          </a:prstGeom>
          <a:ln w="12700" cap="sq" cmpd="sng">
            <a:solidFill>
              <a:schemeClr val="bg2"/>
            </a:solidFill>
            <a:prstDash val="solid"/>
            <a:headEnd type="none" w="sm" len="sm"/>
            <a:tailEnd type="none" w="sm" len="sm"/>
          </a:ln>
        </p:spPr>
      </p:sp>
      <p:sp>
        <p:nvSpPr>
          <p:cNvPr id="33804" name="矩形 33803"/>
          <p:cNvSpPr/>
          <p:nvPr/>
        </p:nvSpPr>
        <p:spPr>
          <a:xfrm>
            <a:off x="3200400" y="2465388"/>
            <a:ext cx="838200" cy="779462"/>
          </a:xfrm>
          <a:prstGeom prst="rect">
            <a:avLst/>
          </a:prstGeom>
          <a:noFill/>
          <a:ln w="12700">
            <a:noFill/>
          </a:ln>
        </p:spPr>
        <p:txBody>
          <a:bodyPr>
            <a:spAutoFit/>
          </a:bodyPr>
          <a:lstStyle/>
          <a:p>
            <a:pPr>
              <a:spcBef>
                <a:spcPct val="50000"/>
              </a:spcBef>
            </a:pPr>
            <a:r>
              <a:rPr lang="en-US" altLang="zh-CN" sz="1800" b="1">
                <a:solidFill>
                  <a:srgbClr val="000000"/>
                </a:solidFill>
                <a:latin typeface="Lucida Sans Unicode" panose="020B0602030504020204" pitchFamily="34" charset="0"/>
              </a:rPr>
              <a:t>07H</a:t>
            </a:r>
            <a:endParaRPr lang="en-US" altLang="zh-CN" sz="1800" b="1">
              <a:solidFill>
                <a:srgbClr val="000000"/>
              </a:solidFill>
              <a:latin typeface="Lucida Sans Unicode" panose="020B0602030504020204" pitchFamily="34" charset="0"/>
            </a:endParaRPr>
          </a:p>
          <a:p>
            <a:pPr>
              <a:spcBef>
                <a:spcPct val="50000"/>
              </a:spcBef>
            </a:pPr>
            <a:r>
              <a:rPr lang="en-US" altLang="zh-CN" sz="1800" b="1">
                <a:solidFill>
                  <a:srgbClr val="000000"/>
                </a:solidFill>
                <a:latin typeface="Lucida Sans Unicode" panose="020B0602030504020204" pitchFamily="34" charset="0"/>
              </a:rPr>
              <a:t>21H</a:t>
            </a:r>
            <a:endParaRPr lang="en-US" altLang="zh-CN" sz="1800" b="1">
              <a:solidFill>
                <a:srgbClr val="000000"/>
              </a:solidFill>
              <a:latin typeface="Lucida Sans Unicode" panose="020B0602030504020204" pitchFamily="34" charset="0"/>
            </a:endParaRPr>
          </a:p>
        </p:txBody>
      </p:sp>
      <p:sp>
        <p:nvSpPr>
          <p:cNvPr id="33805" name="直接连接符 33804"/>
          <p:cNvSpPr/>
          <p:nvPr/>
        </p:nvSpPr>
        <p:spPr>
          <a:xfrm>
            <a:off x="2828925" y="2819400"/>
            <a:ext cx="1365250" cy="0"/>
          </a:xfrm>
          <a:prstGeom prst="line">
            <a:avLst/>
          </a:prstGeom>
          <a:ln w="12700" cap="sq" cmpd="sng">
            <a:solidFill>
              <a:schemeClr val="bg2"/>
            </a:solidFill>
            <a:prstDash val="solid"/>
            <a:headEnd type="none" w="sm" len="sm"/>
            <a:tailEnd type="none" w="sm" len="sm"/>
          </a:ln>
        </p:spPr>
      </p:sp>
      <p:sp>
        <p:nvSpPr>
          <p:cNvPr id="33806" name="文本框 33805"/>
          <p:cNvSpPr txBox="1"/>
          <p:nvPr/>
        </p:nvSpPr>
        <p:spPr>
          <a:xfrm>
            <a:off x="2514600" y="5029200"/>
            <a:ext cx="2003425" cy="396875"/>
          </a:xfrm>
          <a:prstGeom prst="rect">
            <a:avLst/>
          </a:prstGeom>
          <a:noFill/>
          <a:ln w="12700">
            <a:noFill/>
          </a:ln>
        </p:spPr>
        <p:txBody>
          <a:bodyPr wrap="none">
            <a:spAutoFit/>
          </a:bodyPr>
          <a:lstStyle/>
          <a:p>
            <a:pPr>
              <a:spcBef>
                <a:spcPct val="50000"/>
              </a:spcBef>
            </a:pPr>
            <a:r>
              <a:rPr lang="zh-CN" altLang="zh-CN" sz="2000" b="1" dirty="0">
                <a:solidFill>
                  <a:srgbClr val="000000"/>
                </a:solidFill>
                <a:latin typeface="Times New Roman" panose="02020603050405020304" pitchFamily="18" charset="0"/>
              </a:rPr>
              <a:t>POP  BX 执行</a:t>
            </a:r>
            <a:r>
              <a:rPr lang="zh-CN" altLang="en-US" sz="2000" b="1" dirty="0">
                <a:solidFill>
                  <a:srgbClr val="000000"/>
                </a:solidFill>
                <a:latin typeface="Times New Roman" panose="02020603050405020304" pitchFamily="18" charset="0"/>
              </a:rPr>
              <a:t>前</a:t>
            </a:r>
            <a:endParaRPr lang="zh-CN" altLang="en-US" dirty="0">
              <a:solidFill>
                <a:srgbClr val="000000"/>
              </a:solidFill>
              <a:latin typeface="Times New Roman" panose="02020603050405020304" pitchFamily="18" charset="0"/>
            </a:endParaRPr>
          </a:p>
        </p:txBody>
      </p:sp>
      <p:sp>
        <p:nvSpPr>
          <p:cNvPr id="33807" name="文本框 33806"/>
          <p:cNvSpPr txBox="1"/>
          <p:nvPr/>
        </p:nvSpPr>
        <p:spPr>
          <a:xfrm>
            <a:off x="4419600" y="3200400"/>
            <a:ext cx="1295400" cy="396875"/>
          </a:xfrm>
          <a:prstGeom prst="rect">
            <a:avLst/>
          </a:prstGeom>
          <a:noFill/>
          <a:ln w="9525">
            <a:noFill/>
          </a:ln>
        </p:spPr>
        <p:txBody>
          <a:bodyPr>
            <a:spAutoFit/>
          </a:bodyPr>
          <a:lstStyle/>
          <a:p>
            <a:pPr>
              <a:spcBef>
                <a:spcPct val="50000"/>
              </a:spcBef>
            </a:pPr>
            <a:r>
              <a:rPr lang="zh-CN" altLang="en-US" sz="2000" b="1">
                <a:solidFill>
                  <a:srgbClr val="000000"/>
                </a:solidFill>
                <a:latin typeface="Times New Roman" panose="02020603050405020304" pitchFamily="18" charset="0"/>
              </a:rPr>
              <a:t>（</a:t>
            </a:r>
            <a:r>
              <a:rPr lang="en-US" altLang="zh-CN" sz="2000" b="1">
                <a:solidFill>
                  <a:srgbClr val="000000"/>
                </a:solidFill>
                <a:latin typeface="Times New Roman" panose="02020603050405020304" pitchFamily="18" charset="0"/>
              </a:rPr>
              <a:t>SP</a:t>
            </a:r>
            <a:r>
              <a:rPr lang="zh-CN" altLang="en-US" sz="2000" b="1">
                <a:solidFill>
                  <a:srgbClr val="000000"/>
                </a:solidFill>
                <a:latin typeface="Times New Roman" panose="02020603050405020304" pitchFamily="18" charset="0"/>
              </a:rPr>
              <a:t>）</a:t>
            </a:r>
            <a:r>
              <a:rPr lang="en-US" altLang="zh-CN" sz="2000" b="1">
                <a:solidFill>
                  <a:srgbClr val="000000"/>
                </a:solidFill>
                <a:latin typeface="Times New Roman" panose="02020603050405020304" pitchFamily="18" charset="0"/>
                <a:sym typeface="Symbol" panose="05050102010706020507" pitchFamily="18" charset="2"/>
              </a:rPr>
              <a:t></a:t>
            </a:r>
            <a:endParaRPr lang="en-US" altLang="zh-CN" b="1">
              <a:solidFill>
                <a:srgbClr val="000000"/>
              </a:solidFill>
              <a:latin typeface="Times New Roman" panose="02020603050405020304" pitchFamily="18" charset="0"/>
            </a:endParaRPr>
          </a:p>
        </p:txBody>
      </p:sp>
      <p:sp>
        <p:nvSpPr>
          <p:cNvPr id="33808" name="直接连接符 33807"/>
          <p:cNvSpPr/>
          <p:nvPr/>
        </p:nvSpPr>
        <p:spPr>
          <a:xfrm>
            <a:off x="6934200" y="2133600"/>
            <a:ext cx="0" cy="2590800"/>
          </a:xfrm>
          <a:prstGeom prst="line">
            <a:avLst/>
          </a:prstGeom>
          <a:ln w="12700" cap="sq" cmpd="sng">
            <a:solidFill>
              <a:schemeClr val="bg2"/>
            </a:solidFill>
            <a:prstDash val="solid"/>
            <a:headEnd type="none" w="sm" len="sm"/>
            <a:tailEnd type="none" w="sm" len="sm"/>
          </a:ln>
        </p:spPr>
      </p:sp>
      <p:sp>
        <p:nvSpPr>
          <p:cNvPr id="33809" name="直接连接符 33808"/>
          <p:cNvSpPr/>
          <p:nvPr/>
        </p:nvSpPr>
        <p:spPr>
          <a:xfrm>
            <a:off x="5562600" y="4724400"/>
            <a:ext cx="1365250" cy="0"/>
          </a:xfrm>
          <a:prstGeom prst="line">
            <a:avLst/>
          </a:prstGeom>
          <a:ln w="12700" cap="sq" cmpd="sng">
            <a:solidFill>
              <a:schemeClr val="bg2"/>
            </a:solidFill>
            <a:prstDash val="solid"/>
            <a:headEnd type="none" w="sm" len="sm"/>
            <a:tailEnd type="none" w="sm" len="sm"/>
          </a:ln>
        </p:spPr>
      </p:sp>
      <p:sp>
        <p:nvSpPr>
          <p:cNvPr id="33810" name="直接连接符 33809"/>
          <p:cNvSpPr/>
          <p:nvPr/>
        </p:nvSpPr>
        <p:spPr>
          <a:xfrm>
            <a:off x="5568950" y="4343400"/>
            <a:ext cx="1365250" cy="0"/>
          </a:xfrm>
          <a:prstGeom prst="line">
            <a:avLst/>
          </a:prstGeom>
          <a:ln w="12700" cap="sq" cmpd="sng">
            <a:solidFill>
              <a:schemeClr val="bg2"/>
            </a:solidFill>
            <a:prstDash val="solid"/>
            <a:headEnd type="none" w="sm" len="sm"/>
            <a:tailEnd type="none" w="sm" len="sm"/>
          </a:ln>
        </p:spPr>
      </p:sp>
      <p:sp>
        <p:nvSpPr>
          <p:cNvPr id="33811" name="直接连接符 33810"/>
          <p:cNvSpPr/>
          <p:nvPr/>
        </p:nvSpPr>
        <p:spPr>
          <a:xfrm>
            <a:off x="5568950" y="3962400"/>
            <a:ext cx="1365250" cy="0"/>
          </a:xfrm>
          <a:prstGeom prst="line">
            <a:avLst/>
          </a:prstGeom>
          <a:ln w="12700" cap="sq" cmpd="sng">
            <a:solidFill>
              <a:schemeClr val="bg2"/>
            </a:solidFill>
            <a:prstDash val="solid"/>
            <a:headEnd type="none" w="sm" len="sm"/>
            <a:tailEnd type="none" w="sm" len="sm"/>
          </a:ln>
        </p:spPr>
      </p:sp>
      <p:sp>
        <p:nvSpPr>
          <p:cNvPr id="33812" name="直接连接符 33811"/>
          <p:cNvSpPr/>
          <p:nvPr/>
        </p:nvSpPr>
        <p:spPr>
          <a:xfrm>
            <a:off x="5568950" y="3581400"/>
            <a:ext cx="1365250" cy="0"/>
          </a:xfrm>
          <a:prstGeom prst="line">
            <a:avLst/>
          </a:prstGeom>
          <a:ln w="12700" cap="sq" cmpd="sng">
            <a:solidFill>
              <a:schemeClr val="bg2"/>
            </a:solidFill>
            <a:prstDash val="solid"/>
            <a:headEnd type="none" w="sm" len="sm"/>
            <a:tailEnd type="none" w="sm" len="sm"/>
          </a:ln>
        </p:spPr>
      </p:sp>
      <p:sp>
        <p:nvSpPr>
          <p:cNvPr id="33813" name="直接连接符 33812"/>
          <p:cNvSpPr/>
          <p:nvPr/>
        </p:nvSpPr>
        <p:spPr>
          <a:xfrm>
            <a:off x="5568950" y="3200400"/>
            <a:ext cx="1365250" cy="0"/>
          </a:xfrm>
          <a:prstGeom prst="line">
            <a:avLst/>
          </a:prstGeom>
          <a:ln w="12700" cap="sq" cmpd="sng">
            <a:solidFill>
              <a:schemeClr val="bg2"/>
            </a:solidFill>
            <a:prstDash val="solid"/>
            <a:headEnd type="none" w="sm" len="sm"/>
            <a:tailEnd type="none" w="sm" len="sm"/>
          </a:ln>
        </p:spPr>
      </p:sp>
      <p:sp>
        <p:nvSpPr>
          <p:cNvPr id="33814" name="文本框 33813"/>
          <p:cNvSpPr txBox="1"/>
          <p:nvPr/>
        </p:nvSpPr>
        <p:spPr>
          <a:xfrm>
            <a:off x="5927725" y="3276600"/>
            <a:ext cx="647700" cy="1552575"/>
          </a:xfrm>
          <a:prstGeom prst="rect">
            <a:avLst/>
          </a:prstGeom>
          <a:noFill/>
          <a:ln w="12700">
            <a:noFill/>
          </a:ln>
        </p:spPr>
        <p:txBody>
          <a:bodyPr>
            <a:spAutoFit/>
          </a:bodyPr>
          <a:lstStyle/>
          <a:p>
            <a:r>
              <a:rPr lang="en-US" altLang="zh-CN" dirty="0">
                <a:solidFill>
                  <a:srgbClr val="000000"/>
                </a:solidFill>
                <a:latin typeface="Times New Roman" panose="02020603050405020304" pitchFamily="18" charset="0"/>
              </a:rPr>
              <a:t>*  *</a:t>
            </a:r>
            <a:endParaRPr lang="en-US" altLang="zh-CN"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  *</a:t>
            </a:r>
            <a:endParaRPr lang="en-US" altLang="zh-CN"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  *</a:t>
            </a:r>
            <a:endParaRPr lang="en-US" altLang="zh-CN" dirty="0">
              <a:solidFill>
                <a:srgbClr val="000000"/>
              </a:solidFill>
              <a:latin typeface="Times New Roman" panose="02020603050405020304" pitchFamily="18" charset="0"/>
            </a:endParaRPr>
          </a:p>
          <a:p>
            <a:r>
              <a:rPr lang="en-US" altLang="zh-CN" dirty="0">
                <a:solidFill>
                  <a:srgbClr val="000000"/>
                </a:solidFill>
                <a:latin typeface="Times New Roman" panose="02020603050405020304" pitchFamily="18" charset="0"/>
              </a:rPr>
              <a:t>*  *</a:t>
            </a:r>
            <a:endParaRPr lang="en-US" altLang="zh-CN">
              <a:solidFill>
                <a:srgbClr val="000000"/>
              </a:solidFill>
              <a:latin typeface="Times New Roman" panose="02020603050405020304" pitchFamily="18" charset="0"/>
            </a:endParaRPr>
          </a:p>
        </p:txBody>
      </p:sp>
      <p:sp>
        <p:nvSpPr>
          <p:cNvPr id="33815" name="直接连接符 33814"/>
          <p:cNvSpPr/>
          <p:nvPr/>
        </p:nvSpPr>
        <p:spPr>
          <a:xfrm>
            <a:off x="5568950" y="2133600"/>
            <a:ext cx="0" cy="2590800"/>
          </a:xfrm>
          <a:prstGeom prst="line">
            <a:avLst/>
          </a:prstGeom>
          <a:ln w="12700" cap="sq" cmpd="sng">
            <a:solidFill>
              <a:schemeClr val="bg2"/>
            </a:solidFill>
            <a:prstDash val="solid"/>
            <a:headEnd type="none" w="sm" len="sm"/>
            <a:tailEnd type="none" w="sm" len="sm"/>
          </a:ln>
        </p:spPr>
      </p:sp>
      <p:sp>
        <p:nvSpPr>
          <p:cNvPr id="33816" name="直接连接符 33815"/>
          <p:cNvSpPr/>
          <p:nvPr/>
        </p:nvSpPr>
        <p:spPr>
          <a:xfrm>
            <a:off x="5572125" y="2438400"/>
            <a:ext cx="1365250" cy="0"/>
          </a:xfrm>
          <a:prstGeom prst="line">
            <a:avLst/>
          </a:prstGeom>
          <a:ln w="12700" cap="sq" cmpd="sng">
            <a:solidFill>
              <a:schemeClr val="bg2"/>
            </a:solidFill>
            <a:prstDash val="solid"/>
            <a:headEnd type="none" w="sm" len="sm"/>
            <a:tailEnd type="none" w="sm" len="sm"/>
          </a:ln>
        </p:spPr>
      </p:sp>
      <p:sp>
        <p:nvSpPr>
          <p:cNvPr id="33817" name="矩形 33816"/>
          <p:cNvSpPr/>
          <p:nvPr/>
        </p:nvSpPr>
        <p:spPr>
          <a:xfrm>
            <a:off x="5943600" y="2465388"/>
            <a:ext cx="838200" cy="779462"/>
          </a:xfrm>
          <a:prstGeom prst="rect">
            <a:avLst/>
          </a:prstGeom>
          <a:noFill/>
          <a:ln w="12700">
            <a:noFill/>
          </a:ln>
        </p:spPr>
        <p:txBody>
          <a:bodyPr>
            <a:spAutoFit/>
          </a:bodyPr>
          <a:lstStyle/>
          <a:p>
            <a:pPr>
              <a:spcBef>
                <a:spcPct val="50000"/>
              </a:spcBef>
            </a:pPr>
            <a:r>
              <a:rPr lang="en-US" altLang="zh-CN" sz="1800" b="1">
                <a:solidFill>
                  <a:srgbClr val="000000"/>
                </a:solidFill>
                <a:latin typeface="Lucida Sans Unicode" panose="020B0602030504020204" pitchFamily="34" charset="0"/>
              </a:rPr>
              <a:t>07H</a:t>
            </a:r>
            <a:endParaRPr lang="en-US" altLang="zh-CN" sz="1800" b="1">
              <a:solidFill>
                <a:srgbClr val="000000"/>
              </a:solidFill>
              <a:latin typeface="Lucida Sans Unicode" panose="020B0602030504020204" pitchFamily="34" charset="0"/>
            </a:endParaRPr>
          </a:p>
          <a:p>
            <a:pPr>
              <a:spcBef>
                <a:spcPct val="50000"/>
              </a:spcBef>
            </a:pPr>
            <a:r>
              <a:rPr lang="en-US" altLang="zh-CN" sz="1800" b="1">
                <a:solidFill>
                  <a:srgbClr val="000000"/>
                </a:solidFill>
                <a:latin typeface="Lucida Sans Unicode" panose="020B0602030504020204" pitchFamily="34" charset="0"/>
              </a:rPr>
              <a:t>21H</a:t>
            </a:r>
            <a:endParaRPr lang="en-US" altLang="zh-CN" sz="1800" b="1">
              <a:solidFill>
                <a:srgbClr val="000000"/>
              </a:solidFill>
              <a:latin typeface="Lucida Sans Unicode" panose="020B0602030504020204" pitchFamily="34" charset="0"/>
            </a:endParaRPr>
          </a:p>
        </p:txBody>
      </p:sp>
      <p:sp>
        <p:nvSpPr>
          <p:cNvPr id="33818" name="文本框 33817"/>
          <p:cNvSpPr txBox="1"/>
          <p:nvPr/>
        </p:nvSpPr>
        <p:spPr>
          <a:xfrm>
            <a:off x="7010400" y="2057400"/>
            <a:ext cx="1143000" cy="2682875"/>
          </a:xfrm>
          <a:prstGeom prst="rect">
            <a:avLst/>
          </a:prstGeom>
          <a:noFill/>
          <a:ln w="9525">
            <a:noFill/>
          </a:ln>
        </p:spPr>
        <p:txBody>
          <a:bodyPr>
            <a:spAutoFit/>
          </a:bodyPr>
          <a:lstStyle/>
          <a:p>
            <a:pPr>
              <a:spcBef>
                <a:spcPct val="50000"/>
              </a:spcBef>
            </a:pPr>
            <a:r>
              <a:rPr lang="zh-CN" altLang="en-US" sz="2000" b="1" dirty="0">
                <a:solidFill>
                  <a:srgbClr val="000000"/>
                </a:solidFill>
                <a:latin typeface="Times New Roman" panose="02020603050405020304" pitchFamily="18" charset="0"/>
                <a:ea typeface="楷体_GB2312" pitchFamily="49" charset="-122"/>
              </a:rPr>
              <a:t>低地址</a:t>
            </a:r>
            <a:endParaRPr lang="zh-CN" altLang="en-US" sz="2000" b="1" dirty="0">
              <a:solidFill>
                <a:srgbClr val="000000"/>
              </a:solidFill>
              <a:latin typeface="Times New Roman" panose="02020603050405020304" pitchFamily="18" charset="0"/>
              <a:ea typeface="楷体_GB2312" pitchFamily="49" charset="-122"/>
            </a:endParaRPr>
          </a:p>
          <a:p>
            <a:pPr>
              <a:spcBef>
                <a:spcPct val="50000"/>
              </a:spcBef>
            </a:pPr>
            <a:endParaRPr lang="zh-CN" altLang="en-US" sz="2000" b="1" dirty="0">
              <a:solidFill>
                <a:srgbClr val="000000"/>
              </a:solidFill>
              <a:latin typeface="Times New Roman" panose="02020603050405020304" pitchFamily="18" charset="0"/>
              <a:ea typeface="楷体_GB2312" pitchFamily="49" charset="-122"/>
            </a:endParaRPr>
          </a:p>
          <a:p>
            <a:pPr>
              <a:spcBef>
                <a:spcPct val="50000"/>
              </a:spcBef>
            </a:pPr>
            <a:endParaRPr lang="zh-CN" altLang="en-US" sz="2000" b="1" dirty="0">
              <a:solidFill>
                <a:srgbClr val="000000"/>
              </a:solidFill>
              <a:latin typeface="Times New Roman" panose="02020603050405020304" pitchFamily="18" charset="0"/>
              <a:ea typeface="楷体_GB2312" pitchFamily="49" charset="-122"/>
            </a:endParaRPr>
          </a:p>
          <a:p>
            <a:pPr>
              <a:spcBef>
                <a:spcPct val="50000"/>
              </a:spcBef>
            </a:pPr>
            <a:endParaRPr lang="zh-CN" altLang="en-US" sz="2000" b="1" dirty="0">
              <a:solidFill>
                <a:srgbClr val="000000"/>
              </a:solidFill>
              <a:latin typeface="Times New Roman" panose="02020603050405020304" pitchFamily="18" charset="0"/>
              <a:ea typeface="楷体_GB2312" pitchFamily="49" charset="-122"/>
            </a:endParaRPr>
          </a:p>
          <a:p>
            <a:pPr>
              <a:spcBef>
                <a:spcPct val="50000"/>
              </a:spcBef>
            </a:pPr>
            <a:r>
              <a:rPr lang="zh-CN" altLang="en-US" sz="2000" b="1" dirty="0">
                <a:solidFill>
                  <a:srgbClr val="000000"/>
                </a:solidFill>
                <a:latin typeface="Times New Roman" panose="02020603050405020304" pitchFamily="18" charset="0"/>
                <a:ea typeface="楷体_GB2312" pitchFamily="49" charset="-122"/>
              </a:rPr>
              <a:t>  </a:t>
            </a:r>
            <a:endParaRPr lang="zh-CN" altLang="en-US" sz="2000" b="1" dirty="0">
              <a:solidFill>
                <a:srgbClr val="000000"/>
              </a:solidFill>
              <a:latin typeface="Times New Roman" panose="02020603050405020304" pitchFamily="18" charset="0"/>
              <a:ea typeface="楷体_GB2312" pitchFamily="49" charset="-122"/>
            </a:endParaRPr>
          </a:p>
          <a:p>
            <a:pPr>
              <a:spcBef>
                <a:spcPct val="50000"/>
              </a:spcBef>
            </a:pPr>
            <a:r>
              <a:rPr lang="zh-CN" altLang="en-US" sz="2000" b="1" dirty="0">
                <a:solidFill>
                  <a:srgbClr val="000000"/>
                </a:solidFill>
                <a:latin typeface="Times New Roman" panose="02020603050405020304" pitchFamily="18" charset="0"/>
                <a:ea typeface="楷体_GB2312" pitchFamily="49" charset="-122"/>
              </a:rPr>
              <a:t>高地址</a:t>
            </a:r>
            <a:endParaRPr lang="zh-CN" altLang="en-US" sz="2000" b="1">
              <a:solidFill>
                <a:srgbClr val="000000"/>
              </a:solidFill>
              <a:latin typeface="Times New Roman" panose="02020603050405020304" pitchFamily="18" charset="0"/>
              <a:ea typeface="楷体_GB2312" pitchFamily="49" charset="-122"/>
            </a:endParaRPr>
          </a:p>
        </p:txBody>
      </p:sp>
      <p:sp>
        <p:nvSpPr>
          <p:cNvPr id="33819" name="直接连接符 33818"/>
          <p:cNvSpPr/>
          <p:nvPr/>
        </p:nvSpPr>
        <p:spPr>
          <a:xfrm>
            <a:off x="5572125" y="2819400"/>
            <a:ext cx="1365250" cy="0"/>
          </a:xfrm>
          <a:prstGeom prst="line">
            <a:avLst/>
          </a:prstGeom>
          <a:ln w="12700" cap="sq" cmpd="sng">
            <a:solidFill>
              <a:schemeClr val="bg2"/>
            </a:solidFill>
            <a:prstDash val="solid"/>
            <a:headEnd type="none" w="sm" len="sm"/>
            <a:tailEnd type="none" w="sm" len="sm"/>
          </a:ln>
        </p:spPr>
      </p:sp>
      <p:sp>
        <p:nvSpPr>
          <p:cNvPr id="33820" name="文本框 33819"/>
          <p:cNvSpPr txBox="1"/>
          <p:nvPr/>
        </p:nvSpPr>
        <p:spPr>
          <a:xfrm>
            <a:off x="5105400" y="5029200"/>
            <a:ext cx="2193925" cy="900113"/>
          </a:xfrm>
          <a:prstGeom prst="rect">
            <a:avLst/>
          </a:prstGeom>
          <a:noFill/>
          <a:ln w="12700">
            <a:noFill/>
          </a:ln>
        </p:spPr>
        <p:txBody>
          <a:bodyPr wrap="none">
            <a:spAutoFit/>
          </a:bodyPr>
          <a:lstStyle/>
          <a:p>
            <a:pPr>
              <a:spcBef>
                <a:spcPct val="50000"/>
              </a:spcBef>
            </a:pPr>
            <a:r>
              <a:rPr lang="zh-CN" altLang="zh-CN" sz="2000" b="1" dirty="0">
                <a:solidFill>
                  <a:srgbClr val="000000"/>
                </a:solidFill>
                <a:latin typeface="Times New Roman" panose="02020603050405020304" pitchFamily="18" charset="0"/>
              </a:rPr>
              <a:t>   POP  BX 执行后</a:t>
            </a:r>
            <a:endParaRPr lang="en-US" altLang="zh-CN" sz="2000" b="1">
              <a:solidFill>
                <a:srgbClr val="000000"/>
              </a:solidFill>
              <a:latin typeface="Times New Roman" panose="02020603050405020304" pitchFamily="18" charset="0"/>
            </a:endParaRPr>
          </a:p>
          <a:p>
            <a:pPr>
              <a:spcBef>
                <a:spcPct val="50000"/>
              </a:spcBef>
            </a:pPr>
            <a:r>
              <a:rPr lang="en-US" altLang="zh-CN" sz="2200" b="1" dirty="0">
                <a:solidFill>
                  <a:srgbClr val="000000"/>
                </a:solidFill>
                <a:latin typeface="Times New Roman" panose="02020603050405020304" pitchFamily="18" charset="0"/>
              </a:rPr>
              <a:t>    </a:t>
            </a:r>
            <a:r>
              <a:rPr lang="en-US" altLang="zh-CN" sz="2200" b="1">
                <a:solidFill>
                  <a:srgbClr val="000000"/>
                </a:solidFill>
                <a:latin typeface="Times New Roman" panose="02020603050405020304" pitchFamily="18" charset="0"/>
              </a:rPr>
              <a:t>(BX) = 2107H</a:t>
            </a:r>
            <a:endParaRPr lang="en-US" altLang="zh-CN" sz="2200" b="1">
              <a:solidFill>
                <a:srgbClr val="000000"/>
              </a:solidFill>
              <a:latin typeface="Times New Roman" panose="02020603050405020304" pitchFamily="18" charset="0"/>
            </a:endParaRPr>
          </a:p>
        </p:txBody>
      </p:sp>
      <p:sp>
        <p:nvSpPr>
          <p:cNvPr id="33821" name="文本框 33820"/>
          <p:cNvSpPr txBox="1"/>
          <p:nvPr/>
        </p:nvSpPr>
        <p:spPr>
          <a:xfrm>
            <a:off x="1935162" y="1171576"/>
            <a:ext cx="2209800" cy="427038"/>
          </a:xfrm>
          <a:prstGeom prst="rect">
            <a:avLst/>
          </a:prstGeom>
          <a:noFill/>
          <a:ln w="9525">
            <a:noFill/>
          </a:ln>
        </p:spPr>
        <p:txBody>
          <a:bodyPr>
            <a:spAutoFit/>
          </a:bodyPr>
          <a:lstStyle/>
          <a:p>
            <a:pPr>
              <a:spcBef>
                <a:spcPct val="50000"/>
              </a:spcBef>
            </a:pPr>
            <a:r>
              <a:rPr lang="zh-CN" altLang="en-US" sz="2200" b="1" dirty="0">
                <a:solidFill>
                  <a:srgbClr val="000000"/>
                </a:solidFill>
                <a:latin typeface="Times New Roman" panose="02020603050405020304" pitchFamily="18" charset="0"/>
              </a:rPr>
              <a:t>例：  </a:t>
            </a:r>
            <a:r>
              <a:rPr lang="en-US" altLang="zh-CN" sz="2200" b="1" dirty="0">
                <a:solidFill>
                  <a:srgbClr val="000000"/>
                </a:solidFill>
                <a:latin typeface="Times New Roman" panose="02020603050405020304" pitchFamily="18" charset="0"/>
              </a:rPr>
              <a:t>POP  BX</a:t>
            </a:r>
            <a:endParaRPr lang="en-US" altLang="zh-CN" sz="2200" dirty="0">
              <a:solidFill>
                <a:srgbClr val="000000"/>
              </a:solidFill>
              <a:latin typeface="Times New Roman" panose="02020603050405020304" pitchFamily="18" charset="0"/>
            </a:endParaRPr>
          </a:p>
        </p:txBody>
      </p:sp>
      <p:grpSp>
        <p:nvGrpSpPr>
          <p:cNvPr id="33822" name="组合 33821"/>
          <p:cNvGrpSpPr/>
          <p:nvPr/>
        </p:nvGrpSpPr>
        <p:grpSpPr>
          <a:xfrm>
            <a:off x="7162800" y="3048000"/>
            <a:ext cx="1219200" cy="838200"/>
            <a:chOff x="4704" y="96"/>
            <a:chExt cx="768" cy="528"/>
          </a:xfrm>
        </p:grpSpPr>
        <p:sp>
          <p:nvSpPr>
            <p:cNvPr id="33823" name="直接连接符 33822"/>
            <p:cNvSpPr/>
            <p:nvPr/>
          </p:nvSpPr>
          <p:spPr>
            <a:xfrm rot="10800000" flipV="1">
              <a:off x="4704" y="96"/>
              <a:ext cx="0" cy="528"/>
            </a:xfrm>
            <a:prstGeom prst="line">
              <a:avLst/>
            </a:prstGeom>
            <a:ln w="9525" cap="flat" cmpd="sng">
              <a:solidFill>
                <a:schemeClr val="tx2"/>
              </a:solidFill>
              <a:prstDash val="solid"/>
              <a:headEnd type="none" w="med" len="med"/>
              <a:tailEnd type="triangle" w="lg" len="lg"/>
            </a:ln>
          </p:spPr>
        </p:sp>
        <p:sp>
          <p:nvSpPr>
            <p:cNvPr id="33824" name="文本框 33823"/>
            <p:cNvSpPr txBox="1"/>
            <p:nvPr/>
          </p:nvSpPr>
          <p:spPr>
            <a:xfrm>
              <a:off x="4704" y="288"/>
              <a:ext cx="768" cy="250"/>
            </a:xfrm>
            <a:prstGeom prst="rect">
              <a:avLst/>
            </a:prstGeom>
            <a:noFill/>
            <a:ln w="9525">
              <a:noFill/>
            </a:ln>
          </p:spPr>
          <p:txBody>
            <a:bodyPr>
              <a:spAutoFit/>
            </a:bodyPr>
            <a:lstStyle/>
            <a:p>
              <a:pPr>
                <a:spcBef>
                  <a:spcPct val="50000"/>
                </a:spcBef>
              </a:pPr>
              <a:r>
                <a:rPr lang="zh-CN" altLang="en-US" sz="2000" b="1" dirty="0">
                  <a:solidFill>
                    <a:srgbClr val="000000"/>
                  </a:solidFill>
                  <a:latin typeface="Times New Roman" panose="02020603050405020304" pitchFamily="18" charset="0"/>
                </a:rPr>
                <a:t>出栈方向</a:t>
              </a:r>
              <a:endParaRPr lang="zh-CN" altLang="en-US" sz="2000" b="1">
                <a:solidFill>
                  <a:srgbClr val="000000"/>
                </a:solidFill>
                <a:latin typeface="Times New Roman" panose="02020603050405020304" pitchFamily="18" charset="0"/>
              </a:endParaRPr>
            </a:p>
          </p:txBody>
        </p:sp>
      </p:grpSp>
      <p:sp>
        <p:nvSpPr>
          <p:cNvPr id="3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4" name="文本框 33"/>
          <p:cNvSpPr txBox="1"/>
          <p:nvPr/>
        </p:nvSpPr>
        <p:spPr>
          <a:xfrm>
            <a:off x="1960133" y="6172199"/>
            <a:ext cx="4461734" cy="400110"/>
          </a:xfrm>
          <a:prstGeom prst="rect">
            <a:avLst/>
          </a:prstGeom>
          <a:noFill/>
          <a:ln w="12700">
            <a:noFill/>
          </a:ln>
        </p:spPr>
        <p:txBody>
          <a:bodyPr wrap="none">
            <a:spAutoFit/>
          </a:bodyPr>
          <a:lstStyle/>
          <a:p>
            <a:pPr>
              <a:spcBef>
                <a:spcPct val="50000"/>
              </a:spcBef>
            </a:pPr>
            <a:r>
              <a:rPr lang="zh-CN" altLang="en-US" sz="2000" b="1" dirty="0">
                <a:solidFill>
                  <a:srgbClr val="FF0000"/>
                </a:solidFill>
                <a:latin typeface="Times New Roman" panose="02020603050405020304" pitchFamily="18" charset="0"/>
              </a:rPr>
              <a:t>执行完</a:t>
            </a:r>
            <a:r>
              <a:rPr lang="zh-CN" altLang="zh-CN" sz="2000" b="1" dirty="0">
                <a:solidFill>
                  <a:srgbClr val="FF0000"/>
                </a:solidFill>
                <a:latin typeface="Times New Roman" panose="02020603050405020304" pitchFamily="18" charset="0"/>
              </a:rPr>
              <a:t>POP  BX</a:t>
            </a:r>
            <a:r>
              <a:rPr lang="zh-CN" altLang="en-US" sz="2000" b="1" dirty="0">
                <a:solidFill>
                  <a:srgbClr val="FF0000"/>
                </a:solidFill>
                <a:latin typeface="Times New Roman" panose="02020603050405020304" pitchFamily="18" charset="0"/>
              </a:rPr>
              <a:t>后，</a:t>
            </a:r>
            <a:r>
              <a:rPr lang="en-US" altLang="zh-CN" sz="2000" b="1" dirty="0">
                <a:solidFill>
                  <a:srgbClr val="FF0000"/>
                </a:solidFill>
                <a:latin typeface="Times New Roman" panose="02020603050405020304" pitchFamily="18" charset="0"/>
              </a:rPr>
              <a:t>2107H</a:t>
            </a:r>
            <a:r>
              <a:rPr lang="zh-CN" altLang="en-US" sz="2000" b="1" dirty="0">
                <a:solidFill>
                  <a:srgbClr val="FF0000"/>
                </a:solidFill>
                <a:latin typeface="Times New Roman" panose="02020603050405020304" pitchFamily="18" charset="0"/>
              </a:rPr>
              <a:t>还在不在？</a:t>
            </a:r>
            <a:endParaRPr lang="zh-CN" altLang="en-US" dirty="0">
              <a:solidFill>
                <a:srgbClr val="FF00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4" name="文本框 3"/>
          <p:cNvSpPr txBox="1"/>
          <p:nvPr/>
        </p:nvSpPr>
        <p:spPr>
          <a:xfrm>
            <a:off x="359532" y="1016732"/>
            <a:ext cx="8424936" cy="1277273"/>
          </a:xfrm>
          <a:prstGeom prst="rect">
            <a:avLst/>
          </a:prstGeom>
          <a:noFill/>
          <a:ln w="9525">
            <a:noFill/>
          </a:ln>
        </p:spPr>
        <p:txBody>
          <a:bodyPr wrap="square">
            <a:spAutoFit/>
          </a:bodyPr>
          <a:lstStyle/>
          <a:p>
            <a:pPr>
              <a:spcBef>
                <a:spcPct val="50000"/>
              </a:spcBef>
            </a:pPr>
            <a:r>
              <a:rPr lang="zh-CN" altLang="en-US" sz="2200" b="1" dirty="0">
                <a:solidFill>
                  <a:srgbClr val="000000"/>
                </a:solidFill>
                <a:latin typeface="Times New Roman" panose="02020603050405020304" pitchFamily="18" charset="0"/>
              </a:rPr>
              <a:t>例：开辟一个</a:t>
            </a:r>
            <a:r>
              <a:rPr lang="en-US" altLang="zh-CN" sz="2200" b="1" dirty="0">
                <a:solidFill>
                  <a:srgbClr val="000000"/>
                </a:solidFill>
                <a:latin typeface="Times New Roman" panose="02020603050405020304" pitchFamily="18" charset="0"/>
              </a:rPr>
              <a:t>16</a:t>
            </a:r>
            <a:r>
              <a:rPr lang="zh-CN" altLang="en-US" sz="2200" b="1" dirty="0">
                <a:solidFill>
                  <a:srgbClr val="000000"/>
                </a:solidFill>
                <a:latin typeface="Times New Roman" panose="02020603050405020304" pitchFamily="18" charset="0"/>
              </a:rPr>
              <a:t>字节的堆栈，其</a:t>
            </a:r>
            <a:r>
              <a:rPr lang="en-US" altLang="zh-CN" sz="2200" b="1" dirty="0">
                <a:solidFill>
                  <a:srgbClr val="000000"/>
                </a:solidFill>
                <a:latin typeface="Times New Roman" panose="02020603050405020304" pitchFamily="18" charset="0"/>
              </a:rPr>
              <a:t>SS=1000H</a:t>
            </a:r>
            <a:r>
              <a:rPr lang="zh-CN" altLang="en-US" sz="2200" b="1" dirty="0">
                <a:solidFill>
                  <a:srgbClr val="000000"/>
                </a:solidFill>
                <a:latin typeface="Times New Roman" panose="02020603050405020304" pitchFamily="18" charset="0"/>
              </a:rPr>
              <a:t>，</a:t>
            </a:r>
            <a:r>
              <a:rPr lang="en-US" altLang="zh-CN" sz="2200" b="1" dirty="0">
                <a:solidFill>
                  <a:srgbClr val="000000"/>
                </a:solidFill>
                <a:latin typeface="Times New Roman" panose="02020603050405020304" pitchFamily="18" charset="0"/>
              </a:rPr>
              <a:t>SP</a:t>
            </a:r>
            <a:r>
              <a:rPr lang="zh-CN" altLang="en-US" sz="2200" b="1" dirty="0">
                <a:solidFill>
                  <a:srgbClr val="000000"/>
                </a:solidFill>
                <a:latin typeface="Times New Roman" panose="02020603050405020304" pitchFamily="18" charset="0"/>
              </a:rPr>
              <a:t>指向栈顶。即堆栈的内存地址范围为 ：</a:t>
            </a:r>
            <a:r>
              <a:rPr lang="en-US" altLang="zh-CN" sz="2200" b="1" dirty="0">
                <a:solidFill>
                  <a:srgbClr val="000000"/>
                </a:solidFill>
                <a:latin typeface="Times New Roman" panose="02020603050405020304" pitchFamily="18" charset="0"/>
              </a:rPr>
              <a:t>10000H-1000FH</a:t>
            </a:r>
            <a:r>
              <a:rPr lang="zh-CN" altLang="en-US" sz="2200" b="1" dirty="0">
                <a:solidFill>
                  <a:srgbClr val="000000"/>
                </a:solidFill>
                <a:latin typeface="Times New Roman" panose="02020603050405020304" pitchFamily="18" charset="0"/>
              </a:rPr>
              <a:t>。</a:t>
            </a:r>
            <a:endParaRPr lang="en-US" altLang="zh-CN" sz="2200" b="1" dirty="0">
              <a:solidFill>
                <a:srgbClr val="000000"/>
              </a:solidFill>
              <a:latin typeface="Times New Roman" panose="02020603050405020304" pitchFamily="18" charset="0"/>
            </a:endParaRPr>
          </a:p>
          <a:p>
            <a:pPr>
              <a:spcBef>
                <a:spcPct val="50000"/>
              </a:spcBef>
            </a:pPr>
            <a:r>
              <a:rPr lang="en-US" altLang="zh-CN" sz="2200" dirty="0">
                <a:solidFill>
                  <a:srgbClr val="000000"/>
                </a:solidFill>
              </a:rPr>
              <a:t>         </a:t>
            </a:r>
            <a:r>
              <a:rPr lang="en-US" altLang="zh-CN" sz="2200" dirty="0">
                <a:solidFill>
                  <a:srgbClr val="FF0000"/>
                </a:solidFill>
              </a:rPr>
              <a:t>PUSH     AX     ;AX=2266H</a:t>
            </a:r>
            <a:endParaRPr lang="en-US" altLang="zh-CN" sz="2200" dirty="0">
              <a:solidFill>
                <a:srgbClr val="FF0000"/>
              </a:solidFill>
            </a:endParaRPr>
          </a:p>
        </p:txBody>
      </p:sp>
      <p:pic>
        <p:nvPicPr>
          <p:cNvPr id="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7563" y="2280994"/>
            <a:ext cx="7885375" cy="417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4" name="文本框 3"/>
          <p:cNvSpPr txBox="1"/>
          <p:nvPr/>
        </p:nvSpPr>
        <p:spPr>
          <a:xfrm>
            <a:off x="359532" y="1016732"/>
            <a:ext cx="8280920" cy="1246495"/>
          </a:xfrm>
          <a:prstGeom prst="rect">
            <a:avLst/>
          </a:prstGeom>
          <a:noFill/>
          <a:ln w="9525">
            <a:noFill/>
          </a:ln>
        </p:spPr>
        <p:txBody>
          <a:bodyPr wrap="square">
            <a:spAutoFit/>
          </a:bodyPr>
          <a:lstStyle/>
          <a:p>
            <a:pPr>
              <a:spcBef>
                <a:spcPct val="50000"/>
              </a:spcBef>
            </a:pPr>
            <a:r>
              <a:rPr lang="zh-CN" altLang="en-US" sz="2200" dirty="0">
                <a:solidFill>
                  <a:srgbClr val="FF0000"/>
                </a:solidFill>
                <a:latin typeface="Times New Roman" panose="02020603050405020304" pitchFamily="18" charset="0"/>
              </a:rPr>
              <a:t>思考：</a:t>
            </a:r>
            <a:r>
              <a:rPr lang="zh-CN" altLang="zh-CN" sz="2000" dirty="0"/>
              <a:t>如果我们将10000H~1000FH 这段空间当作栈，初始状态栈是空的，此时，SS=1000H，SP=？</a:t>
            </a:r>
            <a:endParaRPr lang="zh-CN" altLang="zh-CN" sz="2000" dirty="0"/>
          </a:p>
          <a:p>
            <a:pPr>
              <a:spcBef>
                <a:spcPct val="50000"/>
              </a:spcBef>
            </a:pPr>
            <a:endParaRPr lang="en-US" altLang="zh-CN" sz="2200" dirty="0">
              <a:solidFill>
                <a:srgbClr val="000000"/>
              </a:solidFill>
              <a:latin typeface="Times New Roman" panose="02020603050405020304" pitchFamily="18" charset="0"/>
            </a:endParaRPr>
          </a:p>
        </p:txBody>
      </p:sp>
      <p:sp>
        <p:nvSpPr>
          <p:cNvPr id="5" name="矩形 4"/>
          <p:cNvSpPr/>
          <p:nvPr/>
        </p:nvSpPr>
        <p:spPr>
          <a:xfrm>
            <a:off x="1061610" y="1767050"/>
            <a:ext cx="6876764" cy="1323439"/>
          </a:xfrm>
          <a:prstGeom prst="rect">
            <a:avLst/>
          </a:prstGeom>
        </p:spPr>
        <p:txBody>
          <a:bodyPr wrap="square">
            <a:spAutoFit/>
          </a:bodyPr>
          <a:lstStyle/>
          <a:p>
            <a:pPr marL="342900" indent="-342900">
              <a:buFont typeface="Wingdings" panose="05000000000000000000" pitchFamily="2" charset="2"/>
              <a:buChar char="u"/>
            </a:pPr>
            <a:r>
              <a:rPr lang="zh-CN" altLang="en-US" sz="2000" dirty="0"/>
              <a:t>任意时刻，</a:t>
            </a:r>
            <a:r>
              <a:rPr lang="en-US" altLang="zh-CN" sz="2000" dirty="0"/>
              <a:t>SS:SP</a:t>
            </a:r>
            <a:r>
              <a:rPr lang="zh-CN" altLang="en-US" sz="2000" dirty="0"/>
              <a:t>指向栈顶。若</a:t>
            </a:r>
            <a:r>
              <a:rPr lang="en-US" altLang="zh-CN" sz="2000" dirty="0"/>
              <a:t>SS = 1000H</a:t>
            </a:r>
            <a:r>
              <a:rPr lang="zh-CN" altLang="en-US" sz="2000" dirty="0"/>
              <a:t>，堆栈大小为</a:t>
            </a:r>
            <a:r>
              <a:rPr lang="en-US" altLang="zh-CN" sz="2000" dirty="0"/>
              <a:t>16</a:t>
            </a:r>
            <a:r>
              <a:rPr lang="zh-CN" altLang="en-US" sz="2000" dirty="0"/>
              <a:t>个字节，当栈中只有一个元素的时候，</a:t>
            </a:r>
            <a:r>
              <a:rPr lang="en-US" altLang="zh-CN" sz="2000" dirty="0"/>
              <a:t>SP=000EH</a:t>
            </a:r>
            <a:r>
              <a:rPr lang="zh-CN" altLang="en-US" sz="2000" dirty="0"/>
              <a:t>。</a:t>
            </a:r>
            <a:endParaRPr lang="en-US" altLang="zh-CN" sz="2000" dirty="0"/>
          </a:p>
          <a:p>
            <a:pPr marL="342900" indent="-342900">
              <a:buFont typeface="Wingdings" panose="05000000000000000000" pitchFamily="2" charset="2"/>
              <a:buChar char="u"/>
            </a:pPr>
            <a:r>
              <a:rPr lang="zh-CN" altLang="zh-CN" sz="2000" dirty="0"/>
              <a:t>栈为空，就相当于栈中唯一的元素出栈，出栈后，SP=SP+2 ，所以当栈为空的时候，SS=1000H，SP=10H。</a:t>
            </a:r>
            <a:endParaRPr lang="zh-CN" altLang="en-US" sz="2000" dirty="0"/>
          </a:p>
        </p:txBody>
      </p:sp>
      <p:pic>
        <p:nvPicPr>
          <p:cNvPr id="6" name="图片 5"/>
          <p:cNvPicPr>
            <a:picLocks noChangeAspect="1"/>
          </p:cNvPicPr>
          <p:nvPr/>
        </p:nvPicPr>
        <p:blipFill>
          <a:blip r:embed="rId1"/>
          <a:stretch>
            <a:fillRect/>
          </a:stretch>
        </p:blipFill>
        <p:spPr>
          <a:xfrm>
            <a:off x="1259632" y="3140968"/>
            <a:ext cx="6858594" cy="3212870"/>
          </a:xfrm>
          <a:prstGeom prst="rect">
            <a:avLst/>
          </a:prstGeom>
        </p:spPr>
      </p:pic>
      <p:sp>
        <p:nvSpPr>
          <p:cNvPr id="7" name="文本框 6"/>
          <p:cNvSpPr txBox="1"/>
          <p:nvPr/>
        </p:nvSpPr>
        <p:spPr>
          <a:xfrm>
            <a:off x="3609363" y="6404317"/>
            <a:ext cx="1781257" cy="461665"/>
          </a:xfrm>
          <a:prstGeom prst="rect">
            <a:avLst/>
          </a:prstGeom>
          <a:noFill/>
        </p:spPr>
        <p:txBody>
          <a:bodyPr wrap="none" rtlCol="0">
            <a:spAutoFit/>
          </a:bodyPr>
          <a:lstStyle/>
          <a:p>
            <a:r>
              <a:rPr lang="zh-CN" altLang="en-US" dirty="0">
                <a:solidFill>
                  <a:srgbClr val="FF0000"/>
                </a:solidFill>
              </a:rPr>
              <a:t>栈满：</a:t>
            </a:r>
            <a:r>
              <a:rPr lang="en-US" altLang="zh-CN" dirty="0">
                <a:solidFill>
                  <a:srgbClr val="FF0000"/>
                </a:solidFill>
              </a:rPr>
              <a:t>SP</a:t>
            </a:r>
            <a:r>
              <a:rPr lang="zh-CN" altLang="en-US" dirty="0">
                <a:solidFill>
                  <a:srgbClr val="FF0000"/>
                </a:solidFill>
              </a:rPr>
              <a:t>？</a:t>
            </a:r>
            <a:endParaRPr lang="zh-CN" altLang="en-US"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4" name="文本框 3"/>
          <p:cNvSpPr txBox="1"/>
          <p:nvPr/>
        </p:nvSpPr>
        <p:spPr>
          <a:xfrm>
            <a:off x="359532" y="1016732"/>
            <a:ext cx="8280920" cy="1692771"/>
          </a:xfrm>
          <a:prstGeom prst="rect">
            <a:avLst/>
          </a:prstGeom>
          <a:noFill/>
          <a:ln w="9525">
            <a:noFill/>
          </a:ln>
        </p:spPr>
        <p:txBody>
          <a:bodyPr wrap="square">
            <a:spAutoFit/>
          </a:bodyPr>
          <a:lstStyle/>
          <a:p>
            <a:r>
              <a:rPr lang="zh-CN" altLang="en-US" sz="2200" dirty="0">
                <a:solidFill>
                  <a:srgbClr val="FF0000"/>
                </a:solidFill>
                <a:latin typeface="Times New Roman" panose="02020603050405020304" pitchFamily="18" charset="0"/>
              </a:rPr>
              <a:t>思考：</a:t>
            </a:r>
            <a:r>
              <a:rPr lang="zh-CN" altLang="zh-CN" sz="2000" dirty="0"/>
              <a:t>SS和SP只记录了栈顶的地址，依靠SS和SP可以保证在入栈和出栈时找到栈顶。可是，如何能够保证在入栈、出栈时，栈顶不会超出栈空间？</a:t>
            </a:r>
            <a:endParaRPr lang="en-US" altLang="zh-CN" sz="2000" dirty="0"/>
          </a:p>
          <a:p>
            <a:endParaRPr lang="en-US" altLang="zh-CN" sz="2000" dirty="0">
              <a:solidFill>
                <a:srgbClr val="000000"/>
              </a:solidFill>
              <a:latin typeface="Times New Roman" panose="02020603050405020304" pitchFamily="18" charset="0"/>
            </a:endParaRPr>
          </a:p>
          <a:p>
            <a:endParaRPr lang="en-US" altLang="zh-CN" sz="2200" dirty="0">
              <a:solidFill>
                <a:srgbClr val="000000"/>
              </a:solidFill>
              <a:latin typeface="Times New Roman" panose="02020603050405020304" pitchFamily="18" charset="0"/>
            </a:endParaRPr>
          </a:p>
        </p:txBody>
      </p:sp>
      <p:sp>
        <p:nvSpPr>
          <p:cNvPr id="5" name="矩形 4"/>
          <p:cNvSpPr/>
          <p:nvPr/>
        </p:nvSpPr>
        <p:spPr>
          <a:xfrm>
            <a:off x="935596" y="2060848"/>
            <a:ext cx="7416824" cy="3785652"/>
          </a:xfrm>
          <a:prstGeom prst="rect">
            <a:avLst/>
          </a:prstGeom>
        </p:spPr>
        <p:txBody>
          <a:bodyPr wrap="square">
            <a:spAutoFit/>
          </a:bodyPr>
          <a:lstStyle/>
          <a:p>
            <a:pPr marL="360045" indent="-342900">
              <a:spcBef>
                <a:spcPts val="1200"/>
              </a:spcBef>
              <a:buFont typeface="Wingdings" panose="05000000000000000000" pitchFamily="2" charset="2"/>
              <a:buChar char="u"/>
            </a:pPr>
            <a:r>
              <a:rPr lang="zh-CN" altLang="en-US" sz="2000" dirty="0"/>
              <a:t>当栈满的时候再使用</a:t>
            </a:r>
            <a:r>
              <a:rPr lang="en-US" altLang="zh-CN" sz="2000" dirty="0"/>
              <a:t>push</a:t>
            </a:r>
            <a:r>
              <a:rPr lang="zh-CN" altLang="en-US" sz="2000" dirty="0"/>
              <a:t>指令入栈，栈空的时候再使用</a:t>
            </a:r>
            <a:r>
              <a:rPr lang="en-US" altLang="zh-CN" sz="2000" dirty="0"/>
              <a:t>pop</a:t>
            </a:r>
            <a:r>
              <a:rPr lang="zh-CN" altLang="en-US" sz="2000" dirty="0"/>
              <a:t>指令出栈，都将发生</a:t>
            </a:r>
            <a:r>
              <a:rPr lang="zh-CN" altLang="en-US" sz="2000" dirty="0">
                <a:solidFill>
                  <a:srgbClr val="FF0000"/>
                </a:solidFill>
              </a:rPr>
              <a:t>栈顶超界</a:t>
            </a:r>
            <a:r>
              <a:rPr lang="zh-CN" altLang="en-US" sz="2000" dirty="0"/>
              <a:t>问题。</a:t>
            </a:r>
            <a:endParaRPr lang="zh-CN" altLang="en-US" sz="2000" dirty="0"/>
          </a:p>
          <a:p>
            <a:pPr marL="360045" indent="-342900">
              <a:spcBef>
                <a:spcPts val="1200"/>
              </a:spcBef>
              <a:buFont typeface="Wingdings" panose="05000000000000000000" pitchFamily="2" charset="2"/>
              <a:buChar char="u"/>
            </a:pPr>
            <a:r>
              <a:rPr lang="zh-CN" altLang="en-US" sz="2000" dirty="0"/>
              <a:t>因为栈空间之外的空间里很可能存放了具有其他用途的数据、代码等，这些数据、代码可能是我们自己的程序中的，也可能是别的程序中的。</a:t>
            </a:r>
            <a:endParaRPr lang="en-US" altLang="zh-CN" sz="2000" dirty="0"/>
          </a:p>
          <a:p>
            <a:pPr marL="360045" indent="-342900">
              <a:spcBef>
                <a:spcPts val="1200"/>
              </a:spcBef>
              <a:buFont typeface="Wingdings" panose="05000000000000000000" pitchFamily="2" charset="2"/>
              <a:buChar char="u"/>
            </a:pPr>
            <a:r>
              <a:rPr lang="zh-CN" altLang="zh-CN" sz="2000" dirty="0"/>
              <a:t>但是由于我们在入栈出栈时的不小心，而将这些数据、代码意外地改写，将会引发一连串的错误。</a:t>
            </a:r>
            <a:endParaRPr lang="zh-CN" altLang="zh-CN" sz="2000" dirty="0"/>
          </a:p>
          <a:p>
            <a:pPr marL="360045" indent="-342900">
              <a:spcBef>
                <a:spcPts val="1200"/>
              </a:spcBef>
              <a:buFont typeface="Wingdings" panose="05000000000000000000" pitchFamily="2" charset="2"/>
              <a:buChar char="u"/>
            </a:pPr>
            <a:r>
              <a:rPr lang="zh-CN" altLang="en-US" sz="2000" dirty="0">
                <a:solidFill>
                  <a:srgbClr val="FF0000"/>
                </a:solidFill>
              </a:rPr>
              <a:t>栈顶超界是危险的。</a:t>
            </a:r>
            <a:r>
              <a:rPr lang="en-US" altLang="zh-CN" sz="2000" dirty="0">
                <a:solidFill>
                  <a:srgbClr val="FF0000"/>
                </a:solidFill>
              </a:rPr>
              <a:t>8086CPU</a:t>
            </a:r>
            <a:r>
              <a:rPr lang="zh-CN" altLang="en-US" sz="2000" dirty="0">
                <a:solidFill>
                  <a:srgbClr val="FF0000"/>
                </a:solidFill>
              </a:rPr>
              <a:t>不保证对栈的操作不会超界。</a:t>
            </a:r>
            <a:endParaRPr lang="zh-CN" altLang="en-US" sz="2000" dirty="0">
              <a:solidFill>
                <a:srgbClr val="FF0000"/>
              </a:solidFill>
            </a:endParaRPr>
          </a:p>
          <a:p>
            <a:pPr marL="360045" indent="-342900">
              <a:spcBef>
                <a:spcPts val="1200"/>
              </a:spcBef>
              <a:buFont typeface="Wingdings" panose="05000000000000000000" pitchFamily="2" charset="2"/>
              <a:buChar char="u"/>
            </a:pPr>
            <a:r>
              <a:rPr lang="zh-CN" altLang="en-US" sz="2000" dirty="0"/>
              <a:t>这就是说， </a:t>
            </a:r>
            <a:r>
              <a:rPr lang="en-US" altLang="zh-CN" sz="2000" dirty="0"/>
              <a:t>8086CPU </a:t>
            </a:r>
            <a:r>
              <a:rPr lang="zh-CN" altLang="en-US" sz="2000" dirty="0"/>
              <a:t>只知道栈顶在何处（由</a:t>
            </a:r>
            <a:r>
              <a:rPr lang="en-US" altLang="zh-CN" sz="2000" dirty="0"/>
              <a:t>SS:SP</a:t>
            </a:r>
            <a:r>
              <a:rPr lang="zh-CN" altLang="en-US" sz="2000" dirty="0"/>
              <a:t>指示），而</a:t>
            </a:r>
            <a:r>
              <a:rPr lang="zh-CN" altLang="en-US" sz="2000" dirty="0">
                <a:solidFill>
                  <a:srgbClr val="FF0000"/>
                </a:solidFill>
              </a:rPr>
              <a:t>不知道</a:t>
            </a:r>
            <a:r>
              <a:rPr lang="zh-CN" altLang="en-US" sz="2000" dirty="0"/>
              <a:t>栈空间有多大（不做判断，不保证不越界）。</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4" name="文本框 3"/>
          <p:cNvSpPr txBox="1"/>
          <p:nvPr/>
        </p:nvSpPr>
        <p:spPr>
          <a:xfrm>
            <a:off x="359532" y="1016732"/>
            <a:ext cx="8280920" cy="1046440"/>
          </a:xfrm>
          <a:prstGeom prst="rect">
            <a:avLst/>
          </a:prstGeom>
          <a:noFill/>
          <a:ln w="9525">
            <a:noFill/>
          </a:ln>
        </p:spPr>
        <p:txBody>
          <a:bodyPr wrap="square">
            <a:spAutoFit/>
          </a:bodyPr>
          <a:lstStyle/>
          <a:p>
            <a:r>
              <a:rPr lang="zh-CN" altLang="en-US" sz="2200" dirty="0">
                <a:solidFill>
                  <a:srgbClr val="FF0000"/>
                </a:solidFill>
                <a:latin typeface="Times New Roman" panose="02020603050405020304" pitchFamily="18" charset="0"/>
              </a:rPr>
              <a:t>思考：上例中</a:t>
            </a:r>
            <a:r>
              <a:rPr lang="zh-CN" altLang="zh-CN" sz="2000" dirty="0"/>
              <a:t>我们将10000H~1000FH 这段空间当作栈</a:t>
            </a:r>
            <a:r>
              <a:rPr lang="zh-CN" altLang="en-US" sz="2000" dirty="0"/>
              <a:t>来使用，并可以通过</a:t>
            </a:r>
            <a:r>
              <a:rPr lang="en-US" altLang="zh-CN" sz="2000" dirty="0"/>
              <a:t>PUSH</a:t>
            </a:r>
            <a:r>
              <a:rPr lang="zh-CN" altLang="en-US" sz="2000" dirty="0"/>
              <a:t>、</a:t>
            </a:r>
            <a:r>
              <a:rPr lang="en-US" altLang="zh-CN" sz="2000" dirty="0"/>
              <a:t>POP</a:t>
            </a:r>
            <a:r>
              <a:rPr lang="zh-CN" altLang="en-US" sz="2000" dirty="0"/>
              <a:t>等指令来访问，但一个重要的问题是，</a:t>
            </a:r>
            <a:r>
              <a:rPr lang="en-US" altLang="zh-CN" sz="2000" dirty="0"/>
              <a:t>CPU</a:t>
            </a:r>
            <a:r>
              <a:rPr lang="zh-CN" altLang="en-US" sz="2000" dirty="0"/>
              <a:t>如何知道</a:t>
            </a:r>
            <a:r>
              <a:rPr lang="zh-CN" altLang="zh-CN" sz="2000" dirty="0"/>
              <a:t>10000H~1000FH </a:t>
            </a:r>
            <a:r>
              <a:rPr lang="zh-CN" altLang="en-US" sz="2000" dirty="0"/>
              <a:t>这段空间是堆栈？</a:t>
            </a:r>
            <a:endParaRPr lang="en-US" altLang="zh-CN" sz="2200" dirty="0">
              <a:solidFill>
                <a:srgbClr val="000000"/>
              </a:solidFill>
              <a:latin typeface="Times New Roman" panose="02020603050405020304" pitchFamily="18" charset="0"/>
            </a:endParaRPr>
          </a:p>
        </p:txBody>
      </p:sp>
      <p:sp>
        <p:nvSpPr>
          <p:cNvPr id="5" name="矩形 4"/>
          <p:cNvSpPr/>
          <p:nvPr/>
        </p:nvSpPr>
        <p:spPr>
          <a:xfrm>
            <a:off x="935596" y="2060848"/>
            <a:ext cx="7416824" cy="2554545"/>
          </a:xfrm>
          <a:prstGeom prst="rect">
            <a:avLst/>
          </a:prstGeom>
        </p:spPr>
        <p:txBody>
          <a:bodyPr wrap="square">
            <a:spAutoFit/>
          </a:bodyPr>
          <a:lstStyle/>
          <a:p>
            <a:pPr marL="360045" indent="-342900" algn="just">
              <a:spcBef>
                <a:spcPts val="1200"/>
              </a:spcBef>
              <a:buFont typeface="Wingdings" panose="05000000000000000000" pitchFamily="2" charset="2"/>
              <a:buChar char="u"/>
            </a:pPr>
            <a:r>
              <a:rPr lang="zh-CN" altLang="en-US" sz="2000" dirty="0"/>
              <a:t>将一段内存当做堆栈段，仅仅是我们在编程时的一种安排，</a:t>
            </a:r>
            <a:r>
              <a:rPr lang="en-US" altLang="zh-CN" sz="2000" dirty="0"/>
              <a:t>CPU</a:t>
            </a:r>
            <a:r>
              <a:rPr lang="zh-CN" altLang="en-US" sz="2000" dirty="0"/>
              <a:t>并不会由于这种安排，就在执行</a:t>
            </a:r>
            <a:r>
              <a:rPr lang="en-US" altLang="zh-CN" sz="2000" dirty="0"/>
              <a:t>PUSH</a:t>
            </a:r>
            <a:r>
              <a:rPr lang="zh-CN" altLang="en-US" sz="2000" dirty="0"/>
              <a:t>、</a:t>
            </a:r>
            <a:r>
              <a:rPr lang="en-US" altLang="zh-CN" sz="2000" dirty="0"/>
              <a:t>POP</a:t>
            </a:r>
            <a:r>
              <a:rPr lang="zh-CN" altLang="en-US" sz="2000" dirty="0"/>
              <a:t>等堆栈指令时自动的将我们定义的内存空间当作栈来访问。</a:t>
            </a:r>
            <a:endParaRPr lang="zh-CN" altLang="en-US" sz="2000" dirty="0"/>
          </a:p>
          <a:p>
            <a:pPr marL="360045" indent="-342900" algn="just">
              <a:spcBef>
                <a:spcPts val="1200"/>
              </a:spcBef>
              <a:buFont typeface="Wingdings" panose="05000000000000000000" pitchFamily="2" charset="2"/>
              <a:buChar char="u"/>
            </a:pPr>
            <a:r>
              <a:rPr lang="zh-CN" altLang="en-US" sz="2000" dirty="0"/>
              <a:t>若要让</a:t>
            </a:r>
            <a:r>
              <a:rPr lang="en-US" altLang="zh-CN" sz="2000" dirty="0"/>
              <a:t>CPU</a:t>
            </a:r>
            <a:r>
              <a:rPr lang="zh-CN" altLang="en-US" sz="2000" dirty="0"/>
              <a:t>知道哪片存储区是堆栈，需要将它的段地址送</a:t>
            </a:r>
            <a:r>
              <a:rPr lang="en-US" altLang="zh-CN" sz="2000" dirty="0"/>
              <a:t>SS</a:t>
            </a:r>
            <a:r>
              <a:rPr lang="zh-CN" altLang="en-US" sz="2000" dirty="0"/>
              <a:t>，将段顶偏移地址送</a:t>
            </a:r>
            <a:r>
              <a:rPr lang="en-US" altLang="zh-CN" sz="2000" dirty="0"/>
              <a:t>SP</a:t>
            </a:r>
            <a:r>
              <a:rPr lang="zh-CN" altLang="en-US" sz="2000" dirty="0"/>
              <a:t>。</a:t>
            </a:r>
            <a:endParaRPr lang="en-US" altLang="zh-CN" sz="2000" dirty="0"/>
          </a:p>
          <a:p>
            <a:pPr marL="360045" indent="-342900" algn="just">
              <a:spcBef>
                <a:spcPts val="1200"/>
              </a:spcBef>
              <a:buFont typeface="Wingdings" panose="05000000000000000000" pitchFamily="2" charset="2"/>
              <a:buChar char="u"/>
            </a:pPr>
            <a:r>
              <a:rPr lang="zh-CN" altLang="en-US" sz="2000" dirty="0"/>
              <a:t>可见，</a:t>
            </a:r>
            <a:r>
              <a:rPr lang="en-US" altLang="zh-CN" sz="2000" dirty="0"/>
              <a:t>CPU</a:t>
            </a:r>
            <a:r>
              <a:rPr lang="zh-CN" altLang="en-US" sz="2000" dirty="0"/>
              <a:t>将某段当作代码段，是因为</a:t>
            </a:r>
            <a:r>
              <a:rPr lang="en-US" altLang="zh-CN" sz="2000" dirty="0"/>
              <a:t>CS</a:t>
            </a:r>
            <a:r>
              <a:rPr lang="zh-CN" altLang="en-US" sz="2000" dirty="0"/>
              <a:t>：</a:t>
            </a:r>
            <a:r>
              <a:rPr lang="en-US" altLang="zh-CN" sz="2000" dirty="0"/>
              <a:t>IP</a:t>
            </a:r>
            <a:r>
              <a:rPr lang="zh-CN" altLang="en-US" sz="2000" dirty="0"/>
              <a:t>指向了那里，</a:t>
            </a:r>
            <a:r>
              <a:rPr lang="en-US" altLang="zh-CN" sz="2000" dirty="0"/>
              <a:t>CPU</a:t>
            </a:r>
            <a:r>
              <a:rPr lang="zh-CN" altLang="en-US" sz="2000" dirty="0"/>
              <a:t>将某段当作堆栈段，是因为</a:t>
            </a:r>
            <a:r>
              <a:rPr lang="en-US" altLang="zh-CN" sz="2000" dirty="0"/>
              <a:t>SS</a:t>
            </a:r>
            <a:r>
              <a:rPr lang="zh-CN" altLang="en-US" sz="2000" dirty="0"/>
              <a:t>：</a:t>
            </a:r>
            <a:r>
              <a:rPr lang="en-US" altLang="zh-CN" sz="2000" dirty="0"/>
              <a:t>SP</a:t>
            </a:r>
            <a:r>
              <a:rPr lang="zh-CN" altLang="en-US" sz="2000" dirty="0"/>
              <a:t>指向了那里。</a:t>
            </a:r>
            <a:endParaRPr lang="en-US" altLang="zh-CN" sz="2000" dirty="0"/>
          </a:p>
        </p:txBody>
      </p:sp>
      <p:sp>
        <p:nvSpPr>
          <p:cNvPr id="3" name="文本框 2"/>
          <p:cNvSpPr txBox="1"/>
          <p:nvPr/>
        </p:nvSpPr>
        <p:spPr>
          <a:xfrm>
            <a:off x="863588" y="5121187"/>
            <a:ext cx="3825150" cy="1200329"/>
          </a:xfrm>
          <a:prstGeom prst="rect">
            <a:avLst/>
          </a:prstGeom>
          <a:noFill/>
        </p:spPr>
        <p:txBody>
          <a:bodyPr wrap="none" rtlCol="0">
            <a:spAutoFit/>
          </a:bodyPr>
          <a:lstStyle/>
          <a:p>
            <a:r>
              <a:rPr lang="en-US" altLang="zh-CN" dirty="0"/>
              <a:t>Stack segment</a:t>
            </a:r>
            <a:endParaRPr lang="en-US" altLang="zh-CN" dirty="0"/>
          </a:p>
          <a:p>
            <a:r>
              <a:rPr lang="en-US" altLang="zh-CN" dirty="0"/>
              <a:t>      buffer    DW  16 DUP(?)</a:t>
            </a:r>
            <a:endParaRPr lang="en-US" altLang="zh-CN" dirty="0"/>
          </a:p>
          <a:p>
            <a:r>
              <a:rPr lang="en-US" altLang="zh-CN" dirty="0"/>
              <a:t>Stack ends</a:t>
            </a:r>
            <a:endParaRPr lang="zh-CN" altLang="en-US" dirty="0"/>
          </a:p>
        </p:txBody>
      </p:sp>
      <p:sp>
        <p:nvSpPr>
          <p:cNvPr id="6" name="文本框 5"/>
          <p:cNvSpPr txBox="1"/>
          <p:nvPr/>
        </p:nvSpPr>
        <p:spPr>
          <a:xfrm>
            <a:off x="5076056" y="5121187"/>
            <a:ext cx="2403094" cy="1200329"/>
          </a:xfrm>
          <a:prstGeom prst="rect">
            <a:avLst/>
          </a:prstGeom>
          <a:noFill/>
        </p:spPr>
        <p:txBody>
          <a:bodyPr wrap="none" rtlCol="0">
            <a:spAutoFit/>
          </a:bodyPr>
          <a:lstStyle/>
          <a:p>
            <a:r>
              <a:rPr lang="en-US" altLang="zh-CN" dirty="0"/>
              <a:t>MOV  AX, Stack</a:t>
            </a:r>
            <a:endParaRPr lang="en-US" altLang="zh-CN" dirty="0"/>
          </a:p>
          <a:p>
            <a:r>
              <a:rPr lang="en-US" altLang="zh-CN" dirty="0"/>
              <a:t>MOV  SS,  AX</a:t>
            </a:r>
            <a:endParaRPr lang="en-US" altLang="zh-CN" dirty="0"/>
          </a:p>
          <a:p>
            <a:r>
              <a:rPr lang="en-US" altLang="zh-CN" dirty="0"/>
              <a:t>MOV  SP, 10H</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2" name="Rectangle 4"/>
          <p:cNvSpPr>
            <a:spLocks noChangeArrowheads="1"/>
          </p:cNvSpPr>
          <p:nvPr/>
        </p:nvSpPr>
        <p:spPr bwMode="auto">
          <a:xfrm>
            <a:off x="467544" y="1601788"/>
            <a:ext cx="8156573" cy="1033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08850" tIns="54425" rIns="108850" bIns="54425">
            <a:spAutoFit/>
          </a:bodyPr>
          <a:lstStyle/>
          <a:p>
            <a:pPr eaLnBrk="0" hangingPunct="0">
              <a:spcBef>
                <a:spcPct val="0"/>
              </a:spcBef>
            </a:pPr>
            <a:r>
              <a:rPr kumimoji="0" lang="zh-CN" altLang="en-US" sz="2000" b="0" dirty="0">
                <a:latin typeface="华文宋体" panose="02010600040101010101" pitchFamily="2" charset="-122"/>
                <a:ea typeface="华文宋体" panose="02010600040101010101" pitchFamily="2" charset="-122"/>
              </a:rPr>
              <a:t>指令的格式为：</a:t>
            </a:r>
            <a:r>
              <a:rPr kumimoji="0" lang="en-US" altLang="zh-CN" sz="2000" b="0" dirty="0">
                <a:solidFill>
                  <a:srgbClr val="CC0000"/>
                </a:solidFill>
                <a:effectLst>
                  <a:outerShdw blurRad="38100" dist="38100" dir="2700000" algn="tl">
                    <a:srgbClr val="C0C0C0"/>
                  </a:outerShdw>
                </a:effectLst>
                <a:latin typeface="华文宋体" panose="02010600040101010101" pitchFamily="2" charset="-122"/>
                <a:ea typeface="华文宋体" panose="02010600040101010101" pitchFamily="2" charset="-122"/>
              </a:rPr>
              <a:t>PUSHA</a:t>
            </a:r>
            <a:endParaRPr kumimoji="0" lang="en-US" altLang="zh-CN" sz="2000" b="0" dirty="0">
              <a:solidFill>
                <a:srgbClr val="CC0000"/>
              </a:solidFill>
              <a:effectLst>
                <a:outerShdw blurRad="38100" dist="38100" dir="2700000" algn="tl">
                  <a:srgbClr val="C0C0C0"/>
                </a:outerShdw>
              </a:effectLst>
              <a:latin typeface="华文宋体" panose="02010600040101010101" pitchFamily="2" charset="-122"/>
              <a:ea typeface="华文宋体" panose="02010600040101010101" pitchFamily="2" charset="-122"/>
            </a:endParaRPr>
          </a:p>
          <a:p>
            <a:pPr eaLnBrk="0" hangingPunct="0">
              <a:spcBef>
                <a:spcPct val="0"/>
              </a:spcBef>
            </a:pPr>
            <a:r>
              <a:rPr kumimoji="0" lang="zh-CN" altLang="en-US" sz="2000" b="0" dirty="0">
                <a:latin typeface="华文宋体" panose="02010600040101010101" pitchFamily="2" charset="-122"/>
                <a:ea typeface="华文宋体" panose="02010600040101010101" pitchFamily="2" charset="-122"/>
              </a:rPr>
              <a:t>      功能：</a:t>
            </a:r>
            <a:r>
              <a:rPr kumimoji="0" lang="en-US" altLang="zh-CN" sz="2000" b="0" dirty="0">
                <a:latin typeface="华文宋体" panose="02010600040101010101" pitchFamily="2" charset="-122"/>
                <a:ea typeface="华文宋体" panose="02010600040101010101" pitchFamily="2" charset="-122"/>
              </a:rPr>
              <a:t>16</a:t>
            </a:r>
            <a:r>
              <a:rPr kumimoji="0" lang="zh-CN" altLang="en-US" sz="2000" b="0" dirty="0">
                <a:latin typeface="华文宋体" panose="02010600040101010101" pitchFamily="2" charset="-122"/>
                <a:ea typeface="华文宋体" panose="02010600040101010101" pitchFamily="2" charset="-122"/>
              </a:rPr>
              <a:t>位通用寄存器依次进栈，次序为</a:t>
            </a:r>
            <a:r>
              <a:rPr kumimoji="0" lang="en-US" altLang="zh-CN" sz="2000" b="0" dirty="0">
                <a:latin typeface="华文宋体" panose="02010600040101010101" pitchFamily="2" charset="-122"/>
                <a:ea typeface="华文宋体" panose="02010600040101010101" pitchFamily="2" charset="-122"/>
              </a:rPr>
              <a:t>AX</a:t>
            </a:r>
            <a:r>
              <a:rPr kumimoji="0" lang="zh-CN" altLang="en-US" sz="2000" b="0" dirty="0">
                <a:latin typeface="华文宋体" panose="02010600040101010101" pitchFamily="2" charset="-122"/>
                <a:ea typeface="华文宋体" panose="02010600040101010101" pitchFamily="2" charset="-122"/>
              </a:rPr>
              <a:t>、</a:t>
            </a:r>
            <a:r>
              <a:rPr kumimoji="0" lang="en-US" altLang="zh-CN" sz="2000" b="0" dirty="0">
                <a:latin typeface="华文宋体" panose="02010600040101010101" pitchFamily="2" charset="-122"/>
                <a:ea typeface="华文宋体" panose="02010600040101010101" pitchFamily="2" charset="-122"/>
              </a:rPr>
              <a:t>CX</a:t>
            </a:r>
            <a:r>
              <a:rPr kumimoji="0" lang="zh-CN" altLang="en-US" sz="2000" b="0" dirty="0">
                <a:latin typeface="华文宋体" panose="02010600040101010101" pitchFamily="2" charset="-122"/>
                <a:ea typeface="华文宋体" panose="02010600040101010101" pitchFamily="2" charset="-122"/>
              </a:rPr>
              <a:t>、</a:t>
            </a:r>
            <a:r>
              <a:rPr kumimoji="0" lang="en-US" altLang="zh-CN" sz="2000" b="0" dirty="0">
                <a:latin typeface="华文宋体" panose="02010600040101010101" pitchFamily="2" charset="-122"/>
                <a:ea typeface="华文宋体" panose="02010600040101010101" pitchFamily="2" charset="-122"/>
              </a:rPr>
              <a:t>DX</a:t>
            </a:r>
            <a:r>
              <a:rPr kumimoji="0" lang="zh-CN" altLang="en-US" sz="2000" b="0" dirty="0">
                <a:latin typeface="华文宋体" panose="02010600040101010101" pitchFamily="2" charset="-122"/>
                <a:ea typeface="华文宋体" panose="02010600040101010101" pitchFamily="2" charset="-122"/>
              </a:rPr>
              <a:t>、</a:t>
            </a:r>
            <a:r>
              <a:rPr kumimoji="0" lang="en-US" altLang="zh-CN" sz="2000" b="0" dirty="0">
                <a:latin typeface="华文宋体" panose="02010600040101010101" pitchFamily="2" charset="-122"/>
                <a:ea typeface="华文宋体" panose="02010600040101010101" pitchFamily="2" charset="-122"/>
              </a:rPr>
              <a:t>BX</a:t>
            </a:r>
            <a:r>
              <a:rPr kumimoji="0" lang="zh-CN" altLang="en-US" sz="2000" b="0" dirty="0">
                <a:latin typeface="华文宋体" panose="02010600040101010101" pitchFamily="2" charset="-122"/>
                <a:ea typeface="华文宋体" panose="02010600040101010101" pitchFamily="2" charset="-122"/>
              </a:rPr>
              <a:t>，以及指令执行前的</a:t>
            </a:r>
            <a:r>
              <a:rPr kumimoji="0" lang="en-US" altLang="zh-CN" sz="2000" b="0" dirty="0">
                <a:latin typeface="华文宋体" panose="02010600040101010101" pitchFamily="2" charset="-122"/>
                <a:ea typeface="华文宋体" panose="02010600040101010101" pitchFamily="2" charset="-122"/>
              </a:rPr>
              <a:t>SP</a:t>
            </a:r>
            <a:r>
              <a:rPr kumimoji="0" lang="zh-CN" altLang="en-US" sz="2000" b="0" dirty="0">
                <a:latin typeface="华文宋体" panose="02010600040101010101" pitchFamily="2" charset="-122"/>
                <a:ea typeface="华文宋体" panose="02010600040101010101" pitchFamily="2" charset="-122"/>
              </a:rPr>
              <a:t>、</a:t>
            </a:r>
            <a:r>
              <a:rPr kumimoji="0" lang="en-US" altLang="zh-CN" sz="2000" b="0" dirty="0">
                <a:latin typeface="华文宋体" panose="02010600040101010101" pitchFamily="2" charset="-122"/>
                <a:ea typeface="华文宋体" panose="02010600040101010101" pitchFamily="2" charset="-122"/>
              </a:rPr>
              <a:t>BP</a:t>
            </a:r>
            <a:r>
              <a:rPr kumimoji="0" lang="zh-CN" altLang="en-US" sz="2000" b="0" dirty="0">
                <a:latin typeface="华文宋体" panose="02010600040101010101" pitchFamily="2" charset="-122"/>
                <a:ea typeface="华文宋体" panose="02010600040101010101" pitchFamily="2" charset="-122"/>
              </a:rPr>
              <a:t>、</a:t>
            </a:r>
            <a:r>
              <a:rPr kumimoji="0" lang="en-US" altLang="zh-CN" sz="2000" b="0" dirty="0">
                <a:latin typeface="华文宋体" panose="02010600040101010101" pitchFamily="2" charset="-122"/>
                <a:ea typeface="华文宋体" panose="02010600040101010101" pitchFamily="2" charset="-122"/>
              </a:rPr>
              <a:t>SI</a:t>
            </a:r>
            <a:r>
              <a:rPr kumimoji="0" lang="zh-CN" altLang="en-US" sz="2000" b="0" dirty="0">
                <a:latin typeface="华文宋体" panose="02010600040101010101" pitchFamily="2" charset="-122"/>
                <a:ea typeface="华文宋体" panose="02010600040101010101" pitchFamily="2" charset="-122"/>
              </a:rPr>
              <a:t>、</a:t>
            </a:r>
            <a:r>
              <a:rPr kumimoji="0" lang="en-US" altLang="zh-CN" sz="2000" b="0" dirty="0">
                <a:latin typeface="华文宋体" panose="02010600040101010101" pitchFamily="2" charset="-122"/>
                <a:ea typeface="华文宋体" panose="02010600040101010101" pitchFamily="2" charset="-122"/>
              </a:rPr>
              <a:t>DI</a:t>
            </a:r>
            <a:r>
              <a:rPr kumimoji="0" lang="zh-CN" altLang="en-US" sz="2000" b="0" dirty="0">
                <a:latin typeface="华文宋体" panose="02010600040101010101" pitchFamily="2" charset="-122"/>
                <a:ea typeface="华文宋体" panose="02010600040101010101" pitchFamily="2" charset="-122"/>
              </a:rPr>
              <a:t>。指令执行后</a:t>
            </a:r>
            <a:r>
              <a:rPr kumimoji="0" lang="en-US" altLang="zh-CN" sz="2000" b="0" dirty="0">
                <a:latin typeface="华文宋体" panose="02010600040101010101" pitchFamily="2" charset="-122"/>
                <a:ea typeface="华文宋体" panose="02010600040101010101" pitchFamily="2" charset="-122"/>
              </a:rPr>
              <a:t>(SP)-16→(SP)</a:t>
            </a:r>
            <a:r>
              <a:rPr kumimoji="0" lang="zh-CN" altLang="en-US" sz="2000" b="0" dirty="0">
                <a:latin typeface="华文宋体" panose="02010600040101010101" pitchFamily="2" charset="-122"/>
                <a:ea typeface="华文宋体" panose="02010600040101010101" pitchFamily="2" charset="-122"/>
              </a:rPr>
              <a:t>仍指向栈顶。 </a:t>
            </a:r>
            <a:endParaRPr kumimoji="0" lang="zh-CN" altLang="en-US" sz="2000" b="0" dirty="0">
              <a:latin typeface="华文宋体" panose="02010600040101010101" pitchFamily="2" charset="-122"/>
              <a:ea typeface="华文宋体" panose="02010600040101010101" pitchFamily="2" charset="-122"/>
            </a:endParaRPr>
          </a:p>
        </p:txBody>
      </p:sp>
      <p:sp>
        <p:nvSpPr>
          <p:cNvPr id="160773" name="Rectangle 5"/>
          <p:cNvSpPr>
            <a:spLocks noChangeArrowheads="1"/>
          </p:cNvSpPr>
          <p:nvPr/>
        </p:nvSpPr>
        <p:spPr bwMode="auto">
          <a:xfrm>
            <a:off x="467648" y="1106488"/>
            <a:ext cx="5313362" cy="417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850" tIns="54425" rIns="108850" bIns="54425">
            <a:spAutoFit/>
          </a:bodyPr>
          <a:lstStyle/>
          <a:p>
            <a:pPr eaLnBrk="0" hangingPunct="0">
              <a:spcBef>
                <a:spcPct val="0"/>
              </a:spcBef>
            </a:pPr>
            <a:r>
              <a:rPr kumimoji="0" lang="zh-CN" altLang="en-US" sz="2000" dirty="0">
                <a:solidFill>
                  <a:srgbClr val="FF0000"/>
                </a:solidFill>
                <a:latin typeface="华文宋体" panose="02010600040101010101" pitchFamily="2" charset="-122"/>
                <a:ea typeface="华文宋体" panose="02010600040101010101" pitchFamily="2" charset="-122"/>
              </a:rPr>
              <a:t>所有寄存器进栈指令：</a:t>
            </a:r>
            <a:r>
              <a:rPr kumimoji="0" lang="en-US" altLang="zh-CN" sz="2000" dirty="0">
                <a:solidFill>
                  <a:srgbClr val="FF0000"/>
                </a:solidFill>
                <a:latin typeface="华文宋体" panose="02010600040101010101" pitchFamily="2" charset="-122"/>
                <a:ea typeface="华文宋体" panose="02010600040101010101" pitchFamily="2" charset="-122"/>
              </a:rPr>
              <a:t>PUSHA</a:t>
            </a:r>
            <a:endParaRPr kumimoji="0" lang="en-US" altLang="zh-CN" sz="2000" dirty="0">
              <a:solidFill>
                <a:srgbClr val="FF0000"/>
              </a:solidFill>
              <a:latin typeface="华文宋体" panose="02010600040101010101" pitchFamily="2" charset="-122"/>
              <a:ea typeface="华文宋体" panose="02010600040101010101" pitchFamily="2" charset="-122"/>
            </a:endParaRPr>
          </a:p>
        </p:txBody>
      </p:sp>
      <p:sp>
        <p:nvSpPr>
          <p:cNvPr id="160774" name="Rectangle 6"/>
          <p:cNvSpPr>
            <a:spLocks noChangeArrowheads="1"/>
          </p:cNvSpPr>
          <p:nvPr/>
        </p:nvSpPr>
        <p:spPr bwMode="auto">
          <a:xfrm>
            <a:off x="450284" y="3740150"/>
            <a:ext cx="8010148" cy="2879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08850" tIns="54425" rIns="108850" bIns="54425">
            <a:spAutoFit/>
          </a:bodyPr>
          <a:lstStyle/>
          <a:p>
            <a:pPr eaLnBrk="0" hangingPunct="0">
              <a:spcBef>
                <a:spcPct val="0"/>
              </a:spcBef>
            </a:pPr>
            <a:r>
              <a:rPr kumimoji="0" lang="zh-CN" altLang="en-US" sz="2000" b="0" dirty="0">
                <a:latin typeface="华文宋体" panose="02010600040101010101" pitchFamily="2" charset="-122"/>
                <a:ea typeface="华文宋体" panose="02010600040101010101" pitchFamily="2" charset="-122"/>
              </a:rPr>
              <a:t>指令的格式为：</a:t>
            </a:r>
            <a:r>
              <a:rPr kumimoji="0" lang="en-US" altLang="zh-CN" sz="2000" b="0" dirty="0">
                <a:solidFill>
                  <a:srgbClr val="CC0000"/>
                </a:solidFill>
                <a:effectLst>
                  <a:outerShdw blurRad="38100" dist="38100" dir="2700000" algn="tl">
                    <a:srgbClr val="C0C0C0"/>
                  </a:outerShdw>
                </a:effectLst>
                <a:latin typeface="华文宋体" panose="02010600040101010101" pitchFamily="2" charset="-122"/>
                <a:ea typeface="华文宋体" panose="02010600040101010101" pitchFamily="2" charset="-122"/>
              </a:rPr>
              <a:t>POPA</a:t>
            </a:r>
            <a:endParaRPr kumimoji="0" lang="en-US" altLang="zh-CN" sz="2000" b="0" dirty="0">
              <a:solidFill>
                <a:srgbClr val="CC0000"/>
              </a:solidFill>
              <a:effectLst>
                <a:outerShdw blurRad="38100" dist="38100" dir="2700000" algn="tl">
                  <a:srgbClr val="C0C0C0"/>
                </a:outerShdw>
              </a:effectLst>
              <a:latin typeface="华文宋体" panose="02010600040101010101" pitchFamily="2" charset="-122"/>
              <a:ea typeface="华文宋体" panose="02010600040101010101" pitchFamily="2" charset="-122"/>
            </a:endParaRPr>
          </a:p>
          <a:p>
            <a:pPr eaLnBrk="0" hangingPunct="0">
              <a:spcBef>
                <a:spcPct val="0"/>
              </a:spcBef>
            </a:pPr>
            <a:r>
              <a:rPr kumimoji="0" lang="en-US" altLang="zh-CN" sz="2000" b="0" dirty="0">
                <a:latin typeface="华文宋体" panose="02010600040101010101" pitchFamily="2" charset="-122"/>
                <a:ea typeface="华文宋体" panose="02010600040101010101" pitchFamily="2" charset="-122"/>
              </a:rPr>
              <a:t>      </a:t>
            </a:r>
            <a:r>
              <a:rPr kumimoji="0" lang="zh-CN" altLang="en-US" sz="2000" b="0" dirty="0">
                <a:latin typeface="华文宋体" panose="02010600040101010101" pitchFamily="2" charset="-122"/>
                <a:ea typeface="华文宋体" panose="02010600040101010101" pitchFamily="2" charset="-122"/>
              </a:rPr>
              <a:t>功能：</a:t>
            </a:r>
            <a:r>
              <a:rPr kumimoji="0" lang="en-US" altLang="zh-CN" sz="2000" b="0" dirty="0">
                <a:latin typeface="华文宋体" panose="02010600040101010101" pitchFamily="2" charset="-122"/>
                <a:ea typeface="华文宋体" panose="02010600040101010101" pitchFamily="2" charset="-122"/>
              </a:rPr>
              <a:t>16</a:t>
            </a:r>
            <a:r>
              <a:rPr kumimoji="0" lang="zh-CN" altLang="en-US" sz="2000" b="0" dirty="0">
                <a:latin typeface="华文宋体" panose="02010600040101010101" pitchFamily="2" charset="-122"/>
                <a:ea typeface="华文宋体" panose="02010600040101010101" pitchFamily="2" charset="-122"/>
              </a:rPr>
              <a:t>位通用寄存器依次出栈，次序为</a:t>
            </a:r>
            <a:r>
              <a:rPr kumimoji="0" lang="en-US" altLang="zh-CN" sz="2000" b="0" dirty="0">
                <a:latin typeface="华文宋体" panose="02010600040101010101" pitchFamily="2" charset="-122"/>
                <a:ea typeface="华文宋体" panose="02010600040101010101" pitchFamily="2" charset="-122"/>
              </a:rPr>
              <a:t>DI</a:t>
            </a:r>
            <a:r>
              <a:rPr kumimoji="0" lang="zh-CN" altLang="en-US" sz="2000" b="0" dirty="0">
                <a:latin typeface="华文宋体" panose="02010600040101010101" pitchFamily="2" charset="-122"/>
                <a:ea typeface="华文宋体" panose="02010600040101010101" pitchFamily="2" charset="-122"/>
              </a:rPr>
              <a:t>、</a:t>
            </a:r>
            <a:r>
              <a:rPr kumimoji="0" lang="en-US" altLang="zh-CN" sz="2000" b="0" dirty="0">
                <a:latin typeface="华文宋体" panose="02010600040101010101" pitchFamily="2" charset="-122"/>
                <a:ea typeface="华文宋体" panose="02010600040101010101" pitchFamily="2" charset="-122"/>
              </a:rPr>
              <a:t>SI</a:t>
            </a:r>
            <a:r>
              <a:rPr kumimoji="0" lang="zh-CN" altLang="en-US" sz="2000" b="0" dirty="0">
                <a:latin typeface="华文宋体" panose="02010600040101010101" pitchFamily="2" charset="-122"/>
                <a:ea typeface="华文宋体" panose="02010600040101010101" pitchFamily="2" charset="-122"/>
              </a:rPr>
              <a:t>、</a:t>
            </a:r>
            <a:r>
              <a:rPr kumimoji="0" lang="en-US" altLang="zh-CN" sz="2000" b="0" dirty="0">
                <a:latin typeface="华文宋体" panose="02010600040101010101" pitchFamily="2" charset="-122"/>
                <a:ea typeface="华文宋体" panose="02010600040101010101" pitchFamily="2" charset="-122"/>
              </a:rPr>
              <a:t>BP</a:t>
            </a:r>
            <a:r>
              <a:rPr kumimoji="0" lang="zh-CN" altLang="en-US" sz="2000" b="0" dirty="0">
                <a:latin typeface="华文宋体" panose="02010600040101010101" pitchFamily="2" charset="-122"/>
                <a:ea typeface="华文宋体" panose="02010600040101010101" pitchFamily="2" charset="-122"/>
              </a:rPr>
              <a:t>、</a:t>
            </a:r>
            <a:r>
              <a:rPr kumimoji="0" lang="en-US" altLang="zh-CN" sz="2000" b="0" dirty="0">
                <a:latin typeface="华文宋体" panose="02010600040101010101" pitchFamily="2" charset="-122"/>
                <a:ea typeface="华文宋体" panose="02010600040101010101" pitchFamily="2" charset="-122"/>
              </a:rPr>
              <a:t>SP</a:t>
            </a:r>
            <a:r>
              <a:rPr kumimoji="0" lang="zh-CN" altLang="en-US" sz="2000" b="0" dirty="0">
                <a:latin typeface="华文宋体" panose="02010600040101010101" pitchFamily="2" charset="-122"/>
                <a:ea typeface="华文宋体" panose="02010600040101010101" pitchFamily="2" charset="-122"/>
              </a:rPr>
              <a:t>，指令执行前的</a:t>
            </a:r>
            <a:r>
              <a:rPr kumimoji="0" lang="en-US" altLang="zh-CN" sz="2000" b="0" dirty="0">
                <a:latin typeface="华文宋体" panose="02010600040101010101" pitchFamily="2" charset="-122"/>
                <a:ea typeface="华文宋体" panose="02010600040101010101" pitchFamily="2" charset="-122"/>
              </a:rPr>
              <a:t>BX</a:t>
            </a:r>
            <a:r>
              <a:rPr kumimoji="0" lang="zh-CN" altLang="en-US" sz="2000" b="0" dirty="0">
                <a:latin typeface="华文宋体" panose="02010600040101010101" pitchFamily="2" charset="-122"/>
                <a:ea typeface="华文宋体" panose="02010600040101010101" pitchFamily="2" charset="-122"/>
              </a:rPr>
              <a:t>、</a:t>
            </a:r>
            <a:r>
              <a:rPr kumimoji="0" lang="en-US" altLang="zh-CN" sz="2000" b="0" dirty="0">
                <a:latin typeface="华文宋体" panose="02010600040101010101" pitchFamily="2" charset="-122"/>
                <a:ea typeface="华文宋体" panose="02010600040101010101" pitchFamily="2" charset="-122"/>
              </a:rPr>
              <a:t>DX</a:t>
            </a:r>
            <a:r>
              <a:rPr kumimoji="0" lang="zh-CN" altLang="en-US" sz="2000" b="0" dirty="0">
                <a:latin typeface="华文宋体" panose="02010600040101010101" pitchFamily="2" charset="-122"/>
                <a:ea typeface="华文宋体" panose="02010600040101010101" pitchFamily="2" charset="-122"/>
              </a:rPr>
              <a:t>、</a:t>
            </a:r>
            <a:r>
              <a:rPr kumimoji="0" lang="en-US" altLang="zh-CN" sz="2000" b="0" dirty="0">
                <a:latin typeface="华文宋体" panose="02010600040101010101" pitchFamily="2" charset="-122"/>
                <a:ea typeface="华文宋体" panose="02010600040101010101" pitchFamily="2" charset="-122"/>
              </a:rPr>
              <a:t>CX</a:t>
            </a:r>
            <a:r>
              <a:rPr kumimoji="0" lang="zh-CN" altLang="en-US" sz="2000" b="0" dirty="0">
                <a:latin typeface="华文宋体" panose="02010600040101010101" pitchFamily="2" charset="-122"/>
                <a:ea typeface="华文宋体" panose="02010600040101010101" pitchFamily="2" charset="-122"/>
              </a:rPr>
              <a:t>、</a:t>
            </a:r>
            <a:r>
              <a:rPr kumimoji="0" lang="en-US" altLang="zh-CN" sz="2000" b="0" dirty="0">
                <a:latin typeface="华文宋体" panose="02010600040101010101" pitchFamily="2" charset="-122"/>
                <a:ea typeface="华文宋体" panose="02010600040101010101" pitchFamily="2" charset="-122"/>
              </a:rPr>
              <a:t>AX</a:t>
            </a:r>
            <a:r>
              <a:rPr kumimoji="0" lang="zh-CN" altLang="en-US" sz="2000" b="0" dirty="0">
                <a:latin typeface="华文宋体" panose="02010600040101010101" pitchFamily="2" charset="-122"/>
                <a:ea typeface="华文宋体" panose="02010600040101010101" pitchFamily="2" charset="-122"/>
              </a:rPr>
              <a:t>。指令执行后</a:t>
            </a:r>
            <a:r>
              <a:rPr kumimoji="0" lang="en-US" altLang="zh-CN" sz="2000" b="0" dirty="0">
                <a:latin typeface="华文宋体" panose="02010600040101010101" pitchFamily="2" charset="-122"/>
                <a:ea typeface="华文宋体" panose="02010600040101010101" pitchFamily="2" charset="-122"/>
              </a:rPr>
              <a:t>(SP)+16→(SP) </a:t>
            </a:r>
            <a:r>
              <a:rPr kumimoji="0" lang="zh-CN" altLang="en-US" sz="2000" b="0" dirty="0">
                <a:latin typeface="华文宋体" panose="02010600040101010101" pitchFamily="2" charset="-122"/>
                <a:ea typeface="华文宋体" panose="02010600040101010101" pitchFamily="2" charset="-122"/>
              </a:rPr>
              <a:t>仍指向栈顶。</a:t>
            </a:r>
            <a:endParaRPr kumimoji="0" lang="en-US" altLang="zh-CN" sz="2000" b="0" dirty="0">
              <a:latin typeface="华文宋体" panose="02010600040101010101" pitchFamily="2" charset="-122"/>
              <a:ea typeface="华文宋体" panose="02010600040101010101" pitchFamily="2" charset="-122"/>
            </a:endParaRPr>
          </a:p>
          <a:p>
            <a:pPr eaLnBrk="0" hangingPunct="0">
              <a:spcBef>
                <a:spcPct val="0"/>
              </a:spcBef>
            </a:pPr>
            <a:r>
              <a:rPr lang="en-US" altLang="zh-CN" sz="2000" b="0" dirty="0">
                <a:solidFill>
                  <a:srgbClr val="FF0000"/>
                </a:solidFill>
                <a:latin typeface="华文宋体" panose="02010600040101010101" pitchFamily="2" charset="-122"/>
                <a:ea typeface="华文宋体" panose="02010600040101010101" pitchFamily="2" charset="-122"/>
              </a:rPr>
              <a:t>      </a:t>
            </a:r>
            <a:r>
              <a:rPr kumimoji="0" lang="zh-CN" altLang="en-US" sz="2000" b="0" dirty="0">
                <a:solidFill>
                  <a:srgbClr val="FF0000"/>
                </a:solidFill>
                <a:latin typeface="华文宋体" panose="02010600040101010101" pitchFamily="2" charset="-122"/>
                <a:ea typeface="华文宋体" panose="02010600040101010101" pitchFamily="2" charset="-122"/>
              </a:rPr>
              <a:t>需要说明的是：</a:t>
            </a:r>
            <a:r>
              <a:rPr kumimoji="0" lang="en-US" altLang="zh-CN" sz="2000" b="0" dirty="0">
                <a:latin typeface="华文宋体" panose="02010600040101010101" pitchFamily="2" charset="-122"/>
                <a:ea typeface="华文宋体" panose="02010600040101010101" pitchFamily="2" charset="-122"/>
              </a:rPr>
              <a:t>SP</a:t>
            </a:r>
            <a:r>
              <a:rPr kumimoji="0" lang="zh-CN" altLang="en-US" sz="2000" b="0" dirty="0">
                <a:latin typeface="华文宋体" panose="02010600040101010101" pitchFamily="2" charset="-122"/>
                <a:ea typeface="华文宋体" panose="02010600040101010101" pitchFamily="2" charset="-122"/>
              </a:rPr>
              <a:t>出栈只是修改了指针使其后的</a:t>
            </a:r>
            <a:r>
              <a:rPr kumimoji="0" lang="en-US" altLang="zh-CN" sz="2000" b="0" dirty="0">
                <a:latin typeface="华文宋体" panose="02010600040101010101" pitchFamily="2" charset="-122"/>
                <a:ea typeface="华文宋体" panose="02010600040101010101" pitchFamily="2" charset="-122"/>
              </a:rPr>
              <a:t>BX</a:t>
            </a:r>
            <a:r>
              <a:rPr kumimoji="0" lang="zh-CN" altLang="en-US" sz="2000" b="0" dirty="0">
                <a:latin typeface="华文宋体" panose="02010600040101010101" pitchFamily="2" charset="-122"/>
                <a:ea typeface="华文宋体" panose="02010600040101010101" pitchFamily="2" charset="-122"/>
              </a:rPr>
              <a:t>能够出栈，而堆栈中原先由</a:t>
            </a:r>
            <a:r>
              <a:rPr kumimoji="0" lang="en-US" altLang="zh-CN" sz="2000" b="0" dirty="0">
                <a:latin typeface="华文宋体" panose="02010600040101010101" pitchFamily="2" charset="-122"/>
                <a:ea typeface="华文宋体" panose="02010600040101010101" pitchFamily="2" charset="-122"/>
              </a:rPr>
              <a:t>PUSHA</a:t>
            </a:r>
            <a:r>
              <a:rPr kumimoji="0" lang="zh-CN" altLang="en-US" sz="2000" b="0" dirty="0">
                <a:latin typeface="华文宋体" panose="02010600040101010101" pitchFamily="2" charset="-122"/>
                <a:ea typeface="华文宋体" panose="02010600040101010101" pitchFamily="2" charset="-122"/>
              </a:rPr>
              <a:t>指令存入的</a:t>
            </a:r>
            <a:r>
              <a:rPr kumimoji="0" lang="en-US" altLang="zh-CN" sz="2000" b="0" dirty="0">
                <a:latin typeface="华文宋体" panose="02010600040101010101" pitchFamily="2" charset="-122"/>
                <a:ea typeface="华文宋体" panose="02010600040101010101" pitchFamily="2" charset="-122"/>
              </a:rPr>
              <a:t>SP</a:t>
            </a:r>
            <a:r>
              <a:rPr kumimoji="0" lang="zh-CN" altLang="en-US" sz="2000" b="0" dirty="0">
                <a:latin typeface="华文宋体" panose="02010600040101010101" pitchFamily="2" charset="-122"/>
                <a:ea typeface="华文宋体" panose="02010600040101010101" pitchFamily="2" charset="-122"/>
              </a:rPr>
              <a:t>的原始内容被丢弃，并未真正送到</a:t>
            </a:r>
            <a:r>
              <a:rPr kumimoji="0" lang="en-US" altLang="zh-CN" sz="2000" b="0" dirty="0">
                <a:latin typeface="华文宋体" panose="02010600040101010101" pitchFamily="2" charset="-122"/>
                <a:ea typeface="华文宋体" panose="02010600040101010101" pitchFamily="2" charset="-122"/>
              </a:rPr>
              <a:t>SP</a:t>
            </a:r>
            <a:r>
              <a:rPr kumimoji="0" lang="zh-CN" altLang="en-US" sz="2000" b="0" dirty="0">
                <a:latin typeface="华文宋体" panose="02010600040101010101" pitchFamily="2" charset="-122"/>
                <a:ea typeface="华文宋体" panose="02010600040101010101" pitchFamily="2" charset="-122"/>
              </a:rPr>
              <a:t>寄存器中。</a:t>
            </a:r>
            <a:endParaRPr kumimoji="0" lang="zh-CN" altLang="en-US" sz="2000" b="0" dirty="0">
              <a:latin typeface="华文宋体" panose="02010600040101010101" pitchFamily="2" charset="-122"/>
              <a:ea typeface="华文宋体" panose="02010600040101010101" pitchFamily="2" charset="-122"/>
            </a:endParaRPr>
          </a:p>
          <a:p>
            <a:pPr eaLnBrk="0" hangingPunct="0">
              <a:spcBef>
                <a:spcPct val="0"/>
              </a:spcBef>
            </a:pPr>
            <a:r>
              <a:rPr kumimoji="0" lang="zh-CN" altLang="en-US" sz="2000" b="0" dirty="0">
                <a:latin typeface="华文宋体" panose="02010600040101010101" pitchFamily="2" charset="-122"/>
                <a:ea typeface="华文宋体" panose="02010600040101010101" pitchFamily="2" charset="-122"/>
              </a:rPr>
              <a:t>      上述两条堆栈指令均不影响标志位。</a:t>
            </a:r>
            <a:endParaRPr kumimoji="0" lang="en-US" altLang="zh-CN" sz="2000" b="0" dirty="0">
              <a:latin typeface="华文宋体" panose="02010600040101010101" pitchFamily="2" charset="-122"/>
              <a:ea typeface="华文宋体" panose="02010600040101010101" pitchFamily="2" charset="-122"/>
            </a:endParaRPr>
          </a:p>
          <a:p>
            <a:pPr eaLnBrk="0" hangingPunct="0">
              <a:spcBef>
                <a:spcPct val="0"/>
              </a:spcBef>
            </a:pPr>
            <a:r>
              <a:rPr lang="en-US" altLang="zh-CN" sz="2000" b="0" dirty="0">
                <a:latin typeface="华文宋体" panose="02010600040101010101" pitchFamily="2" charset="-122"/>
                <a:ea typeface="华文宋体" panose="02010600040101010101" pitchFamily="2" charset="-122"/>
              </a:rPr>
              <a:t>      </a:t>
            </a:r>
            <a:r>
              <a:rPr lang="zh-CN" altLang="en-US" sz="2000" b="0" dirty="0">
                <a:solidFill>
                  <a:srgbClr val="FF0000"/>
                </a:solidFill>
                <a:latin typeface="华文宋体" panose="02010600040101010101" pitchFamily="2" charset="-122"/>
                <a:ea typeface="华文宋体" panose="02010600040101010101" pitchFamily="2" charset="-122"/>
              </a:rPr>
              <a:t>上述两条指令可用于</a:t>
            </a:r>
            <a:r>
              <a:rPr lang="en-US" altLang="zh-CN" sz="2000" b="0" dirty="0">
                <a:solidFill>
                  <a:srgbClr val="FF0000"/>
                </a:solidFill>
                <a:latin typeface="华文宋体" panose="02010600040101010101" pitchFamily="2" charset="-122"/>
                <a:ea typeface="华文宋体" panose="02010600040101010101" pitchFamily="2" charset="-122"/>
              </a:rPr>
              <a:t>286</a:t>
            </a:r>
            <a:r>
              <a:rPr lang="zh-CN" altLang="en-US" sz="2000" b="0" dirty="0">
                <a:solidFill>
                  <a:srgbClr val="FF0000"/>
                </a:solidFill>
                <a:latin typeface="华文宋体" panose="02010600040101010101" pitchFamily="2" charset="-122"/>
                <a:ea typeface="华文宋体" panose="02010600040101010101" pitchFamily="2" charset="-122"/>
              </a:rPr>
              <a:t>及其后续机型（可用</a:t>
            </a:r>
            <a:r>
              <a:rPr lang="en-US" altLang="zh-CN" sz="2000" b="0" dirty="0">
                <a:solidFill>
                  <a:srgbClr val="FF0000"/>
                </a:solidFill>
                <a:latin typeface="华文宋体" panose="02010600040101010101" pitchFamily="2" charset="-122"/>
                <a:ea typeface="华文宋体" panose="02010600040101010101" pitchFamily="2" charset="-122"/>
              </a:rPr>
              <a:t>.286, .386</a:t>
            </a:r>
            <a:r>
              <a:rPr lang="zh-CN" altLang="en-US" sz="2000" b="0" dirty="0">
                <a:solidFill>
                  <a:srgbClr val="FF0000"/>
                </a:solidFill>
                <a:latin typeface="华文宋体" panose="02010600040101010101" pitchFamily="2" charset="-122"/>
                <a:ea typeface="华文宋体" panose="02010600040101010101" pitchFamily="2" charset="-122"/>
              </a:rPr>
              <a:t>等伪指令选择指令系统。）</a:t>
            </a:r>
            <a:endParaRPr kumimoji="0" lang="zh-CN" altLang="en-US" sz="2000" b="0" dirty="0">
              <a:solidFill>
                <a:srgbClr val="FF0000"/>
              </a:solidFill>
              <a:latin typeface="华文宋体" panose="02010600040101010101" pitchFamily="2" charset="-122"/>
              <a:ea typeface="华文宋体" panose="02010600040101010101" pitchFamily="2" charset="-122"/>
            </a:endParaRPr>
          </a:p>
        </p:txBody>
      </p:sp>
      <p:sp>
        <p:nvSpPr>
          <p:cNvPr id="160775" name="Rectangle 7"/>
          <p:cNvSpPr>
            <a:spLocks noChangeArrowheads="1"/>
          </p:cNvSpPr>
          <p:nvPr/>
        </p:nvSpPr>
        <p:spPr bwMode="auto">
          <a:xfrm>
            <a:off x="452120" y="3012193"/>
            <a:ext cx="5570537" cy="417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850" tIns="54425" rIns="108850" bIns="54425">
            <a:spAutoFit/>
          </a:bodyPr>
          <a:lstStyle/>
          <a:p>
            <a:pPr eaLnBrk="0" hangingPunct="0">
              <a:spcBef>
                <a:spcPct val="0"/>
              </a:spcBef>
            </a:pPr>
            <a:r>
              <a:rPr kumimoji="0" lang="zh-CN" altLang="en-US" sz="2000" dirty="0">
                <a:solidFill>
                  <a:srgbClr val="FF0000"/>
                </a:solidFill>
                <a:latin typeface="华文宋体" panose="02010600040101010101" pitchFamily="2" charset="-122"/>
                <a:ea typeface="华文宋体" panose="02010600040101010101" pitchFamily="2" charset="-122"/>
              </a:rPr>
              <a:t>所有寄存器出栈指令</a:t>
            </a:r>
            <a:r>
              <a:rPr lang="zh-CN" altLang="en-US" sz="2000" dirty="0">
                <a:solidFill>
                  <a:srgbClr val="FF0000"/>
                </a:solidFill>
                <a:latin typeface="华文宋体" panose="02010600040101010101" pitchFamily="2" charset="-122"/>
                <a:ea typeface="华文宋体" panose="02010600040101010101" pitchFamily="2" charset="-122"/>
              </a:rPr>
              <a:t>：</a:t>
            </a:r>
            <a:r>
              <a:rPr kumimoji="0" lang="en-US" altLang="zh-CN" sz="2000" dirty="0">
                <a:solidFill>
                  <a:srgbClr val="FF0000"/>
                </a:solidFill>
                <a:latin typeface="华文宋体" panose="02010600040101010101" pitchFamily="2" charset="-122"/>
                <a:ea typeface="华文宋体" panose="02010600040101010101" pitchFamily="2" charset="-122"/>
              </a:rPr>
              <a:t>POPA</a:t>
            </a:r>
            <a:endParaRPr kumimoji="0" lang="en-US" altLang="zh-CN" sz="2000" dirty="0">
              <a:solidFill>
                <a:srgbClr val="FF0000"/>
              </a:solidFill>
              <a:latin typeface="华文宋体" panose="02010600040101010101" pitchFamily="2" charset="-122"/>
              <a:ea typeface="华文宋体" panose="02010600040101010101" pitchFamily="2" charset="-122"/>
            </a:endParaRPr>
          </a:p>
        </p:txBody>
      </p:sp>
      <p:sp>
        <p:nvSpPr>
          <p:cNvPr id="11"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矩形 34817"/>
          <p:cNvSpPr/>
          <p:nvPr/>
        </p:nvSpPr>
        <p:spPr>
          <a:xfrm>
            <a:off x="575556" y="1124744"/>
            <a:ext cx="7956884" cy="5293757"/>
          </a:xfrm>
          <a:prstGeom prst="rect">
            <a:avLst/>
          </a:prstGeom>
          <a:noFill/>
          <a:ln w="12700">
            <a:noFill/>
          </a:ln>
        </p:spPr>
        <p:txBody>
          <a:bodyPr wrap="square">
            <a:spAutoFit/>
          </a:bodyPr>
          <a:lstStyle/>
          <a:p>
            <a:pPr>
              <a:lnSpc>
                <a:spcPct val="130000"/>
              </a:lnSpc>
              <a:buClr>
                <a:schemeClr val="tx2"/>
              </a:buClr>
              <a:buSzPct val="90000"/>
              <a:buFont typeface="Symbol" panose="05050102010706020507" pitchFamily="18" charset="2"/>
              <a:buNone/>
            </a:pPr>
            <a:r>
              <a:rPr lang="zh-CN" altLang="en-US" sz="2000" b="1" dirty="0">
                <a:solidFill>
                  <a:srgbClr val="000000"/>
                </a:solidFill>
                <a:latin typeface="Times New Roman" panose="02020603050405020304" pitchFamily="18" charset="0"/>
              </a:rPr>
              <a:t>例：</a:t>
            </a:r>
            <a:r>
              <a:rPr lang="zh-CN" altLang="en-US" sz="2000" dirty="0">
                <a:solidFill>
                  <a:srgbClr val="000000"/>
                </a:solidFill>
              </a:rPr>
              <a:t>在有子程序或中断调用的程序中，若有些寄存器的内容在子程序或中断调用后还要用到，则可以用堆栈来保存。</a:t>
            </a:r>
            <a:endParaRPr lang="en-US" altLang="zh-CN" sz="2000" b="1" dirty="0">
              <a:solidFill>
                <a:srgbClr val="000000"/>
              </a:solidFill>
              <a:latin typeface="Times New Roman" panose="02020603050405020304" pitchFamily="18" charset="0"/>
            </a:endParaRPr>
          </a:p>
          <a:p>
            <a:pPr>
              <a:lnSpc>
                <a:spcPct val="130000"/>
              </a:lnSpc>
              <a:buClr>
                <a:schemeClr val="tx2"/>
              </a:buClr>
              <a:buSzPct val="90000"/>
              <a:buFont typeface="Symbol" panose="05050102010706020507" pitchFamily="18" charset="2"/>
              <a:buNone/>
            </a:pPr>
            <a:r>
              <a:rPr lang="en-US" altLang="zh-CN" sz="2000" dirty="0">
                <a:solidFill>
                  <a:srgbClr val="000000"/>
                </a:solidFill>
              </a:rPr>
              <a:t>        </a:t>
            </a:r>
            <a:r>
              <a:rPr lang="zh-CN" altLang="en-US" sz="2000" b="1" dirty="0">
                <a:solidFill>
                  <a:srgbClr val="000000"/>
                </a:solidFill>
                <a:latin typeface="Times New Roman" panose="02020603050405020304" pitchFamily="18" charset="0"/>
              </a:rPr>
              <a:t>   </a:t>
            </a:r>
            <a:r>
              <a:rPr lang="en-US" altLang="zh-CN" sz="2000" b="1" dirty="0">
                <a:solidFill>
                  <a:srgbClr val="000000"/>
                </a:solidFill>
                <a:latin typeface="Lucida Sans Unicode" panose="020B0602030504020204" pitchFamily="34" charset="0"/>
              </a:rPr>
              <a:t>PUSH  AX</a:t>
            </a:r>
            <a:endParaRPr lang="en-US" altLang="zh-CN" sz="2000" b="1" dirty="0">
              <a:solidFill>
                <a:srgbClr val="000000"/>
              </a:solidFill>
              <a:latin typeface="Lucida Sans Unicode" panose="020B0602030504020204" pitchFamily="34" charset="0"/>
            </a:endParaRPr>
          </a:p>
          <a:p>
            <a:pPr>
              <a:lnSpc>
                <a:spcPct val="130000"/>
              </a:lnSpc>
              <a:buClr>
                <a:schemeClr val="tx2"/>
              </a:buClr>
              <a:buSzPct val="90000"/>
              <a:buFont typeface="Symbol" panose="05050102010706020507" pitchFamily="18" charset="2"/>
              <a:buNone/>
            </a:pPr>
            <a:r>
              <a:rPr lang="en-US" altLang="zh-CN" sz="2000" b="1" dirty="0">
                <a:solidFill>
                  <a:srgbClr val="000000"/>
                </a:solidFill>
                <a:latin typeface="Lucida Sans Unicode" panose="020B0602030504020204" pitchFamily="34" charset="0"/>
              </a:rPr>
              <a:t>         PUSH  BX</a:t>
            </a:r>
            <a:endParaRPr lang="en-US" altLang="zh-CN" sz="2000" b="1" dirty="0">
              <a:solidFill>
                <a:srgbClr val="000000"/>
              </a:solidFill>
              <a:latin typeface="Lucida Sans Unicode" panose="020B0602030504020204" pitchFamily="34" charset="0"/>
            </a:endParaRPr>
          </a:p>
          <a:p>
            <a:pPr>
              <a:lnSpc>
                <a:spcPct val="130000"/>
              </a:lnSpc>
              <a:buClr>
                <a:schemeClr val="tx2"/>
              </a:buClr>
              <a:buSzPct val="90000"/>
              <a:buFont typeface="Symbol" panose="05050102010706020507" pitchFamily="18" charset="2"/>
              <a:buNone/>
            </a:pPr>
            <a:r>
              <a:rPr lang="en-US" altLang="zh-CN" sz="2000" b="1" dirty="0">
                <a:solidFill>
                  <a:srgbClr val="000000"/>
                </a:solidFill>
                <a:latin typeface="Lucida Sans Unicode" panose="020B0602030504020204" pitchFamily="34" charset="0"/>
              </a:rPr>
              <a:t>         PUSH  CX</a:t>
            </a:r>
            <a:endParaRPr lang="en-US" altLang="zh-CN" sz="2000" b="1" dirty="0">
              <a:solidFill>
                <a:srgbClr val="000000"/>
              </a:solidFill>
              <a:latin typeface="Lucida Sans Unicode" panose="020B0602030504020204" pitchFamily="34" charset="0"/>
            </a:endParaRPr>
          </a:p>
          <a:p>
            <a:pPr>
              <a:lnSpc>
                <a:spcPct val="130000"/>
              </a:lnSpc>
              <a:buClr>
                <a:schemeClr val="tx2"/>
              </a:buClr>
              <a:buSzPct val="90000"/>
              <a:buFont typeface="Symbol" panose="05050102010706020507" pitchFamily="18" charset="2"/>
              <a:buNone/>
            </a:pPr>
            <a:r>
              <a:rPr lang="en-US" altLang="zh-CN" sz="2000" dirty="0">
                <a:solidFill>
                  <a:srgbClr val="000000"/>
                </a:solidFill>
                <a:latin typeface="Lucida Sans Unicode" panose="020B0602030504020204" pitchFamily="34" charset="0"/>
              </a:rPr>
              <a:t>         PUSH  DX 		</a:t>
            </a:r>
            <a:endParaRPr lang="en-US" altLang="zh-CN" sz="2000" b="1" dirty="0">
              <a:solidFill>
                <a:srgbClr val="000000"/>
              </a:solidFill>
              <a:latin typeface="Lucida Sans Unicode" panose="020B0602030504020204" pitchFamily="34" charset="0"/>
            </a:endParaRPr>
          </a:p>
          <a:p>
            <a:pPr>
              <a:lnSpc>
                <a:spcPct val="130000"/>
              </a:lnSpc>
              <a:buClr>
                <a:schemeClr val="tx2"/>
              </a:buClr>
              <a:buSzPct val="90000"/>
              <a:buFont typeface="Symbol" panose="05050102010706020507" pitchFamily="18" charset="2"/>
              <a:buNone/>
            </a:pPr>
            <a:r>
              <a:rPr lang="en-US" altLang="zh-CN" sz="2000" b="1" dirty="0">
                <a:solidFill>
                  <a:srgbClr val="000000"/>
                </a:solidFill>
                <a:latin typeface="Lucida Sans Unicode" panose="020B0602030504020204" pitchFamily="34" charset="0"/>
              </a:rPr>
              <a:t>         ……            </a:t>
            </a:r>
            <a:r>
              <a:rPr lang="en-US" altLang="zh-CN" sz="2000" dirty="0">
                <a:solidFill>
                  <a:srgbClr val="000000"/>
                </a:solidFill>
                <a:latin typeface="楷体_GB2312" pitchFamily="49" charset="-122"/>
                <a:ea typeface="楷体_GB2312" pitchFamily="49" charset="-122"/>
              </a:rPr>
              <a:t>;</a:t>
            </a:r>
            <a:r>
              <a:rPr lang="zh-CN" altLang="en-US" sz="2000" b="1" dirty="0">
                <a:solidFill>
                  <a:srgbClr val="000000"/>
                </a:solidFill>
                <a:latin typeface="楷体_GB2312" pitchFamily="49" charset="-122"/>
                <a:ea typeface="楷体_GB2312" pitchFamily="49" charset="-122"/>
              </a:rPr>
              <a:t>其间用到</a:t>
            </a:r>
            <a:r>
              <a:rPr lang="en-US" altLang="zh-CN" sz="2000" b="1" dirty="0">
                <a:solidFill>
                  <a:srgbClr val="000000"/>
                </a:solidFill>
                <a:latin typeface="Times New Roman" panose="02020603050405020304" pitchFamily="18" charset="0"/>
                <a:ea typeface="楷体_GB2312" pitchFamily="49" charset="-122"/>
              </a:rPr>
              <a:t>AX</a:t>
            </a:r>
            <a:r>
              <a:rPr lang="zh-CN" altLang="en-US" sz="2000" b="1" dirty="0">
                <a:solidFill>
                  <a:srgbClr val="000000"/>
                </a:solidFill>
                <a:latin typeface="Times New Roman" panose="02020603050405020304" pitchFamily="18" charset="0"/>
                <a:ea typeface="楷体_GB2312" pitchFamily="49" charset="-122"/>
              </a:rPr>
              <a:t>、</a:t>
            </a:r>
            <a:r>
              <a:rPr lang="en-US" altLang="zh-CN" sz="2000" b="1" dirty="0">
                <a:solidFill>
                  <a:srgbClr val="000000"/>
                </a:solidFill>
                <a:latin typeface="Times New Roman" panose="02020603050405020304" pitchFamily="18" charset="0"/>
                <a:ea typeface="楷体_GB2312" pitchFamily="49" charset="-122"/>
              </a:rPr>
              <a:t>BX</a:t>
            </a:r>
            <a:r>
              <a:rPr lang="zh-CN" altLang="en-US" sz="2000" b="1" dirty="0">
                <a:solidFill>
                  <a:srgbClr val="000000"/>
                </a:solidFill>
                <a:latin typeface="Times New Roman" panose="02020603050405020304" pitchFamily="18" charset="0"/>
                <a:ea typeface="楷体_GB2312" pitchFamily="49" charset="-122"/>
              </a:rPr>
              <a:t>、</a:t>
            </a:r>
            <a:r>
              <a:rPr lang="en-US" altLang="zh-CN" sz="2000" b="1" dirty="0">
                <a:solidFill>
                  <a:srgbClr val="000000"/>
                </a:solidFill>
                <a:latin typeface="Times New Roman" panose="02020603050405020304" pitchFamily="18" charset="0"/>
                <a:ea typeface="楷体_GB2312" pitchFamily="49" charset="-122"/>
              </a:rPr>
              <a:t>CX</a:t>
            </a:r>
            <a:r>
              <a:rPr lang="zh-CN" altLang="en-US" sz="2000" b="1" dirty="0">
                <a:solidFill>
                  <a:srgbClr val="000000"/>
                </a:solidFill>
                <a:latin typeface="Times New Roman" panose="02020603050405020304" pitchFamily="18" charset="0"/>
                <a:ea typeface="楷体_GB2312" pitchFamily="49" charset="-122"/>
              </a:rPr>
              <a:t>、</a:t>
            </a:r>
            <a:r>
              <a:rPr lang="en-US" altLang="zh-CN" sz="2000" b="1" dirty="0">
                <a:solidFill>
                  <a:srgbClr val="000000"/>
                </a:solidFill>
                <a:latin typeface="Times New Roman" panose="02020603050405020304" pitchFamily="18" charset="0"/>
                <a:ea typeface="楷体_GB2312" pitchFamily="49" charset="-122"/>
              </a:rPr>
              <a:t>DX</a:t>
            </a:r>
            <a:endParaRPr lang="en-US" altLang="zh-CN" sz="2000" b="1" dirty="0">
              <a:solidFill>
                <a:srgbClr val="000000"/>
              </a:solidFill>
              <a:latin typeface="Times New Roman" panose="02020603050405020304" pitchFamily="18" charset="0"/>
              <a:ea typeface="楷体_GB2312" pitchFamily="49" charset="-122"/>
            </a:endParaRPr>
          </a:p>
          <a:p>
            <a:pPr>
              <a:lnSpc>
                <a:spcPct val="130000"/>
              </a:lnSpc>
              <a:buClr>
                <a:schemeClr val="tx2"/>
              </a:buClr>
              <a:buSzPct val="90000"/>
              <a:buFont typeface="Symbol" panose="05050102010706020507" pitchFamily="18" charset="2"/>
              <a:buNone/>
            </a:pPr>
            <a:r>
              <a:rPr lang="en-US" altLang="zh-CN" sz="2000" b="1" dirty="0">
                <a:solidFill>
                  <a:srgbClr val="000000"/>
                </a:solidFill>
                <a:latin typeface="Lucida Sans Unicode" panose="020B0602030504020204" pitchFamily="34" charset="0"/>
              </a:rPr>
              <a:t>         POP    DX    </a:t>
            </a:r>
            <a:r>
              <a:rPr lang="en-US" altLang="zh-CN" sz="1800" b="1" dirty="0">
                <a:solidFill>
                  <a:srgbClr val="000000"/>
                </a:solidFill>
                <a:latin typeface="Lucida Sans Unicode" panose="020B0602030504020204" pitchFamily="34" charset="0"/>
              </a:rPr>
              <a:t>; </a:t>
            </a:r>
            <a:r>
              <a:rPr lang="zh-CN" altLang="en-US" sz="1800" b="1" dirty="0">
                <a:solidFill>
                  <a:srgbClr val="000000"/>
                </a:solidFill>
                <a:latin typeface="Lucida Sans Unicode" panose="020B0602030504020204" pitchFamily="34" charset="0"/>
              </a:rPr>
              <a:t>后进先出</a:t>
            </a:r>
            <a:endParaRPr lang="zh-CN" altLang="en-US" sz="1800" b="1" dirty="0">
              <a:solidFill>
                <a:srgbClr val="000000"/>
              </a:solidFill>
              <a:latin typeface="Lucida Sans Unicode" panose="020B0602030504020204" pitchFamily="34" charset="0"/>
            </a:endParaRPr>
          </a:p>
          <a:p>
            <a:pPr>
              <a:lnSpc>
                <a:spcPct val="130000"/>
              </a:lnSpc>
              <a:buClr>
                <a:schemeClr val="tx2"/>
              </a:buClr>
              <a:buSzPct val="90000"/>
            </a:pPr>
            <a:r>
              <a:rPr lang="zh-CN" altLang="en-US" sz="2000" dirty="0">
                <a:solidFill>
                  <a:srgbClr val="000000"/>
                </a:solidFill>
                <a:latin typeface="Lucida Sans Unicode" panose="020B0602030504020204" pitchFamily="34" charset="0"/>
              </a:rPr>
              <a:t>         </a:t>
            </a:r>
            <a:r>
              <a:rPr lang="en-US" altLang="zh-CN" sz="2000" dirty="0">
                <a:solidFill>
                  <a:srgbClr val="000000"/>
                </a:solidFill>
                <a:latin typeface="Lucida Sans Unicode" panose="020B0602030504020204" pitchFamily="34" charset="0"/>
              </a:rPr>
              <a:t>POP    CX</a:t>
            </a:r>
            <a:endParaRPr lang="en-US" altLang="zh-CN" sz="2000" dirty="0">
              <a:solidFill>
                <a:srgbClr val="000000"/>
              </a:solidFill>
              <a:latin typeface="Lucida Sans Unicode" panose="020B0602030504020204" pitchFamily="34" charset="0"/>
            </a:endParaRPr>
          </a:p>
          <a:p>
            <a:pPr>
              <a:lnSpc>
                <a:spcPct val="130000"/>
              </a:lnSpc>
              <a:buClr>
                <a:schemeClr val="tx2"/>
              </a:buClr>
              <a:buSzPct val="90000"/>
              <a:buFont typeface="Symbol" panose="05050102010706020507" pitchFamily="18" charset="2"/>
              <a:buNone/>
            </a:pPr>
            <a:r>
              <a:rPr lang="zh-CN" altLang="en-US" sz="2000" b="1" dirty="0">
                <a:solidFill>
                  <a:srgbClr val="000000"/>
                </a:solidFill>
                <a:latin typeface="Lucida Sans Unicode" panose="020B0602030504020204" pitchFamily="34" charset="0"/>
              </a:rPr>
              <a:t>         </a:t>
            </a:r>
            <a:r>
              <a:rPr lang="en-US" altLang="zh-CN" sz="2000" b="1" dirty="0">
                <a:solidFill>
                  <a:srgbClr val="000000"/>
                </a:solidFill>
                <a:latin typeface="Lucida Sans Unicode" panose="020B0602030504020204" pitchFamily="34" charset="0"/>
              </a:rPr>
              <a:t>POP    BX</a:t>
            </a:r>
            <a:endParaRPr lang="en-US" altLang="zh-CN" sz="2000" b="1" dirty="0">
              <a:solidFill>
                <a:srgbClr val="000000"/>
              </a:solidFill>
              <a:latin typeface="Lucida Sans Unicode" panose="020B0602030504020204" pitchFamily="34" charset="0"/>
            </a:endParaRPr>
          </a:p>
          <a:p>
            <a:pPr>
              <a:lnSpc>
                <a:spcPct val="130000"/>
              </a:lnSpc>
              <a:buClr>
                <a:schemeClr val="tx2"/>
              </a:buClr>
              <a:buSzPct val="90000"/>
              <a:buFont typeface="Symbol" panose="05050102010706020507" pitchFamily="18" charset="2"/>
              <a:buNone/>
            </a:pPr>
            <a:r>
              <a:rPr lang="en-US" altLang="zh-CN" sz="2000" b="1" dirty="0">
                <a:solidFill>
                  <a:srgbClr val="000000"/>
                </a:solidFill>
                <a:latin typeface="Lucida Sans Unicode" panose="020B0602030504020204" pitchFamily="34" charset="0"/>
              </a:rPr>
              <a:t>         POP    AX</a:t>
            </a:r>
            <a:endParaRPr lang="en-US" altLang="zh-CN" sz="2000" b="1" dirty="0">
              <a:solidFill>
                <a:srgbClr val="000000"/>
              </a:solidFill>
              <a:latin typeface="Lucida Sans Unicode" panose="020B0602030504020204" pitchFamily="34" charset="0"/>
            </a:endParaRPr>
          </a:p>
          <a:p>
            <a:pPr>
              <a:lnSpc>
                <a:spcPct val="130000"/>
              </a:lnSpc>
              <a:buClr>
                <a:schemeClr val="tx2"/>
              </a:buClr>
              <a:buSzPct val="90000"/>
              <a:buFont typeface="Symbol" panose="05050102010706020507" pitchFamily="18" charset="2"/>
              <a:buNone/>
            </a:pPr>
            <a:endParaRPr lang="en-US" altLang="zh-CN" sz="2000" dirty="0">
              <a:solidFill>
                <a:srgbClr val="000000"/>
              </a:solidFill>
              <a:latin typeface="Lucida Sans Unicode" panose="020B0602030504020204" pitchFamily="34" charset="0"/>
            </a:endParaRPr>
          </a:p>
          <a:p>
            <a:pPr>
              <a:lnSpc>
                <a:spcPct val="130000"/>
              </a:lnSpc>
              <a:buClr>
                <a:schemeClr val="tx2"/>
              </a:buClr>
              <a:buSzPct val="90000"/>
              <a:buFont typeface="Symbol" panose="05050102010706020507" pitchFamily="18" charset="2"/>
              <a:buNone/>
            </a:pPr>
            <a:r>
              <a:rPr lang="en-US" altLang="zh-CN" sz="2000" b="1" dirty="0">
                <a:solidFill>
                  <a:srgbClr val="000000"/>
                </a:solidFill>
                <a:latin typeface="Lucida Sans Unicode" panose="020B0602030504020204" pitchFamily="34" charset="0"/>
              </a:rPr>
              <a:t>		</a:t>
            </a:r>
            <a:endParaRPr lang="en-US" altLang="zh-CN" sz="2000" b="1" dirty="0">
              <a:solidFill>
                <a:srgbClr val="000000"/>
              </a:solidFill>
              <a:latin typeface="Lucida Sans Unicode" panose="020B0602030504020204" pitchFamily="34" charset="0"/>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6844665" y="3171457"/>
            <a:ext cx="1173719" cy="1200329"/>
          </a:xfrm>
          <a:prstGeom prst="rect">
            <a:avLst/>
          </a:prstGeom>
        </p:spPr>
        <p:txBody>
          <a:bodyPr wrap="none">
            <a:spAutoFit/>
          </a:bodyPr>
          <a:lstStyle/>
          <a:p>
            <a:r>
              <a:rPr lang="en-US" altLang="zh-CN" dirty="0">
                <a:solidFill>
                  <a:srgbClr val="FF3300"/>
                </a:solidFill>
                <a:latin typeface="Lucida Sans Unicode" panose="020B0602030504020204" pitchFamily="34" charset="0"/>
              </a:rPr>
              <a:t>PUSHA</a:t>
            </a:r>
            <a:endParaRPr lang="en-US" altLang="zh-CN" dirty="0">
              <a:solidFill>
                <a:srgbClr val="FF3300"/>
              </a:solidFill>
              <a:latin typeface="Lucida Sans Unicode" panose="020B0602030504020204" pitchFamily="34" charset="0"/>
            </a:endParaRPr>
          </a:p>
          <a:p>
            <a:r>
              <a:rPr lang="en-US" altLang="zh-CN" dirty="0">
                <a:solidFill>
                  <a:srgbClr val="FF3300"/>
                </a:solidFill>
                <a:latin typeface="Lucida Sans Unicode" panose="020B0602030504020204" pitchFamily="34" charset="0"/>
              </a:rPr>
              <a:t>…</a:t>
            </a:r>
            <a:endParaRPr lang="en-US" altLang="zh-CN" dirty="0">
              <a:solidFill>
                <a:srgbClr val="FF3300"/>
              </a:solidFill>
              <a:latin typeface="Lucida Sans Unicode" panose="020B0602030504020204" pitchFamily="34" charset="0"/>
            </a:endParaRPr>
          </a:p>
          <a:p>
            <a:r>
              <a:rPr lang="en-US" altLang="zh-CN" dirty="0">
                <a:solidFill>
                  <a:srgbClr val="FF3300"/>
                </a:solidFill>
                <a:latin typeface="Lucida Sans Unicode" panose="020B0602030504020204" pitchFamily="34" charset="0"/>
              </a:rPr>
              <a:t>POPA</a:t>
            </a:r>
            <a:endParaRPr lang="zh-CN" altLang="en-US" dirty="0">
              <a:solidFill>
                <a:srgbClr val="FF3300"/>
              </a:solidFill>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文本框 35841"/>
          <p:cNvSpPr txBox="1"/>
          <p:nvPr/>
        </p:nvSpPr>
        <p:spPr>
          <a:xfrm>
            <a:off x="1223628" y="980728"/>
            <a:ext cx="6866954" cy="4323107"/>
          </a:xfrm>
          <a:prstGeom prst="rect">
            <a:avLst/>
          </a:prstGeom>
          <a:noFill/>
          <a:ln w="9525">
            <a:noFill/>
          </a:ln>
        </p:spPr>
        <p:txBody>
          <a:bodyPr wrap="square">
            <a:spAutoFit/>
          </a:bodyPr>
          <a:lstStyle/>
          <a:p>
            <a:pPr algn="just" eaLnBrk="0" hangingPunct="0">
              <a:lnSpc>
                <a:spcPct val="125000"/>
              </a:lnSpc>
            </a:pPr>
            <a:r>
              <a:rPr lang="en-US" altLang="zh-CN" dirty="0">
                <a:solidFill>
                  <a:srgbClr val="000000"/>
                </a:solidFill>
                <a:latin typeface="Times New Roman" panose="02020603050405020304" pitchFamily="18" charset="0"/>
                <a:sym typeface="Webdings" panose="05030102010509060703" pitchFamily="18" charset="2"/>
              </a:rPr>
              <a:t>     </a:t>
            </a:r>
            <a:r>
              <a:rPr lang="zh-CN" altLang="en-US" sz="2200" b="1" dirty="0">
                <a:solidFill>
                  <a:srgbClr val="000000"/>
                </a:solidFill>
                <a:latin typeface="Times New Roman" panose="02020603050405020304" pitchFamily="18" charset="0"/>
              </a:rPr>
              <a:t>交换指令：</a:t>
            </a:r>
            <a:r>
              <a:rPr lang="en-US" altLang="zh-CN" sz="2200" b="1" dirty="0">
                <a:solidFill>
                  <a:srgbClr val="000000"/>
                </a:solidFill>
                <a:latin typeface="Times New Roman" panose="02020603050405020304" pitchFamily="18" charset="0"/>
              </a:rPr>
              <a:t>XCHG  OPR1, OPR2</a:t>
            </a:r>
            <a:endParaRPr lang="en-US" altLang="zh-CN" sz="2200" b="1" dirty="0">
              <a:solidFill>
                <a:srgbClr val="000000"/>
              </a:solidFill>
              <a:latin typeface="Times New Roman" panose="02020603050405020304" pitchFamily="18" charset="0"/>
            </a:endParaRPr>
          </a:p>
          <a:p>
            <a:pPr algn="just" eaLnBrk="0" hangingPunct="0">
              <a:lnSpc>
                <a:spcPct val="125000"/>
              </a:lnSpc>
            </a:pPr>
            <a:r>
              <a:rPr lang="en-US" altLang="zh-CN" sz="2200" b="1" dirty="0">
                <a:solidFill>
                  <a:srgbClr val="000000"/>
                </a:solidFill>
                <a:latin typeface="Times New Roman" panose="02020603050405020304" pitchFamily="18" charset="0"/>
              </a:rPr>
              <a:t>     </a:t>
            </a:r>
            <a:r>
              <a:rPr lang="zh-CN" altLang="en-US" sz="2200" b="1" dirty="0">
                <a:solidFill>
                  <a:srgbClr val="000000"/>
                </a:solidFill>
                <a:latin typeface="Times New Roman" panose="02020603050405020304" pitchFamily="18" charset="0"/>
              </a:rPr>
              <a:t>执行操作： </a:t>
            </a:r>
            <a:r>
              <a:rPr lang="en-US" altLang="zh-CN" sz="2200" b="1" dirty="0">
                <a:solidFill>
                  <a:srgbClr val="000000"/>
                </a:solidFill>
                <a:latin typeface="Times New Roman" panose="02020603050405020304" pitchFamily="18" charset="0"/>
              </a:rPr>
              <a:t>(OPR1)  </a:t>
            </a:r>
            <a:r>
              <a:rPr lang="en-US" altLang="zh-CN" sz="2200" b="1" dirty="0">
                <a:solidFill>
                  <a:srgbClr val="000000"/>
                </a:solidFill>
                <a:latin typeface="Times New Roman" panose="02020603050405020304" pitchFamily="18" charset="0"/>
                <a:sym typeface="Symbol" panose="05050102010706020507" pitchFamily="18" charset="2"/>
              </a:rPr>
              <a:t>  </a:t>
            </a:r>
            <a:r>
              <a:rPr lang="en-US" altLang="zh-CN" sz="2200" b="1" dirty="0">
                <a:solidFill>
                  <a:srgbClr val="000000"/>
                </a:solidFill>
                <a:latin typeface="Times New Roman" panose="02020603050405020304" pitchFamily="18" charset="0"/>
              </a:rPr>
              <a:t>(OPR2)</a:t>
            </a:r>
            <a:endParaRPr lang="en-US" altLang="zh-CN" sz="2200" b="1" dirty="0">
              <a:solidFill>
                <a:srgbClr val="000000"/>
              </a:solidFill>
              <a:latin typeface="Times New Roman" panose="02020603050405020304" pitchFamily="18" charset="0"/>
            </a:endParaRPr>
          </a:p>
          <a:p>
            <a:pPr lvl="2" algn="just" eaLnBrk="0" hangingPunct="0">
              <a:lnSpc>
                <a:spcPct val="125000"/>
              </a:lnSpc>
            </a:pPr>
            <a:endParaRPr lang="en-US" altLang="zh-CN" sz="2200" b="1" dirty="0">
              <a:solidFill>
                <a:srgbClr val="000000"/>
              </a:solidFill>
              <a:latin typeface="Times New Roman" panose="02020603050405020304" pitchFamily="18" charset="0"/>
            </a:endParaRPr>
          </a:p>
          <a:p>
            <a:pPr eaLnBrk="0" hangingPunct="0">
              <a:lnSpc>
                <a:spcPct val="125000"/>
              </a:lnSpc>
            </a:pPr>
            <a:r>
              <a:rPr lang="zh-CN" altLang="en-US" sz="2200" b="1" dirty="0">
                <a:solidFill>
                  <a:srgbClr val="000000"/>
                </a:solidFill>
                <a:latin typeface="Times New Roman" panose="02020603050405020304" pitchFamily="18" charset="0"/>
                <a:ea typeface="楷体_GB2312" pitchFamily="49" charset="-122"/>
              </a:rPr>
              <a:t>注意</a:t>
            </a:r>
            <a:r>
              <a:rPr lang="en-US" altLang="zh-CN" sz="2200" b="1" dirty="0">
                <a:solidFill>
                  <a:srgbClr val="000000"/>
                </a:solidFill>
                <a:latin typeface="Times New Roman" panose="02020603050405020304" pitchFamily="18" charset="0"/>
                <a:ea typeface="楷体_GB2312" pitchFamily="49" charset="-122"/>
              </a:rPr>
              <a:t>:   </a:t>
            </a:r>
            <a:endParaRPr lang="en-US" altLang="zh-CN" sz="2200" b="1" dirty="0">
              <a:solidFill>
                <a:srgbClr val="000000"/>
              </a:solidFill>
              <a:latin typeface="Times New Roman" panose="02020603050405020304" pitchFamily="18" charset="0"/>
              <a:ea typeface="楷体_GB2312" pitchFamily="49" charset="-122"/>
            </a:endParaRPr>
          </a:p>
          <a:p>
            <a:pPr eaLnBrk="0" hangingPunct="0">
              <a:lnSpc>
                <a:spcPct val="125000"/>
              </a:lnSpc>
            </a:pPr>
            <a:r>
              <a:rPr lang="en-US" altLang="zh-CN" sz="2200" b="1" dirty="0">
                <a:solidFill>
                  <a:srgbClr val="000000"/>
                </a:solidFill>
                <a:latin typeface="Times New Roman" panose="02020603050405020304" pitchFamily="18" charset="0"/>
                <a:ea typeface="楷体_GB2312" pitchFamily="49" charset="-122"/>
              </a:rPr>
              <a:t>            </a:t>
            </a:r>
            <a:r>
              <a:rPr lang="en-US" altLang="zh-CN" sz="2200" b="1" dirty="0">
                <a:solidFill>
                  <a:srgbClr val="000000"/>
                </a:solidFill>
                <a:latin typeface="Times New Roman" panose="02020603050405020304" pitchFamily="18" charset="0"/>
                <a:ea typeface="楷体_GB2312" pitchFamily="49" charset="-122"/>
                <a:sym typeface="Symbol" panose="05050102010706020507" pitchFamily="18" charset="2"/>
              </a:rPr>
              <a:t>*  </a:t>
            </a:r>
            <a:r>
              <a:rPr lang="zh-CN" altLang="en-US" sz="2200" b="1" dirty="0">
                <a:solidFill>
                  <a:srgbClr val="000000"/>
                </a:solidFill>
                <a:latin typeface="Times New Roman" panose="02020603050405020304" pitchFamily="18" charset="0"/>
                <a:ea typeface="楷体_GB2312" pitchFamily="49" charset="-122"/>
                <a:sym typeface="Symbol" panose="05050102010706020507" pitchFamily="18" charset="2"/>
              </a:rPr>
              <a:t>不影响标志位</a:t>
            </a:r>
            <a:endParaRPr lang="en-US" altLang="zh-CN" sz="2200" b="1" dirty="0">
              <a:solidFill>
                <a:srgbClr val="000000"/>
              </a:solidFill>
              <a:latin typeface="Times New Roman" panose="02020603050405020304" pitchFamily="18" charset="0"/>
              <a:ea typeface="楷体_GB2312" pitchFamily="49" charset="-122"/>
              <a:sym typeface="Symbol" panose="05050102010706020507" pitchFamily="18" charset="2"/>
            </a:endParaRPr>
          </a:p>
          <a:p>
            <a:pPr eaLnBrk="0" hangingPunct="0">
              <a:lnSpc>
                <a:spcPct val="125000"/>
              </a:lnSpc>
            </a:pPr>
            <a:r>
              <a:rPr lang="zh-CN" altLang="en-US" sz="2200" dirty="0">
                <a:solidFill>
                  <a:srgbClr val="000000"/>
                </a:solidFill>
                <a:ea typeface="楷体_GB2312" pitchFamily="49" charset="-122"/>
                <a:sym typeface="Symbol" panose="05050102010706020507" pitchFamily="18" charset="2"/>
              </a:rPr>
              <a:t>            *  两个操作数中必须有一个是寄存器</a:t>
            </a:r>
            <a:endParaRPr lang="zh-CN" altLang="en-US" sz="2200" b="1" dirty="0">
              <a:solidFill>
                <a:srgbClr val="000000"/>
              </a:solidFill>
              <a:latin typeface="Times New Roman" panose="02020603050405020304" pitchFamily="18" charset="0"/>
              <a:ea typeface="楷体_GB2312" pitchFamily="49" charset="-122"/>
              <a:sym typeface="Symbol" panose="05050102010706020507" pitchFamily="18" charset="2"/>
            </a:endParaRPr>
          </a:p>
          <a:p>
            <a:pPr lvl="1" eaLnBrk="0" hangingPunct="0">
              <a:lnSpc>
                <a:spcPct val="125000"/>
              </a:lnSpc>
            </a:pPr>
            <a:r>
              <a:rPr lang="zh-CN" altLang="en-US" sz="2200" b="1"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sz="2200" b="1" dirty="0">
                <a:solidFill>
                  <a:srgbClr val="000000"/>
                </a:solidFill>
                <a:latin typeface="Times New Roman" panose="02020603050405020304" pitchFamily="18" charset="0"/>
                <a:ea typeface="楷体_GB2312" pitchFamily="49" charset="-122"/>
                <a:sym typeface="Symbol" panose="05050102010706020507" pitchFamily="18" charset="2"/>
              </a:rPr>
              <a:t>*  </a:t>
            </a:r>
            <a:r>
              <a:rPr lang="zh-CN" altLang="en-US" sz="2200" b="1" dirty="0">
                <a:solidFill>
                  <a:srgbClr val="000000"/>
                </a:solidFill>
                <a:latin typeface="Times New Roman" panose="02020603050405020304" pitchFamily="18" charset="0"/>
                <a:ea typeface="楷体_GB2312" pitchFamily="49" charset="-122"/>
                <a:sym typeface="Symbol" panose="05050102010706020507" pitchFamily="18" charset="2"/>
              </a:rPr>
              <a:t>不允许使用段寄存器</a:t>
            </a:r>
            <a:endParaRPr lang="zh-CN" altLang="en-US" sz="2200" b="1" dirty="0">
              <a:solidFill>
                <a:srgbClr val="000000"/>
              </a:solidFill>
              <a:latin typeface="Times New Roman" panose="02020603050405020304" pitchFamily="18" charset="0"/>
            </a:endParaRPr>
          </a:p>
          <a:p>
            <a:pPr lvl="2" algn="just" eaLnBrk="0" hangingPunct="0">
              <a:lnSpc>
                <a:spcPct val="125000"/>
              </a:lnSpc>
            </a:pPr>
            <a:endParaRPr lang="zh-CN" altLang="en-US" sz="2200" b="1" dirty="0">
              <a:solidFill>
                <a:srgbClr val="000000"/>
              </a:solidFill>
              <a:latin typeface="Times New Roman" panose="02020603050405020304" pitchFamily="18" charset="0"/>
            </a:endParaRPr>
          </a:p>
          <a:p>
            <a:pPr algn="just" eaLnBrk="0" hangingPunct="0">
              <a:lnSpc>
                <a:spcPct val="125000"/>
              </a:lnSpc>
            </a:pPr>
            <a:r>
              <a:rPr lang="zh-CN" altLang="en-US" sz="2200" b="1" dirty="0">
                <a:solidFill>
                  <a:srgbClr val="000000"/>
                </a:solidFill>
                <a:latin typeface="Times New Roman" panose="02020603050405020304" pitchFamily="18" charset="0"/>
              </a:rPr>
              <a:t>     例：</a:t>
            </a:r>
            <a:r>
              <a:rPr lang="en-US" altLang="zh-CN" sz="2200" b="1" dirty="0">
                <a:solidFill>
                  <a:srgbClr val="000000"/>
                </a:solidFill>
                <a:latin typeface="Times New Roman" panose="02020603050405020304" pitchFamily="18" charset="0"/>
              </a:rPr>
              <a:t>XCHG  BX, [ BP+SI ]</a:t>
            </a:r>
            <a:endParaRPr lang="en-US" altLang="zh-CN" sz="2200" b="1" dirty="0">
              <a:solidFill>
                <a:srgbClr val="000000"/>
              </a:solidFill>
              <a:latin typeface="Times New Roman" panose="02020603050405020304" pitchFamily="18" charset="0"/>
            </a:endParaRPr>
          </a:p>
          <a:p>
            <a:pPr algn="just" eaLnBrk="0" hangingPunct="0">
              <a:lnSpc>
                <a:spcPct val="125000"/>
              </a:lnSpc>
            </a:pPr>
            <a:r>
              <a:rPr lang="en-US" altLang="zh-CN" sz="2200" b="1" dirty="0">
                <a:solidFill>
                  <a:srgbClr val="000000"/>
                </a:solidFill>
                <a:latin typeface="Times New Roman" panose="02020603050405020304" pitchFamily="18" charset="0"/>
              </a:rPr>
              <a:t>             XCHG  AL, BH</a:t>
            </a:r>
            <a:endParaRPr lang="en-US" altLang="zh-CN" sz="2200" b="1" dirty="0">
              <a:solidFill>
                <a:srgbClr val="000000"/>
              </a:solidFill>
              <a:latin typeface="Times New Roman" panose="02020603050405020304" pitchFamily="18" charset="0"/>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4" name="Rectangle 6"/>
          <p:cNvSpPr>
            <a:spLocks noChangeArrowheads="1"/>
          </p:cNvSpPr>
          <p:nvPr/>
        </p:nvSpPr>
        <p:spPr bwMode="auto">
          <a:xfrm>
            <a:off x="1583668" y="5474620"/>
            <a:ext cx="5459400" cy="1015663"/>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dirty="0">
                <a:latin typeface="+mn-lt"/>
                <a:ea typeface="华文宋体" panose="02010600040101010101" pitchFamily="2" charset="-122"/>
              </a:rPr>
              <a:t>例：假设</a:t>
            </a:r>
            <a:r>
              <a:rPr lang="en-US" altLang="zh-CN" sz="2000" b="1" dirty="0">
                <a:latin typeface="+mn-lt"/>
                <a:ea typeface="华文宋体" panose="02010600040101010101" pitchFamily="2" charset="-122"/>
              </a:rPr>
              <a:t>(AL)=2AH</a:t>
            </a:r>
            <a:r>
              <a:rPr lang="zh-CN" altLang="en-US" sz="2000" b="1" dirty="0">
                <a:latin typeface="+mn-lt"/>
                <a:ea typeface="华文宋体" panose="02010600040101010101" pitchFamily="2" charset="-122"/>
              </a:rPr>
              <a:t>，</a:t>
            </a:r>
            <a:r>
              <a:rPr lang="en-US" altLang="zh-CN" sz="2000" b="1" dirty="0">
                <a:latin typeface="+mn-lt"/>
                <a:ea typeface="华文宋体" panose="02010600040101010101" pitchFamily="2" charset="-122"/>
              </a:rPr>
              <a:t>(204DH)=5BH</a:t>
            </a:r>
            <a:r>
              <a:rPr lang="zh-CN" altLang="en-US" sz="2000" b="1" dirty="0">
                <a:latin typeface="+mn-lt"/>
                <a:ea typeface="华文宋体" panose="02010600040101010101" pitchFamily="2" charset="-122"/>
              </a:rPr>
              <a:t>，则：</a:t>
            </a:r>
            <a:endParaRPr lang="zh-CN" altLang="en-US" sz="2000" b="1" dirty="0">
              <a:latin typeface="+mn-lt"/>
              <a:ea typeface="华文宋体" panose="02010600040101010101" pitchFamily="2" charset="-122"/>
            </a:endParaRPr>
          </a:p>
          <a:p>
            <a:r>
              <a:rPr lang="zh-CN" altLang="en-US" sz="2000" b="1" dirty="0">
                <a:latin typeface="+mn-lt"/>
                <a:ea typeface="华文宋体" panose="02010600040101010101" pitchFamily="2" charset="-122"/>
              </a:rPr>
              <a:t>指令</a:t>
            </a:r>
            <a:r>
              <a:rPr lang="en-US" altLang="zh-CN" sz="2000" b="1" dirty="0">
                <a:latin typeface="+mn-lt"/>
                <a:ea typeface="华文宋体" panose="02010600040101010101" pitchFamily="2" charset="-122"/>
              </a:rPr>
              <a:t>XCHG   AL</a:t>
            </a:r>
            <a:r>
              <a:rPr lang="zh-CN" altLang="en-US" sz="2000" b="1" dirty="0">
                <a:latin typeface="+mn-lt"/>
                <a:ea typeface="华文宋体" panose="02010600040101010101" pitchFamily="2" charset="-122"/>
              </a:rPr>
              <a:t>，</a:t>
            </a:r>
            <a:r>
              <a:rPr lang="en-US" altLang="zh-CN" sz="2000" b="1" dirty="0">
                <a:latin typeface="+mn-lt"/>
                <a:ea typeface="华文宋体" panose="02010600040101010101" pitchFamily="2" charset="-122"/>
              </a:rPr>
              <a:t>[204DH]</a:t>
            </a:r>
            <a:endParaRPr lang="en-US" altLang="zh-CN" sz="2000" b="1" dirty="0">
              <a:latin typeface="+mn-lt"/>
              <a:ea typeface="华文宋体" panose="02010600040101010101" pitchFamily="2" charset="-122"/>
            </a:endParaRPr>
          </a:p>
          <a:p>
            <a:r>
              <a:rPr lang="zh-CN" altLang="en-US" sz="2000" b="1" dirty="0">
                <a:latin typeface="+mn-lt"/>
                <a:ea typeface="华文宋体" panose="02010600040101010101" pitchFamily="2" charset="-122"/>
              </a:rPr>
              <a:t>执行后：</a:t>
            </a:r>
            <a:r>
              <a:rPr lang="en-US" altLang="zh-CN" sz="2000" b="1" dirty="0">
                <a:latin typeface="+mn-lt"/>
                <a:ea typeface="华文宋体" panose="02010600040101010101" pitchFamily="2" charset="-122"/>
              </a:rPr>
              <a:t>(AL)=5BH</a:t>
            </a:r>
            <a:r>
              <a:rPr lang="zh-CN" altLang="en-US" sz="2000" b="1" dirty="0">
                <a:latin typeface="+mn-lt"/>
                <a:ea typeface="华文宋体" panose="02010600040101010101" pitchFamily="2" charset="-122"/>
              </a:rPr>
              <a:t>，</a:t>
            </a:r>
            <a:r>
              <a:rPr lang="en-US" altLang="zh-CN" sz="2000" b="1" dirty="0">
                <a:latin typeface="+mn-lt"/>
                <a:ea typeface="华文宋体" panose="02010600040101010101" pitchFamily="2" charset="-122"/>
              </a:rPr>
              <a:t>(204DH)=2AH</a:t>
            </a:r>
            <a:r>
              <a:rPr lang="zh-CN" altLang="en-US" sz="2000" b="1" dirty="0">
                <a:latin typeface="+mn-lt"/>
                <a:ea typeface="华文宋体" panose="02010600040101010101" pitchFamily="2" charset="-122"/>
              </a:rPr>
              <a:t> </a:t>
            </a:r>
            <a:endParaRPr lang="zh-CN" altLang="en-US" sz="2000" b="1" dirty="0">
              <a:latin typeface="+mn-lt"/>
              <a:ea typeface="华文宋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文本框 41985"/>
          <p:cNvSpPr txBox="1"/>
          <p:nvPr/>
        </p:nvSpPr>
        <p:spPr>
          <a:xfrm>
            <a:off x="503548" y="1052736"/>
            <a:ext cx="7920880" cy="3231654"/>
          </a:xfrm>
          <a:prstGeom prst="rect">
            <a:avLst/>
          </a:prstGeom>
          <a:noFill/>
          <a:ln w="9525">
            <a:noFill/>
          </a:ln>
        </p:spPr>
        <p:txBody>
          <a:bodyPr wrap="square">
            <a:spAutoFit/>
          </a:bodyPr>
          <a:lstStyle/>
          <a:p>
            <a:pPr algn="just" eaLnBrk="0" hangingPunct="0">
              <a:spcBef>
                <a:spcPts val="1200"/>
              </a:spcBef>
            </a:pPr>
            <a:r>
              <a:rPr lang="en-US" altLang="zh-CN" b="1" dirty="0">
                <a:solidFill>
                  <a:srgbClr val="000000"/>
                </a:solidFill>
                <a:latin typeface="Times New Roman" panose="02020603050405020304" pitchFamily="18" charset="0"/>
                <a:sym typeface="Symbol" panose="05050102010706020507" pitchFamily="18" charset="2"/>
              </a:rPr>
              <a:t>   </a:t>
            </a:r>
            <a:r>
              <a:rPr lang="zh-CN" altLang="en-US" sz="2000" b="1" dirty="0">
                <a:solidFill>
                  <a:srgbClr val="000000"/>
                </a:solidFill>
                <a:latin typeface="+mn-lt"/>
              </a:rPr>
              <a:t>地址传送指令</a:t>
            </a:r>
            <a:endParaRPr lang="zh-CN" altLang="en-US" sz="2000" b="1" dirty="0">
              <a:solidFill>
                <a:srgbClr val="000000"/>
              </a:solidFill>
              <a:latin typeface="+mn-lt"/>
            </a:endParaRPr>
          </a:p>
          <a:p>
            <a:pPr algn="just" eaLnBrk="0" hangingPunct="0">
              <a:spcBef>
                <a:spcPts val="1200"/>
              </a:spcBef>
            </a:pPr>
            <a:r>
              <a:rPr lang="zh-CN" altLang="en-US" sz="2000" dirty="0">
                <a:solidFill>
                  <a:srgbClr val="000000"/>
                </a:solidFill>
                <a:latin typeface="+mn-lt"/>
                <a:sym typeface="Webdings" panose="05030102010509060703" pitchFamily="18" charset="2"/>
              </a:rPr>
              <a:t>     </a:t>
            </a:r>
            <a:r>
              <a:rPr lang="zh-CN" altLang="en-US" sz="2000" b="1" dirty="0">
                <a:solidFill>
                  <a:srgbClr val="000000"/>
                </a:solidFill>
                <a:latin typeface="+mn-lt"/>
              </a:rPr>
              <a:t>有效地址送寄存器指令：    </a:t>
            </a:r>
            <a:r>
              <a:rPr lang="en-US" altLang="zh-CN" sz="2000" b="1" dirty="0">
                <a:solidFill>
                  <a:srgbClr val="000000"/>
                </a:solidFill>
                <a:latin typeface="+mn-lt"/>
              </a:rPr>
              <a:t>LEA  REG, SRC</a:t>
            </a:r>
            <a:endParaRPr lang="en-US" altLang="zh-CN" sz="2000" b="1" dirty="0">
              <a:solidFill>
                <a:srgbClr val="000000"/>
              </a:solidFill>
              <a:latin typeface="+mn-lt"/>
            </a:endParaRPr>
          </a:p>
          <a:p>
            <a:pPr algn="just" eaLnBrk="0" hangingPunct="0">
              <a:spcBef>
                <a:spcPts val="1200"/>
              </a:spcBef>
            </a:pPr>
            <a:r>
              <a:rPr lang="en-US" altLang="zh-CN" sz="2000" b="1" dirty="0">
                <a:solidFill>
                  <a:srgbClr val="000000"/>
                </a:solidFill>
                <a:latin typeface="+mn-lt"/>
              </a:rPr>
              <a:t>     </a:t>
            </a:r>
            <a:r>
              <a:rPr lang="zh-CN" altLang="en-US" sz="2000" b="1" dirty="0">
                <a:solidFill>
                  <a:srgbClr val="000000"/>
                </a:solidFill>
                <a:latin typeface="+mn-lt"/>
              </a:rPr>
              <a:t>执行操作：                      　  </a:t>
            </a:r>
            <a:r>
              <a:rPr lang="en-US" altLang="zh-CN" sz="2000" b="1" dirty="0">
                <a:solidFill>
                  <a:srgbClr val="000000"/>
                </a:solidFill>
                <a:latin typeface="+mn-lt"/>
              </a:rPr>
              <a:t>(REG) </a:t>
            </a:r>
            <a:r>
              <a:rPr lang="en-US" altLang="zh-CN" sz="2000" b="1" dirty="0">
                <a:solidFill>
                  <a:srgbClr val="000000"/>
                </a:solidFill>
                <a:latin typeface="+mn-lt"/>
                <a:sym typeface="Symbol" panose="05050102010706020507" pitchFamily="18" charset="2"/>
              </a:rPr>
              <a:t></a:t>
            </a:r>
            <a:r>
              <a:rPr lang="en-US" altLang="zh-CN" sz="2000" b="1" dirty="0">
                <a:solidFill>
                  <a:srgbClr val="000000"/>
                </a:solidFill>
                <a:latin typeface="+mn-lt"/>
              </a:rPr>
              <a:t> SRC</a:t>
            </a:r>
            <a:r>
              <a:rPr lang="zh-CN" altLang="en-US" sz="2000" b="1" dirty="0">
                <a:solidFill>
                  <a:srgbClr val="000000"/>
                </a:solidFill>
                <a:latin typeface="+mn-lt"/>
              </a:rPr>
              <a:t>的有效地址</a:t>
            </a:r>
            <a:endParaRPr lang="en-US" altLang="zh-CN" sz="2000" b="1" dirty="0">
              <a:solidFill>
                <a:srgbClr val="000000"/>
              </a:solidFill>
              <a:latin typeface="+mn-lt"/>
            </a:endParaRPr>
          </a:p>
          <a:p>
            <a:pPr algn="just" eaLnBrk="0" hangingPunct="0">
              <a:spcBef>
                <a:spcPts val="1200"/>
              </a:spcBef>
            </a:pPr>
            <a:endParaRPr lang="en-US" altLang="zh-CN" sz="2000" dirty="0">
              <a:solidFill>
                <a:srgbClr val="000000"/>
              </a:solidFill>
              <a:latin typeface="+mn-lt"/>
            </a:endParaRPr>
          </a:p>
          <a:p>
            <a:pPr algn="just" eaLnBrk="0" hangingPunct="0">
              <a:spcBef>
                <a:spcPts val="1200"/>
              </a:spcBef>
            </a:pPr>
            <a:r>
              <a:rPr lang="en-US" altLang="zh-CN" sz="2000" dirty="0">
                <a:solidFill>
                  <a:srgbClr val="000000"/>
                </a:solidFill>
              </a:rPr>
              <a:t>      </a:t>
            </a:r>
            <a:r>
              <a:rPr lang="zh-CN" altLang="en-US" sz="2000" dirty="0">
                <a:solidFill>
                  <a:srgbClr val="000000"/>
                </a:solidFill>
              </a:rPr>
              <a:t>例：</a:t>
            </a:r>
            <a:r>
              <a:rPr lang="en-US" altLang="zh-CN" sz="2000" dirty="0">
                <a:solidFill>
                  <a:srgbClr val="000000"/>
                </a:solidFill>
              </a:rPr>
              <a:t>LEA    BX,  [BX+SI+0F62H]</a:t>
            </a:r>
            <a:endParaRPr lang="en-US" altLang="zh-CN" sz="2000" dirty="0">
              <a:solidFill>
                <a:srgbClr val="000000"/>
              </a:solidFill>
            </a:endParaRPr>
          </a:p>
          <a:p>
            <a:pPr algn="just" eaLnBrk="0" hangingPunct="0">
              <a:spcBef>
                <a:spcPts val="1200"/>
              </a:spcBef>
            </a:pPr>
            <a:r>
              <a:rPr lang="zh-CN" altLang="en-US" sz="2000" b="1" dirty="0">
                <a:solidFill>
                  <a:srgbClr val="000000"/>
                </a:solidFill>
                <a:latin typeface="+mn-lt"/>
              </a:rPr>
              <a:t>若指令执行前（</a:t>
            </a:r>
            <a:r>
              <a:rPr lang="en-US" altLang="zh-CN" sz="2000" b="1" dirty="0">
                <a:solidFill>
                  <a:srgbClr val="000000"/>
                </a:solidFill>
                <a:latin typeface="+mn-lt"/>
              </a:rPr>
              <a:t>BX</a:t>
            </a:r>
            <a:r>
              <a:rPr lang="zh-CN" altLang="en-US" sz="2000" b="1" dirty="0">
                <a:solidFill>
                  <a:srgbClr val="000000"/>
                </a:solidFill>
                <a:latin typeface="+mn-lt"/>
              </a:rPr>
              <a:t>）</a:t>
            </a:r>
            <a:r>
              <a:rPr lang="en-US" altLang="zh-CN" sz="2000" b="1" dirty="0">
                <a:solidFill>
                  <a:srgbClr val="000000"/>
                </a:solidFill>
                <a:latin typeface="+mn-lt"/>
              </a:rPr>
              <a:t>=0400H</a:t>
            </a:r>
            <a:r>
              <a:rPr lang="zh-CN" altLang="en-US" sz="2000" b="1" dirty="0">
                <a:solidFill>
                  <a:srgbClr val="000000"/>
                </a:solidFill>
                <a:latin typeface="+mn-lt"/>
              </a:rPr>
              <a:t>，（</a:t>
            </a:r>
            <a:r>
              <a:rPr lang="en-US" altLang="zh-CN" sz="2000" b="1" dirty="0">
                <a:solidFill>
                  <a:srgbClr val="000000"/>
                </a:solidFill>
                <a:latin typeface="+mn-lt"/>
              </a:rPr>
              <a:t>SI</a:t>
            </a:r>
            <a:r>
              <a:rPr lang="zh-CN" altLang="en-US" sz="2000" b="1" dirty="0">
                <a:solidFill>
                  <a:srgbClr val="000000"/>
                </a:solidFill>
                <a:latin typeface="+mn-lt"/>
              </a:rPr>
              <a:t>）</a:t>
            </a:r>
            <a:r>
              <a:rPr lang="en-US" altLang="zh-CN" sz="2000" b="1" dirty="0">
                <a:solidFill>
                  <a:srgbClr val="000000"/>
                </a:solidFill>
                <a:latin typeface="+mn-lt"/>
              </a:rPr>
              <a:t>=003CH</a:t>
            </a:r>
            <a:endParaRPr lang="en-US" altLang="zh-CN" sz="2000" b="1" dirty="0">
              <a:solidFill>
                <a:srgbClr val="000000"/>
              </a:solidFill>
              <a:latin typeface="+mn-lt"/>
            </a:endParaRPr>
          </a:p>
          <a:p>
            <a:pPr algn="just" eaLnBrk="0" hangingPunct="0">
              <a:spcBef>
                <a:spcPts val="1200"/>
              </a:spcBef>
            </a:pPr>
            <a:r>
              <a:rPr lang="zh-CN" altLang="en-US" sz="2000" dirty="0">
                <a:solidFill>
                  <a:srgbClr val="000000"/>
                </a:solidFill>
                <a:latin typeface="+mn-lt"/>
              </a:rPr>
              <a:t>则指令执行后（</a:t>
            </a:r>
            <a:r>
              <a:rPr lang="en-US" altLang="zh-CN" sz="2000" dirty="0">
                <a:solidFill>
                  <a:srgbClr val="000000"/>
                </a:solidFill>
                <a:latin typeface="+mn-lt"/>
              </a:rPr>
              <a:t>BX</a:t>
            </a:r>
            <a:r>
              <a:rPr lang="zh-CN" altLang="en-US" sz="2000" dirty="0">
                <a:solidFill>
                  <a:srgbClr val="000000"/>
                </a:solidFill>
                <a:latin typeface="+mn-lt"/>
              </a:rPr>
              <a:t>）</a:t>
            </a:r>
            <a:r>
              <a:rPr lang="en-US" altLang="zh-CN" sz="2000" dirty="0">
                <a:solidFill>
                  <a:srgbClr val="000000"/>
                </a:solidFill>
                <a:latin typeface="+mn-lt"/>
              </a:rPr>
              <a:t>=0400+003C+0F62=139EH</a:t>
            </a:r>
            <a:endParaRPr lang="en-US" altLang="zh-CN" sz="2000" dirty="0">
              <a:solidFill>
                <a:srgbClr val="000000"/>
              </a:solidFill>
              <a:latin typeface="+mn-lt"/>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503548" y="4527183"/>
            <a:ext cx="7920880" cy="1846659"/>
          </a:xfrm>
          <a:prstGeom prst="rect">
            <a:avLst/>
          </a:prstGeom>
        </p:spPr>
        <p:txBody>
          <a:bodyPr wrap="square">
            <a:spAutoFit/>
          </a:bodyPr>
          <a:lstStyle/>
          <a:p>
            <a:pPr algn="just" eaLnBrk="0" hangingPunct="0">
              <a:spcBef>
                <a:spcPts val="1200"/>
              </a:spcBef>
            </a:pPr>
            <a:r>
              <a:rPr lang="en-US" altLang="zh-CN" dirty="0">
                <a:solidFill>
                  <a:srgbClr val="FF0000"/>
                </a:solidFill>
              </a:rPr>
              <a:t> </a:t>
            </a:r>
            <a:r>
              <a:rPr lang="zh-CN" altLang="en-US" sz="2000" dirty="0">
                <a:solidFill>
                  <a:srgbClr val="FF0000"/>
                </a:solidFill>
              </a:rPr>
              <a:t>思考：</a:t>
            </a:r>
            <a:endParaRPr lang="en-US" altLang="zh-CN" sz="2000" dirty="0">
              <a:solidFill>
                <a:srgbClr val="FF0000"/>
              </a:solidFill>
            </a:endParaRPr>
          </a:p>
          <a:p>
            <a:pPr algn="just" eaLnBrk="0" hangingPunct="0">
              <a:spcBef>
                <a:spcPts val="1200"/>
              </a:spcBef>
            </a:pPr>
            <a:r>
              <a:rPr lang="zh-CN" altLang="en-US" sz="2000" dirty="0">
                <a:solidFill>
                  <a:srgbClr val="000000"/>
                </a:solidFill>
              </a:rPr>
              <a:t>（</a:t>
            </a:r>
            <a:r>
              <a:rPr lang="en-US" altLang="zh-CN" sz="2000" dirty="0">
                <a:solidFill>
                  <a:srgbClr val="000000"/>
                </a:solidFill>
              </a:rPr>
              <a:t>1</a:t>
            </a:r>
            <a:r>
              <a:rPr lang="zh-CN" altLang="en-US" sz="2000" dirty="0">
                <a:solidFill>
                  <a:srgbClr val="000000"/>
                </a:solidFill>
              </a:rPr>
              <a:t>）</a:t>
            </a:r>
            <a:r>
              <a:rPr lang="en-US" altLang="zh-CN" sz="2000" dirty="0">
                <a:solidFill>
                  <a:srgbClr val="000000"/>
                </a:solidFill>
              </a:rPr>
              <a:t>MOV    BX,  [BX+SI+0F62H]  </a:t>
            </a:r>
            <a:r>
              <a:rPr lang="zh-CN" altLang="en-US" sz="2000" dirty="0">
                <a:solidFill>
                  <a:srgbClr val="000000"/>
                </a:solidFill>
              </a:rPr>
              <a:t>；该指令与上述指令有何区别？</a:t>
            </a:r>
            <a:endParaRPr lang="en-US" altLang="zh-CN" sz="2000" dirty="0">
              <a:solidFill>
                <a:srgbClr val="000000"/>
              </a:solidFill>
            </a:endParaRPr>
          </a:p>
          <a:p>
            <a:pPr algn="just" eaLnBrk="0" hangingPunct="0">
              <a:spcBef>
                <a:spcPts val="1200"/>
              </a:spcBef>
            </a:pPr>
            <a:r>
              <a:rPr lang="zh-CN" altLang="en-US" sz="2000" dirty="0">
                <a:solidFill>
                  <a:srgbClr val="000000"/>
                </a:solidFill>
              </a:rPr>
              <a:t>（</a:t>
            </a:r>
            <a:r>
              <a:rPr lang="en-US" altLang="zh-CN" sz="2000" dirty="0">
                <a:solidFill>
                  <a:srgbClr val="000000"/>
                </a:solidFill>
              </a:rPr>
              <a:t>2</a:t>
            </a:r>
            <a:r>
              <a:rPr lang="zh-CN" altLang="en-US" sz="2000" dirty="0">
                <a:solidFill>
                  <a:srgbClr val="000000"/>
                </a:solidFill>
              </a:rPr>
              <a:t>）</a:t>
            </a:r>
            <a:r>
              <a:rPr lang="en-US" altLang="zh-CN" sz="2000" dirty="0">
                <a:solidFill>
                  <a:srgbClr val="000000"/>
                </a:solidFill>
              </a:rPr>
              <a:t>LEA      BX</a:t>
            </a:r>
            <a:r>
              <a:rPr lang="zh-CN" altLang="en-US" sz="2000" dirty="0">
                <a:solidFill>
                  <a:srgbClr val="000000"/>
                </a:solidFill>
              </a:rPr>
              <a:t>，</a:t>
            </a:r>
            <a:r>
              <a:rPr lang="en-US" altLang="zh-CN" sz="2000" dirty="0">
                <a:solidFill>
                  <a:srgbClr val="000000"/>
                </a:solidFill>
              </a:rPr>
              <a:t>LIST</a:t>
            </a:r>
            <a:endParaRPr lang="en-US" altLang="zh-CN" sz="2000" dirty="0">
              <a:solidFill>
                <a:srgbClr val="000000"/>
              </a:solidFill>
            </a:endParaRPr>
          </a:p>
          <a:p>
            <a:pPr algn="just" eaLnBrk="0" hangingPunct="0">
              <a:spcBef>
                <a:spcPts val="1200"/>
              </a:spcBef>
            </a:pPr>
            <a:r>
              <a:rPr lang="en-US" altLang="zh-CN" sz="2000" dirty="0">
                <a:solidFill>
                  <a:srgbClr val="000000"/>
                </a:solidFill>
              </a:rPr>
              <a:t>          MOV   BX</a:t>
            </a:r>
            <a:r>
              <a:rPr lang="zh-CN" altLang="en-US" sz="2000" dirty="0">
                <a:solidFill>
                  <a:srgbClr val="000000"/>
                </a:solidFill>
              </a:rPr>
              <a:t>，</a:t>
            </a:r>
            <a:r>
              <a:rPr lang="en-US" altLang="zh-CN" sz="2000" dirty="0">
                <a:solidFill>
                  <a:srgbClr val="000000"/>
                </a:solidFill>
              </a:rPr>
              <a:t>OFFSET   LIST  </a:t>
            </a:r>
            <a:r>
              <a:rPr lang="zh-CN" altLang="en-US" sz="2000" dirty="0">
                <a:solidFill>
                  <a:srgbClr val="000000"/>
                </a:solidFill>
              </a:rPr>
              <a:t>；这两条指令的功能是否相同？</a:t>
            </a:r>
            <a:r>
              <a:rPr lang="en-US" altLang="zh-CN" sz="2000" dirty="0">
                <a:solidFill>
                  <a:srgbClr val="000000"/>
                </a:solidFill>
              </a:rPr>
              <a:t>     </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文本框 41985"/>
          <p:cNvSpPr txBox="1"/>
          <p:nvPr/>
        </p:nvSpPr>
        <p:spPr>
          <a:xfrm>
            <a:off x="503548" y="944724"/>
            <a:ext cx="8424936" cy="5733877"/>
          </a:xfrm>
          <a:prstGeom prst="rect">
            <a:avLst/>
          </a:prstGeom>
          <a:noFill/>
          <a:ln w="9525">
            <a:noFill/>
          </a:ln>
        </p:spPr>
        <p:txBody>
          <a:bodyPr wrap="square">
            <a:spAutoFit/>
          </a:bodyPr>
          <a:lstStyle/>
          <a:p>
            <a:pPr algn="just" eaLnBrk="0" hangingPunct="0"/>
            <a:r>
              <a:rPr lang="en-US" altLang="zh-CN" b="1" dirty="0">
                <a:solidFill>
                  <a:srgbClr val="000000"/>
                </a:solidFill>
                <a:latin typeface="Times New Roman" panose="02020603050405020304" pitchFamily="18" charset="0"/>
                <a:sym typeface="Symbol" panose="05050102010706020507" pitchFamily="18" charset="2"/>
              </a:rPr>
              <a:t>   </a:t>
            </a:r>
            <a:r>
              <a:rPr lang="zh-CN" altLang="en-US" sz="2000" b="1" dirty="0">
                <a:solidFill>
                  <a:srgbClr val="000000"/>
                </a:solidFill>
                <a:latin typeface="+mn-lt"/>
              </a:rPr>
              <a:t>地址传送指令</a:t>
            </a:r>
            <a:endParaRPr lang="zh-CN" altLang="en-US" sz="2000" b="1" dirty="0">
              <a:solidFill>
                <a:srgbClr val="000000"/>
              </a:solidFill>
              <a:latin typeface="+mn-lt"/>
            </a:endParaRPr>
          </a:p>
          <a:p>
            <a:pPr algn="just" eaLnBrk="0" hangingPunct="0"/>
            <a:r>
              <a:rPr lang="en-US" altLang="zh-CN" sz="2000" b="1" dirty="0">
                <a:solidFill>
                  <a:srgbClr val="000000"/>
                </a:solidFill>
                <a:latin typeface="+mn-lt"/>
              </a:rPr>
              <a:t>   </a:t>
            </a:r>
            <a:r>
              <a:rPr lang="en-US" altLang="zh-CN" sz="2000" b="1" dirty="0">
                <a:solidFill>
                  <a:srgbClr val="000000"/>
                </a:solidFill>
                <a:latin typeface="+mn-lt"/>
                <a:sym typeface="Webdings" panose="05030102010509060703" pitchFamily="18" charset="2"/>
              </a:rPr>
              <a:t>  </a:t>
            </a:r>
            <a:r>
              <a:rPr lang="zh-CN" altLang="en-US" sz="2000" b="1" dirty="0">
                <a:solidFill>
                  <a:srgbClr val="000000"/>
                </a:solidFill>
                <a:latin typeface="+mn-lt"/>
              </a:rPr>
              <a:t>指针送寄存器和</a:t>
            </a:r>
            <a:r>
              <a:rPr lang="en-US" altLang="zh-CN" sz="2000" b="1" dirty="0">
                <a:solidFill>
                  <a:srgbClr val="000000"/>
                </a:solidFill>
                <a:latin typeface="+mn-lt"/>
              </a:rPr>
              <a:t>DS</a:t>
            </a:r>
            <a:r>
              <a:rPr lang="zh-CN" altLang="en-US" sz="2000" b="1" dirty="0">
                <a:solidFill>
                  <a:srgbClr val="000000"/>
                </a:solidFill>
                <a:latin typeface="+mn-lt"/>
              </a:rPr>
              <a:t>指令：   </a:t>
            </a:r>
            <a:r>
              <a:rPr lang="en-US" altLang="zh-CN" sz="2000" b="1" dirty="0">
                <a:solidFill>
                  <a:srgbClr val="000000"/>
                </a:solidFill>
                <a:latin typeface="+mn-lt"/>
              </a:rPr>
              <a:t>LDS  REG, SRC</a:t>
            </a:r>
            <a:endParaRPr lang="en-US" altLang="zh-CN" sz="2000" b="1" dirty="0">
              <a:solidFill>
                <a:srgbClr val="000000"/>
              </a:solidFill>
              <a:latin typeface="+mn-lt"/>
            </a:endParaRPr>
          </a:p>
          <a:p>
            <a:pPr algn="just" eaLnBrk="0" hangingPunct="0">
              <a:spcBef>
                <a:spcPts val="600"/>
              </a:spcBef>
            </a:pPr>
            <a:r>
              <a:rPr lang="en-US" altLang="zh-CN" sz="2000" b="1" dirty="0">
                <a:solidFill>
                  <a:srgbClr val="000000"/>
                </a:solidFill>
                <a:latin typeface="+mn-lt"/>
              </a:rPr>
              <a:t>     </a:t>
            </a:r>
            <a:r>
              <a:rPr lang="zh-CN" altLang="en-US" sz="2000" b="1" dirty="0">
                <a:solidFill>
                  <a:srgbClr val="000000"/>
                </a:solidFill>
                <a:latin typeface="+mn-lt"/>
              </a:rPr>
              <a:t>执行操作：                            </a:t>
            </a:r>
            <a:r>
              <a:rPr lang="en-US" altLang="zh-CN" sz="2000" b="1" dirty="0">
                <a:solidFill>
                  <a:srgbClr val="000000"/>
                </a:solidFill>
                <a:latin typeface="+mn-lt"/>
              </a:rPr>
              <a:t>(REG) </a:t>
            </a:r>
            <a:r>
              <a:rPr lang="en-US" altLang="zh-CN" sz="2000" b="1" dirty="0">
                <a:solidFill>
                  <a:srgbClr val="000000"/>
                </a:solidFill>
                <a:latin typeface="+mn-lt"/>
                <a:sym typeface="Symbol" panose="05050102010706020507" pitchFamily="18" charset="2"/>
              </a:rPr>
              <a:t> </a:t>
            </a:r>
            <a:r>
              <a:rPr lang="en-US" altLang="zh-CN" sz="2000" b="1" dirty="0">
                <a:solidFill>
                  <a:srgbClr val="000000"/>
                </a:solidFill>
                <a:latin typeface="+mn-lt"/>
              </a:rPr>
              <a:t> (SRC)</a:t>
            </a:r>
            <a:endParaRPr lang="en-US" altLang="zh-CN" sz="2000" b="1" dirty="0">
              <a:solidFill>
                <a:srgbClr val="000000"/>
              </a:solidFill>
              <a:latin typeface="+mn-lt"/>
            </a:endParaRPr>
          </a:p>
          <a:p>
            <a:pPr algn="just" eaLnBrk="0" hangingPunct="0">
              <a:spcBef>
                <a:spcPts val="600"/>
              </a:spcBef>
            </a:pPr>
            <a:r>
              <a:rPr lang="en-US" altLang="zh-CN" sz="2000" b="1" dirty="0">
                <a:solidFill>
                  <a:srgbClr val="000000"/>
                </a:solidFill>
                <a:latin typeface="+mn-lt"/>
              </a:rPr>
              <a:t>                                                     (DS)    </a:t>
            </a:r>
            <a:r>
              <a:rPr lang="en-US" altLang="zh-CN" sz="2000" b="1" dirty="0">
                <a:solidFill>
                  <a:srgbClr val="000000"/>
                </a:solidFill>
                <a:latin typeface="+mn-lt"/>
                <a:sym typeface="Symbol" panose="05050102010706020507" pitchFamily="18" charset="2"/>
              </a:rPr>
              <a:t></a:t>
            </a:r>
            <a:r>
              <a:rPr lang="en-US" altLang="zh-CN" sz="2000" b="1" dirty="0">
                <a:solidFill>
                  <a:srgbClr val="000000"/>
                </a:solidFill>
                <a:latin typeface="+mn-lt"/>
              </a:rPr>
              <a:t>  (SRC+2)</a:t>
            </a:r>
            <a:endParaRPr lang="en-US" altLang="zh-CN" sz="2000" b="1" dirty="0">
              <a:solidFill>
                <a:srgbClr val="000000"/>
              </a:solidFill>
              <a:latin typeface="+mn-lt"/>
            </a:endParaRPr>
          </a:p>
          <a:p>
            <a:pPr algn="just" eaLnBrk="0" hangingPunct="0">
              <a:spcBef>
                <a:spcPts val="600"/>
              </a:spcBef>
            </a:pPr>
            <a:r>
              <a:rPr lang="en-US" altLang="zh-CN" sz="2000" b="1" dirty="0">
                <a:solidFill>
                  <a:srgbClr val="000000"/>
                </a:solidFill>
                <a:latin typeface="+mn-lt"/>
              </a:rPr>
              <a:t>     	</a:t>
            </a:r>
            <a:r>
              <a:rPr lang="zh-CN" altLang="en-US" sz="2000" b="1" dirty="0">
                <a:solidFill>
                  <a:srgbClr val="FF3300"/>
                </a:solidFill>
                <a:latin typeface="+mn-lt"/>
              </a:rPr>
              <a:t>相继二字 </a:t>
            </a:r>
            <a:r>
              <a:rPr lang="en-US" altLang="zh-CN" sz="2000" b="1" dirty="0">
                <a:solidFill>
                  <a:srgbClr val="FF3300"/>
                </a:solidFill>
                <a:latin typeface="+mn-lt"/>
                <a:sym typeface="Symbol" panose="05050102010706020507" pitchFamily="18" charset="2"/>
              </a:rPr>
              <a:t></a:t>
            </a:r>
            <a:r>
              <a:rPr lang="en-US" altLang="zh-CN" sz="2000" b="1" dirty="0">
                <a:solidFill>
                  <a:srgbClr val="FF3300"/>
                </a:solidFill>
                <a:latin typeface="+mn-lt"/>
              </a:rPr>
              <a:t> </a:t>
            </a:r>
            <a:r>
              <a:rPr lang="zh-CN" altLang="en-US" sz="2000" b="1" dirty="0">
                <a:solidFill>
                  <a:srgbClr val="FF3300"/>
                </a:solidFill>
                <a:latin typeface="+mn-lt"/>
              </a:rPr>
              <a:t>寄存器、</a:t>
            </a:r>
            <a:r>
              <a:rPr lang="en-US" altLang="zh-CN" sz="2000" b="1" dirty="0">
                <a:solidFill>
                  <a:srgbClr val="FF3300"/>
                </a:solidFill>
                <a:latin typeface="+mn-lt"/>
              </a:rPr>
              <a:t>DS</a:t>
            </a:r>
            <a:endParaRPr lang="en-US" altLang="zh-CN" sz="2000" b="1" dirty="0">
              <a:solidFill>
                <a:srgbClr val="FF3300"/>
              </a:solidFill>
              <a:latin typeface="+mn-lt"/>
            </a:endParaRPr>
          </a:p>
          <a:p>
            <a:pPr eaLnBrk="0" hangingPunct="0">
              <a:spcBef>
                <a:spcPts val="600"/>
              </a:spcBef>
            </a:pPr>
            <a:r>
              <a:rPr lang="en-US" altLang="zh-CN" sz="2000" dirty="0">
                <a:solidFill>
                  <a:srgbClr val="000000"/>
                </a:solidFill>
                <a:latin typeface="+mn-lt"/>
              </a:rPr>
              <a:t>      </a:t>
            </a:r>
            <a:endParaRPr lang="en-US" altLang="zh-CN" sz="2000" dirty="0">
              <a:solidFill>
                <a:srgbClr val="000000"/>
              </a:solidFill>
              <a:latin typeface="+mn-lt"/>
            </a:endParaRPr>
          </a:p>
          <a:p>
            <a:pPr eaLnBrk="0" hangingPunct="0">
              <a:spcBef>
                <a:spcPts val="600"/>
              </a:spcBef>
            </a:pPr>
            <a:r>
              <a:rPr lang="en-US" altLang="zh-CN" sz="2000" dirty="0">
                <a:solidFill>
                  <a:srgbClr val="000000"/>
                </a:solidFill>
                <a:latin typeface="+mn-lt"/>
              </a:rPr>
              <a:t>      </a:t>
            </a:r>
            <a:r>
              <a:rPr lang="zh-CN" altLang="en-US" sz="2000" b="1" dirty="0">
                <a:solidFill>
                  <a:srgbClr val="000000"/>
                </a:solidFill>
                <a:latin typeface="+mn-lt"/>
              </a:rPr>
              <a:t>指针送寄存器和</a:t>
            </a:r>
            <a:r>
              <a:rPr lang="en-US" altLang="zh-CN" sz="2000" b="1" dirty="0">
                <a:solidFill>
                  <a:srgbClr val="000000"/>
                </a:solidFill>
                <a:latin typeface="+mn-lt"/>
              </a:rPr>
              <a:t>ES</a:t>
            </a:r>
            <a:r>
              <a:rPr lang="zh-CN" altLang="en-US" sz="2000" b="1" dirty="0">
                <a:solidFill>
                  <a:srgbClr val="000000"/>
                </a:solidFill>
                <a:latin typeface="+mn-lt"/>
              </a:rPr>
              <a:t>指令：  </a:t>
            </a:r>
            <a:r>
              <a:rPr lang="en-US" altLang="zh-CN" sz="2000" b="1" dirty="0">
                <a:solidFill>
                  <a:srgbClr val="000000"/>
                </a:solidFill>
                <a:latin typeface="+mn-lt"/>
              </a:rPr>
              <a:t>LES  REG, SRC</a:t>
            </a:r>
            <a:endParaRPr lang="en-US" altLang="zh-CN" sz="2000" b="1" dirty="0">
              <a:solidFill>
                <a:srgbClr val="000000"/>
              </a:solidFill>
              <a:latin typeface="+mn-lt"/>
            </a:endParaRPr>
          </a:p>
          <a:p>
            <a:pPr eaLnBrk="0" hangingPunct="0">
              <a:spcBef>
                <a:spcPts val="600"/>
              </a:spcBef>
            </a:pPr>
            <a:r>
              <a:rPr lang="en-US" altLang="zh-CN" sz="2000" b="1" dirty="0">
                <a:solidFill>
                  <a:srgbClr val="000000"/>
                </a:solidFill>
                <a:latin typeface="+mn-lt"/>
              </a:rPr>
              <a:t>      </a:t>
            </a:r>
            <a:r>
              <a:rPr lang="zh-CN" altLang="en-US" sz="2000" b="1" dirty="0">
                <a:solidFill>
                  <a:srgbClr val="000000"/>
                </a:solidFill>
                <a:latin typeface="+mn-lt"/>
              </a:rPr>
              <a:t>执行操作：                           </a:t>
            </a:r>
            <a:r>
              <a:rPr lang="en-US" altLang="zh-CN" sz="2000" b="1" dirty="0">
                <a:solidFill>
                  <a:srgbClr val="000000"/>
                </a:solidFill>
                <a:latin typeface="+mn-lt"/>
              </a:rPr>
              <a:t>(REG)  </a:t>
            </a:r>
            <a:r>
              <a:rPr lang="en-US" altLang="zh-CN" sz="2000" b="1" dirty="0">
                <a:solidFill>
                  <a:srgbClr val="000000"/>
                </a:solidFill>
                <a:latin typeface="+mn-lt"/>
                <a:sym typeface="Symbol" panose="05050102010706020507" pitchFamily="18" charset="2"/>
              </a:rPr>
              <a:t></a:t>
            </a:r>
            <a:r>
              <a:rPr lang="en-US" altLang="zh-CN" sz="2000" b="1" dirty="0">
                <a:solidFill>
                  <a:srgbClr val="000000"/>
                </a:solidFill>
                <a:latin typeface="+mn-lt"/>
              </a:rPr>
              <a:t>  (SRC)</a:t>
            </a:r>
            <a:endParaRPr lang="en-US" altLang="zh-CN" sz="2000" b="1" dirty="0">
              <a:solidFill>
                <a:srgbClr val="000000"/>
              </a:solidFill>
              <a:latin typeface="+mn-lt"/>
            </a:endParaRPr>
          </a:p>
          <a:p>
            <a:pPr eaLnBrk="0" hangingPunct="0">
              <a:spcBef>
                <a:spcPts val="600"/>
              </a:spcBef>
            </a:pPr>
            <a:r>
              <a:rPr lang="en-US" altLang="zh-CN" sz="2000" b="1" dirty="0">
                <a:solidFill>
                  <a:srgbClr val="000000"/>
                </a:solidFill>
                <a:latin typeface="+mn-lt"/>
              </a:rPr>
              <a:t>                                                     (ES)      </a:t>
            </a:r>
            <a:r>
              <a:rPr lang="en-US" altLang="zh-CN" sz="2000" b="1" dirty="0">
                <a:solidFill>
                  <a:srgbClr val="000000"/>
                </a:solidFill>
                <a:latin typeface="+mn-lt"/>
                <a:sym typeface="Symbol" panose="05050102010706020507" pitchFamily="18" charset="2"/>
              </a:rPr>
              <a:t></a:t>
            </a:r>
            <a:r>
              <a:rPr lang="en-US" altLang="zh-CN" sz="2000" b="1" dirty="0">
                <a:solidFill>
                  <a:srgbClr val="000000"/>
                </a:solidFill>
                <a:latin typeface="+mn-lt"/>
              </a:rPr>
              <a:t>  (SRC+2)</a:t>
            </a:r>
            <a:endParaRPr lang="en-US" altLang="zh-CN" sz="2000" b="1" dirty="0">
              <a:solidFill>
                <a:srgbClr val="000000"/>
              </a:solidFill>
              <a:latin typeface="+mn-lt"/>
            </a:endParaRPr>
          </a:p>
          <a:p>
            <a:pPr eaLnBrk="0" hangingPunct="0">
              <a:spcBef>
                <a:spcPts val="600"/>
              </a:spcBef>
            </a:pPr>
            <a:r>
              <a:rPr lang="en-US" altLang="zh-CN" sz="2000" b="1" dirty="0">
                <a:solidFill>
                  <a:srgbClr val="000000"/>
                </a:solidFill>
                <a:latin typeface="+mn-lt"/>
              </a:rPr>
              <a:t>      	</a:t>
            </a:r>
            <a:r>
              <a:rPr lang="zh-CN" altLang="en-US" sz="2000" b="1" dirty="0">
                <a:solidFill>
                  <a:srgbClr val="FF3300"/>
                </a:solidFill>
                <a:latin typeface="+mn-lt"/>
              </a:rPr>
              <a:t>相继二字 </a:t>
            </a:r>
            <a:r>
              <a:rPr lang="en-US" altLang="zh-CN" sz="2000" b="1" dirty="0">
                <a:solidFill>
                  <a:srgbClr val="FF3300"/>
                </a:solidFill>
                <a:latin typeface="+mn-lt"/>
                <a:sym typeface="Symbol" panose="05050102010706020507" pitchFamily="18" charset="2"/>
              </a:rPr>
              <a:t></a:t>
            </a:r>
            <a:r>
              <a:rPr lang="en-US" altLang="zh-CN" sz="2000" b="1" dirty="0">
                <a:solidFill>
                  <a:srgbClr val="FF3300"/>
                </a:solidFill>
                <a:latin typeface="+mn-lt"/>
              </a:rPr>
              <a:t> </a:t>
            </a:r>
            <a:r>
              <a:rPr lang="zh-CN" altLang="en-US" sz="2000" b="1" dirty="0">
                <a:solidFill>
                  <a:srgbClr val="FF3300"/>
                </a:solidFill>
                <a:latin typeface="+mn-lt"/>
              </a:rPr>
              <a:t>寄存器、</a:t>
            </a:r>
            <a:r>
              <a:rPr lang="en-US" altLang="zh-CN" sz="2000" b="1" dirty="0">
                <a:solidFill>
                  <a:srgbClr val="FF3300"/>
                </a:solidFill>
                <a:latin typeface="+mn-lt"/>
              </a:rPr>
              <a:t>ES</a:t>
            </a:r>
            <a:endParaRPr lang="en-US" altLang="zh-CN" sz="2000" b="1" dirty="0">
              <a:solidFill>
                <a:srgbClr val="FF3300"/>
              </a:solidFill>
              <a:latin typeface="+mn-lt"/>
            </a:endParaRPr>
          </a:p>
          <a:p>
            <a:pPr eaLnBrk="0" hangingPunct="0">
              <a:spcBef>
                <a:spcPts val="600"/>
              </a:spcBef>
            </a:pPr>
            <a:endParaRPr lang="en-US" altLang="zh-CN" sz="2000" dirty="0">
              <a:solidFill>
                <a:srgbClr val="FF3300"/>
              </a:solidFill>
              <a:latin typeface="+mn-lt"/>
            </a:endParaRPr>
          </a:p>
          <a:p>
            <a:pPr eaLnBrk="0" hangingPunct="0"/>
            <a:r>
              <a:rPr lang="zh-CN" altLang="en-US" sz="2000" dirty="0">
                <a:solidFill>
                  <a:srgbClr val="000000"/>
                </a:solidFill>
                <a:ea typeface="楷体_GB2312" pitchFamily="49" charset="-122"/>
              </a:rPr>
              <a:t>注意</a:t>
            </a:r>
            <a:r>
              <a:rPr lang="en-US" altLang="zh-CN" sz="2000" dirty="0">
                <a:solidFill>
                  <a:srgbClr val="000000"/>
                </a:solidFill>
                <a:ea typeface="楷体_GB2312" pitchFamily="49" charset="-122"/>
              </a:rPr>
              <a:t>:   </a:t>
            </a:r>
            <a:endParaRPr lang="en-US" altLang="zh-CN" sz="2000" dirty="0">
              <a:solidFill>
                <a:srgbClr val="000000"/>
              </a:solidFill>
              <a:ea typeface="楷体_GB2312" pitchFamily="49" charset="-122"/>
            </a:endParaRPr>
          </a:p>
          <a:p>
            <a:pPr eaLnBrk="0" hangingPunct="0">
              <a:lnSpc>
                <a:spcPct val="115000"/>
              </a:lnSpc>
            </a:pPr>
            <a:r>
              <a:rPr lang="en-US" altLang="zh-CN" sz="2000" dirty="0">
                <a:solidFill>
                  <a:srgbClr val="000000"/>
                </a:solidFill>
                <a:ea typeface="楷体_GB2312" pitchFamily="49" charset="-122"/>
              </a:rPr>
              <a:t>           </a:t>
            </a:r>
            <a:r>
              <a:rPr lang="en-US" altLang="zh-CN" sz="2000" dirty="0">
                <a:solidFill>
                  <a:srgbClr val="000000"/>
                </a:solidFill>
                <a:ea typeface="楷体_GB2312" pitchFamily="49" charset="-122"/>
                <a:sym typeface="Symbol" panose="05050102010706020507" pitchFamily="18" charset="2"/>
              </a:rPr>
              <a:t>*  </a:t>
            </a:r>
            <a:r>
              <a:rPr lang="zh-CN" altLang="en-US" sz="2000" dirty="0">
                <a:solidFill>
                  <a:srgbClr val="000000"/>
                </a:solidFill>
                <a:ea typeface="楷体_GB2312" pitchFamily="49" charset="-122"/>
                <a:sym typeface="Symbol" panose="05050102010706020507" pitchFamily="18" charset="2"/>
              </a:rPr>
              <a:t>不影响标志位</a:t>
            </a:r>
            <a:endParaRPr lang="zh-CN" altLang="en-US" sz="2000" dirty="0">
              <a:solidFill>
                <a:srgbClr val="000000"/>
              </a:solidFill>
              <a:ea typeface="楷体_GB2312" pitchFamily="49" charset="-122"/>
              <a:sym typeface="Symbol" panose="05050102010706020507" pitchFamily="18" charset="2"/>
            </a:endParaRPr>
          </a:p>
          <a:p>
            <a:pPr lvl="1" eaLnBrk="0" hangingPunct="0">
              <a:lnSpc>
                <a:spcPct val="115000"/>
              </a:lnSpc>
            </a:pPr>
            <a:r>
              <a:rPr lang="zh-CN" altLang="en-US" sz="2000" dirty="0">
                <a:solidFill>
                  <a:srgbClr val="000000"/>
                </a:solidFill>
                <a:ea typeface="楷体_GB2312" pitchFamily="49" charset="-122"/>
                <a:sym typeface="Symbol" panose="05050102010706020507" pitchFamily="18" charset="2"/>
              </a:rPr>
              <a:t>    </a:t>
            </a:r>
            <a:r>
              <a:rPr lang="en-US" altLang="zh-CN" sz="2000" dirty="0">
                <a:solidFill>
                  <a:srgbClr val="000000"/>
                </a:solidFill>
                <a:ea typeface="楷体_GB2312" pitchFamily="49" charset="-122"/>
                <a:sym typeface="Symbol" panose="05050102010706020507" pitchFamily="18" charset="2"/>
              </a:rPr>
              <a:t>*  </a:t>
            </a:r>
            <a:r>
              <a:rPr lang="zh-CN" altLang="zh-CN" sz="2000" dirty="0">
                <a:solidFill>
                  <a:srgbClr val="000000"/>
                </a:solidFill>
                <a:ea typeface="楷体_GB2312" pitchFamily="49" charset="-122"/>
                <a:sym typeface="Symbol" panose="05050102010706020507" pitchFamily="18" charset="2"/>
              </a:rPr>
              <a:t>REG 不能是</a:t>
            </a:r>
            <a:r>
              <a:rPr lang="zh-CN" altLang="en-US" sz="2000" dirty="0">
                <a:solidFill>
                  <a:srgbClr val="000000"/>
                </a:solidFill>
                <a:ea typeface="楷体_GB2312" pitchFamily="49" charset="-122"/>
                <a:sym typeface="Symbol" panose="05050102010706020507" pitchFamily="18" charset="2"/>
              </a:rPr>
              <a:t>段寄存器</a:t>
            </a:r>
            <a:endParaRPr lang="zh-CN" altLang="en-US" sz="2000" dirty="0">
              <a:solidFill>
                <a:srgbClr val="000000"/>
              </a:solidFill>
              <a:ea typeface="楷体_GB2312" pitchFamily="49" charset="-122"/>
              <a:sym typeface="Symbol" panose="05050102010706020507" pitchFamily="18" charset="2"/>
            </a:endParaRPr>
          </a:p>
          <a:p>
            <a:pPr lvl="1" eaLnBrk="0" hangingPunct="0">
              <a:lnSpc>
                <a:spcPct val="115000"/>
              </a:lnSpc>
            </a:pPr>
            <a:r>
              <a:rPr lang="zh-CN" altLang="en-US" sz="2000" dirty="0">
                <a:solidFill>
                  <a:srgbClr val="000000"/>
                </a:solidFill>
                <a:ea typeface="楷体_GB2312" pitchFamily="49" charset="-122"/>
                <a:sym typeface="Symbol" panose="05050102010706020507" pitchFamily="18" charset="2"/>
              </a:rPr>
              <a:t>    </a:t>
            </a:r>
            <a:r>
              <a:rPr lang="en-US" altLang="zh-CN" sz="2000" dirty="0">
                <a:solidFill>
                  <a:srgbClr val="000000"/>
                </a:solidFill>
                <a:ea typeface="楷体_GB2312" pitchFamily="49" charset="-122"/>
                <a:sym typeface="Symbol" panose="05050102010706020507" pitchFamily="18" charset="2"/>
              </a:rPr>
              <a:t>*  SRC </a:t>
            </a:r>
            <a:r>
              <a:rPr lang="zh-CN" altLang="en-US" sz="2000" dirty="0">
                <a:solidFill>
                  <a:srgbClr val="000000"/>
                </a:solidFill>
                <a:ea typeface="楷体_GB2312" pitchFamily="49" charset="-122"/>
                <a:sym typeface="Symbol" panose="05050102010706020507" pitchFamily="18" charset="2"/>
              </a:rPr>
              <a:t>必须为存储器寻址方式</a:t>
            </a:r>
            <a:r>
              <a:rPr lang="en-US" altLang="zh-CN" sz="2000" b="1" dirty="0">
                <a:solidFill>
                  <a:srgbClr val="FF3300"/>
                </a:solidFill>
                <a:latin typeface="+mn-lt"/>
              </a:rPr>
              <a:t> </a:t>
            </a:r>
            <a:endParaRPr lang="en-US" altLang="zh-CN" sz="2000" dirty="0">
              <a:solidFill>
                <a:srgbClr val="FF3300"/>
              </a:solidFill>
              <a:latin typeface="+mn-lt"/>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文本框 43009"/>
          <p:cNvSpPr txBox="1"/>
          <p:nvPr/>
        </p:nvSpPr>
        <p:spPr>
          <a:xfrm>
            <a:off x="1143000" y="1020762"/>
            <a:ext cx="7389440" cy="1815882"/>
          </a:xfrm>
          <a:prstGeom prst="rect">
            <a:avLst/>
          </a:prstGeom>
          <a:noFill/>
          <a:ln w="9525">
            <a:noFill/>
          </a:ln>
        </p:spPr>
        <p:txBody>
          <a:bodyPr wrap="square">
            <a:spAutoFit/>
          </a:bodyPr>
          <a:lstStyle/>
          <a:p>
            <a:pPr algn="just" eaLnBrk="0" hangingPunct="0"/>
            <a:r>
              <a:rPr lang="zh-CN" altLang="en-US" b="1" dirty="0">
                <a:solidFill>
                  <a:srgbClr val="000000"/>
                </a:solidFill>
                <a:latin typeface="Times New Roman" panose="02020603050405020304" pitchFamily="18" charset="0"/>
              </a:rPr>
              <a:t>例：</a:t>
            </a:r>
            <a:r>
              <a:rPr lang="en-US" altLang="zh-CN" sz="2200" b="1" dirty="0">
                <a:solidFill>
                  <a:srgbClr val="000000"/>
                </a:solidFill>
                <a:latin typeface="Times New Roman" panose="02020603050405020304" pitchFamily="18" charset="0"/>
              </a:rPr>
              <a:t>LDS    DI,  [BX]</a:t>
            </a:r>
            <a:endParaRPr lang="en-US" altLang="zh-CN" sz="2200" b="1" dirty="0">
              <a:solidFill>
                <a:srgbClr val="000000"/>
              </a:solidFill>
              <a:latin typeface="Times New Roman" panose="02020603050405020304" pitchFamily="18" charset="0"/>
            </a:endParaRPr>
          </a:p>
          <a:p>
            <a:pPr algn="just" eaLnBrk="0" hangingPunct="0"/>
            <a:r>
              <a:rPr lang="zh-CN" altLang="en-US" sz="2200" dirty="0">
                <a:solidFill>
                  <a:srgbClr val="000000"/>
                </a:solidFill>
                <a:sym typeface="Monotype Sorts" pitchFamily="2" charset="2"/>
              </a:rPr>
              <a:t>如指令执行前（</a:t>
            </a:r>
            <a:r>
              <a:rPr lang="en-US" altLang="zh-CN" sz="2200" dirty="0">
                <a:solidFill>
                  <a:srgbClr val="000000"/>
                </a:solidFill>
                <a:sym typeface="Monotype Sorts" pitchFamily="2" charset="2"/>
              </a:rPr>
              <a:t>DS</a:t>
            </a:r>
            <a:r>
              <a:rPr lang="zh-CN" altLang="en-US" sz="2200" dirty="0">
                <a:solidFill>
                  <a:srgbClr val="000000"/>
                </a:solidFill>
                <a:sym typeface="Monotype Sorts" pitchFamily="2" charset="2"/>
              </a:rPr>
              <a:t>）</a:t>
            </a:r>
            <a:r>
              <a:rPr lang="en-US" altLang="zh-CN" sz="2200" dirty="0">
                <a:solidFill>
                  <a:srgbClr val="000000"/>
                </a:solidFill>
                <a:sym typeface="Monotype Sorts" pitchFamily="2" charset="2"/>
              </a:rPr>
              <a:t>=B000H</a:t>
            </a:r>
            <a:r>
              <a:rPr lang="zh-CN" altLang="en-US" sz="2200" dirty="0">
                <a:solidFill>
                  <a:srgbClr val="000000"/>
                </a:solidFill>
                <a:sym typeface="Monotype Sorts" pitchFamily="2" charset="2"/>
              </a:rPr>
              <a:t>，（</a:t>
            </a:r>
            <a:r>
              <a:rPr lang="en-US" altLang="zh-CN" sz="2200" dirty="0">
                <a:solidFill>
                  <a:srgbClr val="000000"/>
                </a:solidFill>
                <a:sym typeface="Monotype Sorts" pitchFamily="2" charset="2"/>
              </a:rPr>
              <a:t>BX</a:t>
            </a:r>
            <a:r>
              <a:rPr lang="zh-CN" altLang="en-US" sz="2200" dirty="0">
                <a:solidFill>
                  <a:srgbClr val="000000"/>
                </a:solidFill>
                <a:sym typeface="Monotype Sorts" pitchFamily="2" charset="2"/>
              </a:rPr>
              <a:t>）</a:t>
            </a:r>
            <a:r>
              <a:rPr lang="en-US" altLang="zh-CN" sz="2200" dirty="0">
                <a:solidFill>
                  <a:srgbClr val="000000"/>
                </a:solidFill>
                <a:sym typeface="Monotype Sorts" pitchFamily="2" charset="2"/>
              </a:rPr>
              <a:t>=080AH</a:t>
            </a:r>
            <a:r>
              <a:rPr lang="zh-CN" altLang="en-US" sz="2200" dirty="0">
                <a:solidFill>
                  <a:srgbClr val="000000"/>
                </a:solidFill>
                <a:sym typeface="Monotype Sorts" pitchFamily="2" charset="2"/>
              </a:rPr>
              <a:t>，</a:t>
            </a:r>
            <a:endParaRPr lang="en-US" altLang="zh-CN" sz="2200" dirty="0">
              <a:solidFill>
                <a:srgbClr val="000000"/>
              </a:solidFill>
              <a:sym typeface="Monotype Sorts" pitchFamily="2" charset="2"/>
            </a:endParaRPr>
          </a:p>
          <a:p>
            <a:pPr algn="just" eaLnBrk="0" hangingPunct="0"/>
            <a:r>
              <a:rPr lang="zh-CN" altLang="en-US" sz="2200" dirty="0">
                <a:solidFill>
                  <a:srgbClr val="000000"/>
                </a:solidFill>
                <a:sym typeface="Monotype Sorts" pitchFamily="2" charset="2"/>
              </a:rPr>
              <a:t>（</a:t>
            </a:r>
            <a:r>
              <a:rPr lang="en-US" altLang="zh-CN" sz="2200" dirty="0">
                <a:solidFill>
                  <a:srgbClr val="000000"/>
                </a:solidFill>
                <a:sym typeface="Monotype Sorts" pitchFamily="2" charset="2"/>
              </a:rPr>
              <a:t>B080AH</a:t>
            </a:r>
            <a:r>
              <a:rPr lang="zh-CN" altLang="en-US" sz="2200" dirty="0">
                <a:solidFill>
                  <a:srgbClr val="000000"/>
                </a:solidFill>
                <a:sym typeface="Monotype Sorts" pitchFamily="2" charset="2"/>
              </a:rPr>
              <a:t>）</a:t>
            </a:r>
            <a:r>
              <a:rPr lang="en-US" altLang="zh-CN" sz="2200" dirty="0">
                <a:solidFill>
                  <a:srgbClr val="000000"/>
                </a:solidFill>
                <a:sym typeface="Monotype Sorts" pitchFamily="2" charset="2"/>
              </a:rPr>
              <a:t>=05AEH</a:t>
            </a:r>
            <a:r>
              <a:rPr lang="zh-CN" altLang="en-US" sz="2200" dirty="0">
                <a:solidFill>
                  <a:srgbClr val="000000"/>
                </a:solidFill>
                <a:sym typeface="Monotype Sorts" pitchFamily="2" charset="2"/>
              </a:rPr>
              <a:t>， （</a:t>
            </a:r>
            <a:r>
              <a:rPr lang="en-US" altLang="zh-CN" sz="2200" dirty="0">
                <a:solidFill>
                  <a:srgbClr val="000000"/>
                </a:solidFill>
                <a:sym typeface="Monotype Sorts" pitchFamily="2" charset="2"/>
              </a:rPr>
              <a:t>B080CH</a:t>
            </a:r>
            <a:r>
              <a:rPr lang="zh-CN" altLang="en-US" sz="2200" dirty="0">
                <a:solidFill>
                  <a:srgbClr val="000000"/>
                </a:solidFill>
                <a:sym typeface="Monotype Sorts" pitchFamily="2" charset="2"/>
              </a:rPr>
              <a:t>）</a:t>
            </a:r>
            <a:r>
              <a:rPr lang="en-US" altLang="zh-CN" sz="2200" dirty="0">
                <a:solidFill>
                  <a:srgbClr val="000000"/>
                </a:solidFill>
                <a:sym typeface="Monotype Sorts" pitchFamily="2" charset="2"/>
              </a:rPr>
              <a:t>=4000H</a:t>
            </a:r>
            <a:endParaRPr lang="en-US" altLang="zh-CN" sz="2200" dirty="0">
              <a:solidFill>
                <a:srgbClr val="000000"/>
              </a:solidFill>
              <a:sym typeface="Monotype Sorts" pitchFamily="2" charset="2"/>
            </a:endParaRPr>
          </a:p>
          <a:p>
            <a:pPr algn="just" eaLnBrk="0" hangingPunct="0"/>
            <a:endParaRPr lang="en-US" altLang="zh-CN" sz="2200" dirty="0">
              <a:solidFill>
                <a:srgbClr val="000000"/>
              </a:solidFill>
              <a:latin typeface="Times New Roman" panose="02020603050405020304" pitchFamily="18" charset="0"/>
              <a:sym typeface="Monotype Sorts" pitchFamily="2" charset="2"/>
            </a:endParaRPr>
          </a:p>
          <a:p>
            <a:pPr algn="just" eaLnBrk="0" hangingPunct="0"/>
            <a:r>
              <a:rPr lang="zh-CN" altLang="en-US" sz="2200" dirty="0">
                <a:solidFill>
                  <a:srgbClr val="000000"/>
                </a:solidFill>
                <a:sym typeface="Monotype Sorts" pitchFamily="2" charset="2"/>
              </a:rPr>
              <a:t>则指令执行后（</a:t>
            </a:r>
            <a:r>
              <a:rPr lang="en-US" altLang="zh-CN" sz="2200" dirty="0">
                <a:solidFill>
                  <a:srgbClr val="000000"/>
                </a:solidFill>
                <a:sym typeface="Monotype Sorts" pitchFamily="2" charset="2"/>
              </a:rPr>
              <a:t>DI</a:t>
            </a:r>
            <a:r>
              <a:rPr lang="zh-CN" altLang="en-US" sz="2200" dirty="0">
                <a:solidFill>
                  <a:srgbClr val="000000"/>
                </a:solidFill>
                <a:sym typeface="Monotype Sorts" pitchFamily="2" charset="2"/>
              </a:rPr>
              <a:t>）</a:t>
            </a:r>
            <a:r>
              <a:rPr lang="en-US" altLang="zh-CN" sz="2200" dirty="0">
                <a:solidFill>
                  <a:srgbClr val="000000"/>
                </a:solidFill>
                <a:sym typeface="Monotype Sorts" pitchFamily="2" charset="2"/>
              </a:rPr>
              <a:t>= 05AEH </a:t>
            </a:r>
            <a:r>
              <a:rPr lang="zh-CN" altLang="en-US" sz="2200" dirty="0">
                <a:solidFill>
                  <a:srgbClr val="000000"/>
                </a:solidFill>
                <a:sym typeface="Monotype Sorts" pitchFamily="2" charset="2"/>
              </a:rPr>
              <a:t>，（</a:t>
            </a:r>
            <a:r>
              <a:rPr lang="en-US" altLang="zh-CN" sz="2200" dirty="0">
                <a:solidFill>
                  <a:srgbClr val="000000"/>
                </a:solidFill>
                <a:sym typeface="Monotype Sorts" pitchFamily="2" charset="2"/>
              </a:rPr>
              <a:t>DS</a:t>
            </a:r>
            <a:r>
              <a:rPr lang="zh-CN" altLang="en-US" sz="2200" dirty="0">
                <a:solidFill>
                  <a:srgbClr val="000000"/>
                </a:solidFill>
                <a:sym typeface="Monotype Sorts" pitchFamily="2" charset="2"/>
              </a:rPr>
              <a:t>）</a:t>
            </a:r>
            <a:r>
              <a:rPr lang="en-US" altLang="zh-CN" sz="2200" dirty="0">
                <a:solidFill>
                  <a:srgbClr val="000000"/>
                </a:solidFill>
                <a:sym typeface="Monotype Sorts" pitchFamily="2" charset="2"/>
              </a:rPr>
              <a:t>=4000H</a:t>
            </a:r>
            <a:endParaRPr lang="en-US" altLang="zh-CN" sz="2200" dirty="0">
              <a:solidFill>
                <a:srgbClr val="000000"/>
              </a:solidFill>
              <a:latin typeface="Times New Roman" panose="02020603050405020304" pitchFamily="18" charset="0"/>
              <a:sym typeface="Monotype Sorts" pitchFamily="2" charset="2"/>
            </a:endParaRPr>
          </a:p>
        </p:txBody>
      </p:sp>
      <p:grpSp>
        <p:nvGrpSpPr>
          <p:cNvPr id="2" name="组合 1"/>
          <p:cNvGrpSpPr/>
          <p:nvPr/>
        </p:nvGrpSpPr>
        <p:grpSpPr>
          <a:xfrm>
            <a:off x="316079" y="3385269"/>
            <a:ext cx="8324373" cy="3140075"/>
            <a:chOff x="316079" y="3385269"/>
            <a:chExt cx="8324373" cy="3140075"/>
          </a:xfrm>
        </p:grpSpPr>
        <p:sp>
          <p:nvSpPr>
            <p:cNvPr id="43012" name="直接连接符 43011"/>
            <p:cNvSpPr/>
            <p:nvPr/>
          </p:nvSpPr>
          <p:spPr>
            <a:xfrm>
              <a:off x="1954007" y="3736107"/>
              <a:ext cx="0" cy="2590800"/>
            </a:xfrm>
            <a:prstGeom prst="line">
              <a:avLst/>
            </a:prstGeom>
            <a:ln w="12700" cap="sq" cmpd="sng">
              <a:solidFill>
                <a:schemeClr val="bg2"/>
              </a:solidFill>
              <a:prstDash val="solid"/>
              <a:headEnd type="none" w="sm" len="sm"/>
              <a:tailEnd type="none" w="sm" len="sm"/>
            </a:ln>
          </p:spPr>
        </p:sp>
        <p:sp>
          <p:nvSpPr>
            <p:cNvPr id="43013" name="直接连接符 43012"/>
            <p:cNvSpPr/>
            <p:nvPr/>
          </p:nvSpPr>
          <p:spPr>
            <a:xfrm>
              <a:off x="1954007" y="4193307"/>
              <a:ext cx="1143000" cy="0"/>
            </a:xfrm>
            <a:prstGeom prst="line">
              <a:avLst/>
            </a:prstGeom>
            <a:ln w="12700" cap="sq" cmpd="sng">
              <a:solidFill>
                <a:schemeClr val="bg2"/>
              </a:solidFill>
              <a:prstDash val="solid"/>
              <a:headEnd type="none" w="sm" len="sm"/>
              <a:tailEnd type="none" w="sm" len="sm"/>
            </a:ln>
          </p:spPr>
        </p:sp>
        <p:sp>
          <p:nvSpPr>
            <p:cNvPr id="43014" name="直接连接符 43013"/>
            <p:cNvSpPr/>
            <p:nvPr/>
          </p:nvSpPr>
          <p:spPr>
            <a:xfrm>
              <a:off x="1954007" y="4574307"/>
              <a:ext cx="1143000" cy="0"/>
            </a:xfrm>
            <a:prstGeom prst="line">
              <a:avLst/>
            </a:prstGeom>
            <a:ln w="12700" cap="sq" cmpd="sng">
              <a:solidFill>
                <a:schemeClr val="bg2"/>
              </a:solidFill>
              <a:prstDash val="solid"/>
              <a:headEnd type="none" w="sm" len="sm"/>
              <a:tailEnd type="none" w="sm" len="sm"/>
            </a:ln>
          </p:spPr>
        </p:sp>
        <p:sp>
          <p:nvSpPr>
            <p:cNvPr id="43015" name="直接连接符 43014"/>
            <p:cNvSpPr/>
            <p:nvPr/>
          </p:nvSpPr>
          <p:spPr>
            <a:xfrm>
              <a:off x="1954007" y="4955307"/>
              <a:ext cx="1143000" cy="0"/>
            </a:xfrm>
            <a:prstGeom prst="line">
              <a:avLst/>
            </a:prstGeom>
            <a:ln w="12700" cap="sq" cmpd="sng">
              <a:solidFill>
                <a:schemeClr val="bg2"/>
              </a:solidFill>
              <a:prstDash val="solid"/>
              <a:headEnd type="none" w="sm" len="sm"/>
              <a:tailEnd type="none" w="sm" len="sm"/>
            </a:ln>
          </p:spPr>
        </p:sp>
        <p:sp>
          <p:nvSpPr>
            <p:cNvPr id="43016" name="直接连接符 43015"/>
            <p:cNvSpPr/>
            <p:nvPr/>
          </p:nvSpPr>
          <p:spPr>
            <a:xfrm>
              <a:off x="1954007" y="5336307"/>
              <a:ext cx="1143000" cy="0"/>
            </a:xfrm>
            <a:prstGeom prst="line">
              <a:avLst/>
            </a:prstGeom>
            <a:ln w="12700" cap="sq" cmpd="sng">
              <a:solidFill>
                <a:schemeClr val="bg2"/>
              </a:solidFill>
              <a:prstDash val="solid"/>
              <a:headEnd type="none" w="sm" len="sm"/>
              <a:tailEnd type="none" w="sm" len="sm"/>
            </a:ln>
          </p:spPr>
        </p:sp>
        <p:sp>
          <p:nvSpPr>
            <p:cNvPr id="43017" name="直接连接符 43016"/>
            <p:cNvSpPr/>
            <p:nvPr/>
          </p:nvSpPr>
          <p:spPr>
            <a:xfrm>
              <a:off x="1954007" y="5717307"/>
              <a:ext cx="1143000" cy="0"/>
            </a:xfrm>
            <a:prstGeom prst="line">
              <a:avLst/>
            </a:prstGeom>
            <a:ln w="12700" cap="sq" cmpd="sng">
              <a:solidFill>
                <a:schemeClr val="bg2"/>
              </a:solidFill>
              <a:prstDash val="solid"/>
              <a:headEnd type="none" w="sm" len="sm"/>
              <a:tailEnd type="none" w="sm" len="sm"/>
            </a:ln>
          </p:spPr>
        </p:sp>
        <p:sp>
          <p:nvSpPr>
            <p:cNvPr id="43018" name="直接连接符 43017"/>
            <p:cNvSpPr/>
            <p:nvPr/>
          </p:nvSpPr>
          <p:spPr>
            <a:xfrm>
              <a:off x="3097007" y="3736107"/>
              <a:ext cx="0" cy="2590800"/>
            </a:xfrm>
            <a:prstGeom prst="line">
              <a:avLst/>
            </a:prstGeom>
            <a:ln w="12700" cap="sq" cmpd="sng">
              <a:solidFill>
                <a:schemeClr val="bg2"/>
              </a:solidFill>
              <a:prstDash val="solid"/>
              <a:headEnd type="none" w="sm" len="sm"/>
              <a:tailEnd type="none" w="sm" len="sm"/>
            </a:ln>
          </p:spPr>
        </p:sp>
        <p:sp>
          <p:nvSpPr>
            <p:cNvPr id="43019" name="文本框 43018"/>
            <p:cNvSpPr txBox="1"/>
            <p:nvPr/>
          </p:nvSpPr>
          <p:spPr>
            <a:xfrm>
              <a:off x="2182607" y="4117107"/>
              <a:ext cx="762000" cy="1616075"/>
            </a:xfrm>
            <a:prstGeom prst="rect">
              <a:avLst/>
            </a:prstGeom>
            <a:noFill/>
            <a:ln w="12700">
              <a:noFill/>
            </a:ln>
          </p:spPr>
          <p:txBody>
            <a:bodyPr>
              <a:spAutoFit/>
            </a:bodyPr>
            <a:lstStyle/>
            <a:p>
              <a:pPr>
                <a:lnSpc>
                  <a:spcPct val="125000"/>
                </a:lnSpc>
              </a:pPr>
              <a:r>
                <a:rPr lang="en-US" altLang="zh-CN" sz="2000" b="1">
                  <a:solidFill>
                    <a:srgbClr val="000000"/>
                  </a:solidFill>
                  <a:latin typeface="Times New Roman" panose="02020603050405020304" pitchFamily="18" charset="0"/>
                </a:rPr>
                <a:t>40 H</a:t>
              </a:r>
              <a:endParaRPr lang="en-US" altLang="zh-CN" sz="2000" b="1">
                <a:solidFill>
                  <a:srgbClr val="000000"/>
                </a:solidFill>
                <a:latin typeface="Times New Roman" panose="02020603050405020304" pitchFamily="18" charset="0"/>
              </a:endParaRPr>
            </a:p>
            <a:p>
              <a:pPr>
                <a:lnSpc>
                  <a:spcPct val="125000"/>
                </a:lnSpc>
              </a:pPr>
              <a:r>
                <a:rPr lang="en-US" altLang="zh-CN" sz="2000" b="1">
                  <a:solidFill>
                    <a:srgbClr val="000000"/>
                  </a:solidFill>
                  <a:latin typeface="Times New Roman" panose="02020603050405020304" pitchFamily="18" charset="0"/>
                </a:rPr>
                <a:t>00 H</a:t>
              </a:r>
              <a:endParaRPr lang="en-US" altLang="zh-CN" sz="2000" b="1">
                <a:solidFill>
                  <a:srgbClr val="000000"/>
                </a:solidFill>
                <a:latin typeface="Times New Roman" panose="02020603050405020304" pitchFamily="18" charset="0"/>
              </a:endParaRPr>
            </a:p>
            <a:p>
              <a:pPr>
                <a:lnSpc>
                  <a:spcPct val="125000"/>
                </a:lnSpc>
              </a:pPr>
              <a:r>
                <a:rPr lang="en-US" altLang="zh-CN" sz="2000" b="1">
                  <a:solidFill>
                    <a:srgbClr val="000000"/>
                  </a:solidFill>
                  <a:latin typeface="Times New Roman" panose="02020603050405020304" pitchFamily="18" charset="0"/>
                </a:rPr>
                <a:t>00 H</a:t>
              </a:r>
              <a:endParaRPr lang="en-US" altLang="zh-CN" sz="2000" b="1">
                <a:solidFill>
                  <a:srgbClr val="000000"/>
                </a:solidFill>
                <a:latin typeface="Times New Roman" panose="02020603050405020304" pitchFamily="18" charset="0"/>
              </a:endParaRPr>
            </a:p>
            <a:p>
              <a:pPr>
                <a:lnSpc>
                  <a:spcPct val="125000"/>
                </a:lnSpc>
              </a:pPr>
              <a:r>
                <a:rPr lang="en-US" altLang="zh-CN" sz="2000" b="1">
                  <a:solidFill>
                    <a:srgbClr val="000000"/>
                  </a:solidFill>
                  <a:latin typeface="Times New Roman" panose="02020603050405020304" pitchFamily="18" charset="0"/>
                </a:rPr>
                <a:t>30 H </a:t>
              </a:r>
              <a:endParaRPr lang="en-US" altLang="zh-CN" sz="2000" b="1">
                <a:solidFill>
                  <a:srgbClr val="000000"/>
                </a:solidFill>
                <a:latin typeface="Times New Roman" panose="02020603050405020304" pitchFamily="18" charset="0"/>
              </a:endParaRPr>
            </a:p>
          </p:txBody>
        </p:sp>
        <p:sp>
          <p:nvSpPr>
            <p:cNvPr id="43020" name="文本框 43019"/>
            <p:cNvSpPr txBox="1"/>
            <p:nvPr/>
          </p:nvSpPr>
          <p:spPr>
            <a:xfrm>
              <a:off x="316079" y="3951727"/>
              <a:ext cx="1718320" cy="646331"/>
            </a:xfrm>
            <a:prstGeom prst="rect">
              <a:avLst/>
            </a:prstGeom>
            <a:noFill/>
            <a:ln w="12700">
              <a:noFill/>
            </a:ln>
          </p:spPr>
          <p:txBody>
            <a:bodyPr wrap="square">
              <a:spAutoFit/>
            </a:bodyPr>
            <a:lstStyle/>
            <a:p>
              <a:r>
                <a:rPr lang="en-US" altLang="zh-CN" sz="1800" b="1" dirty="0">
                  <a:solidFill>
                    <a:srgbClr val="000000"/>
                  </a:solidFill>
                  <a:latin typeface="Times New Roman" panose="02020603050405020304" pitchFamily="18" charset="0"/>
                </a:rPr>
                <a:t>   </a:t>
              </a:r>
              <a:r>
                <a:rPr lang="en-US" altLang="zh-CN" sz="1800" dirty="0">
                  <a:solidFill>
                    <a:srgbClr val="000000"/>
                  </a:solidFill>
                  <a:sym typeface="Symbol" panose="05050102010706020507" pitchFamily="18" charset="2"/>
                </a:rPr>
                <a:t>DS</a:t>
              </a:r>
              <a:r>
                <a:rPr lang="zh-CN" altLang="en-US" sz="1800" dirty="0">
                  <a:solidFill>
                    <a:srgbClr val="000000"/>
                  </a:solidFill>
                  <a:sym typeface="Symbol" panose="05050102010706020507" pitchFamily="18" charset="2"/>
                </a:rPr>
                <a:t>：</a:t>
              </a:r>
              <a:r>
                <a:rPr lang="en-US" altLang="zh-CN" sz="1800" b="1" dirty="0">
                  <a:solidFill>
                    <a:srgbClr val="000000"/>
                  </a:solidFill>
                  <a:latin typeface="Times New Roman" panose="02020603050405020304" pitchFamily="18" charset="0"/>
                </a:rPr>
                <a:t>TABLE</a:t>
              </a:r>
              <a:endParaRPr lang="en-US" altLang="zh-CN" sz="1800" b="1" dirty="0">
                <a:solidFill>
                  <a:srgbClr val="000000"/>
                </a:solidFill>
                <a:latin typeface="Times New Roman" panose="02020603050405020304" pitchFamily="18" charset="0"/>
              </a:endParaRPr>
            </a:p>
            <a:p>
              <a:r>
                <a:rPr lang="en-US" altLang="zh-CN" sz="1800" b="1" dirty="0">
                  <a:solidFill>
                    <a:srgbClr val="000000"/>
                  </a:solidFill>
                  <a:latin typeface="Times New Roman" panose="02020603050405020304" pitchFamily="18" charset="0"/>
                  <a:sym typeface="Symbol" panose="05050102010706020507" pitchFamily="18" charset="2"/>
                </a:rPr>
                <a:t>(0000H):1000H</a:t>
              </a:r>
              <a:endParaRPr lang="en-US" altLang="zh-CN" sz="1800" b="1" dirty="0">
                <a:solidFill>
                  <a:srgbClr val="000000"/>
                </a:solidFill>
                <a:latin typeface="Times New Roman" panose="02020603050405020304" pitchFamily="18" charset="0"/>
                <a:sym typeface="Symbol" panose="05050102010706020507" pitchFamily="18" charset="2"/>
              </a:endParaRPr>
            </a:p>
          </p:txBody>
        </p:sp>
        <p:sp>
          <p:nvSpPr>
            <p:cNvPr id="43021" name="文本框 43020"/>
            <p:cNvSpPr txBox="1"/>
            <p:nvPr/>
          </p:nvSpPr>
          <p:spPr>
            <a:xfrm>
              <a:off x="3752539" y="3385269"/>
              <a:ext cx="4887913" cy="3140075"/>
            </a:xfrm>
            <a:prstGeom prst="rect">
              <a:avLst/>
            </a:prstGeom>
            <a:noFill/>
            <a:ln w="12700">
              <a:noFill/>
            </a:ln>
          </p:spPr>
          <p:txBody>
            <a:bodyPr wrap="none">
              <a:spAutoFit/>
            </a:bodyPr>
            <a:lstStyle/>
            <a:p>
              <a:pPr>
                <a:spcBef>
                  <a:spcPct val="50000"/>
                </a:spcBef>
              </a:pPr>
              <a:r>
                <a:rPr lang="en-US" altLang="zh-CN" sz="2000" b="1" dirty="0">
                  <a:solidFill>
                    <a:srgbClr val="000000"/>
                  </a:solidFill>
                  <a:latin typeface="Times New Roman" panose="02020603050405020304" pitchFamily="18" charset="0"/>
                </a:rPr>
                <a:t>MOV  BX, TABLE                   </a:t>
              </a:r>
              <a:r>
                <a:rPr lang="en-US" altLang="zh-CN" sz="1800" b="1" dirty="0">
                  <a:solidFill>
                    <a:srgbClr val="000000"/>
                  </a:solidFill>
                  <a:latin typeface="Times New Roman" panose="02020603050405020304" pitchFamily="18" charset="0"/>
                </a:rPr>
                <a:t>; (BX)=0040H</a:t>
              </a:r>
              <a:endParaRPr lang="en-US" altLang="zh-CN" sz="1800" b="1" dirty="0">
                <a:solidFill>
                  <a:srgbClr val="000000"/>
                </a:solidFill>
                <a:latin typeface="Times New Roman" panose="02020603050405020304" pitchFamily="18" charset="0"/>
              </a:endParaRPr>
            </a:p>
            <a:p>
              <a:pPr>
                <a:spcBef>
                  <a:spcPct val="50000"/>
                </a:spcBef>
              </a:pPr>
              <a:r>
                <a:rPr lang="en-US" altLang="zh-CN" sz="2000" b="1" dirty="0">
                  <a:solidFill>
                    <a:srgbClr val="000000"/>
                  </a:solidFill>
                  <a:latin typeface="Times New Roman" panose="02020603050405020304" pitchFamily="18" charset="0"/>
                </a:rPr>
                <a:t>MOV  BX, OFFSET TABLE   </a:t>
              </a:r>
              <a:r>
                <a:rPr lang="en-US" altLang="zh-CN" sz="1800" b="1" dirty="0">
                  <a:solidFill>
                    <a:srgbClr val="000000"/>
                  </a:solidFill>
                  <a:latin typeface="Times New Roman" panose="02020603050405020304" pitchFamily="18" charset="0"/>
                </a:rPr>
                <a:t>; (BX)=1000H</a:t>
              </a:r>
              <a:endParaRPr lang="en-US" altLang="zh-CN" sz="1800" b="1" dirty="0">
                <a:solidFill>
                  <a:srgbClr val="000000"/>
                </a:solidFill>
                <a:latin typeface="Times New Roman" panose="02020603050405020304" pitchFamily="18" charset="0"/>
              </a:endParaRPr>
            </a:p>
            <a:p>
              <a:pPr>
                <a:spcBef>
                  <a:spcPct val="50000"/>
                </a:spcBef>
              </a:pPr>
              <a:r>
                <a:rPr lang="en-US" altLang="zh-CN" sz="2000" b="1" dirty="0">
                  <a:solidFill>
                    <a:srgbClr val="000000"/>
                  </a:solidFill>
                  <a:latin typeface="Times New Roman" panose="02020603050405020304" pitchFamily="18" charset="0"/>
                </a:rPr>
                <a:t>LEA  BX, TABLE                     </a:t>
              </a:r>
              <a:r>
                <a:rPr lang="en-US" altLang="zh-CN" sz="1800" b="1" dirty="0">
                  <a:solidFill>
                    <a:srgbClr val="000000"/>
                  </a:solidFill>
                  <a:latin typeface="Times New Roman" panose="02020603050405020304" pitchFamily="18" charset="0"/>
                </a:rPr>
                <a:t>; (BX)=1000H</a:t>
              </a:r>
              <a:endParaRPr lang="en-US" altLang="zh-CN" sz="1800" b="1" dirty="0">
                <a:solidFill>
                  <a:srgbClr val="000000"/>
                </a:solidFill>
                <a:latin typeface="Times New Roman" panose="02020603050405020304" pitchFamily="18" charset="0"/>
              </a:endParaRPr>
            </a:p>
            <a:p>
              <a:pPr>
                <a:spcBef>
                  <a:spcPct val="50000"/>
                </a:spcBef>
              </a:pPr>
              <a:r>
                <a:rPr lang="en-US" altLang="zh-CN" sz="2000" b="1" dirty="0">
                  <a:solidFill>
                    <a:srgbClr val="000000"/>
                  </a:solidFill>
                  <a:latin typeface="Times New Roman" panose="02020603050405020304" pitchFamily="18" charset="0"/>
                </a:rPr>
                <a:t>LDS  BX, TABLE                     </a:t>
              </a:r>
              <a:r>
                <a:rPr lang="en-US" altLang="zh-CN" sz="1800" b="1" dirty="0">
                  <a:solidFill>
                    <a:srgbClr val="000000"/>
                  </a:solidFill>
                  <a:latin typeface="Times New Roman" panose="02020603050405020304" pitchFamily="18" charset="0"/>
                </a:rPr>
                <a:t>; (BX)=0040H</a:t>
              </a:r>
              <a:endParaRPr lang="en-US" altLang="zh-CN" sz="1800" b="1" dirty="0">
                <a:solidFill>
                  <a:srgbClr val="000000"/>
                </a:solidFill>
                <a:latin typeface="Times New Roman" panose="02020603050405020304" pitchFamily="18" charset="0"/>
              </a:endParaRPr>
            </a:p>
            <a:p>
              <a:pPr>
                <a:spcBef>
                  <a:spcPct val="50000"/>
                </a:spcBef>
              </a:pPr>
              <a:r>
                <a:rPr lang="en-US" altLang="zh-CN" sz="2000" b="1" dirty="0">
                  <a:solidFill>
                    <a:srgbClr val="000000"/>
                  </a:solidFill>
                  <a:latin typeface="Times New Roman" panose="02020603050405020304" pitchFamily="18" charset="0"/>
                </a:rPr>
                <a:t>                                                    </a:t>
              </a:r>
              <a:r>
                <a:rPr lang="en-US" altLang="zh-CN" sz="1800" b="1" dirty="0">
                  <a:solidFill>
                    <a:srgbClr val="000000"/>
                  </a:solidFill>
                  <a:latin typeface="Times New Roman" panose="02020603050405020304" pitchFamily="18" charset="0"/>
                </a:rPr>
                <a:t>; (DS)=3000H</a:t>
              </a:r>
              <a:endParaRPr lang="en-US" altLang="zh-CN" sz="1800" b="1" dirty="0">
                <a:solidFill>
                  <a:srgbClr val="000000"/>
                </a:solidFill>
                <a:latin typeface="Times New Roman" panose="02020603050405020304" pitchFamily="18" charset="0"/>
              </a:endParaRPr>
            </a:p>
            <a:p>
              <a:pPr>
                <a:spcBef>
                  <a:spcPct val="50000"/>
                </a:spcBef>
              </a:pPr>
              <a:r>
                <a:rPr lang="en-US" altLang="zh-CN" sz="2000" b="1" dirty="0">
                  <a:solidFill>
                    <a:srgbClr val="000000"/>
                  </a:solidFill>
                  <a:latin typeface="Times New Roman" panose="02020603050405020304" pitchFamily="18" charset="0"/>
                </a:rPr>
                <a:t>LES  BX, TABLE                     </a:t>
              </a:r>
              <a:r>
                <a:rPr lang="en-US" altLang="zh-CN" sz="1800" b="1" dirty="0">
                  <a:solidFill>
                    <a:srgbClr val="000000"/>
                  </a:solidFill>
                  <a:latin typeface="Times New Roman" panose="02020603050405020304" pitchFamily="18" charset="0"/>
                </a:rPr>
                <a:t>; (BX)=0040H</a:t>
              </a:r>
              <a:endParaRPr lang="en-US" altLang="zh-CN" sz="1800" b="1" dirty="0">
                <a:solidFill>
                  <a:srgbClr val="000000"/>
                </a:solidFill>
                <a:latin typeface="Times New Roman" panose="02020603050405020304" pitchFamily="18" charset="0"/>
              </a:endParaRPr>
            </a:p>
            <a:p>
              <a:pPr>
                <a:spcBef>
                  <a:spcPct val="50000"/>
                </a:spcBef>
              </a:pPr>
              <a:r>
                <a:rPr lang="en-US" altLang="zh-CN" sz="2000" b="1" dirty="0">
                  <a:solidFill>
                    <a:srgbClr val="000000"/>
                  </a:solidFill>
                  <a:latin typeface="Times New Roman" panose="02020603050405020304" pitchFamily="18" charset="0"/>
                </a:rPr>
                <a:t>                                                    </a:t>
              </a:r>
              <a:r>
                <a:rPr lang="en-US" altLang="zh-CN" sz="1800" b="1" dirty="0">
                  <a:solidFill>
                    <a:srgbClr val="000000"/>
                  </a:solidFill>
                  <a:latin typeface="Times New Roman" panose="02020603050405020304" pitchFamily="18" charset="0"/>
                </a:rPr>
                <a:t>; (ES)=3000H</a:t>
              </a:r>
              <a:endParaRPr lang="en-US" altLang="zh-CN" sz="1800" dirty="0">
                <a:solidFill>
                  <a:srgbClr val="000000"/>
                </a:solidFill>
                <a:latin typeface="Times New Roman" panose="02020603050405020304" pitchFamily="18" charset="0"/>
              </a:endParaRPr>
            </a:p>
          </p:txBody>
        </p:sp>
      </p:grpSp>
      <p:sp>
        <p:nvSpPr>
          <p:cNvPr id="1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4652963" y="5961481"/>
            <a:ext cx="3696926" cy="545405"/>
          </a:xfrm>
          <a:prstGeom prst="rect">
            <a:avLst/>
          </a:prstGeom>
          <a:solidFill>
            <a:schemeClr val="bg1"/>
          </a:solidFill>
          <a:ln w="19050" cap="flat" cmpd="sng" algn="ctr">
            <a:gradFill flip="none" rotWithShape="1">
              <a:gsLst>
                <a:gs pos="0">
                  <a:schemeClr val="accent6">
                    <a:lumMod val="40000"/>
                    <a:lumOff val="60000"/>
                  </a:schemeClr>
                </a:gs>
                <a:gs pos="46000">
                  <a:schemeClr val="accent6">
                    <a:lumMod val="95000"/>
                    <a:lumOff val="5000"/>
                  </a:schemeClr>
                </a:gs>
                <a:gs pos="100000">
                  <a:schemeClr val="accent6">
                    <a:lumMod val="60000"/>
                  </a:schemeClr>
                </a:gs>
              </a:gsLst>
              <a:path path="circle">
                <a:fillToRect l="50000" t="130000" r="50000" b="-30000"/>
              </a:path>
              <a:tileRect/>
            </a:gradFill>
            <a:prstDash val="dash"/>
            <a:round/>
            <a:headEnd type="none" w="med" len="med"/>
            <a:tailEnd type="stealth" w="lg" len="lg"/>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44034" name="矩形 44033"/>
          <p:cNvSpPr/>
          <p:nvPr/>
        </p:nvSpPr>
        <p:spPr>
          <a:xfrm>
            <a:off x="791580" y="944724"/>
            <a:ext cx="7524836" cy="5016758"/>
          </a:xfrm>
          <a:prstGeom prst="rect">
            <a:avLst/>
          </a:prstGeom>
          <a:noFill/>
          <a:ln w="12700">
            <a:noFill/>
          </a:ln>
        </p:spPr>
        <p:txBody>
          <a:bodyPr wrap="square" anchor="t">
            <a:spAutoFit/>
          </a:bodyPr>
          <a:lstStyle/>
          <a:p>
            <a:pPr eaLnBrk="0" hangingPunct="0"/>
            <a:r>
              <a:rPr lang="en-US" altLang="zh-CN" sz="2000" b="0" dirty="0">
                <a:solidFill>
                  <a:srgbClr val="000000"/>
                </a:solidFill>
                <a:latin typeface="Times New Roman" panose="02020603050405020304" pitchFamily="18" charset="0"/>
                <a:sym typeface="Symbol" panose="05050102010706020507" pitchFamily="18" charset="2"/>
              </a:rPr>
              <a:t>   </a:t>
            </a:r>
            <a:r>
              <a:rPr lang="zh-CN" altLang="en-US" sz="2000" b="0" dirty="0">
                <a:solidFill>
                  <a:srgbClr val="000000"/>
                </a:solidFill>
                <a:latin typeface="Times New Roman" panose="02020603050405020304" pitchFamily="18" charset="0"/>
              </a:rPr>
              <a:t>标志寄存器传送指令</a:t>
            </a:r>
            <a:endParaRPr lang="zh-CN" altLang="en-US" sz="2000" b="0" dirty="0">
              <a:solidFill>
                <a:srgbClr val="000000"/>
              </a:solidFill>
              <a:latin typeface="Times New Roman" panose="02020603050405020304" pitchFamily="18" charset="0"/>
            </a:endParaRPr>
          </a:p>
          <a:p>
            <a:pPr eaLnBrk="0" hangingPunct="0"/>
            <a:r>
              <a:rPr lang="zh-CN" altLang="en-US" sz="2000" b="0" dirty="0">
                <a:solidFill>
                  <a:srgbClr val="000000"/>
                </a:solidFill>
                <a:latin typeface="Times New Roman" panose="02020603050405020304" pitchFamily="18" charset="0"/>
              </a:rPr>
              <a:t>     标志送</a:t>
            </a:r>
            <a:r>
              <a:rPr lang="en-US" altLang="zh-CN" sz="2000" b="0" dirty="0">
                <a:solidFill>
                  <a:srgbClr val="000000"/>
                </a:solidFill>
                <a:latin typeface="Times New Roman" panose="02020603050405020304" pitchFamily="18" charset="0"/>
              </a:rPr>
              <a:t>AH</a:t>
            </a:r>
            <a:r>
              <a:rPr lang="zh-CN" altLang="en-US" sz="2000" b="0" dirty="0">
                <a:solidFill>
                  <a:srgbClr val="000000"/>
                </a:solidFill>
                <a:latin typeface="Times New Roman" panose="02020603050405020304" pitchFamily="18" charset="0"/>
              </a:rPr>
              <a:t>指令：    </a:t>
            </a:r>
            <a:r>
              <a:rPr lang="en-US" altLang="zh-CN" sz="2000" b="0" dirty="0">
                <a:solidFill>
                  <a:srgbClr val="000000"/>
                </a:solidFill>
                <a:latin typeface="Times New Roman" panose="02020603050405020304" pitchFamily="18" charset="0"/>
              </a:rPr>
              <a:t>LAHF</a:t>
            </a:r>
            <a:r>
              <a:rPr lang="zh-CN" altLang="en-US" sz="2000" b="0" dirty="0">
                <a:solidFill>
                  <a:srgbClr val="000000"/>
                </a:solidFill>
                <a:latin typeface="Times New Roman" panose="02020603050405020304" pitchFamily="18" charset="0"/>
              </a:rPr>
              <a:t>（</a:t>
            </a:r>
            <a:r>
              <a:rPr lang="en-US" altLang="zh-CN" sz="2000" b="0" dirty="0">
                <a:solidFill>
                  <a:srgbClr val="000000"/>
                </a:solidFill>
                <a:latin typeface="Times New Roman" panose="02020603050405020304" pitchFamily="18" charset="0"/>
              </a:rPr>
              <a:t>Load AH </a:t>
            </a:r>
            <a:r>
              <a:rPr lang="en-US" altLang="zh-CN" sz="2000" b="0" dirty="0">
                <a:solidFill>
                  <a:srgbClr val="000000"/>
                </a:solidFill>
              </a:rPr>
              <a:t>with Flags</a:t>
            </a:r>
            <a:r>
              <a:rPr lang="zh-CN" altLang="en-US" sz="2000" b="0" dirty="0">
                <a:solidFill>
                  <a:srgbClr val="000000"/>
                </a:solidFill>
                <a:latin typeface="Times New Roman" panose="02020603050405020304" pitchFamily="18" charset="0"/>
              </a:rPr>
              <a:t>）</a:t>
            </a:r>
            <a:endParaRPr lang="en-US" altLang="zh-CN" sz="2000" b="0" dirty="0">
              <a:solidFill>
                <a:srgbClr val="000000"/>
              </a:solidFill>
              <a:latin typeface="Times New Roman" panose="02020603050405020304" pitchFamily="18" charset="0"/>
            </a:endParaRPr>
          </a:p>
          <a:p>
            <a:pPr eaLnBrk="0" hangingPunct="0"/>
            <a:r>
              <a:rPr lang="en-US" altLang="zh-CN" sz="2000" b="0" dirty="0">
                <a:solidFill>
                  <a:srgbClr val="000000"/>
                </a:solidFill>
                <a:latin typeface="Times New Roman" panose="02020603050405020304" pitchFamily="18" charset="0"/>
              </a:rPr>
              <a:t>     </a:t>
            </a:r>
            <a:r>
              <a:rPr lang="zh-CN" altLang="en-US" sz="2000" b="0" dirty="0">
                <a:solidFill>
                  <a:srgbClr val="000000"/>
                </a:solidFill>
                <a:latin typeface="Times New Roman" panose="02020603050405020304" pitchFamily="18" charset="0"/>
              </a:rPr>
              <a:t>执行操作：              </a:t>
            </a:r>
            <a:r>
              <a:rPr lang="en-US" altLang="zh-CN" sz="2000" b="0" dirty="0">
                <a:solidFill>
                  <a:srgbClr val="000000"/>
                </a:solidFill>
                <a:latin typeface="Times New Roman" panose="02020603050405020304" pitchFamily="18" charset="0"/>
              </a:rPr>
              <a:t>(AH) </a:t>
            </a:r>
            <a:r>
              <a:rPr lang="en-US" altLang="zh-CN" sz="2000" b="0" dirty="0">
                <a:solidFill>
                  <a:srgbClr val="000000"/>
                </a:solidFill>
                <a:latin typeface="Times New Roman" panose="02020603050405020304" pitchFamily="18" charset="0"/>
                <a:sym typeface="Symbol" panose="05050102010706020507" pitchFamily="18" charset="2"/>
              </a:rPr>
              <a:t></a:t>
            </a:r>
            <a:r>
              <a:rPr lang="zh-CN" altLang="zh-CN" sz="2000" b="0" dirty="0">
                <a:solidFill>
                  <a:srgbClr val="000000"/>
                </a:solidFill>
                <a:latin typeface="Times New Roman" panose="02020603050405020304" pitchFamily="18" charset="0"/>
              </a:rPr>
              <a:t> (FLAGS的低字节</a:t>
            </a:r>
            <a:r>
              <a:rPr lang="en-US" altLang="zh-CN" sz="2000" b="0" dirty="0">
                <a:solidFill>
                  <a:srgbClr val="000000"/>
                </a:solidFill>
                <a:latin typeface="Times New Roman" panose="02020603050405020304" pitchFamily="18" charset="0"/>
              </a:rPr>
              <a:t>)</a:t>
            </a:r>
            <a:endParaRPr lang="en-US" altLang="zh-CN" sz="2000" b="0" dirty="0">
              <a:solidFill>
                <a:srgbClr val="000000"/>
              </a:solidFill>
              <a:latin typeface="Times New Roman" panose="02020603050405020304" pitchFamily="18" charset="0"/>
            </a:endParaRPr>
          </a:p>
          <a:p>
            <a:pPr eaLnBrk="0" hangingPunct="0"/>
            <a:r>
              <a:rPr lang="en-US" altLang="zh-CN" sz="2000" b="0" dirty="0">
                <a:solidFill>
                  <a:srgbClr val="000000"/>
                </a:solidFill>
                <a:latin typeface="Times New Roman" panose="02020603050405020304" pitchFamily="18" charset="0"/>
              </a:rPr>
              <a:t>     </a:t>
            </a:r>
            <a:endParaRPr lang="en-US" altLang="zh-CN" sz="2000" b="0" dirty="0">
              <a:solidFill>
                <a:srgbClr val="000000"/>
              </a:solidFill>
              <a:latin typeface="Times New Roman" panose="02020603050405020304" pitchFamily="18" charset="0"/>
            </a:endParaRPr>
          </a:p>
          <a:p>
            <a:pPr eaLnBrk="0" hangingPunct="0"/>
            <a:r>
              <a:rPr lang="en-US" altLang="zh-CN" sz="2000" b="0" dirty="0">
                <a:solidFill>
                  <a:srgbClr val="000000"/>
                </a:solidFill>
                <a:latin typeface="Times New Roman" panose="02020603050405020304" pitchFamily="18" charset="0"/>
                <a:sym typeface="Webdings" panose="05030102010509060703" pitchFamily="18" charset="2"/>
              </a:rPr>
              <a:t>     AH</a:t>
            </a:r>
            <a:r>
              <a:rPr lang="zh-CN" altLang="en-US" sz="2000" b="0" dirty="0">
                <a:solidFill>
                  <a:srgbClr val="000000"/>
                </a:solidFill>
                <a:latin typeface="Times New Roman" panose="02020603050405020304" pitchFamily="18" charset="0"/>
              </a:rPr>
              <a:t>送标志寄存器指令：   </a:t>
            </a:r>
            <a:r>
              <a:rPr lang="en-US" altLang="zh-CN" sz="2000" b="0" dirty="0">
                <a:solidFill>
                  <a:srgbClr val="000000"/>
                </a:solidFill>
                <a:latin typeface="Times New Roman" panose="02020603050405020304" pitchFamily="18" charset="0"/>
              </a:rPr>
              <a:t>SAHF</a:t>
            </a:r>
            <a:r>
              <a:rPr lang="zh-CN" altLang="en-US" sz="2000" b="0" dirty="0">
                <a:solidFill>
                  <a:srgbClr val="000000"/>
                </a:solidFill>
              </a:rPr>
              <a:t>（</a:t>
            </a:r>
            <a:r>
              <a:rPr lang="en-US" altLang="zh-CN" sz="2000" b="0" dirty="0">
                <a:solidFill>
                  <a:srgbClr val="000000"/>
                </a:solidFill>
              </a:rPr>
              <a:t>Save AH into Flags</a:t>
            </a:r>
            <a:r>
              <a:rPr lang="zh-CN" altLang="en-US" sz="2000" b="0" dirty="0">
                <a:solidFill>
                  <a:srgbClr val="000000"/>
                </a:solidFill>
              </a:rPr>
              <a:t>）</a:t>
            </a:r>
            <a:endParaRPr lang="en-US" altLang="zh-CN" sz="2000" b="0" dirty="0">
              <a:solidFill>
                <a:srgbClr val="000000"/>
              </a:solidFill>
              <a:latin typeface="Times New Roman" panose="02020603050405020304" pitchFamily="18" charset="0"/>
            </a:endParaRPr>
          </a:p>
          <a:p>
            <a:pPr eaLnBrk="0" hangingPunct="0"/>
            <a:r>
              <a:rPr lang="en-US" altLang="zh-CN" sz="2000" b="0" dirty="0">
                <a:solidFill>
                  <a:srgbClr val="000000"/>
                </a:solidFill>
                <a:latin typeface="Times New Roman" panose="02020603050405020304" pitchFamily="18" charset="0"/>
              </a:rPr>
              <a:t>     </a:t>
            </a:r>
            <a:r>
              <a:rPr lang="zh-CN" altLang="en-US" sz="2000" b="0" dirty="0">
                <a:solidFill>
                  <a:srgbClr val="000000"/>
                </a:solidFill>
                <a:latin typeface="Times New Roman" panose="02020603050405020304" pitchFamily="18" charset="0"/>
              </a:rPr>
              <a:t>执行操作：                         </a:t>
            </a:r>
            <a:r>
              <a:rPr lang="en-US" altLang="zh-CN" sz="2000" b="0" dirty="0">
                <a:solidFill>
                  <a:srgbClr val="000000"/>
                </a:solidFill>
                <a:latin typeface="Times New Roman" panose="02020603050405020304" pitchFamily="18" charset="0"/>
              </a:rPr>
              <a:t>(FLAGS</a:t>
            </a:r>
            <a:r>
              <a:rPr lang="zh-CN" altLang="en-US" sz="2000" b="0" dirty="0">
                <a:solidFill>
                  <a:srgbClr val="000000"/>
                </a:solidFill>
                <a:latin typeface="Times New Roman" panose="02020603050405020304" pitchFamily="18" charset="0"/>
              </a:rPr>
              <a:t>的低字节</a:t>
            </a:r>
            <a:r>
              <a:rPr lang="en-US" altLang="zh-CN" sz="2000" b="0" dirty="0">
                <a:solidFill>
                  <a:srgbClr val="000000"/>
                </a:solidFill>
                <a:latin typeface="Times New Roman" panose="02020603050405020304" pitchFamily="18" charset="0"/>
              </a:rPr>
              <a:t>) </a:t>
            </a:r>
            <a:r>
              <a:rPr lang="en-US" altLang="zh-CN" sz="2000" b="0" dirty="0">
                <a:solidFill>
                  <a:srgbClr val="000000"/>
                </a:solidFill>
                <a:latin typeface="Times New Roman" panose="02020603050405020304" pitchFamily="18" charset="0"/>
                <a:sym typeface="Symbol" panose="05050102010706020507" pitchFamily="18" charset="2"/>
              </a:rPr>
              <a:t> </a:t>
            </a:r>
            <a:r>
              <a:rPr lang="en-US" altLang="zh-CN" sz="2000" b="0" dirty="0">
                <a:solidFill>
                  <a:srgbClr val="000000"/>
                </a:solidFill>
                <a:latin typeface="Times New Roman" panose="02020603050405020304" pitchFamily="18" charset="0"/>
              </a:rPr>
              <a:t> (AH)</a:t>
            </a:r>
            <a:endParaRPr lang="en-US" altLang="zh-CN" sz="2000" b="0" dirty="0">
              <a:solidFill>
                <a:srgbClr val="000000"/>
              </a:solidFill>
              <a:latin typeface="Times New Roman" panose="02020603050405020304" pitchFamily="18" charset="0"/>
            </a:endParaRPr>
          </a:p>
          <a:p>
            <a:pPr eaLnBrk="0" hangingPunct="0"/>
            <a:r>
              <a:rPr lang="en-US" altLang="zh-CN" sz="2000" b="0" dirty="0">
                <a:solidFill>
                  <a:srgbClr val="000000"/>
                </a:solidFill>
                <a:latin typeface="Times New Roman" panose="02020603050405020304" pitchFamily="18" charset="0"/>
              </a:rPr>
              <a:t>     </a:t>
            </a:r>
            <a:endParaRPr lang="en-US" altLang="zh-CN" sz="2000" b="0" dirty="0">
              <a:solidFill>
                <a:srgbClr val="000000"/>
              </a:solidFill>
              <a:latin typeface="Times New Roman" panose="02020603050405020304" pitchFamily="18" charset="0"/>
            </a:endParaRPr>
          </a:p>
          <a:p>
            <a:pPr eaLnBrk="0" hangingPunct="0"/>
            <a:r>
              <a:rPr lang="en-US" altLang="zh-CN" sz="2000" b="0" dirty="0">
                <a:solidFill>
                  <a:srgbClr val="000000"/>
                </a:solidFill>
                <a:latin typeface="Times New Roman" panose="02020603050405020304" pitchFamily="18" charset="0"/>
              </a:rPr>
              <a:t>     </a:t>
            </a:r>
            <a:r>
              <a:rPr lang="zh-CN" altLang="en-US" sz="2000" b="0" dirty="0">
                <a:solidFill>
                  <a:srgbClr val="000000"/>
                </a:solidFill>
                <a:latin typeface="Times New Roman" panose="02020603050405020304" pitchFamily="18" charset="0"/>
              </a:rPr>
              <a:t>标志进栈指令：    </a:t>
            </a:r>
            <a:r>
              <a:rPr lang="en-US" altLang="zh-CN" sz="2000" b="0" dirty="0">
                <a:solidFill>
                  <a:srgbClr val="000000"/>
                </a:solidFill>
                <a:latin typeface="Times New Roman" panose="02020603050405020304" pitchFamily="18" charset="0"/>
              </a:rPr>
              <a:t>PUSHF</a:t>
            </a:r>
            <a:endParaRPr lang="en-US" altLang="zh-CN" sz="2000" b="0" dirty="0">
              <a:solidFill>
                <a:srgbClr val="000000"/>
              </a:solidFill>
              <a:latin typeface="Times New Roman" panose="02020603050405020304" pitchFamily="18" charset="0"/>
            </a:endParaRPr>
          </a:p>
          <a:p>
            <a:pPr eaLnBrk="0" hangingPunct="0"/>
            <a:r>
              <a:rPr lang="en-US" altLang="zh-CN" sz="2000" b="0" dirty="0">
                <a:solidFill>
                  <a:srgbClr val="000000"/>
                </a:solidFill>
                <a:latin typeface="Times New Roman" panose="02020603050405020304" pitchFamily="18" charset="0"/>
              </a:rPr>
              <a:t>     </a:t>
            </a:r>
            <a:r>
              <a:rPr lang="zh-CN" altLang="en-US" sz="2000" b="0" dirty="0">
                <a:solidFill>
                  <a:srgbClr val="000000"/>
                </a:solidFill>
                <a:latin typeface="Times New Roman" panose="02020603050405020304" pitchFamily="18" charset="0"/>
              </a:rPr>
              <a:t>执行操作：            </a:t>
            </a:r>
            <a:r>
              <a:rPr lang="en-US" altLang="zh-CN" sz="2000" b="0" dirty="0">
                <a:solidFill>
                  <a:srgbClr val="000000"/>
                </a:solidFill>
                <a:latin typeface="Times New Roman" panose="02020603050405020304" pitchFamily="18" charset="0"/>
              </a:rPr>
              <a:t>(SP)  </a:t>
            </a:r>
            <a:r>
              <a:rPr lang="en-US" altLang="zh-CN" sz="2000" b="0" dirty="0">
                <a:solidFill>
                  <a:srgbClr val="000000"/>
                </a:solidFill>
                <a:latin typeface="Times New Roman" panose="02020603050405020304" pitchFamily="18" charset="0"/>
                <a:sym typeface="Symbol" panose="05050102010706020507" pitchFamily="18" charset="2"/>
              </a:rPr>
              <a:t></a:t>
            </a:r>
            <a:r>
              <a:rPr lang="en-US" altLang="zh-CN" sz="2000" b="0" dirty="0">
                <a:solidFill>
                  <a:srgbClr val="000000"/>
                </a:solidFill>
                <a:latin typeface="Times New Roman" panose="02020603050405020304" pitchFamily="18" charset="0"/>
              </a:rPr>
              <a:t>  (SP) - 2</a:t>
            </a:r>
            <a:endParaRPr lang="en-US" altLang="zh-CN" sz="2000" b="0" dirty="0">
              <a:solidFill>
                <a:srgbClr val="000000"/>
              </a:solidFill>
              <a:latin typeface="Times New Roman" panose="02020603050405020304" pitchFamily="18" charset="0"/>
            </a:endParaRPr>
          </a:p>
          <a:p>
            <a:pPr lvl="2" eaLnBrk="0" hangingPunct="0"/>
            <a:r>
              <a:rPr lang="en-US" altLang="zh-CN" sz="2000" b="0" dirty="0">
                <a:solidFill>
                  <a:srgbClr val="000000"/>
                </a:solidFill>
                <a:latin typeface="Times New Roman" panose="02020603050405020304" pitchFamily="18" charset="0"/>
              </a:rPr>
              <a:t>                         ( (SP)+1,  (SP) )  </a:t>
            </a:r>
            <a:r>
              <a:rPr lang="en-US" altLang="zh-CN" sz="2000" b="0" dirty="0">
                <a:solidFill>
                  <a:srgbClr val="000000"/>
                </a:solidFill>
                <a:latin typeface="Times New Roman" panose="02020603050405020304" pitchFamily="18" charset="0"/>
                <a:sym typeface="Symbol" panose="05050102010706020507" pitchFamily="18" charset="2"/>
              </a:rPr>
              <a:t>  </a:t>
            </a:r>
            <a:r>
              <a:rPr lang="en-US" altLang="zh-CN" sz="2000" b="0" dirty="0">
                <a:solidFill>
                  <a:srgbClr val="000000"/>
                </a:solidFill>
                <a:latin typeface="Times New Roman" panose="02020603050405020304" pitchFamily="18" charset="0"/>
              </a:rPr>
              <a:t>(FLAGS)</a:t>
            </a:r>
            <a:endParaRPr lang="en-US" altLang="zh-CN" sz="2000" b="0" dirty="0">
              <a:solidFill>
                <a:srgbClr val="000000"/>
              </a:solidFill>
              <a:latin typeface="Times New Roman" panose="02020603050405020304" pitchFamily="18" charset="0"/>
            </a:endParaRPr>
          </a:p>
          <a:p>
            <a:pPr lvl="2" eaLnBrk="0" hangingPunct="0"/>
            <a:r>
              <a:rPr lang="en-US" altLang="zh-CN" sz="2000" b="0" dirty="0">
                <a:solidFill>
                  <a:srgbClr val="000000"/>
                </a:solidFill>
                <a:latin typeface="Times New Roman" panose="02020603050405020304" pitchFamily="18" charset="0"/>
              </a:rPr>
              <a:t>          </a:t>
            </a:r>
            <a:r>
              <a:rPr lang="zh-CN" altLang="en-US" sz="2000" b="0" dirty="0">
                <a:solidFill>
                  <a:srgbClr val="000000"/>
                </a:solidFill>
                <a:latin typeface="Times New Roman" panose="02020603050405020304" pitchFamily="18" charset="0"/>
              </a:rPr>
              <a:t>　  </a:t>
            </a:r>
            <a:endParaRPr lang="zh-CN" altLang="en-US" sz="2000" b="0" dirty="0">
              <a:solidFill>
                <a:srgbClr val="000000"/>
              </a:solidFill>
              <a:latin typeface="Times New Roman" panose="02020603050405020304" pitchFamily="18" charset="0"/>
            </a:endParaRPr>
          </a:p>
          <a:p>
            <a:pPr eaLnBrk="0" hangingPunct="0"/>
            <a:r>
              <a:rPr lang="zh-CN" altLang="en-US" sz="2000" b="0" dirty="0">
                <a:solidFill>
                  <a:srgbClr val="000000"/>
                </a:solidFill>
                <a:latin typeface="Times New Roman" panose="02020603050405020304" pitchFamily="18" charset="0"/>
                <a:sym typeface="Webdings" panose="05030102010509060703" pitchFamily="18" charset="2"/>
              </a:rPr>
              <a:t>     标志出栈</a:t>
            </a:r>
            <a:r>
              <a:rPr lang="zh-CN" altLang="en-US" sz="2000" b="0" dirty="0">
                <a:solidFill>
                  <a:srgbClr val="000000"/>
                </a:solidFill>
                <a:latin typeface="Times New Roman" panose="02020603050405020304" pitchFamily="18" charset="0"/>
              </a:rPr>
              <a:t>指令：    </a:t>
            </a:r>
            <a:r>
              <a:rPr lang="en-US" altLang="zh-CN" sz="2000" b="0" dirty="0">
                <a:solidFill>
                  <a:srgbClr val="000000"/>
                </a:solidFill>
                <a:latin typeface="Times New Roman" panose="02020603050405020304" pitchFamily="18" charset="0"/>
              </a:rPr>
              <a:t>POPF</a:t>
            </a:r>
            <a:endParaRPr lang="en-US" altLang="zh-CN" sz="2000" b="0" dirty="0">
              <a:solidFill>
                <a:srgbClr val="000000"/>
              </a:solidFill>
              <a:latin typeface="Times New Roman" panose="02020603050405020304" pitchFamily="18" charset="0"/>
            </a:endParaRPr>
          </a:p>
          <a:p>
            <a:pPr eaLnBrk="0" hangingPunct="0"/>
            <a:r>
              <a:rPr lang="en-US" altLang="zh-CN" sz="2000" b="0" dirty="0">
                <a:solidFill>
                  <a:srgbClr val="000000"/>
                </a:solidFill>
                <a:latin typeface="Times New Roman" panose="02020603050405020304" pitchFamily="18" charset="0"/>
              </a:rPr>
              <a:t>     </a:t>
            </a:r>
            <a:r>
              <a:rPr lang="zh-CN" altLang="en-US" sz="2000" b="0" dirty="0">
                <a:solidFill>
                  <a:srgbClr val="000000"/>
                </a:solidFill>
                <a:latin typeface="Times New Roman" panose="02020603050405020304" pitchFamily="18" charset="0"/>
              </a:rPr>
              <a:t>执行操作：            </a:t>
            </a:r>
            <a:r>
              <a:rPr lang="en-US" altLang="zh-CN" sz="2000" b="0" dirty="0">
                <a:solidFill>
                  <a:srgbClr val="000000"/>
                </a:solidFill>
                <a:latin typeface="Times New Roman" panose="02020603050405020304" pitchFamily="18" charset="0"/>
              </a:rPr>
              <a:t>(FLAGS)  </a:t>
            </a:r>
            <a:r>
              <a:rPr lang="en-US" altLang="zh-CN" sz="2000" b="0" dirty="0">
                <a:solidFill>
                  <a:srgbClr val="000000"/>
                </a:solidFill>
                <a:latin typeface="Times New Roman" panose="02020603050405020304" pitchFamily="18" charset="0"/>
                <a:sym typeface="Symbol" panose="05050102010706020507" pitchFamily="18" charset="2"/>
              </a:rPr>
              <a:t></a:t>
            </a:r>
            <a:r>
              <a:rPr lang="en-US" altLang="zh-CN" sz="2000" b="0" dirty="0">
                <a:solidFill>
                  <a:srgbClr val="000000"/>
                </a:solidFill>
                <a:latin typeface="Times New Roman" panose="02020603050405020304" pitchFamily="18" charset="0"/>
              </a:rPr>
              <a:t>  ( (SP)+1,  (SP) )</a:t>
            </a:r>
            <a:endParaRPr lang="en-US" altLang="zh-CN" sz="2000" b="0" dirty="0">
              <a:solidFill>
                <a:srgbClr val="000000"/>
              </a:solidFill>
              <a:latin typeface="Times New Roman" panose="02020603050405020304" pitchFamily="18" charset="0"/>
            </a:endParaRPr>
          </a:p>
          <a:p>
            <a:pPr lvl="2" eaLnBrk="0" hangingPunct="0"/>
            <a:r>
              <a:rPr lang="en-US" altLang="zh-CN" sz="2000" b="0" dirty="0">
                <a:solidFill>
                  <a:srgbClr val="000000"/>
                </a:solidFill>
                <a:latin typeface="Times New Roman" panose="02020603050405020304" pitchFamily="18" charset="0"/>
              </a:rPr>
              <a:t>                         (SP)  </a:t>
            </a:r>
            <a:r>
              <a:rPr lang="en-US" altLang="zh-CN" sz="2000" b="0" dirty="0">
                <a:solidFill>
                  <a:srgbClr val="000000"/>
                </a:solidFill>
                <a:latin typeface="Times New Roman" panose="02020603050405020304" pitchFamily="18" charset="0"/>
                <a:sym typeface="Symbol" panose="05050102010706020507" pitchFamily="18" charset="2"/>
              </a:rPr>
              <a:t></a:t>
            </a:r>
            <a:r>
              <a:rPr lang="en-US" altLang="zh-CN" sz="2000" b="0" dirty="0">
                <a:solidFill>
                  <a:srgbClr val="000000"/>
                </a:solidFill>
                <a:latin typeface="Times New Roman" panose="02020603050405020304" pitchFamily="18" charset="0"/>
              </a:rPr>
              <a:t>  (SP) + 2</a:t>
            </a:r>
            <a:endParaRPr lang="en-US" altLang="zh-CN" sz="2000" b="0" dirty="0">
              <a:solidFill>
                <a:srgbClr val="000000"/>
              </a:solidFill>
              <a:latin typeface="Times New Roman" panose="02020603050405020304" pitchFamily="18" charset="0"/>
            </a:endParaRPr>
          </a:p>
          <a:p>
            <a:pPr lvl="2" eaLnBrk="0" hangingPunct="0"/>
            <a:endParaRPr lang="en-US" altLang="zh-CN" sz="2000" b="0" dirty="0">
              <a:solidFill>
                <a:srgbClr val="000000"/>
              </a:solidFill>
              <a:latin typeface="Times New Roman" panose="02020603050405020304" pitchFamily="18" charset="0"/>
            </a:endParaRPr>
          </a:p>
          <a:p>
            <a:pPr lvl="1" eaLnBrk="0" hangingPunct="0"/>
            <a:r>
              <a:rPr lang="en-US" altLang="zh-CN" sz="2000" b="0" dirty="0">
                <a:solidFill>
                  <a:srgbClr val="000000"/>
                </a:solidFill>
                <a:latin typeface="Times New Roman" panose="02020603050405020304" pitchFamily="18" charset="0"/>
              </a:rPr>
              <a:t>*  SAHF</a:t>
            </a:r>
            <a:r>
              <a:rPr lang="zh-CN" altLang="en-US" sz="2000" b="0" dirty="0">
                <a:solidFill>
                  <a:srgbClr val="000000"/>
                </a:solidFill>
                <a:latin typeface="Times New Roman" panose="02020603050405020304" pitchFamily="18" charset="0"/>
              </a:rPr>
              <a:t>，</a:t>
            </a:r>
            <a:r>
              <a:rPr lang="en-US" altLang="zh-CN" sz="2000" b="0" dirty="0">
                <a:solidFill>
                  <a:srgbClr val="000000"/>
                </a:solidFill>
                <a:latin typeface="Times New Roman" panose="02020603050405020304" pitchFamily="18" charset="0"/>
              </a:rPr>
              <a:t>POPF</a:t>
            </a: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影响标志位</a:t>
            </a:r>
            <a:endPar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grpSp>
        <p:nvGrpSpPr>
          <p:cNvPr id="53" name="组合 52"/>
          <p:cNvGrpSpPr/>
          <p:nvPr/>
        </p:nvGrpSpPr>
        <p:grpSpPr>
          <a:xfrm>
            <a:off x="995363" y="6043761"/>
            <a:ext cx="7315200" cy="409575"/>
            <a:chOff x="192" y="2256"/>
            <a:chExt cx="5376" cy="258"/>
          </a:xfrm>
        </p:grpSpPr>
        <p:sp>
          <p:nvSpPr>
            <p:cNvPr id="54" name="文本框 77832"/>
            <p:cNvSpPr txBox="1"/>
            <p:nvPr/>
          </p:nvSpPr>
          <p:spPr>
            <a:xfrm>
              <a:off x="192" y="2256"/>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55" name="文本框 77833"/>
            <p:cNvSpPr txBox="1"/>
            <p:nvPr/>
          </p:nvSpPr>
          <p:spPr>
            <a:xfrm>
              <a:off x="528" y="2256"/>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56" name="文本框 77834"/>
            <p:cNvSpPr txBox="1"/>
            <p:nvPr/>
          </p:nvSpPr>
          <p:spPr>
            <a:xfrm>
              <a:off x="864" y="2256"/>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57" name="文本框 77835"/>
            <p:cNvSpPr txBox="1"/>
            <p:nvPr/>
          </p:nvSpPr>
          <p:spPr>
            <a:xfrm>
              <a:off x="1200" y="2256"/>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58" name="文本框 77836"/>
            <p:cNvSpPr txBox="1"/>
            <p:nvPr/>
          </p:nvSpPr>
          <p:spPr>
            <a:xfrm>
              <a:off x="1536" y="2256"/>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59" name="文本框 77837"/>
            <p:cNvSpPr txBox="1"/>
            <p:nvPr/>
          </p:nvSpPr>
          <p:spPr>
            <a:xfrm>
              <a:off x="1872" y="2256"/>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60" name="文本框 77838"/>
            <p:cNvSpPr txBox="1"/>
            <p:nvPr/>
          </p:nvSpPr>
          <p:spPr>
            <a:xfrm>
              <a:off x="2208" y="2256"/>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61" name="文本框 77839"/>
            <p:cNvSpPr txBox="1"/>
            <p:nvPr/>
          </p:nvSpPr>
          <p:spPr>
            <a:xfrm>
              <a:off x="2544" y="2256"/>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grpSp>
          <p:nvGrpSpPr>
            <p:cNvPr id="62" name="组合 61"/>
            <p:cNvGrpSpPr/>
            <p:nvPr/>
          </p:nvGrpSpPr>
          <p:grpSpPr>
            <a:xfrm>
              <a:off x="2880" y="2256"/>
              <a:ext cx="2688" cy="258"/>
              <a:chOff x="1200" y="2352"/>
              <a:chExt cx="2688" cy="258"/>
            </a:xfrm>
          </p:grpSpPr>
          <p:sp>
            <p:nvSpPr>
              <p:cNvPr id="63" name="文本框 77841"/>
              <p:cNvSpPr txBox="1"/>
              <p:nvPr/>
            </p:nvSpPr>
            <p:spPr>
              <a:xfrm>
                <a:off x="1200" y="2352"/>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64" name="文本框 77842"/>
              <p:cNvSpPr txBox="1"/>
              <p:nvPr/>
            </p:nvSpPr>
            <p:spPr>
              <a:xfrm>
                <a:off x="1536" y="2352"/>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65" name="文本框 77843"/>
              <p:cNvSpPr txBox="1"/>
              <p:nvPr/>
            </p:nvSpPr>
            <p:spPr>
              <a:xfrm>
                <a:off x="1872" y="2352"/>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66" name="文本框 77844"/>
              <p:cNvSpPr txBox="1"/>
              <p:nvPr/>
            </p:nvSpPr>
            <p:spPr>
              <a:xfrm>
                <a:off x="2208" y="2352"/>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67" name="文本框 77845"/>
              <p:cNvSpPr txBox="1"/>
              <p:nvPr/>
            </p:nvSpPr>
            <p:spPr>
              <a:xfrm>
                <a:off x="2544" y="2352"/>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68" name="文本框 77846"/>
              <p:cNvSpPr txBox="1"/>
              <p:nvPr/>
            </p:nvSpPr>
            <p:spPr>
              <a:xfrm>
                <a:off x="2880" y="2352"/>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69" name="文本框 77847"/>
              <p:cNvSpPr txBox="1"/>
              <p:nvPr/>
            </p:nvSpPr>
            <p:spPr>
              <a:xfrm>
                <a:off x="3216" y="2352"/>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sp>
            <p:nvSpPr>
              <p:cNvPr id="70" name="文本框 77848"/>
              <p:cNvSpPr txBox="1"/>
              <p:nvPr/>
            </p:nvSpPr>
            <p:spPr>
              <a:xfrm>
                <a:off x="3552" y="2352"/>
                <a:ext cx="336" cy="258"/>
              </a:xfrm>
              <a:prstGeom prst="rect">
                <a:avLst/>
              </a:prstGeom>
              <a:noFill/>
              <a:ln w="12700" cap="sq" cmpd="sng">
                <a:solidFill>
                  <a:schemeClr val="tx1"/>
                </a:solidFill>
                <a:prstDash val="solid"/>
                <a:miter/>
                <a:headEnd type="none" w="sm" len="sm"/>
                <a:tailEnd type="none" w="sm" len="sm"/>
              </a:ln>
            </p:spPr>
            <p:txBody>
              <a:bodyPr>
                <a:spAutoFit/>
              </a:bodyPr>
              <a:lstStyle/>
              <a:p>
                <a:pPr eaLnBrk="0" hangingPunct="0"/>
                <a:endParaRPr sz="2000" b="1" dirty="0">
                  <a:solidFill>
                    <a:schemeClr val="bg1"/>
                  </a:solidFill>
                  <a:latin typeface="Times New Roman" panose="02020603050405020304" pitchFamily="18" charset="0"/>
                </a:endParaRPr>
              </a:p>
            </p:txBody>
          </p:sp>
        </p:grpSp>
      </p:grpSp>
      <p:sp>
        <p:nvSpPr>
          <p:cNvPr id="71" name="文本框 77851"/>
          <p:cNvSpPr txBox="1"/>
          <p:nvPr/>
        </p:nvSpPr>
        <p:spPr>
          <a:xfrm>
            <a:off x="2857636" y="6086264"/>
            <a:ext cx="5638800" cy="336550"/>
          </a:xfrm>
          <a:prstGeom prst="rect">
            <a:avLst/>
          </a:prstGeom>
          <a:noFill/>
          <a:ln w="12700">
            <a:noFill/>
          </a:ln>
        </p:spPr>
        <p:txBody>
          <a:bodyPr>
            <a:spAutoFit/>
          </a:bodyPr>
          <a:lstStyle/>
          <a:p>
            <a:pPr eaLnBrk="0" hangingPunct="0"/>
            <a:r>
              <a:rPr lang="en-US" altLang="zh-CN" sz="1600" b="1" dirty="0">
                <a:latin typeface="Times New Roman" panose="02020603050405020304" pitchFamily="18" charset="0"/>
              </a:rPr>
              <a:t>OF    </a:t>
            </a:r>
            <a:r>
              <a:rPr lang="en-US" altLang="zh-CN" sz="1600" b="1" dirty="0">
                <a:solidFill>
                  <a:srgbClr val="FF0000"/>
                </a:solidFill>
                <a:latin typeface="Times New Roman" panose="02020603050405020304" pitchFamily="18" charset="0"/>
              </a:rPr>
              <a:t>DF    IF    TF     </a:t>
            </a:r>
            <a:r>
              <a:rPr lang="en-US" altLang="zh-CN" sz="1600" b="1" dirty="0">
                <a:latin typeface="Times New Roman" panose="02020603050405020304" pitchFamily="18" charset="0"/>
              </a:rPr>
              <a:t>SF    ZF            AF             PF             CF</a:t>
            </a:r>
            <a:endParaRPr lang="en-US" altLang="zh-CN" sz="1600" b="1" dirty="0">
              <a:latin typeface="Times New Roman" panose="02020603050405020304" pitchFamily="18" charset="0"/>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文本框 45057"/>
          <p:cNvSpPr txBox="1"/>
          <p:nvPr/>
        </p:nvSpPr>
        <p:spPr>
          <a:xfrm>
            <a:off x="452120" y="944724"/>
            <a:ext cx="8050704" cy="5632311"/>
          </a:xfrm>
          <a:prstGeom prst="rect">
            <a:avLst/>
          </a:prstGeom>
          <a:noFill/>
          <a:ln w="9525">
            <a:noFill/>
          </a:ln>
        </p:spPr>
        <p:txBody>
          <a:bodyPr wrap="square">
            <a:spAutoFit/>
          </a:bodyPr>
          <a:lstStyle/>
          <a:p>
            <a:pPr algn="just" eaLnBrk="0" hangingPunct="0"/>
            <a:r>
              <a:rPr lang="en-US" altLang="zh-CN" b="1" dirty="0">
                <a:solidFill>
                  <a:srgbClr val="000000"/>
                </a:solidFill>
                <a:latin typeface="Times New Roman" panose="02020603050405020304" pitchFamily="18" charset="0"/>
                <a:sym typeface="Symbol" panose="05050102010706020507" pitchFamily="18" charset="2"/>
              </a:rPr>
              <a:t>   </a:t>
            </a:r>
            <a:r>
              <a:rPr lang="zh-CN" altLang="en-US" sz="2000" b="0" dirty="0">
                <a:solidFill>
                  <a:srgbClr val="000000"/>
                </a:solidFill>
                <a:latin typeface="Times New Roman" panose="02020603050405020304" pitchFamily="18" charset="0"/>
              </a:rPr>
              <a:t>类型转换指令</a:t>
            </a:r>
            <a:endParaRPr lang="zh-CN" altLang="en-US" sz="2000" b="0" dirty="0">
              <a:solidFill>
                <a:srgbClr val="000000"/>
              </a:solidFill>
              <a:latin typeface="Times New Roman" panose="02020603050405020304" pitchFamily="18" charset="0"/>
            </a:endParaRPr>
          </a:p>
          <a:p>
            <a:pPr algn="just" eaLnBrk="0" hangingPunct="0"/>
            <a:r>
              <a:rPr lang="zh-CN" altLang="en-US" sz="2000" b="0" dirty="0">
                <a:solidFill>
                  <a:srgbClr val="000000"/>
                </a:solidFill>
                <a:latin typeface="Times New Roman" panose="02020603050405020304" pitchFamily="18" charset="0"/>
              </a:rPr>
              <a:t>   </a:t>
            </a:r>
            <a:endParaRPr lang="zh-CN" altLang="en-US" sz="2000" b="0" dirty="0">
              <a:solidFill>
                <a:srgbClr val="000000"/>
              </a:solidFill>
              <a:latin typeface="Times New Roman" panose="02020603050405020304" pitchFamily="18" charset="0"/>
            </a:endParaRPr>
          </a:p>
          <a:p>
            <a:pPr algn="just" eaLnBrk="0" hangingPunct="0"/>
            <a:r>
              <a:rPr lang="zh-CN" altLang="en-US" sz="2000" b="0" dirty="0">
                <a:solidFill>
                  <a:srgbClr val="000000"/>
                </a:solidFill>
                <a:latin typeface="Times New Roman" panose="02020603050405020304" pitchFamily="18" charset="0"/>
              </a:rPr>
              <a:t>    </a:t>
            </a:r>
            <a:r>
              <a:rPr lang="en-US" altLang="zh-CN" sz="2000" b="0" dirty="0">
                <a:solidFill>
                  <a:srgbClr val="000000"/>
                </a:solidFill>
                <a:latin typeface="Times New Roman" panose="02020603050405020304" pitchFamily="18" charset="0"/>
              </a:rPr>
              <a:t>CBW          AL </a:t>
            </a:r>
            <a:r>
              <a:rPr lang="en-US" altLang="zh-CN" sz="2000" b="0" dirty="0">
                <a:solidFill>
                  <a:srgbClr val="000000"/>
                </a:solidFill>
                <a:latin typeface="Times New Roman" panose="02020603050405020304" pitchFamily="18" charset="0"/>
                <a:sym typeface="Symbol" panose="05050102010706020507" pitchFamily="18" charset="2"/>
              </a:rPr>
              <a:t></a:t>
            </a:r>
            <a:r>
              <a:rPr lang="en-US" altLang="zh-CN" sz="2000" b="0" dirty="0">
                <a:solidFill>
                  <a:srgbClr val="000000"/>
                </a:solidFill>
                <a:latin typeface="Times New Roman" panose="02020603050405020304" pitchFamily="18" charset="0"/>
              </a:rPr>
              <a:t> AX   </a:t>
            </a:r>
            <a:r>
              <a:rPr lang="zh-CN" altLang="en-US" sz="2000" b="0" dirty="0">
                <a:solidFill>
                  <a:srgbClr val="000000"/>
                </a:solidFill>
                <a:latin typeface="Times New Roman" panose="02020603050405020304" pitchFamily="18" charset="0"/>
              </a:rPr>
              <a:t>（</a:t>
            </a:r>
            <a:r>
              <a:rPr lang="en-US" altLang="zh-CN" sz="2000" b="0" dirty="0">
                <a:solidFill>
                  <a:srgbClr val="000000"/>
                </a:solidFill>
                <a:latin typeface="Times New Roman" panose="02020603050405020304" pitchFamily="18" charset="0"/>
              </a:rPr>
              <a:t>AL</a:t>
            </a:r>
            <a:r>
              <a:rPr lang="zh-CN" altLang="en-US" sz="2000" b="0" dirty="0">
                <a:solidFill>
                  <a:srgbClr val="000000"/>
                </a:solidFill>
                <a:latin typeface="Times New Roman" panose="02020603050405020304" pitchFamily="18" charset="0"/>
              </a:rPr>
              <a:t>中的内容符号扩展到</a:t>
            </a:r>
            <a:r>
              <a:rPr lang="en-US" altLang="zh-CN" sz="2000" b="0" dirty="0">
                <a:solidFill>
                  <a:srgbClr val="000000"/>
                </a:solidFill>
                <a:latin typeface="Times New Roman" panose="02020603050405020304" pitchFamily="18" charset="0"/>
              </a:rPr>
              <a:t>AX</a:t>
            </a:r>
            <a:r>
              <a:rPr lang="zh-CN" altLang="en-US" sz="2000" b="0" dirty="0">
                <a:solidFill>
                  <a:srgbClr val="000000"/>
                </a:solidFill>
                <a:latin typeface="Times New Roman" panose="02020603050405020304" pitchFamily="18" charset="0"/>
              </a:rPr>
              <a:t>）</a:t>
            </a:r>
            <a:endParaRPr lang="en-US" altLang="zh-CN" sz="2000" b="0" dirty="0">
              <a:solidFill>
                <a:srgbClr val="000000"/>
              </a:solidFill>
              <a:latin typeface="Times New Roman" panose="02020603050405020304" pitchFamily="18" charset="0"/>
            </a:endParaRPr>
          </a:p>
          <a:p>
            <a:pPr algn="just" eaLnBrk="0" hangingPunct="0"/>
            <a:r>
              <a:rPr lang="en-US" altLang="zh-CN" sz="2000" b="0" dirty="0">
                <a:solidFill>
                  <a:srgbClr val="000000"/>
                </a:solidFill>
                <a:latin typeface="Times New Roman" panose="02020603050405020304" pitchFamily="18" charset="0"/>
              </a:rPr>
              <a:t>    </a:t>
            </a:r>
            <a:r>
              <a:rPr lang="zh-CN" altLang="en-US" sz="2000" b="0" dirty="0">
                <a:solidFill>
                  <a:srgbClr val="000000"/>
                </a:solidFill>
                <a:latin typeface="Times New Roman" panose="02020603050405020304" pitchFamily="18" charset="0"/>
              </a:rPr>
              <a:t>执行操作： 若</a:t>
            </a:r>
            <a:r>
              <a:rPr lang="en-US" altLang="zh-CN" sz="2000" b="0" dirty="0">
                <a:solidFill>
                  <a:srgbClr val="000000"/>
                </a:solidFill>
                <a:latin typeface="Times New Roman" panose="02020603050405020304" pitchFamily="18" charset="0"/>
              </a:rPr>
              <a:t>(AL)</a:t>
            </a:r>
            <a:r>
              <a:rPr lang="zh-CN" altLang="en-US" sz="2000" b="0" dirty="0">
                <a:solidFill>
                  <a:srgbClr val="000000"/>
                </a:solidFill>
                <a:latin typeface="Times New Roman" panose="02020603050405020304" pitchFamily="18" charset="0"/>
              </a:rPr>
              <a:t>的最高有效位为</a:t>
            </a:r>
            <a:r>
              <a:rPr lang="en-US" altLang="zh-CN" sz="2000" b="0" dirty="0">
                <a:solidFill>
                  <a:srgbClr val="000000"/>
                </a:solidFill>
                <a:latin typeface="Times New Roman" panose="02020603050405020304" pitchFamily="18" charset="0"/>
              </a:rPr>
              <a:t>0</a:t>
            </a:r>
            <a:r>
              <a:rPr lang="zh-CN" altLang="en-US" sz="2000" b="0" dirty="0">
                <a:solidFill>
                  <a:srgbClr val="000000"/>
                </a:solidFill>
                <a:latin typeface="Times New Roman" panose="02020603050405020304" pitchFamily="18" charset="0"/>
              </a:rPr>
              <a:t>，则</a:t>
            </a:r>
            <a:r>
              <a:rPr lang="en-US" altLang="zh-CN" sz="2000" b="0" dirty="0">
                <a:solidFill>
                  <a:srgbClr val="000000"/>
                </a:solidFill>
                <a:latin typeface="Times New Roman" panose="02020603050405020304" pitchFamily="18" charset="0"/>
              </a:rPr>
              <a:t>(AH)= 00H</a:t>
            </a:r>
            <a:endParaRPr lang="en-US" altLang="zh-CN" sz="2000" b="0" dirty="0">
              <a:solidFill>
                <a:srgbClr val="000000"/>
              </a:solidFill>
              <a:latin typeface="Times New Roman" panose="02020603050405020304" pitchFamily="18" charset="0"/>
            </a:endParaRPr>
          </a:p>
          <a:p>
            <a:pPr algn="just" eaLnBrk="0" hangingPunct="0"/>
            <a:r>
              <a:rPr lang="en-US" altLang="zh-CN" sz="2000" b="0" dirty="0">
                <a:solidFill>
                  <a:srgbClr val="000000"/>
                </a:solidFill>
                <a:latin typeface="Times New Roman" panose="02020603050405020304" pitchFamily="18" charset="0"/>
              </a:rPr>
              <a:t>                         </a:t>
            </a:r>
            <a:r>
              <a:rPr lang="zh-CN" altLang="en-US" sz="2000" b="0" dirty="0">
                <a:solidFill>
                  <a:srgbClr val="000000"/>
                </a:solidFill>
                <a:latin typeface="Times New Roman" panose="02020603050405020304" pitchFamily="18" charset="0"/>
              </a:rPr>
              <a:t>若</a:t>
            </a:r>
            <a:r>
              <a:rPr lang="en-US" altLang="zh-CN" sz="2000" b="0" dirty="0">
                <a:solidFill>
                  <a:srgbClr val="000000"/>
                </a:solidFill>
                <a:latin typeface="Times New Roman" panose="02020603050405020304" pitchFamily="18" charset="0"/>
              </a:rPr>
              <a:t>(AL)</a:t>
            </a:r>
            <a:r>
              <a:rPr lang="zh-CN" altLang="en-US" sz="2000" b="0" dirty="0">
                <a:solidFill>
                  <a:srgbClr val="000000"/>
                </a:solidFill>
                <a:latin typeface="Times New Roman" panose="02020603050405020304" pitchFamily="18" charset="0"/>
              </a:rPr>
              <a:t>的最高有效位为</a:t>
            </a:r>
            <a:r>
              <a:rPr lang="en-US" altLang="zh-CN" sz="2000" b="0" dirty="0">
                <a:solidFill>
                  <a:srgbClr val="000000"/>
                </a:solidFill>
                <a:latin typeface="Times New Roman" panose="02020603050405020304" pitchFamily="18" charset="0"/>
              </a:rPr>
              <a:t>1</a:t>
            </a:r>
            <a:r>
              <a:rPr lang="zh-CN" altLang="en-US" sz="2000" b="0" dirty="0">
                <a:solidFill>
                  <a:srgbClr val="000000"/>
                </a:solidFill>
                <a:latin typeface="Times New Roman" panose="02020603050405020304" pitchFamily="18" charset="0"/>
              </a:rPr>
              <a:t>，则</a:t>
            </a:r>
            <a:r>
              <a:rPr lang="en-US" altLang="zh-CN" sz="2000" b="0" dirty="0">
                <a:solidFill>
                  <a:srgbClr val="000000"/>
                </a:solidFill>
                <a:latin typeface="Times New Roman" panose="02020603050405020304" pitchFamily="18" charset="0"/>
              </a:rPr>
              <a:t>(AH)= FFH</a:t>
            </a:r>
            <a:endParaRPr lang="en-US" altLang="zh-CN" sz="2000" b="0" dirty="0">
              <a:solidFill>
                <a:srgbClr val="000000"/>
              </a:solidFill>
              <a:latin typeface="Times New Roman" panose="02020603050405020304" pitchFamily="18" charset="0"/>
            </a:endParaRPr>
          </a:p>
          <a:p>
            <a:pPr algn="just" eaLnBrk="0" hangingPunct="0"/>
            <a:endParaRPr lang="en-US" altLang="zh-CN" sz="2000" b="0" dirty="0">
              <a:solidFill>
                <a:srgbClr val="000000"/>
              </a:solidFill>
              <a:latin typeface="Times New Roman" panose="02020603050405020304" pitchFamily="18" charset="0"/>
            </a:endParaRPr>
          </a:p>
          <a:p>
            <a:pPr algn="just" eaLnBrk="0" hangingPunct="0"/>
            <a:r>
              <a:rPr lang="en-US" altLang="zh-CN" sz="2000" b="0" dirty="0">
                <a:solidFill>
                  <a:srgbClr val="000000"/>
                </a:solidFill>
                <a:latin typeface="Times New Roman" panose="02020603050405020304" pitchFamily="18" charset="0"/>
              </a:rPr>
              <a:t>    CWD         AX </a:t>
            </a:r>
            <a:r>
              <a:rPr lang="en-US" altLang="zh-CN" sz="2000" b="0" dirty="0">
                <a:solidFill>
                  <a:srgbClr val="000000"/>
                </a:solidFill>
                <a:latin typeface="Times New Roman" panose="02020603050405020304" pitchFamily="18" charset="0"/>
                <a:sym typeface="Symbol" panose="05050102010706020507" pitchFamily="18" charset="2"/>
              </a:rPr>
              <a:t></a:t>
            </a:r>
            <a:r>
              <a:rPr lang="en-US" altLang="zh-CN" sz="2000" b="0" dirty="0">
                <a:solidFill>
                  <a:srgbClr val="000000"/>
                </a:solidFill>
                <a:latin typeface="Times New Roman" panose="02020603050405020304" pitchFamily="18" charset="0"/>
              </a:rPr>
              <a:t> (DX, AX) </a:t>
            </a:r>
            <a:r>
              <a:rPr lang="zh-CN" altLang="en-US" sz="2000" b="0" dirty="0">
                <a:solidFill>
                  <a:srgbClr val="000000"/>
                </a:solidFill>
              </a:rPr>
              <a:t>（</a:t>
            </a:r>
            <a:r>
              <a:rPr lang="en-US" altLang="zh-CN" sz="2000" b="0" dirty="0">
                <a:solidFill>
                  <a:srgbClr val="000000"/>
                </a:solidFill>
              </a:rPr>
              <a:t>AX</a:t>
            </a:r>
            <a:r>
              <a:rPr lang="zh-CN" altLang="en-US" sz="2000" b="0" dirty="0">
                <a:solidFill>
                  <a:srgbClr val="000000"/>
                </a:solidFill>
              </a:rPr>
              <a:t>中的内容符号扩展到</a:t>
            </a:r>
            <a:r>
              <a:rPr lang="en-US" altLang="zh-CN" sz="2000" b="0" dirty="0">
                <a:solidFill>
                  <a:srgbClr val="000000"/>
                </a:solidFill>
              </a:rPr>
              <a:t>DX</a:t>
            </a:r>
            <a:r>
              <a:rPr lang="zh-CN" altLang="en-US" sz="2000" b="0" dirty="0">
                <a:solidFill>
                  <a:srgbClr val="000000"/>
                </a:solidFill>
              </a:rPr>
              <a:t>：</a:t>
            </a:r>
            <a:r>
              <a:rPr lang="en-US" altLang="zh-CN" sz="2000" b="0" dirty="0">
                <a:solidFill>
                  <a:srgbClr val="000000"/>
                </a:solidFill>
              </a:rPr>
              <a:t>AX</a:t>
            </a:r>
            <a:r>
              <a:rPr lang="zh-CN" altLang="en-US" sz="2000" b="0" dirty="0">
                <a:solidFill>
                  <a:srgbClr val="000000"/>
                </a:solidFill>
              </a:rPr>
              <a:t>）</a:t>
            </a:r>
            <a:endParaRPr lang="en-US" altLang="zh-CN" sz="2000" b="0" dirty="0">
              <a:solidFill>
                <a:srgbClr val="000000"/>
              </a:solidFill>
            </a:endParaRPr>
          </a:p>
          <a:p>
            <a:pPr algn="just" eaLnBrk="0" hangingPunct="0"/>
            <a:r>
              <a:rPr lang="en-US" altLang="zh-CN" sz="2000" b="0" dirty="0">
                <a:solidFill>
                  <a:srgbClr val="000000"/>
                </a:solidFill>
                <a:latin typeface="Times New Roman" panose="02020603050405020304" pitchFamily="18" charset="0"/>
              </a:rPr>
              <a:t>    </a:t>
            </a:r>
            <a:r>
              <a:rPr lang="zh-CN" altLang="en-US" sz="2000" b="0" dirty="0">
                <a:solidFill>
                  <a:srgbClr val="000000"/>
                </a:solidFill>
                <a:latin typeface="Times New Roman" panose="02020603050405020304" pitchFamily="18" charset="0"/>
              </a:rPr>
              <a:t>执行操作：若</a:t>
            </a:r>
            <a:r>
              <a:rPr lang="en-US" altLang="zh-CN" sz="2000" b="0" dirty="0">
                <a:solidFill>
                  <a:srgbClr val="000000"/>
                </a:solidFill>
                <a:latin typeface="Times New Roman" panose="02020603050405020304" pitchFamily="18" charset="0"/>
              </a:rPr>
              <a:t>(AX)</a:t>
            </a:r>
            <a:r>
              <a:rPr lang="zh-CN" altLang="en-US" sz="2000" b="0" dirty="0">
                <a:solidFill>
                  <a:srgbClr val="000000"/>
                </a:solidFill>
                <a:latin typeface="Times New Roman" panose="02020603050405020304" pitchFamily="18" charset="0"/>
              </a:rPr>
              <a:t>的最高有效位为</a:t>
            </a:r>
            <a:r>
              <a:rPr lang="en-US" altLang="zh-CN" sz="2000" b="0" dirty="0">
                <a:solidFill>
                  <a:srgbClr val="000000"/>
                </a:solidFill>
                <a:latin typeface="Times New Roman" panose="02020603050405020304" pitchFamily="18" charset="0"/>
              </a:rPr>
              <a:t>0</a:t>
            </a:r>
            <a:r>
              <a:rPr lang="zh-CN" altLang="en-US" sz="2000" b="0" dirty="0">
                <a:solidFill>
                  <a:srgbClr val="000000"/>
                </a:solidFill>
                <a:latin typeface="Times New Roman" panose="02020603050405020304" pitchFamily="18" charset="0"/>
              </a:rPr>
              <a:t>，则</a:t>
            </a:r>
            <a:r>
              <a:rPr lang="en-US" altLang="zh-CN" sz="2000" b="0" dirty="0">
                <a:solidFill>
                  <a:srgbClr val="000000"/>
                </a:solidFill>
                <a:latin typeface="Times New Roman" panose="02020603050405020304" pitchFamily="18" charset="0"/>
              </a:rPr>
              <a:t>(DX)= 0000H</a:t>
            </a:r>
            <a:endParaRPr lang="en-US" altLang="zh-CN" sz="2000" b="0" dirty="0">
              <a:solidFill>
                <a:srgbClr val="000000"/>
              </a:solidFill>
              <a:latin typeface="Times New Roman" panose="02020603050405020304" pitchFamily="18" charset="0"/>
            </a:endParaRPr>
          </a:p>
          <a:p>
            <a:pPr algn="just" eaLnBrk="0" hangingPunct="0"/>
            <a:r>
              <a:rPr lang="en-US" altLang="zh-CN" sz="2000" b="0" dirty="0">
                <a:solidFill>
                  <a:srgbClr val="000000"/>
                </a:solidFill>
                <a:latin typeface="Times New Roman" panose="02020603050405020304" pitchFamily="18" charset="0"/>
              </a:rPr>
              <a:t>                        </a:t>
            </a:r>
            <a:r>
              <a:rPr lang="zh-CN" altLang="en-US" sz="2000" b="0" dirty="0">
                <a:solidFill>
                  <a:srgbClr val="000000"/>
                </a:solidFill>
                <a:latin typeface="Times New Roman" panose="02020603050405020304" pitchFamily="18" charset="0"/>
              </a:rPr>
              <a:t>若</a:t>
            </a:r>
            <a:r>
              <a:rPr lang="en-US" altLang="zh-CN" sz="2000" b="0" dirty="0">
                <a:solidFill>
                  <a:srgbClr val="000000"/>
                </a:solidFill>
                <a:latin typeface="Times New Roman" panose="02020603050405020304" pitchFamily="18" charset="0"/>
              </a:rPr>
              <a:t>(AX)</a:t>
            </a:r>
            <a:r>
              <a:rPr lang="zh-CN" altLang="en-US" sz="2000" b="0" dirty="0">
                <a:solidFill>
                  <a:srgbClr val="000000"/>
                </a:solidFill>
                <a:latin typeface="Times New Roman" panose="02020603050405020304" pitchFamily="18" charset="0"/>
              </a:rPr>
              <a:t>的最高有效位为</a:t>
            </a:r>
            <a:r>
              <a:rPr lang="en-US" altLang="zh-CN" sz="2000" b="0" dirty="0">
                <a:solidFill>
                  <a:srgbClr val="000000"/>
                </a:solidFill>
                <a:latin typeface="Times New Roman" panose="02020603050405020304" pitchFamily="18" charset="0"/>
              </a:rPr>
              <a:t>1</a:t>
            </a:r>
            <a:r>
              <a:rPr lang="zh-CN" altLang="en-US" sz="2000" b="0" dirty="0">
                <a:solidFill>
                  <a:srgbClr val="000000"/>
                </a:solidFill>
                <a:latin typeface="Times New Roman" panose="02020603050405020304" pitchFamily="18" charset="0"/>
              </a:rPr>
              <a:t>，则</a:t>
            </a:r>
            <a:r>
              <a:rPr lang="en-US" altLang="zh-CN" sz="2000" b="0" dirty="0">
                <a:solidFill>
                  <a:srgbClr val="000000"/>
                </a:solidFill>
                <a:latin typeface="Times New Roman" panose="02020603050405020304" pitchFamily="18" charset="0"/>
              </a:rPr>
              <a:t>(DX)= FFFFH</a:t>
            </a:r>
            <a:endParaRPr lang="en-US" altLang="zh-CN" sz="2000" b="0" dirty="0">
              <a:solidFill>
                <a:srgbClr val="000000"/>
              </a:solidFill>
              <a:latin typeface="Times New Roman" panose="02020603050405020304" pitchFamily="18" charset="0"/>
            </a:endParaRPr>
          </a:p>
          <a:p>
            <a:pPr>
              <a:lnSpc>
                <a:spcPct val="70000"/>
              </a:lnSpc>
              <a:spcBef>
                <a:spcPct val="50000"/>
              </a:spcBef>
            </a:pPr>
            <a:r>
              <a:rPr lang="en-US" altLang="zh-CN" sz="2000" b="0" dirty="0">
                <a:solidFill>
                  <a:srgbClr val="000000"/>
                </a:solidFill>
                <a:latin typeface="Times New Roman" panose="02020603050405020304" pitchFamily="18" charset="0"/>
              </a:rPr>
              <a:t>     </a:t>
            </a:r>
            <a:endParaRPr lang="en-US" altLang="zh-CN" sz="2000" b="0" dirty="0">
              <a:solidFill>
                <a:srgbClr val="000000"/>
              </a:solidFill>
              <a:latin typeface="Times New Roman" panose="02020603050405020304" pitchFamily="18" charset="0"/>
            </a:endParaRPr>
          </a:p>
          <a:p>
            <a:pPr>
              <a:lnSpc>
                <a:spcPct val="70000"/>
              </a:lnSpc>
              <a:spcBef>
                <a:spcPct val="50000"/>
              </a:spcBef>
            </a:pPr>
            <a:r>
              <a:rPr lang="en-US" altLang="zh-CN" sz="2000" b="0" dirty="0">
                <a:solidFill>
                  <a:srgbClr val="000000"/>
                </a:solidFill>
                <a:latin typeface="Times New Roman" panose="02020603050405020304" pitchFamily="18" charset="0"/>
              </a:rPr>
              <a:t>     </a:t>
            </a:r>
            <a:r>
              <a:rPr lang="zh-CN" altLang="en-US" sz="2000" b="0" dirty="0">
                <a:solidFill>
                  <a:srgbClr val="000000"/>
                </a:solidFill>
                <a:latin typeface="Times New Roman" panose="02020603050405020304" pitchFamily="18" charset="0"/>
              </a:rPr>
              <a:t>例：</a:t>
            </a:r>
            <a:r>
              <a:rPr lang="en-US" altLang="zh-CN" sz="2000" b="0" dirty="0">
                <a:solidFill>
                  <a:srgbClr val="000000"/>
                </a:solidFill>
                <a:latin typeface="Times New Roman" panose="02020603050405020304" pitchFamily="18" charset="0"/>
              </a:rPr>
              <a:t>(AX) = 0BA45H</a:t>
            </a:r>
            <a:endParaRPr lang="en-US" altLang="zh-CN" sz="2000" b="0" dirty="0">
              <a:solidFill>
                <a:srgbClr val="000000"/>
              </a:solidFill>
              <a:latin typeface="Times New Roman" panose="02020603050405020304" pitchFamily="18" charset="0"/>
            </a:endParaRPr>
          </a:p>
          <a:p>
            <a:pPr>
              <a:lnSpc>
                <a:spcPct val="70000"/>
              </a:lnSpc>
              <a:spcBef>
                <a:spcPct val="50000"/>
              </a:spcBef>
            </a:pPr>
            <a:r>
              <a:rPr lang="en-US" altLang="zh-CN" sz="2000" b="0" dirty="0">
                <a:solidFill>
                  <a:srgbClr val="000000"/>
                </a:solidFill>
                <a:latin typeface="Times New Roman" panose="02020603050405020304" pitchFamily="18" charset="0"/>
              </a:rPr>
              <a:t>             CBW              ; (AX)=0045H</a:t>
            </a:r>
            <a:endParaRPr lang="en-US" altLang="zh-CN" sz="2000" b="0" dirty="0">
              <a:solidFill>
                <a:srgbClr val="000000"/>
              </a:solidFill>
              <a:latin typeface="Times New Roman" panose="02020603050405020304" pitchFamily="18" charset="0"/>
            </a:endParaRPr>
          </a:p>
          <a:p>
            <a:pPr>
              <a:lnSpc>
                <a:spcPct val="70000"/>
              </a:lnSpc>
              <a:spcBef>
                <a:spcPct val="50000"/>
              </a:spcBef>
            </a:pPr>
            <a:r>
              <a:rPr lang="en-US" altLang="zh-CN" sz="2000" b="0" dirty="0">
                <a:solidFill>
                  <a:srgbClr val="000000"/>
                </a:solidFill>
                <a:latin typeface="Times New Roman" panose="02020603050405020304" pitchFamily="18" charset="0"/>
              </a:rPr>
              <a:t>             CWD              ; (DX)=0FFFFH  (AX)=0BA45H</a:t>
            </a:r>
            <a:endParaRPr lang="en-US" altLang="zh-CN" sz="2000" b="0" dirty="0">
              <a:solidFill>
                <a:srgbClr val="000000"/>
              </a:solidFill>
              <a:latin typeface="Times New Roman" panose="02020603050405020304" pitchFamily="18" charset="0"/>
            </a:endParaRPr>
          </a:p>
          <a:p>
            <a:pPr eaLnBrk="0" hangingPunct="0"/>
            <a:endParaRPr lang="en-US" altLang="zh-CN" sz="2000" b="0" dirty="0">
              <a:solidFill>
                <a:srgbClr val="000000"/>
              </a:solidFill>
              <a:latin typeface="Times New Roman" panose="02020603050405020304" pitchFamily="18" charset="0"/>
              <a:ea typeface="楷体_GB2312" pitchFamily="49" charset="-122"/>
            </a:endParaRPr>
          </a:p>
          <a:p>
            <a:pPr eaLnBrk="0" hangingPunct="0"/>
            <a:r>
              <a:rPr lang="zh-CN" altLang="en-US" sz="2000" b="0" dirty="0">
                <a:solidFill>
                  <a:srgbClr val="000000"/>
                </a:solidFill>
                <a:latin typeface="Times New Roman" panose="02020603050405020304" pitchFamily="18" charset="0"/>
                <a:ea typeface="楷体_GB2312" pitchFamily="49" charset="-122"/>
              </a:rPr>
              <a:t>注意</a:t>
            </a:r>
            <a:r>
              <a:rPr lang="en-US" altLang="zh-CN" sz="2000" b="0" dirty="0">
                <a:solidFill>
                  <a:srgbClr val="000000"/>
                </a:solidFill>
                <a:latin typeface="Times New Roman" panose="02020603050405020304" pitchFamily="18" charset="0"/>
                <a:ea typeface="楷体_GB2312" pitchFamily="49" charset="-122"/>
              </a:rPr>
              <a:t>:   </a:t>
            </a:r>
            <a:r>
              <a:rPr lang="en-US"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   *  </a:t>
            </a: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无操作数指令</a:t>
            </a:r>
            <a:endPar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endParaRPr>
          </a:p>
          <a:p>
            <a:pPr eaLnBrk="0" hangingPunct="0"/>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  </a:t>
            </a: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隐含对</a:t>
            </a:r>
            <a:r>
              <a:rPr lang="en-US"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AL </a:t>
            </a: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或</a:t>
            </a:r>
            <a:r>
              <a:rPr lang="en-US"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AX </a:t>
            </a: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进行符号扩展</a:t>
            </a:r>
            <a:endPar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endParaRPr>
          </a:p>
          <a:p>
            <a:pPr eaLnBrk="0" hangingPunct="0"/>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  </a:t>
            </a: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不影响</a:t>
            </a:r>
            <a:r>
              <a:rPr lang="zh-CN"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条件标志位</a:t>
            </a:r>
            <a:endParaRPr lang="zh-CN" altLang="en-US" sz="2000" b="0" dirty="0">
              <a:solidFill>
                <a:srgbClr val="000000"/>
              </a:solidFill>
              <a:latin typeface="Times New Roman" panose="02020603050405020304" pitchFamily="18" charset="0"/>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数据传送指令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8">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058">
                                            <p:txEl>
                                              <p:pRg st="11" end="1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058">
                                            <p:txEl>
                                              <p:pRg st="12" end="1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058">
                                            <p:txEl>
                                              <p:pRg st="14" end="1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058">
                                            <p:txEl>
                                              <p:pRg st="15" end="1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058">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3&amp;4</a:t>
            </a:r>
            <a:r>
              <a:rPr lang="zh-CN" altLang="en-US" sz="2600" kern="0" dirty="0">
                <a:solidFill>
                  <a:schemeClr val="tx2"/>
                </a:solidFill>
                <a:effectLst>
                  <a:outerShdw blurRad="38100" dist="38100" dir="2700000" algn="tl">
                    <a:srgbClr val="C0C0C0"/>
                  </a:outerShdw>
                </a:effectLst>
                <a:latin typeface="+mj-lt"/>
                <a:cs typeface="+mj-cs"/>
              </a:rPr>
              <a:t>讲：</a:t>
            </a:r>
            <a:r>
              <a:rPr lang="en-US" altLang="zh-CN" sz="2600" kern="0" dirty="0">
                <a:solidFill>
                  <a:schemeClr val="tx2"/>
                </a:solidFill>
                <a:effectLst>
                  <a:outerShdw blurRad="38100" dist="38100" dir="2700000" algn="tl">
                    <a:srgbClr val="C0C0C0"/>
                  </a:outerShdw>
                </a:effectLst>
                <a:latin typeface="+mj-lt"/>
                <a:cs typeface="+mj-cs"/>
              </a:rPr>
              <a:t>8086/8088</a:t>
            </a:r>
            <a:r>
              <a:rPr lang="zh-CN" altLang="en-US" sz="2600" kern="0" dirty="0">
                <a:solidFill>
                  <a:schemeClr val="tx2"/>
                </a:solidFill>
                <a:effectLst>
                  <a:outerShdw blurRad="38100" dist="38100" dir="2700000" algn="tl">
                    <a:srgbClr val="C0C0C0"/>
                  </a:outerShdw>
                </a:effectLst>
                <a:latin typeface="+mj-lt"/>
                <a:cs typeface="+mj-cs"/>
              </a:rPr>
              <a:t>的指令系统</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079612" y="1124744"/>
            <a:ext cx="5508612" cy="4228850"/>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dirty="0">
                <a:sym typeface="+mn-ea"/>
              </a:rPr>
              <a:t>建立汇编程序</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sym typeface="+mn-ea"/>
              </a:rPr>
              <a:t>汇编语言程序格式</a:t>
            </a:r>
            <a:endParaRPr lang="zh-CN" altLang="en-US" dirty="0">
              <a:sym typeface="+mn-ea"/>
            </a:endParaRPr>
          </a:p>
          <a:p>
            <a:pPr marL="342900" indent="-342900">
              <a:lnSpc>
                <a:spcPct val="160000"/>
              </a:lnSpc>
              <a:buClr>
                <a:srgbClr val="FF3300"/>
              </a:buClr>
              <a:buFont typeface="Wingdings" panose="05000000000000000000" charset="0"/>
              <a:buChar char=""/>
            </a:pPr>
            <a:r>
              <a:rPr lang="zh-CN" altLang="en-US" dirty="0">
                <a:sym typeface="+mn-ea"/>
              </a:rPr>
              <a:t>伪指令</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sym typeface="+mn-ea"/>
              </a:rPr>
              <a:t>表达式操作符</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t>数据传送指令</a:t>
            </a:r>
            <a:endParaRPr lang="zh-CN" altLang="en-US" dirty="0"/>
          </a:p>
          <a:p>
            <a:pPr marL="342900" indent="-342900">
              <a:lnSpc>
                <a:spcPct val="160000"/>
              </a:lnSpc>
              <a:buClr>
                <a:srgbClr val="FF3300"/>
              </a:buClr>
              <a:buFont typeface="Wingdings" panose="05000000000000000000" charset="0"/>
              <a:buChar char=""/>
            </a:pPr>
            <a:r>
              <a:rPr lang="zh-CN" altLang="en-US" dirty="0">
                <a:solidFill>
                  <a:srgbClr val="FF0000"/>
                </a:solidFill>
              </a:rPr>
              <a:t>算术指令</a:t>
            </a:r>
            <a:endParaRPr lang="zh-CN" altLang="en-US" dirty="0">
              <a:solidFill>
                <a:srgbClr val="FF0000"/>
              </a:solidFill>
            </a:endParaRPr>
          </a:p>
          <a:p>
            <a:pPr marL="342900" indent="-342900">
              <a:lnSpc>
                <a:spcPct val="160000"/>
              </a:lnSpc>
              <a:buClr>
                <a:srgbClr val="FF3300"/>
              </a:buClr>
              <a:buFont typeface="Wingdings" panose="05000000000000000000" charset="0"/>
              <a:buChar char=""/>
            </a:pPr>
            <a:r>
              <a:rPr lang="zh-CN" altLang="en-US" dirty="0"/>
              <a:t>逻辑指令</a:t>
            </a:r>
            <a:endParaRPr lang="en-US" altLang="zh-CN" dirty="0">
              <a:sym typeface="+mn-ea"/>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46081"/>
          <p:cNvSpPr/>
          <p:nvPr/>
        </p:nvSpPr>
        <p:spPr>
          <a:xfrm>
            <a:off x="863588" y="1448780"/>
            <a:ext cx="6705600" cy="4248472"/>
          </a:xfrm>
          <a:prstGeom prst="rect">
            <a:avLst/>
          </a:prstGeom>
          <a:noFill/>
          <a:ln w="12700">
            <a:noFill/>
          </a:ln>
        </p:spPr>
        <p:txBody>
          <a:bodyPr/>
          <a:lstStyle/>
          <a:p>
            <a:pPr marL="1143000" lvl="2" indent="-228600" algn="just">
              <a:lnSpc>
                <a:spcPct val="115000"/>
              </a:lnSpc>
              <a:spcBef>
                <a:spcPct val="20000"/>
              </a:spcBef>
            </a:pPr>
            <a:r>
              <a:rPr lang="en-US" altLang="zh-CN" b="0" dirty="0">
                <a:solidFill>
                  <a:srgbClr val="000000"/>
                </a:solidFill>
                <a:latin typeface="Times New Roman" panose="02020603050405020304" pitchFamily="18" charset="0"/>
                <a:sym typeface="Symbol" panose="05050102010706020507" pitchFamily="18" charset="2"/>
              </a:rPr>
              <a:t>   </a:t>
            </a:r>
            <a:r>
              <a:rPr lang="zh-CN" altLang="en-US" b="0" dirty="0">
                <a:solidFill>
                  <a:srgbClr val="000000"/>
                </a:solidFill>
                <a:latin typeface="Times New Roman" panose="02020603050405020304" pitchFamily="18" charset="0"/>
                <a:ea typeface="楷体_GB2312" pitchFamily="49" charset="-122"/>
              </a:rPr>
              <a:t>加法指令</a:t>
            </a:r>
            <a:endParaRPr lang="zh-CN" altLang="en-US" b="0" dirty="0">
              <a:solidFill>
                <a:srgbClr val="000000"/>
              </a:solidFill>
              <a:latin typeface="Times New Roman" panose="02020603050405020304" pitchFamily="18" charset="0"/>
              <a:ea typeface="楷体_GB2312" pitchFamily="49" charset="-122"/>
            </a:endParaRPr>
          </a:p>
          <a:p>
            <a:pPr marL="1143000" lvl="2" indent="-228600" algn="just">
              <a:lnSpc>
                <a:spcPct val="115000"/>
              </a:lnSpc>
              <a:spcBef>
                <a:spcPct val="20000"/>
              </a:spcBef>
            </a:pPr>
            <a:r>
              <a:rPr lang="zh-CN" altLang="en-US" b="0" dirty="0">
                <a:solidFill>
                  <a:srgbClr val="000000"/>
                </a:solidFill>
                <a:latin typeface="Times New Roman" panose="02020603050405020304" pitchFamily="18" charset="0"/>
              </a:rPr>
              <a:t>      </a:t>
            </a:r>
            <a:r>
              <a:rPr lang="en-US" altLang="zh-CN" b="0" dirty="0">
                <a:solidFill>
                  <a:srgbClr val="000000"/>
                </a:solidFill>
                <a:latin typeface="Times New Roman" panose="02020603050405020304" pitchFamily="18" charset="0"/>
              </a:rPr>
              <a:t>ADD</a:t>
            </a:r>
            <a:r>
              <a:rPr lang="zh-CN" altLang="en-US" b="0" dirty="0">
                <a:solidFill>
                  <a:srgbClr val="000000"/>
                </a:solidFill>
                <a:latin typeface="Times New Roman" panose="02020603050405020304" pitchFamily="18" charset="0"/>
              </a:rPr>
              <a:t>、</a:t>
            </a:r>
            <a:r>
              <a:rPr lang="en-US" altLang="zh-CN" b="0" dirty="0">
                <a:solidFill>
                  <a:srgbClr val="000000"/>
                </a:solidFill>
                <a:latin typeface="Times New Roman" panose="02020603050405020304" pitchFamily="18" charset="0"/>
              </a:rPr>
              <a:t>ADC</a:t>
            </a:r>
            <a:r>
              <a:rPr lang="zh-CN" altLang="en-US" b="0" dirty="0">
                <a:solidFill>
                  <a:srgbClr val="000000"/>
                </a:solidFill>
                <a:latin typeface="Times New Roman" panose="02020603050405020304" pitchFamily="18" charset="0"/>
              </a:rPr>
              <a:t>、</a:t>
            </a:r>
            <a:r>
              <a:rPr lang="en-US" altLang="zh-CN" b="0" dirty="0">
                <a:solidFill>
                  <a:srgbClr val="000000"/>
                </a:solidFill>
                <a:latin typeface="Times New Roman" panose="02020603050405020304" pitchFamily="18" charset="0"/>
              </a:rPr>
              <a:t>INC</a:t>
            </a:r>
            <a:endParaRPr lang="en-US" altLang="zh-CN" b="0" dirty="0">
              <a:solidFill>
                <a:srgbClr val="000000"/>
              </a:solidFill>
              <a:latin typeface="Times New Roman" panose="02020603050405020304" pitchFamily="18" charset="0"/>
            </a:endParaRPr>
          </a:p>
          <a:p>
            <a:pPr marL="1143000" lvl="2" indent="-228600" algn="just">
              <a:lnSpc>
                <a:spcPct val="115000"/>
              </a:lnSpc>
              <a:spcBef>
                <a:spcPct val="20000"/>
              </a:spcBef>
            </a:pPr>
            <a:r>
              <a:rPr lang="en-US" altLang="zh-CN" b="0" dirty="0">
                <a:solidFill>
                  <a:srgbClr val="000000"/>
                </a:solidFill>
                <a:latin typeface="Times New Roman" panose="02020603050405020304" pitchFamily="18" charset="0"/>
                <a:sym typeface="Symbol" panose="05050102010706020507" pitchFamily="18" charset="2"/>
              </a:rPr>
              <a:t>   </a:t>
            </a:r>
            <a:r>
              <a:rPr lang="zh-CN" altLang="en-US" b="0" dirty="0">
                <a:solidFill>
                  <a:srgbClr val="000000"/>
                </a:solidFill>
                <a:latin typeface="Times New Roman" panose="02020603050405020304" pitchFamily="18" charset="0"/>
                <a:ea typeface="楷体_GB2312" pitchFamily="49" charset="-122"/>
              </a:rPr>
              <a:t>减法指令</a:t>
            </a:r>
            <a:endParaRPr lang="zh-CN" altLang="en-US" b="0" dirty="0">
              <a:solidFill>
                <a:srgbClr val="000000"/>
              </a:solidFill>
              <a:latin typeface="Times New Roman" panose="02020603050405020304" pitchFamily="18" charset="0"/>
              <a:ea typeface="楷体_GB2312" pitchFamily="49" charset="-122"/>
            </a:endParaRPr>
          </a:p>
          <a:p>
            <a:pPr marL="1143000" lvl="2" indent="-228600" algn="just">
              <a:lnSpc>
                <a:spcPct val="115000"/>
              </a:lnSpc>
              <a:spcBef>
                <a:spcPct val="20000"/>
              </a:spcBef>
            </a:pPr>
            <a:r>
              <a:rPr lang="zh-CN" altLang="en-US" b="0" dirty="0">
                <a:solidFill>
                  <a:srgbClr val="000000"/>
                </a:solidFill>
                <a:latin typeface="Times New Roman" panose="02020603050405020304" pitchFamily="18" charset="0"/>
              </a:rPr>
              <a:t>      </a:t>
            </a:r>
            <a:r>
              <a:rPr lang="en-US" altLang="zh-CN" b="0" dirty="0">
                <a:solidFill>
                  <a:srgbClr val="000000"/>
                </a:solidFill>
                <a:latin typeface="Times New Roman" panose="02020603050405020304" pitchFamily="18" charset="0"/>
              </a:rPr>
              <a:t>SUB</a:t>
            </a:r>
            <a:r>
              <a:rPr lang="zh-CN" altLang="en-US" b="0" dirty="0">
                <a:solidFill>
                  <a:srgbClr val="000000"/>
                </a:solidFill>
                <a:latin typeface="Times New Roman" panose="02020603050405020304" pitchFamily="18" charset="0"/>
              </a:rPr>
              <a:t>、</a:t>
            </a:r>
            <a:r>
              <a:rPr lang="en-US" altLang="zh-CN" b="0" dirty="0">
                <a:solidFill>
                  <a:srgbClr val="000000"/>
                </a:solidFill>
                <a:latin typeface="Times New Roman" panose="02020603050405020304" pitchFamily="18" charset="0"/>
              </a:rPr>
              <a:t>SBB</a:t>
            </a:r>
            <a:r>
              <a:rPr lang="zh-CN" altLang="en-US" b="0" dirty="0">
                <a:solidFill>
                  <a:srgbClr val="000000"/>
                </a:solidFill>
                <a:latin typeface="Times New Roman" panose="02020603050405020304" pitchFamily="18" charset="0"/>
              </a:rPr>
              <a:t>、</a:t>
            </a:r>
            <a:r>
              <a:rPr lang="en-US" altLang="zh-CN" b="0" dirty="0">
                <a:solidFill>
                  <a:srgbClr val="000000"/>
                </a:solidFill>
                <a:latin typeface="Times New Roman" panose="02020603050405020304" pitchFamily="18" charset="0"/>
              </a:rPr>
              <a:t>DEC</a:t>
            </a:r>
            <a:r>
              <a:rPr lang="zh-CN" altLang="en-US" b="0" dirty="0">
                <a:solidFill>
                  <a:srgbClr val="000000"/>
                </a:solidFill>
                <a:latin typeface="Times New Roman" panose="02020603050405020304" pitchFamily="18" charset="0"/>
              </a:rPr>
              <a:t>、</a:t>
            </a:r>
            <a:r>
              <a:rPr lang="en-US" altLang="zh-CN" b="0" dirty="0">
                <a:solidFill>
                  <a:srgbClr val="000000"/>
                </a:solidFill>
                <a:latin typeface="Times New Roman" panose="02020603050405020304" pitchFamily="18" charset="0"/>
              </a:rPr>
              <a:t>NEG</a:t>
            </a:r>
            <a:r>
              <a:rPr lang="zh-CN" altLang="en-US" b="0" dirty="0">
                <a:solidFill>
                  <a:srgbClr val="000000"/>
                </a:solidFill>
                <a:latin typeface="Times New Roman" panose="02020603050405020304" pitchFamily="18" charset="0"/>
              </a:rPr>
              <a:t>、</a:t>
            </a:r>
            <a:r>
              <a:rPr lang="en-US" altLang="zh-CN" b="0" dirty="0">
                <a:solidFill>
                  <a:srgbClr val="000000"/>
                </a:solidFill>
                <a:latin typeface="Times New Roman" panose="02020603050405020304" pitchFamily="18" charset="0"/>
              </a:rPr>
              <a:t>CMP</a:t>
            </a:r>
            <a:endParaRPr lang="en-US" altLang="zh-CN" b="0" dirty="0">
              <a:solidFill>
                <a:srgbClr val="000000"/>
              </a:solidFill>
              <a:latin typeface="Times New Roman" panose="02020603050405020304" pitchFamily="18" charset="0"/>
            </a:endParaRPr>
          </a:p>
          <a:p>
            <a:pPr marL="1143000" lvl="2" indent="-228600" algn="just">
              <a:lnSpc>
                <a:spcPct val="115000"/>
              </a:lnSpc>
              <a:spcBef>
                <a:spcPct val="20000"/>
              </a:spcBef>
            </a:pPr>
            <a:r>
              <a:rPr lang="en-US" altLang="zh-CN" b="0" dirty="0">
                <a:solidFill>
                  <a:srgbClr val="000000"/>
                </a:solidFill>
                <a:latin typeface="Times New Roman" panose="02020603050405020304" pitchFamily="18" charset="0"/>
                <a:sym typeface="Symbol" panose="05050102010706020507" pitchFamily="18" charset="2"/>
              </a:rPr>
              <a:t>   </a:t>
            </a:r>
            <a:r>
              <a:rPr lang="zh-CN" altLang="en-US" b="0" dirty="0">
                <a:solidFill>
                  <a:srgbClr val="000000"/>
                </a:solidFill>
                <a:latin typeface="Times New Roman" panose="02020603050405020304" pitchFamily="18" charset="0"/>
                <a:ea typeface="楷体_GB2312" pitchFamily="49" charset="-122"/>
              </a:rPr>
              <a:t>乘法指令</a:t>
            </a:r>
            <a:endParaRPr lang="zh-CN" altLang="en-US" b="0" dirty="0">
              <a:solidFill>
                <a:srgbClr val="000000"/>
              </a:solidFill>
              <a:latin typeface="Times New Roman" panose="02020603050405020304" pitchFamily="18" charset="0"/>
              <a:ea typeface="楷体_GB2312" pitchFamily="49" charset="-122"/>
            </a:endParaRPr>
          </a:p>
          <a:p>
            <a:pPr marL="1143000" lvl="2" indent="-228600" algn="just">
              <a:lnSpc>
                <a:spcPct val="115000"/>
              </a:lnSpc>
              <a:spcBef>
                <a:spcPct val="20000"/>
              </a:spcBef>
            </a:pPr>
            <a:r>
              <a:rPr lang="zh-CN" altLang="en-US" b="0" dirty="0">
                <a:solidFill>
                  <a:srgbClr val="000000"/>
                </a:solidFill>
                <a:latin typeface="Times New Roman" panose="02020603050405020304" pitchFamily="18" charset="0"/>
              </a:rPr>
              <a:t>      </a:t>
            </a:r>
            <a:r>
              <a:rPr lang="en-US" altLang="zh-CN" b="0" dirty="0">
                <a:solidFill>
                  <a:srgbClr val="000000"/>
                </a:solidFill>
                <a:latin typeface="Times New Roman" panose="02020603050405020304" pitchFamily="18" charset="0"/>
              </a:rPr>
              <a:t>MUL</a:t>
            </a:r>
            <a:r>
              <a:rPr lang="zh-CN" altLang="en-US" b="0" dirty="0">
                <a:solidFill>
                  <a:srgbClr val="000000"/>
                </a:solidFill>
                <a:latin typeface="Times New Roman" panose="02020603050405020304" pitchFamily="18" charset="0"/>
              </a:rPr>
              <a:t>、</a:t>
            </a:r>
            <a:r>
              <a:rPr lang="en-US" altLang="zh-CN" b="0" dirty="0">
                <a:solidFill>
                  <a:srgbClr val="000000"/>
                </a:solidFill>
                <a:latin typeface="Times New Roman" panose="02020603050405020304" pitchFamily="18" charset="0"/>
              </a:rPr>
              <a:t>IMUL  </a:t>
            </a:r>
            <a:endParaRPr lang="en-US" altLang="zh-CN" b="0" dirty="0">
              <a:solidFill>
                <a:srgbClr val="000000"/>
              </a:solidFill>
              <a:latin typeface="Times New Roman" panose="02020603050405020304" pitchFamily="18" charset="0"/>
            </a:endParaRPr>
          </a:p>
          <a:p>
            <a:pPr marL="1143000" lvl="2" indent="-228600" algn="just">
              <a:lnSpc>
                <a:spcPct val="115000"/>
              </a:lnSpc>
              <a:spcBef>
                <a:spcPct val="20000"/>
              </a:spcBef>
            </a:pPr>
            <a:r>
              <a:rPr lang="en-US" altLang="zh-CN" b="0" dirty="0">
                <a:solidFill>
                  <a:srgbClr val="000000"/>
                </a:solidFill>
                <a:latin typeface="Times New Roman" panose="02020603050405020304" pitchFamily="18" charset="0"/>
                <a:sym typeface="Symbol" panose="05050102010706020507" pitchFamily="18" charset="2"/>
              </a:rPr>
              <a:t>   </a:t>
            </a:r>
            <a:r>
              <a:rPr lang="zh-CN" altLang="en-US" b="0" dirty="0">
                <a:solidFill>
                  <a:srgbClr val="000000"/>
                </a:solidFill>
                <a:latin typeface="Times New Roman" panose="02020603050405020304" pitchFamily="18" charset="0"/>
                <a:ea typeface="楷体_GB2312" pitchFamily="49" charset="-122"/>
              </a:rPr>
              <a:t>除法指令</a:t>
            </a:r>
            <a:endParaRPr lang="zh-CN" altLang="en-US" b="0" dirty="0">
              <a:solidFill>
                <a:srgbClr val="000000"/>
              </a:solidFill>
              <a:latin typeface="Times New Roman" panose="02020603050405020304" pitchFamily="18" charset="0"/>
              <a:ea typeface="楷体_GB2312" pitchFamily="49" charset="-122"/>
            </a:endParaRPr>
          </a:p>
          <a:p>
            <a:pPr marL="1143000" lvl="2" indent="-228600" algn="just">
              <a:lnSpc>
                <a:spcPct val="115000"/>
              </a:lnSpc>
              <a:spcBef>
                <a:spcPct val="20000"/>
              </a:spcBef>
            </a:pPr>
            <a:r>
              <a:rPr lang="zh-CN" altLang="en-US" b="0" dirty="0">
                <a:solidFill>
                  <a:srgbClr val="000000"/>
                </a:solidFill>
                <a:latin typeface="Times New Roman" panose="02020603050405020304" pitchFamily="18" charset="0"/>
              </a:rPr>
              <a:t>      </a:t>
            </a:r>
            <a:r>
              <a:rPr lang="en-US" altLang="zh-CN" b="0" dirty="0">
                <a:solidFill>
                  <a:srgbClr val="000000"/>
                </a:solidFill>
                <a:latin typeface="Times New Roman" panose="02020603050405020304" pitchFamily="18" charset="0"/>
              </a:rPr>
              <a:t>DIV</a:t>
            </a:r>
            <a:r>
              <a:rPr lang="zh-CN" altLang="en-US" b="0" dirty="0">
                <a:solidFill>
                  <a:srgbClr val="000000"/>
                </a:solidFill>
                <a:latin typeface="Times New Roman" panose="02020603050405020304" pitchFamily="18" charset="0"/>
              </a:rPr>
              <a:t>、</a:t>
            </a:r>
            <a:r>
              <a:rPr lang="en-US" altLang="zh-CN" b="0" dirty="0">
                <a:solidFill>
                  <a:srgbClr val="000000"/>
                </a:solidFill>
                <a:latin typeface="Times New Roman" panose="02020603050405020304" pitchFamily="18" charset="0"/>
              </a:rPr>
              <a:t>IDIV</a:t>
            </a:r>
            <a:endParaRPr lang="en-US" altLang="zh-CN" b="0" dirty="0">
              <a:solidFill>
                <a:srgbClr val="000000"/>
              </a:solidFill>
              <a:latin typeface="Times New Roman" panose="02020603050405020304" pitchFamily="18" charset="0"/>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文本框 47105"/>
          <p:cNvSpPr txBox="1"/>
          <p:nvPr/>
        </p:nvSpPr>
        <p:spPr>
          <a:xfrm>
            <a:off x="1043608" y="1268760"/>
            <a:ext cx="7239000" cy="4770537"/>
          </a:xfrm>
          <a:prstGeom prst="rect">
            <a:avLst/>
          </a:prstGeom>
          <a:noFill/>
          <a:ln w="9525">
            <a:noFill/>
          </a:ln>
        </p:spPr>
        <p:txBody>
          <a:bodyPr>
            <a:spAutoFit/>
          </a:bodyPr>
          <a:lstStyle/>
          <a:p>
            <a:pPr algn="just" eaLnBrk="0" hangingPunct="0"/>
            <a:r>
              <a:rPr lang="en-US" altLang="zh-CN" sz="2000" b="0" dirty="0">
                <a:solidFill>
                  <a:srgbClr val="000000"/>
                </a:solidFill>
                <a:sym typeface="Symbol" panose="05050102010706020507" pitchFamily="18" charset="2"/>
              </a:rPr>
              <a:t>   </a:t>
            </a:r>
            <a:r>
              <a:rPr lang="zh-CN" altLang="en-US" sz="2000" b="0" dirty="0">
                <a:solidFill>
                  <a:srgbClr val="000000"/>
                </a:solidFill>
              </a:rPr>
              <a:t>加法指令</a:t>
            </a:r>
            <a:endParaRPr lang="zh-CN" altLang="en-US" sz="2000" b="0" dirty="0">
              <a:solidFill>
                <a:srgbClr val="000000"/>
              </a:solidFill>
            </a:endParaRPr>
          </a:p>
          <a:p>
            <a:pPr algn="just" eaLnBrk="0" hangingPunct="0"/>
            <a:endParaRPr lang="zh-CN" altLang="en-US" sz="2000" b="0" dirty="0">
              <a:solidFill>
                <a:srgbClr val="000000"/>
              </a:solidFill>
            </a:endParaRPr>
          </a:p>
          <a:p>
            <a:pPr algn="just" eaLnBrk="0" hangingPunct="0"/>
            <a:r>
              <a:rPr lang="zh-CN" altLang="en-US" sz="2000" b="0" dirty="0">
                <a:solidFill>
                  <a:srgbClr val="000000"/>
                </a:solidFill>
                <a:sym typeface="Webdings" panose="05030102010509060703" pitchFamily="18" charset="2"/>
              </a:rPr>
              <a:t>     </a:t>
            </a:r>
            <a:r>
              <a:rPr lang="zh-CN" altLang="en-US" sz="2000" b="0" dirty="0">
                <a:solidFill>
                  <a:srgbClr val="000000"/>
                </a:solidFill>
              </a:rPr>
              <a:t>加法指令：    </a:t>
            </a:r>
            <a:r>
              <a:rPr lang="en-US" altLang="zh-CN" sz="2000" b="0" dirty="0">
                <a:solidFill>
                  <a:srgbClr val="000000"/>
                </a:solidFill>
              </a:rPr>
              <a:t>ADD  DST, SRC  </a:t>
            </a:r>
            <a:endParaRPr lang="en-US" altLang="zh-CN" sz="2000" b="0" dirty="0">
              <a:solidFill>
                <a:srgbClr val="000000"/>
              </a:solidFill>
            </a:endParaRPr>
          </a:p>
          <a:p>
            <a:pPr algn="just" eaLnBrk="0" hangingPunct="0"/>
            <a:r>
              <a:rPr lang="en-US" altLang="zh-CN" sz="2000" b="0" dirty="0">
                <a:solidFill>
                  <a:srgbClr val="000000"/>
                </a:solidFill>
              </a:rPr>
              <a:t>     </a:t>
            </a:r>
            <a:r>
              <a:rPr lang="zh-CN" altLang="en-US" sz="2000" b="0" dirty="0">
                <a:solidFill>
                  <a:srgbClr val="000000"/>
                </a:solidFill>
              </a:rPr>
              <a:t>执行操作：    </a:t>
            </a:r>
            <a:r>
              <a:rPr lang="en-US" altLang="zh-CN" sz="2000" b="0" dirty="0">
                <a:solidFill>
                  <a:srgbClr val="000000"/>
                </a:solidFill>
              </a:rPr>
              <a:t>(DST)  </a:t>
            </a:r>
            <a:r>
              <a:rPr lang="en-US" altLang="zh-CN" sz="2000" b="0" dirty="0">
                <a:solidFill>
                  <a:srgbClr val="000000"/>
                </a:solidFill>
                <a:sym typeface="Symbol" panose="05050102010706020507" pitchFamily="18" charset="2"/>
              </a:rPr>
              <a:t></a:t>
            </a:r>
            <a:r>
              <a:rPr lang="en-US" altLang="zh-CN" sz="2000" b="0" dirty="0">
                <a:solidFill>
                  <a:srgbClr val="000000"/>
                </a:solidFill>
              </a:rPr>
              <a:t>  (SRC) + (DST)</a:t>
            </a:r>
            <a:endParaRPr lang="en-US" altLang="zh-CN" sz="2000" b="0" dirty="0">
              <a:solidFill>
                <a:srgbClr val="000000"/>
              </a:solidFill>
            </a:endParaRPr>
          </a:p>
          <a:p>
            <a:pPr algn="just" eaLnBrk="0" hangingPunct="0"/>
            <a:endParaRPr lang="en-US" altLang="zh-CN" sz="2000" b="0" dirty="0">
              <a:solidFill>
                <a:srgbClr val="000000"/>
              </a:solidFill>
            </a:endParaRPr>
          </a:p>
          <a:p>
            <a:pPr algn="just" eaLnBrk="0" hangingPunct="0"/>
            <a:r>
              <a:rPr lang="en-US" altLang="zh-CN" sz="2000" b="0" dirty="0">
                <a:solidFill>
                  <a:srgbClr val="000000"/>
                </a:solidFill>
                <a:sym typeface="Webdings" panose="05030102010509060703" pitchFamily="18" charset="2"/>
              </a:rPr>
              <a:t>     </a:t>
            </a:r>
            <a:r>
              <a:rPr lang="zh-CN" altLang="en-US" sz="2000" b="0" dirty="0">
                <a:solidFill>
                  <a:srgbClr val="000000"/>
                </a:solidFill>
              </a:rPr>
              <a:t>带进位加法指令：  </a:t>
            </a:r>
            <a:r>
              <a:rPr lang="en-US" altLang="zh-CN" sz="2000" b="0" dirty="0">
                <a:solidFill>
                  <a:srgbClr val="000000"/>
                </a:solidFill>
              </a:rPr>
              <a:t>ADC  DST, SRC  </a:t>
            </a:r>
            <a:endParaRPr lang="en-US" altLang="zh-CN" sz="2000" b="0" dirty="0">
              <a:solidFill>
                <a:srgbClr val="000000"/>
              </a:solidFill>
            </a:endParaRPr>
          </a:p>
          <a:p>
            <a:pPr algn="just" eaLnBrk="0" hangingPunct="0"/>
            <a:r>
              <a:rPr lang="en-US" altLang="zh-CN" sz="2000" b="0" dirty="0">
                <a:solidFill>
                  <a:srgbClr val="000000"/>
                </a:solidFill>
              </a:rPr>
              <a:t>     </a:t>
            </a:r>
            <a:r>
              <a:rPr lang="zh-CN" altLang="en-US" sz="2000" b="0" dirty="0">
                <a:solidFill>
                  <a:srgbClr val="000000"/>
                </a:solidFill>
              </a:rPr>
              <a:t>执行操作：    </a:t>
            </a:r>
            <a:r>
              <a:rPr lang="en-US" altLang="zh-CN" sz="2000" b="0" dirty="0">
                <a:solidFill>
                  <a:srgbClr val="000000"/>
                </a:solidFill>
              </a:rPr>
              <a:t>(DST)  </a:t>
            </a:r>
            <a:r>
              <a:rPr lang="en-US" altLang="zh-CN" sz="2000" b="0" dirty="0">
                <a:solidFill>
                  <a:srgbClr val="000000"/>
                </a:solidFill>
                <a:sym typeface="Symbol" panose="05050102010706020507" pitchFamily="18" charset="2"/>
              </a:rPr>
              <a:t></a:t>
            </a:r>
            <a:r>
              <a:rPr lang="en-US" altLang="zh-CN" sz="2000" b="0" dirty="0">
                <a:solidFill>
                  <a:srgbClr val="000000"/>
                </a:solidFill>
              </a:rPr>
              <a:t>  (SRC) + (DST) + CF</a:t>
            </a:r>
            <a:endParaRPr lang="en-US" altLang="zh-CN" sz="2000" b="0" dirty="0">
              <a:solidFill>
                <a:srgbClr val="000000"/>
              </a:solidFill>
            </a:endParaRPr>
          </a:p>
          <a:p>
            <a:pPr algn="just" eaLnBrk="0" hangingPunct="0"/>
            <a:endParaRPr lang="en-US" altLang="zh-CN" sz="2000" b="0" dirty="0">
              <a:solidFill>
                <a:srgbClr val="000000"/>
              </a:solidFill>
            </a:endParaRPr>
          </a:p>
          <a:p>
            <a:pPr algn="just" eaLnBrk="0" hangingPunct="0"/>
            <a:r>
              <a:rPr lang="en-US" altLang="zh-CN" sz="2000" b="0" dirty="0">
                <a:solidFill>
                  <a:srgbClr val="000000"/>
                </a:solidFill>
                <a:sym typeface="Webdings" panose="05030102010509060703" pitchFamily="18" charset="2"/>
              </a:rPr>
              <a:t>     </a:t>
            </a:r>
            <a:r>
              <a:rPr lang="zh-CN" altLang="en-US" sz="2000" b="0" dirty="0">
                <a:solidFill>
                  <a:srgbClr val="000000"/>
                </a:solidFill>
              </a:rPr>
              <a:t>加</a:t>
            </a:r>
            <a:r>
              <a:rPr lang="en-US" altLang="zh-CN" sz="2000" b="0" dirty="0">
                <a:solidFill>
                  <a:srgbClr val="000000"/>
                </a:solidFill>
              </a:rPr>
              <a:t>1</a:t>
            </a:r>
            <a:r>
              <a:rPr lang="zh-CN" altLang="en-US" sz="2000" b="0" dirty="0">
                <a:solidFill>
                  <a:srgbClr val="000000"/>
                </a:solidFill>
              </a:rPr>
              <a:t>指令：        </a:t>
            </a:r>
            <a:r>
              <a:rPr lang="en-US" altLang="zh-CN" sz="2000" b="0" dirty="0">
                <a:solidFill>
                  <a:srgbClr val="000000"/>
                </a:solidFill>
              </a:rPr>
              <a:t>INC  OPR  </a:t>
            </a:r>
            <a:endParaRPr lang="en-US" altLang="zh-CN" sz="2000" b="0" dirty="0">
              <a:solidFill>
                <a:srgbClr val="000000"/>
              </a:solidFill>
            </a:endParaRPr>
          </a:p>
          <a:p>
            <a:pPr algn="just" eaLnBrk="0" hangingPunct="0"/>
            <a:r>
              <a:rPr lang="en-US" altLang="zh-CN" sz="2000" b="0" dirty="0">
                <a:solidFill>
                  <a:srgbClr val="000000"/>
                </a:solidFill>
              </a:rPr>
              <a:t>     </a:t>
            </a:r>
            <a:r>
              <a:rPr lang="zh-CN" altLang="en-US" sz="2000" b="0" dirty="0">
                <a:solidFill>
                  <a:srgbClr val="000000"/>
                </a:solidFill>
              </a:rPr>
              <a:t>执行操作：      </a:t>
            </a:r>
            <a:r>
              <a:rPr lang="en-US" altLang="zh-CN" sz="2000" b="0" dirty="0">
                <a:solidFill>
                  <a:srgbClr val="000000"/>
                </a:solidFill>
              </a:rPr>
              <a:t>(OPR)  </a:t>
            </a:r>
            <a:r>
              <a:rPr lang="en-US" altLang="zh-CN" sz="2000" b="0" dirty="0">
                <a:solidFill>
                  <a:srgbClr val="000000"/>
                </a:solidFill>
                <a:sym typeface="Symbol" panose="05050102010706020507" pitchFamily="18" charset="2"/>
              </a:rPr>
              <a:t></a:t>
            </a:r>
            <a:r>
              <a:rPr lang="en-US" altLang="zh-CN" sz="2000" b="0" dirty="0">
                <a:solidFill>
                  <a:srgbClr val="000000"/>
                </a:solidFill>
              </a:rPr>
              <a:t>  (OPR) + 1</a:t>
            </a:r>
            <a:endParaRPr lang="en-US" altLang="zh-CN" sz="2000" b="0" dirty="0">
              <a:solidFill>
                <a:srgbClr val="000000"/>
              </a:solidFill>
            </a:endParaRPr>
          </a:p>
          <a:p>
            <a:pPr algn="just" eaLnBrk="0" hangingPunct="0"/>
            <a:endParaRPr lang="en-US" altLang="zh-CN" sz="2000" b="0" dirty="0">
              <a:solidFill>
                <a:srgbClr val="000000"/>
              </a:solidFill>
            </a:endParaRPr>
          </a:p>
          <a:p>
            <a:pPr eaLnBrk="0" hangingPunct="0">
              <a:lnSpc>
                <a:spcPct val="140000"/>
              </a:lnSpc>
            </a:pPr>
            <a:r>
              <a:rPr lang="zh-CN" altLang="en-US" sz="2000" b="0" dirty="0">
                <a:solidFill>
                  <a:srgbClr val="000000"/>
                </a:solidFill>
                <a:ea typeface="楷体_GB2312" pitchFamily="49" charset="-122"/>
              </a:rPr>
              <a:t>注意</a:t>
            </a:r>
            <a:r>
              <a:rPr lang="en-US" altLang="zh-CN" sz="2000" b="0" dirty="0">
                <a:solidFill>
                  <a:srgbClr val="000000"/>
                </a:solidFill>
                <a:ea typeface="楷体_GB2312" pitchFamily="49" charset="-122"/>
              </a:rPr>
              <a:t>:             </a:t>
            </a:r>
            <a:endParaRPr lang="en-US" altLang="zh-CN" sz="2000" b="0" dirty="0">
              <a:solidFill>
                <a:srgbClr val="000000"/>
              </a:solidFill>
              <a:ea typeface="楷体_GB2312" pitchFamily="49" charset="-122"/>
            </a:endParaRPr>
          </a:p>
          <a:p>
            <a:pPr eaLnBrk="0" hangingPunct="0">
              <a:lnSpc>
                <a:spcPct val="140000"/>
              </a:lnSpc>
            </a:pPr>
            <a:r>
              <a:rPr lang="zh-CN" altLang="zh-CN" sz="2000" b="0" dirty="0">
                <a:solidFill>
                  <a:srgbClr val="000000"/>
                </a:solidFill>
                <a:ea typeface="楷体_GB2312" pitchFamily="49" charset="-122"/>
                <a:sym typeface="Symbol" panose="05050102010706020507" pitchFamily="18" charset="2"/>
              </a:rPr>
              <a:t>   *  除INC指令</a:t>
            </a:r>
            <a:r>
              <a:rPr lang="zh-CN" altLang="en-US" sz="2000" b="0" dirty="0">
                <a:solidFill>
                  <a:srgbClr val="000000"/>
                </a:solidFill>
                <a:ea typeface="楷体_GB2312" pitchFamily="49" charset="-122"/>
                <a:sym typeface="Symbol" panose="05050102010706020507" pitchFamily="18" charset="2"/>
              </a:rPr>
              <a:t>不影响</a:t>
            </a:r>
            <a:r>
              <a:rPr lang="en-US" altLang="zh-CN" sz="2000" b="0" dirty="0">
                <a:solidFill>
                  <a:srgbClr val="000000"/>
                </a:solidFill>
                <a:ea typeface="楷体_GB2312" pitchFamily="49" charset="-122"/>
                <a:sym typeface="Symbol" panose="05050102010706020507" pitchFamily="18" charset="2"/>
              </a:rPr>
              <a:t>CF</a:t>
            </a:r>
            <a:r>
              <a:rPr lang="zh-CN" altLang="en-US" sz="2000" b="0" dirty="0">
                <a:solidFill>
                  <a:srgbClr val="000000"/>
                </a:solidFill>
                <a:ea typeface="楷体_GB2312" pitchFamily="49" charset="-122"/>
                <a:sym typeface="Symbol" panose="05050102010706020507" pitchFamily="18" charset="2"/>
              </a:rPr>
              <a:t>标志外，</a:t>
            </a:r>
            <a:r>
              <a:rPr lang="en-US" altLang="zh-CN" sz="2000" b="0" dirty="0">
                <a:solidFill>
                  <a:srgbClr val="000000"/>
                </a:solidFill>
                <a:ea typeface="楷体_GB2312" pitchFamily="49" charset="-122"/>
                <a:sym typeface="Symbol" panose="05050102010706020507" pitchFamily="18" charset="2"/>
              </a:rPr>
              <a:t>ADD</a:t>
            </a:r>
            <a:r>
              <a:rPr lang="zh-CN" altLang="en-US" sz="2000" b="0" dirty="0">
                <a:solidFill>
                  <a:srgbClr val="000000"/>
                </a:solidFill>
                <a:ea typeface="楷体_GB2312" pitchFamily="49" charset="-122"/>
                <a:sym typeface="Symbol" panose="05050102010706020507" pitchFamily="18" charset="2"/>
              </a:rPr>
              <a:t>、</a:t>
            </a:r>
            <a:r>
              <a:rPr lang="en-US" altLang="zh-CN" sz="2000" b="0" dirty="0">
                <a:solidFill>
                  <a:srgbClr val="000000"/>
                </a:solidFill>
                <a:ea typeface="楷体_GB2312" pitchFamily="49" charset="-122"/>
                <a:sym typeface="Symbol" panose="05050102010706020507" pitchFamily="18" charset="2"/>
              </a:rPr>
              <a:t>ADC</a:t>
            </a:r>
            <a:r>
              <a:rPr lang="zh-CN" altLang="en-US" sz="2000" b="0" dirty="0">
                <a:solidFill>
                  <a:srgbClr val="000000"/>
                </a:solidFill>
                <a:ea typeface="楷体_GB2312" pitchFamily="49" charset="-122"/>
                <a:sym typeface="Symbol" panose="05050102010706020507" pitchFamily="18" charset="2"/>
              </a:rPr>
              <a:t>均对条件标志位有影响。</a:t>
            </a:r>
            <a:endParaRPr lang="en-US" altLang="zh-CN" sz="2000" b="0" dirty="0">
              <a:solidFill>
                <a:srgbClr val="000000"/>
              </a:solidFill>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文本框 49153"/>
          <p:cNvSpPr txBox="1"/>
          <p:nvPr/>
        </p:nvSpPr>
        <p:spPr>
          <a:xfrm>
            <a:off x="539552" y="951579"/>
            <a:ext cx="8064896" cy="430887"/>
          </a:xfrm>
          <a:prstGeom prst="rect">
            <a:avLst/>
          </a:prstGeom>
          <a:noFill/>
          <a:ln w="12700">
            <a:noFill/>
          </a:ln>
        </p:spPr>
        <p:txBody>
          <a:bodyPr wrap="square">
            <a:spAutoFit/>
          </a:bodyPr>
          <a:lstStyle/>
          <a:p>
            <a:pPr>
              <a:spcBef>
                <a:spcPct val="50000"/>
              </a:spcBef>
            </a:pPr>
            <a:r>
              <a:rPr lang="zh-CN" altLang="en-US" sz="2200" b="0" dirty="0">
                <a:solidFill>
                  <a:srgbClr val="000000"/>
                </a:solidFill>
                <a:latin typeface="Times New Roman" panose="02020603050405020304" pitchFamily="18" charset="0"/>
              </a:rPr>
              <a:t>举例</a:t>
            </a:r>
            <a:r>
              <a:rPr lang="zh-CN" altLang="zh-CN" sz="2200" b="0" dirty="0">
                <a:solidFill>
                  <a:srgbClr val="000000"/>
                </a:solidFill>
                <a:latin typeface="Times New Roman" panose="02020603050405020304" pitchFamily="18" charset="0"/>
              </a:rPr>
              <a:t>: </a:t>
            </a:r>
            <a:r>
              <a:rPr lang="zh-CN" altLang="en-US" sz="2200" b="0" dirty="0">
                <a:solidFill>
                  <a:srgbClr val="000000"/>
                </a:solidFill>
                <a:latin typeface="Times New Roman" panose="02020603050405020304" pitchFamily="18" charset="0"/>
              </a:rPr>
              <a:t>字节相加，</a:t>
            </a:r>
            <a:r>
              <a:rPr lang="zh-CN" altLang="zh-CN" sz="2200" b="0" dirty="0">
                <a:solidFill>
                  <a:srgbClr val="000000"/>
                </a:solidFill>
                <a:latin typeface="Times New Roman" panose="02020603050405020304" pitchFamily="18" charset="0"/>
              </a:rPr>
              <a:t>n=8 bit</a:t>
            </a:r>
            <a:r>
              <a:rPr lang="zh-CN" altLang="en-US" sz="2200" b="0" dirty="0">
                <a:solidFill>
                  <a:srgbClr val="000000"/>
                </a:solidFill>
                <a:latin typeface="Times New Roman" panose="02020603050405020304" pitchFamily="18" charset="0"/>
              </a:rPr>
              <a:t>，</a:t>
            </a:r>
            <a:r>
              <a:rPr lang="zh-CN" altLang="zh-CN" sz="2200" b="0" dirty="0">
                <a:solidFill>
                  <a:srgbClr val="000000"/>
                </a:solidFill>
                <a:latin typeface="Times New Roman" panose="02020603050405020304" pitchFamily="18" charset="0"/>
              </a:rPr>
              <a:t>带符号数</a:t>
            </a:r>
            <a:r>
              <a:rPr lang="en-US" altLang="zh-CN" sz="2200" b="0" dirty="0">
                <a:solidFill>
                  <a:srgbClr val="000000"/>
                </a:solidFill>
                <a:latin typeface="Times New Roman" panose="02020603050405020304" pitchFamily="18" charset="0"/>
              </a:rPr>
              <a:t>(-128~127), </a:t>
            </a:r>
            <a:r>
              <a:rPr lang="zh-CN" altLang="en-US" sz="2200" b="0" dirty="0">
                <a:solidFill>
                  <a:srgbClr val="000000"/>
                </a:solidFill>
                <a:latin typeface="Times New Roman" panose="02020603050405020304" pitchFamily="18" charset="0"/>
              </a:rPr>
              <a:t>无符号数</a:t>
            </a:r>
            <a:r>
              <a:rPr lang="en-US" altLang="zh-CN" sz="2200" b="0" dirty="0">
                <a:solidFill>
                  <a:srgbClr val="000000"/>
                </a:solidFill>
                <a:latin typeface="Times New Roman" panose="02020603050405020304" pitchFamily="18" charset="0"/>
              </a:rPr>
              <a:t>(0~255)</a:t>
            </a:r>
            <a:endParaRPr lang="en-US" altLang="zh-CN" sz="2200" b="0" dirty="0">
              <a:solidFill>
                <a:srgbClr val="000000"/>
              </a:solidFill>
              <a:latin typeface="Times New Roman" panose="02020603050405020304" pitchFamily="18" charset="0"/>
            </a:endParaRPr>
          </a:p>
        </p:txBody>
      </p:sp>
      <p:grpSp>
        <p:nvGrpSpPr>
          <p:cNvPr id="2" name="组合 1"/>
          <p:cNvGrpSpPr/>
          <p:nvPr/>
        </p:nvGrpSpPr>
        <p:grpSpPr>
          <a:xfrm>
            <a:off x="647564" y="1476077"/>
            <a:ext cx="3686808" cy="2454275"/>
            <a:chOff x="647564" y="1476077"/>
            <a:chExt cx="3686808" cy="2454275"/>
          </a:xfrm>
        </p:grpSpPr>
        <p:sp>
          <p:nvSpPr>
            <p:cNvPr id="49155" name="矩形 49154"/>
            <p:cNvSpPr/>
            <p:nvPr/>
          </p:nvSpPr>
          <p:spPr>
            <a:xfrm>
              <a:off x="719572" y="1645940"/>
              <a:ext cx="3429000" cy="1808162"/>
            </a:xfrm>
            <a:prstGeom prst="rect">
              <a:avLst/>
            </a:prstGeom>
            <a:noFill/>
            <a:ln w="12700">
              <a:noFill/>
            </a:ln>
          </p:spPr>
          <p:txBody>
            <a:bodyPr>
              <a:spAutoFit/>
            </a:bodyPr>
            <a:lstStyle/>
            <a:p>
              <a:pPr>
                <a:lnSpc>
                  <a:spcPct val="70000"/>
                </a:lnSpc>
                <a:spcBef>
                  <a:spcPct val="50000"/>
                </a:spcBef>
              </a:pPr>
              <a:r>
                <a:rPr lang="en-US" altLang="zh-CN" b="1" dirty="0">
                  <a:solidFill>
                    <a:srgbClr val="000000"/>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0 0 0 0   0 1 0 0</a:t>
              </a:r>
              <a:endParaRPr lang="en-US" altLang="zh-CN" sz="2000" b="1" dirty="0">
                <a:solidFill>
                  <a:srgbClr val="000000"/>
                </a:solidFill>
                <a:latin typeface="Times New Roman" panose="02020603050405020304" pitchFamily="18" charset="0"/>
              </a:endParaRPr>
            </a:p>
            <a:p>
              <a:pPr>
                <a:lnSpc>
                  <a:spcPct val="70000"/>
                </a:lnSpc>
                <a:spcBef>
                  <a:spcPct val="50000"/>
                </a:spcBef>
              </a:pPr>
              <a:r>
                <a:rPr lang="en-US" altLang="zh-CN" sz="2000" b="1" dirty="0">
                  <a:solidFill>
                    <a:srgbClr val="000000"/>
                  </a:solidFill>
                  <a:latin typeface="Times New Roman" panose="02020603050405020304" pitchFamily="18" charset="0"/>
                </a:rPr>
                <a:t>        +  0 0 0 0   1 0 1 1</a:t>
              </a:r>
              <a:endParaRPr lang="en-US" altLang="zh-CN" sz="2000" b="1" dirty="0">
                <a:solidFill>
                  <a:srgbClr val="000000"/>
                </a:solidFill>
                <a:latin typeface="Times New Roman" panose="02020603050405020304" pitchFamily="18" charset="0"/>
              </a:endParaRPr>
            </a:p>
            <a:p>
              <a:pPr>
                <a:lnSpc>
                  <a:spcPct val="70000"/>
                </a:lnSpc>
                <a:spcBef>
                  <a:spcPct val="50000"/>
                </a:spcBef>
              </a:pPr>
              <a:r>
                <a:rPr lang="en-US" altLang="zh-CN" sz="2000" b="1" dirty="0">
                  <a:solidFill>
                    <a:srgbClr val="000000"/>
                  </a:solidFill>
                  <a:latin typeface="Times New Roman" panose="02020603050405020304" pitchFamily="18" charset="0"/>
                </a:rPr>
                <a:t>            0 0 0 0   1 1 1 1</a:t>
              </a:r>
              <a:endParaRPr lang="en-US" altLang="zh-CN" sz="2000" b="1" dirty="0">
                <a:solidFill>
                  <a:srgbClr val="000000"/>
                </a:solidFill>
                <a:latin typeface="Times New Roman" panose="02020603050405020304" pitchFamily="18" charset="0"/>
              </a:endParaRPr>
            </a:p>
            <a:p>
              <a:pPr>
                <a:lnSpc>
                  <a:spcPct val="70000"/>
                </a:lnSpc>
                <a:spcBef>
                  <a:spcPct val="50000"/>
                </a:spcBef>
              </a:pPr>
              <a:r>
                <a:rPr lang="zh-CN" altLang="en-US" sz="2000" b="1" dirty="0">
                  <a:solidFill>
                    <a:srgbClr val="000000"/>
                  </a:solidFill>
                  <a:latin typeface="Times New Roman" panose="02020603050405020304" pitchFamily="18" charset="0"/>
                </a:rPr>
                <a:t>带：</a:t>
              </a:r>
              <a:r>
                <a:rPr lang="en-US" altLang="zh-CN" sz="2000" b="1" dirty="0">
                  <a:solidFill>
                    <a:srgbClr val="000000"/>
                  </a:solidFill>
                  <a:latin typeface="Times New Roman" panose="02020603050405020304" pitchFamily="18" charset="0"/>
                </a:rPr>
                <a:t>(+4)+(+11)=+15    OF=0</a:t>
              </a:r>
              <a:endParaRPr lang="en-US" altLang="zh-CN" sz="2000" b="1" dirty="0">
                <a:solidFill>
                  <a:srgbClr val="000000"/>
                </a:solidFill>
                <a:latin typeface="Times New Roman" panose="02020603050405020304" pitchFamily="18" charset="0"/>
              </a:endParaRPr>
            </a:p>
            <a:p>
              <a:pPr>
                <a:lnSpc>
                  <a:spcPct val="70000"/>
                </a:lnSpc>
                <a:spcBef>
                  <a:spcPct val="50000"/>
                </a:spcBef>
              </a:pPr>
              <a:r>
                <a:rPr lang="zh-CN" altLang="en-US" sz="2000" b="1" dirty="0">
                  <a:solidFill>
                    <a:srgbClr val="000000"/>
                  </a:solidFill>
                  <a:latin typeface="Times New Roman" panose="02020603050405020304" pitchFamily="18" charset="0"/>
                </a:rPr>
                <a:t>无：</a:t>
              </a:r>
              <a:r>
                <a:rPr lang="en-US" altLang="zh-CN" sz="2000" b="1" dirty="0">
                  <a:solidFill>
                    <a:srgbClr val="000000"/>
                  </a:solidFill>
                  <a:latin typeface="Times New Roman" panose="02020603050405020304" pitchFamily="18" charset="0"/>
                </a:rPr>
                <a:t>4+11=15                CF=0</a:t>
              </a:r>
              <a:endParaRPr lang="en-US" altLang="zh-CN" sz="2000" b="1" dirty="0">
                <a:solidFill>
                  <a:srgbClr val="000000"/>
                </a:solidFill>
                <a:latin typeface="Times New Roman" panose="02020603050405020304" pitchFamily="18" charset="0"/>
              </a:endParaRPr>
            </a:p>
          </p:txBody>
        </p:sp>
        <p:sp>
          <p:nvSpPr>
            <p:cNvPr id="49156" name="直接连接符 49155"/>
            <p:cNvSpPr/>
            <p:nvPr/>
          </p:nvSpPr>
          <p:spPr>
            <a:xfrm>
              <a:off x="1284784" y="2390477"/>
              <a:ext cx="2362200" cy="0"/>
            </a:xfrm>
            <a:prstGeom prst="line">
              <a:avLst/>
            </a:prstGeom>
            <a:ln w="12700" cap="sq" cmpd="sng">
              <a:solidFill>
                <a:schemeClr val="bg2"/>
              </a:solidFill>
              <a:prstDash val="solid"/>
              <a:headEnd type="none" w="sm" len="sm"/>
              <a:tailEnd type="none" w="sm" len="sm"/>
            </a:ln>
          </p:spPr>
        </p:sp>
        <p:sp>
          <p:nvSpPr>
            <p:cNvPr id="49157" name="矩形 49156"/>
            <p:cNvSpPr/>
            <p:nvPr/>
          </p:nvSpPr>
          <p:spPr>
            <a:xfrm>
              <a:off x="647564" y="1476077"/>
              <a:ext cx="3685220" cy="2057400"/>
            </a:xfrm>
            <a:prstGeom prst="rect">
              <a:avLst/>
            </a:prstGeom>
            <a:noFill/>
            <a:ln w="12700" cap="flat" cmpd="sng">
              <a:solidFill>
                <a:schemeClr val="hlink"/>
              </a:solidFill>
              <a:prstDash val="dash"/>
              <a:miter/>
              <a:headEnd type="none" w="sm" len="sm"/>
              <a:tailEnd type="none" w="sm" len="sm"/>
            </a:ln>
          </p:spPr>
          <p:txBody>
            <a:bodyPr/>
            <a:lstStyle/>
            <a:p>
              <a:endParaRPr lang="zh-CN" altLang="en-US"/>
            </a:p>
          </p:txBody>
        </p:sp>
        <p:sp>
          <p:nvSpPr>
            <p:cNvPr id="49158" name="矩形 49157"/>
            <p:cNvSpPr/>
            <p:nvPr/>
          </p:nvSpPr>
          <p:spPr>
            <a:xfrm>
              <a:off x="827584" y="3533477"/>
              <a:ext cx="3506788" cy="396875"/>
            </a:xfrm>
            <a:prstGeom prst="rect">
              <a:avLst/>
            </a:prstGeom>
            <a:noFill/>
            <a:ln w="12700">
              <a:noFill/>
            </a:ln>
          </p:spPr>
          <p:txBody>
            <a:bodyPr wrap="none" anchor="t">
              <a:spAutoFit/>
            </a:bodyPr>
            <a:lstStyle/>
            <a:p>
              <a:r>
                <a:rPr lang="zh-CN" altLang="en-US" sz="2000" b="1" dirty="0">
                  <a:solidFill>
                    <a:srgbClr val="000000"/>
                  </a:solidFill>
                  <a:latin typeface="Times New Roman" panose="02020603050405020304" pitchFamily="18" charset="0"/>
                  <a:ea typeface="楷体_GB2312" pitchFamily="49" charset="-122"/>
                </a:rPr>
                <a:t>带符号数和无符号数都不溢出</a:t>
              </a:r>
              <a:endParaRPr lang="zh-CN" altLang="en-US" sz="2000" b="1" dirty="0">
                <a:solidFill>
                  <a:srgbClr val="000000"/>
                </a:solidFill>
                <a:latin typeface="Times New Roman" panose="02020603050405020304" pitchFamily="18" charset="0"/>
                <a:ea typeface="楷体_GB2312" pitchFamily="49" charset="-122"/>
              </a:endParaRPr>
            </a:p>
          </p:txBody>
        </p:sp>
      </p:grpSp>
      <p:grpSp>
        <p:nvGrpSpPr>
          <p:cNvPr id="4" name="组合 3"/>
          <p:cNvGrpSpPr/>
          <p:nvPr/>
        </p:nvGrpSpPr>
        <p:grpSpPr>
          <a:xfrm>
            <a:off x="4713784" y="4329100"/>
            <a:ext cx="3746648" cy="2378075"/>
            <a:chOff x="4713784" y="4329100"/>
            <a:chExt cx="3746648" cy="2378075"/>
          </a:xfrm>
        </p:grpSpPr>
        <p:sp>
          <p:nvSpPr>
            <p:cNvPr id="49159" name="直接连接符 49158"/>
            <p:cNvSpPr/>
            <p:nvPr/>
          </p:nvSpPr>
          <p:spPr>
            <a:xfrm>
              <a:off x="5094784" y="5014987"/>
              <a:ext cx="2362200" cy="0"/>
            </a:xfrm>
            <a:prstGeom prst="line">
              <a:avLst/>
            </a:prstGeom>
            <a:ln w="12700" cap="sq" cmpd="sng">
              <a:solidFill>
                <a:schemeClr val="bg2"/>
              </a:solidFill>
              <a:prstDash val="solid"/>
              <a:headEnd type="none" w="sm" len="sm"/>
              <a:tailEnd type="none" w="sm" len="sm"/>
            </a:ln>
          </p:spPr>
        </p:sp>
        <p:sp>
          <p:nvSpPr>
            <p:cNvPr id="49160" name="矩形 49159"/>
            <p:cNvSpPr/>
            <p:nvPr/>
          </p:nvSpPr>
          <p:spPr>
            <a:xfrm>
              <a:off x="4713784" y="4329100"/>
              <a:ext cx="3746648" cy="2057400"/>
            </a:xfrm>
            <a:prstGeom prst="rect">
              <a:avLst/>
            </a:prstGeom>
            <a:noFill/>
            <a:ln w="12700" cap="flat" cmpd="sng">
              <a:solidFill>
                <a:schemeClr val="hlink"/>
              </a:solidFill>
              <a:prstDash val="dash"/>
              <a:miter/>
              <a:headEnd type="none" w="sm" len="sm"/>
              <a:tailEnd type="none" w="sm" len="sm"/>
            </a:ln>
          </p:spPr>
          <p:txBody>
            <a:bodyPr/>
            <a:lstStyle/>
            <a:p>
              <a:endParaRPr lang="zh-CN" altLang="en-US"/>
            </a:p>
          </p:txBody>
        </p:sp>
        <p:sp>
          <p:nvSpPr>
            <p:cNvPr id="49161" name="矩形 49160"/>
            <p:cNvSpPr/>
            <p:nvPr/>
          </p:nvSpPr>
          <p:spPr>
            <a:xfrm>
              <a:off x="4713784" y="4405300"/>
              <a:ext cx="3581400" cy="1948226"/>
            </a:xfrm>
            <a:prstGeom prst="rect">
              <a:avLst/>
            </a:prstGeom>
            <a:noFill/>
            <a:ln w="12700">
              <a:noFill/>
            </a:ln>
          </p:spPr>
          <p:txBody>
            <a:bodyPr wrap="square">
              <a:spAutoFit/>
            </a:bodyPr>
            <a:lstStyle/>
            <a:p>
              <a:pPr>
                <a:lnSpc>
                  <a:spcPct val="70000"/>
                </a:lnSpc>
                <a:spcBef>
                  <a:spcPct val="50000"/>
                </a:spcBef>
              </a:pPr>
              <a:r>
                <a:rPr lang="en-US" altLang="zh-CN" sz="1800" b="1" dirty="0">
                  <a:solidFill>
                    <a:srgbClr val="000000"/>
                  </a:solidFill>
                </a:rPr>
                <a:t>            0 0 0 0   1 0 0 1 </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  0 1 1 1   1 1 0 0</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1 0 0 0   0 1 0 1</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a:t>
              </a:r>
              <a:r>
                <a:rPr lang="zh-CN" altLang="en-US" sz="1800" b="1" dirty="0">
                  <a:solidFill>
                    <a:srgbClr val="000000"/>
                  </a:solidFill>
                </a:rPr>
                <a:t>带</a:t>
              </a:r>
              <a:r>
                <a:rPr lang="en-US" altLang="zh-CN" sz="1800" b="1" dirty="0">
                  <a:solidFill>
                    <a:srgbClr val="000000"/>
                  </a:solidFill>
                </a:rPr>
                <a:t>:  (+9)+(+124)=133</a:t>
              </a:r>
              <a:endParaRPr lang="en-US" altLang="zh-CN" sz="1800" b="1" dirty="0">
                <a:solidFill>
                  <a:srgbClr val="000000"/>
                </a:solidFill>
              </a:endParaRPr>
            </a:p>
            <a:p>
              <a:pPr>
                <a:lnSpc>
                  <a:spcPct val="70000"/>
                </a:lnSpc>
                <a:spcBef>
                  <a:spcPct val="50000"/>
                </a:spcBef>
              </a:pPr>
              <a:r>
                <a:rPr lang="en-US" altLang="zh-CN" sz="1800" dirty="0">
                  <a:solidFill>
                    <a:srgbClr val="000000"/>
                  </a:solidFill>
                </a:rPr>
                <a:t>	</a:t>
              </a:r>
              <a:r>
                <a:rPr lang="zh-CN" altLang="en-US" sz="1800" b="1" dirty="0">
                  <a:solidFill>
                    <a:srgbClr val="000000"/>
                  </a:solidFill>
                </a:rPr>
                <a:t>现为：</a:t>
              </a:r>
              <a:r>
                <a:rPr lang="en-US" altLang="zh-CN" sz="1800" b="1" dirty="0">
                  <a:solidFill>
                    <a:srgbClr val="000000"/>
                  </a:solidFill>
                </a:rPr>
                <a:t>-123      OF=1</a:t>
              </a:r>
              <a:r>
                <a:rPr lang="zh-CN" altLang="en-US" sz="1800" dirty="0">
                  <a:solidFill>
                    <a:srgbClr val="FF3300"/>
                  </a:solidFill>
                </a:rPr>
                <a:t> ？</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a:t>
              </a:r>
              <a:r>
                <a:rPr lang="zh-CN" altLang="en-US" sz="1800" b="1" dirty="0">
                  <a:solidFill>
                    <a:srgbClr val="000000"/>
                  </a:solidFill>
                </a:rPr>
                <a:t>无</a:t>
              </a:r>
              <a:r>
                <a:rPr lang="en-US" altLang="zh-CN" sz="1800" b="1" dirty="0">
                  <a:solidFill>
                    <a:srgbClr val="000000"/>
                  </a:solidFill>
                </a:rPr>
                <a:t>:  9+124=133               CF=0</a:t>
              </a:r>
              <a:endParaRPr lang="en-US" altLang="zh-CN" sz="1800" b="1" dirty="0">
                <a:solidFill>
                  <a:srgbClr val="000000"/>
                </a:solidFill>
              </a:endParaRPr>
            </a:p>
          </p:txBody>
        </p:sp>
        <p:sp>
          <p:nvSpPr>
            <p:cNvPr id="49162" name="矩形 49161"/>
            <p:cNvSpPr/>
            <p:nvPr/>
          </p:nvSpPr>
          <p:spPr>
            <a:xfrm>
              <a:off x="5551984" y="6310300"/>
              <a:ext cx="1717675" cy="396875"/>
            </a:xfrm>
            <a:prstGeom prst="rect">
              <a:avLst/>
            </a:prstGeom>
            <a:noFill/>
            <a:ln w="12700">
              <a:noFill/>
            </a:ln>
          </p:spPr>
          <p:txBody>
            <a:bodyPr wrap="none" anchor="t">
              <a:spAutoFit/>
            </a:bodyPr>
            <a:lstStyle/>
            <a:p>
              <a:r>
                <a:rPr lang="zh-CN" altLang="en-US" sz="2000" b="1" dirty="0">
                  <a:solidFill>
                    <a:srgbClr val="000000"/>
                  </a:solidFill>
                  <a:latin typeface="Times New Roman" panose="02020603050405020304" pitchFamily="18" charset="0"/>
                  <a:ea typeface="楷体_GB2312" pitchFamily="49" charset="-122"/>
                </a:rPr>
                <a:t>带符号数溢出</a:t>
              </a:r>
              <a:endParaRPr lang="zh-CN" altLang="en-US" sz="2000" b="1" dirty="0">
                <a:solidFill>
                  <a:srgbClr val="000000"/>
                </a:solidFill>
                <a:latin typeface="Times New Roman" panose="02020603050405020304" pitchFamily="18" charset="0"/>
                <a:ea typeface="楷体_GB2312" pitchFamily="49" charset="-122"/>
              </a:endParaRPr>
            </a:p>
          </p:txBody>
        </p:sp>
      </p:grpSp>
      <p:grpSp>
        <p:nvGrpSpPr>
          <p:cNvPr id="5" name="组合 4"/>
          <p:cNvGrpSpPr/>
          <p:nvPr/>
        </p:nvGrpSpPr>
        <p:grpSpPr>
          <a:xfrm>
            <a:off x="647564" y="4219277"/>
            <a:ext cx="3685220" cy="2378075"/>
            <a:chOff x="647564" y="4219277"/>
            <a:chExt cx="3685220" cy="2378075"/>
          </a:xfrm>
        </p:grpSpPr>
        <p:sp>
          <p:nvSpPr>
            <p:cNvPr id="49163" name="矩形 49162"/>
            <p:cNvSpPr/>
            <p:nvPr/>
          </p:nvSpPr>
          <p:spPr>
            <a:xfrm>
              <a:off x="1741984" y="6200477"/>
              <a:ext cx="1717675" cy="396875"/>
            </a:xfrm>
            <a:prstGeom prst="rect">
              <a:avLst/>
            </a:prstGeom>
            <a:noFill/>
            <a:ln w="12700">
              <a:noFill/>
            </a:ln>
          </p:spPr>
          <p:txBody>
            <a:bodyPr wrap="none" anchor="t">
              <a:spAutoFit/>
            </a:bodyPr>
            <a:lstStyle/>
            <a:p>
              <a:r>
                <a:rPr lang="zh-CN" altLang="en-US" sz="2000" b="1" dirty="0">
                  <a:solidFill>
                    <a:srgbClr val="000000"/>
                  </a:solidFill>
                  <a:latin typeface="Times New Roman" panose="02020603050405020304" pitchFamily="18" charset="0"/>
                  <a:ea typeface="楷体_GB2312" pitchFamily="49" charset="-122"/>
                </a:rPr>
                <a:t>无符号数溢出</a:t>
              </a:r>
              <a:endParaRPr lang="zh-CN" altLang="en-US" sz="2000" b="1" dirty="0">
                <a:solidFill>
                  <a:srgbClr val="000000"/>
                </a:solidFill>
                <a:latin typeface="Times New Roman" panose="02020603050405020304" pitchFamily="18" charset="0"/>
                <a:ea typeface="楷体_GB2312" pitchFamily="49" charset="-122"/>
              </a:endParaRPr>
            </a:p>
          </p:txBody>
        </p:sp>
        <p:sp>
          <p:nvSpPr>
            <p:cNvPr id="49164" name="直接连接符 49163"/>
            <p:cNvSpPr/>
            <p:nvPr/>
          </p:nvSpPr>
          <p:spPr>
            <a:xfrm>
              <a:off x="1259632" y="5017368"/>
              <a:ext cx="2362200" cy="0"/>
            </a:xfrm>
            <a:prstGeom prst="line">
              <a:avLst/>
            </a:prstGeom>
            <a:ln w="12700" cap="sq" cmpd="sng">
              <a:solidFill>
                <a:schemeClr val="bg2"/>
              </a:solidFill>
              <a:prstDash val="solid"/>
              <a:headEnd type="none" w="sm" len="sm"/>
              <a:tailEnd type="none" w="sm" len="sm"/>
            </a:ln>
          </p:spPr>
        </p:sp>
        <p:sp>
          <p:nvSpPr>
            <p:cNvPr id="49165" name="矩形 49164"/>
            <p:cNvSpPr/>
            <p:nvPr/>
          </p:nvSpPr>
          <p:spPr>
            <a:xfrm>
              <a:off x="647564" y="4219277"/>
              <a:ext cx="3685220" cy="2057400"/>
            </a:xfrm>
            <a:prstGeom prst="rect">
              <a:avLst/>
            </a:prstGeom>
            <a:noFill/>
            <a:ln w="12700" cap="flat" cmpd="sng">
              <a:solidFill>
                <a:schemeClr val="hlink"/>
              </a:solidFill>
              <a:prstDash val="dash"/>
              <a:miter/>
              <a:headEnd type="none" w="sm" len="sm"/>
              <a:tailEnd type="none" w="sm" len="sm"/>
            </a:ln>
          </p:spPr>
          <p:txBody>
            <a:bodyPr/>
            <a:lstStyle/>
            <a:p>
              <a:endParaRPr lang="zh-CN" altLang="en-US"/>
            </a:p>
          </p:txBody>
        </p:sp>
        <p:sp>
          <p:nvSpPr>
            <p:cNvPr id="49166" name="矩形 49165"/>
            <p:cNvSpPr/>
            <p:nvPr/>
          </p:nvSpPr>
          <p:spPr>
            <a:xfrm>
              <a:off x="795772" y="4371677"/>
              <a:ext cx="3276600" cy="1969770"/>
            </a:xfrm>
            <a:prstGeom prst="rect">
              <a:avLst/>
            </a:prstGeom>
            <a:noFill/>
            <a:ln w="12700">
              <a:noFill/>
            </a:ln>
          </p:spPr>
          <p:txBody>
            <a:bodyPr>
              <a:spAutoFit/>
            </a:bodyPr>
            <a:lstStyle/>
            <a:p>
              <a:pPr>
                <a:lnSpc>
                  <a:spcPct val="70000"/>
                </a:lnSpc>
                <a:spcBef>
                  <a:spcPct val="50000"/>
                </a:spcBef>
              </a:pPr>
              <a:r>
                <a:rPr lang="en-US" altLang="zh-CN" sz="2000" b="1" dirty="0">
                  <a:solidFill>
                    <a:srgbClr val="000000"/>
                  </a:solidFill>
                  <a:latin typeface="Times New Roman" panose="02020603050405020304" pitchFamily="18" charset="0"/>
                </a:rPr>
                <a:t>            </a:t>
              </a:r>
              <a:r>
                <a:rPr lang="en-US" altLang="zh-CN" sz="1800" b="1" dirty="0">
                  <a:solidFill>
                    <a:srgbClr val="000000"/>
                  </a:solidFill>
                </a:rPr>
                <a:t>0 0 0 0   0 1 1 1</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   1 1 1 1   1 0 1 1</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1   0 0 0 0   0 0 1 0</a:t>
              </a:r>
              <a:endParaRPr lang="en-US" altLang="zh-CN" sz="1800" b="1" dirty="0">
                <a:solidFill>
                  <a:srgbClr val="000000"/>
                </a:solidFill>
              </a:endParaRPr>
            </a:p>
            <a:p>
              <a:pPr>
                <a:lnSpc>
                  <a:spcPct val="70000"/>
                </a:lnSpc>
                <a:spcBef>
                  <a:spcPct val="50000"/>
                </a:spcBef>
              </a:pPr>
              <a:r>
                <a:rPr lang="zh-CN" altLang="en-US" sz="1800" b="1" dirty="0">
                  <a:solidFill>
                    <a:srgbClr val="000000"/>
                  </a:solidFill>
                </a:rPr>
                <a:t>带：</a:t>
              </a:r>
              <a:r>
                <a:rPr lang="en-US" altLang="zh-CN" sz="1800" b="1" dirty="0">
                  <a:solidFill>
                    <a:srgbClr val="000000"/>
                  </a:solidFill>
                </a:rPr>
                <a:t>(+7)+(-5)=+2    OF=0</a:t>
              </a:r>
              <a:endParaRPr lang="en-US" altLang="zh-CN" sz="1800" b="1" dirty="0">
                <a:solidFill>
                  <a:srgbClr val="000000"/>
                </a:solidFill>
              </a:endParaRPr>
            </a:p>
            <a:p>
              <a:pPr>
                <a:lnSpc>
                  <a:spcPct val="70000"/>
                </a:lnSpc>
                <a:spcBef>
                  <a:spcPct val="50000"/>
                </a:spcBef>
              </a:pPr>
              <a:r>
                <a:rPr lang="zh-CN" altLang="en-US" sz="1800" b="1" dirty="0">
                  <a:solidFill>
                    <a:srgbClr val="000000"/>
                  </a:solidFill>
                </a:rPr>
                <a:t>无：</a:t>
              </a:r>
              <a:r>
                <a:rPr lang="en-US" altLang="zh-CN" sz="1800" b="1" dirty="0">
                  <a:solidFill>
                    <a:srgbClr val="000000"/>
                  </a:solidFill>
                </a:rPr>
                <a:t>7+251=258</a:t>
              </a:r>
              <a:endParaRPr lang="en-US" altLang="zh-CN" sz="1800" b="1" dirty="0">
                <a:solidFill>
                  <a:srgbClr val="000000"/>
                </a:solidFill>
              </a:endParaRPr>
            </a:p>
            <a:p>
              <a:pPr>
                <a:lnSpc>
                  <a:spcPct val="70000"/>
                </a:lnSpc>
                <a:spcBef>
                  <a:spcPct val="50000"/>
                </a:spcBef>
              </a:pPr>
              <a:r>
                <a:rPr lang="en-US" altLang="zh-CN" sz="1800" dirty="0">
                  <a:solidFill>
                    <a:srgbClr val="000000"/>
                  </a:solidFill>
                </a:rPr>
                <a:t>	</a:t>
              </a:r>
              <a:r>
                <a:rPr lang="zh-CN" altLang="en-US" sz="1800" dirty="0">
                  <a:solidFill>
                    <a:srgbClr val="000000"/>
                  </a:solidFill>
                </a:rPr>
                <a:t>现为：</a:t>
              </a:r>
              <a:r>
                <a:rPr lang="en-US" altLang="zh-CN" sz="1800" dirty="0">
                  <a:solidFill>
                    <a:srgbClr val="000000"/>
                  </a:solidFill>
                </a:rPr>
                <a:t>2</a:t>
              </a:r>
              <a:r>
                <a:rPr lang="en-US" altLang="zh-CN" sz="1800" b="1" dirty="0">
                  <a:solidFill>
                    <a:srgbClr val="000000"/>
                  </a:solidFill>
                </a:rPr>
                <a:t>        CF=1   </a:t>
              </a:r>
              <a:r>
                <a:rPr lang="zh-CN" altLang="en-US" sz="1800" b="1" dirty="0">
                  <a:solidFill>
                    <a:srgbClr val="FF3300"/>
                  </a:solidFill>
                </a:rPr>
                <a:t>？</a:t>
              </a:r>
              <a:endParaRPr lang="en-US" altLang="zh-CN" sz="1800" b="1" dirty="0">
                <a:solidFill>
                  <a:srgbClr val="FF3300"/>
                </a:solidFill>
              </a:endParaRPr>
            </a:p>
          </p:txBody>
        </p:sp>
        <p:sp>
          <p:nvSpPr>
            <p:cNvPr id="49167" name="直接连接符 49166"/>
            <p:cNvSpPr/>
            <p:nvPr/>
          </p:nvSpPr>
          <p:spPr>
            <a:xfrm flipH="1">
              <a:off x="1564432" y="4941168"/>
              <a:ext cx="152400" cy="0"/>
            </a:xfrm>
            <a:prstGeom prst="line">
              <a:avLst/>
            </a:prstGeom>
            <a:ln w="12700" cap="sq" cmpd="sng">
              <a:solidFill>
                <a:schemeClr val="bg2"/>
              </a:solidFill>
              <a:prstDash val="solid"/>
              <a:headEnd type="none" w="sm" len="sm"/>
              <a:tailEnd type="triangle" w="sm" len="sm"/>
            </a:ln>
          </p:spPr>
        </p:sp>
      </p:grpSp>
      <p:grpSp>
        <p:nvGrpSpPr>
          <p:cNvPr id="3" name="组合 2"/>
          <p:cNvGrpSpPr/>
          <p:nvPr/>
        </p:nvGrpSpPr>
        <p:grpSpPr>
          <a:xfrm>
            <a:off x="4637584" y="1476076"/>
            <a:ext cx="3822848" cy="2817851"/>
            <a:chOff x="4637584" y="1476076"/>
            <a:chExt cx="3822848" cy="2817851"/>
          </a:xfrm>
        </p:grpSpPr>
        <p:sp>
          <p:nvSpPr>
            <p:cNvPr id="49168" name="矩形 49167"/>
            <p:cNvSpPr/>
            <p:nvPr/>
          </p:nvSpPr>
          <p:spPr>
            <a:xfrm>
              <a:off x="4849192" y="3897052"/>
              <a:ext cx="3251200" cy="396875"/>
            </a:xfrm>
            <a:prstGeom prst="rect">
              <a:avLst/>
            </a:prstGeom>
            <a:noFill/>
            <a:ln w="12700">
              <a:noFill/>
            </a:ln>
          </p:spPr>
          <p:txBody>
            <a:bodyPr wrap="none" anchor="t">
              <a:spAutoFit/>
            </a:bodyPr>
            <a:lstStyle/>
            <a:p>
              <a:r>
                <a:rPr lang="zh-CN" altLang="en-US" sz="2000" b="1" dirty="0">
                  <a:solidFill>
                    <a:srgbClr val="000000"/>
                  </a:solidFill>
                  <a:latin typeface="Times New Roman" panose="02020603050405020304" pitchFamily="18" charset="0"/>
                  <a:ea typeface="楷体_GB2312" pitchFamily="49" charset="-122"/>
                </a:rPr>
                <a:t>带符号数和无符号数都溢出</a:t>
              </a:r>
              <a:endParaRPr lang="zh-CN" altLang="en-US" sz="2000" b="1" dirty="0">
                <a:solidFill>
                  <a:srgbClr val="000000"/>
                </a:solidFill>
                <a:latin typeface="Times New Roman" panose="02020603050405020304" pitchFamily="18" charset="0"/>
                <a:ea typeface="楷体_GB2312" pitchFamily="49" charset="-122"/>
              </a:endParaRPr>
            </a:p>
          </p:txBody>
        </p:sp>
        <p:sp>
          <p:nvSpPr>
            <p:cNvPr id="49169" name="直接连接符 49168"/>
            <p:cNvSpPr/>
            <p:nvPr/>
          </p:nvSpPr>
          <p:spPr>
            <a:xfrm>
              <a:off x="5094784" y="2317068"/>
              <a:ext cx="2362200" cy="0"/>
            </a:xfrm>
            <a:prstGeom prst="line">
              <a:avLst/>
            </a:prstGeom>
            <a:ln w="12700" cap="sq" cmpd="sng">
              <a:solidFill>
                <a:schemeClr val="bg2"/>
              </a:solidFill>
              <a:prstDash val="solid"/>
              <a:headEnd type="none" w="sm" len="sm"/>
              <a:tailEnd type="none" w="sm" len="sm"/>
            </a:ln>
          </p:spPr>
        </p:sp>
        <p:sp>
          <p:nvSpPr>
            <p:cNvPr id="49170" name="矩形 49169"/>
            <p:cNvSpPr/>
            <p:nvPr/>
          </p:nvSpPr>
          <p:spPr>
            <a:xfrm>
              <a:off x="4713784" y="1476076"/>
              <a:ext cx="3746648" cy="2454275"/>
            </a:xfrm>
            <a:prstGeom prst="rect">
              <a:avLst/>
            </a:prstGeom>
            <a:noFill/>
            <a:ln w="12700" cap="flat" cmpd="sng">
              <a:solidFill>
                <a:schemeClr val="hlink"/>
              </a:solidFill>
              <a:prstDash val="dash"/>
              <a:miter/>
              <a:headEnd type="none" w="sm" len="sm"/>
              <a:tailEnd type="none" w="sm" len="sm"/>
            </a:ln>
          </p:spPr>
          <p:txBody>
            <a:bodyPr/>
            <a:lstStyle/>
            <a:p>
              <a:endParaRPr lang="zh-CN" altLang="en-US"/>
            </a:p>
          </p:txBody>
        </p:sp>
        <p:sp>
          <p:nvSpPr>
            <p:cNvPr id="49171" name="矩形 49170"/>
            <p:cNvSpPr/>
            <p:nvPr/>
          </p:nvSpPr>
          <p:spPr>
            <a:xfrm>
              <a:off x="4637584" y="1628477"/>
              <a:ext cx="3657600" cy="2302169"/>
            </a:xfrm>
            <a:prstGeom prst="rect">
              <a:avLst/>
            </a:prstGeom>
            <a:noFill/>
            <a:ln w="12700">
              <a:noFill/>
            </a:ln>
          </p:spPr>
          <p:txBody>
            <a:bodyPr>
              <a:spAutoFit/>
            </a:bodyPr>
            <a:lstStyle/>
            <a:p>
              <a:pPr>
                <a:lnSpc>
                  <a:spcPct val="70000"/>
                </a:lnSpc>
                <a:spcBef>
                  <a:spcPct val="50000"/>
                </a:spcBef>
              </a:pPr>
              <a:r>
                <a:rPr lang="en-US" altLang="zh-CN" sz="2000" b="1" dirty="0">
                  <a:solidFill>
                    <a:srgbClr val="000000"/>
                  </a:solidFill>
                  <a:latin typeface="Times New Roman" panose="02020603050405020304" pitchFamily="18" charset="0"/>
                </a:rPr>
                <a:t>           </a:t>
              </a:r>
              <a:r>
                <a:rPr lang="en-US" altLang="zh-CN" sz="1800" b="1" dirty="0">
                  <a:solidFill>
                    <a:srgbClr val="000000"/>
                  </a:solidFill>
                </a:rPr>
                <a:t> 1 0 0 0   0 1 1 1</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   1 1 1 1   0 1 0 1</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1   0 1 1 1   1 1 0 0</a:t>
              </a:r>
              <a:endParaRPr lang="en-US" altLang="zh-CN" sz="1800" b="1" dirty="0">
                <a:solidFill>
                  <a:srgbClr val="000000"/>
                </a:solidFill>
              </a:endParaRPr>
            </a:p>
            <a:p>
              <a:pPr>
                <a:lnSpc>
                  <a:spcPct val="70000"/>
                </a:lnSpc>
                <a:spcBef>
                  <a:spcPct val="50000"/>
                </a:spcBef>
              </a:pPr>
              <a:r>
                <a:rPr lang="zh-CN" altLang="en-US" sz="1800" b="1" dirty="0">
                  <a:solidFill>
                    <a:srgbClr val="000000"/>
                  </a:solidFill>
                </a:rPr>
                <a:t>带：</a:t>
              </a:r>
              <a:r>
                <a:rPr lang="en-US" altLang="zh-CN" sz="1800" b="1" dirty="0">
                  <a:solidFill>
                    <a:srgbClr val="000000"/>
                  </a:solidFill>
                </a:rPr>
                <a:t>(-121)+(-11)=-132</a:t>
              </a:r>
              <a:endParaRPr lang="en-US" altLang="zh-CN" sz="1800" b="1" dirty="0">
                <a:solidFill>
                  <a:srgbClr val="000000"/>
                </a:solidFill>
              </a:endParaRPr>
            </a:p>
            <a:p>
              <a:pPr>
                <a:lnSpc>
                  <a:spcPct val="70000"/>
                </a:lnSpc>
                <a:spcBef>
                  <a:spcPct val="50000"/>
                </a:spcBef>
              </a:pPr>
              <a:r>
                <a:rPr lang="en-US" altLang="zh-CN" sz="1800" dirty="0">
                  <a:solidFill>
                    <a:srgbClr val="000000"/>
                  </a:solidFill>
                </a:rPr>
                <a:t>	</a:t>
              </a:r>
              <a:r>
                <a:rPr lang="zh-CN" altLang="en-US" sz="1800" dirty="0">
                  <a:solidFill>
                    <a:srgbClr val="000000"/>
                  </a:solidFill>
                </a:rPr>
                <a:t>现为：</a:t>
              </a:r>
              <a:r>
                <a:rPr lang="en-US" altLang="zh-CN" sz="1800" dirty="0">
                  <a:solidFill>
                    <a:srgbClr val="000000"/>
                  </a:solidFill>
                </a:rPr>
                <a:t>124  </a:t>
              </a:r>
              <a:r>
                <a:rPr lang="en-US" altLang="zh-CN" sz="1800" b="1" dirty="0">
                  <a:solidFill>
                    <a:srgbClr val="000000"/>
                  </a:solidFill>
                </a:rPr>
                <a:t>         OF=1 </a:t>
              </a:r>
              <a:r>
                <a:rPr lang="zh-CN" altLang="en-US" sz="1800" dirty="0">
                  <a:solidFill>
                    <a:srgbClr val="FF3300"/>
                  </a:solidFill>
                </a:rPr>
                <a:t>？</a:t>
              </a:r>
              <a:endParaRPr lang="en-US" altLang="zh-CN" sz="1800" b="1" dirty="0">
                <a:solidFill>
                  <a:srgbClr val="000000"/>
                </a:solidFill>
              </a:endParaRPr>
            </a:p>
            <a:p>
              <a:pPr>
                <a:lnSpc>
                  <a:spcPct val="70000"/>
                </a:lnSpc>
                <a:spcBef>
                  <a:spcPct val="50000"/>
                </a:spcBef>
              </a:pPr>
              <a:r>
                <a:rPr lang="zh-CN" altLang="en-US" sz="1800" b="1" dirty="0">
                  <a:solidFill>
                    <a:srgbClr val="000000"/>
                  </a:solidFill>
                </a:rPr>
                <a:t>无：</a:t>
              </a:r>
              <a:r>
                <a:rPr lang="en-US" altLang="zh-CN" sz="1800" b="1" dirty="0">
                  <a:solidFill>
                    <a:srgbClr val="000000"/>
                  </a:solidFill>
                </a:rPr>
                <a:t>135+245=380</a:t>
              </a:r>
              <a:endParaRPr lang="en-US" altLang="zh-CN" sz="1800" b="1" dirty="0">
                <a:solidFill>
                  <a:srgbClr val="000000"/>
                </a:solidFill>
              </a:endParaRPr>
            </a:p>
            <a:p>
              <a:pPr>
                <a:lnSpc>
                  <a:spcPct val="70000"/>
                </a:lnSpc>
                <a:spcBef>
                  <a:spcPct val="50000"/>
                </a:spcBef>
              </a:pPr>
              <a:r>
                <a:rPr lang="en-US" altLang="zh-CN" sz="1800" dirty="0">
                  <a:solidFill>
                    <a:srgbClr val="000000"/>
                  </a:solidFill>
                </a:rPr>
                <a:t>	</a:t>
              </a:r>
              <a:r>
                <a:rPr lang="zh-CN" altLang="en-US" sz="1800" dirty="0">
                  <a:solidFill>
                    <a:srgbClr val="000000"/>
                  </a:solidFill>
                </a:rPr>
                <a:t>现为：</a:t>
              </a:r>
              <a:r>
                <a:rPr lang="en-US" altLang="zh-CN" sz="1800" b="1" dirty="0">
                  <a:solidFill>
                    <a:srgbClr val="000000"/>
                  </a:solidFill>
                </a:rPr>
                <a:t>124           CF=1 </a:t>
              </a:r>
              <a:r>
                <a:rPr lang="zh-CN" altLang="en-US" sz="1800" dirty="0">
                  <a:solidFill>
                    <a:srgbClr val="FF3300"/>
                  </a:solidFill>
                </a:rPr>
                <a:t>？</a:t>
              </a:r>
              <a:endParaRPr lang="en-US" altLang="zh-CN" sz="1800" b="1" dirty="0">
                <a:solidFill>
                  <a:srgbClr val="000000"/>
                </a:solidFill>
              </a:endParaRPr>
            </a:p>
          </p:txBody>
        </p:sp>
        <p:sp>
          <p:nvSpPr>
            <p:cNvPr id="49172" name="直接连接符 49171"/>
            <p:cNvSpPr/>
            <p:nvPr/>
          </p:nvSpPr>
          <p:spPr>
            <a:xfrm flipH="1">
              <a:off x="5399584" y="2240868"/>
              <a:ext cx="152400" cy="0"/>
            </a:xfrm>
            <a:prstGeom prst="line">
              <a:avLst/>
            </a:prstGeom>
            <a:ln w="12700" cap="sq" cmpd="sng">
              <a:solidFill>
                <a:schemeClr val="bg2"/>
              </a:solidFill>
              <a:prstDash val="solid"/>
              <a:headEnd type="none" w="sm" len="sm"/>
              <a:tailEnd type="triangle" w="sm" len="sm"/>
            </a:ln>
          </p:spPr>
        </p:sp>
      </p:grpSp>
      <p:sp>
        <p:nvSpPr>
          <p:cNvPr id="21"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文本框 49153"/>
          <p:cNvSpPr txBox="1"/>
          <p:nvPr/>
        </p:nvSpPr>
        <p:spPr>
          <a:xfrm>
            <a:off x="1236564" y="944724"/>
            <a:ext cx="7391400" cy="430887"/>
          </a:xfrm>
          <a:prstGeom prst="rect">
            <a:avLst/>
          </a:prstGeom>
          <a:noFill/>
          <a:ln w="12700">
            <a:noFill/>
          </a:ln>
        </p:spPr>
        <p:txBody>
          <a:bodyPr>
            <a:spAutoFit/>
          </a:bodyPr>
          <a:lstStyle/>
          <a:p>
            <a:pPr>
              <a:spcBef>
                <a:spcPct val="50000"/>
              </a:spcBef>
            </a:pPr>
            <a:r>
              <a:rPr lang="zh-CN" altLang="en-US" sz="2200" b="0" dirty="0">
                <a:solidFill>
                  <a:srgbClr val="000000"/>
                </a:solidFill>
                <a:latin typeface="Times New Roman" panose="02020603050405020304" pitchFamily="18" charset="0"/>
              </a:rPr>
              <a:t>对无符号数，考虑进位标志</a:t>
            </a:r>
            <a:r>
              <a:rPr lang="en-US" altLang="zh-CN" sz="2200" b="0" dirty="0">
                <a:solidFill>
                  <a:srgbClr val="000000"/>
                </a:solidFill>
                <a:latin typeface="Times New Roman" panose="02020603050405020304" pitchFamily="18" charset="0"/>
              </a:rPr>
              <a:t>CF</a:t>
            </a:r>
            <a:r>
              <a:rPr lang="zh-CN" altLang="en-US" sz="2200" b="0" dirty="0">
                <a:solidFill>
                  <a:srgbClr val="000000"/>
                </a:solidFill>
                <a:latin typeface="Times New Roman" panose="02020603050405020304" pitchFamily="18" charset="0"/>
              </a:rPr>
              <a:t>，则结果正确。</a:t>
            </a:r>
            <a:endParaRPr lang="en-US" altLang="zh-CN" sz="2200" b="0" dirty="0">
              <a:solidFill>
                <a:srgbClr val="000000"/>
              </a:solidFill>
              <a:latin typeface="Times New Roman" panose="02020603050405020304" pitchFamily="18" charset="0"/>
            </a:endParaRPr>
          </a:p>
        </p:txBody>
      </p:sp>
      <p:sp>
        <p:nvSpPr>
          <p:cNvPr id="49155" name="矩形 49154"/>
          <p:cNvSpPr/>
          <p:nvPr/>
        </p:nvSpPr>
        <p:spPr>
          <a:xfrm>
            <a:off x="719572" y="1645940"/>
            <a:ext cx="3429000" cy="1808162"/>
          </a:xfrm>
          <a:prstGeom prst="rect">
            <a:avLst/>
          </a:prstGeom>
          <a:noFill/>
          <a:ln w="12700">
            <a:noFill/>
          </a:ln>
        </p:spPr>
        <p:txBody>
          <a:bodyPr>
            <a:spAutoFit/>
          </a:bodyPr>
          <a:lstStyle/>
          <a:p>
            <a:pPr>
              <a:lnSpc>
                <a:spcPct val="70000"/>
              </a:lnSpc>
              <a:spcBef>
                <a:spcPct val="50000"/>
              </a:spcBef>
            </a:pPr>
            <a:r>
              <a:rPr lang="en-US" altLang="zh-CN" b="1" dirty="0">
                <a:solidFill>
                  <a:srgbClr val="000000"/>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0 0 0 0   0 1 0 0</a:t>
            </a:r>
            <a:endParaRPr lang="en-US" altLang="zh-CN" sz="2000" b="1" dirty="0">
              <a:solidFill>
                <a:srgbClr val="000000"/>
              </a:solidFill>
              <a:latin typeface="Times New Roman" panose="02020603050405020304" pitchFamily="18" charset="0"/>
            </a:endParaRPr>
          </a:p>
          <a:p>
            <a:pPr>
              <a:lnSpc>
                <a:spcPct val="70000"/>
              </a:lnSpc>
              <a:spcBef>
                <a:spcPct val="50000"/>
              </a:spcBef>
            </a:pPr>
            <a:r>
              <a:rPr lang="en-US" altLang="zh-CN" sz="2000" b="1" dirty="0">
                <a:solidFill>
                  <a:srgbClr val="000000"/>
                </a:solidFill>
                <a:latin typeface="Times New Roman" panose="02020603050405020304" pitchFamily="18" charset="0"/>
              </a:rPr>
              <a:t>        +  0 0 0 0   1 0 1 1</a:t>
            </a:r>
            <a:endParaRPr lang="en-US" altLang="zh-CN" sz="2000" b="1" dirty="0">
              <a:solidFill>
                <a:srgbClr val="000000"/>
              </a:solidFill>
              <a:latin typeface="Times New Roman" panose="02020603050405020304" pitchFamily="18" charset="0"/>
            </a:endParaRPr>
          </a:p>
          <a:p>
            <a:pPr>
              <a:lnSpc>
                <a:spcPct val="70000"/>
              </a:lnSpc>
              <a:spcBef>
                <a:spcPct val="50000"/>
              </a:spcBef>
            </a:pPr>
            <a:r>
              <a:rPr lang="en-US" altLang="zh-CN" sz="2000" b="1" dirty="0">
                <a:solidFill>
                  <a:srgbClr val="000000"/>
                </a:solidFill>
                <a:latin typeface="Times New Roman" panose="02020603050405020304" pitchFamily="18" charset="0"/>
              </a:rPr>
              <a:t>            0 0 0 0   1 1 1 1</a:t>
            </a:r>
            <a:endParaRPr lang="en-US" altLang="zh-CN" sz="2000" b="1" dirty="0">
              <a:solidFill>
                <a:srgbClr val="000000"/>
              </a:solidFill>
              <a:latin typeface="Times New Roman" panose="02020603050405020304" pitchFamily="18" charset="0"/>
            </a:endParaRPr>
          </a:p>
          <a:p>
            <a:pPr>
              <a:lnSpc>
                <a:spcPct val="70000"/>
              </a:lnSpc>
              <a:spcBef>
                <a:spcPct val="50000"/>
              </a:spcBef>
            </a:pPr>
            <a:r>
              <a:rPr lang="zh-CN" altLang="en-US" sz="2000" b="1" dirty="0">
                <a:solidFill>
                  <a:srgbClr val="000000"/>
                </a:solidFill>
                <a:latin typeface="Times New Roman" panose="02020603050405020304" pitchFamily="18" charset="0"/>
              </a:rPr>
              <a:t>带：</a:t>
            </a:r>
            <a:r>
              <a:rPr lang="en-US" altLang="zh-CN" sz="2000" b="1" dirty="0">
                <a:solidFill>
                  <a:srgbClr val="000000"/>
                </a:solidFill>
                <a:latin typeface="Times New Roman" panose="02020603050405020304" pitchFamily="18" charset="0"/>
              </a:rPr>
              <a:t>(+4)+(+11)=+15    OF=0</a:t>
            </a:r>
            <a:endParaRPr lang="en-US" altLang="zh-CN" sz="2000" b="1" dirty="0">
              <a:solidFill>
                <a:srgbClr val="000000"/>
              </a:solidFill>
              <a:latin typeface="Times New Roman" panose="02020603050405020304" pitchFamily="18" charset="0"/>
            </a:endParaRPr>
          </a:p>
          <a:p>
            <a:pPr>
              <a:lnSpc>
                <a:spcPct val="70000"/>
              </a:lnSpc>
              <a:spcBef>
                <a:spcPct val="50000"/>
              </a:spcBef>
            </a:pPr>
            <a:r>
              <a:rPr lang="zh-CN" altLang="en-US" sz="2000" b="1" dirty="0">
                <a:solidFill>
                  <a:srgbClr val="000000"/>
                </a:solidFill>
                <a:latin typeface="Times New Roman" panose="02020603050405020304" pitchFamily="18" charset="0"/>
              </a:rPr>
              <a:t>无：</a:t>
            </a:r>
            <a:r>
              <a:rPr lang="en-US" altLang="zh-CN" sz="2000" b="1" dirty="0">
                <a:solidFill>
                  <a:srgbClr val="000000"/>
                </a:solidFill>
                <a:latin typeface="Times New Roman" panose="02020603050405020304" pitchFamily="18" charset="0"/>
              </a:rPr>
              <a:t>4+11=15                CF=0</a:t>
            </a:r>
            <a:endParaRPr lang="en-US" altLang="zh-CN" sz="2000" b="1" dirty="0">
              <a:solidFill>
                <a:srgbClr val="000000"/>
              </a:solidFill>
              <a:latin typeface="Times New Roman" panose="02020603050405020304" pitchFamily="18" charset="0"/>
            </a:endParaRPr>
          </a:p>
        </p:txBody>
      </p:sp>
      <p:sp>
        <p:nvSpPr>
          <p:cNvPr id="49156" name="直接连接符 49155"/>
          <p:cNvSpPr/>
          <p:nvPr/>
        </p:nvSpPr>
        <p:spPr>
          <a:xfrm>
            <a:off x="1284784" y="2390477"/>
            <a:ext cx="2362200" cy="0"/>
          </a:xfrm>
          <a:prstGeom prst="line">
            <a:avLst/>
          </a:prstGeom>
          <a:ln w="12700" cap="sq" cmpd="sng">
            <a:solidFill>
              <a:schemeClr val="bg2"/>
            </a:solidFill>
            <a:prstDash val="solid"/>
            <a:headEnd type="none" w="sm" len="sm"/>
            <a:tailEnd type="none" w="sm" len="sm"/>
          </a:ln>
        </p:spPr>
      </p:sp>
      <p:sp>
        <p:nvSpPr>
          <p:cNvPr id="49157" name="矩形 49156"/>
          <p:cNvSpPr/>
          <p:nvPr/>
        </p:nvSpPr>
        <p:spPr>
          <a:xfrm>
            <a:off x="647564" y="1476077"/>
            <a:ext cx="3685220" cy="2057400"/>
          </a:xfrm>
          <a:prstGeom prst="rect">
            <a:avLst/>
          </a:prstGeom>
          <a:noFill/>
          <a:ln w="12700" cap="flat" cmpd="sng">
            <a:solidFill>
              <a:schemeClr val="hlink"/>
            </a:solidFill>
            <a:prstDash val="dash"/>
            <a:miter/>
            <a:headEnd type="none" w="sm" len="sm"/>
            <a:tailEnd type="none" w="sm" len="sm"/>
          </a:ln>
        </p:spPr>
        <p:txBody>
          <a:bodyPr/>
          <a:lstStyle/>
          <a:p>
            <a:endParaRPr lang="zh-CN" altLang="en-US"/>
          </a:p>
        </p:txBody>
      </p:sp>
      <p:sp>
        <p:nvSpPr>
          <p:cNvPr id="49158" name="矩形 49157"/>
          <p:cNvSpPr/>
          <p:nvPr/>
        </p:nvSpPr>
        <p:spPr>
          <a:xfrm>
            <a:off x="827584" y="3533477"/>
            <a:ext cx="3506788" cy="396875"/>
          </a:xfrm>
          <a:prstGeom prst="rect">
            <a:avLst/>
          </a:prstGeom>
          <a:noFill/>
          <a:ln w="12700">
            <a:noFill/>
          </a:ln>
        </p:spPr>
        <p:txBody>
          <a:bodyPr wrap="none" anchor="t">
            <a:spAutoFit/>
          </a:bodyPr>
          <a:lstStyle/>
          <a:p>
            <a:r>
              <a:rPr lang="zh-CN" altLang="en-US" sz="2000" b="1" dirty="0">
                <a:solidFill>
                  <a:srgbClr val="000000"/>
                </a:solidFill>
                <a:latin typeface="Times New Roman" panose="02020603050405020304" pitchFamily="18" charset="0"/>
                <a:ea typeface="楷体_GB2312" pitchFamily="49" charset="-122"/>
              </a:rPr>
              <a:t>带符号数和无符号数都不溢出</a:t>
            </a:r>
            <a:endParaRPr lang="zh-CN" altLang="en-US" sz="2000" b="1" dirty="0">
              <a:solidFill>
                <a:srgbClr val="000000"/>
              </a:solidFill>
              <a:latin typeface="Times New Roman" panose="02020603050405020304" pitchFamily="18" charset="0"/>
              <a:ea typeface="楷体_GB2312" pitchFamily="49" charset="-122"/>
            </a:endParaRPr>
          </a:p>
        </p:txBody>
      </p:sp>
      <p:sp>
        <p:nvSpPr>
          <p:cNvPr id="49159" name="直接连接符 49158"/>
          <p:cNvSpPr/>
          <p:nvPr/>
        </p:nvSpPr>
        <p:spPr>
          <a:xfrm>
            <a:off x="5094784" y="5014987"/>
            <a:ext cx="2362200" cy="0"/>
          </a:xfrm>
          <a:prstGeom prst="line">
            <a:avLst/>
          </a:prstGeom>
          <a:ln w="12700" cap="sq" cmpd="sng">
            <a:solidFill>
              <a:schemeClr val="bg2"/>
            </a:solidFill>
            <a:prstDash val="solid"/>
            <a:headEnd type="none" w="sm" len="sm"/>
            <a:tailEnd type="none" w="sm" len="sm"/>
          </a:ln>
        </p:spPr>
      </p:sp>
      <p:sp>
        <p:nvSpPr>
          <p:cNvPr id="49160" name="矩形 49159"/>
          <p:cNvSpPr/>
          <p:nvPr/>
        </p:nvSpPr>
        <p:spPr>
          <a:xfrm>
            <a:off x="4713784" y="4329100"/>
            <a:ext cx="3746648" cy="2057400"/>
          </a:xfrm>
          <a:prstGeom prst="rect">
            <a:avLst/>
          </a:prstGeom>
          <a:noFill/>
          <a:ln w="12700" cap="flat" cmpd="sng">
            <a:solidFill>
              <a:schemeClr val="hlink"/>
            </a:solidFill>
            <a:prstDash val="dash"/>
            <a:miter/>
            <a:headEnd type="none" w="sm" len="sm"/>
            <a:tailEnd type="none" w="sm" len="sm"/>
          </a:ln>
        </p:spPr>
        <p:txBody>
          <a:bodyPr/>
          <a:lstStyle/>
          <a:p>
            <a:endParaRPr lang="zh-CN" altLang="en-US"/>
          </a:p>
        </p:txBody>
      </p:sp>
      <p:sp>
        <p:nvSpPr>
          <p:cNvPr id="49161" name="矩形 49160"/>
          <p:cNvSpPr/>
          <p:nvPr/>
        </p:nvSpPr>
        <p:spPr>
          <a:xfrm>
            <a:off x="4713784" y="4405300"/>
            <a:ext cx="3581400" cy="1948226"/>
          </a:xfrm>
          <a:prstGeom prst="rect">
            <a:avLst/>
          </a:prstGeom>
          <a:noFill/>
          <a:ln w="12700">
            <a:noFill/>
          </a:ln>
        </p:spPr>
        <p:txBody>
          <a:bodyPr wrap="square">
            <a:spAutoFit/>
          </a:bodyPr>
          <a:lstStyle/>
          <a:p>
            <a:pPr>
              <a:lnSpc>
                <a:spcPct val="70000"/>
              </a:lnSpc>
              <a:spcBef>
                <a:spcPct val="50000"/>
              </a:spcBef>
            </a:pPr>
            <a:r>
              <a:rPr lang="en-US" altLang="zh-CN" sz="1800" b="1" dirty="0">
                <a:solidFill>
                  <a:srgbClr val="000000"/>
                </a:solidFill>
              </a:rPr>
              <a:t>            0 0 0 0   1 0 0 1 </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  0 1 1 1   1 1 0 0</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1 0 0 0   0 1 0 1</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a:t>
            </a:r>
            <a:r>
              <a:rPr lang="zh-CN" altLang="en-US" sz="1800" b="1" dirty="0">
                <a:solidFill>
                  <a:srgbClr val="000000"/>
                </a:solidFill>
              </a:rPr>
              <a:t>带</a:t>
            </a:r>
            <a:r>
              <a:rPr lang="en-US" altLang="zh-CN" sz="1800" b="1" dirty="0">
                <a:solidFill>
                  <a:srgbClr val="000000"/>
                </a:solidFill>
              </a:rPr>
              <a:t>:  (+9)+(+124)=133</a:t>
            </a:r>
            <a:endParaRPr lang="en-US" altLang="zh-CN" sz="1800" b="1" dirty="0">
              <a:solidFill>
                <a:srgbClr val="000000"/>
              </a:solidFill>
            </a:endParaRPr>
          </a:p>
          <a:p>
            <a:pPr>
              <a:lnSpc>
                <a:spcPct val="70000"/>
              </a:lnSpc>
              <a:spcBef>
                <a:spcPct val="50000"/>
              </a:spcBef>
            </a:pPr>
            <a:r>
              <a:rPr lang="en-US" altLang="zh-CN" sz="1800" dirty="0">
                <a:solidFill>
                  <a:srgbClr val="000000"/>
                </a:solidFill>
              </a:rPr>
              <a:t>	</a:t>
            </a:r>
            <a:r>
              <a:rPr lang="zh-CN" altLang="en-US" sz="1800" b="1" dirty="0">
                <a:solidFill>
                  <a:srgbClr val="000000"/>
                </a:solidFill>
              </a:rPr>
              <a:t>现为：</a:t>
            </a:r>
            <a:r>
              <a:rPr lang="en-US" altLang="zh-CN" sz="1800" b="1" dirty="0">
                <a:solidFill>
                  <a:srgbClr val="000000"/>
                </a:solidFill>
              </a:rPr>
              <a:t>-123      OF=1</a:t>
            </a:r>
            <a:r>
              <a:rPr lang="zh-CN" altLang="en-US" sz="1800" dirty="0">
                <a:solidFill>
                  <a:srgbClr val="FF3300"/>
                </a:solidFill>
              </a:rPr>
              <a:t> ？</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a:t>
            </a:r>
            <a:r>
              <a:rPr lang="zh-CN" altLang="en-US" sz="1800" b="1" dirty="0">
                <a:solidFill>
                  <a:srgbClr val="000000"/>
                </a:solidFill>
              </a:rPr>
              <a:t>无</a:t>
            </a:r>
            <a:r>
              <a:rPr lang="en-US" altLang="zh-CN" sz="1800" b="1" dirty="0">
                <a:solidFill>
                  <a:srgbClr val="000000"/>
                </a:solidFill>
              </a:rPr>
              <a:t>:  9+124=133               CF=0</a:t>
            </a:r>
            <a:endParaRPr lang="en-US" altLang="zh-CN" sz="1800" b="1" dirty="0">
              <a:solidFill>
                <a:srgbClr val="000000"/>
              </a:solidFill>
            </a:endParaRPr>
          </a:p>
        </p:txBody>
      </p:sp>
      <p:sp>
        <p:nvSpPr>
          <p:cNvPr id="49162" name="矩形 49161"/>
          <p:cNvSpPr/>
          <p:nvPr/>
        </p:nvSpPr>
        <p:spPr>
          <a:xfrm>
            <a:off x="5551984" y="6310300"/>
            <a:ext cx="1717675" cy="396875"/>
          </a:xfrm>
          <a:prstGeom prst="rect">
            <a:avLst/>
          </a:prstGeom>
          <a:noFill/>
          <a:ln w="12700">
            <a:noFill/>
          </a:ln>
        </p:spPr>
        <p:txBody>
          <a:bodyPr wrap="none" anchor="t">
            <a:spAutoFit/>
          </a:bodyPr>
          <a:lstStyle/>
          <a:p>
            <a:r>
              <a:rPr lang="zh-CN" altLang="en-US" sz="2000" b="1" dirty="0">
                <a:solidFill>
                  <a:srgbClr val="000000"/>
                </a:solidFill>
                <a:latin typeface="Times New Roman" panose="02020603050405020304" pitchFamily="18" charset="0"/>
                <a:ea typeface="楷体_GB2312" pitchFamily="49" charset="-122"/>
              </a:rPr>
              <a:t>带符号数溢出</a:t>
            </a:r>
            <a:endParaRPr lang="zh-CN" altLang="en-US" sz="2000" b="1" dirty="0">
              <a:solidFill>
                <a:srgbClr val="000000"/>
              </a:solidFill>
              <a:latin typeface="Times New Roman" panose="02020603050405020304" pitchFamily="18" charset="0"/>
              <a:ea typeface="楷体_GB2312" pitchFamily="49" charset="-122"/>
            </a:endParaRPr>
          </a:p>
        </p:txBody>
      </p:sp>
      <p:sp>
        <p:nvSpPr>
          <p:cNvPr id="49163" name="矩形 49162"/>
          <p:cNvSpPr/>
          <p:nvPr/>
        </p:nvSpPr>
        <p:spPr>
          <a:xfrm>
            <a:off x="1741984" y="6200477"/>
            <a:ext cx="1717675" cy="396875"/>
          </a:xfrm>
          <a:prstGeom prst="rect">
            <a:avLst/>
          </a:prstGeom>
          <a:noFill/>
          <a:ln w="12700">
            <a:noFill/>
          </a:ln>
        </p:spPr>
        <p:txBody>
          <a:bodyPr wrap="none" anchor="t">
            <a:spAutoFit/>
          </a:bodyPr>
          <a:lstStyle/>
          <a:p>
            <a:r>
              <a:rPr lang="zh-CN" altLang="en-US" sz="2000" b="1" dirty="0">
                <a:solidFill>
                  <a:srgbClr val="000000"/>
                </a:solidFill>
                <a:latin typeface="Times New Roman" panose="02020603050405020304" pitchFamily="18" charset="0"/>
                <a:ea typeface="楷体_GB2312" pitchFamily="49" charset="-122"/>
              </a:rPr>
              <a:t>无符号数溢出</a:t>
            </a:r>
            <a:endParaRPr lang="zh-CN" altLang="en-US" sz="2000" b="1" dirty="0">
              <a:solidFill>
                <a:srgbClr val="000000"/>
              </a:solidFill>
              <a:latin typeface="Times New Roman" panose="02020603050405020304" pitchFamily="18" charset="0"/>
              <a:ea typeface="楷体_GB2312" pitchFamily="49" charset="-122"/>
            </a:endParaRPr>
          </a:p>
        </p:txBody>
      </p:sp>
      <p:sp>
        <p:nvSpPr>
          <p:cNvPr id="49164" name="直接连接符 49163"/>
          <p:cNvSpPr/>
          <p:nvPr/>
        </p:nvSpPr>
        <p:spPr>
          <a:xfrm>
            <a:off x="1259632" y="5017368"/>
            <a:ext cx="2362200" cy="0"/>
          </a:xfrm>
          <a:prstGeom prst="line">
            <a:avLst/>
          </a:prstGeom>
          <a:ln w="12700" cap="sq" cmpd="sng">
            <a:solidFill>
              <a:schemeClr val="bg2"/>
            </a:solidFill>
            <a:prstDash val="solid"/>
            <a:headEnd type="none" w="sm" len="sm"/>
            <a:tailEnd type="none" w="sm" len="sm"/>
          </a:ln>
        </p:spPr>
      </p:sp>
      <p:sp>
        <p:nvSpPr>
          <p:cNvPr id="49165" name="矩形 49164"/>
          <p:cNvSpPr/>
          <p:nvPr/>
        </p:nvSpPr>
        <p:spPr>
          <a:xfrm>
            <a:off x="647564" y="4219277"/>
            <a:ext cx="3685220" cy="2057400"/>
          </a:xfrm>
          <a:prstGeom prst="rect">
            <a:avLst/>
          </a:prstGeom>
          <a:noFill/>
          <a:ln w="12700" cap="flat" cmpd="sng">
            <a:solidFill>
              <a:schemeClr val="hlink"/>
            </a:solidFill>
            <a:prstDash val="dash"/>
            <a:miter/>
            <a:headEnd type="none" w="sm" len="sm"/>
            <a:tailEnd type="none" w="sm" len="sm"/>
          </a:ln>
        </p:spPr>
        <p:txBody>
          <a:bodyPr/>
          <a:lstStyle/>
          <a:p>
            <a:endParaRPr lang="zh-CN" altLang="en-US"/>
          </a:p>
        </p:txBody>
      </p:sp>
      <p:sp>
        <p:nvSpPr>
          <p:cNvPr id="49166" name="矩形 49165"/>
          <p:cNvSpPr/>
          <p:nvPr/>
        </p:nvSpPr>
        <p:spPr>
          <a:xfrm>
            <a:off x="795772" y="4371677"/>
            <a:ext cx="3276600" cy="1969770"/>
          </a:xfrm>
          <a:prstGeom prst="rect">
            <a:avLst/>
          </a:prstGeom>
          <a:noFill/>
          <a:ln w="12700">
            <a:noFill/>
          </a:ln>
        </p:spPr>
        <p:txBody>
          <a:bodyPr>
            <a:spAutoFit/>
          </a:bodyPr>
          <a:lstStyle/>
          <a:p>
            <a:pPr>
              <a:lnSpc>
                <a:spcPct val="70000"/>
              </a:lnSpc>
              <a:spcBef>
                <a:spcPct val="50000"/>
              </a:spcBef>
            </a:pPr>
            <a:r>
              <a:rPr lang="en-US" altLang="zh-CN" sz="2000" b="1" dirty="0">
                <a:solidFill>
                  <a:srgbClr val="000000"/>
                </a:solidFill>
                <a:latin typeface="Times New Roman" panose="02020603050405020304" pitchFamily="18" charset="0"/>
              </a:rPr>
              <a:t>            </a:t>
            </a:r>
            <a:r>
              <a:rPr lang="en-US" altLang="zh-CN" sz="1800" b="1" dirty="0">
                <a:solidFill>
                  <a:srgbClr val="000000"/>
                </a:solidFill>
              </a:rPr>
              <a:t>0 0 0 0   0 1 1 1</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   1 1 1 1   1 0 1 1</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1   0 0 0 0   0 0 1 0</a:t>
            </a:r>
            <a:endParaRPr lang="en-US" altLang="zh-CN" sz="1800" b="1" dirty="0">
              <a:solidFill>
                <a:srgbClr val="000000"/>
              </a:solidFill>
            </a:endParaRPr>
          </a:p>
          <a:p>
            <a:pPr>
              <a:lnSpc>
                <a:spcPct val="70000"/>
              </a:lnSpc>
              <a:spcBef>
                <a:spcPct val="50000"/>
              </a:spcBef>
            </a:pPr>
            <a:r>
              <a:rPr lang="zh-CN" altLang="en-US" sz="1800" b="1" dirty="0">
                <a:solidFill>
                  <a:srgbClr val="000000"/>
                </a:solidFill>
              </a:rPr>
              <a:t>带：</a:t>
            </a:r>
            <a:r>
              <a:rPr lang="en-US" altLang="zh-CN" sz="1800" b="1" dirty="0">
                <a:solidFill>
                  <a:srgbClr val="000000"/>
                </a:solidFill>
              </a:rPr>
              <a:t>(+7)+(-5)=+2    OF=0</a:t>
            </a:r>
            <a:endParaRPr lang="en-US" altLang="zh-CN" sz="1800" b="1" dirty="0">
              <a:solidFill>
                <a:srgbClr val="000000"/>
              </a:solidFill>
            </a:endParaRPr>
          </a:p>
          <a:p>
            <a:pPr>
              <a:lnSpc>
                <a:spcPct val="70000"/>
              </a:lnSpc>
              <a:spcBef>
                <a:spcPct val="50000"/>
              </a:spcBef>
            </a:pPr>
            <a:r>
              <a:rPr lang="zh-CN" altLang="en-US" sz="1800" b="1" dirty="0">
                <a:solidFill>
                  <a:srgbClr val="000000"/>
                </a:solidFill>
              </a:rPr>
              <a:t>无：</a:t>
            </a:r>
            <a:r>
              <a:rPr lang="en-US" altLang="zh-CN" sz="1800" b="1" dirty="0">
                <a:solidFill>
                  <a:srgbClr val="000000"/>
                </a:solidFill>
              </a:rPr>
              <a:t>7+251=258</a:t>
            </a:r>
            <a:endParaRPr lang="en-US" altLang="zh-CN" sz="1800" b="1" dirty="0">
              <a:solidFill>
                <a:srgbClr val="000000"/>
              </a:solidFill>
            </a:endParaRPr>
          </a:p>
          <a:p>
            <a:pPr>
              <a:lnSpc>
                <a:spcPct val="70000"/>
              </a:lnSpc>
              <a:spcBef>
                <a:spcPct val="50000"/>
              </a:spcBef>
            </a:pPr>
            <a:r>
              <a:rPr lang="en-US" altLang="zh-CN" sz="1800" dirty="0">
                <a:solidFill>
                  <a:srgbClr val="000000"/>
                </a:solidFill>
              </a:rPr>
              <a:t>	</a:t>
            </a:r>
            <a:r>
              <a:rPr lang="zh-CN" altLang="en-US" sz="1800" dirty="0">
                <a:solidFill>
                  <a:srgbClr val="000000"/>
                </a:solidFill>
              </a:rPr>
              <a:t>现为：</a:t>
            </a:r>
            <a:r>
              <a:rPr lang="en-US" altLang="zh-CN" sz="1800" dirty="0">
                <a:solidFill>
                  <a:srgbClr val="000000"/>
                </a:solidFill>
              </a:rPr>
              <a:t>2</a:t>
            </a:r>
            <a:r>
              <a:rPr lang="en-US" altLang="zh-CN" sz="1800" b="1" dirty="0">
                <a:solidFill>
                  <a:srgbClr val="000000"/>
                </a:solidFill>
              </a:rPr>
              <a:t>        CF=1   </a:t>
            </a:r>
            <a:r>
              <a:rPr lang="zh-CN" altLang="en-US" sz="1800" dirty="0">
                <a:solidFill>
                  <a:srgbClr val="FF3300"/>
                </a:solidFill>
              </a:rPr>
              <a:t>√</a:t>
            </a:r>
            <a:endParaRPr lang="en-US" altLang="zh-CN" sz="1800" dirty="0">
              <a:solidFill>
                <a:srgbClr val="FF3300"/>
              </a:solidFill>
            </a:endParaRPr>
          </a:p>
        </p:txBody>
      </p:sp>
      <p:sp>
        <p:nvSpPr>
          <p:cNvPr id="49167" name="直接连接符 49166"/>
          <p:cNvSpPr/>
          <p:nvPr/>
        </p:nvSpPr>
        <p:spPr>
          <a:xfrm flipH="1">
            <a:off x="1564432" y="4941168"/>
            <a:ext cx="152400" cy="0"/>
          </a:xfrm>
          <a:prstGeom prst="line">
            <a:avLst/>
          </a:prstGeom>
          <a:ln w="12700" cap="sq" cmpd="sng">
            <a:solidFill>
              <a:schemeClr val="bg2"/>
            </a:solidFill>
            <a:prstDash val="solid"/>
            <a:headEnd type="none" w="sm" len="sm"/>
            <a:tailEnd type="triangle" w="sm" len="sm"/>
          </a:ln>
        </p:spPr>
      </p:sp>
      <p:sp>
        <p:nvSpPr>
          <p:cNvPr id="49168" name="矩形 49167"/>
          <p:cNvSpPr/>
          <p:nvPr/>
        </p:nvSpPr>
        <p:spPr>
          <a:xfrm>
            <a:off x="4849192" y="3897052"/>
            <a:ext cx="3251200" cy="396875"/>
          </a:xfrm>
          <a:prstGeom prst="rect">
            <a:avLst/>
          </a:prstGeom>
          <a:noFill/>
          <a:ln w="12700">
            <a:noFill/>
          </a:ln>
        </p:spPr>
        <p:txBody>
          <a:bodyPr wrap="none" anchor="t">
            <a:spAutoFit/>
          </a:bodyPr>
          <a:lstStyle/>
          <a:p>
            <a:r>
              <a:rPr lang="zh-CN" altLang="en-US" sz="2000" b="1" dirty="0">
                <a:solidFill>
                  <a:srgbClr val="000000"/>
                </a:solidFill>
                <a:latin typeface="Times New Roman" panose="02020603050405020304" pitchFamily="18" charset="0"/>
                <a:ea typeface="楷体_GB2312" pitchFamily="49" charset="-122"/>
              </a:rPr>
              <a:t>带符号数和无符号数都溢出</a:t>
            </a:r>
            <a:endParaRPr lang="zh-CN" altLang="en-US" sz="2000" b="1" dirty="0">
              <a:solidFill>
                <a:srgbClr val="000000"/>
              </a:solidFill>
              <a:latin typeface="Times New Roman" panose="02020603050405020304" pitchFamily="18" charset="0"/>
              <a:ea typeface="楷体_GB2312" pitchFamily="49" charset="-122"/>
            </a:endParaRPr>
          </a:p>
        </p:txBody>
      </p:sp>
      <p:sp>
        <p:nvSpPr>
          <p:cNvPr id="49169" name="直接连接符 49168"/>
          <p:cNvSpPr/>
          <p:nvPr/>
        </p:nvSpPr>
        <p:spPr>
          <a:xfrm>
            <a:off x="5094784" y="2317068"/>
            <a:ext cx="2362200" cy="0"/>
          </a:xfrm>
          <a:prstGeom prst="line">
            <a:avLst/>
          </a:prstGeom>
          <a:ln w="12700" cap="sq" cmpd="sng">
            <a:solidFill>
              <a:schemeClr val="bg2"/>
            </a:solidFill>
            <a:prstDash val="solid"/>
            <a:headEnd type="none" w="sm" len="sm"/>
            <a:tailEnd type="none" w="sm" len="sm"/>
          </a:ln>
        </p:spPr>
      </p:sp>
      <p:sp>
        <p:nvSpPr>
          <p:cNvPr id="49170" name="矩形 49169"/>
          <p:cNvSpPr/>
          <p:nvPr/>
        </p:nvSpPr>
        <p:spPr>
          <a:xfrm>
            <a:off x="4713784" y="1476076"/>
            <a:ext cx="3746648" cy="2454275"/>
          </a:xfrm>
          <a:prstGeom prst="rect">
            <a:avLst/>
          </a:prstGeom>
          <a:noFill/>
          <a:ln w="12700" cap="flat" cmpd="sng">
            <a:solidFill>
              <a:schemeClr val="hlink"/>
            </a:solidFill>
            <a:prstDash val="dash"/>
            <a:miter/>
            <a:headEnd type="none" w="sm" len="sm"/>
            <a:tailEnd type="none" w="sm" len="sm"/>
          </a:ln>
        </p:spPr>
        <p:txBody>
          <a:bodyPr/>
          <a:lstStyle/>
          <a:p>
            <a:endParaRPr lang="zh-CN" altLang="en-US"/>
          </a:p>
        </p:txBody>
      </p:sp>
      <p:sp>
        <p:nvSpPr>
          <p:cNvPr id="49171" name="矩形 49170"/>
          <p:cNvSpPr/>
          <p:nvPr/>
        </p:nvSpPr>
        <p:spPr>
          <a:xfrm>
            <a:off x="4637584" y="1628477"/>
            <a:ext cx="3657600" cy="2302169"/>
          </a:xfrm>
          <a:prstGeom prst="rect">
            <a:avLst/>
          </a:prstGeom>
          <a:noFill/>
          <a:ln w="12700">
            <a:noFill/>
          </a:ln>
        </p:spPr>
        <p:txBody>
          <a:bodyPr>
            <a:spAutoFit/>
          </a:bodyPr>
          <a:lstStyle/>
          <a:p>
            <a:pPr>
              <a:lnSpc>
                <a:spcPct val="70000"/>
              </a:lnSpc>
              <a:spcBef>
                <a:spcPct val="50000"/>
              </a:spcBef>
            </a:pPr>
            <a:r>
              <a:rPr lang="en-US" altLang="zh-CN" sz="2000" b="1" dirty="0">
                <a:solidFill>
                  <a:srgbClr val="000000"/>
                </a:solidFill>
                <a:latin typeface="Times New Roman" panose="02020603050405020304" pitchFamily="18" charset="0"/>
              </a:rPr>
              <a:t>           </a:t>
            </a:r>
            <a:r>
              <a:rPr lang="en-US" altLang="zh-CN" sz="1800" b="1" dirty="0">
                <a:solidFill>
                  <a:srgbClr val="000000"/>
                </a:solidFill>
              </a:rPr>
              <a:t> 1 0 0 0   0 1 1 1</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   1 1 1 1   0 1 0 1</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1   0 1 1 1   1 1 0 0</a:t>
            </a:r>
            <a:endParaRPr lang="en-US" altLang="zh-CN" sz="1800" b="1" dirty="0">
              <a:solidFill>
                <a:srgbClr val="000000"/>
              </a:solidFill>
            </a:endParaRPr>
          </a:p>
          <a:p>
            <a:pPr>
              <a:lnSpc>
                <a:spcPct val="70000"/>
              </a:lnSpc>
              <a:spcBef>
                <a:spcPct val="50000"/>
              </a:spcBef>
            </a:pPr>
            <a:r>
              <a:rPr lang="zh-CN" altLang="en-US" sz="1800" b="1" dirty="0">
                <a:solidFill>
                  <a:srgbClr val="000000"/>
                </a:solidFill>
              </a:rPr>
              <a:t>带：</a:t>
            </a:r>
            <a:r>
              <a:rPr lang="en-US" altLang="zh-CN" sz="1800" b="1" dirty="0">
                <a:solidFill>
                  <a:srgbClr val="000000"/>
                </a:solidFill>
              </a:rPr>
              <a:t>(-121)+(-11)=-132</a:t>
            </a:r>
            <a:endParaRPr lang="en-US" altLang="zh-CN" sz="1800" b="1" dirty="0">
              <a:solidFill>
                <a:srgbClr val="000000"/>
              </a:solidFill>
            </a:endParaRPr>
          </a:p>
          <a:p>
            <a:pPr>
              <a:lnSpc>
                <a:spcPct val="70000"/>
              </a:lnSpc>
              <a:spcBef>
                <a:spcPct val="50000"/>
              </a:spcBef>
            </a:pPr>
            <a:r>
              <a:rPr lang="en-US" altLang="zh-CN" sz="1800" dirty="0">
                <a:solidFill>
                  <a:srgbClr val="000000"/>
                </a:solidFill>
              </a:rPr>
              <a:t>	</a:t>
            </a:r>
            <a:r>
              <a:rPr lang="zh-CN" altLang="en-US" sz="1800" dirty="0">
                <a:solidFill>
                  <a:srgbClr val="000000"/>
                </a:solidFill>
              </a:rPr>
              <a:t>现为：</a:t>
            </a:r>
            <a:r>
              <a:rPr lang="en-US" altLang="zh-CN" sz="1800" dirty="0">
                <a:solidFill>
                  <a:srgbClr val="000000"/>
                </a:solidFill>
              </a:rPr>
              <a:t>124  </a:t>
            </a:r>
            <a:r>
              <a:rPr lang="en-US" altLang="zh-CN" sz="1800" b="1" dirty="0">
                <a:solidFill>
                  <a:srgbClr val="000000"/>
                </a:solidFill>
              </a:rPr>
              <a:t>         OF=1 </a:t>
            </a:r>
            <a:r>
              <a:rPr lang="zh-CN" altLang="en-US" sz="1800" dirty="0">
                <a:solidFill>
                  <a:srgbClr val="FF3300"/>
                </a:solidFill>
              </a:rPr>
              <a:t>？</a:t>
            </a:r>
            <a:endParaRPr lang="en-US" altLang="zh-CN" sz="1800" b="1" dirty="0">
              <a:solidFill>
                <a:srgbClr val="000000"/>
              </a:solidFill>
            </a:endParaRPr>
          </a:p>
          <a:p>
            <a:pPr>
              <a:lnSpc>
                <a:spcPct val="70000"/>
              </a:lnSpc>
              <a:spcBef>
                <a:spcPct val="50000"/>
              </a:spcBef>
            </a:pPr>
            <a:r>
              <a:rPr lang="zh-CN" altLang="en-US" sz="1800" b="1" dirty="0">
                <a:solidFill>
                  <a:srgbClr val="000000"/>
                </a:solidFill>
              </a:rPr>
              <a:t>无：</a:t>
            </a:r>
            <a:r>
              <a:rPr lang="en-US" altLang="zh-CN" sz="1800" b="1" dirty="0">
                <a:solidFill>
                  <a:srgbClr val="000000"/>
                </a:solidFill>
              </a:rPr>
              <a:t>135+245=380</a:t>
            </a:r>
            <a:endParaRPr lang="en-US" altLang="zh-CN" sz="1800" b="1" dirty="0">
              <a:solidFill>
                <a:srgbClr val="000000"/>
              </a:solidFill>
            </a:endParaRPr>
          </a:p>
          <a:p>
            <a:pPr>
              <a:lnSpc>
                <a:spcPct val="70000"/>
              </a:lnSpc>
              <a:spcBef>
                <a:spcPct val="50000"/>
              </a:spcBef>
            </a:pPr>
            <a:r>
              <a:rPr lang="en-US" altLang="zh-CN" sz="1800" dirty="0">
                <a:solidFill>
                  <a:srgbClr val="000000"/>
                </a:solidFill>
              </a:rPr>
              <a:t>	</a:t>
            </a:r>
            <a:r>
              <a:rPr lang="zh-CN" altLang="en-US" sz="1800" dirty="0">
                <a:solidFill>
                  <a:srgbClr val="000000"/>
                </a:solidFill>
              </a:rPr>
              <a:t>现为：</a:t>
            </a:r>
            <a:r>
              <a:rPr lang="en-US" altLang="zh-CN" sz="1800" b="1" dirty="0">
                <a:solidFill>
                  <a:srgbClr val="000000"/>
                </a:solidFill>
              </a:rPr>
              <a:t>124           CF=1 </a:t>
            </a:r>
            <a:r>
              <a:rPr lang="zh-CN" altLang="en-US" sz="1800" dirty="0">
                <a:solidFill>
                  <a:srgbClr val="FF3300"/>
                </a:solidFill>
              </a:rPr>
              <a:t>√</a:t>
            </a:r>
            <a:endParaRPr lang="en-US" altLang="zh-CN" sz="1800" dirty="0">
              <a:solidFill>
                <a:srgbClr val="FF3300"/>
              </a:solidFill>
            </a:endParaRPr>
          </a:p>
        </p:txBody>
      </p:sp>
      <p:sp>
        <p:nvSpPr>
          <p:cNvPr id="49172" name="直接连接符 49171"/>
          <p:cNvSpPr/>
          <p:nvPr/>
        </p:nvSpPr>
        <p:spPr>
          <a:xfrm flipH="1">
            <a:off x="5399584" y="2240868"/>
            <a:ext cx="152400" cy="0"/>
          </a:xfrm>
          <a:prstGeom prst="line">
            <a:avLst/>
          </a:prstGeom>
          <a:ln w="12700" cap="sq" cmpd="sng">
            <a:solidFill>
              <a:schemeClr val="bg2"/>
            </a:solidFill>
            <a:prstDash val="solid"/>
            <a:headEnd type="none" w="sm" len="sm"/>
            <a:tailEnd type="triangle" w="sm" len="sm"/>
          </a:ln>
        </p:spPr>
      </p:sp>
      <p:sp>
        <p:nvSpPr>
          <p:cNvPr id="21"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文本框 49153"/>
          <p:cNvSpPr txBox="1"/>
          <p:nvPr/>
        </p:nvSpPr>
        <p:spPr>
          <a:xfrm>
            <a:off x="4428238" y="971629"/>
            <a:ext cx="4500500" cy="3647152"/>
          </a:xfrm>
          <a:prstGeom prst="rect">
            <a:avLst/>
          </a:prstGeom>
          <a:noFill/>
          <a:ln w="12700">
            <a:noFill/>
          </a:ln>
        </p:spPr>
        <p:txBody>
          <a:bodyPr wrap="square">
            <a:spAutoFit/>
          </a:bodyPr>
          <a:lstStyle/>
          <a:p>
            <a:pPr>
              <a:spcBef>
                <a:spcPct val="50000"/>
              </a:spcBef>
            </a:pPr>
            <a:r>
              <a:rPr lang="zh-CN" altLang="en-US" sz="2200" b="0" dirty="0">
                <a:solidFill>
                  <a:srgbClr val="000000"/>
                </a:solidFill>
                <a:latin typeface="Times New Roman" panose="02020603050405020304" pitchFamily="18" charset="0"/>
              </a:rPr>
              <a:t>对带符号数，若溢出标志</a:t>
            </a:r>
            <a:r>
              <a:rPr lang="en-US" altLang="zh-CN" sz="2200" b="0" dirty="0">
                <a:solidFill>
                  <a:srgbClr val="000000"/>
                </a:solidFill>
                <a:latin typeface="Times New Roman" panose="02020603050405020304" pitchFamily="18" charset="0"/>
              </a:rPr>
              <a:t>OF</a:t>
            </a:r>
            <a:r>
              <a:rPr lang="zh-CN" altLang="en-US" sz="2200" b="0" dirty="0">
                <a:solidFill>
                  <a:srgbClr val="000000"/>
                </a:solidFill>
                <a:latin typeface="Times New Roman" panose="02020603050405020304" pitchFamily="18" charset="0"/>
              </a:rPr>
              <a:t>为</a:t>
            </a:r>
            <a:r>
              <a:rPr lang="en-US" altLang="zh-CN" sz="2200" b="0" dirty="0">
                <a:solidFill>
                  <a:srgbClr val="000000"/>
                </a:solidFill>
                <a:latin typeface="Times New Roman" panose="02020603050405020304" pitchFamily="18" charset="0"/>
              </a:rPr>
              <a:t>1</a:t>
            </a:r>
            <a:r>
              <a:rPr lang="zh-CN" altLang="en-US" sz="2200" b="0" dirty="0">
                <a:solidFill>
                  <a:srgbClr val="000000"/>
                </a:solidFill>
                <a:latin typeface="Times New Roman" panose="02020603050405020304" pitchFamily="18" charset="0"/>
              </a:rPr>
              <a:t>，则计算结果错误。</a:t>
            </a:r>
            <a:endParaRPr lang="en-US" altLang="zh-CN" sz="2200" b="0" dirty="0">
              <a:solidFill>
                <a:srgbClr val="000000"/>
              </a:solidFill>
              <a:latin typeface="Times New Roman" panose="02020603050405020304" pitchFamily="18" charset="0"/>
            </a:endParaRPr>
          </a:p>
          <a:p>
            <a:pPr>
              <a:spcBef>
                <a:spcPct val="50000"/>
              </a:spcBef>
            </a:pPr>
            <a:r>
              <a:rPr lang="zh-CN" altLang="en-US" sz="2200" b="0" dirty="0">
                <a:solidFill>
                  <a:srgbClr val="000000"/>
                </a:solidFill>
              </a:rPr>
              <a:t>溢出产生的原因是所表示的数超过的所给位数的最大能力，如：</a:t>
            </a:r>
            <a:r>
              <a:rPr lang="en-US" altLang="zh-CN" sz="2200" b="0" dirty="0">
                <a:solidFill>
                  <a:srgbClr val="000000"/>
                </a:solidFill>
              </a:rPr>
              <a:t>8</a:t>
            </a:r>
            <a:r>
              <a:rPr lang="zh-CN" altLang="en-US" sz="2200" b="0" dirty="0">
                <a:solidFill>
                  <a:srgbClr val="000000"/>
                </a:solidFill>
              </a:rPr>
              <a:t>位带符号数的表示范围在</a:t>
            </a:r>
            <a:r>
              <a:rPr lang="en-US" altLang="zh-CN" sz="2200" b="0" dirty="0">
                <a:solidFill>
                  <a:srgbClr val="000000"/>
                </a:solidFill>
              </a:rPr>
              <a:t>-128~+127</a:t>
            </a:r>
            <a:r>
              <a:rPr lang="zh-CN" altLang="en-US" sz="2200" b="0" dirty="0">
                <a:solidFill>
                  <a:srgbClr val="000000"/>
                </a:solidFill>
              </a:rPr>
              <a:t>。</a:t>
            </a:r>
            <a:endParaRPr lang="en-US" altLang="zh-CN" sz="2200" b="0" dirty="0">
              <a:solidFill>
                <a:srgbClr val="000000"/>
              </a:solidFill>
            </a:endParaRPr>
          </a:p>
          <a:p>
            <a:pPr>
              <a:spcBef>
                <a:spcPct val="50000"/>
              </a:spcBef>
            </a:pPr>
            <a:r>
              <a:rPr lang="zh-CN" altLang="en-US" sz="2200" b="0" dirty="0">
                <a:solidFill>
                  <a:srgbClr val="000000"/>
                </a:solidFill>
              </a:rPr>
              <a:t>处理方法：增加位数。右侧例题只要把位数扩展到</a:t>
            </a:r>
            <a:r>
              <a:rPr lang="en-US" altLang="zh-CN" sz="2200" b="0" dirty="0">
                <a:solidFill>
                  <a:srgbClr val="000000"/>
                </a:solidFill>
              </a:rPr>
              <a:t>16</a:t>
            </a:r>
            <a:r>
              <a:rPr lang="zh-CN" altLang="en-US" sz="2200" b="0" dirty="0">
                <a:solidFill>
                  <a:srgbClr val="000000"/>
                </a:solidFill>
              </a:rPr>
              <a:t>位就不会溢出了。</a:t>
            </a:r>
            <a:endParaRPr lang="en-US" altLang="zh-CN" sz="2200" b="0" dirty="0">
              <a:solidFill>
                <a:srgbClr val="000000"/>
              </a:solidFill>
            </a:endParaRPr>
          </a:p>
          <a:p>
            <a:pPr>
              <a:spcBef>
                <a:spcPct val="50000"/>
              </a:spcBef>
            </a:pPr>
            <a:r>
              <a:rPr lang="zh-CN" altLang="en-US" sz="2200" b="0" dirty="0">
                <a:solidFill>
                  <a:srgbClr val="000000"/>
                </a:solidFill>
                <a:latin typeface="Times New Roman" panose="02020603050405020304" pitchFamily="18" charset="0"/>
              </a:rPr>
              <a:t>扩展方法：若最高位为</a:t>
            </a:r>
            <a:r>
              <a:rPr lang="en-US" altLang="zh-CN" sz="2200" b="0" dirty="0">
                <a:solidFill>
                  <a:srgbClr val="000000"/>
                </a:solidFill>
                <a:latin typeface="Times New Roman" panose="02020603050405020304" pitchFamily="18" charset="0"/>
              </a:rPr>
              <a:t>0</a:t>
            </a:r>
            <a:r>
              <a:rPr lang="zh-CN" altLang="en-US" sz="2200" b="0" dirty="0">
                <a:solidFill>
                  <a:srgbClr val="000000"/>
                </a:solidFill>
                <a:latin typeface="Times New Roman" panose="02020603050405020304" pitchFamily="18" charset="0"/>
              </a:rPr>
              <a:t>，则用</a:t>
            </a:r>
            <a:r>
              <a:rPr lang="en-US" altLang="zh-CN" sz="2200" b="0" dirty="0">
                <a:solidFill>
                  <a:srgbClr val="000000"/>
                </a:solidFill>
                <a:latin typeface="Times New Roman" panose="02020603050405020304" pitchFamily="18" charset="0"/>
              </a:rPr>
              <a:t>0</a:t>
            </a:r>
            <a:r>
              <a:rPr lang="zh-CN" altLang="en-US" sz="2200" b="0" dirty="0">
                <a:solidFill>
                  <a:srgbClr val="000000"/>
                </a:solidFill>
                <a:latin typeface="Times New Roman" panose="02020603050405020304" pitchFamily="18" charset="0"/>
              </a:rPr>
              <a:t>扩展，若最高位为</a:t>
            </a:r>
            <a:r>
              <a:rPr lang="en-US" altLang="zh-CN" sz="2200" b="0" dirty="0">
                <a:solidFill>
                  <a:srgbClr val="000000"/>
                </a:solidFill>
                <a:latin typeface="Times New Roman" panose="02020603050405020304" pitchFamily="18" charset="0"/>
              </a:rPr>
              <a:t>1</a:t>
            </a:r>
            <a:r>
              <a:rPr lang="zh-CN" altLang="en-US" sz="2200" b="0" dirty="0">
                <a:solidFill>
                  <a:srgbClr val="000000"/>
                </a:solidFill>
                <a:latin typeface="Times New Roman" panose="02020603050405020304" pitchFamily="18" charset="0"/>
              </a:rPr>
              <a:t>，则用</a:t>
            </a:r>
            <a:r>
              <a:rPr lang="en-US" altLang="zh-CN" sz="2200" b="0" dirty="0">
                <a:solidFill>
                  <a:srgbClr val="000000"/>
                </a:solidFill>
                <a:latin typeface="Times New Roman" panose="02020603050405020304" pitchFamily="18" charset="0"/>
              </a:rPr>
              <a:t>1</a:t>
            </a:r>
            <a:r>
              <a:rPr lang="zh-CN" altLang="en-US" sz="2200" b="0" dirty="0">
                <a:solidFill>
                  <a:srgbClr val="000000"/>
                </a:solidFill>
                <a:latin typeface="Times New Roman" panose="02020603050405020304" pitchFamily="18" charset="0"/>
              </a:rPr>
              <a:t>扩展。</a:t>
            </a:r>
            <a:endParaRPr lang="en-US" altLang="zh-CN" sz="2200" b="0" dirty="0">
              <a:solidFill>
                <a:srgbClr val="000000"/>
              </a:solidFill>
              <a:latin typeface="Times New Roman" panose="02020603050405020304" pitchFamily="18" charset="0"/>
            </a:endParaRPr>
          </a:p>
        </p:txBody>
      </p:sp>
      <p:sp>
        <p:nvSpPr>
          <p:cNvPr id="49159" name="直接连接符 49158"/>
          <p:cNvSpPr/>
          <p:nvPr/>
        </p:nvSpPr>
        <p:spPr>
          <a:xfrm>
            <a:off x="738300" y="4833156"/>
            <a:ext cx="2362200" cy="0"/>
          </a:xfrm>
          <a:prstGeom prst="line">
            <a:avLst/>
          </a:prstGeom>
          <a:ln w="12700" cap="sq" cmpd="sng">
            <a:solidFill>
              <a:schemeClr val="bg2"/>
            </a:solidFill>
            <a:prstDash val="solid"/>
            <a:headEnd type="none" w="sm" len="sm"/>
            <a:tailEnd type="none" w="sm" len="sm"/>
          </a:ln>
        </p:spPr>
      </p:sp>
      <p:sp>
        <p:nvSpPr>
          <p:cNvPr id="49160" name="矩形 49159"/>
          <p:cNvSpPr/>
          <p:nvPr/>
        </p:nvSpPr>
        <p:spPr>
          <a:xfrm>
            <a:off x="357300" y="4147269"/>
            <a:ext cx="3746648" cy="1981200"/>
          </a:xfrm>
          <a:prstGeom prst="rect">
            <a:avLst/>
          </a:prstGeom>
          <a:noFill/>
          <a:ln w="12700" cap="flat" cmpd="sng">
            <a:solidFill>
              <a:schemeClr val="hlink"/>
            </a:solidFill>
            <a:prstDash val="dash"/>
            <a:miter/>
            <a:headEnd type="none" w="sm" len="sm"/>
            <a:tailEnd type="none" w="sm" len="sm"/>
          </a:ln>
        </p:spPr>
        <p:txBody>
          <a:bodyPr/>
          <a:lstStyle/>
          <a:p>
            <a:endParaRPr lang="zh-CN" altLang="en-US"/>
          </a:p>
        </p:txBody>
      </p:sp>
      <p:sp>
        <p:nvSpPr>
          <p:cNvPr id="49161" name="矩形 49160"/>
          <p:cNvSpPr/>
          <p:nvPr/>
        </p:nvSpPr>
        <p:spPr>
          <a:xfrm>
            <a:off x="357300" y="4223469"/>
            <a:ext cx="3581400" cy="1948226"/>
          </a:xfrm>
          <a:prstGeom prst="rect">
            <a:avLst/>
          </a:prstGeom>
          <a:noFill/>
          <a:ln w="12700">
            <a:noFill/>
          </a:ln>
        </p:spPr>
        <p:txBody>
          <a:bodyPr wrap="square">
            <a:spAutoFit/>
          </a:bodyPr>
          <a:lstStyle/>
          <a:p>
            <a:pPr>
              <a:lnSpc>
                <a:spcPct val="70000"/>
              </a:lnSpc>
              <a:spcBef>
                <a:spcPct val="50000"/>
              </a:spcBef>
            </a:pPr>
            <a:r>
              <a:rPr lang="en-US" altLang="zh-CN" sz="1800" b="1" dirty="0">
                <a:solidFill>
                  <a:srgbClr val="000000"/>
                </a:solidFill>
              </a:rPr>
              <a:t>            0 0 0 0   1 0 0 1 </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  0 1 1 1   1 1 0 0</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1 0 0 0   0 1 0 1</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a:t>
            </a:r>
            <a:r>
              <a:rPr lang="zh-CN" altLang="en-US" sz="1800" b="1" dirty="0">
                <a:solidFill>
                  <a:srgbClr val="000000"/>
                </a:solidFill>
              </a:rPr>
              <a:t>带</a:t>
            </a:r>
            <a:r>
              <a:rPr lang="en-US" altLang="zh-CN" sz="1800" b="1" dirty="0">
                <a:solidFill>
                  <a:srgbClr val="000000"/>
                </a:solidFill>
              </a:rPr>
              <a:t>:  (+9)+(+124)=133</a:t>
            </a:r>
            <a:endParaRPr lang="en-US" altLang="zh-CN" sz="1800" b="1" dirty="0">
              <a:solidFill>
                <a:srgbClr val="000000"/>
              </a:solidFill>
            </a:endParaRPr>
          </a:p>
          <a:p>
            <a:pPr>
              <a:lnSpc>
                <a:spcPct val="70000"/>
              </a:lnSpc>
              <a:spcBef>
                <a:spcPct val="50000"/>
              </a:spcBef>
            </a:pPr>
            <a:r>
              <a:rPr lang="en-US" altLang="zh-CN" sz="1800" dirty="0">
                <a:solidFill>
                  <a:srgbClr val="000000"/>
                </a:solidFill>
              </a:rPr>
              <a:t>	</a:t>
            </a:r>
            <a:r>
              <a:rPr lang="zh-CN" altLang="en-US" sz="1800" b="1" dirty="0">
                <a:solidFill>
                  <a:srgbClr val="000000"/>
                </a:solidFill>
              </a:rPr>
              <a:t>现为：</a:t>
            </a:r>
            <a:r>
              <a:rPr lang="en-US" altLang="zh-CN" sz="1800" b="1" dirty="0">
                <a:solidFill>
                  <a:srgbClr val="000000"/>
                </a:solidFill>
              </a:rPr>
              <a:t>-123      OF=1</a:t>
            </a:r>
            <a:r>
              <a:rPr lang="zh-CN" altLang="en-US" sz="1800" dirty="0">
                <a:solidFill>
                  <a:srgbClr val="FF3300"/>
                </a:solidFill>
              </a:rPr>
              <a:t> ？</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a:t>
            </a:r>
            <a:r>
              <a:rPr lang="zh-CN" altLang="en-US" sz="1800" b="1" dirty="0">
                <a:solidFill>
                  <a:srgbClr val="000000"/>
                </a:solidFill>
              </a:rPr>
              <a:t>无</a:t>
            </a:r>
            <a:r>
              <a:rPr lang="en-US" altLang="zh-CN" sz="1800" b="1" dirty="0">
                <a:solidFill>
                  <a:srgbClr val="000000"/>
                </a:solidFill>
              </a:rPr>
              <a:t>:  9+124=133               CF=0</a:t>
            </a:r>
            <a:endParaRPr lang="en-US" altLang="zh-CN" sz="1800" b="1" dirty="0">
              <a:solidFill>
                <a:srgbClr val="000000"/>
              </a:solidFill>
            </a:endParaRPr>
          </a:p>
        </p:txBody>
      </p:sp>
      <p:sp>
        <p:nvSpPr>
          <p:cNvPr id="49162" name="矩形 49161"/>
          <p:cNvSpPr/>
          <p:nvPr/>
        </p:nvSpPr>
        <p:spPr>
          <a:xfrm>
            <a:off x="1195500" y="6128469"/>
            <a:ext cx="1717675" cy="396875"/>
          </a:xfrm>
          <a:prstGeom prst="rect">
            <a:avLst/>
          </a:prstGeom>
          <a:noFill/>
          <a:ln w="12700">
            <a:noFill/>
          </a:ln>
        </p:spPr>
        <p:txBody>
          <a:bodyPr wrap="none" anchor="t">
            <a:spAutoFit/>
          </a:bodyPr>
          <a:lstStyle/>
          <a:p>
            <a:r>
              <a:rPr lang="zh-CN" altLang="en-US" sz="2000" b="1" dirty="0">
                <a:solidFill>
                  <a:srgbClr val="000000"/>
                </a:solidFill>
                <a:latin typeface="Times New Roman" panose="02020603050405020304" pitchFamily="18" charset="0"/>
                <a:ea typeface="楷体_GB2312" pitchFamily="49" charset="-122"/>
              </a:rPr>
              <a:t>带符号数溢出</a:t>
            </a:r>
            <a:endParaRPr lang="zh-CN" altLang="en-US" sz="2000" b="1" dirty="0">
              <a:solidFill>
                <a:srgbClr val="000000"/>
              </a:solidFill>
              <a:latin typeface="Times New Roman" panose="02020603050405020304" pitchFamily="18" charset="0"/>
              <a:ea typeface="楷体_GB2312" pitchFamily="49" charset="-122"/>
            </a:endParaRPr>
          </a:p>
        </p:txBody>
      </p:sp>
      <p:sp>
        <p:nvSpPr>
          <p:cNvPr id="49168" name="矩形 49167"/>
          <p:cNvSpPr/>
          <p:nvPr/>
        </p:nvSpPr>
        <p:spPr>
          <a:xfrm>
            <a:off x="528712" y="3499197"/>
            <a:ext cx="3251200" cy="396875"/>
          </a:xfrm>
          <a:prstGeom prst="rect">
            <a:avLst/>
          </a:prstGeom>
          <a:noFill/>
          <a:ln w="12700">
            <a:noFill/>
          </a:ln>
        </p:spPr>
        <p:txBody>
          <a:bodyPr wrap="none" anchor="t">
            <a:spAutoFit/>
          </a:bodyPr>
          <a:lstStyle/>
          <a:p>
            <a:r>
              <a:rPr lang="zh-CN" altLang="en-US" sz="2000" b="1" dirty="0">
                <a:solidFill>
                  <a:srgbClr val="000000"/>
                </a:solidFill>
                <a:latin typeface="Times New Roman" panose="02020603050405020304" pitchFamily="18" charset="0"/>
                <a:ea typeface="楷体_GB2312" pitchFamily="49" charset="-122"/>
              </a:rPr>
              <a:t>带符号数和无符号数都溢出</a:t>
            </a:r>
            <a:endParaRPr lang="zh-CN" altLang="en-US" sz="2000" b="1" dirty="0">
              <a:solidFill>
                <a:srgbClr val="000000"/>
              </a:solidFill>
              <a:latin typeface="Times New Roman" panose="02020603050405020304" pitchFamily="18" charset="0"/>
              <a:ea typeface="楷体_GB2312" pitchFamily="49" charset="-122"/>
            </a:endParaRPr>
          </a:p>
        </p:txBody>
      </p:sp>
      <p:sp>
        <p:nvSpPr>
          <p:cNvPr id="49169" name="直接连接符 49168"/>
          <p:cNvSpPr/>
          <p:nvPr/>
        </p:nvSpPr>
        <p:spPr>
          <a:xfrm>
            <a:off x="738300" y="1919213"/>
            <a:ext cx="2362200" cy="0"/>
          </a:xfrm>
          <a:prstGeom prst="line">
            <a:avLst/>
          </a:prstGeom>
          <a:ln w="12700" cap="sq" cmpd="sng">
            <a:solidFill>
              <a:schemeClr val="bg2"/>
            </a:solidFill>
            <a:prstDash val="solid"/>
            <a:headEnd type="none" w="sm" len="sm"/>
            <a:tailEnd type="none" w="sm" len="sm"/>
          </a:ln>
        </p:spPr>
      </p:sp>
      <p:sp>
        <p:nvSpPr>
          <p:cNvPr id="49170" name="矩形 49169"/>
          <p:cNvSpPr/>
          <p:nvPr/>
        </p:nvSpPr>
        <p:spPr>
          <a:xfrm>
            <a:off x="357300" y="1082737"/>
            <a:ext cx="3746648" cy="2454275"/>
          </a:xfrm>
          <a:prstGeom prst="rect">
            <a:avLst/>
          </a:prstGeom>
          <a:noFill/>
          <a:ln w="12700" cap="flat" cmpd="sng">
            <a:solidFill>
              <a:schemeClr val="hlink"/>
            </a:solidFill>
            <a:prstDash val="dash"/>
            <a:miter/>
            <a:headEnd type="none" w="sm" len="sm"/>
            <a:tailEnd type="none" w="sm" len="sm"/>
          </a:ln>
        </p:spPr>
        <p:txBody>
          <a:bodyPr/>
          <a:lstStyle/>
          <a:p>
            <a:endParaRPr lang="zh-CN" altLang="en-US"/>
          </a:p>
        </p:txBody>
      </p:sp>
      <p:sp>
        <p:nvSpPr>
          <p:cNvPr id="49171" name="矩形 49170"/>
          <p:cNvSpPr/>
          <p:nvPr/>
        </p:nvSpPr>
        <p:spPr>
          <a:xfrm>
            <a:off x="281100" y="1230622"/>
            <a:ext cx="3657600" cy="2302169"/>
          </a:xfrm>
          <a:prstGeom prst="rect">
            <a:avLst/>
          </a:prstGeom>
          <a:noFill/>
          <a:ln w="12700">
            <a:noFill/>
          </a:ln>
        </p:spPr>
        <p:txBody>
          <a:bodyPr>
            <a:spAutoFit/>
          </a:bodyPr>
          <a:lstStyle/>
          <a:p>
            <a:pPr>
              <a:lnSpc>
                <a:spcPct val="70000"/>
              </a:lnSpc>
              <a:spcBef>
                <a:spcPct val="50000"/>
              </a:spcBef>
            </a:pPr>
            <a:r>
              <a:rPr lang="en-US" altLang="zh-CN" sz="2000" b="1" dirty="0">
                <a:solidFill>
                  <a:srgbClr val="000000"/>
                </a:solidFill>
                <a:latin typeface="Times New Roman" panose="02020603050405020304" pitchFamily="18" charset="0"/>
              </a:rPr>
              <a:t>           </a:t>
            </a:r>
            <a:r>
              <a:rPr lang="en-US" altLang="zh-CN" sz="1800" b="1" dirty="0">
                <a:solidFill>
                  <a:srgbClr val="000000"/>
                </a:solidFill>
              </a:rPr>
              <a:t> 1 0 0 0   0 1 1 1</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   1 1 1 1   0 1 0 1</a:t>
            </a:r>
            <a:endParaRPr lang="en-US" altLang="zh-CN" sz="1800" b="1" dirty="0">
              <a:solidFill>
                <a:srgbClr val="000000"/>
              </a:solidFill>
            </a:endParaRPr>
          </a:p>
          <a:p>
            <a:pPr>
              <a:lnSpc>
                <a:spcPct val="70000"/>
              </a:lnSpc>
              <a:spcBef>
                <a:spcPct val="50000"/>
              </a:spcBef>
            </a:pPr>
            <a:r>
              <a:rPr lang="en-US" altLang="zh-CN" sz="1800" b="1" dirty="0">
                <a:solidFill>
                  <a:srgbClr val="000000"/>
                </a:solidFill>
              </a:rPr>
              <a:t>        1   0 1 1 1   1 1 0 0</a:t>
            </a:r>
            <a:endParaRPr lang="en-US" altLang="zh-CN" sz="1800" b="1" dirty="0">
              <a:solidFill>
                <a:srgbClr val="000000"/>
              </a:solidFill>
            </a:endParaRPr>
          </a:p>
          <a:p>
            <a:pPr>
              <a:lnSpc>
                <a:spcPct val="70000"/>
              </a:lnSpc>
              <a:spcBef>
                <a:spcPct val="50000"/>
              </a:spcBef>
            </a:pPr>
            <a:r>
              <a:rPr lang="zh-CN" altLang="en-US" sz="1800" b="1" dirty="0">
                <a:solidFill>
                  <a:srgbClr val="000000"/>
                </a:solidFill>
              </a:rPr>
              <a:t>  带：</a:t>
            </a:r>
            <a:r>
              <a:rPr lang="en-US" altLang="zh-CN" sz="1800" b="1" dirty="0">
                <a:solidFill>
                  <a:srgbClr val="000000"/>
                </a:solidFill>
              </a:rPr>
              <a:t>(-121)+(-11)=-132</a:t>
            </a:r>
            <a:endParaRPr lang="en-US" altLang="zh-CN" sz="1800" b="1" dirty="0">
              <a:solidFill>
                <a:srgbClr val="000000"/>
              </a:solidFill>
            </a:endParaRPr>
          </a:p>
          <a:p>
            <a:pPr>
              <a:lnSpc>
                <a:spcPct val="70000"/>
              </a:lnSpc>
              <a:spcBef>
                <a:spcPct val="50000"/>
              </a:spcBef>
            </a:pPr>
            <a:r>
              <a:rPr lang="en-US" altLang="zh-CN" sz="1800" dirty="0">
                <a:solidFill>
                  <a:srgbClr val="000000"/>
                </a:solidFill>
              </a:rPr>
              <a:t>	</a:t>
            </a:r>
            <a:r>
              <a:rPr lang="zh-CN" altLang="en-US" sz="1800" dirty="0">
                <a:solidFill>
                  <a:srgbClr val="000000"/>
                </a:solidFill>
              </a:rPr>
              <a:t>现为：</a:t>
            </a:r>
            <a:r>
              <a:rPr lang="en-US" altLang="zh-CN" sz="1800" dirty="0">
                <a:solidFill>
                  <a:srgbClr val="000000"/>
                </a:solidFill>
              </a:rPr>
              <a:t>124  </a:t>
            </a:r>
            <a:r>
              <a:rPr lang="en-US" altLang="zh-CN" sz="1800" b="1" dirty="0">
                <a:solidFill>
                  <a:srgbClr val="000000"/>
                </a:solidFill>
              </a:rPr>
              <a:t>         OF=1 </a:t>
            </a:r>
            <a:r>
              <a:rPr lang="zh-CN" altLang="en-US" sz="1800" dirty="0">
                <a:solidFill>
                  <a:srgbClr val="FF3300"/>
                </a:solidFill>
              </a:rPr>
              <a:t>？</a:t>
            </a:r>
            <a:endParaRPr lang="en-US" altLang="zh-CN" sz="1800" b="1" dirty="0">
              <a:solidFill>
                <a:srgbClr val="000000"/>
              </a:solidFill>
            </a:endParaRPr>
          </a:p>
          <a:p>
            <a:pPr>
              <a:lnSpc>
                <a:spcPct val="70000"/>
              </a:lnSpc>
              <a:spcBef>
                <a:spcPct val="50000"/>
              </a:spcBef>
            </a:pPr>
            <a:r>
              <a:rPr lang="zh-CN" altLang="en-US" sz="1800" b="1" dirty="0">
                <a:solidFill>
                  <a:srgbClr val="000000"/>
                </a:solidFill>
              </a:rPr>
              <a:t>  无：</a:t>
            </a:r>
            <a:r>
              <a:rPr lang="en-US" altLang="zh-CN" sz="1800" b="1" dirty="0">
                <a:solidFill>
                  <a:srgbClr val="000000"/>
                </a:solidFill>
              </a:rPr>
              <a:t>135+245=380</a:t>
            </a:r>
            <a:endParaRPr lang="en-US" altLang="zh-CN" sz="1800" b="1" dirty="0">
              <a:solidFill>
                <a:srgbClr val="000000"/>
              </a:solidFill>
            </a:endParaRPr>
          </a:p>
          <a:p>
            <a:pPr>
              <a:lnSpc>
                <a:spcPct val="70000"/>
              </a:lnSpc>
              <a:spcBef>
                <a:spcPct val="50000"/>
              </a:spcBef>
            </a:pPr>
            <a:r>
              <a:rPr lang="en-US" altLang="zh-CN" sz="1800" dirty="0">
                <a:solidFill>
                  <a:srgbClr val="000000"/>
                </a:solidFill>
              </a:rPr>
              <a:t>	</a:t>
            </a:r>
            <a:r>
              <a:rPr lang="zh-CN" altLang="en-US" sz="1800" dirty="0">
                <a:solidFill>
                  <a:srgbClr val="000000"/>
                </a:solidFill>
              </a:rPr>
              <a:t>现为：</a:t>
            </a:r>
            <a:r>
              <a:rPr lang="en-US" altLang="zh-CN" sz="1800" b="1" dirty="0">
                <a:solidFill>
                  <a:srgbClr val="000000"/>
                </a:solidFill>
              </a:rPr>
              <a:t>124           CF=1 </a:t>
            </a:r>
            <a:r>
              <a:rPr lang="zh-CN" altLang="en-US" sz="1800" dirty="0">
                <a:solidFill>
                  <a:srgbClr val="FF3300"/>
                </a:solidFill>
              </a:rPr>
              <a:t>√</a:t>
            </a:r>
            <a:endParaRPr lang="en-US" altLang="zh-CN" sz="1800" dirty="0">
              <a:solidFill>
                <a:srgbClr val="FF3300"/>
              </a:solidFill>
            </a:endParaRPr>
          </a:p>
        </p:txBody>
      </p:sp>
      <p:sp>
        <p:nvSpPr>
          <p:cNvPr id="49172" name="直接连接符 49171"/>
          <p:cNvSpPr/>
          <p:nvPr/>
        </p:nvSpPr>
        <p:spPr>
          <a:xfrm flipH="1">
            <a:off x="1043100" y="1843013"/>
            <a:ext cx="152400" cy="0"/>
          </a:xfrm>
          <a:prstGeom prst="line">
            <a:avLst/>
          </a:prstGeom>
          <a:ln w="12700" cap="sq" cmpd="sng">
            <a:solidFill>
              <a:schemeClr val="bg2"/>
            </a:solidFill>
            <a:prstDash val="solid"/>
            <a:headEnd type="none" w="sm" len="sm"/>
            <a:tailEnd type="triangle" w="sm" len="sm"/>
          </a:ln>
        </p:spPr>
      </p:sp>
      <p:sp>
        <p:nvSpPr>
          <p:cNvPr id="21"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4392488" y="4725144"/>
            <a:ext cx="4572000" cy="1785104"/>
          </a:xfrm>
          <a:prstGeom prst="rect">
            <a:avLst/>
          </a:prstGeom>
        </p:spPr>
        <p:txBody>
          <a:bodyPr>
            <a:spAutoFit/>
          </a:bodyPr>
          <a:lstStyle/>
          <a:p>
            <a:r>
              <a:rPr lang="zh-CN" altLang="en-US" sz="2200" b="0" dirty="0">
                <a:solidFill>
                  <a:srgbClr val="000000"/>
                </a:solidFill>
              </a:rPr>
              <a:t>进位标志</a:t>
            </a:r>
            <a:r>
              <a:rPr lang="en-US" altLang="zh-CN" sz="2200" b="0" dirty="0">
                <a:solidFill>
                  <a:srgbClr val="000000"/>
                </a:solidFill>
              </a:rPr>
              <a:t>CF</a:t>
            </a:r>
            <a:r>
              <a:rPr lang="zh-CN" altLang="en-US" sz="2200" b="0" dirty="0">
                <a:solidFill>
                  <a:srgbClr val="000000"/>
                </a:solidFill>
              </a:rPr>
              <a:t>和溢出标志</a:t>
            </a:r>
            <a:r>
              <a:rPr lang="en-US" altLang="zh-CN" sz="2200" b="0" dirty="0">
                <a:solidFill>
                  <a:srgbClr val="000000"/>
                </a:solidFill>
              </a:rPr>
              <a:t>OF</a:t>
            </a:r>
            <a:r>
              <a:rPr lang="zh-CN" altLang="en-US" sz="2200" b="0" dirty="0">
                <a:solidFill>
                  <a:srgbClr val="000000"/>
                </a:solidFill>
              </a:rPr>
              <a:t>的区别：</a:t>
            </a:r>
            <a:endParaRPr lang="zh-CN" altLang="en-US" sz="2200" b="0" dirty="0">
              <a:solidFill>
                <a:srgbClr val="000000"/>
              </a:solidFill>
            </a:endParaRPr>
          </a:p>
          <a:p>
            <a:pPr marL="342900" indent="-342900">
              <a:buFont typeface="Wingdings" panose="05000000000000000000" pitchFamily="2" charset="2"/>
              <a:buChar char="u"/>
            </a:pPr>
            <a:r>
              <a:rPr lang="en-US" altLang="zh-CN" sz="2200" b="0" dirty="0">
                <a:solidFill>
                  <a:srgbClr val="000000"/>
                </a:solidFill>
              </a:rPr>
              <a:t>CF</a:t>
            </a:r>
            <a:r>
              <a:rPr lang="zh-CN" altLang="en-US" sz="2200" b="0" dirty="0">
                <a:solidFill>
                  <a:srgbClr val="000000"/>
                </a:solidFill>
              </a:rPr>
              <a:t>表示无符号数运算结果是否超出范围，运算结果仍然正确</a:t>
            </a:r>
            <a:endParaRPr lang="zh-CN" altLang="en-US" sz="2200" b="0" dirty="0">
              <a:solidFill>
                <a:srgbClr val="000000"/>
              </a:solidFill>
            </a:endParaRPr>
          </a:p>
          <a:p>
            <a:pPr marL="342900" indent="-342900">
              <a:buFont typeface="Wingdings" panose="05000000000000000000" pitchFamily="2" charset="2"/>
              <a:buChar char="u"/>
            </a:pPr>
            <a:r>
              <a:rPr lang="en-US" altLang="zh-CN" sz="2200" b="0" dirty="0">
                <a:solidFill>
                  <a:srgbClr val="000000"/>
                </a:solidFill>
              </a:rPr>
              <a:t>OF</a:t>
            </a:r>
            <a:r>
              <a:rPr lang="zh-CN" altLang="en-US" sz="2200" b="0" dirty="0">
                <a:solidFill>
                  <a:srgbClr val="000000"/>
                </a:solidFill>
              </a:rPr>
              <a:t>表示有符号数运算结果是否超出范围，运算结果已经不正确</a:t>
            </a:r>
            <a:endParaRPr lang="zh-CN" altLang="zh-CN" sz="2200" b="0" dirty="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51520" y="4941168"/>
            <a:ext cx="2499767" cy="1677994"/>
          </a:xfrm>
          <a:prstGeom prst="rect">
            <a:avLst/>
          </a:prstGeom>
        </p:spPr>
      </p:pic>
      <p:sp>
        <p:nvSpPr>
          <p:cNvPr id="48130" name="文本框 48129"/>
          <p:cNvSpPr txBox="1"/>
          <p:nvPr/>
        </p:nvSpPr>
        <p:spPr>
          <a:xfrm>
            <a:off x="1061925" y="1016732"/>
            <a:ext cx="6934200" cy="461665"/>
          </a:xfrm>
          <a:prstGeom prst="rect">
            <a:avLst/>
          </a:prstGeom>
          <a:noFill/>
          <a:ln w="9525">
            <a:noFill/>
          </a:ln>
        </p:spPr>
        <p:txBody>
          <a:bodyPr>
            <a:spAutoFit/>
          </a:bodyPr>
          <a:lstStyle/>
          <a:p>
            <a:pPr algn="just" eaLnBrk="0" hangingPunct="0"/>
            <a:r>
              <a:rPr lang="zh-CN" altLang="en-US" b="1" dirty="0">
                <a:solidFill>
                  <a:srgbClr val="000000"/>
                </a:solidFill>
                <a:latin typeface="Times New Roman" panose="02020603050405020304" pitchFamily="18" charset="0"/>
              </a:rPr>
              <a:t>加法指令对</a:t>
            </a:r>
            <a:r>
              <a:rPr lang="zh-CN" altLang="en-US" b="1" dirty="0">
                <a:solidFill>
                  <a:srgbClr val="000000"/>
                </a:solidFill>
                <a:latin typeface="Times New Roman" panose="02020603050405020304" pitchFamily="18" charset="0"/>
                <a:ea typeface="楷体_GB2312" pitchFamily="49" charset="-122"/>
              </a:rPr>
              <a:t>条件标志位</a:t>
            </a:r>
            <a:r>
              <a:rPr lang="zh-CN" altLang="en-US" b="1" dirty="0">
                <a:solidFill>
                  <a:srgbClr val="000000"/>
                </a:solidFill>
                <a:latin typeface="Times New Roman" panose="02020603050405020304" pitchFamily="18" charset="0"/>
              </a:rPr>
              <a:t>的影响</a:t>
            </a:r>
            <a:endParaRPr lang="zh-CN" altLang="en-US" dirty="0">
              <a:solidFill>
                <a:srgbClr val="000000"/>
              </a:solidFill>
              <a:latin typeface="Times New Roman" panose="02020603050405020304" pitchFamily="18" charset="0"/>
            </a:endParaRPr>
          </a:p>
        </p:txBody>
      </p:sp>
      <p:sp>
        <p:nvSpPr>
          <p:cNvPr id="48131" name="文本框 48130"/>
          <p:cNvSpPr txBox="1"/>
          <p:nvPr/>
        </p:nvSpPr>
        <p:spPr>
          <a:xfrm>
            <a:off x="5477332" y="4799248"/>
            <a:ext cx="3487155" cy="1877437"/>
          </a:xfrm>
          <a:prstGeom prst="rect">
            <a:avLst/>
          </a:prstGeom>
          <a:noFill/>
          <a:ln w="12700">
            <a:noFill/>
          </a:ln>
        </p:spPr>
        <p:txBody>
          <a:bodyPr wrap="square">
            <a:spAutoFit/>
          </a:bodyPr>
          <a:lstStyle/>
          <a:p>
            <a:pPr eaLnBrk="0" hangingPunct="0">
              <a:lnSpc>
                <a:spcPct val="145000"/>
              </a:lnSpc>
            </a:pPr>
            <a:r>
              <a:rPr lang="en-US" altLang="zh-CN" sz="2000" b="1" dirty="0">
                <a:solidFill>
                  <a:srgbClr val="FF0000"/>
                </a:solidFill>
                <a:latin typeface="Times New Roman" panose="02020603050405020304" pitchFamily="18" charset="0"/>
              </a:rPr>
              <a:t>CF </a:t>
            </a:r>
            <a:r>
              <a:rPr lang="zh-CN" altLang="en-US" sz="2000" b="1" dirty="0">
                <a:solidFill>
                  <a:srgbClr val="FF0000"/>
                </a:solidFill>
                <a:latin typeface="Times New Roman" panose="02020603050405020304" pitchFamily="18" charset="0"/>
              </a:rPr>
              <a:t>位表示 无符号数 相加的溢出。</a:t>
            </a:r>
            <a:endParaRPr lang="zh-CN" altLang="en-US" sz="2000" b="1" dirty="0">
              <a:solidFill>
                <a:srgbClr val="FF0000"/>
              </a:solidFill>
              <a:latin typeface="Times New Roman" panose="02020603050405020304" pitchFamily="18" charset="0"/>
            </a:endParaRPr>
          </a:p>
          <a:p>
            <a:pPr eaLnBrk="0" hangingPunct="0">
              <a:lnSpc>
                <a:spcPct val="145000"/>
              </a:lnSpc>
            </a:pPr>
            <a:r>
              <a:rPr lang="en-US" altLang="zh-CN" sz="2000" b="1" dirty="0">
                <a:solidFill>
                  <a:srgbClr val="FF0000"/>
                </a:solidFill>
                <a:latin typeface="Times New Roman" panose="02020603050405020304" pitchFamily="18" charset="0"/>
              </a:rPr>
              <a:t>OF </a:t>
            </a:r>
            <a:r>
              <a:rPr lang="zh-CN" altLang="en-US" sz="2000" b="1" dirty="0">
                <a:solidFill>
                  <a:srgbClr val="FF0000"/>
                </a:solidFill>
                <a:latin typeface="Times New Roman" panose="02020603050405020304" pitchFamily="18" charset="0"/>
              </a:rPr>
              <a:t>位表示 带符号数 相加的溢出。</a:t>
            </a:r>
            <a:endParaRPr lang="zh-CN" altLang="en-US" sz="2000" b="1" dirty="0">
              <a:solidFill>
                <a:srgbClr val="FF0000"/>
              </a:solidFill>
              <a:latin typeface="Times New Roman" panose="02020603050405020304" pitchFamily="18" charset="0"/>
            </a:endParaRPr>
          </a:p>
        </p:txBody>
      </p:sp>
      <p:sp>
        <p:nvSpPr>
          <p:cNvPr id="48132" name="文本框 48131"/>
          <p:cNvSpPr txBox="1"/>
          <p:nvPr/>
        </p:nvSpPr>
        <p:spPr>
          <a:xfrm>
            <a:off x="2124533" y="1595971"/>
            <a:ext cx="1797050" cy="730250"/>
          </a:xfrm>
          <a:prstGeom prst="rect">
            <a:avLst/>
          </a:prstGeom>
          <a:noFill/>
          <a:ln w="12700">
            <a:noFill/>
          </a:ln>
        </p:spPr>
        <p:txBody>
          <a:bodyPr wrap="none">
            <a:spAutoFit/>
          </a:bodyPr>
          <a:lstStyle/>
          <a:p>
            <a:pPr>
              <a:lnSpc>
                <a:spcPct val="70000"/>
              </a:lnSpc>
              <a:spcBef>
                <a:spcPct val="50000"/>
              </a:spcBef>
            </a:pPr>
            <a:r>
              <a:rPr lang="en-US" altLang="zh-CN" sz="2200" b="1" dirty="0">
                <a:solidFill>
                  <a:srgbClr val="000000"/>
                </a:solidFill>
                <a:latin typeface="Times New Roman" panose="02020603050405020304" pitchFamily="18" charset="0"/>
              </a:rPr>
              <a:t>1     </a:t>
            </a:r>
            <a:r>
              <a:rPr lang="zh-CN" altLang="en-US" sz="2200" b="1" dirty="0">
                <a:solidFill>
                  <a:srgbClr val="000000"/>
                </a:solidFill>
                <a:latin typeface="Times New Roman" panose="02020603050405020304" pitchFamily="18" charset="0"/>
              </a:rPr>
              <a:t>结果为负</a:t>
            </a:r>
            <a:endParaRPr lang="zh-CN" altLang="en-US" sz="2200" b="1" dirty="0">
              <a:solidFill>
                <a:srgbClr val="000000"/>
              </a:solidFill>
              <a:latin typeface="Times New Roman" panose="02020603050405020304" pitchFamily="18" charset="0"/>
            </a:endParaRPr>
          </a:p>
          <a:p>
            <a:pPr>
              <a:lnSpc>
                <a:spcPct val="70000"/>
              </a:lnSpc>
              <a:spcBef>
                <a:spcPct val="50000"/>
              </a:spcBef>
            </a:pPr>
            <a:r>
              <a:rPr lang="en-US" altLang="zh-CN" sz="2200" b="1" dirty="0">
                <a:solidFill>
                  <a:srgbClr val="000000"/>
                </a:solidFill>
                <a:latin typeface="Times New Roman" panose="02020603050405020304" pitchFamily="18" charset="0"/>
              </a:rPr>
              <a:t>0     </a:t>
            </a:r>
            <a:r>
              <a:rPr lang="zh-CN" altLang="en-US" sz="2200" b="1" dirty="0">
                <a:solidFill>
                  <a:srgbClr val="000000"/>
                </a:solidFill>
                <a:latin typeface="Times New Roman" panose="02020603050405020304" pitchFamily="18" charset="0"/>
              </a:rPr>
              <a:t>否则</a:t>
            </a:r>
            <a:endParaRPr lang="zh-CN" altLang="en-US" sz="2200" b="1">
              <a:solidFill>
                <a:srgbClr val="000000"/>
              </a:solidFill>
              <a:latin typeface="Times New Roman" panose="02020603050405020304" pitchFamily="18" charset="0"/>
            </a:endParaRPr>
          </a:p>
        </p:txBody>
      </p:sp>
      <p:sp>
        <p:nvSpPr>
          <p:cNvPr id="48133" name="文本框 48132"/>
          <p:cNvSpPr txBox="1"/>
          <p:nvPr/>
        </p:nvSpPr>
        <p:spPr>
          <a:xfrm>
            <a:off x="1133933" y="1672171"/>
            <a:ext cx="712788" cy="457200"/>
          </a:xfrm>
          <a:prstGeom prst="rect">
            <a:avLst/>
          </a:prstGeom>
          <a:noFill/>
          <a:ln w="12700">
            <a:noFill/>
          </a:ln>
        </p:spPr>
        <p:txBody>
          <a:bodyPr wrap="none">
            <a:spAutoFit/>
          </a:bodyPr>
          <a:lstStyle/>
          <a:p>
            <a:pPr>
              <a:spcBef>
                <a:spcPct val="50000"/>
              </a:spcBef>
            </a:pPr>
            <a:r>
              <a:rPr lang="en-US" altLang="zh-CN" b="1">
                <a:solidFill>
                  <a:srgbClr val="000000"/>
                </a:solidFill>
                <a:latin typeface="Times New Roman" panose="02020603050405020304" pitchFamily="18" charset="0"/>
              </a:rPr>
              <a:t>SF=</a:t>
            </a:r>
            <a:endParaRPr lang="en-US" altLang="zh-CN">
              <a:solidFill>
                <a:srgbClr val="000000"/>
              </a:solidFill>
              <a:latin typeface="Times New Roman" panose="02020603050405020304" pitchFamily="18" charset="0"/>
            </a:endParaRPr>
          </a:p>
        </p:txBody>
      </p:sp>
      <p:sp>
        <p:nvSpPr>
          <p:cNvPr id="48134" name="左大括号 48133"/>
          <p:cNvSpPr/>
          <p:nvPr/>
        </p:nvSpPr>
        <p:spPr>
          <a:xfrm>
            <a:off x="1895933" y="1595971"/>
            <a:ext cx="76200" cy="685800"/>
          </a:xfrm>
          <a:prstGeom prst="leftBrace">
            <a:avLst>
              <a:gd name="adj1" fmla="val 75000"/>
              <a:gd name="adj2" fmla="val 50000"/>
            </a:avLst>
          </a:prstGeom>
          <a:noFill/>
          <a:ln w="12700" cap="sq" cmpd="sng">
            <a:solidFill>
              <a:schemeClr val="bg2"/>
            </a:solidFill>
            <a:prstDash val="solid"/>
            <a:headEnd type="none" w="sm" len="sm"/>
            <a:tailEnd type="none" w="sm" len="sm"/>
          </a:ln>
        </p:spPr>
        <p:txBody>
          <a:bodyPr/>
          <a:lstStyle/>
          <a:p>
            <a:endParaRPr lang="zh-CN" altLang="en-US"/>
          </a:p>
        </p:txBody>
      </p:sp>
      <p:sp>
        <p:nvSpPr>
          <p:cNvPr id="48135" name="文本框 48134"/>
          <p:cNvSpPr txBox="1"/>
          <p:nvPr/>
        </p:nvSpPr>
        <p:spPr>
          <a:xfrm>
            <a:off x="5477333" y="1592796"/>
            <a:ext cx="1655763" cy="730250"/>
          </a:xfrm>
          <a:prstGeom prst="rect">
            <a:avLst/>
          </a:prstGeom>
          <a:noFill/>
          <a:ln w="12700">
            <a:noFill/>
          </a:ln>
        </p:spPr>
        <p:txBody>
          <a:bodyPr wrap="none">
            <a:spAutoFit/>
          </a:bodyPr>
          <a:lstStyle/>
          <a:p>
            <a:pPr>
              <a:lnSpc>
                <a:spcPct val="70000"/>
              </a:lnSpc>
              <a:spcBef>
                <a:spcPct val="50000"/>
              </a:spcBef>
            </a:pPr>
            <a:r>
              <a:rPr lang="en-US" altLang="zh-CN" sz="2200" b="1" dirty="0">
                <a:solidFill>
                  <a:srgbClr val="000000"/>
                </a:solidFill>
                <a:latin typeface="Times New Roman" panose="02020603050405020304" pitchFamily="18" charset="0"/>
              </a:rPr>
              <a:t>1     </a:t>
            </a:r>
            <a:r>
              <a:rPr lang="zh-CN" altLang="en-US" sz="2200" b="1" dirty="0">
                <a:solidFill>
                  <a:srgbClr val="000000"/>
                </a:solidFill>
                <a:latin typeface="Times New Roman" panose="02020603050405020304" pitchFamily="18" charset="0"/>
              </a:rPr>
              <a:t>结果为</a:t>
            </a:r>
            <a:r>
              <a:rPr lang="en-US" altLang="zh-CN" sz="2200" b="1">
                <a:solidFill>
                  <a:srgbClr val="000000"/>
                </a:solidFill>
                <a:latin typeface="Times New Roman" panose="02020603050405020304" pitchFamily="18" charset="0"/>
              </a:rPr>
              <a:t>0</a:t>
            </a:r>
            <a:endParaRPr lang="en-US" altLang="zh-CN" sz="2200" b="1">
              <a:solidFill>
                <a:srgbClr val="000000"/>
              </a:solidFill>
              <a:latin typeface="Times New Roman" panose="02020603050405020304" pitchFamily="18" charset="0"/>
            </a:endParaRPr>
          </a:p>
          <a:p>
            <a:pPr>
              <a:lnSpc>
                <a:spcPct val="70000"/>
              </a:lnSpc>
              <a:spcBef>
                <a:spcPct val="50000"/>
              </a:spcBef>
            </a:pPr>
            <a:r>
              <a:rPr lang="en-US" altLang="zh-CN" sz="2200" b="1" dirty="0">
                <a:solidFill>
                  <a:srgbClr val="000000"/>
                </a:solidFill>
                <a:latin typeface="Times New Roman" panose="02020603050405020304" pitchFamily="18" charset="0"/>
              </a:rPr>
              <a:t>0     </a:t>
            </a:r>
            <a:r>
              <a:rPr lang="zh-CN" altLang="en-US" sz="2200" b="1" dirty="0">
                <a:solidFill>
                  <a:srgbClr val="000000"/>
                </a:solidFill>
                <a:latin typeface="Times New Roman" panose="02020603050405020304" pitchFamily="18" charset="0"/>
              </a:rPr>
              <a:t>否则</a:t>
            </a:r>
            <a:endParaRPr lang="zh-CN" altLang="en-US" sz="2200" b="1">
              <a:solidFill>
                <a:srgbClr val="000000"/>
              </a:solidFill>
              <a:latin typeface="Times New Roman" panose="02020603050405020304" pitchFamily="18" charset="0"/>
            </a:endParaRPr>
          </a:p>
        </p:txBody>
      </p:sp>
      <p:sp>
        <p:nvSpPr>
          <p:cNvPr id="48136" name="文本框 48135"/>
          <p:cNvSpPr txBox="1"/>
          <p:nvPr/>
        </p:nvSpPr>
        <p:spPr>
          <a:xfrm>
            <a:off x="4486733" y="1668996"/>
            <a:ext cx="746125" cy="457200"/>
          </a:xfrm>
          <a:prstGeom prst="rect">
            <a:avLst/>
          </a:prstGeom>
          <a:noFill/>
          <a:ln w="12700">
            <a:noFill/>
          </a:ln>
        </p:spPr>
        <p:txBody>
          <a:bodyPr wrap="none">
            <a:spAutoFit/>
          </a:bodyPr>
          <a:lstStyle/>
          <a:p>
            <a:pPr>
              <a:spcBef>
                <a:spcPct val="50000"/>
              </a:spcBef>
            </a:pPr>
            <a:r>
              <a:rPr lang="en-US" altLang="zh-CN" b="1">
                <a:solidFill>
                  <a:srgbClr val="000000"/>
                </a:solidFill>
                <a:latin typeface="Times New Roman" panose="02020603050405020304" pitchFamily="18" charset="0"/>
              </a:rPr>
              <a:t>ZF=</a:t>
            </a:r>
            <a:endParaRPr lang="en-US" altLang="zh-CN">
              <a:solidFill>
                <a:srgbClr val="000000"/>
              </a:solidFill>
              <a:latin typeface="Times New Roman" panose="02020603050405020304" pitchFamily="18" charset="0"/>
            </a:endParaRPr>
          </a:p>
        </p:txBody>
      </p:sp>
      <p:sp>
        <p:nvSpPr>
          <p:cNvPr id="48137" name="左大括号 48136"/>
          <p:cNvSpPr/>
          <p:nvPr/>
        </p:nvSpPr>
        <p:spPr>
          <a:xfrm>
            <a:off x="5248733" y="1592796"/>
            <a:ext cx="76200" cy="685800"/>
          </a:xfrm>
          <a:prstGeom prst="leftBrace">
            <a:avLst>
              <a:gd name="adj1" fmla="val 75000"/>
              <a:gd name="adj2" fmla="val 50000"/>
            </a:avLst>
          </a:prstGeom>
          <a:noFill/>
          <a:ln w="12700" cap="sq" cmpd="sng">
            <a:solidFill>
              <a:schemeClr val="bg2"/>
            </a:solidFill>
            <a:prstDash val="solid"/>
            <a:headEnd type="none" w="sm" len="sm"/>
            <a:tailEnd type="none" w="sm" len="sm"/>
          </a:ln>
        </p:spPr>
        <p:txBody>
          <a:bodyPr/>
          <a:lstStyle/>
          <a:p>
            <a:endParaRPr lang="zh-CN" altLang="en-US"/>
          </a:p>
        </p:txBody>
      </p:sp>
      <p:sp>
        <p:nvSpPr>
          <p:cNvPr id="48138" name="文本框 48137"/>
          <p:cNvSpPr txBox="1"/>
          <p:nvPr/>
        </p:nvSpPr>
        <p:spPr>
          <a:xfrm>
            <a:off x="2124533" y="2735796"/>
            <a:ext cx="4746812" cy="760593"/>
          </a:xfrm>
          <a:prstGeom prst="rect">
            <a:avLst/>
          </a:prstGeom>
          <a:noFill/>
          <a:ln w="12700">
            <a:noFill/>
          </a:ln>
        </p:spPr>
        <p:txBody>
          <a:bodyPr wrap="none">
            <a:spAutoFit/>
          </a:bodyPr>
          <a:lstStyle/>
          <a:p>
            <a:pPr>
              <a:lnSpc>
                <a:spcPct val="70000"/>
              </a:lnSpc>
              <a:spcBef>
                <a:spcPct val="50000"/>
              </a:spcBef>
            </a:pPr>
            <a:r>
              <a:rPr lang="en-US" altLang="zh-CN" sz="2200" b="1" dirty="0">
                <a:solidFill>
                  <a:srgbClr val="000000"/>
                </a:solidFill>
                <a:latin typeface="Times New Roman" panose="02020603050405020304" pitchFamily="18" charset="0"/>
              </a:rPr>
              <a:t>1     </a:t>
            </a:r>
            <a:r>
              <a:rPr lang="zh-CN" altLang="en-US" sz="2200" b="1" dirty="0">
                <a:solidFill>
                  <a:srgbClr val="000000"/>
                </a:solidFill>
                <a:latin typeface="Times New Roman" panose="02020603050405020304" pitchFamily="18" charset="0"/>
                <a:ea typeface="楷体_GB2312" pitchFamily="49" charset="-122"/>
              </a:rPr>
              <a:t>和的最高有效位</a:t>
            </a:r>
            <a:r>
              <a:rPr lang="zh-CN" altLang="en-US" b="1" dirty="0">
                <a:solidFill>
                  <a:srgbClr val="000000"/>
                </a:solidFill>
                <a:latin typeface="Times New Roman" panose="02020603050405020304" pitchFamily="18" charset="0"/>
                <a:ea typeface="楷体_GB2312" pitchFamily="49" charset="-122"/>
              </a:rPr>
              <a:t>有</a:t>
            </a:r>
            <a:r>
              <a:rPr lang="zh-CN" altLang="en-US" sz="2200" b="1" dirty="0">
                <a:solidFill>
                  <a:srgbClr val="000000"/>
                </a:solidFill>
                <a:latin typeface="Times New Roman" panose="02020603050405020304" pitchFamily="18" charset="0"/>
                <a:ea typeface="楷体_GB2312" pitchFamily="49" charset="-122"/>
              </a:rPr>
              <a:t>向高位的进位</a:t>
            </a:r>
            <a:endParaRPr lang="zh-CN" altLang="en-US" sz="2200" b="1" dirty="0">
              <a:solidFill>
                <a:srgbClr val="000000"/>
              </a:solidFill>
              <a:latin typeface="Times New Roman" panose="02020603050405020304" pitchFamily="18" charset="0"/>
              <a:ea typeface="楷体_GB2312" pitchFamily="49" charset="-122"/>
            </a:endParaRPr>
          </a:p>
          <a:p>
            <a:pPr>
              <a:lnSpc>
                <a:spcPct val="70000"/>
              </a:lnSpc>
              <a:spcBef>
                <a:spcPct val="50000"/>
              </a:spcBef>
            </a:pPr>
            <a:r>
              <a:rPr lang="en-US" altLang="zh-CN" sz="2200" b="1" dirty="0">
                <a:solidFill>
                  <a:srgbClr val="000000"/>
                </a:solidFill>
                <a:latin typeface="Times New Roman" panose="02020603050405020304" pitchFamily="18" charset="0"/>
              </a:rPr>
              <a:t>0     </a:t>
            </a:r>
            <a:r>
              <a:rPr lang="zh-CN" altLang="en-US" sz="2200" b="1" dirty="0">
                <a:solidFill>
                  <a:srgbClr val="000000"/>
                </a:solidFill>
                <a:latin typeface="Times New Roman" panose="02020603050405020304" pitchFamily="18" charset="0"/>
                <a:ea typeface="楷体_GB2312" pitchFamily="49" charset="-122"/>
              </a:rPr>
              <a:t>否则</a:t>
            </a:r>
            <a:endParaRPr lang="zh-CN" altLang="en-US" sz="2200" b="1" dirty="0">
              <a:solidFill>
                <a:srgbClr val="000000"/>
              </a:solidFill>
              <a:latin typeface="Times New Roman" panose="02020603050405020304" pitchFamily="18" charset="0"/>
              <a:ea typeface="楷体_GB2312" pitchFamily="49" charset="-122"/>
            </a:endParaRPr>
          </a:p>
        </p:txBody>
      </p:sp>
      <p:sp>
        <p:nvSpPr>
          <p:cNvPr id="48139" name="文本框 48138"/>
          <p:cNvSpPr txBox="1"/>
          <p:nvPr/>
        </p:nvSpPr>
        <p:spPr>
          <a:xfrm>
            <a:off x="1133933" y="2811996"/>
            <a:ext cx="763588" cy="457200"/>
          </a:xfrm>
          <a:prstGeom prst="rect">
            <a:avLst/>
          </a:prstGeom>
          <a:noFill/>
          <a:ln w="12700">
            <a:noFill/>
          </a:ln>
        </p:spPr>
        <p:txBody>
          <a:bodyPr wrap="none">
            <a:spAutoFit/>
          </a:bodyPr>
          <a:lstStyle/>
          <a:p>
            <a:pPr>
              <a:spcBef>
                <a:spcPct val="50000"/>
              </a:spcBef>
            </a:pPr>
            <a:r>
              <a:rPr lang="en-US" altLang="zh-CN" b="1">
                <a:solidFill>
                  <a:srgbClr val="000000"/>
                </a:solidFill>
                <a:latin typeface="Times New Roman" panose="02020603050405020304" pitchFamily="18" charset="0"/>
              </a:rPr>
              <a:t>CF=</a:t>
            </a:r>
            <a:endParaRPr lang="en-US" altLang="zh-CN">
              <a:solidFill>
                <a:srgbClr val="000000"/>
              </a:solidFill>
              <a:latin typeface="Times New Roman" panose="02020603050405020304" pitchFamily="18" charset="0"/>
            </a:endParaRPr>
          </a:p>
        </p:txBody>
      </p:sp>
      <p:sp>
        <p:nvSpPr>
          <p:cNvPr id="48140" name="左大括号 48139"/>
          <p:cNvSpPr/>
          <p:nvPr/>
        </p:nvSpPr>
        <p:spPr>
          <a:xfrm>
            <a:off x="1895933" y="2735796"/>
            <a:ext cx="76200" cy="685800"/>
          </a:xfrm>
          <a:prstGeom prst="leftBrace">
            <a:avLst>
              <a:gd name="adj1" fmla="val 75000"/>
              <a:gd name="adj2" fmla="val 50000"/>
            </a:avLst>
          </a:prstGeom>
          <a:noFill/>
          <a:ln w="12700" cap="sq" cmpd="sng">
            <a:solidFill>
              <a:schemeClr val="bg2"/>
            </a:solidFill>
            <a:prstDash val="solid"/>
            <a:headEnd type="none" w="sm" len="sm"/>
            <a:tailEnd type="none" w="sm" len="sm"/>
          </a:ln>
        </p:spPr>
        <p:txBody>
          <a:bodyPr/>
          <a:lstStyle/>
          <a:p>
            <a:endParaRPr lang="zh-CN" altLang="en-US"/>
          </a:p>
        </p:txBody>
      </p:sp>
      <p:sp>
        <p:nvSpPr>
          <p:cNvPr id="48141" name="文本框 48140"/>
          <p:cNvSpPr txBox="1"/>
          <p:nvPr/>
        </p:nvSpPr>
        <p:spPr>
          <a:xfrm>
            <a:off x="2124533" y="3954996"/>
            <a:ext cx="6011863" cy="730250"/>
          </a:xfrm>
          <a:prstGeom prst="rect">
            <a:avLst/>
          </a:prstGeom>
          <a:noFill/>
          <a:ln w="12700">
            <a:noFill/>
          </a:ln>
        </p:spPr>
        <p:txBody>
          <a:bodyPr wrap="none">
            <a:spAutoFit/>
          </a:bodyPr>
          <a:lstStyle/>
          <a:p>
            <a:pPr>
              <a:lnSpc>
                <a:spcPct val="70000"/>
              </a:lnSpc>
              <a:spcBef>
                <a:spcPct val="50000"/>
              </a:spcBef>
            </a:pPr>
            <a:r>
              <a:rPr lang="en-US" altLang="zh-CN" sz="2200" b="1" dirty="0">
                <a:solidFill>
                  <a:srgbClr val="000000"/>
                </a:solidFill>
                <a:latin typeface="Times New Roman" panose="02020603050405020304" pitchFamily="18" charset="0"/>
              </a:rPr>
              <a:t>1     </a:t>
            </a:r>
            <a:r>
              <a:rPr lang="zh-CN" altLang="en-US" sz="2200" b="1" dirty="0">
                <a:solidFill>
                  <a:srgbClr val="000000"/>
                </a:solidFill>
                <a:latin typeface="Times New Roman" panose="02020603050405020304" pitchFamily="18" charset="0"/>
                <a:ea typeface="楷体_GB2312" pitchFamily="49" charset="-122"/>
              </a:rPr>
              <a:t>两个操作数符号相同，而结果符号与之相反</a:t>
            </a:r>
            <a:endParaRPr lang="zh-CN" altLang="en-US" sz="2200" b="1" dirty="0">
              <a:solidFill>
                <a:srgbClr val="000000"/>
              </a:solidFill>
              <a:latin typeface="Times New Roman" panose="02020603050405020304" pitchFamily="18" charset="0"/>
              <a:ea typeface="楷体_GB2312" pitchFamily="49" charset="-122"/>
            </a:endParaRPr>
          </a:p>
          <a:p>
            <a:pPr>
              <a:lnSpc>
                <a:spcPct val="70000"/>
              </a:lnSpc>
              <a:spcBef>
                <a:spcPct val="50000"/>
              </a:spcBef>
            </a:pPr>
            <a:r>
              <a:rPr lang="en-US" altLang="zh-CN" sz="2200" b="1" dirty="0">
                <a:solidFill>
                  <a:srgbClr val="000000"/>
                </a:solidFill>
                <a:latin typeface="Times New Roman" panose="02020603050405020304" pitchFamily="18" charset="0"/>
              </a:rPr>
              <a:t>0     </a:t>
            </a:r>
            <a:r>
              <a:rPr lang="zh-CN" altLang="en-US" sz="2200" b="1" dirty="0">
                <a:solidFill>
                  <a:srgbClr val="000000"/>
                </a:solidFill>
                <a:latin typeface="Times New Roman" panose="02020603050405020304" pitchFamily="18" charset="0"/>
                <a:ea typeface="楷体_GB2312" pitchFamily="49" charset="-122"/>
              </a:rPr>
              <a:t>否则</a:t>
            </a:r>
            <a:endParaRPr lang="zh-CN" altLang="en-US" sz="2200" b="1" dirty="0">
              <a:solidFill>
                <a:srgbClr val="000000"/>
              </a:solidFill>
              <a:latin typeface="Times New Roman" panose="02020603050405020304" pitchFamily="18" charset="0"/>
              <a:ea typeface="楷体_GB2312" pitchFamily="49" charset="-122"/>
            </a:endParaRPr>
          </a:p>
        </p:txBody>
      </p:sp>
      <p:sp>
        <p:nvSpPr>
          <p:cNvPr id="48142" name="文本框 48141"/>
          <p:cNvSpPr txBox="1"/>
          <p:nvPr/>
        </p:nvSpPr>
        <p:spPr>
          <a:xfrm>
            <a:off x="1133933" y="4031196"/>
            <a:ext cx="779463" cy="457200"/>
          </a:xfrm>
          <a:prstGeom prst="rect">
            <a:avLst/>
          </a:prstGeom>
          <a:noFill/>
          <a:ln w="12700">
            <a:noFill/>
          </a:ln>
        </p:spPr>
        <p:txBody>
          <a:bodyPr wrap="none">
            <a:spAutoFit/>
          </a:bodyPr>
          <a:lstStyle/>
          <a:p>
            <a:pPr>
              <a:spcBef>
                <a:spcPct val="50000"/>
              </a:spcBef>
            </a:pPr>
            <a:r>
              <a:rPr lang="en-US" altLang="zh-CN" b="1">
                <a:solidFill>
                  <a:srgbClr val="000000"/>
                </a:solidFill>
                <a:latin typeface="Times New Roman" panose="02020603050405020304" pitchFamily="18" charset="0"/>
              </a:rPr>
              <a:t>OF=</a:t>
            </a:r>
            <a:endParaRPr lang="en-US" altLang="zh-CN">
              <a:solidFill>
                <a:srgbClr val="000000"/>
              </a:solidFill>
              <a:latin typeface="Times New Roman" panose="02020603050405020304" pitchFamily="18" charset="0"/>
            </a:endParaRPr>
          </a:p>
        </p:txBody>
      </p:sp>
      <p:sp>
        <p:nvSpPr>
          <p:cNvPr id="48143" name="左大括号 48142"/>
          <p:cNvSpPr/>
          <p:nvPr/>
        </p:nvSpPr>
        <p:spPr>
          <a:xfrm>
            <a:off x="1895933" y="3954996"/>
            <a:ext cx="76200" cy="685800"/>
          </a:xfrm>
          <a:prstGeom prst="leftBrace">
            <a:avLst>
              <a:gd name="adj1" fmla="val 75000"/>
              <a:gd name="adj2" fmla="val 50000"/>
            </a:avLst>
          </a:prstGeom>
          <a:noFill/>
          <a:ln w="12700" cap="sq" cmpd="sng">
            <a:solidFill>
              <a:schemeClr val="bg2"/>
            </a:solidFill>
            <a:prstDash val="solid"/>
            <a:headEnd type="none" w="sm" len="sm"/>
            <a:tailEnd type="none" w="sm" len="sm"/>
          </a:ln>
        </p:spPr>
        <p:txBody>
          <a:bodyPr/>
          <a:lstStyle/>
          <a:p>
            <a:endParaRPr lang="zh-CN" altLang="en-US"/>
          </a:p>
        </p:txBody>
      </p:sp>
      <p:sp>
        <p:nvSpPr>
          <p:cNvPr id="1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pic>
        <p:nvPicPr>
          <p:cNvPr id="4" name="图片 3"/>
          <p:cNvPicPr>
            <a:picLocks noChangeAspect="1"/>
          </p:cNvPicPr>
          <p:nvPr/>
        </p:nvPicPr>
        <p:blipFill>
          <a:blip r:embed="rId2"/>
          <a:stretch>
            <a:fillRect/>
          </a:stretch>
        </p:blipFill>
        <p:spPr>
          <a:xfrm>
            <a:off x="2751287" y="4984624"/>
            <a:ext cx="2684809" cy="1637372"/>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8131"/>
                                        </p:tgtEl>
                                        <p:attrNameLst>
                                          <p:attrName>style.visibility</p:attrName>
                                        </p:attrNameLst>
                                      </p:cBhvr>
                                      <p:to>
                                        <p:strVal val="visible"/>
                                      </p:to>
                                    </p:set>
                                    <p:anim calcmode="lin" valueType="num">
                                      <p:cBhvr additive="base">
                                        <p:cTn id="7" dur="500" fill="hold"/>
                                        <p:tgtEl>
                                          <p:spTgt spid="48131"/>
                                        </p:tgtEl>
                                        <p:attrNameLst>
                                          <p:attrName>ppt_x</p:attrName>
                                        </p:attrNameLst>
                                      </p:cBhvr>
                                      <p:tavLst>
                                        <p:tav tm="0">
                                          <p:val>
                                            <p:strVal val="0-#ppt_w/2"/>
                                          </p:val>
                                        </p:tav>
                                        <p:tav tm="100000">
                                          <p:val>
                                            <p:strVal val="#ppt_x"/>
                                          </p:val>
                                        </p:tav>
                                      </p:tavLst>
                                    </p:anim>
                                    <p:anim calcmode="lin" valueType="num">
                                      <p:cBhvr additive="base">
                                        <p:cTn id="8" dur="500" fill="hold"/>
                                        <p:tgtEl>
                                          <p:spTgt spid="481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文本框 50177"/>
          <p:cNvSpPr txBox="1"/>
          <p:nvPr/>
        </p:nvSpPr>
        <p:spPr>
          <a:xfrm>
            <a:off x="1676400" y="1124744"/>
            <a:ext cx="6172200" cy="1785104"/>
          </a:xfrm>
          <a:prstGeom prst="rect">
            <a:avLst/>
          </a:prstGeom>
          <a:noFill/>
          <a:ln w="9525">
            <a:noFill/>
          </a:ln>
        </p:spPr>
        <p:txBody>
          <a:bodyPr>
            <a:spAutoFit/>
          </a:bodyPr>
          <a:lstStyle/>
          <a:p>
            <a:pPr algn="just" eaLnBrk="0" hangingPunct="0"/>
            <a:r>
              <a:rPr lang="zh-CN" altLang="en-US" sz="2200" b="0" dirty="0">
                <a:solidFill>
                  <a:srgbClr val="000000"/>
                </a:solidFill>
                <a:latin typeface="Times New Roman" panose="02020603050405020304" pitchFamily="18" charset="0"/>
              </a:rPr>
              <a:t>例：双精度数的加法</a:t>
            </a:r>
            <a:r>
              <a:rPr lang="en-US" altLang="zh-CN" sz="2200" b="0" dirty="0">
                <a:solidFill>
                  <a:srgbClr val="000000"/>
                </a:solidFill>
                <a:latin typeface="Times New Roman" panose="02020603050405020304" pitchFamily="18" charset="0"/>
              </a:rPr>
              <a:t>DX</a:t>
            </a:r>
            <a:r>
              <a:rPr lang="zh-CN" altLang="en-US" sz="2200" b="0" dirty="0">
                <a:solidFill>
                  <a:srgbClr val="000000"/>
                </a:solidFill>
                <a:latin typeface="Times New Roman" panose="02020603050405020304" pitchFamily="18" charset="0"/>
              </a:rPr>
              <a:t>、</a:t>
            </a:r>
            <a:r>
              <a:rPr lang="en-US" altLang="zh-CN" sz="2200" b="0" dirty="0">
                <a:solidFill>
                  <a:srgbClr val="000000"/>
                </a:solidFill>
                <a:latin typeface="Times New Roman" panose="02020603050405020304" pitchFamily="18" charset="0"/>
              </a:rPr>
              <a:t>AX</a:t>
            </a:r>
            <a:r>
              <a:rPr lang="zh-CN" altLang="en-US" sz="2200" b="0" dirty="0">
                <a:solidFill>
                  <a:srgbClr val="000000"/>
                </a:solidFill>
                <a:latin typeface="Times New Roman" panose="02020603050405020304" pitchFamily="18" charset="0"/>
              </a:rPr>
              <a:t>与</a:t>
            </a:r>
            <a:r>
              <a:rPr lang="en-US" altLang="zh-CN" sz="2200" b="0" dirty="0">
                <a:solidFill>
                  <a:srgbClr val="000000"/>
                </a:solidFill>
                <a:latin typeface="Times New Roman" panose="02020603050405020304" pitchFamily="18" charset="0"/>
              </a:rPr>
              <a:t>BX</a:t>
            </a:r>
            <a:r>
              <a:rPr lang="zh-CN" altLang="en-US" sz="2200" b="0" dirty="0">
                <a:solidFill>
                  <a:srgbClr val="000000"/>
                </a:solidFill>
                <a:latin typeface="Times New Roman" panose="02020603050405020304" pitchFamily="18" charset="0"/>
              </a:rPr>
              <a:t>、</a:t>
            </a:r>
            <a:r>
              <a:rPr lang="en-US" altLang="zh-CN" sz="2200" b="0" dirty="0">
                <a:solidFill>
                  <a:srgbClr val="000000"/>
                </a:solidFill>
                <a:latin typeface="Times New Roman" panose="02020603050405020304" pitchFamily="18" charset="0"/>
              </a:rPr>
              <a:t>CX</a:t>
            </a:r>
            <a:r>
              <a:rPr lang="zh-CN" altLang="en-US" sz="2200" b="0" dirty="0">
                <a:solidFill>
                  <a:srgbClr val="000000"/>
                </a:solidFill>
                <a:latin typeface="Times New Roman" panose="02020603050405020304" pitchFamily="18" charset="0"/>
              </a:rPr>
              <a:t>，两个双字长的数相加。</a:t>
            </a:r>
            <a:r>
              <a:rPr lang="en-US" altLang="zh-CN" sz="2200" b="0" dirty="0">
                <a:solidFill>
                  <a:srgbClr val="000000"/>
                </a:solidFill>
                <a:latin typeface="Times New Roman" panose="02020603050405020304" pitchFamily="18" charset="0"/>
              </a:rPr>
              <a:t>DX</a:t>
            </a:r>
            <a:r>
              <a:rPr lang="zh-CN" altLang="en-US" sz="2200" b="0" dirty="0">
                <a:solidFill>
                  <a:srgbClr val="000000"/>
                </a:solidFill>
                <a:latin typeface="Times New Roman" panose="02020603050405020304" pitchFamily="18" charset="0"/>
              </a:rPr>
              <a:t>、</a:t>
            </a:r>
            <a:r>
              <a:rPr lang="en-US" altLang="zh-CN" sz="2200" b="0" dirty="0">
                <a:solidFill>
                  <a:srgbClr val="000000"/>
                </a:solidFill>
                <a:latin typeface="Times New Roman" panose="02020603050405020304" pitchFamily="18" charset="0"/>
              </a:rPr>
              <a:t>BX</a:t>
            </a:r>
            <a:r>
              <a:rPr lang="zh-CN" altLang="en-US" sz="2200" b="0" dirty="0">
                <a:solidFill>
                  <a:srgbClr val="000000"/>
                </a:solidFill>
                <a:latin typeface="Times New Roman" panose="02020603050405020304" pitchFamily="18" charset="0"/>
              </a:rPr>
              <a:t>分别存放高位字。</a:t>
            </a:r>
            <a:endParaRPr lang="zh-CN" altLang="en-US" sz="2200" b="0" dirty="0">
              <a:solidFill>
                <a:srgbClr val="000000"/>
              </a:solidFill>
              <a:latin typeface="Times New Roman" panose="02020603050405020304" pitchFamily="18" charset="0"/>
            </a:endParaRPr>
          </a:p>
          <a:p>
            <a:pPr algn="just" eaLnBrk="0" hangingPunct="0"/>
            <a:endParaRPr lang="zh-CN" altLang="en-US" sz="2200" b="0" dirty="0">
              <a:solidFill>
                <a:srgbClr val="000000"/>
              </a:solidFill>
              <a:latin typeface="Times New Roman" panose="02020603050405020304" pitchFamily="18" charset="0"/>
            </a:endParaRPr>
          </a:p>
          <a:p>
            <a:pPr algn="just" eaLnBrk="0" hangingPunct="0"/>
            <a:r>
              <a:rPr lang="zh-CN" altLang="en-US" sz="2200" b="0" dirty="0">
                <a:solidFill>
                  <a:srgbClr val="000000"/>
                </a:solidFill>
                <a:latin typeface="Times New Roman" panose="02020603050405020304" pitchFamily="18" charset="0"/>
              </a:rPr>
              <a:t>        </a:t>
            </a:r>
            <a:r>
              <a:rPr lang="en-US" altLang="zh-CN" sz="2200" b="0" dirty="0">
                <a:solidFill>
                  <a:srgbClr val="000000"/>
                </a:solidFill>
                <a:latin typeface="Times New Roman" panose="02020603050405020304" pitchFamily="18" charset="0"/>
              </a:rPr>
              <a:t>(DX) = 0002H    (AX) = 0F365H</a:t>
            </a:r>
            <a:endParaRPr lang="en-US" altLang="zh-CN" sz="2200" b="0" dirty="0">
              <a:solidFill>
                <a:srgbClr val="000000"/>
              </a:solidFill>
              <a:latin typeface="Times New Roman" panose="02020603050405020304" pitchFamily="18" charset="0"/>
            </a:endParaRPr>
          </a:p>
          <a:p>
            <a:pPr algn="just" eaLnBrk="0" hangingPunct="0"/>
            <a:r>
              <a:rPr lang="en-US" altLang="zh-CN" sz="2200" b="0" dirty="0">
                <a:solidFill>
                  <a:srgbClr val="000000"/>
                </a:solidFill>
                <a:latin typeface="Times New Roman" panose="02020603050405020304" pitchFamily="18" charset="0"/>
              </a:rPr>
              <a:t>        (BX) = 0005H    (CX) = 0E024H</a:t>
            </a:r>
            <a:endParaRPr lang="en-US" altLang="zh-CN" sz="2200" b="0" dirty="0">
              <a:solidFill>
                <a:srgbClr val="000000"/>
              </a:solidFill>
              <a:latin typeface="Times New Roman" panose="02020603050405020304" pitchFamily="18" charset="0"/>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1259632" y="4689140"/>
            <a:ext cx="6660740" cy="1852815"/>
          </a:xfrm>
          <a:prstGeom prst="rect">
            <a:avLst/>
          </a:prstGeom>
        </p:spPr>
        <p:txBody>
          <a:bodyPr wrap="square">
            <a:spAutoFit/>
          </a:bodyPr>
          <a:lstStyle/>
          <a:p>
            <a:pPr algn="just" eaLnBrk="0" hangingPunct="0">
              <a:lnSpc>
                <a:spcPct val="130000"/>
              </a:lnSpc>
            </a:pPr>
            <a:r>
              <a:rPr lang="en-US" altLang="zh-CN" sz="2200" b="0" dirty="0">
                <a:solidFill>
                  <a:srgbClr val="000000"/>
                </a:solidFill>
                <a:sym typeface="Monotype Sorts" pitchFamily="2" charset="2"/>
              </a:rPr>
              <a:t>        (1) </a:t>
            </a:r>
            <a:r>
              <a:rPr lang="zh-CN" altLang="en-US" sz="2200" b="0" dirty="0">
                <a:solidFill>
                  <a:srgbClr val="000000"/>
                </a:solidFill>
              </a:rPr>
              <a:t>执行后，</a:t>
            </a:r>
            <a:r>
              <a:rPr lang="en-US" altLang="zh-CN" sz="2200" b="0" dirty="0">
                <a:solidFill>
                  <a:srgbClr val="000000"/>
                </a:solidFill>
              </a:rPr>
              <a:t>(AX) = 0D389H   </a:t>
            </a:r>
            <a:endParaRPr lang="en-US" altLang="zh-CN" sz="2200" b="0" dirty="0">
              <a:solidFill>
                <a:srgbClr val="000000"/>
              </a:solidFill>
            </a:endParaRPr>
          </a:p>
          <a:p>
            <a:pPr algn="just" eaLnBrk="0" hangingPunct="0">
              <a:lnSpc>
                <a:spcPct val="130000"/>
              </a:lnSpc>
            </a:pPr>
            <a:r>
              <a:rPr lang="en-US" altLang="zh-CN" sz="2200" b="0" dirty="0">
                <a:solidFill>
                  <a:srgbClr val="000000"/>
                </a:solidFill>
              </a:rPr>
              <a:t>                             CF=1    OF=0    SF=1    ZF=0</a:t>
            </a:r>
            <a:endParaRPr lang="en-US" altLang="zh-CN" sz="2200" b="0" dirty="0">
              <a:solidFill>
                <a:srgbClr val="000000"/>
              </a:solidFill>
            </a:endParaRPr>
          </a:p>
          <a:p>
            <a:pPr algn="just" eaLnBrk="0" hangingPunct="0">
              <a:lnSpc>
                <a:spcPct val="130000"/>
              </a:lnSpc>
            </a:pPr>
            <a:r>
              <a:rPr lang="en-US" altLang="zh-CN" sz="2200" b="0" dirty="0">
                <a:solidFill>
                  <a:srgbClr val="000000"/>
                </a:solidFill>
              </a:rPr>
              <a:t>         (2) </a:t>
            </a:r>
            <a:r>
              <a:rPr lang="zh-CN" altLang="en-US" sz="2200" b="0" dirty="0">
                <a:solidFill>
                  <a:srgbClr val="000000"/>
                </a:solidFill>
              </a:rPr>
              <a:t>执行后，</a:t>
            </a:r>
            <a:r>
              <a:rPr lang="en-US" altLang="zh-CN" sz="2200" b="0" dirty="0">
                <a:solidFill>
                  <a:srgbClr val="000000"/>
                </a:solidFill>
              </a:rPr>
              <a:t>(DX) = 0008H   </a:t>
            </a:r>
            <a:endParaRPr lang="en-US" altLang="zh-CN" sz="2200" b="0" dirty="0">
              <a:solidFill>
                <a:srgbClr val="000000"/>
              </a:solidFill>
            </a:endParaRPr>
          </a:p>
          <a:p>
            <a:pPr algn="just" eaLnBrk="0" hangingPunct="0">
              <a:lnSpc>
                <a:spcPct val="130000"/>
              </a:lnSpc>
            </a:pPr>
            <a:r>
              <a:rPr lang="en-US" altLang="zh-CN" sz="2200" b="0" dirty="0">
                <a:solidFill>
                  <a:srgbClr val="000000"/>
                </a:solidFill>
              </a:rPr>
              <a:t>                             CF=0    OF=0    SF=0    ZF=0</a:t>
            </a:r>
            <a:endParaRPr lang="zh-CN" altLang="en-US" sz="2200" dirty="0"/>
          </a:p>
        </p:txBody>
      </p:sp>
      <p:sp>
        <p:nvSpPr>
          <p:cNvPr id="4" name="矩形 3"/>
          <p:cNvSpPr/>
          <p:nvPr/>
        </p:nvSpPr>
        <p:spPr>
          <a:xfrm>
            <a:off x="1745686" y="3392996"/>
            <a:ext cx="5688632" cy="1004699"/>
          </a:xfrm>
          <a:prstGeom prst="rect">
            <a:avLst/>
          </a:prstGeom>
        </p:spPr>
        <p:txBody>
          <a:bodyPr wrap="square">
            <a:spAutoFit/>
          </a:bodyPr>
          <a:lstStyle/>
          <a:p>
            <a:pPr algn="just" eaLnBrk="0" hangingPunct="0">
              <a:lnSpc>
                <a:spcPct val="130000"/>
              </a:lnSpc>
            </a:pPr>
            <a:r>
              <a:rPr lang="en-US" altLang="zh-CN" b="0" dirty="0">
                <a:solidFill>
                  <a:srgbClr val="000000"/>
                </a:solidFill>
              </a:rPr>
              <a:t> </a:t>
            </a:r>
            <a:r>
              <a:rPr lang="zh-CN" altLang="en-US" b="0" dirty="0">
                <a:solidFill>
                  <a:srgbClr val="000000"/>
                </a:solidFill>
              </a:rPr>
              <a:t>指令序列  </a:t>
            </a:r>
            <a:r>
              <a:rPr lang="zh-CN" altLang="en-US" b="0" dirty="0">
                <a:solidFill>
                  <a:srgbClr val="000000"/>
                </a:solidFill>
                <a:sym typeface="Monotype Sorts" pitchFamily="2" charset="2"/>
              </a:rPr>
              <a:t> </a:t>
            </a:r>
            <a:r>
              <a:rPr lang="en-US" altLang="zh-CN" b="0" dirty="0">
                <a:solidFill>
                  <a:srgbClr val="000000"/>
                </a:solidFill>
              </a:rPr>
              <a:t>ADD  AX, CX      ; </a:t>
            </a:r>
            <a:r>
              <a:rPr lang="en-US" altLang="zh-CN" b="0" dirty="0">
                <a:solidFill>
                  <a:srgbClr val="000000"/>
                </a:solidFill>
                <a:sym typeface="Monotype Sorts" pitchFamily="2" charset="2"/>
              </a:rPr>
              <a:t>(1) </a:t>
            </a:r>
            <a:endParaRPr lang="en-US" altLang="zh-CN" b="0" dirty="0">
              <a:solidFill>
                <a:srgbClr val="000000"/>
              </a:solidFill>
            </a:endParaRPr>
          </a:p>
          <a:p>
            <a:pPr algn="just" eaLnBrk="0" hangingPunct="0">
              <a:lnSpc>
                <a:spcPct val="130000"/>
              </a:lnSpc>
            </a:pPr>
            <a:r>
              <a:rPr lang="en-US" altLang="zh-CN" b="0" dirty="0">
                <a:solidFill>
                  <a:srgbClr val="000000"/>
                </a:solidFill>
              </a:rPr>
              <a:t>                    </a:t>
            </a:r>
            <a:r>
              <a:rPr lang="en-US" altLang="zh-CN" b="0" dirty="0">
                <a:solidFill>
                  <a:srgbClr val="FF0000"/>
                </a:solidFill>
              </a:rPr>
              <a:t>ADC</a:t>
            </a:r>
            <a:r>
              <a:rPr lang="en-US" altLang="zh-CN" b="0" dirty="0">
                <a:solidFill>
                  <a:srgbClr val="000000"/>
                </a:solidFill>
              </a:rPr>
              <a:t>  DX, BX      ; (2) </a:t>
            </a:r>
            <a:endParaRPr lang="en-US" altLang="zh-CN" b="0" dirty="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文本框 51201"/>
          <p:cNvSpPr txBox="1"/>
          <p:nvPr/>
        </p:nvSpPr>
        <p:spPr>
          <a:xfrm>
            <a:off x="503548" y="944724"/>
            <a:ext cx="7668852" cy="5447645"/>
          </a:xfrm>
          <a:prstGeom prst="rect">
            <a:avLst/>
          </a:prstGeom>
          <a:noFill/>
          <a:ln w="9525">
            <a:noFill/>
          </a:ln>
        </p:spPr>
        <p:txBody>
          <a:bodyPr wrap="square">
            <a:spAutoFit/>
          </a:bodyPr>
          <a:lstStyle/>
          <a:p>
            <a:pPr algn="just" eaLnBrk="0" hangingPunct="0"/>
            <a:r>
              <a:rPr lang="en-US" altLang="zh-CN" sz="2800" b="1" dirty="0">
                <a:solidFill>
                  <a:srgbClr val="000000"/>
                </a:solidFill>
                <a:latin typeface="Times New Roman" panose="02020603050405020304" pitchFamily="18" charset="0"/>
                <a:sym typeface="Symbol" panose="05050102010706020507" pitchFamily="18" charset="2"/>
              </a:rPr>
              <a:t>   </a:t>
            </a:r>
            <a:r>
              <a:rPr lang="zh-CN" altLang="en-US" sz="2000" b="0" dirty="0">
                <a:solidFill>
                  <a:srgbClr val="000000"/>
                </a:solidFill>
                <a:latin typeface="Times New Roman" panose="02020603050405020304" pitchFamily="18" charset="0"/>
              </a:rPr>
              <a:t>减法指令</a:t>
            </a:r>
            <a:endParaRPr lang="zh-CN" altLang="en-US" sz="2000" b="0" dirty="0">
              <a:solidFill>
                <a:srgbClr val="000000"/>
              </a:solidFill>
              <a:latin typeface="Times New Roman" panose="02020603050405020304" pitchFamily="18" charset="0"/>
            </a:endParaRPr>
          </a:p>
          <a:p>
            <a:pPr algn="just" eaLnBrk="0" hangingPunct="0"/>
            <a:endParaRPr lang="zh-CN" altLang="en-US" sz="2000" b="0" dirty="0">
              <a:solidFill>
                <a:srgbClr val="000000"/>
              </a:solidFill>
              <a:latin typeface="Times New Roman" panose="02020603050405020304" pitchFamily="18" charset="0"/>
            </a:endParaRPr>
          </a:p>
          <a:p>
            <a:pPr algn="just" eaLnBrk="0" hangingPunct="0"/>
            <a:r>
              <a:rPr lang="zh-CN" altLang="en-US" sz="2000" b="0" dirty="0">
                <a:solidFill>
                  <a:srgbClr val="000000"/>
                </a:solidFill>
                <a:latin typeface="Times New Roman" panose="02020603050405020304" pitchFamily="18" charset="0"/>
              </a:rPr>
              <a:t>减法指令：       </a:t>
            </a:r>
            <a:r>
              <a:rPr lang="en-US" altLang="zh-CN" sz="2000" b="0" dirty="0">
                <a:solidFill>
                  <a:srgbClr val="000000"/>
                </a:solidFill>
                <a:latin typeface="Times New Roman" panose="02020603050405020304" pitchFamily="18" charset="0"/>
              </a:rPr>
              <a:t>SUB  DST, SRC  </a:t>
            </a:r>
            <a:endParaRPr lang="en-US" altLang="zh-CN" sz="2000" b="0" dirty="0">
              <a:solidFill>
                <a:srgbClr val="000000"/>
              </a:solidFill>
              <a:latin typeface="Times New Roman" panose="02020603050405020304" pitchFamily="18" charset="0"/>
            </a:endParaRPr>
          </a:p>
          <a:p>
            <a:pPr algn="just" eaLnBrk="0" hangingPunct="0"/>
            <a:r>
              <a:rPr lang="zh-CN" altLang="en-US" sz="2000" b="0" dirty="0">
                <a:solidFill>
                  <a:srgbClr val="000000"/>
                </a:solidFill>
                <a:latin typeface="Times New Roman" panose="02020603050405020304" pitchFamily="18" charset="0"/>
              </a:rPr>
              <a:t>执行操作：       </a:t>
            </a:r>
            <a:r>
              <a:rPr lang="en-US" altLang="zh-CN" sz="2000" b="0" dirty="0">
                <a:solidFill>
                  <a:srgbClr val="000000"/>
                </a:solidFill>
                <a:latin typeface="Times New Roman" panose="02020603050405020304" pitchFamily="18" charset="0"/>
              </a:rPr>
              <a:t>(DST) </a:t>
            </a:r>
            <a:r>
              <a:rPr lang="en-US" altLang="zh-CN" sz="2000" b="0" dirty="0">
                <a:solidFill>
                  <a:srgbClr val="000000"/>
                </a:solidFill>
                <a:latin typeface="Times New Roman" panose="02020603050405020304" pitchFamily="18" charset="0"/>
                <a:sym typeface="Symbol" panose="05050102010706020507" pitchFamily="18" charset="2"/>
              </a:rPr>
              <a:t> </a:t>
            </a:r>
            <a:r>
              <a:rPr lang="en-US" altLang="zh-CN" sz="2000" b="0" dirty="0">
                <a:solidFill>
                  <a:srgbClr val="000000"/>
                </a:solidFill>
                <a:latin typeface="Times New Roman" panose="02020603050405020304" pitchFamily="18" charset="0"/>
              </a:rPr>
              <a:t> (DST) - (SRC)</a:t>
            </a:r>
            <a:endParaRPr lang="en-US" altLang="zh-CN" sz="2000" b="0" dirty="0">
              <a:solidFill>
                <a:srgbClr val="000000"/>
              </a:solidFill>
              <a:latin typeface="Times New Roman" panose="02020603050405020304" pitchFamily="18" charset="0"/>
            </a:endParaRPr>
          </a:p>
          <a:p>
            <a:pPr algn="just" eaLnBrk="0" hangingPunct="0"/>
            <a:endParaRPr lang="en-US" altLang="zh-CN" sz="2000" b="0" dirty="0">
              <a:solidFill>
                <a:srgbClr val="000000"/>
              </a:solidFill>
              <a:latin typeface="Times New Roman" panose="02020603050405020304" pitchFamily="18" charset="0"/>
            </a:endParaRPr>
          </a:p>
          <a:p>
            <a:pPr algn="just" eaLnBrk="0" hangingPunct="0"/>
            <a:r>
              <a:rPr lang="zh-CN" altLang="en-US" sz="2000" b="0" dirty="0">
                <a:solidFill>
                  <a:srgbClr val="000000"/>
                </a:solidFill>
                <a:latin typeface="Times New Roman" panose="02020603050405020304" pitchFamily="18" charset="0"/>
              </a:rPr>
              <a:t>带借位减法指令：   </a:t>
            </a:r>
            <a:r>
              <a:rPr lang="en-US" altLang="zh-CN" sz="2000" b="0" dirty="0">
                <a:solidFill>
                  <a:srgbClr val="000000"/>
                </a:solidFill>
                <a:latin typeface="Times New Roman" panose="02020603050405020304" pitchFamily="18" charset="0"/>
              </a:rPr>
              <a:t>SBB  DST, SRC  </a:t>
            </a:r>
            <a:endParaRPr lang="en-US" altLang="zh-CN" sz="2000" b="0" dirty="0">
              <a:solidFill>
                <a:srgbClr val="000000"/>
              </a:solidFill>
              <a:latin typeface="Times New Roman" panose="02020603050405020304" pitchFamily="18" charset="0"/>
            </a:endParaRPr>
          </a:p>
          <a:p>
            <a:pPr algn="just" eaLnBrk="0" hangingPunct="0"/>
            <a:r>
              <a:rPr lang="zh-CN" altLang="en-US" sz="2000" b="0" dirty="0">
                <a:solidFill>
                  <a:srgbClr val="000000"/>
                </a:solidFill>
                <a:latin typeface="Times New Roman" panose="02020603050405020304" pitchFamily="18" charset="0"/>
              </a:rPr>
              <a:t>执行操作：               </a:t>
            </a:r>
            <a:r>
              <a:rPr lang="en-US" altLang="zh-CN" sz="2000" b="0" dirty="0">
                <a:solidFill>
                  <a:srgbClr val="000000"/>
                </a:solidFill>
                <a:latin typeface="Times New Roman" panose="02020603050405020304" pitchFamily="18" charset="0"/>
              </a:rPr>
              <a:t>(DST) </a:t>
            </a:r>
            <a:r>
              <a:rPr lang="en-US" altLang="zh-CN" sz="2000" b="0" dirty="0">
                <a:solidFill>
                  <a:srgbClr val="000000"/>
                </a:solidFill>
                <a:latin typeface="Times New Roman" panose="02020603050405020304" pitchFamily="18" charset="0"/>
                <a:sym typeface="Symbol" panose="05050102010706020507" pitchFamily="18" charset="2"/>
              </a:rPr>
              <a:t>  </a:t>
            </a:r>
            <a:r>
              <a:rPr lang="en-US" altLang="zh-CN" sz="2000" b="0" dirty="0">
                <a:solidFill>
                  <a:srgbClr val="000000"/>
                </a:solidFill>
                <a:latin typeface="Times New Roman" panose="02020603050405020304" pitchFamily="18" charset="0"/>
              </a:rPr>
              <a:t>(DST) - (SRC) - CF</a:t>
            </a:r>
            <a:endParaRPr lang="en-US" altLang="zh-CN" sz="2000" b="0" dirty="0">
              <a:solidFill>
                <a:srgbClr val="000000"/>
              </a:solidFill>
              <a:latin typeface="Times New Roman" panose="02020603050405020304" pitchFamily="18" charset="0"/>
            </a:endParaRPr>
          </a:p>
          <a:p>
            <a:pPr algn="just" eaLnBrk="0" hangingPunct="0"/>
            <a:endParaRPr lang="en-US" altLang="zh-CN" sz="2000" b="0" dirty="0">
              <a:solidFill>
                <a:srgbClr val="000000"/>
              </a:solidFill>
              <a:latin typeface="Times New Roman" panose="02020603050405020304" pitchFamily="18" charset="0"/>
            </a:endParaRPr>
          </a:p>
          <a:p>
            <a:pPr algn="just" eaLnBrk="0" hangingPunct="0"/>
            <a:r>
              <a:rPr lang="zh-CN" altLang="en-US" sz="2000" b="0" dirty="0">
                <a:solidFill>
                  <a:srgbClr val="000000"/>
                </a:solidFill>
                <a:latin typeface="Times New Roman" panose="02020603050405020304" pitchFamily="18" charset="0"/>
              </a:rPr>
              <a:t>减</a:t>
            </a:r>
            <a:r>
              <a:rPr lang="en-US" altLang="zh-CN" sz="2000" b="0" dirty="0">
                <a:solidFill>
                  <a:srgbClr val="000000"/>
                </a:solidFill>
                <a:latin typeface="Times New Roman" panose="02020603050405020304" pitchFamily="18" charset="0"/>
              </a:rPr>
              <a:t>1</a:t>
            </a:r>
            <a:r>
              <a:rPr lang="zh-CN" altLang="en-US" sz="2000" b="0" dirty="0">
                <a:solidFill>
                  <a:srgbClr val="000000"/>
                </a:solidFill>
                <a:latin typeface="Times New Roman" panose="02020603050405020304" pitchFamily="18" charset="0"/>
              </a:rPr>
              <a:t>指令：         </a:t>
            </a:r>
            <a:r>
              <a:rPr lang="en-US" altLang="zh-CN" sz="2000" b="0" dirty="0">
                <a:solidFill>
                  <a:srgbClr val="000000"/>
                </a:solidFill>
                <a:latin typeface="Times New Roman" panose="02020603050405020304" pitchFamily="18" charset="0"/>
              </a:rPr>
              <a:t>DEC  OPR  </a:t>
            </a:r>
            <a:endParaRPr lang="en-US" altLang="zh-CN" sz="2000" b="0" dirty="0">
              <a:solidFill>
                <a:srgbClr val="000000"/>
              </a:solidFill>
              <a:latin typeface="Times New Roman" panose="02020603050405020304" pitchFamily="18" charset="0"/>
            </a:endParaRPr>
          </a:p>
          <a:p>
            <a:pPr algn="just" eaLnBrk="0" hangingPunct="0"/>
            <a:r>
              <a:rPr lang="zh-CN" altLang="en-US" sz="2000" b="0" dirty="0">
                <a:solidFill>
                  <a:srgbClr val="000000"/>
                </a:solidFill>
                <a:latin typeface="Times New Roman" panose="02020603050405020304" pitchFamily="18" charset="0"/>
              </a:rPr>
              <a:t>执行操作：       </a:t>
            </a:r>
            <a:r>
              <a:rPr lang="en-US" altLang="zh-CN" sz="2000" b="0" dirty="0">
                <a:solidFill>
                  <a:srgbClr val="000000"/>
                </a:solidFill>
                <a:latin typeface="Times New Roman" panose="02020603050405020304" pitchFamily="18" charset="0"/>
              </a:rPr>
              <a:t>(OPR) </a:t>
            </a:r>
            <a:r>
              <a:rPr lang="en-US" altLang="zh-CN" sz="2000" b="0" dirty="0">
                <a:solidFill>
                  <a:srgbClr val="000000"/>
                </a:solidFill>
                <a:latin typeface="Times New Roman" panose="02020603050405020304" pitchFamily="18" charset="0"/>
                <a:sym typeface="Symbol" panose="05050102010706020507" pitchFamily="18" charset="2"/>
              </a:rPr>
              <a:t> </a:t>
            </a:r>
            <a:r>
              <a:rPr lang="en-US" altLang="zh-CN" sz="2000" b="0" dirty="0">
                <a:solidFill>
                  <a:srgbClr val="000000"/>
                </a:solidFill>
                <a:latin typeface="Times New Roman" panose="02020603050405020304" pitchFamily="18" charset="0"/>
              </a:rPr>
              <a:t>(OPR) - 1</a:t>
            </a:r>
            <a:endParaRPr lang="en-US" altLang="zh-CN" sz="2000" b="0" dirty="0">
              <a:solidFill>
                <a:srgbClr val="000000"/>
              </a:solidFill>
              <a:latin typeface="Times New Roman" panose="02020603050405020304" pitchFamily="18" charset="0"/>
            </a:endParaRPr>
          </a:p>
          <a:p>
            <a:pPr algn="just" eaLnBrk="0" hangingPunct="0"/>
            <a:endParaRPr lang="en-US" altLang="zh-CN" sz="2000" b="0" dirty="0">
              <a:solidFill>
                <a:srgbClr val="000000"/>
              </a:solidFill>
              <a:latin typeface="Times New Roman" panose="02020603050405020304" pitchFamily="18" charset="0"/>
            </a:endParaRPr>
          </a:p>
          <a:p>
            <a:pPr algn="just" eaLnBrk="0" hangingPunct="0"/>
            <a:r>
              <a:rPr lang="zh-CN" altLang="en-US" sz="2000" b="0" dirty="0">
                <a:solidFill>
                  <a:srgbClr val="000000"/>
                </a:solidFill>
                <a:latin typeface="Times New Roman" panose="02020603050405020304" pitchFamily="18" charset="0"/>
              </a:rPr>
              <a:t>求补指令：       </a:t>
            </a:r>
            <a:r>
              <a:rPr lang="en-US" altLang="zh-CN" sz="2000" b="0" dirty="0">
                <a:solidFill>
                  <a:srgbClr val="000000"/>
                </a:solidFill>
                <a:latin typeface="Times New Roman" panose="02020603050405020304" pitchFamily="18" charset="0"/>
              </a:rPr>
              <a:t>NEG  OPR  </a:t>
            </a:r>
            <a:endParaRPr lang="en-US" altLang="zh-CN" sz="2000" b="0" dirty="0">
              <a:solidFill>
                <a:srgbClr val="000000"/>
              </a:solidFill>
              <a:latin typeface="Times New Roman" panose="02020603050405020304" pitchFamily="18" charset="0"/>
            </a:endParaRPr>
          </a:p>
          <a:p>
            <a:pPr algn="just" eaLnBrk="0" hangingPunct="0"/>
            <a:r>
              <a:rPr lang="zh-CN" altLang="en-US" sz="2000" b="0" dirty="0">
                <a:solidFill>
                  <a:srgbClr val="000000"/>
                </a:solidFill>
                <a:latin typeface="Times New Roman" panose="02020603050405020304" pitchFamily="18" charset="0"/>
              </a:rPr>
              <a:t>执行操作：       </a:t>
            </a:r>
            <a:r>
              <a:rPr lang="en-US" altLang="zh-CN" sz="2000" b="0" dirty="0">
                <a:solidFill>
                  <a:srgbClr val="000000"/>
                </a:solidFill>
                <a:latin typeface="Times New Roman" panose="02020603050405020304" pitchFamily="18" charset="0"/>
              </a:rPr>
              <a:t>(OPR) </a:t>
            </a:r>
            <a:r>
              <a:rPr lang="en-US" altLang="zh-CN" sz="2000" b="0" dirty="0">
                <a:solidFill>
                  <a:srgbClr val="000000"/>
                </a:solidFill>
                <a:latin typeface="Times New Roman" panose="02020603050405020304" pitchFamily="18" charset="0"/>
                <a:sym typeface="Symbol" panose="05050102010706020507" pitchFamily="18" charset="2"/>
              </a:rPr>
              <a:t> 0FFFFH</a:t>
            </a:r>
            <a:r>
              <a:rPr lang="en-US" altLang="zh-CN" sz="2000" b="0" dirty="0">
                <a:solidFill>
                  <a:srgbClr val="000000"/>
                </a:solidFill>
                <a:latin typeface="Times New Roman" panose="02020603050405020304" pitchFamily="18" charset="0"/>
              </a:rPr>
              <a:t> - (OPR)+1</a:t>
            </a:r>
            <a:endParaRPr lang="en-US" altLang="zh-CN" sz="2000" b="0" dirty="0">
              <a:solidFill>
                <a:srgbClr val="000000"/>
              </a:solidFill>
              <a:latin typeface="Times New Roman" panose="02020603050405020304" pitchFamily="18" charset="0"/>
            </a:endParaRPr>
          </a:p>
          <a:p>
            <a:pPr algn="just" eaLnBrk="0" hangingPunct="0"/>
            <a:endParaRPr lang="en-US" altLang="zh-CN" sz="2000" b="0" dirty="0">
              <a:solidFill>
                <a:srgbClr val="000000"/>
              </a:solidFill>
              <a:latin typeface="Times New Roman" panose="02020603050405020304" pitchFamily="18" charset="0"/>
            </a:endParaRPr>
          </a:p>
          <a:p>
            <a:pPr algn="just" eaLnBrk="0" hangingPunct="0"/>
            <a:r>
              <a:rPr lang="zh-CN" altLang="en-US" sz="2000" b="0" dirty="0">
                <a:solidFill>
                  <a:srgbClr val="000000"/>
                </a:solidFill>
                <a:latin typeface="Times New Roman" panose="02020603050405020304" pitchFamily="18" charset="0"/>
              </a:rPr>
              <a:t>比较指令：       </a:t>
            </a:r>
            <a:r>
              <a:rPr lang="en-US" altLang="zh-CN" sz="2000" b="0" dirty="0">
                <a:solidFill>
                  <a:srgbClr val="000000"/>
                </a:solidFill>
                <a:latin typeface="Times New Roman" panose="02020603050405020304" pitchFamily="18" charset="0"/>
              </a:rPr>
              <a:t>CMP  OPR1, OPR2 </a:t>
            </a:r>
            <a:endParaRPr lang="en-US" altLang="zh-CN" sz="2000" b="0" dirty="0">
              <a:solidFill>
                <a:srgbClr val="000000"/>
              </a:solidFill>
              <a:latin typeface="Times New Roman" panose="02020603050405020304" pitchFamily="18" charset="0"/>
            </a:endParaRPr>
          </a:p>
          <a:p>
            <a:pPr algn="just" eaLnBrk="0" hangingPunct="0"/>
            <a:r>
              <a:rPr lang="zh-CN" altLang="en-US" sz="2000" b="0" dirty="0">
                <a:solidFill>
                  <a:srgbClr val="000000"/>
                </a:solidFill>
                <a:latin typeface="Times New Roman" panose="02020603050405020304" pitchFamily="18" charset="0"/>
              </a:rPr>
              <a:t>执行操作：      </a:t>
            </a:r>
            <a:r>
              <a:rPr lang="en-US" altLang="zh-CN" sz="2000" b="0" dirty="0">
                <a:solidFill>
                  <a:srgbClr val="000000"/>
                </a:solidFill>
                <a:latin typeface="Times New Roman" panose="02020603050405020304" pitchFamily="18" charset="0"/>
              </a:rPr>
              <a:t>(OPR1) - (OPR2)</a:t>
            </a:r>
            <a:r>
              <a:rPr lang="zh-CN" altLang="en-US" sz="2000" b="0" dirty="0">
                <a:solidFill>
                  <a:srgbClr val="000000"/>
                </a:solidFill>
                <a:latin typeface="Times New Roman" panose="02020603050405020304" pitchFamily="18" charset="0"/>
              </a:rPr>
              <a:t>，不保存结果，只是根据结果设置</a:t>
            </a:r>
            <a:r>
              <a:rPr lang="en-US" altLang="zh-CN" sz="2000" b="0" dirty="0">
                <a:solidFill>
                  <a:srgbClr val="000000"/>
                </a:solidFill>
                <a:latin typeface="Times New Roman" panose="02020603050405020304" pitchFamily="18" charset="0"/>
              </a:rPr>
              <a:t>			</a:t>
            </a:r>
            <a:r>
              <a:rPr lang="zh-CN" altLang="en-US" sz="2000" b="0" dirty="0">
                <a:solidFill>
                  <a:srgbClr val="000000"/>
                </a:solidFill>
                <a:latin typeface="Times New Roman" panose="02020603050405020304" pitchFamily="18" charset="0"/>
              </a:rPr>
              <a:t>标志位。</a:t>
            </a:r>
            <a:endParaRPr lang="en-US" altLang="zh-CN" sz="2000" b="0" dirty="0">
              <a:solidFill>
                <a:srgbClr val="000000"/>
              </a:solidFill>
              <a:latin typeface="Times New Roman" panose="02020603050405020304" pitchFamily="18" charset="0"/>
            </a:endParaRPr>
          </a:p>
        </p:txBody>
      </p:sp>
      <p:sp>
        <p:nvSpPr>
          <p:cNvPr id="51203" name="矩形 51202"/>
          <p:cNvSpPr/>
          <p:nvPr/>
        </p:nvSpPr>
        <p:spPr>
          <a:xfrm>
            <a:off x="6480212" y="3465004"/>
            <a:ext cx="2566988" cy="1311275"/>
          </a:xfrm>
          <a:prstGeom prst="rect">
            <a:avLst/>
          </a:prstGeom>
          <a:noFill/>
          <a:ln w="12700">
            <a:noFill/>
          </a:ln>
        </p:spPr>
        <p:txBody>
          <a:bodyPr wrap="none" anchor="t">
            <a:spAutoFit/>
          </a:bodyPr>
          <a:lstStyle/>
          <a:p>
            <a:pPr eaLnBrk="0" hangingPunct="0"/>
            <a:r>
              <a:rPr lang="zh-CN" altLang="en-US" sz="2000" b="0" dirty="0">
                <a:solidFill>
                  <a:srgbClr val="000000"/>
                </a:solidFill>
                <a:latin typeface="Times New Roman" panose="02020603050405020304" pitchFamily="18" charset="0"/>
                <a:ea typeface="楷体_GB2312" pitchFamily="49" charset="-122"/>
              </a:rPr>
              <a:t>注意</a:t>
            </a:r>
            <a:r>
              <a:rPr lang="en-US" altLang="zh-CN" sz="2000" b="0" dirty="0">
                <a:solidFill>
                  <a:srgbClr val="000000"/>
                </a:solidFill>
                <a:latin typeface="Times New Roman" panose="02020603050405020304" pitchFamily="18" charset="0"/>
                <a:ea typeface="楷体_GB2312" pitchFamily="49" charset="-122"/>
              </a:rPr>
              <a:t>:   </a:t>
            </a:r>
            <a:endParaRPr lang="en-US" altLang="zh-CN" sz="2000" b="0" dirty="0">
              <a:solidFill>
                <a:srgbClr val="000000"/>
              </a:solidFill>
              <a:latin typeface="Times New Roman" panose="02020603050405020304" pitchFamily="18" charset="0"/>
              <a:ea typeface="楷体_GB2312" pitchFamily="49" charset="-122"/>
            </a:endParaRPr>
          </a:p>
          <a:p>
            <a:pPr eaLnBrk="0" hangingPunct="0"/>
            <a:r>
              <a:rPr lang="zh-CN"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  除DEC指令</a:t>
            </a: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不影响</a:t>
            </a:r>
            <a:endPar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endParaRPr>
          </a:p>
          <a:p>
            <a:pPr eaLnBrk="0" hangingPunct="0"/>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CF</a:t>
            </a: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标志外，均对条</a:t>
            </a:r>
            <a:endPar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endParaRPr>
          </a:p>
          <a:p>
            <a:pPr eaLnBrk="0" hangingPunct="0"/>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    件标志位有影响。</a:t>
            </a:r>
            <a:endPar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250" name="矩形 53249"/>
          <p:cNvSpPr/>
          <p:nvPr/>
        </p:nvSpPr>
        <p:spPr>
          <a:xfrm>
            <a:off x="732755" y="1035843"/>
            <a:ext cx="4419600" cy="519113"/>
          </a:xfrm>
          <a:prstGeom prst="rect">
            <a:avLst/>
          </a:prstGeom>
          <a:noFill/>
          <a:ln w="12700">
            <a:noFill/>
          </a:ln>
        </p:spPr>
        <p:txBody>
          <a:bodyPr>
            <a:spAutoFit/>
          </a:bodyPr>
          <a:lstStyle/>
          <a:p>
            <a:pPr eaLnBrk="0" hangingPunct="0">
              <a:spcBef>
                <a:spcPct val="50000"/>
              </a:spcBef>
            </a:pPr>
            <a:r>
              <a:rPr lang="en-US" altLang="zh-CN" sz="2800" b="1" dirty="0">
                <a:solidFill>
                  <a:srgbClr val="000000"/>
                </a:solidFill>
                <a:latin typeface="Times New Roman" panose="02020603050405020304" pitchFamily="18" charset="0"/>
              </a:rPr>
              <a:t>NEG </a:t>
            </a:r>
            <a:r>
              <a:rPr lang="zh-CN" altLang="en-US" sz="2800" b="1" dirty="0">
                <a:solidFill>
                  <a:srgbClr val="000000"/>
                </a:solidFill>
                <a:latin typeface="Times New Roman" panose="02020603050405020304" pitchFamily="18" charset="0"/>
              </a:rPr>
              <a:t>指令对</a:t>
            </a:r>
            <a:r>
              <a:rPr lang="en-US" altLang="zh-CN" sz="2800" b="1" dirty="0">
                <a:solidFill>
                  <a:srgbClr val="000000"/>
                </a:solidFill>
                <a:latin typeface="Times New Roman" panose="02020603050405020304" pitchFamily="18" charset="0"/>
              </a:rPr>
              <a:t>CF/OF</a:t>
            </a:r>
            <a:r>
              <a:rPr lang="zh-CN" altLang="en-US" sz="2800" b="1" dirty="0">
                <a:solidFill>
                  <a:srgbClr val="000000"/>
                </a:solidFill>
                <a:latin typeface="Times New Roman" panose="02020603050405020304" pitchFamily="18" charset="0"/>
              </a:rPr>
              <a:t>的影响</a:t>
            </a:r>
            <a:endParaRPr lang="zh-CN" altLang="en-US" sz="2800" b="1" dirty="0">
              <a:solidFill>
                <a:srgbClr val="000000"/>
              </a:solidFill>
              <a:latin typeface="Times New Roman" panose="02020603050405020304" pitchFamily="18" charset="0"/>
            </a:endParaRPr>
          </a:p>
        </p:txBody>
      </p:sp>
      <p:sp>
        <p:nvSpPr>
          <p:cNvPr id="53251" name="文本框 53250"/>
          <p:cNvSpPr txBox="1"/>
          <p:nvPr/>
        </p:nvSpPr>
        <p:spPr>
          <a:xfrm>
            <a:off x="1991072" y="1981200"/>
            <a:ext cx="1936750" cy="1063625"/>
          </a:xfrm>
          <a:prstGeom prst="rect">
            <a:avLst/>
          </a:prstGeom>
          <a:noFill/>
          <a:ln w="12700">
            <a:noFill/>
          </a:ln>
        </p:spPr>
        <p:txBody>
          <a:bodyPr wrap="none">
            <a:spAutoFit/>
          </a:bodyPr>
          <a:lstStyle/>
          <a:p>
            <a:pPr>
              <a:lnSpc>
                <a:spcPct val="145000"/>
              </a:lnSpc>
            </a:pPr>
            <a:r>
              <a:rPr lang="en-US" altLang="zh-CN" sz="2200" b="1">
                <a:solidFill>
                  <a:srgbClr val="000000"/>
                </a:solidFill>
                <a:latin typeface="Times New Roman" panose="02020603050405020304" pitchFamily="18" charset="0"/>
              </a:rPr>
              <a:t>0     </a:t>
            </a:r>
            <a:r>
              <a:rPr lang="zh-CN" altLang="en-US" sz="2200" b="1" dirty="0">
                <a:solidFill>
                  <a:srgbClr val="000000"/>
                </a:solidFill>
                <a:latin typeface="Times New Roman" panose="02020603050405020304" pitchFamily="18" charset="0"/>
                <a:ea typeface="楷体_GB2312" pitchFamily="49" charset="-122"/>
              </a:rPr>
              <a:t>操作数为</a:t>
            </a:r>
            <a:r>
              <a:rPr lang="en-US" altLang="zh-CN" sz="2200" b="1">
                <a:solidFill>
                  <a:srgbClr val="000000"/>
                </a:solidFill>
                <a:latin typeface="Times New Roman" panose="02020603050405020304" pitchFamily="18" charset="0"/>
                <a:ea typeface="楷体_GB2312" pitchFamily="49" charset="-122"/>
              </a:rPr>
              <a:t>0</a:t>
            </a:r>
            <a:endParaRPr lang="en-US" altLang="zh-CN" sz="2200" b="1">
              <a:solidFill>
                <a:srgbClr val="000000"/>
              </a:solidFill>
              <a:latin typeface="Times New Roman" panose="02020603050405020304" pitchFamily="18" charset="0"/>
              <a:ea typeface="楷体_GB2312" pitchFamily="49" charset="-122"/>
            </a:endParaRPr>
          </a:p>
          <a:p>
            <a:pPr>
              <a:lnSpc>
                <a:spcPct val="145000"/>
              </a:lnSpc>
            </a:pPr>
            <a:r>
              <a:rPr lang="en-US" altLang="zh-CN" sz="2200" b="1">
                <a:solidFill>
                  <a:srgbClr val="000000"/>
                </a:solidFill>
                <a:latin typeface="Times New Roman" panose="02020603050405020304" pitchFamily="18" charset="0"/>
              </a:rPr>
              <a:t>1     </a:t>
            </a:r>
            <a:r>
              <a:rPr lang="zh-CN" altLang="en-US" sz="2200" b="1" dirty="0">
                <a:solidFill>
                  <a:srgbClr val="000000"/>
                </a:solidFill>
                <a:latin typeface="Times New Roman" panose="02020603050405020304" pitchFamily="18" charset="0"/>
                <a:ea typeface="楷体_GB2312" pitchFamily="49" charset="-122"/>
              </a:rPr>
              <a:t>否则</a:t>
            </a:r>
            <a:endParaRPr lang="zh-CN" altLang="en-US" sz="2200" b="1">
              <a:solidFill>
                <a:srgbClr val="000000"/>
              </a:solidFill>
              <a:latin typeface="Times New Roman" panose="02020603050405020304" pitchFamily="18" charset="0"/>
              <a:ea typeface="楷体_GB2312" pitchFamily="49" charset="-122"/>
            </a:endParaRPr>
          </a:p>
        </p:txBody>
      </p:sp>
      <p:sp>
        <p:nvSpPr>
          <p:cNvPr id="53252" name="文本框 53251"/>
          <p:cNvSpPr txBox="1"/>
          <p:nvPr/>
        </p:nvSpPr>
        <p:spPr>
          <a:xfrm>
            <a:off x="848072" y="2362200"/>
            <a:ext cx="839788" cy="457200"/>
          </a:xfrm>
          <a:prstGeom prst="rect">
            <a:avLst/>
          </a:prstGeom>
          <a:noFill/>
          <a:ln w="12700">
            <a:noFill/>
          </a:ln>
        </p:spPr>
        <p:txBody>
          <a:bodyPr wrap="none">
            <a:spAutoFit/>
          </a:bodyPr>
          <a:lstStyle/>
          <a:p>
            <a:pPr>
              <a:spcBef>
                <a:spcPct val="50000"/>
              </a:spcBef>
            </a:pPr>
            <a:r>
              <a:rPr lang="en-US" altLang="zh-CN" b="1">
                <a:solidFill>
                  <a:srgbClr val="000000"/>
                </a:solidFill>
                <a:latin typeface="Times New Roman" panose="02020603050405020304" pitchFamily="18" charset="0"/>
              </a:rPr>
              <a:t>CF =</a:t>
            </a:r>
            <a:endParaRPr lang="en-US" altLang="zh-CN">
              <a:solidFill>
                <a:srgbClr val="000000"/>
              </a:solidFill>
              <a:latin typeface="Times New Roman" panose="02020603050405020304" pitchFamily="18" charset="0"/>
            </a:endParaRPr>
          </a:p>
        </p:txBody>
      </p:sp>
      <p:sp>
        <p:nvSpPr>
          <p:cNvPr id="53253" name="左大括号 53252"/>
          <p:cNvSpPr/>
          <p:nvPr/>
        </p:nvSpPr>
        <p:spPr>
          <a:xfrm>
            <a:off x="1762472" y="2209800"/>
            <a:ext cx="76200" cy="685800"/>
          </a:xfrm>
          <a:prstGeom prst="leftBrace">
            <a:avLst>
              <a:gd name="adj1" fmla="val 75000"/>
              <a:gd name="adj2" fmla="val 50000"/>
            </a:avLst>
          </a:prstGeom>
          <a:noFill/>
          <a:ln w="12700" cap="sq" cmpd="sng">
            <a:solidFill>
              <a:schemeClr val="bg2"/>
            </a:solidFill>
            <a:prstDash val="solid"/>
            <a:headEnd type="none" w="sm" len="sm"/>
            <a:tailEnd type="none" w="sm" len="sm"/>
          </a:ln>
        </p:spPr>
        <p:txBody>
          <a:bodyPr/>
          <a:lstStyle/>
          <a:p>
            <a:endParaRPr lang="zh-CN" altLang="en-US"/>
          </a:p>
        </p:txBody>
      </p:sp>
      <p:sp>
        <p:nvSpPr>
          <p:cNvPr id="53254" name="文本框 53253"/>
          <p:cNvSpPr txBox="1"/>
          <p:nvPr/>
        </p:nvSpPr>
        <p:spPr>
          <a:xfrm>
            <a:off x="1991072" y="3810000"/>
            <a:ext cx="5029200" cy="1462088"/>
          </a:xfrm>
          <a:prstGeom prst="rect">
            <a:avLst/>
          </a:prstGeom>
          <a:noFill/>
          <a:ln w="12700">
            <a:noFill/>
          </a:ln>
        </p:spPr>
        <p:txBody>
          <a:bodyPr>
            <a:spAutoFit/>
          </a:bodyPr>
          <a:lstStyle/>
          <a:p>
            <a:r>
              <a:rPr lang="en-US" altLang="zh-CN" sz="2200" b="1">
                <a:solidFill>
                  <a:srgbClr val="000000"/>
                </a:solidFill>
                <a:latin typeface="Times New Roman" panose="02020603050405020304" pitchFamily="18" charset="0"/>
              </a:rPr>
              <a:t>1     </a:t>
            </a:r>
            <a:r>
              <a:rPr lang="zh-CN" altLang="en-US" sz="2200" b="1" dirty="0">
                <a:solidFill>
                  <a:srgbClr val="000000"/>
                </a:solidFill>
                <a:latin typeface="Times New Roman" panose="02020603050405020304" pitchFamily="18" charset="0"/>
                <a:ea typeface="楷体_GB2312" pitchFamily="49" charset="-122"/>
              </a:rPr>
              <a:t>操作数为 </a:t>
            </a:r>
            <a:r>
              <a:rPr lang="en-US" altLang="zh-CN" sz="2200" b="1" dirty="0">
                <a:solidFill>
                  <a:srgbClr val="000000"/>
                </a:solidFill>
                <a:latin typeface="Times New Roman" panose="02020603050405020304" pitchFamily="18" charset="0"/>
                <a:ea typeface="楷体_GB2312" pitchFamily="49" charset="-122"/>
              </a:rPr>
              <a:t>-128 </a:t>
            </a:r>
            <a:r>
              <a:rPr lang="zh-CN" altLang="en-US" sz="2200" b="1" dirty="0">
                <a:solidFill>
                  <a:srgbClr val="000000"/>
                </a:solidFill>
                <a:latin typeface="Times New Roman" panose="02020603050405020304" pitchFamily="18" charset="0"/>
                <a:ea typeface="楷体_GB2312" pitchFamily="49" charset="-122"/>
              </a:rPr>
              <a:t>（字节运算）</a:t>
            </a:r>
            <a:r>
              <a:rPr lang="zh-CN" altLang="en-US" b="1" dirty="0">
                <a:solidFill>
                  <a:srgbClr val="000000"/>
                </a:solidFill>
                <a:latin typeface="Times New Roman" panose="02020603050405020304" pitchFamily="18" charset="0"/>
                <a:ea typeface="楷体_GB2312" pitchFamily="49" charset="-122"/>
              </a:rPr>
              <a:t>或</a:t>
            </a:r>
            <a:endParaRPr lang="zh-CN" altLang="en-US" sz="2200" b="1" dirty="0">
              <a:solidFill>
                <a:srgbClr val="000000"/>
              </a:solidFill>
              <a:latin typeface="Times New Roman" panose="02020603050405020304" pitchFamily="18" charset="0"/>
              <a:ea typeface="楷体_GB2312" pitchFamily="49" charset="-122"/>
            </a:endParaRPr>
          </a:p>
          <a:p>
            <a:r>
              <a:rPr lang="zh-CN" altLang="en-US" sz="2200" b="1" dirty="0">
                <a:solidFill>
                  <a:srgbClr val="000000"/>
                </a:solidFill>
                <a:latin typeface="Times New Roman" panose="02020603050405020304" pitchFamily="18" charset="0"/>
                <a:ea typeface="楷体_GB2312" pitchFamily="49" charset="-122"/>
              </a:rPr>
              <a:t>       操作数为 </a:t>
            </a:r>
            <a:r>
              <a:rPr lang="en-US" altLang="zh-CN" sz="2200" b="1" dirty="0">
                <a:solidFill>
                  <a:srgbClr val="000000"/>
                </a:solidFill>
                <a:latin typeface="Times New Roman" panose="02020603050405020304" pitchFamily="18" charset="0"/>
                <a:ea typeface="楷体_GB2312" pitchFamily="49" charset="-122"/>
              </a:rPr>
              <a:t>-32768 </a:t>
            </a:r>
            <a:r>
              <a:rPr lang="zh-CN" altLang="en-US" sz="2200" b="1" dirty="0">
                <a:solidFill>
                  <a:srgbClr val="000000"/>
                </a:solidFill>
                <a:latin typeface="Times New Roman" panose="02020603050405020304" pitchFamily="18" charset="0"/>
                <a:ea typeface="楷体_GB2312" pitchFamily="49" charset="-122"/>
              </a:rPr>
              <a:t>（字运算）</a:t>
            </a:r>
            <a:endParaRPr lang="zh-CN" altLang="en-US" sz="2200" b="1" dirty="0">
              <a:solidFill>
                <a:srgbClr val="000000"/>
              </a:solidFill>
              <a:latin typeface="Times New Roman" panose="02020603050405020304" pitchFamily="18" charset="0"/>
              <a:ea typeface="楷体_GB2312" pitchFamily="49" charset="-122"/>
            </a:endParaRPr>
          </a:p>
          <a:p>
            <a:endParaRPr lang="zh-CN" altLang="en-US" sz="2200" b="1" dirty="0">
              <a:solidFill>
                <a:srgbClr val="000000"/>
              </a:solidFill>
              <a:latin typeface="Times New Roman" panose="02020603050405020304" pitchFamily="18" charset="0"/>
              <a:ea typeface="楷体_GB2312" pitchFamily="49" charset="-122"/>
            </a:endParaRPr>
          </a:p>
          <a:p>
            <a:r>
              <a:rPr lang="en-US" altLang="zh-CN" sz="2200" b="1">
                <a:solidFill>
                  <a:srgbClr val="000000"/>
                </a:solidFill>
                <a:latin typeface="Times New Roman" panose="02020603050405020304" pitchFamily="18" charset="0"/>
              </a:rPr>
              <a:t>0     </a:t>
            </a:r>
            <a:r>
              <a:rPr lang="zh-CN" altLang="en-US" sz="2200" b="1" dirty="0">
                <a:solidFill>
                  <a:srgbClr val="000000"/>
                </a:solidFill>
                <a:latin typeface="Times New Roman" panose="02020603050405020304" pitchFamily="18" charset="0"/>
                <a:ea typeface="楷体_GB2312" pitchFamily="49" charset="-122"/>
              </a:rPr>
              <a:t>否则</a:t>
            </a:r>
            <a:endParaRPr lang="zh-CN" altLang="en-US" sz="2200" b="1">
              <a:solidFill>
                <a:srgbClr val="000000"/>
              </a:solidFill>
              <a:latin typeface="Times New Roman" panose="02020603050405020304" pitchFamily="18" charset="0"/>
              <a:ea typeface="楷体_GB2312" pitchFamily="49" charset="-122"/>
            </a:endParaRPr>
          </a:p>
        </p:txBody>
      </p:sp>
      <p:sp>
        <p:nvSpPr>
          <p:cNvPr id="53255" name="文本框 53254"/>
          <p:cNvSpPr txBox="1"/>
          <p:nvPr/>
        </p:nvSpPr>
        <p:spPr>
          <a:xfrm>
            <a:off x="848072" y="4343400"/>
            <a:ext cx="855663" cy="457200"/>
          </a:xfrm>
          <a:prstGeom prst="rect">
            <a:avLst/>
          </a:prstGeom>
          <a:noFill/>
          <a:ln w="12700">
            <a:noFill/>
          </a:ln>
        </p:spPr>
        <p:txBody>
          <a:bodyPr wrap="none">
            <a:spAutoFit/>
          </a:bodyPr>
          <a:lstStyle/>
          <a:p>
            <a:pPr>
              <a:spcBef>
                <a:spcPct val="50000"/>
              </a:spcBef>
            </a:pPr>
            <a:r>
              <a:rPr lang="en-US" altLang="zh-CN" b="1">
                <a:solidFill>
                  <a:srgbClr val="000000"/>
                </a:solidFill>
                <a:latin typeface="Times New Roman" panose="02020603050405020304" pitchFamily="18" charset="0"/>
              </a:rPr>
              <a:t>OF =</a:t>
            </a:r>
            <a:endParaRPr lang="en-US" altLang="zh-CN">
              <a:solidFill>
                <a:srgbClr val="000000"/>
              </a:solidFill>
              <a:latin typeface="Times New Roman" panose="02020603050405020304" pitchFamily="18" charset="0"/>
            </a:endParaRPr>
          </a:p>
        </p:txBody>
      </p:sp>
      <p:sp>
        <p:nvSpPr>
          <p:cNvPr id="53256" name="左大括号 53255"/>
          <p:cNvSpPr/>
          <p:nvPr/>
        </p:nvSpPr>
        <p:spPr>
          <a:xfrm>
            <a:off x="1762472" y="3962400"/>
            <a:ext cx="76200" cy="1219200"/>
          </a:xfrm>
          <a:prstGeom prst="leftBrace">
            <a:avLst>
              <a:gd name="adj1" fmla="val 133333"/>
              <a:gd name="adj2" fmla="val 50000"/>
            </a:avLst>
          </a:prstGeom>
          <a:noFill/>
          <a:ln w="12700" cap="sq" cmpd="sng">
            <a:solidFill>
              <a:schemeClr val="bg2"/>
            </a:solidFill>
            <a:prstDash val="solid"/>
            <a:headEnd type="none" w="sm" len="sm"/>
            <a:tailEnd type="none" w="sm" len="sm"/>
          </a:ln>
        </p:spPr>
        <p:txBody>
          <a:bodyPr/>
          <a:lstStyle/>
          <a:p>
            <a:endParaRPr lang="zh-CN" altLang="en-US"/>
          </a:p>
        </p:txBody>
      </p:sp>
      <p:sp>
        <p:nvSpPr>
          <p:cNvPr id="1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14" name="文本框 54283"/>
          <p:cNvSpPr txBox="1"/>
          <p:nvPr/>
        </p:nvSpPr>
        <p:spPr>
          <a:xfrm>
            <a:off x="5252930" y="5181580"/>
            <a:ext cx="2589297" cy="1415772"/>
          </a:xfrm>
          <a:prstGeom prst="rect">
            <a:avLst/>
          </a:prstGeom>
          <a:noFill/>
          <a:ln w="12700">
            <a:noFill/>
          </a:ln>
        </p:spPr>
        <p:txBody>
          <a:bodyPr wrap="square">
            <a:spAutoFit/>
          </a:bodyPr>
          <a:lstStyle/>
          <a:p>
            <a:pPr>
              <a:lnSpc>
                <a:spcPct val="70000"/>
              </a:lnSpc>
              <a:spcBef>
                <a:spcPct val="50000"/>
              </a:spcBef>
            </a:pPr>
            <a:r>
              <a:rPr lang="en-US" altLang="zh-CN" sz="2000" b="1" dirty="0">
                <a:solidFill>
                  <a:srgbClr val="000000"/>
                </a:solidFill>
                <a:latin typeface="Times New Roman" panose="02020603050405020304" pitchFamily="18" charset="0"/>
              </a:rPr>
              <a:t>           1 0 0 0 0 0 0 0</a:t>
            </a:r>
            <a:endParaRPr lang="en-US" altLang="zh-CN" sz="2000" b="1" dirty="0">
              <a:solidFill>
                <a:srgbClr val="000000"/>
              </a:solidFill>
              <a:latin typeface="Times New Roman" panose="02020603050405020304" pitchFamily="18" charset="0"/>
            </a:endParaRPr>
          </a:p>
          <a:p>
            <a:pPr>
              <a:lnSpc>
                <a:spcPct val="70000"/>
              </a:lnSpc>
              <a:spcBef>
                <a:spcPct val="50000"/>
              </a:spcBef>
            </a:pPr>
            <a:r>
              <a:rPr lang="en-US" altLang="zh-CN" sz="2000" b="1" dirty="0">
                <a:solidFill>
                  <a:srgbClr val="000000"/>
                </a:solidFill>
                <a:latin typeface="Times New Roman" panose="02020603050405020304" pitchFamily="18" charset="0"/>
              </a:rPr>
              <a:t>           0 1 1 1 1 1 1 1</a:t>
            </a:r>
            <a:endParaRPr lang="en-US" altLang="zh-CN" sz="2000" b="1" dirty="0">
              <a:solidFill>
                <a:srgbClr val="000000"/>
              </a:solidFill>
              <a:latin typeface="Times New Roman" panose="02020603050405020304" pitchFamily="18" charset="0"/>
            </a:endParaRPr>
          </a:p>
          <a:p>
            <a:pPr>
              <a:lnSpc>
                <a:spcPct val="70000"/>
              </a:lnSpc>
              <a:spcBef>
                <a:spcPct val="50000"/>
              </a:spcBef>
            </a:pPr>
            <a:r>
              <a:rPr lang="en-US" altLang="zh-CN" sz="2000" b="1" dirty="0">
                <a:solidFill>
                  <a:srgbClr val="000000"/>
                </a:solidFill>
                <a:latin typeface="Times New Roman" panose="02020603050405020304" pitchFamily="18" charset="0"/>
              </a:rPr>
              <a:t>       +  0 0 0 0 0 0 0 1</a:t>
            </a:r>
            <a:endParaRPr lang="en-US" altLang="zh-CN" sz="2000" b="1" dirty="0">
              <a:solidFill>
                <a:srgbClr val="000000"/>
              </a:solidFill>
              <a:latin typeface="Times New Roman" panose="02020603050405020304" pitchFamily="18" charset="0"/>
            </a:endParaRPr>
          </a:p>
          <a:p>
            <a:pPr>
              <a:lnSpc>
                <a:spcPct val="70000"/>
              </a:lnSpc>
              <a:spcBef>
                <a:spcPct val="50000"/>
              </a:spcBef>
            </a:pPr>
            <a:r>
              <a:rPr lang="en-US" altLang="zh-CN" sz="2000" b="1" dirty="0">
                <a:solidFill>
                  <a:srgbClr val="000000"/>
                </a:solidFill>
                <a:latin typeface="Times New Roman" panose="02020603050405020304" pitchFamily="18" charset="0"/>
              </a:rPr>
              <a:t>           1 0 0 0 0 0 0 0</a:t>
            </a:r>
            <a:endParaRPr lang="en-US" altLang="zh-CN" sz="2000" b="1" dirty="0">
              <a:solidFill>
                <a:srgbClr val="000000"/>
              </a:solidFill>
              <a:latin typeface="Times New Roman" panose="02020603050405020304" pitchFamily="18" charset="0"/>
            </a:endParaRPr>
          </a:p>
        </p:txBody>
      </p:sp>
      <p:sp>
        <p:nvSpPr>
          <p:cNvPr id="15" name="直接连接符 14"/>
          <p:cNvSpPr/>
          <p:nvPr/>
        </p:nvSpPr>
        <p:spPr>
          <a:xfrm>
            <a:off x="5105923" y="6222980"/>
            <a:ext cx="2814449" cy="0"/>
          </a:xfrm>
          <a:prstGeom prst="line">
            <a:avLst/>
          </a:prstGeom>
          <a:ln w="12700" cap="sq" cmpd="sng">
            <a:solidFill>
              <a:schemeClr val="bg2"/>
            </a:solidFill>
            <a:prstDash val="solid"/>
            <a:headEnd type="none" w="sm" len="sm"/>
            <a:tailEnd type="none" w="sm" len="sm"/>
          </a:ln>
        </p:spPr>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文本框 52225"/>
          <p:cNvSpPr txBox="1"/>
          <p:nvPr/>
        </p:nvSpPr>
        <p:spPr>
          <a:xfrm>
            <a:off x="912812" y="1063588"/>
            <a:ext cx="7391400" cy="457200"/>
          </a:xfrm>
          <a:prstGeom prst="rect">
            <a:avLst/>
          </a:prstGeom>
          <a:noFill/>
          <a:ln w="9525">
            <a:noFill/>
          </a:ln>
        </p:spPr>
        <p:txBody>
          <a:bodyPr>
            <a:spAutoFit/>
          </a:bodyPr>
          <a:lstStyle/>
          <a:p>
            <a:pPr algn="just" eaLnBrk="0" hangingPunct="0"/>
            <a:r>
              <a:rPr lang="zh-CN" altLang="en-US" b="0" dirty="0">
                <a:solidFill>
                  <a:srgbClr val="000000"/>
                </a:solidFill>
                <a:latin typeface="Times New Roman" panose="02020603050405020304" pitchFamily="18" charset="0"/>
              </a:rPr>
              <a:t>减法指令对条件标志位（</a:t>
            </a:r>
            <a:r>
              <a:rPr lang="en-US" altLang="zh-CN" b="0" dirty="0">
                <a:solidFill>
                  <a:srgbClr val="000000"/>
                </a:solidFill>
                <a:latin typeface="Times New Roman" panose="02020603050405020304" pitchFamily="18" charset="0"/>
              </a:rPr>
              <a:t>CF/OF/ZF/SF</a:t>
            </a:r>
            <a:r>
              <a:rPr lang="zh-CN" altLang="en-US" b="0" dirty="0">
                <a:solidFill>
                  <a:srgbClr val="000000"/>
                </a:solidFill>
                <a:latin typeface="Times New Roman" panose="02020603050405020304" pitchFamily="18" charset="0"/>
              </a:rPr>
              <a:t>）的影响：</a:t>
            </a:r>
            <a:endParaRPr lang="zh-CN" altLang="en-US" b="0" dirty="0">
              <a:solidFill>
                <a:srgbClr val="000000"/>
              </a:solidFill>
              <a:latin typeface="Times New Roman" panose="02020603050405020304" pitchFamily="18" charset="0"/>
            </a:endParaRPr>
          </a:p>
        </p:txBody>
      </p:sp>
      <p:sp>
        <p:nvSpPr>
          <p:cNvPr id="52227" name="矩形 52226"/>
          <p:cNvSpPr/>
          <p:nvPr/>
        </p:nvSpPr>
        <p:spPr>
          <a:xfrm>
            <a:off x="2423120" y="5871260"/>
            <a:ext cx="5029200" cy="1014124"/>
          </a:xfrm>
          <a:prstGeom prst="rect">
            <a:avLst/>
          </a:prstGeom>
          <a:noFill/>
          <a:ln w="12700">
            <a:noFill/>
          </a:ln>
        </p:spPr>
        <p:txBody>
          <a:bodyPr>
            <a:spAutoFit/>
          </a:bodyPr>
          <a:lstStyle/>
          <a:p>
            <a:pPr eaLnBrk="0" hangingPunct="0">
              <a:lnSpc>
                <a:spcPct val="145000"/>
              </a:lnSpc>
            </a:pPr>
            <a:r>
              <a:rPr lang="en-US" altLang="zh-CN" sz="2200" b="1" dirty="0">
                <a:solidFill>
                  <a:srgbClr val="000000"/>
                </a:solidFill>
                <a:latin typeface="Times New Roman" panose="02020603050405020304" pitchFamily="18" charset="0"/>
              </a:rPr>
              <a:t>CF </a:t>
            </a:r>
            <a:r>
              <a:rPr lang="zh-CN" altLang="en-US" sz="2200" b="1" dirty="0">
                <a:solidFill>
                  <a:srgbClr val="000000"/>
                </a:solidFill>
                <a:latin typeface="Times New Roman" panose="02020603050405020304" pitchFamily="18" charset="0"/>
              </a:rPr>
              <a:t>位表示 无符号数 减法的溢出。</a:t>
            </a:r>
            <a:endParaRPr lang="zh-CN" altLang="en-US" sz="2200" b="1" dirty="0">
              <a:solidFill>
                <a:srgbClr val="000000"/>
              </a:solidFill>
              <a:latin typeface="Times New Roman" panose="02020603050405020304" pitchFamily="18" charset="0"/>
            </a:endParaRPr>
          </a:p>
          <a:p>
            <a:pPr eaLnBrk="0" hangingPunct="0">
              <a:lnSpc>
                <a:spcPct val="145000"/>
              </a:lnSpc>
            </a:pPr>
            <a:r>
              <a:rPr lang="en-US" altLang="zh-CN" sz="2200" b="1" dirty="0">
                <a:solidFill>
                  <a:srgbClr val="000000"/>
                </a:solidFill>
                <a:latin typeface="Times New Roman" panose="02020603050405020304" pitchFamily="18" charset="0"/>
              </a:rPr>
              <a:t>OF </a:t>
            </a:r>
            <a:r>
              <a:rPr lang="zh-CN" altLang="en-US" sz="2200" b="1" dirty="0">
                <a:solidFill>
                  <a:srgbClr val="000000"/>
                </a:solidFill>
                <a:latin typeface="Times New Roman" panose="02020603050405020304" pitchFamily="18" charset="0"/>
              </a:rPr>
              <a:t>位表示 带符号数 减法的溢出。</a:t>
            </a:r>
            <a:endParaRPr lang="zh-CN" altLang="en-US" sz="2200" b="1" dirty="0">
              <a:solidFill>
                <a:srgbClr val="000000"/>
              </a:solidFill>
              <a:latin typeface="Times New Roman" panose="02020603050405020304" pitchFamily="18" charset="0"/>
            </a:endParaRPr>
          </a:p>
        </p:txBody>
      </p:sp>
      <p:sp>
        <p:nvSpPr>
          <p:cNvPr id="52228" name="文本框 52227"/>
          <p:cNvSpPr txBox="1"/>
          <p:nvPr/>
        </p:nvSpPr>
        <p:spPr>
          <a:xfrm>
            <a:off x="2362200" y="1556792"/>
            <a:ext cx="5335588" cy="750888"/>
          </a:xfrm>
          <a:prstGeom prst="rect">
            <a:avLst/>
          </a:prstGeom>
          <a:noFill/>
          <a:ln w="12700">
            <a:noFill/>
          </a:ln>
        </p:spPr>
        <p:txBody>
          <a:bodyPr wrap="none">
            <a:spAutoFit/>
          </a:bodyPr>
          <a:lstStyle/>
          <a:p>
            <a:pPr>
              <a:lnSpc>
                <a:spcPct val="70000"/>
              </a:lnSpc>
              <a:spcBef>
                <a:spcPct val="50000"/>
              </a:spcBef>
            </a:pPr>
            <a:r>
              <a:rPr lang="en-US" altLang="zh-CN" sz="2200" b="1" dirty="0">
                <a:solidFill>
                  <a:srgbClr val="000000"/>
                </a:solidFill>
                <a:latin typeface="Times New Roman" panose="02020603050405020304" pitchFamily="18" charset="0"/>
              </a:rPr>
              <a:t>1     </a:t>
            </a:r>
            <a:r>
              <a:rPr lang="zh-CN" altLang="en-US" sz="2200" b="1" dirty="0">
                <a:solidFill>
                  <a:srgbClr val="000000"/>
                </a:solidFill>
                <a:latin typeface="Times New Roman" panose="02020603050405020304" pitchFamily="18" charset="0"/>
                <a:ea typeface="楷体_GB2312" pitchFamily="49" charset="-122"/>
              </a:rPr>
              <a:t>被减数的最高有效位</a:t>
            </a:r>
            <a:r>
              <a:rPr lang="zh-CN" altLang="en-US" b="1" dirty="0">
                <a:solidFill>
                  <a:srgbClr val="000000"/>
                </a:solidFill>
                <a:latin typeface="Times New Roman" panose="02020603050405020304" pitchFamily="18" charset="0"/>
                <a:ea typeface="楷体_GB2312" pitchFamily="49" charset="-122"/>
              </a:rPr>
              <a:t>有</a:t>
            </a:r>
            <a:r>
              <a:rPr lang="zh-CN" altLang="en-US" sz="2200" b="1" dirty="0">
                <a:solidFill>
                  <a:srgbClr val="000000"/>
                </a:solidFill>
                <a:latin typeface="Times New Roman" panose="02020603050405020304" pitchFamily="18" charset="0"/>
                <a:ea typeface="楷体_GB2312" pitchFamily="49" charset="-122"/>
              </a:rPr>
              <a:t>向高位的借位</a:t>
            </a:r>
            <a:endParaRPr lang="zh-CN" altLang="en-US" sz="2200" b="1" dirty="0">
              <a:solidFill>
                <a:srgbClr val="000000"/>
              </a:solidFill>
              <a:latin typeface="Times New Roman" panose="02020603050405020304" pitchFamily="18" charset="0"/>
              <a:ea typeface="楷体_GB2312" pitchFamily="49" charset="-122"/>
            </a:endParaRPr>
          </a:p>
          <a:p>
            <a:pPr>
              <a:lnSpc>
                <a:spcPct val="70000"/>
              </a:lnSpc>
              <a:spcBef>
                <a:spcPct val="50000"/>
              </a:spcBef>
            </a:pPr>
            <a:r>
              <a:rPr lang="en-US" altLang="zh-CN" sz="2200" b="1" dirty="0">
                <a:solidFill>
                  <a:srgbClr val="000000"/>
                </a:solidFill>
                <a:latin typeface="Times New Roman" panose="02020603050405020304" pitchFamily="18" charset="0"/>
              </a:rPr>
              <a:t>0     </a:t>
            </a:r>
            <a:r>
              <a:rPr lang="zh-CN" altLang="en-US" sz="2200" b="1" dirty="0">
                <a:solidFill>
                  <a:srgbClr val="000000"/>
                </a:solidFill>
                <a:latin typeface="Times New Roman" panose="02020603050405020304" pitchFamily="18" charset="0"/>
                <a:ea typeface="楷体_GB2312" pitchFamily="49" charset="-122"/>
              </a:rPr>
              <a:t>否则</a:t>
            </a:r>
            <a:endParaRPr lang="zh-CN" altLang="en-US" sz="2200" b="1" dirty="0">
              <a:solidFill>
                <a:srgbClr val="000000"/>
              </a:solidFill>
              <a:latin typeface="Times New Roman" panose="02020603050405020304" pitchFamily="18" charset="0"/>
              <a:ea typeface="楷体_GB2312" pitchFamily="49" charset="-122"/>
            </a:endParaRPr>
          </a:p>
        </p:txBody>
      </p:sp>
      <p:sp>
        <p:nvSpPr>
          <p:cNvPr id="52229" name="文本框 52228"/>
          <p:cNvSpPr txBox="1"/>
          <p:nvPr/>
        </p:nvSpPr>
        <p:spPr>
          <a:xfrm>
            <a:off x="1371600" y="1632992"/>
            <a:ext cx="763588" cy="457200"/>
          </a:xfrm>
          <a:prstGeom prst="rect">
            <a:avLst/>
          </a:prstGeom>
          <a:noFill/>
          <a:ln w="12700">
            <a:noFill/>
          </a:ln>
        </p:spPr>
        <p:txBody>
          <a:bodyPr wrap="none">
            <a:spAutoFit/>
          </a:bodyPr>
          <a:lstStyle/>
          <a:p>
            <a:pPr>
              <a:spcBef>
                <a:spcPct val="50000"/>
              </a:spcBef>
            </a:pPr>
            <a:r>
              <a:rPr lang="en-US" altLang="zh-CN" b="1">
                <a:solidFill>
                  <a:srgbClr val="000000"/>
                </a:solidFill>
                <a:latin typeface="Times New Roman" panose="02020603050405020304" pitchFamily="18" charset="0"/>
              </a:rPr>
              <a:t>CF=</a:t>
            </a:r>
            <a:endParaRPr lang="en-US" altLang="zh-CN">
              <a:solidFill>
                <a:srgbClr val="000000"/>
              </a:solidFill>
              <a:latin typeface="Times New Roman" panose="02020603050405020304" pitchFamily="18" charset="0"/>
            </a:endParaRPr>
          </a:p>
        </p:txBody>
      </p:sp>
      <p:sp>
        <p:nvSpPr>
          <p:cNvPr id="52230" name="左大括号 52229"/>
          <p:cNvSpPr/>
          <p:nvPr/>
        </p:nvSpPr>
        <p:spPr>
          <a:xfrm>
            <a:off x="2133600" y="1556792"/>
            <a:ext cx="76200" cy="685800"/>
          </a:xfrm>
          <a:prstGeom prst="leftBrace">
            <a:avLst>
              <a:gd name="adj1" fmla="val 75000"/>
              <a:gd name="adj2" fmla="val 50000"/>
            </a:avLst>
          </a:prstGeom>
          <a:noFill/>
          <a:ln w="12700" cap="sq" cmpd="sng">
            <a:solidFill>
              <a:schemeClr val="bg2"/>
            </a:solidFill>
            <a:prstDash val="solid"/>
            <a:headEnd type="none" w="sm" len="sm"/>
            <a:tailEnd type="none" w="sm" len="sm"/>
          </a:ln>
        </p:spPr>
        <p:txBody>
          <a:bodyPr/>
          <a:lstStyle/>
          <a:p>
            <a:endParaRPr lang="zh-CN" altLang="en-US"/>
          </a:p>
        </p:txBody>
      </p:sp>
      <p:sp>
        <p:nvSpPr>
          <p:cNvPr id="52231" name="文本框 52230"/>
          <p:cNvSpPr txBox="1"/>
          <p:nvPr/>
        </p:nvSpPr>
        <p:spPr>
          <a:xfrm>
            <a:off x="2362200" y="3861048"/>
            <a:ext cx="6573838" cy="730250"/>
          </a:xfrm>
          <a:prstGeom prst="rect">
            <a:avLst/>
          </a:prstGeom>
          <a:noFill/>
          <a:ln w="12700">
            <a:noFill/>
          </a:ln>
        </p:spPr>
        <p:txBody>
          <a:bodyPr wrap="none">
            <a:spAutoFit/>
          </a:bodyPr>
          <a:lstStyle/>
          <a:p>
            <a:pPr>
              <a:lnSpc>
                <a:spcPct val="70000"/>
              </a:lnSpc>
              <a:spcBef>
                <a:spcPct val="50000"/>
              </a:spcBef>
            </a:pPr>
            <a:r>
              <a:rPr lang="en-US" altLang="zh-CN" sz="2200" b="1" dirty="0">
                <a:solidFill>
                  <a:srgbClr val="000000"/>
                </a:solidFill>
                <a:latin typeface="Times New Roman" panose="02020603050405020304" pitchFamily="18" charset="0"/>
              </a:rPr>
              <a:t>1     </a:t>
            </a:r>
            <a:r>
              <a:rPr lang="zh-CN" altLang="en-US" sz="2200" b="1" dirty="0">
                <a:solidFill>
                  <a:srgbClr val="000000"/>
                </a:solidFill>
                <a:latin typeface="Times New Roman" panose="02020603050405020304" pitchFamily="18" charset="0"/>
                <a:ea typeface="楷体_GB2312" pitchFamily="49" charset="-122"/>
              </a:rPr>
              <a:t>两个操作数符号相反，而结果的符号与减数相同</a:t>
            </a:r>
            <a:endParaRPr lang="zh-CN" altLang="en-US" sz="2200" b="1" dirty="0">
              <a:solidFill>
                <a:srgbClr val="000000"/>
              </a:solidFill>
              <a:latin typeface="Times New Roman" panose="02020603050405020304" pitchFamily="18" charset="0"/>
              <a:ea typeface="楷体_GB2312" pitchFamily="49" charset="-122"/>
            </a:endParaRPr>
          </a:p>
          <a:p>
            <a:pPr>
              <a:lnSpc>
                <a:spcPct val="70000"/>
              </a:lnSpc>
              <a:spcBef>
                <a:spcPct val="50000"/>
              </a:spcBef>
            </a:pPr>
            <a:r>
              <a:rPr lang="en-US" altLang="zh-CN" sz="2200" b="1" dirty="0">
                <a:solidFill>
                  <a:srgbClr val="000000"/>
                </a:solidFill>
                <a:latin typeface="Times New Roman" panose="02020603050405020304" pitchFamily="18" charset="0"/>
              </a:rPr>
              <a:t>0     </a:t>
            </a:r>
            <a:r>
              <a:rPr lang="zh-CN" altLang="en-US" sz="2200" b="1" dirty="0">
                <a:solidFill>
                  <a:srgbClr val="000000"/>
                </a:solidFill>
                <a:latin typeface="Times New Roman" panose="02020603050405020304" pitchFamily="18" charset="0"/>
                <a:ea typeface="楷体_GB2312" pitchFamily="49" charset="-122"/>
              </a:rPr>
              <a:t>否则</a:t>
            </a:r>
            <a:endParaRPr lang="zh-CN" altLang="en-US" sz="2200" b="1" dirty="0">
              <a:solidFill>
                <a:srgbClr val="000000"/>
              </a:solidFill>
              <a:latin typeface="Times New Roman" panose="02020603050405020304" pitchFamily="18" charset="0"/>
              <a:ea typeface="楷体_GB2312" pitchFamily="49" charset="-122"/>
            </a:endParaRPr>
          </a:p>
        </p:txBody>
      </p:sp>
      <p:sp>
        <p:nvSpPr>
          <p:cNvPr id="52232" name="文本框 52231"/>
          <p:cNvSpPr txBox="1"/>
          <p:nvPr/>
        </p:nvSpPr>
        <p:spPr>
          <a:xfrm>
            <a:off x="1371600" y="3937248"/>
            <a:ext cx="779463" cy="457200"/>
          </a:xfrm>
          <a:prstGeom prst="rect">
            <a:avLst/>
          </a:prstGeom>
          <a:noFill/>
          <a:ln w="12700">
            <a:noFill/>
          </a:ln>
        </p:spPr>
        <p:txBody>
          <a:bodyPr wrap="none">
            <a:spAutoFit/>
          </a:bodyPr>
          <a:lstStyle/>
          <a:p>
            <a:pPr>
              <a:spcBef>
                <a:spcPct val="50000"/>
              </a:spcBef>
            </a:pPr>
            <a:r>
              <a:rPr lang="en-US" altLang="zh-CN" b="1">
                <a:solidFill>
                  <a:srgbClr val="000000"/>
                </a:solidFill>
                <a:latin typeface="Times New Roman" panose="02020603050405020304" pitchFamily="18" charset="0"/>
              </a:rPr>
              <a:t>OF=</a:t>
            </a:r>
            <a:endParaRPr lang="en-US" altLang="zh-CN">
              <a:solidFill>
                <a:srgbClr val="000000"/>
              </a:solidFill>
              <a:latin typeface="Times New Roman" panose="02020603050405020304" pitchFamily="18" charset="0"/>
            </a:endParaRPr>
          </a:p>
        </p:txBody>
      </p:sp>
      <p:sp>
        <p:nvSpPr>
          <p:cNvPr id="52233" name="左大括号 52232"/>
          <p:cNvSpPr/>
          <p:nvPr/>
        </p:nvSpPr>
        <p:spPr>
          <a:xfrm>
            <a:off x="2133600" y="3861048"/>
            <a:ext cx="76200" cy="685800"/>
          </a:xfrm>
          <a:prstGeom prst="leftBrace">
            <a:avLst>
              <a:gd name="adj1" fmla="val 75000"/>
              <a:gd name="adj2" fmla="val 50000"/>
            </a:avLst>
          </a:prstGeom>
          <a:noFill/>
          <a:ln w="12700" cap="sq" cmpd="sng">
            <a:solidFill>
              <a:schemeClr val="bg2"/>
            </a:solidFill>
            <a:prstDash val="solid"/>
            <a:headEnd type="none" w="sm" len="sm"/>
            <a:tailEnd type="none" w="sm" len="sm"/>
          </a:ln>
        </p:spPr>
        <p:txBody>
          <a:bodyPr/>
          <a:lstStyle/>
          <a:p>
            <a:endParaRPr lang="zh-CN" altLang="en-US"/>
          </a:p>
        </p:txBody>
      </p:sp>
      <p:sp>
        <p:nvSpPr>
          <p:cNvPr id="1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grpSp>
        <p:nvGrpSpPr>
          <p:cNvPr id="3" name="组合 2"/>
          <p:cNvGrpSpPr/>
          <p:nvPr/>
        </p:nvGrpSpPr>
        <p:grpSpPr>
          <a:xfrm>
            <a:off x="1331640" y="4623519"/>
            <a:ext cx="6984776" cy="1253753"/>
            <a:chOff x="1331640" y="4623519"/>
            <a:chExt cx="6984776" cy="1253753"/>
          </a:xfrm>
        </p:grpSpPr>
        <p:sp>
          <p:nvSpPr>
            <p:cNvPr id="15" name="文本框 48140"/>
            <p:cNvSpPr txBox="1"/>
            <p:nvPr/>
          </p:nvSpPr>
          <p:spPr>
            <a:xfrm>
              <a:off x="2304553" y="5147022"/>
              <a:ext cx="6011863" cy="730250"/>
            </a:xfrm>
            <a:prstGeom prst="rect">
              <a:avLst/>
            </a:prstGeom>
            <a:noFill/>
            <a:ln w="12700">
              <a:noFill/>
            </a:ln>
          </p:spPr>
          <p:txBody>
            <a:bodyPr wrap="none">
              <a:spAutoFit/>
            </a:bodyPr>
            <a:lstStyle/>
            <a:p>
              <a:pPr>
                <a:lnSpc>
                  <a:spcPct val="70000"/>
                </a:lnSpc>
                <a:spcBef>
                  <a:spcPct val="50000"/>
                </a:spcBef>
              </a:pPr>
              <a:r>
                <a:rPr lang="en-US" altLang="zh-CN" sz="2200" b="1" dirty="0">
                  <a:solidFill>
                    <a:srgbClr val="FF0000"/>
                  </a:solidFill>
                  <a:latin typeface="Times New Roman" panose="02020603050405020304" pitchFamily="18" charset="0"/>
                </a:rPr>
                <a:t>1     </a:t>
              </a:r>
              <a:r>
                <a:rPr lang="zh-CN" altLang="en-US" sz="2200" b="1" dirty="0">
                  <a:solidFill>
                    <a:srgbClr val="FF0000"/>
                  </a:solidFill>
                  <a:latin typeface="Times New Roman" panose="02020603050405020304" pitchFamily="18" charset="0"/>
                  <a:ea typeface="楷体_GB2312" pitchFamily="49" charset="-122"/>
                </a:rPr>
                <a:t>两个操作数符号相同，而结果符号与之相反</a:t>
              </a:r>
              <a:endParaRPr lang="zh-CN" altLang="en-US" sz="2200" b="1" dirty="0">
                <a:solidFill>
                  <a:srgbClr val="FF0000"/>
                </a:solidFill>
                <a:latin typeface="Times New Roman" panose="02020603050405020304" pitchFamily="18" charset="0"/>
                <a:ea typeface="楷体_GB2312" pitchFamily="49" charset="-122"/>
              </a:endParaRPr>
            </a:p>
            <a:p>
              <a:pPr>
                <a:lnSpc>
                  <a:spcPct val="70000"/>
                </a:lnSpc>
                <a:spcBef>
                  <a:spcPct val="50000"/>
                </a:spcBef>
              </a:pPr>
              <a:r>
                <a:rPr lang="en-US" altLang="zh-CN" sz="2200" b="1" dirty="0">
                  <a:solidFill>
                    <a:srgbClr val="FF0000"/>
                  </a:solidFill>
                  <a:latin typeface="Times New Roman" panose="02020603050405020304" pitchFamily="18" charset="0"/>
                </a:rPr>
                <a:t>0     </a:t>
              </a:r>
              <a:r>
                <a:rPr lang="zh-CN" altLang="en-US" sz="2200" b="1" dirty="0">
                  <a:solidFill>
                    <a:srgbClr val="FF0000"/>
                  </a:solidFill>
                  <a:latin typeface="Times New Roman" panose="02020603050405020304" pitchFamily="18" charset="0"/>
                  <a:ea typeface="楷体_GB2312" pitchFamily="49" charset="-122"/>
                </a:rPr>
                <a:t>否则</a:t>
              </a:r>
              <a:endParaRPr lang="zh-CN" altLang="en-US" sz="2200" b="1" dirty="0">
                <a:solidFill>
                  <a:srgbClr val="FF0000"/>
                </a:solidFill>
                <a:latin typeface="Times New Roman" panose="02020603050405020304" pitchFamily="18" charset="0"/>
                <a:ea typeface="楷体_GB2312" pitchFamily="49" charset="-122"/>
              </a:endParaRPr>
            </a:p>
          </p:txBody>
        </p:sp>
        <p:sp>
          <p:nvSpPr>
            <p:cNvPr id="16" name="文本框 48141"/>
            <p:cNvSpPr txBox="1"/>
            <p:nvPr/>
          </p:nvSpPr>
          <p:spPr>
            <a:xfrm>
              <a:off x="1344265" y="5223222"/>
              <a:ext cx="779463" cy="457200"/>
            </a:xfrm>
            <a:prstGeom prst="rect">
              <a:avLst/>
            </a:prstGeom>
            <a:noFill/>
            <a:ln w="12700">
              <a:noFill/>
            </a:ln>
          </p:spPr>
          <p:txBody>
            <a:bodyPr wrap="none">
              <a:spAutoFit/>
            </a:bodyPr>
            <a:lstStyle/>
            <a:p>
              <a:pPr>
                <a:spcBef>
                  <a:spcPct val="50000"/>
                </a:spcBef>
              </a:pPr>
              <a:r>
                <a:rPr lang="en-US" altLang="zh-CN" b="1" dirty="0">
                  <a:solidFill>
                    <a:srgbClr val="FF0000"/>
                  </a:solidFill>
                  <a:latin typeface="Times New Roman" panose="02020603050405020304" pitchFamily="18" charset="0"/>
                </a:rPr>
                <a:t>OF=</a:t>
              </a:r>
              <a:endParaRPr lang="en-US" altLang="zh-CN" dirty="0">
                <a:solidFill>
                  <a:srgbClr val="FF0000"/>
                </a:solidFill>
                <a:latin typeface="Times New Roman" panose="02020603050405020304" pitchFamily="18" charset="0"/>
              </a:endParaRPr>
            </a:p>
          </p:txBody>
        </p:sp>
        <p:sp>
          <p:nvSpPr>
            <p:cNvPr id="17" name="左大括号 16"/>
            <p:cNvSpPr/>
            <p:nvPr/>
          </p:nvSpPr>
          <p:spPr>
            <a:xfrm>
              <a:off x="2123728" y="5147022"/>
              <a:ext cx="76200" cy="685800"/>
            </a:xfrm>
            <a:prstGeom prst="leftBrace">
              <a:avLst>
                <a:gd name="adj1" fmla="val 75000"/>
                <a:gd name="adj2" fmla="val 50000"/>
              </a:avLst>
            </a:prstGeom>
            <a:noFill/>
            <a:ln w="12700" cap="sq" cmpd="sng">
              <a:solidFill>
                <a:schemeClr val="bg2"/>
              </a:solidFill>
              <a:prstDash val="solid"/>
              <a:headEnd type="none" w="sm" len="sm"/>
              <a:tailEnd type="none" w="sm" len="sm"/>
            </a:ln>
          </p:spPr>
          <p:txBody>
            <a:bodyPr/>
            <a:lstStyle/>
            <a:p>
              <a:endParaRPr lang="zh-CN" altLang="en-US"/>
            </a:p>
          </p:txBody>
        </p:sp>
        <p:sp>
          <p:nvSpPr>
            <p:cNvPr id="18" name="文本框 52236"/>
            <p:cNvSpPr txBox="1"/>
            <p:nvPr/>
          </p:nvSpPr>
          <p:spPr>
            <a:xfrm>
              <a:off x="1331640" y="4623519"/>
              <a:ext cx="2350323" cy="461665"/>
            </a:xfrm>
            <a:prstGeom prst="rect">
              <a:avLst/>
            </a:prstGeom>
            <a:noFill/>
            <a:ln w="12700">
              <a:noFill/>
            </a:ln>
          </p:spPr>
          <p:txBody>
            <a:bodyPr wrap="none">
              <a:spAutoFit/>
            </a:bodyPr>
            <a:lstStyle/>
            <a:p>
              <a:pPr>
                <a:spcBef>
                  <a:spcPct val="50000"/>
                </a:spcBef>
              </a:pPr>
              <a:r>
                <a:rPr lang="zh-CN" altLang="en-US" b="1" dirty="0">
                  <a:solidFill>
                    <a:srgbClr val="FF0000"/>
                  </a:solidFill>
                  <a:latin typeface="Times New Roman" panose="02020603050405020304" pitchFamily="18" charset="0"/>
                </a:rPr>
                <a:t>或转换成加法：</a:t>
              </a:r>
              <a:endParaRPr lang="zh-CN" altLang="en-US" dirty="0">
                <a:solidFill>
                  <a:srgbClr val="FF0000"/>
                </a:solidFill>
                <a:latin typeface="Times New Roman" panose="02020603050405020304" pitchFamily="18" charset="0"/>
              </a:endParaRPr>
            </a:p>
          </p:txBody>
        </p:sp>
      </p:grpSp>
      <p:grpSp>
        <p:nvGrpSpPr>
          <p:cNvPr id="2" name="组合 1"/>
          <p:cNvGrpSpPr/>
          <p:nvPr/>
        </p:nvGrpSpPr>
        <p:grpSpPr>
          <a:xfrm>
            <a:off x="1331640" y="2276872"/>
            <a:ext cx="5523185" cy="1290948"/>
            <a:chOff x="1331640" y="2276872"/>
            <a:chExt cx="5523185" cy="1290948"/>
          </a:xfrm>
        </p:grpSpPr>
        <p:sp>
          <p:nvSpPr>
            <p:cNvPr id="52234" name="文本框 52233"/>
            <p:cNvSpPr txBox="1"/>
            <p:nvPr/>
          </p:nvSpPr>
          <p:spPr>
            <a:xfrm>
              <a:off x="2362200" y="2816932"/>
              <a:ext cx="4492625" cy="750888"/>
            </a:xfrm>
            <a:prstGeom prst="rect">
              <a:avLst/>
            </a:prstGeom>
            <a:noFill/>
            <a:ln w="12700">
              <a:noFill/>
            </a:ln>
          </p:spPr>
          <p:txBody>
            <a:bodyPr wrap="none">
              <a:spAutoFit/>
            </a:bodyPr>
            <a:lstStyle/>
            <a:p>
              <a:pPr>
                <a:lnSpc>
                  <a:spcPct val="70000"/>
                </a:lnSpc>
                <a:spcBef>
                  <a:spcPct val="50000"/>
                </a:spcBef>
              </a:pPr>
              <a:r>
                <a:rPr lang="en-US" altLang="zh-CN" sz="2200" b="1" dirty="0">
                  <a:solidFill>
                    <a:srgbClr val="FF0000"/>
                  </a:solidFill>
                  <a:latin typeface="Times New Roman" panose="02020603050405020304" pitchFamily="18" charset="0"/>
                </a:rPr>
                <a:t>1     </a:t>
              </a:r>
              <a:r>
                <a:rPr lang="zh-CN" altLang="en-US" sz="2200" b="1" dirty="0">
                  <a:solidFill>
                    <a:srgbClr val="FF0000"/>
                  </a:solidFill>
                  <a:latin typeface="Times New Roman" panose="02020603050405020304" pitchFamily="18" charset="0"/>
                  <a:ea typeface="楷体_GB2312" pitchFamily="49" charset="-122"/>
                </a:rPr>
                <a:t>减法转换为加法运算时</a:t>
              </a:r>
              <a:r>
                <a:rPr lang="zh-CN" altLang="en-US" b="1" dirty="0">
                  <a:solidFill>
                    <a:srgbClr val="FF0000"/>
                  </a:solidFill>
                  <a:latin typeface="Times New Roman" panose="02020603050405020304" pitchFamily="18" charset="0"/>
                  <a:ea typeface="楷体_GB2312" pitchFamily="49" charset="-122"/>
                </a:rPr>
                <a:t>无</a:t>
              </a:r>
              <a:r>
                <a:rPr lang="zh-CN" altLang="en-US" sz="2200" b="1" dirty="0">
                  <a:solidFill>
                    <a:srgbClr val="FF0000"/>
                  </a:solidFill>
                  <a:latin typeface="Times New Roman" panose="02020603050405020304" pitchFamily="18" charset="0"/>
                  <a:ea typeface="楷体_GB2312" pitchFamily="49" charset="-122"/>
                </a:rPr>
                <a:t>进位</a:t>
              </a:r>
              <a:endParaRPr lang="zh-CN" altLang="en-US" sz="2200" b="1" dirty="0">
                <a:solidFill>
                  <a:srgbClr val="FF0000"/>
                </a:solidFill>
                <a:latin typeface="Times New Roman" panose="02020603050405020304" pitchFamily="18" charset="0"/>
                <a:ea typeface="楷体_GB2312" pitchFamily="49" charset="-122"/>
              </a:endParaRPr>
            </a:p>
            <a:p>
              <a:pPr>
                <a:lnSpc>
                  <a:spcPct val="70000"/>
                </a:lnSpc>
                <a:spcBef>
                  <a:spcPct val="50000"/>
                </a:spcBef>
              </a:pPr>
              <a:r>
                <a:rPr lang="en-US" altLang="zh-CN" sz="2200" b="1" dirty="0">
                  <a:solidFill>
                    <a:srgbClr val="FF0000"/>
                  </a:solidFill>
                  <a:latin typeface="Times New Roman" panose="02020603050405020304" pitchFamily="18" charset="0"/>
                </a:rPr>
                <a:t>0     </a:t>
              </a:r>
              <a:r>
                <a:rPr lang="zh-CN" altLang="en-US" sz="2200" b="1" dirty="0">
                  <a:solidFill>
                    <a:srgbClr val="FF0000"/>
                  </a:solidFill>
                  <a:latin typeface="Times New Roman" panose="02020603050405020304" pitchFamily="18" charset="0"/>
                  <a:ea typeface="楷体_GB2312" pitchFamily="49" charset="-122"/>
                </a:rPr>
                <a:t>否则</a:t>
              </a:r>
              <a:endParaRPr lang="zh-CN" altLang="en-US" sz="2200" b="1" dirty="0">
                <a:solidFill>
                  <a:srgbClr val="FF0000"/>
                </a:solidFill>
                <a:latin typeface="Times New Roman" panose="02020603050405020304" pitchFamily="18" charset="0"/>
                <a:ea typeface="楷体_GB2312" pitchFamily="49" charset="-122"/>
              </a:endParaRPr>
            </a:p>
          </p:txBody>
        </p:sp>
        <p:sp>
          <p:nvSpPr>
            <p:cNvPr id="52235" name="文本框 52234"/>
            <p:cNvSpPr txBox="1"/>
            <p:nvPr/>
          </p:nvSpPr>
          <p:spPr>
            <a:xfrm>
              <a:off x="1371600" y="2893132"/>
              <a:ext cx="763588" cy="457200"/>
            </a:xfrm>
            <a:prstGeom prst="rect">
              <a:avLst/>
            </a:prstGeom>
            <a:noFill/>
            <a:ln w="12700">
              <a:noFill/>
            </a:ln>
          </p:spPr>
          <p:txBody>
            <a:bodyPr wrap="none">
              <a:spAutoFit/>
            </a:bodyPr>
            <a:lstStyle/>
            <a:p>
              <a:pPr>
                <a:spcBef>
                  <a:spcPct val="50000"/>
                </a:spcBef>
              </a:pPr>
              <a:r>
                <a:rPr lang="en-US" altLang="zh-CN" b="1" dirty="0">
                  <a:solidFill>
                    <a:srgbClr val="FF0000"/>
                  </a:solidFill>
                  <a:latin typeface="Times New Roman" panose="02020603050405020304" pitchFamily="18" charset="0"/>
                </a:rPr>
                <a:t>CF=</a:t>
              </a:r>
              <a:endParaRPr lang="en-US" altLang="zh-CN" dirty="0">
                <a:solidFill>
                  <a:srgbClr val="FF0000"/>
                </a:solidFill>
                <a:latin typeface="Times New Roman" panose="02020603050405020304" pitchFamily="18" charset="0"/>
              </a:endParaRPr>
            </a:p>
          </p:txBody>
        </p:sp>
        <p:sp>
          <p:nvSpPr>
            <p:cNvPr id="52236" name="左大括号 52235"/>
            <p:cNvSpPr/>
            <p:nvPr/>
          </p:nvSpPr>
          <p:spPr>
            <a:xfrm>
              <a:off x="2133600" y="2816932"/>
              <a:ext cx="76200" cy="685800"/>
            </a:xfrm>
            <a:prstGeom prst="leftBrace">
              <a:avLst>
                <a:gd name="adj1" fmla="val 75000"/>
                <a:gd name="adj2" fmla="val 50000"/>
              </a:avLst>
            </a:prstGeom>
            <a:noFill/>
            <a:ln w="12700" cap="sq" cmpd="sng">
              <a:solidFill>
                <a:schemeClr val="bg2"/>
              </a:solidFill>
              <a:prstDash val="solid"/>
              <a:headEnd type="none" w="sm" len="sm"/>
              <a:tailEnd type="none" w="sm" len="sm"/>
            </a:ln>
          </p:spPr>
          <p:txBody>
            <a:bodyPr/>
            <a:lstStyle/>
            <a:p>
              <a:endParaRPr lang="zh-CN" altLang="en-US">
                <a:solidFill>
                  <a:srgbClr val="FF0000"/>
                </a:solidFill>
              </a:endParaRPr>
            </a:p>
          </p:txBody>
        </p:sp>
        <p:sp>
          <p:nvSpPr>
            <p:cNvPr id="19" name="文本框 52236"/>
            <p:cNvSpPr txBox="1"/>
            <p:nvPr/>
          </p:nvSpPr>
          <p:spPr>
            <a:xfrm>
              <a:off x="1331640" y="2276872"/>
              <a:ext cx="2350323" cy="461665"/>
            </a:xfrm>
            <a:prstGeom prst="rect">
              <a:avLst/>
            </a:prstGeom>
            <a:noFill/>
            <a:ln w="12700">
              <a:noFill/>
            </a:ln>
          </p:spPr>
          <p:txBody>
            <a:bodyPr wrap="none">
              <a:spAutoFit/>
            </a:bodyPr>
            <a:lstStyle/>
            <a:p>
              <a:pPr>
                <a:spcBef>
                  <a:spcPct val="50000"/>
                </a:spcBef>
              </a:pPr>
              <a:r>
                <a:rPr lang="zh-CN" altLang="en-US" b="1" dirty="0">
                  <a:solidFill>
                    <a:srgbClr val="FF0000"/>
                  </a:solidFill>
                  <a:latin typeface="Times New Roman" panose="02020603050405020304" pitchFamily="18" charset="0"/>
                </a:rPr>
                <a:t>或转换成加法：</a:t>
              </a:r>
              <a:endParaRPr lang="zh-CN" altLang="en-US" dirty="0">
                <a:solidFill>
                  <a:srgbClr val="FF0000"/>
                </a:solidFill>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22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文本框 55297"/>
          <p:cNvSpPr txBox="1"/>
          <p:nvPr/>
        </p:nvSpPr>
        <p:spPr>
          <a:xfrm>
            <a:off x="1043608" y="1016732"/>
            <a:ext cx="7239000" cy="1649682"/>
          </a:xfrm>
          <a:prstGeom prst="rect">
            <a:avLst/>
          </a:prstGeom>
          <a:noFill/>
          <a:ln w="9525">
            <a:noFill/>
          </a:ln>
        </p:spPr>
        <p:txBody>
          <a:bodyPr>
            <a:spAutoFit/>
          </a:bodyPr>
          <a:lstStyle/>
          <a:p>
            <a:pPr algn="just" eaLnBrk="0" hangingPunct="0">
              <a:lnSpc>
                <a:spcPct val="115000"/>
              </a:lnSpc>
            </a:pPr>
            <a:r>
              <a:rPr lang="zh-CN" altLang="en-US" sz="2200" b="0" dirty="0">
                <a:solidFill>
                  <a:srgbClr val="000000"/>
                </a:solidFill>
                <a:latin typeface="+mn-lt"/>
              </a:rPr>
              <a:t>例：</a:t>
            </a:r>
            <a:r>
              <a:rPr lang="en-US" altLang="zh-CN" sz="2200" b="0" dirty="0">
                <a:solidFill>
                  <a:srgbClr val="000000"/>
                </a:solidFill>
                <a:latin typeface="+mn-lt"/>
              </a:rPr>
              <a:t>SUB    WORD PTR  [SI+14H], 0136H</a:t>
            </a:r>
            <a:endParaRPr lang="en-US" altLang="zh-CN" sz="2200" b="0" dirty="0">
              <a:solidFill>
                <a:srgbClr val="000000"/>
              </a:solidFill>
              <a:latin typeface="+mn-lt"/>
            </a:endParaRPr>
          </a:p>
          <a:p>
            <a:pPr algn="just" eaLnBrk="0" hangingPunct="0">
              <a:lnSpc>
                <a:spcPct val="115000"/>
              </a:lnSpc>
            </a:pPr>
            <a:r>
              <a:rPr lang="zh-CN" altLang="en-US" sz="2200" b="0" dirty="0">
                <a:solidFill>
                  <a:srgbClr val="000000"/>
                </a:solidFill>
                <a:latin typeface="+mn-lt"/>
              </a:rPr>
              <a:t>若（</a:t>
            </a:r>
            <a:r>
              <a:rPr lang="en-US" altLang="zh-CN" sz="2200" b="0" dirty="0">
                <a:solidFill>
                  <a:srgbClr val="000000"/>
                </a:solidFill>
                <a:latin typeface="+mn-lt"/>
              </a:rPr>
              <a:t>DS</a:t>
            </a:r>
            <a:r>
              <a:rPr lang="zh-CN" altLang="en-US" sz="2200" b="0" dirty="0">
                <a:solidFill>
                  <a:srgbClr val="000000"/>
                </a:solidFill>
                <a:latin typeface="+mn-lt"/>
              </a:rPr>
              <a:t>）</a:t>
            </a:r>
            <a:r>
              <a:rPr lang="en-US" altLang="zh-CN" sz="2200" b="0" dirty="0">
                <a:solidFill>
                  <a:srgbClr val="000000"/>
                </a:solidFill>
                <a:latin typeface="+mn-lt"/>
              </a:rPr>
              <a:t>=3000H</a:t>
            </a:r>
            <a:r>
              <a:rPr lang="zh-CN" altLang="en-US" sz="2200" b="0" dirty="0">
                <a:solidFill>
                  <a:srgbClr val="000000"/>
                </a:solidFill>
                <a:latin typeface="+mn-lt"/>
              </a:rPr>
              <a:t>，（</a:t>
            </a:r>
            <a:r>
              <a:rPr lang="en-US" altLang="zh-CN" sz="2200" b="0" dirty="0">
                <a:solidFill>
                  <a:srgbClr val="000000"/>
                </a:solidFill>
                <a:latin typeface="+mn-lt"/>
              </a:rPr>
              <a:t>SI</a:t>
            </a:r>
            <a:r>
              <a:rPr lang="zh-CN" altLang="en-US" sz="2200" b="0" dirty="0">
                <a:solidFill>
                  <a:srgbClr val="000000"/>
                </a:solidFill>
                <a:latin typeface="+mn-lt"/>
              </a:rPr>
              <a:t>）</a:t>
            </a:r>
            <a:r>
              <a:rPr lang="en-US" altLang="zh-CN" sz="2200" b="0" dirty="0">
                <a:solidFill>
                  <a:srgbClr val="000000"/>
                </a:solidFill>
                <a:latin typeface="+mn-lt"/>
              </a:rPr>
              <a:t>=0040H</a:t>
            </a:r>
            <a:r>
              <a:rPr lang="zh-CN" altLang="en-US" sz="2200" b="0" dirty="0">
                <a:solidFill>
                  <a:srgbClr val="000000"/>
                </a:solidFill>
                <a:latin typeface="+mn-lt"/>
              </a:rPr>
              <a:t>，（</a:t>
            </a:r>
            <a:r>
              <a:rPr lang="en-US" altLang="zh-CN" sz="2200" b="0" dirty="0">
                <a:solidFill>
                  <a:srgbClr val="000000"/>
                </a:solidFill>
                <a:latin typeface="+mn-lt"/>
              </a:rPr>
              <a:t>30054H</a:t>
            </a:r>
            <a:r>
              <a:rPr lang="zh-CN" altLang="en-US" sz="2200" b="0" dirty="0">
                <a:solidFill>
                  <a:srgbClr val="000000"/>
                </a:solidFill>
                <a:latin typeface="+mn-lt"/>
              </a:rPr>
              <a:t>）</a:t>
            </a:r>
            <a:r>
              <a:rPr lang="en-US" altLang="zh-CN" sz="2200" b="0" dirty="0">
                <a:solidFill>
                  <a:srgbClr val="000000"/>
                </a:solidFill>
                <a:latin typeface="+mn-lt"/>
              </a:rPr>
              <a:t>=4336H</a:t>
            </a:r>
            <a:endParaRPr lang="en-US" altLang="zh-CN" sz="2200" b="0" dirty="0">
              <a:solidFill>
                <a:srgbClr val="000000"/>
              </a:solidFill>
              <a:latin typeface="+mn-lt"/>
            </a:endParaRPr>
          </a:p>
          <a:p>
            <a:pPr algn="just" eaLnBrk="0" hangingPunct="0">
              <a:lnSpc>
                <a:spcPct val="115000"/>
              </a:lnSpc>
            </a:pPr>
            <a:r>
              <a:rPr lang="zh-CN" altLang="en-US" sz="2200" b="0" dirty="0">
                <a:solidFill>
                  <a:srgbClr val="000000"/>
                </a:solidFill>
                <a:latin typeface="+mn-lt"/>
              </a:rPr>
              <a:t>则，指令执行后：</a:t>
            </a:r>
            <a:r>
              <a:rPr lang="zh-CN" altLang="en-US" sz="2200" b="0" dirty="0">
                <a:solidFill>
                  <a:srgbClr val="000000"/>
                </a:solidFill>
              </a:rPr>
              <a:t>（</a:t>
            </a:r>
            <a:r>
              <a:rPr lang="en-US" altLang="zh-CN" sz="2200" b="0" dirty="0">
                <a:solidFill>
                  <a:srgbClr val="000000"/>
                </a:solidFill>
              </a:rPr>
              <a:t>30054H</a:t>
            </a:r>
            <a:r>
              <a:rPr lang="zh-CN" altLang="en-US" sz="2200" b="0" dirty="0">
                <a:solidFill>
                  <a:srgbClr val="000000"/>
                </a:solidFill>
              </a:rPr>
              <a:t>）</a:t>
            </a:r>
            <a:r>
              <a:rPr lang="en-US" altLang="zh-CN" sz="2200" b="0" dirty="0">
                <a:solidFill>
                  <a:srgbClr val="000000"/>
                </a:solidFill>
              </a:rPr>
              <a:t>=4200H</a:t>
            </a:r>
            <a:endParaRPr lang="en-US" altLang="zh-CN" sz="2200" b="0" dirty="0">
              <a:solidFill>
                <a:srgbClr val="000000"/>
              </a:solidFill>
            </a:endParaRPr>
          </a:p>
          <a:p>
            <a:pPr algn="just" eaLnBrk="0" hangingPunct="0">
              <a:lnSpc>
                <a:spcPct val="115000"/>
              </a:lnSpc>
            </a:pPr>
            <a:r>
              <a:rPr lang="en-US" altLang="zh-CN" sz="2200" b="0" dirty="0">
                <a:solidFill>
                  <a:srgbClr val="000000"/>
                </a:solidFill>
              </a:rPr>
              <a:t>	SF=0</a:t>
            </a:r>
            <a:r>
              <a:rPr lang="zh-CN" altLang="en-US" sz="2200" b="0" dirty="0">
                <a:solidFill>
                  <a:srgbClr val="000000"/>
                </a:solidFill>
              </a:rPr>
              <a:t>，</a:t>
            </a:r>
            <a:r>
              <a:rPr lang="en-US" altLang="zh-CN" sz="2200" b="0" dirty="0">
                <a:solidFill>
                  <a:srgbClr val="000000"/>
                </a:solidFill>
              </a:rPr>
              <a:t>CF=0</a:t>
            </a:r>
            <a:r>
              <a:rPr lang="zh-CN" altLang="en-US" sz="2200" b="0" dirty="0">
                <a:solidFill>
                  <a:srgbClr val="000000"/>
                </a:solidFill>
              </a:rPr>
              <a:t>，</a:t>
            </a:r>
            <a:r>
              <a:rPr lang="en-US" altLang="zh-CN" sz="2200" b="0" dirty="0">
                <a:solidFill>
                  <a:srgbClr val="000000"/>
                </a:solidFill>
              </a:rPr>
              <a:t>OF=0</a:t>
            </a:r>
            <a:r>
              <a:rPr lang="zh-CN" altLang="en-US" sz="2200" b="0" dirty="0">
                <a:solidFill>
                  <a:srgbClr val="000000"/>
                </a:solidFill>
              </a:rPr>
              <a:t>，</a:t>
            </a:r>
            <a:r>
              <a:rPr lang="en-US" altLang="zh-CN" sz="2200" b="0" dirty="0">
                <a:solidFill>
                  <a:srgbClr val="000000"/>
                </a:solidFill>
              </a:rPr>
              <a:t>ZF=0</a:t>
            </a:r>
            <a:endParaRPr lang="en-US" altLang="zh-CN" sz="2200" b="0" dirty="0">
              <a:solidFill>
                <a:srgbClr val="000000"/>
              </a:solidFill>
              <a:latin typeface="+mn-lt"/>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1043608" y="3320988"/>
            <a:ext cx="6948772" cy="2640723"/>
          </a:xfrm>
          <a:prstGeom prst="rect">
            <a:avLst/>
          </a:prstGeom>
        </p:spPr>
        <p:txBody>
          <a:bodyPr wrap="square">
            <a:spAutoFit/>
          </a:bodyPr>
          <a:lstStyle/>
          <a:p>
            <a:pPr algn="just" eaLnBrk="0" hangingPunct="0">
              <a:lnSpc>
                <a:spcPct val="115000"/>
              </a:lnSpc>
            </a:pPr>
            <a:r>
              <a:rPr lang="en-US" altLang="zh-CN" b="0" dirty="0">
                <a:solidFill>
                  <a:srgbClr val="000000"/>
                </a:solidFill>
              </a:rPr>
              <a:t>SUB	DH, [BP+4]</a:t>
            </a:r>
            <a:endParaRPr lang="en-US" altLang="zh-CN" b="0" dirty="0">
              <a:solidFill>
                <a:srgbClr val="000000"/>
              </a:solidFill>
            </a:endParaRPr>
          </a:p>
          <a:p>
            <a:pPr algn="just" eaLnBrk="0" hangingPunct="0">
              <a:lnSpc>
                <a:spcPct val="115000"/>
              </a:lnSpc>
            </a:pPr>
            <a:r>
              <a:rPr lang="zh-CN" altLang="en-US" b="0" dirty="0">
                <a:solidFill>
                  <a:srgbClr val="000000"/>
                </a:solidFill>
              </a:rPr>
              <a:t>若（</a:t>
            </a:r>
            <a:r>
              <a:rPr lang="en-US" altLang="zh-CN" b="0" dirty="0">
                <a:solidFill>
                  <a:srgbClr val="000000"/>
                </a:solidFill>
              </a:rPr>
              <a:t>SS</a:t>
            </a:r>
            <a:r>
              <a:rPr lang="zh-CN" altLang="en-US" b="0" dirty="0">
                <a:solidFill>
                  <a:srgbClr val="000000"/>
                </a:solidFill>
              </a:rPr>
              <a:t>）</a:t>
            </a:r>
            <a:r>
              <a:rPr lang="en-US" altLang="zh-CN" b="0" dirty="0">
                <a:solidFill>
                  <a:srgbClr val="000000"/>
                </a:solidFill>
              </a:rPr>
              <a:t>=0000H</a:t>
            </a:r>
            <a:r>
              <a:rPr lang="zh-CN" altLang="en-US" b="0" dirty="0">
                <a:solidFill>
                  <a:srgbClr val="000000"/>
                </a:solidFill>
              </a:rPr>
              <a:t>，（</a:t>
            </a:r>
            <a:r>
              <a:rPr lang="en-US" altLang="zh-CN" b="0" dirty="0">
                <a:solidFill>
                  <a:srgbClr val="000000"/>
                </a:solidFill>
              </a:rPr>
              <a:t>BP</a:t>
            </a:r>
            <a:r>
              <a:rPr lang="zh-CN" altLang="en-US" b="0" dirty="0">
                <a:solidFill>
                  <a:srgbClr val="000000"/>
                </a:solidFill>
              </a:rPr>
              <a:t>）</a:t>
            </a:r>
            <a:r>
              <a:rPr lang="en-US" altLang="zh-CN" b="0" dirty="0">
                <a:solidFill>
                  <a:srgbClr val="000000"/>
                </a:solidFill>
              </a:rPr>
              <a:t>=00E4H</a:t>
            </a:r>
            <a:r>
              <a:rPr lang="zh-CN" altLang="en-US" b="0" dirty="0">
                <a:solidFill>
                  <a:srgbClr val="000000"/>
                </a:solidFill>
              </a:rPr>
              <a:t>，</a:t>
            </a:r>
            <a:endParaRPr lang="en-US" altLang="zh-CN" b="0" dirty="0">
              <a:solidFill>
                <a:srgbClr val="000000"/>
              </a:solidFill>
            </a:endParaRPr>
          </a:p>
          <a:p>
            <a:pPr algn="just" eaLnBrk="0" hangingPunct="0">
              <a:lnSpc>
                <a:spcPct val="115000"/>
              </a:lnSpc>
            </a:pPr>
            <a:r>
              <a:rPr lang="en-US" altLang="zh-CN" b="0" dirty="0">
                <a:solidFill>
                  <a:srgbClr val="000000"/>
                </a:solidFill>
              </a:rPr>
              <a:t>   </a:t>
            </a:r>
            <a:r>
              <a:rPr lang="zh-CN" altLang="en-US" b="0" dirty="0">
                <a:solidFill>
                  <a:srgbClr val="000000"/>
                </a:solidFill>
              </a:rPr>
              <a:t>（</a:t>
            </a:r>
            <a:r>
              <a:rPr lang="en-US" altLang="zh-CN" b="0" dirty="0">
                <a:solidFill>
                  <a:srgbClr val="000000"/>
                </a:solidFill>
              </a:rPr>
              <a:t>DH</a:t>
            </a:r>
            <a:r>
              <a:rPr lang="zh-CN" altLang="en-US" b="0" dirty="0">
                <a:solidFill>
                  <a:srgbClr val="000000"/>
                </a:solidFill>
              </a:rPr>
              <a:t>）</a:t>
            </a:r>
            <a:r>
              <a:rPr lang="en-US" altLang="zh-CN" b="0" dirty="0">
                <a:solidFill>
                  <a:srgbClr val="000000"/>
                </a:solidFill>
              </a:rPr>
              <a:t>=41H</a:t>
            </a:r>
            <a:r>
              <a:rPr lang="zh-CN" altLang="en-US" b="0" dirty="0">
                <a:solidFill>
                  <a:srgbClr val="000000"/>
                </a:solidFill>
              </a:rPr>
              <a:t>，（</a:t>
            </a:r>
            <a:r>
              <a:rPr lang="en-US" altLang="zh-CN" b="0" dirty="0">
                <a:solidFill>
                  <a:srgbClr val="000000"/>
                </a:solidFill>
              </a:rPr>
              <a:t>000E8</a:t>
            </a:r>
            <a:r>
              <a:rPr lang="zh-CN" altLang="en-US" b="0" dirty="0">
                <a:solidFill>
                  <a:srgbClr val="000000"/>
                </a:solidFill>
              </a:rPr>
              <a:t>）</a:t>
            </a:r>
            <a:r>
              <a:rPr lang="en-US" altLang="zh-CN" b="0" dirty="0">
                <a:solidFill>
                  <a:srgbClr val="000000"/>
                </a:solidFill>
              </a:rPr>
              <a:t>=5AH</a:t>
            </a:r>
            <a:endParaRPr lang="en-US" altLang="zh-CN" b="0" dirty="0">
              <a:solidFill>
                <a:srgbClr val="000000"/>
              </a:solidFill>
            </a:endParaRPr>
          </a:p>
          <a:p>
            <a:pPr algn="just" eaLnBrk="0" hangingPunct="0">
              <a:lnSpc>
                <a:spcPct val="115000"/>
              </a:lnSpc>
            </a:pPr>
            <a:endParaRPr lang="en-US" altLang="zh-CN" b="0" dirty="0">
              <a:solidFill>
                <a:srgbClr val="000000"/>
              </a:solidFill>
            </a:endParaRPr>
          </a:p>
          <a:p>
            <a:pPr algn="just" eaLnBrk="0" hangingPunct="0">
              <a:lnSpc>
                <a:spcPct val="115000"/>
              </a:lnSpc>
            </a:pPr>
            <a:r>
              <a:rPr lang="zh-CN" altLang="en-US" b="0" dirty="0">
                <a:solidFill>
                  <a:srgbClr val="000000"/>
                </a:solidFill>
              </a:rPr>
              <a:t>则，指令执行后：（</a:t>
            </a:r>
            <a:r>
              <a:rPr lang="en-US" altLang="zh-CN" b="0" dirty="0">
                <a:solidFill>
                  <a:srgbClr val="000000"/>
                </a:solidFill>
              </a:rPr>
              <a:t>DH</a:t>
            </a:r>
            <a:r>
              <a:rPr lang="zh-CN" altLang="en-US" b="0" dirty="0">
                <a:solidFill>
                  <a:srgbClr val="000000"/>
                </a:solidFill>
              </a:rPr>
              <a:t>）</a:t>
            </a:r>
            <a:r>
              <a:rPr lang="en-US" altLang="zh-CN" b="0" dirty="0">
                <a:solidFill>
                  <a:srgbClr val="000000"/>
                </a:solidFill>
              </a:rPr>
              <a:t>=0E7H</a:t>
            </a:r>
            <a:endParaRPr lang="en-US" altLang="zh-CN" b="0" dirty="0">
              <a:solidFill>
                <a:srgbClr val="000000"/>
              </a:solidFill>
            </a:endParaRPr>
          </a:p>
          <a:p>
            <a:pPr algn="just" eaLnBrk="0" hangingPunct="0">
              <a:lnSpc>
                <a:spcPct val="115000"/>
              </a:lnSpc>
            </a:pPr>
            <a:r>
              <a:rPr lang="en-US" altLang="zh-CN" b="0" dirty="0">
                <a:solidFill>
                  <a:srgbClr val="000000"/>
                </a:solidFill>
              </a:rPr>
              <a:t>	SF=1</a:t>
            </a:r>
            <a:r>
              <a:rPr lang="zh-CN" altLang="en-US" b="0" dirty="0">
                <a:solidFill>
                  <a:srgbClr val="000000"/>
                </a:solidFill>
              </a:rPr>
              <a:t>，</a:t>
            </a:r>
            <a:r>
              <a:rPr lang="en-US" altLang="zh-CN" b="0" dirty="0">
                <a:solidFill>
                  <a:srgbClr val="000000"/>
                </a:solidFill>
              </a:rPr>
              <a:t>CF=1</a:t>
            </a:r>
            <a:r>
              <a:rPr lang="zh-CN" altLang="en-US" b="0" dirty="0">
                <a:solidFill>
                  <a:srgbClr val="000000"/>
                </a:solidFill>
              </a:rPr>
              <a:t>，</a:t>
            </a:r>
            <a:r>
              <a:rPr lang="en-US" altLang="zh-CN" b="0" dirty="0">
                <a:solidFill>
                  <a:srgbClr val="000000"/>
                </a:solidFill>
              </a:rPr>
              <a:t>OF=0</a:t>
            </a:r>
            <a:r>
              <a:rPr lang="zh-CN" altLang="en-US" b="0" dirty="0">
                <a:solidFill>
                  <a:srgbClr val="000000"/>
                </a:solidFill>
              </a:rPr>
              <a:t>，</a:t>
            </a:r>
            <a:r>
              <a:rPr lang="en-US" altLang="zh-CN" b="0" dirty="0">
                <a:solidFill>
                  <a:srgbClr val="000000"/>
                </a:solidFill>
              </a:rPr>
              <a:t>ZF=0</a:t>
            </a:r>
            <a:endParaRPr lang="en-US" altLang="zh-CN" b="0" dirty="0">
              <a:solidFill>
                <a:srgbClr val="00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文本框 55297"/>
          <p:cNvSpPr txBox="1"/>
          <p:nvPr/>
        </p:nvSpPr>
        <p:spPr>
          <a:xfrm>
            <a:off x="935596" y="944724"/>
            <a:ext cx="7239000" cy="1649682"/>
          </a:xfrm>
          <a:prstGeom prst="rect">
            <a:avLst/>
          </a:prstGeom>
          <a:noFill/>
          <a:ln w="9525">
            <a:noFill/>
          </a:ln>
        </p:spPr>
        <p:txBody>
          <a:bodyPr>
            <a:spAutoFit/>
          </a:bodyPr>
          <a:lstStyle/>
          <a:p>
            <a:pPr algn="just" eaLnBrk="0" hangingPunct="0">
              <a:lnSpc>
                <a:spcPct val="115000"/>
              </a:lnSpc>
            </a:pPr>
            <a:r>
              <a:rPr lang="zh-CN" altLang="en-US" sz="2200" b="0" dirty="0">
                <a:solidFill>
                  <a:srgbClr val="000000"/>
                </a:solidFill>
                <a:latin typeface="+mn-lt"/>
              </a:rPr>
              <a:t>例：</a:t>
            </a:r>
            <a:r>
              <a:rPr lang="en-US" altLang="zh-CN" sz="2200" b="0" dirty="0">
                <a:solidFill>
                  <a:srgbClr val="000000"/>
                </a:solidFill>
                <a:latin typeface="+mn-lt"/>
              </a:rPr>
              <a:t>x</a:t>
            </a:r>
            <a:r>
              <a:rPr lang="zh-CN" altLang="en-US" sz="2200" b="0" dirty="0">
                <a:solidFill>
                  <a:srgbClr val="000000"/>
                </a:solidFill>
                <a:latin typeface="+mn-lt"/>
              </a:rPr>
              <a:t>、</a:t>
            </a:r>
            <a:r>
              <a:rPr lang="en-US" altLang="zh-CN" sz="2200" b="0" dirty="0">
                <a:solidFill>
                  <a:srgbClr val="000000"/>
                </a:solidFill>
                <a:latin typeface="+mn-lt"/>
              </a:rPr>
              <a:t>y</a:t>
            </a:r>
            <a:r>
              <a:rPr lang="zh-CN" altLang="en-US" sz="2200" b="0" dirty="0">
                <a:solidFill>
                  <a:srgbClr val="000000"/>
                </a:solidFill>
                <a:latin typeface="+mn-lt"/>
              </a:rPr>
              <a:t>、</a:t>
            </a:r>
            <a:r>
              <a:rPr lang="en-US" altLang="zh-CN" sz="2200" b="0" dirty="0">
                <a:solidFill>
                  <a:srgbClr val="000000"/>
                </a:solidFill>
                <a:latin typeface="+mn-lt"/>
              </a:rPr>
              <a:t>z </a:t>
            </a:r>
            <a:r>
              <a:rPr lang="zh-CN" altLang="en-US" sz="2200" b="0" dirty="0">
                <a:solidFill>
                  <a:srgbClr val="000000"/>
                </a:solidFill>
                <a:latin typeface="+mn-lt"/>
              </a:rPr>
              <a:t>均为双精度数，分别存放在地址为</a:t>
            </a:r>
            <a:r>
              <a:rPr lang="en-US" altLang="zh-CN" sz="2200" b="0" dirty="0">
                <a:solidFill>
                  <a:srgbClr val="000000"/>
                </a:solidFill>
                <a:latin typeface="+mn-lt"/>
              </a:rPr>
              <a:t>X, X+2</a:t>
            </a:r>
            <a:r>
              <a:rPr lang="zh-CN" altLang="en-US" sz="2200" b="0" dirty="0">
                <a:solidFill>
                  <a:srgbClr val="000000"/>
                </a:solidFill>
                <a:latin typeface="+mn-lt"/>
              </a:rPr>
              <a:t>；        </a:t>
            </a:r>
            <a:r>
              <a:rPr lang="en-US" altLang="zh-CN" sz="2200" b="0" dirty="0">
                <a:solidFill>
                  <a:srgbClr val="000000"/>
                </a:solidFill>
                <a:latin typeface="+mn-lt"/>
              </a:rPr>
              <a:t>Y, Y+2</a:t>
            </a:r>
            <a:r>
              <a:rPr lang="zh-CN" altLang="en-US" sz="2200" b="0" dirty="0">
                <a:solidFill>
                  <a:srgbClr val="000000"/>
                </a:solidFill>
                <a:latin typeface="+mn-lt"/>
              </a:rPr>
              <a:t>；</a:t>
            </a:r>
            <a:r>
              <a:rPr lang="en-US" altLang="zh-CN" sz="2200" b="0" dirty="0">
                <a:solidFill>
                  <a:srgbClr val="000000"/>
                </a:solidFill>
                <a:latin typeface="+mn-lt"/>
              </a:rPr>
              <a:t>Z, Z+2</a:t>
            </a:r>
            <a:r>
              <a:rPr lang="zh-CN" altLang="en-US" sz="2200" b="0" dirty="0">
                <a:solidFill>
                  <a:srgbClr val="000000"/>
                </a:solidFill>
                <a:latin typeface="+mn-lt"/>
              </a:rPr>
              <a:t>的存储单元中，存放时，高字节存放在高地址中，低字节存放在低地址中，用指令序列实现：</a:t>
            </a:r>
            <a:endParaRPr lang="zh-CN" altLang="en-US" sz="2200" b="0" dirty="0">
              <a:solidFill>
                <a:srgbClr val="000000"/>
              </a:solidFill>
              <a:latin typeface="+mn-lt"/>
            </a:endParaRPr>
          </a:p>
          <a:p>
            <a:pPr algn="just" eaLnBrk="0" hangingPunct="0">
              <a:lnSpc>
                <a:spcPct val="115000"/>
              </a:lnSpc>
            </a:pPr>
            <a:r>
              <a:rPr lang="zh-CN" altLang="en-US" sz="2200" b="0" dirty="0">
                <a:solidFill>
                  <a:srgbClr val="000000"/>
                </a:solidFill>
                <a:latin typeface="+mn-lt"/>
              </a:rPr>
              <a:t>        </a:t>
            </a:r>
            <a:r>
              <a:rPr lang="en-US" altLang="zh-CN" sz="2200" b="0" dirty="0">
                <a:solidFill>
                  <a:srgbClr val="000000"/>
                </a:solidFill>
                <a:latin typeface="+mn-lt"/>
              </a:rPr>
              <a:t>W </a:t>
            </a:r>
            <a:r>
              <a:rPr lang="en-US" altLang="zh-CN" sz="2200" b="0" dirty="0">
                <a:solidFill>
                  <a:srgbClr val="000000"/>
                </a:solidFill>
                <a:latin typeface="+mn-lt"/>
                <a:sym typeface="Symbol" panose="05050102010706020507" pitchFamily="18" charset="2"/>
              </a:rPr>
              <a:t></a:t>
            </a:r>
            <a:r>
              <a:rPr lang="en-US" altLang="zh-CN" sz="2200" b="0" dirty="0">
                <a:solidFill>
                  <a:srgbClr val="000000"/>
                </a:solidFill>
                <a:latin typeface="+mn-lt"/>
              </a:rPr>
              <a:t>  x + y + 24 - z </a:t>
            </a:r>
            <a:r>
              <a:rPr lang="zh-CN" altLang="en-US" sz="2200" b="0" dirty="0">
                <a:solidFill>
                  <a:srgbClr val="000000"/>
                </a:solidFill>
                <a:latin typeface="+mn-lt"/>
              </a:rPr>
              <a:t>，并用</a:t>
            </a:r>
            <a:r>
              <a:rPr lang="en-US" altLang="zh-CN" sz="2200" b="0" dirty="0">
                <a:solidFill>
                  <a:srgbClr val="000000"/>
                </a:solidFill>
                <a:latin typeface="+mn-lt"/>
              </a:rPr>
              <a:t>W, W+2</a:t>
            </a:r>
            <a:r>
              <a:rPr lang="zh-CN" altLang="en-US" sz="2200" b="0" dirty="0">
                <a:solidFill>
                  <a:srgbClr val="000000"/>
                </a:solidFill>
                <a:latin typeface="+mn-lt"/>
              </a:rPr>
              <a:t>单元存放</a:t>
            </a:r>
            <a:r>
              <a:rPr lang="en-US" altLang="zh-CN" sz="2200" b="0" dirty="0">
                <a:solidFill>
                  <a:srgbClr val="000000"/>
                </a:solidFill>
                <a:latin typeface="+mn-lt"/>
              </a:rPr>
              <a:t>W</a:t>
            </a:r>
            <a:endParaRPr lang="en-US" altLang="zh-CN" sz="2200" b="0" dirty="0">
              <a:solidFill>
                <a:srgbClr val="000000"/>
              </a:solidFill>
              <a:latin typeface="+mn-lt"/>
            </a:endParaRPr>
          </a:p>
        </p:txBody>
      </p:sp>
      <p:sp>
        <p:nvSpPr>
          <p:cNvPr id="55299" name="矩形 55298"/>
          <p:cNvSpPr/>
          <p:nvPr/>
        </p:nvSpPr>
        <p:spPr>
          <a:xfrm>
            <a:off x="1779984" y="2636912"/>
            <a:ext cx="6248400" cy="4060825"/>
          </a:xfrm>
          <a:prstGeom prst="rect">
            <a:avLst/>
          </a:prstGeom>
          <a:noFill/>
          <a:ln w="12700">
            <a:noFill/>
          </a:ln>
        </p:spPr>
        <p:txBody>
          <a:bodyPr>
            <a:spAutoFit/>
          </a:bodyPr>
          <a:lstStyle/>
          <a:p>
            <a:pPr eaLnBrk="0" hangingPunct="0">
              <a:lnSpc>
                <a:spcPct val="130000"/>
              </a:lnSpc>
            </a:pPr>
            <a:r>
              <a:rPr lang="en-US" altLang="zh-CN" sz="2000" b="0" dirty="0">
                <a:solidFill>
                  <a:srgbClr val="000000"/>
                </a:solidFill>
                <a:latin typeface="+mn-lt"/>
              </a:rPr>
              <a:t>MOV  AX,  X</a:t>
            </a:r>
            <a:endParaRPr lang="en-US" altLang="zh-CN" sz="2000" b="0" dirty="0">
              <a:solidFill>
                <a:srgbClr val="000000"/>
              </a:solidFill>
              <a:latin typeface="+mn-lt"/>
            </a:endParaRPr>
          </a:p>
          <a:p>
            <a:pPr eaLnBrk="0" hangingPunct="0">
              <a:lnSpc>
                <a:spcPct val="130000"/>
              </a:lnSpc>
            </a:pPr>
            <a:r>
              <a:rPr lang="en-US" altLang="zh-CN" sz="2000" b="0" dirty="0">
                <a:solidFill>
                  <a:srgbClr val="000000"/>
                </a:solidFill>
                <a:latin typeface="+mn-lt"/>
              </a:rPr>
              <a:t>MOV  DX,  X+2</a:t>
            </a:r>
            <a:endParaRPr lang="en-US" altLang="zh-CN" sz="2000" b="0" dirty="0">
              <a:solidFill>
                <a:srgbClr val="000000"/>
              </a:solidFill>
              <a:latin typeface="+mn-lt"/>
            </a:endParaRPr>
          </a:p>
          <a:p>
            <a:pPr eaLnBrk="0" hangingPunct="0">
              <a:lnSpc>
                <a:spcPct val="130000"/>
              </a:lnSpc>
            </a:pPr>
            <a:r>
              <a:rPr lang="en-US" altLang="zh-CN" sz="2000" b="0" dirty="0">
                <a:solidFill>
                  <a:srgbClr val="000000"/>
                </a:solidFill>
                <a:latin typeface="+mn-lt"/>
              </a:rPr>
              <a:t>ADD  AX,  Y</a:t>
            </a:r>
            <a:endParaRPr lang="en-US" altLang="zh-CN" sz="2000" b="0" dirty="0">
              <a:solidFill>
                <a:srgbClr val="000000"/>
              </a:solidFill>
              <a:latin typeface="+mn-lt"/>
            </a:endParaRPr>
          </a:p>
          <a:p>
            <a:pPr eaLnBrk="0" hangingPunct="0">
              <a:lnSpc>
                <a:spcPct val="130000"/>
              </a:lnSpc>
            </a:pPr>
            <a:r>
              <a:rPr lang="en-US" altLang="zh-CN" sz="2000" b="0" dirty="0">
                <a:solidFill>
                  <a:srgbClr val="FF0000"/>
                </a:solidFill>
                <a:latin typeface="+mn-lt"/>
              </a:rPr>
              <a:t>ADC  DX,  Y+2      ;  </a:t>
            </a:r>
            <a:r>
              <a:rPr lang="en-US" altLang="zh-CN" sz="2000" b="0" dirty="0" err="1">
                <a:solidFill>
                  <a:srgbClr val="FF0000"/>
                </a:solidFill>
                <a:latin typeface="+mn-lt"/>
              </a:rPr>
              <a:t>x+y</a:t>
            </a:r>
            <a:endParaRPr lang="en-US" altLang="zh-CN" sz="2000" b="0" dirty="0">
              <a:solidFill>
                <a:srgbClr val="FF0000"/>
              </a:solidFill>
              <a:latin typeface="+mn-lt"/>
            </a:endParaRPr>
          </a:p>
          <a:p>
            <a:pPr eaLnBrk="0" hangingPunct="0">
              <a:lnSpc>
                <a:spcPct val="130000"/>
              </a:lnSpc>
            </a:pPr>
            <a:r>
              <a:rPr lang="en-US" altLang="zh-CN" sz="2000" b="0" dirty="0">
                <a:solidFill>
                  <a:srgbClr val="000000"/>
                </a:solidFill>
                <a:latin typeface="+mn-lt"/>
              </a:rPr>
              <a:t>ADD  AX,  24</a:t>
            </a:r>
            <a:endParaRPr lang="en-US" altLang="zh-CN" sz="2000" b="0" dirty="0">
              <a:solidFill>
                <a:srgbClr val="000000"/>
              </a:solidFill>
              <a:latin typeface="+mn-lt"/>
            </a:endParaRPr>
          </a:p>
          <a:p>
            <a:pPr eaLnBrk="0" hangingPunct="0">
              <a:lnSpc>
                <a:spcPct val="130000"/>
              </a:lnSpc>
            </a:pPr>
            <a:r>
              <a:rPr lang="en-US" altLang="zh-CN" sz="2000" b="0" dirty="0">
                <a:solidFill>
                  <a:srgbClr val="FF0000"/>
                </a:solidFill>
                <a:latin typeface="+mn-lt"/>
              </a:rPr>
              <a:t>ADC  DX,  0        ;  x+y+24</a:t>
            </a:r>
            <a:endParaRPr lang="en-US" altLang="zh-CN" sz="2000" b="0" dirty="0">
              <a:solidFill>
                <a:srgbClr val="FF0000"/>
              </a:solidFill>
              <a:latin typeface="+mn-lt"/>
            </a:endParaRPr>
          </a:p>
          <a:p>
            <a:pPr eaLnBrk="0" hangingPunct="0">
              <a:lnSpc>
                <a:spcPct val="130000"/>
              </a:lnSpc>
            </a:pPr>
            <a:r>
              <a:rPr lang="en-US" altLang="zh-CN" sz="2000" b="0" dirty="0">
                <a:solidFill>
                  <a:srgbClr val="000000"/>
                </a:solidFill>
                <a:latin typeface="+mn-lt"/>
              </a:rPr>
              <a:t>SUB  AX,  Z</a:t>
            </a:r>
            <a:endParaRPr lang="en-US" altLang="zh-CN" sz="2000" b="0" dirty="0">
              <a:solidFill>
                <a:srgbClr val="000000"/>
              </a:solidFill>
              <a:latin typeface="+mn-lt"/>
            </a:endParaRPr>
          </a:p>
          <a:p>
            <a:pPr eaLnBrk="0" hangingPunct="0">
              <a:lnSpc>
                <a:spcPct val="130000"/>
              </a:lnSpc>
            </a:pPr>
            <a:r>
              <a:rPr lang="en-US" altLang="zh-CN" sz="2000" b="0" dirty="0">
                <a:solidFill>
                  <a:srgbClr val="FF0000"/>
                </a:solidFill>
                <a:latin typeface="+mn-lt"/>
              </a:rPr>
              <a:t>SBB  DX,  Z+2      ;  x+y+24-z</a:t>
            </a:r>
            <a:endParaRPr lang="en-US" altLang="zh-CN" sz="2000" b="0" dirty="0">
              <a:solidFill>
                <a:srgbClr val="FF0000"/>
              </a:solidFill>
              <a:latin typeface="+mn-lt"/>
            </a:endParaRPr>
          </a:p>
          <a:p>
            <a:pPr eaLnBrk="0" hangingPunct="0">
              <a:lnSpc>
                <a:spcPct val="130000"/>
              </a:lnSpc>
            </a:pPr>
            <a:r>
              <a:rPr lang="en-US" altLang="zh-CN" sz="2000" b="0" dirty="0">
                <a:solidFill>
                  <a:srgbClr val="000000"/>
                </a:solidFill>
                <a:latin typeface="+mn-lt"/>
              </a:rPr>
              <a:t>MOV  W,   AX</a:t>
            </a:r>
            <a:endParaRPr lang="en-US" altLang="zh-CN" sz="2000" b="0" dirty="0">
              <a:solidFill>
                <a:srgbClr val="000000"/>
              </a:solidFill>
              <a:latin typeface="+mn-lt"/>
            </a:endParaRPr>
          </a:p>
          <a:p>
            <a:pPr eaLnBrk="0" hangingPunct="0">
              <a:lnSpc>
                <a:spcPct val="130000"/>
              </a:lnSpc>
            </a:pPr>
            <a:r>
              <a:rPr lang="en-US" altLang="zh-CN" sz="2000" b="0" dirty="0">
                <a:solidFill>
                  <a:srgbClr val="000000"/>
                </a:solidFill>
                <a:latin typeface="+mn-lt"/>
              </a:rPr>
              <a:t>MOV  W+2, DX       ;  </a:t>
            </a:r>
            <a:r>
              <a:rPr lang="zh-CN" altLang="en-US" sz="2000" b="0" dirty="0">
                <a:solidFill>
                  <a:srgbClr val="000000"/>
                </a:solidFill>
                <a:latin typeface="+mn-lt"/>
              </a:rPr>
              <a:t>结果存入</a:t>
            </a:r>
            <a:r>
              <a:rPr lang="en-US" altLang="zh-CN" sz="2000" b="0" dirty="0">
                <a:solidFill>
                  <a:srgbClr val="000000"/>
                </a:solidFill>
                <a:latin typeface="+mn-lt"/>
              </a:rPr>
              <a:t>W, W+2</a:t>
            </a:r>
            <a:r>
              <a:rPr lang="zh-CN" altLang="en-US" sz="2000" b="0" dirty="0">
                <a:solidFill>
                  <a:srgbClr val="000000"/>
                </a:solidFill>
                <a:latin typeface="+mn-lt"/>
              </a:rPr>
              <a:t>单元</a:t>
            </a:r>
            <a:endParaRPr lang="zh-CN" altLang="en-US" sz="2000" b="0" dirty="0">
              <a:solidFill>
                <a:srgbClr val="000000"/>
              </a:solidFill>
              <a:latin typeface="+mn-lt"/>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文本框 56321"/>
          <p:cNvSpPr txBox="1"/>
          <p:nvPr/>
        </p:nvSpPr>
        <p:spPr>
          <a:xfrm>
            <a:off x="935596" y="980728"/>
            <a:ext cx="7239000" cy="3610219"/>
          </a:xfrm>
          <a:prstGeom prst="rect">
            <a:avLst/>
          </a:prstGeom>
          <a:noFill/>
          <a:ln w="9525">
            <a:noFill/>
          </a:ln>
        </p:spPr>
        <p:txBody>
          <a:bodyPr>
            <a:spAutoFit/>
          </a:bodyPr>
          <a:lstStyle/>
          <a:p>
            <a:pPr algn="just" eaLnBrk="0" hangingPunct="0"/>
            <a:r>
              <a:rPr lang="en-US" altLang="zh-CN" sz="2200" b="0" dirty="0">
                <a:solidFill>
                  <a:srgbClr val="000000"/>
                </a:solidFill>
                <a:latin typeface="华文宋体" panose="02010600040101010101" pitchFamily="2" charset="-122"/>
                <a:ea typeface="华文宋体" panose="02010600040101010101" pitchFamily="2" charset="-122"/>
                <a:sym typeface="Symbol" panose="05050102010706020507" pitchFamily="18" charset="2"/>
              </a:rPr>
              <a:t>   </a:t>
            </a:r>
            <a:r>
              <a:rPr lang="zh-CN" altLang="en-US" sz="2200" b="0" dirty="0">
                <a:solidFill>
                  <a:srgbClr val="000000"/>
                </a:solidFill>
                <a:latin typeface="华文宋体" panose="02010600040101010101" pitchFamily="2" charset="-122"/>
                <a:ea typeface="华文宋体" panose="02010600040101010101" pitchFamily="2" charset="-122"/>
              </a:rPr>
              <a:t>乘法指令</a:t>
            </a:r>
            <a:endParaRPr lang="zh-CN" altLang="en-US" sz="2200" b="0" dirty="0">
              <a:solidFill>
                <a:srgbClr val="000000"/>
              </a:solidFill>
              <a:latin typeface="华文宋体" panose="02010600040101010101" pitchFamily="2" charset="-122"/>
              <a:ea typeface="华文宋体" panose="02010600040101010101" pitchFamily="2" charset="-122"/>
            </a:endParaRPr>
          </a:p>
          <a:p>
            <a:pPr algn="just" eaLnBrk="0" hangingPunct="0"/>
            <a:endParaRPr lang="zh-CN" altLang="en-US" sz="2200" b="0" dirty="0">
              <a:solidFill>
                <a:srgbClr val="000000"/>
              </a:solidFill>
              <a:latin typeface="华文宋体" panose="02010600040101010101" pitchFamily="2" charset="-122"/>
              <a:ea typeface="华文宋体" panose="02010600040101010101" pitchFamily="2" charset="-122"/>
            </a:endParaRPr>
          </a:p>
          <a:p>
            <a:pPr algn="just" eaLnBrk="0" hangingPunct="0">
              <a:lnSpc>
                <a:spcPct val="120000"/>
              </a:lnSpc>
            </a:pPr>
            <a:r>
              <a:rPr lang="zh-CN" altLang="en-US" sz="2200" b="0" dirty="0">
                <a:solidFill>
                  <a:srgbClr val="000000"/>
                </a:solidFill>
                <a:latin typeface="华文宋体" panose="02010600040101010101" pitchFamily="2" charset="-122"/>
                <a:ea typeface="华文宋体" panose="02010600040101010101" pitchFamily="2" charset="-122"/>
                <a:sym typeface="Webdings" panose="05030102010509060703" pitchFamily="18" charset="2"/>
              </a:rPr>
              <a:t>     </a:t>
            </a:r>
            <a:r>
              <a:rPr lang="zh-CN" altLang="en-US" sz="2200" b="0" dirty="0">
                <a:solidFill>
                  <a:srgbClr val="000000"/>
                </a:solidFill>
                <a:latin typeface="华文宋体" panose="02010600040101010101" pitchFamily="2" charset="-122"/>
                <a:ea typeface="华文宋体" panose="02010600040101010101" pitchFamily="2" charset="-122"/>
              </a:rPr>
              <a:t>无符号数乘法指令：        </a:t>
            </a:r>
            <a:r>
              <a:rPr lang="en-US" altLang="zh-CN" sz="2200" b="0" dirty="0">
                <a:solidFill>
                  <a:srgbClr val="000000"/>
                </a:solidFill>
                <a:latin typeface="华文宋体" panose="02010600040101010101" pitchFamily="2" charset="-122"/>
                <a:ea typeface="华文宋体" panose="02010600040101010101" pitchFamily="2" charset="-122"/>
              </a:rPr>
              <a:t>MUL  SRC</a:t>
            </a:r>
            <a:endParaRPr lang="en-US" altLang="zh-CN" sz="2200" b="0" dirty="0">
              <a:solidFill>
                <a:srgbClr val="000000"/>
              </a:solidFill>
              <a:latin typeface="华文宋体" panose="02010600040101010101" pitchFamily="2" charset="-122"/>
              <a:ea typeface="华文宋体" panose="02010600040101010101" pitchFamily="2" charset="-122"/>
            </a:endParaRPr>
          </a:p>
          <a:p>
            <a:pPr algn="just" eaLnBrk="0" hangingPunct="0">
              <a:spcBef>
                <a:spcPct val="30000"/>
              </a:spcBef>
            </a:pPr>
            <a:r>
              <a:rPr lang="en-US" altLang="zh-CN" sz="2200" b="0" dirty="0">
                <a:solidFill>
                  <a:srgbClr val="000000"/>
                </a:solidFill>
                <a:latin typeface="华文宋体" panose="02010600040101010101" pitchFamily="2" charset="-122"/>
                <a:ea typeface="华文宋体" panose="02010600040101010101" pitchFamily="2" charset="-122"/>
              </a:rPr>
              <a:t>     </a:t>
            </a:r>
            <a:r>
              <a:rPr lang="zh-CN" altLang="en-US" sz="2200" b="0" dirty="0">
                <a:solidFill>
                  <a:srgbClr val="000000"/>
                </a:solidFill>
                <a:latin typeface="华文宋体" panose="02010600040101010101" pitchFamily="2" charset="-122"/>
                <a:ea typeface="华文宋体" panose="02010600040101010101" pitchFamily="2" charset="-122"/>
              </a:rPr>
              <a:t>带符号数乘法指令：        </a:t>
            </a:r>
            <a:r>
              <a:rPr lang="en-US" altLang="zh-CN" sz="2200" b="0" dirty="0">
                <a:solidFill>
                  <a:srgbClr val="000000"/>
                </a:solidFill>
                <a:latin typeface="华文宋体" panose="02010600040101010101" pitchFamily="2" charset="-122"/>
                <a:ea typeface="华文宋体" panose="02010600040101010101" pitchFamily="2" charset="-122"/>
              </a:rPr>
              <a:t>IMUL  SRC</a:t>
            </a:r>
            <a:endParaRPr lang="en-US" altLang="zh-CN" sz="2200" b="0" dirty="0">
              <a:solidFill>
                <a:srgbClr val="000000"/>
              </a:solidFill>
              <a:latin typeface="华文宋体" panose="02010600040101010101" pitchFamily="2" charset="-122"/>
              <a:ea typeface="华文宋体" panose="02010600040101010101" pitchFamily="2" charset="-122"/>
            </a:endParaRPr>
          </a:p>
          <a:p>
            <a:pPr algn="just" eaLnBrk="0" hangingPunct="0">
              <a:lnSpc>
                <a:spcPct val="120000"/>
              </a:lnSpc>
            </a:pPr>
            <a:endParaRPr lang="en-US" altLang="zh-CN" sz="2200" b="0" dirty="0">
              <a:solidFill>
                <a:srgbClr val="000000"/>
              </a:solidFill>
              <a:latin typeface="华文宋体" panose="02010600040101010101" pitchFamily="2" charset="-122"/>
              <a:ea typeface="华文宋体" panose="02010600040101010101" pitchFamily="2" charset="-122"/>
            </a:endParaRPr>
          </a:p>
          <a:p>
            <a:pPr algn="just" eaLnBrk="0" hangingPunct="0">
              <a:lnSpc>
                <a:spcPct val="120000"/>
              </a:lnSpc>
            </a:pPr>
            <a:r>
              <a:rPr lang="en-US" altLang="zh-CN" sz="2200" b="0" dirty="0">
                <a:solidFill>
                  <a:srgbClr val="000000"/>
                </a:solidFill>
                <a:latin typeface="华文宋体" panose="02010600040101010101" pitchFamily="2" charset="-122"/>
                <a:ea typeface="华文宋体" panose="02010600040101010101" pitchFamily="2" charset="-122"/>
              </a:rPr>
              <a:t>     </a:t>
            </a:r>
            <a:r>
              <a:rPr lang="zh-CN" altLang="en-US" sz="2200" b="0" dirty="0">
                <a:solidFill>
                  <a:srgbClr val="000000"/>
                </a:solidFill>
                <a:latin typeface="华文宋体" panose="02010600040101010101" pitchFamily="2" charset="-122"/>
                <a:ea typeface="华文宋体" panose="02010600040101010101" pitchFamily="2" charset="-122"/>
              </a:rPr>
              <a:t>执行操作：</a:t>
            </a:r>
            <a:endParaRPr lang="zh-CN" altLang="en-US" sz="2200" b="0" dirty="0">
              <a:solidFill>
                <a:srgbClr val="000000"/>
              </a:solidFill>
              <a:latin typeface="华文宋体" panose="02010600040101010101" pitchFamily="2" charset="-122"/>
              <a:ea typeface="华文宋体" panose="02010600040101010101" pitchFamily="2" charset="-122"/>
            </a:endParaRPr>
          </a:p>
          <a:p>
            <a:pPr algn="just" eaLnBrk="0" hangingPunct="0">
              <a:lnSpc>
                <a:spcPct val="120000"/>
              </a:lnSpc>
            </a:pPr>
            <a:r>
              <a:rPr lang="zh-CN" altLang="en-US" sz="2200" b="0" dirty="0">
                <a:solidFill>
                  <a:srgbClr val="000000"/>
                </a:solidFill>
                <a:latin typeface="华文宋体" panose="02010600040101010101" pitchFamily="2" charset="-122"/>
                <a:ea typeface="华文宋体" panose="02010600040101010101" pitchFamily="2" charset="-122"/>
              </a:rPr>
              <a:t>                       字节操作数  </a:t>
            </a:r>
            <a:r>
              <a:rPr lang="en-US" altLang="zh-CN" sz="2200" b="0" dirty="0">
                <a:solidFill>
                  <a:srgbClr val="000000"/>
                </a:solidFill>
                <a:latin typeface="华文宋体" panose="02010600040101010101" pitchFamily="2" charset="-122"/>
                <a:ea typeface="华文宋体" panose="02010600040101010101" pitchFamily="2" charset="-122"/>
              </a:rPr>
              <a:t>(</a:t>
            </a:r>
            <a:r>
              <a:rPr lang="en-US" altLang="zh-CN" sz="2200" dirty="0">
                <a:solidFill>
                  <a:srgbClr val="FF0000"/>
                </a:solidFill>
                <a:latin typeface="华文宋体" panose="02010600040101010101" pitchFamily="2" charset="-122"/>
                <a:ea typeface="华文宋体" panose="02010600040101010101" pitchFamily="2" charset="-122"/>
              </a:rPr>
              <a:t>AX</a:t>
            </a:r>
            <a:r>
              <a:rPr lang="en-US" altLang="zh-CN" sz="2200" b="0" dirty="0">
                <a:solidFill>
                  <a:srgbClr val="000000"/>
                </a:solidFill>
                <a:latin typeface="华文宋体" panose="02010600040101010101" pitchFamily="2" charset="-122"/>
                <a:ea typeface="华文宋体" panose="02010600040101010101" pitchFamily="2" charset="-122"/>
              </a:rPr>
              <a:t>) </a:t>
            </a:r>
            <a:r>
              <a:rPr lang="en-US" altLang="zh-CN" sz="2200" b="0" dirty="0">
                <a:solidFill>
                  <a:srgbClr val="000000"/>
                </a:solidFill>
                <a:latin typeface="华文宋体" panose="02010600040101010101" pitchFamily="2" charset="-122"/>
                <a:ea typeface="华文宋体" panose="02010600040101010101" pitchFamily="2" charset="-122"/>
                <a:sym typeface="Symbol" panose="05050102010706020507" pitchFamily="18" charset="2"/>
              </a:rPr>
              <a:t></a:t>
            </a:r>
            <a:r>
              <a:rPr lang="en-US" altLang="zh-CN" sz="2200" b="0" dirty="0">
                <a:solidFill>
                  <a:srgbClr val="000000"/>
                </a:solidFill>
                <a:latin typeface="华文宋体" panose="02010600040101010101" pitchFamily="2" charset="-122"/>
                <a:ea typeface="华文宋体" panose="02010600040101010101" pitchFamily="2" charset="-122"/>
              </a:rPr>
              <a:t>  (</a:t>
            </a:r>
            <a:r>
              <a:rPr lang="en-US" altLang="zh-CN" sz="2200" dirty="0">
                <a:solidFill>
                  <a:srgbClr val="FF0000"/>
                </a:solidFill>
                <a:latin typeface="华文宋体" panose="02010600040101010101" pitchFamily="2" charset="-122"/>
                <a:ea typeface="华文宋体" panose="02010600040101010101" pitchFamily="2" charset="-122"/>
              </a:rPr>
              <a:t>AL</a:t>
            </a:r>
            <a:r>
              <a:rPr lang="en-US" altLang="zh-CN" sz="2200" b="0" dirty="0">
                <a:solidFill>
                  <a:srgbClr val="000000"/>
                </a:solidFill>
                <a:latin typeface="华文宋体" panose="02010600040101010101" pitchFamily="2" charset="-122"/>
                <a:ea typeface="华文宋体" panose="02010600040101010101" pitchFamily="2" charset="-122"/>
              </a:rPr>
              <a:t>) * (SRC)</a:t>
            </a:r>
            <a:endParaRPr lang="en-US" altLang="zh-CN" sz="2200" b="0" dirty="0">
              <a:solidFill>
                <a:srgbClr val="000000"/>
              </a:solidFill>
              <a:latin typeface="华文宋体" panose="02010600040101010101" pitchFamily="2" charset="-122"/>
              <a:ea typeface="华文宋体" panose="02010600040101010101" pitchFamily="2" charset="-122"/>
            </a:endParaRPr>
          </a:p>
          <a:p>
            <a:pPr algn="just" eaLnBrk="0" hangingPunct="0">
              <a:lnSpc>
                <a:spcPct val="120000"/>
              </a:lnSpc>
            </a:pPr>
            <a:r>
              <a:rPr lang="en-US" altLang="zh-CN" sz="2200" b="0" dirty="0">
                <a:solidFill>
                  <a:srgbClr val="000000"/>
                </a:solidFill>
                <a:latin typeface="华文宋体" panose="02010600040101010101" pitchFamily="2" charset="-122"/>
                <a:ea typeface="华文宋体" panose="02010600040101010101" pitchFamily="2" charset="-122"/>
              </a:rPr>
              <a:t>                       </a:t>
            </a:r>
            <a:r>
              <a:rPr lang="zh-CN" altLang="en-US" sz="2200" b="0" dirty="0">
                <a:solidFill>
                  <a:srgbClr val="000000"/>
                </a:solidFill>
                <a:latin typeface="华文宋体" panose="02010600040101010101" pitchFamily="2" charset="-122"/>
                <a:ea typeface="华文宋体" panose="02010600040101010101" pitchFamily="2" charset="-122"/>
              </a:rPr>
              <a:t>字操作数      </a:t>
            </a:r>
            <a:r>
              <a:rPr lang="en-US" altLang="zh-CN" sz="2200" b="0" dirty="0">
                <a:solidFill>
                  <a:srgbClr val="000000"/>
                </a:solidFill>
                <a:latin typeface="华文宋体" panose="02010600040101010101" pitchFamily="2" charset="-122"/>
                <a:ea typeface="华文宋体" panose="02010600040101010101" pitchFamily="2" charset="-122"/>
              </a:rPr>
              <a:t>(</a:t>
            </a:r>
            <a:r>
              <a:rPr lang="en-US" altLang="zh-CN" sz="2200" dirty="0">
                <a:solidFill>
                  <a:srgbClr val="FF0000"/>
                </a:solidFill>
                <a:latin typeface="华文宋体" panose="02010600040101010101" pitchFamily="2" charset="-122"/>
                <a:ea typeface="华文宋体" panose="02010600040101010101" pitchFamily="2" charset="-122"/>
              </a:rPr>
              <a:t>DX, AX</a:t>
            </a:r>
            <a:r>
              <a:rPr lang="en-US" altLang="zh-CN" sz="2200" b="0" dirty="0">
                <a:solidFill>
                  <a:srgbClr val="000000"/>
                </a:solidFill>
                <a:latin typeface="华文宋体" panose="02010600040101010101" pitchFamily="2" charset="-122"/>
                <a:ea typeface="华文宋体" panose="02010600040101010101" pitchFamily="2" charset="-122"/>
              </a:rPr>
              <a:t>) </a:t>
            </a:r>
            <a:r>
              <a:rPr lang="en-US" altLang="zh-CN" sz="2200" b="0" dirty="0">
                <a:solidFill>
                  <a:srgbClr val="000000"/>
                </a:solidFill>
                <a:latin typeface="华文宋体" panose="02010600040101010101" pitchFamily="2" charset="-122"/>
                <a:ea typeface="华文宋体" panose="02010600040101010101" pitchFamily="2" charset="-122"/>
                <a:sym typeface="Symbol" panose="05050102010706020507" pitchFamily="18" charset="2"/>
              </a:rPr>
              <a:t></a:t>
            </a:r>
            <a:r>
              <a:rPr lang="en-US" altLang="zh-CN" sz="2200" b="0" dirty="0">
                <a:solidFill>
                  <a:srgbClr val="000000"/>
                </a:solidFill>
                <a:latin typeface="华文宋体" panose="02010600040101010101" pitchFamily="2" charset="-122"/>
                <a:ea typeface="华文宋体" panose="02010600040101010101" pitchFamily="2" charset="-122"/>
              </a:rPr>
              <a:t>  (</a:t>
            </a:r>
            <a:r>
              <a:rPr lang="en-US" altLang="zh-CN" sz="2200" dirty="0">
                <a:solidFill>
                  <a:srgbClr val="FF0000"/>
                </a:solidFill>
                <a:latin typeface="华文宋体" panose="02010600040101010101" pitchFamily="2" charset="-122"/>
                <a:ea typeface="华文宋体" panose="02010600040101010101" pitchFamily="2" charset="-122"/>
              </a:rPr>
              <a:t>AX</a:t>
            </a:r>
            <a:r>
              <a:rPr lang="en-US" altLang="zh-CN" sz="2200" b="0" dirty="0">
                <a:solidFill>
                  <a:srgbClr val="000000"/>
                </a:solidFill>
                <a:latin typeface="华文宋体" panose="02010600040101010101" pitchFamily="2" charset="-122"/>
                <a:ea typeface="华文宋体" panose="02010600040101010101" pitchFamily="2" charset="-122"/>
              </a:rPr>
              <a:t>) * (SRC)</a:t>
            </a:r>
            <a:endParaRPr lang="en-US" altLang="zh-CN" sz="2200" b="0" dirty="0">
              <a:solidFill>
                <a:srgbClr val="000000"/>
              </a:solidFill>
              <a:latin typeface="华文宋体" panose="02010600040101010101" pitchFamily="2" charset="-122"/>
              <a:ea typeface="华文宋体" panose="02010600040101010101" pitchFamily="2" charset="-122"/>
            </a:endParaRPr>
          </a:p>
          <a:p>
            <a:pPr algn="just" eaLnBrk="0" hangingPunct="0"/>
            <a:endParaRPr lang="en-US" altLang="zh-CN" b="1" dirty="0">
              <a:solidFill>
                <a:srgbClr val="000000"/>
              </a:solidFill>
              <a:latin typeface="Times New Roman" panose="02020603050405020304" pitchFamily="18" charset="0"/>
            </a:endParaRPr>
          </a:p>
        </p:txBody>
      </p:sp>
      <p:sp>
        <p:nvSpPr>
          <p:cNvPr id="56323" name="矩形 56322"/>
          <p:cNvSpPr/>
          <p:nvPr/>
        </p:nvSpPr>
        <p:spPr>
          <a:xfrm>
            <a:off x="647564" y="4437112"/>
            <a:ext cx="8297824" cy="2000548"/>
          </a:xfrm>
          <a:prstGeom prst="rect">
            <a:avLst/>
          </a:prstGeom>
          <a:noFill/>
          <a:ln w="12700">
            <a:noFill/>
          </a:ln>
        </p:spPr>
        <p:txBody>
          <a:bodyPr wrap="square">
            <a:spAutoFit/>
          </a:bodyPr>
          <a:lstStyle/>
          <a:p>
            <a:pPr eaLnBrk="0" hangingPunct="0"/>
            <a:r>
              <a:rPr lang="zh-CN" altLang="en-US" sz="2200" b="0" dirty="0">
                <a:solidFill>
                  <a:srgbClr val="000000"/>
                </a:solidFill>
                <a:latin typeface="Times New Roman" panose="02020603050405020304" pitchFamily="18" charset="0"/>
                <a:ea typeface="楷体_GB2312" pitchFamily="49" charset="-122"/>
              </a:rPr>
              <a:t>注意</a:t>
            </a:r>
            <a:r>
              <a:rPr lang="en-US" altLang="zh-CN" sz="2200" b="0" dirty="0">
                <a:solidFill>
                  <a:srgbClr val="000000"/>
                </a:solidFill>
                <a:latin typeface="Times New Roman" panose="02020603050405020304" pitchFamily="18" charset="0"/>
                <a:ea typeface="楷体_GB2312" pitchFamily="49" charset="-122"/>
              </a:rPr>
              <a:t>:</a:t>
            </a:r>
            <a:r>
              <a:rPr lang="en-US" altLang="zh-CN" b="0" dirty="0">
                <a:solidFill>
                  <a:srgbClr val="000000"/>
                </a:solidFill>
                <a:latin typeface="Times New Roman" panose="02020603050405020304" pitchFamily="18" charset="0"/>
                <a:ea typeface="楷体_GB2312" pitchFamily="49" charset="-122"/>
              </a:rPr>
              <a:t>   </a:t>
            </a:r>
            <a:endParaRPr lang="en-US" altLang="zh-CN" b="0" dirty="0">
              <a:solidFill>
                <a:srgbClr val="000000"/>
              </a:solidFill>
              <a:latin typeface="Times New Roman" panose="02020603050405020304" pitchFamily="18" charset="0"/>
              <a:ea typeface="楷体_GB2312" pitchFamily="49" charset="-122"/>
            </a:endParaRPr>
          </a:p>
          <a:p>
            <a:pPr marL="342900" indent="-342900" eaLnBrk="0" hangingPunct="0">
              <a:spcBef>
                <a:spcPts val="600"/>
              </a:spcBef>
              <a:buFont typeface="Wingdings" panose="05000000000000000000" pitchFamily="2" charset="2"/>
              <a:buChar char="u"/>
            </a:pP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字节乘法：</a:t>
            </a:r>
            <a:r>
              <a:rPr lang="en-US"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AL</a:t>
            </a: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为隐含的乘数寄存器，</a:t>
            </a:r>
            <a:r>
              <a:rPr lang="en-US" altLang="zh-CN" sz="2000" b="0" dirty="0">
                <a:solidFill>
                  <a:srgbClr val="000000"/>
                </a:solidFill>
                <a:ea typeface="楷体_GB2312" pitchFamily="49" charset="-122"/>
                <a:sym typeface="Symbol" panose="05050102010706020507" pitchFamily="18" charset="2"/>
              </a:rPr>
              <a:t> AX </a:t>
            </a:r>
            <a:r>
              <a:rPr lang="zh-CN" altLang="en-US" sz="2000" b="0" dirty="0">
                <a:solidFill>
                  <a:srgbClr val="000000"/>
                </a:solidFill>
                <a:ea typeface="楷体_GB2312" pitchFamily="49" charset="-122"/>
                <a:sym typeface="Symbol" panose="05050102010706020507" pitchFamily="18" charset="2"/>
              </a:rPr>
              <a:t>为隐含的乘积寄存器。</a:t>
            </a:r>
            <a:endParaRPr lang="en-US" altLang="zh-CN" sz="2000" b="0" dirty="0">
              <a:solidFill>
                <a:srgbClr val="000000"/>
              </a:solidFill>
              <a:ea typeface="楷体_GB2312" pitchFamily="49" charset="-122"/>
              <a:sym typeface="Symbol" panose="05050102010706020507" pitchFamily="18" charset="2"/>
            </a:endParaRPr>
          </a:p>
          <a:p>
            <a:pPr marL="342900" indent="-342900" eaLnBrk="0" hangingPunct="0">
              <a:spcBef>
                <a:spcPts val="600"/>
              </a:spcBef>
              <a:buFont typeface="Wingdings" panose="05000000000000000000" pitchFamily="2" charset="2"/>
              <a:buChar char="u"/>
            </a:pP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字乘法：</a:t>
            </a:r>
            <a:r>
              <a:rPr lang="en-US" altLang="zh-CN" sz="2000" b="0" dirty="0">
                <a:solidFill>
                  <a:srgbClr val="000000"/>
                </a:solidFill>
                <a:ea typeface="楷体_GB2312" pitchFamily="49" charset="-122"/>
                <a:sym typeface="Symbol" panose="05050102010706020507" pitchFamily="18" charset="2"/>
              </a:rPr>
              <a:t> AX</a:t>
            </a:r>
            <a:r>
              <a:rPr lang="zh-CN" altLang="en-US" sz="2000" b="0" dirty="0">
                <a:solidFill>
                  <a:srgbClr val="000000"/>
                </a:solidFill>
                <a:ea typeface="楷体_GB2312" pitchFamily="49" charset="-122"/>
                <a:sym typeface="Symbol" panose="05050102010706020507" pitchFamily="18" charset="2"/>
              </a:rPr>
              <a:t>为隐含的乘数寄存器，</a:t>
            </a:r>
            <a:r>
              <a:rPr lang="en-US"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(DX, AX) </a:t>
            </a: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为隐含的乘积寄存器。</a:t>
            </a:r>
            <a:endParaRPr lang="en-US" altLang="zh-CN" sz="2000" b="0" dirty="0">
              <a:solidFill>
                <a:srgbClr val="000000"/>
              </a:solidFill>
              <a:latin typeface="Times New Roman" panose="02020603050405020304" pitchFamily="18" charset="0"/>
              <a:ea typeface="楷体_GB2312" pitchFamily="49" charset="-122"/>
              <a:sym typeface="Symbol" panose="05050102010706020507" pitchFamily="18" charset="2"/>
            </a:endParaRPr>
          </a:p>
          <a:p>
            <a:pPr marL="342900" indent="-342900" eaLnBrk="0" hangingPunct="0">
              <a:spcBef>
                <a:spcPts val="600"/>
              </a:spcBef>
              <a:buFont typeface="Wingdings" panose="05000000000000000000" pitchFamily="2" charset="2"/>
              <a:buChar char="u"/>
            </a:pPr>
            <a:r>
              <a:rPr lang="en-US"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SRC</a:t>
            </a: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不能为立即数。</a:t>
            </a:r>
            <a:endParaRPr lang="en-US" altLang="zh-CN" sz="2000" b="0" dirty="0">
              <a:solidFill>
                <a:srgbClr val="000000"/>
              </a:solidFill>
              <a:latin typeface="Times New Roman" panose="02020603050405020304" pitchFamily="18" charset="0"/>
              <a:ea typeface="楷体_GB2312" pitchFamily="49" charset="-122"/>
              <a:sym typeface="Symbol" panose="05050102010706020507" pitchFamily="18" charset="2"/>
            </a:endParaRPr>
          </a:p>
          <a:p>
            <a:pPr marL="342900" indent="-342900" eaLnBrk="0" hangingPunct="0">
              <a:spcBef>
                <a:spcPts val="600"/>
              </a:spcBef>
              <a:buFont typeface="Wingdings" panose="05000000000000000000" pitchFamily="2" charset="2"/>
              <a:buChar char="u"/>
            </a:pP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除</a:t>
            </a:r>
            <a:r>
              <a:rPr lang="zh-CN"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CF和OF外，对条件标志位无定义</a:t>
            </a: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a:t>
            </a:r>
            <a:endPar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3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9572" y="980728"/>
            <a:ext cx="7596844" cy="3970318"/>
          </a:xfrm>
          <a:prstGeom prst="rect">
            <a:avLst/>
          </a:prstGeom>
          <a:noFill/>
        </p:spPr>
        <p:txBody>
          <a:bodyPr wrap="square" rtlCol="0">
            <a:spAutoFit/>
          </a:bodyPr>
          <a:lstStyle/>
          <a:p>
            <a:pPr>
              <a:lnSpc>
                <a:spcPct val="150000"/>
              </a:lnSpc>
            </a:pPr>
            <a:r>
              <a:rPr lang="zh-CN" altLang="en-US" b="0" dirty="0"/>
              <a:t>注意：</a:t>
            </a:r>
            <a:endParaRPr lang="en-US" altLang="zh-CN" b="0" dirty="0"/>
          </a:p>
          <a:p>
            <a:pPr>
              <a:lnSpc>
                <a:spcPct val="150000"/>
              </a:lnSpc>
            </a:pPr>
            <a:r>
              <a:rPr lang="en-US" altLang="zh-CN" b="0" dirty="0"/>
              <a:t>MUL</a:t>
            </a:r>
            <a:r>
              <a:rPr lang="zh-CN" altLang="en-US" b="0" dirty="0"/>
              <a:t>和</a:t>
            </a:r>
            <a:r>
              <a:rPr lang="en-US" altLang="zh-CN" b="0" dirty="0"/>
              <a:t>IMUL</a:t>
            </a:r>
            <a:r>
              <a:rPr lang="zh-CN" altLang="en-US" b="0" dirty="0"/>
              <a:t>指令的使用必须根据计算场景正确选择，否则会导致结果错误。如：</a:t>
            </a:r>
            <a:endParaRPr lang="en-US" altLang="zh-CN" b="0" dirty="0"/>
          </a:p>
          <a:p>
            <a:pPr>
              <a:lnSpc>
                <a:spcPct val="150000"/>
              </a:lnSpc>
            </a:pPr>
            <a:r>
              <a:rPr lang="en-US" altLang="zh-CN" b="0" dirty="0"/>
              <a:t>	</a:t>
            </a:r>
            <a:r>
              <a:rPr lang="zh-CN" altLang="en-US" b="0" dirty="0"/>
              <a:t>（</a:t>
            </a:r>
            <a:r>
              <a:rPr lang="en-US" altLang="zh-CN" b="0" dirty="0"/>
              <a:t>11111111b</a:t>
            </a:r>
            <a:r>
              <a:rPr lang="zh-CN" altLang="en-US" b="0" dirty="0"/>
              <a:t>）*（</a:t>
            </a:r>
            <a:r>
              <a:rPr lang="en-US" altLang="zh-CN" b="0" dirty="0"/>
              <a:t>11111111b</a:t>
            </a:r>
            <a:r>
              <a:rPr lang="zh-CN" altLang="en-US" b="0" dirty="0"/>
              <a:t>）</a:t>
            </a:r>
            <a:endParaRPr lang="en-US" altLang="zh-CN" b="0" dirty="0"/>
          </a:p>
          <a:p>
            <a:pPr>
              <a:lnSpc>
                <a:spcPct val="150000"/>
              </a:lnSpc>
            </a:pPr>
            <a:endParaRPr lang="en-US" altLang="zh-CN" b="0" dirty="0"/>
          </a:p>
          <a:p>
            <a:pPr>
              <a:lnSpc>
                <a:spcPct val="150000"/>
              </a:lnSpc>
            </a:pPr>
            <a:r>
              <a:rPr lang="zh-CN" altLang="en-US" b="0" dirty="0"/>
              <a:t>若是无符号数：</a:t>
            </a:r>
            <a:r>
              <a:rPr lang="en-US" altLang="zh-CN" b="0" dirty="0"/>
              <a:t>255d</a:t>
            </a:r>
            <a:r>
              <a:rPr lang="zh-CN" altLang="en-US" b="0" dirty="0"/>
              <a:t>*</a:t>
            </a:r>
            <a:r>
              <a:rPr lang="en-US" altLang="zh-CN" b="0" dirty="0"/>
              <a:t>255d=65025d</a:t>
            </a:r>
            <a:endParaRPr lang="en-US" altLang="zh-CN" b="0" dirty="0"/>
          </a:p>
          <a:p>
            <a:pPr>
              <a:lnSpc>
                <a:spcPct val="150000"/>
              </a:lnSpc>
            </a:pPr>
            <a:r>
              <a:rPr lang="zh-CN" altLang="en-US" b="0" dirty="0"/>
              <a:t>若是带符号数： （</a:t>
            </a:r>
            <a:r>
              <a:rPr lang="en-US" altLang="zh-CN" b="0" dirty="0"/>
              <a:t>-1</a:t>
            </a:r>
            <a:r>
              <a:rPr lang="zh-CN" altLang="en-US" b="0" dirty="0"/>
              <a:t>）* （</a:t>
            </a:r>
            <a:r>
              <a:rPr lang="en-US" altLang="zh-CN" b="0" dirty="0"/>
              <a:t>-1</a:t>
            </a:r>
            <a:r>
              <a:rPr lang="zh-CN" altLang="en-US" b="0" dirty="0"/>
              <a:t>）</a:t>
            </a:r>
            <a:r>
              <a:rPr lang="en-US" altLang="zh-CN" b="0" dirty="0"/>
              <a:t>=1</a:t>
            </a:r>
            <a:endParaRPr lang="en-US" altLang="zh-CN" b="0" dirty="0"/>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91580" y="1340768"/>
            <a:ext cx="7596844" cy="4893647"/>
          </a:xfrm>
          <a:prstGeom prst="rect">
            <a:avLst/>
          </a:prstGeom>
          <a:noFill/>
        </p:spPr>
        <p:txBody>
          <a:bodyPr wrap="square" rtlCol="0">
            <a:spAutoFit/>
          </a:bodyPr>
          <a:lstStyle/>
          <a:p>
            <a:r>
              <a:rPr lang="zh-CN" altLang="en-US" dirty="0"/>
              <a:t>例：如（</a:t>
            </a:r>
            <a:r>
              <a:rPr lang="en-US" altLang="zh-CN" dirty="0"/>
              <a:t>AL</a:t>
            </a:r>
            <a:r>
              <a:rPr lang="zh-CN" altLang="en-US" dirty="0"/>
              <a:t>）</a:t>
            </a:r>
            <a:r>
              <a:rPr lang="en-US" altLang="zh-CN" dirty="0"/>
              <a:t>=0B4H</a:t>
            </a:r>
            <a:r>
              <a:rPr lang="zh-CN" altLang="en-US" dirty="0"/>
              <a:t>，（</a:t>
            </a:r>
            <a:r>
              <a:rPr lang="en-US" altLang="zh-CN" dirty="0"/>
              <a:t>BL</a:t>
            </a:r>
            <a:r>
              <a:rPr lang="zh-CN" altLang="en-US" dirty="0"/>
              <a:t>）</a:t>
            </a:r>
            <a:r>
              <a:rPr lang="en-US" altLang="zh-CN" dirty="0"/>
              <a:t>=11H</a:t>
            </a:r>
            <a:r>
              <a:rPr lang="zh-CN" altLang="en-US" dirty="0"/>
              <a:t>，求：</a:t>
            </a:r>
            <a:endParaRPr lang="en-US" altLang="zh-CN" dirty="0"/>
          </a:p>
          <a:p>
            <a:r>
              <a:rPr lang="en-US" altLang="zh-CN" dirty="0"/>
              <a:t>	IMUL	  BL</a:t>
            </a:r>
            <a:endParaRPr lang="en-US" altLang="zh-CN" dirty="0"/>
          </a:p>
          <a:p>
            <a:r>
              <a:rPr lang="en-US" altLang="zh-CN" dirty="0"/>
              <a:t>	MUL     BL</a:t>
            </a:r>
            <a:endParaRPr lang="en-US" altLang="zh-CN" dirty="0"/>
          </a:p>
          <a:p>
            <a:endParaRPr lang="en-US" altLang="zh-CN" dirty="0"/>
          </a:p>
          <a:p>
            <a:r>
              <a:rPr lang="zh-CN" altLang="en-US" dirty="0"/>
              <a:t>分析： </a:t>
            </a:r>
            <a:endParaRPr lang="en-US" altLang="zh-CN" dirty="0"/>
          </a:p>
          <a:p>
            <a:r>
              <a:rPr lang="zh-CN" altLang="en-US" dirty="0"/>
              <a:t>（</a:t>
            </a:r>
            <a:r>
              <a:rPr lang="en-US" altLang="zh-CN" dirty="0"/>
              <a:t>AL</a:t>
            </a:r>
            <a:r>
              <a:rPr lang="zh-CN" altLang="en-US" dirty="0"/>
              <a:t>）</a:t>
            </a:r>
            <a:r>
              <a:rPr lang="en-US" altLang="zh-CN" dirty="0"/>
              <a:t>=0B4H</a:t>
            </a:r>
            <a:r>
              <a:rPr lang="zh-CN" altLang="en-US" dirty="0"/>
              <a:t>为无符号数</a:t>
            </a:r>
            <a:r>
              <a:rPr lang="en-US" altLang="zh-CN" dirty="0"/>
              <a:t>180</a:t>
            </a:r>
            <a:r>
              <a:rPr lang="zh-CN" altLang="en-US" dirty="0"/>
              <a:t>，带符号数</a:t>
            </a:r>
            <a:r>
              <a:rPr lang="en-US" altLang="zh-CN" dirty="0"/>
              <a:t>-76</a:t>
            </a:r>
            <a:r>
              <a:rPr lang="zh-CN" altLang="en-US" dirty="0"/>
              <a:t>；</a:t>
            </a:r>
            <a:endParaRPr lang="en-US" altLang="zh-CN" dirty="0"/>
          </a:p>
          <a:p>
            <a:r>
              <a:rPr lang="zh-CN" altLang="en-US" dirty="0"/>
              <a:t>（</a:t>
            </a:r>
            <a:r>
              <a:rPr lang="en-US" altLang="zh-CN" dirty="0"/>
              <a:t>BL</a:t>
            </a:r>
            <a:r>
              <a:rPr lang="zh-CN" altLang="en-US" dirty="0"/>
              <a:t>）</a:t>
            </a:r>
            <a:r>
              <a:rPr lang="en-US" altLang="zh-CN" dirty="0"/>
              <a:t>=11H</a:t>
            </a:r>
            <a:r>
              <a:rPr lang="zh-CN" altLang="en-US" dirty="0"/>
              <a:t>为无符号数</a:t>
            </a:r>
            <a:r>
              <a:rPr lang="en-US" altLang="zh-CN" dirty="0"/>
              <a:t>17</a:t>
            </a:r>
            <a:r>
              <a:rPr lang="zh-CN" altLang="en-US" dirty="0"/>
              <a:t>，带符号数</a:t>
            </a:r>
            <a:r>
              <a:rPr lang="en-US" altLang="zh-CN" dirty="0"/>
              <a:t>17.</a:t>
            </a:r>
            <a:endParaRPr lang="en-US" altLang="zh-CN" dirty="0"/>
          </a:p>
          <a:p>
            <a:endParaRPr lang="en-US" altLang="zh-CN" dirty="0"/>
          </a:p>
          <a:p>
            <a:r>
              <a:rPr lang="zh-CN" altLang="en-US" dirty="0"/>
              <a:t>因此：</a:t>
            </a:r>
            <a:endParaRPr lang="en-US" altLang="zh-CN" dirty="0"/>
          </a:p>
          <a:p>
            <a:r>
              <a:rPr lang="en-US" altLang="zh-CN" dirty="0"/>
              <a:t>MUL	  BL</a:t>
            </a:r>
            <a:r>
              <a:rPr lang="zh-CN" altLang="en-US" dirty="0"/>
              <a:t>的执行结果为：（</a:t>
            </a:r>
            <a:r>
              <a:rPr lang="en-US" altLang="zh-CN" dirty="0"/>
              <a:t>AX</a:t>
            </a:r>
            <a:r>
              <a:rPr lang="zh-CN" altLang="en-US" dirty="0"/>
              <a:t>）</a:t>
            </a:r>
            <a:r>
              <a:rPr lang="en-US" altLang="zh-CN" dirty="0"/>
              <a:t>=0BF4H</a:t>
            </a:r>
            <a:r>
              <a:rPr lang="zh-CN" altLang="en-US" dirty="0"/>
              <a:t>（</a:t>
            </a:r>
            <a:r>
              <a:rPr lang="en-US" altLang="zh-CN" dirty="0"/>
              <a:t>3060</a:t>
            </a:r>
            <a:r>
              <a:rPr lang="zh-CN" altLang="en-US" dirty="0"/>
              <a:t>）</a:t>
            </a:r>
            <a:endParaRPr lang="en-US" altLang="zh-CN" dirty="0"/>
          </a:p>
          <a:p>
            <a:endParaRPr lang="zh-CN" altLang="en-US" dirty="0"/>
          </a:p>
          <a:p>
            <a:r>
              <a:rPr lang="en-US" altLang="zh-CN" dirty="0"/>
              <a:t>IMUL	  BL</a:t>
            </a:r>
            <a:r>
              <a:rPr lang="zh-CN" altLang="en-US" dirty="0"/>
              <a:t>的执行结果为：（</a:t>
            </a:r>
            <a:r>
              <a:rPr lang="en-US" altLang="zh-CN" dirty="0"/>
              <a:t>AX</a:t>
            </a:r>
            <a:r>
              <a:rPr lang="zh-CN" altLang="en-US" dirty="0"/>
              <a:t>）</a:t>
            </a:r>
            <a:r>
              <a:rPr lang="en-US" altLang="zh-CN" dirty="0"/>
              <a:t>=0FAF4H</a:t>
            </a:r>
            <a:r>
              <a:rPr lang="zh-CN" altLang="en-US" dirty="0"/>
              <a:t>（</a:t>
            </a:r>
            <a:r>
              <a:rPr lang="en-US" altLang="zh-CN" dirty="0"/>
              <a:t>-1292</a:t>
            </a:r>
            <a:r>
              <a:rPr lang="zh-CN" altLang="en-US" dirty="0"/>
              <a:t>）</a:t>
            </a:r>
            <a:endParaRPr lang="en-US" altLang="zh-CN" dirty="0"/>
          </a:p>
          <a:p>
            <a:endParaRPr lang="en-US" altLang="zh-CN" dirty="0"/>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文本框 57345"/>
          <p:cNvSpPr txBox="1"/>
          <p:nvPr/>
        </p:nvSpPr>
        <p:spPr>
          <a:xfrm>
            <a:off x="896900" y="1051148"/>
            <a:ext cx="6172200" cy="461665"/>
          </a:xfrm>
          <a:prstGeom prst="rect">
            <a:avLst/>
          </a:prstGeom>
          <a:noFill/>
          <a:ln w="9525">
            <a:noFill/>
          </a:ln>
        </p:spPr>
        <p:txBody>
          <a:bodyPr>
            <a:spAutoFit/>
          </a:bodyPr>
          <a:lstStyle/>
          <a:p>
            <a:pPr algn="just" eaLnBrk="0" hangingPunct="0"/>
            <a:r>
              <a:rPr lang="zh-CN" altLang="en-US" b="1" dirty="0">
                <a:solidFill>
                  <a:srgbClr val="000000"/>
                </a:solidFill>
                <a:latin typeface="Times New Roman" panose="02020603050405020304" pitchFamily="18" charset="0"/>
              </a:rPr>
              <a:t>乘法指令对 </a:t>
            </a:r>
            <a:r>
              <a:rPr lang="en-US" altLang="zh-CN" b="1" dirty="0">
                <a:solidFill>
                  <a:srgbClr val="000000"/>
                </a:solidFill>
                <a:latin typeface="Times New Roman" panose="02020603050405020304" pitchFamily="18" charset="0"/>
              </a:rPr>
              <a:t>CF/OF </a:t>
            </a:r>
            <a:r>
              <a:rPr lang="zh-CN" altLang="en-US" b="1" dirty="0">
                <a:solidFill>
                  <a:srgbClr val="000000"/>
                </a:solidFill>
                <a:latin typeface="Times New Roman" panose="02020603050405020304" pitchFamily="18" charset="0"/>
              </a:rPr>
              <a:t>的影响：</a:t>
            </a:r>
            <a:endParaRPr lang="zh-CN" altLang="en-US" b="1" dirty="0">
              <a:solidFill>
                <a:srgbClr val="000000"/>
              </a:solidFill>
              <a:latin typeface="Times New Roman" panose="02020603050405020304" pitchFamily="18" charset="0"/>
            </a:endParaRPr>
          </a:p>
        </p:txBody>
      </p:sp>
      <p:sp>
        <p:nvSpPr>
          <p:cNvPr id="57347" name="矩形 57346"/>
          <p:cNvSpPr/>
          <p:nvPr/>
        </p:nvSpPr>
        <p:spPr>
          <a:xfrm>
            <a:off x="756692" y="3547468"/>
            <a:ext cx="7391400" cy="2862322"/>
          </a:xfrm>
          <a:prstGeom prst="rect">
            <a:avLst/>
          </a:prstGeom>
          <a:noFill/>
          <a:ln w="12700">
            <a:noFill/>
          </a:ln>
        </p:spPr>
        <p:txBody>
          <a:bodyPr>
            <a:spAutoFit/>
          </a:bodyPr>
          <a:lstStyle/>
          <a:p>
            <a:pPr eaLnBrk="0" hangingPunct="0"/>
            <a:r>
              <a:rPr lang="zh-CN" altLang="en-US" sz="2000" b="1" dirty="0">
                <a:solidFill>
                  <a:srgbClr val="000000"/>
                </a:solidFill>
                <a:latin typeface="Times New Roman" panose="02020603050405020304" pitchFamily="18" charset="0"/>
              </a:rPr>
              <a:t>例：</a:t>
            </a:r>
            <a:r>
              <a:rPr lang="en-US" altLang="zh-CN" sz="2000" b="1" dirty="0">
                <a:solidFill>
                  <a:srgbClr val="000000"/>
                </a:solidFill>
                <a:latin typeface="Times New Roman" panose="02020603050405020304" pitchFamily="18" charset="0"/>
              </a:rPr>
              <a:t>(AX) = 16A5H</a:t>
            </a:r>
            <a:r>
              <a:rPr lang="zh-CN" altLang="en-US" sz="2000" b="1" dirty="0">
                <a:solidFill>
                  <a:srgbClr val="000000"/>
                </a:solidFill>
                <a:latin typeface="Times New Roman" panose="02020603050405020304" pitchFamily="18" charset="0"/>
              </a:rPr>
              <a:t>，</a:t>
            </a:r>
            <a:r>
              <a:rPr lang="en-US" altLang="zh-CN" sz="2000" b="1" dirty="0">
                <a:solidFill>
                  <a:srgbClr val="000000"/>
                </a:solidFill>
                <a:latin typeface="Times New Roman" panose="02020603050405020304" pitchFamily="18" charset="0"/>
              </a:rPr>
              <a:t>(BX) = 0611H</a:t>
            </a:r>
            <a:endParaRPr lang="en-US" altLang="zh-CN" sz="2000" b="1" dirty="0">
              <a:solidFill>
                <a:srgbClr val="000000"/>
              </a:solidFill>
              <a:latin typeface="Times New Roman" panose="02020603050405020304" pitchFamily="18" charset="0"/>
            </a:endParaRPr>
          </a:p>
          <a:p>
            <a:pPr eaLnBrk="0" hangingPunct="0"/>
            <a:r>
              <a:rPr lang="en-US" altLang="zh-CN" sz="2000" b="1" dirty="0">
                <a:solidFill>
                  <a:srgbClr val="000000"/>
                </a:solidFill>
                <a:latin typeface="Times New Roman" panose="02020603050405020304" pitchFamily="18" charset="0"/>
              </a:rPr>
              <a:t>   </a:t>
            </a:r>
            <a:endParaRPr lang="en-US" altLang="zh-CN" sz="2000" b="1" dirty="0">
              <a:solidFill>
                <a:srgbClr val="000000"/>
              </a:solidFill>
              <a:latin typeface="Times New Roman" panose="02020603050405020304" pitchFamily="18" charset="0"/>
            </a:endParaRPr>
          </a:p>
          <a:p>
            <a:pPr eaLnBrk="0" hangingPunct="0"/>
            <a:r>
              <a:rPr lang="en-US" altLang="zh-CN" sz="2000" b="1" dirty="0">
                <a:solidFill>
                  <a:srgbClr val="000000"/>
                </a:solidFill>
                <a:latin typeface="Times New Roman" panose="02020603050405020304" pitchFamily="18" charset="0"/>
              </a:rPr>
              <a:t>  (1)     IMUL  BL         ;  (AX)  </a:t>
            </a:r>
            <a:r>
              <a:rPr lang="en-US" altLang="zh-CN" sz="2000" b="1" dirty="0">
                <a:solidFill>
                  <a:srgbClr val="000000"/>
                </a:solidFill>
                <a:latin typeface="Times New Roman" panose="02020603050405020304" pitchFamily="18" charset="0"/>
                <a:sym typeface="Symbol" panose="05050102010706020507" pitchFamily="18" charset="2"/>
              </a:rPr>
              <a:t>  (AL) * (BL)</a:t>
            </a:r>
            <a:endParaRPr lang="en-US" altLang="zh-CN" sz="2000" b="1" dirty="0">
              <a:solidFill>
                <a:srgbClr val="000000"/>
              </a:solidFill>
              <a:latin typeface="Times New Roman" panose="02020603050405020304" pitchFamily="18" charset="0"/>
              <a:sym typeface="Symbol" panose="05050102010706020507" pitchFamily="18" charset="2"/>
            </a:endParaRPr>
          </a:p>
          <a:p>
            <a:r>
              <a:rPr lang="en-US" altLang="zh-CN" sz="2000" dirty="0">
                <a:solidFill>
                  <a:srgbClr val="000000"/>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  A5*11 </a:t>
            </a:r>
            <a:r>
              <a:rPr lang="en-US" altLang="zh-CN" sz="2000" b="1" dirty="0">
                <a:solidFill>
                  <a:srgbClr val="000000"/>
                </a:solidFill>
                <a:latin typeface="Times New Roman" panose="02020603050405020304" pitchFamily="18" charset="0"/>
                <a:sym typeface="Symbol" panose="05050102010706020507" pitchFamily="18" charset="2"/>
              </a:rPr>
              <a:t> (-)5B*11=(-</a:t>
            </a:r>
            <a:r>
              <a:rPr lang="en-US" altLang="zh-CN" sz="2000" dirty="0">
                <a:solidFill>
                  <a:srgbClr val="000000"/>
                </a:solidFill>
                <a:sym typeface="Symbol" panose="05050102010706020507" pitchFamily="18" charset="2"/>
              </a:rPr>
              <a:t>)</a:t>
            </a:r>
            <a:r>
              <a:rPr lang="en-US" altLang="zh-CN" sz="2000" b="1" dirty="0">
                <a:solidFill>
                  <a:srgbClr val="000000"/>
                </a:solidFill>
                <a:latin typeface="Times New Roman" panose="02020603050405020304" pitchFamily="18" charset="0"/>
                <a:sym typeface="Symbol" panose="05050102010706020507" pitchFamily="18" charset="2"/>
              </a:rPr>
              <a:t>060B  F9F5</a:t>
            </a:r>
            <a:endParaRPr lang="en-US" altLang="zh-CN" sz="2000" dirty="0">
              <a:solidFill>
                <a:srgbClr val="000000"/>
              </a:solidFill>
              <a:latin typeface="Times New Roman" panose="02020603050405020304" pitchFamily="18" charset="0"/>
            </a:endParaRPr>
          </a:p>
          <a:p>
            <a:pPr eaLnBrk="0" hangingPunct="0"/>
            <a:r>
              <a:rPr lang="en-US" altLang="zh-CN" sz="2000" b="1" dirty="0">
                <a:solidFill>
                  <a:srgbClr val="000000"/>
                </a:solidFill>
                <a:latin typeface="Times New Roman" panose="02020603050405020304" pitchFamily="18" charset="0"/>
              </a:rPr>
              <a:t>                                      ;  (AX) = 0F9F5H     CF=OF=1</a:t>
            </a:r>
            <a:endParaRPr lang="en-US" altLang="zh-CN" sz="2000" b="1" dirty="0">
              <a:solidFill>
                <a:srgbClr val="000000"/>
              </a:solidFill>
              <a:latin typeface="Times New Roman" panose="02020603050405020304" pitchFamily="18" charset="0"/>
            </a:endParaRPr>
          </a:p>
          <a:p>
            <a:pPr eaLnBrk="0" hangingPunct="0"/>
            <a:endParaRPr lang="en-US" altLang="zh-CN" sz="2000" b="1" dirty="0">
              <a:solidFill>
                <a:srgbClr val="000000"/>
              </a:solidFill>
              <a:latin typeface="Times New Roman" panose="02020603050405020304" pitchFamily="18" charset="0"/>
            </a:endParaRPr>
          </a:p>
          <a:p>
            <a:pPr eaLnBrk="0" hangingPunct="0"/>
            <a:r>
              <a:rPr lang="en-US" altLang="zh-CN" sz="2000" b="1" dirty="0">
                <a:solidFill>
                  <a:srgbClr val="000000"/>
                </a:solidFill>
                <a:latin typeface="Times New Roman" panose="02020603050405020304" pitchFamily="18" charset="0"/>
              </a:rPr>
              <a:t>  (2)     MUL  BX         ;  (DX, AX)  </a:t>
            </a:r>
            <a:r>
              <a:rPr lang="en-US" altLang="zh-CN" sz="2000" b="1" dirty="0">
                <a:solidFill>
                  <a:srgbClr val="000000"/>
                </a:solidFill>
                <a:latin typeface="Times New Roman" panose="02020603050405020304" pitchFamily="18" charset="0"/>
                <a:sym typeface="Symbol" panose="05050102010706020507" pitchFamily="18" charset="2"/>
              </a:rPr>
              <a:t>  (AX) * (BX)</a:t>
            </a:r>
            <a:endParaRPr lang="en-US" altLang="zh-CN" sz="2000" b="1" dirty="0">
              <a:solidFill>
                <a:srgbClr val="000000"/>
              </a:solidFill>
              <a:latin typeface="Times New Roman" panose="02020603050405020304" pitchFamily="18" charset="0"/>
              <a:sym typeface="Symbol" panose="05050102010706020507" pitchFamily="18" charset="2"/>
            </a:endParaRPr>
          </a:p>
          <a:p>
            <a:r>
              <a:rPr lang="en-US" altLang="zh-CN" sz="2000" dirty="0">
                <a:solidFill>
                  <a:srgbClr val="000000"/>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  16A5*0611=0089 5EF5</a:t>
            </a:r>
            <a:endParaRPr lang="en-US" altLang="zh-CN" sz="2000" dirty="0">
              <a:solidFill>
                <a:srgbClr val="000000"/>
              </a:solidFill>
              <a:latin typeface="Times New Roman" panose="02020603050405020304" pitchFamily="18" charset="0"/>
            </a:endParaRPr>
          </a:p>
          <a:p>
            <a:pPr eaLnBrk="0" hangingPunct="0"/>
            <a:r>
              <a:rPr lang="en-US" altLang="zh-CN" sz="2000" b="1" dirty="0">
                <a:solidFill>
                  <a:srgbClr val="000000"/>
                </a:solidFill>
                <a:latin typeface="Times New Roman" panose="02020603050405020304" pitchFamily="18" charset="0"/>
              </a:rPr>
              <a:t>                                     ;  (DX)=0089H  (AX)=5EF5H   CF=OF=1</a:t>
            </a:r>
            <a:endParaRPr lang="en-US" altLang="zh-CN" sz="2000" b="1" dirty="0">
              <a:solidFill>
                <a:srgbClr val="000000"/>
              </a:solidFill>
              <a:latin typeface="Times New Roman" panose="02020603050405020304" pitchFamily="18" charset="0"/>
            </a:endParaRPr>
          </a:p>
        </p:txBody>
      </p:sp>
      <p:sp>
        <p:nvSpPr>
          <p:cNvPr id="57348" name="文本框 57347"/>
          <p:cNvSpPr txBox="1"/>
          <p:nvPr/>
        </p:nvSpPr>
        <p:spPr>
          <a:xfrm>
            <a:off x="3803576" y="1664804"/>
            <a:ext cx="3060700" cy="730250"/>
          </a:xfrm>
          <a:prstGeom prst="rect">
            <a:avLst/>
          </a:prstGeom>
          <a:noFill/>
          <a:ln w="12700">
            <a:noFill/>
          </a:ln>
        </p:spPr>
        <p:txBody>
          <a:bodyPr wrap="none">
            <a:spAutoFit/>
          </a:bodyPr>
          <a:lstStyle/>
          <a:p>
            <a:pPr>
              <a:lnSpc>
                <a:spcPct val="70000"/>
              </a:lnSpc>
              <a:spcBef>
                <a:spcPct val="50000"/>
              </a:spcBef>
            </a:pPr>
            <a:r>
              <a:rPr lang="en-US" altLang="zh-CN" sz="2200" b="1">
                <a:solidFill>
                  <a:srgbClr val="000000"/>
                </a:solidFill>
                <a:latin typeface="Times New Roman" panose="02020603050405020304" pitchFamily="18" charset="0"/>
              </a:rPr>
              <a:t>00     </a:t>
            </a:r>
            <a:r>
              <a:rPr lang="zh-CN" altLang="en-US" sz="2200" b="1" dirty="0">
                <a:solidFill>
                  <a:srgbClr val="000000"/>
                </a:solidFill>
                <a:latin typeface="Times New Roman" panose="02020603050405020304" pitchFamily="18" charset="0"/>
                <a:ea typeface="楷体_GB2312" pitchFamily="49" charset="-122"/>
              </a:rPr>
              <a:t>乘积的高一半为零</a:t>
            </a:r>
            <a:endParaRPr lang="zh-CN" altLang="en-US" sz="2200" b="1" dirty="0">
              <a:solidFill>
                <a:srgbClr val="000000"/>
              </a:solidFill>
              <a:latin typeface="Times New Roman" panose="02020603050405020304" pitchFamily="18" charset="0"/>
              <a:ea typeface="楷体_GB2312" pitchFamily="49" charset="-122"/>
            </a:endParaRPr>
          </a:p>
          <a:p>
            <a:pPr>
              <a:lnSpc>
                <a:spcPct val="70000"/>
              </a:lnSpc>
              <a:spcBef>
                <a:spcPct val="50000"/>
              </a:spcBef>
            </a:pPr>
            <a:r>
              <a:rPr lang="en-US" altLang="zh-CN" sz="2200" b="1">
                <a:solidFill>
                  <a:srgbClr val="000000"/>
                </a:solidFill>
                <a:latin typeface="Times New Roman" panose="02020603050405020304" pitchFamily="18" charset="0"/>
              </a:rPr>
              <a:t>11     </a:t>
            </a:r>
            <a:r>
              <a:rPr lang="zh-CN" altLang="en-US" sz="2200" b="1" dirty="0">
                <a:solidFill>
                  <a:srgbClr val="000000"/>
                </a:solidFill>
                <a:latin typeface="Times New Roman" panose="02020603050405020304" pitchFamily="18" charset="0"/>
                <a:ea typeface="楷体_GB2312" pitchFamily="49" charset="-122"/>
              </a:rPr>
              <a:t>否则</a:t>
            </a:r>
            <a:endParaRPr lang="zh-CN" altLang="en-US" sz="2200" b="1">
              <a:solidFill>
                <a:srgbClr val="000000"/>
              </a:solidFill>
              <a:latin typeface="Times New Roman" panose="02020603050405020304" pitchFamily="18" charset="0"/>
              <a:ea typeface="楷体_GB2312" pitchFamily="49" charset="-122"/>
            </a:endParaRPr>
          </a:p>
        </p:txBody>
      </p:sp>
      <p:sp>
        <p:nvSpPr>
          <p:cNvPr id="57349" name="文本框 57348"/>
          <p:cNvSpPr txBox="1"/>
          <p:nvPr/>
        </p:nvSpPr>
        <p:spPr>
          <a:xfrm>
            <a:off x="935596" y="1817204"/>
            <a:ext cx="2679451" cy="430887"/>
          </a:xfrm>
          <a:prstGeom prst="rect">
            <a:avLst/>
          </a:prstGeom>
          <a:noFill/>
          <a:ln w="12700">
            <a:noFill/>
          </a:ln>
        </p:spPr>
        <p:txBody>
          <a:bodyPr wrap="none">
            <a:spAutoFit/>
          </a:bodyPr>
          <a:lstStyle/>
          <a:p>
            <a:pPr>
              <a:spcBef>
                <a:spcPct val="50000"/>
              </a:spcBef>
            </a:pPr>
            <a:r>
              <a:rPr lang="zh-CN" altLang="zh-CN" sz="2200" b="1" dirty="0">
                <a:solidFill>
                  <a:srgbClr val="000000"/>
                </a:solidFill>
                <a:latin typeface="Times New Roman" panose="02020603050405020304" pitchFamily="18" charset="0"/>
              </a:rPr>
              <a:t>MUL指令</a:t>
            </a:r>
            <a:r>
              <a:rPr lang="en-US" altLang="zh-CN" sz="2200" b="1" dirty="0">
                <a:solidFill>
                  <a:srgbClr val="000000"/>
                </a:solidFill>
                <a:latin typeface="Times New Roman" panose="02020603050405020304" pitchFamily="18" charset="0"/>
              </a:rPr>
              <a:t>: CF, OF =</a:t>
            </a:r>
            <a:endParaRPr lang="en-US" altLang="zh-CN" sz="2200" dirty="0">
              <a:solidFill>
                <a:srgbClr val="000000"/>
              </a:solidFill>
              <a:latin typeface="Times New Roman" panose="02020603050405020304" pitchFamily="18" charset="0"/>
            </a:endParaRPr>
          </a:p>
        </p:txBody>
      </p:sp>
      <p:sp>
        <p:nvSpPr>
          <p:cNvPr id="57350" name="左大括号 57349"/>
          <p:cNvSpPr/>
          <p:nvPr/>
        </p:nvSpPr>
        <p:spPr>
          <a:xfrm>
            <a:off x="3727376" y="1664804"/>
            <a:ext cx="95250" cy="685800"/>
          </a:xfrm>
          <a:prstGeom prst="leftBrace">
            <a:avLst>
              <a:gd name="adj1" fmla="val 60000"/>
              <a:gd name="adj2" fmla="val 50000"/>
            </a:avLst>
          </a:prstGeom>
          <a:noFill/>
          <a:ln w="12700" cap="sq" cmpd="sng">
            <a:solidFill>
              <a:schemeClr val="bg2"/>
            </a:solidFill>
            <a:prstDash val="solid"/>
            <a:headEnd type="none" w="sm" len="sm"/>
            <a:tailEnd type="none" w="sm" len="sm"/>
          </a:ln>
        </p:spPr>
        <p:txBody>
          <a:bodyPr/>
          <a:lstStyle/>
          <a:p>
            <a:endParaRPr lang="zh-CN" altLang="en-US"/>
          </a:p>
        </p:txBody>
      </p:sp>
      <p:sp>
        <p:nvSpPr>
          <p:cNvPr id="57351" name="文本框 57350"/>
          <p:cNvSpPr txBox="1"/>
          <p:nvPr/>
        </p:nvSpPr>
        <p:spPr>
          <a:xfrm>
            <a:off x="3803576" y="2503004"/>
            <a:ext cx="5027612" cy="730250"/>
          </a:xfrm>
          <a:prstGeom prst="rect">
            <a:avLst/>
          </a:prstGeom>
          <a:noFill/>
          <a:ln w="12700">
            <a:noFill/>
          </a:ln>
        </p:spPr>
        <p:txBody>
          <a:bodyPr wrap="none">
            <a:spAutoFit/>
          </a:bodyPr>
          <a:lstStyle/>
          <a:p>
            <a:pPr>
              <a:lnSpc>
                <a:spcPct val="70000"/>
              </a:lnSpc>
              <a:spcBef>
                <a:spcPct val="50000"/>
              </a:spcBef>
            </a:pPr>
            <a:r>
              <a:rPr lang="en-US" altLang="zh-CN" sz="2200" b="1" dirty="0">
                <a:solidFill>
                  <a:srgbClr val="000000"/>
                </a:solidFill>
                <a:latin typeface="Times New Roman" panose="02020603050405020304" pitchFamily="18" charset="0"/>
              </a:rPr>
              <a:t>00     </a:t>
            </a:r>
            <a:r>
              <a:rPr lang="zh-CN" altLang="en-US" sz="2200" b="1" dirty="0">
                <a:solidFill>
                  <a:srgbClr val="000000"/>
                </a:solidFill>
                <a:latin typeface="Times New Roman" panose="02020603050405020304" pitchFamily="18" charset="0"/>
                <a:ea typeface="楷体_GB2312" pitchFamily="49" charset="-122"/>
              </a:rPr>
              <a:t>乘积的高一半是低一半的符号扩展</a:t>
            </a:r>
            <a:endParaRPr lang="zh-CN" altLang="en-US" sz="2200" b="1" dirty="0">
              <a:solidFill>
                <a:srgbClr val="000000"/>
              </a:solidFill>
              <a:latin typeface="Times New Roman" panose="02020603050405020304" pitchFamily="18" charset="0"/>
              <a:ea typeface="楷体_GB2312" pitchFamily="49" charset="-122"/>
            </a:endParaRPr>
          </a:p>
          <a:p>
            <a:pPr>
              <a:lnSpc>
                <a:spcPct val="70000"/>
              </a:lnSpc>
              <a:spcBef>
                <a:spcPct val="50000"/>
              </a:spcBef>
            </a:pPr>
            <a:r>
              <a:rPr lang="en-US" altLang="zh-CN" sz="2200" b="1" dirty="0">
                <a:solidFill>
                  <a:srgbClr val="000000"/>
                </a:solidFill>
                <a:latin typeface="Times New Roman" panose="02020603050405020304" pitchFamily="18" charset="0"/>
              </a:rPr>
              <a:t>11     </a:t>
            </a:r>
            <a:r>
              <a:rPr lang="zh-CN" altLang="en-US" sz="2200" b="1" dirty="0">
                <a:solidFill>
                  <a:srgbClr val="000000"/>
                </a:solidFill>
                <a:latin typeface="Times New Roman" panose="02020603050405020304" pitchFamily="18" charset="0"/>
                <a:ea typeface="楷体_GB2312" pitchFamily="49" charset="-122"/>
              </a:rPr>
              <a:t>否则</a:t>
            </a:r>
            <a:endParaRPr lang="zh-CN" altLang="en-US" sz="2200" b="1" dirty="0">
              <a:solidFill>
                <a:srgbClr val="000000"/>
              </a:solidFill>
              <a:latin typeface="Times New Roman" panose="02020603050405020304" pitchFamily="18" charset="0"/>
              <a:ea typeface="楷体_GB2312" pitchFamily="49" charset="-122"/>
            </a:endParaRPr>
          </a:p>
        </p:txBody>
      </p:sp>
      <p:sp>
        <p:nvSpPr>
          <p:cNvPr id="57352" name="文本框 57351"/>
          <p:cNvSpPr txBox="1"/>
          <p:nvPr/>
        </p:nvSpPr>
        <p:spPr>
          <a:xfrm>
            <a:off x="755576" y="2579204"/>
            <a:ext cx="2942344" cy="461665"/>
          </a:xfrm>
          <a:prstGeom prst="rect">
            <a:avLst/>
          </a:prstGeom>
          <a:noFill/>
          <a:ln w="12700">
            <a:noFill/>
          </a:ln>
        </p:spPr>
        <p:txBody>
          <a:bodyPr wrap="none">
            <a:spAutoFit/>
          </a:bodyPr>
          <a:lstStyle/>
          <a:p>
            <a:pPr>
              <a:spcBef>
                <a:spcPct val="50000"/>
              </a:spcBef>
            </a:pPr>
            <a:r>
              <a:rPr lang="en-US" altLang="zh-CN" b="1" dirty="0">
                <a:solidFill>
                  <a:srgbClr val="000000"/>
                </a:solidFill>
                <a:latin typeface="Times New Roman" panose="02020603050405020304" pitchFamily="18" charset="0"/>
              </a:rPr>
              <a:t>  </a:t>
            </a:r>
            <a:r>
              <a:rPr lang="zh-CN" altLang="zh-CN" sz="2200" b="1" dirty="0">
                <a:solidFill>
                  <a:srgbClr val="000000"/>
                </a:solidFill>
                <a:latin typeface="Times New Roman" panose="02020603050405020304" pitchFamily="18" charset="0"/>
              </a:rPr>
              <a:t>IMUL指令</a:t>
            </a:r>
            <a:r>
              <a:rPr lang="en-US" altLang="zh-CN" sz="2200" b="1" dirty="0">
                <a:solidFill>
                  <a:srgbClr val="000000"/>
                </a:solidFill>
                <a:latin typeface="Times New Roman" panose="02020603050405020304" pitchFamily="18" charset="0"/>
              </a:rPr>
              <a:t>: CF, OF =</a:t>
            </a:r>
            <a:endParaRPr lang="en-US" altLang="zh-CN" sz="2200" dirty="0">
              <a:solidFill>
                <a:srgbClr val="000000"/>
              </a:solidFill>
              <a:latin typeface="Times New Roman" panose="02020603050405020304" pitchFamily="18" charset="0"/>
            </a:endParaRPr>
          </a:p>
        </p:txBody>
      </p:sp>
      <p:sp>
        <p:nvSpPr>
          <p:cNvPr id="57353" name="左大括号 57352"/>
          <p:cNvSpPr/>
          <p:nvPr/>
        </p:nvSpPr>
        <p:spPr>
          <a:xfrm>
            <a:off x="3727376" y="2503004"/>
            <a:ext cx="95250" cy="685800"/>
          </a:xfrm>
          <a:prstGeom prst="leftBrace">
            <a:avLst>
              <a:gd name="adj1" fmla="val 60000"/>
              <a:gd name="adj2" fmla="val 50000"/>
            </a:avLst>
          </a:prstGeom>
          <a:noFill/>
          <a:ln w="12700" cap="sq" cmpd="sng">
            <a:solidFill>
              <a:schemeClr val="bg2"/>
            </a:solidFill>
            <a:prstDash val="solid"/>
            <a:headEnd type="none" w="sm" len="sm"/>
            <a:tailEnd type="none" w="sm" len="sm"/>
          </a:ln>
        </p:spPr>
        <p:txBody>
          <a:bodyPr/>
          <a:lstStyle/>
          <a:p>
            <a:endParaRPr lang="zh-CN" altLang="en-US"/>
          </a:p>
        </p:txBody>
      </p:sp>
      <p:sp>
        <p:nvSpPr>
          <p:cNvPr id="57354" name="文本框 57353"/>
          <p:cNvSpPr txBox="1"/>
          <p:nvPr/>
        </p:nvSpPr>
        <p:spPr>
          <a:xfrm>
            <a:off x="6773788" y="3188804"/>
            <a:ext cx="1828800" cy="1004888"/>
          </a:xfrm>
          <a:prstGeom prst="rect">
            <a:avLst/>
          </a:prstGeom>
          <a:noFill/>
          <a:ln w="12700">
            <a:noFill/>
          </a:ln>
        </p:spPr>
        <p:txBody>
          <a:bodyPr>
            <a:spAutoFit/>
          </a:bodyPr>
          <a:lstStyle/>
          <a:p>
            <a:pPr>
              <a:spcBef>
                <a:spcPct val="50000"/>
              </a:spcBef>
            </a:pPr>
            <a:r>
              <a:rPr lang="en-US" altLang="zh-CN">
                <a:solidFill>
                  <a:srgbClr val="000000"/>
                </a:solidFill>
                <a:latin typeface="Times New Roman" panose="02020603050405020304" pitchFamily="18" charset="0"/>
              </a:rPr>
              <a:t>1010 0101</a:t>
            </a:r>
            <a:endParaRPr lang="en-US" altLang="zh-CN">
              <a:solidFill>
                <a:srgbClr val="000000"/>
              </a:solidFill>
              <a:latin typeface="Times New Roman" panose="02020603050405020304" pitchFamily="18" charset="0"/>
            </a:endParaRPr>
          </a:p>
          <a:p>
            <a:pPr>
              <a:spcBef>
                <a:spcPct val="50000"/>
              </a:spcBef>
            </a:pPr>
            <a:r>
              <a:rPr lang="en-US" altLang="zh-CN">
                <a:solidFill>
                  <a:srgbClr val="000000"/>
                </a:solidFill>
                <a:latin typeface="Times New Roman" panose="02020603050405020304" pitchFamily="18" charset="0"/>
              </a:rPr>
              <a:t>0101 1011</a:t>
            </a:r>
            <a:endParaRPr lang="en-US" altLang="zh-CN">
              <a:solidFill>
                <a:srgbClr val="000000"/>
              </a:solidFill>
              <a:latin typeface="Times New Roman" panose="02020603050405020304" pitchFamily="18" charset="0"/>
            </a:endParaRPr>
          </a:p>
        </p:txBody>
      </p:sp>
      <p:sp>
        <p:nvSpPr>
          <p:cNvPr id="57355" name="椭圆 57354"/>
          <p:cNvSpPr/>
          <p:nvPr/>
        </p:nvSpPr>
        <p:spPr>
          <a:xfrm>
            <a:off x="6545188" y="3003848"/>
            <a:ext cx="1828800" cy="1371600"/>
          </a:xfrm>
          <a:prstGeom prst="ellipse">
            <a:avLst/>
          </a:prstGeom>
          <a:noFill/>
          <a:ln w="12700" cap="sq" cmpd="sng">
            <a:solidFill>
              <a:schemeClr val="bg2"/>
            </a:solidFill>
            <a:prstDash val="solid"/>
            <a:headEnd type="none" w="sm" len="sm"/>
            <a:tailEnd type="none" w="sm" len="sm"/>
          </a:ln>
        </p:spPr>
        <p:txBody>
          <a:bodyPr/>
          <a:lstStyle/>
          <a:p>
            <a:endParaRPr lang="zh-CN" altLang="en-US"/>
          </a:p>
        </p:txBody>
      </p:sp>
      <p:sp>
        <p:nvSpPr>
          <p:cNvPr id="1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文本框 58369"/>
          <p:cNvSpPr txBox="1"/>
          <p:nvPr/>
        </p:nvSpPr>
        <p:spPr>
          <a:xfrm>
            <a:off x="452120" y="1040534"/>
            <a:ext cx="8440360" cy="5016758"/>
          </a:xfrm>
          <a:prstGeom prst="rect">
            <a:avLst/>
          </a:prstGeom>
          <a:noFill/>
          <a:ln w="9525">
            <a:noFill/>
          </a:ln>
        </p:spPr>
        <p:txBody>
          <a:bodyPr wrap="square">
            <a:spAutoFit/>
          </a:bodyPr>
          <a:lstStyle/>
          <a:p>
            <a:pPr algn="just" eaLnBrk="0" hangingPunct="0"/>
            <a:r>
              <a:rPr lang="en-US" altLang="zh-CN" b="1" dirty="0">
                <a:solidFill>
                  <a:srgbClr val="000000"/>
                </a:solidFill>
                <a:latin typeface="Times New Roman" panose="02020603050405020304" pitchFamily="18" charset="0"/>
                <a:sym typeface="Symbol" panose="05050102010706020507" pitchFamily="18" charset="2"/>
              </a:rPr>
              <a:t>   </a:t>
            </a:r>
            <a:r>
              <a:rPr lang="zh-CN" altLang="en-US" sz="2000" b="0" dirty="0">
                <a:solidFill>
                  <a:srgbClr val="000000"/>
                </a:solidFill>
                <a:latin typeface="Times New Roman" panose="02020603050405020304" pitchFamily="18" charset="0"/>
              </a:rPr>
              <a:t>除法指令</a:t>
            </a:r>
            <a:endParaRPr lang="zh-CN" altLang="en-US" sz="2000" b="0" dirty="0">
              <a:solidFill>
                <a:srgbClr val="000000"/>
              </a:solidFill>
              <a:latin typeface="Times New Roman" panose="02020603050405020304" pitchFamily="18" charset="0"/>
            </a:endParaRPr>
          </a:p>
          <a:p>
            <a:pPr algn="just" eaLnBrk="0" hangingPunct="0"/>
            <a:r>
              <a:rPr lang="zh-CN" altLang="en-US" sz="2000" b="0" dirty="0">
                <a:solidFill>
                  <a:srgbClr val="000000"/>
                </a:solidFill>
                <a:latin typeface="Times New Roman" panose="02020603050405020304" pitchFamily="18" charset="0"/>
                <a:sym typeface="Webdings" panose="05030102010509060703" pitchFamily="18" charset="2"/>
              </a:rPr>
              <a:t>     </a:t>
            </a:r>
            <a:r>
              <a:rPr lang="zh-CN" altLang="en-US" sz="2000" b="0" dirty="0">
                <a:solidFill>
                  <a:srgbClr val="000000"/>
                </a:solidFill>
                <a:latin typeface="Times New Roman" panose="02020603050405020304" pitchFamily="18" charset="0"/>
              </a:rPr>
              <a:t>无符号数除法指令：   </a:t>
            </a:r>
            <a:r>
              <a:rPr lang="en-US" altLang="zh-CN" sz="2000" b="0" dirty="0">
                <a:solidFill>
                  <a:srgbClr val="000000"/>
                </a:solidFill>
                <a:latin typeface="Times New Roman" panose="02020603050405020304" pitchFamily="18" charset="0"/>
              </a:rPr>
              <a:t>DIV  SRC</a:t>
            </a:r>
            <a:endParaRPr lang="en-US" altLang="zh-CN" sz="2000" b="0" dirty="0">
              <a:solidFill>
                <a:srgbClr val="000000"/>
              </a:solidFill>
              <a:latin typeface="Times New Roman" panose="02020603050405020304" pitchFamily="18" charset="0"/>
            </a:endParaRPr>
          </a:p>
          <a:p>
            <a:pPr algn="just" eaLnBrk="0" hangingPunct="0">
              <a:spcAft>
                <a:spcPct val="30000"/>
              </a:spcAft>
            </a:pPr>
            <a:r>
              <a:rPr lang="en-US" altLang="zh-CN" sz="2000" b="0" dirty="0">
                <a:solidFill>
                  <a:srgbClr val="000000"/>
                </a:solidFill>
                <a:latin typeface="Times New Roman" panose="02020603050405020304" pitchFamily="18" charset="0"/>
              </a:rPr>
              <a:t>     </a:t>
            </a:r>
            <a:r>
              <a:rPr lang="zh-CN" altLang="en-US" sz="2000" b="0" dirty="0">
                <a:solidFill>
                  <a:srgbClr val="000000"/>
                </a:solidFill>
                <a:latin typeface="Times New Roman" panose="02020603050405020304" pitchFamily="18" charset="0"/>
              </a:rPr>
              <a:t>带符号数除法指令：   </a:t>
            </a:r>
            <a:r>
              <a:rPr lang="en-US" altLang="zh-CN" sz="2000" b="0" dirty="0">
                <a:solidFill>
                  <a:srgbClr val="000000"/>
                </a:solidFill>
                <a:latin typeface="Times New Roman" panose="02020603050405020304" pitchFamily="18" charset="0"/>
              </a:rPr>
              <a:t>IDIV  SRC  (</a:t>
            </a:r>
            <a:r>
              <a:rPr lang="zh-CN" altLang="en-US" sz="2000" b="0" dirty="0">
                <a:solidFill>
                  <a:srgbClr val="FF0000"/>
                </a:solidFill>
                <a:latin typeface="Times New Roman" panose="02020603050405020304" pitchFamily="18" charset="0"/>
              </a:rPr>
              <a:t>余数的符号和被除数相同</a:t>
            </a:r>
            <a:r>
              <a:rPr lang="en-US" altLang="zh-CN" sz="2000" b="0" dirty="0">
                <a:solidFill>
                  <a:srgbClr val="000000"/>
                </a:solidFill>
                <a:latin typeface="Times New Roman" panose="02020603050405020304" pitchFamily="18" charset="0"/>
              </a:rPr>
              <a:t>)</a:t>
            </a:r>
            <a:endParaRPr lang="en-US" altLang="zh-CN" sz="2000" b="0" dirty="0">
              <a:solidFill>
                <a:srgbClr val="000000"/>
              </a:solidFill>
              <a:latin typeface="Times New Roman" panose="02020603050405020304" pitchFamily="18" charset="0"/>
            </a:endParaRPr>
          </a:p>
          <a:p>
            <a:pPr algn="just" eaLnBrk="0" hangingPunct="0"/>
            <a:r>
              <a:rPr lang="en-US" altLang="zh-CN" sz="2000" b="0" dirty="0">
                <a:solidFill>
                  <a:srgbClr val="000000"/>
                </a:solidFill>
                <a:latin typeface="Times New Roman" panose="02020603050405020304" pitchFamily="18" charset="0"/>
              </a:rPr>
              <a:t>     </a:t>
            </a:r>
            <a:r>
              <a:rPr lang="zh-CN" altLang="en-US" sz="2000" b="0" dirty="0">
                <a:solidFill>
                  <a:srgbClr val="000000"/>
                </a:solidFill>
                <a:latin typeface="Times New Roman" panose="02020603050405020304" pitchFamily="18" charset="0"/>
              </a:rPr>
              <a:t>执行操作： </a:t>
            </a:r>
            <a:endParaRPr lang="zh-CN" altLang="en-US" sz="2000" b="0" dirty="0">
              <a:solidFill>
                <a:srgbClr val="000000"/>
              </a:solidFill>
              <a:latin typeface="Times New Roman" panose="02020603050405020304" pitchFamily="18" charset="0"/>
            </a:endParaRPr>
          </a:p>
          <a:p>
            <a:pPr algn="just" eaLnBrk="0" hangingPunct="0">
              <a:lnSpc>
                <a:spcPct val="110000"/>
              </a:lnSpc>
            </a:pPr>
            <a:r>
              <a:rPr lang="zh-CN" altLang="en-US" sz="2000" b="0" dirty="0">
                <a:solidFill>
                  <a:srgbClr val="000000"/>
                </a:solidFill>
                <a:latin typeface="Times New Roman" panose="02020603050405020304" pitchFamily="18" charset="0"/>
              </a:rPr>
              <a:t>                    字节操作  </a:t>
            </a:r>
            <a:r>
              <a:rPr lang="en-US" altLang="zh-CN" sz="2000" b="0" dirty="0">
                <a:solidFill>
                  <a:srgbClr val="000000"/>
                </a:solidFill>
                <a:latin typeface="Times New Roman" panose="02020603050405020304" pitchFamily="18" charset="0"/>
              </a:rPr>
              <a:t>(AL) </a:t>
            </a:r>
            <a:r>
              <a:rPr lang="en-US" altLang="zh-CN" sz="2000" b="0" dirty="0">
                <a:solidFill>
                  <a:srgbClr val="000000"/>
                </a:solidFill>
                <a:latin typeface="Times New Roman" panose="02020603050405020304" pitchFamily="18" charset="0"/>
                <a:sym typeface="Symbol" panose="05050102010706020507" pitchFamily="18" charset="2"/>
              </a:rPr>
              <a:t></a:t>
            </a:r>
            <a:r>
              <a:rPr lang="en-US" altLang="zh-CN" sz="2000" b="0" dirty="0">
                <a:solidFill>
                  <a:srgbClr val="000000"/>
                </a:solidFill>
                <a:latin typeface="Times New Roman" panose="02020603050405020304" pitchFamily="18" charset="0"/>
              </a:rPr>
              <a:t> (AX) / (SRC) </a:t>
            </a:r>
            <a:r>
              <a:rPr lang="zh-CN" altLang="en-US" sz="2000" b="0" dirty="0">
                <a:solidFill>
                  <a:srgbClr val="000000"/>
                </a:solidFill>
                <a:latin typeface="Times New Roman" panose="02020603050405020304" pitchFamily="18" charset="0"/>
              </a:rPr>
              <a:t>的商</a:t>
            </a:r>
            <a:endParaRPr lang="zh-CN" altLang="en-US" sz="2000" b="0" dirty="0">
              <a:solidFill>
                <a:srgbClr val="000000"/>
              </a:solidFill>
              <a:latin typeface="Times New Roman" panose="02020603050405020304" pitchFamily="18" charset="0"/>
            </a:endParaRPr>
          </a:p>
          <a:p>
            <a:pPr algn="just" eaLnBrk="0" hangingPunct="0">
              <a:lnSpc>
                <a:spcPct val="110000"/>
              </a:lnSpc>
            </a:pPr>
            <a:r>
              <a:rPr lang="zh-CN" altLang="en-US" sz="2000" b="0" dirty="0">
                <a:solidFill>
                  <a:srgbClr val="000000"/>
                </a:solidFill>
                <a:latin typeface="Times New Roman" panose="02020603050405020304" pitchFamily="18" charset="0"/>
              </a:rPr>
              <a:t>                                      </a:t>
            </a:r>
            <a:r>
              <a:rPr lang="en-US" altLang="zh-CN" sz="2000" b="0" dirty="0">
                <a:solidFill>
                  <a:srgbClr val="000000"/>
                </a:solidFill>
                <a:latin typeface="Times New Roman" panose="02020603050405020304" pitchFamily="18" charset="0"/>
              </a:rPr>
              <a:t>(AH) </a:t>
            </a:r>
            <a:r>
              <a:rPr lang="en-US" altLang="zh-CN" sz="2000" b="0" dirty="0">
                <a:solidFill>
                  <a:srgbClr val="000000"/>
                </a:solidFill>
                <a:latin typeface="Times New Roman" panose="02020603050405020304" pitchFamily="18" charset="0"/>
                <a:sym typeface="Symbol" panose="05050102010706020507" pitchFamily="18" charset="2"/>
              </a:rPr>
              <a:t></a:t>
            </a:r>
            <a:r>
              <a:rPr lang="en-US" altLang="zh-CN" sz="2000" b="0" dirty="0">
                <a:solidFill>
                  <a:srgbClr val="000000"/>
                </a:solidFill>
                <a:latin typeface="Times New Roman" panose="02020603050405020304" pitchFamily="18" charset="0"/>
              </a:rPr>
              <a:t> (AX) / (SRC) </a:t>
            </a:r>
            <a:r>
              <a:rPr lang="zh-CN" altLang="en-US" sz="2000" b="0" dirty="0">
                <a:solidFill>
                  <a:srgbClr val="000000"/>
                </a:solidFill>
                <a:latin typeface="Times New Roman" panose="02020603050405020304" pitchFamily="18" charset="0"/>
              </a:rPr>
              <a:t>的余数</a:t>
            </a:r>
            <a:endParaRPr lang="zh-CN" altLang="en-US" sz="2000" b="0" dirty="0">
              <a:solidFill>
                <a:srgbClr val="000000"/>
              </a:solidFill>
              <a:latin typeface="Times New Roman" panose="02020603050405020304" pitchFamily="18" charset="0"/>
            </a:endParaRPr>
          </a:p>
          <a:p>
            <a:pPr algn="just" eaLnBrk="0" hangingPunct="0">
              <a:lnSpc>
                <a:spcPct val="110000"/>
              </a:lnSpc>
            </a:pPr>
            <a:endParaRPr lang="zh-CN" altLang="en-US" sz="2000" b="0" dirty="0">
              <a:solidFill>
                <a:srgbClr val="000000"/>
              </a:solidFill>
              <a:latin typeface="Times New Roman" panose="02020603050405020304" pitchFamily="18" charset="0"/>
            </a:endParaRPr>
          </a:p>
          <a:p>
            <a:pPr algn="just" eaLnBrk="0" hangingPunct="0">
              <a:lnSpc>
                <a:spcPct val="110000"/>
              </a:lnSpc>
            </a:pPr>
            <a:r>
              <a:rPr lang="zh-CN" altLang="en-US" sz="2000" b="0" dirty="0">
                <a:solidFill>
                  <a:srgbClr val="000000"/>
                </a:solidFill>
                <a:latin typeface="Times New Roman" panose="02020603050405020304" pitchFamily="18" charset="0"/>
              </a:rPr>
              <a:t>                    字操作      </a:t>
            </a:r>
            <a:r>
              <a:rPr lang="en-US" altLang="zh-CN" sz="2000" b="0" dirty="0">
                <a:solidFill>
                  <a:srgbClr val="000000"/>
                </a:solidFill>
                <a:latin typeface="Times New Roman" panose="02020603050405020304" pitchFamily="18" charset="0"/>
              </a:rPr>
              <a:t>(AX) </a:t>
            </a:r>
            <a:r>
              <a:rPr lang="en-US" altLang="zh-CN" sz="2000" b="0" dirty="0">
                <a:solidFill>
                  <a:srgbClr val="000000"/>
                </a:solidFill>
                <a:latin typeface="Times New Roman" panose="02020603050405020304" pitchFamily="18" charset="0"/>
                <a:sym typeface="Symbol" panose="05050102010706020507" pitchFamily="18" charset="2"/>
              </a:rPr>
              <a:t></a:t>
            </a:r>
            <a:r>
              <a:rPr lang="en-US" altLang="zh-CN" sz="2000" b="0" dirty="0">
                <a:solidFill>
                  <a:srgbClr val="000000"/>
                </a:solidFill>
                <a:latin typeface="Times New Roman" panose="02020603050405020304" pitchFamily="18" charset="0"/>
              </a:rPr>
              <a:t> (DX, AX) / (SRC) </a:t>
            </a:r>
            <a:r>
              <a:rPr lang="zh-CN" altLang="en-US" sz="2000" b="0" dirty="0">
                <a:solidFill>
                  <a:srgbClr val="000000"/>
                </a:solidFill>
                <a:latin typeface="Times New Roman" panose="02020603050405020304" pitchFamily="18" charset="0"/>
              </a:rPr>
              <a:t>的商</a:t>
            </a:r>
            <a:endParaRPr lang="zh-CN" altLang="en-US" sz="2000" b="0" dirty="0">
              <a:solidFill>
                <a:srgbClr val="000000"/>
              </a:solidFill>
              <a:latin typeface="Times New Roman" panose="02020603050405020304" pitchFamily="18" charset="0"/>
            </a:endParaRPr>
          </a:p>
          <a:p>
            <a:pPr algn="just" eaLnBrk="0" hangingPunct="0">
              <a:lnSpc>
                <a:spcPct val="110000"/>
              </a:lnSpc>
            </a:pPr>
            <a:r>
              <a:rPr lang="zh-CN" altLang="en-US" sz="2000" b="0" dirty="0">
                <a:solidFill>
                  <a:srgbClr val="000000"/>
                </a:solidFill>
                <a:latin typeface="Times New Roman" panose="02020603050405020304" pitchFamily="18" charset="0"/>
              </a:rPr>
              <a:t>                                      </a:t>
            </a:r>
            <a:r>
              <a:rPr lang="en-US" altLang="zh-CN" sz="2000" b="0" dirty="0">
                <a:solidFill>
                  <a:srgbClr val="000000"/>
                </a:solidFill>
                <a:latin typeface="Times New Roman" panose="02020603050405020304" pitchFamily="18" charset="0"/>
              </a:rPr>
              <a:t>(DX) </a:t>
            </a:r>
            <a:r>
              <a:rPr lang="en-US" altLang="zh-CN" sz="2000" b="0" dirty="0">
                <a:solidFill>
                  <a:srgbClr val="000000"/>
                </a:solidFill>
                <a:latin typeface="Times New Roman" panose="02020603050405020304" pitchFamily="18" charset="0"/>
                <a:sym typeface="Symbol" panose="05050102010706020507" pitchFamily="18" charset="2"/>
              </a:rPr>
              <a:t></a:t>
            </a:r>
            <a:r>
              <a:rPr lang="en-US" altLang="zh-CN" sz="2000" b="0" dirty="0">
                <a:solidFill>
                  <a:srgbClr val="000000"/>
                </a:solidFill>
                <a:latin typeface="Times New Roman" panose="02020603050405020304" pitchFamily="18" charset="0"/>
              </a:rPr>
              <a:t> (DX, AX) / (SRC) </a:t>
            </a:r>
            <a:r>
              <a:rPr lang="zh-CN" altLang="en-US" sz="2000" b="0" dirty="0">
                <a:solidFill>
                  <a:srgbClr val="000000"/>
                </a:solidFill>
                <a:latin typeface="Times New Roman" panose="02020603050405020304" pitchFamily="18" charset="0"/>
              </a:rPr>
              <a:t>的余数</a:t>
            </a:r>
            <a:endParaRPr lang="zh-CN" altLang="en-US" sz="2000" b="0" dirty="0">
              <a:solidFill>
                <a:srgbClr val="000000"/>
              </a:solidFill>
              <a:latin typeface="Times New Roman" panose="02020603050405020304" pitchFamily="18" charset="0"/>
            </a:endParaRPr>
          </a:p>
          <a:p>
            <a:pPr algn="just" eaLnBrk="0" hangingPunct="0"/>
            <a:endParaRPr lang="zh-CN" altLang="en-US" sz="2000" b="0" dirty="0">
              <a:solidFill>
                <a:srgbClr val="000000"/>
              </a:solidFill>
              <a:latin typeface="Times New Roman" panose="02020603050405020304" pitchFamily="18" charset="0"/>
            </a:endParaRPr>
          </a:p>
          <a:p>
            <a:pPr lvl="1" eaLnBrk="0" hangingPunct="0"/>
            <a:r>
              <a:rPr lang="zh-CN" altLang="en-US" sz="2000" b="0" dirty="0">
                <a:solidFill>
                  <a:srgbClr val="000000"/>
                </a:solidFill>
                <a:latin typeface="Times New Roman" panose="02020603050405020304" pitchFamily="18" charset="0"/>
                <a:ea typeface="楷体_GB2312" pitchFamily="49" charset="-122"/>
              </a:rPr>
              <a:t>注意</a:t>
            </a:r>
            <a:r>
              <a:rPr lang="en-US" altLang="zh-CN" sz="2000" b="0" dirty="0">
                <a:solidFill>
                  <a:srgbClr val="000000"/>
                </a:solidFill>
                <a:latin typeface="Times New Roman" panose="02020603050405020304" pitchFamily="18" charset="0"/>
                <a:ea typeface="楷体_GB2312" pitchFamily="49" charset="-122"/>
              </a:rPr>
              <a:t>:   </a:t>
            </a:r>
            <a:r>
              <a:rPr lang="en-US"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 *  AX (DX, AX) </a:t>
            </a: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为隐含的被除数寄存器。</a:t>
            </a:r>
            <a:endPar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endParaRPr>
          </a:p>
          <a:p>
            <a:pPr lvl="1" eaLnBrk="0" hangingPunct="0"/>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  AL (AX) </a:t>
            </a: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为隐含的商寄存器。</a:t>
            </a:r>
            <a:endPar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endParaRPr>
          </a:p>
          <a:p>
            <a:pPr lvl="1" eaLnBrk="0" hangingPunct="0"/>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  AH (DX) </a:t>
            </a: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为隐含的余数寄存器。</a:t>
            </a:r>
            <a:endPar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endParaRPr>
          </a:p>
          <a:p>
            <a:pPr lvl="1" eaLnBrk="0" hangingPunct="0"/>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  SRC</a:t>
            </a:r>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不能为立即数。</a:t>
            </a:r>
            <a:endPar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endParaRPr>
          </a:p>
          <a:p>
            <a:pPr lvl="1" eaLnBrk="0" hangingPunct="0"/>
            <a:r>
              <a:rPr lang="zh-CN" altLang="en-US" sz="2000" b="0" dirty="0">
                <a:solidFill>
                  <a:srgbClr val="000000"/>
                </a:solidFill>
                <a:latin typeface="Times New Roman" panose="02020603050405020304" pitchFamily="18" charset="0"/>
                <a:ea typeface="楷体_GB2312" pitchFamily="49" charset="-122"/>
                <a:sym typeface="Symbol" panose="05050102010706020507" pitchFamily="18" charset="2"/>
              </a:rPr>
              <a:t>             </a:t>
            </a:r>
            <a:r>
              <a:rPr lang="en-US"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  </a:t>
            </a:r>
            <a:r>
              <a:rPr lang="zh-CN" altLang="zh-CN" sz="2000" b="0" dirty="0">
                <a:solidFill>
                  <a:srgbClr val="000000"/>
                </a:solidFill>
                <a:latin typeface="Times New Roman" panose="02020603050405020304" pitchFamily="18" charset="0"/>
                <a:ea typeface="楷体_GB2312" pitchFamily="49" charset="-122"/>
                <a:sym typeface="Symbol" panose="05050102010706020507" pitchFamily="18" charset="2"/>
              </a:rPr>
              <a:t>对所有条件标志位均无定义。</a:t>
            </a:r>
            <a:endParaRPr lang="en-US" altLang="zh-CN" sz="2000" b="0" u="sng" dirty="0">
              <a:solidFill>
                <a:srgbClr val="000000"/>
              </a:solidFill>
              <a:ea typeface="楷体_GB2312" pitchFamily="49" charset="-122"/>
              <a:sym typeface="Symbol" panose="05050102010706020507" pitchFamily="18" charset="2"/>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452120" y="1040534"/>
            <a:ext cx="5704056" cy="1384995"/>
          </a:xfrm>
          <a:prstGeom prst="rect">
            <a:avLst/>
          </a:prstGeom>
          <a:noFill/>
          <a:ln w="9525">
            <a:noFill/>
          </a:ln>
        </p:spPr>
        <p:txBody>
          <a:bodyPr wrap="square">
            <a:spAutoFit/>
          </a:bodyPr>
          <a:lstStyle/>
          <a:p>
            <a:pPr algn="just" eaLnBrk="0" hangingPunct="0"/>
            <a:r>
              <a:rPr lang="en-US" altLang="zh-CN" b="1" dirty="0">
                <a:solidFill>
                  <a:srgbClr val="000000"/>
                </a:solidFill>
                <a:latin typeface="Times New Roman" panose="02020603050405020304" pitchFamily="18" charset="0"/>
                <a:sym typeface="Symbol" panose="05050102010706020507" pitchFamily="18" charset="2"/>
              </a:rPr>
              <a:t>   </a:t>
            </a:r>
            <a:r>
              <a:rPr lang="zh-CN" altLang="en-US" b="1" dirty="0">
                <a:solidFill>
                  <a:srgbClr val="000000"/>
                </a:solidFill>
                <a:latin typeface="Times New Roman" panose="02020603050405020304" pitchFamily="18" charset="0"/>
                <a:sym typeface="Symbol" panose="05050102010706020507" pitchFamily="18" charset="2"/>
              </a:rPr>
              <a:t>思考：</a:t>
            </a:r>
            <a:endParaRPr lang="en-US" altLang="zh-CN" b="1" dirty="0">
              <a:solidFill>
                <a:srgbClr val="000000"/>
              </a:solidFill>
              <a:latin typeface="Times New Roman" panose="02020603050405020304" pitchFamily="18" charset="0"/>
              <a:sym typeface="Symbol" panose="05050102010706020507" pitchFamily="18" charset="2"/>
            </a:endParaRPr>
          </a:p>
          <a:p>
            <a:pPr lvl="1" algn="just" eaLnBrk="0" hangingPunct="0"/>
            <a:r>
              <a:rPr lang="en-US" altLang="zh-CN" sz="2000" dirty="0">
                <a:solidFill>
                  <a:srgbClr val="000000"/>
                </a:solidFill>
                <a:sym typeface="Symbol" panose="05050102010706020507" pitchFamily="18" charset="2"/>
              </a:rPr>
              <a:t>MOV  AX,</a:t>
            </a:r>
            <a:r>
              <a:rPr lang="zh-CN" altLang="en-US" sz="2000" dirty="0">
                <a:solidFill>
                  <a:srgbClr val="000000"/>
                </a:solidFill>
                <a:sym typeface="Symbol" panose="05050102010706020507" pitchFamily="18" charset="2"/>
              </a:rPr>
              <a:t> </a:t>
            </a:r>
            <a:r>
              <a:rPr lang="en-US" altLang="zh-CN" sz="2000" dirty="0">
                <a:solidFill>
                  <a:srgbClr val="000000"/>
                </a:solidFill>
                <a:sym typeface="Symbol" panose="05050102010706020507" pitchFamily="18" charset="2"/>
              </a:rPr>
              <a:t>2EE0H	;12000</a:t>
            </a:r>
            <a:endParaRPr lang="en-US" altLang="zh-CN" sz="2000" dirty="0">
              <a:solidFill>
                <a:srgbClr val="000000"/>
              </a:solidFill>
              <a:sym typeface="Symbol" panose="05050102010706020507" pitchFamily="18" charset="2"/>
            </a:endParaRPr>
          </a:p>
          <a:p>
            <a:pPr lvl="1" algn="just" eaLnBrk="0" hangingPunct="0"/>
            <a:r>
              <a:rPr lang="en-US" altLang="zh-CN" sz="2000" dirty="0">
                <a:solidFill>
                  <a:srgbClr val="000000"/>
                </a:solidFill>
                <a:sym typeface="Symbol" panose="05050102010706020507" pitchFamily="18" charset="2"/>
              </a:rPr>
              <a:t>MOV  BL, 8</a:t>
            </a:r>
            <a:endParaRPr lang="en-US" altLang="zh-CN" sz="2000" dirty="0">
              <a:solidFill>
                <a:srgbClr val="000000"/>
              </a:solidFill>
              <a:sym typeface="Symbol" panose="05050102010706020507" pitchFamily="18" charset="2"/>
            </a:endParaRPr>
          </a:p>
          <a:p>
            <a:pPr lvl="1" algn="just" eaLnBrk="0" hangingPunct="0"/>
            <a:r>
              <a:rPr lang="en-US" altLang="zh-CN" sz="2000" dirty="0">
                <a:solidFill>
                  <a:srgbClr val="000000"/>
                </a:solidFill>
                <a:sym typeface="Symbol" panose="05050102010706020507" pitchFamily="18" charset="2"/>
              </a:rPr>
              <a:t>DIV    BL</a:t>
            </a:r>
            <a:endParaRPr lang="zh-CN" altLang="en-US" sz="2000" b="0" dirty="0">
              <a:solidFill>
                <a:srgbClr val="000000"/>
              </a:solidFill>
              <a:latin typeface="Times New Roman" panose="02020603050405020304" pitchFamily="18" charset="0"/>
            </a:endParaRPr>
          </a:p>
        </p:txBody>
      </p:sp>
      <p:sp>
        <p:nvSpPr>
          <p:cNvPr id="4" name="文本框 3"/>
          <p:cNvSpPr txBox="1"/>
          <p:nvPr/>
        </p:nvSpPr>
        <p:spPr>
          <a:xfrm>
            <a:off x="971600" y="2708920"/>
            <a:ext cx="2066591" cy="1200329"/>
          </a:xfrm>
          <a:prstGeom prst="rect">
            <a:avLst/>
          </a:prstGeom>
          <a:noFill/>
        </p:spPr>
        <p:txBody>
          <a:bodyPr wrap="none" rtlCol="0">
            <a:spAutoFit/>
          </a:bodyPr>
          <a:lstStyle/>
          <a:p>
            <a:r>
              <a:rPr lang="zh-CN" altLang="en-US" dirty="0"/>
              <a:t>计算结果：</a:t>
            </a:r>
            <a:endParaRPr lang="en-US" altLang="zh-CN" dirty="0"/>
          </a:p>
          <a:p>
            <a:r>
              <a:rPr lang="zh-CN" altLang="en-US" dirty="0"/>
              <a:t>商</a:t>
            </a:r>
            <a:r>
              <a:rPr lang="en-US" altLang="zh-CN" dirty="0"/>
              <a:t>: 1500=&gt;AL</a:t>
            </a:r>
            <a:endParaRPr lang="en-US" altLang="zh-CN" dirty="0"/>
          </a:p>
          <a:p>
            <a:r>
              <a:rPr lang="zh-CN" altLang="en-US" dirty="0"/>
              <a:t>余数</a:t>
            </a:r>
            <a:r>
              <a:rPr lang="en-US" altLang="zh-CN" dirty="0"/>
              <a:t>: 0=&gt;AH</a:t>
            </a:r>
            <a:endParaRPr lang="zh-CN" altLang="en-US" dirty="0"/>
          </a:p>
        </p:txBody>
      </p:sp>
      <p:sp>
        <p:nvSpPr>
          <p:cNvPr id="5" name="矩形 4"/>
          <p:cNvSpPr/>
          <p:nvPr/>
        </p:nvSpPr>
        <p:spPr>
          <a:xfrm>
            <a:off x="3314876" y="2967335"/>
            <a:ext cx="492443" cy="923330"/>
          </a:xfrm>
          <a:prstGeom prst="rect">
            <a:avLst/>
          </a:prstGeom>
          <a:noFill/>
        </p:spPr>
        <p:txBody>
          <a:bodyPr wrap="none" lIns="91440" tIns="45720" rIns="91440" bIns="45720">
            <a:spAutoFit/>
          </a:bodyPr>
          <a:lstStyle/>
          <a:p>
            <a:pPr algn="ctr"/>
            <a:r>
              <a:rPr lang="en-US" altLang="zh-CN" sz="5400" b="0" cap="none" spc="0" dirty="0">
                <a:ln w="0"/>
                <a:solidFill>
                  <a:srgbClr val="FF0000"/>
                </a:solidFill>
                <a:effectLst>
                  <a:outerShdw blurRad="38100" dist="25400" dir="5400000" algn="ctr" rotWithShape="0">
                    <a:srgbClr val="6E747A">
                      <a:alpha val="43000"/>
                    </a:srgbClr>
                  </a:outerShdw>
                </a:effectLst>
              </a:rPr>
              <a:t>?</a:t>
            </a:r>
            <a:endParaRPr lang="zh-CN" altLang="en-US" sz="5400" b="0" cap="none" spc="0" dirty="0">
              <a:ln w="0"/>
              <a:solidFill>
                <a:srgbClr val="FF0000"/>
              </a:solidFill>
              <a:effectLst>
                <a:outerShdw blurRad="38100" dist="25400" dir="5400000" algn="ctr" rotWithShape="0">
                  <a:srgbClr val="6E747A">
                    <a:alpha val="43000"/>
                  </a:srgbClr>
                </a:outerShdw>
              </a:effectLst>
            </a:endParaRPr>
          </a:p>
        </p:txBody>
      </p:sp>
      <p:sp>
        <p:nvSpPr>
          <p:cNvPr id="6" name="文本框 5"/>
          <p:cNvSpPr txBox="1"/>
          <p:nvPr/>
        </p:nvSpPr>
        <p:spPr>
          <a:xfrm>
            <a:off x="4283968" y="2524254"/>
            <a:ext cx="4608512" cy="1569660"/>
          </a:xfrm>
          <a:prstGeom prst="rect">
            <a:avLst/>
          </a:prstGeom>
          <a:noFill/>
        </p:spPr>
        <p:txBody>
          <a:bodyPr wrap="square" rtlCol="0">
            <a:spAutoFit/>
          </a:bodyPr>
          <a:lstStyle/>
          <a:p>
            <a:r>
              <a:rPr lang="zh-CN" altLang="en-US" dirty="0"/>
              <a:t>问题：</a:t>
            </a:r>
            <a:endParaRPr lang="en-US" altLang="zh-CN" dirty="0"/>
          </a:p>
          <a:p>
            <a:pPr algn="just"/>
            <a:r>
              <a:rPr lang="zh-CN" altLang="en-US" dirty="0">
                <a:solidFill>
                  <a:srgbClr val="FF0000"/>
                </a:solidFill>
              </a:rPr>
              <a:t>只要字节除法操作</a:t>
            </a:r>
            <a:r>
              <a:rPr lang="en-US" altLang="zh-CN" dirty="0">
                <a:solidFill>
                  <a:srgbClr val="FF0000"/>
                </a:solidFill>
              </a:rPr>
              <a:t>AH</a:t>
            </a:r>
            <a:r>
              <a:rPr lang="zh-CN" altLang="en-US" dirty="0">
                <a:solidFill>
                  <a:srgbClr val="FF0000"/>
                </a:solidFill>
              </a:rPr>
              <a:t>大于等于除数、或者字除法操作</a:t>
            </a:r>
            <a:r>
              <a:rPr lang="en-US" altLang="zh-CN" dirty="0">
                <a:solidFill>
                  <a:srgbClr val="FF0000"/>
                </a:solidFill>
              </a:rPr>
              <a:t>DX</a:t>
            </a:r>
            <a:r>
              <a:rPr lang="zh-CN" altLang="en-US" dirty="0">
                <a:solidFill>
                  <a:srgbClr val="FF0000"/>
                </a:solidFill>
              </a:rPr>
              <a:t>大于等于除数，都会发生除法溢出！</a:t>
            </a:r>
            <a:endParaRPr lang="en-US" altLang="zh-CN" dirty="0">
              <a:solidFill>
                <a:srgbClr val="FF0000"/>
              </a:solidFill>
            </a:endParaRPr>
          </a:p>
        </p:txBody>
      </p:sp>
      <p:sp>
        <p:nvSpPr>
          <p:cNvPr id="7" name="文本框 6"/>
          <p:cNvSpPr txBox="1"/>
          <p:nvPr/>
        </p:nvSpPr>
        <p:spPr>
          <a:xfrm>
            <a:off x="971600" y="4343794"/>
            <a:ext cx="4608512" cy="2062103"/>
          </a:xfrm>
          <a:prstGeom prst="rect">
            <a:avLst/>
          </a:prstGeom>
          <a:noFill/>
        </p:spPr>
        <p:txBody>
          <a:bodyPr wrap="square" rtlCol="0">
            <a:spAutoFit/>
          </a:bodyPr>
          <a:lstStyle/>
          <a:p>
            <a:r>
              <a:rPr lang="zh-CN" altLang="en-US" dirty="0"/>
              <a:t>如何解决？</a:t>
            </a:r>
            <a:endParaRPr lang="en-US" altLang="zh-CN" dirty="0"/>
          </a:p>
          <a:p>
            <a:pPr algn="just"/>
            <a:r>
              <a:rPr lang="zh-CN" altLang="en-US" dirty="0"/>
              <a:t>操作数先扩展，再做除法。</a:t>
            </a:r>
            <a:endParaRPr lang="en-US" altLang="zh-CN" dirty="0"/>
          </a:p>
          <a:p>
            <a:pPr lvl="1" algn="just" eaLnBrk="0" hangingPunct="0"/>
            <a:r>
              <a:rPr lang="en-US" altLang="zh-CN" sz="2000" dirty="0">
                <a:solidFill>
                  <a:srgbClr val="000000"/>
                </a:solidFill>
                <a:sym typeface="Symbol" panose="05050102010706020507" pitchFamily="18" charset="2"/>
              </a:rPr>
              <a:t>MOV  AX,</a:t>
            </a:r>
            <a:r>
              <a:rPr lang="zh-CN" altLang="en-US" sz="2000" dirty="0">
                <a:solidFill>
                  <a:srgbClr val="000000"/>
                </a:solidFill>
                <a:sym typeface="Symbol" panose="05050102010706020507" pitchFamily="18" charset="2"/>
              </a:rPr>
              <a:t> </a:t>
            </a:r>
            <a:r>
              <a:rPr lang="en-US" altLang="zh-CN" sz="2000" dirty="0">
                <a:solidFill>
                  <a:srgbClr val="000000"/>
                </a:solidFill>
                <a:sym typeface="Symbol" panose="05050102010706020507" pitchFamily="18" charset="2"/>
              </a:rPr>
              <a:t>2EE0H	;12000</a:t>
            </a:r>
            <a:endParaRPr lang="en-US" altLang="zh-CN" sz="2000" dirty="0">
              <a:solidFill>
                <a:srgbClr val="000000"/>
              </a:solidFill>
              <a:sym typeface="Symbol" panose="05050102010706020507" pitchFamily="18" charset="2"/>
            </a:endParaRPr>
          </a:p>
          <a:p>
            <a:pPr lvl="1" algn="just" eaLnBrk="0" hangingPunct="0"/>
            <a:r>
              <a:rPr lang="en-US" altLang="zh-CN" sz="2000" dirty="0">
                <a:solidFill>
                  <a:srgbClr val="FF0000"/>
                </a:solidFill>
              </a:rPr>
              <a:t>MOV  DX, 0	; </a:t>
            </a:r>
            <a:r>
              <a:rPr lang="zh-CN" altLang="en-US" sz="2000" dirty="0">
                <a:solidFill>
                  <a:srgbClr val="FF0000"/>
                </a:solidFill>
              </a:rPr>
              <a:t>带符号数用</a:t>
            </a:r>
            <a:r>
              <a:rPr lang="en-US" altLang="zh-CN" sz="2000" dirty="0">
                <a:solidFill>
                  <a:srgbClr val="FF0000"/>
                </a:solidFill>
              </a:rPr>
              <a:t>CWD</a:t>
            </a:r>
            <a:endParaRPr lang="en-US" altLang="zh-CN" sz="2000" dirty="0">
              <a:solidFill>
                <a:srgbClr val="FF0000"/>
              </a:solidFill>
            </a:endParaRPr>
          </a:p>
          <a:p>
            <a:pPr lvl="1" algn="just" eaLnBrk="0" hangingPunct="0"/>
            <a:r>
              <a:rPr lang="en-US" altLang="zh-CN" sz="2000" dirty="0">
                <a:solidFill>
                  <a:srgbClr val="000000"/>
                </a:solidFill>
                <a:sym typeface="Symbol" panose="05050102010706020507" pitchFamily="18" charset="2"/>
              </a:rPr>
              <a:t>MOV  BX, 8</a:t>
            </a:r>
            <a:endParaRPr lang="en-US" altLang="zh-CN" sz="2000" dirty="0">
              <a:solidFill>
                <a:srgbClr val="000000"/>
              </a:solidFill>
              <a:sym typeface="Symbol" panose="05050102010706020507" pitchFamily="18" charset="2"/>
            </a:endParaRPr>
          </a:p>
          <a:p>
            <a:pPr lvl="1" algn="just" eaLnBrk="0" hangingPunct="0"/>
            <a:r>
              <a:rPr lang="en-US" altLang="zh-CN" sz="2000" dirty="0">
                <a:solidFill>
                  <a:srgbClr val="000000"/>
                </a:solidFill>
                <a:sym typeface="Symbol" panose="05050102010706020507" pitchFamily="18" charset="2"/>
              </a:rPr>
              <a:t>DIV    BX</a:t>
            </a:r>
            <a:endParaRPr lang="en-US" altLang="zh-CN" dirty="0"/>
          </a:p>
        </p:txBody>
      </p:sp>
      <p:sp>
        <p:nvSpPr>
          <p:cNvPr id="8" name="文本框 7"/>
          <p:cNvSpPr txBox="1"/>
          <p:nvPr/>
        </p:nvSpPr>
        <p:spPr>
          <a:xfrm>
            <a:off x="5904148" y="4805458"/>
            <a:ext cx="2084225" cy="1200329"/>
          </a:xfrm>
          <a:prstGeom prst="rect">
            <a:avLst/>
          </a:prstGeom>
          <a:noFill/>
        </p:spPr>
        <p:txBody>
          <a:bodyPr wrap="none" rtlCol="0">
            <a:spAutoFit/>
          </a:bodyPr>
          <a:lstStyle/>
          <a:p>
            <a:r>
              <a:rPr lang="zh-CN" altLang="en-US" dirty="0"/>
              <a:t>计算结果：</a:t>
            </a:r>
            <a:endParaRPr lang="en-US" altLang="zh-CN" dirty="0"/>
          </a:p>
          <a:p>
            <a:r>
              <a:rPr lang="zh-CN" altLang="en-US" dirty="0"/>
              <a:t>商</a:t>
            </a:r>
            <a:r>
              <a:rPr lang="en-US" altLang="zh-CN" dirty="0"/>
              <a:t>: 1500=&gt;AX</a:t>
            </a:r>
            <a:endParaRPr lang="en-US" altLang="zh-CN" dirty="0"/>
          </a:p>
          <a:p>
            <a:r>
              <a:rPr lang="zh-CN" altLang="en-US" dirty="0"/>
              <a:t>余数</a:t>
            </a:r>
            <a:r>
              <a:rPr lang="en-US" altLang="zh-CN" dirty="0"/>
              <a:t>: 0=&gt;DX</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文本框 59393"/>
          <p:cNvSpPr txBox="1"/>
          <p:nvPr/>
        </p:nvSpPr>
        <p:spPr>
          <a:xfrm>
            <a:off x="1259632" y="1152893"/>
            <a:ext cx="7086600" cy="400110"/>
          </a:xfrm>
          <a:prstGeom prst="rect">
            <a:avLst/>
          </a:prstGeom>
          <a:noFill/>
          <a:ln w="9525">
            <a:noFill/>
          </a:ln>
        </p:spPr>
        <p:txBody>
          <a:bodyPr>
            <a:spAutoFit/>
          </a:bodyPr>
          <a:lstStyle/>
          <a:p>
            <a:pPr algn="just" eaLnBrk="0" hangingPunct="0"/>
            <a:r>
              <a:rPr lang="zh-CN" altLang="en-US" sz="2000" b="0" dirty="0">
                <a:solidFill>
                  <a:srgbClr val="000000"/>
                </a:solidFill>
                <a:latin typeface="Times New Roman" panose="02020603050405020304" pitchFamily="18" charset="0"/>
              </a:rPr>
              <a:t>例：</a:t>
            </a:r>
            <a:r>
              <a:rPr lang="en-US" altLang="zh-CN" sz="2000" b="0" dirty="0">
                <a:solidFill>
                  <a:srgbClr val="000000"/>
                </a:solidFill>
                <a:latin typeface="Times New Roman" panose="02020603050405020304" pitchFamily="18" charset="0"/>
              </a:rPr>
              <a:t>x , y , z , v </a:t>
            </a:r>
            <a:r>
              <a:rPr lang="zh-CN" altLang="en-US" sz="2000" b="0" dirty="0">
                <a:solidFill>
                  <a:srgbClr val="000000"/>
                </a:solidFill>
                <a:latin typeface="Times New Roman" panose="02020603050405020304" pitchFamily="18" charset="0"/>
              </a:rPr>
              <a:t>均为</a:t>
            </a:r>
            <a:r>
              <a:rPr lang="en-US" altLang="zh-CN" sz="2000" b="0" dirty="0">
                <a:solidFill>
                  <a:srgbClr val="000000"/>
                </a:solidFill>
                <a:latin typeface="Times New Roman" panose="02020603050405020304" pitchFamily="18" charset="0"/>
              </a:rPr>
              <a:t>16</a:t>
            </a:r>
            <a:r>
              <a:rPr lang="zh-CN" altLang="en-US" sz="2000" b="0" dirty="0">
                <a:solidFill>
                  <a:srgbClr val="000000"/>
                </a:solidFill>
                <a:latin typeface="Times New Roman" panose="02020603050405020304" pitchFamily="18" charset="0"/>
              </a:rPr>
              <a:t>位带符号数，计算</a:t>
            </a:r>
            <a:r>
              <a:rPr lang="en-US" altLang="zh-CN" sz="2000" b="0" dirty="0">
                <a:solidFill>
                  <a:srgbClr val="000000"/>
                </a:solidFill>
                <a:latin typeface="Times New Roman" panose="02020603050405020304" pitchFamily="18" charset="0"/>
              </a:rPr>
              <a:t>(v-(x*</a:t>
            </a:r>
            <a:r>
              <a:rPr lang="en-US" altLang="zh-CN" sz="2000" b="0" dirty="0" err="1">
                <a:solidFill>
                  <a:srgbClr val="000000"/>
                </a:solidFill>
                <a:latin typeface="Times New Roman" panose="02020603050405020304" pitchFamily="18" charset="0"/>
              </a:rPr>
              <a:t>y+z</a:t>
            </a:r>
            <a:r>
              <a:rPr lang="en-US" altLang="zh-CN" sz="2000" b="0" dirty="0">
                <a:solidFill>
                  <a:srgbClr val="000000"/>
                </a:solidFill>
                <a:latin typeface="Times New Roman" panose="02020603050405020304" pitchFamily="18" charset="0"/>
              </a:rPr>
              <a:t>–540))/x</a:t>
            </a:r>
            <a:endParaRPr lang="en-US" altLang="zh-CN" sz="2000" b="0" dirty="0">
              <a:solidFill>
                <a:srgbClr val="000000"/>
              </a:solidFill>
              <a:latin typeface="Times New Roman" panose="02020603050405020304" pitchFamily="18" charset="0"/>
            </a:endParaRPr>
          </a:p>
        </p:txBody>
      </p:sp>
      <p:sp>
        <p:nvSpPr>
          <p:cNvPr id="59395" name="矩形 59394"/>
          <p:cNvSpPr/>
          <p:nvPr/>
        </p:nvSpPr>
        <p:spPr>
          <a:xfrm>
            <a:off x="1368128" y="1664804"/>
            <a:ext cx="7010400" cy="4708981"/>
          </a:xfrm>
          <a:prstGeom prst="rect">
            <a:avLst/>
          </a:prstGeom>
          <a:noFill/>
          <a:ln w="12700">
            <a:noFill/>
          </a:ln>
        </p:spPr>
        <p:txBody>
          <a:bodyPr>
            <a:spAutoFit/>
          </a:bodyPr>
          <a:lstStyle/>
          <a:p>
            <a:pPr eaLnBrk="0" hangingPunct="0"/>
            <a:r>
              <a:rPr lang="en-US" altLang="zh-CN" sz="2000" b="0" dirty="0">
                <a:solidFill>
                  <a:srgbClr val="000000"/>
                </a:solidFill>
                <a:latin typeface="+mn-lt"/>
              </a:rPr>
              <a:t>MOV   AX, X </a:t>
            </a:r>
            <a:endParaRPr lang="en-US" altLang="zh-CN" sz="2000" b="0" dirty="0">
              <a:solidFill>
                <a:srgbClr val="000000"/>
              </a:solidFill>
              <a:latin typeface="+mn-lt"/>
            </a:endParaRPr>
          </a:p>
          <a:p>
            <a:pPr eaLnBrk="0" hangingPunct="0"/>
            <a:r>
              <a:rPr lang="en-US" altLang="zh-CN" sz="2000" b="0" dirty="0">
                <a:solidFill>
                  <a:srgbClr val="FF0000"/>
                </a:solidFill>
                <a:latin typeface="+mn-lt"/>
              </a:rPr>
              <a:t>IMUL  Y   </a:t>
            </a:r>
            <a:r>
              <a:rPr lang="en-US" altLang="zh-CN" sz="2000" b="0" dirty="0">
                <a:solidFill>
                  <a:srgbClr val="000000"/>
                </a:solidFill>
                <a:latin typeface="+mn-lt"/>
              </a:rPr>
              <a:t>       ;  x*y →</a:t>
            </a:r>
            <a:r>
              <a:rPr lang="zh-CN" altLang="en-US" sz="2000" b="0" dirty="0">
                <a:solidFill>
                  <a:srgbClr val="000000"/>
                </a:solidFill>
                <a:latin typeface="+mn-lt"/>
              </a:rPr>
              <a:t>（</a:t>
            </a:r>
            <a:r>
              <a:rPr lang="en-US" altLang="zh-CN" sz="2000" b="0" dirty="0">
                <a:solidFill>
                  <a:srgbClr val="000000"/>
                </a:solidFill>
                <a:latin typeface="+mn-lt"/>
              </a:rPr>
              <a:t>DX,AX</a:t>
            </a:r>
            <a:r>
              <a:rPr lang="zh-CN" altLang="en-US" sz="2000" b="0" dirty="0">
                <a:solidFill>
                  <a:srgbClr val="000000"/>
                </a:solidFill>
                <a:latin typeface="+mn-lt"/>
              </a:rPr>
              <a:t>）</a:t>
            </a:r>
            <a:endParaRPr lang="zh-CN" altLang="en-US" sz="2000" b="0" dirty="0">
              <a:solidFill>
                <a:srgbClr val="000000"/>
              </a:solidFill>
              <a:latin typeface="+mn-lt"/>
            </a:endParaRPr>
          </a:p>
          <a:p>
            <a:pPr eaLnBrk="0" hangingPunct="0"/>
            <a:r>
              <a:rPr lang="en-US" altLang="zh-CN" sz="2000" b="0" dirty="0">
                <a:solidFill>
                  <a:srgbClr val="000000"/>
                </a:solidFill>
                <a:latin typeface="+mn-lt"/>
              </a:rPr>
              <a:t>MOV   CX, AX</a:t>
            </a:r>
            <a:endParaRPr lang="en-US" altLang="zh-CN" sz="2000" b="0" dirty="0">
              <a:solidFill>
                <a:srgbClr val="000000"/>
              </a:solidFill>
              <a:latin typeface="+mn-lt"/>
            </a:endParaRPr>
          </a:p>
          <a:p>
            <a:pPr eaLnBrk="0" hangingPunct="0"/>
            <a:r>
              <a:rPr lang="en-US" altLang="zh-CN" sz="2000" b="0" dirty="0">
                <a:solidFill>
                  <a:srgbClr val="000000"/>
                </a:solidFill>
                <a:latin typeface="+mn-lt"/>
              </a:rPr>
              <a:t>MOV   BX, DX</a:t>
            </a:r>
            <a:endParaRPr lang="en-US" altLang="zh-CN" sz="2000" b="0" dirty="0">
              <a:solidFill>
                <a:srgbClr val="000000"/>
              </a:solidFill>
              <a:latin typeface="+mn-lt"/>
            </a:endParaRPr>
          </a:p>
          <a:p>
            <a:pPr eaLnBrk="0" hangingPunct="0"/>
            <a:r>
              <a:rPr lang="en-US" altLang="zh-CN" sz="2000" b="0" dirty="0">
                <a:solidFill>
                  <a:srgbClr val="000000"/>
                </a:solidFill>
                <a:latin typeface="+mn-lt"/>
              </a:rPr>
              <a:t>MOV   AX, Z</a:t>
            </a:r>
            <a:endParaRPr lang="en-US" altLang="zh-CN" sz="2000" b="0" dirty="0">
              <a:solidFill>
                <a:srgbClr val="000000"/>
              </a:solidFill>
              <a:latin typeface="+mn-lt"/>
            </a:endParaRPr>
          </a:p>
          <a:p>
            <a:pPr eaLnBrk="0" hangingPunct="0"/>
            <a:r>
              <a:rPr lang="en-US" altLang="zh-CN" sz="2000" b="0" dirty="0">
                <a:solidFill>
                  <a:srgbClr val="FF0000"/>
                </a:solidFill>
                <a:latin typeface="+mn-lt"/>
              </a:rPr>
              <a:t>CWD</a:t>
            </a:r>
            <a:r>
              <a:rPr lang="en-US" altLang="zh-CN" sz="2000" b="0" dirty="0">
                <a:solidFill>
                  <a:srgbClr val="000000"/>
                </a:solidFill>
                <a:latin typeface="+mn-lt"/>
              </a:rPr>
              <a:t>              </a:t>
            </a:r>
            <a:r>
              <a:rPr lang="zh-CN" altLang="en-US" sz="2000" b="0" dirty="0">
                <a:solidFill>
                  <a:srgbClr val="000000"/>
                </a:solidFill>
                <a:latin typeface="+mn-lt"/>
              </a:rPr>
              <a:t>；</a:t>
            </a:r>
            <a:r>
              <a:rPr lang="en-US" altLang="zh-CN" sz="2000" b="0" dirty="0">
                <a:solidFill>
                  <a:srgbClr val="000000"/>
                </a:solidFill>
                <a:latin typeface="+mn-lt"/>
              </a:rPr>
              <a:t>Z →</a:t>
            </a:r>
            <a:r>
              <a:rPr lang="zh-CN" altLang="en-US" sz="2000" b="0" dirty="0">
                <a:solidFill>
                  <a:srgbClr val="000000"/>
                </a:solidFill>
                <a:latin typeface="+mn-lt"/>
              </a:rPr>
              <a:t>（</a:t>
            </a:r>
            <a:r>
              <a:rPr lang="en-US" altLang="zh-CN" sz="2000" b="0" dirty="0">
                <a:solidFill>
                  <a:srgbClr val="000000"/>
                </a:solidFill>
                <a:latin typeface="+mn-lt"/>
              </a:rPr>
              <a:t>DX</a:t>
            </a:r>
            <a:r>
              <a:rPr lang="zh-CN" altLang="en-US" sz="2000" b="0" dirty="0">
                <a:solidFill>
                  <a:srgbClr val="000000"/>
                </a:solidFill>
                <a:latin typeface="+mn-lt"/>
              </a:rPr>
              <a:t>，</a:t>
            </a:r>
            <a:r>
              <a:rPr lang="en-US" altLang="zh-CN" sz="2000" b="0" dirty="0">
                <a:solidFill>
                  <a:srgbClr val="000000"/>
                </a:solidFill>
                <a:latin typeface="+mn-lt"/>
              </a:rPr>
              <a:t>AX</a:t>
            </a:r>
            <a:r>
              <a:rPr lang="zh-CN" altLang="en-US" sz="2000" b="0" dirty="0">
                <a:solidFill>
                  <a:srgbClr val="000000"/>
                </a:solidFill>
                <a:latin typeface="+mn-lt"/>
              </a:rPr>
              <a:t>）</a:t>
            </a:r>
            <a:endParaRPr lang="zh-CN" altLang="en-US" sz="2000" b="0" dirty="0">
              <a:solidFill>
                <a:srgbClr val="000000"/>
              </a:solidFill>
              <a:latin typeface="+mn-lt"/>
            </a:endParaRPr>
          </a:p>
          <a:p>
            <a:pPr eaLnBrk="0" hangingPunct="0"/>
            <a:r>
              <a:rPr lang="en-US" altLang="zh-CN" sz="2000" b="0" dirty="0">
                <a:solidFill>
                  <a:srgbClr val="000000"/>
                </a:solidFill>
                <a:latin typeface="+mn-lt"/>
              </a:rPr>
              <a:t>ADD   CX, AX</a:t>
            </a:r>
            <a:endParaRPr lang="en-US" altLang="zh-CN" sz="2000" b="0" dirty="0">
              <a:solidFill>
                <a:srgbClr val="000000"/>
              </a:solidFill>
              <a:latin typeface="+mn-lt"/>
            </a:endParaRPr>
          </a:p>
          <a:p>
            <a:pPr eaLnBrk="0" hangingPunct="0"/>
            <a:r>
              <a:rPr lang="en-US" altLang="zh-CN" sz="2000" b="0" dirty="0">
                <a:solidFill>
                  <a:srgbClr val="FF0000"/>
                </a:solidFill>
                <a:latin typeface="+mn-lt"/>
              </a:rPr>
              <a:t>ADC</a:t>
            </a:r>
            <a:r>
              <a:rPr lang="en-US" altLang="zh-CN" sz="2000" b="0" dirty="0">
                <a:solidFill>
                  <a:srgbClr val="000000"/>
                </a:solidFill>
                <a:latin typeface="+mn-lt"/>
              </a:rPr>
              <a:t>   BX, DX     ;  x*</a:t>
            </a:r>
            <a:r>
              <a:rPr lang="en-US" altLang="zh-CN" sz="2000" b="0" dirty="0" err="1">
                <a:solidFill>
                  <a:srgbClr val="000000"/>
                </a:solidFill>
                <a:latin typeface="+mn-lt"/>
              </a:rPr>
              <a:t>y+z</a:t>
            </a:r>
            <a:r>
              <a:rPr lang="en-US" altLang="zh-CN" sz="2000" b="0" dirty="0">
                <a:solidFill>
                  <a:srgbClr val="000000"/>
                </a:solidFill>
                <a:latin typeface="+mn-lt"/>
              </a:rPr>
              <a:t> →</a:t>
            </a:r>
            <a:r>
              <a:rPr lang="zh-CN" altLang="en-US" sz="2000" b="0" dirty="0">
                <a:solidFill>
                  <a:srgbClr val="000000"/>
                </a:solidFill>
                <a:latin typeface="+mn-lt"/>
              </a:rPr>
              <a:t>（</a:t>
            </a:r>
            <a:r>
              <a:rPr lang="en-US" altLang="zh-CN" sz="2000" b="0" dirty="0">
                <a:solidFill>
                  <a:srgbClr val="000000"/>
                </a:solidFill>
                <a:latin typeface="+mn-lt"/>
              </a:rPr>
              <a:t>BX</a:t>
            </a:r>
            <a:r>
              <a:rPr lang="zh-CN" altLang="en-US" sz="2000" b="0" dirty="0">
                <a:solidFill>
                  <a:srgbClr val="000000"/>
                </a:solidFill>
                <a:latin typeface="+mn-lt"/>
              </a:rPr>
              <a:t>，</a:t>
            </a:r>
            <a:r>
              <a:rPr lang="en-US" altLang="zh-CN" sz="2000" b="0" dirty="0">
                <a:solidFill>
                  <a:srgbClr val="000000"/>
                </a:solidFill>
                <a:latin typeface="+mn-lt"/>
              </a:rPr>
              <a:t>CX</a:t>
            </a:r>
            <a:r>
              <a:rPr lang="zh-CN" altLang="en-US" sz="2000" b="0" dirty="0">
                <a:solidFill>
                  <a:srgbClr val="000000"/>
                </a:solidFill>
                <a:latin typeface="+mn-lt"/>
              </a:rPr>
              <a:t>）</a:t>
            </a:r>
            <a:endParaRPr lang="zh-CN" altLang="en-US" sz="2000" b="0" dirty="0">
              <a:solidFill>
                <a:srgbClr val="000000"/>
              </a:solidFill>
              <a:latin typeface="+mn-lt"/>
            </a:endParaRPr>
          </a:p>
          <a:p>
            <a:pPr eaLnBrk="0" hangingPunct="0"/>
            <a:r>
              <a:rPr lang="en-US" altLang="zh-CN" sz="2000" b="0" dirty="0">
                <a:solidFill>
                  <a:srgbClr val="000000"/>
                </a:solidFill>
                <a:latin typeface="+mn-lt"/>
              </a:rPr>
              <a:t>SUB   CX, 540 </a:t>
            </a:r>
            <a:endParaRPr lang="en-US" altLang="zh-CN" sz="2000" b="0" dirty="0">
              <a:solidFill>
                <a:srgbClr val="000000"/>
              </a:solidFill>
              <a:latin typeface="+mn-lt"/>
            </a:endParaRPr>
          </a:p>
          <a:p>
            <a:pPr eaLnBrk="0" hangingPunct="0"/>
            <a:r>
              <a:rPr lang="en-US" altLang="zh-CN" sz="2000" b="0" dirty="0">
                <a:solidFill>
                  <a:srgbClr val="FF0000"/>
                </a:solidFill>
                <a:latin typeface="+mn-lt"/>
              </a:rPr>
              <a:t>SBB</a:t>
            </a:r>
            <a:r>
              <a:rPr lang="en-US" altLang="zh-CN" sz="2000" b="0" dirty="0">
                <a:solidFill>
                  <a:srgbClr val="000000"/>
                </a:solidFill>
                <a:latin typeface="+mn-lt"/>
              </a:rPr>
              <a:t>   BX, 0      ;  x*y+z-540</a:t>
            </a:r>
            <a:endParaRPr lang="en-US" altLang="zh-CN" sz="2000" b="0" dirty="0">
              <a:solidFill>
                <a:srgbClr val="000000"/>
              </a:solidFill>
              <a:latin typeface="+mn-lt"/>
            </a:endParaRPr>
          </a:p>
          <a:p>
            <a:pPr eaLnBrk="0" hangingPunct="0"/>
            <a:r>
              <a:rPr lang="en-US" altLang="zh-CN" sz="2000" b="0" dirty="0">
                <a:solidFill>
                  <a:srgbClr val="000000"/>
                </a:solidFill>
                <a:latin typeface="+mn-lt"/>
              </a:rPr>
              <a:t>MOV   AX, V</a:t>
            </a:r>
            <a:endParaRPr lang="en-US" altLang="zh-CN" sz="2000" b="0" dirty="0">
              <a:solidFill>
                <a:srgbClr val="000000"/>
              </a:solidFill>
              <a:latin typeface="+mn-lt"/>
            </a:endParaRPr>
          </a:p>
          <a:p>
            <a:pPr eaLnBrk="0" hangingPunct="0"/>
            <a:r>
              <a:rPr lang="en-US" altLang="zh-CN" sz="2000" b="0" dirty="0">
                <a:solidFill>
                  <a:srgbClr val="FF0000"/>
                </a:solidFill>
                <a:latin typeface="+mn-lt"/>
              </a:rPr>
              <a:t>CWD</a:t>
            </a:r>
            <a:r>
              <a:rPr lang="en-US" altLang="zh-CN" sz="2000" b="0" dirty="0">
                <a:solidFill>
                  <a:srgbClr val="000000"/>
                </a:solidFill>
                <a:latin typeface="+mn-lt"/>
              </a:rPr>
              <a:t>              </a:t>
            </a:r>
            <a:r>
              <a:rPr lang="zh-CN" altLang="en-US" sz="2000" b="0" dirty="0">
                <a:solidFill>
                  <a:srgbClr val="000000"/>
                </a:solidFill>
                <a:latin typeface="+mn-lt"/>
              </a:rPr>
              <a:t>；</a:t>
            </a:r>
            <a:r>
              <a:rPr lang="en-US" altLang="zh-CN" sz="2000" b="0" dirty="0">
                <a:solidFill>
                  <a:srgbClr val="000000"/>
                </a:solidFill>
                <a:latin typeface="+mn-lt"/>
              </a:rPr>
              <a:t>V →</a:t>
            </a:r>
            <a:r>
              <a:rPr lang="zh-CN" altLang="en-US" sz="2000" b="0" dirty="0">
                <a:solidFill>
                  <a:srgbClr val="000000"/>
                </a:solidFill>
                <a:latin typeface="+mn-lt"/>
              </a:rPr>
              <a:t>（</a:t>
            </a:r>
            <a:r>
              <a:rPr lang="en-US" altLang="zh-CN" sz="2000" b="0" dirty="0">
                <a:solidFill>
                  <a:srgbClr val="000000"/>
                </a:solidFill>
                <a:latin typeface="+mn-lt"/>
              </a:rPr>
              <a:t>DX</a:t>
            </a:r>
            <a:r>
              <a:rPr lang="zh-CN" altLang="en-US" sz="2000" b="0" dirty="0">
                <a:solidFill>
                  <a:srgbClr val="000000"/>
                </a:solidFill>
                <a:latin typeface="+mn-lt"/>
              </a:rPr>
              <a:t>，</a:t>
            </a:r>
            <a:r>
              <a:rPr lang="en-US" altLang="zh-CN" sz="2000" b="0" dirty="0">
                <a:solidFill>
                  <a:srgbClr val="000000"/>
                </a:solidFill>
                <a:latin typeface="+mn-lt"/>
              </a:rPr>
              <a:t>AX</a:t>
            </a:r>
            <a:r>
              <a:rPr lang="zh-CN" altLang="en-US" sz="2000" b="0" dirty="0">
                <a:solidFill>
                  <a:srgbClr val="000000"/>
                </a:solidFill>
                <a:latin typeface="+mn-lt"/>
              </a:rPr>
              <a:t>）</a:t>
            </a:r>
            <a:endParaRPr lang="zh-CN" altLang="en-US" sz="2000" b="0" dirty="0">
              <a:solidFill>
                <a:srgbClr val="000000"/>
              </a:solidFill>
              <a:latin typeface="+mn-lt"/>
            </a:endParaRPr>
          </a:p>
          <a:p>
            <a:pPr eaLnBrk="0" hangingPunct="0"/>
            <a:r>
              <a:rPr lang="en-US" altLang="zh-CN" sz="2000" b="0" dirty="0">
                <a:solidFill>
                  <a:srgbClr val="000000"/>
                </a:solidFill>
                <a:latin typeface="+mn-lt"/>
              </a:rPr>
              <a:t>SUB   AX, CX</a:t>
            </a:r>
            <a:endParaRPr lang="en-US" altLang="zh-CN" sz="2000" b="0" dirty="0">
              <a:solidFill>
                <a:srgbClr val="000000"/>
              </a:solidFill>
              <a:latin typeface="+mn-lt"/>
            </a:endParaRPr>
          </a:p>
          <a:p>
            <a:pPr eaLnBrk="0" hangingPunct="0"/>
            <a:r>
              <a:rPr lang="en-US" altLang="zh-CN" sz="2000" b="0" dirty="0">
                <a:solidFill>
                  <a:srgbClr val="FF0000"/>
                </a:solidFill>
                <a:latin typeface="+mn-lt"/>
              </a:rPr>
              <a:t>SBB</a:t>
            </a:r>
            <a:r>
              <a:rPr lang="en-US" altLang="zh-CN" sz="2000" b="0" dirty="0">
                <a:solidFill>
                  <a:srgbClr val="000000"/>
                </a:solidFill>
                <a:latin typeface="+mn-lt"/>
              </a:rPr>
              <a:t>   DX, BX     ;  v-(x*y+z-540)</a:t>
            </a:r>
            <a:endParaRPr lang="en-US" altLang="zh-CN" sz="2000" b="0" dirty="0">
              <a:solidFill>
                <a:srgbClr val="000000"/>
              </a:solidFill>
              <a:latin typeface="+mn-lt"/>
            </a:endParaRPr>
          </a:p>
          <a:p>
            <a:pPr eaLnBrk="0" hangingPunct="0"/>
            <a:r>
              <a:rPr lang="en-US" altLang="zh-CN" sz="2000" b="0" dirty="0">
                <a:solidFill>
                  <a:srgbClr val="000000"/>
                </a:solidFill>
                <a:latin typeface="+mn-lt"/>
              </a:rPr>
              <a:t>IDIV  X          ;  (v-(x*y+z-540))/x→</a:t>
            </a:r>
            <a:r>
              <a:rPr lang="zh-CN" altLang="en-US" sz="2000" b="0" dirty="0">
                <a:solidFill>
                  <a:srgbClr val="000000"/>
                </a:solidFill>
                <a:latin typeface="+mn-lt"/>
              </a:rPr>
              <a:t>（</a:t>
            </a:r>
            <a:r>
              <a:rPr lang="en-US" altLang="zh-CN" sz="2000" b="0" dirty="0">
                <a:solidFill>
                  <a:srgbClr val="000000"/>
                </a:solidFill>
                <a:latin typeface="+mn-lt"/>
              </a:rPr>
              <a:t>AX</a:t>
            </a:r>
            <a:r>
              <a:rPr lang="zh-CN" altLang="en-US" sz="2000" b="0" dirty="0">
                <a:solidFill>
                  <a:srgbClr val="000000"/>
                </a:solidFill>
                <a:latin typeface="+mn-lt"/>
              </a:rPr>
              <a:t>），余数</a:t>
            </a:r>
            <a:r>
              <a:rPr lang="en-US" altLang="zh-CN" sz="2000" b="0" dirty="0">
                <a:solidFill>
                  <a:srgbClr val="000000"/>
                </a:solidFill>
                <a:latin typeface="+mn-lt"/>
              </a:rPr>
              <a:t>→</a:t>
            </a:r>
            <a:r>
              <a:rPr lang="zh-CN" altLang="en-US" sz="2000" b="0" dirty="0">
                <a:solidFill>
                  <a:srgbClr val="000000"/>
                </a:solidFill>
                <a:latin typeface="+mn-lt"/>
              </a:rPr>
              <a:t>（</a:t>
            </a:r>
            <a:r>
              <a:rPr lang="en-US" altLang="zh-CN" sz="2000" b="0" dirty="0">
                <a:solidFill>
                  <a:srgbClr val="000000"/>
                </a:solidFill>
                <a:latin typeface="+mn-lt"/>
              </a:rPr>
              <a:t>DX</a:t>
            </a:r>
            <a:r>
              <a:rPr lang="zh-CN" altLang="en-US" sz="2000" b="0" dirty="0">
                <a:solidFill>
                  <a:srgbClr val="000000"/>
                </a:solidFill>
                <a:latin typeface="+mn-lt"/>
              </a:rPr>
              <a:t>）</a:t>
            </a:r>
            <a:endParaRPr lang="zh-CN" altLang="en-US" sz="2000" b="0" dirty="0">
              <a:solidFill>
                <a:srgbClr val="000000"/>
              </a:solidFill>
              <a:latin typeface="+mn-lt"/>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算术指令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3&amp;4</a:t>
            </a:r>
            <a:r>
              <a:rPr lang="zh-CN" altLang="en-US" sz="2600" kern="0" dirty="0">
                <a:solidFill>
                  <a:schemeClr val="tx2"/>
                </a:solidFill>
                <a:effectLst>
                  <a:outerShdw blurRad="38100" dist="38100" dir="2700000" algn="tl">
                    <a:srgbClr val="C0C0C0"/>
                  </a:outerShdw>
                </a:effectLst>
                <a:latin typeface="+mj-lt"/>
                <a:cs typeface="+mj-cs"/>
              </a:rPr>
              <a:t>讲：</a:t>
            </a:r>
            <a:r>
              <a:rPr lang="en-US" altLang="zh-CN" sz="2600" kern="0" dirty="0">
                <a:solidFill>
                  <a:schemeClr val="tx2"/>
                </a:solidFill>
                <a:effectLst>
                  <a:outerShdw blurRad="38100" dist="38100" dir="2700000" algn="tl">
                    <a:srgbClr val="C0C0C0"/>
                  </a:outerShdw>
                </a:effectLst>
                <a:latin typeface="+mj-lt"/>
                <a:cs typeface="+mj-cs"/>
              </a:rPr>
              <a:t>8086/8088</a:t>
            </a:r>
            <a:r>
              <a:rPr lang="zh-CN" altLang="en-US" sz="2600" kern="0" dirty="0">
                <a:solidFill>
                  <a:schemeClr val="tx2"/>
                </a:solidFill>
                <a:effectLst>
                  <a:outerShdw blurRad="38100" dist="38100" dir="2700000" algn="tl">
                    <a:srgbClr val="C0C0C0"/>
                  </a:outerShdw>
                </a:effectLst>
                <a:latin typeface="+mj-lt"/>
                <a:cs typeface="+mj-cs"/>
              </a:rPr>
              <a:t>的指令系统</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079612" y="1124744"/>
            <a:ext cx="5508612" cy="4228850"/>
          </a:xfrm>
          <a:prstGeom prst="rect">
            <a:avLst/>
          </a:prstGeom>
          <a:noFill/>
        </p:spPr>
        <p:txBody>
          <a:bodyPr wrap="square" rtlCol="0">
            <a:spAutoFit/>
          </a:bodyPr>
          <a:lstStyle/>
          <a:p>
            <a:pPr marL="342900" indent="-342900">
              <a:lnSpc>
                <a:spcPct val="160000"/>
              </a:lnSpc>
              <a:buClr>
                <a:srgbClr val="FF3300"/>
              </a:buClr>
              <a:buFont typeface="Wingdings" panose="05000000000000000000" charset="0"/>
              <a:buChar char=""/>
            </a:pPr>
            <a:r>
              <a:rPr lang="zh-CN" altLang="en-US" dirty="0">
                <a:sym typeface="+mn-ea"/>
              </a:rPr>
              <a:t>建立汇编程序</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sym typeface="+mn-ea"/>
              </a:rPr>
              <a:t>汇编语言程序格式</a:t>
            </a:r>
            <a:endParaRPr lang="zh-CN" altLang="en-US" dirty="0">
              <a:sym typeface="+mn-ea"/>
            </a:endParaRPr>
          </a:p>
          <a:p>
            <a:pPr marL="342900" indent="-342900">
              <a:lnSpc>
                <a:spcPct val="160000"/>
              </a:lnSpc>
              <a:buClr>
                <a:srgbClr val="FF3300"/>
              </a:buClr>
              <a:buFont typeface="Wingdings" panose="05000000000000000000" charset="0"/>
              <a:buChar char=""/>
            </a:pPr>
            <a:r>
              <a:rPr lang="zh-CN" altLang="en-US" dirty="0">
                <a:sym typeface="+mn-ea"/>
              </a:rPr>
              <a:t>伪指令</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sym typeface="+mn-ea"/>
              </a:rPr>
              <a:t>表达式操作符</a:t>
            </a:r>
            <a:endParaRPr lang="en-US" altLang="zh-CN" dirty="0">
              <a:sym typeface="+mn-ea"/>
            </a:endParaRPr>
          </a:p>
          <a:p>
            <a:pPr marL="342900" indent="-342900">
              <a:lnSpc>
                <a:spcPct val="160000"/>
              </a:lnSpc>
              <a:buClr>
                <a:srgbClr val="FF3300"/>
              </a:buClr>
              <a:buFont typeface="Wingdings" panose="05000000000000000000" charset="0"/>
              <a:buChar char=""/>
            </a:pPr>
            <a:r>
              <a:rPr lang="zh-CN" altLang="en-US" dirty="0"/>
              <a:t>数据传送指令</a:t>
            </a:r>
            <a:endParaRPr lang="zh-CN" altLang="en-US" dirty="0"/>
          </a:p>
          <a:p>
            <a:pPr marL="342900" indent="-342900">
              <a:lnSpc>
                <a:spcPct val="160000"/>
              </a:lnSpc>
              <a:buClr>
                <a:srgbClr val="FF3300"/>
              </a:buClr>
              <a:buFont typeface="Wingdings" panose="05000000000000000000" charset="0"/>
              <a:buChar char=""/>
            </a:pPr>
            <a:r>
              <a:rPr lang="zh-CN" altLang="en-US" dirty="0"/>
              <a:t>算术指令</a:t>
            </a:r>
            <a:endParaRPr lang="zh-CN" altLang="en-US" dirty="0"/>
          </a:p>
          <a:p>
            <a:pPr marL="342900" indent="-342900">
              <a:lnSpc>
                <a:spcPct val="160000"/>
              </a:lnSpc>
              <a:buClr>
                <a:srgbClr val="FF3300"/>
              </a:buClr>
              <a:buFont typeface="Wingdings" panose="05000000000000000000" charset="0"/>
              <a:buChar char=""/>
            </a:pPr>
            <a:r>
              <a:rPr lang="zh-CN" altLang="en-US" dirty="0">
                <a:solidFill>
                  <a:srgbClr val="FF0000"/>
                </a:solidFill>
              </a:rPr>
              <a:t>逻辑指令</a:t>
            </a:r>
            <a:endParaRPr lang="en-US" altLang="zh-CN" dirty="0">
              <a:solidFill>
                <a:srgbClr val="FF0000"/>
              </a:solidFill>
              <a:sym typeface="+mn-ea"/>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矩形 67585"/>
          <p:cNvSpPr/>
          <p:nvPr/>
        </p:nvSpPr>
        <p:spPr>
          <a:xfrm>
            <a:off x="1475656" y="1448780"/>
            <a:ext cx="6705600" cy="3170099"/>
          </a:xfrm>
          <a:prstGeom prst="rect">
            <a:avLst/>
          </a:prstGeom>
          <a:noFill/>
          <a:ln w="12700">
            <a:noFill/>
          </a:ln>
        </p:spPr>
        <p:txBody>
          <a:bodyPr>
            <a:spAutoFit/>
          </a:bodyPr>
          <a:lstStyle/>
          <a:p>
            <a:pPr>
              <a:spcBef>
                <a:spcPct val="50000"/>
              </a:spcBef>
              <a:buClr>
                <a:schemeClr val="tx2"/>
              </a:buClr>
              <a:buSzPct val="90000"/>
            </a:pPr>
            <a:r>
              <a:rPr lang="zh-CN" altLang="en-US" sz="2000" b="0" dirty="0">
                <a:solidFill>
                  <a:srgbClr val="000000"/>
                </a:solidFill>
                <a:latin typeface="+mn-lt"/>
              </a:rPr>
              <a:t>逻辑指令：</a:t>
            </a:r>
            <a:endParaRPr lang="zh-CN" altLang="en-US" sz="2000" b="0" dirty="0">
              <a:solidFill>
                <a:srgbClr val="000000"/>
              </a:solidFill>
              <a:latin typeface="+mn-lt"/>
            </a:endParaRPr>
          </a:p>
          <a:p>
            <a:pPr>
              <a:spcBef>
                <a:spcPct val="50000"/>
              </a:spcBef>
              <a:buClr>
                <a:schemeClr val="tx2"/>
              </a:buClr>
              <a:buSzPct val="90000"/>
            </a:pPr>
            <a:endParaRPr lang="zh-CN" altLang="en-US" sz="2000" b="0" dirty="0">
              <a:solidFill>
                <a:srgbClr val="000000"/>
              </a:solidFill>
              <a:latin typeface="+mn-lt"/>
              <a:sym typeface="Symbol" panose="05050102010706020507" pitchFamily="18" charset="2"/>
            </a:endParaRPr>
          </a:p>
          <a:p>
            <a:pPr>
              <a:spcBef>
                <a:spcPct val="50000"/>
              </a:spcBef>
              <a:buClr>
                <a:schemeClr val="tx2"/>
              </a:buClr>
              <a:buSzPct val="90000"/>
            </a:pPr>
            <a:r>
              <a:rPr lang="zh-CN" altLang="en-US" sz="2000" b="0" dirty="0">
                <a:solidFill>
                  <a:srgbClr val="000000"/>
                </a:solidFill>
                <a:latin typeface="+mn-lt"/>
                <a:sym typeface="Symbol" panose="05050102010706020507" pitchFamily="18" charset="2"/>
              </a:rPr>
              <a:t>      </a:t>
            </a:r>
            <a:r>
              <a:rPr lang="en-US" altLang="zh-CN" sz="2000" b="0" dirty="0">
                <a:solidFill>
                  <a:srgbClr val="000000"/>
                </a:solidFill>
                <a:latin typeface="+mn-lt"/>
                <a:sym typeface="Symbol" panose="05050102010706020507" pitchFamily="18" charset="2"/>
              </a:rPr>
              <a:t>   </a:t>
            </a:r>
            <a:r>
              <a:rPr lang="zh-CN" altLang="en-US" sz="2000" b="0" dirty="0">
                <a:solidFill>
                  <a:srgbClr val="000000"/>
                </a:solidFill>
                <a:latin typeface="+mn-lt"/>
              </a:rPr>
              <a:t>逻辑运算指令</a:t>
            </a:r>
            <a:endParaRPr lang="zh-CN" altLang="en-US" sz="2000" b="0" dirty="0">
              <a:solidFill>
                <a:srgbClr val="000000"/>
              </a:solidFill>
              <a:latin typeface="+mn-lt"/>
            </a:endParaRPr>
          </a:p>
          <a:p>
            <a:pPr>
              <a:spcBef>
                <a:spcPct val="50000"/>
              </a:spcBef>
              <a:buClr>
                <a:schemeClr val="tx2"/>
              </a:buClr>
              <a:buSzPct val="90000"/>
            </a:pPr>
            <a:r>
              <a:rPr lang="zh-CN" altLang="en-US" sz="2000" b="0" dirty="0">
                <a:solidFill>
                  <a:srgbClr val="000000"/>
                </a:solidFill>
                <a:latin typeface="+mn-lt"/>
              </a:rPr>
              <a:t>         </a:t>
            </a:r>
            <a:r>
              <a:rPr lang="en-US" altLang="zh-CN" sz="2000" b="0" dirty="0">
                <a:solidFill>
                  <a:srgbClr val="000000"/>
                </a:solidFill>
                <a:latin typeface="+mn-lt"/>
              </a:rPr>
              <a:t>AND</a:t>
            </a:r>
            <a:r>
              <a:rPr lang="zh-CN" altLang="en-US" sz="2000" b="0" dirty="0">
                <a:solidFill>
                  <a:srgbClr val="000000"/>
                </a:solidFill>
                <a:latin typeface="+mn-lt"/>
              </a:rPr>
              <a:t>、</a:t>
            </a:r>
            <a:r>
              <a:rPr lang="en-US" altLang="zh-CN" sz="2000" b="0" dirty="0">
                <a:solidFill>
                  <a:srgbClr val="000000"/>
                </a:solidFill>
                <a:latin typeface="+mn-lt"/>
              </a:rPr>
              <a:t>OR</a:t>
            </a:r>
            <a:r>
              <a:rPr lang="zh-CN" altLang="en-US" sz="2000" b="0" dirty="0">
                <a:solidFill>
                  <a:srgbClr val="000000"/>
                </a:solidFill>
                <a:latin typeface="+mn-lt"/>
              </a:rPr>
              <a:t>、</a:t>
            </a:r>
            <a:r>
              <a:rPr lang="en-US" altLang="zh-CN" sz="2000" b="0" dirty="0">
                <a:solidFill>
                  <a:srgbClr val="000000"/>
                </a:solidFill>
                <a:latin typeface="+mn-lt"/>
              </a:rPr>
              <a:t>NOT</a:t>
            </a:r>
            <a:r>
              <a:rPr lang="zh-CN" altLang="en-US" sz="2000" b="0" dirty="0">
                <a:solidFill>
                  <a:srgbClr val="000000"/>
                </a:solidFill>
                <a:latin typeface="+mn-lt"/>
              </a:rPr>
              <a:t>、</a:t>
            </a:r>
            <a:r>
              <a:rPr lang="en-US" altLang="zh-CN" sz="2000" b="0" dirty="0">
                <a:solidFill>
                  <a:srgbClr val="000000"/>
                </a:solidFill>
                <a:latin typeface="+mn-lt"/>
              </a:rPr>
              <a:t>XOR</a:t>
            </a:r>
            <a:r>
              <a:rPr lang="zh-CN" altLang="en-US" sz="2000" b="0" dirty="0">
                <a:solidFill>
                  <a:srgbClr val="000000"/>
                </a:solidFill>
                <a:latin typeface="+mn-lt"/>
              </a:rPr>
              <a:t>、</a:t>
            </a:r>
            <a:r>
              <a:rPr lang="en-US" altLang="zh-CN" sz="2000" b="0" dirty="0">
                <a:solidFill>
                  <a:srgbClr val="000000"/>
                </a:solidFill>
                <a:latin typeface="+mn-lt"/>
              </a:rPr>
              <a:t>TEST </a:t>
            </a:r>
            <a:endParaRPr lang="en-US" altLang="zh-CN" sz="2000" b="0" dirty="0">
              <a:solidFill>
                <a:srgbClr val="000000"/>
              </a:solidFill>
              <a:latin typeface="+mn-lt"/>
            </a:endParaRPr>
          </a:p>
          <a:p>
            <a:pPr>
              <a:spcBef>
                <a:spcPct val="50000"/>
              </a:spcBef>
            </a:pPr>
            <a:r>
              <a:rPr lang="en-US" altLang="zh-CN" sz="2000" b="0" dirty="0">
                <a:solidFill>
                  <a:srgbClr val="000000"/>
                </a:solidFill>
                <a:latin typeface="+mn-lt"/>
                <a:sym typeface="Symbol" panose="05050102010706020507" pitchFamily="18" charset="2"/>
              </a:rPr>
              <a:t>         </a:t>
            </a:r>
            <a:r>
              <a:rPr lang="zh-CN" altLang="en-US" sz="2000" b="0" dirty="0">
                <a:solidFill>
                  <a:srgbClr val="000000"/>
                </a:solidFill>
                <a:latin typeface="+mn-lt"/>
              </a:rPr>
              <a:t>移位指令和循环移位指令</a:t>
            </a:r>
            <a:endParaRPr lang="zh-CN" altLang="en-US" sz="2000" b="0" dirty="0">
              <a:solidFill>
                <a:srgbClr val="000000"/>
              </a:solidFill>
              <a:latin typeface="+mn-lt"/>
            </a:endParaRPr>
          </a:p>
          <a:p>
            <a:pPr>
              <a:spcBef>
                <a:spcPct val="50000"/>
              </a:spcBef>
            </a:pPr>
            <a:r>
              <a:rPr lang="zh-CN" altLang="en-US" sz="2000" b="0" dirty="0">
                <a:solidFill>
                  <a:srgbClr val="000000"/>
                </a:solidFill>
                <a:latin typeface="+mn-lt"/>
              </a:rPr>
              <a:t>         </a:t>
            </a:r>
            <a:r>
              <a:rPr lang="en-US" altLang="zh-CN" sz="2000" b="0" dirty="0">
                <a:solidFill>
                  <a:srgbClr val="000000"/>
                </a:solidFill>
                <a:latin typeface="+mn-lt"/>
              </a:rPr>
              <a:t>SHL</a:t>
            </a:r>
            <a:r>
              <a:rPr lang="zh-CN" altLang="en-US" sz="2000" b="0" dirty="0">
                <a:solidFill>
                  <a:srgbClr val="000000"/>
                </a:solidFill>
                <a:latin typeface="+mn-lt"/>
              </a:rPr>
              <a:t>、</a:t>
            </a:r>
            <a:r>
              <a:rPr lang="en-US" altLang="zh-CN" sz="2000" b="0" dirty="0">
                <a:solidFill>
                  <a:srgbClr val="000000"/>
                </a:solidFill>
                <a:latin typeface="+mn-lt"/>
              </a:rPr>
              <a:t>SHR </a:t>
            </a:r>
            <a:r>
              <a:rPr lang="zh-CN" altLang="en-US" sz="2000" b="0" dirty="0">
                <a:solidFill>
                  <a:srgbClr val="000000"/>
                </a:solidFill>
                <a:latin typeface="+mn-lt"/>
              </a:rPr>
              <a:t>、 </a:t>
            </a:r>
            <a:r>
              <a:rPr lang="en-US" altLang="zh-CN" sz="2000" b="0" dirty="0">
                <a:solidFill>
                  <a:srgbClr val="000000"/>
                </a:solidFill>
                <a:latin typeface="+mn-lt"/>
              </a:rPr>
              <a:t>SAL </a:t>
            </a:r>
            <a:r>
              <a:rPr lang="zh-CN" altLang="en-US" sz="2000" b="0" dirty="0">
                <a:solidFill>
                  <a:srgbClr val="000000"/>
                </a:solidFill>
                <a:latin typeface="+mn-lt"/>
              </a:rPr>
              <a:t>、</a:t>
            </a:r>
            <a:r>
              <a:rPr lang="en-US" altLang="zh-CN" sz="2000" b="0" dirty="0">
                <a:solidFill>
                  <a:srgbClr val="000000"/>
                </a:solidFill>
                <a:latin typeface="+mn-lt"/>
              </a:rPr>
              <a:t>SAR</a:t>
            </a:r>
            <a:r>
              <a:rPr lang="zh-CN" altLang="en-US" sz="2000" b="0" dirty="0">
                <a:solidFill>
                  <a:srgbClr val="000000"/>
                </a:solidFill>
                <a:latin typeface="+mn-lt"/>
              </a:rPr>
              <a:t>、</a:t>
            </a:r>
            <a:endParaRPr lang="zh-CN" altLang="en-US" sz="2000" b="0" dirty="0">
              <a:solidFill>
                <a:srgbClr val="000000"/>
              </a:solidFill>
              <a:latin typeface="+mn-lt"/>
            </a:endParaRPr>
          </a:p>
          <a:p>
            <a:pPr>
              <a:spcBef>
                <a:spcPct val="50000"/>
              </a:spcBef>
            </a:pPr>
            <a:r>
              <a:rPr lang="zh-CN" altLang="en-US" sz="2000" b="0" dirty="0">
                <a:solidFill>
                  <a:srgbClr val="000000"/>
                </a:solidFill>
                <a:latin typeface="+mn-lt"/>
              </a:rPr>
              <a:t>          </a:t>
            </a:r>
            <a:r>
              <a:rPr lang="en-US" altLang="zh-CN" sz="2000" b="0" dirty="0">
                <a:solidFill>
                  <a:srgbClr val="000000"/>
                </a:solidFill>
                <a:latin typeface="+mn-lt"/>
              </a:rPr>
              <a:t>ROL</a:t>
            </a:r>
            <a:r>
              <a:rPr lang="zh-CN" altLang="en-US" sz="2000" b="0" dirty="0">
                <a:solidFill>
                  <a:srgbClr val="000000"/>
                </a:solidFill>
                <a:latin typeface="+mn-lt"/>
              </a:rPr>
              <a:t>、</a:t>
            </a:r>
            <a:r>
              <a:rPr lang="en-US" altLang="zh-CN" sz="2000" b="0" dirty="0">
                <a:solidFill>
                  <a:srgbClr val="000000"/>
                </a:solidFill>
                <a:latin typeface="+mn-lt"/>
              </a:rPr>
              <a:t>ROR</a:t>
            </a:r>
            <a:r>
              <a:rPr lang="zh-CN" altLang="en-US" sz="2000" b="0" dirty="0">
                <a:solidFill>
                  <a:srgbClr val="000000"/>
                </a:solidFill>
                <a:latin typeface="+mn-lt"/>
              </a:rPr>
              <a:t>、</a:t>
            </a:r>
            <a:r>
              <a:rPr lang="en-US" altLang="zh-CN" sz="2000" b="0" dirty="0">
                <a:solidFill>
                  <a:srgbClr val="000000"/>
                </a:solidFill>
                <a:latin typeface="+mn-lt"/>
              </a:rPr>
              <a:t>RCL</a:t>
            </a:r>
            <a:r>
              <a:rPr lang="zh-CN" altLang="en-US" sz="2000" b="0" dirty="0">
                <a:solidFill>
                  <a:srgbClr val="000000"/>
                </a:solidFill>
                <a:latin typeface="+mn-lt"/>
              </a:rPr>
              <a:t>、</a:t>
            </a:r>
            <a:r>
              <a:rPr lang="en-US" altLang="zh-CN" sz="2000" b="0" dirty="0">
                <a:solidFill>
                  <a:srgbClr val="000000"/>
                </a:solidFill>
                <a:latin typeface="+mn-lt"/>
              </a:rPr>
              <a:t>RCR</a:t>
            </a:r>
            <a:endParaRPr lang="en-US" altLang="zh-CN" sz="2000" b="0" dirty="0">
              <a:solidFill>
                <a:srgbClr val="000000"/>
              </a:solidFill>
              <a:latin typeface="+mn-lt"/>
            </a:endParaRPr>
          </a:p>
        </p:txBody>
      </p:sp>
      <p:sp>
        <p:nvSpPr>
          <p:cNvPr id="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逻辑指令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矩形 68609"/>
          <p:cNvSpPr/>
          <p:nvPr/>
        </p:nvSpPr>
        <p:spPr>
          <a:xfrm>
            <a:off x="755576" y="1718523"/>
            <a:ext cx="7272808" cy="4832092"/>
          </a:xfrm>
          <a:prstGeom prst="rect">
            <a:avLst/>
          </a:prstGeom>
          <a:noFill/>
          <a:ln w="12700">
            <a:noFill/>
          </a:ln>
        </p:spPr>
        <p:txBody>
          <a:bodyPr wrap="square" anchor="ctr">
            <a:spAutoFit/>
          </a:bodyPr>
          <a:lstStyle/>
          <a:p>
            <a:pPr eaLnBrk="0" hangingPunct="0"/>
            <a:r>
              <a:rPr lang="zh-CN" altLang="en-US" sz="2200" b="1" dirty="0">
                <a:solidFill>
                  <a:srgbClr val="000000"/>
                </a:solidFill>
                <a:latin typeface="Times New Roman" panose="02020603050405020304" pitchFamily="18" charset="0"/>
              </a:rPr>
              <a:t>逻辑非指令：</a:t>
            </a:r>
            <a:r>
              <a:rPr lang="en-US" altLang="zh-CN" sz="2200" b="1" dirty="0">
                <a:solidFill>
                  <a:srgbClr val="000000"/>
                </a:solidFill>
                <a:latin typeface="Times New Roman" panose="02020603050405020304" pitchFamily="18" charset="0"/>
              </a:rPr>
              <a:t>NOT  OPR                       </a:t>
            </a:r>
            <a:r>
              <a:rPr lang="en-US" altLang="zh-CN" sz="1800" b="1" dirty="0">
                <a:solidFill>
                  <a:srgbClr val="000000"/>
                </a:solidFill>
                <a:latin typeface="Times New Roman" panose="02020603050405020304" pitchFamily="18" charset="0"/>
              </a:rPr>
              <a:t>*  OPR</a:t>
            </a:r>
            <a:r>
              <a:rPr lang="zh-CN" altLang="zh-CN" sz="1800" b="1" dirty="0">
                <a:solidFill>
                  <a:srgbClr val="000000"/>
                </a:solidFill>
                <a:latin typeface="Times New Roman" panose="02020603050405020304" pitchFamily="18" charset="0"/>
                <a:ea typeface="楷体_GB2312" pitchFamily="49" charset="-122"/>
              </a:rPr>
              <a:t>不能为立即数</a:t>
            </a:r>
            <a:endParaRPr lang="en-US" altLang="zh-CN" sz="1800" b="1" dirty="0">
              <a:solidFill>
                <a:srgbClr val="000000"/>
              </a:solidFill>
              <a:latin typeface="Times New Roman" panose="02020603050405020304" pitchFamily="18" charset="0"/>
            </a:endParaRPr>
          </a:p>
          <a:p>
            <a:pPr eaLnBrk="0" hangingPunct="0"/>
            <a:r>
              <a:rPr lang="zh-CN" altLang="en-US" sz="2200" b="1" dirty="0">
                <a:solidFill>
                  <a:srgbClr val="000000"/>
                </a:solidFill>
                <a:latin typeface="Times New Roman" panose="02020603050405020304" pitchFamily="18" charset="0"/>
              </a:rPr>
              <a:t>执行操作：    </a:t>
            </a:r>
            <a:r>
              <a:rPr lang="en-US" altLang="zh-CN" sz="2200" b="1" dirty="0">
                <a:solidFill>
                  <a:srgbClr val="000000"/>
                </a:solidFill>
                <a:latin typeface="Times New Roman" panose="02020603050405020304" pitchFamily="18" charset="0"/>
              </a:rPr>
              <a:t>(OPR) </a:t>
            </a:r>
            <a:r>
              <a:rPr lang="en-US" altLang="zh-CN" sz="2200" b="1" dirty="0">
                <a:solidFill>
                  <a:srgbClr val="000000"/>
                </a:solidFill>
                <a:latin typeface="Times New Roman" panose="02020603050405020304" pitchFamily="18" charset="0"/>
                <a:sym typeface="Symbol" panose="05050102010706020507" pitchFamily="18" charset="2"/>
              </a:rPr>
              <a:t></a:t>
            </a:r>
            <a:r>
              <a:rPr lang="en-US" altLang="zh-CN" sz="2200" b="1" dirty="0">
                <a:solidFill>
                  <a:srgbClr val="000000"/>
                </a:solidFill>
                <a:latin typeface="Times New Roman" panose="02020603050405020304" pitchFamily="18" charset="0"/>
              </a:rPr>
              <a:t> (OPR)</a:t>
            </a:r>
            <a:r>
              <a:rPr lang="zh-CN" altLang="en-US" sz="2200" b="1" dirty="0">
                <a:solidFill>
                  <a:srgbClr val="000000"/>
                </a:solidFill>
                <a:latin typeface="Times New Roman" panose="02020603050405020304" pitchFamily="18" charset="0"/>
              </a:rPr>
              <a:t>取反</a:t>
            </a:r>
            <a:r>
              <a:rPr lang="en-US" altLang="zh-CN" sz="2200" b="1" dirty="0">
                <a:solidFill>
                  <a:srgbClr val="000000"/>
                </a:solidFill>
                <a:latin typeface="Times New Roman" panose="02020603050405020304" pitchFamily="18" charset="0"/>
              </a:rPr>
              <a:t>      </a:t>
            </a:r>
            <a:r>
              <a:rPr lang="en-US" altLang="zh-CN" sz="1800" b="1" dirty="0">
                <a:solidFill>
                  <a:srgbClr val="000000"/>
                </a:solidFill>
                <a:latin typeface="Times New Roman" panose="02020603050405020304" pitchFamily="18" charset="0"/>
              </a:rPr>
              <a:t>*  </a:t>
            </a:r>
            <a:r>
              <a:rPr lang="zh-CN" altLang="zh-CN" sz="1800" b="1" dirty="0">
                <a:solidFill>
                  <a:srgbClr val="000000"/>
                </a:solidFill>
                <a:latin typeface="Times New Roman" panose="02020603050405020304" pitchFamily="18" charset="0"/>
                <a:ea typeface="楷体_GB2312" pitchFamily="49" charset="-122"/>
              </a:rPr>
              <a:t>不影响标志位</a:t>
            </a:r>
            <a:r>
              <a:rPr lang="en-US" altLang="zh-CN" sz="2200" b="1" dirty="0">
                <a:solidFill>
                  <a:srgbClr val="000000"/>
                </a:solidFill>
                <a:latin typeface="Times New Roman" panose="02020603050405020304" pitchFamily="18" charset="0"/>
              </a:rPr>
              <a:t> </a:t>
            </a:r>
            <a:endParaRPr lang="en-US" altLang="zh-CN" sz="2200" b="1" dirty="0">
              <a:solidFill>
                <a:srgbClr val="000000"/>
              </a:solidFill>
              <a:latin typeface="Times New Roman" panose="02020603050405020304" pitchFamily="18" charset="0"/>
            </a:endParaRPr>
          </a:p>
          <a:p>
            <a:pPr eaLnBrk="0" hangingPunct="0"/>
            <a:endParaRPr lang="en-US" altLang="zh-CN" sz="2200" b="1" dirty="0">
              <a:solidFill>
                <a:srgbClr val="000000"/>
              </a:solidFill>
              <a:latin typeface="Times New Roman" panose="02020603050405020304" pitchFamily="18" charset="0"/>
            </a:endParaRPr>
          </a:p>
          <a:p>
            <a:pPr eaLnBrk="0" hangingPunct="0"/>
            <a:r>
              <a:rPr lang="zh-CN" altLang="en-US" sz="2200" b="1" dirty="0">
                <a:solidFill>
                  <a:srgbClr val="000000"/>
                </a:solidFill>
                <a:latin typeface="Times New Roman" panose="02020603050405020304" pitchFamily="18" charset="0"/>
              </a:rPr>
              <a:t>逻辑与指令：</a:t>
            </a:r>
            <a:r>
              <a:rPr lang="en-US" altLang="zh-CN" sz="2200" b="1" dirty="0">
                <a:solidFill>
                  <a:srgbClr val="000000"/>
                </a:solidFill>
                <a:latin typeface="Times New Roman" panose="02020603050405020304" pitchFamily="18" charset="0"/>
              </a:rPr>
              <a:t>AND  DST, SRC</a:t>
            </a:r>
            <a:endParaRPr lang="en-US" altLang="zh-CN" sz="2200" b="1" dirty="0">
              <a:solidFill>
                <a:srgbClr val="000000"/>
              </a:solidFill>
              <a:latin typeface="Times New Roman" panose="02020603050405020304" pitchFamily="18" charset="0"/>
            </a:endParaRPr>
          </a:p>
          <a:p>
            <a:pPr eaLnBrk="0" hangingPunct="0"/>
            <a:r>
              <a:rPr lang="zh-CN" altLang="en-US" sz="2200" b="1" dirty="0">
                <a:solidFill>
                  <a:srgbClr val="000000"/>
                </a:solidFill>
                <a:latin typeface="Times New Roman" panose="02020603050405020304" pitchFamily="18" charset="0"/>
              </a:rPr>
              <a:t>执行操作：    </a:t>
            </a:r>
            <a:r>
              <a:rPr lang="en-US" altLang="zh-CN" sz="2200" b="1" dirty="0">
                <a:solidFill>
                  <a:srgbClr val="000000"/>
                </a:solidFill>
                <a:latin typeface="Times New Roman" panose="02020603050405020304" pitchFamily="18" charset="0"/>
              </a:rPr>
              <a:t>(DST) </a:t>
            </a:r>
            <a:r>
              <a:rPr lang="en-US" altLang="zh-CN" sz="2200" b="1" dirty="0">
                <a:solidFill>
                  <a:srgbClr val="000000"/>
                </a:solidFill>
                <a:latin typeface="Times New Roman" panose="02020603050405020304" pitchFamily="18" charset="0"/>
                <a:sym typeface="Symbol" panose="05050102010706020507" pitchFamily="18" charset="2"/>
              </a:rPr>
              <a:t>  </a:t>
            </a:r>
            <a:r>
              <a:rPr lang="en-US" altLang="zh-CN" sz="2200" b="1" dirty="0">
                <a:solidFill>
                  <a:srgbClr val="000000"/>
                </a:solidFill>
                <a:latin typeface="Times New Roman" panose="02020603050405020304" pitchFamily="18" charset="0"/>
              </a:rPr>
              <a:t>(DST) </a:t>
            </a:r>
            <a:r>
              <a:rPr lang="en-US" altLang="zh-CN" sz="2200" b="1" dirty="0">
                <a:solidFill>
                  <a:srgbClr val="000000"/>
                </a:solidFill>
                <a:latin typeface="Times New Roman" panose="02020603050405020304" pitchFamily="18" charset="0"/>
                <a:sym typeface="Symbol" panose="05050102010706020507" pitchFamily="18" charset="2"/>
              </a:rPr>
              <a:t> </a:t>
            </a:r>
            <a:r>
              <a:rPr lang="en-US" altLang="zh-CN" sz="2200" b="1" dirty="0">
                <a:solidFill>
                  <a:srgbClr val="000000"/>
                </a:solidFill>
                <a:latin typeface="Times New Roman" panose="02020603050405020304" pitchFamily="18" charset="0"/>
              </a:rPr>
              <a:t>(SRC)</a:t>
            </a:r>
            <a:endParaRPr lang="en-US" altLang="zh-CN" sz="2200" b="1" dirty="0">
              <a:solidFill>
                <a:srgbClr val="000000"/>
              </a:solidFill>
              <a:latin typeface="Times New Roman" panose="02020603050405020304" pitchFamily="18" charset="0"/>
            </a:endParaRPr>
          </a:p>
          <a:p>
            <a:pPr eaLnBrk="0" hangingPunct="0"/>
            <a:endParaRPr lang="en-US" altLang="zh-CN" sz="2200" b="1" dirty="0">
              <a:solidFill>
                <a:srgbClr val="000000"/>
              </a:solidFill>
              <a:latin typeface="Times New Roman" panose="02020603050405020304" pitchFamily="18" charset="0"/>
            </a:endParaRPr>
          </a:p>
          <a:p>
            <a:pPr eaLnBrk="0" hangingPunct="0"/>
            <a:r>
              <a:rPr lang="zh-CN" altLang="en-US" sz="2200" b="1" dirty="0">
                <a:solidFill>
                  <a:srgbClr val="000000"/>
                </a:solidFill>
                <a:latin typeface="Times New Roman" panose="02020603050405020304" pitchFamily="18" charset="0"/>
              </a:rPr>
              <a:t>逻辑或指令：</a:t>
            </a:r>
            <a:r>
              <a:rPr lang="en-US" altLang="zh-CN" sz="2200" b="1" dirty="0">
                <a:solidFill>
                  <a:srgbClr val="000000"/>
                </a:solidFill>
                <a:latin typeface="Times New Roman" panose="02020603050405020304" pitchFamily="18" charset="0"/>
              </a:rPr>
              <a:t>OR  DST, SRC</a:t>
            </a:r>
            <a:endParaRPr lang="en-US" altLang="zh-CN" sz="2200" b="1" dirty="0">
              <a:solidFill>
                <a:srgbClr val="000000"/>
              </a:solidFill>
              <a:latin typeface="Times New Roman" panose="02020603050405020304" pitchFamily="18" charset="0"/>
            </a:endParaRPr>
          </a:p>
          <a:p>
            <a:pPr eaLnBrk="0" hangingPunct="0"/>
            <a:r>
              <a:rPr lang="zh-CN" altLang="en-US" sz="2200" b="1" dirty="0">
                <a:solidFill>
                  <a:srgbClr val="000000"/>
                </a:solidFill>
                <a:latin typeface="Times New Roman" panose="02020603050405020304" pitchFamily="18" charset="0"/>
              </a:rPr>
              <a:t>执行操作：    </a:t>
            </a:r>
            <a:r>
              <a:rPr lang="en-US" altLang="zh-CN" sz="2200" b="1" dirty="0">
                <a:solidFill>
                  <a:srgbClr val="000000"/>
                </a:solidFill>
                <a:latin typeface="Times New Roman" panose="02020603050405020304" pitchFamily="18" charset="0"/>
              </a:rPr>
              <a:t>(DST) </a:t>
            </a:r>
            <a:r>
              <a:rPr lang="en-US" altLang="zh-CN" sz="2200" b="1" dirty="0">
                <a:solidFill>
                  <a:srgbClr val="000000"/>
                </a:solidFill>
                <a:latin typeface="Times New Roman" panose="02020603050405020304" pitchFamily="18" charset="0"/>
                <a:sym typeface="Symbol" panose="05050102010706020507" pitchFamily="18" charset="2"/>
              </a:rPr>
              <a:t>  </a:t>
            </a:r>
            <a:r>
              <a:rPr lang="en-US" altLang="zh-CN" sz="2200" b="1" dirty="0">
                <a:solidFill>
                  <a:srgbClr val="000000"/>
                </a:solidFill>
                <a:latin typeface="Times New Roman" panose="02020603050405020304" pitchFamily="18" charset="0"/>
              </a:rPr>
              <a:t>(DST) </a:t>
            </a:r>
            <a:r>
              <a:rPr lang="en-US" altLang="zh-CN" sz="2200" b="1" dirty="0">
                <a:solidFill>
                  <a:srgbClr val="000000"/>
                </a:solidFill>
                <a:latin typeface="Times New Roman" panose="02020603050405020304" pitchFamily="18" charset="0"/>
                <a:sym typeface="Symbol" panose="05050102010706020507" pitchFamily="18" charset="2"/>
              </a:rPr>
              <a:t> </a:t>
            </a:r>
            <a:r>
              <a:rPr lang="en-US" altLang="zh-CN" sz="2200" b="1" dirty="0">
                <a:solidFill>
                  <a:srgbClr val="000000"/>
                </a:solidFill>
                <a:latin typeface="Times New Roman" panose="02020603050405020304" pitchFamily="18" charset="0"/>
              </a:rPr>
              <a:t>(SRC)</a:t>
            </a:r>
            <a:endParaRPr lang="en-US" altLang="zh-CN" sz="2200" b="1" dirty="0">
              <a:solidFill>
                <a:srgbClr val="000000"/>
              </a:solidFill>
              <a:latin typeface="Times New Roman" panose="02020603050405020304" pitchFamily="18" charset="0"/>
            </a:endParaRPr>
          </a:p>
          <a:p>
            <a:pPr eaLnBrk="0" hangingPunct="0"/>
            <a:endParaRPr lang="en-US" altLang="zh-CN" sz="2200" b="1" dirty="0">
              <a:solidFill>
                <a:srgbClr val="000000"/>
              </a:solidFill>
              <a:latin typeface="Times New Roman" panose="02020603050405020304" pitchFamily="18" charset="0"/>
            </a:endParaRPr>
          </a:p>
          <a:p>
            <a:pPr eaLnBrk="0" hangingPunct="0"/>
            <a:r>
              <a:rPr lang="zh-CN" altLang="en-US" sz="2200" b="1" dirty="0">
                <a:solidFill>
                  <a:srgbClr val="000000"/>
                </a:solidFill>
                <a:latin typeface="Times New Roman" panose="02020603050405020304" pitchFamily="18" charset="0"/>
              </a:rPr>
              <a:t>异或指令：    </a:t>
            </a:r>
            <a:r>
              <a:rPr lang="en-US" altLang="zh-CN" sz="2200" b="1" dirty="0">
                <a:solidFill>
                  <a:srgbClr val="000000"/>
                </a:solidFill>
                <a:latin typeface="Times New Roman" panose="02020603050405020304" pitchFamily="18" charset="0"/>
              </a:rPr>
              <a:t>XOR  DST, SRC</a:t>
            </a:r>
            <a:endParaRPr lang="en-US" altLang="zh-CN" sz="2200" b="1" dirty="0">
              <a:solidFill>
                <a:srgbClr val="000000"/>
              </a:solidFill>
              <a:latin typeface="Times New Roman" panose="02020603050405020304" pitchFamily="18" charset="0"/>
            </a:endParaRPr>
          </a:p>
          <a:p>
            <a:pPr eaLnBrk="0" hangingPunct="0"/>
            <a:r>
              <a:rPr lang="zh-CN" altLang="en-US" sz="2200" b="1" dirty="0">
                <a:solidFill>
                  <a:srgbClr val="000000"/>
                </a:solidFill>
                <a:latin typeface="Times New Roman" panose="02020603050405020304" pitchFamily="18" charset="0"/>
              </a:rPr>
              <a:t>执行操作：    </a:t>
            </a:r>
            <a:r>
              <a:rPr lang="en-US" altLang="zh-CN" sz="2200" b="1" dirty="0">
                <a:solidFill>
                  <a:srgbClr val="000000"/>
                </a:solidFill>
                <a:latin typeface="Times New Roman" panose="02020603050405020304" pitchFamily="18" charset="0"/>
              </a:rPr>
              <a:t>(DST) </a:t>
            </a:r>
            <a:r>
              <a:rPr lang="en-US" altLang="zh-CN" sz="2200" b="1" dirty="0">
                <a:solidFill>
                  <a:srgbClr val="000000"/>
                </a:solidFill>
                <a:latin typeface="Times New Roman" panose="02020603050405020304" pitchFamily="18" charset="0"/>
                <a:sym typeface="Symbol" panose="05050102010706020507" pitchFamily="18" charset="2"/>
              </a:rPr>
              <a:t>  </a:t>
            </a:r>
            <a:r>
              <a:rPr lang="en-US" altLang="zh-CN" sz="2200" b="1" dirty="0">
                <a:solidFill>
                  <a:srgbClr val="000000"/>
                </a:solidFill>
                <a:latin typeface="Times New Roman" panose="02020603050405020304" pitchFamily="18" charset="0"/>
              </a:rPr>
              <a:t>(DST) </a:t>
            </a:r>
            <a:r>
              <a:rPr lang="en-US" altLang="zh-CN" sz="2200" b="1" dirty="0">
                <a:solidFill>
                  <a:srgbClr val="000000"/>
                </a:solidFill>
                <a:latin typeface="Times New Roman" panose="02020603050405020304" pitchFamily="18" charset="0"/>
                <a:sym typeface="Symbol" panose="05050102010706020507" pitchFamily="18" charset="2"/>
              </a:rPr>
              <a:t> </a:t>
            </a:r>
            <a:r>
              <a:rPr lang="en-US" altLang="zh-CN" sz="2200" b="1" dirty="0">
                <a:solidFill>
                  <a:srgbClr val="000000"/>
                </a:solidFill>
                <a:latin typeface="Times New Roman" panose="02020603050405020304" pitchFamily="18" charset="0"/>
              </a:rPr>
              <a:t>(SRC)</a:t>
            </a:r>
            <a:endParaRPr lang="en-US" altLang="zh-CN" sz="2200" b="1" dirty="0">
              <a:solidFill>
                <a:srgbClr val="000000"/>
              </a:solidFill>
              <a:latin typeface="Times New Roman" panose="02020603050405020304" pitchFamily="18" charset="0"/>
            </a:endParaRPr>
          </a:p>
          <a:p>
            <a:pPr eaLnBrk="0" hangingPunct="0"/>
            <a:endParaRPr lang="en-US" altLang="zh-CN" sz="2200" b="1" dirty="0">
              <a:solidFill>
                <a:srgbClr val="000000"/>
              </a:solidFill>
              <a:latin typeface="Times New Roman" panose="02020603050405020304" pitchFamily="18" charset="0"/>
            </a:endParaRPr>
          </a:p>
          <a:p>
            <a:pPr eaLnBrk="0" hangingPunct="0"/>
            <a:r>
              <a:rPr lang="zh-CN" altLang="en-US" sz="2200" b="1" dirty="0">
                <a:solidFill>
                  <a:srgbClr val="000000"/>
                </a:solidFill>
                <a:latin typeface="Times New Roman" panose="02020603050405020304" pitchFamily="18" charset="0"/>
              </a:rPr>
              <a:t>测试指令：    </a:t>
            </a:r>
            <a:r>
              <a:rPr lang="en-US" altLang="zh-CN" sz="2200" b="1" dirty="0">
                <a:solidFill>
                  <a:srgbClr val="000000"/>
                </a:solidFill>
                <a:latin typeface="Times New Roman" panose="02020603050405020304" pitchFamily="18" charset="0"/>
              </a:rPr>
              <a:t>TEST  OPR1, OPR2</a:t>
            </a:r>
            <a:br>
              <a:rPr lang="en-US" altLang="zh-CN" sz="2200" b="1" dirty="0">
                <a:solidFill>
                  <a:srgbClr val="000000"/>
                </a:solidFill>
                <a:latin typeface="Times New Roman" panose="02020603050405020304" pitchFamily="18" charset="0"/>
              </a:rPr>
            </a:br>
            <a:r>
              <a:rPr lang="zh-CN" altLang="en-US" sz="2200" b="1" dirty="0">
                <a:solidFill>
                  <a:srgbClr val="000000"/>
                </a:solidFill>
                <a:latin typeface="Times New Roman" panose="02020603050405020304" pitchFamily="18" charset="0"/>
              </a:rPr>
              <a:t>执行操作：    </a:t>
            </a:r>
            <a:r>
              <a:rPr lang="en-US" altLang="zh-CN" sz="2200" b="1" dirty="0">
                <a:solidFill>
                  <a:srgbClr val="000000"/>
                </a:solidFill>
                <a:latin typeface="Times New Roman" panose="02020603050405020304" pitchFamily="18" charset="0"/>
              </a:rPr>
              <a:t>(OPR1) </a:t>
            </a:r>
            <a:r>
              <a:rPr lang="en-US" altLang="zh-CN" sz="2200" b="1" dirty="0">
                <a:solidFill>
                  <a:srgbClr val="000000"/>
                </a:solidFill>
                <a:latin typeface="Times New Roman" panose="02020603050405020304" pitchFamily="18" charset="0"/>
                <a:sym typeface="Symbol" panose="05050102010706020507" pitchFamily="18" charset="2"/>
              </a:rPr>
              <a:t> </a:t>
            </a:r>
            <a:r>
              <a:rPr lang="en-US" altLang="zh-CN" sz="2200" b="1" dirty="0">
                <a:solidFill>
                  <a:srgbClr val="000000"/>
                </a:solidFill>
                <a:latin typeface="Times New Roman" panose="02020603050405020304" pitchFamily="18" charset="0"/>
              </a:rPr>
              <a:t>(OPR2)</a:t>
            </a:r>
            <a:endParaRPr lang="en-US" altLang="zh-CN" sz="2200" b="1" dirty="0">
              <a:solidFill>
                <a:srgbClr val="000000"/>
              </a:solidFill>
              <a:latin typeface="Times New Roman" panose="02020603050405020304" pitchFamily="18" charset="0"/>
            </a:endParaRPr>
          </a:p>
        </p:txBody>
      </p:sp>
      <p:sp>
        <p:nvSpPr>
          <p:cNvPr id="68611" name="右大括号 68610"/>
          <p:cNvSpPr/>
          <p:nvPr/>
        </p:nvSpPr>
        <p:spPr>
          <a:xfrm>
            <a:off x="5784776" y="2886794"/>
            <a:ext cx="228600" cy="3505200"/>
          </a:xfrm>
          <a:prstGeom prst="rightBrace">
            <a:avLst>
              <a:gd name="adj1" fmla="val 127777"/>
              <a:gd name="adj2" fmla="val 50000"/>
            </a:avLst>
          </a:prstGeom>
          <a:noFill/>
          <a:ln w="12700" cap="sq" cmpd="sng">
            <a:solidFill>
              <a:schemeClr val="bg2"/>
            </a:solidFill>
            <a:prstDash val="solid"/>
            <a:headEnd type="none" w="med" len="med"/>
            <a:tailEnd type="none" w="med" len="med"/>
          </a:ln>
        </p:spPr>
        <p:txBody>
          <a:bodyPr/>
          <a:lstStyle/>
          <a:p>
            <a:endParaRPr lang="zh-CN" altLang="en-US"/>
          </a:p>
        </p:txBody>
      </p:sp>
      <p:sp>
        <p:nvSpPr>
          <p:cNvPr id="68612" name="文本框 68611"/>
          <p:cNvSpPr txBox="1"/>
          <p:nvPr/>
        </p:nvSpPr>
        <p:spPr>
          <a:xfrm>
            <a:off x="6034014" y="4182194"/>
            <a:ext cx="2646362" cy="779463"/>
          </a:xfrm>
          <a:prstGeom prst="rect">
            <a:avLst/>
          </a:prstGeom>
          <a:noFill/>
          <a:ln w="12700">
            <a:noFill/>
          </a:ln>
        </p:spPr>
        <p:txBody>
          <a:bodyPr wrap="none" anchor="ctr">
            <a:spAutoFit/>
          </a:bodyPr>
          <a:lstStyle/>
          <a:p>
            <a:pPr eaLnBrk="0" hangingPunct="0">
              <a:spcBef>
                <a:spcPct val="50000"/>
              </a:spcBef>
            </a:pPr>
            <a:r>
              <a:rPr lang="en-US" altLang="zh-CN" sz="1800" b="1">
                <a:solidFill>
                  <a:srgbClr val="000000"/>
                </a:solidFill>
                <a:latin typeface="Times New Roman" panose="02020603050405020304" pitchFamily="18" charset="0"/>
              </a:rPr>
              <a:t>CF OF SF ZF PF  AF</a:t>
            </a:r>
            <a:endParaRPr lang="en-US" altLang="zh-CN" sz="1800" b="1">
              <a:solidFill>
                <a:srgbClr val="000000"/>
              </a:solidFill>
              <a:latin typeface="Times New Roman" panose="02020603050405020304" pitchFamily="18" charset="0"/>
            </a:endParaRPr>
          </a:p>
          <a:p>
            <a:pPr eaLnBrk="0" hangingPunct="0">
              <a:spcBef>
                <a:spcPct val="50000"/>
              </a:spcBef>
            </a:pPr>
            <a:r>
              <a:rPr lang="en-US" altLang="zh-CN" sz="1800" b="1">
                <a:solidFill>
                  <a:srgbClr val="000000"/>
                </a:solidFill>
                <a:latin typeface="Times New Roman" panose="02020603050405020304" pitchFamily="18" charset="0"/>
              </a:rPr>
              <a:t> 0     0    *    *    *   </a:t>
            </a:r>
            <a:r>
              <a:rPr lang="zh-CN" altLang="zh-CN" sz="1800" b="1" dirty="0">
                <a:solidFill>
                  <a:srgbClr val="000000"/>
                </a:solidFill>
                <a:latin typeface="Times New Roman" panose="02020603050405020304" pitchFamily="18" charset="0"/>
                <a:ea typeface="楷体_GB2312" pitchFamily="49" charset="-122"/>
              </a:rPr>
              <a:t>无定义</a:t>
            </a:r>
            <a:endParaRPr lang="en-US" altLang="zh-CN" sz="1800">
              <a:solidFill>
                <a:srgbClr val="000000"/>
              </a:solidFill>
              <a:latin typeface="Times New Roman" panose="02020603050405020304" pitchFamily="18" charset="0"/>
            </a:endParaRPr>
          </a:p>
        </p:txBody>
      </p:sp>
      <p:sp>
        <p:nvSpPr>
          <p:cNvPr id="68613" name="左大括号 68612"/>
          <p:cNvSpPr/>
          <p:nvPr/>
        </p:nvSpPr>
        <p:spPr>
          <a:xfrm rot="16200000">
            <a:off x="7308776" y="4639394"/>
            <a:ext cx="76200" cy="685800"/>
          </a:xfrm>
          <a:prstGeom prst="leftBrace">
            <a:avLst>
              <a:gd name="adj1" fmla="val 75000"/>
              <a:gd name="adj2" fmla="val 50000"/>
            </a:avLst>
          </a:prstGeom>
          <a:noFill/>
          <a:ln w="12700" cap="sq" cmpd="sng">
            <a:solidFill>
              <a:schemeClr val="bg2"/>
            </a:solidFill>
            <a:prstDash val="solid"/>
            <a:headEnd type="none" w="med" len="med"/>
            <a:tailEnd type="none" w="med" len="med"/>
          </a:ln>
        </p:spPr>
        <p:txBody>
          <a:bodyPr/>
          <a:lstStyle/>
          <a:p>
            <a:endParaRPr lang="zh-CN" altLang="en-US"/>
          </a:p>
        </p:txBody>
      </p:sp>
      <p:sp>
        <p:nvSpPr>
          <p:cNvPr id="68614" name="文本框 68613"/>
          <p:cNvSpPr txBox="1"/>
          <p:nvPr/>
        </p:nvSpPr>
        <p:spPr>
          <a:xfrm>
            <a:off x="6318176" y="5172794"/>
            <a:ext cx="2089150" cy="396875"/>
          </a:xfrm>
          <a:prstGeom prst="rect">
            <a:avLst/>
          </a:prstGeom>
          <a:noFill/>
          <a:ln w="12700">
            <a:noFill/>
          </a:ln>
        </p:spPr>
        <p:txBody>
          <a:bodyPr wrap="none" anchor="ctr">
            <a:spAutoFit/>
          </a:bodyPr>
          <a:lstStyle/>
          <a:p>
            <a:pPr algn="ctr" eaLnBrk="0" hangingPunct="0">
              <a:spcBef>
                <a:spcPct val="50000"/>
              </a:spcBef>
            </a:pPr>
            <a:r>
              <a:rPr lang="en-US" altLang="zh-CN" sz="2000" dirty="0">
                <a:solidFill>
                  <a:srgbClr val="000000"/>
                </a:solidFill>
                <a:latin typeface="Times New Roman" panose="02020603050405020304" pitchFamily="18" charset="0"/>
              </a:rPr>
              <a:t> </a:t>
            </a:r>
            <a:r>
              <a:rPr lang="zh-CN" altLang="en-US" sz="1800" b="1" dirty="0">
                <a:solidFill>
                  <a:srgbClr val="FF0000"/>
                </a:solidFill>
                <a:latin typeface="Times New Roman" panose="02020603050405020304" pitchFamily="18" charset="0"/>
                <a:ea typeface="楷体_GB2312" pitchFamily="49" charset="-122"/>
              </a:rPr>
              <a:t>根据运算结果设置</a:t>
            </a:r>
            <a:endParaRPr lang="zh-CN" altLang="en-US" sz="1800" b="1" dirty="0">
              <a:solidFill>
                <a:srgbClr val="FF0000"/>
              </a:solidFill>
              <a:latin typeface="Times New Roman" panose="02020603050405020304" pitchFamily="18" charset="0"/>
              <a:ea typeface="楷体_GB2312" pitchFamily="49" charset="-122"/>
            </a:endParaRP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逻辑指令</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755576" y="1051296"/>
            <a:ext cx="2350323" cy="461665"/>
          </a:xfrm>
          <a:prstGeom prst="rect">
            <a:avLst/>
          </a:prstGeom>
        </p:spPr>
        <p:txBody>
          <a:bodyPr wrap="none">
            <a:spAutoFit/>
          </a:bodyPr>
          <a:lstStyle/>
          <a:p>
            <a:pPr>
              <a:spcBef>
                <a:spcPct val="50000"/>
              </a:spcBef>
              <a:buClr>
                <a:schemeClr val="tx2"/>
              </a:buClr>
              <a:buSzPct val="90000"/>
            </a:pPr>
            <a:r>
              <a:rPr lang="zh-CN" altLang="en-US" dirty="0">
                <a:solidFill>
                  <a:srgbClr val="000000"/>
                </a:solidFill>
              </a:rPr>
              <a:t>逻辑运算指令：</a:t>
            </a:r>
            <a:endParaRPr lang="zh-CN" altLang="en-US" dirty="0">
              <a:solidFill>
                <a:srgbClr val="000000"/>
              </a:solidFill>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文本框 69633"/>
          <p:cNvSpPr txBox="1"/>
          <p:nvPr/>
        </p:nvSpPr>
        <p:spPr>
          <a:xfrm>
            <a:off x="1115616" y="958105"/>
            <a:ext cx="3505200" cy="5451475"/>
          </a:xfrm>
          <a:prstGeom prst="rect">
            <a:avLst/>
          </a:prstGeom>
          <a:noFill/>
          <a:ln w="9525">
            <a:noFill/>
          </a:ln>
        </p:spPr>
        <p:txBody>
          <a:bodyPr>
            <a:spAutoFit/>
          </a:bodyPr>
          <a:lstStyle/>
          <a:p>
            <a:pPr algn="just" eaLnBrk="0" hangingPunct="0"/>
            <a:r>
              <a:rPr lang="zh-CN" altLang="en-US" sz="2200" b="1" dirty="0">
                <a:solidFill>
                  <a:srgbClr val="000000"/>
                </a:solidFill>
                <a:latin typeface="Times New Roman" panose="02020603050405020304" pitchFamily="18" charset="0"/>
              </a:rPr>
              <a:t>例：屏蔽</a:t>
            </a:r>
            <a:r>
              <a:rPr lang="en-US" altLang="zh-CN" sz="2200" b="1" dirty="0">
                <a:solidFill>
                  <a:srgbClr val="000000"/>
                </a:solidFill>
                <a:latin typeface="Times New Roman" panose="02020603050405020304" pitchFamily="18" charset="0"/>
              </a:rPr>
              <a:t>AL</a:t>
            </a:r>
            <a:r>
              <a:rPr lang="zh-CN" altLang="en-US" sz="2200" b="1" dirty="0">
                <a:solidFill>
                  <a:srgbClr val="000000"/>
                </a:solidFill>
                <a:latin typeface="Times New Roman" panose="02020603050405020304" pitchFamily="18" charset="0"/>
              </a:rPr>
              <a:t>的第</a:t>
            </a:r>
            <a:r>
              <a:rPr lang="en-US" altLang="zh-CN" sz="2200" b="1" dirty="0">
                <a:solidFill>
                  <a:srgbClr val="000000"/>
                </a:solidFill>
                <a:latin typeface="Times New Roman" panose="02020603050405020304" pitchFamily="18" charset="0"/>
              </a:rPr>
              <a:t>0</a:t>
            </a:r>
            <a:r>
              <a:rPr lang="zh-CN" altLang="en-US" sz="2200" b="1" dirty="0">
                <a:solidFill>
                  <a:srgbClr val="000000"/>
                </a:solidFill>
                <a:latin typeface="Times New Roman" panose="02020603050405020304" pitchFamily="18" charset="0"/>
              </a:rPr>
              <a:t>、</a:t>
            </a:r>
            <a:r>
              <a:rPr lang="en-US" altLang="zh-CN" sz="2200" b="1" dirty="0">
                <a:solidFill>
                  <a:srgbClr val="000000"/>
                </a:solidFill>
                <a:latin typeface="Times New Roman" panose="02020603050405020304" pitchFamily="18" charset="0"/>
              </a:rPr>
              <a:t>1</a:t>
            </a:r>
            <a:r>
              <a:rPr lang="zh-CN" altLang="en-US" sz="2200" b="1" dirty="0">
                <a:solidFill>
                  <a:srgbClr val="000000"/>
                </a:solidFill>
                <a:latin typeface="Times New Roman" panose="02020603050405020304" pitchFamily="18" charset="0"/>
              </a:rPr>
              <a:t>两位</a:t>
            </a:r>
            <a:endParaRPr lang="zh-CN" altLang="en-US" sz="2200" b="1" dirty="0">
              <a:solidFill>
                <a:srgbClr val="000000"/>
              </a:solidFill>
              <a:latin typeface="Times New Roman" panose="02020603050405020304" pitchFamily="18" charset="0"/>
            </a:endParaRPr>
          </a:p>
          <a:p>
            <a:pPr algn="just" eaLnBrk="0" hangingPunct="0"/>
            <a:r>
              <a:rPr lang="zh-CN" altLang="en-US" sz="2200" b="1">
                <a:solidFill>
                  <a:srgbClr val="000000"/>
                </a:solidFill>
                <a:latin typeface="Times New Roman" panose="02020603050405020304" pitchFamily="18" charset="0"/>
              </a:rPr>
              <a:t>         </a:t>
            </a:r>
            <a:endParaRPr lang="zh-CN" altLang="en-US" sz="2200" b="1">
              <a:solidFill>
                <a:srgbClr val="000000"/>
              </a:solidFill>
              <a:latin typeface="Times New Roman" panose="02020603050405020304" pitchFamily="18" charset="0"/>
            </a:endParaRPr>
          </a:p>
          <a:p>
            <a:pPr algn="just" eaLnBrk="0" hangingPunct="0"/>
            <a:r>
              <a:rPr lang="zh-CN" altLang="en-US" sz="2200" b="1">
                <a:solidFill>
                  <a:srgbClr val="000000"/>
                </a:solidFill>
                <a:latin typeface="Times New Roman" panose="02020603050405020304" pitchFamily="18" charset="0"/>
              </a:rPr>
              <a:t>            </a:t>
            </a:r>
            <a:r>
              <a:rPr lang="en-US" altLang="zh-CN" sz="2200" b="1">
                <a:solidFill>
                  <a:srgbClr val="000000"/>
                </a:solidFill>
                <a:latin typeface="Times New Roman" panose="02020603050405020304" pitchFamily="18" charset="0"/>
              </a:rPr>
              <a:t>AND  AL, 0FCH</a:t>
            </a:r>
            <a:endParaRPr lang="en-US" altLang="zh-CN" sz="2200" b="1">
              <a:solidFill>
                <a:srgbClr val="000000"/>
              </a:solidFill>
              <a:latin typeface="Times New Roman" panose="02020603050405020304" pitchFamily="18" charset="0"/>
            </a:endParaRPr>
          </a:p>
          <a:p>
            <a:pPr lvl="3" algn="just" eaLnBrk="0" hangingPunct="0"/>
            <a:endParaRPr lang="en-US" altLang="zh-CN" sz="2200" b="1">
              <a:solidFill>
                <a:srgbClr val="000000"/>
              </a:solidFill>
              <a:latin typeface="Times New Roman" panose="02020603050405020304" pitchFamily="18" charset="0"/>
            </a:endParaRPr>
          </a:p>
          <a:p>
            <a:pPr algn="just" eaLnBrk="0" hangingPunct="0"/>
            <a:r>
              <a:rPr lang="zh-CN" altLang="en-US" sz="2200" b="1" dirty="0">
                <a:solidFill>
                  <a:srgbClr val="000000"/>
                </a:solidFill>
                <a:latin typeface="Times New Roman" panose="02020603050405020304" pitchFamily="18" charset="0"/>
              </a:rPr>
              <a:t>例：置</a:t>
            </a:r>
            <a:r>
              <a:rPr lang="en-US" altLang="zh-CN" sz="2200" b="1" dirty="0">
                <a:solidFill>
                  <a:srgbClr val="000000"/>
                </a:solidFill>
                <a:latin typeface="Times New Roman" panose="02020603050405020304" pitchFamily="18" charset="0"/>
              </a:rPr>
              <a:t>AL</a:t>
            </a:r>
            <a:r>
              <a:rPr lang="zh-CN" altLang="en-US" sz="2200" b="1" dirty="0">
                <a:solidFill>
                  <a:srgbClr val="000000"/>
                </a:solidFill>
                <a:latin typeface="Times New Roman" panose="02020603050405020304" pitchFamily="18" charset="0"/>
              </a:rPr>
              <a:t>的第</a:t>
            </a:r>
            <a:r>
              <a:rPr lang="en-US" altLang="zh-CN" sz="2200" b="1" dirty="0">
                <a:solidFill>
                  <a:srgbClr val="000000"/>
                </a:solidFill>
                <a:latin typeface="Times New Roman" panose="02020603050405020304" pitchFamily="18" charset="0"/>
              </a:rPr>
              <a:t>5</a:t>
            </a:r>
            <a:r>
              <a:rPr lang="zh-CN" altLang="en-US" sz="2200" b="1" dirty="0">
                <a:solidFill>
                  <a:srgbClr val="000000"/>
                </a:solidFill>
                <a:latin typeface="Times New Roman" panose="02020603050405020304" pitchFamily="18" charset="0"/>
              </a:rPr>
              <a:t>位为</a:t>
            </a:r>
            <a:r>
              <a:rPr lang="en-US" altLang="zh-CN" sz="2200" b="1">
                <a:solidFill>
                  <a:srgbClr val="000000"/>
                </a:solidFill>
                <a:latin typeface="Times New Roman" panose="02020603050405020304" pitchFamily="18" charset="0"/>
              </a:rPr>
              <a:t>1</a:t>
            </a:r>
            <a:endParaRPr lang="en-US" altLang="zh-CN" sz="2200" b="1">
              <a:solidFill>
                <a:srgbClr val="000000"/>
              </a:solidFill>
              <a:latin typeface="Times New Roman" panose="02020603050405020304" pitchFamily="18" charset="0"/>
            </a:endParaRPr>
          </a:p>
          <a:p>
            <a:pPr algn="just" eaLnBrk="0" hangingPunct="0"/>
            <a:r>
              <a:rPr lang="en-US" altLang="zh-CN" sz="2200" b="1">
                <a:solidFill>
                  <a:srgbClr val="000000"/>
                </a:solidFill>
                <a:latin typeface="Times New Roman" panose="02020603050405020304" pitchFamily="18" charset="0"/>
              </a:rPr>
              <a:t>         </a:t>
            </a:r>
            <a:endParaRPr lang="en-US" altLang="zh-CN" sz="2200" b="1">
              <a:solidFill>
                <a:srgbClr val="000000"/>
              </a:solidFill>
              <a:latin typeface="Times New Roman" panose="02020603050405020304" pitchFamily="18" charset="0"/>
            </a:endParaRPr>
          </a:p>
          <a:p>
            <a:pPr algn="just" eaLnBrk="0" hangingPunct="0"/>
            <a:r>
              <a:rPr lang="en-US" altLang="zh-CN" sz="2200" b="1">
                <a:solidFill>
                  <a:srgbClr val="000000"/>
                </a:solidFill>
                <a:latin typeface="Times New Roman" panose="02020603050405020304" pitchFamily="18" charset="0"/>
              </a:rPr>
              <a:t>            OR  AL, 20H</a:t>
            </a:r>
            <a:endParaRPr lang="en-US" altLang="zh-CN" sz="2200" b="1">
              <a:solidFill>
                <a:srgbClr val="000000"/>
              </a:solidFill>
              <a:latin typeface="Times New Roman" panose="02020603050405020304" pitchFamily="18" charset="0"/>
            </a:endParaRPr>
          </a:p>
          <a:p>
            <a:pPr lvl="3" algn="just" eaLnBrk="0" hangingPunct="0"/>
            <a:r>
              <a:rPr lang="en-US" altLang="zh-CN" sz="2200" b="1">
                <a:solidFill>
                  <a:srgbClr val="000000"/>
                </a:solidFill>
                <a:latin typeface="Times New Roman" panose="02020603050405020304" pitchFamily="18" charset="0"/>
              </a:rPr>
              <a:t>                  </a:t>
            </a:r>
            <a:endParaRPr lang="en-US" altLang="zh-CN" sz="2200" b="1">
              <a:solidFill>
                <a:srgbClr val="000000"/>
              </a:solidFill>
              <a:latin typeface="Times New Roman" panose="02020603050405020304" pitchFamily="18" charset="0"/>
            </a:endParaRPr>
          </a:p>
          <a:p>
            <a:pPr algn="just" eaLnBrk="0" hangingPunct="0"/>
            <a:r>
              <a:rPr lang="zh-CN" altLang="en-US" sz="2200" b="1" dirty="0">
                <a:solidFill>
                  <a:srgbClr val="000000"/>
                </a:solidFill>
                <a:latin typeface="Times New Roman" panose="02020603050405020304" pitchFamily="18" charset="0"/>
              </a:rPr>
              <a:t>例：使</a:t>
            </a:r>
            <a:r>
              <a:rPr lang="en-US" altLang="zh-CN" sz="2200" b="1" dirty="0">
                <a:solidFill>
                  <a:srgbClr val="000000"/>
                </a:solidFill>
                <a:latin typeface="Times New Roman" panose="02020603050405020304" pitchFamily="18" charset="0"/>
              </a:rPr>
              <a:t>AL</a:t>
            </a:r>
            <a:r>
              <a:rPr lang="zh-CN" altLang="en-US" sz="2200" b="1" dirty="0">
                <a:solidFill>
                  <a:srgbClr val="000000"/>
                </a:solidFill>
                <a:latin typeface="Times New Roman" panose="02020603050405020304" pitchFamily="18" charset="0"/>
              </a:rPr>
              <a:t>的第</a:t>
            </a:r>
            <a:r>
              <a:rPr lang="en-US" altLang="zh-CN" sz="2200" b="1" dirty="0">
                <a:solidFill>
                  <a:srgbClr val="000000"/>
                </a:solidFill>
                <a:latin typeface="Times New Roman" panose="02020603050405020304" pitchFamily="18" charset="0"/>
              </a:rPr>
              <a:t>0</a:t>
            </a:r>
            <a:r>
              <a:rPr lang="zh-CN" altLang="en-US" sz="2200" b="1" dirty="0">
                <a:solidFill>
                  <a:srgbClr val="000000"/>
                </a:solidFill>
                <a:latin typeface="Times New Roman" panose="02020603050405020304" pitchFamily="18" charset="0"/>
              </a:rPr>
              <a:t>、</a:t>
            </a:r>
            <a:r>
              <a:rPr lang="en-US" altLang="zh-CN" sz="2200" b="1" dirty="0">
                <a:solidFill>
                  <a:srgbClr val="000000"/>
                </a:solidFill>
                <a:latin typeface="Times New Roman" panose="02020603050405020304" pitchFamily="18" charset="0"/>
              </a:rPr>
              <a:t>1</a:t>
            </a:r>
            <a:r>
              <a:rPr lang="zh-CN" altLang="en-US" sz="2200" b="1" dirty="0">
                <a:solidFill>
                  <a:srgbClr val="000000"/>
                </a:solidFill>
                <a:latin typeface="Times New Roman" panose="02020603050405020304" pitchFamily="18" charset="0"/>
              </a:rPr>
              <a:t>位变反</a:t>
            </a:r>
            <a:endParaRPr lang="zh-CN" altLang="en-US" sz="2200" b="1" dirty="0">
              <a:solidFill>
                <a:srgbClr val="000000"/>
              </a:solidFill>
              <a:latin typeface="Times New Roman" panose="02020603050405020304" pitchFamily="18" charset="0"/>
            </a:endParaRPr>
          </a:p>
          <a:p>
            <a:pPr algn="just" eaLnBrk="0" hangingPunct="0"/>
            <a:r>
              <a:rPr lang="zh-CN" altLang="en-US" sz="2200" b="1">
                <a:solidFill>
                  <a:srgbClr val="000000"/>
                </a:solidFill>
                <a:latin typeface="Times New Roman" panose="02020603050405020304" pitchFamily="18" charset="0"/>
              </a:rPr>
              <a:t>         </a:t>
            </a:r>
            <a:endParaRPr lang="zh-CN" altLang="en-US" sz="2200" b="1">
              <a:solidFill>
                <a:srgbClr val="000000"/>
              </a:solidFill>
              <a:latin typeface="Times New Roman" panose="02020603050405020304" pitchFamily="18" charset="0"/>
            </a:endParaRPr>
          </a:p>
          <a:p>
            <a:pPr algn="just" eaLnBrk="0" hangingPunct="0"/>
            <a:r>
              <a:rPr lang="zh-CN" altLang="en-US" sz="2200" b="1">
                <a:solidFill>
                  <a:srgbClr val="000000"/>
                </a:solidFill>
                <a:latin typeface="Times New Roman" panose="02020603050405020304" pitchFamily="18" charset="0"/>
              </a:rPr>
              <a:t>            </a:t>
            </a:r>
            <a:r>
              <a:rPr lang="en-US" altLang="zh-CN" sz="2200" b="1">
                <a:solidFill>
                  <a:srgbClr val="000000"/>
                </a:solidFill>
                <a:latin typeface="Times New Roman" panose="02020603050405020304" pitchFamily="18" charset="0"/>
              </a:rPr>
              <a:t>XOR  AL, 3</a:t>
            </a:r>
            <a:endParaRPr lang="en-US" altLang="zh-CN" sz="2200" b="1">
              <a:solidFill>
                <a:srgbClr val="000000"/>
              </a:solidFill>
              <a:latin typeface="Times New Roman" panose="02020603050405020304" pitchFamily="18" charset="0"/>
            </a:endParaRPr>
          </a:p>
          <a:p>
            <a:pPr algn="just" eaLnBrk="0" hangingPunct="0"/>
            <a:endParaRPr lang="en-US" altLang="zh-CN" sz="2200" b="1">
              <a:solidFill>
                <a:srgbClr val="000000"/>
              </a:solidFill>
              <a:latin typeface="Lucida Console" panose="020B0609040504020204" pitchFamily="49" charset="0"/>
            </a:endParaRPr>
          </a:p>
          <a:p>
            <a:pPr algn="just" eaLnBrk="0" hangingPunct="0"/>
            <a:r>
              <a:rPr lang="zh-CN" altLang="en-US" sz="2200" b="1" dirty="0">
                <a:solidFill>
                  <a:srgbClr val="000000"/>
                </a:solidFill>
                <a:latin typeface="Times New Roman" panose="02020603050405020304" pitchFamily="18" charset="0"/>
              </a:rPr>
              <a:t>例：测试某些位是</a:t>
            </a:r>
            <a:r>
              <a:rPr lang="en-US" altLang="zh-CN" sz="2200" b="1">
                <a:solidFill>
                  <a:srgbClr val="000000"/>
                </a:solidFill>
                <a:latin typeface="Times New Roman" panose="02020603050405020304" pitchFamily="18" charset="0"/>
              </a:rPr>
              <a:t>0</a:t>
            </a:r>
            <a:r>
              <a:rPr lang="zh-CN" altLang="en-US" sz="2200" b="1">
                <a:solidFill>
                  <a:srgbClr val="000000"/>
                </a:solidFill>
                <a:latin typeface="Times New Roman" panose="02020603050405020304" pitchFamily="18" charset="0"/>
              </a:rPr>
              <a:t>是</a:t>
            </a:r>
            <a:r>
              <a:rPr lang="en-US" altLang="zh-CN" sz="2200" b="1">
                <a:solidFill>
                  <a:srgbClr val="000000"/>
                </a:solidFill>
                <a:latin typeface="Times New Roman" panose="02020603050405020304" pitchFamily="18" charset="0"/>
              </a:rPr>
              <a:t>1</a:t>
            </a:r>
            <a:endParaRPr lang="en-US" altLang="zh-CN" sz="2200" b="1">
              <a:solidFill>
                <a:srgbClr val="000000"/>
              </a:solidFill>
              <a:latin typeface="Times New Roman" panose="02020603050405020304" pitchFamily="18" charset="0"/>
            </a:endParaRPr>
          </a:p>
          <a:p>
            <a:pPr algn="just" eaLnBrk="0" hangingPunct="0"/>
            <a:r>
              <a:rPr lang="en-US" altLang="zh-CN" sz="2200" b="1">
                <a:solidFill>
                  <a:srgbClr val="000000"/>
                </a:solidFill>
                <a:latin typeface="Times New Roman" panose="02020603050405020304" pitchFamily="18" charset="0"/>
              </a:rPr>
              <a:t>            </a:t>
            </a:r>
            <a:endParaRPr lang="en-US" altLang="zh-CN" sz="2200" b="1">
              <a:solidFill>
                <a:srgbClr val="000000"/>
              </a:solidFill>
              <a:latin typeface="Times New Roman" panose="02020603050405020304" pitchFamily="18" charset="0"/>
            </a:endParaRPr>
          </a:p>
          <a:p>
            <a:pPr algn="just" eaLnBrk="0" hangingPunct="0"/>
            <a:r>
              <a:rPr lang="en-US" altLang="zh-CN" sz="2200" b="1">
                <a:solidFill>
                  <a:srgbClr val="000000"/>
                </a:solidFill>
                <a:latin typeface="Times New Roman" panose="02020603050405020304" pitchFamily="18" charset="0"/>
              </a:rPr>
              <a:t>            TEST  AL, 1</a:t>
            </a:r>
            <a:endParaRPr lang="en-US" altLang="zh-CN" sz="2200" b="1">
              <a:solidFill>
                <a:srgbClr val="000000"/>
              </a:solidFill>
              <a:latin typeface="Times New Roman" panose="02020603050405020304" pitchFamily="18" charset="0"/>
            </a:endParaRPr>
          </a:p>
          <a:p>
            <a:pPr algn="just" eaLnBrk="0" hangingPunct="0"/>
            <a:r>
              <a:rPr lang="en-US" altLang="zh-CN" sz="2200" b="1">
                <a:solidFill>
                  <a:srgbClr val="000000"/>
                </a:solidFill>
                <a:latin typeface="Times New Roman" panose="02020603050405020304" pitchFamily="18" charset="0"/>
              </a:rPr>
              <a:t>            JZ       EVEN</a:t>
            </a:r>
            <a:endParaRPr lang="en-US" altLang="zh-CN" sz="2200" b="1">
              <a:solidFill>
                <a:srgbClr val="000000"/>
              </a:solidFill>
              <a:latin typeface="Times New Roman" panose="02020603050405020304" pitchFamily="18" charset="0"/>
            </a:endParaRPr>
          </a:p>
        </p:txBody>
      </p:sp>
      <p:sp>
        <p:nvSpPr>
          <p:cNvPr id="69635" name="文本框 69634"/>
          <p:cNvSpPr txBox="1"/>
          <p:nvPr/>
        </p:nvSpPr>
        <p:spPr>
          <a:xfrm>
            <a:off x="4697016" y="2189881"/>
            <a:ext cx="2971800" cy="1158875"/>
          </a:xfrm>
          <a:prstGeom prst="rect">
            <a:avLst/>
          </a:prstGeom>
          <a:noFill/>
          <a:ln w="12700">
            <a:noFill/>
          </a:ln>
        </p:spPr>
        <p:txBody>
          <a:bodyPr anchor="ctr">
            <a:spAutoFit/>
          </a:bodyPr>
          <a:lstStyle/>
          <a:p>
            <a:pPr eaLnBrk="0" hangingPunct="0">
              <a:lnSpc>
                <a:spcPct val="50000"/>
              </a:lnSpc>
              <a:spcBef>
                <a:spcPct val="50000"/>
              </a:spcBef>
            </a:pPr>
            <a:r>
              <a:rPr lang="en-US" altLang="zh-CN" sz="2000" b="1" dirty="0">
                <a:solidFill>
                  <a:srgbClr val="000000"/>
                </a:solidFill>
                <a:latin typeface="Times New Roman" panose="02020603050405020304" pitchFamily="18" charset="0"/>
              </a:rPr>
              <a:t>    </a:t>
            </a:r>
            <a:endParaRPr lang="en-US" altLang="zh-CN" sz="2000" b="1" dirty="0">
              <a:solidFill>
                <a:srgbClr val="000000"/>
              </a:solidFill>
              <a:latin typeface="Times New Roman" panose="02020603050405020304" pitchFamily="18" charset="0"/>
            </a:endParaRPr>
          </a:p>
          <a:p>
            <a:pPr eaLnBrk="0" hangingPunct="0">
              <a:lnSpc>
                <a:spcPct val="50000"/>
              </a:lnSpc>
              <a:spcBef>
                <a:spcPct val="50000"/>
              </a:spcBef>
            </a:pPr>
            <a:r>
              <a:rPr lang="en-US" altLang="zh-CN" sz="2000" b="1" dirty="0">
                <a:solidFill>
                  <a:srgbClr val="000000"/>
                </a:solidFill>
                <a:latin typeface="Times New Roman" panose="02020603050405020304" pitchFamily="18" charset="0"/>
              </a:rPr>
              <a:t>                 * * * *  * * * *</a:t>
            </a:r>
            <a:endParaRPr lang="en-US" altLang="zh-CN" sz="2000" b="1" dirty="0">
              <a:solidFill>
                <a:srgbClr val="000000"/>
              </a:solidFill>
              <a:latin typeface="Times New Roman" panose="02020603050405020304" pitchFamily="18" charset="0"/>
            </a:endParaRPr>
          </a:p>
          <a:p>
            <a:pPr eaLnBrk="0" hangingPunct="0">
              <a:lnSpc>
                <a:spcPct val="50000"/>
              </a:lnSpc>
              <a:spcBef>
                <a:spcPct val="50000"/>
              </a:spcBef>
            </a:pPr>
            <a:r>
              <a:rPr lang="en-US" altLang="zh-CN" sz="2000" b="1" dirty="0">
                <a:solidFill>
                  <a:srgbClr val="000000"/>
                </a:solidFill>
                <a:latin typeface="Times New Roman" panose="02020603050405020304" pitchFamily="18" charset="0"/>
              </a:rPr>
              <a:t>    </a:t>
            </a:r>
            <a:r>
              <a:rPr lang="en-US" altLang="zh-CN" sz="2000" b="1">
                <a:solidFill>
                  <a:srgbClr val="000000"/>
                </a:solidFill>
                <a:latin typeface="Times New Roman" panose="02020603050405020304" pitchFamily="18" charset="0"/>
              </a:rPr>
              <a:t>OR       0 0 1 0  0 0 0 0</a:t>
            </a:r>
            <a:endParaRPr lang="en-US" altLang="zh-CN" sz="2000" b="1">
              <a:solidFill>
                <a:srgbClr val="000000"/>
              </a:solidFill>
              <a:latin typeface="Times New Roman" panose="02020603050405020304" pitchFamily="18" charset="0"/>
            </a:endParaRPr>
          </a:p>
          <a:p>
            <a:pPr eaLnBrk="0" hangingPunct="0">
              <a:lnSpc>
                <a:spcPct val="50000"/>
              </a:lnSpc>
              <a:spcBef>
                <a:spcPct val="50000"/>
              </a:spcBef>
            </a:pPr>
            <a:r>
              <a:rPr lang="en-US" altLang="zh-CN" sz="2000" b="1">
                <a:solidFill>
                  <a:srgbClr val="000000"/>
                </a:solidFill>
                <a:latin typeface="Times New Roman" panose="02020603050405020304" pitchFamily="18" charset="0"/>
              </a:rPr>
              <a:t>                 * * 1 *  * * * *</a:t>
            </a:r>
            <a:endParaRPr lang="en-US" altLang="zh-CN" sz="2000" b="1">
              <a:solidFill>
                <a:srgbClr val="000000"/>
              </a:solidFill>
              <a:latin typeface="Times New Roman" panose="02020603050405020304" pitchFamily="18" charset="0"/>
            </a:endParaRPr>
          </a:p>
        </p:txBody>
      </p:sp>
      <p:sp>
        <p:nvSpPr>
          <p:cNvPr id="69636" name="直接连接符 69635"/>
          <p:cNvSpPr/>
          <p:nvPr/>
        </p:nvSpPr>
        <p:spPr>
          <a:xfrm>
            <a:off x="4939904" y="3028081"/>
            <a:ext cx="2514600" cy="0"/>
          </a:xfrm>
          <a:prstGeom prst="line">
            <a:avLst/>
          </a:prstGeom>
          <a:ln w="12700" cap="sq" cmpd="sng">
            <a:solidFill>
              <a:schemeClr val="bg2"/>
            </a:solidFill>
            <a:prstDash val="solid"/>
            <a:headEnd type="none" w="med" len="med"/>
            <a:tailEnd type="none" w="med" len="med"/>
          </a:ln>
        </p:spPr>
      </p:sp>
      <p:sp>
        <p:nvSpPr>
          <p:cNvPr id="69637" name="文本框 69636"/>
          <p:cNvSpPr txBox="1"/>
          <p:nvPr/>
        </p:nvSpPr>
        <p:spPr>
          <a:xfrm>
            <a:off x="4697016" y="3409081"/>
            <a:ext cx="2971800" cy="1463675"/>
          </a:xfrm>
          <a:prstGeom prst="rect">
            <a:avLst/>
          </a:prstGeom>
          <a:noFill/>
          <a:ln w="12700">
            <a:noFill/>
          </a:ln>
        </p:spPr>
        <p:txBody>
          <a:bodyPr anchor="ctr">
            <a:spAutoFit/>
          </a:bodyPr>
          <a:lstStyle/>
          <a:p>
            <a:pPr eaLnBrk="0" hangingPunct="0">
              <a:lnSpc>
                <a:spcPct val="50000"/>
              </a:lnSpc>
              <a:spcBef>
                <a:spcPct val="50000"/>
              </a:spcBef>
            </a:pPr>
            <a:r>
              <a:rPr lang="en-US" altLang="zh-CN" sz="2000" b="1" dirty="0">
                <a:solidFill>
                  <a:srgbClr val="000000"/>
                </a:solidFill>
                <a:latin typeface="Times New Roman" panose="02020603050405020304" pitchFamily="18" charset="0"/>
              </a:rPr>
              <a:t>    </a:t>
            </a:r>
            <a:endParaRPr lang="en-US" altLang="zh-CN" sz="2000" b="1" dirty="0">
              <a:solidFill>
                <a:srgbClr val="000000"/>
              </a:solidFill>
              <a:latin typeface="Times New Roman" panose="02020603050405020304" pitchFamily="18" charset="0"/>
            </a:endParaRPr>
          </a:p>
          <a:p>
            <a:pPr eaLnBrk="0" hangingPunct="0">
              <a:lnSpc>
                <a:spcPct val="50000"/>
              </a:lnSpc>
              <a:spcBef>
                <a:spcPct val="50000"/>
              </a:spcBef>
            </a:pPr>
            <a:r>
              <a:rPr lang="en-US" altLang="zh-CN" sz="2000" b="1" dirty="0">
                <a:solidFill>
                  <a:srgbClr val="000000"/>
                </a:solidFill>
                <a:latin typeface="Times New Roman" panose="02020603050405020304" pitchFamily="18" charset="0"/>
              </a:rPr>
              <a:t>                 * * * *  * * </a:t>
            </a:r>
            <a:r>
              <a:rPr lang="en-US" altLang="zh-CN" sz="2000" b="1">
                <a:solidFill>
                  <a:srgbClr val="000000"/>
                </a:solidFill>
                <a:latin typeface="Times New Roman" panose="02020603050405020304" pitchFamily="18" charset="0"/>
              </a:rPr>
              <a:t>0 1</a:t>
            </a:r>
            <a:endParaRPr lang="en-US" altLang="zh-CN" sz="2000" b="1">
              <a:solidFill>
                <a:srgbClr val="000000"/>
              </a:solidFill>
              <a:latin typeface="Times New Roman" panose="02020603050405020304" pitchFamily="18" charset="0"/>
            </a:endParaRPr>
          </a:p>
          <a:p>
            <a:pPr eaLnBrk="0" hangingPunct="0">
              <a:lnSpc>
                <a:spcPct val="50000"/>
              </a:lnSpc>
              <a:spcBef>
                <a:spcPct val="50000"/>
              </a:spcBef>
            </a:pPr>
            <a:r>
              <a:rPr lang="en-US" altLang="zh-CN" sz="2000" b="1">
                <a:solidFill>
                  <a:srgbClr val="000000"/>
                </a:solidFill>
                <a:latin typeface="Times New Roman" panose="02020603050405020304" pitchFamily="18" charset="0"/>
              </a:rPr>
              <a:t>    XOR    0 0 0 0  0 0 1 1</a:t>
            </a:r>
            <a:endParaRPr lang="en-US" altLang="zh-CN" sz="2000" b="1">
              <a:solidFill>
                <a:srgbClr val="000000"/>
              </a:solidFill>
              <a:latin typeface="Times New Roman" panose="02020603050405020304" pitchFamily="18" charset="0"/>
            </a:endParaRPr>
          </a:p>
          <a:p>
            <a:pPr eaLnBrk="0" hangingPunct="0">
              <a:lnSpc>
                <a:spcPct val="50000"/>
              </a:lnSpc>
              <a:spcBef>
                <a:spcPct val="50000"/>
              </a:spcBef>
            </a:pPr>
            <a:r>
              <a:rPr lang="en-US" altLang="zh-CN" sz="2000" b="1">
                <a:solidFill>
                  <a:srgbClr val="000000"/>
                </a:solidFill>
                <a:latin typeface="Times New Roman" panose="02020603050405020304" pitchFamily="18" charset="0"/>
              </a:rPr>
              <a:t>  </a:t>
            </a:r>
            <a:endParaRPr lang="en-US" altLang="zh-CN" sz="2000" b="1">
              <a:solidFill>
                <a:srgbClr val="000000"/>
              </a:solidFill>
              <a:latin typeface="Times New Roman" panose="02020603050405020304" pitchFamily="18" charset="0"/>
            </a:endParaRPr>
          </a:p>
          <a:p>
            <a:pPr eaLnBrk="0" hangingPunct="0">
              <a:lnSpc>
                <a:spcPct val="50000"/>
              </a:lnSpc>
              <a:spcBef>
                <a:spcPct val="50000"/>
              </a:spcBef>
            </a:pPr>
            <a:r>
              <a:rPr lang="en-US" altLang="zh-CN" sz="2000" b="1">
                <a:solidFill>
                  <a:srgbClr val="000000"/>
                </a:solidFill>
                <a:latin typeface="Times New Roman" panose="02020603050405020304" pitchFamily="18" charset="0"/>
              </a:rPr>
              <a:t>                 * * * *  * * 1 0</a:t>
            </a:r>
            <a:endParaRPr lang="en-US" altLang="zh-CN" sz="2000" b="1">
              <a:solidFill>
                <a:srgbClr val="000000"/>
              </a:solidFill>
              <a:latin typeface="Times New Roman" panose="02020603050405020304" pitchFamily="18" charset="0"/>
            </a:endParaRPr>
          </a:p>
        </p:txBody>
      </p:sp>
      <p:sp>
        <p:nvSpPr>
          <p:cNvPr id="69638" name="直接连接符 69637"/>
          <p:cNvSpPr/>
          <p:nvPr/>
        </p:nvSpPr>
        <p:spPr>
          <a:xfrm>
            <a:off x="4970066" y="4399681"/>
            <a:ext cx="2514600" cy="0"/>
          </a:xfrm>
          <a:prstGeom prst="line">
            <a:avLst/>
          </a:prstGeom>
          <a:ln w="12700" cap="sq" cmpd="sng">
            <a:solidFill>
              <a:schemeClr val="bg2"/>
            </a:solidFill>
            <a:prstDash val="solid"/>
            <a:headEnd type="none" w="med" len="med"/>
            <a:tailEnd type="none" w="med" len="med"/>
          </a:ln>
        </p:spPr>
      </p:sp>
      <p:sp>
        <p:nvSpPr>
          <p:cNvPr id="69639" name="椭圆 69638"/>
          <p:cNvSpPr/>
          <p:nvPr/>
        </p:nvSpPr>
        <p:spPr>
          <a:xfrm>
            <a:off x="7027466" y="4475881"/>
            <a:ext cx="457200" cy="381000"/>
          </a:xfrm>
          <a:prstGeom prst="ellipse">
            <a:avLst/>
          </a:prstGeom>
          <a:noFill/>
          <a:ln w="12700" cap="sq" cmpd="sng">
            <a:solidFill>
              <a:schemeClr val="tx2"/>
            </a:solidFill>
            <a:prstDash val="solid"/>
            <a:headEnd type="none" w="med" len="med"/>
            <a:tailEnd type="none" w="med" len="med"/>
          </a:ln>
        </p:spPr>
        <p:txBody>
          <a:bodyPr/>
          <a:lstStyle/>
          <a:p>
            <a:endParaRPr lang="zh-CN" altLang="en-US"/>
          </a:p>
        </p:txBody>
      </p:sp>
      <p:sp>
        <p:nvSpPr>
          <p:cNvPr id="69640" name="椭圆 69639"/>
          <p:cNvSpPr/>
          <p:nvPr/>
        </p:nvSpPr>
        <p:spPr>
          <a:xfrm>
            <a:off x="7027466" y="3561481"/>
            <a:ext cx="457200" cy="381000"/>
          </a:xfrm>
          <a:prstGeom prst="ellipse">
            <a:avLst/>
          </a:prstGeom>
          <a:noFill/>
          <a:ln w="12700" cap="sq" cmpd="sng">
            <a:solidFill>
              <a:schemeClr val="hlink"/>
            </a:solidFill>
            <a:prstDash val="solid"/>
            <a:headEnd type="none" w="med" len="med"/>
            <a:tailEnd type="none" w="med" len="med"/>
          </a:ln>
        </p:spPr>
        <p:txBody>
          <a:bodyPr/>
          <a:lstStyle/>
          <a:p>
            <a:endParaRPr lang="zh-CN" altLang="en-US"/>
          </a:p>
        </p:txBody>
      </p:sp>
      <p:sp>
        <p:nvSpPr>
          <p:cNvPr id="69641" name="文本框 69640"/>
          <p:cNvSpPr txBox="1"/>
          <p:nvPr/>
        </p:nvSpPr>
        <p:spPr>
          <a:xfrm>
            <a:off x="4697016" y="894481"/>
            <a:ext cx="2971800" cy="1158875"/>
          </a:xfrm>
          <a:prstGeom prst="rect">
            <a:avLst/>
          </a:prstGeom>
          <a:noFill/>
          <a:ln w="12700">
            <a:noFill/>
          </a:ln>
        </p:spPr>
        <p:txBody>
          <a:bodyPr anchor="ctr">
            <a:spAutoFit/>
          </a:bodyPr>
          <a:lstStyle/>
          <a:p>
            <a:pPr eaLnBrk="0" hangingPunct="0">
              <a:lnSpc>
                <a:spcPct val="50000"/>
              </a:lnSpc>
              <a:spcBef>
                <a:spcPct val="50000"/>
              </a:spcBef>
            </a:pPr>
            <a:r>
              <a:rPr lang="en-US" altLang="zh-CN" sz="2000" b="1" dirty="0">
                <a:solidFill>
                  <a:srgbClr val="000000"/>
                </a:solidFill>
                <a:latin typeface="Times New Roman" panose="02020603050405020304" pitchFamily="18" charset="0"/>
              </a:rPr>
              <a:t>    </a:t>
            </a:r>
            <a:endParaRPr lang="en-US" altLang="zh-CN" sz="2000" b="1" dirty="0">
              <a:solidFill>
                <a:srgbClr val="000000"/>
              </a:solidFill>
              <a:latin typeface="Times New Roman" panose="02020603050405020304" pitchFamily="18" charset="0"/>
            </a:endParaRPr>
          </a:p>
          <a:p>
            <a:pPr eaLnBrk="0" hangingPunct="0">
              <a:lnSpc>
                <a:spcPct val="50000"/>
              </a:lnSpc>
              <a:spcBef>
                <a:spcPct val="50000"/>
              </a:spcBef>
            </a:pPr>
            <a:r>
              <a:rPr lang="en-US" altLang="zh-CN" sz="2000" b="1" dirty="0">
                <a:solidFill>
                  <a:srgbClr val="000000"/>
                </a:solidFill>
                <a:latin typeface="Times New Roman" panose="02020603050405020304" pitchFamily="18" charset="0"/>
              </a:rPr>
              <a:t>                 * * * *  * * * *</a:t>
            </a:r>
            <a:endParaRPr lang="en-US" altLang="zh-CN" sz="2000" b="1" dirty="0">
              <a:solidFill>
                <a:srgbClr val="000000"/>
              </a:solidFill>
              <a:latin typeface="Times New Roman" panose="02020603050405020304" pitchFamily="18" charset="0"/>
            </a:endParaRPr>
          </a:p>
          <a:p>
            <a:pPr eaLnBrk="0" hangingPunct="0">
              <a:lnSpc>
                <a:spcPct val="50000"/>
              </a:lnSpc>
              <a:spcBef>
                <a:spcPct val="50000"/>
              </a:spcBef>
            </a:pPr>
            <a:r>
              <a:rPr lang="en-US" altLang="zh-CN" sz="2000" b="1" dirty="0">
                <a:solidFill>
                  <a:srgbClr val="000000"/>
                </a:solidFill>
                <a:latin typeface="Times New Roman" panose="02020603050405020304" pitchFamily="18" charset="0"/>
              </a:rPr>
              <a:t>    </a:t>
            </a:r>
            <a:r>
              <a:rPr lang="en-US" altLang="zh-CN" sz="2000" b="1">
                <a:solidFill>
                  <a:srgbClr val="000000"/>
                </a:solidFill>
                <a:latin typeface="Times New Roman" panose="02020603050405020304" pitchFamily="18" charset="0"/>
              </a:rPr>
              <a:t>AND    1 1 1 1  1 1 0 0</a:t>
            </a:r>
            <a:endParaRPr lang="en-US" altLang="zh-CN" sz="2000" b="1">
              <a:solidFill>
                <a:srgbClr val="000000"/>
              </a:solidFill>
              <a:latin typeface="Times New Roman" panose="02020603050405020304" pitchFamily="18" charset="0"/>
            </a:endParaRPr>
          </a:p>
          <a:p>
            <a:pPr eaLnBrk="0" hangingPunct="0">
              <a:lnSpc>
                <a:spcPct val="50000"/>
              </a:lnSpc>
              <a:spcBef>
                <a:spcPct val="50000"/>
              </a:spcBef>
            </a:pPr>
            <a:r>
              <a:rPr lang="en-US" altLang="zh-CN" sz="2000" b="1">
                <a:solidFill>
                  <a:srgbClr val="000000"/>
                </a:solidFill>
                <a:latin typeface="Times New Roman" panose="02020603050405020304" pitchFamily="18" charset="0"/>
              </a:rPr>
              <a:t>                 * * * *  * * 0 0</a:t>
            </a:r>
            <a:endParaRPr lang="en-US" altLang="zh-CN" sz="2000" b="1">
              <a:solidFill>
                <a:srgbClr val="000000"/>
              </a:solidFill>
              <a:latin typeface="Times New Roman" panose="02020603050405020304" pitchFamily="18" charset="0"/>
            </a:endParaRPr>
          </a:p>
        </p:txBody>
      </p:sp>
      <p:sp>
        <p:nvSpPr>
          <p:cNvPr id="69642" name="直接连接符 69641"/>
          <p:cNvSpPr/>
          <p:nvPr/>
        </p:nvSpPr>
        <p:spPr>
          <a:xfrm>
            <a:off x="4941491" y="1732681"/>
            <a:ext cx="2514600" cy="0"/>
          </a:xfrm>
          <a:prstGeom prst="line">
            <a:avLst/>
          </a:prstGeom>
          <a:ln w="12700" cap="sq" cmpd="sng">
            <a:solidFill>
              <a:schemeClr val="bg2"/>
            </a:solidFill>
            <a:prstDash val="solid"/>
            <a:headEnd type="none" w="med" len="med"/>
            <a:tailEnd type="none" w="med" len="med"/>
          </a:ln>
        </p:spPr>
      </p:sp>
      <p:sp>
        <p:nvSpPr>
          <p:cNvPr id="69643" name="文本框 69642"/>
          <p:cNvSpPr txBox="1"/>
          <p:nvPr/>
        </p:nvSpPr>
        <p:spPr>
          <a:xfrm>
            <a:off x="4735116" y="5214069"/>
            <a:ext cx="3455988" cy="1311275"/>
          </a:xfrm>
          <a:prstGeom prst="rect">
            <a:avLst/>
          </a:prstGeom>
          <a:noFill/>
          <a:ln w="12700">
            <a:noFill/>
          </a:ln>
        </p:spPr>
        <p:txBody>
          <a:bodyPr>
            <a:spAutoFit/>
          </a:bodyPr>
          <a:lstStyle/>
          <a:p>
            <a:r>
              <a:rPr lang="en-US" altLang="zh-CN" sz="2000" b="1" dirty="0">
                <a:solidFill>
                  <a:srgbClr val="000000"/>
                </a:solidFill>
                <a:latin typeface="Times New Roman" panose="02020603050405020304" pitchFamily="18" charset="0"/>
              </a:rPr>
              <a:t>                * * * *  * * * *</a:t>
            </a:r>
            <a:endParaRPr lang="en-US" altLang="zh-CN" sz="2000" b="1" dirty="0">
              <a:solidFill>
                <a:srgbClr val="000000"/>
              </a:solidFill>
              <a:latin typeface="Times New Roman" panose="02020603050405020304" pitchFamily="18" charset="0"/>
            </a:endParaRPr>
          </a:p>
          <a:p>
            <a:r>
              <a:rPr lang="en-US" altLang="zh-CN" sz="2000" b="1" dirty="0">
                <a:solidFill>
                  <a:srgbClr val="000000"/>
                </a:solidFill>
                <a:latin typeface="Times New Roman" panose="02020603050405020304" pitchFamily="18" charset="0"/>
              </a:rPr>
              <a:t>    </a:t>
            </a:r>
            <a:r>
              <a:rPr lang="en-US" altLang="zh-CN" sz="2000" b="1">
                <a:solidFill>
                  <a:srgbClr val="000000"/>
                </a:solidFill>
                <a:latin typeface="Times New Roman" panose="02020603050405020304" pitchFamily="18" charset="0"/>
              </a:rPr>
              <a:t>AND    0 0 0 0  0 0 0 1</a:t>
            </a:r>
            <a:endParaRPr lang="en-US" altLang="zh-CN" sz="2000" b="1">
              <a:solidFill>
                <a:srgbClr val="000000"/>
              </a:solidFill>
              <a:latin typeface="Times New Roman" panose="02020603050405020304" pitchFamily="18" charset="0"/>
            </a:endParaRPr>
          </a:p>
          <a:p>
            <a:endParaRPr lang="en-US" altLang="zh-CN" sz="2000" b="1">
              <a:solidFill>
                <a:srgbClr val="000000"/>
              </a:solidFill>
              <a:latin typeface="Times New Roman" panose="02020603050405020304" pitchFamily="18" charset="0"/>
            </a:endParaRPr>
          </a:p>
          <a:p>
            <a:r>
              <a:rPr lang="en-US" altLang="zh-CN" sz="2000" b="1">
                <a:solidFill>
                  <a:srgbClr val="000000"/>
                </a:solidFill>
                <a:latin typeface="Times New Roman" panose="02020603050405020304" pitchFamily="18" charset="0"/>
              </a:rPr>
              <a:t>                 0 0 0 0  0 0 0 *</a:t>
            </a:r>
            <a:endParaRPr lang="en-US" altLang="zh-CN" sz="2000" b="1">
              <a:solidFill>
                <a:srgbClr val="000000"/>
              </a:solidFill>
              <a:latin typeface="Times New Roman" panose="02020603050405020304" pitchFamily="18" charset="0"/>
            </a:endParaRPr>
          </a:p>
        </p:txBody>
      </p:sp>
      <p:sp>
        <p:nvSpPr>
          <p:cNvPr id="69644" name="直接连接符 69643"/>
          <p:cNvSpPr/>
          <p:nvPr/>
        </p:nvSpPr>
        <p:spPr>
          <a:xfrm>
            <a:off x="5024041" y="6006231"/>
            <a:ext cx="2592388" cy="0"/>
          </a:xfrm>
          <a:prstGeom prst="line">
            <a:avLst/>
          </a:prstGeom>
          <a:ln w="12700" cap="sq" cmpd="sng">
            <a:solidFill>
              <a:schemeClr val="bg2"/>
            </a:solidFill>
            <a:prstDash val="solid"/>
            <a:headEnd type="none" w="sm" len="sm"/>
            <a:tailEnd type="none" w="sm" len="sm"/>
          </a:ln>
        </p:spPr>
      </p:sp>
      <p:sp>
        <p:nvSpPr>
          <p:cNvPr id="1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逻辑指令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文本框 70657"/>
          <p:cNvSpPr txBox="1"/>
          <p:nvPr/>
        </p:nvSpPr>
        <p:spPr>
          <a:xfrm>
            <a:off x="452120" y="1664804"/>
            <a:ext cx="4911968" cy="4708981"/>
          </a:xfrm>
          <a:prstGeom prst="rect">
            <a:avLst/>
          </a:prstGeom>
          <a:noFill/>
          <a:ln w="9525">
            <a:noFill/>
          </a:ln>
        </p:spPr>
        <p:txBody>
          <a:bodyPr wrap="square">
            <a:spAutoFit/>
          </a:bodyPr>
          <a:lstStyle/>
          <a:p>
            <a:pPr algn="just" eaLnBrk="0" hangingPunct="0"/>
            <a:r>
              <a:rPr lang="zh-CN" altLang="en-US" sz="2000" b="0" dirty="0">
                <a:solidFill>
                  <a:srgbClr val="FF0000"/>
                </a:solidFill>
              </a:rPr>
              <a:t>逻辑左移  </a:t>
            </a:r>
            <a:r>
              <a:rPr lang="en-US" altLang="zh-CN" sz="2000" b="0" dirty="0">
                <a:solidFill>
                  <a:srgbClr val="FF0000"/>
                </a:solidFill>
              </a:rPr>
              <a:t>SHL  OPR, CNT</a:t>
            </a:r>
            <a:endParaRPr lang="en-US" altLang="zh-CN" sz="2000" b="0" dirty="0">
              <a:solidFill>
                <a:srgbClr val="FF0000"/>
              </a:solidFill>
            </a:endParaRPr>
          </a:p>
          <a:p>
            <a:pPr algn="just" eaLnBrk="0" hangingPunct="0"/>
            <a:endParaRPr lang="en-US" altLang="zh-CN" sz="2000" b="0" dirty="0">
              <a:solidFill>
                <a:srgbClr val="FF0000"/>
              </a:solidFill>
            </a:endParaRPr>
          </a:p>
          <a:p>
            <a:pPr algn="just" eaLnBrk="0" hangingPunct="0"/>
            <a:r>
              <a:rPr lang="zh-CN" altLang="en-US" sz="2000" b="0" dirty="0">
                <a:solidFill>
                  <a:srgbClr val="FF0000"/>
                </a:solidFill>
              </a:rPr>
              <a:t>逻辑右移  </a:t>
            </a:r>
            <a:r>
              <a:rPr lang="en-US" altLang="zh-CN" sz="2000" b="0" dirty="0">
                <a:solidFill>
                  <a:srgbClr val="FF0000"/>
                </a:solidFill>
              </a:rPr>
              <a:t>SHR  OPR, CNT</a:t>
            </a:r>
            <a:endParaRPr lang="en-US" altLang="zh-CN" sz="2000" b="0" dirty="0">
              <a:solidFill>
                <a:srgbClr val="FF0000"/>
              </a:solidFill>
            </a:endParaRPr>
          </a:p>
          <a:p>
            <a:pPr algn="just" eaLnBrk="0" hangingPunct="0"/>
            <a:endParaRPr lang="en-US" altLang="zh-CN" sz="2000" b="0" dirty="0">
              <a:solidFill>
                <a:srgbClr val="FF0000"/>
              </a:solidFill>
            </a:endParaRPr>
          </a:p>
          <a:p>
            <a:pPr algn="just" eaLnBrk="0" hangingPunct="0"/>
            <a:r>
              <a:rPr lang="zh-CN" altLang="en-US" sz="2000" b="0" dirty="0">
                <a:solidFill>
                  <a:srgbClr val="FF0000"/>
                </a:solidFill>
              </a:rPr>
              <a:t>算术左移  </a:t>
            </a:r>
            <a:r>
              <a:rPr lang="en-US" altLang="zh-CN" sz="2000" b="0" dirty="0">
                <a:solidFill>
                  <a:srgbClr val="FF0000"/>
                </a:solidFill>
              </a:rPr>
              <a:t>SAL  OPR, CNT</a:t>
            </a:r>
            <a:r>
              <a:rPr lang="zh-CN" altLang="en-US" sz="2000" b="0" dirty="0">
                <a:solidFill>
                  <a:srgbClr val="FF0000"/>
                </a:solidFill>
              </a:rPr>
              <a:t>（同逻辑左移）</a:t>
            </a:r>
            <a:endParaRPr lang="zh-CN" altLang="en-US" sz="2000" b="0" dirty="0">
              <a:solidFill>
                <a:srgbClr val="FF0000"/>
              </a:solidFill>
            </a:endParaRPr>
          </a:p>
          <a:p>
            <a:pPr algn="just" eaLnBrk="0" hangingPunct="0"/>
            <a:endParaRPr lang="zh-CN" altLang="en-US" sz="2000" b="0" dirty="0">
              <a:solidFill>
                <a:srgbClr val="FF0000"/>
              </a:solidFill>
            </a:endParaRPr>
          </a:p>
          <a:p>
            <a:pPr algn="just" eaLnBrk="0" hangingPunct="0"/>
            <a:r>
              <a:rPr lang="zh-CN" altLang="en-US" sz="2000" b="0" dirty="0">
                <a:solidFill>
                  <a:srgbClr val="FF0000"/>
                </a:solidFill>
              </a:rPr>
              <a:t>算术右移  </a:t>
            </a:r>
            <a:r>
              <a:rPr lang="en-US" altLang="zh-CN" sz="2000" b="0" dirty="0">
                <a:solidFill>
                  <a:srgbClr val="FF0000"/>
                </a:solidFill>
              </a:rPr>
              <a:t>SAR  OPR, CNT</a:t>
            </a:r>
            <a:endParaRPr lang="en-US" altLang="zh-CN" sz="2000" b="0" dirty="0">
              <a:solidFill>
                <a:srgbClr val="FF0000"/>
              </a:solidFill>
            </a:endParaRPr>
          </a:p>
          <a:p>
            <a:pPr algn="just" eaLnBrk="0" hangingPunct="0"/>
            <a:endParaRPr lang="en-US" altLang="zh-CN" sz="2000" b="0" dirty="0">
              <a:solidFill>
                <a:srgbClr val="000000"/>
              </a:solidFill>
            </a:endParaRPr>
          </a:p>
          <a:p>
            <a:pPr eaLnBrk="0" hangingPunct="0"/>
            <a:r>
              <a:rPr lang="zh-CN" altLang="en-US" sz="2000" b="0" dirty="0">
                <a:solidFill>
                  <a:srgbClr val="000000"/>
                </a:solidFill>
              </a:rPr>
              <a:t>循环左移  </a:t>
            </a:r>
            <a:r>
              <a:rPr lang="en-US" altLang="zh-CN" sz="2000" b="0" dirty="0">
                <a:solidFill>
                  <a:srgbClr val="000000"/>
                </a:solidFill>
              </a:rPr>
              <a:t>ROL  OPR, CNT</a:t>
            </a:r>
            <a:endParaRPr lang="en-US" altLang="zh-CN" sz="2000" b="0" dirty="0">
              <a:solidFill>
                <a:srgbClr val="000000"/>
              </a:solidFill>
            </a:endParaRPr>
          </a:p>
          <a:p>
            <a:pPr eaLnBrk="0" hangingPunct="0"/>
            <a:endParaRPr lang="en-US" altLang="zh-CN" sz="2000" b="0" dirty="0">
              <a:solidFill>
                <a:srgbClr val="000000"/>
              </a:solidFill>
            </a:endParaRPr>
          </a:p>
          <a:p>
            <a:pPr eaLnBrk="0" hangingPunct="0"/>
            <a:r>
              <a:rPr lang="zh-CN" altLang="en-US" sz="2000" b="0" dirty="0">
                <a:solidFill>
                  <a:srgbClr val="000000"/>
                </a:solidFill>
              </a:rPr>
              <a:t>循环右移  </a:t>
            </a:r>
            <a:r>
              <a:rPr lang="en-US" altLang="zh-CN" sz="2000" b="0" dirty="0">
                <a:solidFill>
                  <a:srgbClr val="000000"/>
                </a:solidFill>
              </a:rPr>
              <a:t>ROR  OPR, CNT</a:t>
            </a:r>
            <a:endParaRPr lang="en-US" altLang="zh-CN" sz="2000" b="0" dirty="0">
              <a:solidFill>
                <a:srgbClr val="000000"/>
              </a:solidFill>
            </a:endParaRPr>
          </a:p>
          <a:p>
            <a:pPr eaLnBrk="0" hangingPunct="0"/>
            <a:endParaRPr lang="en-US" altLang="zh-CN" sz="2000" b="0" dirty="0">
              <a:solidFill>
                <a:srgbClr val="000000"/>
              </a:solidFill>
            </a:endParaRPr>
          </a:p>
          <a:p>
            <a:pPr eaLnBrk="0" hangingPunct="0"/>
            <a:r>
              <a:rPr lang="zh-CN" altLang="en-US" sz="2000" b="0" dirty="0">
                <a:solidFill>
                  <a:srgbClr val="000000"/>
                </a:solidFill>
              </a:rPr>
              <a:t>带进位循环左移  </a:t>
            </a:r>
            <a:r>
              <a:rPr lang="en-US" altLang="zh-CN" sz="2000" b="0" dirty="0">
                <a:solidFill>
                  <a:srgbClr val="000000"/>
                </a:solidFill>
              </a:rPr>
              <a:t>RCL  OPR, CNT</a:t>
            </a:r>
            <a:endParaRPr lang="en-US" altLang="zh-CN" sz="2000" b="0" dirty="0">
              <a:solidFill>
                <a:srgbClr val="000000"/>
              </a:solidFill>
            </a:endParaRPr>
          </a:p>
          <a:p>
            <a:pPr eaLnBrk="0" hangingPunct="0"/>
            <a:endParaRPr lang="en-US" altLang="zh-CN" sz="2000" b="0" dirty="0">
              <a:solidFill>
                <a:srgbClr val="000000"/>
              </a:solidFill>
            </a:endParaRPr>
          </a:p>
          <a:p>
            <a:pPr eaLnBrk="0" hangingPunct="0"/>
            <a:r>
              <a:rPr lang="zh-CN" altLang="en-US" sz="2000" b="0" dirty="0">
                <a:solidFill>
                  <a:srgbClr val="000000"/>
                </a:solidFill>
              </a:rPr>
              <a:t>带进位循环右移  </a:t>
            </a:r>
            <a:r>
              <a:rPr lang="en-US" altLang="zh-CN" sz="2000" b="0" dirty="0">
                <a:solidFill>
                  <a:srgbClr val="000000"/>
                </a:solidFill>
              </a:rPr>
              <a:t>RCR  OPR, CNT</a:t>
            </a:r>
            <a:endParaRPr lang="en-US" altLang="zh-CN" sz="2000" b="0" dirty="0">
              <a:solidFill>
                <a:srgbClr val="000000"/>
              </a:solidFill>
            </a:endParaRPr>
          </a:p>
        </p:txBody>
      </p:sp>
      <p:sp>
        <p:nvSpPr>
          <p:cNvPr id="70683" name="矩形 70682"/>
          <p:cNvSpPr/>
          <p:nvPr/>
        </p:nvSpPr>
        <p:spPr>
          <a:xfrm>
            <a:off x="468268" y="950168"/>
            <a:ext cx="4523995" cy="523220"/>
          </a:xfrm>
          <a:prstGeom prst="rect">
            <a:avLst/>
          </a:prstGeom>
          <a:noFill/>
          <a:ln w="12700">
            <a:noFill/>
          </a:ln>
        </p:spPr>
        <p:txBody>
          <a:bodyPr wrap="none" anchor="t">
            <a:spAutoFit/>
          </a:bodyPr>
          <a:lstStyle/>
          <a:p>
            <a:r>
              <a:rPr lang="en-US" altLang="zh-CN" b="1" dirty="0">
                <a:solidFill>
                  <a:srgbClr val="000000"/>
                </a:solidFill>
                <a:latin typeface="Times New Roman" panose="02020603050405020304" pitchFamily="18" charset="0"/>
                <a:sym typeface="Symbol" panose="05050102010706020507" pitchFamily="18" charset="2"/>
              </a:rPr>
              <a:t>   </a:t>
            </a:r>
            <a:r>
              <a:rPr lang="zh-CN" altLang="en-US" sz="2800" b="1" dirty="0">
                <a:solidFill>
                  <a:srgbClr val="FF0000"/>
                </a:solidFill>
                <a:latin typeface="Times New Roman" panose="02020603050405020304" pitchFamily="18" charset="0"/>
              </a:rPr>
              <a:t>移位指令</a:t>
            </a:r>
            <a:r>
              <a:rPr lang="zh-CN" altLang="en-US" sz="2800" b="1" dirty="0">
                <a:solidFill>
                  <a:srgbClr val="000000"/>
                </a:solidFill>
                <a:latin typeface="Times New Roman" panose="02020603050405020304" pitchFamily="18" charset="0"/>
              </a:rPr>
              <a:t>和</a:t>
            </a:r>
            <a:r>
              <a:rPr lang="zh-CN" altLang="en-US" sz="2800" b="1" dirty="0">
                <a:solidFill>
                  <a:srgbClr val="FF0000"/>
                </a:solidFill>
                <a:latin typeface="Times New Roman" panose="02020603050405020304" pitchFamily="18" charset="0"/>
              </a:rPr>
              <a:t>循环移位指令</a:t>
            </a:r>
            <a:endParaRPr lang="zh-CN" altLang="en-US" sz="2800" b="1" dirty="0">
              <a:solidFill>
                <a:srgbClr val="FF0000"/>
              </a:solidFill>
              <a:latin typeface="Times New Roman" panose="02020603050405020304" pitchFamily="18" charset="0"/>
            </a:endParaRPr>
          </a:p>
        </p:txBody>
      </p:sp>
      <p:sp>
        <p:nvSpPr>
          <p:cNvPr id="31"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逻辑指令</a:t>
            </a:r>
            <a:endParaRPr lang="zh-CN" altLang="en-US" sz="2600" kern="0" dirty="0">
              <a:solidFill>
                <a:schemeClr val="tx2"/>
              </a:solidFill>
              <a:effectLst>
                <a:outerShdw blurRad="38100" dist="38100" dir="2700000" algn="tl">
                  <a:srgbClr val="C0C0C0"/>
                </a:outerShdw>
              </a:effectLst>
              <a:latin typeface="+mj-lt"/>
              <a:cs typeface="+mj-cs"/>
            </a:endParaRPr>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75312" y="1664804"/>
            <a:ext cx="3381375"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5312" y="2312876"/>
            <a:ext cx="3448050"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64088" y="2848930"/>
            <a:ext cx="3381375"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2427" y="3392996"/>
            <a:ext cx="3248025" cy="52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2427" y="4019294"/>
            <a:ext cx="3314700" cy="542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58668" y="4617132"/>
            <a:ext cx="3276600" cy="542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4088" y="5172757"/>
            <a:ext cx="3133725"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2"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78375" y="5782357"/>
            <a:ext cx="3105150" cy="600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矩形 72705"/>
          <p:cNvSpPr/>
          <p:nvPr/>
        </p:nvSpPr>
        <p:spPr>
          <a:xfrm>
            <a:off x="914400" y="1052736"/>
            <a:ext cx="184150" cy="457200"/>
          </a:xfrm>
          <a:prstGeom prst="rect">
            <a:avLst/>
          </a:prstGeom>
          <a:noFill/>
          <a:ln w="12700">
            <a:noFill/>
          </a:ln>
        </p:spPr>
        <p:txBody>
          <a:bodyPr wrap="none" anchor="ctr">
            <a:spAutoFit/>
          </a:bodyPr>
          <a:lstStyle/>
          <a:p>
            <a:pPr eaLnBrk="0" hangingPunct="0"/>
            <a:endParaRPr dirty="0">
              <a:solidFill>
                <a:srgbClr val="000000"/>
              </a:solidFill>
              <a:latin typeface="Times New Roman" panose="02020603050405020304" pitchFamily="18" charset="0"/>
            </a:endParaRPr>
          </a:p>
        </p:txBody>
      </p:sp>
      <p:sp>
        <p:nvSpPr>
          <p:cNvPr id="72708" name="文本框 72707"/>
          <p:cNvSpPr txBox="1"/>
          <p:nvPr/>
        </p:nvSpPr>
        <p:spPr>
          <a:xfrm>
            <a:off x="611559" y="1088740"/>
            <a:ext cx="7956551" cy="5324535"/>
          </a:xfrm>
          <a:prstGeom prst="rect">
            <a:avLst/>
          </a:prstGeom>
          <a:noFill/>
          <a:ln w="12700">
            <a:noFill/>
          </a:ln>
        </p:spPr>
        <p:txBody>
          <a:bodyPr wrap="square" anchor="ctr">
            <a:spAutoFit/>
          </a:bodyPr>
          <a:lstStyle/>
          <a:p>
            <a:pPr>
              <a:spcBef>
                <a:spcPct val="50000"/>
              </a:spcBef>
            </a:pPr>
            <a:r>
              <a:rPr lang="zh-CN" altLang="en-US" sz="2000" b="0" dirty="0">
                <a:solidFill>
                  <a:srgbClr val="000000"/>
                </a:solidFill>
                <a:latin typeface="+mn-lt"/>
              </a:rPr>
              <a:t>注意</a:t>
            </a:r>
            <a:r>
              <a:rPr lang="en-US" altLang="zh-CN" sz="2000" b="0" dirty="0">
                <a:solidFill>
                  <a:srgbClr val="000000"/>
                </a:solidFill>
                <a:latin typeface="+mn-lt"/>
              </a:rPr>
              <a:t>: </a:t>
            </a:r>
            <a:r>
              <a:rPr lang="en-US" altLang="zh-CN" sz="2000" b="0" dirty="0">
                <a:solidFill>
                  <a:srgbClr val="000000"/>
                </a:solidFill>
                <a:latin typeface="+mn-lt"/>
                <a:sym typeface="Symbol" panose="05050102010706020507" pitchFamily="18" charset="2"/>
              </a:rPr>
              <a:t>  </a:t>
            </a:r>
            <a:endParaRPr lang="en-US" altLang="zh-CN" sz="2000" b="0" dirty="0">
              <a:solidFill>
                <a:srgbClr val="000000"/>
              </a:solidFill>
              <a:latin typeface="+mn-lt"/>
              <a:sym typeface="Symbol" panose="05050102010706020507" pitchFamily="18" charset="2"/>
            </a:endParaRPr>
          </a:p>
          <a:p>
            <a:pPr>
              <a:spcBef>
                <a:spcPts val="600"/>
              </a:spcBef>
            </a:pPr>
            <a:r>
              <a:rPr lang="en-US" altLang="zh-CN" sz="2000" b="0" dirty="0">
                <a:solidFill>
                  <a:srgbClr val="000000"/>
                </a:solidFill>
                <a:latin typeface="+mn-lt"/>
                <a:sym typeface="Symbol" panose="05050102010706020507" pitchFamily="18" charset="2"/>
              </a:rPr>
              <a:t>*  OPR</a:t>
            </a:r>
            <a:r>
              <a:rPr lang="zh-CN" altLang="en-US" sz="2000" b="0" dirty="0">
                <a:solidFill>
                  <a:srgbClr val="000000"/>
                </a:solidFill>
                <a:latin typeface="+mn-lt"/>
                <a:sym typeface="Symbol" panose="05050102010706020507" pitchFamily="18" charset="2"/>
              </a:rPr>
              <a:t>可用除立即数以外的任何寻址方式 </a:t>
            </a:r>
            <a:endParaRPr lang="zh-CN" altLang="en-US" sz="2000" b="0" dirty="0">
              <a:solidFill>
                <a:srgbClr val="000000"/>
              </a:solidFill>
              <a:latin typeface="+mn-lt"/>
              <a:sym typeface="Symbol" panose="05050102010706020507" pitchFamily="18" charset="2"/>
            </a:endParaRPr>
          </a:p>
          <a:p>
            <a:pPr>
              <a:spcBef>
                <a:spcPts val="600"/>
              </a:spcBef>
            </a:pPr>
            <a:r>
              <a:rPr lang="en-US" altLang="zh-CN" sz="2000" b="0" dirty="0">
                <a:solidFill>
                  <a:srgbClr val="000000"/>
                </a:solidFill>
                <a:latin typeface="+mn-lt"/>
                <a:sym typeface="Symbol" panose="05050102010706020507" pitchFamily="18" charset="2"/>
              </a:rPr>
              <a:t>*  </a:t>
            </a:r>
            <a:r>
              <a:rPr lang="en-US" altLang="zh-CN" sz="2000" b="0" dirty="0">
                <a:solidFill>
                  <a:srgbClr val="000000"/>
                </a:solidFill>
                <a:latin typeface="+mn-lt"/>
              </a:rPr>
              <a:t>CNT=1</a:t>
            </a:r>
            <a:r>
              <a:rPr lang="zh-CN" altLang="en-US" sz="2000" b="0" dirty="0">
                <a:solidFill>
                  <a:srgbClr val="000000"/>
                </a:solidFill>
                <a:latin typeface="+mn-lt"/>
              </a:rPr>
              <a:t>，</a:t>
            </a:r>
            <a:r>
              <a:rPr lang="en-US" altLang="zh-CN" sz="2000" b="0" dirty="0">
                <a:solidFill>
                  <a:srgbClr val="000000"/>
                </a:solidFill>
                <a:latin typeface="+mn-lt"/>
              </a:rPr>
              <a:t>SHL    OPR, 1</a:t>
            </a:r>
            <a:endParaRPr lang="en-US" altLang="zh-CN" sz="2000" b="0" dirty="0">
              <a:solidFill>
                <a:srgbClr val="000000"/>
              </a:solidFill>
              <a:latin typeface="+mn-lt"/>
            </a:endParaRPr>
          </a:p>
          <a:p>
            <a:pPr>
              <a:spcBef>
                <a:spcPts val="600"/>
              </a:spcBef>
            </a:pPr>
            <a:r>
              <a:rPr lang="en-US" altLang="zh-CN" sz="2000" b="0" dirty="0">
                <a:solidFill>
                  <a:srgbClr val="000000"/>
                </a:solidFill>
                <a:latin typeface="+mn-lt"/>
              </a:rPr>
              <a:t>    CNT&gt;1</a:t>
            </a:r>
            <a:r>
              <a:rPr lang="zh-CN" altLang="en-US" sz="2000" b="0" dirty="0">
                <a:solidFill>
                  <a:srgbClr val="000000"/>
                </a:solidFill>
                <a:latin typeface="+mn-lt"/>
              </a:rPr>
              <a:t>，</a:t>
            </a:r>
            <a:r>
              <a:rPr lang="en-US" altLang="zh-CN" sz="2000" b="0" dirty="0">
                <a:solidFill>
                  <a:srgbClr val="000000"/>
                </a:solidFill>
                <a:latin typeface="+mn-lt"/>
              </a:rPr>
              <a:t>MOV  CL,    CNT</a:t>
            </a:r>
            <a:endParaRPr lang="en-US" altLang="zh-CN" sz="2000" b="0" dirty="0">
              <a:solidFill>
                <a:srgbClr val="000000"/>
              </a:solidFill>
              <a:latin typeface="+mn-lt"/>
            </a:endParaRPr>
          </a:p>
          <a:p>
            <a:pPr>
              <a:spcBef>
                <a:spcPts val="600"/>
              </a:spcBef>
            </a:pPr>
            <a:r>
              <a:rPr lang="en-US" altLang="zh-CN" sz="2000" b="0" dirty="0">
                <a:solidFill>
                  <a:srgbClr val="000000"/>
                </a:solidFill>
                <a:latin typeface="+mn-lt"/>
              </a:rPr>
              <a:t>                     SHL    OPR, CL        ; </a:t>
            </a:r>
            <a:r>
              <a:rPr lang="zh-CN" altLang="zh-CN" sz="2000" b="0" dirty="0">
                <a:solidFill>
                  <a:srgbClr val="000000"/>
                </a:solidFill>
                <a:latin typeface="+mn-lt"/>
              </a:rPr>
              <a:t>以</a:t>
            </a:r>
            <a:r>
              <a:rPr lang="en-US" altLang="zh-CN" sz="2000" b="0" dirty="0">
                <a:solidFill>
                  <a:srgbClr val="000000"/>
                </a:solidFill>
                <a:latin typeface="+mn-lt"/>
              </a:rPr>
              <a:t>SHL</a:t>
            </a:r>
            <a:r>
              <a:rPr lang="zh-CN" altLang="zh-CN" sz="2000" b="0" dirty="0">
                <a:solidFill>
                  <a:srgbClr val="000000"/>
                </a:solidFill>
                <a:latin typeface="+mn-lt"/>
              </a:rPr>
              <a:t>为例</a:t>
            </a:r>
            <a:endParaRPr lang="en-US" altLang="zh-CN" sz="2000" b="0" dirty="0">
              <a:solidFill>
                <a:srgbClr val="000000"/>
              </a:solidFill>
              <a:latin typeface="+mn-lt"/>
              <a:sym typeface="Symbol" panose="05050102010706020507" pitchFamily="18" charset="2"/>
            </a:endParaRPr>
          </a:p>
          <a:p>
            <a:pPr>
              <a:spcBef>
                <a:spcPts val="600"/>
              </a:spcBef>
            </a:pPr>
            <a:r>
              <a:rPr lang="en-US" altLang="zh-CN" sz="2000" b="0" dirty="0">
                <a:solidFill>
                  <a:srgbClr val="000000"/>
                </a:solidFill>
                <a:latin typeface="+mn-lt"/>
                <a:sym typeface="Symbol" panose="05050102010706020507" pitchFamily="18" charset="2"/>
              </a:rPr>
              <a:t>*  </a:t>
            </a:r>
            <a:r>
              <a:rPr lang="zh-CN" altLang="en-US" sz="2000" b="0" dirty="0">
                <a:solidFill>
                  <a:srgbClr val="000000"/>
                </a:solidFill>
                <a:latin typeface="+mn-lt"/>
                <a:sym typeface="Symbol" panose="05050102010706020507" pitchFamily="18" charset="2"/>
              </a:rPr>
              <a:t>条件标志位：</a:t>
            </a:r>
            <a:endParaRPr lang="zh-CN" altLang="en-US" sz="2000" b="0" dirty="0">
              <a:solidFill>
                <a:srgbClr val="000000"/>
              </a:solidFill>
              <a:latin typeface="+mn-lt"/>
              <a:sym typeface="Symbol" panose="05050102010706020507" pitchFamily="18" charset="2"/>
            </a:endParaRPr>
          </a:p>
          <a:p>
            <a:pPr>
              <a:spcBef>
                <a:spcPts val="600"/>
              </a:spcBef>
            </a:pPr>
            <a:r>
              <a:rPr lang="zh-CN" altLang="en-US" sz="2000" b="0" dirty="0">
                <a:solidFill>
                  <a:srgbClr val="000000"/>
                </a:solidFill>
                <a:latin typeface="+mn-lt"/>
                <a:sym typeface="Symbol" panose="05050102010706020507" pitchFamily="18" charset="2"/>
              </a:rPr>
              <a:t>      </a:t>
            </a:r>
            <a:r>
              <a:rPr lang="en-US" altLang="zh-CN" sz="2000" b="0" dirty="0">
                <a:solidFill>
                  <a:srgbClr val="000000"/>
                </a:solidFill>
                <a:latin typeface="+mn-lt"/>
                <a:sym typeface="Symbol" panose="05050102010706020507" pitchFamily="18" charset="2"/>
              </a:rPr>
              <a:t>CF = </a:t>
            </a:r>
            <a:r>
              <a:rPr lang="zh-CN" altLang="en-US" sz="2000" b="0" dirty="0">
                <a:solidFill>
                  <a:srgbClr val="000000"/>
                </a:solidFill>
                <a:latin typeface="+mn-lt"/>
                <a:sym typeface="Symbol" panose="05050102010706020507" pitchFamily="18" charset="2"/>
              </a:rPr>
              <a:t>移入的数值</a:t>
            </a:r>
            <a:endParaRPr lang="zh-CN" altLang="en-US" sz="2000" b="0" dirty="0">
              <a:solidFill>
                <a:srgbClr val="000000"/>
              </a:solidFill>
              <a:latin typeface="+mn-lt"/>
              <a:sym typeface="Symbol" panose="05050102010706020507" pitchFamily="18" charset="2"/>
            </a:endParaRPr>
          </a:p>
          <a:p>
            <a:pPr>
              <a:spcBef>
                <a:spcPts val="600"/>
              </a:spcBef>
            </a:pPr>
            <a:r>
              <a:rPr lang="zh-CN" altLang="en-US" sz="2000" b="0" dirty="0">
                <a:solidFill>
                  <a:srgbClr val="000000"/>
                </a:solidFill>
                <a:latin typeface="+mn-lt"/>
                <a:sym typeface="Symbol" panose="05050102010706020507" pitchFamily="18" charset="2"/>
              </a:rPr>
              <a:t>                   </a:t>
            </a:r>
            <a:r>
              <a:rPr lang="en-US" altLang="en-US" sz="2000" b="0" dirty="0">
                <a:solidFill>
                  <a:srgbClr val="000000"/>
                </a:solidFill>
                <a:latin typeface="+mn-lt"/>
                <a:sym typeface="Symbol" panose="05050102010706020507" pitchFamily="18" charset="2"/>
              </a:rPr>
              <a:t>1    </a:t>
            </a:r>
            <a:r>
              <a:rPr lang="en-US" altLang="zh-CN" sz="2000" b="0" dirty="0">
                <a:solidFill>
                  <a:srgbClr val="000000"/>
                </a:solidFill>
                <a:latin typeface="+mn-lt"/>
                <a:sym typeface="Symbol" panose="05050102010706020507" pitchFamily="18" charset="2"/>
              </a:rPr>
              <a:t>CNT=1</a:t>
            </a:r>
            <a:r>
              <a:rPr lang="zh-CN" altLang="en-US" sz="2000" b="0" dirty="0">
                <a:solidFill>
                  <a:srgbClr val="000000"/>
                </a:solidFill>
                <a:latin typeface="+mn-lt"/>
                <a:sym typeface="Symbol" panose="05050102010706020507" pitchFamily="18" charset="2"/>
              </a:rPr>
              <a:t>时，最高有效位的值发生变化</a:t>
            </a:r>
            <a:endParaRPr lang="zh-CN" altLang="en-US" sz="2000" b="0" dirty="0">
              <a:solidFill>
                <a:srgbClr val="000000"/>
              </a:solidFill>
              <a:latin typeface="+mn-lt"/>
              <a:sym typeface="Symbol" panose="05050102010706020507" pitchFamily="18" charset="2"/>
            </a:endParaRPr>
          </a:p>
          <a:p>
            <a:pPr>
              <a:spcBef>
                <a:spcPts val="600"/>
              </a:spcBef>
            </a:pPr>
            <a:r>
              <a:rPr lang="en-US" altLang="en-US" sz="2000" b="0" dirty="0">
                <a:solidFill>
                  <a:srgbClr val="000000"/>
                </a:solidFill>
                <a:latin typeface="+mn-lt"/>
                <a:sym typeface="Symbol" panose="05050102010706020507" pitchFamily="18" charset="2"/>
              </a:rPr>
              <a:t>                   0    </a:t>
            </a:r>
            <a:r>
              <a:rPr lang="en-US" altLang="zh-CN" sz="2000" b="0" dirty="0">
                <a:solidFill>
                  <a:srgbClr val="000000"/>
                </a:solidFill>
                <a:latin typeface="+mn-lt"/>
                <a:sym typeface="Symbol" panose="05050102010706020507" pitchFamily="18" charset="2"/>
              </a:rPr>
              <a:t>CNT=1</a:t>
            </a:r>
            <a:r>
              <a:rPr lang="zh-CN" altLang="en-US" sz="2000" b="0" dirty="0">
                <a:solidFill>
                  <a:srgbClr val="000000"/>
                </a:solidFill>
                <a:latin typeface="+mn-lt"/>
                <a:sym typeface="Symbol" panose="05050102010706020507" pitchFamily="18" charset="2"/>
              </a:rPr>
              <a:t>时，最高有效位的值不变</a:t>
            </a:r>
            <a:endParaRPr lang="zh-CN" altLang="en-US" sz="2000" b="0" dirty="0">
              <a:solidFill>
                <a:srgbClr val="000000"/>
              </a:solidFill>
              <a:latin typeface="+mn-lt"/>
              <a:sym typeface="Symbol" panose="05050102010706020507" pitchFamily="18" charset="2"/>
            </a:endParaRPr>
          </a:p>
          <a:p>
            <a:pPr>
              <a:spcBef>
                <a:spcPts val="600"/>
              </a:spcBef>
            </a:pPr>
            <a:r>
              <a:rPr lang="zh-CN" altLang="en-US" sz="2000" b="0" dirty="0">
                <a:solidFill>
                  <a:srgbClr val="000000"/>
                </a:solidFill>
                <a:latin typeface="+mn-lt"/>
                <a:sym typeface="Symbol" panose="05050102010706020507" pitchFamily="18" charset="2"/>
              </a:rPr>
              <a:t>      移位指令：</a:t>
            </a:r>
            <a:r>
              <a:rPr lang="zh-CN" altLang="zh-CN" sz="2000" b="0" dirty="0">
                <a:solidFill>
                  <a:srgbClr val="000000"/>
                </a:solidFill>
                <a:latin typeface="+mn-lt"/>
                <a:sym typeface="Symbol" panose="05050102010706020507" pitchFamily="18" charset="2"/>
              </a:rPr>
              <a:t>SF、ZF、PF 根据移位结果设置，AF无定义</a:t>
            </a:r>
            <a:endParaRPr lang="zh-CN" altLang="zh-CN" sz="2000" b="0" dirty="0">
              <a:solidFill>
                <a:srgbClr val="000000"/>
              </a:solidFill>
              <a:latin typeface="+mn-lt"/>
              <a:sym typeface="Symbol" panose="05050102010706020507" pitchFamily="18" charset="2"/>
            </a:endParaRPr>
          </a:p>
          <a:p>
            <a:pPr>
              <a:spcBef>
                <a:spcPts val="600"/>
              </a:spcBef>
            </a:pPr>
            <a:r>
              <a:rPr lang="zh-CN" altLang="zh-CN" sz="2000" b="0" dirty="0">
                <a:solidFill>
                  <a:srgbClr val="000000"/>
                </a:solidFill>
                <a:latin typeface="+mn-lt"/>
                <a:sym typeface="Symbol" panose="05050102010706020507" pitchFamily="18" charset="2"/>
              </a:rPr>
              <a:t>      循环移位指令：不影响 </a:t>
            </a:r>
            <a:r>
              <a:rPr lang="en-US" altLang="zh-CN" sz="2000" b="0" dirty="0">
                <a:solidFill>
                  <a:srgbClr val="000000"/>
                </a:solidFill>
                <a:latin typeface="+mn-lt"/>
                <a:sym typeface="Symbol" panose="05050102010706020507" pitchFamily="18" charset="2"/>
              </a:rPr>
              <a:t>SF</a:t>
            </a:r>
            <a:r>
              <a:rPr lang="zh-CN" altLang="en-US" sz="2000" b="0" dirty="0">
                <a:solidFill>
                  <a:srgbClr val="000000"/>
                </a:solidFill>
                <a:latin typeface="+mn-lt"/>
                <a:sym typeface="Symbol" panose="05050102010706020507" pitchFamily="18" charset="2"/>
              </a:rPr>
              <a:t>、</a:t>
            </a:r>
            <a:r>
              <a:rPr lang="en-US" altLang="zh-CN" sz="2000" b="0" dirty="0">
                <a:solidFill>
                  <a:srgbClr val="000000"/>
                </a:solidFill>
                <a:latin typeface="+mn-lt"/>
                <a:sym typeface="Symbol" panose="05050102010706020507" pitchFamily="18" charset="2"/>
              </a:rPr>
              <a:t>ZF</a:t>
            </a:r>
            <a:r>
              <a:rPr lang="zh-CN" altLang="en-US" sz="2000" b="0" dirty="0">
                <a:solidFill>
                  <a:srgbClr val="000000"/>
                </a:solidFill>
                <a:latin typeface="+mn-lt"/>
                <a:sym typeface="Symbol" panose="05050102010706020507" pitchFamily="18" charset="2"/>
              </a:rPr>
              <a:t>、</a:t>
            </a:r>
            <a:r>
              <a:rPr lang="en-US" altLang="zh-CN" sz="2000" b="0" dirty="0">
                <a:solidFill>
                  <a:srgbClr val="000000"/>
                </a:solidFill>
                <a:latin typeface="+mn-lt"/>
                <a:sym typeface="Symbol" panose="05050102010706020507" pitchFamily="18" charset="2"/>
              </a:rPr>
              <a:t>PF</a:t>
            </a:r>
            <a:r>
              <a:rPr lang="zh-CN" altLang="en-US" sz="2000" b="0" dirty="0">
                <a:solidFill>
                  <a:srgbClr val="000000"/>
                </a:solidFill>
                <a:latin typeface="+mn-lt"/>
                <a:sym typeface="Symbol" panose="05050102010706020507" pitchFamily="18" charset="2"/>
              </a:rPr>
              <a:t>、</a:t>
            </a:r>
            <a:r>
              <a:rPr lang="en-US" altLang="zh-CN" sz="2000" b="0" dirty="0">
                <a:solidFill>
                  <a:srgbClr val="000000"/>
                </a:solidFill>
                <a:latin typeface="+mn-lt"/>
                <a:sym typeface="Symbol" panose="05050102010706020507" pitchFamily="18" charset="2"/>
              </a:rPr>
              <a:t>AF</a:t>
            </a:r>
            <a:endParaRPr lang="en-US" altLang="zh-CN" sz="2000" b="0" dirty="0">
              <a:solidFill>
                <a:srgbClr val="000000"/>
              </a:solidFill>
              <a:latin typeface="+mn-lt"/>
              <a:sym typeface="Symbol" panose="05050102010706020507" pitchFamily="18" charset="2"/>
            </a:endParaRPr>
          </a:p>
          <a:p>
            <a:pPr>
              <a:spcBef>
                <a:spcPts val="600"/>
              </a:spcBef>
            </a:pPr>
            <a:r>
              <a:rPr lang="en-US" altLang="zh-CN" sz="2000" b="0" dirty="0">
                <a:solidFill>
                  <a:srgbClr val="000000"/>
                </a:solidFill>
                <a:sym typeface="Symbol" panose="05050102010706020507" pitchFamily="18" charset="2"/>
              </a:rPr>
              <a:t>*  </a:t>
            </a:r>
            <a:r>
              <a:rPr lang="zh-CN" altLang="en-US" sz="2000" b="0" dirty="0">
                <a:solidFill>
                  <a:srgbClr val="000000"/>
                </a:solidFill>
                <a:sym typeface="Symbol" panose="05050102010706020507" pitchFamily="18" charset="2"/>
              </a:rPr>
              <a:t>移位指令可以用来作乘</a:t>
            </a:r>
            <a:r>
              <a:rPr lang="en-US" altLang="zh-CN" sz="2000" b="0" dirty="0">
                <a:solidFill>
                  <a:srgbClr val="000000"/>
                </a:solidFill>
                <a:sym typeface="Symbol" panose="05050102010706020507" pitchFamily="18" charset="2"/>
              </a:rPr>
              <a:t>2</a:t>
            </a:r>
            <a:r>
              <a:rPr lang="zh-CN" altLang="en-US" sz="2000" b="0" dirty="0">
                <a:solidFill>
                  <a:srgbClr val="000000"/>
                </a:solidFill>
                <a:sym typeface="Symbol" panose="05050102010706020507" pitchFamily="18" charset="2"/>
              </a:rPr>
              <a:t>或除</a:t>
            </a:r>
            <a:r>
              <a:rPr lang="en-US" altLang="zh-CN" sz="2000" b="0" dirty="0">
                <a:solidFill>
                  <a:srgbClr val="000000"/>
                </a:solidFill>
                <a:sym typeface="Symbol" panose="05050102010706020507" pitchFamily="18" charset="2"/>
              </a:rPr>
              <a:t>2</a:t>
            </a:r>
            <a:r>
              <a:rPr lang="zh-CN" altLang="en-US" sz="2000" b="0" dirty="0">
                <a:solidFill>
                  <a:srgbClr val="000000"/>
                </a:solidFill>
                <a:sym typeface="Symbol" panose="05050102010706020507" pitchFamily="18" charset="2"/>
              </a:rPr>
              <a:t>的操作，其中算术移位指令用于带符   号数运算，逻辑移位用于无符号数运算。</a:t>
            </a:r>
            <a:endParaRPr lang="zh-CN" altLang="en-US" sz="2000" b="0" dirty="0">
              <a:solidFill>
                <a:srgbClr val="000000"/>
              </a:solidFill>
              <a:sym typeface="Symbol" panose="05050102010706020507" pitchFamily="18" charset="2"/>
            </a:endParaRPr>
          </a:p>
          <a:p>
            <a:pPr>
              <a:spcBef>
                <a:spcPts val="600"/>
              </a:spcBef>
            </a:pPr>
            <a:endParaRPr lang="en-US" altLang="zh-CN" sz="2000" b="0" dirty="0">
              <a:solidFill>
                <a:srgbClr val="000000"/>
              </a:solidFill>
              <a:latin typeface="+mn-lt"/>
              <a:sym typeface="Symbol" panose="05050102010706020507" pitchFamily="18" charset="2"/>
            </a:endParaRPr>
          </a:p>
        </p:txBody>
      </p:sp>
      <p:sp>
        <p:nvSpPr>
          <p:cNvPr id="72709" name="文本框 72708"/>
          <p:cNvSpPr txBox="1"/>
          <p:nvPr/>
        </p:nvSpPr>
        <p:spPr>
          <a:xfrm>
            <a:off x="895722" y="3968229"/>
            <a:ext cx="855663" cy="396875"/>
          </a:xfrm>
          <a:prstGeom prst="rect">
            <a:avLst/>
          </a:prstGeom>
          <a:noFill/>
          <a:ln w="12700">
            <a:noFill/>
          </a:ln>
        </p:spPr>
        <p:txBody>
          <a:bodyPr anchor="ctr">
            <a:spAutoFit/>
          </a:bodyPr>
          <a:lstStyle/>
          <a:p>
            <a:pPr algn="ctr" eaLnBrk="0" hangingPunct="0">
              <a:spcBef>
                <a:spcPct val="50000"/>
              </a:spcBef>
            </a:pPr>
            <a:r>
              <a:rPr lang="en-US" altLang="zh-CN" sz="2000" b="1" dirty="0">
                <a:solidFill>
                  <a:srgbClr val="000000"/>
                </a:solidFill>
                <a:latin typeface="Times New Roman" panose="02020603050405020304" pitchFamily="18" charset="0"/>
              </a:rPr>
              <a:t>OF =</a:t>
            </a:r>
            <a:endParaRPr lang="en-US" altLang="zh-CN" sz="2000" dirty="0">
              <a:solidFill>
                <a:srgbClr val="000000"/>
              </a:solidFill>
              <a:latin typeface="Times New Roman" panose="02020603050405020304" pitchFamily="18" charset="0"/>
            </a:endParaRPr>
          </a:p>
        </p:txBody>
      </p:sp>
      <p:sp>
        <p:nvSpPr>
          <p:cNvPr id="72710" name="左大括号 72709"/>
          <p:cNvSpPr/>
          <p:nvPr/>
        </p:nvSpPr>
        <p:spPr>
          <a:xfrm>
            <a:off x="1784722" y="3903712"/>
            <a:ext cx="76200" cy="533400"/>
          </a:xfrm>
          <a:prstGeom prst="leftBrace">
            <a:avLst>
              <a:gd name="adj1" fmla="val 58333"/>
              <a:gd name="adj2" fmla="val 50000"/>
            </a:avLst>
          </a:prstGeom>
          <a:noFill/>
          <a:ln w="12700" cap="sq" cmpd="sng">
            <a:solidFill>
              <a:schemeClr val="tx1"/>
            </a:solidFill>
            <a:prstDash val="solid"/>
            <a:headEnd type="none" w="med" len="med"/>
            <a:tailEnd type="none" w="med" len="med"/>
          </a:ln>
        </p:spPr>
        <p:txBody>
          <a:bodyPr/>
          <a:lstStyle/>
          <a:p>
            <a:endParaRPr lang="zh-CN" altLang="en-US"/>
          </a:p>
        </p:txBody>
      </p:sp>
      <p:sp>
        <p:nvSpPr>
          <p:cNvPr id="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逻辑指令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矩形 73729"/>
          <p:cNvSpPr/>
          <p:nvPr/>
        </p:nvSpPr>
        <p:spPr>
          <a:xfrm>
            <a:off x="1049796" y="1052736"/>
            <a:ext cx="7086600" cy="457200"/>
          </a:xfrm>
          <a:prstGeom prst="rect">
            <a:avLst/>
          </a:prstGeom>
          <a:noFill/>
          <a:ln w="12700">
            <a:noFill/>
          </a:ln>
        </p:spPr>
        <p:txBody>
          <a:bodyPr anchor="ctr">
            <a:spAutoFit/>
          </a:bodyPr>
          <a:lstStyle/>
          <a:p>
            <a:pPr eaLnBrk="0" hangingPunct="0">
              <a:lnSpc>
                <a:spcPct val="120000"/>
              </a:lnSpc>
            </a:pPr>
            <a:r>
              <a:rPr lang="zh-CN" altLang="en-US" sz="2000" b="0" dirty="0">
                <a:solidFill>
                  <a:srgbClr val="000000"/>
                </a:solidFill>
                <a:latin typeface="Times New Roman" panose="02020603050405020304" pitchFamily="18" charset="0"/>
              </a:rPr>
              <a:t>例：</a:t>
            </a:r>
            <a:r>
              <a:rPr lang="en-US" altLang="zh-CN" sz="2000" b="0" dirty="0">
                <a:solidFill>
                  <a:srgbClr val="000000"/>
                </a:solidFill>
                <a:latin typeface="Times New Roman" panose="02020603050405020304" pitchFamily="18" charset="0"/>
              </a:rPr>
              <a:t>(AX)= 0012H</a:t>
            </a:r>
            <a:r>
              <a:rPr lang="zh-CN" altLang="en-US" sz="2000" b="0" dirty="0">
                <a:solidFill>
                  <a:srgbClr val="000000"/>
                </a:solidFill>
                <a:latin typeface="Times New Roman" panose="02020603050405020304" pitchFamily="18" charset="0"/>
              </a:rPr>
              <a:t>，</a:t>
            </a:r>
            <a:r>
              <a:rPr lang="en-US" altLang="zh-CN" sz="2000" b="0" dirty="0">
                <a:solidFill>
                  <a:srgbClr val="000000"/>
                </a:solidFill>
                <a:latin typeface="Times New Roman" panose="02020603050405020304" pitchFamily="18" charset="0"/>
              </a:rPr>
              <a:t>(BX)= 0034H</a:t>
            </a:r>
            <a:r>
              <a:rPr lang="zh-CN" altLang="en-US" sz="2000" b="0" dirty="0">
                <a:solidFill>
                  <a:srgbClr val="000000"/>
                </a:solidFill>
                <a:latin typeface="Times New Roman" panose="02020603050405020304" pitchFamily="18" charset="0"/>
              </a:rPr>
              <a:t>，把它们装配成</a:t>
            </a:r>
            <a:r>
              <a:rPr lang="en-US" altLang="zh-CN" sz="2000" b="0" dirty="0">
                <a:solidFill>
                  <a:srgbClr val="000000"/>
                </a:solidFill>
                <a:latin typeface="Times New Roman" panose="02020603050405020304" pitchFamily="18" charset="0"/>
              </a:rPr>
              <a:t>(AX)= 1234H</a:t>
            </a:r>
            <a:endParaRPr lang="en-US" altLang="zh-CN" sz="2000" b="1" dirty="0">
              <a:solidFill>
                <a:srgbClr val="000000"/>
              </a:solidFill>
              <a:latin typeface="Lucida Console" panose="020B0609040504020204" pitchFamily="49" charset="0"/>
            </a:endParaRPr>
          </a:p>
        </p:txBody>
      </p:sp>
      <p:sp>
        <p:nvSpPr>
          <p:cNvPr id="73731" name="矩形 73730"/>
          <p:cNvSpPr/>
          <p:nvPr/>
        </p:nvSpPr>
        <p:spPr>
          <a:xfrm>
            <a:off x="1049796" y="2924944"/>
            <a:ext cx="7345362" cy="3816429"/>
          </a:xfrm>
          <a:prstGeom prst="rect">
            <a:avLst/>
          </a:prstGeom>
          <a:noFill/>
          <a:ln w="12700">
            <a:noFill/>
          </a:ln>
        </p:spPr>
        <p:txBody>
          <a:bodyPr>
            <a:spAutoFit/>
          </a:bodyPr>
          <a:lstStyle/>
          <a:p>
            <a:pPr eaLnBrk="0" hangingPunct="0">
              <a:lnSpc>
                <a:spcPct val="120000"/>
              </a:lnSpc>
              <a:spcBef>
                <a:spcPct val="50000"/>
              </a:spcBef>
            </a:pPr>
            <a:r>
              <a:rPr lang="zh-CN" altLang="en-US" sz="2000" b="0" dirty="0">
                <a:solidFill>
                  <a:srgbClr val="000000"/>
                </a:solidFill>
                <a:latin typeface="+mn-lt"/>
              </a:rPr>
              <a:t>例：</a:t>
            </a:r>
            <a:r>
              <a:rPr lang="en-US" altLang="zh-CN" sz="2000" b="0" dirty="0">
                <a:solidFill>
                  <a:srgbClr val="000000"/>
                </a:solidFill>
                <a:latin typeface="+mn-lt"/>
              </a:rPr>
              <a:t>(BX) = 84F0H</a:t>
            </a:r>
            <a:endParaRPr lang="en-US" altLang="zh-CN" sz="2000" b="0" dirty="0">
              <a:solidFill>
                <a:srgbClr val="000000"/>
              </a:solidFill>
              <a:latin typeface="+mn-lt"/>
            </a:endParaRPr>
          </a:p>
          <a:p>
            <a:pPr eaLnBrk="0" hangingPunct="0">
              <a:lnSpc>
                <a:spcPct val="120000"/>
              </a:lnSpc>
              <a:spcBef>
                <a:spcPct val="50000"/>
              </a:spcBef>
            </a:pPr>
            <a:r>
              <a:rPr lang="zh-CN" altLang="zh-CN" sz="2000" b="0" dirty="0">
                <a:solidFill>
                  <a:srgbClr val="000000"/>
                </a:solidFill>
                <a:latin typeface="+mn-lt"/>
              </a:rPr>
              <a:t>        </a:t>
            </a:r>
            <a:r>
              <a:rPr lang="en-US" altLang="zh-CN" sz="2000" b="0" dirty="0">
                <a:solidFill>
                  <a:srgbClr val="000000"/>
                </a:solidFill>
                <a:latin typeface="+mn-lt"/>
              </a:rPr>
              <a:t>	</a:t>
            </a:r>
            <a:r>
              <a:rPr lang="zh-CN" altLang="zh-CN" sz="2000" b="0" dirty="0">
                <a:solidFill>
                  <a:srgbClr val="000000"/>
                </a:solidFill>
                <a:latin typeface="+mn-lt"/>
              </a:rPr>
              <a:t>(</a:t>
            </a:r>
            <a:r>
              <a:rPr lang="en-US" altLang="zh-CN" sz="2000" b="0" dirty="0">
                <a:solidFill>
                  <a:srgbClr val="000000"/>
                </a:solidFill>
                <a:latin typeface="+mn-lt"/>
              </a:rPr>
              <a:t>1</a:t>
            </a:r>
            <a:r>
              <a:rPr lang="zh-CN" altLang="zh-CN" sz="2000" b="0" dirty="0">
                <a:solidFill>
                  <a:srgbClr val="000000"/>
                </a:solidFill>
                <a:latin typeface="+mn-lt"/>
              </a:rPr>
              <a:t>)  (BX) 为带符号数，求</a:t>
            </a:r>
            <a:r>
              <a:rPr lang="en-US" altLang="zh-CN" sz="2000" b="0" dirty="0">
                <a:solidFill>
                  <a:srgbClr val="000000"/>
                </a:solidFill>
                <a:latin typeface="+mn-lt"/>
              </a:rPr>
              <a:t> (BX) ×2 </a:t>
            </a:r>
            <a:endParaRPr lang="en-US" altLang="zh-CN" sz="2000" b="0" dirty="0">
              <a:solidFill>
                <a:srgbClr val="000000"/>
              </a:solidFill>
              <a:latin typeface="+mn-lt"/>
            </a:endParaRPr>
          </a:p>
          <a:p>
            <a:pPr eaLnBrk="0" hangingPunct="0">
              <a:lnSpc>
                <a:spcPct val="120000"/>
              </a:lnSpc>
            </a:pPr>
            <a:r>
              <a:rPr lang="en-US" altLang="zh-CN" sz="2000" b="0" dirty="0">
                <a:solidFill>
                  <a:srgbClr val="000000"/>
                </a:solidFill>
                <a:latin typeface="+mn-lt"/>
              </a:rPr>
              <a:t>	         SAL  BX, 1      ; (BX) = 09E0H</a:t>
            </a:r>
            <a:endParaRPr lang="en-US" altLang="zh-CN" sz="2000" b="0" dirty="0">
              <a:solidFill>
                <a:srgbClr val="000000"/>
              </a:solidFill>
              <a:latin typeface="+mn-lt"/>
            </a:endParaRPr>
          </a:p>
          <a:p>
            <a:pPr eaLnBrk="0" hangingPunct="0">
              <a:lnSpc>
                <a:spcPct val="120000"/>
              </a:lnSpc>
            </a:pPr>
            <a:endParaRPr lang="en-US" altLang="zh-CN" sz="2000" b="0" dirty="0">
              <a:solidFill>
                <a:srgbClr val="000000"/>
              </a:solidFill>
              <a:latin typeface="+mn-lt"/>
            </a:endParaRPr>
          </a:p>
          <a:p>
            <a:pPr eaLnBrk="0" hangingPunct="0">
              <a:lnSpc>
                <a:spcPct val="120000"/>
              </a:lnSpc>
              <a:spcBef>
                <a:spcPts val="0"/>
              </a:spcBef>
              <a:spcAft>
                <a:spcPts val="0"/>
              </a:spcAft>
            </a:pPr>
            <a:r>
              <a:rPr lang="en-US" altLang="zh-CN" sz="2000" b="0" dirty="0">
                <a:solidFill>
                  <a:srgbClr val="000000"/>
                </a:solidFill>
              </a:rPr>
              <a:t>	</a:t>
            </a:r>
            <a:r>
              <a:rPr lang="zh-CN" altLang="zh-CN" sz="2000" b="0" dirty="0">
                <a:solidFill>
                  <a:srgbClr val="000000"/>
                </a:solidFill>
              </a:rPr>
              <a:t> (</a:t>
            </a:r>
            <a:r>
              <a:rPr lang="en-US" altLang="zh-CN" sz="2000" b="0" dirty="0">
                <a:solidFill>
                  <a:srgbClr val="000000"/>
                </a:solidFill>
              </a:rPr>
              <a:t>2</a:t>
            </a:r>
            <a:r>
              <a:rPr lang="zh-CN" altLang="zh-CN" sz="2000" b="0" dirty="0">
                <a:solidFill>
                  <a:srgbClr val="000000"/>
                </a:solidFill>
              </a:rPr>
              <a:t>)  (BX) 为</a:t>
            </a:r>
            <a:r>
              <a:rPr lang="zh-CN" altLang="zh-CN" sz="2000" b="0" dirty="0">
                <a:solidFill>
                  <a:srgbClr val="FF0000"/>
                </a:solidFill>
              </a:rPr>
              <a:t>无符号数</a:t>
            </a:r>
            <a:r>
              <a:rPr lang="zh-CN" altLang="zh-CN" sz="2000" b="0" dirty="0">
                <a:solidFill>
                  <a:srgbClr val="000000"/>
                </a:solidFill>
              </a:rPr>
              <a:t>，求</a:t>
            </a:r>
            <a:r>
              <a:rPr lang="en-US" altLang="zh-CN" sz="2000" b="0" dirty="0">
                <a:solidFill>
                  <a:srgbClr val="000000"/>
                </a:solidFill>
              </a:rPr>
              <a:t> (BX) / 2</a:t>
            </a:r>
            <a:endParaRPr lang="en-US" altLang="zh-CN" sz="2000" b="0" dirty="0">
              <a:solidFill>
                <a:srgbClr val="000000"/>
              </a:solidFill>
            </a:endParaRPr>
          </a:p>
          <a:p>
            <a:pPr eaLnBrk="0" hangingPunct="0">
              <a:lnSpc>
                <a:spcPct val="120000"/>
              </a:lnSpc>
              <a:spcBef>
                <a:spcPts val="0"/>
              </a:spcBef>
              <a:spcAft>
                <a:spcPts val="0"/>
              </a:spcAft>
            </a:pPr>
            <a:r>
              <a:rPr lang="en-US" altLang="zh-CN" sz="2000" b="0" dirty="0">
                <a:solidFill>
                  <a:srgbClr val="000000"/>
                </a:solidFill>
              </a:rPr>
              <a:t>                        </a:t>
            </a:r>
            <a:r>
              <a:rPr lang="en-US" altLang="zh-CN" sz="2000" b="0" dirty="0">
                <a:solidFill>
                  <a:srgbClr val="FF0000"/>
                </a:solidFill>
              </a:rPr>
              <a:t>SHR</a:t>
            </a:r>
            <a:r>
              <a:rPr lang="en-US" altLang="zh-CN" sz="2000" b="0" dirty="0">
                <a:solidFill>
                  <a:srgbClr val="000000"/>
                </a:solidFill>
              </a:rPr>
              <a:t>  BX, 1      ; (BX) = 4278H</a:t>
            </a:r>
            <a:r>
              <a:rPr lang="zh-CN" altLang="zh-CN" sz="2000" b="0" dirty="0">
                <a:solidFill>
                  <a:srgbClr val="000000"/>
                </a:solidFill>
                <a:latin typeface="+mn-lt"/>
              </a:rPr>
              <a:t>    </a:t>
            </a:r>
            <a:endParaRPr lang="en-US" altLang="zh-CN" sz="2000" b="0" dirty="0">
              <a:solidFill>
                <a:srgbClr val="000000"/>
              </a:solidFill>
              <a:latin typeface="+mn-lt"/>
            </a:endParaRPr>
          </a:p>
          <a:p>
            <a:pPr eaLnBrk="0" hangingPunct="0">
              <a:lnSpc>
                <a:spcPct val="120000"/>
              </a:lnSpc>
              <a:spcBef>
                <a:spcPts val="0"/>
              </a:spcBef>
              <a:spcAft>
                <a:spcPts val="0"/>
              </a:spcAft>
            </a:pPr>
            <a:r>
              <a:rPr lang="zh-CN" altLang="zh-CN" sz="2000" b="0" dirty="0">
                <a:solidFill>
                  <a:srgbClr val="000000"/>
                </a:solidFill>
                <a:latin typeface="+mn-lt"/>
              </a:rPr>
              <a:t>   </a:t>
            </a:r>
            <a:endParaRPr lang="en-US" altLang="zh-CN" sz="2000" b="0" dirty="0">
              <a:solidFill>
                <a:srgbClr val="000000"/>
              </a:solidFill>
              <a:latin typeface="+mn-lt"/>
            </a:endParaRPr>
          </a:p>
          <a:p>
            <a:pPr eaLnBrk="0" hangingPunct="0">
              <a:lnSpc>
                <a:spcPct val="120000"/>
              </a:lnSpc>
            </a:pPr>
            <a:r>
              <a:rPr lang="en-US" altLang="zh-CN" sz="2000" b="0" dirty="0">
                <a:solidFill>
                  <a:srgbClr val="000000"/>
                </a:solidFill>
                <a:latin typeface="+mn-lt"/>
              </a:rPr>
              <a:t>	</a:t>
            </a:r>
            <a:r>
              <a:rPr lang="zh-CN" altLang="zh-CN" sz="2000" b="0" dirty="0">
                <a:solidFill>
                  <a:srgbClr val="000000"/>
                </a:solidFill>
                <a:latin typeface="+mn-lt"/>
              </a:rPr>
              <a:t> (3)  (BX) 为</a:t>
            </a:r>
            <a:r>
              <a:rPr lang="zh-CN" altLang="zh-CN" sz="2000" b="0" dirty="0">
                <a:solidFill>
                  <a:srgbClr val="FF0000"/>
                </a:solidFill>
                <a:latin typeface="+mn-lt"/>
              </a:rPr>
              <a:t>带符号数</a:t>
            </a:r>
            <a:r>
              <a:rPr lang="zh-CN" altLang="zh-CN" sz="2000" b="0" dirty="0">
                <a:solidFill>
                  <a:srgbClr val="000000"/>
                </a:solidFill>
                <a:latin typeface="+mn-lt"/>
              </a:rPr>
              <a:t>，求</a:t>
            </a:r>
            <a:r>
              <a:rPr lang="en-US" altLang="zh-CN" sz="2000" b="0" dirty="0">
                <a:solidFill>
                  <a:srgbClr val="000000"/>
                </a:solidFill>
                <a:latin typeface="+mn-lt"/>
              </a:rPr>
              <a:t> (BX) / 4</a:t>
            </a:r>
            <a:endParaRPr lang="en-US" altLang="zh-CN" sz="2000" b="0" dirty="0">
              <a:solidFill>
                <a:srgbClr val="000000"/>
              </a:solidFill>
              <a:latin typeface="+mn-lt"/>
            </a:endParaRPr>
          </a:p>
          <a:p>
            <a:r>
              <a:rPr lang="en-US" altLang="zh-CN" sz="2000" b="0" dirty="0">
                <a:solidFill>
                  <a:srgbClr val="000000"/>
                </a:solidFill>
                <a:latin typeface="+mn-lt"/>
              </a:rPr>
              <a:t>          	         MOV  CL,  2                                             </a:t>
            </a:r>
            <a:endParaRPr lang="en-US" altLang="zh-CN" sz="2000" b="0" dirty="0">
              <a:solidFill>
                <a:srgbClr val="000000"/>
              </a:solidFill>
              <a:latin typeface="+mn-lt"/>
            </a:endParaRPr>
          </a:p>
          <a:p>
            <a:r>
              <a:rPr lang="en-US" altLang="zh-CN" sz="2000" b="0" dirty="0">
                <a:solidFill>
                  <a:srgbClr val="000000"/>
                </a:solidFill>
                <a:latin typeface="+mn-lt"/>
              </a:rPr>
              <a:t>	         </a:t>
            </a:r>
            <a:r>
              <a:rPr lang="en-US" altLang="zh-CN" sz="2000" b="0" dirty="0">
                <a:solidFill>
                  <a:srgbClr val="FF0000"/>
                </a:solidFill>
                <a:latin typeface="+mn-lt"/>
              </a:rPr>
              <a:t>SAR</a:t>
            </a:r>
            <a:r>
              <a:rPr lang="en-US" altLang="zh-CN" sz="2000" b="0" dirty="0">
                <a:solidFill>
                  <a:srgbClr val="000000"/>
                </a:solidFill>
                <a:latin typeface="+mn-lt"/>
              </a:rPr>
              <a:t>  BX, CL      ; (BX) = 0E13CH</a:t>
            </a:r>
            <a:endParaRPr lang="en-US" altLang="zh-CN" sz="2000" b="0" dirty="0">
              <a:solidFill>
                <a:srgbClr val="000000"/>
              </a:solidFill>
              <a:latin typeface="+mn-lt"/>
            </a:endParaRPr>
          </a:p>
        </p:txBody>
      </p:sp>
      <p:sp>
        <p:nvSpPr>
          <p:cNvPr id="73732" name="矩形 73731"/>
          <p:cNvSpPr/>
          <p:nvPr/>
        </p:nvSpPr>
        <p:spPr>
          <a:xfrm>
            <a:off x="2447764" y="1517948"/>
            <a:ext cx="5050421" cy="1200329"/>
          </a:xfrm>
          <a:prstGeom prst="rect">
            <a:avLst/>
          </a:prstGeom>
          <a:noFill/>
          <a:ln w="12700">
            <a:noFill/>
          </a:ln>
        </p:spPr>
        <p:txBody>
          <a:bodyPr wrap="square">
            <a:spAutoFit/>
          </a:bodyPr>
          <a:lstStyle/>
          <a:p>
            <a:pPr eaLnBrk="0" hangingPunct="0">
              <a:lnSpc>
                <a:spcPct val="120000"/>
              </a:lnSpc>
            </a:pPr>
            <a:r>
              <a:rPr lang="en-US" altLang="zh-CN" sz="2000" b="0" dirty="0">
                <a:solidFill>
                  <a:srgbClr val="000000"/>
                </a:solidFill>
                <a:latin typeface="+mn-lt"/>
              </a:rPr>
              <a:t>MOV  CL, 8</a:t>
            </a:r>
            <a:endParaRPr lang="en-US" altLang="zh-CN" sz="2000" b="0" dirty="0">
              <a:solidFill>
                <a:srgbClr val="000000"/>
              </a:solidFill>
              <a:latin typeface="+mn-lt"/>
            </a:endParaRPr>
          </a:p>
          <a:p>
            <a:pPr eaLnBrk="0" hangingPunct="0">
              <a:lnSpc>
                <a:spcPct val="120000"/>
              </a:lnSpc>
            </a:pPr>
            <a:r>
              <a:rPr lang="en-US" altLang="zh-CN" sz="2000" b="0" dirty="0">
                <a:solidFill>
                  <a:srgbClr val="000000"/>
                </a:solidFill>
                <a:latin typeface="+mn-lt"/>
              </a:rPr>
              <a:t>ROL  AX, CL	; SHL</a:t>
            </a:r>
            <a:r>
              <a:rPr lang="zh-CN" altLang="en-US" sz="2000" b="0" dirty="0">
                <a:solidFill>
                  <a:srgbClr val="000000"/>
                </a:solidFill>
                <a:latin typeface="+mn-lt"/>
              </a:rPr>
              <a:t>、</a:t>
            </a:r>
            <a:r>
              <a:rPr lang="en-US" altLang="zh-CN" sz="2000" b="0" dirty="0">
                <a:solidFill>
                  <a:srgbClr val="000000"/>
                </a:solidFill>
                <a:latin typeface="+mn-lt"/>
              </a:rPr>
              <a:t>SAL</a:t>
            </a:r>
            <a:r>
              <a:rPr lang="zh-CN" altLang="en-US" sz="2000" b="0" dirty="0">
                <a:solidFill>
                  <a:srgbClr val="000000"/>
                </a:solidFill>
                <a:latin typeface="+mn-lt"/>
              </a:rPr>
              <a:t>也可以</a:t>
            </a:r>
            <a:endParaRPr lang="en-US" altLang="zh-CN" sz="2000" b="0" dirty="0">
              <a:solidFill>
                <a:srgbClr val="000000"/>
              </a:solidFill>
              <a:latin typeface="+mn-lt"/>
            </a:endParaRPr>
          </a:p>
          <a:p>
            <a:pPr eaLnBrk="0" hangingPunct="0">
              <a:lnSpc>
                <a:spcPct val="120000"/>
              </a:lnSpc>
            </a:pPr>
            <a:r>
              <a:rPr lang="en-US" altLang="zh-CN" sz="2000" b="0" dirty="0">
                <a:solidFill>
                  <a:srgbClr val="000000"/>
                </a:solidFill>
                <a:latin typeface="+mn-lt"/>
              </a:rPr>
              <a:t>ADD  AX, BX</a:t>
            </a:r>
            <a:endParaRPr lang="en-US" altLang="zh-CN" sz="2000" b="0" dirty="0">
              <a:solidFill>
                <a:srgbClr val="000000"/>
              </a:solidFill>
              <a:latin typeface="+mn-lt"/>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逻辑指令</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732"/>
                                        </p:tgtEl>
                                        <p:attrNameLst>
                                          <p:attrName>style.visibility</p:attrName>
                                        </p:attrNameLst>
                                      </p:cBhvr>
                                      <p:to>
                                        <p:strVal val="visible"/>
                                      </p:to>
                                    </p:set>
                                    <p:anim calcmode="lin" valueType="num">
                                      <p:cBhvr additive="base">
                                        <p:cTn id="7" dur="500" fill="hold"/>
                                        <p:tgtEl>
                                          <p:spTgt spid="73732"/>
                                        </p:tgtEl>
                                        <p:attrNameLst>
                                          <p:attrName>ppt_x</p:attrName>
                                        </p:attrNameLst>
                                      </p:cBhvr>
                                      <p:tavLst>
                                        <p:tav tm="0">
                                          <p:val>
                                            <p:strVal val="0-#ppt_w/2"/>
                                          </p:val>
                                        </p:tav>
                                        <p:tav tm="100000">
                                          <p:val>
                                            <p:strVal val="#ppt_x"/>
                                          </p:val>
                                        </p:tav>
                                      </p:tavLst>
                                    </p:anim>
                                    <p:anim calcmode="lin" valueType="num">
                                      <p:cBhvr additive="base">
                                        <p:cTn id="8" dur="500" fill="hold"/>
                                        <p:tgtEl>
                                          <p:spTgt spid="7373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37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p:bldP spid="73732"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矩形 72705"/>
          <p:cNvSpPr/>
          <p:nvPr/>
        </p:nvSpPr>
        <p:spPr>
          <a:xfrm>
            <a:off x="914400" y="1052736"/>
            <a:ext cx="184150" cy="457200"/>
          </a:xfrm>
          <a:prstGeom prst="rect">
            <a:avLst/>
          </a:prstGeom>
          <a:noFill/>
          <a:ln w="12700">
            <a:noFill/>
          </a:ln>
        </p:spPr>
        <p:txBody>
          <a:bodyPr wrap="none" anchor="ctr">
            <a:spAutoFit/>
          </a:bodyPr>
          <a:lstStyle/>
          <a:p>
            <a:pPr eaLnBrk="0" hangingPunct="0"/>
            <a:endParaRPr dirty="0">
              <a:solidFill>
                <a:srgbClr val="000000"/>
              </a:solidFill>
              <a:latin typeface="Times New Roman" panose="02020603050405020304" pitchFamily="18" charset="0"/>
            </a:endParaRPr>
          </a:p>
        </p:txBody>
      </p:sp>
      <p:sp>
        <p:nvSpPr>
          <p:cNvPr id="72708" name="文本框 72707"/>
          <p:cNvSpPr txBox="1"/>
          <p:nvPr/>
        </p:nvSpPr>
        <p:spPr>
          <a:xfrm>
            <a:off x="467536" y="1117521"/>
            <a:ext cx="7956551" cy="784830"/>
          </a:xfrm>
          <a:prstGeom prst="rect">
            <a:avLst/>
          </a:prstGeom>
          <a:noFill/>
          <a:ln w="12700">
            <a:noFill/>
          </a:ln>
        </p:spPr>
        <p:txBody>
          <a:bodyPr wrap="square" anchor="ctr">
            <a:spAutoFit/>
          </a:bodyPr>
          <a:lstStyle/>
          <a:p>
            <a:pPr>
              <a:spcBef>
                <a:spcPts val="600"/>
              </a:spcBef>
            </a:pPr>
            <a:r>
              <a:rPr lang="zh-CN" altLang="en-US" sz="2000" b="0" dirty="0">
                <a:solidFill>
                  <a:srgbClr val="FF0000"/>
                </a:solidFill>
                <a:latin typeface="+mn-lt"/>
                <a:sym typeface="Symbol" panose="05050102010706020507" pitchFamily="18" charset="2"/>
              </a:rPr>
              <a:t>循环移位和带进位循环移位的区别：</a:t>
            </a:r>
            <a:endParaRPr lang="zh-CN" altLang="en-US" sz="2000" b="0" dirty="0">
              <a:solidFill>
                <a:srgbClr val="FF0000"/>
              </a:solidFill>
              <a:latin typeface="+mn-lt"/>
              <a:sym typeface="Symbol" panose="05050102010706020507" pitchFamily="18" charset="2"/>
            </a:endParaRPr>
          </a:p>
          <a:p>
            <a:pPr>
              <a:spcBef>
                <a:spcPts val="600"/>
              </a:spcBef>
            </a:pPr>
            <a:endParaRPr lang="en-US" altLang="zh-CN" sz="2000" b="0" dirty="0">
              <a:solidFill>
                <a:srgbClr val="000000"/>
              </a:solidFill>
              <a:latin typeface="+mn-lt"/>
              <a:sym typeface="Symbol" panose="05050102010706020507" pitchFamily="18" charset="2"/>
            </a:endParaRPr>
          </a:p>
        </p:txBody>
      </p:sp>
      <p:sp>
        <p:nvSpPr>
          <p:cNvPr id="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逻辑指令</a:t>
            </a:r>
            <a:endParaRPr lang="zh-CN" altLang="en-US" sz="2600" kern="0" dirty="0">
              <a:solidFill>
                <a:schemeClr val="tx2"/>
              </a:solidFill>
              <a:effectLst>
                <a:outerShdw blurRad="38100" dist="38100" dir="2700000" algn="tl">
                  <a:srgbClr val="C0C0C0"/>
                </a:outerShdw>
              </a:effectLst>
              <a:latin typeface="+mj-lt"/>
              <a:cs typeface="+mj-cs"/>
            </a:endParaRPr>
          </a:p>
        </p:txBody>
      </p:sp>
      <p:pic>
        <p:nvPicPr>
          <p:cNvPr id="8"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3568" y="1976707"/>
            <a:ext cx="3314700" cy="542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1976707"/>
            <a:ext cx="3133725"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675431" y="2780928"/>
            <a:ext cx="7965021" cy="3477875"/>
          </a:xfrm>
          <a:prstGeom prst="rect">
            <a:avLst/>
          </a:prstGeom>
        </p:spPr>
        <p:txBody>
          <a:bodyPr wrap="square">
            <a:spAutoFit/>
          </a:bodyPr>
          <a:lstStyle/>
          <a:p>
            <a:r>
              <a:rPr lang="zh-CN" altLang="en-US" sz="2000" b="0" dirty="0">
                <a:solidFill>
                  <a:srgbClr val="000000"/>
                </a:solidFill>
                <a:latin typeface="+mn-lt"/>
              </a:rPr>
              <a:t>以</a:t>
            </a:r>
            <a:r>
              <a:rPr lang="en-US" altLang="zh-CN" sz="2000" b="0" dirty="0">
                <a:solidFill>
                  <a:srgbClr val="000000"/>
                </a:solidFill>
                <a:latin typeface="+mn-lt"/>
              </a:rPr>
              <a:t>ROL</a:t>
            </a:r>
            <a:r>
              <a:rPr lang="zh-CN" altLang="en-US" sz="2000" b="0" dirty="0">
                <a:solidFill>
                  <a:srgbClr val="000000"/>
                </a:solidFill>
                <a:latin typeface="+mn-lt"/>
              </a:rPr>
              <a:t>和</a:t>
            </a:r>
            <a:r>
              <a:rPr lang="en-US" altLang="zh-CN" sz="2000" b="0" dirty="0">
                <a:solidFill>
                  <a:srgbClr val="000000"/>
                </a:solidFill>
                <a:latin typeface="+mn-lt"/>
              </a:rPr>
              <a:t>RCL</a:t>
            </a:r>
            <a:r>
              <a:rPr lang="zh-CN" altLang="en-US" sz="2000" b="0" dirty="0">
                <a:solidFill>
                  <a:srgbClr val="000000"/>
                </a:solidFill>
                <a:latin typeface="+mn-lt"/>
              </a:rPr>
              <a:t>为例：</a:t>
            </a:r>
            <a:endParaRPr lang="en-US" altLang="zh-CN" sz="2000" b="0" dirty="0">
              <a:solidFill>
                <a:srgbClr val="000000"/>
              </a:solidFill>
              <a:latin typeface="+mn-lt"/>
            </a:endParaRPr>
          </a:p>
          <a:p>
            <a:r>
              <a:rPr lang="zh-CN" altLang="en-US" sz="2000" b="0" dirty="0">
                <a:solidFill>
                  <a:srgbClr val="000000"/>
                </a:solidFill>
                <a:latin typeface="+mn-lt"/>
              </a:rPr>
              <a:t>简单的说就是</a:t>
            </a:r>
            <a:r>
              <a:rPr lang="en-US" altLang="zh-CN" sz="2000" b="0" dirty="0">
                <a:solidFill>
                  <a:srgbClr val="000000"/>
                </a:solidFill>
                <a:latin typeface="+mn-lt"/>
              </a:rPr>
              <a:t>ROL</a:t>
            </a:r>
            <a:r>
              <a:rPr lang="zh-CN" altLang="en-US" sz="2000" b="0" dirty="0">
                <a:solidFill>
                  <a:srgbClr val="000000"/>
                </a:solidFill>
                <a:latin typeface="+mn-lt"/>
              </a:rPr>
              <a:t>只是二进制本身首尾相衔接的循环左移，每左移一位就将最高位送入</a:t>
            </a:r>
            <a:r>
              <a:rPr lang="en-US" altLang="zh-CN" sz="2000" b="0" dirty="0">
                <a:solidFill>
                  <a:srgbClr val="000000"/>
                </a:solidFill>
                <a:latin typeface="+mn-lt"/>
              </a:rPr>
              <a:t>CF</a:t>
            </a:r>
            <a:r>
              <a:rPr lang="zh-CN" altLang="en-US" sz="2000" b="0" dirty="0">
                <a:solidFill>
                  <a:srgbClr val="000000"/>
                </a:solidFill>
                <a:latin typeface="+mn-lt"/>
              </a:rPr>
              <a:t>（进位标志），但是</a:t>
            </a:r>
            <a:r>
              <a:rPr lang="en-US" altLang="zh-CN" sz="2000" b="0" dirty="0">
                <a:solidFill>
                  <a:srgbClr val="000000"/>
                </a:solidFill>
                <a:latin typeface="+mn-lt"/>
              </a:rPr>
              <a:t>CF</a:t>
            </a:r>
            <a:r>
              <a:rPr lang="zh-CN" altLang="en-US" sz="2000" b="0" dirty="0">
                <a:solidFill>
                  <a:srgbClr val="000000"/>
                </a:solidFill>
                <a:latin typeface="+mn-lt"/>
              </a:rPr>
              <a:t>不参与循环。</a:t>
            </a:r>
            <a:endParaRPr lang="zh-CN" altLang="en-US" sz="2000" b="0" dirty="0">
              <a:solidFill>
                <a:srgbClr val="000000"/>
              </a:solidFill>
              <a:latin typeface="+mn-lt"/>
            </a:endParaRPr>
          </a:p>
          <a:p>
            <a:r>
              <a:rPr lang="zh-CN" altLang="en-US" sz="2000" b="0" dirty="0">
                <a:solidFill>
                  <a:srgbClr val="000000"/>
                </a:solidFill>
                <a:latin typeface="+mn-lt"/>
              </a:rPr>
              <a:t>而</a:t>
            </a:r>
            <a:r>
              <a:rPr lang="en-US" altLang="zh-CN" sz="2000" b="0" dirty="0">
                <a:solidFill>
                  <a:srgbClr val="000000"/>
                </a:solidFill>
                <a:latin typeface="+mn-lt"/>
              </a:rPr>
              <a:t>RCL</a:t>
            </a:r>
            <a:r>
              <a:rPr lang="zh-CN" altLang="en-US" sz="2000" b="0" dirty="0">
                <a:solidFill>
                  <a:srgbClr val="000000"/>
                </a:solidFill>
                <a:latin typeface="+mn-lt"/>
              </a:rPr>
              <a:t>是把</a:t>
            </a:r>
            <a:r>
              <a:rPr lang="en-US" altLang="zh-CN" sz="2000" b="0" dirty="0">
                <a:solidFill>
                  <a:srgbClr val="000000"/>
                </a:solidFill>
                <a:latin typeface="+mn-lt"/>
              </a:rPr>
              <a:t>CF</a:t>
            </a:r>
            <a:r>
              <a:rPr lang="zh-CN" altLang="en-US" sz="2000" b="0" dirty="0">
                <a:solidFill>
                  <a:srgbClr val="000000"/>
                </a:solidFill>
                <a:latin typeface="+mn-lt"/>
              </a:rPr>
              <a:t>也参与进循环里面，以</a:t>
            </a:r>
            <a:r>
              <a:rPr lang="en-US" altLang="zh-CN" sz="2000" b="0" dirty="0">
                <a:solidFill>
                  <a:srgbClr val="000000"/>
                </a:solidFill>
                <a:latin typeface="+mn-lt"/>
              </a:rPr>
              <a:t>8</a:t>
            </a:r>
            <a:r>
              <a:rPr lang="zh-CN" altLang="en-US" sz="2000" b="0" dirty="0">
                <a:solidFill>
                  <a:srgbClr val="000000"/>
                </a:solidFill>
                <a:latin typeface="+mn-lt"/>
              </a:rPr>
              <a:t>位字节循环为例，相当于</a:t>
            </a:r>
            <a:r>
              <a:rPr lang="en-US" altLang="zh-CN" sz="2000" b="0" dirty="0">
                <a:solidFill>
                  <a:srgbClr val="000000"/>
                </a:solidFill>
                <a:latin typeface="+mn-lt"/>
              </a:rPr>
              <a:t>8</a:t>
            </a:r>
            <a:r>
              <a:rPr lang="zh-CN" altLang="en-US" sz="2000" b="0" dirty="0">
                <a:solidFill>
                  <a:srgbClr val="000000"/>
                </a:solidFill>
                <a:latin typeface="+mn-lt"/>
              </a:rPr>
              <a:t>位二进制循环变成了</a:t>
            </a:r>
            <a:r>
              <a:rPr lang="en-US" altLang="zh-CN" sz="2000" b="0" dirty="0">
                <a:solidFill>
                  <a:srgbClr val="000000"/>
                </a:solidFill>
                <a:latin typeface="+mn-lt"/>
              </a:rPr>
              <a:t>9</a:t>
            </a:r>
            <a:r>
              <a:rPr lang="zh-CN" altLang="en-US" sz="2000" b="0" dirty="0">
                <a:solidFill>
                  <a:srgbClr val="000000"/>
                </a:solidFill>
                <a:latin typeface="+mn-lt"/>
              </a:rPr>
              <a:t>位二进制循环。</a:t>
            </a:r>
            <a:endParaRPr lang="en-US" altLang="zh-CN" sz="2000" b="0" dirty="0">
              <a:solidFill>
                <a:srgbClr val="000000"/>
              </a:solidFill>
              <a:latin typeface="+mn-lt"/>
            </a:endParaRPr>
          </a:p>
          <a:p>
            <a:endParaRPr lang="en-US" altLang="zh-CN" sz="2000" b="0" dirty="0">
              <a:solidFill>
                <a:srgbClr val="000000"/>
              </a:solidFill>
              <a:latin typeface="+mn-lt"/>
            </a:endParaRPr>
          </a:p>
          <a:p>
            <a:r>
              <a:rPr lang="zh-CN" altLang="en-US" sz="2000" b="0" dirty="0"/>
              <a:t>比如，二进制数</a:t>
            </a:r>
            <a:r>
              <a:rPr lang="en-US" altLang="zh-CN" sz="2000" b="0" dirty="0"/>
              <a:t>00110101</a:t>
            </a:r>
            <a:r>
              <a:rPr lang="zh-CN" altLang="en-US" sz="2000" b="0" dirty="0"/>
              <a:t>，假设进位</a:t>
            </a:r>
            <a:r>
              <a:rPr lang="en-US" altLang="zh-CN" sz="2000" b="0" dirty="0"/>
              <a:t>CF</a:t>
            </a:r>
            <a:r>
              <a:rPr lang="zh-CN" altLang="en-US" sz="2000" b="0" dirty="0"/>
              <a:t>为</a:t>
            </a:r>
            <a:r>
              <a:rPr lang="en-US" altLang="zh-CN" sz="2000" b="0" dirty="0"/>
              <a:t>1</a:t>
            </a:r>
            <a:r>
              <a:rPr lang="zh-CN" altLang="en-US" sz="2000" b="0" dirty="0"/>
              <a:t>。</a:t>
            </a:r>
            <a:br>
              <a:rPr lang="zh-CN" altLang="en-US" sz="2000" dirty="0"/>
            </a:br>
            <a:r>
              <a:rPr lang="zh-CN" altLang="en-US" sz="2000" b="0" dirty="0"/>
              <a:t>那么</a:t>
            </a:r>
            <a:r>
              <a:rPr lang="en-US" altLang="zh-CN" sz="2000" b="0" dirty="0"/>
              <a:t>ROL 3: </a:t>
            </a:r>
            <a:r>
              <a:rPr lang="zh-CN" altLang="en-US" sz="2000" b="0" dirty="0"/>
              <a:t>表示</a:t>
            </a:r>
            <a:r>
              <a:rPr lang="en-US" altLang="zh-CN" sz="2000" b="0" dirty="0"/>
              <a:t>00110101 -&gt;01101010 -&gt;11010100 -&gt;10101001</a:t>
            </a:r>
            <a:br>
              <a:rPr lang="zh-CN" altLang="en-US" sz="2000" dirty="0"/>
            </a:br>
            <a:r>
              <a:rPr lang="zh-CN" altLang="en-US" sz="2000" dirty="0"/>
              <a:t>        </a:t>
            </a:r>
            <a:r>
              <a:rPr lang="en-US" altLang="zh-CN" sz="2000" b="0" dirty="0"/>
              <a:t>RCL 3: </a:t>
            </a:r>
            <a:r>
              <a:rPr lang="zh-CN" altLang="en-US" sz="2000" b="0" dirty="0"/>
              <a:t>表示</a:t>
            </a:r>
            <a:r>
              <a:rPr lang="en-US" altLang="zh-CN" sz="2000" b="0" dirty="0"/>
              <a:t>1+00110101 -&gt;0+01101011</a:t>
            </a:r>
            <a:r>
              <a:rPr lang="zh-CN" altLang="en-US" sz="2000" b="0" dirty="0"/>
              <a:t>（原借位的值</a:t>
            </a:r>
            <a:r>
              <a:rPr lang="en-US" altLang="zh-CN" sz="2000" b="0" dirty="0"/>
              <a:t>1</a:t>
            </a:r>
            <a:r>
              <a:rPr lang="zh-CN" altLang="en-US" sz="2000" b="0" dirty="0"/>
              <a:t>进入现在值的最低位，此时原最高位的</a:t>
            </a:r>
            <a:r>
              <a:rPr lang="en-US" altLang="zh-CN" sz="2000" b="0" dirty="0"/>
              <a:t>0</a:t>
            </a:r>
            <a:r>
              <a:rPr lang="zh-CN" altLang="en-US" sz="2000" b="0" dirty="0"/>
              <a:t>进入借位） </a:t>
            </a:r>
            <a:r>
              <a:rPr lang="en-US" altLang="zh-CN" sz="2000" b="0" dirty="0"/>
              <a:t>-&gt;0+11010110 -&gt; 1+</a:t>
            </a:r>
            <a:r>
              <a:rPr lang="en-US" altLang="zh-CN" sz="2000" b="0" dirty="0">
                <a:solidFill>
                  <a:srgbClr val="FF0000"/>
                </a:solidFill>
              </a:rPr>
              <a:t>10101100</a:t>
            </a:r>
            <a:r>
              <a:rPr lang="en-US" altLang="zh-CN" sz="2000" b="0" dirty="0"/>
              <a:t>, </a:t>
            </a:r>
            <a:r>
              <a:rPr lang="zh-CN" altLang="en-US" sz="2000" b="0" dirty="0"/>
              <a:t>相当于变成九位</a:t>
            </a:r>
            <a:r>
              <a:rPr lang="en-US" altLang="zh-CN" sz="2000" b="0" dirty="0"/>
              <a:t>100110101</a:t>
            </a:r>
            <a:r>
              <a:rPr lang="zh-CN" altLang="en-US" sz="2000" b="0" dirty="0"/>
              <a:t>循环，结果取最低的八位。</a:t>
            </a:r>
            <a:endParaRPr lang="zh-CN" altLang="en-US" sz="2000" b="0" dirty="0">
              <a:solidFill>
                <a:srgbClr val="000000"/>
              </a:solidFill>
              <a:latin typeface="+mn-lt"/>
            </a:endParaRPr>
          </a:p>
        </p:txBody>
      </p:sp>
    </p:spTree>
  </p:cSld>
  <p:clrMapOvr>
    <a:masterClrMapping/>
  </p:clrMapOvr>
  <p:transition/>
</p:sld>
</file>

<file path=ppt/theme/theme1.xml><?xml version="1.0" encoding="utf-8"?>
<a:theme xmlns:a="http://schemas.openxmlformats.org/drawingml/2006/main" name="Level">
  <a:themeElements>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fontScheme name="Level">
      <a:majorFont>
        <a:latin typeface="Times New Roman"/>
        <a:ea typeface="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noFill/>
        </a:ln>
      </a:spPr>
      <a:bodyPr/>
      <a:lstStyle>
        <a:defPPr>
          <a:defRPr>
            <a:ln w="22225">
              <a:solidFill>
                <a:schemeClr val="accent2"/>
              </a:solidFill>
              <a:prstDash val="solid"/>
            </a:ln>
            <a:solidFill>
              <a:schemeClr val="accent2">
                <a:lumMod val="40000"/>
                <a:lumOff val="60000"/>
              </a:schemeClr>
            </a:solidFill>
          </a:defRPr>
        </a:defPPr>
      </a:lstStyle>
    </a:spDef>
    <a:ln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Level</Template>
  <TotalTime>0</TotalTime>
  <Words>27783</Words>
  <Application>WPS 演示</Application>
  <PresentationFormat>全屏显示(4:3)</PresentationFormat>
  <Paragraphs>1917</Paragraphs>
  <Slides>103</Slides>
  <Notes>15</Notes>
  <HiddenSlides>1</HiddenSlides>
  <MMClips>0</MMClips>
  <ScaleCrop>false</ScaleCrop>
  <HeadingPairs>
    <vt:vector size="8" baseType="variant">
      <vt:variant>
        <vt:lpstr>已用的字体</vt:lpstr>
      </vt:variant>
      <vt:variant>
        <vt:i4>25</vt:i4>
      </vt:variant>
      <vt:variant>
        <vt:lpstr>主题</vt:lpstr>
      </vt:variant>
      <vt:variant>
        <vt:i4>1</vt:i4>
      </vt:variant>
      <vt:variant>
        <vt:lpstr>嵌入 OLE 服务器</vt:lpstr>
      </vt:variant>
      <vt:variant>
        <vt:i4>1</vt:i4>
      </vt:variant>
      <vt:variant>
        <vt:lpstr>幻灯片标题</vt:lpstr>
      </vt:variant>
      <vt:variant>
        <vt:i4>103</vt:i4>
      </vt:variant>
    </vt:vector>
  </HeadingPairs>
  <TitlesOfParts>
    <vt:vector size="130" baseType="lpstr">
      <vt:lpstr>Arial</vt:lpstr>
      <vt:lpstr>宋体</vt:lpstr>
      <vt:lpstr>Wingdings</vt:lpstr>
      <vt:lpstr>Times New Roman</vt:lpstr>
      <vt:lpstr>Verdana</vt:lpstr>
      <vt:lpstr>隶书</vt:lpstr>
      <vt:lpstr>Wingdings</vt:lpstr>
      <vt:lpstr>楷体_GB2312</vt:lpstr>
      <vt:lpstr>新宋体</vt:lpstr>
      <vt:lpstr>华文宋体</vt:lpstr>
      <vt:lpstr>华文新魏</vt:lpstr>
      <vt:lpstr>黑体</vt:lpstr>
      <vt:lpstr>Times New Roman</vt:lpstr>
      <vt:lpstr>华文楷体</vt:lpstr>
      <vt:lpstr>微软雅黑</vt:lpstr>
      <vt:lpstr>Arial Unicode MS</vt:lpstr>
      <vt:lpstr>quote-cjk-patch</vt:lpstr>
      <vt:lpstr>Segoe Print</vt:lpstr>
      <vt:lpstr>Lucida Console</vt:lpstr>
      <vt:lpstr>Symbol</vt:lpstr>
      <vt:lpstr>Webdings</vt:lpstr>
      <vt:lpstr>Lucida Sans Unicode</vt:lpstr>
      <vt:lpstr>Monotype Sorts</vt:lpstr>
      <vt:lpstr>KSOF3FA5480E</vt:lpstr>
      <vt:lpstr>KSOF3FB35F8F</vt:lpstr>
      <vt:lpstr>Level</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运算符的优先级别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哈尔滨工业大学</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陈磊工作总结</dc:title>
  <dc:creator>陈磊</dc:creator>
  <cp:lastModifiedBy>Lgm</cp:lastModifiedBy>
  <cp:revision>892</cp:revision>
  <dcterms:created xsi:type="dcterms:W3CDTF">2004-04-02T12:11:00Z</dcterms:created>
  <dcterms:modified xsi:type="dcterms:W3CDTF">2026-09-08T00:12:22Z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4</vt:r8>
  </property>
  <property fmtid="{D5CDD505-2E9C-101B-9397-08002B2CF9AE}" pid="3" name="KSOProductBuildVer">
    <vt:lpwstr>2052-12.1.0.28043</vt:lpwstr>
  </property>
  <property fmtid="{D5CDD505-2E9C-101B-9397-08002B2CF9AE}" pid="4" name="ICV">
    <vt:lpwstr>6AB535D25029432FA65D43FFA70CA575_12</vt:lpwstr>
  </property>
</Properties>
</file>