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1262" r:id="rId4"/>
    <p:sldId id="1263" r:id="rId5"/>
    <p:sldId id="1264" r:id="rId6"/>
    <p:sldId id="1233" r:id="rId7"/>
    <p:sldId id="1234" r:id="rId8"/>
    <p:sldId id="1332" r:id="rId9"/>
    <p:sldId id="1333" r:id="rId10"/>
    <p:sldId id="1235" r:id="rId11"/>
    <p:sldId id="1236" r:id="rId12"/>
    <p:sldId id="1239" r:id="rId13"/>
    <p:sldId id="1237" r:id="rId14"/>
    <p:sldId id="1265" r:id="rId15"/>
    <p:sldId id="1242" r:id="rId17"/>
    <p:sldId id="1327" r:id="rId18"/>
    <p:sldId id="1244" r:id="rId19"/>
    <p:sldId id="1325" r:id="rId20"/>
    <p:sldId id="1326" r:id="rId21"/>
    <p:sldId id="1266" r:id="rId22"/>
    <p:sldId id="1311" r:id="rId23"/>
    <p:sldId id="1312" r:id="rId24"/>
    <p:sldId id="1313" r:id="rId25"/>
    <p:sldId id="1314" r:id="rId26"/>
    <p:sldId id="1315" r:id="rId27"/>
    <p:sldId id="1316" r:id="rId28"/>
    <p:sldId id="1317" r:id="rId29"/>
    <p:sldId id="1334" r:id="rId30"/>
    <p:sldId id="1335" r:id="rId31"/>
    <p:sldId id="1279" r:id="rId32"/>
    <p:sldId id="1318" r:id="rId33"/>
    <p:sldId id="1283" r:id="rId34"/>
    <p:sldId id="1284" r:id="rId35"/>
    <p:sldId id="1321" r:id="rId36"/>
    <p:sldId id="1324" r:id="rId37"/>
    <p:sldId id="1295" r:id="rId38"/>
    <p:sldId id="1298" r:id="rId39"/>
    <p:sldId id="1336" r:id="rId40"/>
    <p:sldId id="1330" r:id="rId41"/>
    <p:sldId id="1331" r:id="rId4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ECFF"/>
    <a:srgbClr val="FFFFCC"/>
    <a:srgbClr val="66CCFF"/>
    <a:srgbClr val="6600FF"/>
    <a:srgbClr val="FF99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89455" autoAdjust="0"/>
  </p:normalViewPr>
  <p:slideViewPr>
    <p:cSldViewPr showGuides="1">
      <p:cViewPr varScale="1">
        <p:scale>
          <a:sx n="84" d="100"/>
          <a:sy n="84" d="100"/>
        </p:scale>
        <p:origin x="1052" y="76"/>
      </p:cViewPr>
      <p:guideLst>
        <p:guide orient="horz" pos="2122"/>
        <p:guide pos="2868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注意</a:t>
            </a:r>
            <a:r>
              <a:rPr lang="en-US" altLang="zh-CN" dirty="0"/>
              <a:t>: D5D4</a:t>
            </a:r>
            <a:r>
              <a:rPr lang="zh-CN" altLang="en-US" dirty="0"/>
              <a:t>位为</a:t>
            </a:r>
            <a:r>
              <a:rPr lang="en-US" altLang="zh-CN" dirty="0"/>
              <a:t>00</a:t>
            </a:r>
            <a:r>
              <a:rPr lang="zh-CN" altLang="en-US" dirty="0"/>
              <a:t>是</a:t>
            </a:r>
            <a:r>
              <a:rPr lang="en-US" altLang="zh-CN" dirty="0"/>
              <a:t>8253</a:t>
            </a:r>
            <a:r>
              <a:rPr lang="zh-CN" altLang="en-US" dirty="0"/>
              <a:t>的锁存命令，读数时应先写该命令，如果是</a:t>
            </a:r>
            <a:r>
              <a:rPr lang="en-US" altLang="zh-CN" dirty="0"/>
              <a:t>16</a:t>
            </a:r>
            <a:r>
              <a:rPr lang="zh-CN" altLang="en-US" dirty="0"/>
              <a:t>位读写要分两次进行。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BCD</a:t>
            </a:r>
            <a:r>
              <a:rPr lang="zh-CN" altLang="en-US"/>
              <a:t>方式下，16位被分成4个十进制位，每位只表示0~9：</a:t>
            </a:r>
            <a:r>
              <a:rPr lang="en-US" altLang="zh-CN"/>
              <a:t>0000∼9999</a:t>
            </a:r>
            <a:endParaRPr lang="en-US" altLang="zh-CN"/>
          </a:p>
          <a:p>
            <a:r>
              <a:rPr lang="zh-CN" altLang="en-US"/>
              <a:t>可写的最大非零初值是9999，但加上0000这个状态，一轮共10000个计数。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3040H:12352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稳态脉冲是一种由单稳态电路产生的脉冲信号，其特点是‌仅有一个稳定状态‌（稳态）和一个暂时状态（暂稳态）。触发信号作用下，电路从稳态翻转到暂稳态，随后自动返回稳态，输出脉冲宽度由电路参数决定。 ‌</a:t>
            </a:r>
            <a:endParaRPr lang="zh-CN" altLang="en-US" dirty="0"/>
          </a:p>
          <a:p>
            <a:r>
              <a:rPr lang="zh-CN" altLang="en-US" dirty="0"/>
              <a:t>工作原理</a:t>
            </a:r>
            <a:endParaRPr lang="zh-CN" altLang="en-US" dirty="0"/>
          </a:p>
          <a:p>
            <a:r>
              <a:rPr lang="zh-CN" altLang="en-US" dirty="0"/>
              <a:t>‌稳态阶段‌：无触发信号时，电路维持特定输出状态（如低电平）。</a:t>
            </a:r>
            <a:endParaRPr lang="zh-CN" altLang="en-US" dirty="0"/>
          </a:p>
          <a:p>
            <a:r>
              <a:rPr lang="zh-CN" altLang="en-US" dirty="0"/>
              <a:t>‌触发阶段‌：输入触发信号（通常为边沿信号）迫使电路翻转到暂稳态，输出相反状态（如高电平）。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实际上，电路中对半周期</a:t>
            </a:r>
            <a:r>
              <a:rPr lang="en-US" altLang="zh-CN" sz="1200" dirty="0"/>
              <a:t>N/2</a:t>
            </a:r>
            <a:r>
              <a:rPr lang="zh-CN" altLang="en-US" sz="1200" dirty="0"/>
              <a:t>的控制方法是每来一个</a:t>
            </a:r>
            <a:r>
              <a:rPr lang="en-US" altLang="zh-CN" sz="1200" dirty="0"/>
              <a:t>CLK</a:t>
            </a:r>
            <a:r>
              <a:rPr lang="zh-CN" altLang="en-US" sz="1200" dirty="0"/>
              <a:t>信号，让计数器减</a:t>
            </a:r>
            <a:r>
              <a:rPr lang="en-US" altLang="zh-CN" sz="1200" dirty="0"/>
              <a:t>2</a:t>
            </a:r>
            <a:r>
              <a:rPr lang="zh-CN" altLang="en-US" sz="1200" dirty="0"/>
              <a:t>，因此来</a:t>
            </a:r>
            <a:r>
              <a:rPr lang="en-US" altLang="zh-CN" sz="1200" dirty="0"/>
              <a:t>N/2</a:t>
            </a:r>
            <a:r>
              <a:rPr lang="zh-CN" altLang="en-US" sz="1200" dirty="0"/>
              <a:t>个</a:t>
            </a:r>
            <a:r>
              <a:rPr lang="en-US" altLang="zh-CN" sz="1200" dirty="0"/>
              <a:t>CLK</a:t>
            </a:r>
            <a:r>
              <a:rPr lang="zh-CN" altLang="en-US" sz="1200" dirty="0"/>
              <a:t>信号后，计数器就已经减到</a:t>
            </a:r>
            <a:r>
              <a:rPr lang="en-US" altLang="zh-CN" sz="1200" dirty="0"/>
              <a:t>0</a:t>
            </a:r>
            <a:r>
              <a:rPr lang="zh-CN" altLang="en-US" sz="1200" dirty="0"/>
              <a:t>，</a:t>
            </a:r>
            <a:r>
              <a:rPr lang="en-US" altLang="zh-CN" sz="1200" dirty="0"/>
              <a:t>OUT</a:t>
            </a:r>
            <a:r>
              <a:rPr lang="zh-CN" altLang="en-US" sz="1200" dirty="0"/>
              <a:t>端发生一次高低电位的变化，且又将初值装入计数器重新开始。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ct val="5000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INT 21H</a:t>
            </a:r>
            <a:r>
              <a:rPr lang="zh-CN" altLang="en-US" b="0" dirty="0"/>
              <a:t>的</a:t>
            </a:r>
            <a:r>
              <a:rPr lang="en-US" altLang="zh-CN" b="0" dirty="0"/>
              <a:t>0B</a:t>
            </a:r>
            <a:r>
              <a:rPr lang="zh-CN" altLang="en-US" b="0" dirty="0"/>
              <a:t>号功能可以检验一个键是否被按动，如果按下一个键，则</a:t>
            </a:r>
            <a:r>
              <a:rPr lang="en-US" altLang="zh-CN" b="0" dirty="0"/>
              <a:t>AL=0FFH</a:t>
            </a:r>
            <a:r>
              <a:rPr lang="zh-CN" altLang="en-US" b="0" dirty="0"/>
              <a:t>，否则</a:t>
            </a:r>
            <a:r>
              <a:rPr lang="en-US" altLang="zh-CN" b="0" dirty="0"/>
              <a:t>AL=0</a:t>
            </a:r>
            <a:r>
              <a:rPr lang="zh-CN" altLang="en-US" b="0" dirty="0"/>
              <a:t>。无论哪种情况都将继续执行下一条语句。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ct val="5000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ct val="5000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100*(1/5)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228600" y="3587750"/>
            <a:ext cx="86106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/>
            <a:fld id="{9A0DB2DC-4C9A-4742-B13C-FB6460FD3503}" type="slidenum">
              <a:rPr lang="en-US" altLang="zh-CN" sz="1000" b="0" dirty="0">
                <a:latin typeface="Verdana" panose="020B0604030504040204" pitchFamily="34" charset="0"/>
              </a:rPr>
            </a:fld>
            <a:endParaRPr lang="en-US" altLang="zh-CN" sz="1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/39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/39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/39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/39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/39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/39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mailto:luguangm@gmail.com" TargetMode="Externa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3.GIF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42887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8"/>
          <p:cNvSpPr/>
          <p:nvPr/>
        </p:nvSpPr>
        <p:spPr>
          <a:xfrm>
            <a:off x="457200" y="908050"/>
            <a:ext cx="80772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6759575" y="6491288"/>
            <a:ext cx="2384425" cy="3667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hlinkClick r:id="rId8"/>
              </a:rPr>
              <a:t>luguangm@gmail.com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8531" y="6561348"/>
            <a:ext cx="1355137" cy="2896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0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11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0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1" Type="http://schemas.openxmlformats.org/officeDocument/2006/relationships/image" Target="../media/image2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9093" y="4584065"/>
            <a:ext cx="8424863" cy="541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5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卢光明</a:t>
            </a:r>
            <a:endParaRPr kumimoji="0" lang="en-US" altLang="zh-CN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07950" y="1843088"/>
            <a:ext cx="8893175" cy="13295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汇编语言</a:t>
            </a:r>
            <a:r>
              <a:rPr lang="zh-CN" altLang="en-US"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与接口技术</a:t>
            </a:r>
            <a:endParaRPr kumimoji="0" lang="en-US" altLang="zh-CN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algn="ctr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defRPr/>
            </a:pP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11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讲：定时器</a:t>
            </a:r>
            <a:r>
              <a:rPr lang="en-US" altLang="zh-CN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/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计数器接口</a:t>
            </a:r>
            <a:endParaRPr kumimoji="0" lang="zh-CN" altLang="en-US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2" y="0"/>
            <a:ext cx="5262486" cy="11247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539552" y="1232756"/>
            <a:ext cx="789522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/>
              <a:t>        </a:t>
            </a:r>
            <a:r>
              <a:rPr lang="zh-CN" altLang="en-US" dirty="0"/>
              <a:t>在计算机系统中，经常需要一些实时时钟进行延时控制，例如定时检测、定时扫描、定时中断定等。</a:t>
            </a:r>
            <a:endParaRPr lang="en-US" altLang="zh-CN" dirty="0"/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en-US" altLang="zh-CN" dirty="0"/>
              <a:t>CPU</a:t>
            </a:r>
            <a:r>
              <a:rPr lang="zh-CN" altLang="en-US" dirty="0"/>
              <a:t>通过接口电路产生符合要求的时间信号的过程，称为</a:t>
            </a:r>
            <a:r>
              <a:rPr lang="zh-CN" altLang="en-US" dirty="0">
                <a:solidFill>
                  <a:schemeClr val="hlink"/>
                </a:solidFill>
              </a:rPr>
              <a:t>定时</a:t>
            </a:r>
            <a:r>
              <a:rPr lang="zh-CN" altLang="en-US" dirty="0"/>
              <a:t>。该接口电路称为</a:t>
            </a:r>
            <a:r>
              <a:rPr lang="zh-CN" altLang="en-US" dirty="0">
                <a:solidFill>
                  <a:schemeClr val="hlink"/>
                </a:solidFill>
              </a:rPr>
              <a:t>定时器</a:t>
            </a:r>
            <a:r>
              <a:rPr lang="zh-CN" altLang="en-US" dirty="0"/>
              <a:t>。</a:t>
            </a:r>
            <a:endParaRPr lang="zh-CN" altLang="en-US" dirty="0"/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en-US" altLang="zh-CN" dirty="0"/>
              <a:t>CPU</a:t>
            </a:r>
            <a:r>
              <a:rPr lang="zh-CN" altLang="en-US" dirty="0"/>
              <a:t>通过接口电路对外部事件的数量进行统计的过程称为</a:t>
            </a:r>
            <a:r>
              <a:rPr lang="zh-CN" altLang="en-US" dirty="0">
                <a:solidFill>
                  <a:schemeClr val="hlink"/>
                </a:solidFill>
              </a:rPr>
              <a:t>计数</a:t>
            </a:r>
            <a:r>
              <a:rPr lang="zh-CN" altLang="en-US" dirty="0"/>
              <a:t>。实现计数的接口电路称为</a:t>
            </a:r>
            <a:r>
              <a:rPr lang="zh-CN" altLang="en-US" dirty="0">
                <a:solidFill>
                  <a:schemeClr val="hlink"/>
                </a:solidFill>
              </a:rPr>
              <a:t>计数器</a:t>
            </a:r>
            <a:r>
              <a:rPr lang="zh-CN" altLang="en-US" dirty="0"/>
              <a:t>。</a:t>
            </a:r>
            <a:endParaRPr lang="zh-CN" altLang="en-US" dirty="0"/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dirty="0"/>
              <a:t>在微型机里，通常把定时器和计数器做成一片大规模集成电路，称为</a:t>
            </a:r>
            <a:r>
              <a:rPr lang="zh-CN" altLang="en-US" dirty="0">
                <a:solidFill>
                  <a:schemeClr val="hlink"/>
                </a:solidFill>
              </a:rPr>
              <a:t>定时器</a:t>
            </a:r>
            <a:r>
              <a:rPr lang="en-US" altLang="zh-CN" dirty="0">
                <a:solidFill>
                  <a:schemeClr val="hlink"/>
                </a:solidFill>
              </a:rPr>
              <a:t>/</a:t>
            </a:r>
            <a:r>
              <a:rPr lang="zh-CN" altLang="en-US" dirty="0">
                <a:solidFill>
                  <a:schemeClr val="hlink"/>
                </a:solidFill>
              </a:rPr>
              <a:t>计数器</a:t>
            </a:r>
            <a:r>
              <a:rPr lang="zh-CN" altLang="en-US" dirty="0"/>
              <a:t>。       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30925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计数器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07641" y="3927053"/>
            <a:ext cx="4495800" cy="2454275"/>
            <a:chOff x="762000" y="1981200"/>
            <a:chExt cx="4495800" cy="2454275"/>
          </a:xfrm>
        </p:grpSpPr>
        <p:sp>
          <p:nvSpPr>
            <p:cNvPr id="50182" name="Rectangle 6"/>
            <p:cNvSpPr>
              <a:spLocks noChangeArrowheads="1"/>
            </p:cNvSpPr>
            <p:nvPr/>
          </p:nvSpPr>
          <p:spPr bwMode="auto">
            <a:xfrm>
              <a:off x="762000" y="2971800"/>
              <a:ext cx="1828800" cy="5334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5" name="Line 9"/>
            <p:cNvSpPr>
              <a:spLocks noChangeShapeType="1"/>
            </p:cNvSpPr>
            <p:nvPr/>
          </p:nvSpPr>
          <p:spPr bwMode="auto">
            <a:xfrm>
              <a:off x="1143000" y="2362200"/>
              <a:ext cx="0" cy="609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7" name="Line 11"/>
            <p:cNvSpPr>
              <a:spLocks noChangeShapeType="1"/>
            </p:cNvSpPr>
            <p:nvPr/>
          </p:nvSpPr>
          <p:spPr bwMode="auto">
            <a:xfrm>
              <a:off x="2209800" y="2438400"/>
              <a:ext cx="0" cy="533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8" name="Line 12"/>
            <p:cNvSpPr>
              <a:spLocks noChangeShapeType="1"/>
            </p:cNvSpPr>
            <p:nvPr/>
          </p:nvSpPr>
          <p:spPr bwMode="auto">
            <a:xfrm>
              <a:off x="2286000" y="2438400"/>
              <a:ext cx="0" cy="533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4" name="Line 18"/>
            <p:cNvSpPr>
              <a:spLocks noChangeShapeType="1"/>
            </p:cNvSpPr>
            <p:nvPr/>
          </p:nvSpPr>
          <p:spPr bwMode="auto">
            <a:xfrm flipH="1">
              <a:off x="2133600" y="2362200"/>
              <a:ext cx="76200" cy="15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5" name="Line 19"/>
            <p:cNvSpPr>
              <a:spLocks noChangeShapeType="1"/>
            </p:cNvSpPr>
            <p:nvPr/>
          </p:nvSpPr>
          <p:spPr bwMode="auto">
            <a:xfrm>
              <a:off x="2209800" y="2362200"/>
              <a:ext cx="152400" cy="15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6" name="Line 20"/>
            <p:cNvSpPr>
              <a:spLocks noChangeShapeType="1"/>
            </p:cNvSpPr>
            <p:nvPr/>
          </p:nvSpPr>
          <p:spPr bwMode="auto">
            <a:xfrm>
              <a:off x="1143000" y="3581400"/>
              <a:ext cx="0" cy="533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7" name="Line 21"/>
            <p:cNvSpPr>
              <a:spLocks noChangeShapeType="1"/>
            </p:cNvSpPr>
            <p:nvPr/>
          </p:nvSpPr>
          <p:spPr bwMode="auto">
            <a:xfrm>
              <a:off x="1219200" y="3581400"/>
              <a:ext cx="0" cy="533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8" name="Line 22"/>
            <p:cNvSpPr>
              <a:spLocks noChangeShapeType="1"/>
            </p:cNvSpPr>
            <p:nvPr/>
          </p:nvSpPr>
          <p:spPr bwMode="auto">
            <a:xfrm flipH="1">
              <a:off x="1066800" y="3505200"/>
              <a:ext cx="76200" cy="15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9" name="Line 23"/>
            <p:cNvSpPr>
              <a:spLocks noChangeShapeType="1"/>
            </p:cNvSpPr>
            <p:nvPr/>
          </p:nvSpPr>
          <p:spPr bwMode="auto">
            <a:xfrm>
              <a:off x="1143000" y="3505200"/>
              <a:ext cx="152400" cy="15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0" name="Line 24"/>
            <p:cNvSpPr>
              <a:spLocks noChangeShapeType="1"/>
            </p:cNvSpPr>
            <p:nvPr/>
          </p:nvSpPr>
          <p:spPr bwMode="auto">
            <a:xfrm>
              <a:off x="2209800" y="3505200"/>
              <a:ext cx="0" cy="609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1" name="Text Box 25"/>
            <p:cNvSpPr txBox="1">
              <a:spLocks noChangeArrowheads="1"/>
            </p:cNvSpPr>
            <p:nvPr/>
          </p:nvSpPr>
          <p:spPr bwMode="auto">
            <a:xfrm>
              <a:off x="1752600" y="4038600"/>
              <a:ext cx="1524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/>
                <a:t>输入脉冲</a:t>
              </a:r>
              <a:endParaRPr lang="zh-CN" altLang="en-US" sz="2000"/>
            </a:p>
          </p:txBody>
        </p:sp>
        <p:sp>
          <p:nvSpPr>
            <p:cNvPr id="50204" name="Line 28"/>
            <p:cNvSpPr>
              <a:spLocks noChangeShapeType="1"/>
            </p:cNvSpPr>
            <p:nvPr/>
          </p:nvSpPr>
          <p:spPr bwMode="auto">
            <a:xfrm flipH="1">
              <a:off x="2971800" y="41148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5" name="Line 29"/>
            <p:cNvSpPr>
              <a:spLocks noChangeShapeType="1"/>
            </p:cNvSpPr>
            <p:nvPr/>
          </p:nvSpPr>
          <p:spPr bwMode="auto">
            <a:xfrm>
              <a:off x="32004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6" name="Line 30"/>
            <p:cNvSpPr>
              <a:spLocks noChangeShapeType="1"/>
            </p:cNvSpPr>
            <p:nvPr/>
          </p:nvSpPr>
          <p:spPr bwMode="auto">
            <a:xfrm>
              <a:off x="34290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7" name="Line 31"/>
            <p:cNvSpPr>
              <a:spLocks noChangeShapeType="1"/>
            </p:cNvSpPr>
            <p:nvPr/>
          </p:nvSpPr>
          <p:spPr bwMode="auto">
            <a:xfrm flipH="1">
              <a:off x="3200400" y="4343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8" name="Line 32"/>
            <p:cNvSpPr>
              <a:spLocks noChangeShapeType="1"/>
            </p:cNvSpPr>
            <p:nvPr/>
          </p:nvSpPr>
          <p:spPr bwMode="auto">
            <a:xfrm>
              <a:off x="34290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9" name="Line 33"/>
            <p:cNvSpPr>
              <a:spLocks noChangeShapeType="1"/>
            </p:cNvSpPr>
            <p:nvPr/>
          </p:nvSpPr>
          <p:spPr bwMode="auto">
            <a:xfrm flipH="1">
              <a:off x="3429000" y="41148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0" name="Line 34"/>
            <p:cNvSpPr>
              <a:spLocks noChangeShapeType="1"/>
            </p:cNvSpPr>
            <p:nvPr/>
          </p:nvSpPr>
          <p:spPr bwMode="auto">
            <a:xfrm>
              <a:off x="36576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1" name="Line 35"/>
            <p:cNvSpPr>
              <a:spLocks noChangeShapeType="1"/>
            </p:cNvSpPr>
            <p:nvPr/>
          </p:nvSpPr>
          <p:spPr bwMode="auto">
            <a:xfrm flipH="1">
              <a:off x="3657600" y="4343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2" name="Line 36"/>
            <p:cNvSpPr>
              <a:spLocks noChangeShapeType="1"/>
            </p:cNvSpPr>
            <p:nvPr/>
          </p:nvSpPr>
          <p:spPr bwMode="auto">
            <a:xfrm>
              <a:off x="38862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3" name="Line 37"/>
            <p:cNvSpPr>
              <a:spLocks noChangeShapeType="1"/>
            </p:cNvSpPr>
            <p:nvPr/>
          </p:nvSpPr>
          <p:spPr bwMode="auto">
            <a:xfrm flipH="1">
              <a:off x="3886200" y="41148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4" name="Line 38"/>
            <p:cNvSpPr>
              <a:spLocks noChangeShapeType="1"/>
            </p:cNvSpPr>
            <p:nvPr/>
          </p:nvSpPr>
          <p:spPr bwMode="auto">
            <a:xfrm>
              <a:off x="41148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5" name="Line 39"/>
            <p:cNvSpPr>
              <a:spLocks noChangeShapeType="1"/>
            </p:cNvSpPr>
            <p:nvPr/>
          </p:nvSpPr>
          <p:spPr bwMode="auto">
            <a:xfrm>
              <a:off x="43434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40"/>
            <p:cNvSpPr>
              <a:spLocks noChangeShapeType="1"/>
            </p:cNvSpPr>
            <p:nvPr/>
          </p:nvSpPr>
          <p:spPr bwMode="auto">
            <a:xfrm flipH="1">
              <a:off x="4114800" y="4343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7" name="Line 41"/>
            <p:cNvSpPr>
              <a:spLocks noChangeShapeType="1"/>
            </p:cNvSpPr>
            <p:nvPr/>
          </p:nvSpPr>
          <p:spPr bwMode="auto">
            <a:xfrm>
              <a:off x="43434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8" name="Line 42"/>
            <p:cNvSpPr>
              <a:spLocks noChangeShapeType="1"/>
            </p:cNvSpPr>
            <p:nvPr/>
          </p:nvSpPr>
          <p:spPr bwMode="auto">
            <a:xfrm flipH="1">
              <a:off x="4343400" y="41148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9" name="Line 43"/>
            <p:cNvSpPr>
              <a:spLocks noChangeShapeType="1"/>
            </p:cNvSpPr>
            <p:nvPr/>
          </p:nvSpPr>
          <p:spPr bwMode="auto">
            <a:xfrm>
              <a:off x="45720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0" name="Line 44"/>
            <p:cNvSpPr>
              <a:spLocks noChangeShapeType="1"/>
            </p:cNvSpPr>
            <p:nvPr/>
          </p:nvSpPr>
          <p:spPr bwMode="auto">
            <a:xfrm>
              <a:off x="48006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45"/>
            <p:cNvSpPr>
              <a:spLocks noChangeShapeType="1"/>
            </p:cNvSpPr>
            <p:nvPr/>
          </p:nvSpPr>
          <p:spPr bwMode="auto">
            <a:xfrm flipH="1">
              <a:off x="4572000" y="4343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46"/>
            <p:cNvSpPr>
              <a:spLocks noChangeShapeType="1"/>
            </p:cNvSpPr>
            <p:nvPr/>
          </p:nvSpPr>
          <p:spPr bwMode="auto">
            <a:xfrm>
              <a:off x="48006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3" name="Line 47"/>
            <p:cNvSpPr>
              <a:spLocks noChangeShapeType="1"/>
            </p:cNvSpPr>
            <p:nvPr/>
          </p:nvSpPr>
          <p:spPr bwMode="auto">
            <a:xfrm flipH="1">
              <a:off x="4800600" y="41148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4" name="Line 48"/>
            <p:cNvSpPr>
              <a:spLocks noChangeShapeType="1"/>
            </p:cNvSpPr>
            <p:nvPr/>
          </p:nvSpPr>
          <p:spPr bwMode="auto">
            <a:xfrm>
              <a:off x="5029200" y="41148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8" name="Line 72"/>
            <p:cNvSpPr>
              <a:spLocks noChangeShapeType="1"/>
            </p:cNvSpPr>
            <p:nvPr/>
          </p:nvSpPr>
          <p:spPr bwMode="auto">
            <a:xfrm flipH="1">
              <a:off x="5029200" y="4343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9" name="Text Box 73"/>
            <p:cNvSpPr txBox="1">
              <a:spLocks noChangeArrowheads="1"/>
            </p:cNvSpPr>
            <p:nvPr/>
          </p:nvSpPr>
          <p:spPr bwMode="auto">
            <a:xfrm>
              <a:off x="762000" y="1981200"/>
              <a:ext cx="1524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/>
                <a:t>输出（分频）</a:t>
              </a:r>
              <a:endParaRPr lang="zh-CN" altLang="en-US" sz="2000"/>
            </a:p>
          </p:txBody>
        </p:sp>
        <p:sp>
          <p:nvSpPr>
            <p:cNvPr id="50252" name="Line 76"/>
            <p:cNvSpPr>
              <a:spLocks noChangeShapeType="1"/>
            </p:cNvSpPr>
            <p:nvPr/>
          </p:nvSpPr>
          <p:spPr bwMode="auto">
            <a:xfrm>
              <a:off x="25908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3" name="Line 77"/>
            <p:cNvSpPr>
              <a:spLocks noChangeShapeType="1"/>
            </p:cNvSpPr>
            <p:nvPr/>
          </p:nvSpPr>
          <p:spPr bwMode="auto">
            <a:xfrm flipH="1">
              <a:off x="2362200" y="22860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4" name="Line 78"/>
            <p:cNvSpPr>
              <a:spLocks noChangeShapeType="1"/>
            </p:cNvSpPr>
            <p:nvPr/>
          </p:nvSpPr>
          <p:spPr bwMode="auto">
            <a:xfrm>
              <a:off x="25908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5" name="Line 79"/>
            <p:cNvSpPr>
              <a:spLocks noChangeShapeType="1"/>
            </p:cNvSpPr>
            <p:nvPr/>
          </p:nvSpPr>
          <p:spPr bwMode="auto">
            <a:xfrm flipH="1">
              <a:off x="2590800" y="2057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7" name="Line 81"/>
            <p:cNvSpPr>
              <a:spLocks noChangeShapeType="1"/>
            </p:cNvSpPr>
            <p:nvPr/>
          </p:nvSpPr>
          <p:spPr bwMode="auto">
            <a:xfrm flipH="1">
              <a:off x="2819400" y="2057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9" name="Line 83"/>
            <p:cNvSpPr>
              <a:spLocks noChangeShapeType="1"/>
            </p:cNvSpPr>
            <p:nvPr/>
          </p:nvSpPr>
          <p:spPr bwMode="auto">
            <a:xfrm flipH="1">
              <a:off x="3048000" y="22860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0" name="Line 84"/>
            <p:cNvSpPr>
              <a:spLocks noChangeShapeType="1"/>
            </p:cNvSpPr>
            <p:nvPr/>
          </p:nvSpPr>
          <p:spPr bwMode="auto">
            <a:xfrm>
              <a:off x="30480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1" name="Line 85"/>
            <p:cNvSpPr>
              <a:spLocks noChangeShapeType="1"/>
            </p:cNvSpPr>
            <p:nvPr/>
          </p:nvSpPr>
          <p:spPr bwMode="auto">
            <a:xfrm>
              <a:off x="35052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2" name="Line 86"/>
            <p:cNvSpPr>
              <a:spLocks noChangeShapeType="1"/>
            </p:cNvSpPr>
            <p:nvPr/>
          </p:nvSpPr>
          <p:spPr bwMode="auto">
            <a:xfrm flipH="1">
              <a:off x="3276600" y="22860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3" name="Line 87"/>
            <p:cNvSpPr>
              <a:spLocks noChangeShapeType="1"/>
            </p:cNvSpPr>
            <p:nvPr/>
          </p:nvSpPr>
          <p:spPr bwMode="auto">
            <a:xfrm>
              <a:off x="35052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4" name="Line 88"/>
            <p:cNvSpPr>
              <a:spLocks noChangeShapeType="1"/>
            </p:cNvSpPr>
            <p:nvPr/>
          </p:nvSpPr>
          <p:spPr bwMode="auto">
            <a:xfrm flipH="1">
              <a:off x="3505200" y="2057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6" name="Line 90"/>
            <p:cNvSpPr>
              <a:spLocks noChangeShapeType="1"/>
            </p:cNvSpPr>
            <p:nvPr/>
          </p:nvSpPr>
          <p:spPr bwMode="auto">
            <a:xfrm>
              <a:off x="39624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7" name="Line 91"/>
            <p:cNvSpPr>
              <a:spLocks noChangeShapeType="1"/>
            </p:cNvSpPr>
            <p:nvPr/>
          </p:nvSpPr>
          <p:spPr bwMode="auto">
            <a:xfrm flipH="1">
              <a:off x="3733800" y="20574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8" name="Line 92"/>
            <p:cNvSpPr>
              <a:spLocks noChangeShapeType="1"/>
            </p:cNvSpPr>
            <p:nvPr/>
          </p:nvSpPr>
          <p:spPr bwMode="auto">
            <a:xfrm>
              <a:off x="3962400" y="2057400"/>
              <a:ext cx="0" cy="228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9" name="Line 93"/>
            <p:cNvSpPr>
              <a:spLocks noChangeShapeType="1"/>
            </p:cNvSpPr>
            <p:nvPr/>
          </p:nvSpPr>
          <p:spPr bwMode="auto">
            <a:xfrm flipH="1">
              <a:off x="3962400" y="22860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71" name="Line 95"/>
            <p:cNvSpPr>
              <a:spLocks noChangeShapeType="1"/>
            </p:cNvSpPr>
            <p:nvPr/>
          </p:nvSpPr>
          <p:spPr bwMode="auto">
            <a:xfrm flipH="1">
              <a:off x="4191000" y="2286000"/>
              <a:ext cx="228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272" name="Text Box 96"/>
          <p:cNvSpPr txBox="1">
            <a:spLocks noChangeArrowheads="1"/>
          </p:cNvSpPr>
          <p:nvPr/>
        </p:nvSpPr>
        <p:spPr bwMode="auto">
          <a:xfrm>
            <a:off x="5332040" y="3927053"/>
            <a:ext cx="3200400" cy="2361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/>
              <a:t>若选择标准输入脉冲，例</a:t>
            </a:r>
            <a:r>
              <a:rPr lang="en-US" altLang="zh-CN" sz="2000" dirty="0"/>
              <a:t>1KHz</a:t>
            </a:r>
            <a:r>
              <a:rPr lang="zh-CN" altLang="en-US" sz="2000" dirty="0"/>
              <a:t>，则当输入</a:t>
            </a:r>
            <a:r>
              <a:rPr lang="en-US" altLang="zh-CN" sz="2000" dirty="0"/>
              <a:t>1000</a:t>
            </a:r>
            <a:r>
              <a:rPr lang="zh-CN" altLang="en-US" sz="2000" dirty="0"/>
              <a:t>个标准输入脉冲，耗时</a:t>
            </a:r>
            <a:r>
              <a:rPr lang="en-US" altLang="zh-CN" sz="2000" dirty="0"/>
              <a:t>1s</a:t>
            </a:r>
            <a:r>
              <a:rPr lang="zh-CN" altLang="en-US" sz="2000" dirty="0"/>
              <a:t>，则当计数值为</a:t>
            </a:r>
            <a:r>
              <a:rPr lang="en-US" altLang="zh-CN" sz="2000" dirty="0"/>
              <a:t>5000</a:t>
            </a:r>
            <a:r>
              <a:rPr lang="zh-CN" altLang="en-US" sz="2000" dirty="0"/>
              <a:t>时，可实现输出端每隔</a:t>
            </a:r>
            <a:r>
              <a:rPr lang="en-US" altLang="zh-CN" sz="2000" dirty="0"/>
              <a:t>5s</a:t>
            </a:r>
            <a:r>
              <a:rPr lang="zh-CN" altLang="en-US" sz="2000" dirty="0"/>
              <a:t>输出一个脉冲，实现了定时。</a:t>
            </a:r>
            <a:endParaRPr lang="zh-CN" altLang="en-US" sz="2000" dirty="0"/>
          </a:p>
        </p:txBody>
      </p:sp>
      <p:sp>
        <p:nvSpPr>
          <p:cNvPr id="58" name="矩形 57"/>
          <p:cNvSpPr/>
          <p:nvPr/>
        </p:nvSpPr>
        <p:spPr>
          <a:xfrm>
            <a:off x="467544" y="294034"/>
            <a:ext cx="30925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计数器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8830" y="1016732"/>
            <a:ext cx="8065617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zh-CN" altLang="en-US" dirty="0"/>
              <a:t>定时器与计数器区别：</a:t>
            </a:r>
            <a:endParaRPr lang="en-US" altLang="zh-CN" dirty="0"/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dirty="0"/>
              <a:t>计数器是对外部某一事件进行计数，既外部引脚每发生一次变化，计数器就计数一次。</a:t>
            </a:r>
            <a:endParaRPr lang="zh-CN" altLang="en-US" dirty="0"/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dirty="0"/>
              <a:t>定时器实际上也是工作在计数方式下，如果被计数的信号有准确的固定周期，这种计数也就成为一种定时方式。</a:t>
            </a:r>
            <a:endParaRPr lang="en-US" altLang="zh-CN" dirty="0"/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dirty="0"/>
              <a:t>计数器</a:t>
            </a:r>
            <a:r>
              <a:rPr lang="en-US" altLang="zh-CN" dirty="0"/>
              <a:t>/</a:t>
            </a:r>
            <a:r>
              <a:rPr lang="zh-CN" altLang="en-US" dirty="0"/>
              <a:t>定时器一般按设定的初值</a:t>
            </a:r>
            <a:r>
              <a:rPr lang="zh-CN" altLang="en-US" dirty="0">
                <a:solidFill>
                  <a:srgbClr val="FF0000"/>
                </a:solidFill>
              </a:rPr>
              <a:t>递减</a:t>
            </a:r>
            <a:r>
              <a:rPr lang="zh-CN" altLang="en-US" dirty="0"/>
              <a:t>运行。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431540" y="940644"/>
            <a:ext cx="8172908" cy="5785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dirty="0"/>
              <a:t>        </a:t>
            </a:r>
            <a:r>
              <a:rPr lang="zh-CN" altLang="en-US" sz="2000" dirty="0">
                <a:latin typeface="+mn-lt"/>
              </a:rPr>
              <a:t>实现定时</a:t>
            </a:r>
            <a:r>
              <a:rPr lang="en-US" altLang="zh-CN" sz="2000" dirty="0">
                <a:latin typeface="+mn-lt"/>
              </a:rPr>
              <a:t>/</a:t>
            </a:r>
            <a:r>
              <a:rPr lang="zh-CN" altLang="en-US" sz="2000" dirty="0">
                <a:latin typeface="+mn-lt"/>
              </a:rPr>
              <a:t>计数有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三种</a:t>
            </a:r>
            <a:r>
              <a:rPr lang="zh-CN" altLang="en-US" sz="2000" dirty="0">
                <a:latin typeface="+mn-lt"/>
              </a:rPr>
              <a:t>不同的方法：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    （</a:t>
            </a:r>
            <a:r>
              <a:rPr lang="en-US" altLang="zh-CN" sz="2000" dirty="0">
                <a:latin typeface="+mn-lt"/>
              </a:rPr>
              <a:t>1</a:t>
            </a:r>
            <a:r>
              <a:rPr lang="zh-CN" altLang="en-US" sz="2000" dirty="0">
                <a:latin typeface="+mn-lt"/>
              </a:rPr>
              <a:t>）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软件定时</a:t>
            </a:r>
            <a:r>
              <a:rPr lang="zh-CN" altLang="en-US" sz="2000" dirty="0">
                <a:latin typeface="+mn-lt"/>
              </a:rPr>
              <a:t>：执行一个具有固定延迟时间的循环程序。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优点：不需外加硬件，灵活，定时较准确。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缺点：在定时过程中占用</a:t>
            </a:r>
            <a:r>
              <a:rPr lang="en-US" altLang="zh-CN" sz="2000" dirty="0">
                <a:latin typeface="+mn-lt"/>
              </a:rPr>
              <a:t>CPU</a:t>
            </a:r>
            <a:r>
              <a:rPr lang="zh-CN" altLang="en-US" sz="2000" dirty="0">
                <a:latin typeface="+mn-lt"/>
              </a:rPr>
              <a:t>资源。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总结：适用于定时时间短的场合。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   （</a:t>
            </a:r>
            <a:r>
              <a:rPr lang="en-US" altLang="zh-CN" sz="2000" dirty="0">
                <a:latin typeface="+mn-lt"/>
              </a:rPr>
              <a:t>2</a:t>
            </a:r>
            <a:r>
              <a:rPr lang="zh-CN" altLang="en-US" sz="2000" dirty="0">
                <a:latin typeface="+mn-lt"/>
              </a:rPr>
              <a:t>）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硬件定时</a:t>
            </a:r>
            <a:r>
              <a:rPr lang="zh-CN" altLang="en-US" sz="2000" dirty="0">
                <a:latin typeface="+mn-lt"/>
              </a:rPr>
              <a:t>：采用中小规模集成电路，通过改变电路中的阻容件来实现。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优点：不占用</a:t>
            </a:r>
            <a:r>
              <a:rPr lang="en-US" altLang="zh-CN" sz="2000" dirty="0">
                <a:latin typeface="+mn-lt"/>
              </a:rPr>
              <a:t>CPU</a:t>
            </a:r>
            <a:r>
              <a:rPr lang="zh-CN" altLang="en-US" sz="2000" dirty="0">
                <a:latin typeface="+mn-lt"/>
              </a:rPr>
              <a:t>时间。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缺点：变换定时较难。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总结：适用于定时时间间隔固定的场合。</a:t>
            </a:r>
            <a:endParaRPr lang="zh-CN" altLang="en-US" sz="2000" dirty="0">
              <a:latin typeface="+mn-lt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        （</a:t>
            </a:r>
            <a:r>
              <a:rPr lang="en-US" altLang="zh-CN" sz="2000" dirty="0">
                <a:latin typeface="+mn-lt"/>
              </a:rPr>
              <a:t>3</a:t>
            </a:r>
            <a:r>
              <a:rPr lang="zh-CN" altLang="en-US" sz="2000" dirty="0">
                <a:latin typeface="+mn-lt"/>
              </a:rPr>
              <a:t>）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可编程定时</a:t>
            </a:r>
            <a:r>
              <a:rPr lang="zh-CN" altLang="en-US" sz="2000" dirty="0">
                <a:latin typeface="+mn-lt"/>
              </a:rPr>
              <a:t>：综合了上述两种方法的优点，采用固定的硬件，通过编程（写控制字）实现不同的要求。既不占用</a:t>
            </a:r>
            <a:r>
              <a:rPr lang="en-US" altLang="zh-CN" sz="2000" dirty="0">
                <a:latin typeface="+mn-lt"/>
              </a:rPr>
              <a:t>CPU</a:t>
            </a:r>
            <a:r>
              <a:rPr lang="zh-CN" altLang="en-US" sz="2000" dirty="0">
                <a:latin typeface="+mn-lt"/>
              </a:rPr>
              <a:t>的时间，又有灵活性。</a:t>
            </a:r>
            <a:endParaRPr lang="zh-CN" altLang="en-US" sz="2000" dirty="0">
              <a:latin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294034"/>
            <a:ext cx="30925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计数器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ChangeArrowheads="1"/>
          </p:cNvSpPr>
          <p:nvPr/>
        </p:nvSpPr>
        <p:spPr bwMode="auto">
          <a:xfrm>
            <a:off x="395536" y="1160748"/>
            <a:ext cx="4896544" cy="490063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管脚与结构</a:t>
            </a:r>
            <a:endParaRPr lang="zh-CN" altLang="en-US" sz="2000" dirty="0"/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/>
              <a:t>IBM PC</a:t>
            </a:r>
            <a:r>
              <a:rPr lang="zh-CN" altLang="en-US" sz="2000" dirty="0"/>
              <a:t>中使用的定时器</a:t>
            </a:r>
            <a:r>
              <a:rPr lang="en-US" altLang="zh-CN" sz="2000" dirty="0"/>
              <a:t>/</a:t>
            </a:r>
            <a:r>
              <a:rPr lang="zh-CN" altLang="en-US" sz="2000" dirty="0"/>
              <a:t>计数器是</a:t>
            </a:r>
            <a:r>
              <a:rPr lang="en-US" altLang="zh-CN" sz="2000" dirty="0"/>
              <a:t>Intel8253-PIT</a:t>
            </a:r>
            <a:r>
              <a:rPr lang="zh-CN" altLang="en-US" sz="2000" dirty="0"/>
              <a:t>（可编程间隔定时器</a:t>
            </a:r>
            <a:r>
              <a:rPr lang="en-US" altLang="zh-CN" sz="2000" dirty="0"/>
              <a:t>PIT</a:t>
            </a:r>
            <a:r>
              <a:rPr lang="zh-CN" altLang="en-US" sz="2000" dirty="0"/>
              <a:t>：</a:t>
            </a:r>
            <a:r>
              <a:rPr lang="en-US" altLang="zh-CN" sz="2000" dirty="0"/>
              <a:t>Programmable Interval Timer</a:t>
            </a:r>
            <a:r>
              <a:rPr lang="zh-CN" altLang="en-US" sz="2000" dirty="0"/>
              <a:t>），简称</a:t>
            </a:r>
            <a:r>
              <a:rPr lang="en-US" altLang="zh-CN" sz="2000" dirty="0"/>
              <a:t>8253</a:t>
            </a:r>
            <a:r>
              <a:rPr lang="zh-CN" altLang="en-US" sz="2000" dirty="0"/>
              <a:t>。</a:t>
            </a:r>
            <a:r>
              <a:rPr lang="en-US" altLang="zh-CN" sz="2000" dirty="0"/>
              <a:t>8254</a:t>
            </a:r>
            <a:r>
              <a:rPr lang="zh-CN" altLang="en-US" sz="2000" dirty="0"/>
              <a:t>是</a:t>
            </a:r>
            <a:r>
              <a:rPr lang="en-US" altLang="zh-CN" sz="2000" dirty="0"/>
              <a:t>8253</a:t>
            </a:r>
            <a:r>
              <a:rPr lang="zh-CN" altLang="en-US" sz="2000" dirty="0"/>
              <a:t>的改进型号，</a:t>
            </a:r>
            <a:r>
              <a:rPr lang="en-US" altLang="zh-CN" sz="2000" dirty="0"/>
              <a:t>8254</a:t>
            </a:r>
            <a:r>
              <a:rPr lang="zh-CN" altLang="en-US" sz="2000" dirty="0"/>
              <a:t>与</a:t>
            </a:r>
            <a:r>
              <a:rPr lang="en-US" altLang="zh-CN" sz="2000" dirty="0"/>
              <a:t>8253</a:t>
            </a:r>
            <a:r>
              <a:rPr lang="zh-CN" altLang="en-US" sz="2000" dirty="0"/>
              <a:t>结构相似、引脚兼容、程序兼容。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/>
              <a:t>8253/8254</a:t>
            </a:r>
            <a:r>
              <a:rPr lang="zh-CN" altLang="en-US" sz="2000" dirty="0"/>
              <a:t>为</a:t>
            </a:r>
            <a:r>
              <a:rPr lang="en-US" altLang="zh-CN" sz="2000" dirty="0"/>
              <a:t>24</a:t>
            </a:r>
            <a:r>
              <a:rPr lang="zh-CN" altLang="en-US" sz="2000" dirty="0"/>
              <a:t>引脚芯片，</a:t>
            </a:r>
            <a:r>
              <a:rPr lang="en-US" altLang="zh-CN" sz="2000" dirty="0"/>
              <a:t>+5V</a:t>
            </a:r>
            <a:r>
              <a:rPr lang="zh-CN" altLang="en-US" sz="2000" dirty="0"/>
              <a:t>电源供电，每一片内部有</a:t>
            </a:r>
            <a:r>
              <a:rPr lang="zh-CN" altLang="en-US" sz="2000" dirty="0">
                <a:solidFill>
                  <a:srgbClr val="0000FF"/>
                </a:solidFill>
              </a:rPr>
              <a:t>三个独立的</a:t>
            </a:r>
            <a:r>
              <a:rPr lang="en-US" altLang="zh-CN" sz="2000" dirty="0">
                <a:solidFill>
                  <a:srgbClr val="0000FF"/>
                </a:solidFill>
              </a:rPr>
              <a:t>16</a:t>
            </a:r>
            <a:r>
              <a:rPr lang="zh-CN" altLang="en-US" sz="2000" dirty="0">
                <a:solidFill>
                  <a:srgbClr val="0000FF"/>
                </a:solidFill>
              </a:rPr>
              <a:t>位计数通道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0000FF"/>
                </a:solidFill>
              </a:rPr>
              <a:t>一个</a:t>
            </a:r>
            <a:r>
              <a:rPr lang="en-US" altLang="zh-CN" sz="2000" dirty="0">
                <a:solidFill>
                  <a:srgbClr val="0000FF"/>
                </a:solidFill>
              </a:rPr>
              <a:t>8</a:t>
            </a:r>
            <a:r>
              <a:rPr lang="zh-CN" altLang="en-US" sz="2000" dirty="0">
                <a:solidFill>
                  <a:srgbClr val="0000FF"/>
                </a:solidFill>
              </a:rPr>
              <a:t>位控制寄存器，共四个端口地址</a:t>
            </a:r>
            <a:r>
              <a:rPr lang="zh-CN" altLang="en-US" sz="2000" dirty="0"/>
              <a:t>。每个计数通道有</a:t>
            </a:r>
            <a:r>
              <a:rPr lang="en-US" altLang="zh-CN" sz="2000" dirty="0">
                <a:solidFill>
                  <a:srgbClr val="0000FF"/>
                </a:solidFill>
              </a:rPr>
              <a:t>6</a:t>
            </a:r>
            <a:r>
              <a:rPr lang="zh-CN" altLang="en-US" sz="2000" dirty="0">
                <a:solidFill>
                  <a:srgbClr val="0000FF"/>
                </a:solidFill>
              </a:rPr>
              <a:t>种工作方式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/>
              <a:t>8253</a:t>
            </a:r>
            <a:r>
              <a:rPr lang="zh-CN" altLang="en-US" sz="2000" dirty="0"/>
              <a:t>在线计数最高频率可达</a:t>
            </a:r>
            <a:r>
              <a:rPr lang="en-US" altLang="zh-CN" sz="2000" dirty="0"/>
              <a:t>2MHz</a:t>
            </a:r>
            <a:r>
              <a:rPr lang="zh-CN" altLang="en-US" sz="2000" dirty="0"/>
              <a:t>，而</a:t>
            </a:r>
            <a:r>
              <a:rPr lang="en-US" altLang="zh-CN" sz="2000" dirty="0"/>
              <a:t>8254</a:t>
            </a:r>
            <a:r>
              <a:rPr lang="zh-CN" altLang="en-US" sz="2000" dirty="0"/>
              <a:t>可达到</a:t>
            </a:r>
            <a:r>
              <a:rPr lang="en-US" altLang="zh-CN" sz="2000" dirty="0"/>
              <a:t>8MHz</a:t>
            </a:r>
            <a:r>
              <a:rPr lang="zh-CN" altLang="en-US" sz="2000" dirty="0"/>
              <a:t>，</a:t>
            </a:r>
            <a:r>
              <a:rPr lang="en-US" altLang="zh-CN" sz="2000" dirty="0"/>
              <a:t>8254-2</a:t>
            </a:r>
            <a:r>
              <a:rPr lang="zh-CN" altLang="en-US" sz="2000" dirty="0"/>
              <a:t>可达</a:t>
            </a:r>
            <a:r>
              <a:rPr lang="en-US" altLang="zh-CN" sz="2000" dirty="0"/>
              <a:t>10MHz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428035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72100" y="1484784"/>
            <a:ext cx="3244713" cy="4168904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1549" y="5733256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24</a:t>
            </a:r>
            <a:r>
              <a:rPr lang="zh-CN" altLang="en-US" sz="2000" dirty="0"/>
              <a:t>引脚，双直插封装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ChangeArrowheads="1"/>
          </p:cNvSpPr>
          <p:nvPr/>
        </p:nvSpPr>
        <p:spPr bwMode="auto">
          <a:xfrm>
            <a:off x="552181" y="984455"/>
            <a:ext cx="28797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内部结构</a:t>
            </a:r>
            <a:endParaRPr lang="zh-CN" altLang="en-US" u="sng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7011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3595" y="1470670"/>
            <a:ext cx="5545137" cy="5248275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848732" y="1304764"/>
            <a:ext cx="3115756" cy="5078314"/>
            <a:chOff x="3881811" y="3472484"/>
            <a:chExt cx="4254377" cy="4122263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881811" y="3472484"/>
              <a:ext cx="4254377" cy="412226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800" dirty="0"/>
                <a:t>D7-D0</a:t>
              </a:r>
              <a:r>
                <a:rPr lang="zh-CN" altLang="en-US" sz="1800" dirty="0"/>
                <a:t>：数据线</a:t>
              </a:r>
              <a:endParaRPr lang="zh-CN" altLang="en-US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CLK0-CLK2</a:t>
              </a:r>
              <a:r>
                <a:rPr lang="zh-CN" altLang="en-US" sz="1800" dirty="0"/>
                <a:t>：时钟输入端</a:t>
              </a:r>
              <a:endParaRPr lang="zh-CN" altLang="en-US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GATE0-GATE2</a:t>
              </a:r>
              <a:r>
                <a:rPr lang="zh-CN" altLang="en-US" sz="1800" dirty="0"/>
                <a:t>：门控输入</a:t>
              </a:r>
              <a:endParaRPr lang="zh-CN" altLang="en-US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OUT0-OUT2</a:t>
              </a:r>
              <a:r>
                <a:rPr lang="zh-CN" altLang="en-US" sz="1800" dirty="0"/>
                <a:t>：定时</a:t>
              </a:r>
              <a:r>
                <a:rPr lang="en-US" altLang="zh-CN" sz="1800" dirty="0"/>
                <a:t>/</a:t>
              </a:r>
              <a:r>
                <a:rPr lang="zh-CN" altLang="en-US" sz="1800" dirty="0"/>
                <a:t>计数器输出</a:t>
              </a:r>
              <a:endParaRPr lang="zh-CN" altLang="en-US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A1</a:t>
              </a:r>
              <a:r>
                <a:rPr lang="zh-CN" altLang="en-US" sz="1800" dirty="0"/>
                <a:t>、</a:t>
              </a:r>
              <a:r>
                <a:rPr lang="en-US" altLang="zh-CN" sz="1800" dirty="0"/>
                <a:t>A0</a:t>
              </a:r>
              <a:endParaRPr lang="en-US" altLang="zh-CN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    Al A0=00 </a:t>
              </a:r>
              <a:r>
                <a:rPr lang="zh-CN" altLang="en-US" sz="1800" dirty="0"/>
                <a:t>通道</a:t>
              </a:r>
              <a:r>
                <a:rPr lang="en-US" altLang="zh-CN" sz="1800" dirty="0"/>
                <a:t>0</a:t>
              </a:r>
              <a:endParaRPr lang="en-US" altLang="zh-CN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    Al A0=01 </a:t>
              </a:r>
              <a:r>
                <a:rPr lang="zh-CN" altLang="en-US" sz="1800" dirty="0"/>
                <a:t>通道</a:t>
              </a:r>
              <a:r>
                <a:rPr lang="en-US" altLang="zh-CN" sz="1800" dirty="0"/>
                <a:t>1</a:t>
              </a:r>
              <a:endParaRPr lang="en-US" altLang="zh-CN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    Al A0=10 </a:t>
              </a:r>
              <a:r>
                <a:rPr lang="zh-CN" altLang="en-US" sz="1800" dirty="0"/>
                <a:t>通道</a:t>
              </a:r>
              <a:r>
                <a:rPr lang="en-US" altLang="zh-CN" sz="1800" dirty="0"/>
                <a:t>2</a:t>
              </a:r>
              <a:endParaRPr lang="en-US" altLang="zh-CN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    Al A0=</a:t>
              </a:r>
              <a:r>
                <a:rPr lang="en-US" altLang="zh-CN" sz="1800" dirty="0" err="1"/>
                <a:t>ll</a:t>
              </a:r>
              <a:r>
                <a:rPr lang="en-US" altLang="zh-CN" sz="1800" dirty="0"/>
                <a:t> </a:t>
              </a:r>
              <a:r>
                <a:rPr lang="zh-CN" altLang="en-US" sz="1800" dirty="0"/>
                <a:t>控制寄存器</a:t>
              </a:r>
              <a:endParaRPr lang="zh-CN" altLang="en-US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RD</a:t>
              </a:r>
              <a:r>
                <a:rPr lang="zh-CN" altLang="en-US" sz="1800" dirty="0"/>
                <a:t>、</a:t>
              </a:r>
              <a:r>
                <a:rPr lang="en-US" altLang="zh-CN" sz="1800" dirty="0"/>
                <a:t>WR</a:t>
              </a:r>
              <a:r>
                <a:rPr lang="zh-CN" altLang="en-US" sz="1800" dirty="0"/>
                <a:t>：读写信号</a:t>
              </a:r>
              <a:endParaRPr lang="zh-CN" altLang="en-US" sz="1800" dirty="0"/>
            </a:p>
            <a:p>
              <a:pPr>
                <a:lnSpc>
                  <a:spcPct val="150000"/>
                </a:lnSpc>
              </a:pPr>
              <a:r>
                <a:rPr lang="en-US" altLang="zh-CN" sz="1800" dirty="0"/>
                <a:t>CS</a:t>
              </a:r>
              <a:r>
                <a:rPr lang="zh-CN" altLang="en-US" sz="1800" dirty="0"/>
                <a:t>：片选信号</a:t>
              </a:r>
              <a:endParaRPr lang="zh-CN" altLang="en-US" sz="1800" dirty="0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4066783" y="6921133"/>
              <a:ext cx="287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4824029" y="6921133"/>
              <a:ext cx="287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066783" y="7271843"/>
              <a:ext cx="287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87824" y="1052736"/>
            <a:ext cx="5545137" cy="5248275"/>
          </a:xfrm>
          <a:prstGeom prst="rect">
            <a:avLst/>
          </a:prstGeom>
          <a:noFill/>
        </p:spPr>
      </p:pic>
      <p:sp>
        <p:nvSpPr>
          <p:cNvPr id="422915" name="AutoShape 3"/>
          <p:cNvSpPr>
            <a:spLocks noChangeArrowheads="1"/>
          </p:cNvSpPr>
          <p:nvPr/>
        </p:nvSpPr>
        <p:spPr bwMode="auto">
          <a:xfrm>
            <a:off x="287524" y="4401108"/>
            <a:ext cx="4176712" cy="2402929"/>
          </a:xfrm>
          <a:prstGeom prst="wedgeRoundRectCallout">
            <a:avLst>
              <a:gd name="adj1" fmla="val 102775"/>
              <a:gd name="adj2" fmla="val -8103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</a:rPr>
              <a:t>计数器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/>
            <a:r>
              <a:rPr lang="zh-CN" altLang="en-US" dirty="0"/>
              <a:t>三个计数器内部结构相同，均为</a:t>
            </a:r>
            <a:r>
              <a:rPr lang="en-US" altLang="zh-CN" dirty="0"/>
              <a:t>16</a:t>
            </a:r>
            <a:r>
              <a:rPr lang="zh-CN" altLang="en-US" dirty="0"/>
              <a:t>位可预置计数器。每个计数器都具有：</a:t>
            </a:r>
            <a:r>
              <a:rPr lang="en-US" altLang="zh-CN" dirty="0"/>
              <a:t>1</a:t>
            </a:r>
            <a:r>
              <a:rPr lang="zh-CN" altLang="en-US" dirty="0"/>
              <a:t>个时钟输入，</a:t>
            </a:r>
            <a:r>
              <a:rPr lang="en-US" altLang="zh-CN" dirty="0"/>
              <a:t>1</a:t>
            </a:r>
            <a:r>
              <a:rPr lang="zh-CN" altLang="en-US" dirty="0"/>
              <a:t>个门控信号</a:t>
            </a:r>
            <a:r>
              <a:rPr lang="en-US" altLang="zh-CN" dirty="0"/>
              <a:t>GATE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个输出信号</a:t>
            </a:r>
            <a:r>
              <a:rPr lang="en-US" altLang="zh-CN" dirty="0"/>
              <a:t>OUT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63752" y="1016732"/>
            <a:ext cx="8392724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0~2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8253/8254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个完全独立的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位计数器，可以同时进行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组计数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每个计数器由计数初值锁存器、减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计数器、和输出锁存器组成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计数初值锁存器用来存放计数初值，且在计数过程中一直不变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计数器在初始化时和计数初值锁存器一起装入，每来一个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CLK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脉冲，做减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运算，直到将计数值减为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在某些工作方式下，当减一计数器到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后，可自动把计数初值锁存器的值再次装入，重新开始计数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输出锁存器的值跟随减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计数器变化，仅当写入锁存控制字的时候，它锁存当前减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计数器的值（减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计数器可继续计数），当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读取后，自动解除锁存，又跟随减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计数器变化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73860" y="5052033"/>
            <a:ext cx="4572508" cy="179734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986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67844" y="1052736"/>
            <a:ext cx="5545137" cy="5248275"/>
          </a:xfrm>
          <a:prstGeom prst="rect">
            <a:avLst/>
          </a:prstGeom>
          <a:noFill/>
        </p:spPr>
      </p:pic>
      <p:sp>
        <p:nvSpPr>
          <p:cNvPr id="425987" name="AutoShape 3"/>
          <p:cNvSpPr>
            <a:spLocks noChangeArrowheads="1"/>
          </p:cNvSpPr>
          <p:nvPr/>
        </p:nvSpPr>
        <p:spPr bwMode="auto">
          <a:xfrm>
            <a:off x="287524" y="1232756"/>
            <a:ext cx="2808312" cy="2124236"/>
          </a:xfrm>
          <a:prstGeom prst="wedgeRoundRectCallout">
            <a:avLst>
              <a:gd name="adj1" fmla="val 94434"/>
              <a:gd name="adj2" fmla="val -2458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</a:rPr>
              <a:t>数据总线缓冲器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/>
            <a:r>
              <a:rPr lang="zh-CN" altLang="en-US" dirty="0"/>
              <a:t>三态双向</a:t>
            </a:r>
            <a:r>
              <a:rPr lang="en-US" altLang="zh-CN" dirty="0"/>
              <a:t>8</a:t>
            </a:r>
            <a:r>
              <a:rPr lang="zh-CN" altLang="en-US" dirty="0"/>
              <a:t>位缓冲器，是</a:t>
            </a:r>
            <a:r>
              <a:rPr lang="en-US" altLang="zh-CN" dirty="0"/>
              <a:t>8253</a:t>
            </a:r>
            <a:r>
              <a:rPr lang="zh-CN" altLang="en-US" dirty="0"/>
              <a:t>与</a:t>
            </a:r>
            <a:r>
              <a:rPr lang="en-US" altLang="zh-CN" dirty="0"/>
              <a:t>CPU</a:t>
            </a:r>
            <a:r>
              <a:rPr lang="zh-CN" altLang="en-US" dirty="0"/>
              <a:t>数据传输通道。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5536" y="3676873"/>
            <a:ext cx="27003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800" dirty="0"/>
              <a:t>注：三态缓冲器（</a:t>
            </a:r>
            <a:r>
              <a:rPr lang="en-US" altLang="zh-CN" sz="1800" dirty="0"/>
              <a:t>Three-state buffer</a:t>
            </a:r>
            <a:r>
              <a:rPr lang="zh-CN" altLang="en-US" sz="1800" dirty="0"/>
              <a:t>），又称为三态门，其三态输出受到使能输出端的控制，当使能输出有效时，器件实现正常逻辑状态输出（逻辑</a:t>
            </a:r>
            <a:r>
              <a:rPr lang="en-US" altLang="zh-CN" sz="1800" dirty="0"/>
              <a:t>0</a:t>
            </a:r>
            <a:r>
              <a:rPr lang="zh-CN" altLang="en-US" sz="1800" dirty="0"/>
              <a:t>、逻辑</a:t>
            </a:r>
            <a:r>
              <a:rPr lang="en-US" altLang="zh-CN" sz="1800" dirty="0"/>
              <a:t>1</a:t>
            </a:r>
            <a:r>
              <a:rPr lang="zh-CN" altLang="en-US" sz="1800" dirty="0"/>
              <a:t>），当使能输入无效时，输出处于高阻状态，即等效于与所连的电路断开。</a:t>
            </a: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962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51820" y="1052736"/>
            <a:ext cx="5545137" cy="5248275"/>
          </a:xfrm>
          <a:prstGeom prst="rect">
            <a:avLst/>
          </a:prstGeom>
          <a:noFill/>
        </p:spPr>
      </p:pic>
      <p:sp>
        <p:nvSpPr>
          <p:cNvPr id="424963" name="AutoShape 3"/>
          <p:cNvSpPr>
            <a:spLocks noChangeArrowheads="1"/>
          </p:cNvSpPr>
          <p:nvPr/>
        </p:nvSpPr>
        <p:spPr bwMode="auto">
          <a:xfrm>
            <a:off x="477631" y="4617132"/>
            <a:ext cx="3554309" cy="2087562"/>
          </a:xfrm>
          <a:prstGeom prst="wedgeRoundRectCallout">
            <a:avLst>
              <a:gd name="adj1" fmla="val 63308"/>
              <a:gd name="adj2" fmla="val -74206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</a:rPr>
              <a:t>读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zh-CN" altLang="en-US" dirty="0">
                <a:solidFill>
                  <a:srgbClr val="0000FF"/>
                </a:solidFill>
              </a:rPr>
              <a:t>写控制逻辑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/>
            <a:r>
              <a:rPr lang="zh-CN" altLang="en-US" dirty="0"/>
              <a:t>一方面接收</a:t>
            </a:r>
            <a:r>
              <a:rPr lang="en-US" altLang="zh-CN" dirty="0"/>
              <a:t>CPU</a:t>
            </a:r>
            <a:r>
              <a:rPr lang="zh-CN" altLang="en-US" dirty="0"/>
              <a:t>来的控制信息，另一方面将控制信息译码后产生各部分的控制信号。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ChangeArrowheads="1"/>
          </p:cNvSpPr>
          <p:nvPr/>
        </p:nvSpPr>
        <p:spPr bwMode="auto">
          <a:xfrm>
            <a:off x="568840" y="1016732"/>
            <a:ext cx="28797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内部读写逻辑</a:t>
            </a:r>
            <a:endParaRPr lang="zh-CN" altLang="en-US" u="sng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21998" name="Group 110"/>
          <p:cNvGraphicFramePr>
            <a:graphicFrameLocks noGrp="1"/>
          </p:cNvGraphicFramePr>
          <p:nvPr/>
        </p:nvGraphicFramePr>
        <p:xfrm>
          <a:off x="618860" y="1628800"/>
          <a:ext cx="7913579" cy="4824534"/>
        </p:xfrm>
        <a:graphic>
          <a:graphicData uri="http://schemas.openxmlformats.org/drawingml/2006/table">
            <a:tbl>
              <a:tblPr/>
              <a:tblGrid>
                <a:gridCol w="854228"/>
                <a:gridCol w="854227"/>
                <a:gridCol w="854228"/>
                <a:gridCol w="854227"/>
                <a:gridCol w="854228"/>
                <a:gridCol w="3642441"/>
              </a:tblGrid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CS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RD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WR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A1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A0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寄存器读写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写计数器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写计数器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写计数器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写控制字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读计数器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读计数器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读计数器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无操作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X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X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隶书" panose="02010509060101010101" pitchFamily="49" charset="-122"/>
                        </a:rPr>
                        <a:t>X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隶书" panose="020105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1999" name="Line 111"/>
          <p:cNvSpPr>
            <a:spLocks noChangeShapeType="1"/>
          </p:cNvSpPr>
          <p:nvPr/>
        </p:nvSpPr>
        <p:spPr bwMode="auto">
          <a:xfrm>
            <a:off x="827088" y="90805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2000" name="Line 112"/>
          <p:cNvSpPr>
            <a:spLocks noChangeShapeType="1"/>
          </p:cNvSpPr>
          <p:nvPr/>
        </p:nvSpPr>
        <p:spPr bwMode="auto">
          <a:xfrm>
            <a:off x="1690688" y="90805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2001" name="Line 113"/>
          <p:cNvSpPr>
            <a:spLocks noChangeShapeType="1"/>
          </p:cNvSpPr>
          <p:nvPr/>
        </p:nvSpPr>
        <p:spPr bwMode="auto">
          <a:xfrm>
            <a:off x="2555875" y="90805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863588" y="1700808"/>
            <a:ext cx="360040" cy="0"/>
          </a:xfrm>
          <a:prstGeom prst="line">
            <a:avLst/>
          </a:prstGeom>
          <a:solidFill>
            <a:schemeClr val="bg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10" name="直接连接符 9"/>
          <p:cNvCxnSpPr/>
          <p:nvPr/>
        </p:nvCxnSpPr>
        <p:spPr bwMode="auto">
          <a:xfrm>
            <a:off x="1690688" y="1700808"/>
            <a:ext cx="360040" cy="0"/>
          </a:xfrm>
          <a:prstGeom prst="line">
            <a:avLst/>
          </a:prstGeom>
          <a:solidFill>
            <a:schemeClr val="bg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11" name="直接连接符 10"/>
          <p:cNvCxnSpPr/>
          <p:nvPr/>
        </p:nvCxnSpPr>
        <p:spPr bwMode="auto">
          <a:xfrm>
            <a:off x="2555875" y="1700808"/>
            <a:ext cx="360040" cy="0"/>
          </a:xfrm>
          <a:prstGeom prst="line">
            <a:avLst/>
          </a:prstGeom>
          <a:solidFill>
            <a:schemeClr val="bg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</p:spPr>
      </p:cxn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938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59832" y="1016732"/>
            <a:ext cx="5545137" cy="5248275"/>
          </a:xfrm>
          <a:prstGeom prst="rect">
            <a:avLst/>
          </a:prstGeom>
          <a:noFill/>
        </p:spPr>
      </p:pic>
      <p:sp>
        <p:nvSpPr>
          <p:cNvPr id="423939" name="AutoShape 3"/>
          <p:cNvSpPr>
            <a:spLocks noChangeArrowheads="1"/>
          </p:cNvSpPr>
          <p:nvPr/>
        </p:nvSpPr>
        <p:spPr bwMode="auto">
          <a:xfrm>
            <a:off x="15715" y="4669993"/>
            <a:ext cx="4176713" cy="2160587"/>
          </a:xfrm>
          <a:prstGeom prst="wedgeRoundRectCallout">
            <a:avLst>
              <a:gd name="adj1" fmla="val 59082"/>
              <a:gd name="adj2" fmla="val -35849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</a:rPr>
              <a:t>控制字寄存器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zh-CN" altLang="en-US" dirty="0"/>
              <a:t>由</a:t>
            </a:r>
            <a:r>
              <a:rPr lang="en-US" altLang="zh-CN" dirty="0"/>
              <a:t>CPU</a:t>
            </a:r>
            <a:r>
              <a:rPr lang="zh-CN" altLang="en-US" dirty="0"/>
              <a:t>通过总线送入控制信息，控制每个计数器的工作方式。控制字只能写入，不能读出。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11560" y="1196752"/>
            <a:ext cx="61201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8253</a:t>
            </a:r>
            <a:r>
              <a:rPr lang="zh-CN" altLang="en-US" dirty="0"/>
              <a:t>的控制字</a:t>
            </a:r>
            <a:r>
              <a:rPr lang="en-US" altLang="zh-CN" sz="2400" dirty="0"/>
              <a:t>CW</a:t>
            </a:r>
            <a:r>
              <a:rPr lang="zh-CN" altLang="en-US" sz="2400" dirty="0"/>
              <a:t>（</a:t>
            </a:r>
            <a:r>
              <a:rPr lang="en-US" altLang="zh-CN" sz="2400" dirty="0"/>
              <a:t>Control Word</a:t>
            </a:r>
            <a:r>
              <a:rPr lang="zh-CN" altLang="en-US" sz="2400" dirty="0"/>
              <a:t>）</a:t>
            </a:r>
            <a:endParaRPr lang="zh-CN" altLang="en-US" dirty="0"/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788132" y="1920652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/>
              <a:t>7     6    5     4     3    2     1    0</a:t>
            </a:r>
            <a:endParaRPr lang="en-US" altLang="zh-CN" sz="1800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711932" y="2225452"/>
            <a:ext cx="3048000" cy="3810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2235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2616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2997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3378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1854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>
            <a:off x="1473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>
            <a:off x="1092932" y="2225452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>
            <a:off x="3531332" y="2606452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3302732" y="2911252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chemeClr val="hlink"/>
                </a:solidFill>
              </a:rPr>
              <a:t>0=</a:t>
            </a:r>
            <a:r>
              <a:rPr lang="zh-CN" altLang="en-US" sz="1800" dirty="0">
                <a:solidFill>
                  <a:schemeClr val="hlink"/>
                </a:solidFill>
              </a:rPr>
              <a:t>二进制，</a:t>
            </a:r>
            <a:r>
              <a:rPr lang="en-US" altLang="zh-CN" sz="1800" dirty="0">
                <a:solidFill>
                  <a:schemeClr val="hlink"/>
                </a:solidFill>
              </a:rPr>
              <a:t>1=</a:t>
            </a:r>
            <a:r>
              <a:rPr lang="zh-CN" altLang="en-US" sz="1800" dirty="0">
                <a:solidFill>
                  <a:schemeClr val="hlink"/>
                </a:solidFill>
              </a:rPr>
              <a:t>十进制</a:t>
            </a:r>
            <a:endParaRPr lang="zh-CN" altLang="en-US" sz="1800" dirty="0">
              <a:solidFill>
                <a:schemeClr val="hlink"/>
              </a:solidFill>
            </a:endParaRPr>
          </a:p>
        </p:txBody>
      </p:sp>
      <p:sp>
        <p:nvSpPr>
          <p:cNvPr id="35858" name="AutoShape 18"/>
          <p:cNvSpPr/>
          <p:nvPr/>
        </p:nvSpPr>
        <p:spPr bwMode="auto">
          <a:xfrm rot="16200000">
            <a:off x="2693132" y="2225452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9" name="Line 19"/>
          <p:cNvSpPr>
            <a:spLocks noChangeShapeType="1"/>
          </p:cNvSpPr>
          <p:nvPr/>
        </p:nvSpPr>
        <p:spPr bwMode="auto">
          <a:xfrm>
            <a:off x="2845532" y="2987452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2845532" y="3609020"/>
            <a:ext cx="2819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5664932" y="3368452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>
                <a:solidFill>
                  <a:srgbClr val="0000CC"/>
                </a:solidFill>
              </a:rPr>
              <a:t>工作方式</a:t>
            </a:r>
            <a:endParaRPr lang="zh-CN" altLang="en-US" sz="1800">
              <a:solidFill>
                <a:srgbClr val="0000CC"/>
              </a:solidFill>
            </a:endParaRP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6807932" y="2377852"/>
            <a:ext cx="2209800" cy="243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0000CC"/>
                </a:solidFill>
              </a:rPr>
              <a:t>000=</a:t>
            </a:r>
            <a:r>
              <a:rPr lang="zh-CN" altLang="en-US" sz="1800" dirty="0">
                <a:solidFill>
                  <a:srgbClr val="0000CC"/>
                </a:solidFill>
              </a:rPr>
              <a:t>方式</a:t>
            </a:r>
            <a:r>
              <a:rPr lang="en-US" altLang="zh-CN" sz="1800" dirty="0">
                <a:solidFill>
                  <a:srgbClr val="0000CC"/>
                </a:solidFill>
              </a:rPr>
              <a:t>0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0000CC"/>
                </a:solidFill>
              </a:rPr>
              <a:t>001=</a:t>
            </a:r>
            <a:r>
              <a:rPr lang="zh-CN" altLang="en-US" sz="1800" dirty="0">
                <a:solidFill>
                  <a:srgbClr val="0000CC"/>
                </a:solidFill>
              </a:rPr>
              <a:t>方式</a:t>
            </a:r>
            <a:r>
              <a:rPr lang="en-US" altLang="zh-CN" sz="1800" dirty="0">
                <a:solidFill>
                  <a:srgbClr val="0000CC"/>
                </a:solidFill>
              </a:rPr>
              <a:t>1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</a:rPr>
              <a:t>X</a:t>
            </a:r>
            <a:r>
              <a:rPr lang="en-US" altLang="zh-CN" sz="1800" dirty="0">
                <a:solidFill>
                  <a:srgbClr val="0000CC"/>
                </a:solidFill>
              </a:rPr>
              <a:t>10=</a:t>
            </a:r>
            <a:r>
              <a:rPr lang="zh-CN" altLang="en-US" sz="1800" dirty="0">
                <a:solidFill>
                  <a:srgbClr val="0000CC"/>
                </a:solidFill>
              </a:rPr>
              <a:t>方式</a:t>
            </a:r>
            <a:r>
              <a:rPr lang="en-US" altLang="zh-CN" sz="1800" dirty="0">
                <a:solidFill>
                  <a:srgbClr val="0000CC"/>
                </a:solidFill>
              </a:rPr>
              <a:t>2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</a:rPr>
              <a:t>X</a:t>
            </a:r>
            <a:r>
              <a:rPr lang="en-US" altLang="zh-CN" sz="1800" dirty="0">
                <a:solidFill>
                  <a:srgbClr val="0000CC"/>
                </a:solidFill>
              </a:rPr>
              <a:t>11=</a:t>
            </a:r>
            <a:r>
              <a:rPr lang="zh-CN" altLang="en-US" sz="1800" dirty="0">
                <a:solidFill>
                  <a:srgbClr val="0000CC"/>
                </a:solidFill>
              </a:rPr>
              <a:t>方式</a:t>
            </a:r>
            <a:r>
              <a:rPr lang="en-US" altLang="zh-CN" sz="1800" dirty="0">
                <a:solidFill>
                  <a:srgbClr val="0000CC"/>
                </a:solidFill>
              </a:rPr>
              <a:t>3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0000CC"/>
                </a:solidFill>
              </a:rPr>
              <a:t>100=</a:t>
            </a:r>
            <a:r>
              <a:rPr lang="zh-CN" altLang="en-US" sz="1800" dirty="0">
                <a:solidFill>
                  <a:srgbClr val="0000CC"/>
                </a:solidFill>
              </a:rPr>
              <a:t>方式</a:t>
            </a:r>
            <a:r>
              <a:rPr lang="en-US" altLang="zh-CN" sz="1800" dirty="0">
                <a:solidFill>
                  <a:srgbClr val="0000CC"/>
                </a:solidFill>
              </a:rPr>
              <a:t>4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0000CC"/>
                </a:solidFill>
              </a:rPr>
              <a:t>101=</a:t>
            </a:r>
            <a:r>
              <a:rPr lang="zh-CN" altLang="en-US" sz="1800" dirty="0">
                <a:solidFill>
                  <a:srgbClr val="0000CC"/>
                </a:solidFill>
              </a:rPr>
              <a:t>方式</a:t>
            </a:r>
            <a:r>
              <a:rPr lang="en-US" altLang="zh-CN" sz="1800" dirty="0">
                <a:solidFill>
                  <a:srgbClr val="0000CC"/>
                </a:solidFill>
              </a:rPr>
              <a:t>5</a:t>
            </a:r>
            <a:endParaRPr lang="en-US" altLang="zh-CN" sz="1800" dirty="0">
              <a:solidFill>
                <a:srgbClr val="0000CC"/>
              </a:solidFill>
            </a:endParaRPr>
          </a:p>
        </p:txBody>
      </p:sp>
      <p:sp>
        <p:nvSpPr>
          <p:cNvPr id="35863" name="AutoShape 23"/>
          <p:cNvSpPr/>
          <p:nvPr/>
        </p:nvSpPr>
        <p:spPr bwMode="auto">
          <a:xfrm>
            <a:off x="6731732" y="2530252"/>
            <a:ext cx="76200" cy="2133600"/>
          </a:xfrm>
          <a:prstGeom prst="leftBrace">
            <a:avLst>
              <a:gd name="adj1" fmla="val 233333"/>
              <a:gd name="adj2" fmla="val 50000"/>
            </a:avLst>
          </a:prstGeom>
          <a:noFill/>
          <a:ln w="12700" cap="sq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4" name="AutoShape 24"/>
          <p:cNvSpPr/>
          <p:nvPr/>
        </p:nvSpPr>
        <p:spPr bwMode="auto">
          <a:xfrm rot="16200000">
            <a:off x="1740632" y="241595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5" name="AutoShape 25"/>
          <p:cNvSpPr/>
          <p:nvPr/>
        </p:nvSpPr>
        <p:spPr bwMode="auto">
          <a:xfrm rot="16200000">
            <a:off x="978632" y="241595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6" name="Line 26"/>
          <p:cNvSpPr>
            <a:spLocks noChangeShapeType="1"/>
          </p:cNvSpPr>
          <p:nvPr/>
        </p:nvSpPr>
        <p:spPr bwMode="auto">
          <a:xfrm>
            <a:off x="1854932" y="2987452"/>
            <a:ext cx="0" cy="1731776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7" name="Line 27"/>
          <p:cNvSpPr>
            <a:spLocks noChangeShapeType="1"/>
          </p:cNvSpPr>
          <p:nvPr/>
        </p:nvSpPr>
        <p:spPr bwMode="auto">
          <a:xfrm>
            <a:off x="1854932" y="4719228"/>
            <a:ext cx="53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9" name="Text Box 29"/>
          <p:cNvSpPr txBox="1">
            <a:spLocks noChangeArrowheads="1"/>
          </p:cNvSpPr>
          <p:nvPr/>
        </p:nvSpPr>
        <p:spPr bwMode="auto">
          <a:xfrm>
            <a:off x="2303748" y="4504916"/>
            <a:ext cx="1524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3333FF"/>
                </a:solidFill>
              </a:rPr>
              <a:t>读</a:t>
            </a:r>
            <a:r>
              <a:rPr lang="en-US" altLang="zh-CN" sz="1800" dirty="0">
                <a:solidFill>
                  <a:srgbClr val="3333FF"/>
                </a:solidFill>
              </a:rPr>
              <a:t>/</a:t>
            </a:r>
            <a:r>
              <a:rPr lang="zh-CN" altLang="en-US" sz="1800" dirty="0">
                <a:solidFill>
                  <a:srgbClr val="3333FF"/>
                </a:solidFill>
              </a:rPr>
              <a:t>写锁存器</a:t>
            </a:r>
            <a:endParaRPr lang="zh-CN" altLang="en-US" sz="1800" dirty="0">
              <a:solidFill>
                <a:srgbClr val="3333FF"/>
              </a:solidFill>
            </a:endParaRPr>
          </a:p>
        </p:txBody>
      </p:sp>
      <p:sp>
        <p:nvSpPr>
          <p:cNvPr id="35870" name="Text Box 30"/>
          <p:cNvSpPr txBox="1">
            <a:spLocks noChangeArrowheads="1"/>
          </p:cNvSpPr>
          <p:nvPr/>
        </p:nvSpPr>
        <p:spPr bwMode="auto">
          <a:xfrm>
            <a:off x="3751548" y="3876266"/>
            <a:ext cx="3868216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3333FF"/>
                </a:solidFill>
              </a:rPr>
              <a:t>00=</a:t>
            </a:r>
            <a:r>
              <a:rPr lang="zh-CN" altLang="en-US" sz="1800" dirty="0">
                <a:solidFill>
                  <a:srgbClr val="3333FF"/>
                </a:solidFill>
              </a:rPr>
              <a:t>锁存计数器值</a:t>
            </a:r>
            <a:endParaRPr lang="zh-CN" altLang="en-US" sz="1800" dirty="0">
              <a:solidFill>
                <a:srgbClr val="3333FF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3333FF"/>
                </a:solidFill>
              </a:rPr>
              <a:t>01=</a:t>
            </a:r>
            <a:r>
              <a:rPr lang="zh-CN" altLang="en-US" sz="1800" dirty="0">
                <a:solidFill>
                  <a:srgbClr val="3333FF"/>
                </a:solidFill>
              </a:rPr>
              <a:t>只读</a:t>
            </a:r>
            <a:r>
              <a:rPr lang="en-US" altLang="zh-CN" sz="1800" dirty="0">
                <a:solidFill>
                  <a:srgbClr val="3333FF"/>
                </a:solidFill>
              </a:rPr>
              <a:t>/</a:t>
            </a:r>
            <a:r>
              <a:rPr lang="zh-CN" altLang="en-US" sz="1800" dirty="0">
                <a:solidFill>
                  <a:srgbClr val="3333FF"/>
                </a:solidFill>
              </a:rPr>
              <a:t>写低</a:t>
            </a:r>
            <a:r>
              <a:rPr lang="en-US" altLang="zh-CN" sz="1800" dirty="0">
                <a:solidFill>
                  <a:srgbClr val="3333FF"/>
                </a:solidFill>
              </a:rPr>
              <a:t>8</a:t>
            </a:r>
            <a:r>
              <a:rPr lang="zh-CN" altLang="en-US" sz="1800" dirty="0">
                <a:solidFill>
                  <a:srgbClr val="3333FF"/>
                </a:solidFill>
              </a:rPr>
              <a:t>位，高</a:t>
            </a:r>
            <a:r>
              <a:rPr lang="en-US" altLang="zh-CN" sz="1800" dirty="0">
                <a:solidFill>
                  <a:srgbClr val="3333FF"/>
                </a:solidFill>
              </a:rPr>
              <a:t>8</a:t>
            </a:r>
            <a:r>
              <a:rPr lang="zh-CN" altLang="en-US" sz="1800" dirty="0">
                <a:solidFill>
                  <a:srgbClr val="3333FF"/>
                </a:solidFill>
              </a:rPr>
              <a:t>位为</a:t>
            </a:r>
            <a:r>
              <a:rPr lang="en-US" altLang="zh-CN" sz="1800" dirty="0">
                <a:solidFill>
                  <a:srgbClr val="3333FF"/>
                </a:solidFill>
              </a:rPr>
              <a:t>0</a:t>
            </a:r>
            <a:endParaRPr lang="en-US" altLang="zh-CN" sz="1800" dirty="0">
              <a:solidFill>
                <a:srgbClr val="3333FF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3333FF"/>
                </a:solidFill>
              </a:rPr>
              <a:t>10=</a:t>
            </a:r>
            <a:r>
              <a:rPr lang="zh-CN" altLang="en-US" sz="1800" dirty="0">
                <a:solidFill>
                  <a:srgbClr val="3333FF"/>
                </a:solidFill>
              </a:rPr>
              <a:t>只读</a:t>
            </a:r>
            <a:r>
              <a:rPr lang="en-US" altLang="zh-CN" sz="1800" dirty="0">
                <a:solidFill>
                  <a:srgbClr val="3333FF"/>
                </a:solidFill>
              </a:rPr>
              <a:t>/</a:t>
            </a:r>
            <a:r>
              <a:rPr lang="zh-CN" altLang="en-US" sz="1800" dirty="0">
                <a:solidFill>
                  <a:srgbClr val="3333FF"/>
                </a:solidFill>
              </a:rPr>
              <a:t>写高</a:t>
            </a:r>
            <a:r>
              <a:rPr lang="en-US" altLang="zh-CN" sz="1800" dirty="0">
                <a:solidFill>
                  <a:srgbClr val="3333FF"/>
                </a:solidFill>
              </a:rPr>
              <a:t>8</a:t>
            </a:r>
            <a:r>
              <a:rPr lang="zh-CN" altLang="en-US" sz="1800" dirty="0">
                <a:solidFill>
                  <a:srgbClr val="3333FF"/>
                </a:solidFill>
              </a:rPr>
              <a:t>位，低</a:t>
            </a:r>
            <a:r>
              <a:rPr lang="en-US" altLang="zh-CN" sz="1800" dirty="0">
                <a:solidFill>
                  <a:srgbClr val="3333FF"/>
                </a:solidFill>
              </a:rPr>
              <a:t>8</a:t>
            </a:r>
            <a:r>
              <a:rPr lang="zh-CN" altLang="en-US" sz="1800" dirty="0">
                <a:solidFill>
                  <a:srgbClr val="3333FF"/>
                </a:solidFill>
              </a:rPr>
              <a:t>位为</a:t>
            </a:r>
            <a:r>
              <a:rPr lang="en-US" altLang="zh-CN" sz="1800" dirty="0">
                <a:solidFill>
                  <a:srgbClr val="3333FF"/>
                </a:solidFill>
              </a:rPr>
              <a:t>0</a:t>
            </a:r>
            <a:endParaRPr lang="en-US" altLang="zh-CN" sz="1800" dirty="0">
              <a:solidFill>
                <a:srgbClr val="3333FF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3333FF"/>
                </a:solidFill>
              </a:rPr>
              <a:t>11=</a:t>
            </a:r>
            <a:r>
              <a:rPr lang="zh-CN" altLang="en-US" sz="1800" dirty="0">
                <a:solidFill>
                  <a:srgbClr val="3333FF"/>
                </a:solidFill>
              </a:rPr>
              <a:t>先读</a:t>
            </a:r>
            <a:r>
              <a:rPr lang="en-US" altLang="zh-CN" sz="1800" dirty="0">
                <a:solidFill>
                  <a:srgbClr val="3333FF"/>
                </a:solidFill>
              </a:rPr>
              <a:t>/</a:t>
            </a:r>
            <a:r>
              <a:rPr lang="zh-CN" altLang="en-US" sz="1800" dirty="0">
                <a:solidFill>
                  <a:srgbClr val="3333FF"/>
                </a:solidFill>
              </a:rPr>
              <a:t>写低</a:t>
            </a:r>
            <a:r>
              <a:rPr lang="en-US" altLang="zh-CN" sz="1800" dirty="0">
                <a:solidFill>
                  <a:srgbClr val="3333FF"/>
                </a:solidFill>
              </a:rPr>
              <a:t>8</a:t>
            </a:r>
            <a:r>
              <a:rPr lang="zh-CN" altLang="en-US" sz="1800" dirty="0">
                <a:solidFill>
                  <a:srgbClr val="3333FF"/>
                </a:solidFill>
              </a:rPr>
              <a:t>位，后读</a:t>
            </a:r>
            <a:r>
              <a:rPr lang="en-US" altLang="zh-CN" sz="1800" dirty="0">
                <a:solidFill>
                  <a:srgbClr val="3333FF"/>
                </a:solidFill>
              </a:rPr>
              <a:t>/</a:t>
            </a:r>
            <a:r>
              <a:rPr lang="zh-CN" altLang="en-US" sz="1800" dirty="0">
                <a:solidFill>
                  <a:srgbClr val="3333FF"/>
                </a:solidFill>
              </a:rPr>
              <a:t>写高</a:t>
            </a:r>
            <a:r>
              <a:rPr lang="en-US" altLang="zh-CN" sz="1800" dirty="0">
                <a:solidFill>
                  <a:srgbClr val="3333FF"/>
                </a:solidFill>
              </a:rPr>
              <a:t>8</a:t>
            </a:r>
            <a:r>
              <a:rPr lang="zh-CN" altLang="en-US" sz="1800" dirty="0">
                <a:solidFill>
                  <a:srgbClr val="3333FF"/>
                </a:solidFill>
              </a:rPr>
              <a:t>位（分两次读写）</a:t>
            </a:r>
            <a:endParaRPr lang="en-US" altLang="zh-CN" sz="1800" dirty="0">
              <a:solidFill>
                <a:srgbClr val="3333FF"/>
              </a:solidFill>
            </a:endParaRPr>
          </a:p>
        </p:txBody>
      </p:sp>
      <p:sp>
        <p:nvSpPr>
          <p:cNvPr id="35871" name="AutoShape 31"/>
          <p:cNvSpPr/>
          <p:nvPr/>
        </p:nvSpPr>
        <p:spPr bwMode="auto">
          <a:xfrm rot="10800000" flipH="1">
            <a:off x="3655132" y="4033428"/>
            <a:ext cx="76200" cy="1295400"/>
          </a:xfrm>
          <a:prstGeom prst="leftBrace">
            <a:avLst>
              <a:gd name="adj1" fmla="val 141667"/>
              <a:gd name="adj2" fmla="val 50000"/>
            </a:avLst>
          </a:prstGeom>
          <a:noFill/>
          <a:ln w="127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2" name="Line 32"/>
          <p:cNvSpPr>
            <a:spLocks noChangeShapeType="1"/>
          </p:cNvSpPr>
          <p:nvPr/>
        </p:nvSpPr>
        <p:spPr bwMode="auto">
          <a:xfrm>
            <a:off x="1092932" y="2987452"/>
            <a:ext cx="0" cy="2964296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4" name="Line 34"/>
          <p:cNvSpPr>
            <a:spLocks noChangeShapeType="1"/>
          </p:cNvSpPr>
          <p:nvPr/>
        </p:nvSpPr>
        <p:spPr bwMode="auto">
          <a:xfrm>
            <a:off x="1092932" y="5951748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6" name="Text Box 36"/>
          <p:cNvSpPr txBox="1">
            <a:spLocks noChangeArrowheads="1"/>
          </p:cNvSpPr>
          <p:nvPr/>
        </p:nvSpPr>
        <p:spPr bwMode="auto">
          <a:xfrm>
            <a:off x="2007332" y="5369136"/>
            <a:ext cx="190500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</a:rPr>
              <a:t>00=</a:t>
            </a:r>
            <a:r>
              <a:rPr lang="zh-CN" altLang="en-US" sz="1800">
                <a:solidFill>
                  <a:srgbClr val="FF3300"/>
                </a:solidFill>
              </a:rPr>
              <a:t>通道</a:t>
            </a:r>
            <a:r>
              <a:rPr lang="en-US" altLang="zh-CN" sz="1800">
                <a:solidFill>
                  <a:srgbClr val="FF3300"/>
                </a:solidFill>
              </a:rPr>
              <a:t>0</a:t>
            </a:r>
            <a:endParaRPr lang="en-US" altLang="zh-CN" sz="1800">
              <a:solidFill>
                <a:srgbClr val="FF33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</a:rPr>
              <a:t>01=</a:t>
            </a:r>
            <a:r>
              <a:rPr lang="zh-CN" altLang="en-US" sz="1800">
                <a:solidFill>
                  <a:srgbClr val="FF3300"/>
                </a:solidFill>
              </a:rPr>
              <a:t>通道</a:t>
            </a:r>
            <a:r>
              <a:rPr lang="en-US" altLang="zh-CN" sz="1800">
                <a:solidFill>
                  <a:srgbClr val="FF3300"/>
                </a:solidFill>
              </a:rPr>
              <a:t>1</a:t>
            </a:r>
            <a:endParaRPr lang="en-US" altLang="zh-CN" sz="1800">
              <a:solidFill>
                <a:srgbClr val="FF33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</a:rPr>
              <a:t>10=</a:t>
            </a:r>
            <a:r>
              <a:rPr lang="zh-CN" altLang="en-US" sz="1800">
                <a:solidFill>
                  <a:srgbClr val="FF3300"/>
                </a:solidFill>
              </a:rPr>
              <a:t>通道</a:t>
            </a:r>
            <a:r>
              <a:rPr lang="en-US" altLang="zh-CN" sz="1800">
                <a:solidFill>
                  <a:srgbClr val="FF3300"/>
                </a:solidFill>
              </a:rPr>
              <a:t>2</a:t>
            </a:r>
            <a:endParaRPr lang="en-US" altLang="zh-CN" sz="1800">
              <a:solidFill>
                <a:srgbClr val="FF3300"/>
              </a:solidFill>
            </a:endParaRPr>
          </a:p>
        </p:txBody>
      </p:sp>
      <p:sp>
        <p:nvSpPr>
          <p:cNvPr id="35877" name="AutoShape 37"/>
          <p:cNvSpPr/>
          <p:nvPr/>
        </p:nvSpPr>
        <p:spPr bwMode="auto">
          <a:xfrm rot="10800000" flipH="1">
            <a:off x="1854932" y="5494548"/>
            <a:ext cx="76200" cy="990600"/>
          </a:xfrm>
          <a:prstGeom prst="leftBrace">
            <a:avLst>
              <a:gd name="adj1" fmla="val 108333"/>
              <a:gd name="adj2" fmla="val 50000"/>
            </a:avLst>
          </a:prstGeom>
          <a:noFill/>
          <a:ln w="12700" cap="sq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ChangeArrowheads="1"/>
          </p:cNvSpPr>
          <p:nvPr/>
        </p:nvSpPr>
        <p:spPr bwMode="auto">
          <a:xfrm>
            <a:off x="503548" y="1088740"/>
            <a:ext cx="8064896" cy="526297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/>
              <a:t>8253/8254</a:t>
            </a:r>
            <a:r>
              <a:rPr lang="zh-CN" altLang="en-US" dirty="0"/>
              <a:t>编程：</a:t>
            </a:r>
            <a:endParaRPr lang="zh-CN" altLang="en-US" dirty="0"/>
          </a:p>
          <a:p>
            <a:pPr algn="just"/>
            <a:r>
              <a:rPr lang="zh-CN" altLang="en-US" dirty="0"/>
              <a:t>    </a:t>
            </a:r>
            <a:r>
              <a:rPr lang="en-US" altLang="zh-CN" dirty="0"/>
              <a:t>8253</a:t>
            </a:r>
            <a:r>
              <a:rPr lang="zh-CN" altLang="en-US" dirty="0"/>
              <a:t>的每个计数通道有</a:t>
            </a:r>
            <a:r>
              <a:rPr lang="en-US" altLang="zh-CN" dirty="0"/>
              <a:t>6</a:t>
            </a:r>
            <a:r>
              <a:rPr lang="zh-CN" altLang="en-US" dirty="0"/>
              <a:t>种工作方式，在工作前必须进行初始化编程以确定按照哪一种工作方式工作。初始化编程步骤为：</a:t>
            </a:r>
            <a:endParaRPr lang="zh-CN" altLang="en-US" dirty="0"/>
          </a:p>
          <a:p>
            <a:pPr algn="just"/>
            <a:r>
              <a:rPr lang="zh-CN" altLang="en-US" dirty="0"/>
              <a:t>    </a:t>
            </a:r>
            <a:r>
              <a:rPr lang="en-US" altLang="zh-CN" dirty="0"/>
              <a:t>1</a:t>
            </a:r>
            <a:r>
              <a:rPr lang="zh-CN" altLang="en-US" dirty="0"/>
              <a:t>、先向控制寄存器写入控制字，对某个计数器设定工作方式。</a:t>
            </a:r>
            <a:endParaRPr lang="zh-CN" altLang="en-US" dirty="0"/>
          </a:p>
          <a:p>
            <a:pPr algn="just"/>
            <a:r>
              <a:rPr lang="zh-CN" altLang="en-US" dirty="0"/>
              <a:t>    </a:t>
            </a:r>
            <a:r>
              <a:rPr lang="en-US" altLang="zh-CN" dirty="0"/>
              <a:t>2</a:t>
            </a:r>
            <a:r>
              <a:rPr lang="zh-CN" altLang="en-US" dirty="0"/>
              <a:t>、向该计数器写入计数初值。</a:t>
            </a:r>
            <a:endParaRPr lang="en-US" altLang="zh-CN" dirty="0"/>
          </a:p>
          <a:p>
            <a:pPr algn="just"/>
            <a:endParaRPr lang="zh-CN" altLang="en-US" dirty="0"/>
          </a:p>
          <a:p>
            <a:pPr algn="just"/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强调：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zh-CN" altLang="en-US" dirty="0"/>
              <a:t>    </a:t>
            </a:r>
            <a:r>
              <a:rPr lang="en-US" altLang="zh-CN" dirty="0"/>
              <a:t>1</a:t>
            </a:r>
            <a:r>
              <a:rPr lang="zh-CN" altLang="en-US" dirty="0"/>
              <a:t>、在计数通道工作过程中，若要更换计数初值，或者要读取计数的当前值，也需要先写一个适当的控制字，然后再进行写或者读操作。</a:t>
            </a:r>
            <a:endParaRPr lang="zh-CN" altLang="en-US" dirty="0"/>
          </a:p>
          <a:p>
            <a:pPr algn="just"/>
            <a:r>
              <a:rPr lang="zh-CN" altLang="en-US" dirty="0"/>
              <a:t>    </a:t>
            </a:r>
            <a:r>
              <a:rPr lang="en-US" altLang="zh-CN" dirty="0"/>
              <a:t>2</a:t>
            </a:r>
            <a:r>
              <a:rPr lang="zh-CN" altLang="en-US" dirty="0"/>
              <a:t>、控制字应写入控制寄存器中，而计数初值写入相应的计数器中，端口地址各不相同，注意切换地址。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63752" y="1016732"/>
            <a:ext cx="8212703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+mn-lt"/>
              </a:rPr>
              <a:t>计数值和状态的读回：</a:t>
            </a: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在</a:t>
            </a:r>
            <a:r>
              <a:rPr lang="en-US" altLang="zh-CN" sz="2000" dirty="0">
                <a:latin typeface="+mn-lt"/>
              </a:rPr>
              <a:t>8253</a:t>
            </a:r>
            <a:r>
              <a:rPr lang="zh-CN" altLang="en-US" sz="2000" dirty="0">
                <a:latin typeface="+mn-lt"/>
              </a:rPr>
              <a:t>计数过程中，有时需要读回某一个计数器的当前计数值。</a:t>
            </a: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由于数据线是</a:t>
            </a:r>
            <a:r>
              <a:rPr lang="en-US" altLang="zh-CN" sz="2000" dirty="0">
                <a:latin typeface="+mn-lt"/>
              </a:rPr>
              <a:t>8</a:t>
            </a:r>
            <a:r>
              <a:rPr lang="zh-CN" altLang="en-US" sz="2000" dirty="0">
                <a:latin typeface="+mn-lt"/>
              </a:rPr>
              <a:t>位的，读取</a:t>
            </a:r>
            <a:r>
              <a:rPr lang="en-US" altLang="zh-CN" sz="2000" dirty="0">
                <a:latin typeface="+mn-lt"/>
              </a:rPr>
              <a:t>16</a:t>
            </a:r>
            <a:r>
              <a:rPr lang="zh-CN" altLang="en-US" sz="2000" dirty="0">
                <a:latin typeface="+mn-lt"/>
              </a:rPr>
              <a:t>位的计数值需要分两次读取，且由于计数是在不停的进行，在先读低位后读高位的过程中，计数值可能已经发生改变，已经不是我们想读入的那个时间点上的值了，如何解决这一问题？</a:t>
            </a: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可用控制寄存器的</a:t>
            </a:r>
            <a:r>
              <a:rPr lang="en-US" altLang="zh-CN" sz="2000" dirty="0">
                <a:latin typeface="+mn-lt"/>
              </a:rPr>
              <a:t>D</a:t>
            </a:r>
            <a:r>
              <a:rPr lang="en-US" altLang="zh-CN" sz="1400" dirty="0">
                <a:latin typeface="+mn-lt"/>
              </a:rPr>
              <a:t>5</a:t>
            </a:r>
            <a:r>
              <a:rPr lang="en-US" altLang="zh-CN" sz="2000" dirty="0">
                <a:latin typeface="+mn-lt"/>
              </a:rPr>
              <a:t>D</a:t>
            </a:r>
            <a:r>
              <a:rPr lang="en-US" altLang="zh-CN" sz="1600" dirty="0">
                <a:latin typeface="+mn-lt"/>
              </a:rPr>
              <a:t>4</a:t>
            </a:r>
            <a:r>
              <a:rPr lang="zh-CN" altLang="en-US" sz="2000" dirty="0">
                <a:latin typeface="+mn-lt"/>
              </a:rPr>
              <a:t>来控制，当</a:t>
            </a:r>
            <a:r>
              <a:rPr lang="en-US" altLang="zh-CN" sz="2000" dirty="0"/>
              <a:t>D</a:t>
            </a:r>
            <a:r>
              <a:rPr lang="en-US" altLang="zh-CN" sz="1400" dirty="0"/>
              <a:t>5</a:t>
            </a:r>
            <a:r>
              <a:rPr lang="en-US" altLang="zh-CN" sz="2000" dirty="0"/>
              <a:t>D</a:t>
            </a:r>
            <a:r>
              <a:rPr lang="en-US" altLang="zh-CN" sz="1600" dirty="0"/>
              <a:t>4=</a:t>
            </a:r>
            <a:r>
              <a:rPr lang="en-US" altLang="zh-CN" sz="2000" dirty="0"/>
              <a:t>0</a:t>
            </a:r>
            <a:r>
              <a:rPr lang="zh-CN" altLang="en-US" sz="2000" dirty="0"/>
              <a:t>，就表示锁存当前计数器的值，用来进行读入（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减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计数器可继续计数</a:t>
            </a:r>
            <a:r>
              <a:rPr lang="zh-CN" altLang="en-US" sz="2000" dirty="0"/>
              <a:t>）。当计数值读取结束以后，或者对计数器重新编程，将自动解除锁存状态。</a:t>
            </a:r>
            <a:endParaRPr lang="zh-CN" altLang="en-US" sz="2000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5168" y="4877477"/>
            <a:ext cx="4572508" cy="179734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ChangeArrowheads="1"/>
          </p:cNvSpPr>
          <p:nvPr/>
        </p:nvSpPr>
        <p:spPr bwMode="auto">
          <a:xfrm>
            <a:off x="611560" y="1088740"/>
            <a:ext cx="7848600" cy="470789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dirty="0"/>
              <a:t>计数初值：</a:t>
            </a:r>
            <a:endParaRPr lang="zh-CN" altLang="en-US" dirty="0"/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</a:rPr>
              <a:t>对计数器设置初值之前，必须先写入控制字。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设置初值时，要和控制字中规定的读写格式对应，若控制字规定只写低</a:t>
            </a:r>
            <a:r>
              <a:rPr lang="en-US" altLang="zh-CN" dirty="0"/>
              <a:t>8</a:t>
            </a:r>
            <a:r>
              <a:rPr lang="zh-CN" altLang="en-US" dirty="0"/>
              <a:t>位，则自动写入低</a:t>
            </a:r>
            <a:r>
              <a:rPr lang="en-US" altLang="zh-CN" dirty="0"/>
              <a:t>8</a:t>
            </a:r>
            <a:r>
              <a:rPr lang="zh-CN" altLang="en-US" dirty="0"/>
              <a:t>位，高</a:t>
            </a:r>
            <a:r>
              <a:rPr lang="en-US" altLang="zh-CN" dirty="0"/>
              <a:t>8</a:t>
            </a:r>
            <a:r>
              <a:rPr lang="zh-CN" altLang="en-US" dirty="0"/>
              <a:t>位填</a:t>
            </a:r>
            <a:r>
              <a:rPr lang="en-US" altLang="zh-CN" dirty="0"/>
              <a:t>0</a:t>
            </a:r>
            <a:r>
              <a:rPr lang="zh-CN" altLang="en-US" dirty="0"/>
              <a:t>；若控制字规定只写高</a:t>
            </a:r>
            <a:r>
              <a:rPr lang="en-US" altLang="zh-CN" dirty="0"/>
              <a:t>8</a:t>
            </a:r>
            <a:r>
              <a:rPr lang="zh-CN" altLang="en-US" dirty="0"/>
              <a:t>位，则自动写入高</a:t>
            </a:r>
            <a:r>
              <a:rPr lang="en-US" altLang="zh-CN" dirty="0"/>
              <a:t>8</a:t>
            </a:r>
            <a:r>
              <a:rPr lang="zh-CN" altLang="en-US" dirty="0"/>
              <a:t>位，低</a:t>
            </a:r>
            <a:r>
              <a:rPr lang="en-US" altLang="zh-CN" dirty="0"/>
              <a:t>8</a:t>
            </a:r>
            <a:r>
              <a:rPr lang="zh-CN" altLang="en-US" dirty="0"/>
              <a:t>位填</a:t>
            </a:r>
            <a:r>
              <a:rPr lang="en-US" altLang="zh-CN" dirty="0"/>
              <a:t>0</a:t>
            </a:r>
            <a:r>
              <a:rPr lang="zh-CN" altLang="en-US" dirty="0"/>
              <a:t>；若规定写</a:t>
            </a:r>
            <a:r>
              <a:rPr lang="en-US" altLang="zh-CN" dirty="0"/>
              <a:t>16</a:t>
            </a:r>
            <a:r>
              <a:rPr lang="zh-CN" altLang="en-US" dirty="0"/>
              <a:t>位，则先写入低</a:t>
            </a:r>
            <a:r>
              <a:rPr lang="en-US" altLang="zh-CN" dirty="0"/>
              <a:t>8</a:t>
            </a:r>
            <a:r>
              <a:rPr lang="zh-CN" altLang="en-US" dirty="0"/>
              <a:t>位，再写入高</a:t>
            </a:r>
            <a:r>
              <a:rPr lang="en-US" altLang="zh-CN" dirty="0"/>
              <a:t>8</a:t>
            </a:r>
            <a:r>
              <a:rPr lang="zh-CN" altLang="en-US" dirty="0"/>
              <a:t>位 。</a:t>
            </a:r>
            <a:endParaRPr lang="zh-CN" altLang="en-US" dirty="0"/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</a:rPr>
              <a:t>每一个计数器都是先减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，再判断是否为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，所以写入初值</a:t>
            </a:r>
            <a:r>
              <a:rPr lang="en-US" altLang="zh-CN" dirty="0"/>
              <a:t>0</a:t>
            </a:r>
            <a:r>
              <a:rPr lang="zh-CN" altLang="en-US" dirty="0"/>
              <a:t>，实际上表示最大计数，因此，初值</a:t>
            </a:r>
            <a:r>
              <a:rPr lang="en-US" altLang="zh-CN" dirty="0"/>
              <a:t>0</a:t>
            </a:r>
            <a:r>
              <a:rPr lang="zh-CN" altLang="en-US" dirty="0"/>
              <a:t>在二进制下表示的最大计数是</a:t>
            </a:r>
            <a:r>
              <a:rPr lang="en-US" altLang="zh-CN" dirty="0"/>
              <a:t>65536</a:t>
            </a:r>
            <a:r>
              <a:rPr lang="zh-CN" altLang="en-US" dirty="0"/>
              <a:t>，在十进制下表示的最大计数是</a:t>
            </a:r>
            <a:r>
              <a:rPr lang="en-US" altLang="zh-CN" dirty="0"/>
              <a:t>10000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63753" y="1016732"/>
            <a:ext cx="8028892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latin typeface="+mn-lt"/>
              </a:rPr>
              <a:t>例：</a:t>
            </a:r>
            <a:r>
              <a:rPr lang="en-US" altLang="zh-CN" sz="2000" dirty="0">
                <a:latin typeface="+mn-lt"/>
              </a:rPr>
              <a:t>8253</a:t>
            </a:r>
            <a:r>
              <a:rPr lang="zh-CN" altLang="en-US" sz="2000" dirty="0">
                <a:latin typeface="+mn-lt"/>
              </a:rPr>
              <a:t>的计数器</a:t>
            </a:r>
            <a:r>
              <a:rPr lang="en-US" altLang="zh-CN" sz="2000" dirty="0">
                <a:latin typeface="+mn-lt"/>
              </a:rPr>
              <a:t>0</a:t>
            </a:r>
            <a:r>
              <a:rPr lang="zh-CN" altLang="en-US" sz="2000" dirty="0">
                <a:latin typeface="+mn-lt"/>
              </a:rPr>
              <a:t>工作在方式</a:t>
            </a:r>
            <a:r>
              <a:rPr lang="en-US" altLang="zh-CN" sz="2000" dirty="0">
                <a:latin typeface="+mn-lt"/>
              </a:rPr>
              <a:t>1</a:t>
            </a:r>
            <a:r>
              <a:rPr lang="zh-CN" altLang="en-US" sz="2000" dirty="0">
                <a:latin typeface="+mn-lt"/>
              </a:rPr>
              <a:t>下，按二进制计数，计数初值为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3040H</a:t>
            </a:r>
            <a:r>
              <a:rPr lang="zh-CN" altLang="en-US" sz="2000" dirty="0">
                <a:latin typeface="+mn-lt"/>
              </a:rPr>
              <a:t>。若</a:t>
            </a:r>
            <a:r>
              <a:rPr lang="en-US" altLang="zh-CN" sz="2000" dirty="0">
                <a:latin typeface="+mn-lt"/>
              </a:rPr>
              <a:t>8253</a:t>
            </a:r>
            <a:r>
              <a:rPr lang="zh-CN" altLang="en-US" sz="2000" dirty="0">
                <a:latin typeface="+mn-lt"/>
              </a:rPr>
              <a:t>计数器</a:t>
            </a:r>
            <a:r>
              <a:rPr lang="en-US" altLang="zh-CN" sz="2000" dirty="0">
                <a:latin typeface="+mn-lt"/>
              </a:rPr>
              <a:t>0~2</a:t>
            </a:r>
            <a:r>
              <a:rPr lang="zh-CN" altLang="en-US" sz="2000" dirty="0">
                <a:latin typeface="+mn-lt"/>
              </a:rPr>
              <a:t>的端口地址为</a:t>
            </a:r>
            <a:r>
              <a:rPr lang="en-US" altLang="zh-CN" sz="2000" dirty="0">
                <a:latin typeface="+mn-lt"/>
              </a:rPr>
              <a:t>40H</a:t>
            </a:r>
            <a:r>
              <a:rPr lang="zh-CN" altLang="en-US" sz="2000" dirty="0">
                <a:latin typeface="+mn-lt"/>
              </a:rPr>
              <a:t>、</a:t>
            </a:r>
            <a:r>
              <a:rPr lang="en-US" altLang="zh-CN" sz="2000" dirty="0">
                <a:latin typeface="+mn-lt"/>
              </a:rPr>
              <a:t>41H</a:t>
            </a:r>
            <a:r>
              <a:rPr lang="zh-CN" altLang="en-US" sz="2000" dirty="0">
                <a:latin typeface="+mn-lt"/>
              </a:rPr>
              <a:t>、</a:t>
            </a:r>
            <a:r>
              <a:rPr lang="en-US" altLang="zh-CN" sz="2000" dirty="0">
                <a:latin typeface="+mn-lt"/>
              </a:rPr>
              <a:t>42H</a:t>
            </a:r>
            <a:r>
              <a:rPr lang="zh-CN" altLang="en-US" sz="2000" dirty="0">
                <a:latin typeface="+mn-lt"/>
              </a:rPr>
              <a:t>，控制端口为</a:t>
            </a:r>
            <a:r>
              <a:rPr lang="en-US" altLang="zh-CN" sz="2000" dirty="0">
                <a:latin typeface="+mn-lt"/>
              </a:rPr>
              <a:t>43H</a:t>
            </a:r>
            <a:r>
              <a:rPr lang="zh-CN" altLang="en-US" sz="2000" dirty="0">
                <a:latin typeface="+mn-lt"/>
              </a:rPr>
              <a:t>，请写出初始化的程序段。</a:t>
            </a:r>
            <a:endParaRPr lang="zh-CN" altLang="en-US" sz="2000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15616" y="2570427"/>
            <a:ext cx="6408712" cy="3661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AL, </a:t>
            </a:r>
            <a:r>
              <a:rPr lang="en-US" altLang="zh-CN" sz="1600" dirty="0">
                <a:solidFill>
                  <a:srgbClr val="FF0000"/>
                </a:solidFill>
              </a:rPr>
              <a:t>32H</a:t>
            </a:r>
            <a:r>
              <a:rPr lang="en-US" altLang="zh-CN" sz="1600" dirty="0"/>
              <a:t>		;</a:t>
            </a:r>
            <a:r>
              <a:rPr lang="zh-CN" altLang="en-US" sz="1600" dirty="0"/>
              <a:t>控制字：</a:t>
            </a:r>
            <a:r>
              <a:rPr lang="en-US" altLang="zh-CN" sz="1600" dirty="0"/>
              <a:t>00110010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 	DX, </a:t>
            </a:r>
            <a:r>
              <a:rPr lang="en-US" altLang="zh-CN" sz="1600" dirty="0">
                <a:solidFill>
                  <a:srgbClr val="FF0000"/>
                </a:solidFill>
              </a:rPr>
              <a:t>43H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OUT	DX, AL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	AL, </a:t>
            </a:r>
            <a:r>
              <a:rPr lang="en-US" altLang="zh-CN" sz="1600" dirty="0">
                <a:solidFill>
                  <a:srgbClr val="FF0000"/>
                </a:solidFill>
              </a:rPr>
              <a:t>40H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DX, </a:t>
            </a:r>
            <a:r>
              <a:rPr lang="en-US" altLang="zh-CN" sz="1600" dirty="0">
                <a:solidFill>
                  <a:srgbClr val="FF0000"/>
                </a:solidFill>
              </a:rPr>
              <a:t>40H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600" dirty="0"/>
              <a:t>OUT	DX, AL		 ;</a:t>
            </a:r>
            <a:r>
              <a:rPr lang="zh-CN" altLang="en-US" sz="1600" dirty="0"/>
              <a:t>计数值低</a:t>
            </a:r>
            <a:r>
              <a:rPr lang="en-US" altLang="zh-CN" sz="1600" dirty="0"/>
              <a:t>8</a:t>
            </a:r>
            <a:r>
              <a:rPr lang="zh-CN" altLang="en-US" sz="1600" dirty="0"/>
              <a:t>位写入计数器</a:t>
            </a:r>
            <a:r>
              <a:rPr lang="en-US" altLang="zh-CN" sz="1600" dirty="0"/>
              <a:t>0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AL, </a:t>
            </a:r>
            <a:r>
              <a:rPr lang="en-US" altLang="zh-CN" sz="1600" dirty="0">
                <a:solidFill>
                  <a:srgbClr val="FF0000"/>
                </a:solidFill>
              </a:rPr>
              <a:t>30H</a:t>
            </a:r>
            <a:r>
              <a:rPr lang="en-US" altLang="zh-CN" sz="1600" dirty="0"/>
              <a:t>		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OUT	DX, AL		;</a:t>
            </a:r>
            <a:r>
              <a:rPr lang="zh-CN" altLang="en-US" sz="1600" dirty="0"/>
              <a:t>计数值高</a:t>
            </a:r>
            <a:r>
              <a:rPr lang="en-US" altLang="zh-CN" sz="1600" dirty="0"/>
              <a:t>8</a:t>
            </a:r>
            <a:r>
              <a:rPr lang="zh-CN" altLang="en-US" sz="1600" dirty="0"/>
              <a:t>位写入计数器</a:t>
            </a:r>
            <a:r>
              <a:rPr lang="en-US" altLang="zh-CN" sz="1600" dirty="0"/>
              <a:t>0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7924" y="3416114"/>
            <a:ext cx="5170230" cy="3429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60132" y="2204116"/>
            <a:ext cx="30914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dirty="0">
                <a:solidFill>
                  <a:srgbClr val="FF0000"/>
                </a:solidFill>
              </a:rPr>
              <a:t>初始化编程步骤为：</a:t>
            </a:r>
            <a:endParaRPr lang="zh-CN" altLang="en-US" sz="1600" dirty="0">
              <a:solidFill>
                <a:srgbClr val="FF0000"/>
              </a:solidFill>
            </a:endParaRPr>
          </a:p>
          <a:p>
            <a:pPr algn="just"/>
            <a:r>
              <a:rPr lang="zh-CN" altLang="en-US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</a:rPr>
              <a:t>1</a:t>
            </a:r>
            <a:r>
              <a:rPr lang="zh-CN" altLang="en-US" sz="1600" dirty="0">
                <a:solidFill>
                  <a:srgbClr val="FF0000"/>
                </a:solidFill>
              </a:rPr>
              <a:t>、先向控制寄存器写入控制字，对某个计数器设定工作方式。</a:t>
            </a:r>
            <a:endParaRPr lang="zh-CN" altLang="en-US" sz="1600" dirty="0">
              <a:solidFill>
                <a:srgbClr val="FF0000"/>
              </a:solidFill>
            </a:endParaRPr>
          </a:p>
          <a:p>
            <a:pPr algn="just"/>
            <a:r>
              <a:rPr lang="zh-CN" altLang="en-US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</a:rPr>
              <a:t>2</a:t>
            </a:r>
            <a:r>
              <a:rPr lang="zh-CN" altLang="en-US" sz="1600" dirty="0">
                <a:solidFill>
                  <a:srgbClr val="FF0000"/>
                </a:solidFill>
              </a:rPr>
              <a:t>、向该计数器写入计数初值。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63753" y="1016732"/>
            <a:ext cx="8028892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latin typeface="+mn-lt"/>
              </a:rPr>
              <a:t>例：在</a:t>
            </a:r>
            <a:r>
              <a:rPr lang="en-US" altLang="zh-CN" sz="2000" dirty="0">
                <a:latin typeface="+mn-lt"/>
              </a:rPr>
              <a:t>8253</a:t>
            </a:r>
            <a:r>
              <a:rPr lang="zh-CN" altLang="en-US" sz="2000" dirty="0">
                <a:latin typeface="+mn-lt"/>
              </a:rPr>
              <a:t>中，读取计数器</a:t>
            </a:r>
            <a:r>
              <a:rPr lang="en-US" altLang="zh-CN" sz="2000" dirty="0">
                <a:latin typeface="+mn-lt"/>
              </a:rPr>
              <a:t>1</a:t>
            </a:r>
            <a:r>
              <a:rPr lang="zh-CN" altLang="en-US" sz="2000" dirty="0">
                <a:latin typeface="+mn-lt"/>
              </a:rPr>
              <a:t>的</a:t>
            </a:r>
            <a:r>
              <a:rPr lang="en-US" altLang="zh-CN" sz="2000" dirty="0">
                <a:latin typeface="+mn-lt"/>
              </a:rPr>
              <a:t>16</a:t>
            </a:r>
            <a:r>
              <a:rPr lang="zh-CN" altLang="en-US" sz="2000" dirty="0">
                <a:latin typeface="+mn-lt"/>
              </a:rPr>
              <a:t>位计数值，存入</a:t>
            </a:r>
            <a:r>
              <a:rPr lang="en-US" altLang="zh-CN" sz="2000" dirty="0">
                <a:latin typeface="+mn-lt"/>
              </a:rPr>
              <a:t>CX</a:t>
            </a:r>
            <a:r>
              <a:rPr lang="zh-CN" altLang="en-US" sz="2000" dirty="0">
                <a:latin typeface="+mn-lt"/>
              </a:rPr>
              <a:t>中，</a:t>
            </a:r>
            <a:r>
              <a:rPr lang="zh-CN" altLang="en-US" sz="2000" dirty="0"/>
              <a:t>若</a:t>
            </a:r>
            <a:r>
              <a:rPr lang="en-US" altLang="zh-CN" sz="2000" dirty="0"/>
              <a:t>8253</a:t>
            </a:r>
            <a:r>
              <a:rPr lang="zh-CN" altLang="en-US" sz="2000" dirty="0"/>
              <a:t>计数器</a:t>
            </a:r>
            <a:r>
              <a:rPr lang="en-US" altLang="zh-CN" sz="2000" dirty="0"/>
              <a:t>0~2</a:t>
            </a:r>
            <a:r>
              <a:rPr lang="zh-CN" altLang="en-US" sz="2000" dirty="0"/>
              <a:t>的</a:t>
            </a:r>
            <a:r>
              <a:rPr lang="zh-CN" altLang="en-US" sz="2000" dirty="0">
                <a:latin typeface="+mn-lt"/>
                <a:sym typeface="+mn-ea"/>
              </a:rPr>
              <a:t>端口地址为</a:t>
            </a:r>
            <a:r>
              <a:rPr lang="en-US" altLang="zh-CN" sz="2000" dirty="0">
                <a:latin typeface="+mn-lt"/>
                <a:sym typeface="+mn-ea"/>
              </a:rPr>
              <a:t>40H</a:t>
            </a:r>
            <a:r>
              <a:rPr lang="zh-CN" altLang="en-US" sz="2000" dirty="0">
                <a:latin typeface="+mn-lt"/>
                <a:sym typeface="+mn-ea"/>
              </a:rPr>
              <a:t>、</a:t>
            </a:r>
            <a:r>
              <a:rPr lang="en-US" altLang="zh-CN" sz="2000" dirty="0">
                <a:latin typeface="+mn-lt"/>
                <a:sym typeface="+mn-ea"/>
              </a:rPr>
              <a:t>41H</a:t>
            </a:r>
            <a:r>
              <a:rPr lang="zh-CN" altLang="en-US" sz="2000" dirty="0">
                <a:latin typeface="+mn-lt"/>
                <a:sym typeface="+mn-ea"/>
              </a:rPr>
              <a:t>、</a:t>
            </a:r>
            <a:r>
              <a:rPr lang="en-US" altLang="zh-CN" sz="2000" dirty="0">
                <a:latin typeface="+mn-lt"/>
                <a:sym typeface="+mn-ea"/>
              </a:rPr>
              <a:t>42H</a:t>
            </a:r>
            <a:r>
              <a:rPr lang="zh-CN" altLang="en-US" sz="2000" dirty="0">
                <a:latin typeface="+mn-lt"/>
                <a:sym typeface="+mn-ea"/>
              </a:rPr>
              <a:t>，控制端口为</a:t>
            </a:r>
            <a:r>
              <a:rPr lang="en-US" altLang="zh-CN" sz="2000" dirty="0">
                <a:latin typeface="+mn-lt"/>
                <a:sym typeface="+mn-ea"/>
              </a:rPr>
              <a:t>43H</a:t>
            </a:r>
            <a:r>
              <a:rPr lang="zh-CN" altLang="en-US" sz="2000" dirty="0"/>
              <a:t>，请写出相应的程序段</a:t>
            </a:r>
            <a:r>
              <a:rPr lang="zh-CN" altLang="en-US" sz="2000" dirty="0">
                <a:latin typeface="+mn-lt"/>
              </a:rPr>
              <a:t>。</a:t>
            </a:r>
            <a:endParaRPr lang="zh-CN" altLang="en-US" sz="2000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51620" y="2456892"/>
            <a:ext cx="6408712" cy="3661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AL, 40H		;</a:t>
            </a:r>
            <a:r>
              <a:rPr lang="zh-CN" altLang="en-US" sz="1600" dirty="0"/>
              <a:t>控制字：</a:t>
            </a:r>
            <a:r>
              <a:rPr lang="en-US" altLang="zh-CN" sz="1600" dirty="0"/>
              <a:t>01000000</a:t>
            </a:r>
            <a:r>
              <a:rPr lang="zh-CN" altLang="en-US" sz="1600" dirty="0"/>
              <a:t>（没用到的位设成</a:t>
            </a:r>
            <a:r>
              <a:rPr lang="en-US" altLang="zh-CN" sz="1600" dirty="0"/>
              <a:t>0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 	DX, 43H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OUT	DX, AL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DX, 41H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IN	AL, DX		 ;</a:t>
            </a:r>
            <a:r>
              <a:rPr lang="zh-CN" altLang="en-US" sz="1600" dirty="0"/>
              <a:t>读计数值低</a:t>
            </a:r>
            <a:r>
              <a:rPr lang="en-US" altLang="zh-CN" sz="1600" dirty="0"/>
              <a:t>8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CL, AL		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IN	AL, DX 		;</a:t>
            </a:r>
            <a:r>
              <a:rPr lang="zh-CN" altLang="en-US" sz="1600" dirty="0"/>
              <a:t>读计数值高</a:t>
            </a:r>
            <a:r>
              <a:rPr lang="en-US" altLang="zh-CN" sz="1600" dirty="0"/>
              <a:t>8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MOV 	CH, AL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7924" y="3392996"/>
            <a:ext cx="5170230" cy="3429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251520" y="1016732"/>
            <a:ext cx="853294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latin typeface="+mn-lt"/>
              </a:rPr>
              <a:t>    8253</a:t>
            </a:r>
            <a:r>
              <a:rPr lang="zh-CN" altLang="en-US" dirty="0">
                <a:latin typeface="+mn-lt"/>
              </a:rPr>
              <a:t>有</a:t>
            </a:r>
            <a:r>
              <a:rPr lang="en-US" altLang="zh-CN" dirty="0">
                <a:latin typeface="+mn-lt"/>
              </a:rPr>
              <a:t>6</a:t>
            </a:r>
            <a:r>
              <a:rPr lang="zh-CN" altLang="en-US" dirty="0">
                <a:latin typeface="+mn-lt"/>
              </a:rPr>
              <a:t>种工作方式：方式</a:t>
            </a:r>
            <a:r>
              <a:rPr lang="en-US" altLang="zh-CN" dirty="0">
                <a:latin typeface="+mn-lt"/>
              </a:rPr>
              <a:t>0~</a:t>
            </a:r>
            <a:r>
              <a:rPr lang="zh-CN" altLang="en-US" dirty="0">
                <a:latin typeface="+mn-lt"/>
              </a:rPr>
              <a:t>方式</a:t>
            </a:r>
            <a:r>
              <a:rPr lang="en-US" altLang="zh-CN" dirty="0">
                <a:latin typeface="+mn-lt"/>
              </a:rPr>
              <a:t>5</a:t>
            </a:r>
            <a:r>
              <a:rPr lang="zh-CN" altLang="en-US" dirty="0">
                <a:latin typeface="+mn-lt"/>
              </a:rPr>
              <a:t>。对于每一种工作方式，由时钟输入信号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CLK</a:t>
            </a:r>
            <a:r>
              <a:rPr lang="zh-CN" altLang="en-US" dirty="0">
                <a:latin typeface="+mn-lt"/>
              </a:rPr>
              <a:t>确定计数器递减的速率。门控信号</a:t>
            </a:r>
            <a:r>
              <a:rPr lang="en-US" altLang="zh-CN" dirty="0">
                <a:latin typeface="+mn-lt"/>
              </a:rPr>
              <a:t>GATE</a:t>
            </a:r>
            <a:r>
              <a:rPr lang="zh-CN" altLang="en-US" dirty="0">
                <a:latin typeface="+mn-lt"/>
              </a:rPr>
              <a:t>用于允许或禁止计数器计数。计数结束时在输出线</a:t>
            </a:r>
            <a:r>
              <a:rPr lang="en-US" altLang="zh-CN" dirty="0">
                <a:latin typeface="+mn-lt"/>
              </a:rPr>
              <a:t>OUT</a:t>
            </a:r>
            <a:r>
              <a:rPr lang="zh-CN" altLang="en-US" dirty="0">
                <a:latin typeface="+mn-lt"/>
              </a:rPr>
              <a:t>上产生一个信号。</a:t>
            </a:r>
            <a:endParaRPr lang="zh-CN" altLang="en-US" dirty="0">
              <a:latin typeface="+mn-lt"/>
            </a:endParaRPr>
          </a:p>
          <a:p>
            <a:pPr algn="just">
              <a:spcBef>
                <a:spcPct val="50000"/>
              </a:spcBef>
            </a:pPr>
            <a:r>
              <a:rPr lang="zh-CN" altLang="en-US" dirty="0">
                <a:latin typeface="+mn-lt"/>
              </a:rPr>
              <a:t>    无论采用哪一种工作方式，都会遵循下面几条原则：</a:t>
            </a:r>
            <a:endParaRPr lang="zh-CN" altLang="en-US" dirty="0">
              <a:latin typeface="+mn-lt"/>
            </a:endParaRPr>
          </a:p>
          <a:p>
            <a:pPr algn="just">
              <a:spcBef>
                <a:spcPct val="50000"/>
              </a:spcBef>
            </a:pPr>
            <a:r>
              <a:rPr lang="zh-CN" altLang="en-US" dirty="0">
                <a:latin typeface="+mn-lt"/>
              </a:rPr>
              <a:t>    （</a:t>
            </a:r>
            <a:r>
              <a:rPr lang="en-US" altLang="zh-CN" dirty="0">
                <a:latin typeface="+mn-lt"/>
              </a:rPr>
              <a:t>1</a:t>
            </a:r>
            <a:r>
              <a:rPr lang="zh-CN" altLang="en-US" dirty="0">
                <a:latin typeface="+mn-lt"/>
              </a:rPr>
              <a:t>）控制字写入计数器时，所有的控制逻辑电路立即复位，输出端</a:t>
            </a:r>
            <a:r>
              <a:rPr lang="en-US" altLang="zh-CN" dirty="0">
                <a:latin typeface="+mn-lt"/>
              </a:rPr>
              <a:t>OUT</a:t>
            </a:r>
            <a:r>
              <a:rPr lang="zh-CN" altLang="en-US" dirty="0">
                <a:latin typeface="+mn-lt"/>
              </a:rPr>
              <a:t>进入初始态（高电平或低电平）。</a:t>
            </a:r>
            <a:endParaRPr lang="zh-CN" altLang="en-US" dirty="0">
              <a:latin typeface="+mn-lt"/>
            </a:endParaRPr>
          </a:p>
          <a:p>
            <a:pPr algn="just">
              <a:spcBef>
                <a:spcPct val="50000"/>
              </a:spcBef>
            </a:pPr>
            <a:r>
              <a:rPr lang="zh-CN" altLang="en-US" dirty="0">
                <a:latin typeface="+mn-lt"/>
              </a:rPr>
              <a:t>    （</a:t>
            </a:r>
            <a:r>
              <a:rPr lang="en-US" altLang="zh-CN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）计数初值写入后，要经过一个时钟上升沿和一个下降沿，计数执行部件才开始计数。</a:t>
            </a:r>
            <a:endParaRPr lang="zh-CN" altLang="en-US" dirty="0">
              <a:latin typeface="+mn-lt"/>
            </a:endParaRPr>
          </a:p>
          <a:p>
            <a:pPr algn="just">
              <a:spcBef>
                <a:spcPct val="50000"/>
              </a:spcBef>
            </a:pPr>
            <a:r>
              <a:rPr lang="zh-CN" altLang="en-US" dirty="0">
                <a:latin typeface="+mn-lt"/>
              </a:rPr>
              <a:t>    （</a:t>
            </a:r>
            <a:r>
              <a:rPr lang="en-US" altLang="zh-CN" dirty="0">
                <a:latin typeface="+mn-lt"/>
              </a:rPr>
              <a:t>3</a:t>
            </a:r>
            <a:r>
              <a:rPr lang="zh-CN" altLang="en-US" dirty="0">
                <a:latin typeface="+mn-lt"/>
              </a:rPr>
              <a:t>）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在时钟脉冲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CLK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的下降沿时，计数器作减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计数</a:t>
            </a:r>
            <a:r>
              <a:rPr lang="zh-CN" altLang="en-US" dirty="0">
                <a:latin typeface="+mn-lt"/>
              </a:rPr>
              <a:t>，输出端</a:t>
            </a:r>
            <a:r>
              <a:rPr lang="en-US" altLang="zh-CN" dirty="0">
                <a:latin typeface="+mn-lt"/>
              </a:rPr>
              <a:t>OUT</a:t>
            </a:r>
            <a:r>
              <a:rPr lang="zh-CN" altLang="en-US" dirty="0">
                <a:latin typeface="+mn-lt"/>
              </a:rPr>
              <a:t>的波形也都是在时钟周期的下降沿时产生电平的变化。</a:t>
            </a:r>
            <a:endParaRPr lang="zh-CN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ChangeArrowheads="1"/>
          </p:cNvSpPr>
          <p:nvPr/>
        </p:nvSpPr>
        <p:spPr bwMode="auto">
          <a:xfrm>
            <a:off x="468882" y="980728"/>
            <a:ext cx="7991475" cy="24776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</a:t>
            </a:r>
            <a:r>
              <a:rPr lang="zh-CN" altLang="en-US" sz="20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</a:t>
            </a:r>
            <a:r>
              <a:rPr lang="en-US" altLang="zh-CN" sz="20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lang="zh-CN" altLang="en-US" sz="20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种工作方式</a:t>
            </a:r>
            <a:endParaRPr lang="zh-CN" altLang="en-US" sz="2000" b="1" u="sng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1" u="sng" dirty="0"/>
              <a:t>方式</a:t>
            </a:r>
            <a:r>
              <a:rPr lang="en-US" altLang="zh-CN" sz="2000" b="1" u="sng" dirty="0"/>
              <a:t>0</a:t>
            </a:r>
            <a:r>
              <a:rPr lang="zh-CN" altLang="en-US" sz="2000" b="1" u="sng" dirty="0"/>
              <a:t>：计数结束产生中断</a:t>
            </a:r>
            <a:endParaRPr lang="zh-CN" altLang="en-US" sz="2000" b="1" u="sng" dirty="0"/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不能自动重复的计数方式</a:t>
            </a:r>
            <a:r>
              <a:rPr lang="zh-CN" altLang="en-US" sz="2000" dirty="0"/>
              <a:t>。对计数器写入方式</a:t>
            </a:r>
            <a:r>
              <a:rPr lang="en-US" altLang="zh-CN" sz="2000" dirty="0"/>
              <a:t>0</a:t>
            </a:r>
            <a:r>
              <a:rPr lang="zh-CN" altLang="en-US" sz="2000" dirty="0"/>
              <a:t>的控制字</a:t>
            </a:r>
            <a:r>
              <a:rPr lang="en-US" altLang="zh-CN" sz="2000" dirty="0"/>
              <a:t>CW</a:t>
            </a:r>
            <a:r>
              <a:rPr lang="zh-CN" altLang="en-US" sz="2000" dirty="0"/>
              <a:t>后，其输出端</a:t>
            </a:r>
            <a:r>
              <a:rPr lang="en-US" altLang="zh-CN" sz="2000" dirty="0"/>
              <a:t>OUT</a:t>
            </a:r>
            <a:r>
              <a:rPr lang="zh-CN" altLang="en-US" sz="2000" dirty="0"/>
              <a:t>变低，再写入计数初值，在写信号</a:t>
            </a:r>
            <a:r>
              <a:rPr lang="en-US" altLang="zh-CN" sz="2000" dirty="0"/>
              <a:t>WR</a:t>
            </a:r>
            <a:r>
              <a:rPr lang="zh-CN" altLang="en-US" sz="2000" dirty="0"/>
              <a:t>以后经过</a:t>
            </a:r>
            <a:r>
              <a:rPr lang="en-US" altLang="zh-CN" sz="2000" dirty="0"/>
              <a:t>CLK</a:t>
            </a:r>
            <a:r>
              <a:rPr lang="zh-CN" altLang="en-US" sz="2000" dirty="0"/>
              <a:t>的一个上升沿和一个下降沿，初值进入计数器计数，计数器减到</a:t>
            </a:r>
            <a:r>
              <a:rPr lang="en-US" altLang="zh-CN" sz="2000" dirty="0"/>
              <a:t>0</a:t>
            </a:r>
            <a:r>
              <a:rPr lang="zh-CN" altLang="en-US" sz="2000" dirty="0"/>
              <a:t>后，</a:t>
            </a:r>
            <a:r>
              <a:rPr lang="en-US" altLang="zh-CN" sz="2000" dirty="0"/>
              <a:t>OUT</a:t>
            </a:r>
            <a:r>
              <a:rPr lang="zh-CN" altLang="en-US" sz="2000" dirty="0"/>
              <a:t>变为高电平，</a:t>
            </a:r>
            <a:r>
              <a:rPr lang="zh-CN" altLang="en-US" sz="2000" dirty="0">
                <a:solidFill>
                  <a:srgbClr val="FF0000"/>
                </a:solidFill>
              </a:rPr>
              <a:t>此信号可以接至</a:t>
            </a:r>
            <a:r>
              <a:rPr lang="en-US" altLang="zh-CN" sz="2000" dirty="0">
                <a:solidFill>
                  <a:srgbClr val="FF0000"/>
                </a:solidFill>
              </a:rPr>
              <a:t>8259A</a:t>
            </a:r>
            <a:r>
              <a:rPr lang="zh-CN" altLang="en-US" sz="2000" dirty="0">
                <a:solidFill>
                  <a:srgbClr val="FF0000"/>
                </a:solidFill>
              </a:rPr>
              <a:t>的</a:t>
            </a:r>
            <a:r>
              <a:rPr lang="en-US" altLang="zh-CN" sz="2000" dirty="0">
                <a:solidFill>
                  <a:srgbClr val="FF0000"/>
                </a:solidFill>
              </a:rPr>
              <a:t>IR</a:t>
            </a:r>
            <a:r>
              <a:rPr lang="zh-CN" altLang="en-US" sz="2000" dirty="0">
                <a:solidFill>
                  <a:srgbClr val="FF0000"/>
                </a:solidFill>
              </a:rPr>
              <a:t>端，作为中断请求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415747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175" y="3609020"/>
            <a:ext cx="6408738" cy="1987550"/>
          </a:xfrm>
          <a:prstGeom prst="rect">
            <a:avLst/>
          </a:prstGeom>
          <a:noFill/>
        </p:spPr>
      </p:pic>
      <p:sp>
        <p:nvSpPr>
          <p:cNvPr id="415748" name="Rectangle 4"/>
          <p:cNvSpPr>
            <a:spLocks noChangeArrowheads="1"/>
          </p:cNvSpPr>
          <p:nvPr/>
        </p:nvSpPr>
        <p:spPr bwMode="auto">
          <a:xfrm>
            <a:off x="538732" y="5489106"/>
            <a:ext cx="7921625" cy="1015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sz="2000" dirty="0"/>
              <a:t>注意：</a:t>
            </a:r>
            <a:endParaRPr lang="zh-CN" altLang="en-US" sz="2000" dirty="0"/>
          </a:p>
          <a:p>
            <a:pPr algn="just"/>
            <a:r>
              <a:rPr lang="en-US" altLang="zh-CN" sz="2000" dirty="0"/>
              <a:t>1</a:t>
            </a:r>
            <a:r>
              <a:rPr lang="zh-CN" altLang="en-US" sz="2000" dirty="0"/>
              <a:t>、在写初值时的</a:t>
            </a:r>
            <a:r>
              <a:rPr lang="en-US" altLang="zh-CN" sz="2000" dirty="0"/>
              <a:t>WR</a:t>
            </a:r>
            <a:r>
              <a:rPr lang="zh-CN" altLang="en-US" sz="2000" dirty="0"/>
              <a:t>信号上升沿的</a:t>
            </a:r>
            <a:r>
              <a:rPr lang="zh-CN" altLang="en-US" sz="2000" dirty="0">
                <a:solidFill>
                  <a:srgbClr val="FF0000"/>
                </a:solidFill>
              </a:rPr>
              <a:t>下一个</a:t>
            </a:r>
            <a:r>
              <a:rPr lang="en-US" altLang="zh-CN" sz="2000" dirty="0"/>
              <a:t>CLK</a:t>
            </a:r>
            <a:r>
              <a:rPr lang="zh-CN" altLang="en-US" sz="2000" dirty="0"/>
              <a:t>脉冲的下降沿才开始计数，所以，若计数初值为</a:t>
            </a:r>
            <a:r>
              <a:rPr lang="en-US" altLang="zh-CN" sz="2000" dirty="0"/>
              <a:t>N</a:t>
            </a:r>
            <a:r>
              <a:rPr lang="zh-CN" altLang="en-US" sz="2000" dirty="0"/>
              <a:t>，则</a:t>
            </a:r>
            <a:r>
              <a:rPr lang="en-US" altLang="zh-CN" sz="2000" dirty="0"/>
              <a:t>OUT</a:t>
            </a:r>
            <a:r>
              <a:rPr lang="zh-CN" altLang="en-US" sz="2000" dirty="0"/>
              <a:t>是在</a:t>
            </a:r>
            <a:r>
              <a:rPr lang="en-US" altLang="zh-CN" sz="2000" dirty="0"/>
              <a:t>N+1</a:t>
            </a:r>
            <a:r>
              <a:rPr lang="zh-CN" altLang="en-US" sz="2000" dirty="0"/>
              <a:t>个</a:t>
            </a:r>
            <a:r>
              <a:rPr lang="en-US" altLang="zh-CN" sz="2000" dirty="0"/>
              <a:t>CLK</a:t>
            </a:r>
            <a:r>
              <a:rPr lang="zh-CN" altLang="en-US" sz="2000" dirty="0"/>
              <a:t>脉冲后才变高。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539552" y="944724"/>
            <a:ext cx="8172908" cy="64633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zh-CN" altLang="zh-CN" sz="2000" dirty="0"/>
              <a:t>在整个计数过程</a:t>
            </a:r>
            <a:r>
              <a:rPr lang="zh-CN" altLang="en-US" sz="2000" dirty="0"/>
              <a:t>中，</a:t>
            </a:r>
            <a:r>
              <a:rPr lang="zh-CN" altLang="zh-CN" sz="2000" dirty="0"/>
              <a:t>GATE始终应保持为高电平</a:t>
            </a:r>
            <a:r>
              <a:rPr lang="zh-CN" altLang="en-US" sz="2000" dirty="0"/>
              <a:t>。</a:t>
            </a:r>
            <a:r>
              <a:rPr lang="zh-CN" altLang="zh-CN" sz="2000" dirty="0"/>
              <a:t>若GATE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zh-CN" sz="2000" dirty="0"/>
              <a:t>则暂停</a:t>
            </a:r>
            <a:r>
              <a:rPr lang="zh-CN" altLang="en-US" sz="2000" dirty="0"/>
              <a:t>计数</a:t>
            </a:r>
            <a:r>
              <a:rPr lang="zh-CN" altLang="zh-CN" sz="2000" dirty="0"/>
              <a:t>，待GATE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zh-CN" sz="2000" dirty="0"/>
              <a:t>后，从暂停时的计数值继续往下递减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457733" name="Picture 5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63688" y="1491403"/>
            <a:ext cx="6121400" cy="2051050"/>
          </a:xfrm>
          <a:prstGeom prst="rect">
            <a:avLst/>
          </a:prstGeom>
          <a:noFill/>
        </p:spPr>
      </p:pic>
      <p:sp>
        <p:nvSpPr>
          <p:cNvPr id="457734" name="Rectangle 6"/>
          <p:cNvSpPr>
            <a:spLocks noChangeArrowheads="1"/>
          </p:cNvSpPr>
          <p:nvPr/>
        </p:nvSpPr>
        <p:spPr bwMode="auto">
          <a:xfrm>
            <a:off x="539552" y="3538319"/>
            <a:ext cx="8280400" cy="120032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3</a:t>
            </a:r>
            <a:r>
              <a:rPr lang="zh-CN" altLang="en-US" sz="2000" dirty="0"/>
              <a:t>、在计数过程中，可以改变计数初值。若是</a:t>
            </a:r>
            <a:r>
              <a:rPr lang="en-US" altLang="zh-CN" sz="2000" dirty="0"/>
              <a:t>8</a:t>
            </a:r>
            <a:r>
              <a:rPr lang="zh-CN" altLang="en-US" sz="2000" dirty="0"/>
              <a:t>位计数值，在写入新计数值后，计数器将按新计数值开始计数，若是</a:t>
            </a:r>
            <a:r>
              <a:rPr lang="en-US" altLang="zh-CN" sz="2000" dirty="0"/>
              <a:t>16</a:t>
            </a:r>
            <a:r>
              <a:rPr lang="zh-CN" altLang="en-US" sz="2000" dirty="0"/>
              <a:t>位计数值，在写入低字节后计数器停止计数，在写入高字节后，计数器将按新计数值开始计数。可以用这种方法扩展脉冲宽度。</a:t>
            </a:r>
            <a:endParaRPr lang="zh-CN" altLang="en-US" sz="2000" dirty="0"/>
          </a:p>
        </p:txBody>
      </p:sp>
      <p:pic>
        <p:nvPicPr>
          <p:cNvPr id="457735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8175" y="4797425"/>
            <a:ext cx="5400675" cy="2001838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ChangeArrowheads="1"/>
          </p:cNvSpPr>
          <p:nvPr/>
        </p:nvSpPr>
        <p:spPr bwMode="auto">
          <a:xfrm>
            <a:off x="540123" y="980728"/>
            <a:ext cx="7991475" cy="163121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sz="2000" b="1" u="sng" dirty="0"/>
              <a:t>方式</a:t>
            </a:r>
            <a:r>
              <a:rPr lang="en-US" altLang="zh-CN" sz="2000" b="1" u="sng" dirty="0"/>
              <a:t>1</a:t>
            </a:r>
            <a:r>
              <a:rPr lang="zh-CN" altLang="en-US" sz="2000" b="1" u="sng" dirty="0"/>
              <a:t>：可重复触发的单稳态脉冲</a:t>
            </a:r>
            <a:endParaRPr lang="zh-CN" altLang="en-US" sz="2000" b="1" u="sng" dirty="0"/>
          </a:p>
          <a:p>
            <a:pPr algn="just"/>
            <a:r>
              <a:rPr lang="zh-CN" altLang="en-US" sz="2000" dirty="0"/>
              <a:t>在写入方式</a:t>
            </a:r>
            <a:r>
              <a:rPr lang="en-US" altLang="zh-CN" sz="2000" dirty="0"/>
              <a:t>1</a:t>
            </a:r>
            <a:r>
              <a:rPr lang="zh-CN" altLang="en-US" sz="2000" dirty="0"/>
              <a:t>的控制字后，</a:t>
            </a:r>
            <a:r>
              <a:rPr lang="en-US" altLang="zh-CN" sz="2000" dirty="0"/>
              <a:t>OUT</a:t>
            </a:r>
            <a:r>
              <a:rPr lang="zh-CN" altLang="en-US" sz="2000" dirty="0"/>
              <a:t>成为高电平，待写入计数初值后，要等</a:t>
            </a:r>
            <a:r>
              <a:rPr lang="en-US" altLang="zh-CN" sz="2000" dirty="0"/>
              <a:t>GATE</a:t>
            </a:r>
            <a:r>
              <a:rPr lang="zh-CN" altLang="en-US" sz="2000" dirty="0"/>
              <a:t>信号出现上升沿才启动计数。此时</a:t>
            </a:r>
            <a:r>
              <a:rPr lang="en-US" altLang="zh-CN" sz="2000" dirty="0"/>
              <a:t>OUT</a:t>
            </a:r>
            <a:r>
              <a:rPr lang="zh-CN" altLang="en-US" sz="2000" dirty="0"/>
              <a:t>端立即变低，到计擞器减为</a:t>
            </a:r>
            <a:r>
              <a:rPr lang="en-US" altLang="zh-CN" sz="2000" dirty="0"/>
              <a:t>0</a:t>
            </a:r>
            <a:r>
              <a:rPr lang="zh-CN" altLang="en-US" sz="2000" dirty="0"/>
              <a:t>才回到高，其间隔为计数初值</a:t>
            </a:r>
            <a:r>
              <a:rPr lang="en-US" altLang="zh-CN" sz="2000" dirty="0"/>
              <a:t>N</a:t>
            </a:r>
            <a:r>
              <a:rPr lang="zh-CN" altLang="en-US" sz="2000" dirty="0"/>
              <a:t>乘以</a:t>
            </a:r>
            <a:r>
              <a:rPr lang="en-US" altLang="zh-CN" sz="2000" dirty="0"/>
              <a:t>CLK</a:t>
            </a:r>
            <a:r>
              <a:rPr lang="zh-CN" altLang="en-US" sz="2000" dirty="0"/>
              <a:t>的周期</a:t>
            </a:r>
            <a:r>
              <a:rPr lang="en-US" altLang="zh-CN" sz="2000" dirty="0"/>
              <a:t>TCLK</a:t>
            </a:r>
            <a:r>
              <a:rPr lang="zh-CN" altLang="en-US" sz="2000" dirty="0"/>
              <a:t>，即</a:t>
            </a:r>
            <a:r>
              <a:rPr lang="en-US" altLang="zh-CN" sz="2000" dirty="0"/>
              <a:t>OUT</a:t>
            </a:r>
            <a:r>
              <a:rPr lang="zh-CN" altLang="en-US" sz="2000" dirty="0"/>
              <a:t>端产生一个宽为</a:t>
            </a:r>
            <a:r>
              <a:rPr lang="en-US" altLang="zh-CN" sz="2000" dirty="0"/>
              <a:t>N*TCLK</a:t>
            </a:r>
            <a:r>
              <a:rPr lang="zh-CN" altLang="en-US" sz="2000" dirty="0"/>
              <a:t>的负脉冲。</a:t>
            </a:r>
            <a:endParaRPr lang="zh-CN" altLang="en-US" sz="2000" dirty="0"/>
          </a:p>
        </p:txBody>
      </p:sp>
      <p:pic>
        <p:nvPicPr>
          <p:cNvPr id="458755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27684" y="2783739"/>
            <a:ext cx="5832475" cy="1833563"/>
          </a:xfrm>
          <a:prstGeom prst="rect">
            <a:avLst/>
          </a:prstGeom>
          <a:noFill/>
        </p:spPr>
      </p:pic>
      <p:sp>
        <p:nvSpPr>
          <p:cNvPr id="458756" name="Rectangle 4"/>
          <p:cNvSpPr>
            <a:spLocks noChangeArrowheads="1"/>
          </p:cNvSpPr>
          <p:nvPr/>
        </p:nvSpPr>
        <p:spPr bwMode="auto">
          <a:xfrm>
            <a:off x="611560" y="4797152"/>
            <a:ext cx="7920038" cy="153272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dirty="0"/>
              <a:t>    </a:t>
            </a:r>
            <a:r>
              <a:rPr lang="zh-CN" altLang="en-US" sz="2000" dirty="0"/>
              <a:t>计数过程一旦启动，</a:t>
            </a:r>
            <a:r>
              <a:rPr lang="en-US" altLang="zh-CN" sz="2000" dirty="0"/>
              <a:t>GATE</a:t>
            </a:r>
            <a:r>
              <a:rPr lang="zh-CN" altLang="en-US" sz="2000" dirty="0"/>
              <a:t>即使变成低电平也无妨。</a:t>
            </a:r>
            <a:endParaRPr lang="zh-CN" altLang="en-US" sz="2000" dirty="0"/>
          </a:p>
          <a:p>
            <a:pPr algn="just">
              <a:lnSpc>
                <a:spcPct val="90000"/>
              </a:lnSpc>
            </a:pPr>
            <a:r>
              <a:rPr lang="zh-CN" altLang="en-US" sz="2000" dirty="0"/>
              <a:t>    无论计数是否完成，若</a:t>
            </a:r>
            <a:r>
              <a:rPr lang="en-US" altLang="zh-CN" sz="2000" dirty="0"/>
              <a:t>GATE</a:t>
            </a:r>
            <a:r>
              <a:rPr lang="zh-CN" altLang="en-US" sz="2000" dirty="0"/>
              <a:t>再来一个正跳变，则计数过程重新开始，即</a:t>
            </a:r>
            <a:r>
              <a:rPr lang="zh-CN" altLang="en-US" sz="2000" dirty="0">
                <a:solidFill>
                  <a:srgbClr val="FF0000"/>
                </a:solidFill>
              </a:rPr>
              <a:t>可利用</a:t>
            </a:r>
            <a:r>
              <a:rPr lang="en-US" altLang="zh-CN" sz="2000" dirty="0">
                <a:solidFill>
                  <a:srgbClr val="FF0000"/>
                </a:solidFill>
              </a:rPr>
              <a:t>GATE</a:t>
            </a:r>
            <a:r>
              <a:rPr lang="zh-CN" altLang="en-US" sz="2000" dirty="0">
                <a:solidFill>
                  <a:srgbClr val="FF0000"/>
                </a:solidFill>
              </a:rPr>
              <a:t>上升沿来控制脉冲的重复出现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algn="just">
              <a:lnSpc>
                <a:spcPct val="90000"/>
              </a:lnSpc>
            </a:pPr>
            <a:r>
              <a:rPr lang="zh-CN" altLang="en-US" sz="2000" dirty="0"/>
              <a:t>    若在计数没结束时改变计数初值，不影响计数过程，只有再次硬件触发启动时，才按新计数初值开始计数。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ChangeArrowheads="1"/>
          </p:cNvSpPr>
          <p:nvPr/>
        </p:nvSpPr>
        <p:spPr bwMode="auto">
          <a:xfrm>
            <a:off x="539552" y="980728"/>
            <a:ext cx="7991475" cy="31393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b="1" u="sng" dirty="0"/>
              <a:t>方式</a:t>
            </a:r>
            <a:r>
              <a:rPr lang="en-US" altLang="zh-CN" sz="2000" b="1" u="sng" dirty="0"/>
              <a:t>2</a:t>
            </a:r>
            <a:r>
              <a:rPr lang="zh-CN" altLang="en-US" sz="2000" b="1" u="sng" dirty="0"/>
              <a:t>：分频器</a:t>
            </a:r>
            <a:endParaRPr lang="zh-CN" altLang="en-US" sz="2000" b="1" u="sng" dirty="0"/>
          </a:p>
          <a:p>
            <a:pPr algn="just"/>
            <a:r>
              <a:rPr lang="zh-CN" altLang="en-US" sz="2000" dirty="0"/>
              <a:t>写入方式</a:t>
            </a:r>
            <a:r>
              <a:rPr lang="en-US" altLang="zh-CN" sz="2000" dirty="0"/>
              <a:t>2</a:t>
            </a:r>
            <a:r>
              <a:rPr lang="zh-CN" altLang="en-US" sz="2000" dirty="0"/>
              <a:t>的控制字后，</a:t>
            </a:r>
            <a:r>
              <a:rPr lang="en-US" altLang="zh-CN" sz="2000" dirty="0"/>
              <a:t>OUT</a:t>
            </a:r>
            <a:r>
              <a:rPr lang="zh-CN" altLang="en-US" sz="2000" dirty="0"/>
              <a:t>变高。此时若</a:t>
            </a:r>
            <a:r>
              <a:rPr lang="en-US" altLang="zh-CN" sz="2000" dirty="0"/>
              <a:t>GATE=1</a:t>
            </a:r>
            <a:r>
              <a:rPr lang="zh-CN" altLang="en-US" sz="2000" dirty="0"/>
              <a:t>，在写入计数初值后，计数器即对</a:t>
            </a:r>
            <a:r>
              <a:rPr lang="en-US" altLang="zh-CN" sz="2000" dirty="0"/>
              <a:t>CLK</a:t>
            </a:r>
            <a:r>
              <a:rPr lang="zh-CN" altLang="en-US" sz="2000" dirty="0"/>
              <a:t>计数。当计数值减到</a:t>
            </a:r>
            <a:r>
              <a:rPr lang="en-US" altLang="zh-CN" sz="2000" dirty="0"/>
              <a:t>1</a:t>
            </a:r>
            <a:r>
              <a:rPr lang="zh-CN" altLang="en-US" sz="2000" dirty="0"/>
              <a:t>（不是减到</a:t>
            </a:r>
            <a:r>
              <a:rPr lang="en-US" altLang="zh-CN" sz="2000" dirty="0"/>
              <a:t>0</a:t>
            </a:r>
            <a:r>
              <a:rPr lang="zh-CN" altLang="en-US" sz="2000" dirty="0"/>
              <a:t>）时</a:t>
            </a:r>
            <a:r>
              <a:rPr lang="en-US" altLang="zh-CN" sz="2000" dirty="0"/>
              <a:t>OUT</a:t>
            </a:r>
            <a:r>
              <a:rPr lang="zh-CN" altLang="en-US" sz="2000" dirty="0"/>
              <a:t>变低，计数器减至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OUT</a:t>
            </a:r>
            <a:r>
              <a:rPr lang="zh-CN" altLang="en-US" sz="2000" dirty="0"/>
              <a:t>回到高，计数器又自动从初值开始计数。</a:t>
            </a:r>
            <a:endParaRPr lang="en-US" altLang="zh-CN" sz="2000" dirty="0"/>
          </a:p>
          <a:p>
            <a:pPr algn="just"/>
            <a:r>
              <a:rPr lang="zh-CN" altLang="en-US" sz="2000" dirty="0"/>
              <a:t> </a:t>
            </a:r>
            <a:r>
              <a:rPr lang="en-US" altLang="zh-CN" sz="2000" dirty="0"/>
              <a:t>    </a:t>
            </a:r>
            <a:r>
              <a:rPr lang="zh-CN" altLang="en-US" sz="2000" dirty="0"/>
              <a:t>方式</a:t>
            </a:r>
            <a:r>
              <a:rPr lang="en-US" altLang="zh-CN" sz="2000" dirty="0"/>
              <a:t>2</a:t>
            </a:r>
            <a:r>
              <a:rPr lang="zh-CN" altLang="en-US" sz="2000" dirty="0"/>
              <a:t>启动后，计数器可以自动重复工作。即：</a:t>
            </a:r>
            <a:r>
              <a:rPr lang="zh-CN" altLang="en-US" sz="2000" dirty="0">
                <a:solidFill>
                  <a:srgbClr val="FF0000"/>
                </a:solidFill>
              </a:rPr>
              <a:t>计数结束后，会自动重新装入计数初值，重新开始计数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just"/>
            <a:r>
              <a:rPr lang="en-US" altLang="zh-CN" sz="2000" dirty="0"/>
              <a:t>    </a:t>
            </a:r>
            <a:r>
              <a:rPr lang="zh-CN" altLang="en-US" sz="2000" dirty="0"/>
              <a:t>方式</a:t>
            </a:r>
            <a:r>
              <a:rPr lang="en-US" altLang="zh-CN" sz="2000" dirty="0"/>
              <a:t>2</a:t>
            </a:r>
            <a:r>
              <a:rPr lang="zh-CN" altLang="en-US" sz="2000" dirty="0"/>
              <a:t>中，</a:t>
            </a:r>
            <a:r>
              <a:rPr lang="en-US" altLang="zh-CN" sz="2000" dirty="0"/>
              <a:t>GATE</a:t>
            </a:r>
            <a:r>
              <a:rPr lang="zh-CN" altLang="en-US" sz="2000" dirty="0"/>
              <a:t>为高，则开始计数，</a:t>
            </a:r>
            <a:r>
              <a:rPr lang="en-US" altLang="zh-CN" sz="2000" dirty="0"/>
              <a:t>GATE</a:t>
            </a:r>
            <a:r>
              <a:rPr lang="zh-CN" altLang="en-US" sz="2000" dirty="0"/>
              <a:t>为低，则计数结束，</a:t>
            </a:r>
            <a:r>
              <a:rPr lang="en-US" altLang="zh-CN" sz="2000" dirty="0"/>
              <a:t>OUT</a:t>
            </a:r>
            <a:r>
              <a:rPr lang="zh-CN" altLang="en-US" sz="2000" dirty="0"/>
              <a:t>输出为高。</a:t>
            </a:r>
            <a:endParaRPr lang="zh-CN" altLang="en-US" sz="2000" dirty="0"/>
          </a:p>
          <a:p>
            <a:pPr algn="just"/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在</a:t>
            </a:r>
            <a:r>
              <a:rPr lang="en-US" altLang="zh-CN" sz="2000" dirty="0">
                <a:solidFill>
                  <a:srgbClr val="FF0000"/>
                </a:solidFill>
              </a:rPr>
              <a:t>OUT</a:t>
            </a:r>
            <a:r>
              <a:rPr lang="zh-CN" altLang="en-US" sz="2000" dirty="0">
                <a:solidFill>
                  <a:srgbClr val="FF0000"/>
                </a:solidFill>
              </a:rPr>
              <a:t>端，每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个</a:t>
            </a:r>
            <a:r>
              <a:rPr lang="en-US" altLang="zh-CN" sz="2000" dirty="0">
                <a:solidFill>
                  <a:srgbClr val="FF0000"/>
                </a:solidFill>
              </a:rPr>
              <a:t>CLK</a:t>
            </a:r>
            <a:r>
              <a:rPr lang="zh-CN" altLang="en-US" sz="2000" dirty="0">
                <a:solidFill>
                  <a:srgbClr val="FF0000"/>
                </a:solidFill>
              </a:rPr>
              <a:t>信号中输出一个宽度等于</a:t>
            </a:r>
            <a:r>
              <a:rPr lang="en-US" altLang="zh-CN" sz="2000" dirty="0">
                <a:solidFill>
                  <a:srgbClr val="FF0000"/>
                </a:solidFill>
              </a:rPr>
              <a:t>CLK</a:t>
            </a:r>
            <a:r>
              <a:rPr lang="zh-CN" altLang="en-US" sz="2000" dirty="0">
                <a:solidFill>
                  <a:srgbClr val="FF0000"/>
                </a:solidFill>
              </a:rPr>
              <a:t>信号周期的负脉冲。并且可以连续工作，所以叫分频器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470019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9612" y="4221088"/>
            <a:ext cx="7195455" cy="198022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ChangeArrowheads="1"/>
          </p:cNvSpPr>
          <p:nvPr/>
        </p:nvSpPr>
        <p:spPr bwMode="auto">
          <a:xfrm>
            <a:off x="647700" y="908720"/>
            <a:ext cx="7848600" cy="209288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spcBef>
                <a:spcPts val="600"/>
              </a:spcBef>
            </a:pPr>
            <a:r>
              <a:rPr lang="zh-CN" altLang="en-US" sz="2000" b="1" u="sng" dirty="0"/>
              <a:t>方式</a:t>
            </a:r>
            <a:r>
              <a:rPr lang="en-US" altLang="zh-CN" sz="2000" b="1" u="sng" dirty="0"/>
              <a:t>3</a:t>
            </a:r>
            <a:r>
              <a:rPr lang="zh-CN" altLang="en-US" sz="2000" b="1" u="sng" dirty="0"/>
              <a:t>：方波发生器</a:t>
            </a:r>
            <a:endParaRPr lang="zh-CN" altLang="en-US" sz="2000" b="1" u="sng" dirty="0"/>
          </a:p>
          <a:p>
            <a:pPr algn="just"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    方式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和方式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类似，但输出是对称或者基本对称的方波。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zh-CN" altLang="en-US" sz="2000" dirty="0"/>
              <a:t>    在写入方式</a:t>
            </a:r>
            <a:r>
              <a:rPr lang="en-US" altLang="zh-CN" sz="2000" dirty="0"/>
              <a:t>3</a:t>
            </a:r>
            <a:r>
              <a:rPr lang="zh-CN" altLang="en-US" sz="2000" dirty="0"/>
              <a:t>的控制字后，计数器</a:t>
            </a:r>
            <a:r>
              <a:rPr lang="en-US" altLang="zh-CN" sz="2000" dirty="0"/>
              <a:t>OUT</a:t>
            </a:r>
            <a:r>
              <a:rPr lang="zh-CN" altLang="en-US" sz="2000" dirty="0"/>
              <a:t>端立即变高，在写完计数初值</a:t>
            </a:r>
            <a:r>
              <a:rPr lang="en-US" altLang="zh-CN" sz="2000" dirty="0"/>
              <a:t>N</a:t>
            </a:r>
            <a:r>
              <a:rPr lang="zh-CN" altLang="en-US" sz="2000" dirty="0"/>
              <a:t>后，经过一个时钟周期，开始计数，计数到</a:t>
            </a:r>
            <a:r>
              <a:rPr lang="en-US" altLang="zh-CN" sz="2000" dirty="0"/>
              <a:t>N/2</a:t>
            </a:r>
            <a:r>
              <a:rPr lang="zh-CN" altLang="en-US" sz="2000" dirty="0"/>
              <a:t>时</a:t>
            </a:r>
            <a:r>
              <a:rPr lang="en-US" altLang="zh-CN" sz="2000" dirty="0"/>
              <a:t>OUT</a:t>
            </a:r>
            <a:r>
              <a:rPr lang="zh-CN" altLang="en-US" sz="2000" dirty="0"/>
              <a:t>端变低，计完余下的</a:t>
            </a:r>
            <a:r>
              <a:rPr lang="en-US" altLang="zh-CN" sz="2000" dirty="0"/>
              <a:t>N/2</a:t>
            </a:r>
            <a:r>
              <a:rPr lang="zh-CN" altLang="en-US" sz="2000" dirty="0"/>
              <a:t>，</a:t>
            </a:r>
            <a:r>
              <a:rPr lang="en-US" altLang="zh-CN" sz="2000" dirty="0"/>
              <a:t>OUT</a:t>
            </a:r>
            <a:r>
              <a:rPr lang="zh-CN" altLang="en-US" sz="2000" dirty="0"/>
              <a:t>又变回高，如此自动重复。</a:t>
            </a:r>
            <a:r>
              <a:rPr lang="en-US" altLang="zh-CN" sz="2000" dirty="0"/>
              <a:t>OUT</a:t>
            </a:r>
            <a:r>
              <a:rPr lang="zh-CN" altLang="en-US" sz="2000" dirty="0"/>
              <a:t>端产生周期为</a:t>
            </a:r>
            <a:r>
              <a:rPr lang="en-US" altLang="zh-CN" sz="2000" dirty="0"/>
              <a:t>N*TCLK</a:t>
            </a:r>
            <a:r>
              <a:rPr lang="zh-CN" altLang="en-US" sz="2000" dirty="0"/>
              <a:t>方波。</a:t>
            </a:r>
            <a:endParaRPr lang="zh-CN" altLang="en-US" sz="2000" dirty="0"/>
          </a:p>
        </p:txBody>
      </p:sp>
      <p:pic>
        <p:nvPicPr>
          <p:cNvPr id="468995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39502" y="3294044"/>
            <a:ext cx="6481763" cy="1970087"/>
          </a:xfrm>
          <a:prstGeom prst="rect">
            <a:avLst/>
          </a:prstGeom>
          <a:noFill/>
        </p:spPr>
      </p:pic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719572" y="5556574"/>
            <a:ext cx="7921625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/>
              <a:t>若计数初值为奇数，计数的前半周期为</a:t>
            </a:r>
            <a:r>
              <a:rPr lang="en-US" altLang="zh-CN" sz="2000" dirty="0"/>
              <a:t>(N+1)/2</a:t>
            </a:r>
            <a:r>
              <a:rPr lang="zh-CN" altLang="en-US" sz="2000" dirty="0"/>
              <a:t>，后半周期为</a:t>
            </a:r>
            <a:r>
              <a:rPr lang="en-US" altLang="zh-CN" sz="2000" dirty="0"/>
              <a:t>(N-1)/2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ChangeArrowheads="1"/>
          </p:cNvSpPr>
          <p:nvPr/>
        </p:nvSpPr>
        <p:spPr bwMode="auto">
          <a:xfrm>
            <a:off x="469351" y="1016732"/>
            <a:ext cx="8100900" cy="193899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u="sng" dirty="0"/>
              <a:t>方式</a:t>
            </a:r>
            <a:r>
              <a:rPr lang="en-US" altLang="zh-CN" sz="2000" b="1" u="sng" dirty="0"/>
              <a:t>4</a:t>
            </a:r>
            <a:r>
              <a:rPr lang="zh-CN" altLang="en-US" sz="2000" b="1" u="sng" dirty="0"/>
              <a:t>：软件触发选通</a:t>
            </a:r>
            <a:endParaRPr lang="zh-CN" altLang="en-US" sz="2000" b="1" u="sng" dirty="0"/>
          </a:p>
          <a:p>
            <a:pPr algn="just"/>
            <a:r>
              <a:rPr lang="zh-CN" altLang="en-US" sz="2000" dirty="0"/>
              <a:t>    方式</a:t>
            </a:r>
            <a:r>
              <a:rPr lang="en-US" altLang="zh-CN" sz="2000" dirty="0"/>
              <a:t>4</a:t>
            </a:r>
            <a:r>
              <a:rPr lang="zh-CN" altLang="en-US" sz="2000" dirty="0"/>
              <a:t>是一种软件启动、不自动重复的计数方式。在写入方式</a:t>
            </a:r>
            <a:r>
              <a:rPr lang="en-US" altLang="zh-CN" sz="2000" dirty="0"/>
              <a:t>4</a:t>
            </a:r>
            <a:r>
              <a:rPr lang="zh-CN" altLang="en-US" sz="2000" dirty="0"/>
              <a:t>控制字后，</a:t>
            </a:r>
            <a:r>
              <a:rPr lang="en-US" altLang="zh-CN" sz="2000" dirty="0"/>
              <a:t>OUT</a:t>
            </a:r>
            <a:r>
              <a:rPr lang="zh-CN" altLang="en-US" sz="2000" dirty="0"/>
              <a:t>变高，若</a:t>
            </a:r>
            <a:r>
              <a:rPr lang="en-US" altLang="zh-CN" sz="2000" dirty="0"/>
              <a:t>GATE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，写计数初值后的第一个</a:t>
            </a:r>
            <a:r>
              <a:rPr lang="en-US" altLang="zh-CN" sz="2000" dirty="0"/>
              <a:t>CLK</a:t>
            </a:r>
            <a:r>
              <a:rPr lang="zh-CN" altLang="en-US" sz="2000" dirty="0"/>
              <a:t>信号上升沿将初值</a:t>
            </a:r>
            <a:r>
              <a:rPr lang="en-US" altLang="zh-CN" sz="2000" dirty="0"/>
              <a:t>N</a:t>
            </a:r>
            <a:r>
              <a:rPr lang="zh-CN" altLang="en-US" sz="2000" dirty="0"/>
              <a:t>置入计数器，</a:t>
            </a:r>
            <a:r>
              <a:rPr lang="en-US" altLang="zh-CN" sz="2000" dirty="0"/>
              <a:t>CLK</a:t>
            </a:r>
            <a:r>
              <a:rPr lang="zh-CN" altLang="en-US" sz="2000" dirty="0"/>
              <a:t>信号下降沿开始计数，</a:t>
            </a:r>
            <a:r>
              <a:rPr lang="en-US" altLang="zh-CN" sz="2000" dirty="0"/>
              <a:t>(N+1)</a:t>
            </a:r>
            <a:r>
              <a:rPr lang="zh-CN" altLang="en-US" sz="2000" dirty="0"/>
              <a:t>个</a:t>
            </a:r>
            <a:r>
              <a:rPr lang="en-US" altLang="zh-CN" sz="2000" dirty="0"/>
              <a:t>CLK</a:t>
            </a:r>
            <a:r>
              <a:rPr lang="zh-CN" altLang="en-US" sz="2000" dirty="0"/>
              <a:t>信号后减到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OUT</a:t>
            </a:r>
            <a:r>
              <a:rPr lang="zh-CN" altLang="en-US" sz="2000" dirty="0"/>
              <a:t>变低，第</a:t>
            </a:r>
            <a:r>
              <a:rPr lang="en-US" altLang="zh-CN" sz="2000" dirty="0"/>
              <a:t>(N+2)</a:t>
            </a:r>
            <a:r>
              <a:rPr lang="zh-CN" altLang="en-US" sz="2000" dirty="0"/>
              <a:t>个</a:t>
            </a:r>
            <a:r>
              <a:rPr lang="en-US" altLang="zh-CN" sz="2000" dirty="0"/>
              <a:t>CLK</a:t>
            </a:r>
            <a:r>
              <a:rPr lang="zh-CN" altLang="en-US" sz="2000" dirty="0"/>
              <a:t>信号使</a:t>
            </a:r>
            <a:r>
              <a:rPr lang="en-US" altLang="zh-CN" sz="2000" dirty="0"/>
              <a:t>OUT</a:t>
            </a:r>
            <a:r>
              <a:rPr lang="zh-CN" altLang="en-US" sz="2000" dirty="0"/>
              <a:t>又回到高而停止，形成一个</a:t>
            </a:r>
            <a:r>
              <a:rPr lang="en-US" altLang="zh-CN" sz="2000" dirty="0"/>
              <a:t>TCLK</a:t>
            </a:r>
            <a:r>
              <a:rPr lang="zh-CN" altLang="en-US" sz="2000" dirty="0"/>
              <a:t>的负脉冲。</a:t>
            </a:r>
            <a:endParaRPr lang="zh-CN" altLang="en-US" sz="2000" dirty="0"/>
          </a:p>
        </p:txBody>
      </p:sp>
      <p:pic>
        <p:nvPicPr>
          <p:cNvPr id="467971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19672" y="3176972"/>
            <a:ext cx="5543550" cy="206375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8988" y="5337212"/>
            <a:ext cx="7921625" cy="1015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sz="2000" dirty="0">
                <a:solidFill>
                  <a:srgbClr val="FF0000"/>
                </a:solidFill>
              </a:rPr>
              <a:t>    在方式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下，由于计数器结束产生一个节拍的负脉冲，一般将此负脉冲作为选通信号。而一旦写入新的初值，则在下一个时钟周期按新值重新开始计数，这个新初值的写入过程就称为软件触发。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ChangeArrowheads="1"/>
          </p:cNvSpPr>
          <p:nvPr/>
        </p:nvSpPr>
        <p:spPr bwMode="auto">
          <a:xfrm>
            <a:off x="575108" y="980728"/>
            <a:ext cx="7991475" cy="169277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b="1" u="sng" dirty="0"/>
              <a:t>方式</a:t>
            </a:r>
            <a:r>
              <a:rPr lang="en-US" altLang="zh-CN" b="1" u="sng" dirty="0"/>
              <a:t>5: </a:t>
            </a:r>
            <a:r>
              <a:rPr lang="zh-CN" altLang="en-US" b="1" u="sng" dirty="0"/>
              <a:t>硬件触发选通</a:t>
            </a:r>
            <a:endParaRPr lang="zh-CN" altLang="en-US" b="1" u="sng" dirty="0"/>
          </a:p>
          <a:p>
            <a:pPr algn="just"/>
            <a:r>
              <a:rPr lang="zh-CN" altLang="en-US" sz="2000" dirty="0"/>
              <a:t>    方式</a:t>
            </a:r>
            <a:r>
              <a:rPr lang="en-US" altLang="zh-CN" sz="2000" dirty="0"/>
              <a:t>5</a:t>
            </a:r>
            <a:r>
              <a:rPr lang="zh-CN" altLang="en-US" sz="2000" dirty="0"/>
              <a:t>是不自动重复的计数方式。写入方式控制字后，</a:t>
            </a:r>
            <a:r>
              <a:rPr lang="en-US" altLang="zh-CN" sz="2000" dirty="0"/>
              <a:t>OUT</a:t>
            </a:r>
            <a:r>
              <a:rPr lang="zh-CN" altLang="en-US" sz="2000" dirty="0"/>
              <a:t>变高，写入计数初值时，即使</a:t>
            </a:r>
            <a:r>
              <a:rPr lang="en-US" altLang="zh-CN" sz="2000" dirty="0"/>
              <a:t>GATE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，计数过程也仍不启动，而是要求</a:t>
            </a:r>
            <a:r>
              <a:rPr lang="en-US" altLang="zh-CN" sz="2000" dirty="0"/>
              <a:t>GATE</a:t>
            </a:r>
            <a:r>
              <a:rPr lang="zh-CN" altLang="en-US" sz="2000" dirty="0"/>
              <a:t>出现一个正跳变的上升沿，下一个</a:t>
            </a:r>
            <a:r>
              <a:rPr lang="en-US" altLang="zh-CN" sz="2000" dirty="0"/>
              <a:t>CLK</a:t>
            </a:r>
            <a:r>
              <a:rPr lang="zh-CN" altLang="en-US" sz="2000" dirty="0"/>
              <a:t>信号才开始计数，计数器减到</a:t>
            </a:r>
            <a:r>
              <a:rPr lang="en-US" altLang="zh-CN" sz="2000" dirty="0"/>
              <a:t>0</a:t>
            </a:r>
            <a:r>
              <a:rPr lang="zh-CN" altLang="en-US" sz="2000" dirty="0"/>
              <a:t>时，</a:t>
            </a:r>
            <a:r>
              <a:rPr lang="en-US" altLang="zh-CN" sz="2000" dirty="0"/>
              <a:t>OUT</a:t>
            </a:r>
            <a:r>
              <a:rPr lang="zh-CN" altLang="en-US" sz="2000" dirty="0"/>
              <a:t>变低，经过一个</a:t>
            </a:r>
            <a:r>
              <a:rPr lang="en-US" altLang="zh-CN" sz="2000" dirty="0"/>
              <a:t>CLK</a:t>
            </a:r>
            <a:r>
              <a:rPr lang="zh-CN" altLang="en-US" sz="2000" dirty="0"/>
              <a:t>信号后，</a:t>
            </a:r>
            <a:r>
              <a:rPr lang="en-US" altLang="zh-CN" sz="2000" dirty="0"/>
              <a:t>OUT</a:t>
            </a:r>
            <a:r>
              <a:rPr lang="zh-CN" altLang="en-US" sz="2000" dirty="0"/>
              <a:t>变高且一自保持。</a:t>
            </a:r>
            <a:endParaRPr lang="zh-CN" altLang="en-US" sz="2000" dirty="0"/>
          </a:p>
        </p:txBody>
      </p:sp>
      <p:pic>
        <p:nvPicPr>
          <p:cNvPr id="466948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11660" y="2928178"/>
            <a:ext cx="6264275" cy="214630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8988" y="5337212"/>
            <a:ext cx="7921625" cy="1015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sz="2000" dirty="0">
                <a:solidFill>
                  <a:srgbClr val="FF0000"/>
                </a:solidFill>
              </a:rPr>
              <a:t>    方式</a:t>
            </a:r>
            <a:r>
              <a:rPr lang="en-US" altLang="zh-CN" sz="2000" dirty="0">
                <a:solidFill>
                  <a:srgbClr val="FF0000"/>
                </a:solidFill>
              </a:rPr>
              <a:t>5</a:t>
            </a:r>
            <a:r>
              <a:rPr lang="zh-CN" altLang="en-US" sz="2000" dirty="0">
                <a:solidFill>
                  <a:srgbClr val="FF0000"/>
                </a:solidFill>
              </a:rPr>
              <a:t>产生的负脉冲和方式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相似，也可用此负脉冲作为选通信号。方式</a:t>
            </a:r>
            <a:r>
              <a:rPr lang="en-US" altLang="zh-CN" sz="2000" dirty="0">
                <a:solidFill>
                  <a:srgbClr val="FF0000"/>
                </a:solidFill>
              </a:rPr>
              <a:t>5</a:t>
            </a:r>
            <a:r>
              <a:rPr lang="zh-CN" altLang="en-US" sz="2000" dirty="0">
                <a:solidFill>
                  <a:srgbClr val="FF0000"/>
                </a:solidFill>
              </a:rPr>
              <a:t>受</a:t>
            </a:r>
            <a:r>
              <a:rPr lang="en-US" altLang="zh-CN" sz="2000" dirty="0">
                <a:solidFill>
                  <a:srgbClr val="FF0000"/>
                </a:solidFill>
              </a:rPr>
              <a:t>GATE</a:t>
            </a:r>
            <a:r>
              <a:rPr lang="zh-CN" altLang="en-US" sz="2000" dirty="0">
                <a:solidFill>
                  <a:srgbClr val="FF0000"/>
                </a:solidFill>
              </a:rPr>
              <a:t>信号控制，当</a:t>
            </a:r>
            <a:r>
              <a:rPr lang="en-US" altLang="zh-CN" sz="2000" dirty="0">
                <a:solidFill>
                  <a:srgbClr val="FF0000"/>
                </a:solidFill>
              </a:rPr>
              <a:t>GATE</a:t>
            </a:r>
            <a:r>
              <a:rPr lang="zh-CN" altLang="en-US" sz="2000" dirty="0">
                <a:solidFill>
                  <a:srgbClr val="FF0000"/>
                </a:solidFill>
              </a:rPr>
              <a:t>有新的脉冲产生时，则重新开始计数，故称为硬件触发。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1592796"/>
            <a:ext cx="8064388" cy="466071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9572" y="1131131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各种方式的输出波形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476420" y="5049180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highlight>
                  <a:srgbClr val="C0C0C0"/>
                </a:highlight>
              </a:rPr>
              <a:t>单次软件触发</a:t>
            </a:r>
            <a:endParaRPr lang="zh-CN" altLang="en-US"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58948" y="5697252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highlight>
                  <a:srgbClr val="C0C0C0"/>
                </a:highlight>
              </a:rPr>
              <a:t>单次硬件触发</a:t>
            </a:r>
            <a:endParaRPr lang="zh-CN" altLang="en-US"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86470" y="4259905"/>
            <a:ext cx="1831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highlight>
                  <a:srgbClr val="C0C0C0"/>
                </a:highlight>
              </a:rPr>
              <a:t>方波输出</a:t>
            </a:r>
            <a:endParaRPr lang="zh-CN" altLang="en-US"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86233" y="3479671"/>
            <a:ext cx="16321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highlight>
                  <a:srgbClr val="C0C0C0"/>
                </a:highlight>
              </a:rPr>
              <a:t>周期性分频输出</a:t>
            </a:r>
            <a:endParaRPr lang="zh-CN" altLang="en-US"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64289" y="2019336"/>
            <a:ext cx="1853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highlight>
                  <a:srgbClr val="C0C0C0"/>
                </a:highlight>
              </a:rPr>
              <a:t>单次计数触发中断</a:t>
            </a:r>
            <a:endParaRPr lang="zh-CN" altLang="en-US"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843808" y="2672916"/>
            <a:ext cx="4896544" cy="5760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stealth" w="lg" len="lg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3239852" y="2744924"/>
            <a:ext cx="684076" cy="0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16" name="直接连接符 15"/>
          <p:cNvCxnSpPr/>
          <p:nvPr/>
        </p:nvCxnSpPr>
        <p:spPr bwMode="auto">
          <a:xfrm>
            <a:off x="3923928" y="2744924"/>
            <a:ext cx="0" cy="396044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17" name="直接连接符 16"/>
          <p:cNvCxnSpPr/>
          <p:nvPr/>
        </p:nvCxnSpPr>
        <p:spPr bwMode="auto">
          <a:xfrm>
            <a:off x="3923928" y="3140968"/>
            <a:ext cx="684076" cy="0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18" name="直接连接符 17"/>
          <p:cNvCxnSpPr/>
          <p:nvPr/>
        </p:nvCxnSpPr>
        <p:spPr bwMode="auto">
          <a:xfrm>
            <a:off x="4608004" y="2744924"/>
            <a:ext cx="0" cy="396044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19" name="直接连接符 18"/>
          <p:cNvCxnSpPr/>
          <p:nvPr/>
        </p:nvCxnSpPr>
        <p:spPr bwMode="auto">
          <a:xfrm>
            <a:off x="4608004" y="2744924"/>
            <a:ext cx="684076" cy="0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20" name="直接连接符 19"/>
          <p:cNvCxnSpPr/>
          <p:nvPr/>
        </p:nvCxnSpPr>
        <p:spPr bwMode="auto">
          <a:xfrm>
            <a:off x="5292080" y="2744924"/>
            <a:ext cx="0" cy="396044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21" name="直接连接符 20"/>
          <p:cNvCxnSpPr/>
          <p:nvPr/>
        </p:nvCxnSpPr>
        <p:spPr bwMode="auto">
          <a:xfrm>
            <a:off x="5292080" y="3140968"/>
            <a:ext cx="684076" cy="0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cxnSp>
        <p:nvCxnSpPr>
          <p:cNvPr id="22" name="直接连接符 21"/>
          <p:cNvCxnSpPr/>
          <p:nvPr/>
        </p:nvCxnSpPr>
        <p:spPr bwMode="auto">
          <a:xfrm>
            <a:off x="5976156" y="2744924"/>
            <a:ext cx="0" cy="396044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  <p:sp>
        <p:nvSpPr>
          <p:cNvPr id="23" name="文本框 22"/>
          <p:cNvSpPr txBox="1"/>
          <p:nvPr/>
        </p:nvSpPr>
        <p:spPr>
          <a:xfrm>
            <a:off x="4087774" y="27490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N</a:t>
            </a:r>
            <a:endParaRPr lang="zh-CN" altLang="en-US" sz="1800" dirty="0"/>
          </a:p>
        </p:txBody>
      </p:sp>
      <p:sp>
        <p:nvSpPr>
          <p:cNvPr id="24" name="文本框 23"/>
          <p:cNvSpPr txBox="1"/>
          <p:nvPr/>
        </p:nvSpPr>
        <p:spPr>
          <a:xfrm>
            <a:off x="5458429" y="274492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N</a:t>
            </a:r>
            <a:endParaRPr lang="zh-CN" altLang="en-US" sz="18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986660" y="2791671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highlight>
                  <a:srgbClr val="C0C0C0"/>
                </a:highlight>
              </a:rPr>
              <a:t>门控信号触发单脉冲</a:t>
            </a:r>
            <a:endParaRPr lang="zh-CN" altLang="en-US"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5976156" y="2744924"/>
            <a:ext cx="684076" cy="0"/>
          </a:xfrm>
          <a:prstGeom prst="line">
            <a:avLst/>
          </a:prstGeom>
          <a:solidFill>
            <a:schemeClr val="bg1"/>
          </a:solidFill>
          <a:ln w="349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lg"/>
          </a:ln>
        </p:spPr>
      </p:cxn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9572" y="1131131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各种方式的输出波形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6669" y="1700808"/>
            <a:ext cx="8028892" cy="4306979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395536" y="1052736"/>
            <a:ext cx="8424936" cy="5323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000" b="1" dirty="0">
                <a:latin typeface="+mn-lt"/>
              </a:rPr>
              <a:t>8253</a:t>
            </a:r>
            <a:r>
              <a:rPr lang="zh-CN" altLang="en-US" sz="2000" b="1" dirty="0">
                <a:latin typeface="+mn-lt"/>
              </a:rPr>
              <a:t>各种工作方式小结</a:t>
            </a:r>
            <a:endParaRPr lang="zh-CN" altLang="en-US" sz="2000" b="1" dirty="0">
              <a:latin typeface="+mn-lt"/>
            </a:endParaRPr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0" dirty="0">
                <a:latin typeface="+mn-lt"/>
                <a:ea typeface="楷体_GB2312" pitchFamily="49" charset="-122"/>
              </a:rPr>
              <a:t>几种方式比较</a:t>
            </a:r>
            <a:endParaRPr lang="zh-CN" altLang="en-US" sz="2000" b="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000" b="0" dirty="0">
                <a:latin typeface="+mn-lt"/>
                <a:ea typeface="楷体_GB2312" pitchFamily="49" charset="-122"/>
              </a:rPr>
              <a:t>    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，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4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，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5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输出的波形是一样的，都是宽度为一个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CLK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时钟周期的低有效脉冲。主要区别是：方式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连续不停地计数和输出；方式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4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每次都要由程序设置计数值才能计数；方式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5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不用每次设置，但每次都要由门控脉冲触发启动才能计数。即：计到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0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后，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方式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2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不用触发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方式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4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要软件触发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方式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5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要硬件触发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，才能继续计数。</a:t>
            </a:r>
            <a:endParaRPr lang="zh-CN" altLang="en-US" sz="2000" b="0" dirty="0">
              <a:latin typeface="+mn-lt"/>
              <a:ea typeface="楷体_GB2312" pitchFamily="49" charset="-122"/>
            </a:endParaRPr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0" dirty="0">
                <a:latin typeface="+mn-lt"/>
                <a:ea typeface="楷体_GB2312" pitchFamily="49" charset="-122"/>
              </a:rPr>
              <a:t>输出端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OUT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的初始状态</a:t>
            </a:r>
            <a:endParaRPr lang="zh-CN" altLang="en-US" sz="2000" b="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000" b="0" dirty="0">
                <a:latin typeface="+mn-lt"/>
                <a:ea typeface="楷体_GB2312" pitchFamily="49" charset="-122"/>
              </a:rPr>
              <a:t>    只有方式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0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在置入控制字后，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OUT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立即变低，其它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5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种方式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OUT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初始态均为高电平。</a:t>
            </a:r>
            <a:endParaRPr lang="en-US" altLang="zh-CN" sz="2000" b="0" dirty="0">
              <a:latin typeface="+mn-lt"/>
              <a:ea typeface="楷体_GB2312" pitchFamily="49" charset="-122"/>
            </a:endParaRPr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0" dirty="0">
                <a:latin typeface="+mn-lt"/>
                <a:ea typeface="楷体_GB2312" pitchFamily="49" charset="-122"/>
              </a:rPr>
              <a:t>启动计数与重复计数</a:t>
            </a:r>
            <a:endParaRPr lang="en-US" altLang="zh-CN" sz="2000" b="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000" b="0" dirty="0">
                <a:latin typeface="+mn-lt"/>
                <a:ea typeface="楷体_GB2312" pitchFamily="49" charset="-122"/>
              </a:rPr>
              <a:t>  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和方式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是连续工作，输出是周期性的，不用重复启动再次触发，这两种方式一经写入计数值，计数器就开始不停顿地工作，直到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CPU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重新写入控制字为止。（方式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1&amp;5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也可以连续工作，但需要</a:t>
            </a:r>
            <a:r>
              <a:rPr lang="en-US" altLang="zh-CN" sz="2000" b="0" dirty="0">
                <a:latin typeface="+mn-lt"/>
                <a:ea typeface="楷体_GB2312" pitchFamily="49" charset="-122"/>
              </a:rPr>
              <a:t>Gate</a:t>
            </a:r>
            <a:r>
              <a:rPr lang="zh-CN" altLang="en-US" sz="2000" b="0" dirty="0">
                <a:latin typeface="+mn-lt"/>
                <a:ea typeface="楷体_GB2312" pitchFamily="49" charset="-122"/>
              </a:rPr>
              <a:t>端触发）</a:t>
            </a:r>
            <a:endParaRPr lang="zh-CN" altLang="en-US" sz="2000" b="0" dirty="0">
              <a:latin typeface="+mn-lt"/>
              <a:ea typeface="楷体_GB2312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60082" y="4429688"/>
            <a:ext cx="3568402" cy="881414"/>
            <a:chOff x="5360082" y="4429688"/>
            <a:chExt cx="3568402" cy="881414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360082" y="4429688"/>
              <a:ext cx="2803736" cy="881414"/>
            </a:xfrm>
            <a:prstGeom prst="rect">
              <a:avLst/>
            </a:prstGeom>
            <a:noFill/>
          </p:spPr>
        </p:pic>
        <p:sp>
          <p:nvSpPr>
            <p:cNvPr id="9" name="文本框 8"/>
            <p:cNvSpPr txBox="1"/>
            <p:nvPr/>
          </p:nvSpPr>
          <p:spPr>
            <a:xfrm>
              <a:off x="8208404" y="4761148"/>
              <a:ext cx="7200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方式</a:t>
              </a:r>
              <a:r>
                <a:rPr lang="en-US" altLang="zh-CN" sz="1600" dirty="0"/>
                <a:t>1</a:t>
              </a:r>
              <a:endParaRPr lang="zh-CN" altLang="en-US" sz="16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20072" y="3212976"/>
            <a:ext cx="3708412" cy="881413"/>
            <a:chOff x="5220072" y="3212976"/>
            <a:chExt cx="3708412" cy="88141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0072" y="3212976"/>
              <a:ext cx="2844316" cy="88141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8208404" y="3484405"/>
              <a:ext cx="7200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方式</a:t>
              </a:r>
              <a:r>
                <a:rPr lang="en-US" altLang="zh-CN" sz="1600" dirty="0"/>
                <a:t>0</a:t>
              </a:r>
              <a:endParaRPr lang="zh-CN" altLang="en-US" sz="160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63447" y="937061"/>
            <a:ext cx="8028892" cy="5554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当定时器工作在方式</a:t>
            </a:r>
            <a:r>
              <a:rPr lang="en-US" altLang="zh-CN" sz="2000" dirty="0">
                <a:latin typeface="+mn-lt"/>
              </a:rPr>
              <a:t>2</a:t>
            </a:r>
            <a:r>
              <a:rPr lang="zh-CN" altLang="en-US" sz="2000" dirty="0">
                <a:latin typeface="+mn-lt"/>
              </a:rPr>
              <a:t>或方式</a:t>
            </a:r>
            <a:r>
              <a:rPr lang="en-US" altLang="zh-CN" sz="2000" dirty="0">
                <a:latin typeface="+mn-lt"/>
              </a:rPr>
              <a:t>3</a:t>
            </a:r>
            <a:r>
              <a:rPr lang="zh-CN" altLang="en-US" sz="2000" dirty="0">
                <a:latin typeface="+mn-lt"/>
              </a:rPr>
              <a:t>时，实际上是一个分频器（把输入信号的频率降低为原来的 1/</a:t>
            </a:r>
            <a:r>
              <a:rPr lang="en-US" altLang="zh-CN" sz="2000" dirty="0">
                <a:latin typeface="+mn-lt"/>
              </a:rPr>
              <a:t>N</a:t>
            </a:r>
            <a:r>
              <a:rPr lang="zh-CN" altLang="en-US" sz="2000" dirty="0">
                <a:latin typeface="+mn-lt"/>
              </a:rPr>
              <a:t>），计数常数就是一个分频系数，分频系数</a:t>
            </a:r>
            <a:r>
              <a:rPr lang="en-US" altLang="zh-CN" sz="2000" dirty="0">
                <a:latin typeface="+mn-lt"/>
              </a:rPr>
              <a:t>N=</a:t>
            </a:r>
            <a:r>
              <a:rPr lang="en-US" altLang="zh-CN" sz="2000" i="1" dirty="0">
                <a:latin typeface="+mn-lt"/>
              </a:rPr>
              <a:t>f</a:t>
            </a:r>
            <a:r>
              <a:rPr lang="en-US" altLang="zh-CN" sz="1400" i="1" dirty="0">
                <a:latin typeface="+mn-lt"/>
              </a:rPr>
              <a:t>i</a:t>
            </a:r>
            <a:r>
              <a:rPr lang="en-US" altLang="zh-CN" sz="2000" i="1" dirty="0">
                <a:latin typeface="+mn-lt"/>
              </a:rPr>
              <a:t>/</a:t>
            </a:r>
            <a:r>
              <a:rPr lang="en-US" altLang="zh-CN" sz="2000" i="1" dirty="0" err="1">
                <a:latin typeface="+mn-lt"/>
              </a:rPr>
              <a:t>f</a:t>
            </a:r>
            <a:r>
              <a:rPr lang="en-US" altLang="zh-CN" sz="1600" i="1" dirty="0" err="1">
                <a:latin typeface="+mn-lt"/>
              </a:rPr>
              <a:t>o</a:t>
            </a:r>
            <a:r>
              <a:rPr lang="zh-CN" altLang="en-US" sz="2000" dirty="0">
                <a:latin typeface="+mn-lt"/>
              </a:rPr>
              <a:t>（</a:t>
            </a:r>
            <a:r>
              <a:rPr lang="en-US" altLang="zh-CN" sz="2000" i="1" dirty="0"/>
              <a:t>f</a:t>
            </a:r>
            <a:r>
              <a:rPr lang="en-US" altLang="zh-CN" sz="1400" i="1" dirty="0"/>
              <a:t>i</a:t>
            </a:r>
            <a:r>
              <a:rPr lang="zh-CN" altLang="en-US" sz="2000" dirty="0">
                <a:latin typeface="+mn-lt"/>
              </a:rPr>
              <a:t>：输入</a:t>
            </a:r>
            <a:r>
              <a:rPr lang="en-US" altLang="zh-CN" sz="2000" dirty="0">
                <a:latin typeface="+mn-lt"/>
              </a:rPr>
              <a:t>CLK</a:t>
            </a:r>
            <a:r>
              <a:rPr lang="zh-CN" altLang="en-US" sz="2000" dirty="0">
                <a:latin typeface="+mn-lt"/>
              </a:rPr>
              <a:t>频率，</a:t>
            </a:r>
            <a:r>
              <a:rPr lang="en-US" altLang="zh-CN" sz="2000" i="1" dirty="0" err="1"/>
              <a:t>f</a:t>
            </a:r>
            <a:r>
              <a:rPr lang="en-US" altLang="zh-CN" sz="1600" i="1" dirty="0" err="1"/>
              <a:t>o</a:t>
            </a:r>
            <a:r>
              <a:rPr lang="zh-CN" altLang="en-US" sz="2000" dirty="0">
                <a:latin typeface="+mn-lt"/>
              </a:rPr>
              <a:t>：</a:t>
            </a:r>
            <a:r>
              <a:rPr lang="en-US" altLang="zh-CN" sz="2000" dirty="0">
                <a:latin typeface="+mn-lt"/>
              </a:rPr>
              <a:t>OUT</a:t>
            </a:r>
            <a:r>
              <a:rPr lang="zh-CN" altLang="en-US" sz="2000" dirty="0">
                <a:latin typeface="+mn-lt"/>
              </a:rPr>
              <a:t>端输出频率）</a:t>
            </a: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当计数器作为定时器工作时，</a:t>
            </a:r>
            <a:r>
              <a:rPr lang="en-US" altLang="zh-CN" sz="2000" dirty="0">
                <a:latin typeface="+mn-lt"/>
              </a:rPr>
              <a:t>CLK</a:t>
            </a:r>
            <a:r>
              <a:rPr lang="zh-CN" altLang="en-US" sz="2000" dirty="0">
                <a:latin typeface="+mn-lt"/>
              </a:rPr>
              <a:t>通常来自系统内部时钟，计数常数就是定时系数，定时系数</a:t>
            </a:r>
            <a:r>
              <a:rPr lang="en-US" altLang="zh-CN" sz="2000" dirty="0">
                <a:latin typeface="+mn-lt"/>
              </a:rPr>
              <a:t>=</a:t>
            </a:r>
            <a:r>
              <a:rPr lang="en-US" altLang="zh-CN" sz="2000" i="1" dirty="0">
                <a:latin typeface="+mn-lt"/>
              </a:rPr>
              <a:t>T/</a:t>
            </a:r>
            <a:r>
              <a:rPr lang="en-US" altLang="zh-CN" sz="2000" i="1" dirty="0" err="1">
                <a:latin typeface="+mn-lt"/>
              </a:rPr>
              <a:t>t</a:t>
            </a:r>
            <a:r>
              <a:rPr lang="en-US" altLang="zh-CN" sz="1100" i="1" dirty="0" err="1">
                <a:latin typeface="+mn-lt"/>
              </a:rPr>
              <a:t>CLK</a:t>
            </a:r>
            <a:r>
              <a:rPr lang="en-US" altLang="zh-CN" sz="2000" dirty="0">
                <a:latin typeface="+mn-lt"/>
              </a:rPr>
              <a:t>=</a:t>
            </a:r>
            <a:r>
              <a:rPr lang="en-US" altLang="zh-CN" sz="2000" i="1" dirty="0">
                <a:latin typeface="+mn-lt"/>
              </a:rPr>
              <a:t>T</a:t>
            </a:r>
            <a:r>
              <a:rPr lang="zh-CN" altLang="en-US" sz="2000" i="1" dirty="0">
                <a:latin typeface="+mn-lt"/>
              </a:rPr>
              <a:t>*</a:t>
            </a:r>
            <a:r>
              <a:rPr lang="en-US" altLang="zh-CN" sz="2000" i="1" dirty="0" err="1">
                <a:latin typeface="+mn-lt"/>
              </a:rPr>
              <a:t>f</a:t>
            </a:r>
            <a:r>
              <a:rPr lang="en-US" altLang="zh-CN" sz="1100" i="1" dirty="0" err="1">
                <a:latin typeface="+mn-lt"/>
              </a:rPr>
              <a:t>CLK</a:t>
            </a:r>
            <a:r>
              <a:rPr lang="zh-CN" altLang="en-US" sz="2000" dirty="0">
                <a:latin typeface="+mn-lt"/>
              </a:rPr>
              <a:t>（</a:t>
            </a:r>
            <a:r>
              <a:rPr lang="en-US" altLang="zh-CN" sz="2000" i="1" dirty="0">
                <a:latin typeface="+mn-lt"/>
              </a:rPr>
              <a:t>T</a:t>
            </a:r>
            <a:r>
              <a:rPr lang="zh-CN" altLang="en-US" sz="2000" dirty="0">
                <a:latin typeface="+mn-lt"/>
              </a:rPr>
              <a:t>为定时时间，</a:t>
            </a:r>
            <a:r>
              <a:rPr lang="en-US" altLang="zh-CN" sz="2000" i="1" dirty="0" err="1">
                <a:latin typeface="+mn-lt"/>
              </a:rPr>
              <a:t>f</a:t>
            </a:r>
            <a:r>
              <a:rPr lang="en-US" altLang="zh-CN" sz="1100" i="1" dirty="0" err="1">
                <a:latin typeface="+mn-lt"/>
              </a:rPr>
              <a:t>CLK</a:t>
            </a:r>
            <a:r>
              <a:rPr lang="zh-CN" altLang="en-US" sz="2000" dirty="0">
                <a:latin typeface="+mn-lt"/>
              </a:rPr>
              <a:t>为输入</a:t>
            </a:r>
            <a:r>
              <a:rPr lang="en-US" altLang="zh-CN" sz="2000" dirty="0">
                <a:latin typeface="+mn-lt"/>
              </a:rPr>
              <a:t>CLK</a:t>
            </a:r>
            <a:r>
              <a:rPr lang="zh-CN" altLang="en-US" sz="2000" dirty="0">
                <a:latin typeface="+mn-lt"/>
              </a:rPr>
              <a:t>的频率）</a:t>
            </a: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当计数器作为外部计数使用时，计数脉冲通常来自系统外部，计数常数就是要记录的外部时间的脉冲个数。</a:t>
            </a:r>
            <a:endParaRPr lang="zh-CN" altLang="en-US" sz="2000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59732" y="2456892"/>
            <a:ext cx="4968552" cy="136736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539552" y="1088740"/>
            <a:ext cx="8028892" cy="5169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latin typeface="+mn-lt"/>
              </a:rPr>
              <a:t>8253/8254</a:t>
            </a:r>
            <a:r>
              <a:rPr lang="zh-CN" altLang="en-US" sz="2000" dirty="0">
                <a:latin typeface="+mn-lt"/>
              </a:rPr>
              <a:t>应用实例</a:t>
            </a:r>
            <a:endParaRPr lang="en-US" altLang="zh-C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+mn-lt"/>
              </a:rPr>
              <a:t>8254</a:t>
            </a:r>
            <a:r>
              <a:rPr lang="zh-CN" altLang="en-US" sz="2000" dirty="0">
                <a:latin typeface="+mn-lt"/>
              </a:rPr>
              <a:t>在内部结构及功能上与</a:t>
            </a:r>
            <a:r>
              <a:rPr lang="en-US" altLang="zh-CN" sz="2000" dirty="0">
                <a:latin typeface="+mn-lt"/>
              </a:rPr>
              <a:t>8253</a:t>
            </a:r>
            <a:r>
              <a:rPr lang="zh-CN" altLang="en-US" sz="2000" dirty="0">
                <a:latin typeface="+mn-lt"/>
              </a:rPr>
              <a:t>完全一样，其编程方法也完全一样，其差别只是最高计数速率不同。</a:t>
            </a:r>
            <a:r>
              <a:rPr lang="en-US" altLang="zh-CN" sz="2000" dirty="0">
                <a:latin typeface="+mn-lt"/>
              </a:rPr>
              <a:t>8253</a:t>
            </a:r>
            <a:r>
              <a:rPr lang="zh-CN" altLang="en-US" sz="2000" dirty="0">
                <a:latin typeface="+mn-lt"/>
              </a:rPr>
              <a:t>的最高计数速率是</a:t>
            </a:r>
            <a:r>
              <a:rPr lang="en-US" altLang="zh-CN" sz="2000" dirty="0">
                <a:latin typeface="+mn-lt"/>
              </a:rPr>
              <a:t>2MHz</a:t>
            </a:r>
            <a:r>
              <a:rPr lang="zh-CN" altLang="en-US" sz="2000" dirty="0">
                <a:latin typeface="+mn-lt"/>
              </a:rPr>
              <a:t>，</a:t>
            </a:r>
            <a:r>
              <a:rPr lang="en-US" altLang="zh-CN" sz="2000" dirty="0">
                <a:latin typeface="+mn-lt"/>
              </a:rPr>
              <a:t>8253-5</a:t>
            </a:r>
            <a:r>
              <a:rPr lang="zh-CN" altLang="en-US" sz="2000" dirty="0">
                <a:latin typeface="+mn-lt"/>
              </a:rPr>
              <a:t>是</a:t>
            </a:r>
            <a:r>
              <a:rPr lang="en-US" altLang="zh-CN" sz="2000" dirty="0">
                <a:latin typeface="+mn-lt"/>
              </a:rPr>
              <a:t>5MHz</a:t>
            </a:r>
            <a:r>
              <a:rPr lang="zh-CN" altLang="en-US" sz="2000" dirty="0">
                <a:latin typeface="+mn-lt"/>
              </a:rPr>
              <a:t>，</a:t>
            </a:r>
            <a:r>
              <a:rPr lang="en-US" altLang="zh-CN" sz="2000" dirty="0">
                <a:latin typeface="+mn-lt"/>
              </a:rPr>
              <a:t>8254</a:t>
            </a:r>
            <a:r>
              <a:rPr lang="zh-CN" altLang="en-US" sz="2000" dirty="0">
                <a:latin typeface="+mn-lt"/>
              </a:rPr>
              <a:t>为</a:t>
            </a:r>
            <a:r>
              <a:rPr lang="en-US" altLang="zh-CN" sz="2000" dirty="0">
                <a:latin typeface="+mn-lt"/>
              </a:rPr>
              <a:t>8</a:t>
            </a:r>
            <a:r>
              <a:rPr lang="zh-CN" altLang="en-US" sz="2000" dirty="0">
                <a:latin typeface="+mn-lt"/>
              </a:rPr>
              <a:t>或</a:t>
            </a:r>
            <a:r>
              <a:rPr lang="en-US" altLang="zh-CN" sz="2000" dirty="0">
                <a:latin typeface="+mn-lt"/>
              </a:rPr>
              <a:t>10MHz</a:t>
            </a:r>
            <a:r>
              <a:rPr lang="zh-CN" altLang="en-US" sz="2000" dirty="0">
                <a:latin typeface="+mn-lt"/>
              </a:rPr>
              <a:t>。</a:t>
            </a:r>
            <a:endParaRPr lang="zh-CN" altLang="en-US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在</a:t>
            </a:r>
            <a:r>
              <a:rPr lang="en-US" altLang="zh-CN" sz="2000" dirty="0">
                <a:latin typeface="+mn-lt"/>
              </a:rPr>
              <a:t>PC</a:t>
            </a:r>
            <a:r>
              <a:rPr lang="zh-CN" altLang="en-US" sz="2000" dirty="0">
                <a:latin typeface="+mn-lt"/>
              </a:rPr>
              <a:t>系列机上，系统分配给</a:t>
            </a:r>
            <a:r>
              <a:rPr lang="en-US" altLang="zh-CN" sz="2000" dirty="0">
                <a:latin typeface="+mn-lt"/>
              </a:rPr>
              <a:t>8253/8254</a:t>
            </a:r>
            <a:r>
              <a:rPr lang="zh-CN" altLang="en-US" sz="2000" dirty="0">
                <a:latin typeface="+mn-lt"/>
              </a:rPr>
              <a:t>的端口地址是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40H~43H</a:t>
            </a:r>
            <a:r>
              <a:rPr lang="zh-CN" altLang="en-US" sz="2000" dirty="0">
                <a:latin typeface="+mn-lt"/>
              </a:rPr>
              <a:t>，其中</a:t>
            </a:r>
            <a:r>
              <a:rPr lang="en-US" altLang="zh-CN" sz="2000" dirty="0">
                <a:latin typeface="+mn-lt"/>
              </a:rPr>
              <a:t>43H</a:t>
            </a:r>
            <a:r>
              <a:rPr lang="zh-CN" altLang="en-US" sz="2000" dirty="0">
                <a:latin typeface="+mn-lt"/>
              </a:rPr>
              <a:t>是控制寄存器的地址，</a:t>
            </a:r>
            <a:r>
              <a:rPr lang="en-US" altLang="zh-CN" sz="2000" dirty="0">
                <a:latin typeface="+mn-lt"/>
              </a:rPr>
              <a:t>40H</a:t>
            </a:r>
            <a:r>
              <a:rPr lang="zh-CN" altLang="en-US" sz="2000" dirty="0">
                <a:latin typeface="+mn-lt"/>
              </a:rPr>
              <a:t>、</a:t>
            </a:r>
            <a:r>
              <a:rPr lang="en-US" altLang="zh-CN" sz="2000" dirty="0">
                <a:latin typeface="+mn-lt"/>
              </a:rPr>
              <a:t>41H</a:t>
            </a:r>
            <a:r>
              <a:rPr lang="zh-CN" altLang="en-US" sz="2000" dirty="0">
                <a:latin typeface="+mn-lt"/>
              </a:rPr>
              <a:t>、</a:t>
            </a:r>
            <a:r>
              <a:rPr lang="en-US" altLang="zh-CN" sz="2000" dirty="0">
                <a:latin typeface="+mn-lt"/>
              </a:rPr>
              <a:t>42H</a:t>
            </a:r>
            <a:r>
              <a:rPr lang="zh-CN" altLang="en-US" sz="2000" dirty="0">
                <a:latin typeface="+mn-lt"/>
              </a:rPr>
              <a:t>分别为计数器</a:t>
            </a:r>
            <a:r>
              <a:rPr lang="en-US" altLang="zh-CN" sz="2000" dirty="0">
                <a:latin typeface="+mn-lt"/>
              </a:rPr>
              <a:t>0~2</a:t>
            </a:r>
            <a:r>
              <a:rPr lang="zh-CN" altLang="en-US" sz="2000" dirty="0">
                <a:latin typeface="+mn-lt"/>
              </a:rPr>
              <a:t>的锁存器地址。</a:t>
            </a:r>
            <a:r>
              <a:rPr lang="en-US" altLang="zh-CN" sz="2000" dirty="0">
                <a:latin typeface="+mn-lt"/>
              </a:rPr>
              <a:t>8253/8254</a:t>
            </a:r>
            <a:r>
              <a:rPr lang="zh-CN" altLang="en-US" sz="2000" dirty="0">
                <a:latin typeface="+mn-lt"/>
              </a:rPr>
              <a:t>的三个计数器各有其责：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计数器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用于维持系统时钟</a:t>
            </a:r>
            <a:r>
              <a:rPr lang="zh-CN" altLang="en-US" sz="2000" dirty="0">
                <a:latin typeface="+mn-lt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计数器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用于周期性地向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DMA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发送数据请求信号，供存储器刷新用</a:t>
            </a:r>
            <a:r>
              <a:rPr lang="zh-CN" altLang="en-US" sz="2000" dirty="0">
                <a:latin typeface="+mn-lt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计数器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接到扬声器用来产生声音</a:t>
            </a:r>
            <a:r>
              <a:rPr lang="zh-CN" altLang="en-US" sz="2000" dirty="0">
                <a:latin typeface="+mn-lt"/>
              </a:rPr>
              <a:t>。</a:t>
            </a:r>
            <a:endParaRPr lang="zh-CN" altLang="en-US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+mn-lt"/>
              </a:rPr>
              <a:t>8253/8254各计数器的输入时钟脉冲频率为</a:t>
            </a:r>
            <a:r>
              <a:rPr lang="en-US" altLang="zh-CN" sz="2000" dirty="0">
                <a:latin typeface="+mn-lt"/>
              </a:rPr>
              <a:t>1.19318MHz</a:t>
            </a:r>
            <a:r>
              <a:rPr lang="zh-CN" altLang="en-US" sz="2000" dirty="0">
                <a:latin typeface="+mn-lt"/>
              </a:rPr>
              <a:t>。</a:t>
            </a:r>
            <a:endParaRPr lang="zh-CN" altLang="en-US" sz="2000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52120" y="1024095"/>
            <a:ext cx="3371850" cy="1524000"/>
            <a:chOff x="152400" y="1676400"/>
            <a:chExt cx="3371850" cy="1524000"/>
          </a:xfrm>
        </p:grpSpPr>
        <p:sp>
          <p:nvSpPr>
            <p:cNvPr id="58373" name="Rectangle 5"/>
            <p:cNvSpPr>
              <a:spLocks noChangeArrowheads="1"/>
            </p:cNvSpPr>
            <p:nvPr/>
          </p:nvSpPr>
          <p:spPr bwMode="auto">
            <a:xfrm>
              <a:off x="1828800" y="1676400"/>
              <a:ext cx="685800" cy="1524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800" dirty="0"/>
            </a:p>
            <a:p>
              <a:r>
                <a:rPr lang="zh-CN" altLang="en-US" sz="1800" dirty="0"/>
                <a:t>计</a:t>
              </a:r>
              <a:endParaRPr lang="zh-CN" altLang="en-US" sz="1800" dirty="0"/>
            </a:p>
            <a:p>
              <a:r>
                <a:rPr lang="zh-CN" altLang="en-US" sz="1800" dirty="0"/>
                <a:t>数</a:t>
              </a:r>
              <a:endParaRPr lang="zh-CN" altLang="en-US" sz="1800" dirty="0"/>
            </a:p>
            <a:p>
              <a:r>
                <a:rPr lang="zh-CN" altLang="en-US" sz="1800" dirty="0"/>
                <a:t>器</a:t>
              </a:r>
              <a:endParaRPr lang="zh-CN" altLang="en-US" sz="1800" dirty="0"/>
            </a:p>
            <a:p>
              <a:r>
                <a:rPr lang="en-US" altLang="zh-CN" sz="1800" dirty="0"/>
                <a:t>0</a:t>
              </a:r>
              <a:endParaRPr lang="en-US" altLang="zh-CN" sz="1800" dirty="0"/>
            </a:p>
            <a:p>
              <a:endParaRPr lang="en-US" altLang="zh-CN" sz="1800" dirty="0"/>
            </a:p>
          </p:txBody>
        </p:sp>
        <p:sp>
          <p:nvSpPr>
            <p:cNvPr id="58374" name="Line 6"/>
            <p:cNvSpPr>
              <a:spLocks noChangeShapeType="1"/>
            </p:cNvSpPr>
            <p:nvPr/>
          </p:nvSpPr>
          <p:spPr bwMode="auto">
            <a:xfrm>
              <a:off x="1524000" y="1981200"/>
              <a:ext cx="285750" cy="15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5" name="Text Box 7"/>
            <p:cNvSpPr txBox="1">
              <a:spLocks noChangeArrowheads="1"/>
            </p:cNvSpPr>
            <p:nvPr/>
          </p:nvSpPr>
          <p:spPr bwMode="auto">
            <a:xfrm>
              <a:off x="152400" y="1828800"/>
              <a:ext cx="14287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/>
                <a:t>1.19318MHz</a:t>
              </a:r>
              <a:endParaRPr lang="en-US" altLang="zh-CN" sz="1800"/>
            </a:p>
          </p:txBody>
        </p:sp>
        <p:sp>
          <p:nvSpPr>
            <p:cNvPr id="58376" name="Line 8"/>
            <p:cNvSpPr>
              <a:spLocks noChangeShapeType="1"/>
            </p:cNvSpPr>
            <p:nvPr/>
          </p:nvSpPr>
          <p:spPr bwMode="auto">
            <a:xfrm>
              <a:off x="1524000" y="2895600"/>
              <a:ext cx="285750" cy="15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7" name="Text Box 9"/>
            <p:cNvSpPr txBox="1">
              <a:spLocks noChangeArrowheads="1"/>
            </p:cNvSpPr>
            <p:nvPr/>
          </p:nvSpPr>
          <p:spPr bwMode="auto">
            <a:xfrm>
              <a:off x="990600" y="2743200"/>
              <a:ext cx="6286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/>
                <a:t>+5V</a:t>
              </a:r>
              <a:endParaRPr lang="en-US" altLang="zh-CN" sz="1800"/>
            </a:p>
          </p:txBody>
        </p:sp>
        <p:sp>
          <p:nvSpPr>
            <p:cNvPr id="58378" name="Line 10"/>
            <p:cNvSpPr>
              <a:spLocks noChangeShapeType="1"/>
            </p:cNvSpPr>
            <p:nvPr/>
          </p:nvSpPr>
          <p:spPr bwMode="auto">
            <a:xfrm>
              <a:off x="2514600" y="2438400"/>
              <a:ext cx="285750" cy="15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9" name="Text Box 11"/>
            <p:cNvSpPr txBox="1">
              <a:spLocks noChangeArrowheads="1"/>
            </p:cNvSpPr>
            <p:nvPr/>
          </p:nvSpPr>
          <p:spPr bwMode="auto">
            <a:xfrm>
              <a:off x="2743200" y="2300288"/>
              <a:ext cx="781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OUT</a:t>
              </a:r>
              <a:endParaRPr lang="en-US" altLang="zh-CN" sz="1800"/>
            </a:p>
          </p:txBody>
        </p:sp>
      </p:grpSp>
      <p:sp>
        <p:nvSpPr>
          <p:cNvPr id="58387" name="Text Box 19"/>
          <p:cNvSpPr txBox="1">
            <a:spLocks noChangeArrowheads="1"/>
          </p:cNvSpPr>
          <p:nvPr/>
        </p:nvSpPr>
        <p:spPr bwMode="auto">
          <a:xfrm>
            <a:off x="626904" y="962793"/>
            <a:ext cx="4809191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应用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：</a:t>
            </a:r>
            <a:r>
              <a:rPr lang="zh-CN" altLang="en-US" sz="2000" dirty="0"/>
              <a:t>计数器</a:t>
            </a:r>
            <a:r>
              <a:rPr lang="en-US" altLang="zh-CN" sz="2000" dirty="0"/>
              <a:t>0</a:t>
            </a:r>
            <a:r>
              <a:rPr lang="zh-CN" altLang="en-US" sz="2000" dirty="0"/>
              <a:t>产生基本时钟，触发中断</a:t>
            </a:r>
            <a:endParaRPr lang="en-US" altLang="zh-CN" sz="200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1800" b="0" dirty="0">
                <a:latin typeface="+mn-lt"/>
                <a:ea typeface="楷体_GB2312" pitchFamily="49" charset="-122"/>
              </a:rPr>
              <a:t>    计数器</a:t>
            </a:r>
            <a:r>
              <a:rPr lang="en-US" altLang="zh-CN" sz="1800" b="0" dirty="0">
                <a:latin typeface="+mn-lt"/>
                <a:ea typeface="楷体_GB2312" pitchFamily="49" charset="-122"/>
              </a:rPr>
              <a:t>0</a:t>
            </a:r>
            <a:r>
              <a:rPr lang="zh-CN" altLang="en-US" sz="1800" b="0" dirty="0">
                <a:latin typeface="+mn-lt"/>
                <a:ea typeface="楷体_GB2312" pitchFamily="49" charset="-122"/>
              </a:rPr>
              <a:t>接至</a:t>
            </a:r>
            <a:r>
              <a:rPr lang="en-US" altLang="zh-CN" sz="1800" b="0" dirty="0">
                <a:latin typeface="+mn-lt"/>
                <a:ea typeface="楷体_GB2312" pitchFamily="49" charset="-122"/>
              </a:rPr>
              <a:t>8259A</a:t>
            </a:r>
            <a:r>
              <a:rPr lang="zh-CN" altLang="en-US" sz="1800" b="0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1800" b="0" dirty="0">
                <a:latin typeface="+mn-lt"/>
                <a:ea typeface="楷体_GB2312" pitchFamily="49" charset="-122"/>
              </a:rPr>
              <a:t>IR0</a:t>
            </a:r>
            <a:r>
              <a:rPr lang="zh-CN" altLang="en-US" sz="1800" b="0" dirty="0">
                <a:latin typeface="+mn-lt"/>
                <a:ea typeface="楷体_GB2312" pitchFamily="49" charset="-122"/>
              </a:rPr>
              <a:t>，工作于方式</a:t>
            </a:r>
            <a:r>
              <a:rPr lang="en-US" altLang="zh-CN" sz="1800" b="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1800" b="0" dirty="0">
                <a:latin typeface="+mn-lt"/>
                <a:ea typeface="楷体_GB2312" pitchFamily="49" charset="-122"/>
              </a:rPr>
              <a:t>（方波输出），每隔固定时间产生一次中断，用来维持系统日历时钟，初始计数值为</a:t>
            </a:r>
            <a:r>
              <a:rPr lang="en-US" altLang="zh-CN" sz="1800" b="0" dirty="0">
                <a:latin typeface="+mn-lt"/>
                <a:ea typeface="楷体_GB2312" pitchFamily="49" charset="-122"/>
              </a:rPr>
              <a:t>0</a:t>
            </a:r>
            <a:r>
              <a:rPr lang="zh-CN" altLang="en-US" sz="1800" b="0" dirty="0">
                <a:latin typeface="+mn-lt"/>
                <a:ea typeface="楷体_GB2312" pitchFamily="49" charset="-122"/>
              </a:rPr>
              <a:t>（</a:t>
            </a:r>
            <a:r>
              <a:rPr lang="en-US" altLang="zh-CN" sz="1800" b="0" dirty="0">
                <a:latin typeface="+mn-lt"/>
                <a:ea typeface="楷体_GB2312" pitchFamily="49" charset="-122"/>
              </a:rPr>
              <a:t>65536</a:t>
            </a:r>
            <a:r>
              <a:rPr lang="zh-CN" altLang="en-US" sz="1800" b="0" dirty="0">
                <a:latin typeface="+mn-lt"/>
                <a:ea typeface="楷体_GB2312" pitchFamily="49" charset="-122"/>
              </a:rPr>
              <a:t>）：</a:t>
            </a:r>
            <a:endParaRPr lang="en-US" altLang="zh-CN" sz="1800" b="0" dirty="0">
              <a:latin typeface="+mn-lt"/>
              <a:ea typeface="楷体_GB2312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2051720" y="2460044"/>
            <a:ext cx="5796644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dirty="0"/>
              <a:t>初始化：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 	AL, 36H		;</a:t>
            </a:r>
            <a:r>
              <a:rPr lang="zh-CN" altLang="en-US" sz="1600" dirty="0"/>
              <a:t>控制字：</a:t>
            </a:r>
            <a:r>
              <a:rPr lang="en-US" altLang="zh-CN" sz="1600" dirty="0"/>
              <a:t>00110110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OUT	43H, AL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	AL, 0H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OUT	40H, AL		 ;</a:t>
            </a:r>
            <a:r>
              <a:rPr lang="zh-CN" altLang="en-US" sz="1600" dirty="0"/>
              <a:t>计数值低</a:t>
            </a:r>
            <a:r>
              <a:rPr lang="en-US" altLang="zh-CN" sz="1600" dirty="0"/>
              <a:t>8</a:t>
            </a:r>
            <a:r>
              <a:rPr lang="zh-CN" altLang="en-US" sz="1600" dirty="0"/>
              <a:t>位写入计数器</a:t>
            </a:r>
            <a:r>
              <a:rPr lang="en-US" altLang="zh-CN" sz="1600" dirty="0"/>
              <a:t>0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OUT	40H, AL		;</a:t>
            </a:r>
            <a:r>
              <a:rPr lang="zh-CN" altLang="en-US" sz="1600" dirty="0"/>
              <a:t>计数值高</a:t>
            </a:r>
            <a:r>
              <a:rPr lang="en-US" altLang="zh-CN" sz="1600" dirty="0"/>
              <a:t>8</a:t>
            </a:r>
            <a:r>
              <a:rPr lang="zh-CN" altLang="en-US" sz="1600" dirty="0"/>
              <a:t>位写入计数器</a:t>
            </a:r>
            <a:r>
              <a:rPr lang="en-US" altLang="zh-CN" sz="1600" dirty="0"/>
              <a:t>0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35242" y="5482402"/>
            <a:ext cx="7279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因此输出脉冲频率为：</a:t>
            </a:r>
            <a:endParaRPr lang="zh-CN" altLang="en-US" sz="1800" dirty="0"/>
          </a:p>
          <a:p>
            <a:r>
              <a:rPr lang="zh-CN" altLang="en-US" sz="1800" dirty="0"/>
              <a:t>      </a:t>
            </a:r>
            <a:r>
              <a:rPr lang="en-US" altLang="zh-CN" sz="1800" dirty="0"/>
              <a:t>1.19318MHz/65536=18.2Hz</a:t>
            </a:r>
            <a:endParaRPr lang="en-US" altLang="zh-CN" sz="1800" dirty="0"/>
          </a:p>
          <a:p>
            <a:r>
              <a:rPr lang="en-US" altLang="zh-CN" sz="1800" dirty="0"/>
              <a:t>    </a:t>
            </a:r>
            <a:r>
              <a:rPr lang="zh-CN" altLang="en-US" sz="1800" dirty="0"/>
              <a:t>每秒产生</a:t>
            </a:r>
            <a:r>
              <a:rPr lang="en-US" altLang="zh-CN" sz="1800" dirty="0"/>
              <a:t>18.2</a:t>
            </a:r>
            <a:r>
              <a:rPr lang="zh-CN" altLang="en-US" sz="1800" dirty="0"/>
              <a:t>次中断，即每</a:t>
            </a:r>
            <a:r>
              <a:rPr lang="en-US" altLang="zh-CN" sz="1800" dirty="0"/>
              <a:t>55ms</a:t>
            </a:r>
            <a:r>
              <a:rPr lang="zh-CN" altLang="en-US" sz="1800" dirty="0"/>
              <a:t>产生一次中断。</a:t>
            </a: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Text Box 19"/>
          <p:cNvSpPr txBox="1">
            <a:spLocks noChangeArrowheads="1"/>
          </p:cNvSpPr>
          <p:nvPr/>
        </p:nvSpPr>
        <p:spPr bwMode="auto">
          <a:xfrm>
            <a:off x="431540" y="965761"/>
            <a:ext cx="813690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</a:rPr>
              <a:t>应用</a:t>
            </a:r>
            <a:r>
              <a:rPr lang="en-US" altLang="zh-CN" sz="1800" dirty="0">
                <a:solidFill>
                  <a:srgbClr val="FF0000"/>
                </a:solidFill>
              </a:rPr>
              <a:t>2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计时器</a:t>
            </a:r>
            <a:r>
              <a:rPr lang="en-US" altLang="zh-CN" sz="1800" dirty="0"/>
              <a:t>1</a:t>
            </a:r>
            <a:r>
              <a:rPr lang="zh-CN" altLang="en-US" sz="1800" dirty="0"/>
              <a:t>控制</a:t>
            </a:r>
            <a:r>
              <a:rPr lang="en-US" altLang="zh-CN" sz="1800" dirty="0"/>
              <a:t>DRAM</a:t>
            </a:r>
            <a:r>
              <a:rPr lang="zh-CN" altLang="en-US" sz="1800" dirty="0"/>
              <a:t>刷新</a:t>
            </a:r>
            <a:endParaRPr lang="en-US" altLang="zh-CN" sz="180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1800" dirty="0">
                <a:latin typeface="+mn-lt"/>
                <a:ea typeface="楷体_GB2312" pitchFamily="49" charset="-122"/>
              </a:rPr>
              <a:t>    在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PC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机中，要求在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2ms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内对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DRAM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进行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128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次刷新，也就是刷新时间间隔为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2/128=15.6</a:t>
            </a:r>
            <a:r>
              <a:rPr lang="en-US" altLang="zh-CN" sz="1800" dirty="0">
                <a:ea typeface="楷体_GB2312" pitchFamily="49" charset="-122"/>
              </a:rPr>
              <a:t>μs</a:t>
            </a:r>
            <a:r>
              <a:rPr lang="zh-CN" altLang="en-US" sz="1800" dirty="0">
                <a:ea typeface="楷体_GB2312" pitchFamily="49" charset="-122"/>
              </a:rPr>
              <a:t>。因此，系统将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计数器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1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接到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DMA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上，每隔</a:t>
            </a:r>
            <a:r>
              <a:rPr lang="en-US" altLang="zh-CN" sz="1800" dirty="0">
                <a:ea typeface="楷体_GB2312" pitchFamily="49" charset="-122"/>
              </a:rPr>
              <a:t>15.6μs</a:t>
            </a:r>
            <a:r>
              <a:rPr lang="zh-CN" altLang="en-US" sz="1800" dirty="0">
                <a:ea typeface="楷体_GB2312" pitchFamily="49" charset="-122"/>
              </a:rPr>
              <a:t>作为</a:t>
            </a:r>
            <a:r>
              <a:rPr lang="en-US" altLang="zh-CN" sz="1800" dirty="0">
                <a:ea typeface="楷体_GB2312" pitchFamily="49" charset="-122"/>
              </a:rPr>
              <a:t>DMA</a:t>
            </a:r>
            <a:r>
              <a:rPr lang="zh-CN" altLang="en-US" sz="1800" dirty="0">
                <a:ea typeface="楷体_GB2312" pitchFamily="49" charset="-122"/>
              </a:rPr>
              <a:t>的请求信号，让其对</a:t>
            </a:r>
            <a:r>
              <a:rPr lang="en-US" altLang="zh-CN" sz="1800" dirty="0">
                <a:ea typeface="楷体_GB2312" pitchFamily="49" charset="-122"/>
              </a:rPr>
              <a:t>DRAM</a:t>
            </a:r>
            <a:r>
              <a:rPr lang="zh-CN" altLang="en-US" sz="1800" dirty="0">
                <a:ea typeface="楷体_GB2312" pitchFamily="49" charset="-122"/>
              </a:rPr>
              <a:t>进行刷新，该计数器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工作于方式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（周期性分频输出）。</a:t>
            </a:r>
            <a:endParaRPr lang="en-US" altLang="zh-CN" sz="180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1800" dirty="0">
                <a:latin typeface="+mn-lt"/>
                <a:ea typeface="楷体_GB2312" pitchFamily="49" charset="-122"/>
              </a:rPr>
              <a:t>    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如何计算计数初值，并对该计数器进行初始化？</a:t>
            </a:r>
            <a:endParaRPr lang="en-US" altLang="zh-CN" sz="180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1800" dirty="0">
                <a:ea typeface="楷体_GB2312" pitchFamily="49" charset="-122"/>
              </a:rPr>
              <a:t>	</a:t>
            </a:r>
            <a:r>
              <a:rPr lang="zh-CN" altLang="en-US" sz="1800" dirty="0">
                <a:ea typeface="楷体_GB2312" pitchFamily="49" charset="-122"/>
              </a:rPr>
              <a:t>刷新频率为：</a:t>
            </a:r>
            <a:r>
              <a:rPr lang="en-US" altLang="zh-CN" sz="1800" dirty="0">
                <a:ea typeface="楷体_GB2312" pitchFamily="49" charset="-122"/>
              </a:rPr>
              <a:t>1000000/15.6=64102Hz</a:t>
            </a:r>
            <a:endParaRPr lang="en-US" altLang="zh-CN" sz="1800" dirty="0"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1800" dirty="0">
                <a:latin typeface="+mn-lt"/>
                <a:ea typeface="楷体_GB2312" pitchFamily="49" charset="-122"/>
              </a:rPr>
              <a:t>	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计数初值为：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1.193MHz/64102=18.6</a:t>
            </a:r>
            <a:endParaRPr lang="en-US" altLang="zh-CN" sz="1800" dirty="0">
              <a:latin typeface="+mn-lt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1800" dirty="0">
                <a:latin typeface="+mn-lt"/>
                <a:ea typeface="楷体_GB2312" pitchFamily="49" charset="-122"/>
              </a:rPr>
              <a:t>    因此计数初值可设为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18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，系统每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15μs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向</a:t>
            </a:r>
            <a:r>
              <a:rPr lang="en-US" altLang="zh-CN" sz="1800" dirty="0">
                <a:latin typeface="+mn-lt"/>
                <a:ea typeface="楷体_GB2312" pitchFamily="49" charset="-122"/>
              </a:rPr>
              <a:t>DMA</a:t>
            </a:r>
            <a:r>
              <a:rPr lang="zh-CN" altLang="en-US" sz="1800" dirty="0">
                <a:latin typeface="+mn-lt"/>
                <a:ea typeface="楷体_GB2312" pitchFamily="49" charset="-122"/>
              </a:rPr>
              <a:t>发一次请求信号</a:t>
            </a:r>
            <a:r>
              <a:rPr lang="zh-CN" altLang="en-US" sz="1800" dirty="0"/>
              <a:t>。</a:t>
            </a:r>
            <a:endParaRPr lang="zh-CN" altLang="en-US" sz="1800" dirty="0">
              <a:latin typeface="+mn-lt"/>
              <a:ea typeface="楷体_GB2312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763688" y="4077072"/>
            <a:ext cx="57966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dirty="0"/>
              <a:t>初始化：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 	AL, 54H		;</a:t>
            </a:r>
            <a:r>
              <a:rPr lang="zh-CN" altLang="en-US" sz="1600" dirty="0"/>
              <a:t>控制字：</a:t>
            </a:r>
            <a:r>
              <a:rPr lang="en-US" altLang="zh-CN" sz="1600" dirty="0"/>
              <a:t>01010100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OUT	43H, AL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MOV	AL, 18</a:t>
            </a:r>
            <a:endParaRPr lang="en-US" altLang="zh-CN" sz="1600" dirty="0"/>
          </a:p>
          <a:p>
            <a:pPr>
              <a:spcBef>
                <a:spcPct val="50000"/>
              </a:spcBef>
            </a:pPr>
            <a:r>
              <a:rPr lang="en-US" altLang="zh-CN" sz="1600" dirty="0"/>
              <a:t>OUT	41H, AL		 ;</a:t>
            </a:r>
            <a:r>
              <a:rPr lang="zh-CN" altLang="en-US" sz="1600" dirty="0"/>
              <a:t>计数值低</a:t>
            </a:r>
            <a:r>
              <a:rPr lang="en-US" altLang="zh-CN" sz="1600" dirty="0"/>
              <a:t>8</a:t>
            </a:r>
            <a:r>
              <a:rPr lang="zh-CN" altLang="en-US" sz="1600" dirty="0"/>
              <a:t>位写入计数器</a:t>
            </a:r>
            <a:r>
              <a:rPr lang="en-US" altLang="zh-CN" sz="1600" dirty="0"/>
              <a:t>0</a:t>
            </a:r>
            <a:endParaRPr lang="en-US" altLang="zh-CN" sz="1600" dirty="0"/>
          </a:p>
          <a:p>
            <a:pPr algn="l">
              <a:spcBef>
                <a:spcPct val="50000"/>
              </a:spcBef>
            </a:pPr>
            <a:r>
              <a:rPr lang="en-US" altLang="zh-CN" sz="1600" dirty="0"/>
              <a:t>…</a:t>
            </a:r>
            <a:endParaRPr lang="en-US" altLang="zh-CN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Text Box 2"/>
          <p:cNvSpPr txBox="1">
            <a:spLocks noChangeArrowheads="1"/>
          </p:cNvSpPr>
          <p:nvPr/>
        </p:nvSpPr>
        <p:spPr bwMode="auto">
          <a:xfrm>
            <a:off x="609600" y="609600"/>
            <a:ext cx="792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endParaRPr lang="zh-CN" altLang="zh-CN">
              <a:solidFill>
                <a:schemeClr val="accent2"/>
              </a:solidFill>
              <a:latin typeface="Lucida Sans Unicode" panose="020B0602030504020204" pitchFamily="34" charset="0"/>
            </a:endParaRPr>
          </a:p>
        </p:txBody>
      </p:sp>
      <p:grpSp>
        <p:nvGrpSpPr>
          <p:cNvPr id="303242" name="Group 138"/>
          <p:cNvGrpSpPr/>
          <p:nvPr/>
        </p:nvGrpSpPr>
        <p:grpSpPr bwMode="auto">
          <a:xfrm>
            <a:off x="348071" y="4293096"/>
            <a:ext cx="6780213" cy="2133600"/>
            <a:chOff x="1104" y="2832"/>
            <a:chExt cx="4271" cy="1344"/>
          </a:xfrm>
        </p:grpSpPr>
        <p:sp>
          <p:nvSpPr>
            <p:cNvPr id="303194" name="Rectangle 90"/>
            <p:cNvSpPr>
              <a:spLocks noChangeArrowheads="1"/>
            </p:cNvSpPr>
            <p:nvPr/>
          </p:nvSpPr>
          <p:spPr bwMode="auto">
            <a:xfrm>
              <a:off x="1104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195" name="Rectangle 91"/>
            <p:cNvSpPr>
              <a:spLocks noChangeArrowheads="1"/>
            </p:cNvSpPr>
            <p:nvPr/>
          </p:nvSpPr>
          <p:spPr bwMode="auto">
            <a:xfrm>
              <a:off x="1872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196" name="Rectangle 92"/>
            <p:cNvSpPr>
              <a:spLocks noChangeArrowheads="1"/>
            </p:cNvSpPr>
            <p:nvPr/>
          </p:nvSpPr>
          <p:spPr bwMode="auto">
            <a:xfrm>
              <a:off x="2256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197" name="Rectangle 93"/>
            <p:cNvSpPr>
              <a:spLocks noChangeArrowheads="1"/>
            </p:cNvSpPr>
            <p:nvPr/>
          </p:nvSpPr>
          <p:spPr bwMode="auto">
            <a:xfrm>
              <a:off x="1488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199" name="Rectangle 95"/>
            <p:cNvSpPr>
              <a:spLocks noChangeArrowheads="1"/>
            </p:cNvSpPr>
            <p:nvPr/>
          </p:nvSpPr>
          <p:spPr bwMode="auto">
            <a:xfrm>
              <a:off x="2640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00" name="Rectangle 96"/>
            <p:cNvSpPr>
              <a:spLocks noChangeArrowheads="1"/>
            </p:cNvSpPr>
            <p:nvPr/>
          </p:nvSpPr>
          <p:spPr bwMode="auto">
            <a:xfrm>
              <a:off x="3408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01" name="Rectangle 97"/>
            <p:cNvSpPr>
              <a:spLocks noChangeArrowheads="1"/>
            </p:cNvSpPr>
            <p:nvPr/>
          </p:nvSpPr>
          <p:spPr bwMode="auto">
            <a:xfrm>
              <a:off x="3792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02" name="Rectangle 98"/>
            <p:cNvSpPr>
              <a:spLocks noChangeArrowheads="1"/>
            </p:cNvSpPr>
            <p:nvPr/>
          </p:nvSpPr>
          <p:spPr bwMode="auto">
            <a:xfrm>
              <a:off x="3024" y="3072"/>
              <a:ext cx="384" cy="24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03" name="Text Box 99"/>
            <p:cNvSpPr txBox="1">
              <a:spLocks noChangeArrowheads="1"/>
            </p:cNvSpPr>
            <p:nvPr/>
          </p:nvSpPr>
          <p:spPr bwMode="auto">
            <a:xfrm>
              <a:off x="1152" y="2832"/>
              <a:ext cx="17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2"/>
                  </a:solidFill>
                  <a:ea typeface="楷体_GB2312" pitchFamily="49" charset="-122"/>
                </a:rPr>
                <a:t>设备控制寄存器</a:t>
              </a:r>
              <a:r>
                <a:rPr lang="en-US" altLang="zh-CN" sz="2000" b="1" dirty="0">
                  <a:ea typeface="楷体_GB2312" pitchFamily="49" charset="-122"/>
                </a:rPr>
                <a:t>( </a:t>
              </a:r>
              <a:r>
                <a:rPr lang="en-US" altLang="zh-CN" sz="2000" b="1" dirty="0">
                  <a:latin typeface="Lucida Console" panose="020B0609040504020204" pitchFamily="49" charset="0"/>
                  <a:ea typeface="楷体_GB2312" pitchFamily="49" charset="-122"/>
                </a:rPr>
                <a:t>61h</a:t>
              </a:r>
              <a:r>
                <a:rPr lang="en-US" altLang="zh-CN" sz="2000" b="1" dirty="0">
                  <a:ea typeface="楷体_GB2312" pitchFamily="49" charset="-122"/>
                </a:rPr>
                <a:t> )</a:t>
              </a:r>
              <a:endParaRPr lang="en-US" altLang="zh-CN" sz="2000" b="1" dirty="0">
                <a:ea typeface="楷体_GB2312" pitchFamily="49" charset="-122"/>
              </a:endParaRPr>
            </a:p>
          </p:txBody>
        </p:sp>
        <p:sp>
          <p:nvSpPr>
            <p:cNvPr id="303205" name="Text Box 101"/>
            <p:cNvSpPr txBox="1">
              <a:spLocks noChangeArrowheads="1"/>
            </p:cNvSpPr>
            <p:nvPr/>
          </p:nvSpPr>
          <p:spPr bwMode="auto">
            <a:xfrm>
              <a:off x="3408" y="3082"/>
              <a:ext cx="69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700" b="1">
                  <a:latin typeface="Lucida Console" panose="020B0609040504020204" pitchFamily="49" charset="0"/>
                </a:rPr>
                <a:t>1/0   0</a:t>
              </a:r>
              <a:endParaRPr lang="en-US" altLang="zh-CN" sz="1700" b="1">
                <a:latin typeface="Lucida Console" panose="020B0609040504020204" pitchFamily="49" charset="0"/>
              </a:endParaRPr>
            </a:p>
          </p:txBody>
        </p:sp>
        <p:sp>
          <p:nvSpPr>
            <p:cNvPr id="303206" name="AutoShape 102"/>
            <p:cNvSpPr/>
            <p:nvPr/>
          </p:nvSpPr>
          <p:spPr bwMode="auto">
            <a:xfrm rot="16200000">
              <a:off x="2184" y="2280"/>
              <a:ext cx="144" cy="2304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07" name="Text Box 103"/>
            <p:cNvSpPr txBox="1">
              <a:spLocks noChangeArrowheads="1"/>
            </p:cNvSpPr>
            <p:nvPr/>
          </p:nvSpPr>
          <p:spPr bwMode="auto">
            <a:xfrm>
              <a:off x="1488" y="3504"/>
              <a:ext cx="1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/>
                <a:t>  </a:t>
              </a:r>
              <a:r>
                <a:rPr lang="zh-CN" altLang="en-US" sz="1800" b="1"/>
                <a:t>控制其它外部设备</a:t>
              </a:r>
              <a:endParaRPr lang="zh-CN" altLang="en-US" sz="1800"/>
            </a:p>
          </p:txBody>
        </p:sp>
        <p:sp>
          <p:nvSpPr>
            <p:cNvPr id="303208" name="Text Box 104"/>
            <p:cNvSpPr txBox="1">
              <a:spLocks noChangeArrowheads="1"/>
            </p:cNvSpPr>
            <p:nvPr/>
          </p:nvSpPr>
          <p:spPr bwMode="auto">
            <a:xfrm>
              <a:off x="3763" y="3792"/>
              <a:ext cx="297" cy="384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与门</a:t>
              </a:r>
              <a:endParaRPr lang="zh-CN" altLang="en-US" sz="1800"/>
            </a:p>
          </p:txBody>
        </p:sp>
        <p:sp>
          <p:nvSpPr>
            <p:cNvPr id="303209" name="Text Box 105"/>
            <p:cNvSpPr txBox="1">
              <a:spLocks noChangeArrowheads="1"/>
            </p:cNvSpPr>
            <p:nvPr/>
          </p:nvSpPr>
          <p:spPr bwMode="auto">
            <a:xfrm>
              <a:off x="4252" y="3840"/>
              <a:ext cx="60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放大器</a:t>
              </a:r>
              <a:endParaRPr lang="zh-CN" altLang="en-US"/>
            </a:p>
          </p:txBody>
        </p:sp>
        <p:sp>
          <p:nvSpPr>
            <p:cNvPr id="303210" name="Line 106"/>
            <p:cNvSpPr>
              <a:spLocks noChangeShapeType="1"/>
            </p:cNvSpPr>
            <p:nvPr/>
          </p:nvSpPr>
          <p:spPr bwMode="auto">
            <a:xfrm>
              <a:off x="3600" y="3312"/>
              <a:ext cx="0" cy="6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1" name="Line 107"/>
            <p:cNvSpPr>
              <a:spLocks noChangeShapeType="1"/>
            </p:cNvSpPr>
            <p:nvPr/>
          </p:nvSpPr>
          <p:spPr bwMode="auto">
            <a:xfrm>
              <a:off x="3600" y="3984"/>
              <a:ext cx="1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2" name="Line 108"/>
            <p:cNvSpPr>
              <a:spLocks noChangeShapeType="1"/>
            </p:cNvSpPr>
            <p:nvPr/>
          </p:nvSpPr>
          <p:spPr bwMode="auto">
            <a:xfrm>
              <a:off x="4063" y="3984"/>
              <a:ext cx="19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4" name="Rectangle 110"/>
            <p:cNvSpPr>
              <a:spLocks noChangeArrowheads="1"/>
            </p:cNvSpPr>
            <p:nvPr/>
          </p:nvSpPr>
          <p:spPr bwMode="auto">
            <a:xfrm>
              <a:off x="5088" y="3917"/>
              <a:ext cx="48" cy="14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5" name="AutoShape 111"/>
            <p:cNvSpPr>
              <a:spLocks noChangeArrowheads="1"/>
            </p:cNvSpPr>
            <p:nvPr/>
          </p:nvSpPr>
          <p:spPr bwMode="auto">
            <a:xfrm rot="5400000">
              <a:off x="5016" y="3941"/>
              <a:ext cx="336" cy="9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6" name="Line 112"/>
            <p:cNvSpPr>
              <a:spLocks noChangeShapeType="1"/>
            </p:cNvSpPr>
            <p:nvPr/>
          </p:nvSpPr>
          <p:spPr bwMode="auto">
            <a:xfrm>
              <a:off x="4859" y="3984"/>
              <a:ext cx="24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8" name="Line 114"/>
            <p:cNvSpPr>
              <a:spLocks noChangeShapeType="1"/>
            </p:cNvSpPr>
            <p:nvPr/>
          </p:nvSpPr>
          <p:spPr bwMode="auto">
            <a:xfrm>
              <a:off x="4080" y="3744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19" name="Line 115"/>
            <p:cNvSpPr>
              <a:spLocks noChangeShapeType="1"/>
            </p:cNvSpPr>
            <p:nvPr/>
          </p:nvSpPr>
          <p:spPr bwMode="auto">
            <a:xfrm flipV="1">
              <a:off x="4128" y="360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0" name="Line 116"/>
            <p:cNvSpPr>
              <a:spLocks noChangeShapeType="1"/>
            </p:cNvSpPr>
            <p:nvPr/>
          </p:nvSpPr>
          <p:spPr bwMode="auto">
            <a:xfrm flipV="1">
              <a:off x="4176" y="360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1" name="Line 117"/>
            <p:cNvSpPr>
              <a:spLocks noChangeShapeType="1"/>
            </p:cNvSpPr>
            <p:nvPr/>
          </p:nvSpPr>
          <p:spPr bwMode="auto">
            <a:xfrm>
              <a:off x="4128" y="3600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2" name="Line 118"/>
            <p:cNvSpPr>
              <a:spLocks noChangeShapeType="1"/>
            </p:cNvSpPr>
            <p:nvPr/>
          </p:nvSpPr>
          <p:spPr bwMode="auto">
            <a:xfrm>
              <a:off x="4176" y="3744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3" name="Line 119"/>
            <p:cNvSpPr>
              <a:spLocks noChangeShapeType="1"/>
            </p:cNvSpPr>
            <p:nvPr/>
          </p:nvSpPr>
          <p:spPr bwMode="auto">
            <a:xfrm>
              <a:off x="4224" y="3600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4" name="Line 120"/>
            <p:cNvSpPr>
              <a:spLocks noChangeShapeType="1"/>
            </p:cNvSpPr>
            <p:nvPr/>
          </p:nvSpPr>
          <p:spPr bwMode="auto">
            <a:xfrm flipV="1">
              <a:off x="4224" y="360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5" name="Line 121"/>
            <p:cNvSpPr>
              <a:spLocks noChangeShapeType="1"/>
            </p:cNvSpPr>
            <p:nvPr/>
          </p:nvSpPr>
          <p:spPr bwMode="auto">
            <a:xfrm flipV="1">
              <a:off x="4272" y="360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6" name="Line 122"/>
            <p:cNvSpPr>
              <a:spLocks noChangeShapeType="1"/>
            </p:cNvSpPr>
            <p:nvPr/>
          </p:nvSpPr>
          <p:spPr bwMode="auto">
            <a:xfrm>
              <a:off x="4272" y="3744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7" name="Line 123"/>
            <p:cNvSpPr>
              <a:spLocks noChangeShapeType="1"/>
            </p:cNvSpPr>
            <p:nvPr/>
          </p:nvSpPr>
          <p:spPr bwMode="auto">
            <a:xfrm>
              <a:off x="4368" y="3744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8" name="Line 124"/>
            <p:cNvSpPr>
              <a:spLocks noChangeShapeType="1"/>
            </p:cNvSpPr>
            <p:nvPr/>
          </p:nvSpPr>
          <p:spPr bwMode="auto">
            <a:xfrm>
              <a:off x="4320" y="3600"/>
              <a:ext cx="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29" name="Line 125"/>
            <p:cNvSpPr>
              <a:spLocks noChangeShapeType="1"/>
            </p:cNvSpPr>
            <p:nvPr/>
          </p:nvSpPr>
          <p:spPr bwMode="auto">
            <a:xfrm flipV="1">
              <a:off x="4320" y="360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30" name="Line 126"/>
            <p:cNvSpPr>
              <a:spLocks noChangeShapeType="1"/>
            </p:cNvSpPr>
            <p:nvPr/>
          </p:nvSpPr>
          <p:spPr bwMode="auto">
            <a:xfrm flipV="1">
              <a:off x="4368" y="360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31" name="Line 127"/>
            <p:cNvSpPr>
              <a:spLocks noChangeShapeType="1"/>
            </p:cNvSpPr>
            <p:nvPr/>
          </p:nvSpPr>
          <p:spPr bwMode="auto">
            <a:xfrm>
              <a:off x="3984" y="3312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32" name="Line 128"/>
            <p:cNvSpPr>
              <a:spLocks noChangeShapeType="1"/>
            </p:cNvSpPr>
            <p:nvPr/>
          </p:nvSpPr>
          <p:spPr bwMode="auto">
            <a:xfrm>
              <a:off x="3984" y="3456"/>
              <a:ext cx="33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3233" name="Text Box 129"/>
            <p:cNvSpPr txBox="1">
              <a:spLocks noChangeArrowheads="1"/>
            </p:cNvSpPr>
            <p:nvPr/>
          </p:nvSpPr>
          <p:spPr bwMode="auto">
            <a:xfrm>
              <a:off x="4320" y="3312"/>
              <a:ext cx="10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/>
                <a:t>2</a:t>
              </a:r>
              <a:r>
                <a:rPr lang="zh-CN" altLang="en-US" sz="1800" b="1" dirty="0"/>
                <a:t>号定时器门控</a:t>
              </a:r>
              <a:endParaRPr lang="zh-CN" altLang="en-US" sz="1800" dirty="0"/>
            </a:p>
          </p:txBody>
        </p:sp>
        <p:sp>
          <p:nvSpPr>
            <p:cNvPr id="303234" name="Text Box 130"/>
            <p:cNvSpPr txBox="1">
              <a:spLocks noChangeArrowheads="1"/>
            </p:cNvSpPr>
            <p:nvPr/>
          </p:nvSpPr>
          <p:spPr bwMode="auto">
            <a:xfrm>
              <a:off x="3504" y="2880"/>
              <a:ext cx="58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Lucida Console" panose="020B0609040504020204" pitchFamily="49" charset="0"/>
                </a:rPr>
                <a:t>1     0</a:t>
              </a:r>
              <a:endParaRPr lang="en-US" altLang="zh-CN" sz="1400">
                <a:latin typeface="Lucida Console" panose="020B0609040504020204" pitchFamily="49" charset="0"/>
              </a:endParaRPr>
            </a:p>
          </p:txBody>
        </p:sp>
      </p:grpSp>
      <p:sp>
        <p:nvSpPr>
          <p:cNvPr id="303237" name="Text Box 133"/>
          <p:cNvSpPr txBox="1">
            <a:spLocks noChangeArrowheads="1"/>
          </p:cNvSpPr>
          <p:nvPr/>
        </p:nvSpPr>
        <p:spPr bwMode="auto">
          <a:xfrm>
            <a:off x="457200" y="1196752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例：</a:t>
            </a:r>
            <a:r>
              <a:rPr lang="en-US" altLang="zh-CN" b="1" dirty="0"/>
              <a:t>Sound </a:t>
            </a:r>
            <a:r>
              <a:rPr lang="zh-CN" altLang="en-US" b="1" dirty="0"/>
              <a:t>程序</a:t>
            </a:r>
            <a:endParaRPr lang="en-US" altLang="zh-CN" b="1" baseline="30000" dirty="0"/>
          </a:p>
        </p:txBody>
      </p:sp>
      <p:sp>
        <p:nvSpPr>
          <p:cNvPr id="4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  <a:sym typeface="+mn-ea"/>
              </a:rPr>
              <a:t>程序直接控制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  <a:sym typeface="+mn-ea"/>
              </a:rPr>
              <a:t>I/O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  <a:sym typeface="+mn-ea"/>
              </a:rPr>
              <a:t>方式 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2168860"/>
            <a:ext cx="7994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第九讲中，通过控制</a:t>
            </a:r>
            <a:r>
              <a:rPr lang="en-US" altLang="zh-CN" dirty="0"/>
              <a:t>8255A</a:t>
            </a:r>
            <a:r>
              <a:rPr lang="zh-CN" altLang="en-US" dirty="0"/>
              <a:t>的设备控制寄存器</a:t>
            </a:r>
            <a:r>
              <a:rPr lang="en-US" altLang="zh-CN" dirty="0"/>
              <a:t>61H</a:t>
            </a:r>
            <a:r>
              <a:rPr lang="zh-CN" altLang="en-US" dirty="0"/>
              <a:t>的</a:t>
            </a:r>
            <a:r>
              <a:rPr lang="en-US" altLang="zh-CN" dirty="0"/>
              <a:t>PB1</a:t>
            </a:r>
            <a:r>
              <a:rPr lang="zh-CN" altLang="en-US" dirty="0"/>
              <a:t>位交替位</a:t>
            </a:r>
            <a:r>
              <a:rPr lang="en-US" altLang="zh-CN" dirty="0"/>
              <a:t>1</a:t>
            </a:r>
            <a:r>
              <a:rPr lang="zh-CN" altLang="en-US" dirty="0"/>
              <a:t>或</a:t>
            </a:r>
            <a:r>
              <a:rPr lang="en-US" altLang="zh-CN" dirty="0"/>
              <a:t>0</a:t>
            </a:r>
            <a:r>
              <a:rPr lang="zh-CN" altLang="en-US" dirty="0"/>
              <a:t>，以产生一个脉冲电流，经过放大器后推动扬声器发声，这种控制发声的方式称为</a:t>
            </a:r>
            <a:r>
              <a:rPr lang="zh-CN" altLang="en-US" dirty="0">
                <a:solidFill>
                  <a:srgbClr val="FF0000"/>
                </a:solidFill>
              </a:rPr>
              <a:t>位触发方式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807804" y="73069"/>
            <a:ext cx="6300700" cy="674030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b="0" dirty="0"/>
              <a:t>CODES SEGMENT</a:t>
            </a:r>
            <a:endParaRPr lang="en-US" altLang="zh-CN" b="0" dirty="0"/>
          </a:p>
          <a:p>
            <a:r>
              <a:rPr lang="en-US" altLang="zh-CN" b="0" dirty="0"/>
              <a:t>START:</a:t>
            </a:r>
            <a:endParaRPr lang="en-US" altLang="zh-CN" b="0" dirty="0"/>
          </a:p>
          <a:p>
            <a:r>
              <a:rPr lang="en-US" altLang="zh-CN" b="0" dirty="0"/>
              <a:t>    	</a:t>
            </a:r>
            <a:r>
              <a:rPr lang="en-US" altLang="zh-CN" b="0" dirty="0" err="1"/>
              <a:t>mov</a:t>
            </a:r>
            <a:r>
              <a:rPr lang="en-US" altLang="zh-CN" b="0" dirty="0"/>
              <a:t>   dx,  0ffffH	;</a:t>
            </a:r>
            <a:r>
              <a:rPr lang="zh-CN" altLang="en-US" b="0" dirty="0"/>
              <a:t>响铃持续多长</a:t>
            </a:r>
            <a:endParaRPr lang="en-US" altLang="zh-CN" b="0" dirty="0"/>
          </a:p>
          <a:p>
            <a:r>
              <a:rPr lang="en-US" altLang="zh-CN" b="0" dirty="0"/>
              <a:t>   	in       al,  61h</a:t>
            </a:r>
            <a:endParaRPr lang="en-US" altLang="zh-CN" b="0" dirty="0"/>
          </a:p>
          <a:p>
            <a:r>
              <a:rPr lang="en-US" altLang="zh-CN" b="0" dirty="0"/>
              <a:t>   	and     al,  11111100b</a:t>
            </a:r>
            <a:endParaRPr lang="en-US" altLang="zh-CN" b="0" dirty="0"/>
          </a:p>
          <a:p>
            <a:r>
              <a:rPr lang="en-US" altLang="zh-CN" b="0" dirty="0"/>
              <a:t>sound: </a:t>
            </a:r>
            <a:endParaRPr lang="en-US" altLang="zh-CN" b="0" dirty="0"/>
          </a:p>
          <a:p>
            <a:r>
              <a:rPr lang="en-US" altLang="zh-CN" b="0" dirty="0"/>
              <a:t>	</a:t>
            </a:r>
            <a:r>
              <a:rPr lang="en-US" altLang="zh-CN" b="0" dirty="0" err="1"/>
              <a:t>xor</a:t>
            </a:r>
            <a:r>
              <a:rPr lang="en-US" altLang="zh-CN" b="0" dirty="0"/>
              <a:t>     al,  2</a:t>
            </a:r>
            <a:endParaRPr lang="en-US" altLang="zh-CN" b="0" dirty="0"/>
          </a:p>
          <a:p>
            <a:r>
              <a:rPr lang="en-US" altLang="zh-CN" b="0" dirty="0"/>
              <a:t>	out     61h, al</a:t>
            </a:r>
            <a:endParaRPr lang="en-US" altLang="zh-CN" b="0" dirty="0"/>
          </a:p>
          <a:p>
            <a:r>
              <a:rPr lang="en-US" altLang="zh-CN" b="0" dirty="0"/>
              <a:t>	</a:t>
            </a:r>
            <a:r>
              <a:rPr lang="en-US" altLang="zh-CN" b="0" dirty="0" err="1"/>
              <a:t>mov</a:t>
            </a:r>
            <a:r>
              <a:rPr lang="en-US" altLang="zh-CN" b="0" dirty="0"/>
              <a:t>   cx,  140h</a:t>
            </a:r>
            <a:endParaRPr lang="en-US" altLang="zh-CN" b="0" dirty="0"/>
          </a:p>
          <a:p>
            <a:r>
              <a:rPr lang="en-US" altLang="zh-CN" b="0" dirty="0"/>
              <a:t>wait1: </a:t>
            </a:r>
            <a:endParaRPr lang="en-US" altLang="zh-CN" b="0" dirty="0"/>
          </a:p>
          <a:p>
            <a:r>
              <a:rPr lang="en-US" altLang="zh-CN" b="0" dirty="0"/>
              <a:t>	loop   wait1	;</a:t>
            </a:r>
            <a:r>
              <a:rPr lang="zh-CN" altLang="en-US" b="0" dirty="0"/>
              <a:t>延时</a:t>
            </a:r>
            <a:endParaRPr lang="en-US" altLang="zh-CN" b="0" dirty="0"/>
          </a:p>
          <a:p>
            <a:r>
              <a:rPr lang="en-US" altLang="zh-CN" b="0" dirty="0"/>
              <a:t>    	</a:t>
            </a:r>
            <a:r>
              <a:rPr lang="en-US" altLang="zh-CN" b="0" dirty="0" err="1"/>
              <a:t>dec</a:t>
            </a:r>
            <a:r>
              <a:rPr lang="en-US" altLang="zh-CN" b="0" dirty="0"/>
              <a:t>     dx</a:t>
            </a:r>
            <a:endParaRPr lang="en-US" altLang="zh-CN" b="0" dirty="0"/>
          </a:p>
          <a:p>
            <a:r>
              <a:rPr lang="en-US" altLang="zh-CN" b="0" dirty="0"/>
              <a:t>    	</a:t>
            </a:r>
            <a:r>
              <a:rPr lang="en-US" altLang="zh-CN" b="0" dirty="0" err="1"/>
              <a:t>jnz</a:t>
            </a:r>
            <a:r>
              <a:rPr lang="en-US" altLang="zh-CN" b="0" dirty="0"/>
              <a:t>     sound</a:t>
            </a:r>
            <a:endParaRPr lang="en-US" altLang="zh-CN" b="0" dirty="0"/>
          </a:p>
          <a:p>
            <a:r>
              <a:rPr lang="en-US" altLang="zh-CN" b="0" dirty="0"/>
              <a:t>      </a:t>
            </a:r>
            <a:endParaRPr lang="en-US" altLang="zh-CN" b="0" dirty="0"/>
          </a:p>
          <a:p>
            <a:r>
              <a:rPr lang="en-US" altLang="zh-CN" b="0" dirty="0"/>
              <a:t>    	MOV AH,4CH</a:t>
            </a:r>
            <a:endParaRPr lang="en-US" altLang="zh-CN" b="0" dirty="0"/>
          </a:p>
          <a:p>
            <a:r>
              <a:rPr lang="en-US" altLang="zh-CN" b="0" dirty="0"/>
              <a:t>    	INT 21H</a:t>
            </a:r>
            <a:endParaRPr lang="en-US" altLang="zh-CN" b="0" dirty="0"/>
          </a:p>
          <a:p>
            <a:r>
              <a:rPr lang="en-US" altLang="zh-CN" b="0" dirty="0"/>
              <a:t>CODES ENDS</a:t>
            </a:r>
            <a:endParaRPr lang="en-US" altLang="zh-CN" b="0" dirty="0"/>
          </a:p>
          <a:p>
            <a:r>
              <a:rPr lang="en-US" altLang="zh-CN" b="0" dirty="0"/>
              <a:t>    END START</a:t>
            </a:r>
            <a:endParaRPr lang="zh-CN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81" name="Text Box 49"/>
          <p:cNvSpPr txBox="1">
            <a:spLocks noChangeArrowheads="1"/>
          </p:cNvSpPr>
          <p:nvPr/>
        </p:nvSpPr>
        <p:spPr bwMode="auto">
          <a:xfrm>
            <a:off x="359532" y="998119"/>
            <a:ext cx="8492524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</a:rPr>
              <a:t>应用</a:t>
            </a:r>
            <a:r>
              <a:rPr lang="en-US" altLang="zh-CN" sz="1800" dirty="0">
                <a:solidFill>
                  <a:srgbClr val="FF0000"/>
                </a:solidFill>
              </a:rPr>
              <a:t>3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计数器</a:t>
            </a:r>
            <a:r>
              <a:rPr lang="en-US" altLang="zh-CN" sz="1800" dirty="0"/>
              <a:t>2</a:t>
            </a:r>
            <a:r>
              <a:rPr lang="zh-CN" altLang="en-US" sz="1800" dirty="0"/>
              <a:t>控制扬声器</a:t>
            </a:r>
            <a:r>
              <a:rPr lang="zh-CN" altLang="en-US" sz="1400" dirty="0"/>
              <a:t>        </a:t>
            </a:r>
            <a:endParaRPr lang="zh-CN" altLang="en-US" sz="1400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ea typeface="楷体_GB2312" pitchFamily="49" charset="-122"/>
              </a:rPr>
              <a:t>        </a:t>
            </a:r>
            <a:r>
              <a:rPr lang="zh-CN" altLang="en-US" sz="1800" dirty="0">
                <a:ea typeface="楷体_GB2312" pitchFamily="49" charset="-122"/>
              </a:rPr>
              <a:t>在</a:t>
            </a:r>
            <a:r>
              <a:rPr lang="en-US" altLang="zh-CN" sz="1800" dirty="0">
                <a:ea typeface="楷体_GB2312" pitchFamily="49" charset="-122"/>
              </a:rPr>
              <a:t>IBM PC</a:t>
            </a:r>
            <a:r>
              <a:rPr lang="zh-CN" altLang="en-US" sz="1800" dirty="0">
                <a:ea typeface="楷体_GB2312" pitchFamily="49" charset="-122"/>
              </a:rPr>
              <a:t>系列机上有两个可以驱动扬声器的信号。一路是</a:t>
            </a:r>
            <a:r>
              <a:rPr lang="en-US" altLang="zh-CN" sz="1800" dirty="0">
                <a:ea typeface="楷体_GB2312" pitchFamily="49" charset="-122"/>
              </a:rPr>
              <a:t>8255A</a:t>
            </a:r>
            <a:r>
              <a:rPr lang="zh-CN" altLang="en-US" sz="1800" dirty="0">
                <a:ea typeface="楷体_GB2312" pitchFamily="49" charset="-122"/>
              </a:rPr>
              <a:t>（端口号</a:t>
            </a:r>
            <a:r>
              <a:rPr lang="en-US" altLang="zh-CN" sz="1800" dirty="0">
                <a:ea typeface="楷体_GB2312" pitchFamily="49" charset="-122"/>
              </a:rPr>
              <a:t>61H</a:t>
            </a:r>
            <a:r>
              <a:rPr lang="zh-CN" altLang="en-US" sz="1800" dirty="0">
                <a:ea typeface="楷体_GB2312" pitchFamily="49" charset="-122"/>
              </a:rPr>
              <a:t>）的第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位的输出；另一路是</a:t>
            </a:r>
            <a:r>
              <a:rPr lang="en-US" altLang="zh-CN" sz="1800" dirty="0">
                <a:ea typeface="楷体_GB2312" pitchFamily="49" charset="-122"/>
              </a:rPr>
              <a:t>8253/8254</a:t>
            </a:r>
            <a:r>
              <a:rPr lang="zh-CN" altLang="en-US" sz="1800" dirty="0">
                <a:ea typeface="楷体_GB2312" pitchFamily="49" charset="-122"/>
              </a:rPr>
              <a:t>计数器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 （端口号</a:t>
            </a:r>
            <a:r>
              <a:rPr lang="en-US" altLang="zh-CN" sz="1800" dirty="0">
                <a:ea typeface="楷体_GB2312" pitchFamily="49" charset="-122"/>
              </a:rPr>
              <a:t>42H</a:t>
            </a:r>
            <a:r>
              <a:rPr lang="zh-CN" altLang="en-US" sz="1800" dirty="0">
                <a:ea typeface="楷体_GB2312" pitchFamily="49" charset="-122"/>
              </a:rPr>
              <a:t>）的输出，定时器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的输出和端口</a:t>
            </a:r>
            <a:r>
              <a:rPr lang="en-US" altLang="zh-CN" sz="1800" dirty="0">
                <a:ea typeface="楷体_GB2312" pitchFamily="49" charset="-122"/>
              </a:rPr>
              <a:t>61H</a:t>
            </a:r>
            <a:r>
              <a:rPr lang="zh-CN" altLang="en-US" sz="1800" dirty="0">
                <a:ea typeface="楷体_GB2312" pitchFamily="49" charset="-122"/>
              </a:rPr>
              <a:t>的</a:t>
            </a:r>
            <a:r>
              <a:rPr lang="en-US" altLang="zh-CN" sz="1800" dirty="0">
                <a:ea typeface="楷体_GB2312" pitchFamily="49" charset="-122"/>
              </a:rPr>
              <a:t>PB1</a:t>
            </a:r>
            <a:r>
              <a:rPr lang="zh-CN" altLang="en-US" sz="1800" dirty="0">
                <a:ea typeface="楷体_GB2312" pitchFamily="49" charset="-122"/>
              </a:rPr>
              <a:t>通过一个与门与扬声器的驱动电路相连。</a:t>
            </a:r>
            <a:endParaRPr lang="en-US" altLang="zh-CN" sz="1800" dirty="0"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800" dirty="0">
                <a:ea typeface="楷体_GB2312" pitchFamily="49" charset="-122"/>
              </a:rPr>
              <a:t>当</a:t>
            </a:r>
            <a:r>
              <a:rPr lang="en-US" altLang="zh-CN" sz="1800" dirty="0">
                <a:ea typeface="楷体_GB2312" pitchFamily="49" charset="-122"/>
              </a:rPr>
              <a:t>PB0=1</a:t>
            </a:r>
            <a:r>
              <a:rPr lang="zh-CN" altLang="en-US" sz="1800" dirty="0">
                <a:ea typeface="楷体_GB2312" pitchFamily="49" charset="-122"/>
              </a:rPr>
              <a:t>时，定时器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获得高电平，使得定时器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可以在模式</a:t>
            </a:r>
            <a:r>
              <a:rPr lang="en-US" altLang="zh-CN" sz="1800" dirty="0">
                <a:ea typeface="楷体_GB2312" pitchFamily="49" charset="-122"/>
              </a:rPr>
              <a:t>3</a:t>
            </a:r>
            <a:r>
              <a:rPr lang="zh-CN" altLang="en-US" sz="1800" dirty="0">
                <a:ea typeface="楷体_GB2312" pitchFamily="49" charset="-122"/>
              </a:rPr>
              <a:t>下工作。</a:t>
            </a:r>
            <a:endParaRPr lang="en-US" altLang="zh-CN" sz="1800" dirty="0"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800" dirty="0">
                <a:ea typeface="楷体_GB2312" pitchFamily="49" charset="-122"/>
              </a:rPr>
              <a:t>当</a:t>
            </a:r>
            <a:r>
              <a:rPr lang="en-US" altLang="zh-CN" sz="1800" dirty="0">
                <a:ea typeface="楷体_GB2312" pitchFamily="49" charset="-122"/>
              </a:rPr>
              <a:t>PB1=1</a:t>
            </a:r>
            <a:r>
              <a:rPr lang="zh-CN" altLang="en-US" sz="1800" dirty="0">
                <a:ea typeface="楷体_GB2312" pitchFamily="49" charset="-122"/>
              </a:rPr>
              <a:t>时，允许定时器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的输出信号到达扬声器电路，从而产生声音。</a:t>
            </a:r>
            <a:endParaRPr lang="zh-CN" altLang="en-US" sz="1800" dirty="0">
              <a:ea typeface="楷体_GB2312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6918" y="3943794"/>
            <a:ext cx="3866502" cy="117739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9026" y="3501007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方式三：方波发生器</a:t>
            </a:r>
            <a:endParaRPr lang="zh-CN" altLang="en-US" sz="1800" dirty="0"/>
          </a:p>
        </p:txBody>
      </p:sp>
      <p:pic>
        <p:nvPicPr>
          <p:cNvPr id="1026" name="Picture 2" descr="https://img-blog.csdnimg.cn/2019112311485867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" y="3573016"/>
            <a:ext cx="4827050" cy="154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373258" y="5471927"/>
            <a:ext cx="862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800" dirty="0">
                <a:ea typeface="楷体_GB2312" pitchFamily="49" charset="-122"/>
              </a:rPr>
              <a:t>扬声器可以产生不同频率不同振幅的震动，振幅决定了音量，频率决定了音色。</a:t>
            </a:r>
            <a:endParaRPr lang="zh-CN" altLang="en-US" sz="1800" dirty="0">
              <a:ea typeface="楷体_GB2312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800" dirty="0">
                <a:ea typeface="楷体_GB2312" pitchFamily="49" charset="-122"/>
              </a:rPr>
              <a:t>人能听到的声音频率范围</a:t>
            </a:r>
            <a:r>
              <a:rPr lang="en-US" altLang="zh-CN" sz="1800" dirty="0">
                <a:ea typeface="楷体_GB2312" pitchFamily="49" charset="-122"/>
              </a:rPr>
              <a:t>20~20KHz</a:t>
            </a:r>
            <a:r>
              <a:rPr lang="zh-CN" altLang="en-US" sz="1800" dirty="0">
                <a:ea typeface="楷体_GB2312" pitchFamily="49" charset="-122"/>
              </a:rPr>
              <a:t>，但最敏感的范围是</a:t>
            </a:r>
            <a:r>
              <a:rPr lang="en-US" altLang="zh-CN" sz="1800" dirty="0">
                <a:ea typeface="楷体_GB2312" pitchFamily="49" charset="-122"/>
              </a:rPr>
              <a:t>1K~3KHz</a:t>
            </a:r>
            <a:r>
              <a:rPr lang="zh-CN" altLang="en-US" sz="1800" dirty="0">
                <a:ea typeface="楷体_GB2312" pitchFamily="49" charset="-122"/>
              </a:rPr>
              <a:t>之间的声音。</a:t>
            </a:r>
            <a:endParaRPr lang="zh-CN" altLang="en-US" sz="1800" dirty="0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511660" y="930356"/>
            <a:ext cx="7524836" cy="587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1700" b="0" dirty="0"/>
              <a:t>BEEP	PROC    FAR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    	AL, 0B6H	 ;</a:t>
            </a:r>
            <a:r>
              <a:rPr lang="zh-CN" altLang="en-US" sz="1700" b="0" dirty="0"/>
              <a:t>计数器</a:t>
            </a:r>
            <a:r>
              <a:rPr lang="en-US" altLang="zh-CN" sz="1700" b="0" dirty="0"/>
              <a:t>2</a:t>
            </a:r>
            <a:r>
              <a:rPr lang="zh-CN" altLang="en-US" sz="1700" b="0" dirty="0"/>
              <a:t>的控制字</a:t>
            </a:r>
            <a:r>
              <a:rPr lang="en-US" altLang="zh-CN" sz="1700" b="0" dirty="0"/>
              <a:t>10110110</a:t>
            </a:r>
            <a:r>
              <a:rPr lang="zh-CN" altLang="en-US" sz="1700" b="0" dirty="0"/>
              <a:t>，方式</a:t>
            </a:r>
            <a:r>
              <a:rPr lang="en-US" altLang="zh-CN" sz="1700" b="0" dirty="0"/>
              <a:t>3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 	43H, AL		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	AX, 1193		;</a:t>
            </a:r>
            <a:r>
              <a:rPr lang="zh-CN" altLang="en-US" sz="1700" b="0" dirty="0"/>
              <a:t>计数初值，频率为</a:t>
            </a:r>
            <a:r>
              <a:rPr lang="en-US" altLang="zh-CN" sz="1700" b="0" dirty="0"/>
              <a:t>1.193M/1KHZ=1193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	42H, AL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	AL, AH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	42H, AL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IN	AL, 61H		;</a:t>
            </a:r>
            <a:r>
              <a:rPr lang="zh-CN" altLang="en-US" sz="1700" b="0" dirty="0"/>
              <a:t>读端口</a:t>
            </a:r>
            <a:r>
              <a:rPr lang="en-US" altLang="zh-CN" sz="1700" b="0" dirty="0"/>
              <a:t>61H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	AH, AL		;</a:t>
            </a:r>
            <a:r>
              <a:rPr lang="zh-CN" altLang="en-US" sz="1700" b="0" dirty="0"/>
              <a:t>备份以便恢复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OR	AL, 03H		;</a:t>
            </a:r>
            <a:r>
              <a:rPr lang="zh-CN" altLang="en-US" sz="1700" b="0" dirty="0"/>
              <a:t>端口</a:t>
            </a:r>
            <a:r>
              <a:rPr lang="en-US" altLang="zh-CN" sz="1700" b="0" dirty="0"/>
              <a:t>61H</a:t>
            </a:r>
            <a:r>
              <a:rPr lang="zh-CN" altLang="en-US" sz="1700" b="0" dirty="0"/>
              <a:t>低</a:t>
            </a:r>
            <a:r>
              <a:rPr lang="en-US" altLang="zh-CN" sz="1700" b="0" dirty="0"/>
              <a:t>2</a:t>
            </a:r>
            <a:r>
              <a:rPr lang="zh-CN" altLang="en-US" sz="1700" b="0" dirty="0"/>
              <a:t>位设成</a:t>
            </a:r>
            <a:r>
              <a:rPr lang="en-US" altLang="zh-CN" sz="1700" b="0" dirty="0"/>
              <a:t>1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	61H, AL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       </a:t>
            </a:r>
            <a:r>
              <a:rPr lang="en-US" altLang="zh-CN" sz="1800" b="0" dirty="0"/>
              <a:t>Waiting: MOV 	AH, 0bH		;</a:t>
            </a:r>
            <a:r>
              <a:rPr lang="zh-CN" altLang="en-US" sz="1800" b="0" dirty="0"/>
              <a:t>按任意键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INT 	21h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INC 	AL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JNZ	Waiting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MOV	AL, AH	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AND	AL, 0FDH	;11111101B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700" b="0" dirty="0"/>
              <a:t>	OUT	61H, AL		;</a:t>
            </a:r>
            <a:r>
              <a:rPr lang="zh-CN" altLang="en-US" sz="1700" b="0" dirty="0"/>
              <a:t>停止发声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RET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BEEP	ENDP</a:t>
            </a:r>
            <a:endParaRPr lang="en-US" altLang="zh-CN" sz="1700" b="0" dirty="0"/>
          </a:p>
        </p:txBody>
      </p:sp>
      <p:sp>
        <p:nvSpPr>
          <p:cNvPr id="3" name="矩形 2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84068" y="4113076"/>
            <a:ext cx="3672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b="0" dirty="0"/>
              <a:t>;</a:t>
            </a:r>
            <a:r>
              <a:rPr lang="zh-CN" altLang="en-US" sz="1800" b="0" dirty="0"/>
              <a:t>如果按下一个键，则</a:t>
            </a:r>
            <a:r>
              <a:rPr lang="en-US" altLang="zh-CN" sz="1800" b="0" dirty="0"/>
              <a:t>AL=0FFH</a:t>
            </a:r>
            <a:r>
              <a:rPr lang="zh-CN" altLang="en-US" sz="1800" b="0" dirty="0"/>
              <a:t>，否则</a:t>
            </a:r>
            <a:r>
              <a:rPr lang="en-US" altLang="zh-CN" sz="1800" b="0" dirty="0"/>
              <a:t>AL=0</a:t>
            </a:r>
            <a:endParaRPr lang="zh-CN" altLang="en-US" sz="1800" b="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81" name="Text Box 49"/>
          <p:cNvSpPr txBox="1">
            <a:spLocks noChangeArrowheads="1"/>
          </p:cNvSpPr>
          <p:nvPr/>
        </p:nvSpPr>
        <p:spPr bwMode="auto">
          <a:xfrm>
            <a:off x="359532" y="998119"/>
            <a:ext cx="8492524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</a:rPr>
              <a:t>应用</a:t>
            </a:r>
            <a:r>
              <a:rPr lang="en-US" altLang="zh-CN" sz="1800" dirty="0">
                <a:solidFill>
                  <a:srgbClr val="FF0000"/>
                </a:solidFill>
              </a:rPr>
              <a:t>4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综合应用</a:t>
            </a:r>
            <a:r>
              <a:rPr lang="zh-CN" altLang="en-US" sz="1400" dirty="0"/>
              <a:t>        </a:t>
            </a:r>
            <a:endParaRPr lang="zh-CN" altLang="en-US" sz="1400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ea typeface="楷体_GB2312" pitchFamily="49" charset="-122"/>
              </a:rPr>
              <a:t>        </a:t>
            </a:r>
            <a:r>
              <a:rPr lang="zh-CN" altLang="en-US" sz="1800" dirty="0">
                <a:ea typeface="楷体_GB2312" pitchFamily="49" charset="-122"/>
              </a:rPr>
              <a:t>某洗衣粉包装流水线，一个包装箱能装</a:t>
            </a:r>
            <a:r>
              <a:rPr lang="en-US" altLang="zh-CN" sz="1800" dirty="0">
                <a:ea typeface="楷体_GB2312" pitchFamily="49" charset="-122"/>
              </a:rPr>
              <a:t>12</a:t>
            </a:r>
            <a:r>
              <a:rPr lang="zh-CN" altLang="en-US" sz="1800" dirty="0">
                <a:ea typeface="楷体_GB2312" pitchFamily="49" charset="-122"/>
              </a:rPr>
              <a:t>袋洗衣粉，要求每通过</a:t>
            </a:r>
            <a:r>
              <a:rPr lang="en-US" altLang="zh-CN" sz="1800" dirty="0">
                <a:ea typeface="楷体_GB2312" pitchFamily="49" charset="-122"/>
              </a:rPr>
              <a:t>12</a:t>
            </a:r>
            <a:r>
              <a:rPr lang="zh-CN" altLang="en-US" sz="1800" dirty="0">
                <a:ea typeface="楷体_GB2312" pitchFamily="49" charset="-122"/>
              </a:rPr>
              <a:t>袋洗衣粉流水线暂停</a:t>
            </a:r>
            <a:r>
              <a:rPr lang="en-US" altLang="zh-CN" sz="1800" dirty="0">
                <a:ea typeface="楷体_GB2312" pitchFamily="49" charset="-122"/>
              </a:rPr>
              <a:t>5</a:t>
            </a:r>
            <a:r>
              <a:rPr lang="zh-CN" altLang="en-US" sz="1800" dirty="0">
                <a:ea typeface="楷体_GB2312" pitchFamily="49" charset="-122"/>
              </a:rPr>
              <a:t>秒，等待封装打包，然后再启动流水线，继续包装，按</a:t>
            </a:r>
            <a:r>
              <a:rPr lang="en-US" altLang="zh-CN" sz="1800" dirty="0">
                <a:ea typeface="楷体_GB2312" pitchFamily="49" charset="-122"/>
              </a:rPr>
              <a:t>ESC</a:t>
            </a:r>
            <a:r>
              <a:rPr lang="zh-CN" altLang="en-US" sz="1800" dirty="0">
                <a:ea typeface="楷体_GB2312" pitchFamily="49" charset="-122"/>
              </a:rPr>
              <a:t>键则停止生产，假设</a:t>
            </a:r>
            <a:r>
              <a:rPr lang="en-US" altLang="zh-CN" sz="1800" dirty="0">
                <a:ea typeface="楷体_GB2312" pitchFamily="49" charset="-122"/>
              </a:rPr>
              <a:t>8254</a:t>
            </a:r>
            <a:r>
              <a:rPr lang="zh-CN" altLang="en-US" sz="1800" dirty="0">
                <a:ea typeface="楷体_GB2312" pitchFamily="49" charset="-122"/>
              </a:rPr>
              <a:t>的端口为</a:t>
            </a:r>
            <a:r>
              <a:rPr lang="en-US" altLang="zh-CN" sz="1800" dirty="0">
                <a:ea typeface="楷体_GB2312" pitchFamily="49" charset="-122"/>
              </a:rPr>
              <a:t>40H~43H</a:t>
            </a:r>
            <a:r>
              <a:rPr lang="zh-CN" altLang="en-US" sz="1800" dirty="0">
                <a:ea typeface="楷体_GB2312" pitchFamily="49" charset="-122"/>
              </a:rPr>
              <a:t>（</a:t>
            </a:r>
            <a:r>
              <a:rPr lang="en-US" altLang="zh-CN" sz="1800" dirty="0">
                <a:ea typeface="楷体_GB2312" pitchFamily="49" charset="-122"/>
              </a:rPr>
              <a:t>43H</a:t>
            </a:r>
            <a:r>
              <a:rPr lang="zh-CN" altLang="en-US" sz="1800" dirty="0">
                <a:ea typeface="楷体_GB2312" pitchFamily="49" charset="-122"/>
              </a:rPr>
              <a:t>为控制字端口）。</a:t>
            </a:r>
            <a:endParaRPr lang="en-US" altLang="zh-CN" sz="1800" dirty="0">
              <a:ea typeface="楷体_GB2312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2381" y="2430577"/>
            <a:ext cx="862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ea typeface="楷体_GB2312" pitchFamily="49" charset="-122"/>
              </a:rPr>
              <a:t>分析：有两个工作要做，一是对</a:t>
            </a:r>
            <a:r>
              <a:rPr lang="en-US" altLang="zh-CN" sz="1800" dirty="0">
                <a:ea typeface="楷体_GB2312" pitchFamily="49" charset="-122"/>
              </a:rPr>
              <a:t>12</a:t>
            </a:r>
            <a:r>
              <a:rPr lang="zh-CN" altLang="en-US" sz="1800" dirty="0">
                <a:ea typeface="楷体_GB2312" pitchFamily="49" charset="-122"/>
              </a:rPr>
              <a:t>袋洗衣粉的计数；二是对</a:t>
            </a:r>
            <a:r>
              <a:rPr lang="en-US" altLang="zh-CN" sz="1800" dirty="0">
                <a:ea typeface="楷体_GB2312" pitchFamily="49" charset="-122"/>
              </a:rPr>
              <a:t>5s</a:t>
            </a:r>
            <a:r>
              <a:rPr lang="zh-CN" altLang="en-US" sz="1800" dirty="0">
                <a:ea typeface="楷体_GB2312" pitchFamily="49" charset="-122"/>
              </a:rPr>
              <a:t>停顿定时。</a:t>
            </a:r>
            <a:endParaRPr lang="en-US" altLang="zh-CN" sz="1800" dirty="0">
              <a:ea typeface="楷体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866590"/>
            <a:ext cx="4064266" cy="201741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0141" y="2941983"/>
            <a:ext cx="862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ea typeface="楷体_GB2312" pitchFamily="49" charset="-122"/>
              </a:rPr>
              <a:t>方法：选用计数器</a:t>
            </a:r>
            <a:r>
              <a:rPr lang="en-US" altLang="zh-CN" sz="1800" dirty="0">
                <a:ea typeface="楷体_GB2312" pitchFamily="49" charset="-122"/>
              </a:rPr>
              <a:t>0</a:t>
            </a:r>
            <a:r>
              <a:rPr lang="zh-CN" altLang="en-US" sz="1800" dirty="0">
                <a:ea typeface="楷体_GB2312" pitchFamily="49" charset="-122"/>
              </a:rPr>
              <a:t>做计数器（方式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），计数器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做定时器（方式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），并把计数器</a:t>
            </a:r>
            <a:r>
              <a:rPr lang="en-US" altLang="zh-CN" sz="1800" dirty="0">
                <a:ea typeface="楷体_GB2312" pitchFamily="49" charset="-122"/>
              </a:rPr>
              <a:t>0</a:t>
            </a:r>
            <a:r>
              <a:rPr lang="zh-CN" altLang="en-US" sz="1800" dirty="0">
                <a:ea typeface="楷体_GB2312" pitchFamily="49" charset="-122"/>
              </a:rPr>
              <a:t>的</a:t>
            </a:r>
            <a:r>
              <a:rPr lang="en-US" altLang="zh-CN" sz="1800" dirty="0">
                <a:ea typeface="楷体_GB2312" pitchFamily="49" charset="-122"/>
              </a:rPr>
              <a:t>OUT</a:t>
            </a:r>
            <a:r>
              <a:rPr lang="zh-CN" altLang="en-US" sz="1800" dirty="0">
                <a:ea typeface="楷体_GB2312" pitchFamily="49" charset="-122"/>
              </a:rPr>
              <a:t>连接到计数器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的</a:t>
            </a:r>
            <a:r>
              <a:rPr lang="en-US" altLang="zh-CN" sz="1800" dirty="0">
                <a:ea typeface="楷体_GB2312" pitchFamily="49" charset="-122"/>
              </a:rPr>
              <a:t>GATE</a:t>
            </a:r>
            <a:r>
              <a:rPr lang="zh-CN" altLang="en-US" sz="1800" dirty="0">
                <a:ea typeface="楷体_GB2312" pitchFamily="49" charset="-122"/>
              </a:rPr>
              <a:t>端，去触发定时。</a:t>
            </a:r>
            <a:endParaRPr lang="en-US" altLang="zh-CN" sz="1800" dirty="0"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744" y="5247996"/>
            <a:ext cx="3903827" cy="1223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518" y="3855954"/>
            <a:ext cx="4158025" cy="114521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28184" y="3439854"/>
            <a:ext cx="18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楷体_GB2312" pitchFamily="49" charset="-122"/>
              </a:rPr>
              <a:t>方式</a:t>
            </a:r>
            <a:r>
              <a:rPr lang="en-US" altLang="zh-CN" sz="1600" dirty="0">
                <a:ea typeface="楷体_GB2312" pitchFamily="49" charset="-122"/>
              </a:rPr>
              <a:t>2</a:t>
            </a:r>
            <a:r>
              <a:rPr lang="zh-CN" altLang="en-US" sz="1600" dirty="0">
                <a:ea typeface="楷体_GB2312" pitchFamily="49" charset="-122"/>
              </a:rPr>
              <a:t>：分频器</a:t>
            </a:r>
            <a:endParaRPr lang="zh-CN" alt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300192" y="5001173"/>
            <a:ext cx="2088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楷体_GB2312" pitchFamily="49" charset="-122"/>
              </a:rPr>
              <a:t>方式</a:t>
            </a:r>
            <a:r>
              <a:rPr lang="en-US" altLang="zh-CN" sz="1600" dirty="0">
                <a:ea typeface="楷体_GB2312" pitchFamily="49" charset="-122"/>
              </a:rPr>
              <a:t>1</a:t>
            </a:r>
            <a:r>
              <a:rPr lang="zh-CN" altLang="en-US" sz="1600" dirty="0">
                <a:ea typeface="楷体_GB2312" pitchFamily="49" charset="-122"/>
              </a:rPr>
              <a:t>：可重复触发</a:t>
            </a:r>
            <a:endParaRPr lang="zh-CN" altLang="en-US" sz="1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464962" y="5931446"/>
            <a:ext cx="4064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定时结束后，</a:t>
            </a:r>
            <a:r>
              <a:rPr lang="en-US" altLang="zh-CN" sz="1600" dirty="0"/>
              <a:t>OUT1</a:t>
            </a:r>
            <a:r>
              <a:rPr lang="zh-CN" altLang="en-US" sz="1600" dirty="0"/>
              <a:t>输出高电平再次启动工作台计数。</a:t>
            </a:r>
            <a:endParaRPr lang="zh-CN" alt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81" name="Text Box 49"/>
          <p:cNvSpPr txBox="1">
            <a:spLocks noChangeArrowheads="1"/>
          </p:cNvSpPr>
          <p:nvPr/>
        </p:nvSpPr>
        <p:spPr bwMode="auto">
          <a:xfrm>
            <a:off x="359532" y="998119"/>
            <a:ext cx="8492524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</a:rPr>
              <a:t>应用</a:t>
            </a:r>
            <a:r>
              <a:rPr lang="en-US" altLang="zh-CN" sz="1800" dirty="0">
                <a:solidFill>
                  <a:srgbClr val="FF0000"/>
                </a:solidFill>
              </a:rPr>
              <a:t>4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综合应用</a:t>
            </a:r>
            <a:r>
              <a:rPr lang="zh-CN" altLang="en-US" sz="1400" dirty="0"/>
              <a:t>        </a:t>
            </a:r>
            <a:endParaRPr lang="zh-CN" altLang="en-US" sz="1400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ea typeface="楷体_GB2312" pitchFamily="49" charset="-122"/>
              </a:rPr>
              <a:t>        </a:t>
            </a:r>
            <a:r>
              <a:rPr lang="zh-CN" altLang="en-US" sz="1800" dirty="0">
                <a:ea typeface="楷体_GB2312" pitchFamily="49" charset="-122"/>
              </a:rPr>
              <a:t>某洗衣粉包装流水线，一个包装箱能装</a:t>
            </a:r>
            <a:r>
              <a:rPr lang="en-US" altLang="zh-CN" sz="1800" dirty="0">
                <a:ea typeface="楷体_GB2312" pitchFamily="49" charset="-122"/>
              </a:rPr>
              <a:t>12</a:t>
            </a:r>
            <a:r>
              <a:rPr lang="zh-CN" altLang="en-US" sz="1800" dirty="0">
                <a:ea typeface="楷体_GB2312" pitchFamily="49" charset="-122"/>
              </a:rPr>
              <a:t>袋洗衣粉，要求每通过</a:t>
            </a:r>
            <a:r>
              <a:rPr lang="en-US" altLang="zh-CN" sz="1800" dirty="0">
                <a:ea typeface="楷体_GB2312" pitchFamily="49" charset="-122"/>
              </a:rPr>
              <a:t>12</a:t>
            </a:r>
            <a:r>
              <a:rPr lang="zh-CN" altLang="en-US" sz="1800" dirty="0">
                <a:ea typeface="楷体_GB2312" pitchFamily="49" charset="-122"/>
              </a:rPr>
              <a:t>袋洗衣粉流水线暂停</a:t>
            </a:r>
            <a:r>
              <a:rPr lang="en-US" altLang="zh-CN" sz="1800" dirty="0">
                <a:ea typeface="楷体_GB2312" pitchFamily="49" charset="-122"/>
              </a:rPr>
              <a:t>5</a:t>
            </a:r>
            <a:r>
              <a:rPr lang="zh-CN" altLang="en-US" sz="1800" dirty="0">
                <a:ea typeface="楷体_GB2312" pitchFamily="49" charset="-122"/>
              </a:rPr>
              <a:t>秒，等待封装打包，然后再启动流水线，继续包装，按</a:t>
            </a:r>
            <a:r>
              <a:rPr lang="en-US" altLang="zh-CN" sz="1800" dirty="0">
                <a:ea typeface="楷体_GB2312" pitchFamily="49" charset="-122"/>
              </a:rPr>
              <a:t>ESC</a:t>
            </a:r>
            <a:r>
              <a:rPr lang="zh-CN" altLang="en-US" sz="1800" dirty="0">
                <a:ea typeface="楷体_GB2312" pitchFamily="49" charset="-122"/>
              </a:rPr>
              <a:t>键则停止生产，假设</a:t>
            </a:r>
            <a:r>
              <a:rPr lang="en-US" altLang="zh-CN" sz="1800" dirty="0">
                <a:ea typeface="楷体_GB2312" pitchFamily="49" charset="-122"/>
              </a:rPr>
              <a:t>8254</a:t>
            </a:r>
            <a:r>
              <a:rPr lang="zh-CN" altLang="en-US" sz="1800" dirty="0">
                <a:ea typeface="楷体_GB2312" pitchFamily="49" charset="-122"/>
              </a:rPr>
              <a:t>的端口为</a:t>
            </a:r>
            <a:r>
              <a:rPr lang="en-US" altLang="zh-CN" sz="1800" dirty="0">
                <a:ea typeface="楷体_GB2312" pitchFamily="49" charset="-122"/>
              </a:rPr>
              <a:t>40H~43H</a:t>
            </a:r>
            <a:r>
              <a:rPr lang="zh-CN" altLang="en-US" sz="1800" dirty="0">
                <a:ea typeface="楷体_GB2312" pitchFamily="49" charset="-122"/>
              </a:rPr>
              <a:t>（</a:t>
            </a:r>
            <a:r>
              <a:rPr lang="en-US" altLang="zh-CN" sz="1800" dirty="0">
                <a:ea typeface="楷体_GB2312" pitchFamily="49" charset="-122"/>
              </a:rPr>
              <a:t>43H</a:t>
            </a:r>
            <a:r>
              <a:rPr lang="zh-CN" altLang="en-US" sz="1800" dirty="0">
                <a:ea typeface="楷体_GB2312" pitchFamily="49" charset="-122"/>
              </a:rPr>
              <a:t>为控制字端口）。</a:t>
            </a:r>
            <a:endParaRPr lang="en-US" altLang="zh-CN" sz="1800" dirty="0">
              <a:ea typeface="楷体_GB2312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2381" y="2430577"/>
            <a:ext cx="862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ea typeface="楷体_GB2312" pitchFamily="49" charset="-122"/>
              </a:rPr>
              <a:t>分析：有两个工作要做，一是对</a:t>
            </a:r>
            <a:r>
              <a:rPr lang="en-US" altLang="zh-CN" sz="1800" dirty="0">
                <a:ea typeface="楷体_GB2312" pitchFamily="49" charset="-122"/>
              </a:rPr>
              <a:t>12</a:t>
            </a:r>
            <a:r>
              <a:rPr lang="zh-CN" altLang="en-US" sz="1800" dirty="0">
                <a:ea typeface="楷体_GB2312" pitchFamily="49" charset="-122"/>
              </a:rPr>
              <a:t>袋洗衣粉的计数；二是对</a:t>
            </a:r>
            <a:r>
              <a:rPr lang="en-US" altLang="zh-CN" sz="1800" dirty="0">
                <a:ea typeface="楷体_GB2312" pitchFamily="49" charset="-122"/>
              </a:rPr>
              <a:t>5s</a:t>
            </a:r>
            <a:r>
              <a:rPr lang="zh-CN" altLang="en-US" sz="1800" dirty="0">
                <a:ea typeface="楷体_GB2312" pitchFamily="49" charset="-122"/>
              </a:rPr>
              <a:t>停顿定时。</a:t>
            </a:r>
            <a:endParaRPr lang="en-US" altLang="zh-CN" sz="1800" dirty="0">
              <a:ea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952" y="3846691"/>
            <a:ext cx="4427984" cy="247817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41" y="4077072"/>
            <a:ext cx="4064266" cy="201741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0141" y="2941983"/>
            <a:ext cx="862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ea typeface="楷体_GB2312" pitchFamily="49" charset="-122"/>
              </a:rPr>
              <a:t>方法：选用计数器</a:t>
            </a:r>
            <a:r>
              <a:rPr lang="en-US" altLang="zh-CN" sz="1800" dirty="0">
                <a:ea typeface="楷体_GB2312" pitchFamily="49" charset="-122"/>
              </a:rPr>
              <a:t>0</a:t>
            </a:r>
            <a:r>
              <a:rPr lang="zh-CN" altLang="en-US" sz="1800" dirty="0">
                <a:ea typeface="楷体_GB2312" pitchFamily="49" charset="-122"/>
              </a:rPr>
              <a:t>做计数器（方式</a:t>
            </a:r>
            <a:r>
              <a:rPr lang="en-US" altLang="zh-CN" sz="1800" dirty="0">
                <a:ea typeface="楷体_GB2312" pitchFamily="49" charset="-122"/>
              </a:rPr>
              <a:t>2</a:t>
            </a:r>
            <a:r>
              <a:rPr lang="zh-CN" altLang="en-US" sz="1800" dirty="0">
                <a:ea typeface="楷体_GB2312" pitchFamily="49" charset="-122"/>
              </a:rPr>
              <a:t>），计数器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做定时器（方式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），并把计数器</a:t>
            </a:r>
            <a:r>
              <a:rPr lang="en-US" altLang="zh-CN" sz="1800" dirty="0">
                <a:ea typeface="楷体_GB2312" pitchFamily="49" charset="-122"/>
              </a:rPr>
              <a:t>0</a:t>
            </a:r>
            <a:r>
              <a:rPr lang="zh-CN" altLang="en-US" sz="1800" dirty="0">
                <a:ea typeface="楷体_GB2312" pitchFamily="49" charset="-122"/>
              </a:rPr>
              <a:t>的</a:t>
            </a:r>
            <a:r>
              <a:rPr lang="en-US" altLang="zh-CN" sz="1800" dirty="0">
                <a:ea typeface="楷体_GB2312" pitchFamily="49" charset="-122"/>
              </a:rPr>
              <a:t>OUT</a:t>
            </a:r>
            <a:r>
              <a:rPr lang="zh-CN" altLang="en-US" sz="1800" dirty="0">
                <a:ea typeface="楷体_GB2312" pitchFamily="49" charset="-122"/>
              </a:rPr>
              <a:t>连接到计数器</a:t>
            </a:r>
            <a:r>
              <a:rPr lang="en-US" altLang="zh-CN" sz="1800" dirty="0">
                <a:ea typeface="楷体_GB2312" pitchFamily="49" charset="-122"/>
              </a:rPr>
              <a:t>1</a:t>
            </a:r>
            <a:r>
              <a:rPr lang="zh-CN" altLang="en-US" sz="1800" dirty="0">
                <a:ea typeface="楷体_GB2312" pitchFamily="49" charset="-122"/>
              </a:rPr>
              <a:t>的</a:t>
            </a:r>
            <a:r>
              <a:rPr lang="en-US" altLang="zh-CN" sz="1800" dirty="0">
                <a:ea typeface="楷体_GB2312" pitchFamily="49" charset="-122"/>
              </a:rPr>
              <a:t>GATE</a:t>
            </a:r>
            <a:r>
              <a:rPr lang="zh-CN" altLang="en-US" sz="1800" dirty="0">
                <a:ea typeface="楷体_GB2312" pitchFamily="49" charset="-122"/>
              </a:rPr>
              <a:t>端，去触发定时。</a:t>
            </a:r>
            <a:endParaRPr lang="en-US" altLang="zh-CN" sz="1800" dirty="0"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511660" y="930356"/>
            <a:ext cx="7524836" cy="5815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1700" b="0" dirty="0"/>
              <a:t>	MOV    	AL, 15H		;</a:t>
            </a:r>
            <a:r>
              <a:rPr lang="zh-CN" altLang="en-US" sz="1700" b="0" dirty="0"/>
              <a:t>计数器</a:t>
            </a:r>
            <a:r>
              <a:rPr lang="en-US" altLang="zh-CN" sz="1700" b="0" dirty="0"/>
              <a:t>0</a:t>
            </a:r>
            <a:r>
              <a:rPr lang="zh-CN" altLang="en-US" sz="1700" b="0" dirty="0"/>
              <a:t>的控制字</a:t>
            </a:r>
            <a:r>
              <a:rPr lang="en-US" altLang="zh-CN" sz="1700" b="0" dirty="0"/>
              <a:t>00010101</a:t>
            </a:r>
            <a:r>
              <a:rPr lang="zh-CN" altLang="en-US" sz="1700" b="0" dirty="0"/>
              <a:t>，方式</a:t>
            </a:r>
            <a:r>
              <a:rPr lang="en-US" altLang="zh-CN" sz="1700" b="0" dirty="0"/>
              <a:t>2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 	43H, AL		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	AL, 12		;</a:t>
            </a:r>
            <a:r>
              <a:rPr lang="zh-CN" altLang="en-US" sz="1700" b="0" dirty="0"/>
              <a:t>计数初值</a:t>
            </a:r>
            <a:r>
              <a:rPr lang="en-US" altLang="zh-CN" sz="1700" b="0" dirty="0"/>
              <a:t>: 12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	40H, AL</a:t>
            </a:r>
            <a:endParaRPr lang="en-US" altLang="zh-CN" sz="1700" b="0" dirty="0"/>
          </a:p>
          <a:p>
            <a:pPr>
              <a:spcBef>
                <a:spcPts val="0"/>
              </a:spcBef>
            </a:pPr>
            <a:r>
              <a:rPr lang="en-US" altLang="zh-CN" sz="1700" b="0" dirty="0"/>
              <a:t>	MOV    	AL, 73H		;</a:t>
            </a:r>
            <a:r>
              <a:rPr lang="zh-CN" altLang="en-US" sz="1700" b="0" dirty="0"/>
              <a:t>计数器</a:t>
            </a:r>
            <a:r>
              <a:rPr lang="en-US" altLang="zh-CN" sz="1700" b="0" dirty="0"/>
              <a:t>1</a:t>
            </a:r>
            <a:r>
              <a:rPr lang="zh-CN" altLang="en-US" sz="1700" b="0" dirty="0"/>
              <a:t>的控制字</a:t>
            </a:r>
            <a:r>
              <a:rPr lang="en-US" altLang="zh-CN" sz="1700" b="0" dirty="0"/>
              <a:t>01110011</a:t>
            </a:r>
            <a:r>
              <a:rPr lang="zh-CN" altLang="en-US" sz="1700" b="0" dirty="0"/>
              <a:t>，方式</a:t>
            </a:r>
            <a:r>
              <a:rPr lang="en-US" altLang="zh-CN" sz="1700" b="0" dirty="0"/>
              <a:t>1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	43H, AL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	AX, 500		;</a:t>
            </a:r>
            <a:r>
              <a:rPr lang="zh-CN" altLang="en-US" sz="1700" b="0" dirty="0"/>
              <a:t>定时常数</a:t>
            </a:r>
            <a:r>
              <a:rPr lang="en-US" altLang="zh-CN" sz="1700" b="0" dirty="0"/>
              <a:t>500</a:t>
            </a:r>
            <a:r>
              <a:rPr lang="zh-CN" altLang="en-US" sz="1700" b="0" dirty="0"/>
              <a:t>（</a:t>
            </a:r>
            <a:r>
              <a:rPr lang="en-US" altLang="zh-CN" sz="1700" b="0" dirty="0"/>
              <a:t>5s</a:t>
            </a:r>
            <a:r>
              <a:rPr lang="zh-CN" altLang="en-US" sz="1700" b="0" dirty="0"/>
              <a:t>，假设频率为</a:t>
            </a:r>
            <a:r>
              <a:rPr lang="en-US" altLang="zh-CN" sz="1700" b="0" dirty="0"/>
              <a:t>100HZ</a:t>
            </a:r>
            <a:r>
              <a:rPr lang="zh-CN" altLang="en-US" sz="1700" b="0" dirty="0"/>
              <a:t>）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OUT	41H, AL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	MOV	AL, AH</a:t>
            </a:r>
            <a:endParaRPr lang="en-US" altLang="zh-CN" sz="1700" b="0" dirty="0"/>
          </a:p>
          <a:p>
            <a:pPr>
              <a:spcBef>
                <a:spcPts val="0"/>
              </a:spcBef>
            </a:pPr>
            <a:r>
              <a:rPr lang="en-US" altLang="zh-CN" sz="1700" b="0" dirty="0"/>
              <a:t>	OUT	41H, AL</a:t>
            </a:r>
            <a:endParaRPr lang="en-US" altLang="zh-CN" sz="1700" b="0" dirty="0"/>
          </a:p>
          <a:p>
            <a:pPr algn="l">
              <a:spcBef>
                <a:spcPts val="0"/>
              </a:spcBef>
            </a:pPr>
            <a:r>
              <a:rPr lang="en-US" altLang="zh-CN" sz="1700" b="0" dirty="0"/>
              <a:t>       </a:t>
            </a:r>
            <a:r>
              <a:rPr lang="en-US" altLang="zh-CN" sz="1800" b="0" dirty="0"/>
              <a:t>Wait1: MOV 	AH, 0BH		;</a:t>
            </a:r>
            <a:r>
              <a:rPr lang="zh-CN" altLang="en-US" sz="1800" b="0" dirty="0"/>
              <a:t>按任意键继续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INT 	21h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INC 	AL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JNZ	Wait1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MOV	AH, 08H		;</a:t>
            </a:r>
            <a:r>
              <a:rPr lang="zh-CN" altLang="en-US" sz="1800" b="0" dirty="0"/>
              <a:t>是否按下了</a:t>
            </a:r>
            <a:r>
              <a:rPr lang="en-US" altLang="zh-CN" sz="1800" b="0" dirty="0"/>
              <a:t>ESC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INT	21H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CMP	AL, 1BH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JNE	Wait1</a:t>
            </a:r>
            <a:endParaRPr lang="en-US" altLang="zh-CN" sz="1800" b="0" dirty="0"/>
          </a:p>
          <a:p>
            <a:pPr lvl="1">
              <a:spcBef>
                <a:spcPts val="600"/>
              </a:spcBef>
            </a:pPr>
            <a:r>
              <a:rPr lang="en-US" altLang="zh-CN" sz="1800" b="0" dirty="0"/>
              <a:t>	…</a:t>
            </a:r>
            <a:endParaRPr lang="en-US" altLang="zh-CN" sz="1700" b="0" dirty="0"/>
          </a:p>
        </p:txBody>
      </p:sp>
      <p:sp>
        <p:nvSpPr>
          <p:cNvPr id="3" name="矩形 2"/>
          <p:cNvSpPr/>
          <p:nvPr/>
        </p:nvSpPr>
        <p:spPr>
          <a:xfrm>
            <a:off x="467544" y="294034"/>
            <a:ext cx="5993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可编程计数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定时器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8253/8254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0</TotalTime>
  <Words>9093</Words>
  <Application>WPS 演示</Application>
  <PresentationFormat>全屏显示(4:3)</PresentationFormat>
  <Paragraphs>604</Paragraphs>
  <Slides>39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8" baseType="lpstr">
      <vt:lpstr>Arial</vt:lpstr>
      <vt:lpstr>宋体</vt:lpstr>
      <vt:lpstr>Wingdings</vt:lpstr>
      <vt:lpstr>Times New Roman</vt:lpstr>
      <vt:lpstr>Verdana</vt:lpstr>
      <vt:lpstr>隶书</vt:lpstr>
      <vt:lpstr>Times New Roman</vt:lpstr>
      <vt:lpstr>华文楷体</vt:lpstr>
      <vt:lpstr>微软雅黑</vt:lpstr>
      <vt:lpstr>Arial Unicode MS</vt:lpstr>
      <vt:lpstr>楷体_GB2312</vt:lpstr>
      <vt:lpstr>新宋体</vt:lpstr>
      <vt:lpstr>Lucida Sans Unicode</vt:lpstr>
      <vt:lpstr>Lucida Console</vt:lpstr>
      <vt:lpstr>Wingdings</vt:lpstr>
      <vt:lpstr>楷体_GB2312</vt:lpstr>
      <vt:lpstr>方正楷体_GB2312</vt:lpstr>
      <vt:lpstr>MS PGothic</vt:lpstr>
      <vt:lpstr>Level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哈尔滨工业大学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陈磊工作总结</dc:title>
  <dc:creator>陈磊</dc:creator>
  <cp:lastModifiedBy>Lgm</cp:lastModifiedBy>
  <cp:revision>1175</cp:revision>
  <dcterms:created xsi:type="dcterms:W3CDTF">2004-04-02T12:11:00Z</dcterms:created>
  <dcterms:modified xsi:type="dcterms:W3CDTF">2026-10-13T00:06:50Z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4</vt:r8>
  </property>
  <property fmtid="{D5CDD505-2E9C-101B-9397-08002B2CF9AE}" pid="3" name="KSOProductBuildVer">
    <vt:lpwstr>2052-12.1.0.28505</vt:lpwstr>
  </property>
  <property fmtid="{D5CDD505-2E9C-101B-9397-08002B2CF9AE}" pid="4" name="ICV">
    <vt:lpwstr>A5A1D61B8C7A4F7AB9E737890A378362_12</vt:lpwstr>
  </property>
</Properties>
</file>