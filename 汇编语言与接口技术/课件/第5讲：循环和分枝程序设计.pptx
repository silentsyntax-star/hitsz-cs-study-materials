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2"/>
  </p:notesMasterIdLst>
  <p:sldIdLst>
    <p:sldId id="256" r:id="rId2"/>
    <p:sldId id="526" r:id="rId3"/>
    <p:sldId id="792" r:id="rId4"/>
    <p:sldId id="553" r:id="rId5"/>
    <p:sldId id="716" r:id="rId6"/>
    <p:sldId id="798" r:id="rId7"/>
    <p:sldId id="799" r:id="rId8"/>
    <p:sldId id="844" r:id="rId9"/>
    <p:sldId id="846" r:id="rId10"/>
    <p:sldId id="801" r:id="rId11"/>
    <p:sldId id="802" r:id="rId12"/>
    <p:sldId id="803" r:id="rId13"/>
    <p:sldId id="808" r:id="rId14"/>
    <p:sldId id="777" r:id="rId15"/>
    <p:sldId id="804" r:id="rId16"/>
    <p:sldId id="807" r:id="rId17"/>
    <p:sldId id="793" r:id="rId18"/>
    <p:sldId id="794" r:id="rId19"/>
    <p:sldId id="795" r:id="rId20"/>
    <p:sldId id="796" r:id="rId21"/>
    <p:sldId id="797" r:id="rId22"/>
    <p:sldId id="744" r:id="rId23"/>
    <p:sldId id="738" r:id="rId24"/>
    <p:sldId id="737" r:id="rId25"/>
    <p:sldId id="791" r:id="rId26"/>
    <p:sldId id="688" r:id="rId27"/>
    <p:sldId id="830" r:id="rId28"/>
    <p:sldId id="690" r:id="rId29"/>
    <p:sldId id="691" r:id="rId30"/>
    <p:sldId id="831" r:id="rId31"/>
    <p:sldId id="702" r:id="rId32"/>
    <p:sldId id="703" r:id="rId33"/>
    <p:sldId id="740" r:id="rId34"/>
    <p:sldId id="787" r:id="rId35"/>
    <p:sldId id="710" r:id="rId36"/>
    <p:sldId id="829" r:id="rId37"/>
    <p:sldId id="711" r:id="rId38"/>
    <p:sldId id="712" r:id="rId39"/>
    <p:sldId id="745" r:id="rId40"/>
    <p:sldId id="534" r:id="rId41"/>
    <p:sldId id="749" r:id="rId42"/>
    <p:sldId id="755" r:id="rId43"/>
    <p:sldId id="537" r:id="rId44"/>
    <p:sldId id="820" r:id="rId45"/>
    <p:sldId id="823" r:id="rId46"/>
    <p:sldId id="824" r:id="rId47"/>
    <p:sldId id="488" r:id="rId48"/>
    <p:sldId id="837" r:id="rId49"/>
    <p:sldId id="838" r:id="rId50"/>
    <p:sldId id="841" r:id="rId51"/>
    <p:sldId id="842" r:id="rId52"/>
    <p:sldId id="832" r:id="rId53"/>
    <p:sldId id="833" r:id="rId54"/>
    <p:sldId id="836" r:id="rId55"/>
    <p:sldId id="834" r:id="rId56"/>
    <p:sldId id="756" r:id="rId57"/>
    <p:sldId id="821" r:id="rId58"/>
    <p:sldId id="757" r:id="rId59"/>
    <p:sldId id="822" r:id="rId60"/>
    <p:sldId id="746" r:id="rId61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9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CCECFF"/>
    <a:srgbClr val="FFFFCC"/>
    <a:srgbClr val="66CCFF"/>
    <a:srgbClr val="6600FF"/>
    <a:srgbClr val="FF9900"/>
    <a:srgbClr val="FF3300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9"/>
    <p:restoredTop sz="89263" autoAdjust="0"/>
  </p:normalViewPr>
  <p:slideViewPr>
    <p:cSldViewPr showGuides="1">
      <p:cViewPr varScale="1">
        <p:scale>
          <a:sx n="84" d="100"/>
          <a:sy n="84" d="100"/>
        </p:scale>
        <p:origin x="1788" y="40"/>
      </p:cViewPr>
      <p:guideLst>
        <p:guide orient="horz" pos="2160"/>
        <p:guide pos="2899"/>
      </p:guideLst>
    </p:cSldViewPr>
  </p:slideViewPr>
  <p:outlineViewPr>
    <p:cViewPr>
      <p:scale>
        <a:sx n="25" d="100"/>
        <a:sy n="25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2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 sz="1200" b="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07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buFontTx/>
              <a:buNone/>
              <a:defRPr sz="1200" b="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508" name="Rectangle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707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Click to edit Master text styles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Second level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Third level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Fourth level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Fifth level</a:t>
            </a:r>
          </a:p>
        </p:txBody>
      </p:sp>
      <p:sp>
        <p:nvSpPr>
          <p:cNvPr id="6707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sz="1200" b="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07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  <a:t>‹#›</a:t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004929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2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n=8 bit</a:t>
            </a:r>
            <a:r>
              <a:rPr lang="zh-CN" altLang="en-US" sz="12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  <a:r>
              <a:rPr lang="zh-CN" altLang="zh-CN" sz="12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带符号数</a:t>
            </a:r>
            <a:r>
              <a:rPr lang="en-US" altLang="zh-CN" sz="12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(-128~127), </a:t>
            </a:r>
            <a:r>
              <a:rPr lang="zh-CN" altLang="en-US" sz="12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无符号数</a:t>
            </a:r>
            <a:r>
              <a:rPr lang="en-US" altLang="zh-CN" sz="12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(0~255)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如果前者后者都是正的，不会发生溢出，此时前者小于后者就是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sf=1 of=0</a:t>
            </a:r>
            <a:br>
              <a:rPr lang="en-US" altLang="zh-CN" dirty="0"/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如果前者后者都是负的，不会发生溢出，此时前者小于后者就是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sf=1 of=0</a:t>
            </a:r>
            <a:br>
              <a:rPr lang="en-US" altLang="zh-CN" dirty="0"/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如果前者为负后者为正，有可发生溢出，不发生溢出就是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sf=0 of=0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，发生溢出就是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sf=1 of=1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如果前者为正后者为负，有可发生溢出，不发生溢出就是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sf=0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of=0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，发生溢出就是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sf=0 of=1</a:t>
            </a:r>
            <a:br>
              <a:rPr lang="en-US" altLang="zh-CN" dirty="0"/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所以要用异或</a:t>
            </a:r>
            <a:endParaRPr lang="en-US" altLang="zh-CN" dirty="0"/>
          </a:p>
          <a:p>
            <a:r>
              <a:rPr lang="en-US" altLang="zh-CN" dirty="0"/>
              <a:t>OF</a:t>
            </a:r>
            <a:r>
              <a:rPr lang="zh-CN" altLang="en-US" dirty="0"/>
              <a:t>：</a:t>
            </a:r>
            <a:r>
              <a:rPr lang="en-US" altLang="zh-CN" dirty="0"/>
              <a:t>-121-11</a:t>
            </a:r>
          </a:p>
          <a:p>
            <a:r>
              <a:rPr lang="en-US" altLang="zh-CN" dirty="0"/>
              <a:t>SF</a:t>
            </a:r>
            <a:r>
              <a:rPr lang="zh-CN" altLang="en-US" dirty="0"/>
              <a:t>：</a:t>
            </a:r>
            <a:r>
              <a:rPr lang="en-US" altLang="zh-CN" dirty="0"/>
              <a:t>11-121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535681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算法</a:t>
            </a:r>
            <a:r>
              <a:rPr lang="en-US" altLang="zh-CN" dirty="0"/>
              <a:t>1</a:t>
            </a:r>
            <a:r>
              <a:rPr lang="zh-CN" altLang="en-US" dirty="0"/>
              <a:t>需循环</a:t>
            </a:r>
            <a:r>
              <a:rPr lang="en-US" altLang="zh-CN" dirty="0"/>
              <a:t>16</a:t>
            </a:r>
            <a:r>
              <a:rPr lang="zh-CN" altLang="en-US" dirty="0"/>
              <a:t>次，算法</a:t>
            </a:r>
            <a:r>
              <a:rPr lang="en-US" altLang="zh-CN" dirty="0"/>
              <a:t>2</a:t>
            </a:r>
            <a:r>
              <a:rPr lang="zh-CN" altLang="en-US" dirty="0"/>
              <a:t>循环次数可能低于</a:t>
            </a:r>
            <a:r>
              <a:rPr lang="en-US" altLang="zh-CN" dirty="0"/>
              <a:t>16</a:t>
            </a:r>
            <a:r>
              <a:rPr lang="zh-CN" altLang="en-US" dirty="0"/>
              <a:t>次。</a:t>
            </a:r>
          </a:p>
        </p:txBody>
      </p:sp>
    </p:spTree>
    <p:extLst>
      <p:ext uri="{BB962C8B-B14F-4D97-AF65-F5344CB8AC3E}">
        <p14:creationId xmlns:p14="http://schemas.microsoft.com/office/powerpoint/2010/main" val="676721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7"/>
          <p:cNvGrpSpPr/>
          <p:nvPr/>
        </p:nvGrpSpPr>
        <p:grpSpPr>
          <a:xfrm>
            <a:off x="228600" y="3587750"/>
            <a:ext cx="8610600" cy="201613"/>
            <a:chOff x="144" y="1680"/>
            <a:chExt cx="5424" cy="144"/>
          </a:xfrm>
        </p:grpSpPr>
        <p:sp>
          <p:nvSpPr>
            <p:cNvPr id="13" name="Rectangle 8"/>
            <p:cNvSpPr>
              <a:spLocks noChangeArrowheads="1"/>
            </p:cNvSpPr>
            <p:nvPr/>
          </p:nvSpPr>
          <p:spPr bwMode="auto">
            <a:xfrm>
              <a:off x="144" y="1680"/>
              <a:ext cx="1808" cy="144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" name="Rectangle 9"/>
            <p:cNvSpPr>
              <a:spLocks noChangeArrowheads="1"/>
            </p:cNvSpPr>
            <p:nvPr/>
          </p:nvSpPr>
          <p:spPr bwMode="auto">
            <a:xfrm>
              <a:off x="1952" y="1680"/>
              <a:ext cx="1808" cy="14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" name="Rectangle 10"/>
            <p:cNvSpPr>
              <a:spLocks noChangeArrowheads="1"/>
            </p:cNvSpPr>
            <p:nvPr/>
          </p:nvSpPr>
          <p:spPr bwMode="auto">
            <a:xfrm>
              <a:off x="3760" y="1680"/>
              <a:ext cx="1808" cy="144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918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2800">
                <a:solidFill>
                  <a:srgbClr val="3333FF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2918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270250"/>
            <a:ext cx="6400800" cy="22098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000"/>
            </a:lvl1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1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 algn="r" eaLnBrk="1" hangingPunct="1"/>
            <a:fld id="{9A0DB2DC-4C9A-4742-B13C-FB6460FD3503}" type="slidenum">
              <a:rPr lang="en-US" altLang="zh-CN" sz="1000" b="0" dirty="0">
                <a:latin typeface="Verdana" panose="020B0604030504040204" pitchFamily="34" charset="0"/>
              </a:rPr>
              <a:t>‹#›</a:t>
            </a:fld>
            <a:endParaRPr lang="en-US" altLang="zh-CN" sz="1000" b="0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Text Box 4"/>
          <p:cNvSpPr txBox="1">
            <a:spLocks noChangeArrowheads="1"/>
          </p:cNvSpPr>
          <p:nvPr userDrawn="1"/>
        </p:nvSpPr>
        <p:spPr bwMode="auto">
          <a:xfrm>
            <a:off x="8028385" y="8620"/>
            <a:ext cx="1116124" cy="76470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anchor="ctr" anchorCtr="1"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fld id="{17E66D44-5078-4FC8-AF00-8FF9453B7C99}" type="slidenum">
              <a:rPr lang="zh-CN" altLang="en-US" sz="2000" b="0" smtClean="0">
                <a:solidFill>
                  <a:srgbClr val="FF0000"/>
                </a:solidFill>
                <a:ea typeface="宋体" pitchFamily="2" charset="-122"/>
              </a:rPr>
              <a:pPr algn="r">
                <a:spcBef>
                  <a:spcPct val="50000"/>
                </a:spcBef>
              </a:pPr>
              <a:t>‹#›</a:t>
            </a:fld>
            <a:r>
              <a:rPr lang="en-US" altLang="zh-CN" sz="2000" b="0" dirty="0">
                <a:solidFill>
                  <a:srgbClr val="FF0000"/>
                </a:solidFill>
                <a:ea typeface="宋体" pitchFamily="2" charset="-122"/>
              </a:rPr>
              <a:t>/50</a:t>
            </a: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Text Box 4"/>
          <p:cNvSpPr txBox="1">
            <a:spLocks noChangeArrowheads="1"/>
          </p:cNvSpPr>
          <p:nvPr userDrawn="1"/>
        </p:nvSpPr>
        <p:spPr bwMode="auto">
          <a:xfrm>
            <a:off x="8028385" y="8620"/>
            <a:ext cx="1116124" cy="76470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anchor="ctr" anchorCtr="1"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fld id="{17E66D44-5078-4FC8-AF00-8FF9453B7C99}" type="slidenum">
              <a:rPr lang="zh-CN" altLang="en-US" sz="2000" b="0" smtClean="0">
                <a:solidFill>
                  <a:srgbClr val="FF0000"/>
                </a:solidFill>
                <a:ea typeface="宋体" pitchFamily="2" charset="-122"/>
              </a:rPr>
              <a:pPr algn="r">
                <a:spcBef>
                  <a:spcPct val="50000"/>
                </a:spcBef>
              </a:pPr>
              <a:t>‹#›</a:t>
            </a:fld>
            <a:r>
              <a:rPr lang="en-US" altLang="zh-CN" sz="2000" b="0" dirty="0">
                <a:solidFill>
                  <a:srgbClr val="FF0000"/>
                </a:solidFill>
                <a:ea typeface="宋体" pitchFamily="2" charset="-122"/>
              </a:rPr>
              <a:t>/50</a:t>
            </a: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Text Box 4"/>
          <p:cNvSpPr txBox="1">
            <a:spLocks noChangeArrowheads="1"/>
          </p:cNvSpPr>
          <p:nvPr userDrawn="1"/>
        </p:nvSpPr>
        <p:spPr bwMode="auto">
          <a:xfrm>
            <a:off x="8028385" y="8620"/>
            <a:ext cx="1116124" cy="76470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anchor="ctr" anchorCtr="1"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fld id="{17E66D44-5078-4FC8-AF00-8FF9453B7C99}" type="slidenum">
              <a:rPr lang="zh-CN" altLang="en-US" sz="2000" b="0" smtClean="0">
                <a:solidFill>
                  <a:srgbClr val="FF0000"/>
                </a:solidFill>
                <a:ea typeface="宋体" pitchFamily="2" charset="-122"/>
              </a:rPr>
              <a:pPr algn="r">
                <a:spcBef>
                  <a:spcPct val="50000"/>
                </a:spcBef>
              </a:pPr>
              <a:t>‹#›</a:t>
            </a:fld>
            <a:r>
              <a:rPr lang="en-US" altLang="zh-CN" sz="2000" b="0" dirty="0">
                <a:solidFill>
                  <a:srgbClr val="FF0000"/>
                </a:solidFill>
                <a:ea typeface="宋体" pitchFamily="2" charset="-122"/>
              </a:rPr>
              <a:t>/50</a:t>
            </a: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Text Box 4"/>
          <p:cNvSpPr txBox="1">
            <a:spLocks noChangeArrowheads="1"/>
          </p:cNvSpPr>
          <p:nvPr userDrawn="1"/>
        </p:nvSpPr>
        <p:spPr bwMode="auto">
          <a:xfrm>
            <a:off x="8028385" y="8620"/>
            <a:ext cx="1116124" cy="76470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anchor="ctr" anchorCtr="1"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fld id="{17E66D44-5078-4FC8-AF00-8FF9453B7C99}" type="slidenum">
              <a:rPr lang="zh-CN" altLang="en-US" sz="2000" b="0" smtClean="0">
                <a:solidFill>
                  <a:srgbClr val="FF0000"/>
                </a:solidFill>
                <a:ea typeface="宋体" pitchFamily="2" charset="-122"/>
              </a:rPr>
              <a:pPr algn="r">
                <a:spcBef>
                  <a:spcPct val="50000"/>
                </a:spcBef>
              </a:pPr>
              <a:t>‹#›</a:t>
            </a:fld>
            <a:r>
              <a:rPr lang="en-US" altLang="zh-CN" sz="2000" b="0" dirty="0">
                <a:solidFill>
                  <a:srgbClr val="FF0000"/>
                </a:solidFill>
                <a:ea typeface="宋体" pitchFamily="2" charset="-122"/>
              </a:rPr>
              <a:t>/50</a:t>
            </a: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Text Box 4"/>
          <p:cNvSpPr txBox="1">
            <a:spLocks noChangeArrowheads="1"/>
          </p:cNvSpPr>
          <p:nvPr userDrawn="1"/>
        </p:nvSpPr>
        <p:spPr bwMode="auto">
          <a:xfrm>
            <a:off x="8028385" y="8620"/>
            <a:ext cx="1116124" cy="76470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anchor="ctr" anchorCtr="1"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fld id="{17E66D44-5078-4FC8-AF00-8FF9453B7C99}" type="slidenum">
              <a:rPr lang="zh-CN" altLang="en-US" sz="2000" b="0" smtClean="0">
                <a:solidFill>
                  <a:srgbClr val="FF0000"/>
                </a:solidFill>
                <a:ea typeface="宋体" pitchFamily="2" charset="-122"/>
              </a:rPr>
              <a:pPr algn="r">
                <a:spcBef>
                  <a:spcPct val="50000"/>
                </a:spcBef>
              </a:pPr>
              <a:t>‹#›</a:t>
            </a:fld>
            <a:r>
              <a:rPr lang="en-US" altLang="zh-CN" sz="2000" b="0" dirty="0">
                <a:solidFill>
                  <a:srgbClr val="FF0000"/>
                </a:solidFill>
                <a:ea typeface="宋体" pitchFamily="2" charset="-122"/>
              </a:rPr>
              <a:t>/50</a:t>
            </a: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Text Box 4"/>
          <p:cNvSpPr txBox="1">
            <a:spLocks noChangeArrowheads="1"/>
          </p:cNvSpPr>
          <p:nvPr userDrawn="1"/>
        </p:nvSpPr>
        <p:spPr bwMode="auto">
          <a:xfrm>
            <a:off x="8028385" y="8620"/>
            <a:ext cx="1116124" cy="76470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anchor="ctr" anchorCtr="1"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fld id="{17E66D44-5078-4FC8-AF00-8FF9453B7C99}" type="slidenum">
              <a:rPr lang="zh-CN" altLang="en-US" sz="2000" b="0" smtClean="0">
                <a:solidFill>
                  <a:srgbClr val="FF0000"/>
                </a:solidFill>
                <a:ea typeface="宋体" pitchFamily="2" charset="-122"/>
              </a:rPr>
              <a:pPr algn="r">
                <a:spcBef>
                  <a:spcPct val="50000"/>
                </a:spcBef>
              </a:pPr>
              <a:t>‹#›</a:t>
            </a:fld>
            <a:r>
              <a:rPr lang="en-US" altLang="zh-CN" sz="2000" b="0" dirty="0">
                <a:solidFill>
                  <a:srgbClr val="FF0000"/>
                </a:solidFill>
                <a:ea typeface="宋体" pitchFamily="2" charset="-122"/>
              </a:rPr>
              <a:t>/50</a:t>
            </a:r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Text Box 4"/>
          <p:cNvSpPr txBox="1">
            <a:spLocks noChangeArrowheads="1"/>
          </p:cNvSpPr>
          <p:nvPr userDrawn="1"/>
        </p:nvSpPr>
        <p:spPr bwMode="auto">
          <a:xfrm>
            <a:off x="8028385" y="8620"/>
            <a:ext cx="1116124" cy="76470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anchor="ctr" anchorCtr="1"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fld id="{17E66D44-5078-4FC8-AF00-8FF9453B7C99}" type="slidenum">
              <a:rPr lang="zh-CN" altLang="en-US" sz="2000" b="0" smtClean="0">
                <a:solidFill>
                  <a:srgbClr val="FF0000"/>
                </a:solidFill>
                <a:ea typeface="宋体" pitchFamily="2" charset="-122"/>
              </a:rPr>
              <a:pPr algn="r">
                <a:spcBef>
                  <a:spcPct val="50000"/>
                </a:spcBef>
              </a:pPr>
              <a:t>‹#›</a:t>
            </a:fld>
            <a:r>
              <a:rPr lang="en-US" altLang="zh-CN" sz="2000" b="0" dirty="0">
                <a:solidFill>
                  <a:srgbClr val="FF0000"/>
                </a:solidFill>
                <a:ea typeface="宋体" pitchFamily="2" charset="-122"/>
              </a:rPr>
              <a:t>/45</a:t>
            </a: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Text Box 4"/>
          <p:cNvSpPr txBox="1">
            <a:spLocks noChangeArrowheads="1"/>
          </p:cNvSpPr>
          <p:nvPr userDrawn="1"/>
        </p:nvSpPr>
        <p:spPr bwMode="auto">
          <a:xfrm>
            <a:off x="8028385" y="8620"/>
            <a:ext cx="1116124" cy="76470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anchor="ctr" anchorCtr="1"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fld id="{17E66D44-5078-4FC8-AF00-8FF9453B7C99}" type="slidenum">
              <a:rPr lang="zh-CN" altLang="en-US" sz="2000" b="0" smtClean="0">
                <a:solidFill>
                  <a:srgbClr val="FF0000"/>
                </a:solidFill>
                <a:ea typeface="宋体" pitchFamily="2" charset="-122"/>
              </a:rPr>
              <a:pPr algn="r">
                <a:spcBef>
                  <a:spcPct val="50000"/>
                </a:spcBef>
              </a:pPr>
              <a:t>‹#›</a:t>
            </a:fld>
            <a:r>
              <a:rPr lang="en-US" altLang="zh-CN" sz="2000" b="0" dirty="0">
                <a:solidFill>
                  <a:srgbClr val="FF0000"/>
                </a:solidFill>
                <a:ea typeface="宋体" pitchFamily="2" charset="-122"/>
              </a:rPr>
              <a:t>/45</a:t>
            </a: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Text Box 4"/>
          <p:cNvSpPr txBox="1">
            <a:spLocks noChangeArrowheads="1"/>
          </p:cNvSpPr>
          <p:nvPr userDrawn="1"/>
        </p:nvSpPr>
        <p:spPr bwMode="auto">
          <a:xfrm>
            <a:off x="8028385" y="8620"/>
            <a:ext cx="1116124" cy="76470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anchor="ctr" anchorCtr="1"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fld id="{17E66D44-5078-4FC8-AF00-8FF9453B7C99}" type="slidenum">
              <a:rPr lang="zh-CN" altLang="en-US" sz="2000" b="0" smtClean="0">
                <a:solidFill>
                  <a:srgbClr val="FF0000"/>
                </a:solidFill>
                <a:ea typeface="宋体" pitchFamily="2" charset="-122"/>
              </a:rPr>
              <a:pPr algn="r">
                <a:spcBef>
                  <a:spcPct val="50000"/>
                </a:spcBef>
              </a:pPr>
              <a:t>‹#›</a:t>
            </a:fld>
            <a:r>
              <a:rPr lang="en-US" altLang="zh-CN" sz="2000" b="0" dirty="0">
                <a:solidFill>
                  <a:srgbClr val="FF0000"/>
                </a:solidFill>
                <a:ea typeface="宋体" pitchFamily="2" charset="-122"/>
              </a:rPr>
              <a:t>/45</a:t>
            </a: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-242888"/>
            <a:ext cx="2057400" cy="6373813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-242888"/>
            <a:ext cx="6019800" cy="6373813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Text Box 4"/>
          <p:cNvSpPr txBox="1">
            <a:spLocks noChangeArrowheads="1"/>
          </p:cNvSpPr>
          <p:nvPr userDrawn="1"/>
        </p:nvSpPr>
        <p:spPr bwMode="auto">
          <a:xfrm>
            <a:off x="8028385" y="8620"/>
            <a:ext cx="1116124" cy="76470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anchor="ctr" anchorCtr="1"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fld id="{17E66D44-5078-4FC8-AF00-8FF9453B7C99}" type="slidenum">
              <a:rPr lang="zh-CN" altLang="en-US" sz="2000" b="0" smtClean="0">
                <a:solidFill>
                  <a:srgbClr val="FF0000"/>
                </a:solidFill>
                <a:ea typeface="宋体" pitchFamily="2" charset="-122"/>
              </a:rPr>
              <a:pPr algn="r">
                <a:spcBef>
                  <a:spcPct val="50000"/>
                </a:spcBef>
              </a:pPr>
              <a:t>‹#›</a:t>
            </a:fld>
            <a:r>
              <a:rPr lang="en-US" altLang="zh-CN" sz="2000" b="0" dirty="0">
                <a:solidFill>
                  <a:srgbClr val="FF0000"/>
                </a:solidFill>
                <a:ea typeface="宋体" pitchFamily="2" charset="-122"/>
              </a:rPr>
              <a:t>/45</a:t>
            </a:r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-242888"/>
            <a:ext cx="8229600" cy="637381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Text Box 4"/>
          <p:cNvSpPr txBox="1">
            <a:spLocks noChangeArrowheads="1"/>
          </p:cNvSpPr>
          <p:nvPr userDrawn="1"/>
        </p:nvSpPr>
        <p:spPr bwMode="auto">
          <a:xfrm>
            <a:off x="8028385" y="8620"/>
            <a:ext cx="1116124" cy="76470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anchor="ctr" anchorCtr="1"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fld id="{17E66D44-5078-4FC8-AF00-8FF9453B7C99}" type="slidenum">
              <a:rPr lang="zh-CN" altLang="en-US" sz="2000" b="0" smtClean="0">
                <a:solidFill>
                  <a:srgbClr val="FF0000"/>
                </a:solidFill>
                <a:ea typeface="宋体" pitchFamily="2" charset="-122"/>
              </a:rPr>
              <a:pPr algn="r">
                <a:spcBef>
                  <a:spcPct val="50000"/>
                </a:spcBef>
              </a:pPr>
              <a:t>‹#›</a:t>
            </a:fld>
            <a:r>
              <a:rPr lang="en-US" altLang="zh-CN" sz="2000" b="0" dirty="0">
                <a:solidFill>
                  <a:srgbClr val="FF0000"/>
                </a:solidFill>
                <a:ea typeface="宋体" pitchFamily="2" charset="-122"/>
              </a:rPr>
              <a:t>/45</a:t>
            </a:r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-242888"/>
            <a:ext cx="8229600" cy="1139826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307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Blip>
                <a:blip r:embed="rId2"/>
              </a:buBlip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Text Box 4"/>
          <p:cNvSpPr txBox="1">
            <a:spLocks noChangeArrowheads="1"/>
          </p:cNvSpPr>
          <p:nvPr userDrawn="1"/>
        </p:nvSpPr>
        <p:spPr bwMode="auto">
          <a:xfrm>
            <a:off x="8028385" y="8620"/>
            <a:ext cx="1116124" cy="76470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anchor="ctr" anchorCtr="1"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fld id="{17E66D44-5078-4FC8-AF00-8FF9453B7C99}" type="slidenum">
              <a:rPr lang="zh-CN" altLang="en-US" sz="2000" b="0" smtClean="0">
                <a:solidFill>
                  <a:srgbClr val="FF0000"/>
                </a:solidFill>
                <a:ea typeface="宋体" pitchFamily="2" charset="-122"/>
              </a:rPr>
              <a:pPr algn="r">
                <a:spcBef>
                  <a:spcPct val="50000"/>
                </a:spcBef>
              </a:pPr>
              <a:t>‹#›</a:t>
            </a:fld>
            <a:r>
              <a:rPr lang="en-US" altLang="zh-CN" sz="2000" b="0" dirty="0">
                <a:solidFill>
                  <a:srgbClr val="FF0000"/>
                </a:solidFill>
                <a:ea typeface="宋体" pitchFamily="2" charset="-122"/>
              </a:rPr>
              <a:t>/45</a:t>
            </a:r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Text Box 4"/>
          <p:cNvSpPr txBox="1">
            <a:spLocks noChangeArrowheads="1"/>
          </p:cNvSpPr>
          <p:nvPr userDrawn="1"/>
        </p:nvSpPr>
        <p:spPr bwMode="auto">
          <a:xfrm>
            <a:off x="8028385" y="8620"/>
            <a:ext cx="1116124" cy="76470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anchor="ctr" anchorCtr="1"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fld id="{17E66D44-5078-4FC8-AF00-8FF9453B7C99}" type="slidenum">
              <a:rPr lang="zh-CN" altLang="en-US" sz="2000" b="0" smtClean="0">
                <a:solidFill>
                  <a:srgbClr val="FF0000"/>
                </a:solidFill>
                <a:ea typeface="宋体" pitchFamily="2" charset="-122"/>
              </a:rPr>
              <a:pPr algn="r">
                <a:spcBef>
                  <a:spcPct val="50000"/>
                </a:spcBef>
              </a:pPr>
              <a:t>‹#›</a:t>
            </a:fld>
            <a:r>
              <a:rPr lang="en-US" altLang="zh-CN" sz="2000" b="0" dirty="0">
                <a:solidFill>
                  <a:srgbClr val="FF0000"/>
                </a:solidFill>
                <a:ea typeface="宋体" pitchFamily="2" charset="-122"/>
              </a:rPr>
              <a:t>/45</a:t>
            </a:r>
          </a:p>
        </p:txBody>
      </p:sp>
    </p:spTree>
  </p:cSld>
  <p:clrMapOvr>
    <a:masterClrMapping/>
  </p:clrMapOvr>
  <p:transition/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SmartArt 占位符 2"/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/>
          <a:p>
            <a:pPr lvl="0" fontAlgn="base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‹#›</a:t>
            </a:fld>
            <a:endParaRPr lang="zh-CN" strike="noStrike" noProof="1"/>
          </a:p>
        </p:txBody>
      </p:sp>
      <p:sp>
        <p:nvSpPr>
          <p:cNvPr id="7" name="Text Box 4"/>
          <p:cNvSpPr txBox="1">
            <a:spLocks noChangeArrowheads="1"/>
          </p:cNvSpPr>
          <p:nvPr userDrawn="1"/>
        </p:nvSpPr>
        <p:spPr bwMode="auto">
          <a:xfrm>
            <a:off x="8028385" y="8620"/>
            <a:ext cx="1116124" cy="76470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anchor="ctr" anchorCtr="1"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fld id="{17E66D44-5078-4FC8-AF00-8FF9453B7C99}" type="slidenum">
              <a:rPr lang="zh-CN" altLang="en-US" sz="2000" b="0" smtClean="0">
                <a:solidFill>
                  <a:srgbClr val="FF0000"/>
                </a:solidFill>
                <a:ea typeface="宋体" pitchFamily="2" charset="-122"/>
              </a:rPr>
              <a:pPr algn="r">
                <a:spcBef>
                  <a:spcPct val="50000"/>
                </a:spcBef>
              </a:pPr>
              <a:t>‹#›</a:t>
            </a:fld>
            <a:r>
              <a:rPr lang="en-US" altLang="zh-CN" sz="2000" b="0" dirty="0">
                <a:solidFill>
                  <a:srgbClr val="FF0000"/>
                </a:solidFill>
                <a:ea typeface="宋体" pitchFamily="2" charset="-122"/>
              </a:rPr>
              <a:t>/45</a:t>
            </a: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hyperlink" Target="mailto:luguangm@gmail.com" TargetMode="Externa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20" Type="http://schemas.openxmlformats.org/officeDocument/2006/relationships/image" Target="../media/image3.GI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-242887"/>
            <a:ext cx="8229600" cy="11398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 noProof="1"/>
              <a:t>单击此处编辑母版标题样式</a:t>
            </a:r>
          </a:p>
        </p:txBody>
      </p:sp>
      <p:sp>
        <p:nvSpPr>
          <p:cNvPr id="2908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2908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 sz="1000" b="0">
                <a:latin typeface="Verdana" panose="020B060403050404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08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buFontTx/>
              <a:buNone/>
              <a:defRPr sz="1000" b="0">
                <a:latin typeface="Verdana" panose="020B060403050404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7"/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1" name="Line 8"/>
          <p:cNvSpPr/>
          <p:nvPr/>
        </p:nvSpPr>
        <p:spPr>
          <a:xfrm>
            <a:off x="457200" y="908050"/>
            <a:ext cx="8077200" cy="0"/>
          </a:xfrm>
          <a:prstGeom prst="line">
            <a:avLst/>
          </a:prstGeom>
          <a:ln w="1905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2" name="Rectangle 9"/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3" name="Rectangle 10"/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6759575" y="6491288"/>
            <a:ext cx="2384425" cy="366713"/>
          </a:xfrm>
          <a:prstGeom prst="rect">
            <a:avLst/>
          </a:prstGeom>
          <a:noFill/>
          <a:ln w="9525">
            <a:noFill/>
            <a:miter lim="800000"/>
            <a:tailEnd type="none" w="lg" len="lg"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hlinkClick r:id="rId17"/>
              </a:rPr>
              <a:t>luguangm@gmail.com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D2B9C901-DC75-440D-8D35-C7F326BEC91B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228531" y="6561348"/>
            <a:ext cx="1355137" cy="28963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ransition/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隶书" panose="020105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隶书" panose="020105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隶书" panose="020105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隶书" panose="02010509060101010101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隶书" panose="02010509060101010101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隶书" panose="02010509060101010101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隶书" panose="02010509060101010101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隶书" panose="020105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Blip>
          <a:blip r:embed="rId19"/>
        </a:buBlip>
        <a:defRPr sz="2800" b="1">
          <a:solidFill>
            <a:srgbClr val="3333FF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Blip>
          <a:blip r:embed="rId20"/>
        </a:buBlip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Blip>
          <a:blip r:embed="rId19"/>
        </a:buBlip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0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51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105" y="4581128"/>
            <a:ext cx="8424863" cy="541338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35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卢光明</a:t>
            </a:r>
            <a:endParaRPr kumimoji="0" lang="en-US" altLang="zh-CN" sz="35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35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</p:txBody>
      </p:sp>
      <p:sp>
        <p:nvSpPr>
          <p:cNvPr id="320516" name="Text Box 4"/>
          <p:cNvSpPr txBox="1">
            <a:spLocks noChangeArrowheads="1"/>
          </p:cNvSpPr>
          <p:nvPr/>
        </p:nvSpPr>
        <p:spPr bwMode="auto">
          <a:xfrm>
            <a:off x="107950" y="1843088"/>
            <a:ext cx="8893175" cy="132959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algn="ctr" defTabSz="914400">
              <a:lnSpc>
                <a:spcPct val="80000"/>
              </a:lnSpc>
              <a:spcBef>
                <a:spcPts val="1200"/>
              </a:spcBef>
              <a:buClr>
                <a:srgbClr val="663300"/>
              </a:buClr>
              <a:buSzPct val="75000"/>
              <a:buFontTx/>
              <a:buNone/>
              <a:defRPr/>
            </a:pPr>
            <a:r>
              <a:rPr kumimoji="0" lang="zh-CN" altLang="en-US" sz="4400" kern="1200" cap="none" spc="0" normalizeH="0" baseline="0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汇编语言</a:t>
            </a:r>
            <a:r>
              <a:rPr lang="zh-CN" altLang="en-US" sz="440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与接口技术</a:t>
            </a:r>
            <a:endParaRPr kumimoji="0" lang="en-US" altLang="zh-CN" sz="4400" kern="1200" cap="none" spc="0" normalizeH="0" baseline="0" noProof="0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  <a:p>
            <a:pPr marR="0" algn="ctr" defTabSz="914400">
              <a:lnSpc>
                <a:spcPct val="80000"/>
              </a:lnSpc>
              <a:spcBef>
                <a:spcPts val="1200"/>
              </a:spcBef>
              <a:buClr>
                <a:srgbClr val="663300"/>
              </a:buClr>
              <a:buSzPct val="75000"/>
              <a:buFontTx/>
              <a:buNone/>
              <a:defRPr/>
            </a:pPr>
            <a:r>
              <a:rPr lang="zh-CN" altLang="en-US" sz="440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第</a:t>
            </a:r>
            <a:r>
              <a:rPr lang="en-US" altLang="zh-CN" sz="440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5</a:t>
            </a:r>
            <a:r>
              <a:rPr lang="zh-CN" altLang="en-US" sz="440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讲：循环与分枝程序设计</a:t>
            </a:r>
            <a:endParaRPr kumimoji="0" lang="zh-CN" altLang="en-US" sz="4400" kern="1200" cap="none" spc="0" normalizeH="0" baseline="0" noProof="0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782616B-AD07-4E82-92AD-3FACB21894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72" y="0"/>
            <a:ext cx="5262486" cy="1124744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52120" y="317500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第</a:t>
            </a:r>
            <a:r>
              <a:rPr lang="en-US" altLang="zh-CN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5</a:t>
            </a:r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讲：循环和分枝程序设计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037444" y="1700808"/>
            <a:ext cx="6571615" cy="17858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60000"/>
              </a:lnSpc>
              <a:buClr>
                <a:srgbClr val="FF3300"/>
              </a:buClr>
              <a:buFont typeface="Wingdings" panose="05000000000000000000" charset="0"/>
              <a:buChar char=""/>
            </a:pPr>
            <a:r>
              <a:rPr lang="zh-CN" altLang="en-US" dirty="0">
                <a:sym typeface="+mn-ea"/>
              </a:rPr>
              <a:t>控制转移指令</a:t>
            </a:r>
            <a:endParaRPr lang="en-US" altLang="zh-CN" dirty="0">
              <a:sym typeface="+mn-ea"/>
            </a:endParaRPr>
          </a:p>
          <a:p>
            <a:pPr marL="342900" indent="-342900">
              <a:lnSpc>
                <a:spcPct val="160000"/>
              </a:lnSpc>
              <a:buClr>
                <a:srgbClr val="FF3300"/>
              </a:buClr>
              <a:buFont typeface="Wingdings" panose="05000000000000000000" charset="0"/>
              <a:buChar char=""/>
            </a:pPr>
            <a:r>
              <a:rPr lang="zh-CN" altLang="en-US" dirty="0">
                <a:sym typeface="+mn-ea"/>
              </a:rPr>
              <a:t>循环结构程序设计</a:t>
            </a:r>
          </a:p>
          <a:p>
            <a:pPr marL="342900" indent="-342900">
              <a:lnSpc>
                <a:spcPct val="160000"/>
              </a:lnSpc>
              <a:buClr>
                <a:srgbClr val="FF3300"/>
              </a:buClr>
              <a:buFont typeface="Wingdings" panose="05000000000000000000" charset="0"/>
              <a:buChar char=""/>
            </a:pPr>
            <a:r>
              <a:rPr lang="zh-CN" altLang="en-US" dirty="0">
                <a:sym typeface="+mn-ea"/>
              </a:rPr>
              <a:t>分支结构程序设计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043608" y="2129315"/>
            <a:ext cx="6571615" cy="17858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60000"/>
              </a:lnSpc>
              <a:buClr>
                <a:srgbClr val="FF3300"/>
              </a:buClr>
              <a:buFont typeface="Wingdings" panose="05000000000000000000" charset="0"/>
              <a:buChar char=""/>
            </a:pPr>
            <a:r>
              <a:rPr lang="zh-CN" altLang="en-US" dirty="0">
                <a:solidFill>
                  <a:srgbClr val="FF0000"/>
                </a:solidFill>
                <a:sym typeface="+mn-ea"/>
              </a:rPr>
              <a:t>控制转移指令</a:t>
            </a:r>
            <a:endParaRPr lang="en-US" altLang="zh-CN" dirty="0">
              <a:solidFill>
                <a:srgbClr val="FF0000"/>
              </a:solidFill>
              <a:sym typeface="+mn-ea"/>
            </a:endParaRPr>
          </a:p>
          <a:p>
            <a:pPr marL="342900" indent="-342900">
              <a:lnSpc>
                <a:spcPct val="160000"/>
              </a:lnSpc>
              <a:buClr>
                <a:srgbClr val="FF3300"/>
              </a:buClr>
              <a:buFont typeface="Wingdings" panose="05000000000000000000" charset="0"/>
              <a:buChar char=""/>
            </a:pPr>
            <a:r>
              <a:rPr lang="zh-CN" altLang="en-US" dirty="0">
                <a:sym typeface="+mn-ea"/>
              </a:rPr>
              <a:t>循环结构程序设计</a:t>
            </a:r>
          </a:p>
          <a:p>
            <a:pPr marL="342900" indent="-342900">
              <a:lnSpc>
                <a:spcPct val="160000"/>
              </a:lnSpc>
              <a:buClr>
                <a:srgbClr val="FF3300"/>
              </a:buClr>
              <a:buFont typeface="Wingdings" panose="05000000000000000000" charset="0"/>
              <a:buChar char=""/>
            </a:pPr>
            <a:r>
              <a:rPr lang="zh-CN" altLang="en-US" dirty="0">
                <a:sym typeface="+mn-ea"/>
              </a:rPr>
              <a:t>分支结构程序设计</a:t>
            </a:r>
          </a:p>
        </p:txBody>
      </p:sp>
      <p:sp>
        <p:nvSpPr>
          <p:cNvPr id="4" name="文本框 1"/>
          <p:cNvSpPr txBox="1"/>
          <p:nvPr/>
        </p:nvSpPr>
        <p:spPr>
          <a:xfrm>
            <a:off x="452120" y="317500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第</a:t>
            </a:r>
            <a:r>
              <a:rPr lang="en-US" altLang="zh-CN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5</a:t>
            </a:r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讲：循环和分枝程序设计</a:t>
            </a:r>
          </a:p>
        </p:txBody>
      </p:sp>
    </p:spTree>
    <p:extLst>
      <p:ext uri="{BB962C8B-B14F-4D97-AF65-F5344CB8AC3E}">
        <p14:creationId xmlns:p14="http://schemas.microsoft.com/office/powerpoint/2010/main" val="1267802070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395288" y="1268760"/>
            <a:ext cx="8443912" cy="477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2667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zh-CN" altLang="en-US" b="0" dirty="0">
                <a:latin typeface="宋体" panose="02010600030101010101" pitchFamily="2" charset="-122"/>
                <a:ea typeface="宋体" panose="02010600030101010101" pitchFamily="2" charset="-122"/>
              </a:rPr>
              <a:t>一般说来，编制一个汇编语言程序需要完成以下步骤：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altLang="zh-CN" b="0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en-US" altLang="zh-CN" b="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b="0" dirty="0">
                <a:latin typeface="宋体" panose="02010600030101010101" pitchFamily="2" charset="-122"/>
                <a:ea typeface="宋体" panose="02010600030101010101" pitchFamily="2" charset="-122"/>
              </a:rPr>
              <a:t>分析题意，建立数学模型，确定数据结构及算法。这一步是能否编制出高质量程序的关键，因此不应该一拿到题目就急于写程序，而是应该仔细地分析和理解题意，找出合理的算法及适当的数据结构。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altLang="zh-CN" b="0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en-US" altLang="zh-CN" b="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b="0" dirty="0">
                <a:latin typeface="宋体" panose="02010600030101010101" pitchFamily="2" charset="-122"/>
                <a:ea typeface="宋体" panose="02010600030101010101" pitchFamily="2" charset="-122"/>
              </a:rPr>
              <a:t>根据算法画出程序流程图。这一步对初学者尤其重要，这样做可以减少出错的可能性。画流程图时可以从粗到细把算法逐步地具体化。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altLang="zh-CN" b="0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(3)</a:t>
            </a:r>
            <a:r>
              <a:rPr lang="en-US" altLang="zh-CN" b="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b="0" dirty="0">
                <a:latin typeface="宋体" panose="02010600030101010101" pitchFamily="2" charset="-122"/>
                <a:ea typeface="宋体" panose="02010600030101010101" pitchFamily="2" charset="-122"/>
              </a:rPr>
              <a:t>编写汇编语言源程序，根据算法及数据结构分配内存单元和寄存器。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altLang="zh-CN" b="0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(4)</a:t>
            </a:r>
            <a:r>
              <a:rPr lang="en-US" altLang="zh-CN" b="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b="0" dirty="0">
                <a:latin typeface="宋体" panose="02010600030101010101" pitchFamily="2" charset="-122"/>
                <a:ea typeface="宋体" panose="02010600030101010101" pitchFamily="2" charset="-122"/>
              </a:rPr>
              <a:t>使用汇编程序调试工具上机调试程序。 </a:t>
            </a:r>
          </a:p>
        </p:txBody>
      </p:sp>
      <p:sp>
        <p:nvSpPr>
          <p:cNvPr id="5" name="文本框 1"/>
          <p:cNvSpPr txBox="1"/>
          <p:nvPr/>
        </p:nvSpPr>
        <p:spPr>
          <a:xfrm>
            <a:off x="452120" y="317500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程序设计基本步骤</a:t>
            </a:r>
          </a:p>
        </p:txBody>
      </p:sp>
    </p:spTree>
    <p:extLst>
      <p:ext uri="{BB962C8B-B14F-4D97-AF65-F5344CB8AC3E}">
        <p14:creationId xmlns:p14="http://schemas.microsoft.com/office/powerpoint/2010/main" val="1419452944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6" name="Rectangle 6"/>
          <p:cNvSpPr>
            <a:spLocks noChangeArrowheads="1"/>
          </p:cNvSpPr>
          <p:nvPr/>
        </p:nvSpPr>
        <p:spPr bwMode="auto">
          <a:xfrm>
            <a:off x="1295636" y="1374540"/>
            <a:ext cx="219643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</a:rPr>
              <a:t>三种程序构件 </a:t>
            </a:r>
          </a:p>
        </p:txBody>
      </p:sp>
      <p:pic>
        <p:nvPicPr>
          <p:cNvPr id="87047" name="Picture 7"/>
          <p:cNvPicPr>
            <a:picLocks noGrp="1" noChangeAspect="1" noChangeArrowheads="1"/>
          </p:cNvPicPr>
          <p:nvPr>
            <p:ph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998"/>
          <a:stretch/>
        </p:blipFill>
        <p:spPr bwMode="auto">
          <a:xfrm>
            <a:off x="1079612" y="2348880"/>
            <a:ext cx="7253087" cy="3311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文本框 1"/>
          <p:cNvSpPr txBox="1"/>
          <p:nvPr/>
        </p:nvSpPr>
        <p:spPr>
          <a:xfrm>
            <a:off x="452120" y="317500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程序设计基本步骤</a:t>
            </a:r>
          </a:p>
        </p:txBody>
      </p:sp>
    </p:spTree>
    <p:extLst>
      <p:ext uri="{BB962C8B-B14F-4D97-AF65-F5344CB8AC3E}">
        <p14:creationId xmlns:p14="http://schemas.microsoft.com/office/powerpoint/2010/main" val="1619631764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矩形 90113"/>
          <p:cNvSpPr/>
          <p:nvPr/>
        </p:nvSpPr>
        <p:spPr>
          <a:xfrm>
            <a:off x="791580" y="908720"/>
            <a:ext cx="7747248" cy="5580620"/>
          </a:xfrm>
          <a:prstGeom prst="rect">
            <a:avLst/>
          </a:prstGeom>
          <a:noFill/>
          <a:ln w="12700">
            <a:noFill/>
          </a:ln>
        </p:spPr>
        <p:txBody>
          <a:bodyPr/>
          <a:lstStyle/>
          <a:p>
            <a:pPr algn="just">
              <a:lnSpc>
                <a:spcPct val="150000"/>
              </a:lnSpc>
              <a:buClr>
                <a:schemeClr val="tx2"/>
              </a:buClr>
              <a:buSzPct val="90000"/>
              <a:buFont typeface="Symbol" panose="05050102010706020507" pitchFamily="18" charset="2"/>
              <a:buNone/>
            </a:pPr>
            <a:r>
              <a:rPr lang="zh-CN" altLang="en-US" sz="2000" b="0" dirty="0">
                <a:solidFill>
                  <a:srgbClr val="000000"/>
                </a:solidFill>
                <a:latin typeface="+mn-lt"/>
              </a:rPr>
              <a:t>在汇编语言里，</a:t>
            </a:r>
            <a:r>
              <a:rPr lang="zh-CN" altLang="en-US" sz="2000" dirty="0">
                <a:solidFill>
                  <a:srgbClr val="FF0000"/>
                </a:solidFill>
                <a:latin typeface="+mn-lt"/>
              </a:rPr>
              <a:t>分支</a:t>
            </a:r>
            <a:r>
              <a:rPr lang="zh-CN" altLang="en-US" sz="2000" b="0" dirty="0">
                <a:solidFill>
                  <a:srgbClr val="000000"/>
                </a:solidFill>
                <a:latin typeface="+mn-lt"/>
              </a:rPr>
              <a:t>主要是通过</a:t>
            </a:r>
            <a:r>
              <a:rPr lang="zh-CN" altLang="en-US" sz="2000" b="0" dirty="0">
                <a:solidFill>
                  <a:srgbClr val="FF0000"/>
                </a:solidFill>
                <a:latin typeface="+mn-lt"/>
              </a:rPr>
              <a:t>转移指令</a:t>
            </a:r>
            <a:r>
              <a:rPr lang="zh-CN" altLang="en-US" sz="2000" b="0" dirty="0">
                <a:solidFill>
                  <a:srgbClr val="000000"/>
                </a:solidFill>
                <a:latin typeface="+mn-lt"/>
              </a:rPr>
              <a:t>来实现的。</a:t>
            </a:r>
            <a:r>
              <a:rPr lang="zh-CN" altLang="en-US" sz="2000" b="0" dirty="0">
                <a:solidFill>
                  <a:srgbClr val="000000"/>
                </a:solidFill>
              </a:rPr>
              <a:t>而</a:t>
            </a:r>
            <a:r>
              <a:rPr lang="zh-CN" altLang="en-US" sz="2000" dirty="0">
                <a:solidFill>
                  <a:srgbClr val="FF0000"/>
                </a:solidFill>
              </a:rPr>
              <a:t>循环</a:t>
            </a:r>
            <a:r>
              <a:rPr lang="zh-CN" altLang="en-US" sz="2000" b="0" dirty="0">
                <a:solidFill>
                  <a:srgbClr val="000000"/>
                </a:solidFill>
              </a:rPr>
              <a:t>既可以通过</a:t>
            </a:r>
            <a:r>
              <a:rPr lang="zh-CN" altLang="en-US" sz="2000" b="0" dirty="0">
                <a:solidFill>
                  <a:srgbClr val="FF0000"/>
                </a:solidFill>
              </a:rPr>
              <a:t>转移指令</a:t>
            </a:r>
            <a:r>
              <a:rPr lang="zh-CN" altLang="en-US" sz="2000" b="0" dirty="0">
                <a:solidFill>
                  <a:srgbClr val="000000"/>
                </a:solidFill>
              </a:rPr>
              <a:t>、也可以通过</a:t>
            </a:r>
            <a:r>
              <a:rPr lang="zh-CN" altLang="en-US" sz="2000" b="0" dirty="0">
                <a:solidFill>
                  <a:srgbClr val="FF0000"/>
                </a:solidFill>
              </a:rPr>
              <a:t>循环指令</a:t>
            </a:r>
            <a:r>
              <a:rPr lang="zh-CN" altLang="en-US" sz="2000" b="0" dirty="0">
                <a:solidFill>
                  <a:srgbClr val="000000"/>
                </a:solidFill>
              </a:rPr>
              <a:t>来实现。</a:t>
            </a:r>
            <a:endParaRPr lang="en-US" altLang="zh-CN" sz="2000" b="0" dirty="0">
              <a:solidFill>
                <a:srgbClr val="000000"/>
              </a:solidFill>
              <a:latin typeface="+mn-lt"/>
            </a:endParaRPr>
          </a:p>
          <a:p>
            <a:pPr marL="342900" indent="-342900" algn="just">
              <a:lnSpc>
                <a:spcPct val="150000"/>
              </a:lnSpc>
              <a:buClr>
                <a:schemeClr val="tx2"/>
              </a:buClr>
              <a:buSzPct val="90000"/>
              <a:buFont typeface="Symbol" panose="05050102010706020507" pitchFamily="18" charset="2"/>
              <a:buNone/>
            </a:pPr>
            <a:r>
              <a:rPr lang="zh-CN" altLang="en-US" sz="2000" b="0" dirty="0">
                <a:solidFill>
                  <a:srgbClr val="FF0000"/>
                </a:solidFill>
                <a:latin typeface="+mn-lt"/>
              </a:rPr>
              <a:t>控制转移指令：</a:t>
            </a:r>
          </a:p>
          <a:p>
            <a:pPr marL="342900" indent="-342900" algn="just">
              <a:lnSpc>
                <a:spcPct val="150000"/>
              </a:lnSpc>
              <a:buClr>
                <a:schemeClr val="tx2"/>
              </a:buClr>
              <a:buSzPct val="90000"/>
              <a:buFont typeface="Symbol" panose="05050102010706020507" pitchFamily="18" charset="2"/>
              <a:buNone/>
            </a:pPr>
            <a:r>
              <a:rPr lang="zh-CN" altLang="en-US" sz="2000" b="0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altLang="zh-CN" sz="2000" b="0" dirty="0">
                <a:solidFill>
                  <a:srgbClr val="000000"/>
                </a:solidFill>
                <a:latin typeface="+mn-lt"/>
                <a:sym typeface="Symbol" panose="05050102010706020507" pitchFamily="18" charset="2"/>
              </a:rPr>
              <a:t>   </a:t>
            </a:r>
            <a:r>
              <a:rPr lang="zh-CN" altLang="en-US" sz="2000" b="0" dirty="0">
                <a:solidFill>
                  <a:srgbClr val="FF0000"/>
                </a:solidFill>
                <a:latin typeface="+mn-lt"/>
                <a:ea typeface="楷体_GB2312" pitchFamily="49" charset="-122"/>
              </a:rPr>
              <a:t>无条件转移指令</a:t>
            </a:r>
          </a:p>
          <a:p>
            <a:pPr marL="1143000" lvl="2" indent="-228600" algn="just">
              <a:lnSpc>
                <a:spcPct val="150000"/>
              </a:lnSpc>
              <a:spcBef>
                <a:spcPct val="20000"/>
              </a:spcBef>
            </a:pPr>
            <a:r>
              <a:rPr lang="zh-CN" altLang="en-US" sz="2000" b="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altLang="zh-CN" sz="2000" b="0" dirty="0">
                <a:solidFill>
                  <a:srgbClr val="000000"/>
                </a:solidFill>
                <a:latin typeface="+mn-lt"/>
              </a:rPr>
              <a:t>JMP</a:t>
            </a:r>
          </a:p>
          <a:p>
            <a:pPr marL="742950" lvl="1" indent="-285750" algn="just">
              <a:lnSpc>
                <a:spcPct val="150000"/>
              </a:lnSpc>
              <a:spcBef>
                <a:spcPct val="20000"/>
              </a:spcBef>
            </a:pPr>
            <a:r>
              <a:rPr lang="en-US" altLang="zh-CN" sz="2000" b="0" dirty="0">
                <a:solidFill>
                  <a:srgbClr val="000000"/>
                </a:solidFill>
                <a:latin typeface="+mn-lt"/>
                <a:sym typeface="Symbol" panose="05050102010706020507" pitchFamily="18" charset="2"/>
              </a:rPr>
              <a:t>    </a:t>
            </a:r>
            <a:r>
              <a:rPr lang="zh-CN" altLang="en-US" sz="2000" b="0" dirty="0">
                <a:solidFill>
                  <a:srgbClr val="FF0000"/>
                </a:solidFill>
                <a:latin typeface="+mn-lt"/>
                <a:ea typeface="楷体_GB2312" pitchFamily="49" charset="-122"/>
              </a:rPr>
              <a:t>条件转移指令</a:t>
            </a:r>
          </a:p>
          <a:p>
            <a:pPr marL="1143000" lvl="2" indent="-228600" algn="just">
              <a:lnSpc>
                <a:spcPct val="150000"/>
              </a:lnSpc>
              <a:spcBef>
                <a:spcPct val="20000"/>
              </a:spcBef>
            </a:pPr>
            <a:r>
              <a:rPr lang="en-US" altLang="zh-CN" sz="2000" b="0" dirty="0">
                <a:solidFill>
                  <a:srgbClr val="000000"/>
                </a:solidFill>
                <a:latin typeface="+mn-lt"/>
              </a:rPr>
              <a:t>JZ / JNZ </a:t>
            </a:r>
            <a:r>
              <a:rPr lang="zh-CN" altLang="en-US" sz="2000" b="0" dirty="0">
                <a:solidFill>
                  <a:srgbClr val="000000"/>
                </a:solidFill>
                <a:latin typeface="+mn-lt"/>
              </a:rPr>
              <a:t>、 </a:t>
            </a:r>
            <a:r>
              <a:rPr lang="en-US" altLang="zh-CN" sz="2000" b="0" dirty="0">
                <a:solidFill>
                  <a:srgbClr val="000000"/>
                </a:solidFill>
                <a:latin typeface="+mn-lt"/>
              </a:rPr>
              <a:t>JE / JNE</a:t>
            </a:r>
            <a:r>
              <a:rPr lang="zh-CN" altLang="en-US" sz="2000" b="0" dirty="0">
                <a:solidFill>
                  <a:srgbClr val="000000"/>
                </a:solidFill>
                <a:latin typeface="+mn-lt"/>
              </a:rPr>
              <a:t>、 </a:t>
            </a:r>
            <a:r>
              <a:rPr lang="en-US" altLang="zh-CN" sz="2000" b="0" dirty="0">
                <a:solidFill>
                  <a:srgbClr val="000000"/>
                </a:solidFill>
                <a:latin typeface="+mn-lt"/>
              </a:rPr>
              <a:t>JS / JNS</a:t>
            </a:r>
            <a:r>
              <a:rPr lang="zh-CN" altLang="en-US" sz="2000" b="0" dirty="0">
                <a:solidFill>
                  <a:srgbClr val="000000"/>
                </a:solidFill>
                <a:latin typeface="+mn-lt"/>
              </a:rPr>
              <a:t>、 </a:t>
            </a:r>
            <a:r>
              <a:rPr lang="en-US" altLang="zh-CN" sz="2000" b="0" dirty="0">
                <a:solidFill>
                  <a:srgbClr val="000000"/>
                </a:solidFill>
                <a:latin typeface="+mn-lt"/>
              </a:rPr>
              <a:t>JO / JNO</a:t>
            </a:r>
            <a:r>
              <a:rPr lang="zh-CN" altLang="en-US" sz="2000" b="0" dirty="0">
                <a:solidFill>
                  <a:srgbClr val="000000"/>
                </a:solidFill>
                <a:latin typeface="+mn-lt"/>
              </a:rPr>
              <a:t>、</a:t>
            </a:r>
          </a:p>
          <a:p>
            <a:pPr marL="1143000" lvl="2" indent="-228600" algn="just">
              <a:lnSpc>
                <a:spcPct val="150000"/>
              </a:lnSpc>
              <a:spcBef>
                <a:spcPct val="20000"/>
              </a:spcBef>
            </a:pPr>
            <a:r>
              <a:rPr lang="en-US" altLang="zh-CN" sz="2000" b="0" dirty="0">
                <a:solidFill>
                  <a:srgbClr val="000000"/>
                </a:solidFill>
                <a:latin typeface="+mn-lt"/>
              </a:rPr>
              <a:t>JP / JNP</a:t>
            </a:r>
            <a:r>
              <a:rPr lang="zh-CN" altLang="en-US" sz="2000" b="0" dirty="0">
                <a:solidFill>
                  <a:srgbClr val="000000"/>
                </a:solidFill>
                <a:latin typeface="+mn-lt"/>
              </a:rPr>
              <a:t>、 </a:t>
            </a:r>
            <a:r>
              <a:rPr lang="en-US" altLang="zh-CN" sz="2000" b="0" dirty="0">
                <a:solidFill>
                  <a:srgbClr val="000000"/>
                </a:solidFill>
                <a:latin typeface="+mn-lt"/>
              </a:rPr>
              <a:t>JB / JNB</a:t>
            </a:r>
            <a:r>
              <a:rPr lang="zh-CN" altLang="en-US" sz="2000" b="0" dirty="0">
                <a:solidFill>
                  <a:srgbClr val="000000"/>
                </a:solidFill>
                <a:latin typeface="+mn-lt"/>
              </a:rPr>
              <a:t>、 </a:t>
            </a:r>
            <a:r>
              <a:rPr lang="en-US" altLang="zh-CN" sz="2000" b="0" dirty="0">
                <a:solidFill>
                  <a:srgbClr val="000000"/>
                </a:solidFill>
                <a:latin typeface="+mn-lt"/>
              </a:rPr>
              <a:t>JBE / JNBE</a:t>
            </a:r>
            <a:r>
              <a:rPr lang="zh-CN" altLang="en-US" sz="2000" b="0" dirty="0">
                <a:solidFill>
                  <a:srgbClr val="000000"/>
                </a:solidFill>
                <a:latin typeface="+mn-lt"/>
              </a:rPr>
              <a:t>、 </a:t>
            </a:r>
            <a:r>
              <a:rPr lang="en-US" altLang="zh-CN" sz="2000" b="0" dirty="0">
                <a:solidFill>
                  <a:srgbClr val="FF0000"/>
                </a:solidFill>
                <a:latin typeface="+mn-lt"/>
              </a:rPr>
              <a:t>JL / JNL</a:t>
            </a:r>
            <a:r>
              <a:rPr lang="zh-CN" altLang="en-US" sz="2000" b="0" dirty="0">
                <a:solidFill>
                  <a:srgbClr val="000000"/>
                </a:solidFill>
                <a:latin typeface="+mn-lt"/>
              </a:rPr>
              <a:t>、</a:t>
            </a:r>
          </a:p>
          <a:p>
            <a:pPr marL="1143000" lvl="2" indent="-228600" algn="just">
              <a:lnSpc>
                <a:spcPct val="150000"/>
              </a:lnSpc>
              <a:spcBef>
                <a:spcPct val="20000"/>
              </a:spcBef>
            </a:pPr>
            <a:r>
              <a:rPr lang="en-US" altLang="zh-CN" sz="2000" b="0" dirty="0">
                <a:solidFill>
                  <a:srgbClr val="FF0000"/>
                </a:solidFill>
                <a:latin typeface="+mn-lt"/>
              </a:rPr>
              <a:t>JLE / JNLE</a:t>
            </a:r>
            <a:r>
              <a:rPr lang="zh-CN" altLang="en-US" sz="2000" b="0" dirty="0">
                <a:solidFill>
                  <a:srgbClr val="000000"/>
                </a:solidFill>
                <a:latin typeface="+mn-lt"/>
              </a:rPr>
              <a:t>、 </a:t>
            </a:r>
            <a:r>
              <a:rPr lang="en-US" altLang="zh-CN" sz="2000" b="0" dirty="0">
                <a:solidFill>
                  <a:srgbClr val="000000"/>
                </a:solidFill>
                <a:latin typeface="+mn-lt"/>
              </a:rPr>
              <a:t>JCXZ </a:t>
            </a:r>
          </a:p>
          <a:p>
            <a:pPr marL="742950" lvl="1" indent="-285750" algn="just">
              <a:lnSpc>
                <a:spcPct val="150000"/>
              </a:lnSpc>
              <a:spcBef>
                <a:spcPct val="20000"/>
              </a:spcBef>
            </a:pPr>
            <a:r>
              <a:rPr lang="en-US" altLang="zh-CN" sz="2000" b="0" dirty="0">
                <a:solidFill>
                  <a:srgbClr val="000000"/>
                </a:solidFill>
                <a:sym typeface="Symbol" panose="05050102010706020507" pitchFamily="18" charset="2"/>
              </a:rPr>
              <a:t>    </a:t>
            </a:r>
            <a:r>
              <a:rPr lang="zh-CN" altLang="en-US" sz="2000" b="0" dirty="0">
                <a:solidFill>
                  <a:srgbClr val="FF0000"/>
                </a:solidFill>
                <a:latin typeface="+mn-lt"/>
                <a:ea typeface="楷体_GB2312" pitchFamily="49" charset="-122"/>
              </a:rPr>
              <a:t>循环指令</a:t>
            </a:r>
          </a:p>
          <a:p>
            <a:pPr marL="1143000" lvl="2" indent="-228600" algn="just">
              <a:lnSpc>
                <a:spcPct val="150000"/>
              </a:lnSpc>
              <a:spcBef>
                <a:spcPct val="20000"/>
              </a:spcBef>
            </a:pPr>
            <a:r>
              <a:rPr lang="zh-CN" altLang="en-US" sz="2000" b="0" dirty="0">
                <a:solidFill>
                  <a:srgbClr val="000000"/>
                </a:solidFill>
              </a:rPr>
              <a:t> </a:t>
            </a:r>
            <a:r>
              <a:rPr lang="en-US" altLang="zh-CN" sz="2000" b="0" dirty="0">
                <a:solidFill>
                  <a:srgbClr val="000000"/>
                </a:solidFill>
              </a:rPr>
              <a:t>LOOP</a:t>
            </a:r>
            <a:r>
              <a:rPr lang="zh-CN" altLang="en-US" sz="2000" b="0" dirty="0">
                <a:solidFill>
                  <a:srgbClr val="000000"/>
                </a:solidFill>
              </a:rPr>
              <a:t>、</a:t>
            </a:r>
            <a:r>
              <a:rPr lang="en-US" altLang="zh-CN" sz="2000" b="0" dirty="0">
                <a:solidFill>
                  <a:srgbClr val="000000"/>
                </a:solidFill>
              </a:rPr>
              <a:t>LOOPZ / LOOPE</a:t>
            </a:r>
            <a:r>
              <a:rPr lang="zh-CN" altLang="en-US" sz="2000" b="0" dirty="0">
                <a:solidFill>
                  <a:srgbClr val="000000"/>
                </a:solidFill>
              </a:rPr>
              <a:t>、</a:t>
            </a:r>
            <a:r>
              <a:rPr lang="en-US" altLang="zh-CN" sz="2000" b="0" dirty="0">
                <a:solidFill>
                  <a:srgbClr val="000000"/>
                </a:solidFill>
              </a:rPr>
              <a:t>LOOPNZ / LOOPNE</a:t>
            </a:r>
            <a:endParaRPr lang="en-US" altLang="zh-CN" sz="2000" b="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3" name="文本框 1"/>
          <p:cNvSpPr txBox="1"/>
          <p:nvPr/>
        </p:nvSpPr>
        <p:spPr>
          <a:xfrm>
            <a:off x="452120" y="317500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控制转移指令</a:t>
            </a:r>
          </a:p>
        </p:txBody>
      </p:sp>
    </p:spTree>
    <p:extLst>
      <p:ext uri="{BB962C8B-B14F-4D97-AF65-F5344CB8AC3E}">
        <p14:creationId xmlns:p14="http://schemas.microsoft.com/office/powerpoint/2010/main" val="387732160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矩形 91137"/>
          <p:cNvSpPr/>
          <p:nvPr/>
        </p:nvSpPr>
        <p:spPr>
          <a:xfrm>
            <a:off x="855092" y="973034"/>
            <a:ext cx="7416824" cy="5463034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+mn-lt"/>
              </a:rPr>
              <a:t>无条件转移指令：</a:t>
            </a:r>
          </a:p>
          <a:p>
            <a:pPr eaLnBrk="0" hangingPunct="0">
              <a:spcBef>
                <a:spcPts val="600"/>
              </a:spcBef>
            </a:pPr>
            <a:r>
              <a:rPr lang="zh-CN" altLang="en-US" sz="2000" b="0" dirty="0">
                <a:solidFill>
                  <a:srgbClr val="000000"/>
                </a:solidFill>
                <a:latin typeface="+mn-lt"/>
              </a:rPr>
              <a:t>段内直接短转移：</a:t>
            </a:r>
            <a:r>
              <a:rPr lang="en-US" altLang="zh-CN" sz="2000" b="0" dirty="0">
                <a:solidFill>
                  <a:srgbClr val="000000"/>
                </a:solidFill>
                <a:latin typeface="+mn-lt"/>
              </a:rPr>
              <a:t>JMP    </a:t>
            </a:r>
            <a:r>
              <a:rPr lang="en-US" altLang="zh-CN" sz="2000" b="0" dirty="0">
                <a:solidFill>
                  <a:srgbClr val="FF0000"/>
                </a:solidFill>
                <a:latin typeface="+mn-lt"/>
              </a:rPr>
              <a:t>SHORT</a:t>
            </a:r>
            <a:r>
              <a:rPr lang="en-US" altLang="zh-CN" sz="2000" b="0" dirty="0">
                <a:solidFill>
                  <a:srgbClr val="000000"/>
                </a:solidFill>
                <a:latin typeface="+mn-lt"/>
              </a:rPr>
              <a:t>  OPR</a:t>
            </a:r>
          </a:p>
          <a:p>
            <a:pPr eaLnBrk="0" hangingPunct="0">
              <a:spcBef>
                <a:spcPts val="600"/>
              </a:spcBef>
            </a:pPr>
            <a:r>
              <a:rPr lang="en-US" altLang="zh-CN" sz="2000" b="0" dirty="0">
                <a:solidFill>
                  <a:srgbClr val="000000"/>
                </a:solidFill>
                <a:latin typeface="+mn-lt"/>
              </a:rPr>
              <a:t>            </a:t>
            </a:r>
            <a:r>
              <a:rPr lang="zh-CN" altLang="en-US" sz="2000" b="0" dirty="0">
                <a:solidFill>
                  <a:srgbClr val="000000"/>
                </a:solidFill>
                <a:latin typeface="+mn-lt"/>
              </a:rPr>
              <a:t>执行操作：</a:t>
            </a:r>
            <a:r>
              <a:rPr lang="en-US" altLang="zh-CN" sz="2000" b="0" dirty="0">
                <a:solidFill>
                  <a:srgbClr val="000000"/>
                </a:solidFill>
                <a:latin typeface="+mn-lt"/>
              </a:rPr>
              <a:t>(IP) ← (IP) + 8</a:t>
            </a:r>
            <a:r>
              <a:rPr lang="zh-CN" altLang="en-US" sz="2000" b="0" dirty="0">
                <a:solidFill>
                  <a:srgbClr val="000000"/>
                </a:solidFill>
                <a:latin typeface="+mn-lt"/>
              </a:rPr>
              <a:t>位位移量</a:t>
            </a:r>
          </a:p>
          <a:p>
            <a:pPr algn="just" eaLnBrk="0" hangingPunct="0">
              <a:spcBef>
                <a:spcPts val="600"/>
              </a:spcBef>
            </a:pPr>
            <a:r>
              <a:rPr lang="zh-CN" altLang="en-US" sz="2000" b="0" dirty="0">
                <a:solidFill>
                  <a:srgbClr val="000000"/>
                </a:solidFill>
                <a:latin typeface="+mn-lt"/>
              </a:rPr>
              <a:t>段内直接近转移：</a:t>
            </a:r>
            <a:r>
              <a:rPr lang="en-US" altLang="zh-CN" sz="2000" b="0" dirty="0">
                <a:solidFill>
                  <a:srgbClr val="000000"/>
                </a:solidFill>
                <a:latin typeface="+mn-lt"/>
              </a:rPr>
              <a:t>JMP    </a:t>
            </a:r>
            <a:r>
              <a:rPr lang="en-US" altLang="zh-CN" sz="2000" b="0" dirty="0">
                <a:solidFill>
                  <a:srgbClr val="FF0000"/>
                </a:solidFill>
                <a:latin typeface="+mn-lt"/>
              </a:rPr>
              <a:t>NEAR PTR</a:t>
            </a:r>
            <a:r>
              <a:rPr lang="en-US" altLang="zh-CN" sz="2000" b="0" dirty="0">
                <a:solidFill>
                  <a:srgbClr val="000000"/>
                </a:solidFill>
                <a:latin typeface="+mn-lt"/>
              </a:rPr>
              <a:t>  OPR</a:t>
            </a:r>
          </a:p>
          <a:p>
            <a:pPr algn="just" eaLnBrk="0" hangingPunct="0">
              <a:spcBef>
                <a:spcPts val="600"/>
              </a:spcBef>
            </a:pPr>
            <a:r>
              <a:rPr lang="en-US" altLang="zh-CN" sz="2000" b="0" dirty="0">
                <a:solidFill>
                  <a:srgbClr val="000000"/>
                </a:solidFill>
                <a:latin typeface="+mn-lt"/>
              </a:rPr>
              <a:t>            </a:t>
            </a:r>
            <a:r>
              <a:rPr lang="zh-CN" altLang="en-US" sz="2000" b="0" dirty="0">
                <a:solidFill>
                  <a:srgbClr val="000000"/>
                </a:solidFill>
                <a:latin typeface="+mn-lt"/>
              </a:rPr>
              <a:t>执行操作：</a:t>
            </a:r>
            <a:r>
              <a:rPr lang="en-US" altLang="zh-CN" sz="2000" b="0" dirty="0">
                <a:solidFill>
                  <a:srgbClr val="000000"/>
                </a:solidFill>
                <a:latin typeface="+mn-lt"/>
              </a:rPr>
              <a:t>(IP) ← (IP) + 16</a:t>
            </a:r>
            <a:r>
              <a:rPr lang="zh-CN" altLang="en-US" sz="2000" b="0" dirty="0">
                <a:solidFill>
                  <a:srgbClr val="000000"/>
                </a:solidFill>
                <a:latin typeface="+mn-lt"/>
              </a:rPr>
              <a:t>位位移量</a:t>
            </a:r>
          </a:p>
          <a:p>
            <a:pPr algn="just" eaLnBrk="0" hangingPunct="0">
              <a:spcBef>
                <a:spcPts val="600"/>
              </a:spcBef>
            </a:pPr>
            <a:r>
              <a:rPr lang="zh-CN" altLang="en-US" sz="2000" b="0" dirty="0">
                <a:solidFill>
                  <a:srgbClr val="000000"/>
                </a:solidFill>
                <a:latin typeface="+mn-lt"/>
              </a:rPr>
              <a:t>段内间接转移：    </a:t>
            </a:r>
            <a:r>
              <a:rPr lang="en-US" altLang="zh-CN" sz="2000" b="0" dirty="0">
                <a:solidFill>
                  <a:srgbClr val="000000"/>
                </a:solidFill>
                <a:latin typeface="+mn-lt"/>
              </a:rPr>
              <a:t>JMP    </a:t>
            </a:r>
            <a:r>
              <a:rPr lang="en-US" altLang="zh-CN" sz="2000" b="0" dirty="0">
                <a:solidFill>
                  <a:srgbClr val="FF0000"/>
                </a:solidFill>
                <a:latin typeface="+mn-lt"/>
              </a:rPr>
              <a:t>WORD PTR</a:t>
            </a:r>
            <a:r>
              <a:rPr lang="en-US" altLang="zh-CN" sz="2000" b="0" dirty="0">
                <a:solidFill>
                  <a:srgbClr val="000000"/>
                </a:solidFill>
                <a:latin typeface="+mn-lt"/>
              </a:rPr>
              <a:t>  OPR</a:t>
            </a:r>
          </a:p>
          <a:p>
            <a:pPr algn="just" eaLnBrk="0" hangingPunct="0">
              <a:spcBef>
                <a:spcPts val="600"/>
              </a:spcBef>
            </a:pPr>
            <a:r>
              <a:rPr lang="en-US" altLang="zh-CN" sz="2000" b="0" dirty="0">
                <a:solidFill>
                  <a:srgbClr val="000000"/>
                </a:solidFill>
                <a:latin typeface="+mn-lt"/>
              </a:rPr>
              <a:t>            </a:t>
            </a:r>
            <a:r>
              <a:rPr lang="zh-CN" altLang="en-US" sz="2000" b="0" dirty="0">
                <a:solidFill>
                  <a:srgbClr val="000000"/>
                </a:solidFill>
                <a:latin typeface="+mn-lt"/>
              </a:rPr>
              <a:t>执行操作：</a:t>
            </a:r>
            <a:r>
              <a:rPr lang="en-US" altLang="zh-CN" sz="2000" b="0" dirty="0">
                <a:solidFill>
                  <a:srgbClr val="000000"/>
                </a:solidFill>
                <a:latin typeface="+mn-lt"/>
              </a:rPr>
              <a:t>(IP) ← (EA)</a:t>
            </a:r>
          </a:p>
          <a:p>
            <a:pPr algn="just" eaLnBrk="0" hangingPunct="0">
              <a:spcBef>
                <a:spcPts val="600"/>
              </a:spcBef>
            </a:pPr>
            <a:endParaRPr lang="en-US" altLang="zh-CN" sz="2000" b="0" dirty="0">
              <a:solidFill>
                <a:srgbClr val="000000"/>
              </a:solidFill>
              <a:latin typeface="+mn-lt"/>
            </a:endParaRPr>
          </a:p>
          <a:p>
            <a:pPr algn="just" eaLnBrk="0" hangingPunct="0">
              <a:spcBef>
                <a:spcPts val="600"/>
              </a:spcBef>
            </a:pPr>
            <a:r>
              <a:rPr lang="zh-CN" altLang="en-US" sz="2000" b="0" dirty="0">
                <a:solidFill>
                  <a:srgbClr val="000000"/>
                </a:solidFill>
              </a:rPr>
              <a:t>段间直接转移：</a:t>
            </a:r>
            <a:r>
              <a:rPr lang="en-US" altLang="zh-CN" sz="2000" b="0" dirty="0">
                <a:solidFill>
                  <a:srgbClr val="000000"/>
                </a:solidFill>
              </a:rPr>
              <a:t>JMP    </a:t>
            </a:r>
            <a:r>
              <a:rPr lang="en-US" altLang="zh-CN" sz="2000" b="0" dirty="0">
                <a:solidFill>
                  <a:srgbClr val="FF0000"/>
                </a:solidFill>
              </a:rPr>
              <a:t>FAR PTR</a:t>
            </a:r>
            <a:r>
              <a:rPr lang="en-US" altLang="zh-CN" sz="2000" b="0" dirty="0">
                <a:solidFill>
                  <a:srgbClr val="000000"/>
                </a:solidFill>
              </a:rPr>
              <a:t>  OPR</a:t>
            </a:r>
          </a:p>
          <a:p>
            <a:pPr algn="just" eaLnBrk="0" hangingPunct="0">
              <a:spcBef>
                <a:spcPts val="600"/>
              </a:spcBef>
            </a:pPr>
            <a:r>
              <a:rPr lang="en-US" altLang="zh-CN" sz="2000" b="0" dirty="0">
                <a:solidFill>
                  <a:srgbClr val="000000"/>
                </a:solidFill>
              </a:rPr>
              <a:t>            </a:t>
            </a:r>
            <a:r>
              <a:rPr lang="zh-CN" altLang="en-US" sz="2000" b="0" dirty="0">
                <a:solidFill>
                  <a:srgbClr val="000000"/>
                </a:solidFill>
              </a:rPr>
              <a:t>执行操作：</a:t>
            </a:r>
            <a:r>
              <a:rPr lang="en-US" altLang="zh-CN" sz="2000" b="0" dirty="0">
                <a:solidFill>
                  <a:srgbClr val="000000"/>
                </a:solidFill>
              </a:rPr>
              <a:t>(IP) </a:t>
            </a:r>
            <a:r>
              <a:rPr lang="en-US" altLang="zh-CN" sz="2000" b="0" dirty="0">
                <a:solidFill>
                  <a:srgbClr val="000000"/>
                </a:solidFill>
                <a:latin typeface="宋体" panose="02010600030101010101" pitchFamily="2" charset="-122"/>
              </a:rPr>
              <a:t>← </a:t>
            </a:r>
            <a:r>
              <a:rPr lang="en-US" altLang="zh-CN" sz="2000" b="0" dirty="0">
                <a:solidFill>
                  <a:srgbClr val="000000"/>
                </a:solidFill>
              </a:rPr>
              <a:t>OPR </a:t>
            </a:r>
            <a:r>
              <a:rPr lang="zh-CN" altLang="en-US" sz="2000" b="0" dirty="0">
                <a:solidFill>
                  <a:srgbClr val="000000"/>
                </a:solidFill>
              </a:rPr>
              <a:t>的段内偏移地址</a:t>
            </a:r>
          </a:p>
          <a:p>
            <a:pPr algn="just" eaLnBrk="0" hangingPunct="0">
              <a:spcBef>
                <a:spcPts val="600"/>
              </a:spcBef>
            </a:pPr>
            <a:r>
              <a:rPr lang="zh-CN" altLang="en-US" sz="2000" b="0" dirty="0">
                <a:solidFill>
                  <a:srgbClr val="000000"/>
                </a:solidFill>
              </a:rPr>
              <a:t>                                </a:t>
            </a:r>
            <a:r>
              <a:rPr lang="en-US" altLang="zh-CN" sz="2000" b="0" dirty="0">
                <a:solidFill>
                  <a:srgbClr val="000000"/>
                </a:solidFill>
              </a:rPr>
              <a:t>(CS) </a:t>
            </a:r>
            <a:r>
              <a:rPr lang="en-US" altLang="zh-CN" sz="2000" b="0" dirty="0">
                <a:solidFill>
                  <a:srgbClr val="000000"/>
                </a:solidFill>
                <a:latin typeface="宋体" panose="02010600030101010101" pitchFamily="2" charset="-122"/>
              </a:rPr>
              <a:t>← </a:t>
            </a:r>
            <a:r>
              <a:rPr lang="en-US" altLang="zh-CN" sz="2000" b="0" dirty="0">
                <a:solidFill>
                  <a:srgbClr val="000000"/>
                </a:solidFill>
              </a:rPr>
              <a:t>OPR </a:t>
            </a:r>
            <a:r>
              <a:rPr lang="zh-CN" altLang="en-US" sz="2000" b="0" dirty="0">
                <a:solidFill>
                  <a:srgbClr val="000000"/>
                </a:solidFill>
              </a:rPr>
              <a:t>所在段的段地址</a:t>
            </a:r>
          </a:p>
          <a:p>
            <a:pPr algn="just" eaLnBrk="0" hangingPunct="0">
              <a:spcBef>
                <a:spcPts val="600"/>
              </a:spcBef>
            </a:pPr>
            <a:r>
              <a:rPr lang="zh-CN" altLang="en-US" sz="2000" b="0" dirty="0">
                <a:solidFill>
                  <a:srgbClr val="000000"/>
                </a:solidFill>
              </a:rPr>
              <a:t>段间间接转移：    </a:t>
            </a:r>
            <a:r>
              <a:rPr lang="en-US" altLang="zh-CN" sz="2000" b="0" dirty="0">
                <a:solidFill>
                  <a:srgbClr val="000000"/>
                </a:solidFill>
              </a:rPr>
              <a:t>JMP    </a:t>
            </a:r>
            <a:r>
              <a:rPr lang="en-US" altLang="zh-CN" sz="2000" b="0" dirty="0">
                <a:solidFill>
                  <a:srgbClr val="FF0000"/>
                </a:solidFill>
              </a:rPr>
              <a:t>DWORD PTR</a:t>
            </a:r>
            <a:r>
              <a:rPr lang="en-US" altLang="zh-CN" sz="2000" b="0" dirty="0">
                <a:solidFill>
                  <a:srgbClr val="000000"/>
                </a:solidFill>
              </a:rPr>
              <a:t>  OPR</a:t>
            </a:r>
          </a:p>
          <a:p>
            <a:pPr algn="just" eaLnBrk="0" hangingPunct="0">
              <a:spcBef>
                <a:spcPts val="600"/>
              </a:spcBef>
            </a:pPr>
            <a:r>
              <a:rPr lang="en-US" altLang="zh-CN" sz="2000" b="0" dirty="0">
                <a:solidFill>
                  <a:srgbClr val="000000"/>
                </a:solidFill>
              </a:rPr>
              <a:t>        </a:t>
            </a:r>
            <a:r>
              <a:rPr lang="zh-CN" altLang="en-US" sz="2000" b="0" dirty="0">
                <a:solidFill>
                  <a:srgbClr val="000000"/>
                </a:solidFill>
              </a:rPr>
              <a:t>执行操作：    </a:t>
            </a:r>
            <a:r>
              <a:rPr lang="en-US" altLang="zh-CN" sz="2000" b="0" dirty="0">
                <a:solidFill>
                  <a:srgbClr val="000000"/>
                </a:solidFill>
              </a:rPr>
              <a:t>(IP) </a:t>
            </a:r>
            <a:r>
              <a:rPr lang="en-US" altLang="zh-CN" sz="2000" b="0" dirty="0">
                <a:solidFill>
                  <a:srgbClr val="000000"/>
                </a:solidFill>
                <a:latin typeface="宋体" panose="02010600030101010101" pitchFamily="2" charset="-122"/>
              </a:rPr>
              <a:t>← </a:t>
            </a:r>
            <a:r>
              <a:rPr lang="en-US" altLang="zh-CN" sz="2000" b="0" dirty="0">
                <a:solidFill>
                  <a:srgbClr val="000000"/>
                </a:solidFill>
              </a:rPr>
              <a:t>(EA)</a:t>
            </a:r>
          </a:p>
          <a:p>
            <a:pPr algn="just" eaLnBrk="0" hangingPunct="0">
              <a:spcBef>
                <a:spcPts val="600"/>
              </a:spcBef>
            </a:pPr>
            <a:r>
              <a:rPr lang="en-US" altLang="zh-CN" sz="2000" b="0" dirty="0">
                <a:solidFill>
                  <a:srgbClr val="000000"/>
                </a:solidFill>
              </a:rPr>
              <a:t>                                (CS) </a:t>
            </a:r>
            <a:r>
              <a:rPr lang="en-US" altLang="zh-CN" sz="2000" b="0" dirty="0">
                <a:solidFill>
                  <a:srgbClr val="000000"/>
                </a:solidFill>
                <a:latin typeface="宋体" panose="02010600030101010101" pitchFamily="2" charset="-122"/>
              </a:rPr>
              <a:t>← </a:t>
            </a:r>
            <a:r>
              <a:rPr lang="en-US" altLang="zh-CN" sz="2000" b="0" dirty="0">
                <a:solidFill>
                  <a:srgbClr val="000000"/>
                </a:solidFill>
              </a:rPr>
              <a:t>(EA+2)</a:t>
            </a:r>
            <a:endParaRPr lang="en-US" altLang="zh-CN" sz="2000" b="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3" name="文本框 1"/>
          <p:cNvSpPr txBox="1"/>
          <p:nvPr/>
        </p:nvSpPr>
        <p:spPr>
          <a:xfrm>
            <a:off x="452120" y="317500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控制转移指令</a:t>
            </a:r>
          </a:p>
        </p:txBody>
      </p:sp>
    </p:spTree>
    <p:extLst>
      <p:ext uri="{BB962C8B-B14F-4D97-AF65-F5344CB8AC3E}">
        <p14:creationId xmlns:p14="http://schemas.microsoft.com/office/powerpoint/2010/main" val="4061247517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23" name="矩形 145422"/>
          <p:cNvSpPr/>
          <p:nvPr/>
        </p:nvSpPr>
        <p:spPr>
          <a:xfrm>
            <a:off x="362966" y="2736378"/>
            <a:ext cx="4428492" cy="787021"/>
          </a:xfrm>
          <a:prstGeom prst="rect">
            <a:avLst/>
          </a:prstGeom>
          <a:solidFill>
            <a:srgbClr val="CCFFFF"/>
          </a:solidFill>
          <a:ln w="9525">
            <a:noFill/>
          </a:ln>
        </p:spPr>
        <p:txBody>
          <a:bodyPr wrap="square" lIns="108850" tIns="54425" rIns="108850" bIns="54425">
            <a:spAutoFit/>
          </a:bodyPr>
          <a:lstStyle/>
          <a:p>
            <a:pPr eaLnBrk="0" hangingPunct="0">
              <a:spcBef>
                <a:spcPct val="0"/>
              </a:spcBef>
            </a:pPr>
            <a:r>
              <a:rPr lang="zh-CN" altLang="en-US" sz="2200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【例】</a:t>
            </a:r>
          </a:p>
          <a:p>
            <a:pPr eaLnBrk="0" hangingPunct="0">
              <a:spcBef>
                <a:spcPct val="0"/>
              </a:spcBef>
            </a:pPr>
            <a:r>
              <a:rPr lang="en-US" altLang="zh-CN" sz="2200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JMP</a:t>
            </a:r>
            <a:r>
              <a:rPr lang="zh-CN" altLang="en-US" sz="2200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　</a:t>
            </a:r>
            <a:r>
              <a:rPr lang="en-US" altLang="zh-CN" sz="2200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FAR    PTR   NEXTROUNT</a:t>
            </a:r>
          </a:p>
        </p:txBody>
      </p:sp>
      <p:sp>
        <p:nvSpPr>
          <p:cNvPr id="145452" name="文本框 145451"/>
          <p:cNvSpPr txBox="1"/>
          <p:nvPr/>
        </p:nvSpPr>
        <p:spPr>
          <a:xfrm>
            <a:off x="7908925" y="2663825"/>
            <a:ext cx="1066800" cy="428625"/>
          </a:xfrm>
          <a:prstGeom prst="rect">
            <a:avLst/>
          </a:prstGeom>
          <a:noFill/>
          <a:ln w="28575">
            <a:noFill/>
          </a:ln>
        </p:spPr>
        <p:txBody>
          <a:bodyPr lIns="108850" tIns="54425" rIns="108850" bIns="54425">
            <a:spAutoFit/>
          </a:bodyPr>
          <a:lstStyle/>
          <a:p>
            <a:pPr eaLnBrk="0" hangingPunct="0">
              <a:spcBef>
                <a:spcPct val="0"/>
              </a:spcBef>
            </a:pPr>
            <a:r>
              <a:rPr lang="zh-CN" altLang="en-US" sz="2100" b="1">
                <a:latin typeface="华文新魏" panose="02010800040101010101" pitchFamily="2" charset="-122"/>
                <a:ea typeface="华文新魏" panose="02010800040101010101" pitchFamily="2" charset="-122"/>
              </a:rPr>
              <a:t>新</a:t>
            </a:r>
            <a:r>
              <a:rPr lang="en-US" altLang="zh-CN" sz="2100" b="1">
                <a:latin typeface="华文新魏" panose="02010800040101010101" pitchFamily="2" charset="-122"/>
                <a:ea typeface="华文新魏" panose="02010800040101010101" pitchFamily="2" charset="-122"/>
              </a:rPr>
              <a:t>IP</a:t>
            </a:r>
          </a:p>
        </p:txBody>
      </p:sp>
      <p:sp>
        <p:nvSpPr>
          <p:cNvPr id="145453" name="文本框 145452"/>
          <p:cNvSpPr txBox="1"/>
          <p:nvPr/>
        </p:nvSpPr>
        <p:spPr>
          <a:xfrm>
            <a:off x="7883525" y="3405188"/>
            <a:ext cx="1066800" cy="428625"/>
          </a:xfrm>
          <a:prstGeom prst="rect">
            <a:avLst/>
          </a:prstGeom>
          <a:noFill/>
          <a:ln w="28575">
            <a:noFill/>
          </a:ln>
        </p:spPr>
        <p:txBody>
          <a:bodyPr lIns="108850" tIns="54425" rIns="108850" bIns="54425">
            <a:spAutoFit/>
          </a:bodyPr>
          <a:lstStyle/>
          <a:p>
            <a:pPr eaLnBrk="0" hangingPunct="0">
              <a:spcBef>
                <a:spcPct val="0"/>
              </a:spcBef>
            </a:pPr>
            <a:r>
              <a:rPr lang="zh-CN" altLang="en-US" sz="2100" b="1">
                <a:latin typeface="华文新魏" panose="02010800040101010101" pitchFamily="2" charset="-122"/>
                <a:ea typeface="华文新魏" panose="02010800040101010101" pitchFamily="2" charset="-122"/>
              </a:rPr>
              <a:t>新</a:t>
            </a:r>
            <a:r>
              <a:rPr lang="en-US" altLang="zh-CN" sz="2100" b="1">
                <a:latin typeface="华文新魏" panose="02010800040101010101" pitchFamily="2" charset="-122"/>
                <a:ea typeface="华文新魏" panose="02010800040101010101" pitchFamily="2" charset="-122"/>
              </a:rPr>
              <a:t>CS</a:t>
            </a:r>
          </a:p>
        </p:txBody>
      </p:sp>
      <p:grpSp>
        <p:nvGrpSpPr>
          <p:cNvPr id="145455" name="组合 145454"/>
          <p:cNvGrpSpPr/>
          <p:nvPr/>
        </p:nvGrpSpPr>
        <p:grpSpPr>
          <a:xfrm>
            <a:off x="3376613" y="1098550"/>
            <a:ext cx="5445125" cy="5759450"/>
            <a:chOff x="2786" y="370"/>
            <a:chExt cx="3024" cy="3872"/>
          </a:xfrm>
        </p:grpSpPr>
        <p:sp>
          <p:nvSpPr>
            <p:cNvPr id="145424" name="直接连接符 145423"/>
            <p:cNvSpPr/>
            <p:nvPr/>
          </p:nvSpPr>
          <p:spPr>
            <a:xfrm>
              <a:off x="4018" y="370"/>
              <a:ext cx="0" cy="2112"/>
            </a:xfrm>
            <a:prstGeom prst="line">
              <a:avLst/>
            </a:prstGeom>
            <a:ln w="28575" cap="flat" cmpd="sng">
              <a:solidFill>
                <a:srgbClr val="66FF33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45425" name="直接连接符 145424"/>
            <p:cNvSpPr/>
            <p:nvPr/>
          </p:nvSpPr>
          <p:spPr>
            <a:xfrm>
              <a:off x="5138" y="370"/>
              <a:ext cx="0" cy="2112"/>
            </a:xfrm>
            <a:prstGeom prst="line">
              <a:avLst/>
            </a:prstGeom>
            <a:ln w="28575" cap="flat" cmpd="sng">
              <a:solidFill>
                <a:srgbClr val="66FF33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45426" name="矩形 145425"/>
            <p:cNvSpPr/>
            <p:nvPr/>
          </p:nvSpPr>
          <p:spPr>
            <a:xfrm>
              <a:off x="4018" y="1309"/>
              <a:ext cx="1120" cy="235"/>
            </a:xfrm>
            <a:prstGeom prst="rect">
              <a:avLst/>
            </a:prstGeom>
            <a:noFill/>
            <a:ln w="28575" cap="flat" cmpd="sng">
              <a:solidFill>
                <a:srgbClr val="00FF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108850" tIns="54425" rIns="108850" bIns="54425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zh-CN" sz="21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32</a:t>
              </a:r>
            </a:p>
          </p:txBody>
        </p:sp>
        <p:sp>
          <p:nvSpPr>
            <p:cNvPr id="145427" name="矩形 145426"/>
            <p:cNvSpPr/>
            <p:nvPr/>
          </p:nvSpPr>
          <p:spPr>
            <a:xfrm>
              <a:off x="4018" y="1074"/>
              <a:ext cx="1120" cy="235"/>
            </a:xfrm>
            <a:prstGeom prst="rect">
              <a:avLst/>
            </a:prstGeom>
            <a:noFill/>
            <a:ln w="28575" cap="flat" cmpd="sng">
              <a:solidFill>
                <a:srgbClr val="00FF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108850" tIns="54425" rIns="108850" bIns="54425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zh-CN" sz="21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EA</a:t>
              </a:r>
            </a:p>
          </p:txBody>
        </p:sp>
        <p:sp>
          <p:nvSpPr>
            <p:cNvPr id="145428" name="矩形 145427"/>
            <p:cNvSpPr/>
            <p:nvPr/>
          </p:nvSpPr>
          <p:spPr>
            <a:xfrm>
              <a:off x="4018" y="1544"/>
              <a:ext cx="1120" cy="234"/>
            </a:xfrm>
            <a:prstGeom prst="rect">
              <a:avLst/>
            </a:prstGeom>
            <a:noFill/>
            <a:ln w="28575" cap="flat" cmpd="sng">
              <a:solidFill>
                <a:srgbClr val="00FF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108850" tIns="54425" rIns="108850" bIns="54425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zh-CN" sz="21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01</a:t>
              </a:r>
            </a:p>
          </p:txBody>
        </p:sp>
        <p:sp>
          <p:nvSpPr>
            <p:cNvPr id="145429" name="矩形 145428"/>
            <p:cNvSpPr/>
            <p:nvPr/>
          </p:nvSpPr>
          <p:spPr>
            <a:xfrm>
              <a:off x="4018" y="1778"/>
              <a:ext cx="1120" cy="235"/>
            </a:xfrm>
            <a:prstGeom prst="rect">
              <a:avLst/>
            </a:prstGeom>
            <a:noFill/>
            <a:ln w="28575" cap="flat" cmpd="sng">
              <a:solidFill>
                <a:srgbClr val="00FF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108850" tIns="54425" rIns="108850" bIns="54425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zh-CN" sz="21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00</a:t>
              </a:r>
            </a:p>
          </p:txBody>
        </p:sp>
        <p:sp>
          <p:nvSpPr>
            <p:cNvPr id="145430" name="矩形 145429"/>
            <p:cNvSpPr/>
            <p:nvPr/>
          </p:nvSpPr>
          <p:spPr>
            <a:xfrm>
              <a:off x="4018" y="2013"/>
              <a:ext cx="1120" cy="235"/>
            </a:xfrm>
            <a:prstGeom prst="rect">
              <a:avLst/>
            </a:prstGeom>
            <a:noFill/>
            <a:ln w="28575" cap="flat" cmpd="sng">
              <a:solidFill>
                <a:srgbClr val="00FF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108850" tIns="54425" rIns="108850" bIns="54425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zh-CN" sz="21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10</a:t>
              </a:r>
            </a:p>
          </p:txBody>
        </p:sp>
        <p:sp>
          <p:nvSpPr>
            <p:cNvPr id="145431" name="直接连接符 145430"/>
            <p:cNvSpPr/>
            <p:nvPr/>
          </p:nvSpPr>
          <p:spPr>
            <a:xfrm>
              <a:off x="4018" y="488"/>
              <a:ext cx="1120" cy="0"/>
            </a:xfrm>
            <a:prstGeom prst="line">
              <a:avLst/>
            </a:prstGeom>
            <a:ln w="28575" cap="flat" cmpd="sng">
              <a:solidFill>
                <a:srgbClr val="66FF33"/>
              </a:solidFill>
              <a:prstDash val="dash"/>
              <a:miter/>
              <a:headEnd type="none" w="med" len="med"/>
              <a:tailEnd type="none" w="med" len="med"/>
            </a:ln>
          </p:spPr>
        </p:sp>
        <p:sp>
          <p:nvSpPr>
            <p:cNvPr id="145432" name="矩形 145431"/>
            <p:cNvSpPr/>
            <p:nvPr/>
          </p:nvSpPr>
          <p:spPr>
            <a:xfrm>
              <a:off x="3850" y="2433"/>
              <a:ext cx="270" cy="504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lIns="108850" tIns="54425" rIns="108850" bIns="54425" anchor="t">
              <a:spAutoFit/>
            </a:bodyPr>
            <a:lstStyle/>
            <a:p>
              <a:pPr eaLnBrk="0" hangingPunct="0">
                <a:spcBef>
                  <a:spcPct val="0"/>
                </a:spcBef>
              </a:pPr>
              <a:r>
                <a:rPr lang="zh-CN" altLang="en-US" sz="2100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～</a:t>
              </a:r>
            </a:p>
            <a:p>
              <a:pPr eaLnBrk="0" hangingPunct="0">
                <a:spcBef>
                  <a:spcPct val="0"/>
                </a:spcBef>
              </a:pPr>
              <a:r>
                <a:rPr lang="zh-CN" altLang="en-US" sz="2100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～</a:t>
              </a:r>
            </a:p>
          </p:txBody>
        </p:sp>
        <p:sp>
          <p:nvSpPr>
            <p:cNvPr id="145433" name="矩形 145432"/>
            <p:cNvSpPr/>
            <p:nvPr/>
          </p:nvSpPr>
          <p:spPr>
            <a:xfrm>
              <a:off x="4970" y="2433"/>
              <a:ext cx="270" cy="504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lIns="108850" tIns="54425" rIns="108850" bIns="54425" anchor="t">
              <a:spAutoFit/>
            </a:bodyPr>
            <a:lstStyle/>
            <a:p>
              <a:pPr eaLnBrk="0" hangingPunct="0">
                <a:spcBef>
                  <a:spcPct val="0"/>
                </a:spcBef>
              </a:pPr>
              <a:r>
                <a:rPr lang="zh-CN" altLang="en-US" sz="2100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～</a:t>
              </a:r>
            </a:p>
            <a:p>
              <a:pPr eaLnBrk="0" hangingPunct="0">
                <a:spcBef>
                  <a:spcPct val="0"/>
                </a:spcBef>
              </a:pPr>
              <a:r>
                <a:rPr lang="zh-CN" altLang="en-US" sz="2100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～</a:t>
              </a:r>
            </a:p>
          </p:txBody>
        </p:sp>
        <p:sp>
          <p:nvSpPr>
            <p:cNvPr id="145434" name="直接连接符 145433"/>
            <p:cNvSpPr/>
            <p:nvPr/>
          </p:nvSpPr>
          <p:spPr>
            <a:xfrm>
              <a:off x="4018" y="2600"/>
              <a:ext cx="0" cy="1642"/>
            </a:xfrm>
            <a:prstGeom prst="line">
              <a:avLst/>
            </a:prstGeom>
            <a:ln w="28575" cap="flat" cmpd="sng">
              <a:solidFill>
                <a:srgbClr val="66FF33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45435" name="直接连接符 145434"/>
            <p:cNvSpPr/>
            <p:nvPr/>
          </p:nvSpPr>
          <p:spPr>
            <a:xfrm>
              <a:off x="5138" y="2600"/>
              <a:ext cx="0" cy="1642"/>
            </a:xfrm>
            <a:prstGeom prst="line">
              <a:avLst/>
            </a:prstGeom>
            <a:ln w="28575" cap="flat" cmpd="sng">
              <a:solidFill>
                <a:srgbClr val="66FF33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45436" name="直接连接符 145435"/>
            <p:cNvSpPr/>
            <p:nvPr/>
          </p:nvSpPr>
          <p:spPr>
            <a:xfrm>
              <a:off x="4018" y="3128"/>
              <a:ext cx="1120" cy="0"/>
            </a:xfrm>
            <a:prstGeom prst="line">
              <a:avLst/>
            </a:prstGeom>
            <a:ln w="28575" cap="flat" cmpd="sng">
              <a:solidFill>
                <a:srgbClr val="66FF33"/>
              </a:solidFill>
              <a:prstDash val="dash"/>
              <a:miter/>
              <a:headEnd type="none" w="med" len="med"/>
              <a:tailEnd type="none" w="med" len="med"/>
            </a:ln>
          </p:spPr>
        </p:sp>
        <p:sp>
          <p:nvSpPr>
            <p:cNvPr id="145437" name="矩形 145436"/>
            <p:cNvSpPr/>
            <p:nvPr/>
          </p:nvSpPr>
          <p:spPr>
            <a:xfrm>
              <a:off x="4018" y="3656"/>
              <a:ext cx="1120" cy="234"/>
            </a:xfrm>
            <a:prstGeom prst="rect">
              <a:avLst/>
            </a:prstGeom>
            <a:noFill/>
            <a:ln w="28575" cap="flat" cmpd="sng">
              <a:solidFill>
                <a:srgbClr val="00FF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108850" tIns="54425" rIns="108850" bIns="54425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zh-CN" sz="21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10</a:t>
              </a:r>
            </a:p>
          </p:txBody>
        </p:sp>
        <p:sp>
          <p:nvSpPr>
            <p:cNvPr id="145438" name="文本框 145437"/>
            <p:cNvSpPr txBox="1"/>
            <p:nvPr/>
          </p:nvSpPr>
          <p:spPr>
            <a:xfrm>
              <a:off x="3090" y="546"/>
              <a:ext cx="1008" cy="291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108850" tIns="54425" rIns="108850" bIns="54425">
              <a:spAutoFit/>
            </a:bodyPr>
            <a:lstStyle/>
            <a:p>
              <a:pPr eaLnBrk="0" hangingPunct="0">
                <a:spcBef>
                  <a:spcPct val="0"/>
                </a:spcBef>
              </a:pPr>
              <a:r>
                <a:rPr lang="en-US" altLang="zh-CN" sz="2100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CS1=0000H</a:t>
              </a:r>
            </a:p>
          </p:txBody>
        </p:sp>
        <p:sp>
          <p:nvSpPr>
            <p:cNvPr id="145439" name="文本框 145438"/>
            <p:cNvSpPr txBox="1"/>
            <p:nvPr/>
          </p:nvSpPr>
          <p:spPr>
            <a:xfrm>
              <a:off x="3122" y="370"/>
              <a:ext cx="1008" cy="291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108850" tIns="54425" rIns="108850" bIns="54425">
              <a:spAutoFit/>
            </a:bodyPr>
            <a:lstStyle/>
            <a:p>
              <a:pPr eaLnBrk="0" hangingPunct="0">
                <a:spcBef>
                  <a:spcPct val="0"/>
                </a:spcBef>
              </a:pPr>
              <a:r>
                <a:rPr lang="en-US" altLang="zh-CN" sz="2100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           </a:t>
              </a:r>
              <a:r>
                <a:rPr lang="en-US" altLang="zh-CN" sz="21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CS1</a:t>
              </a:r>
              <a:r>
                <a:rPr lang="en-US" altLang="zh-CN" sz="2100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→</a:t>
              </a:r>
            </a:p>
          </p:txBody>
        </p:sp>
        <p:sp>
          <p:nvSpPr>
            <p:cNvPr id="145440" name="文本框 145439"/>
            <p:cNvSpPr txBox="1"/>
            <p:nvPr/>
          </p:nvSpPr>
          <p:spPr>
            <a:xfrm>
              <a:off x="5138" y="488"/>
              <a:ext cx="672" cy="289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108850" tIns="54425" rIns="108850" bIns="54425">
              <a:spAutoFit/>
            </a:bodyPr>
            <a:lstStyle/>
            <a:p>
              <a:pPr eaLnBrk="0" hangingPunct="0">
                <a:spcBef>
                  <a:spcPct val="0"/>
                </a:spcBef>
              </a:pPr>
              <a:r>
                <a:rPr lang="en-US" altLang="zh-CN" sz="21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00000</a:t>
              </a:r>
            </a:p>
          </p:txBody>
        </p:sp>
        <p:sp>
          <p:nvSpPr>
            <p:cNvPr id="145441" name="文本框 145440"/>
            <p:cNvSpPr txBox="1"/>
            <p:nvPr/>
          </p:nvSpPr>
          <p:spPr>
            <a:xfrm>
              <a:off x="5138" y="1074"/>
              <a:ext cx="672" cy="289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108850" tIns="54425" rIns="108850" bIns="54425">
              <a:spAutoFit/>
            </a:bodyPr>
            <a:lstStyle/>
            <a:p>
              <a:pPr eaLnBrk="0" hangingPunct="0">
                <a:spcBef>
                  <a:spcPct val="0"/>
                </a:spcBef>
              </a:pPr>
              <a:r>
                <a:rPr lang="en-US" altLang="zh-CN" sz="21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02000</a:t>
              </a:r>
            </a:p>
          </p:txBody>
        </p:sp>
        <p:sp>
          <p:nvSpPr>
            <p:cNvPr id="145442" name="文本框 145441"/>
            <p:cNvSpPr txBox="1"/>
            <p:nvPr/>
          </p:nvSpPr>
          <p:spPr>
            <a:xfrm>
              <a:off x="3122" y="957"/>
              <a:ext cx="1008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108850" tIns="54425" rIns="108850" bIns="54425">
              <a:spAutoFit/>
            </a:bodyPr>
            <a:lstStyle/>
            <a:p>
              <a:pPr eaLnBrk="0" hangingPunct="0">
                <a:spcBef>
                  <a:spcPct val="0"/>
                </a:spcBef>
              </a:pPr>
              <a:r>
                <a:rPr lang="en-US" altLang="zh-CN" sz="2100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           </a:t>
              </a:r>
              <a:r>
                <a:rPr lang="en-US" altLang="zh-CN" sz="21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IP→</a:t>
              </a:r>
            </a:p>
          </p:txBody>
        </p:sp>
        <p:sp>
          <p:nvSpPr>
            <p:cNvPr id="145443" name="文本框 145442"/>
            <p:cNvSpPr txBox="1"/>
            <p:nvPr/>
          </p:nvSpPr>
          <p:spPr>
            <a:xfrm>
              <a:off x="3122" y="1133"/>
              <a:ext cx="1008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108850" tIns="54425" rIns="108850" bIns="54425">
              <a:spAutoFit/>
            </a:bodyPr>
            <a:lstStyle/>
            <a:p>
              <a:pPr eaLnBrk="0" hangingPunct="0">
                <a:spcBef>
                  <a:spcPct val="0"/>
                </a:spcBef>
              </a:pPr>
              <a:r>
                <a:rPr lang="en-US" altLang="zh-CN" sz="21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IP=2000H</a:t>
              </a:r>
            </a:p>
          </p:txBody>
        </p:sp>
        <p:sp>
          <p:nvSpPr>
            <p:cNvPr id="145444" name="文本框 145443"/>
            <p:cNvSpPr txBox="1"/>
            <p:nvPr/>
          </p:nvSpPr>
          <p:spPr>
            <a:xfrm>
              <a:off x="3122" y="3010"/>
              <a:ext cx="1008" cy="289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108850" tIns="54425" rIns="108850" bIns="54425">
              <a:spAutoFit/>
            </a:bodyPr>
            <a:lstStyle/>
            <a:p>
              <a:pPr eaLnBrk="0" hangingPunct="0">
                <a:spcBef>
                  <a:spcPct val="0"/>
                </a:spcBef>
              </a:pPr>
              <a:r>
                <a:rPr lang="en-US" altLang="zh-CN" sz="21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           CS2</a:t>
              </a:r>
              <a:r>
                <a:rPr lang="en-US" altLang="zh-CN" sz="2100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→</a:t>
              </a:r>
            </a:p>
          </p:txBody>
        </p:sp>
        <p:sp>
          <p:nvSpPr>
            <p:cNvPr id="145445" name="文本框 145444"/>
            <p:cNvSpPr txBox="1"/>
            <p:nvPr/>
          </p:nvSpPr>
          <p:spPr>
            <a:xfrm>
              <a:off x="3090" y="3186"/>
              <a:ext cx="1008" cy="289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108850" tIns="54425" rIns="108850" bIns="54425">
              <a:spAutoFit/>
            </a:bodyPr>
            <a:lstStyle/>
            <a:p>
              <a:pPr eaLnBrk="0" hangingPunct="0">
                <a:spcBef>
                  <a:spcPct val="0"/>
                </a:spcBef>
              </a:pPr>
              <a:r>
                <a:rPr lang="en-US" altLang="zh-CN" sz="2100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CS2=1000H</a:t>
              </a:r>
            </a:p>
          </p:txBody>
        </p:sp>
        <p:sp>
          <p:nvSpPr>
            <p:cNvPr id="145446" name="文本框 145445"/>
            <p:cNvSpPr txBox="1"/>
            <p:nvPr/>
          </p:nvSpPr>
          <p:spPr>
            <a:xfrm>
              <a:off x="2786" y="3656"/>
              <a:ext cx="1232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108850" tIns="54425" rIns="108850" bIns="54425">
              <a:spAutoFit/>
            </a:bodyPr>
            <a:lstStyle/>
            <a:p>
              <a:pPr eaLnBrk="0" hangingPunct="0">
                <a:spcBef>
                  <a:spcPct val="0"/>
                </a:spcBef>
              </a:pPr>
              <a:r>
                <a:rPr lang="en-US" altLang="zh-CN" sz="21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NEXTROUNT</a:t>
              </a:r>
            </a:p>
          </p:txBody>
        </p:sp>
        <p:sp>
          <p:nvSpPr>
            <p:cNvPr id="145447" name="文本框 145446"/>
            <p:cNvSpPr txBox="1"/>
            <p:nvPr/>
          </p:nvSpPr>
          <p:spPr>
            <a:xfrm>
              <a:off x="3122" y="3832"/>
              <a:ext cx="1008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108850" tIns="54425" rIns="108850" bIns="54425">
              <a:spAutoFit/>
            </a:bodyPr>
            <a:lstStyle/>
            <a:p>
              <a:pPr eaLnBrk="0" hangingPunct="0">
                <a:spcBef>
                  <a:spcPct val="0"/>
                </a:spcBef>
              </a:pPr>
              <a:r>
                <a:rPr lang="en-US" altLang="zh-CN" sz="21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IP=0132H</a:t>
              </a:r>
            </a:p>
          </p:txBody>
        </p:sp>
        <p:sp>
          <p:nvSpPr>
            <p:cNvPr id="145448" name="文本框 145447"/>
            <p:cNvSpPr txBox="1"/>
            <p:nvPr/>
          </p:nvSpPr>
          <p:spPr>
            <a:xfrm>
              <a:off x="5138" y="3656"/>
              <a:ext cx="672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108850" tIns="54425" rIns="108850" bIns="54425">
              <a:spAutoFit/>
            </a:bodyPr>
            <a:lstStyle/>
            <a:p>
              <a:pPr eaLnBrk="0" hangingPunct="0">
                <a:spcBef>
                  <a:spcPct val="0"/>
                </a:spcBef>
              </a:pPr>
              <a:r>
                <a:rPr lang="en-US" altLang="zh-CN" sz="21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10132</a:t>
              </a:r>
            </a:p>
          </p:txBody>
        </p:sp>
        <p:sp>
          <p:nvSpPr>
            <p:cNvPr id="145449" name="文本框 145448"/>
            <p:cNvSpPr txBox="1"/>
            <p:nvPr/>
          </p:nvSpPr>
          <p:spPr>
            <a:xfrm>
              <a:off x="5138" y="3128"/>
              <a:ext cx="672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108850" tIns="54425" rIns="108850" bIns="54425">
              <a:spAutoFit/>
            </a:bodyPr>
            <a:lstStyle/>
            <a:p>
              <a:pPr eaLnBrk="0" hangingPunct="0">
                <a:spcBef>
                  <a:spcPct val="0"/>
                </a:spcBef>
              </a:pPr>
              <a:r>
                <a:rPr lang="en-US" altLang="zh-CN" sz="21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10000</a:t>
              </a:r>
            </a:p>
          </p:txBody>
        </p:sp>
        <p:sp>
          <p:nvSpPr>
            <p:cNvPr id="145450" name="右大括号 145449"/>
            <p:cNvSpPr/>
            <p:nvPr/>
          </p:nvSpPr>
          <p:spPr>
            <a:xfrm>
              <a:off x="5138" y="1309"/>
              <a:ext cx="112" cy="469"/>
            </a:xfrm>
            <a:prstGeom prst="rightBrace">
              <a:avLst>
                <a:gd name="adj1" fmla="val 34895"/>
                <a:gd name="adj2" fmla="val 50000"/>
              </a:avLst>
            </a:prstGeom>
            <a:noFill/>
            <a:ln w="28575" cap="flat" cmpd="sng">
              <a:solidFill>
                <a:srgbClr val="66FF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451" name="右大括号 145450"/>
            <p:cNvSpPr/>
            <p:nvPr/>
          </p:nvSpPr>
          <p:spPr>
            <a:xfrm>
              <a:off x="5138" y="1778"/>
              <a:ext cx="112" cy="470"/>
            </a:xfrm>
            <a:prstGeom prst="rightBrace">
              <a:avLst>
                <a:gd name="adj1" fmla="val 34970"/>
                <a:gd name="adj2" fmla="val 50000"/>
              </a:avLst>
            </a:prstGeom>
            <a:noFill/>
            <a:ln w="28575" cap="flat" cmpd="sng">
              <a:solidFill>
                <a:srgbClr val="66FF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454" name="任意多边形 145453"/>
            <p:cNvSpPr/>
            <p:nvPr/>
          </p:nvSpPr>
          <p:spPr>
            <a:xfrm>
              <a:off x="3738" y="2248"/>
              <a:ext cx="280" cy="1408"/>
            </a:xfrm>
            <a:custGeom>
              <a:avLst/>
              <a:gdLst/>
              <a:ahLst/>
              <a:cxnLst/>
              <a:rect l="0" t="0" r="0" b="0"/>
              <a:pathLst>
                <a:path w="432" h="1152">
                  <a:moveTo>
                    <a:pt x="432" y="0"/>
                  </a:moveTo>
                  <a:cubicBezTo>
                    <a:pt x="216" y="216"/>
                    <a:pt x="0" y="432"/>
                    <a:pt x="0" y="624"/>
                  </a:cubicBezTo>
                  <a:cubicBezTo>
                    <a:pt x="0" y="816"/>
                    <a:pt x="216" y="984"/>
                    <a:pt x="432" y="1152"/>
                  </a:cubicBezTo>
                </a:path>
              </a:pathLst>
            </a:custGeom>
            <a:noFill/>
            <a:ln w="28575" cap="flat" cmpd="sng">
              <a:solidFill>
                <a:srgbClr val="66FF33">
                  <a:alpha val="100000"/>
                </a:srgbClr>
              </a:solidFill>
              <a:prstDash val="solid"/>
              <a:miter lim="800000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0" name="文本框 1"/>
          <p:cNvSpPr txBox="1"/>
          <p:nvPr/>
        </p:nvSpPr>
        <p:spPr>
          <a:xfrm>
            <a:off x="452120" y="317500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与转移地址有关的寻址方式</a:t>
            </a:r>
          </a:p>
        </p:txBody>
      </p:sp>
      <p:sp>
        <p:nvSpPr>
          <p:cNvPr id="2" name="矩形 1"/>
          <p:cNvSpPr/>
          <p:nvPr/>
        </p:nvSpPr>
        <p:spPr>
          <a:xfrm>
            <a:off x="317148" y="3717225"/>
            <a:ext cx="4572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chemeClr val="tx2"/>
                </a:solidFill>
                <a:ea typeface="楷体_GB2312" pitchFamily="49" charset="-122"/>
              </a:rPr>
              <a:t>offset  </a:t>
            </a:r>
            <a:r>
              <a:rPr lang="en-US" altLang="zh-CN" dirty="0">
                <a:solidFill>
                  <a:srgbClr val="FF0000"/>
                </a:solidFill>
                <a:ea typeface="楷体_GB2312" pitchFamily="49" charset="-122"/>
              </a:rPr>
              <a:t>NEXTROUNT</a:t>
            </a:r>
            <a:r>
              <a:rPr lang="en-US" altLang="zh-CN" dirty="0">
                <a:solidFill>
                  <a:schemeClr val="tx2"/>
                </a:solidFill>
                <a:ea typeface="楷体_GB2312" pitchFamily="49" charset="-122"/>
                <a:sym typeface="Symbol" pitchFamily="18" charset="2"/>
              </a:rPr>
              <a:t> (IP)</a:t>
            </a:r>
          </a:p>
          <a:p>
            <a:r>
              <a:rPr lang="en-US" altLang="zh-CN" dirty="0">
                <a:solidFill>
                  <a:schemeClr val="tx2"/>
                </a:solidFill>
                <a:ea typeface="楷体_GB2312" pitchFamily="49" charset="-122"/>
                <a:sym typeface="Symbol" pitchFamily="18" charset="2"/>
              </a:rPr>
              <a:t>seg      </a:t>
            </a:r>
            <a:r>
              <a:rPr lang="en-US" altLang="zh-CN" dirty="0">
                <a:solidFill>
                  <a:srgbClr val="FF0000"/>
                </a:solidFill>
                <a:ea typeface="楷体_GB2312" pitchFamily="49" charset="-122"/>
              </a:rPr>
              <a:t>NEXTROUNT</a:t>
            </a:r>
            <a:r>
              <a:rPr lang="en-US" altLang="zh-CN" dirty="0">
                <a:solidFill>
                  <a:schemeClr val="tx2"/>
                </a:solidFill>
                <a:ea typeface="楷体_GB2312" pitchFamily="49" charset="-122"/>
                <a:sym typeface="Symbol" pitchFamily="18" charset="2"/>
              </a:rPr>
              <a:t> (CS)</a:t>
            </a:r>
            <a:endParaRPr lang="zh-CN" altLang="en-US" dirty="0"/>
          </a:p>
        </p:txBody>
      </p:sp>
      <p:sp>
        <p:nvSpPr>
          <p:cNvPr id="37" name="矩形 36"/>
          <p:cNvSpPr/>
          <p:nvPr/>
        </p:nvSpPr>
        <p:spPr>
          <a:xfrm>
            <a:off x="251520" y="1006183"/>
            <a:ext cx="6045200" cy="558800"/>
          </a:xfrm>
          <a:prstGeom prst="rect">
            <a:avLst/>
          </a:prstGeom>
          <a:noFill/>
          <a:ln w="9525">
            <a:noFill/>
          </a:ln>
        </p:spPr>
        <p:txBody>
          <a:bodyPr lIns="108850" tIns="54425" rIns="108850" bIns="54425"/>
          <a:lstStyle/>
          <a:p>
            <a:pPr eaLnBrk="0" hangingPunct="0">
              <a:spcBef>
                <a:spcPct val="0"/>
              </a:spcBef>
            </a:pPr>
            <a:r>
              <a:rPr lang="zh-CN" altLang="en-US" sz="2400" b="1" dirty="0">
                <a:solidFill>
                  <a:srgbClr val="000066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（</a:t>
            </a:r>
            <a:r>
              <a:rPr lang="en-US" altLang="zh-CN" sz="2400" b="1" dirty="0">
                <a:solidFill>
                  <a:srgbClr val="000066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1</a:t>
            </a:r>
            <a:r>
              <a:rPr lang="zh-CN" altLang="en-US" sz="2400" b="1" dirty="0">
                <a:solidFill>
                  <a:srgbClr val="000066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）  段间直接寻址</a:t>
            </a:r>
          </a:p>
        </p:txBody>
      </p:sp>
    </p:spTree>
    <p:extLst>
      <p:ext uri="{BB962C8B-B14F-4D97-AF65-F5344CB8AC3E}">
        <p14:creationId xmlns:p14="http://schemas.microsoft.com/office/powerpoint/2010/main" val="615684479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75" name="矩形 147474"/>
          <p:cNvSpPr/>
          <p:nvPr/>
        </p:nvSpPr>
        <p:spPr>
          <a:xfrm>
            <a:off x="536601" y="3277039"/>
            <a:ext cx="8296344" cy="3212301"/>
          </a:xfrm>
          <a:prstGeom prst="rect">
            <a:avLst/>
          </a:prstGeom>
          <a:noFill/>
          <a:ln w="9525">
            <a:noFill/>
          </a:ln>
        </p:spPr>
        <p:txBody>
          <a:bodyPr wrap="square" lIns="108850" tIns="54425" rIns="108850" bIns="54425">
            <a:spAutoFit/>
          </a:bodyPr>
          <a:lstStyle/>
          <a:p>
            <a:pPr eaLnBrk="0" hangingPunct="0">
              <a:lnSpc>
                <a:spcPct val="140000"/>
              </a:lnSpc>
              <a:spcBef>
                <a:spcPct val="0"/>
              </a:spcBef>
            </a:pPr>
            <a:r>
              <a:rPr lang="zh-CN" altLang="en-US" sz="2400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如</a:t>
            </a:r>
            <a:r>
              <a:rPr lang="en-US" altLang="zh-CN" sz="2400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DS=3000H</a:t>
            </a:r>
            <a:r>
              <a:rPr lang="zh-CN" altLang="en-US" sz="2400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，</a:t>
            </a:r>
            <a:r>
              <a:rPr lang="en-US" altLang="zh-CN" sz="2400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BX=1200H</a:t>
            </a:r>
            <a:r>
              <a:rPr lang="zh-CN" altLang="en-US" sz="2400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，</a:t>
            </a:r>
            <a:r>
              <a:rPr lang="en-US" altLang="zh-CN" sz="2400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INTERS=0020H</a:t>
            </a:r>
            <a:r>
              <a:rPr lang="zh-CN" altLang="en-US" sz="2400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，</a:t>
            </a:r>
          </a:p>
          <a:p>
            <a:pPr eaLnBrk="0" hangingPunct="0">
              <a:lnSpc>
                <a:spcPct val="140000"/>
              </a:lnSpc>
              <a:spcBef>
                <a:spcPct val="0"/>
              </a:spcBef>
            </a:pPr>
            <a:r>
              <a:rPr lang="zh-CN" altLang="en-US" sz="2400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则存储单元的物理地址</a:t>
            </a:r>
            <a:r>
              <a:rPr lang="en-US" altLang="zh-CN" sz="2400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PA=30000+0020+1200=31220H</a:t>
            </a:r>
          </a:p>
          <a:p>
            <a:pPr eaLnBrk="0" hangingPunct="0">
              <a:lnSpc>
                <a:spcPct val="140000"/>
              </a:lnSpc>
              <a:spcBef>
                <a:spcPct val="0"/>
              </a:spcBef>
            </a:pPr>
            <a:endParaRPr lang="en-US" altLang="zh-CN" b="0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pPr eaLnBrk="0" hangingPunct="0">
              <a:lnSpc>
                <a:spcPct val="140000"/>
              </a:lnSpc>
              <a:spcBef>
                <a:spcPct val="0"/>
              </a:spcBef>
            </a:pPr>
            <a:r>
              <a:rPr lang="zh-CN" altLang="en-US" sz="2400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指令执行前，</a:t>
            </a:r>
            <a:r>
              <a:rPr lang="en-US" altLang="zh-CN" sz="2400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CS=0000H</a:t>
            </a:r>
            <a:r>
              <a:rPr lang="zh-CN" altLang="en-US" sz="2400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，</a:t>
            </a:r>
            <a:r>
              <a:rPr lang="en-US" altLang="zh-CN" sz="2400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IP=1000H</a:t>
            </a:r>
            <a:r>
              <a:rPr lang="zh-CN" altLang="en-US" sz="2400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，（</a:t>
            </a:r>
            <a:r>
              <a:rPr lang="en-US" altLang="zh-CN" sz="2400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31220H</a:t>
            </a:r>
            <a:r>
              <a:rPr lang="zh-CN" altLang="en-US" sz="2400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）</a:t>
            </a:r>
            <a:r>
              <a:rPr lang="en-US" altLang="zh-CN" sz="2400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=40H</a:t>
            </a:r>
            <a:r>
              <a:rPr lang="zh-CN" altLang="en-US" sz="2400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，</a:t>
            </a:r>
          </a:p>
          <a:p>
            <a:pPr eaLnBrk="0" hangingPunct="0">
              <a:lnSpc>
                <a:spcPct val="140000"/>
              </a:lnSpc>
              <a:spcBef>
                <a:spcPct val="0"/>
              </a:spcBef>
            </a:pPr>
            <a:r>
              <a:rPr lang="zh-CN" altLang="en-US" sz="2400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         （</a:t>
            </a:r>
            <a:r>
              <a:rPr lang="en-US" altLang="zh-CN" sz="2400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31221</a:t>
            </a:r>
            <a:r>
              <a:rPr lang="zh-CN" altLang="en-US" sz="2400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）</a:t>
            </a:r>
            <a:r>
              <a:rPr lang="en-US" altLang="zh-CN" sz="2400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=01H</a:t>
            </a:r>
            <a:r>
              <a:rPr lang="zh-CN" altLang="en-US" sz="2400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，（</a:t>
            </a:r>
            <a:r>
              <a:rPr lang="en-US" altLang="zh-CN" sz="2400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31222H</a:t>
            </a:r>
            <a:r>
              <a:rPr lang="zh-CN" altLang="en-US" sz="2400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）</a:t>
            </a:r>
            <a:r>
              <a:rPr lang="en-US" altLang="zh-CN" sz="2400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=00H</a:t>
            </a:r>
            <a:r>
              <a:rPr lang="zh-CN" altLang="en-US" sz="2400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，（</a:t>
            </a:r>
            <a:r>
              <a:rPr lang="en-US" altLang="zh-CN" sz="2400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31223</a:t>
            </a:r>
            <a:r>
              <a:rPr lang="zh-CN" altLang="en-US" sz="2400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）</a:t>
            </a:r>
            <a:r>
              <a:rPr lang="en-US" altLang="zh-CN" sz="2400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=10H</a:t>
            </a:r>
            <a:r>
              <a:rPr lang="zh-CN" altLang="en-US" sz="2400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。</a:t>
            </a:r>
          </a:p>
          <a:p>
            <a:pPr eaLnBrk="0" hangingPunct="0">
              <a:lnSpc>
                <a:spcPct val="140000"/>
              </a:lnSpc>
            </a:pPr>
            <a:r>
              <a:rPr lang="zh-CN" altLang="en-US" sz="2400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指令执行后，</a:t>
            </a:r>
            <a:r>
              <a:rPr lang="en-US" altLang="zh-CN" dirty="0">
                <a:solidFill>
                  <a:srgbClr val="FF0000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IP=0140H</a:t>
            </a:r>
            <a:r>
              <a:rPr lang="zh-CN" altLang="en-US" dirty="0">
                <a:solidFill>
                  <a:srgbClr val="FF0000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，</a:t>
            </a:r>
            <a:r>
              <a:rPr lang="en-US" altLang="zh-CN" dirty="0">
                <a:solidFill>
                  <a:srgbClr val="FF0000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CS</a:t>
            </a:r>
            <a:r>
              <a:rPr lang="en-US" altLang="zh-CN" sz="2400" dirty="0">
                <a:solidFill>
                  <a:srgbClr val="FF0000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=1000H</a:t>
            </a:r>
            <a:r>
              <a:rPr lang="zh-CN" altLang="en-US" sz="2400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。</a:t>
            </a:r>
            <a:r>
              <a:rPr lang="zh-CN" altLang="en-US" dirty="0">
                <a:solidFill>
                  <a:srgbClr val="FF0000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先</a:t>
            </a:r>
            <a:r>
              <a:rPr lang="en-US" altLang="zh-CN" dirty="0">
                <a:solidFill>
                  <a:srgbClr val="FF0000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IP</a:t>
            </a:r>
            <a:r>
              <a:rPr lang="zh-CN" altLang="en-US" dirty="0">
                <a:solidFill>
                  <a:srgbClr val="FF0000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、后</a:t>
            </a:r>
            <a:r>
              <a:rPr lang="en-US" altLang="zh-CN" dirty="0">
                <a:solidFill>
                  <a:srgbClr val="FF0000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CS</a:t>
            </a:r>
            <a:r>
              <a:rPr lang="zh-CN" altLang="en-US" dirty="0">
                <a:solidFill>
                  <a:srgbClr val="FF0000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。</a:t>
            </a:r>
            <a:endParaRPr lang="zh-CN" altLang="en-US" sz="2400" b="0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</p:txBody>
      </p:sp>
      <p:sp>
        <p:nvSpPr>
          <p:cNvPr id="147478" name="矩形 147477"/>
          <p:cNvSpPr/>
          <p:nvPr/>
        </p:nvSpPr>
        <p:spPr>
          <a:xfrm>
            <a:off x="468373" y="1700808"/>
            <a:ext cx="8257389" cy="1126462"/>
          </a:xfrm>
          <a:prstGeom prst="rect">
            <a:avLst/>
          </a:prstGeom>
          <a:solidFill>
            <a:srgbClr val="CCFFFF"/>
          </a:solidFill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>
              <a:lnSpc>
                <a:spcPct val="140000"/>
              </a:lnSpc>
              <a:spcBef>
                <a:spcPct val="0"/>
              </a:spcBef>
            </a:pPr>
            <a:r>
              <a:rPr lang="zh-CN" altLang="en-US" sz="2400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【例】    </a:t>
            </a:r>
            <a:r>
              <a:rPr lang="en-US" altLang="zh-CN" sz="2400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JMP</a:t>
            </a:r>
            <a:r>
              <a:rPr lang="zh-CN" altLang="en-US" sz="2400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　</a:t>
            </a:r>
            <a:r>
              <a:rPr lang="en-US" altLang="zh-CN" sz="2400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DWORD  PTR   [INTERS+BX]</a:t>
            </a:r>
          </a:p>
          <a:p>
            <a:pPr eaLnBrk="0" hangingPunct="0">
              <a:lnSpc>
                <a:spcPct val="140000"/>
              </a:lnSpc>
            </a:pPr>
            <a:r>
              <a:rPr lang="en-US" altLang="zh-CN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DWORD  PTR</a:t>
            </a:r>
            <a:r>
              <a:rPr lang="en-US" altLang="zh-CN" b="0" dirty="0">
                <a:ea typeface="楷体_GB2312" pitchFamily="49" charset="-122"/>
              </a:rPr>
              <a:t>——</a:t>
            </a:r>
            <a:r>
              <a:rPr lang="zh-CN" altLang="en-US" b="0" dirty="0">
                <a:ea typeface="楷体_GB2312" pitchFamily="49" charset="-122"/>
              </a:rPr>
              <a:t>双字操作符，转向地址双字（段间转移）</a:t>
            </a:r>
            <a:endParaRPr lang="en-US" altLang="zh-CN" sz="2400" b="0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</p:txBody>
      </p:sp>
      <p:sp>
        <p:nvSpPr>
          <p:cNvPr id="9" name="文本框 1"/>
          <p:cNvSpPr txBox="1"/>
          <p:nvPr/>
        </p:nvSpPr>
        <p:spPr>
          <a:xfrm>
            <a:off x="452120" y="317500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与转移地址有关的寻址方式</a:t>
            </a:r>
          </a:p>
        </p:txBody>
      </p:sp>
      <p:sp>
        <p:nvSpPr>
          <p:cNvPr id="5" name="矩形 4"/>
          <p:cNvSpPr/>
          <p:nvPr/>
        </p:nvSpPr>
        <p:spPr>
          <a:xfrm>
            <a:off x="251520" y="1006183"/>
            <a:ext cx="6045200" cy="558800"/>
          </a:xfrm>
          <a:prstGeom prst="rect">
            <a:avLst/>
          </a:prstGeom>
          <a:noFill/>
          <a:ln w="9525">
            <a:noFill/>
          </a:ln>
        </p:spPr>
        <p:txBody>
          <a:bodyPr lIns="108850" tIns="54425" rIns="108850" bIns="54425"/>
          <a:lstStyle/>
          <a:p>
            <a:pPr eaLnBrk="0" hangingPunct="0">
              <a:spcBef>
                <a:spcPct val="0"/>
              </a:spcBef>
            </a:pPr>
            <a:r>
              <a:rPr lang="zh-CN" altLang="en-US" sz="2400" b="1" dirty="0">
                <a:solidFill>
                  <a:srgbClr val="000066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（</a:t>
            </a:r>
            <a:r>
              <a:rPr lang="en-US" altLang="zh-CN" sz="2400" b="1" dirty="0">
                <a:solidFill>
                  <a:srgbClr val="000066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2</a:t>
            </a:r>
            <a:r>
              <a:rPr lang="zh-CN" altLang="en-US" sz="2400" b="1" dirty="0">
                <a:solidFill>
                  <a:srgbClr val="000066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）  段间间接寻址</a:t>
            </a:r>
          </a:p>
        </p:txBody>
      </p:sp>
    </p:spTree>
    <p:extLst>
      <p:ext uri="{BB962C8B-B14F-4D97-AF65-F5344CB8AC3E}">
        <p14:creationId xmlns:p14="http://schemas.microsoft.com/office/powerpoint/2010/main" val="135983649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47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文本框 93185"/>
          <p:cNvSpPr txBox="1"/>
          <p:nvPr/>
        </p:nvSpPr>
        <p:spPr>
          <a:xfrm>
            <a:off x="594734" y="1084768"/>
            <a:ext cx="8045717" cy="118808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+mn-lt"/>
              </a:rPr>
              <a:t>条件转移指令：</a:t>
            </a:r>
            <a:r>
              <a:rPr lang="zh-CN" altLang="en-US" sz="2000" b="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只能使用段内直接寻址的</a:t>
            </a:r>
            <a:r>
              <a:rPr lang="en-US" altLang="zh-CN" sz="2000" b="0" dirty="0">
                <a:solidFill>
                  <a:srgbClr val="000000"/>
                </a:solidFill>
                <a:ea typeface="楷体_GB2312" pitchFamily="49" charset="-122"/>
              </a:rPr>
              <a:t>8 </a:t>
            </a:r>
            <a:r>
              <a:rPr lang="zh-CN" altLang="en-US" sz="2000" b="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位位移量（</a:t>
            </a:r>
            <a:r>
              <a:rPr lang="en-US" altLang="zh-CN" sz="2000" b="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386</a:t>
            </a:r>
            <a:r>
              <a:rPr lang="zh-CN" altLang="en-US" sz="2000" b="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以后机型支持</a:t>
            </a:r>
            <a:r>
              <a:rPr lang="en-US" altLang="zh-CN" sz="2000" b="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16</a:t>
            </a:r>
            <a:r>
              <a:rPr lang="zh-CN" altLang="en-US" sz="2000" b="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位位移量）</a:t>
            </a:r>
          </a:p>
          <a:p>
            <a:pPr eaLnBrk="0" hangingPunct="0">
              <a:lnSpc>
                <a:spcPct val="130000"/>
              </a:lnSpc>
            </a:pPr>
            <a:r>
              <a:rPr lang="en-US" altLang="zh-CN" sz="2000" b="0" dirty="0">
                <a:solidFill>
                  <a:srgbClr val="FF0000"/>
                </a:solidFill>
              </a:rPr>
              <a:t>(1)   </a:t>
            </a:r>
            <a:r>
              <a:rPr lang="zh-CN" altLang="en-US" sz="2000" b="0" dirty="0">
                <a:solidFill>
                  <a:srgbClr val="FF0000"/>
                </a:solidFill>
              </a:rPr>
              <a:t>根据单个条件标志的设置情况转移</a:t>
            </a:r>
            <a:r>
              <a:rPr lang="zh-CN" altLang="en-US" sz="2000" b="0" dirty="0">
                <a:solidFill>
                  <a:srgbClr val="000000"/>
                </a:solidFill>
              </a:rPr>
              <a:t>　　</a:t>
            </a:r>
          </a:p>
        </p:txBody>
      </p:sp>
      <p:sp>
        <p:nvSpPr>
          <p:cNvPr id="9" name="文本框 1"/>
          <p:cNvSpPr txBox="1"/>
          <p:nvPr/>
        </p:nvSpPr>
        <p:spPr>
          <a:xfrm>
            <a:off x="452120" y="317500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控制转移指令</a:t>
            </a:r>
          </a:p>
        </p:txBody>
      </p:sp>
      <p:grpSp>
        <p:nvGrpSpPr>
          <p:cNvPr id="10" name="Group 5"/>
          <p:cNvGrpSpPr/>
          <p:nvPr/>
        </p:nvGrpSpPr>
        <p:grpSpPr bwMode="auto">
          <a:xfrm>
            <a:off x="611560" y="2282608"/>
            <a:ext cx="8136904" cy="4207669"/>
            <a:chOff x="240" y="816"/>
            <a:chExt cx="5328" cy="3168"/>
          </a:xfrm>
        </p:grpSpPr>
        <p:grpSp>
          <p:nvGrpSpPr>
            <p:cNvPr id="11" name="Group 6"/>
            <p:cNvGrpSpPr/>
            <p:nvPr/>
          </p:nvGrpSpPr>
          <p:grpSpPr bwMode="auto">
            <a:xfrm>
              <a:off x="240" y="816"/>
              <a:ext cx="1152" cy="288"/>
              <a:chOff x="0" y="0"/>
              <a:chExt cx="617" cy="384"/>
            </a:xfrm>
          </p:grpSpPr>
          <p:sp>
            <p:nvSpPr>
              <p:cNvPr id="78" name="Rectangl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617" cy="384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rgbClr val="000066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zh-CN" altLang="en-US"/>
              </a:p>
            </p:txBody>
          </p:sp>
          <p:sp>
            <p:nvSpPr>
              <p:cNvPr id="79" name="Rectangle 8"/>
              <p:cNvSpPr>
                <a:spLocks noChangeArrowheads="1"/>
              </p:cNvSpPr>
              <p:nvPr/>
            </p:nvSpPr>
            <p:spPr bwMode="auto">
              <a:xfrm>
                <a:off x="0" y="0"/>
                <a:ext cx="617" cy="384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rgbClr val="000066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pPr algn="ctr" eaLnBrk="0" hangingPunct="0">
                  <a:spcBef>
                    <a:spcPct val="0"/>
                  </a:spcBef>
                </a:pPr>
                <a:r>
                  <a:rPr kumimoji="0" lang="zh-CN" altLang="en-US" sz="1800" b="1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指令的助忆符</a:t>
                </a:r>
              </a:p>
            </p:txBody>
          </p:sp>
        </p:grpSp>
        <p:grpSp>
          <p:nvGrpSpPr>
            <p:cNvPr id="12" name="Group 9"/>
            <p:cNvGrpSpPr/>
            <p:nvPr/>
          </p:nvGrpSpPr>
          <p:grpSpPr bwMode="auto">
            <a:xfrm>
              <a:off x="1344" y="816"/>
              <a:ext cx="1222" cy="288"/>
              <a:chOff x="617" y="0"/>
              <a:chExt cx="704" cy="384"/>
            </a:xfrm>
          </p:grpSpPr>
          <p:sp>
            <p:nvSpPr>
              <p:cNvPr id="76" name="Rectangle 10"/>
              <p:cNvSpPr>
                <a:spLocks noChangeArrowheads="1"/>
              </p:cNvSpPr>
              <p:nvPr/>
            </p:nvSpPr>
            <p:spPr bwMode="auto">
              <a:xfrm>
                <a:off x="617" y="0"/>
                <a:ext cx="704" cy="384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rgbClr val="000066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zh-CN" altLang="en-US"/>
              </a:p>
            </p:txBody>
          </p:sp>
          <p:sp>
            <p:nvSpPr>
              <p:cNvPr id="77" name="Rectangle 11"/>
              <p:cNvSpPr>
                <a:spLocks noChangeArrowheads="1"/>
              </p:cNvSpPr>
              <p:nvPr/>
            </p:nvSpPr>
            <p:spPr bwMode="auto">
              <a:xfrm>
                <a:off x="617" y="0"/>
                <a:ext cx="704" cy="384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rgbClr val="000066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pPr algn="just" eaLnBrk="0" hangingPunct="0">
                  <a:spcBef>
                    <a:spcPct val="0"/>
                  </a:spcBef>
                </a:pPr>
                <a:r>
                  <a:rPr kumimoji="0" lang="zh-CN" altLang="en-US" sz="1800" b="1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检测的转移条件</a:t>
                </a:r>
              </a:p>
            </p:txBody>
          </p:sp>
        </p:grpSp>
        <p:grpSp>
          <p:nvGrpSpPr>
            <p:cNvPr id="13" name="Group 12"/>
            <p:cNvGrpSpPr/>
            <p:nvPr/>
          </p:nvGrpSpPr>
          <p:grpSpPr bwMode="auto">
            <a:xfrm>
              <a:off x="2566" y="816"/>
              <a:ext cx="3001" cy="288"/>
              <a:chOff x="1321" y="0"/>
              <a:chExt cx="1704" cy="384"/>
            </a:xfrm>
          </p:grpSpPr>
          <p:sp>
            <p:nvSpPr>
              <p:cNvPr id="74" name="Rectangle 13"/>
              <p:cNvSpPr>
                <a:spLocks noChangeArrowheads="1"/>
              </p:cNvSpPr>
              <p:nvPr/>
            </p:nvSpPr>
            <p:spPr bwMode="auto">
              <a:xfrm>
                <a:off x="1321" y="0"/>
                <a:ext cx="1704" cy="384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rgbClr val="000066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zh-CN" altLang="en-US"/>
              </a:p>
            </p:txBody>
          </p:sp>
          <p:sp>
            <p:nvSpPr>
              <p:cNvPr id="75" name="Rectangle 14"/>
              <p:cNvSpPr>
                <a:spLocks noChangeArrowheads="1"/>
              </p:cNvSpPr>
              <p:nvPr/>
            </p:nvSpPr>
            <p:spPr bwMode="auto">
              <a:xfrm>
                <a:off x="1321" y="0"/>
                <a:ext cx="1704" cy="384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rgbClr val="000066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pPr algn="just" eaLnBrk="0" hangingPunct="0">
                  <a:spcBef>
                    <a:spcPct val="0"/>
                  </a:spcBef>
                </a:pPr>
                <a:r>
                  <a:rPr kumimoji="0" lang="zh-CN" altLang="en-US" sz="1800" b="1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功能描述</a:t>
                </a:r>
              </a:p>
            </p:txBody>
          </p:sp>
        </p:grpSp>
        <p:grpSp>
          <p:nvGrpSpPr>
            <p:cNvPr id="14" name="Group 15"/>
            <p:cNvGrpSpPr/>
            <p:nvPr/>
          </p:nvGrpSpPr>
          <p:grpSpPr bwMode="auto">
            <a:xfrm>
              <a:off x="240" y="1104"/>
              <a:ext cx="1104" cy="288"/>
              <a:chOff x="0" y="384"/>
              <a:chExt cx="617" cy="384"/>
            </a:xfrm>
          </p:grpSpPr>
          <p:sp>
            <p:nvSpPr>
              <p:cNvPr id="72" name="Rectangle 16"/>
              <p:cNvSpPr>
                <a:spLocks noChangeArrowheads="1"/>
              </p:cNvSpPr>
              <p:nvPr/>
            </p:nvSpPr>
            <p:spPr bwMode="auto">
              <a:xfrm>
                <a:off x="0" y="384"/>
                <a:ext cx="617" cy="384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rgbClr val="000066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zh-CN" altLang="en-US"/>
              </a:p>
            </p:txBody>
          </p:sp>
          <p:sp>
            <p:nvSpPr>
              <p:cNvPr id="73" name="Rectangle 17"/>
              <p:cNvSpPr>
                <a:spLocks noChangeArrowheads="1"/>
              </p:cNvSpPr>
              <p:nvPr/>
            </p:nvSpPr>
            <p:spPr bwMode="auto">
              <a:xfrm>
                <a:off x="0" y="384"/>
                <a:ext cx="617" cy="384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rgbClr val="000066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pPr algn="ctr" eaLnBrk="0" hangingPunct="0">
                  <a:spcBef>
                    <a:spcPct val="0"/>
                  </a:spcBef>
                </a:pPr>
                <a:r>
                  <a:rPr kumimoji="0" lang="en-US" altLang="zh-CN" sz="1800" b="1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JZ/JE</a:t>
                </a:r>
              </a:p>
            </p:txBody>
          </p:sp>
        </p:grpSp>
        <p:grpSp>
          <p:nvGrpSpPr>
            <p:cNvPr id="15" name="Group 18"/>
            <p:cNvGrpSpPr/>
            <p:nvPr/>
          </p:nvGrpSpPr>
          <p:grpSpPr bwMode="auto">
            <a:xfrm>
              <a:off x="1344" y="1104"/>
              <a:ext cx="1222" cy="288"/>
              <a:chOff x="617" y="384"/>
              <a:chExt cx="704" cy="384"/>
            </a:xfrm>
          </p:grpSpPr>
          <p:sp>
            <p:nvSpPr>
              <p:cNvPr id="70" name="Rectangle 19"/>
              <p:cNvSpPr>
                <a:spLocks noChangeArrowheads="1"/>
              </p:cNvSpPr>
              <p:nvPr/>
            </p:nvSpPr>
            <p:spPr bwMode="auto">
              <a:xfrm>
                <a:off x="617" y="384"/>
                <a:ext cx="704" cy="384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rgbClr val="000066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zh-CN" altLang="en-US"/>
              </a:p>
            </p:txBody>
          </p:sp>
          <p:sp>
            <p:nvSpPr>
              <p:cNvPr id="71" name="Rectangle 20"/>
              <p:cNvSpPr>
                <a:spLocks noChangeArrowheads="1"/>
              </p:cNvSpPr>
              <p:nvPr/>
            </p:nvSpPr>
            <p:spPr bwMode="auto">
              <a:xfrm>
                <a:off x="617" y="384"/>
                <a:ext cx="704" cy="384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rgbClr val="000066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pPr algn="just" eaLnBrk="0" hangingPunct="0">
                  <a:spcBef>
                    <a:spcPct val="0"/>
                  </a:spcBef>
                </a:pPr>
                <a:r>
                  <a:rPr kumimoji="0" lang="en-US" altLang="zh-CN" sz="1800" b="1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ZF=1</a:t>
                </a:r>
              </a:p>
            </p:txBody>
          </p:sp>
        </p:grpSp>
        <p:grpSp>
          <p:nvGrpSpPr>
            <p:cNvPr id="16" name="Group 21"/>
            <p:cNvGrpSpPr/>
            <p:nvPr/>
          </p:nvGrpSpPr>
          <p:grpSpPr bwMode="auto">
            <a:xfrm>
              <a:off x="2566" y="1104"/>
              <a:ext cx="3001" cy="288"/>
              <a:chOff x="1321" y="384"/>
              <a:chExt cx="1704" cy="384"/>
            </a:xfrm>
          </p:grpSpPr>
          <p:sp>
            <p:nvSpPr>
              <p:cNvPr id="68" name="Rectangle 22"/>
              <p:cNvSpPr>
                <a:spLocks noChangeArrowheads="1"/>
              </p:cNvSpPr>
              <p:nvPr/>
            </p:nvSpPr>
            <p:spPr bwMode="auto">
              <a:xfrm>
                <a:off x="1321" y="384"/>
                <a:ext cx="1704" cy="384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rgbClr val="000066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zh-CN" altLang="en-US"/>
              </a:p>
            </p:txBody>
          </p:sp>
          <p:sp>
            <p:nvSpPr>
              <p:cNvPr id="69" name="Rectangle 23"/>
              <p:cNvSpPr>
                <a:spLocks noChangeArrowheads="1"/>
              </p:cNvSpPr>
              <p:nvPr/>
            </p:nvSpPr>
            <p:spPr bwMode="auto">
              <a:xfrm>
                <a:off x="1321" y="384"/>
                <a:ext cx="1704" cy="384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rgbClr val="000066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pPr algn="just" eaLnBrk="0" hangingPunct="0">
                  <a:spcBef>
                    <a:spcPct val="0"/>
                  </a:spcBef>
                </a:pPr>
                <a:r>
                  <a:rPr kumimoji="0" lang="zh-CN" altLang="en-US" sz="1800" b="1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结果为</a:t>
                </a:r>
                <a:r>
                  <a:rPr kumimoji="0" lang="en-US" altLang="zh-CN" sz="1800" b="1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0</a:t>
                </a:r>
                <a:r>
                  <a:rPr kumimoji="0" lang="zh-CN" altLang="en-US" sz="1800" b="1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或相等则转移</a:t>
                </a:r>
                <a:endParaRPr kumimoji="0" lang="en-US" altLang="zh-CN" sz="1800" b="1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sp>
          <p:nvSpPr>
            <p:cNvPr id="17" name="Rectangle 24"/>
            <p:cNvSpPr>
              <a:spLocks noChangeArrowheads="1"/>
            </p:cNvSpPr>
            <p:nvPr/>
          </p:nvSpPr>
          <p:spPr bwMode="auto">
            <a:xfrm>
              <a:off x="240" y="1392"/>
              <a:ext cx="1104" cy="288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rgbClr val="000066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kumimoji="0" lang="en-US" altLang="zh-CN" sz="18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JNZ/JNE</a:t>
              </a:r>
            </a:p>
          </p:txBody>
        </p:sp>
        <p:sp>
          <p:nvSpPr>
            <p:cNvPr id="18" name="Rectangle 25"/>
            <p:cNvSpPr>
              <a:spLocks noChangeArrowheads="1"/>
            </p:cNvSpPr>
            <p:nvPr/>
          </p:nvSpPr>
          <p:spPr bwMode="auto">
            <a:xfrm>
              <a:off x="1344" y="1392"/>
              <a:ext cx="1222" cy="288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rgbClr val="000066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 algn="just" eaLnBrk="0" hangingPunct="0">
                <a:spcBef>
                  <a:spcPct val="0"/>
                </a:spcBef>
              </a:pPr>
              <a:r>
                <a:rPr kumimoji="0" lang="en-US" altLang="zh-CN" sz="18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ZF=0</a:t>
              </a:r>
            </a:p>
          </p:txBody>
        </p:sp>
        <p:sp>
          <p:nvSpPr>
            <p:cNvPr id="19" name="Rectangle 26"/>
            <p:cNvSpPr>
              <a:spLocks noChangeArrowheads="1"/>
            </p:cNvSpPr>
            <p:nvPr/>
          </p:nvSpPr>
          <p:spPr bwMode="auto">
            <a:xfrm>
              <a:off x="2566" y="1392"/>
              <a:ext cx="3001" cy="288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rgbClr val="000066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 algn="just" eaLnBrk="0" hangingPunct="0"/>
              <a:r>
                <a:rPr lang="zh-CN" altLang="en-US" sz="18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结果不为</a:t>
              </a:r>
              <a:r>
                <a:rPr lang="en-US" altLang="zh-CN" sz="18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r>
                <a:rPr lang="zh-CN" altLang="en-US" sz="18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或不相等则转移</a:t>
              </a:r>
              <a:endParaRPr kumimoji="0"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pSp>
          <p:nvGrpSpPr>
            <p:cNvPr id="20" name="Group 27"/>
            <p:cNvGrpSpPr/>
            <p:nvPr/>
          </p:nvGrpSpPr>
          <p:grpSpPr bwMode="auto">
            <a:xfrm>
              <a:off x="240" y="1680"/>
              <a:ext cx="1104" cy="288"/>
              <a:chOff x="0" y="1152"/>
              <a:chExt cx="617" cy="384"/>
            </a:xfrm>
          </p:grpSpPr>
          <p:sp>
            <p:nvSpPr>
              <p:cNvPr id="66" name="Rectangle 28"/>
              <p:cNvSpPr>
                <a:spLocks noChangeArrowheads="1"/>
              </p:cNvSpPr>
              <p:nvPr/>
            </p:nvSpPr>
            <p:spPr bwMode="auto">
              <a:xfrm>
                <a:off x="0" y="1152"/>
                <a:ext cx="617" cy="384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rgbClr val="000066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zh-CN" altLang="en-US"/>
              </a:p>
            </p:txBody>
          </p:sp>
          <p:sp>
            <p:nvSpPr>
              <p:cNvPr id="67" name="Rectangle 29"/>
              <p:cNvSpPr>
                <a:spLocks noChangeArrowheads="1"/>
              </p:cNvSpPr>
              <p:nvPr/>
            </p:nvSpPr>
            <p:spPr bwMode="auto">
              <a:xfrm>
                <a:off x="0" y="1152"/>
                <a:ext cx="617" cy="384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rgbClr val="000066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pPr algn="ctr" eaLnBrk="0" hangingPunct="0">
                  <a:spcBef>
                    <a:spcPct val="0"/>
                  </a:spcBef>
                </a:pPr>
                <a:r>
                  <a:rPr kumimoji="0" lang="en-US" altLang="zh-CN" sz="1800" b="1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JS</a:t>
                </a:r>
              </a:p>
            </p:txBody>
          </p:sp>
        </p:grpSp>
        <p:grpSp>
          <p:nvGrpSpPr>
            <p:cNvPr id="21" name="Group 30"/>
            <p:cNvGrpSpPr/>
            <p:nvPr/>
          </p:nvGrpSpPr>
          <p:grpSpPr bwMode="auto">
            <a:xfrm>
              <a:off x="1344" y="1680"/>
              <a:ext cx="1222" cy="288"/>
              <a:chOff x="617" y="1152"/>
              <a:chExt cx="704" cy="384"/>
            </a:xfrm>
          </p:grpSpPr>
          <p:sp>
            <p:nvSpPr>
              <p:cNvPr id="64" name="Rectangle 31"/>
              <p:cNvSpPr>
                <a:spLocks noChangeArrowheads="1"/>
              </p:cNvSpPr>
              <p:nvPr/>
            </p:nvSpPr>
            <p:spPr bwMode="auto">
              <a:xfrm>
                <a:off x="617" y="1152"/>
                <a:ext cx="704" cy="384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rgbClr val="000066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zh-CN" altLang="en-US"/>
              </a:p>
            </p:txBody>
          </p:sp>
          <p:sp>
            <p:nvSpPr>
              <p:cNvPr id="65" name="Rectangle 32"/>
              <p:cNvSpPr>
                <a:spLocks noChangeArrowheads="1"/>
              </p:cNvSpPr>
              <p:nvPr/>
            </p:nvSpPr>
            <p:spPr bwMode="auto">
              <a:xfrm>
                <a:off x="617" y="1152"/>
                <a:ext cx="704" cy="384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rgbClr val="000066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pPr algn="just" eaLnBrk="0" hangingPunct="0">
                  <a:spcBef>
                    <a:spcPct val="0"/>
                  </a:spcBef>
                </a:pPr>
                <a:r>
                  <a:rPr kumimoji="0" lang="en-US" altLang="zh-CN" sz="1800" b="1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SF=1</a:t>
                </a:r>
              </a:p>
            </p:txBody>
          </p:sp>
        </p:grpSp>
        <p:grpSp>
          <p:nvGrpSpPr>
            <p:cNvPr id="22" name="Group 33"/>
            <p:cNvGrpSpPr/>
            <p:nvPr/>
          </p:nvGrpSpPr>
          <p:grpSpPr bwMode="auto">
            <a:xfrm>
              <a:off x="2566" y="1680"/>
              <a:ext cx="3001" cy="288"/>
              <a:chOff x="1321" y="1152"/>
              <a:chExt cx="1704" cy="384"/>
            </a:xfrm>
          </p:grpSpPr>
          <p:sp>
            <p:nvSpPr>
              <p:cNvPr id="62" name="Rectangle 34"/>
              <p:cNvSpPr>
                <a:spLocks noChangeArrowheads="1"/>
              </p:cNvSpPr>
              <p:nvPr/>
            </p:nvSpPr>
            <p:spPr bwMode="auto">
              <a:xfrm>
                <a:off x="1321" y="1152"/>
                <a:ext cx="1704" cy="384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rgbClr val="000066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zh-CN" altLang="en-US"/>
              </a:p>
            </p:txBody>
          </p:sp>
          <p:sp>
            <p:nvSpPr>
              <p:cNvPr id="63" name="Rectangle 35"/>
              <p:cNvSpPr>
                <a:spLocks noChangeArrowheads="1"/>
              </p:cNvSpPr>
              <p:nvPr/>
            </p:nvSpPr>
            <p:spPr bwMode="auto">
              <a:xfrm>
                <a:off x="1321" y="1152"/>
                <a:ext cx="1704" cy="384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rgbClr val="000066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pPr algn="just" eaLnBrk="0" hangingPunct="0"/>
                <a:r>
                  <a:rPr lang="zh-CN" altLang="en-US" sz="18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结果为负则转移</a:t>
                </a:r>
                <a:endParaRPr kumimoji="0" lang="en-US" altLang="zh-CN" sz="1800" b="1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sp>
          <p:nvSpPr>
            <p:cNvPr id="23" name="Rectangle 36"/>
            <p:cNvSpPr>
              <a:spLocks noChangeArrowheads="1"/>
            </p:cNvSpPr>
            <p:nvPr/>
          </p:nvSpPr>
          <p:spPr bwMode="auto">
            <a:xfrm>
              <a:off x="240" y="1968"/>
              <a:ext cx="1104" cy="288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rgbClr val="000066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kumimoji="0" lang="en-US" altLang="zh-CN" sz="18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JNS</a:t>
              </a:r>
            </a:p>
          </p:txBody>
        </p:sp>
        <p:sp>
          <p:nvSpPr>
            <p:cNvPr id="24" name="Rectangle 37"/>
            <p:cNvSpPr>
              <a:spLocks noChangeArrowheads="1"/>
            </p:cNvSpPr>
            <p:nvPr/>
          </p:nvSpPr>
          <p:spPr bwMode="auto">
            <a:xfrm>
              <a:off x="1344" y="1968"/>
              <a:ext cx="1222" cy="288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rgbClr val="000066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 algn="just" eaLnBrk="0" hangingPunct="0">
                <a:spcBef>
                  <a:spcPct val="0"/>
                </a:spcBef>
              </a:pPr>
              <a:r>
                <a:rPr kumimoji="0" lang="en-US" altLang="zh-CN" sz="18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SF=0</a:t>
              </a:r>
            </a:p>
          </p:txBody>
        </p:sp>
        <p:sp>
          <p:nvSpPr>
            <p:cNvPr id="25" name="Rectangle 38"/>
            <p:cNvSpPr>
              <a:spLocks noChangeArrowheads="1"/>
            </p:cNvSpPr>
            <p:nvPr/>
          </p:nvSpPr>
          <p:spPr bwMode="auto">
            <a:xfrm>
              <a:off x="2566" y="1968"/>
              <a:ext cx="3001" cy="288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rgbClr val="000066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 algn="ctr" eaLnBrk="0" hangingPunct="0">
                <a:spcBef>
                  <a:spcPct val="0"/>
                </a:spcBef>
              </a:pPr>
              <a:endParaRPr kumimoji="0"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 algn="just" eaLnBrk="0" hangingPunct="0"/>
              <a:r>
                <a:rPr lang="zh-CN" altLang="en-US" sz="18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结果不为负则转移</a:t>
              </a:r>
              <a:endPara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 algn="just" eaLnBrk="0" hangingPunct="0">
                <a:spcBef>
                  <a:spcPct val="0"/>
                </a:spcBef>
              </a:pPr>
              <a:endParaRPr kumimoji="0"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pSp>
          <p:nvGrpSpPr>
            <p:cNvPr id="26" name="Group 39"/>
            <p:cNvGrpSpPr/>
            <p:nvPr/>
          </p:nvGrpSpPr>
          <p:grpSpPr bwMode="auto">
            <a:xfrm>
              <a:off x="240" y="2256"/>
              <a:ext cx="1152" cy="288"/>
              <a:chOff x="0" y="1920"/>
              <a:chExt cx="617" cy="384"/>
            </a:xfrm>
          </p:grpSpPr>
          <p:sp>
            <p:nvSpPr>
              <p:cNvPr id="60" name="Rectangle 40"/>
              <p:cNvSpPr>
                <a:spLocks noChangeArrowheads="1"/>
              </p:cNvSpPr>
              <p:nvPr/>
            </p:nvSpPr>
            <p:spPr bwMode="auto">
              <a:xfrm>
                <a:off x="0" y="1920"/>
                <a:ext cx="617" cy="384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rgbClr val="000066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zh-CN" altLang="en-US"/>
              </a:p>
            </p:txBody>
          </p:sp>
          <p:sp>
            <p:nvSpPr>
              <p:cNvPr id="61" name="Rectangle 41"/>
              <p:cNvSpPr>
                <a:spLocks noChangeArrowheads="1"/>
              </p:cNvSpPr>
              <p:nvPr/>
            </p:nvSpPr>
            <p:spPr bwMode="auto">
              <a:xfrm>
                <a:off x="0" y="1920"/>
                <a:ext cx="617" cy="384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rgbClr val="000066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pPr algn="ctr" eaLnBrk="0" hangingPunct="0">
                  <a:spcBef>
                    <a:spcPct val="0"/>
                  </a:spcBef>
                </a:pPr>
                <a:r>
                  <a:rPr kumimoji="0" lang="en-US" altLang="zh-CN" sz="1800" b="1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JO</a:t>
                </a:r>
              </a:p>
            </p:txBody>
          </p:sp>
        </p:grpSp>
        <p:grpSp>
          <p:nvGrpSpPr>
            <p:cNvPr id="27" name="Group 42"/>
            <p:cNvGrpSpPr/>
            <p:nvPr/>
          </p:nvGrpSpPr>
          <p:grpSpPr bwMode="auto">
            <a:xfrm>
              <a:off x="1344" y="2256"/>
              <a:ext cx="1222" cy="288"/>
              <a:chOff x="617" y="1920"/>
              <a:chExt cx="704" cy="384"/>
            </a:xfrm>
          </p:grpSpPr>
          <p:sp>
            <p:nvSpPr>
              <p:cNvPr id="58" name="Rectangle 43"/>
              <p:cNvSpPr>
                <a:spLocks noChangeArrowheads="1"/>
              </p:cNvSpPr>
              <p:nvPr/>
            </p:nvSpPr>
            <p:spPr bwMode="auto">
              <a:xfrm>
                <a:off x="617" y="1920"/>
                <a:ext cx="704" cy="384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rgbClr val="000066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zh-CN" altLang="en-US"/>
              </a:p>
            </p:txBody>
          </p:sp>
          <p:sp>
            <p:nvSpPr>
              <p:cNvPr id="59" name="Rectangle 44"/>
              <p:cNvSpPr>
                <a:spLocks noChangeArrowheads="1"/>
              </p:cNvSpPr>
              <p:nvPr/>
            </p:nvSpPr>
            <p:spPr bwMode="auto">
              <a:xfrm>
                <a:off x="617" y="1920"/>
                <a:ext cx="704" cy="384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rgbClr val="000066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pPr algn="just" eaLnBrk="0" hangingPunct="0">
                  <a:spcBef>
                    <a:spcPct val="0"/>
                  </a:spcBef>
                </a:pPr>
                <a:r>
                  <a:rPr kumimoji="0" lang="en-US" altLang="zh-CN" sz="1800" b="1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OF=1</a:t>
                </a:r>
              </a:p>
            </p:txBody>
          </p:sp>
        </p:grpSp>
        <p:grpSp>
          <p:nvGrpSpPr>
            <p:cNvPr id="28" name="Group 45"/>
            <p:cNvGrpSpPr/>
            <p:nvPr/>
          </p:nvGrpSpPr>
          <p:grpSpPr bwMode="auto">
            <a:xfrm>
              <a:off x="2566" y="2256"/>
              <a:ext cx="3001" cy="288"/>
              <a:chOff x="1321" y="1920"/>
              <a:chExt cx="1704" cy="384"/>
            </a:xfrm>
          </p:grpSpPr>
          <p:sp>
            <p:nvSpPr>
              <p:cNvPr id="56" name="Rectangle 46"/>
              <p:cNvSpPr>
                <a:spLocks noChangeArrowheads="1"/>
              </p:cNvSpPr>
              <p:nvPr/>
            </p:nvSpPr>
            <p:spPr bwMode="auto">
              <a:xfrm>
                <a:off x="1321" y="1920"/>
                <a:ext cx="1704" cy="384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rgbClr val="000066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zh-CN" altLang="en-US"/>
              </a:p>
            </p:txBody>
          </p:sp>
          <p:sp>
            <p:nvSpPr>
              <p:cNvPr id="57" name="Rectangle 47"/>
              <p:cNvSpPr>
                <a:spLocks noChangeArrowheads="1"/>
              </p:cNvSpPr>
              <p:nvPr/>
            </p:nvSpPr>
            <p:spPr bwMode="auto">
              <a:xfrm>
                <a:off x="1321" y="1920"/>
                <a:ext cx="1704" cy="384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rgbClr val="000066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pPr algn="just" eaLnBrk="0" hangingPunct="0"/>
                <a:r>
                  <a:rPr lang="zh-CN" altLang="en-US" sz="18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结果溢出则转移</a:t>
                </a:r>
                <a:endParaRPr lang="en-US" altLang="zh-CN" sz="1800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sp>
          <p:nvSpPr>
            <p:cNvPr id="29" name="Rectangle 48"/>
            <p:cNvSpPr>
              <a:spLocks noChangeArrowheads="1"/>
            </p:cNvSpPr>
            <p:nvPr/>
          </p:nvSpPr>
          <p:spPr bwMode="auto">
            <a:xfrm>
              <a:off x="240" y="2544"/>
              <a:ext cx="1104" cy="288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rgbClr val="000066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kumimoji="0" lang="en-US" altLang="zh-CN" sz="18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JNO</a:t>
              </a:r>
            </a:p>
          </p:txBody>
        </p:sp>
        <p:sp>
          <p:nvSpPr>
            <p:cNvPr id="30" name="Rectangle 49"/>
            <p:cNvSpPr>
              <a:spLocks noChangeArrowheads="1"/>
            </p:cNvSpPr>
            <p:nvPr/>
          </p:nvSpPr>
          <p:spPr bwMode="auto">
            <a:xfrm>
              <a:off x="1344" y="2544"/>
              <a:ext cx="1222" cy="288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rgbClr val="000066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 algn="just" eaLnBrk="0" hangingPunct="0">
                <a:spcBef>
                  <a:spcPct val="0"/>
                </a:spcBef>
              </a:pPr>
              <a:r>
                <a:rPr kumimoji="0" lang="en-US" altLang="zh-CN" sz="18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OF=0</a:t>
              </a:r>
            </a:p>
          </p:txBody>
        </p:sp>
        <p:sp>
          <p:nvSpPr>
            <p:cNvPr id="31" name="Rectangle 50"/>
            <p:cNvSpPr>
              <a:spLocks noChangeArrowheads="1"/>
            </p:cNvSpPr>
            <p:nvPr/>
          </p:nvSpPr>
          <p:spPr bwMode="auto">
            <a:xfrm>
              <a:off x="2566" y="2544"/>
              <a:ext cx="3001" cy="288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rgbClr val="000066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 algn="just" eaLnBrk="0" hangingPunct="0"/>
              <a:r>
                <a:rPr lang="zh-CN" altLang="en-US" sz="18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结果不溢出则转移</a:t>
              </a:r>
              <a:endPara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pSp>
          <p:nvGrpSpPr>
            <p:cNvPr id="32" name="Group 51"/>
            <p:cNvGrpSpPr/>
            <p:nvPr/>
          </p:nvGrpSpPr>
          <p:grpSpPr bwMode="auto">
            <a:xfrm>
              <a:off x="240" y="2832"/>
              <a:ext cx="1152" cy="288"/>
              <a:chOff x="0" y="2688"/>
              <a:chExt cx="617" cy="384"/>
            </a:xfrm>
          </p:grpSpPr>
          <p:sp>
            <p:nvSpPr>
              <p:cNvPr id="54" name="Rectangle 52"/>
              <p:cNvSpPr>
                <a:spLocks noChangeArrowheads="1"/>
              </p:cNvSpPr>
              <p:nvPr/>
            </p:nvSpPr>
            <p:spPr bwMode="auto">
              <a:xfrm>
                <a:off x="0" y="2688"/>
                <a:ext cx="617" cy="384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rgbClr val="000066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zh-CN" altLang="en-US"/>
              </a:p>
            </p:txBody>
          </p:sp>
          <p:sp>
            <p:nvSpPr>
              <p:cNvPr id="55" name="Rectangle 53"/>
              <p:cNvSpPr>
                <a:spLocks noChangeArrowheads="1"/>
              </p:cNvSpPr>
              <p:nvPr/>
            </p:nvSpPr>
            <p:spPr bwMode="auto">
              <a:xfrm>
                <a:off x="0" y="2688"/>
                <a:ext cx="617" cy="384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rgbClr val="000066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pPr algn="ctr" eaLnBrk="0" hangingPunct="0">
                  <a:spcBef>
                    <a:spcPct val="0"/>
                  </a:spcBef>
                </a:pPr>
                <a:r>
                  <a:rPr kumimoji="0" lang="en-US" altLang="zh-CN" sz="1800" b="1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JP/JPE</a:t>
                </a:r>
              </a:p>
            </p:txBody>
          </p:sp>
        </p:grpSp>
        <p:grpSp>
          <p:nvGrpSpPr>
            <p:cNvPr id="33" name="Group 54"/>
            <p:cNvGrpSpPr/>
            <p:nvPr/>
          </p:nvGrpSpPr>
          <p:grpSpPr bwMode="auto">
            <a:xfrm>
              <a:off x="1344" y="2832"/>
              <a:ext cx="1222" cy="288"/>
              <a:chOff x="617" y="2688"/>
              <a:chExt cx="704" cy="384"/>
            </a:xfrm>
          </p:grpSpPr>
          <p:sp>
            <p:nvSpPr>
              <p:cNvPr id="52" name="Rectangle 55"/>
              <p:cNvSpPr>
                <a:spLocks noChangeArrowheads="1"/>
              </p:cNvSpPr>
              <p:nvPr/>
            </p:nvSpPr>
            <p:spPr bwMode="auto">
              <a:xfrm>
                <a:off x="617" y="2688"/>
                <a:ext cx="704" cy="384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rgbClr val="000066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zh-CN" altLang="en-US"/>
              </a:p>
            </p:txBody>
          </p:sp>
          <p:sp>
            <p:nvSpPr>
              <p:cNvPr id="53" name="Rectangle 56"/>
              <p:cNvSpPr>
                <a:spLocks noChangeArrowheads="1"/>
              </p:cNvSpPr>
              <p:nvPr/>
            </p:nvSpPr>
            <p:spPr bwMode="auto">
              <a:xfrm>
                <a:off x="617" y="2688"/>
                <a:ext cx="704" cy="384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rgbClr val="000066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pPr algn="just" eaLnBrk="0" hangingPunct="0">
                  <a:spcBef>
                    <a:spcPct val="0"/>
                  </a:spcBef>
                </a:pPr>
                <a:r>
                  <a:rPr kumimoji="0" lang="en-US" altLang="zh-CN" sz="1800" b="1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PF=1</a:t>
                </a:r>
              </a:p>
            </p:txBody>
          </p:sp>
        </p:grpSp>
        <p:grpSp>
          <p:nvGrpSpPr>
            <p:cNvPr id="34" name="Group 57"/>
            <p:cNvGrpSpPr/>
            <p:nvPr/>
          </p:nvGrpSpPr>
          <p:grpSpPr bwMode="auto">
            <a:xfrm>
              <a:off x="2566" y="2832"/>
              <a:ext cx="3001" cy="288"/>
              <a:chOff x="1321" y="2688"/>
              <a:chExt cx="1704" cy="384"/>
            </a:xfrm>
          </p:grpSpPr>
          <p:sp>
            <p:nvSpPr>
              <p:cNvPr id="50" name="Rectangle 58"/>
              <p:cNvSpPr>
                <a:spLocks noChangeArrowheads="1"/>
              </p:cNvSpPr>
              <p:nvPr/>
            </p:nvSpPr>
            <p:spPr bwMode="auto">
              <a:xfrm>
                <a:off x="1321" y="2688"/>
                <a:ext cx="1704" cy="384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rgbClr val="000066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zh-CN" altLang="en-US"/>
              </a:p>
            </p:txBody>
          </p:sp>
          <p:sp>
            <p:nvSpPr>
              <p:cNvPr id="51" name="Rectangle 59"/>
              <p:cNvSpPr>
                <a:spLocks noChangeArrowheads="1"/>
              </p:cNvSpPr>
              <p:nvPr/>
            </p:nvSpPr>
            <p:spPr bwMode="auto">
              <a:xfrm>
                <a:off x="1321" y="2688"/>
                <a:ext cx="1704" cy="384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rgbClr val="000066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pPr algn="just" eaLnBrk="0" hangingPunct="0">
                  <a:spcBef>
                    <a:spcPct val="0"/>
                  </a:spcBef>
                </a:pPr>
                <a:r>
                  <a:rPr kumimoji="0" lang="zh-CN" altLang="en-US" sz="1800" b="1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奇偶位为</a:t>
                </a:r>
                <a:r>
                  <a:rPr kumimoji="0" lang="en-US" altLang="zh-CN" sz="1800" b="1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1</a:t>
                </a:r>
                <a:r>
                  <a:rPr kumimoji="0" lang="zh-CN" altLang="en-US" sz="1800" b="1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则转移</a:t>
                </a:r>
                <a:r>
                  <a:rPr kumimoji="0" lang="en-US" altLang="zh-CN" sz="1800" b="1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(1</a:t>
                </a:r>
                <a:r>
                  <a:rPr kumimoji="0" lang="zh-CN" altLang="en-US" sz="1800" b="1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的个数为偶数时为</a:t>
                </a:r>
                <a:r>
                  <a:rPr kumimoji="0" lang="en-US" altLang="zh-CN" sz="1800" b="1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1)</a:t>
                </a:r>
              </a:p>
            </p:txBody>
          </p:sp>
        </p:grpSp>
        <p:sp>
          <p:nvSpPr>
            <p:cNvPr id="35" name="Rectangle 60"/>
            <p:cNvSpPr>
              <a:spLocks noChangeArrowheads="1"/>
            </p:cNvSpPr>
            <p:nvPr/>
          </p:nvSpPr>
          <p:spPr bwMode="auto">
            <a:xfrm>
              <a:off x="240" y="3120"/>
              <a:ext cx="1104" cy="288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rgbClr val="000066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kumimoji="0" lang="en-US" altLang="zh-CN" sz="1800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JNP/JPO</a:t>
              </a:r>
            </a:p>
          </p:txBody>
        </p:sp>
        <p:sp>
          <p:nvSpPr>
            <p:cNvPr id="36" name="Rectangle 61"/>
            <p:cNvSpPr>
              <a:spLocks noChangeArrowheads="1"/>
            </p:cNvSpPr>
            <p:nvPr/>
          </p:nvSpPr>
          <p:spPr bwMode="auto">
            <a:xfrm>
              <a:off x="1344" y="3120"/>
              <a:ext cx="1222" cy="288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rgbClr val="000066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 algn="just" eaLnBrk="0" hangingPunct="0">
                <a:spcBef>
                  <a:spcPct val="0"/>
                </a:spcBef>
              </a:pPr>
              <a:r>
                <a:rPr kumimoji="0" lang="en-US" altLang="zh-CN" sz="18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PF=0</a:t>
              </a:r>
            </a:p>
          </p:txBody>
        </p:sp>
        <p:sp>
          <p:nvSpPr>
            <p:cNvPr id="37" name="Rectangle 62"/>
            <p:cNvSpPr>
              <a:spLocks noChangeArrowheads="1"/>
            </p:cNvSpPr>
            <p:nvPr/>
          </p:nvSpPr>
          <p:spPr bwMode="auto">
            <a:xfrm>
              <a:off x="2566" y="3120"/>
              <a:ext cx="3001" cy="288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rgbClr val="000066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 algn="just" eaLnBrk="0" hangingPunct="0"/>
              <a:r>
                <a:rPr lang="zh-CN" altLang="en-US" sz="18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奇偶位为</a:t>
              </a:r>
              <a:r>
                <a:rPr lang="en-US" altLang="zh-CN" sz="18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r>
                <a:rPr lang="zh-CN" altLang="en-US" sz="18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则转移</a:t>
              </a:r>
              <a:endPara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pSp>
          <p:nvGrpSpPr>
            <p:cNvPr id="38" name="Group 63"/>
            <p:cNvGrpSpPr/>
            <p:nvPr/>
          </p:nvGrpSpPr>
          <p:grpSpPr bwMode="auto">
            <a:xfrm>
              <a:off x="240" y="3408"/>
              <a:ext cx="1104" cy="288"/>
              <a:chOff x="0" y="2688"/>
              <a:chExt cx="617" cy="384"/>
            </a:xfrm>
          </p:grpSpPr>
          <p:sp>
            <p:nvSpPr>
              <p:cNvPr id="48" name="Rectangle 64"/>
              <p:cNvSpPr>
                <a:spLocks noChangeArrowheads="1"/>
              </p:cNvSpPr>
              <p:nvPr/>
            </p:nvSpPr>
            <p:spPr bwMode="auto">
              <a:xfrm>
                <a:off x="0" y="2688"/>
                <a:ext cx="617" cy="384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rgbClr val="000066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zh-CN" altLang="en-US"/>
              </a:p>
            </p:txBody>
          </p:sp>
          <p:sp>
            <p:nvSpPr>
              <p:cNvPr id="49" name="Rectangle 65"/>
              <p:cNvSpPr>
                <a:spLocks noChangeArrowheads="1"/>
              </p:cNvSpPr>
              <p:nvPr/>
            </p:nvSpPr>
            <p:spPr bwMode="auto">
              <a:xfrm>
                <a:off x="0" y="2688"/>
                <a:ext cx="617" cy="384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rgbClr val="000066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pPr algn="ctr" eaLnBrk="0" hangingPunct="0">
                  <a:spcBef>
                    <a:spcPct val="0"/>
                  </a:spcBef>
                </a:pPr>
                <a:r>
                  <a:rPr kumimoji="0" lang="en-US" altLang="zh-CN" sz="1800" b="1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JC</a:t>
                </a:r>
              </a:p>
            </p:txBody>
          </p:sp>
        </p:grpSp>
        <p:grpSp>
          <p:nvGrpSpPr>
            <p:cNvPr id="39" name="Group 66"/>
            <p:cNvGrpSpPr/>
            <p:nvPr/>
          </p:nvGrpSpPr>
          <p:grpSpPr bwMode="auto">
            <a:xfrm>
              <a:off x="1344" y="3408"/>
              <a:ext cx="1248" cy="288"/>
              <a:chOff x="617" y="2688"/>
              <a:chExt cx="704" cy="384"/>
            </a:xfrm>
          </p:grpSpPr>
          <p:sp>
            <p:nvSpPr>
              <p:cNvPr id="46" name="Rectangle 67"/>
              <p:cNvSpPr>
                <a:spLocks noChangeArrowheads="1"/>
              </p:cNvSpPr>
              <p:nvPr/>
            </p:nvSpPr>
            <p:spPr bwMode="auto">
              <a:xfrm>
                <a:off x="617" y="2688"/>
                <a:ext cx="704" cy="384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rgbClr val="000066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zh-CN" altLang="en-US"/>
              </a:p>
            </p:txBody>
          </p:sp>
          <p:sp>
            <p:nvSpPr>
              <p:cNvPr id="47" name="Rectangle 68"/>
              <p:cNvSpPr>
                <a:spLocks noChangeArrowheads="1"/>
              </p:cNvSpPr>
              <p:nvPr/>
            </p:nvSpPr>
            <p:spPr bwMode="auto">
              <a:xfrm>
                <a:off x="617" y="2688"/>
                <a:ext cx="704" cy="384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rgbClr val="000066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pPr algn="just" eaLnBrk="0" hangingPunct="0">
                  <a:spcBef>
                    <a:spcPct val="0"/>
                  </a:spcBef>
                </a:pPr>
                <a:r>
                  <a:rPr kumimoji="0" lang="en-US" altLang="zh-CN" sz="1800" b="1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CF=1</a:t>
                </a:r>
              </a:p>
            </p:txBody>
          </p:sp>
        </p:grpSp>
        <p:grpSp>
          <p:nvGrpSpPr>
            <p:cNvPr id="40" name="Group 69"/>
            <p:cNvGrpSpPr/>
            <p:nvPr/>
          </p:nvGrpSpPr>
          <p:grpSpPr bwMode="auto">
            <a:xfrm>
              <a:off x="2567" y="3408"/>
              <a:ext cx="3001" cy="288"/>
              <a:chOff x="1321" y="2688"/>
              <a:chExt cx="1704" cy="384"/>
            </a:xfrm>
          </p:grpSpPr>
          <p:sp>
            <p:nvSpPr>
              <p:cNvPr id="44" name="Rectangle 70"/>
              <p:cNvSpPr>
                <a:spLocks noChangeArrowheads="1"/>
              </p:cNvSpPr>
              <p:nvPr/>
            </p:nvSpPr>
            <p:spPr bwMode="auto">
              <a:xfrm>
                <a:off x="1321" y="2688"/>
                <a:ext cx="1704" cy="384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rgbClr val="000066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zh-CN" altLang="en-US"/>
              </a:p>
            </p:txBody>
          </p:sp>
          <p:sp>
            <p:nvSpPr>
              <p:cNvPr id="45" name="Rectangle 71"/>
              <p:cNvSpPr>
                <a:spLocks noChangeArrowheads="1"/>
              </p:cNvSpPr>
              <p:nvPr/>
            </p:nvSpPr>
            <p:spPr bwMode="auto">
              <a:xfrm>
                <a:off x="1321" y="2688"/>
                <a:ext cx="1704" cy="384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rgbClr val="000066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pPr algn="just" eaLnBrk="0" hangingPunct="0"/>
                <a:r>
                  <a:rPr lang="en-US" altLang="zh-CN" sz="18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CF=1</a:t>
                </a:r>
                <a:r>
                  <a:rPr lang="zh-CN" altLang="en-US" sz="18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则转移</a:t>
                </a:r>
                <a:endParaRPr lang="en-US" altLang="zh-CN" sz="1800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sp>
          <p:nvSpPr>
            <p:cNvPr id="41" name="Rectangle 72"/>
            <p:cNvSpPr>
              <a:spLocks noChangeArrowheads="1"/>
            </p:cNvSpPr>
            <p:nvPr/>
          </p:nvSpPr>
          <p:spPr bwMode="auto">
            <a:xfrm>
              <a:off x="240" y="3696"/>
              <a:ext cx="1104" cy="288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rgbClr val="000066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kumimoji="0" lang="en-US" altLang="zh-CN" sz="1800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JNC</a:t>
              </a:r>
            </a:p>
          </p:txBody>
        </p:sp>
        <p:sp>
          <p:nvSpPr>
            <p:cNvPr id="42" name="Rectangle 73"/>
            <p:cNvSpPr>
              <a:spLocks noChangeArrowheads="1"/>
            </p:cNvSpPr>
            <p:nvPr/>
          </p:nvSpPr>
          <p:spPr bwMode="auto">
            <a:xfrm>
              <a:off x="1344" y="3696"/>
              <a:ext cx="1248" cy="288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rgbClr val="000066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 algn="just" eaLnBrk="0" hangingPunct="0">
                <a:spcBef>
                  <a:spcPct val="0"/>
                </a:spcBef>
              </a:pPr>
              <a:r>
                <a:rPr kumimoji="0" lang="en-US" altLang="zh-CN" sz="18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CF=0</a:t>
              </a:r>
            </a:p>
          </p:txBody>
        </p:sp>
        <p:sp>
          <p:nvSpPr>
            <p:cNvPr id="43" name="Rectangle 74"/>
            <p:cNvSpPr>
              <a:spLocks noChangeArrowheads="1"/>
            </p:cNvSpPr>
            <p:nvPr/>
          </p:nvSpPr>
          <p:spPr bwMode="auto">
            <a:xfrm>
              <a:off x="2567" y="3696"/>
              <a:ext cx="3001" cy="288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rgbClr val="000066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 algn="just" eaLnBrk="0" hangingPunct="0"/>
              <a:r>
                <a:rPr lang="en-US" altLang="zh-CN" sz="18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CF=0</a:t>
              </a:r>
              <a:r>
                <a:rPr lang="zh-CN" altLang="en-US" sz="18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则转移</a:t>
              </a:r>
              <a:endPara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67609108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文本框 94209"/>
          <p:cNvSpPr txBox="1"/>
          <p:nvPr/>
        </p:nvSpPr>
        <p:spPr>
          <a:xfrm>
            <a:off x="683568" y="1082327"/>
            <a:ext cx="7524836" cy="500136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457200" indent="-457200" algn="just" eaLnBrk="0" hangingPunct="0">
              <a:buAutoNum type="arabicParenBoth" startAt="2"/>
            </a:pPr>
            <a:r>
              <a:rPr lang="zh-CN" altLang="en-US" sz="2200" b="0" dirty="0">
                <a:solidFill>
                  <a:srgbClr val="000000"/>
                </a:solidFill>
                <a:latin typeface="+mn-lt"/>
              </a:rPr>
              <a:t>比较两个无符号数，并根据比较结果转移</a:t>
            </a:r>
            <a:r>
              <a:rPr lang="en-US" altLang="zh-CN" sz="2200" b="0" dirty="0">
                <a:solidFill>
                  <a:srgbClr val="000000"/>
                </a:solidFill>
                <a:latin typeface="+mn-lt"/>
              </a:rPr>
              <a:t>*</a:t>
            </a:r>
          </a:p>
          <a:p>
            <a:pPr marL="457200" indent="-457200" algn="just" eaLnBrk="0" hangingPunct="0">
              <a:buAutoNum type="arabicParenBoth" startAt="2"/>
            </a:pPr>
            <a:endParaRPr lang="en-US" altLang="zh-CN" sz="2200" b="0" dirty="0">
              <a:solidFill>
                <a:srgbClr val="000000"/>
              </a:solidFill>
              <a:latin typeface="+mn-lt"/>
            </a:endParaRPr>
          </a:p>
          <a:p>
            <a:pPr>
              <a:lnSpc>
                <a:spcPct val="200000"/>
              </a:lnSpc>
            </a:pPr>
            <a:r>
              <a:rPr lang="en-US" altLang="zh-CN" sz="2200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      </a:t>
            </a:r>
            <a:r>
              <a:rPr lang="zh-CN" altLang="en-US" sz="2200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两数的高低分成</a:t>
            </a:r>
            <a:r>
              <a:rPr lang="en-US" altLang="zh-CN" sz="2200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4</a:t>
            </a:r>
            <a:r>
              <a:rPr lang="zh-CN" altLang="en-US" sz="2200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种关系：</a:t>
            </a:r>
          </a:p>
          <a:p>
            <a:pPr lvl="1">
              <a:lnSpc>
                <a:spcPct val="200000"/>
              </a:lnSpc>
            </a:pPr>
            <a:r>
              <a:rPr lang="zh-CN" altLang="zh-CN" sz="2200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⑴ </a:t>
            </a:r>
            <a:r>
              <a:rPr lang="zh-CN" altLang="en-US" sz="2000" b="0" dirty="0">
                <a:solidFill>
                  <a:srgbClr val="000000"/>
                </a:solidFill>
              </a:rPr>
              <a:t>＜，</a:t>
            </a:r>
            <a:r>
              <a:rPr lang="zh-CN" altLang="en-US" sz="2200" b="0" dirty="0">
                <a:solidFill>
                  <a:srgbClr val="FF0000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低于（不高于等于）</a:t>
            </a:r>
            <a:r>
              <a:rPr lang="zh-CN" altLang="en-US" sz="2200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：</a:t>
            </a:r>
            <a:r>
              <a:rPr lang="en-US" altLang="zh-CN" sz="2200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JB</a:t>
            </a:r>
            <a:r>
              <a:rPr lang="zh-CN" altLang="en-US" sz="2200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（</a:t>
            </a:r>
            <a:r>
              <a:rPr lang="en-US" altLang="zh-CN" sz="2200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JNAE</a:t>
            </a:r>
            <a:r>
              <a:rPr lang="zh-CN" altLang="en-US" sz="2200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），</a:t>
            </a:r>
            <a:r>
              <a:rPr lang="en-US" altLang="zh-CN" sz="2200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CF=1</a:t>
            </a:r>
            <a:endParaRPr lang="zh-CN" altLang="en-US" sz="2200" b="0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pPr lvl="1">
              <a:lnSpc>
                <a:spcPct val="200000"/>
              </a:lnSpc>
            </a:pPr>
            <a:r>
              <a:rPr lang="zh-CN" altLang="en-US" sz="2200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⑵ </a:t>
            </a:r>
            <a:r>
              <a:rPr lang="en-US" altLang="zh-CN" sz="2000" b="0" dirty="0">
                <a:solidFill>
                  <a:srgbClr val="000000"/>
                </a:solidFill>
                <a:latin typeface="宋体" panose="02010600030101010101" pitchFamily="2" charset="-122"/>
              </a:rPr>
              <a:t>≥</a:t>
            </a:r>
            <a:r>
              <a:rPr lang="zh-CN" altLang="en-US" sz="2000" b="0" dirty="0">
                <a:solidFill>
                  <a:srgbClr val="000000"/>
                </a:solidFill>
                <a:latin typeface="宋体" panose="02010600030101010101" pitchFamily="2" charset="-122"/>
              </a:rPr>
              <a:t>，</a:t>
            </a:r>
            <a:r>
              <a:rPr lang="zh-CN" altLang="en-US" sz="2200" b="0" dirty="0">
                <a:solidFill>
                  <a:srgbClr val="FF0000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不低于（高于等于）</a:t>
            </a:r>
            <a:r>
              <a:rPr lang="zh-CN" altLang="en-US" sz="2200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：</a:t>
            </a:r>
            <a:r>
              <a:rPr lang="en-US" altLang="zh-CN" sz="2200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JNB</a:t>
            </a:r>
            <a:r>
              <a:rPr lang="zh-CN" altLang="en-US" sz="2200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（</a:t>
            </a:r>
            <a:r>
              <a:rPr lang="en-US" altLang="zh-CN" sz="2200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JAE</a:t>
            </a:r>
            <a:r>
              <a:rPr lang="zh-CN" altLang="en-US" sz="2200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），</a:t>
            </a:r>
            <a:r>
              <a:rPr lang="en-US" altLang="zh-CN" sz="2200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CF=0</a:t>
            </a:r>
            <a:endParaRPr lang="zh-CN" altLang="en-US" sz="2200" b="0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pPr lvl="1">
              <a:lnSpc>
                <a:spcPct val="200000"/>
              </a:lnSpc>
            </a:pPr>
            <a:r>
              <a:rPr lang="zh-CN" altLang="en-US" sz="2200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⑶ </a:t>
            </a:r>
            <a:r>
              <a:rPr lang="en-US" altLang="zh-CN" sz="2000" b="0" dirty="0">
                <a:solidFill>
                  <a:srgbClr val="000000"/>
                </a:solidFill>
                <a:latin typeface="宋体" panose="02010600030101010101" pitchFamily="2" charset="-122"/>
              </a:rPr>
              <a:t>≤</a:t>
            </a:r>
            <a:r>
              <a:rPr lang="zh-CN" altLang="en-US" sz="2000" b="0" dirty="0">
                <a:solidFill>
                  <a:srgbClr val="000000"/>
                </a:solidFill>
                <a:latin typeface="宋体" panose="02010600030101010101" pitchFamily="2" charset="-122"/>
              </a:rPr>
              <a:t>，</a:t>
            </a:r>
            <a:r>
              <a:rPr lang="zh-CN" altLang="en-US" sz="2200" b="0" dirty="0">
                <a:solidFill>
                  <a:srgbClr val="FF0000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低于等于（不高于）</a:t>
            </a:r>
            <a:r>
              <a:rPr lang="zh-CN" altLang="en-US" sz="2200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：</a:t>
            </a:r>
            <a:r>
              <a:rPr lang="en-US" altLang="zh-CN" sz="2200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JBE</a:t>
            </a:r>
            <a:r>
              <a:rPr lang="zh-CN" altLang="en-US" sz="2200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（</a:t>
            </a:r>
            <a:r>
              <a:rPr lang="en-US" altLang="zh-CN" sz="2200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JNA</a:t>
            </a:r>
            <a:r>
              <a:rPr lang="zh-CN" altLang="en-US" sz="2200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），</a:t>
            </a:r>
            <a:r>
              <a:rPr lang="en-US" altLang="zh-CN" sz="2200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CF</a:t>
            </a:r>
            <a:r>
              <a:rPr lang="en-US" altLang="zh-CN" sz="2000" b="0" dirty="0">
                <a:solidFill>
                  <a:srgbClr val="000000"/>
                </a:solidFill>
                <a:latin typeface="宋体" panose="02010600030101010101" pitchFamily="2" charset="-122"/>
              </a:rPr>
              <a:t>∨</a:t>
            </a:r>
            <a:r>
              <a:rPr lang="en-US" altLang="zh-CN" sz="2200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ZF=1</a:t>
            </a:r>
            <a:endParaRPr lang="zh-CN" altLang="en-US" sz="2200" b="0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pPr lvl="1">
              <a:lnSpc>
                <a:spcPct val="200000"/>
              </a:lnSpc>
            </a:pPr>
            <a:r>
              <a:rPr lang="zh-CN" altLang="en-US" sz="2200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⑷ </a:t>
            </a:r>
            <a:r>
              <a:rPr lang="zh-CN" altLang="en-US" sz="2000" b="0" dirty="0">
                <a:solidFill>
                  <a:srgbClr val="000000"/>
                </a:solidFill>
              </a:rPr>
              <a:t>＞，</a:t>
            </a:r>
            <a:r>
              <a:rPr lang="zh-CN" altLang="en-US" sz="2200" b="0" dirty="0">
                <a:solidFill>
                  <a:srgbClr val="FF0000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不低于等于（高于）</a:t>
            </a:r>
            <a:r>
              <a:rPr lang="zh-CN" altLang="en-US" sz="2200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：</a:t>
            </a:r>
            <a:r>
              <a:rPr lang="en-US" altLang="zh-CN" sz="2200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JNBE</a:t>
            </a:r>
            <a:r>
              <a:rPr lang="zh-CN" altLang="en-US" sz="2200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（</a:t>
            </a:r>
            <a:r>
              <a:rPr lang="en-US" altLang="zh-CN" sz="2200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JA </a:t>
            </a:r>
            <a:r>
              <a:rPr lang="zh-CN" altLang="en-US" sz="2200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），</a:t>
            </a:r>
            <a:r>
              <a:rPr lang="en-US" altLang="zh-CN" sz="2200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CF</a:t>
            </a:r>
            <a:r>
              <a:rPr lang="en-US" altLang="zh-CN" sz="2000" b="0" dirty="0">
                <a:solidFill>
                  <a:srgbClr val="000000"/>
                </a:solidFill>
                <a:latin typeface="宋体" panose="02010600030101010101" pitchFamily="2" charset="-122"/>
              </a:rPr>
              <a:t>∨</a:t>
            </a:r>
            <a:r>
              <a:rPr lang="en-US" altLang="zh-CN" sz="2200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ZF=0</a:t>
            </a:r>
          </a:p>
          <a:p>
            <a:pPr lvl="1">
              <a:lnSpc>
                <a:spcPct val="150000"/>
              </a:lnSpc>
            </a:pPr>
            <a:r>
              <a:rPr lang="en-US" altLang="zh-CN" sz="2200" b="0" dirty="0">
                <a:solidFill>
                  <a:srgbClr val="000000"/>
                </a:solidFill>
                <a:latin typeface="+mn-lt"/>
              </a:rPr>
              <a:t>                     </a:t>
            </a:r>
            <a:endParaRPr lang="en-US" altLang="zh-CN" sz="2000" b="0" dirty="0">
              <a:solidFill>
                <a:srgbClr val="000000"/>
              </a:solidFill>
              <a:latin typeface="+mn-lt"/>
            </a:endParaRPr>
          </a:p>
          <a:p>
            <a:pPr algn="just" eaLnBrk="0" hangingPunct="0"/>
            <a:r>
              <a:rPr lang="en-US" altLang="zh-CN" sz="2200" b="0" dirty="0">
                <a:solidFill>
                  <a:srgbClr val="000000"/>
                </a:solidFill>
                <a:latin typeface="+mn-lt"/>
              </a:rPr>
              <a:t>*  </a:t>
            </a:r>
            <a:r>
              <a:rPr lang="zh-CN" altLang="en-US" sz="2200" b="0" dirty="0">
                <a:solidFill>
                  <a:srgbClr val="FF0000"/>
                </a:solidFill>
                <a:latin typeface="+mn-lt"/>
                <a:ea typeface="楷体_GB2312" pitchFamily="49" charset="-122"/>
              </a:rPr>
              <a:t>适用于地址或双精度数低位字的比较</a:t>
            </a:r>
          </a:p>
        </p:txBody>
      </p:sp>
      <p:sp>
        <p:nvSpPr>
          <p:cNvPr id="3" name="文本框 1"/>
          <p:cNvSpPr txBox="1"/>
          <p:nvPr/>
        </p:nvSpPr>
        <p:spPr>
          <a:xfrm>
            <a:off x="452120" y="317500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控制转移指令</a:t>
            </a:r>
          </a:p>
        </p:txBody>
      </p:sp>
    </p:spTree>
    <p:extLst>
      <p:ext uri="{BB962C8B-B14F-4D97-AF65-F5344CB8AC3E}">
        <p14:creationId xmlns:p14="http://schemas.microsoft.com/office/powerpoint/2010/main" val="2203084929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文本框 95233"/>
          <p:cNvSpPr txBox="1"/>
          <p:nvPr/>
        </p:nvSpPr>
        <p:spPr>
          <a:xfrm>
            <a:off x="1727684" y="1124744"/>
            <a:ext cx="6477000" cy="581697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 eaLnBrk="0" hangingPunct="0"/>
            <a:r>
              <a:rPr lang="en-US" altLang="zh-CN" sz="2000" b="0" dirty="0">
                <a:solidFill>
                  <a:srgbClr val="000000"/>
                </a:solidFill>
              </a:rPr>
              <a:t>(3)   </a:t>
            </a:r>
            <a:r>
              <a:rPr lang="zh-CN" altLang="en-US" sz="2000" b="0" dirty="0">
                <a:solidFill>
                  <a:srgbClr val="000000"/>
                </a:solidFill>
              </a:rPr>
              <a:t>测试 </a:t>
            </a:r>
            <a:r>
              <a:rPr lang="en-US" altLang="zh-CN" sz="2000" b="0" dirty="0">
                <a:solidFill>
                  <a:srgbClr val="000000"/>
                </a:solidFill>
              </a:rPr>
              <a:t>CX </a:t>
            </a:r>
            <a:r>
              <a:rPr lang="zh-CN" altLang="en-US" sz="2000" b="0" dirty="0">
                <a:solidFill>
                  <a:srgbClr val="000000"/>
                </a:solidFill>
              </a:rPr>
              <a:t>的值为 </a:t>
            </a:r>
            <a:r>
              <a:rPr lang="en-US" altLang="zh-CN" sz="2000" b="0" dirty="0">
                <a:solidFill>
                  <a:srgbClr val="000000"/>
                </a:solidFill>
              </a:rPr>
              <a:t>0 </a:t>
            </a:r>
            <a:r>
              <a:rPr lang="zh-CN" altLang="en-US" sz="2000" b="0" dirty="0">
                <a:solidFill>
                  <a:srgbClr val="000000"/>
                </a:solidFill>
              </a:rPr>
              <a:t>则转移</a:t>
            </a:r>
          </a:p>
          <a:p>
            <a:pPr algn="just" eaLnBrk="0" hangingPunct="0"/>
            <a:r>
              <a:rPr lang="zh-CN" altLang="en-US" sz="2000" b="0" dirty="0">
                <a:solidFill>
                  <a:srgbClr val="000000"/>
                </a:solidFill>
              </a:rPr>
              <a:t> </a:t>
            </a:r>
          </a:p>
          <a:p>
            <a:pPr algn="just" eaLnBrk="0" hangingPunct="0">
              <a:lnSpc>
                <a:spcPct val="120000"/>
              </a:lnSpc>
            </a:pPr>
            <a:r>
              <a:rPr lang="zh-CN" altLang="en-US" sz="2000" b="0" dirty="0">
                <a:solidFill>
                  <a:srgbClr val="000000"/>
                </a:solidFill>
              </a:rPr>
              <a:t>               </a:t>
            </a:r>
            <a:r>
              <a:rPr lang="zh-CN" altLang="en-US" sz="2000" b="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格式                  测试条件</a:t>
            </a:r>
            <a:r>
              <a:rPr lang="zh-CN" altLang="en-US" sz="2000" b="0" dirty="0">
                <a:solidFill>
                  <a:srgbClr val="000000"/>
                </a:solidFill>
              </a:rPr>
              <a:t>         </a:t>
            </a:r>
          </a:p>
          <a:p>
            <a:pPr algn="just" eaLnBrk="0" hangingPunct="0">
              <a:lnSpc>
                <a:spcPct val="120000"/>
              </a:lnSpc>
            </a:pPr>
            <a:r>
              <a:rPr lang="zh-CN" altLang="en-US" sz="2000" b="0" dirty="0">
                <a:solidFill>
                  <a:srgbClr val="000000"/>
                </a:solidFill>
              </a:rPr>
              <a:t>               </a:t>
            </a:r>
            <a:r>
              <a:rPr lang="en-US" altLang="zh-CN" sz="2000" b="0" dirty="0">
                <a:solidFill>
                  <a:srgbClr val="000000"/>
                </a:solidFill>
              </a:rPr>
              <a:t>JCXZ     OPR                      (CX)=0</a:t>
            </a:r>
          </a:p>
          <a:p>
            <a:pPr algn="just" eaLnBrk="0" hangingPunct="0"/>
            <a:endParaRPr lang="en-US" altLang="zh-CN" sz="2000" b="0" dirty="0">
              <a:solidFill>
                <a:srgbClr val="000000"/>
              </a:solidFill>
            </a:endParaRPr>
          </a:p>
          <a:p>
            <a:pPr algn="just" eaLnBrk="0" hangingPunct="0"/>
            <a:endParaRPr lang="en-US" altLang="zh-CN" sz="2000" b="0" dirty="0">
              <a:solidFill>
                <a:srgbClr val="000000"/>
              </a:solidFill>
            </a:endParaRPr>
          </a:p>
          <a:p>
            <a:pPr algn="just" eaLnBrk="0" hangingPunct="0"/>
            <a:r>
              <a:rPr lang="en-US" altLang="zh-CN" sz="2000" b="0" dirty="0">
                <a:solidFill>
                  <a:srgbClr val="000000"/>
                </a:solidFill>
              </a:rPr>
              <a:t>(4)   </a:t>
            </a:r>
            <a:r>
              <a:rPr lang="zh-CN" altLang="en-US" sz="2000" b="0" dirty="0">
                <a:solidFill>
                  <a:srgbClr val="000000"/>
                </a:solidFill>
              </a:rPr>
              <a:t>比较两个带符号数，并根据比较结果转移</a:t>
            </a:r>
            <a:r>
              <a:rPr lang="en-US" altLang="zh-CN" sz="2000" b="0" dirty="0">
                <a:solidFill>
                  <a:srgbClr val="000000"/>
                </a:solidFill>
              </a:rPr>
              <a:t>*</a:t>
            </a:r>
          </a:p>
          <a:p>
            <a:pPr algn="just" eaLnBrk="0" hangingPunct="0"/>
            <a:r>
              <a:rPr lang="en-US" altLang="zh-CN" sz="2000" b="0" dirty="0">
                <a:solidFill>
                  <a:srgbClr val="000000"/>
                </a:solidFill>
              </a:rPr>
              <a:t>                         </a:t>
            </a:r>
          </a:p>
          <a:p>
            <a:pPr algn="just" eaLnBrk="0" hangingPunct="0"/>
            <a:r>
              <a:rPr lang="en-US" altLang="zh-CN" sz="2000" b="0" dirty="0">
                <a:solidFill>
                  <a:srgbClr val="000000"/>
                </a:solidFill>
              </a:rPr>
              <a:t>                   </a:t>
            </a:r>
            <a:r>
              <a:rPr lang="zh-CN" altLang="en-US" sz="2000" b="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格式       </a:t>
            </a:r>
            <a:r>
              <a:rPr lang="en-US" altLang="zh-CN" sz="2000" b="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		</a:t>
            </a:r>
            <a:r>
              <a:rPr lang="zh-CN" altLang="en-US" sz="2000" b="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测试条件</a:t>
            </a:r>
          </a:p>
          <a:p>
            <a:pPr algn="just" eaLnBrk="0" hangingPunct="0"/>
            <a:endParaRPr lang="zh-CN" altLang="en-US" sz="2000" b="0" dirty="0">
              <a:solidFill>
                <a:srgbClr val="000000"/>
              </a:solidFill>
            </a:endParaRPr>
          </a:p>
          <a:p>
            <a:pPr algn="just" eaLnBrk="0" hangingPunct="0">
              <a:lnSpc>
                <a:spcPct val="130000"/>
              </a:lnSpc>
            </a:pPr>
            <a:r>
              <a:rPr lang="zh-CN" altLang="en-US" sz="2000" b="0" dirty="0">
                <a:solidFill>
                  <a:srgbClr val="000000"/>
                </a:solidFill>
              </a:rPr>
              <a:t>      ＜         </a:t>
            </a:r>
            <a:r>
              <a:rPr lang="en-US" altLang="zh-CN" sz="2000" b="0" dirty="0">
                <a:solidFill>
                  <a:srgbClr val="000000"/>
                </a:solidFill>
              </a:rPr>
              <a:t>JL (JNGE)   OPR          SF</a:t>
            </a:r>
            <a:r>
              <a:rPr lang="en-US" altLang="zh-CN" sz="2000" b="0" dirty="0">
                <a:solidFill>
                  <a:srgbClr val="000000"/>
                </a:solidFill>
                <a:sym typeface="Symbol" panose="05050102010706020507" pitchFamily="18" charset="2"/>
              </a:rPr>
              <a:t></a:t>
            </a:r>
            <a:r>
              <a:rPr lang="en-US" altLang="zh-CN" sz="2000" b="0" dirty="0">
                <a:solidFill>
                  <a:srgbClr val="000000"/>
                </a:solidFill>
              </a:rPr>
              <a:t>OF = 1 </a:t>
            </a:r>
            <a:r>
              <a:rPr lang="zh-CN" altLang="en-US" sz="2000" b="0" dirty="0">
                <a:solidFill>
                  <a:srgbClr val="000000"/>
                </a:solidFill>
              </a:rPr>
              <a:t>（</a:t>
            </a:r>
            <a:r>
              <a:rPr lang="zh-CN" altLang="en-US" sz="2000" dirty="0">
                <a:solidFill>
                  <a:srgbClr val="000000"/>
                </a:solidFill>
              </a:rPr>
              <a:t>异或</a:t>
            </a:r>
            <a:r>
              <a:rPr lang="zh-CN" altLang="en-US" sz="2000" b="0" dirty="0">
                <a:solidFill>
                  <a:srgbClr val="000000"/>
                </a:solidFill>
              </a:rPr>
              <a:t>）</a:t>
            </a:r>
            <a:endParaRPr lang="en-US" altLang="zh-CN" sz="2000" b="0" dirty="0">
              <a:solidFill>
                <a:srgbClr val="000000"/>
              </a:solidFill>
            </a:endParaRPr>
          </a:p>
          <a:p>
            <a:pPr algn="just" eaLnBrk="0" hangingPunct="0">
              <a:lnSpc>
                <a:spcPct val="130000"/>
              </a:lnSpc>
            </a:pPr>
            <a:r>
              <a:rPr lang="en-US" altLang="zh-CN" sz="2000" b="0" dirty="0">
                <a:solidFill>
                  <a:srgbClr val="000000"/>
                </a:solidFill>
              </a:rPr>
              <a:t>      </a:t>
            </a:r>
            <a:r>
              <a:rPr lang="en-US" altLang="zh-CN" sz="2000" b="0" dirty="0">
                <a:solidFill>
                  <a:srgbClr val="000000"/>
                </a:solidFill>
                <a:latin typeface="宋体" panose="02010600030101010101" pitchFamily="2" charset="-122"/>
              </a:rPr>
              <a:t>≥    </a:t>
            </a:r>
            <a:r>
              <a:rPr lang="en-US" altLang="zh-CN" sz="2000" b="0" dirty="0">
                <a:solidFill>
                  <a:srgbClr val="000000"/>
                </a:solidFill>
              </a:rPr>
              <a:t>JNL (JGE)   OPR           SF</a:t>
            </a:r>
            <a:r>
              <a:rPr lang="en-US" altLang="zh-CN" sz="2000" b="0" dirty="0">
                <a:solidFill>
                  <a:srgbClr val="000000"/>
                </a:solidFill>
                <a:sym typeface="Symbol" panose="05050102010706020507" pitchFamily="18" charset="2"/>
              </a:rPr>
              <a:t></a:t>
            </a:r>
            <a:r>
              <a:rPr lang="en-US" altLang="zh-CN" sz="2000" b="0" dirty="0">
                <a:solidFill>
                  <a:srgbClr val="000000"/>
                </a:solidFill>
              </a:rPr>
              <a:t>OF = 0</a:t>
            </a:r>
          </a:p>
          <a:p>
            <a:pPr algn="just" eaLnBrk="0" hangingPunct="0">
              <a:lnSpc>
                <a:spcPct val="130000"/>
              </a:lnSpc>
            </a:pPr>
            <a:r>
              <a:rPr lang="en-US" altLang="zh-CN" sz="2000" b="0" dirty="0">
                <a:solidFill>
                  <a:srgbClr val="000000"/>
                </a:solidFill>
              </a:rPr>
              <a:t>      </a:t>
            </a:r>
            <a:r>
              <a:rPr lang="en-US" altLang="zh-CN" sz="2000" b="0" dirty="0">
                <a:solidFill>
                  <a:srgbClr val="000000"/>
                </a:solidFill>
                <a:latin typeface="宋体" panose="02010600030101010101" pitchFamily="2" charset="-122"/>
              </a:rPr>
              <a:t>≤    </a:t>
            </a:r>
            <a:r>
              <a:rPr lang="en-US" altLang="zh-CN" sz="2000" b="0" dirty="0">
                <a:solidFill>
                  <a:srgbClr val="000000"/>
                </a:solidFill>
              </a:rPr>
              <a:t>JLE (JNG)     OPR         (SF</a:t>
            </a:r>
            <a:r>
              <a:rPr lang="en-US" altLang="zh-CN" sz="2000" b="0" dirty="0">
                <a:solidFill>
                  <a:srgbClr val="000000"/>
                </a:solidFill>
                <a:sym typeface="Symbol" panose="05050102010706020507" pitchFamily="18" charset="2"/>
              </a:rPr>
              <a:t></a:t>
            </a:r>
            <a:r>
              <a:rPr lang="en-US" altLang="zh-CN" sz="2000" b="0" dirty="0">
                <a:solidFill>
                  <a:srgbClr val="000000"/>
                </a:solidFill>
              </a:rPr>
              <a:t>OF)</a:t>
            </a:r>
            <a:r>
              <a:rPr lang="en-US" altLang="zh-CN" sz="2000" b="0" dirty="0">
                <a:solidFill>
                  <a:srgbClr val="000000"/>
                </a:solidFill>
                <a:latin typeface="宋体" panose="02010600030101010101" pitchFamily="2" charset="-122"/>
              </a:rPr>
              <a:t>∨</a:t>
            </a:r>
            <a:r>
              <a:rPr lang="en-US" altLang="zh-CN" sz="2000" b="0" dirty="0">
                <a:solidFill>
                  <a:srgbClr val="000000"/>
                </a:solidFill>
              </a:rPr>
              <a:t>ZF = 1</a:t>
            </a:r>
          </a:p>
          <a:p>
            <a:pPr algn="just" eaLnBrk="0" hangingPunct="0">
              <a:lnSpc>
                <a:spcPct val="130000"/>
              </a:lnSpc>
            </a:pPr>
            <a:r>
              <a:rPr lang="en-US" altLang="zh-CN" sz="2000" b="0" dirty="0">
                <a:solidFill>
                  <a:srgbClr val="000000"/>
                </a:solidFill>
              </a:rPr>
              <a:t>      </a:t>
            </a:r>
            <a:r>
              <a:rPr lang="zh-CN" altLang="en-US" sz="2000" b="0" dirty="0">
                <a:solidFill>
                  <a:srgbClr val="000000"/>
                </a:solidFill>
              </a:rPr>
              <a:t>＞        </a:t>
            </a:r>
            <a:r>
              <a:rPr lang="en-US" altLang="zh-CN" sz="2000" b="0" dirty="0">
                <a:solidFill>
                  <a:srgbClr val="000000"/>
                </a:solidFill>
              </a:rPr>
              <a:t>JNLE (JG)    OPR          (SF</a:t>
            </a:r>
            <a:r>
              <a:rPr lang="en-US" altLang="zh-CN" sz="2000" b="0" dirty="0">
                <a:solidFill>
                  <a:srgbClr val="000000"/>
                </a:solidFill>
                <a:sym typeface="Symbol" panose="05050102010706020507" pitchFamily="18" charset="2"/>
              </a:rPr>
              <a:t></a:t>
            </a:r>
            <a:r>
              <a:rPr lang="en-US" altLang="zh-CN" sz="2000" b="0" dirty="0">
                <a:solidFill>
                  <a:srgbClr val="000000"/>
                </a:solidFill>
              </a:rPr>
              <a:t>OF)</a:t>
            </a:r>
            <a:r>
              <a:rPr lang="en-US" altLang="zh-CN" sz="2000" b="0" dirty="0">
                <a:solidFill>
                  <a:srgbClr val="000000"/>
                </a:solidFill>
                <a:latin typeface="宋体" panose="02010600030101010101" pitchFamily="2" charset="-122"/>
              </a:rPr>
              <a:t>∨</a:t>
            </a:r>
            <a:r>
              <a:rPr lang="en-US" altLang="zh-CN" sz="2000" b="0" dirty="0">
                <a:solidFill>
                  <a:srgbClr val="000000"/>
                </a:solidFill>
              </a:rPr>
              <a:t>ZF = 0</a:t>
            </a:r>
          </a:p>
          <a:p>
            <a:pPr algn="just" eaLnBrk="0" hangingPunct="0"/>
            <a:endParaRPr lang="en-US" altLang="zh-CN" sz="2000" b="0" dirty="0">
              <a:solidFill>
                <a:srgbClr val="000000"/>
              </a:solidFill>
            </a:endParaRPr>
          </a:p>
          <a:p>
            <a:pPr algn="just" eaLnBrk="0" hangingPunct="0"/>
            <a:r>
              <a:rPr lang="en-US" altLang="zh-CN" sz="2000" b="0" dirty="0">
                <a:solidFill>
                  <a:srgbClr val="000000"/>
                </a:solidFill>
              </a:rPr>
              <a:t>*  </a:t>
            </a:r>
            <a:r>
              <a:rPr lang="zh-CN" altLang="en-US" sz="2000" b="0" dirty="0">
                <a:solidFill>
                  <a:srgbClr val="FF0000"/>
                </a:solidFill>
                <a:ea typeface="楷体_GB2312" pitchFamily="49" charset="-122"/>
              </a:rPr>
              <a:t>适用于带符号数的比较</a:t>
            </a:r>
          </a:p>
          <a:p>
            <a:pPr algn="just" eaLnBrk="0" hangingPunct="0"/>
            <a:endParaRPr lang="zh-CN" altLang="en-US" sz="2000" b="0" dirty="0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3" name="文本框 1"/>
          <p:cNvSpPr txBox="1"/>
          <p:nvPr/>
        </p:nvSpPr>
        <p:spPr>
          <a:xfrm>
            <a:off x="452120" y="317500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控制转移指令</a:t>
            </a:r>
          </a:p>
        </p:txBody>
      </p:sp>
    </p:spTree>
    <p:extLst>
      <p:ext uri="{BB962C8B-B14F-4D97-AF65-F5344CB8AC3E}">
        <p14:creationId xmlns:p14="http://schemas.microsoft.com/office/powerpoint/2010/main" val="2275327373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文本框 95233"/>
          <p:cNvSpPr txBox="1"/>
          <p:nvPr/>
        </p:nvSpPr>
        <p:spPr>
          <a:xfrm>
            <a:off x="863588" y="2068103"/>
            <a:ext cx="7530167" cy="26930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just" eaLnBrk="0" hangingPunct="0">
              <a:lnSpc>
                <a:spcPct val="130000"/>
              </a:lnSpc>
            </a:pPr>
            <a:r>
              <a:rPr lang="en-US" altLang="zh-CN" sz="2000" b="0" dirty="0">
                <a:solidFill>
                  <a:srgbClr val="000000"/>
                </a:solidFill>
              </a:rPr>
              <a:t>JL (JNGE)   OPR           SF</a:t>
            </a:r>
            <a:r>
              <a:rPr lang="en-US" altLang="zh-CN" sz="2000" b="0" dirty="0">
                <a:solidFill>
                  <a:srgbClr val="000000"/>
                </a:solidFill>
                <a:sym typeface="Symbol" panose="05050102010706020507" pitchFamily="18" charset="2"/>
              </a:rPr>
              <a:t></a:t>
            </a:r>
            <a:r>
              <a:rPr lang="en-US" altLang="zh-CN" sz="2000" b="0" dirty="0">
                <a:solidFill>
                  <a:srgbClr val="000000"/>
                </a:solidFill>
              </a:rPr>
              <a:t>OF = 1</a:t>
            </a:r>
          </a:p>
          <a:p>
            <a:pPr algn="just" eaLnBrk="0" hangingPunct="0">
              <a:lnSpc>
                <a:spcPct val="130000"/>
              </a:lnSpc>
            </a:pPr>
            <a:endParaRPr lang="en-US" altLang="zh-CN" sz="1000" b="0" dirty="0">
              <a:solidFill>
                <a:srgbClr val="000000"/>
              </a:solidFill>
            </a:endParaRPr>
          </a:p>
          <a:p>
            <a:pPr algn="just" eaLnBrk="0" hangingPunct="0">
              <a:lnSpc>
                <a:spcPct val="130000"/>
              </a:lnSpc>
            </a:pPr>
            <a:r>
              <a:rPr lang="zh-CN" altLang="en-US" sz="2000" b="0" dirty="0">
                <a:solidFill>
                  <a:srgbClr val="000000"/>
                </a:solidFill>
              </a:rPr>
              <a:t>带符号数比较结果的几种情况：</a:t>
            </a:r>
            <a:endParaRPr lang="en-US" altLang="zh-CN" sz="2000" b="0" dirty="0">
              <a:solidFill>
                <a:srgbClr val="000000"/>
              </a:solidFill>
            </a:endParaRPr>
          </a:p>
          <a:p>
            <a:pPr algn="just" eaLnBrk="0" hangingPunct="0">
              <a:lnSpc>
                <a:spcPct val="130000"/>
              </a:lnSpc>
            </a:pPr>
            <a:r>
              <a:rPr lang="zh-CN" altLang="en-US" sz="2000" b="0" dirty="0">
                <a:solidFill>
                  <a:srgbClr val="000000"/>
                </a:solidFill>
              </a:rPr>
              <a:t>两个异号数相加或同号数相减，结果不会溢出。</a:t>
            </a:r>
            <a:endParaRPr lang="en-US" altLang="zh-CN" sz="2000" b="0" dirty="0">
              <a:solidFill>
                <a:srgbClr val="000000"/>
              </a:solidFill>
            </a:endParaRPr>
          </a:p>
          <a:p>
            <a:pPr algn="just" eaLnBrk="0" hangingPunct="0">
              <a:lnSpc>
                <a:spcPct val="130000"/>
              </a:lnSpc>
            </a:pPr>
            <a:r>
              <a:rPr lang="zh-CN" altLang="en-US" sz="2000" b="0" dirty="0">
                <a:solidFill>
                  <a:srgbClr val="000000"/>
                </a:solidFill>
              </a:rPr>
              <a:t>两个同号数相加或异号数相减，有可能溢出。</a:t>
            </a:r>
            <a:endParaRPr lang="en-US" altLang="zh-CN" sz="2000" b="0" dirty="0">
              <a:solidFill>
                <a:srgbClr val="000000"/>
              </a:solidFill>
            </a:endParaRPr>
          </a:p>
          <a:p>
            <a:pPr algn="just" eaLnBrk="0" hangingPunct="0">
              <a:lnSpc>
                <a:spcPct val="130000"/>
              </a:lnSpc>
            </a:pPr>
            <a:r>
              <a:rPr lang="en-US" altLang="zh-CN" sz="2000" b="0" dirty="0">
                <a:solidFill>
                  <a:srgbClr val="000000"/>
                </a:solidFill>
              </a:rPr>
              <a:t>	</a:t>
            </a:r>
            <a:r>
              <a:rPr lang="zh-CN" altLang="en-US" sz="2000" b="0" dirty="0">
                <a:solidFill>
                  <a:srgbClr val="FF0000"/>
                </a:solidFill>
              </a:rPr>
              <a:t>正溢出：</a:t>
            </a:r>
            <a:r>
              <a:rPr lang="zh-CN" altLang="en-US" sz="2000" b="0" dirty="0">
                <a:solidFill>
                  <a:srgbClr val="000000"/>
                </a:solidFill>
              </a:rPr>
              <a:t>结果大于机器能表示的最大正数</a:t>
            </a:r>
            <a:endParaRPr lang="en-US" altLang="zh-CN" sz="2000" b="0" dirty="0">
              <a:solidFill>
                <a:srgbClr val="000000"/>
              </a:solidFill>
            </a:endParaRPr>
          </a:p>
          <a:p>
            <a:pPr algn="just" eaLnBrk="0" hangingPunct="0">
              <a:lnSpc>
                <a:spcPct val="130000"/>
              </a:lnSpc>
            </a:pPr>
            <a:r>
              <a:rPr lang="en-US" altLang="zh-CN" sz="2000" b="0" dirty="0">
                <a:solidFill>
                  <a:srgbClr val="000000"/>
                </a:solidFill>
              </a:rPr>
              <a:t>	</a:t>
            </a:r>
            <a:r>
              <a:rPr lang="zh-CN" altLang="en-US" sz="2000" b="0" dirty="0">
                <a:solidFill>
                  <a:srgbClr val="FF0000"/>
                </a:solidFill>
              </a:rPr>
              <a:t>负溢出：</a:t>
            </a:r>
            <a:r>
              <a:rPr lang="zh-CN" altLang="en-US" sz="2000" b="0" dirty="0">
                <a:solidFill>
                  <a:srgbClr val="000000"/>
                </a:solidFill>
              </a:rPr>
              <a:t>结果小于机器能表示的最小负数</a:t>
            </a:r>
            <a:endParaRPr lang="en-US" altLang="zh-CN" sz="2000" b="0" dirty="0">
              <a:solidFill>
                <a:srgbClr val="000000"/>
              </a:solidFill>
            </a:endParaRPr>
          </a:p>
        </p:txBody>
      </p:sp>
      <p:sp>
        <p:nvSpPr>
          <p:cNvPr id="3" name="文本框 1"/>
          <p:cNvSpPr txBox="1"/>
          <p:nvPr/>
        </p:nvSpPr>
        <p:spPr>
          <a:xfrm>
            <a:off x="452120" y="317500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控制转移指令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5556" y="4822120"/>
            <a:ext cx="828474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zh-CN" altLang="en-US" sz="2000" b="0" dirty="0"/>
              <a:t>若</a:t>
            </a:r>
            <a:r>
              <a:rPr lang="en-US" altLang="zh-CN" sz="2000" b="0" dirty="0"/>
              <a:t>A-B</a:t>
            </a:r>
            <a:r>
              <a:rPr lang="zh-CN" altLang="en-US" sz="2000" b="0" dirty="0"/>
              <a:t>的结果使得</a:t>
            </a:r>
            <a:r>
              <a:rPr lang="en-US" altLang="zh-CN" sz="2000" b="0" dirty="0"/>
              <a:t>SF=0</a:t>
            </a:r>
            <a:r>
              <a:rPr lang="zh-CN" altLang="en-US" sz="2000" b="0" dirty="0"/>
              <a:t>，</a:t>
            </a:r>
            <a:r>
              <a:rPr lang="en-US" altLang="zh-CN" sz="2000" b="0" dirty="0"/>
              <a:t>OF=0</a:t>
            </a:r>
            <a:r>
              <a:rPr lang="zh-CN" altLang="en-US" sz="2000" b="0" dirty="0"/>
              <a:t>，说明差值为正，且未溢出，可以判断</a:t>
            </a:r>
            <a:r>
              <a:rPr lang="en-US" altLang="zh-CN" sz="2000" b="0" dirty="0"/>
              <a:t>A</a:t>
            </a:r>
            <a:r>
              <a:rPr lang="en-US" altLang="zh-CN" sz="2000" b="0" dirty="0">
                <a:solidFill>
                  <a:srgbClr val="000000"/>
                </a:solidFill>
                <a:latin typeface="宋体" panose="02010600030101010101" pitchFamily="2" charset="-122"/>
              </a:rPr>
              <a:t>≥</a:t>
            </a:r>
            <a:r>
              <a:rPr lang="en-US" altLang="zh-CN" sz="2000" b="0" dirty="0"/>
              <a:t>B</a:t>
            </a:r>
            <a:r>
              <a:rPr lang="zh-CN" altLang="en-US" sz="2000" b="0" dirty="0"/>
              <a:t>，</a:t>
            </a:r>
            <a:r>
              <a:rPr lang="en-US" altLang="zh-CN" sz="2000" b="0" dirty="0">
                <a:solidFill>
                  <a:srgbClr val="000000"/>
                </a:solidFill>
              </a:rPr>
              <a:t>SF</a:t>
            </a:r>
            <a:r>
              <a:rPr lang="en-US" altLang="zh-CN" sz="2000" b="0" dirty="0">
                <a:solidFill>
                  <a:srgbClr val="000000"/>
                </a:solidFill>
                <a:sym typeface="Symbol" panose="05050102010706020507" pitchFamily="18" charset="2"/>
              </a:rPr>
              <a:t></a:t>
            </a:r>
            <a:r>
              <a:rPr lang="en-US" altLang="zh-CN" sz="2000" b="0" dirty="0">
                <a:solidFill>
                  <a:srgbClr val="000000"/>
                </a:solidFill>
              </a:rPr>
              <a:t>OF = 0</a:t>
            </a:r>
            <a:r>
              <a:rPr lang="zh-CN" altLang="en-US" sz="2000" b="0" dirty="0">
                <a:solidFill>
                  <a:srgbClr val="000000"/>
                </a:solidFill>
              </a:rPr>
              <a:t>，</a:t>
            </a:r>
            <a:r>
              <a:rPr lang="zh-CN" altLang="en-US" sz="2000" b="0" dirty="0"/>
              <a:t>不满足转移条件。</a:t>
            </a:r>
            <a:r>
              <a:rPr lang="zh-CN" altLang="en-US" sz="2000" b="0" dirty="0">
                <a:solidFill>
                  <a:srgbClr val="FF0000"/>
                </a:solidFill>
              </a:rPr>
              <a:t>（例：比较</a:t>
            </a:r>
            <a:r>
              <a:rPr lang="en-US" altLang="zh-CN" sz="2000" b="0" dirty="0">
                <a:solidFill>
                  <a:srgbClr val="FF0000"/>
                </a:solidFill>
              </a:rPr>
              <a:t>20, 8</a:t>
            </a:r>
            <a:r>
              <a:rPr lang="zh-CN" altLang="en-US" sz="2000" b="0" dirty="0">
                <a:solidFill>
                  <a:srgbClr val="FF0000"/>
                </a:solidFill>
              </a:rPr>
              <a:t>）</a:t>
            </a:r>
            <a:endParaRPr lang="en-US" altLang="zh-CN" sz="2000" b="0" dirty="0">
              <a:solidFill>
                <a:srgbClr val="FF0000"/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en-US" altLang="zh-CN" sz="2000" b="0" dirty="0">
              <a:solidFill>
                <a:srgbClr val="FF0000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sz="2000" b="0" dirty="0"/>
              <a:t>若</a:t>
            </a:r>
            <a:r>
              <a:rPr lang="en-US" altLang="zh-CN" sz="2000" b="0" dirty="0"/>
              <a:t>A-B</a:t>
            </a:r>
            <a:r>
              <a:rPr lang="zh-CN" altLang="en-US" sz="2000" b="0" dirty="0"/>
              <a:t>的结果使得</a:t>
            </a:r>
            <a:r>
              <a:rPr lang="en-US" altLang="zh-CN" sz="2000" b="0" dirty="0"/>
              <a:t>SF=1</a:t>
            </a:r>
            <a:r>
              <a:rPr lang="zh-CN" altLang="en-US" sz="2000" b="0" dirty="0"/>
              <a:t>，</a:t>
            </a:r>
            <a:r>
              <a:rPr lang="en-US" altLang="zh-CN" sz="2000" b="0" dirty="0"/>
              <a:t>OF=0</a:t>
            </a:r>
            <a:r>
              <a:rPr lang="zh-CN" altLang="en-US" sz="2000" b="0" dirty="0"/>
              <a:t>，说明差值为负，且未溢出，可以判断</a:t>
            </a:r>
            <a:r>
              <a:rPr lang="en-US" altLang="zh-CN" sz="2000" b="0" dirty="0"/>
              <a:t>A&lt;B</a:t>
            </a:r>
            <a:r>
              <a:rPr lang="zh-CN" altLang="en-US" sz="2000" b="0" dirty="0"/>
              <a:t>，</a:t>
            </a:r>
            <a:r>
              <a:rPr lang="en-US" altLang="zh-CN" sz="2000" b="0" dirty="0">
                <a:solidFill>
                  <a:srgbClr val="000000"/>
                </a:solidFill>
              </a:rPr>
              <a:t>SF</a:t>
            </a:r>
            <a:r>
              <a:rPr lang="en-US" altLang="zh-CN" sz="2000" b="0" dirty="0">
                <a:solidFill>
                  <a:srgbClr val="000000"/>
                </a:solidFill>
                <a:sym typeface="Symbol" panose="05050102010706020507" pitchFamily="18" charset="2"/>
              </a:rPr>
              <a:t></a:t>
            </a:r>
            <a:r>
              <a:rPr lang="en-US" altLang="zh-CN" sz="2000" b="0" dirty="0">
                <a:solidFill>
                  <a:srgbClr val="000000"/>
                </a:solidFill>
              </a:rPr>
              <a:t>OF = 1</a:t>
            </a:r>
            <a:r>
              <a:rPr lang="zh-CN" altLang="en-US" sz="2000" b="0" dirty="0">
                <a:solidFill>
                  <a:srgbClr val="000000"/>
                </a:solidFill>
              </a:rPr>
              <a:t>，</a:t>
            </a:r>
            <a:r>
              <a:rPr lang="zh-CN" altLang="en-US" sz="2000" b="0" dirty="0"/>
              <a:t>满足转移条件。</a:t>
            </a:r>
            <a:r>
              <a:rPr lang="zh-CN" altLang="en-US" sz="2000" b="0" dirty="0">
                <a:solidFill>
                  <a:srgbClr val="FF0000"/>
                </a:solidFill>
              </a:rPr>
              <a:t>（例：比较</a:t>
            </a:r>
            <a:r>
              <a:rPr lang="en-US" altLang="zh-CN" sz="2000" b="0" dirty="0">
                <a:solidFill>
                  <a:srgbClr val="FF0000"/>
                </a:solidFill>
              </a:rPr>
              <a:t>8, 20</a:t>
            </a:r>
            <a:r>
              <a:rPr lang="zh-CN" altLang="en-US" sz="2000" b="0" dirty="0">
                <a:solidFill>
                  <a:srgbClr val="FF0000"/>
                </a:solidFill>
              </a:rPr>
              <a:t>）</a:t>
            </a:r>
            <a:endParaRPr lang="en-US" altLang="zh-CN" sz="2000" b="0" dirty="0">
              <a:solidFill>
                <a:srgbClr val="FF0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63588" y="1052736"/>
            <a:ext cx="53463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无符号数和带符号数比较指令为什么要分开？</a:t>
            </a:r>
            <a:endParaRPr lang="en-US" altLang="zh-CN" sz="2000" dirty="0"/>
          </a:p>
        </p:txBody>
      </p:sp>
      <p:sp>
        <p:nvSpPr>
          <p:cNvPr id="6" name="矩形 5"/>
          <p:cNvSpPr/>
          <p:nvPr/>
        </p:nvSpPr>
        <p:spPr>
          <a:xfrm>
            <a:off x="2591780" y="1462720"/>
            <a:ext cx="25779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0FFH	   vs	00H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9264991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34" grpId="0"/>
      <p:bldP spid="4" grpId="0"/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40052" y="3430801"/>
            <a:ext cx="297674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0" dirty="0">
                <a:solidFill>
                  <a:srgbClr val="FF0000"/>
                </a:solidFill>
              </a:rPr>
              <a:t>正溢出</a:t>
            </a:r>
            <a:r>
              <a:rPr lang="zh-CN" altLang="en-US" sz="2000" b="0" dirty="0"/>
              <a:t>：</a:t>
            </a:r>
            <a:r>
              <a:rPr lang="en-US" altLang="zh-CN" sz="2000" b="0" dirty="0"/>
              <a:t>89-(-108)	</a:t>
            </a:r>
          </a:p>
          <a:p>
            <a:r>
              <a:rPr lang="en-US" altLang="zh-CN" sz="2000" b="0" dirty="0"/>
              <a:t>     01011001</a:t>
            </a:r>
            <a:r>
              <a:rPr lang="zh-CN" altLang="en-US" sz="2000" b="0" dirty="0"/>
              <a:t>（</a:t>
            </a:r>
            <a:r>
              <a:rPr lang="en-US" altLang="zh-CN" sz="2000" b="0" dirty="0"/>
              <a:t>89</a:t>
            </a:r>
            <a:r>
              <a:rPr lang="zh-CN" altLang="en-US" sz="2000" b="0" dirty="0"/>
              <a:t>）</a:t>
            </a:r>
            <a:r>
              <a:rPr lang="en-US" altLang="zh-CN" sz="2000" b="0" dirty="0"/>
              <a:t>	</a:t>
            </a:r>
          </a:p>
          <a:p>
            <a:r>
              <a:rPr lang="en-US" altLang="zh-CN" sz="2000" b="0" dirty="0"/>
              <a:t>     01101100</a:t>
            </a:r>
            <a:r>
              <a:rPr lang="zh-CN" altLang="en-US" sz="2000" b="0" dirty="0"/>
              <a:t>（</a:t>
            </a:r>
            <a:r>
              <a:rPr lang="en-US" altLang="zh-CN" sz="2000" b="0" dirty="0"/>
              <a:t>108</a:t>
            </a:r>
            <a:r>
              <a:rPr lang="zh-CN" altLang="en-US" sz="2000" b="0" dirty="0"/>
              <a:t>）</a:t>
            </a:r>
            <a:r>
              <a:rPr lang="en-US" altLang="zh-CN" sz="2000" b="0" dirty="0"/>
              <a:t>	</a:t>
            </a:r>
          </a:p>
          <a:p>
            <a:r>
              <a:rPr lang="en-US" altLang="zh-CN" sz="2000" b="0" dirty="0"/>
              <a:t>--------------------------	</a:t>
            </a:r>
          </a:p>
          <a:p>
            <a:r>
              <a:rPr lang="en-US" altLang="zh-CN" sz="2000" b="0" dirty="0"/>
              <a:t>     11000101</a:t>
            </a:r>
            <a:r>
              <a:rPr lang="zh-CN" altLang="en-US" sz="2000" b="0" dirty="0"/>
              <a:t>（</a:t>
            </a:r>
            <a:r>
              <a:rPr lang="en-US" altLang="zh-CN" sz="2000" b="0" dirty="0"/>
              <a:t>-59</a:t>
            </a:r>
            <a:r>
              <a:rPr lang="zh-CN" altLang="en-US" sz="2000" b="0" dirty="0"/>
              <a:t>）</a:t>
            </a:r>
            <a:r>
              <a:rPr lang="en-US" altLang="zh-CN" sz="2000" b="0" dirty="0"/>
              <a:t>	</a:t>
            </a:r>
          </a:p>
          <a:p>
            <a:endParaRPr lang="en-US" altLang="zh-CN" sz="2000" b="0" dirty="0"/>
          </a:p>
          <a:p>
            <a:r>
              <a:rPr lang="en-US" altLang="zh-CN" sz="2000" b="0" dirty="0"/>
              <a:t>SF=1</a:t>
            </a:r>
            <a:r>
              <a:rPr lang="zh-CN" altLang="en-US" sz="2000" b="0" dirty="0"/>
              <a:t>，</a:t>
            </a:r>
            <a:r>
              <a:rPr lang="en-US" altLang="zh-CN" sz="2000" b="0" dirty="0"/>
              <a:t>OF=1		</a:t>
            </a:r>
          </a:p>
          <a:p>
            <a:r>
              <a:rPr lang="en-US" altLang="zh-CN" sz="2000" b="0" dirty="0"/>
              <a:t>A&gt;B</a:t>
            </a:r>
            <a:r>
              <a:rPr lang="zh-CN" altLang="en-US" sz="2000" b="0" dirty="0"/>
              <a:t>，不满足转移条件</a:t>
            </a:r>
            <a:r>
              <a:rPr lang="en-US" altLang="zh-CN" sz="2000" b="0" dirty="0"/>
              <a:t>	</a:t>
            </a:r>
            <a:endParaRPr lang="zh-CN" altLang="en-US" sz="2000" b="0" dirty="0"/>
          </a:p>
        </p:txBody>
      </p:sp>
      <p:sp>
        <p:nvSpPr>
          <p:cNvPr id="5" name="文本框 1">
            <a:extLst>
              <a:ext uri="{FF2B5EF4-FFF2-40B4-BE49-F238E27FC236}">
                <a16:creationId xmlns:a16="http://schemas.microsoft.com/office/drawing/2014/main" id="{28001062-B9CD-406C-9AB3-1D49B3813835}"/>
              </a:ext>
            </a:extLst>
          </p:cNvPr>
          <p:cNvSpPr txBox="1"/>
          <p:nvPr/>
        </p:nvSpPr>
        <p:spPr>
          <a:xfrm>
            <a:off x="452120" y="317500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控制转移指令</a:t>
            </a:r>
          </a:p>
        </p:txBody>
      </p:sp>
      <p:sp>
        <p:nvSpPr>
          <p:cNvPr id="3" name="矩形 2"/>
          <p:cNvSpPr/>
          <p:nvPr/>
        </p:nvSpPr>
        <p:spPr>
          <a:xfrm>
            <a:off x="683568" y="1160748"/>
            <a:ext cx="8028892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zh-CN" altLang="en-US" sz="2000" b="0" dirty="0"/>
              <a:t>若</a:t>
            </a:r>
            <a:r>
              <a:rPr lang="en-US" altLang="zh-CN" sz="2000" b="0" dirty="0"/>
              <a:t>A-B</a:t>
            </a:r>
            <a:r>
              <a:rPr lang="zh-CN" altLang="en-US" sz="2000" b="0" dirty="0"/>
              <a:t>的结果使得</a:t>
            </a:r>
            <a:r>
              <a:rPr lang="en-US" altLang="zh-CN" sz="2000" b="0" dirty="0"/>
              <a:t>SF=0</a:t>
            </a:r>
            <a:r>
              <a:rPr lang="zh-CN" altLang="en-US" sz="2000" b="0" dirty="0"/>
              <a:t>，</a:t>
            </a:r>
            <a:r>
              <a:rPr lang="en-US" altLang="zh-CN" sz="2000" b="0" dirty="0"/>
              <a:t>OF=1</a:t>
            </a:r>
            <a:r>
              <a:rPr lang="zh-CN" altLang="en-US" sz="2000" b="0" dirty="0"/>
              <a:t>，说明差值为正，且溢出，这种情况必为</a:t>
            </a:r>
            <a:r>
              <a:rPr lang="zh-CN" altLang="en-US" sz="2000" b="0" dirty="0">
                <a:solidFill>
                  <a:srgbClr val="FF0000"/>
                </a:solidFill>
              </a:rPr>
              <a:t>负溢出</a:t>
            </a:r>
            <a:r>
              <a:rPr lang="zh-CN" altLang="en-US" sz="2000" b="0" dirty="0"/>
              <a:t>，可以判断</a:t>
            </a:r>
            <a:r>
              <a:rPr lang="en-US" altLang="zh-CN" sz="2000" b="0" dirty="0"/>
              <a:t>A&lt;B</a:t>
            </a:r>
            <a:r>
              <a:rPr lang="zh-CN" altLang="en-US" sz="2000" b="0" dirty="0"/>
              <a:t>，</a:t>
            </a:r>
            <a:r>
              <a:rPr lang="en-US" altLang="zh-CN" sz="2000" b="0" dirty="0">
                <a:solidFill>
                  <a:srgbClr val="000000"/>
                </a:solidFill>
              </a:rPr>
              <a:t>SF</a:t>
            </a:r>
            <a:r>
              <a:rPr lang="en-US" altLang="zh-CN" sz="2000" b="0" dirty="0">
                <a:solidFill>
                  <a:srgbClr val="000000"/>
                </a:solidFill>
                <a:sym typeface="Symbol" panose="05050102010706020507" pitchFamily="18" charset="2"/>
              </a:rPr>
              <a:t></a:t>
            </a:r>
            <a:r>
              <a:rPr lang="en-US" altLang="zh-CN" sz="2000" b="0" dirty="0">
                <a:solidFill>
                  <a:srgbClr val="000000"/>
                </a:solidFill>
              </a:rPr>
              <a:t>OF =1</a:t>
            </a:r>
            <a:r>
              <a:rPr lang="zh-CN" altLang="en-US" sz="2000" b="0" dirty="0">
                <a:solidFill>
                  <a:srgbClr val="000000"/>
                </a:solidFill>
              </a:rPr>
              <a:t>，</a:t>
            </a:r>
            <a:r>
              <a:rPr lang="zh-CN" altLang="en-US" sz="2000" b="0" dirty="0"/>
              <a:t>满足转移条件。</a:t>
            </a:r>
            <a:endParaRPr lang="en-US" altLang="zh-CN" sz="2000" b="0" dirty="0"/>
          </a:p>
          <a:p>
            <a:pPr marL="457200" indent="-457200">
              <a:buFont typeface="+mj-lt"/>
              <a:buAutoNum type="arabicPeriod" startAt="3"/>
            </a:pPr>
            <a:endParaRPr lang="en-US" altLang="zh-CN" sz="2000" b="0" dirty="0"/>
          </a:p>
          <a:p>
            <a:pPr marL="457200" indent="-457200">
              <a:buFont typeface="+mj-lt"/>
              <a:buAutoNum type="arabicPeriod" startAt="3"/>
            </a:pPr>
            <a:r>
              <a:rPr lang="zh-CN" altLang="en-US" sz="2000" b="0" dirty="0"/>
              <a:t>若</a:t>
            </a:r>
            <a:r>
              <a:rPr lang="en-US" altLang="zh-CN" sz="2000" b="0" dirty="0"/>
              <a:t>A-B</a:t>
            </a:r>
            <a:r>
              <a:rPr lang="zh-CN" altLang="en-US" sz="2000" b="0" dirty="0"/>
              <a:t>的结果使得</a:t>
            </a:r>
            <a:r>
              <a:rPr lang="en-US" altLang="zh-CN" sz="2000" b="0" dirty="0"/>
              <a:t>SF=1</a:t>
            </a:r>
            <a:r>
              <a:rPr lang="zh-CN" altLang="en-US" sz="2000" b="0" dirty="0"/>
              <a:t>，</a:t>
            </a:r>
            <a:r>
              <a:rPr lang="en-US" altLang="zh-CN" sz="2000" b="0" dirty="0"/>
              <a:t>OF=1</a:t>
            </a:r>
            <a:r>
              <a:rPr lang="zh-CN" altLang="en-US" sz="2000" b="0" dirty="0"/>
              <a:t>，说明差值为负，且溢出，这种情况必为</a:t>
            </a:r>
            <a:r>
              <a:rPr lang="zh-CN" altLang="en-US" sz="2000" b="0" dirty="0">
                <a:solidFill>
                  <a:srgbClr val="FF0000"/>
                </a:solidFill>
              </a:rPr>
              <a:t>正溢出</a:t>
            </a:r>
            <a:r>
              <a:rPr lang="zh-CN" altLang="en-US" sz="2000" b="0" dirty="0"/>
              <a:t>，可以判断</a:t>
            </a:r>
            <a:r>
              <a:rPr lang="en-US" altLang="zh-CN" sz="2000" b="0" dirty="0"/>
              <a:t>A&gt;B</a:t>
            </a:r>
            <a:r>
              <a:rPr lang="zh-CN" altLang="en-US" sz="2000" b="0" dirty="0"/>
              <a:t>，</a:t>
            </a:r>
            <a:r>
              <a:rPr lang="en-US" altLang="zh-CN" sz="2000" b="0" dirty="0">
                <a:solidFill>
                  <a:srgbClr val="000000"/>
                </a:solidFill>
              </a:rPr>
              <a:t>SF</a:t>
            </a:r>
            <a:r>
              <a:rPr lang="en-US" altLang="zh-CN" sz="2000" b="0" dirty="0">
                <a:solidFill>
                  <a:srgbClr val="000000"/>
                </a:solidFill>
                <a:sym typeface="Symbol" panose="05050102010706020507" pitchFamily="18" charset="2"/>
              </a:rPr>
              <a:t></a:t>
            </a:r>
            <a:r>
              <a:rPr lang="en-US" altLang="zh-CN" sz="2000" b="0" dirty="0">
                <a:solidFill>
                  <a:srgbClr val="000000"/>
                </a:solidFill>
              </a:rPr>
              <a:t>OF = 0</a:t>
            </a:r>
            <a:r>
              <a:rPr lang="zh-CN" altLang="en-US" sz="2000" b="0" dirty="0">
                <a:solidFill>
                  <a:srgbClr val="000000"/>
                </a:solidFill>
              </a:rPr>
              <a:t>，</a:t>
            </a:r>
            <a:r>
              <a:rPr lang="zh-CN" altLang="en-US" sz="2000" b="0" dirty="0"/>
              <a:t>不满足转移条件。</a:t>
            </a:r>
            <a:endParaRPr lang="en-US" altLang="zh-CN" sz="2000" b="0" dirty="0"/>
          </a:p>
        </p:txBody>
      </p:sp>
      <p:sp>
        <p:nvSpPr>
          <p:cNvPr id="7" name="TextBox 3"/>
          <p:cNvSpPr txBox="1"/>
          <p:nvPr/>
        </p:nvSpPr>
        <p:spPr>
          <a:xfrm>
            <a:off x="899592" y="3430801"/>
            <a:ext cx="345638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0" dirty="0">
                <a:solidFill>
                  <a:srgbClr val="FF0000"/>
                </a:solidFill>
              </a:rPr>
              <a:t>负溢出</a:t>
            </a:r>
            <a:r>
              <a:rPr lang="zh-CN" altLang="en-US" sz="2000" b="0" dirty="0"/>
              <a:t>：</a:t>
            </a:r>
            <a:r>
              <a:rPr lang="en-US" altLang="zh-CN" sz="2000" b="0" dirty="0"/>
              <a:t>-110-92</a:t>
            </a:r>
          </a:p>
          <a:p>
            <a:r>
              <a:rPr lang="en-US" altLang="zh-CN" sz="2000" b="0" dirty="0"/>
              <a:t>	10010010</a:t>
            </a:r>
            <a:r>
              <a:rPr lang="zh-CN" altLang="en-US" sz="2000" b="0" dirty="0"/>
              <a:t>（</a:t>
            </a:r>
            <a:r>
              <a:rPr lang="en-US" altLang="zh-CN" sz="2000" b="0" dirty="0"/>
              <a:t>-110</a:t>
            </a:r>
            <a:r>
              <a:rPr lang="zh-CN" altLang="en-US" sz="2000" b="0" dirty="0"/>
              <a:t>）</a:t>
            </a:r>
            <a:endParaRPr lang="en-US" altLang="zh-CN" sz="2000" b="0" dirty="0"/>
          </a:p>
          <a:p>
            <a:r>
              <a:rPr lang="en-US" altLang="zh-CN" sz="2000" b="0" dirty="0"/>
              <a:t>	10100100</a:t>
            </a:r>
            <a:r>
              <a:rPr lang="zh-CN" altLang="en-US" sz="2000" b="0" dirty="0"/>
              <a:t>（</a:t>
            </a:r>
            <a:r>
              <a:rPr lang="en-US" altLang="zh-CN" sz="2000" b="0" dirty="0"/>
              <a:t>-92</a:t>
            </a:r>
            <a:r>
              <a:rPr lang="zh-CN" altLang="en-US" sz="2000" b="0" dirty="0"/>
              <a:t>）</a:t>
            </a:r>
            <a:endParaRPr lang="en-US" altLang="zh-CN" sz="2000" b="0" dirty="0"/>
          </a:p>
          <a:p>
            <a:r>
              <a:rPr lang="en-US" altLang="zh-CN" sz="2000" b="0" dirty="0"/>
              <a:t>           -------------------------</a:t>
            </a:r>
          </a:p>
          <a:p>
            <a:r>
              <a:rPr lang="en-US" altLang="zh-CN" sz="2000" b="0" dirty="0"/>
              <a:t>        1	00110110</a:t>
            </a:r>
            <a:r>
              <a:rPr lang="zh-CN" altLang="en-US" sz="2000" b="0" dirty="0"/>
              <a:t>（</a:t>
            </a:r>
            <a:r>
              <a:rPr lang="en-US" altLang="zh-CN" sz="2000" b="0" dirty="0"/>
              <a:t>54</a:t>
            </a:r>
            <a:r>
              <a:rPr lang="zh-CN" altLang="en-US" sz="2000" b="0" dirty="0"/>
              <a:t>）</a:t>
            </a:r>
            <a:endParaRPr lang="en-US" altLang="zh-CN" sz="2000" b="0" dirty="0"/>
          </a:p>
          <a:p>
            <a:endParaRPr lang="en-US" altLang="zh-CN" sz="2000" b="0" dirty="0"/>
          </a:p>
          <a:p>
            <a:r>
              <a:rPr lang="en-US" altLang="zh-CN" sz="2000" b="0" dirty="0"/>
              <a:t>SF=0</a:t>
            </a:r>
            <a:r>
              <a:rPr lang="zh-CN" altLang="en-US" sz="2000" b="0" dirty="0"/>
              <a:t>，</a:t>
            </a:r>
            <a:r>
              <a:rPr lang="en-US" altLang="zh-CN" sz="2000" b="0" dirty="0"/>
              <a:t>OF=1 </a:t>
            </a:r>
          </a:p>
          <a:p>
            <a:r>
              <a:rPr lang="en-US" altLang="zh-CN" sz="2000" b="0" dirty="0"/>
              <a:t>A&lt;B</a:t>
            </a:r>
            <a:r>
              <a:rPr lang="zh-CN" altLang="en-US" sz="2000" b="0" dirty="0"/>
              <a:t>，满足转移条件</a:t>
            </a:r>
            <a:r>
              <a:rPr lang="en-US" altLang="zh-CN" sz="2000" b="0" dirty="0"/>
              <a:t>	</a:t>
            </a:r>
            <a:endParaRPr lang="zh-CN" altLang="en-US" sz="2000" b="0" dirty="0"/>
          </a:p>
        </p:txBody>
      </p:sp>
    </p:spTree>
    <p:extLst>
      <p:ext uri="{BB962C8B-B14F-4D97-AF65-F5344CB8AC3E}">
        <p14:creationId xmlns:p14="http://schemas.microsoft.com/office/powerpoint/2010/main" val="202677664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4" name="Rectangle 6"/>
          <p:cNvSpPr>
            <a:spLocks noChangeArrowheads="1"/>
          </p:cNvSpPr>
          <p:nvPr/>
        </p:nvSpPr>
        <p:spPr bwMode="auto">
          <a:xfrm>
            <a:off x="611560" y="961585"/>
            <a:ext cx="774085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/>
            <a:r>
              <a:rPr lang="zh-CN" altLang="en-US" sz="2000" b="0" dirty="0">
                <a:latin typeface="楷体_GB2312" pitchFamily="49" charset="-122"/>
                <a:ea typeface="楷体_GB2312" pitchFamily="49" charset="-122"/>
              </a:rPr>
              <a:t>例：统计</a:t>
            </a:r>
            <a:r>
              <a:rPr lang="en-US" altLang="zh-CN" sz="2000" b="0" dirty="0">
                <a:latin typeface="楷体_GB2312" pitchFamily="49" charset="-122"/>
                <a:ea typeface="楷体_GB2312" pitchFamily="49" charset="-122"/>
              </a:rPr>
              <a:t>AX</a:t>
            </a:r>
            <a:r>
              <a:rPr lang="zh-CN" altLang="en-US" sz="2000" b="0" dirty="0">
                <a:latin typeface="楷体_GB2312" pitchFamily="49" charset="-122"/>
                <a:ea typeface="楷体_GB2312" pitchFamily="49" charset="-122"/>
              </a:rPr>
              <a:t>寄存器中为</a:t>
            </a:r>
            <a:r>
              <a:rPr lang="en-US" altLang="zh-CN" sz="2000" b="0" dirty="0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000" b="0" dirty="0">
                <a:latin typeface="楷体_GB2312" pitchFamily="49" charset="-122"/>
                <a:ea typeface="楷体_GB2312" pitchFamily="49" charset="-122"/>
              </a:rPr>
              <a:t>位数的，并将统计结果放在</a:t>
            </a:r>
            <a:r>
              <a:rPr lang="en-US" altLang="zh-CN" sz="2000" b="0" dirty="0">
                <a:latin typeface="楷体_GB2312" pitchFamily="49" charset="-122"/>
                <a:ea typeface="楷体_GB2312" pitchFamily="49" charset="-122"/>
              </a:rPr>
              <a:t>CL</a:t>
            </a:r>
            <a:r>
              <a:rPr lang="zh-CN" altLang="en-US" sz="2000" b="0" dirty="0">
                <a:latin typeface="楷体_GB2312" pitchFamily="49" charset="-122"/>
                <a:ea typeface="楷体_GB2312" pitchFamily="49" charset="-122"/>
              </a:rPr>
              <a:t>寄存器中。    </a:t>
            </a:r>
          </a:p>
        </p:txBody>
      </p:sp>
      <p:sp>
        <p:nvSpPr>
          <p:cNvPr id="63495" name="Rectangle 7"/>
          <p:cNvSpPr>
            <a:spLocks noChangeArrowheads="1"/>
          </p:cNvSpPr>
          <p:nvPr/>
        </p:nvSpPr>
        <p:spPr bwMode="auto">
          <a:xfrm>
            <a:off x="250825" y="1617073"/>
            <a:ext cx="8893175" cy="2530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indent="2667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en-US" altLang="zh-CN" sz="2000" b="0" dirty="0"/>
              <a:t>            MOV	CL</a:t>
            </a:r>
            <a:r>
              <a:rPr lang="zh-CN" altLang="en-US" sz="2000" b="0" dirty="0"/>
              <a:t>，</a:t>
            </a:r>
            <a:r>
              <a:rPr lang="en-US" altLang="zh-CN" sz="2000" b="0" dirty="0"/>
              <a:t>0	        </a:t>
            </a:r>
            <a:r>
              <a:rPr lang="zh-CN" altLang="en-US" sz="2000" b="0" dirty="0">
                <a:solidFill>
                  <a:srgbClr val="000099"/>
                </a:solidFill>
              </a:rPr>
              <a:t>；置计数初值</a:t>
            </a:r>
          </a:p>
          <a:p>
            <a:r>
              <a:rPr lang="zh-CN" altLang="en-US" sz="2000" b="0" dirty="0"/>
              <a:t>            </a:t>
            </a:r>
            <a:r>
              <a:rPr lang="en-US" altLang="zh-CN" sz="2000" b="0" dirty="0"/>
              <a:t>MOV	BX</a:t>
            </a:r>
            <a:r>
              <a:rPr lang="zh-CN" altLang="en-US" sz="2000" b="0" dirty="0"/>
              <a:t>，</a:t>
            </a:r>
            <a:r>
              <a:rPr lang="en-US" altLang="zh-CN" sz="2000" b="0" dirty="0"/>
              <a:t>16		</a:t>
            </a:r>
          </a:p>
          <a:p>
            <a:r>
              <a:rPr lang="en-US" altLang="zh-CN" sz="2000" b="0" dirty="0"/>
              <a:t>LAB1: SAL	AX, 1	        </a:t>
            </a:r>
            <a:r>
              <a:rPr lang="zh-CN" altLang="en-US" sz="2000" b="0" dirty="0">
                <a:solidFill>
                  <a:srgbClr val="000099"/>
                </a:solidFill>
              </a:rPr>
              <a:t>；将</a:t>
            </a:r>
            <a:r>
              <a:rPr lang="en-US" altLang="zh-CN" sz="2000" b="0" dirty="0">
                <a:solidFill>
                  <a:srgbClr val="000099"/>
                </a:solidFill>
              </a:rPr>
              <a:t>AX</a:t>
            </a:r>
            <a:r>
              <a:rPr lang="zh-CN" altLang="en-US" sz="2000" b="0" dirty="0">
                <a:solidFill>
                  <a:srgbClr val="000099"/>
                </a:solidFill>
              </a:rPr>
              <a:t>的内容左移一位，即最高位移到</a:t>
            </a:r>
            <a:r>
              <a:rPr lang="en-US" altLang="zh-CN" sz="2000" b="0" dirty="0">
                <a:solidFill>
                  <a:srgbClr val="000099"/>
                </a:solidFill>
              </a:rPr>
              <a:t>CF</a:t>
            </a:r>
            <a:r>
              <a:rPr lang="en-US" altLang="zh-CN" sz="2000" b="0" dirty="0"/>
              <a:t>	</a:t>
            </a:r>
          </a:p>
          <a:p>
            <a:r>
              <a:rPr lang="en-US" altLang="zh-CN" sz="2000" b="0" dirty="0"/>
              <a:t>	  JNC	LAB2	        </a:t>
            </a:r>
            <a:r>
              <a:rPr lang="zh-CN" altLang="en-US" sz="2000" b="0" dirty="0">
                <a:solidFill>
                  <a:srgbClr val="000099"/>
                </a:solidFill>
              </a:rPr>
              <a:t>；如果</a:t>
            </a:r>
            <a:r>
              <a:rPr lang="en-US" altLang="zh-CN" sz="2000" b="0" dirty="0">
                <a:solidFill>
                  <a:srgbClr val="000099"/>
                </a:solidFill>
              </a:rPr>
              <a:t>CF=0</a:t>
            </a:r>
            <a:r>
              <a:rPr lang="zh-CN" altLang="en-US" sz="2000" b="0" dirty="0">
                <a:solidFill>
                  <a:srgbClr val="000099"/>
                </a:solidFill>
              </a:rPr>
              <a:t>则表示</a:t>
            </a:r>
            <a:r>
              <a:rPr lang="en-US" altLang="zh-CN" sz="2000" b="0" dirty="0">
                <a:solidFill>
                  <a:srgbClr val="000099"/>
                </a:solidFill>
              </a:rPr>
              <a:t>AX</a:t>
            </a:r>
            <a:r>
              <a:rPr lang="zh-CN" altLang="en-US" sz="2000" b="0" dirty="0">
                <a:solidFill>
                  <a:srgbClr val="000099"/>
                </a:solidFill>
              </a:rPr>
              <a:t>的最高位为</a:t>
            </a:r>
            <a:r>
              <a:rPr lang="en-US" altLang="zh-CN" sz="2000" b="0" dirty="0">
                <a:solidFill>
                  <a:srgbClr val="000099"/>
                </a:solidFill>
              </a:rPr>
              <a:t>0</a:t>
            </a:r>
            <a:r>
              <a:rPr lang="zh-CN" altLang="en-US" sz="2000" b="0" dirty="0">
                <a:solidFill>
                  <a:srgbClr val="000099"/>
                </a:solidFill>
              </a:rPr>
              <a:t>，转</a:t>
            </a:r>
            <a:r>
              <a:rPr lang="en-US" altLang="zh-CN" sz="2000" b="0" dirty="0">
                <a:solidFill>
                  <a:srgbClr val="000099"/>
                </a:solidFill>
              </a:rPr>
              <a:t>LAB2</a:t>
            </a:r>
          </a:p>
          <a:p>
            <a:r>
              <a:rPr lang="en-US" altLang="zh-CN" sz="2000" b="0" dirty="0"/>
              <a:t>	  INC	CL	        </a:t>
            </a:r>
            <a:r>
              <a:rPr lang="zh-CN" altLang="en-US" sz="2000" b="0" dirty="0">
                <a:solidFill>
                  <a:srgbClr val="000099"/>
                </a:solidFill>
              </a:rPr>
              <a:t>；如果</a:t>
            </a:r>
            <a:r>
              <a:rPr lang="en-US" altLang="zh-CN" sz="2000" b="0" dirty="0">
                <a:solidFill>
                  <a:srgbClr val="000099"/>
                </a:solidFill>
              </a:rPr>
              <a:t>CF=1</a:t>
            </a:r>
            <a:r>
              <a:rPr lang="zh-CN" altLang="en-US" sz="2000" b="0" dirty="0">
                <a:solidFill>
                  <a:srgbClr val="000099"/>
                </a:solidFill>
              </a:rPr>
              <a:t>则表示</a:t>
            </a:r>
            <a:r>
              <a:rPr lang="en-US" altLang="zh-CN" sz="2000" b="0" dirty="0">
                <a:solidFill>
                  <a:srgbClr val="000099"/>
                </a:solidFill>
              </a:rPr>
              <a:t>AX</a:t>
            </a:r>
            <a:r>
              <a:rPr lang="zh-CN" altLang="en-US" sz="2000" b="0" dirty="0">
                <a:solidFill>
                  <a:srgbClr val="000099"/>
                </a:solidFill>
              </a:rPr>
              <a:t>的最高位为</a:t>
            </a:r>
            <a:r>
              <a:rPr lang="en-US" altLang="zh-CN" sz="2000" b="0" dirty="0">
                <a:solidFill>
                  <a:srgbClr val="000099"/>
                </a:solidFill>
              </a:rPr>
              <a:t>1</a:t>
            </a:r>
            <a:r>
              <a:rPr lang="zh-CN" altLang="en-US" sz="2000" b="0" dirty="0">
                <a:solidFill>
                  <a:srgbClr val="000099"/>
                </a:solidFill>
              </a:rPr>
              <a:t>，个数加</a:t>
            </a:r>
            <a:r>
              <a:rPr lang="en-US" altLang="zh-CN" sz="2000" b="0" dirty="0">
                <a:solidFill>
                  <a:srgbClr val="000099"/>
                </a:solidFill>
              </a:rPr>
              <a:t>1</a:t>
            </a:r>
          </a:p>
          <a:p>
            <a:r>
              <a:rPr lang="en-US" altLang="zh-CN" sz="2000" b="0" dirty="0"/>
              <a:t>LAB2: DEC	BX	        </a:t>
            </a:r>
            <a:r>
              <a:rPr lang="zh-CN" altLang="en-US" sz="2000" b="0" dirty="0">
                <a:solidFill>
                  <a:srgbClr val="000099"/>
                </a:solidFill>
              </a:rPr>
              <a:t>；修改循环次数，未完则转</a:t>
            </a:r>
            <a:r>
              <a:rPr lang="en-US" altLang="zh-CN" sz="2000" b="0" dirty="0">
                <a:solidFill>
                  <a:srgbClr val="000099"/>
                </a:solidFill>
              </a:rPr>
              <a:t>LAB	</a:t>
            </a:r>
          </a:p>
          <a:p>
            <a:r>
              <a:rPr lang="en-US" altLang="zh-CN" sz="2000" b="0" dirty="0"/>
              <a:t>            JNZ 	LAB1</a:t>
            </a:r>
          </a:p>
          <a:p>
            <a:r>
              <a:rPr lang="en-US" altLang="zh-CN" sz="2000" b="0" dirty="0"/>
              <a:t>EXIT:	…</a:t>
            </a:r>
            <a:r>
              <a:rPr lang="en-US" altLang="zh-CN" sz="2000" b="1" dirty="0"/>
              <a:t>			</a:t>
            </a:r>
          </a:p>
        </p:txBody>
      </p:sp>
      <p:sp>
        <p:nvSpPr>
          <p:cNvPr id="5" name="文本框 1"/>
          <p:cNvSpPr txBox="1"/>
          <p:nvPr/>
        </p:nvSpPr>
        <p:spPr>
          <a:xfrm>
            <a:off x="452120" y="317500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控制转移指令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5503461" y="1394871"/>
            <a:ext cx="3381375" cy="715476"/>
            <a:chOff x="5503461" y="1394871"/>
            <a:chExt cx="3381375" cy="715476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4BE36048-B142-473A-8BE7-26EDEF54689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03461" y="1394871"/>
              <a:ext cx="338137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145FB97B-78F3-48E6-9914-DF23CC2C492F}"/>
                </a:ext>
              </a:extLst>
            </p:cNvPr>
            <p:cNvSpPr/>
            <p:nvPr/>
          </p:nvSpPr>
          <p:spPr>
            <a:xfrm>
              <a:off x="6377198" y="1710237"/>
              <a:ext cx="1975221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dirty="0"/>
                <a:t>SAL</a:t>
              </a:r>
              <a:r>
                <a:rPr lang="zh-CN" altLang="en-US" sz="2000" dirty="0"/>
                <a:t>：算数左移</a:t>
              </a:r>
            </a:p>
          </p:txBody>
        </p:sp>
      </p:grpSp>
      <p:sp>
        <p:nvSpPr>
          <p:cNvPr id="8" name="Rectangle 128">
            <a:extLst>
              <a:ext uri="{FF2B5EF4-FFF2-40B4-BE49-F238E27FC236}">
                <a16:creationId xmlns:a16="http://schemas.microsoft.com/office/drawing/2014/main" id="{8A735909-D632-49E0-ABE9-AC9784C582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5676" y="4014936"/>
            <a:ext cx="7308812" cy="2616101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indent="2667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en-US" altLang="zh-CN" b="0" dirty="0">
                <a:latin typeface="+mn-lt"/>
              </a:rPr>
              <a:t>	</a:t>
            </a:r>
            <a:r>
              <a:rPr lang="en-US" altLang="zh-CN" sz="2000" b="0" dirty="0">
                <a:latin typeface="+mn-lt"/>
              </a:rPr>
              <a:t>  MOV	  CL,0</a:t>
            </a:r>
          </a:p>
          <a:p>
            <a:pPr eaLnBrk="0" hangingPunct="0"/>
            <a:r>
              <a:rPr lang="en-US" altLang="zh-CN" sz="2000" b="0" dirty="0">
                <a:latin typeface="+mn-lt"/>
              </a:rPr>
              <a:t>LAB:   </a:t>
            </a:r>
            <a:r>
              <a:rPr lang="en-US" altLang="zh-CN" sz="2000" b="0" dirty="0">
                <a:solidFill>
                  <a:srgbClr val="FF0000"/>
                </a:solidFill>
                <a:latin typeface="+mn-lt"/>
              </a:rPr>
              <a:t>AND	  AX</a:t>
            </a:r>
            <a:r>
              <a:rPr lang="zh-CN" altLang="en-US" sz="2000" b="0" dirty="0">
                <a:solidFill>
                  <a:srgbClr val="FF0000"/>
                </a:solidFill>
                <a:latin typeface="+mn-lt"/>
              </a:rPr>
              <a:t>，</a:t>
            </a:r>
            <a:r>
              <a:rPr lang="en-US" altLang="zh-CN" sz="2000" b="0" dirty="0">
                <a:solidFill>
                  <a:srgbClr val="FF0000"/>
                </a:solidFill>
                <a:latin typeface="+mn-lt"/>
              </a:rPr>
              <a:t>AX</a:t>
            </a:r>
          </a:p>
          <a:p>
            <a:pPr eaLnBrk="0" hangingPunct="0"/>
            <a:r>
              <a:rPr lang="en-US" altLang="zh-CN" sz="2000" b="0" dirty="0">
                <a:latin typeface="+mn-lt"/>
              </a:rPr>
              <a:t>	  JZ	  EXIT	       </a:t>
            </a:r>
            <a:r>
              <a:rPr lang="zh-CN" altLang="en-US" sz="2000" b="0" dirty="0">
                <a:solidFill>
                  <a:srgbClr val="000099"/>
                </a:solidFill>
                <a:latin typeface="+mn-lt"/>
              </a:rPr>
              <a:t>；</a:t>
            </a:r>
            <a:r>
              <a:rPr lang="en-US" altLang="zh-CN" sz="2000" b="0" dirty="0">
                <a:solidFill>
                  <a:srgbClr val="000099"/>
                </a:solidFill>
                <a:latin typeface="+mn-lt"/>
              </a:rPr>
              <a:t>AX=0</a:t>
            </a:r>
            <a:r>
              <a:rPr lang="zh-CN" altLang="en-US" sz="2000" b="0" dirty="0">
                <a:solidFill>
                  <a:srgbClr val="000099"/>
                </a:solidFill>
                <a:latin typeface="+mn-lt"/>
              </a:rPr>
              <a:t>时循环结束，转到</a:t>
            </a:r>
            <a:r>
              <a:rPr lang="en-US" altLang="zh-CN" sz="2000" b="0" dirty="0">
                <a:solidFill>
                  <a:srgbClr val="000099"/>
                </a:solidFill>
                <a:latin typeface="+mn-lt"/>
              </a:rPr>
              <a:t>EXIT</a:t>
            </a:r>
          </a:p>
          <a:p>
            <a:pPr eaLnBrk="0" hangingPunct="0"/>
            <a:r>
              <a:rPr lang="en-US" altLang="zh-CN" sz="2000" b="0" dirty="0">
                <a:latin typeface="+mn-lt"/>
              </a:rPr>
              <a:t>	  SAL	  AX</a:t>
            </a:r>
            <a:r>
              <a:rPr lang="zh-CN" altLang="en-US" sz="2000" b="0" dirty="0">
                <a:latin typeface="+mn-lt"/>
              </a:rPr>
              <a:t>，</a:t>
            </a:r>
            <a:r>
              <a:rPr lang="en-US" altLang="zh-CN" sz="2000" b="0" dirty="0">
                <a:latin typeface="+mn-lt"/>
              </a:rPr>
              <a:t>1	       </a:t>
            </a:r>
            <a:r>
              <a:rPr lang="zh-CN" altLang="en-US" sz="2000" b="0" dirty="0">
                <a:solidFill>
                  <a:srgbClr val="000099"/>
                </a:solidFill>
                <a:latin typeface="+mn-lt"/>
              </a:rPr>
              <a:t>；将</a:t>
            </a:r>
            <a:r>
              <a:rPr lang="en-US" altLang="zh-CN" sz="2000" b="0" dirty="0">
                <a:solidFill>
                  <a:srgbClr val="000099"/>
                </a:solidFill>
                <a:latin typeface="+mn-lt"/>
              </a:rPr>
              <a:t>AX</a:t>
            </a:r>
            <a:r>
              <a:rPr lang="zh-CN" altLang="en-US" sz="2000" b="0" dirty="0">
                <a:solidFill>
                  <a:srgbClr val="000099"/>
                </a:solidFill>
                <a:latin typeface="+mn-lt"/>
              </a:rPr>
              <a:t>中的最高位移入</a:t>
            </a:r>
            <a:r>
              <a:rPr lang="en-US" altLang="zh-CN" sz="2000" b="0" dirty="0">
                <a:solidFill>
                  <a:srgbClr val="000099"/>
                </a:solidFill>
                <a:latin typeface="+mn-lt"/>
              </a:rPr>
              <a:t>CF</a:t>
            </a:r>
            <a:r>
              <a:rPr lang="zh-CN" altLang="en-US" sz="2000" b="0" dirty="0">
                <a:solidFill>
                  <a:srgbClr val="000099"/>
                </a:solidFill>
                <a:latin typeface="+mn-lt"/>
              </a:rPr>
              <a:t>中</a:t>
            </a:r>
          </a:p>
          <a:p>
            <a:pPr eaLnBrk="0" hangingPunct="0"/>
            <a:r>
              <a:rPr lang="zh-CN" altLang="en-US" sz="2000" b="0" dirty="0">
                <a:latin typeface="+mn-lt"/>
              </a:rPr>
              <a:t>	  </a:t>
            </a:r>
            <a:r>
              <a:rPr lang="en-US" altLang="zh-CN" sz="2000" b="0" dirty="0">
                <a:latin typeface="+mn-lt"/>
              </a:rPr>
              <a:t>JNC	  LAB	       </a:t>
            </a:r>
            <a:r>
              <a:rPr lang="zh-CN" altLang="en-US" sz="2000" b="0" dirty="0">
                <a:solidFill>
                  <a:srgbClr val="000099"/>
                </a:solidFill>
                <a:latin typeface="+mn-lt"/>
              </a:rPr>
              <a:t>；如果</a:t>
            </a:r>
            <a:r>
              <a:rPr lang="en-US" altLang="zh-CN" sz="2000" b="0" dirty="0">
                <a:solidFill>
                  <a:srgbClr val="000099"/>
                </a:solidFill>
                <a:latin typeface="+mn-lt"/>
              </a:rPr>
              <a:t>CF=0</a:t>
            </a:r>
            <a:r>
              <a:rPr lang="zh-CN" altLang="en-US" sz="2000" b="0" dirty="0">
                <a:solidFill>
                  <a:srgbClr val="000099"/>
                </a:solidFill>
                <a:latin typeface="+mn-lt"/>
              </a:rPr>
              <a:t>则转</a:t>
            </a:r>
            <a:r>
              <a:rPr lang="en-US" altLang="zh-CN" sz="2000" b="0" dirty="0">
                <a:solidFill>
                  <a:srgbClr val="000099"/>
                </a:solidFill>
                <a:latin typeface="+mn-lt"/>
              </a:rPr>
              <a:t>LAB</a:t>
            </a:r>
          </a:p>
          <a:p>
            <a:pPr eaLnBrk="0" hangingPunct="0"/>
            <a:r>
              <a:rPr lang="en-US" altLang="zh-CN" sz="2000" b="0" dirty="0">
                <a:latin typeface="+mn-lt"/>
              </a:rPr>
              <a:t>	  INC	  CL	       </a:t>
            </a:r>
            <a:r>
              <a:rPr lang="zh-CN" altLang="en-US" sz="2000" b="0" dirty="0">
                <a:solidFill>
                  <a:srgbClr val="000099"/>
                </a:solidFill>
                <a:latin typeface="+mn-lt"/>
              </a:rPr>
              <a:t>；如果</a:t>
            </a:r>
            <a:r>
              <a:rPr lang="en-US" altLang="zh-CN" sz="2000" b="0" dirty="0">
                <a:solidFill>
                  <a:srgbClr val="000099"/>
                </a:solidFill>
                <a:latin typeface="+mn-lt"/>
              </a:rPr>
              <a:t>CF=1</a:t>
            </a:r>
            <a:r>
              <a:rPr lang="zh-CN" altLang="en-US" sz="2000" b="0" dirty="0">
                <a:solidFill>
                  <a:srgbClr val="000099"/>
                </a:solidFill>
                <a:latin typeface="+mn-lt"/>
              </a:rPr>
              <a:t>则</a:t>
            </a:r>
            <a:r>
              <a:rPr lang="en-US" altLang="zh-CN" sz="2000" b="0" dirty="0">
                <a:solidFill>
                  <a:srgbClr val="000099"/>
                </a:solidFill>
                <a:latin typeface="+mn-lt"/>
              </a:rPr>
              <a:t>CL+1→CL</a:t>
            </a:r>
          </a:p>
          <a:p>
            <a:pPr eaLnBrk="0" hangingPunct="0"/>
            <a:r>
              <a:rPr lang="en-US" altLang="zh-CN" sz="2000" b="0" dirty="0">
                <a:latin typeface="+mn-lt"/>
              </a:rPr>
              <a:t>	  JMP	  LAB	       </a:t>
            </a:r>
            <a:r>
              <a:rPr lang="zh-CN" altLang="en-US" sz="2000" b="0" dirty="0">
                <a:solidFill>
                  <a:srgbClr val="000099"/>
                </a:solidFill>
                <a:latin typeface="+mn-lt"/>
              </a:rPr>
              <a:t>；转</a:t>
            </a:r>
            <a:r>
              <a:rPr lang="en-US" altLang="zh-CN" sz="2000" b="0" dirty="0">
                <a:solidFill>
                  <a:srgbClr val="000099"/>
                </a:solidFill>
                <a:latin typeface="+mn-lt"/>
              </a:rPr>
              <a:t>LAB</a:t>
            </a:r>
            <a:r>
              <a:rPr lang="zh-CN" altLang="en-US" sz="2000" b="0" dirty="0">
                <a:solidFill>
                  <a:srgbClr val="000099"/>
                </a:solidFill>
                <a:latin typeface="+mn-lt"/>
              </a:rPr>
              <a:t>处继续循环</a:t>
            </a:r>
          </a:p>
          <a:p>
            <a:pPr eaLnBrk="0" hangingPunct="0"/>
            <a:r>
              <a:rPr lang="en-US" altLang="zh-CN" sz="2000" b="0" dirty="0">
                <a:latin typeface="+mn-lt"/>
              </a:rPr>
              <a:t>EXIT:	…</a:t>
            </a:r>
            <a:endParaRPr lang="en-US" altLang="zh-CN" b="1" dirty="0"/>
          </a:p>
        </p:txBody>
      </p:sp>
    </p:spTree>
    <p:extLst>
      <p:ext uri="{BB962C8B-B14F-4D97-AF65-F5344CB8AC3E}">
        <p14:creationId xmlns:p14="http://schemas.microsoft.com/office/powerpoint/2010/main" val="374149781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5" grpId="0"/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文本框 98305"/>
          <p:cNvSpPr txBox="1"/>
          <p:nvPr/>
        </p:nvSpPr>
        <p:spPr>
          <a:xfrm>
            <a:off x="1151620" y="1009650"/>
            <a:ext cx="7239000" cy="866006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 eaLnBrk="0" hangingPunct="0">
              <a:lnSpc>
                <a:spcPct val="120000"/>
              </a:lnSpc>
            </a:pPr>
            <a:r>
              <a:rPr lang="zh-CN" altLang="en-US" sz="22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例：</a:t>
            </a:r>
            <a:r>
              <a:rPr lang="en-US" altLang="zh-CN" sz="2200" b="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zh-CN" altLang="en-US" sz="22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sz="2200" b="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 </a:t>
            </a:r>
            <a:r>
              <a:rPr lang="zh-CN" altLang="en-US" sz="22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是带符号双精度数，分别存于</a:t>
            </a:r>
            <a:r>
              <a:rPr lang="en-US" altLang="zh-CN" sz="22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DX, AX</a:t>
            </a:r>
            <a:r>
              <a:rPr lang="zh-CN" altLang="en-US" sz="22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及</a:t>
            </a:r>
            <a:r>
              <a:rPr lang="en-US" altLang="zh-CN" sz="22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BX, CX </a:t>
            </a:r>
            <a:r>
              <a:rPr lang="zh-CN" altLang="en-US" sz="22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中，</a:t>
            </a:r>
            <a:r>
              <a:rPr lang="en-US" altLang="zh-CN" sz="2200" b="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 </a:t>
            </a:r>
            <a:r>
              <a:rPr lang="en-US" altLang="zh-CN" sz="22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&gt; </a:t>
            </a:r>
            <a:r>
              <a:rPr lang="en-US" altLang="zh-CN" sz="2200" b="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 </a:t>
            </a:r>
            <a:r>
              <a:rPr lang="zh-CN" altLang="en-US" sz="22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时转 </a:t>
            </a:r>
            <a:r>
              <a:rPr lang="en-US" altLang="zh-CN" sz="22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L1</a:t>
            </a:r>
            <a:r>
              <a:rPr lang="zh-CN" altLang="en-US" sz="22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，否则转 </a:t>
            </a:r>
            <a:r>
              <a:rPr lang="en-US" altLang="zh-CN" sz="22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L2</a:t>
            </a:r>
            <a:r>
              <a:rPr lang="zh-CN" altLang="en-US" sz="22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。</a:t>
            </a:r>
            <a:endParaRPr lang="en-US" altLang="zh-CN" sz="2200" b="0" i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8307" name="文本框 98306"/>
          <p:cNvSpPr txBox="1"/>
          <p:nvPr/>
        </p:nvSpPr>
        <p:spPr>
          <a:xfrm>
            <a:off x="3059832" y="1912003"/>
            <a:ext cx="3276600" cy="4937377"/>
          </a:xfrm>
          <a:prstGeom prst="rect">
            <a:avLst/>
          </a:prstGeom>
          <a:noFill/>
          <a:ln w="12700">
            <a:noFill/>
          </a:ln>
        </p:spPr>
        <p:txBody>
          <a:bodyPr anchor="ctr">
            <a:spAutoFit/>
          </a:bodyPr>
          <a:lstStyle/>
          <a:p>
            <a:pPr lvl="1" eaLnBrk="0" hangingPunct="0">
              <a:lnSpc>
                <a:spcPct val="120000"/>
              </a:lnSpc>
            </a:pPr>
            <a:r>
              <a:rPr lang="en-US" altLang="zh-CN" sz="2200" b="0" dirty="0">
                <a:solidFill>
                  <a:srgbClr val="000000"/>
                </a:solidFill>
                <a:latin typeface="Lucida Console" panose="020B0609040504020204" pitchFamily="49" charset="0"/>
              </a:rPr>
              <a:t>  CMP  DX, BX</a:t>
            </a:r>
          </a:p>
          <a:p>
            <a:pPr lvl="1" eaLnBrk="0" hangingPunct="0">
              <a:lnSpc>
                <a:spcPct val="120000"/>
              </a:lnSpc>
            </a:pPr>
            <a:r>
              <a:rPr lang="en-US" altLang="zh-CN" sz="2200" b="0" dirty="0">
                <a:solidFill>
                  <a:srgbClr val="000000"/>
                </a:solidFill>
                <a:latin typeface="Lucida Console" panose="020B0609040504020204" pitchFamily="49" charset="0"/>
              </a:rPr>
              <a:t>  JG   L1</a:t>
            </a:r>
          </a:p>
          <a:p>
            <a:pPr lvl="1" eaLnBrk="0" hangingPunct="0">
              <a:lnSpc>
                <a:spcPct val="120000"/>
              </a:lnSpc>
            </a:pPr>
            <a:r>
              <a:rPr lang="en-US" altLang="zh-CN" sz="2200" b="0" dirty="0">
                <a:solidFill>
                  <a:srgbClr val="000000"/>
                </a:solidFill>
                <a:latin typeface="Lucida Console" panose="020B0609040504020204" pitchFamily="49" charset="0"/>
              </a:rPr>
              <a:t>  JL   L2</a:t>
            </a:r>
          </a:p>
          <a:p>
            <a:pPr lvl="1" eaLnBrk="0" hangingPunct="0">
              <a:lnSpc>
                <a:spcPct val="120000"/>
              </a:lnSpc>
            </a:pPr>
            <a:r>
              <a:rPr lang="en-US" altLang="zh-CN" sz="2200" b="0" dirty="0">
                <a:solidFill>
                  <a:srgbClr val="000000"/>
                </a:solidFill>
                <a:latin typeface="Lucida Console" panose="020B0609040504020204" pitchFamily="49" charset="0"/>
              </a:rPr>
              <a:t>  CMP  AX, CX</a:t>
            </a:r>
          </a:p>
          <a:p>
            <a:pPr lvl="1" eaLnBrk="0" hangingPunct="0">
              <a:lnSpc>
                <a:spcPct val="120000"/>
              </a:lnSpc>
            </a:pPr>
            <a:r>
              <a:rPr lang="en-US" altLang="zh-CN" sz="2200" b="0" dirty="0">
                <a:solidFill>
                  <a:srgbClr val="000000"/>
                </a:solidFill>
                <a:latin typeface="Lucida Console" panose="020B0609040504020204" pitchFamily="49" charset="0"/>
              </a:rPr>
              <a:t>  </a:t>
            </a:r>
            <a:r>
              <a:rPr lang="en-US" altLang="zh-CN" sz="2200" b="0" dirty="0">
                <a:solidFill>
                  <a:srgbClr val="FF0000"/>
                </a:solidFill>
                <a:latin typeface="Lucida Console" panose="020B0609040504020204" pitchFamily="49" charset="0"/>
              </a:rPr>
              <a:t>JG   L1</a:t>
            </a:r>
          </a:p>
          <a:p>
            <a:pPr eaLnBrk="0" hangingPunct="0">
              <a:lnSpc>
                <a:spcPct val="120000"/>
              </a:lnSpc>
            </a:pPr>
            <a:r>
              <a:rPr lang="en-US" altLang="zh-CN" sz="2200" b="0" dirty="0">
                <a:solidFill>
                  <a:srgbClr val="000000"/>
                </a:solidFill>
                <a:latin typeface="Lucida Console" panose="020B0609040504020204" pitchFamily="49" charset="0"/>
              </a:rPr>
              <a:t>L2:        </a:t>
            </a:r>
          </a:p>
          <a:p>
            <a:pPr eaLnBrk="0" hangingPunct="0">
              <a:lnSpc>
                <a:spcPct val="120000"/>
              </a:lnSpc>
            </a:pPr>
            <a:r>
              <a:rPr lang="en-US" altLang="zh-CN" sz="2200" b="0" dirty="0">
                <a:solidFill>
                  <a:srgbClr val="000000"/>
                </a:solidFill>
                <a:latin typeface="Lucida Console" panose="020B0609040504020204" pitchFamily="49" charset="0"/>
              </a:rPr>
              <a:t>     ……</a:t>
            </a:r>
          </a:p>
          <a:p>
            <a:pPr eaLnBrk="0" hangingPunct="0">
              <a:lnSpc>
                <a:spcPct val="120000"/>
              </a:lnSpc>
            </a:pPr>
            <a:r>
              <a:rPr lang="en-US" altLang="zh-CN" sz="2200" b="0" dirty="0">
                <a:solidFill>
                  <a:srgbClr val="000000"/>
                </a:solidFill>
                <a:latin typeface="Lucida Console" panose="020B0609040504020204" pitchFamily="49" charset="0"/>
              </a:rPr>
              <a:t>     </a:t>
            </a:r>
            <a:r>
              <a:rPr lang="en-US" altLang="zh-CN" b="0" dirty="0">
                <a:solidFill>
                  <a:srgbClr val="FF0000"/>
                </a:solidFill>
                <a:latin typeface="Lucida Console" panose="020B0609040504020204" pitchFamily="49" charset="0"/>
              </a:rPr>
              <a:t>JMP L3</a:t>
            </a:r>
          </a:p>
          <a:p>
            <a:pPr eaLnBrk="0" hangingPunct="0">
              <a:lnSpc>
                <a:spcPct val="120000"/>
              </a:lnSpc>
            </a:pPr>
            <a:r>
              <a:rPr lang="en-US" altLang="zh-CN" sz="2200" b="0" dirty="0">
                <a:solidFill>
                  <a:srgbClr val="000000"/>
                </a:solidFill>
                <a:latin typeface="Lucida Console" panose="020B0609040504020204" pitchFamily="49" charset="0"/>
              </a:rPr>
              <a:t>L1:  </a:t>
            </a:r>
          </a:p>
          <a:p>
            <a:pPr eaLnBrk="0" hangingPunct="0">
              <a:lnSpc>
                <a:spcPct val="120000"/>
              </a:lnSpc>
            </a:pPr>
            <a:r>
              <a:rPr lang="en-US" altLang="zh-CN" sz="2200" b="0" dirty="0">
                <a:solidFill>
                  <a:srgbClr val="000000"/>
                </a:solidFill>
                <a:latin typeface="Lucida Console" panose="020B0609040504020204" pitchFamily="49" charset="0"/>
              </a:rPr>
              <a:t>     ……</a:t>
            </a:r>
          </a:p>
          <a:p>
            <a:pPr eaLnBrk="0" hangingPunct="0">
              <a:lnSpc>
                <a:spcPct val="120000"/>
              </a:lnSpc>
            </a:pPr>
            <a:r>
              <a:rPr lang="en-US" altLang="zh-CN" sz="2200" b="0" dirty="0">
                <a:solidFill>
                  <a:srgbClr val="000000"/>
                </a:solidFill>
                <a:latin typeface="Lucida Console" panose="020B0609040504020204" pitchFamily="49" charset="0"/>
              </a:rPr>
              <a:t>L3</a:t>
            </a:r>
            <a:r>
              <a:rPr lang="zh-CN" altLang="en-US" sz="2200" b="0" dirty="0">
                <a:solidFill>
                  <a:srgbClr val="000000"/>
                </a:solidFill>
                <a:latin typeface="Lucida Console" panose="020B0609040504020204" pitchFamily="49" charset="0"/>
              </a:rPr>
              <a:t>：</a:t>
            </a:r>
            <a:endParaRPr lang="en-US" altLang="zh-CN" sz="2200" b="0" dirty="0"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eaLnBrk="0" hangingPunct="0">
              <a:lnSpc>
                <a:spcPct val="120000"/>
              </a:lnSpc>
            </a:pPr>
            <a:r>
              <a:rPr lang="en-US" altLang="zh-CN" sz="2200" b="0" dirty="0">
                <a:solidFill>
                  <a:srgbClr val="000000"/>
                </a:solidFill>
                <a:latin typeface="Lucida Console" panose="020B0609040504020204" pitchFamily="49" charset="0"/>
              </a:rPr>
              <a:t>     ……</a:t>
            </a:r>
          </a:p>
        </p:txBody>
      </p:sp>
      <p:sp>
        <p:nvSpPr>
          <p:cNvPr id="4" name="文本框 1"/>
          <p:cNvSpPr txBox="1"/>
          <p:nvPr/>
        </p:nvSpPr>
        <p:spPr>
          <a:xfrm>
            <a:off x="452120" y="317500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控制转移指令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2A5DD86-F8BA-4030-9E10-F3EA9895E531}"/>
              </a:ext>
            </a:extLst>
          </p:cNvPr>
          <p:cNvGrpSpPr/>
          <p:nvPr/>
        </p:nvGrpSpPr>
        <p:grpSpPr>
          <a:xfrm>
            <a:off x="5580112" y="4751512"/>
            <a:ext cx="2827883" cy="461665"/>
            <a:chOff x="5580112" y="4751512"/>
            <a:chExt cx="2827883" cy="461665"/>
          </a:xfrm>
        </p:grpSpPr>
        <p:sp>
          <p:nvSpPr>
            <p:cNvPr id="2" name="箭头: 下 1">
              <a:extLst>
                <a:ext uri="{FF2B5EF4-FFF2-40B4-BE49-F238E27FC236}">
                  <a16:creationId xmlns:a16="http://schemas.microsoft.com/office/drawing/2014/main" id="{4A250AE1-E084-4406-A205-907D6B6B3DE1}"/>
                </a:ext>
              </a:extLst>
            </p:cNvPr>
            <p:cNvSpPr/>
            <p:nvPr/>
          </p:nvSpPr>
          <p:spPr bwMode="auto">
            <a:xfrm rot="5400000">
              <a:off x="6174296" y="4208141"/>
              <a:ext cx="360040" cy="1548408"/>
            </a:xfrm>
            <a:prstGeom prst="downArrow">
              <a:avLst/>
            </a:prstGeom>
            <a:solidFill>
              <a:schemeClr val="bg1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stealth" w="lg" len="lg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43D3EB9E-E615-4C7B-B23E-D7FCABEDC76C}"/>
                </a:ext>
              </a:extLst>
            </p:cNvPr>
            <p:cNvSpPr txBox="1"/>
            <p:nvPr/>
          </p:nvSpPr>
          <p:spPr>
            <a:xfrm>
              <a:off x="7295190" y="4751512"/>
              <a:ext cx="111280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重要！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4134252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0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37" name="Rectangle 5"/>
          <p:cNvSpPr>
            <a:spLocks noChangeArrowheads="1"/>
          </p:cNvSpPr>
          <p:nvPr/>
        </p:nvSpPr>
        <p:spPr bwMode="auto">
          <a:xfrm>
            <a:off x="452120" y="1242540"/>
            <a:ext cx="5518150" cy="41725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8850" tIns="54425" rIns="108850" bIns="54425">
            <a:spAutoFit/>
          </a:bodyPr>
          <a:lstStyle/>
          <a:p>
            <a:pPr eaLnBrk="0" hangingPunct="0">
              <a:lnSpc>
                <a:spcPct val="120000"/>
              </a:lnSpc>
              <a:buClr>
                <a:srgbClr val="66FF33"/>
              </a:buClr>
              <a:buSzPts val="2400"/>
            </a:pPr>
            <a:r>
              <a:rPr lang="zh-CN" altLang="en-US" dirty="0">
                <a:solidFill>
                  <a:srgbClr val="FF0000"/>
                </a:solidFill>
                <a:latin typeface="+mn-lt"/>
              </a:rPr>
              <a:t>循环指令 </a:t>
            </a:r>
            <a:r>
              <a:rPr lang="en-US" altLang="zh-CN" dirty="0">
                <a:solidFill>
                  <a:srgbClr val="FF0000"/>
                </a:solidFill>
                <a:latin typeface="+mn-lt"/>
              </a:rPr>
              <a:t>LOOP</a:t>
            </a:r>
          </a:p>
          <a:p>
            <a:pPr eaLnBrk="0" hangingPunct="0">
              <a:spcBef>
                <a:spcPct val="0"/>
              </a:spcBef>
              <a:buClr>
                <a:srgbClr val="66FF33"/>
              </a:buClr>
              <a:buSzPts val="2400"/>
              <a:buFont typeface="Wingdings" panose="05000000000000000000" pitchFamily="2" charset="2"/>
              <a:buNone/>
            </a:pPr>
            <a:endParaRPr kumimoji="0" lang="en-US" altLang="zh-CN" b="0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pPr eaLnBrk="0" hangingPunct="0">
              <a:lnSpc>
                <a:spcPct val="150000"/>
              </a:lnSpc>
              <a:spcBef>
                <a:spcPct val="0"/>
              </a:spcBef>
            </a:pPr>
            <a:r>
              <a:rPr kumimoji="0" lang="en-US" altLang="zh-CN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     </a:t>
            </a:r>
            <a:r>
              <a:rPr kumimoji="0" lang="zh-CN" altLang="en-US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语句格式： </a:t>
            </a:r>
            <a:r>
              <a:rPr kumimoji="0" lang="en-US" altLang="zh-CN" b="0" dirty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LOOP  </a:t>
            </a:r>
            <a:r>
              <a:rPr kumimoji="0" lang="zh-CN" altLang="en-US" b="0" dirty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短标号</a:t>
            </a:r>
          </a:p>
          <a:p>
            <a:pPr eaLnBrk="0" hangingPunct="0">
              <a:lnSpc>
                <a:spcPct val="150000"/>
              </a:lnSpc>
              <a:spcBef>
                <a:spcPct val="0"/>
              </a:spcBef>
            </a:pPr>
            <a:r>
              <a:rPr kumimoji="0" lang="zh-CN" altLang="en-US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     执行过程：</a:t>
            </a:r>
            <a:endParaRPr kumimoji="0" lang="en-US" altLang="zh-CN" b="0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pPr eaLnBrk="0" hangingPunct="0">
              <a:lnSpc>
                <a:spcPct val="150000"/>
              </a:lnSpc>
              <a:spcBef>
                <a:spcPct val="0"/>
              </a:spcBef>
            </a:pPr>
            <a:r>
              <a:rPr kumimoji="0" lang="en-US" altLang="zh-CN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1. (CX)</a:t>
            </a:r>
            <a:r>
              <a:rPr kumimoji="0" lang="zh-CN" altLang="en-US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＝</a:t>
            </a:r>
            <a:r>
              <a:rPr kumimoji="0" lang="en-US" altLang="zh-CN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(CX)-1</a:t>
            </a:r>
            <a:r>
              <a:rPr kumimoji="0" lang="zh-CN" altLang="en-US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（不改变任何标志位）</a:t>
            </a:r>
          </a:p>
          <a:p>
            <a:pPr eaLnBrk="0" hangingPunct="0">
              <a:lnSpc>
                <a:spcPct val="150000"/>
              </a:lnSpc>
              <a:spcBef>
                <a:spcPct val="0"/>
              </a:spcBef>
            </a:pPr>
            <a:r>
              <a:rPr kumimoji="0" lang="en-US" altLang="zh-CN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2. </a:t>
            </a:r>
            <a:r>
              <a:rPr kumimoji="0" lang="zh-CN" altLang="en-US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如果</a:t>
            </a:r>
            <a:r>
              <a:rPr kumimoji="0" lang="en-US" altLang="zh-CN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(CX)</a:t>
            </a:r>
            <a:r>
              <a:rPr kumimoji="0" lang="zh-CN" altLang="en-US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≠</a:t>
            </a:r>
            <a:r>
              <a:rPr kumimoji="0" lang="en-US" altLang="zh-CN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0</a:t>
            </a:r>
            <a:r>
              <a:rPr kumimoji="0" lang="zh-CN" altLang="en-US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，转向“标号”所指向的指令</a:t>
            </a:r>
            <a:r>
              <a:rPr lang="zh-CN" altLang="en-US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；</a:t>
            </a:r>
            <a:r>
              <a:rPr kumimoji="0" lang="zh-CN" altLang="en-US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否则，终止循环，执行该指令下面的指令。 </a:t>
            </a:r>
          </a:p>
        </p:txBody>
      </p:sp>
      <p:grpSp>
        <p:nvGrpSpPr>
          <p:cNvPr id="248838" name="Group 6"/>
          <p:cNvGrpSpPr/>
          <p:nvPr/>
        </p:nvGrpSpPr>
        <p:grpSpPr bwMode="auto">
          <a:xfrm>
            <a:off x="6143625" y="1443003"/>
            <a:ext cx="2578100" cy="4378325"/>
            <a:chOff x="2736" y="1056"/>
            <a:chExt cx="1392" cy="2256"/>
          </a:xfrm>
        </p:grpSpPr>
        <p:sp>
          <p:nvSpPr>
            <p:cNvPr id="248839" name="Rectangle 7"/>
            <p:cNvSpPr>
              <a:spLocks noChangeArrowheads="1"/>
            </p:cNvSpPr>
            <p:nvPr/>
          </p:nvSpPr>
          <p:spPr bwMode="auto">
            <a:xfrm>
              <a:off x="2736" y="1296"/>
              <a:ext cx="1200" cy="192"/>
            </a:xfrm>
            <a:prstGeom prst="rect">
              <a:avLst/>
            </a:prstGeom>
            <a:noFill/>
            <a:ln w="28575">
              <a:solidFill>
                <a:srgbClr val="66FF33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260190" tIns="130096" rIns="260190" bIns="130096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kumimoji="0" lang="en-US" altLang="zh-CN" sz="21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CX←</a:t>
              </a:r>
              <a:r>
                <a:rPr kumimoji="0" lang="zh-CN" altLang="en-US" sz="21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循环次数</a:t>
              </a:r>
            </a:p>
          </p:txBody>
        </p:sp>
        <p:sp>
          <p:nvSpPr>
            <p:cNvPr id="248840" name="Rectangle 8"/>
            <p:cNvSpPr>
              <a:spLocks noChangeArrowheads="1"/>
            </p:cNvSpPr>
            <p:nvPr/>
          </p:nvSpPr>
          <p:spPr bwMode="auto">
            <a:xfrm>
              <a:off x="2976" y="1728"/>
              <a:ext cx="720" cy="192"/>
            </a:xfrm>
            <a:prstGeom prst="rect">
              <a:avLst/>
            </a:prstGeom>
            <a:noFill/>
            <a:ln w="28575">
              <a:solidFill>
                <a:srgbClr val="66FF33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260190" tIns="130096" rIns="260190" bIns="130096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kumimoji="0" lang="zh-CN" altLang="en-US" sz="21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循环体</a:t>
              </a:r>
            </a:p>
          </p:txBody>
        </p:sp>
        <p:sp>
          <p:nvSpPr>
            <p:cNvPr id="248841" name="Rectangle 9"/>
            <p:cNvSpPr>
              <a:spLocks noChangeArrowheads="1"/>
            </p:cNvSpPr>
            <p:nvPr/>
          </p:nvSpPr>
          <p:spPr bwMode="auto">
            <a:xfrm>
              <a:off x="2832" y="2112"/>
              <a:ext cx="1056" cy="240"/>
            </a:xfrm>
            <a:prstGeom prst="rect">
              <a:avLst/>
            </a:prstGeom>
            <a:noFill/>
            <a:ln w="28575">
              <a:solidFill>
                <a:srgbClr val="66FF33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260190" tIns="130096" rIns="260190" bIns="130096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kumimoji="0" lang="en-US" altLang="zh-CN" sz="2100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CX← CX-1</a:t>
              </a:r>
            </a:p>
          </p:txBody>
        </p:sp>
        <p:sp>
          <p:nvSpPr>
            <p:cNvPr id="248842" name="AutoShape 10"/>
            <p:cNvSpPr>
              <a:spLocks noChangeArrowheads="1"/>
            </p:cNvSpPr>
            <p:nvPr/>
          </p:nvSpPr>
          <p:spPr bwMode="auto">
            <a:xfrm>
              <a:off x="2832" y="2592"/>
              <a:ext cx="1056" cy="480"/>
            </a:xfrm>
            <a:prstGeom prst="diamond">
              <a:avLst/>
            </a:prstGeom>
            <a:noFill/>
            <a:ln w="28575">
              <a:solidFill>
                <a:srgbClr val="66FF33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260190" tIns="130096" rIns="260190" bIns="130096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kumimoji="0" lang="en-US" altLang="zh-CN" sz="21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CX=0</a:t>
              </a:r>
              <a:r>
                <a:rPr kumimoji="0" lang="zh-CN" altLang="en-US" sz="21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？</a:t>
              </a:r>
            </a:p>
          </p:txBody>
        </p:sp>
        <p:sp>
          <p:nvSpPr>
            <p:cNvPr id="248843" name="Line 11"/>
            <p:cNvSpPr>
              <a:spLocks noChangeShapeType="1"/>
            </p:cNvSpPr>
            <p:nvPr/>
          </p:nvSpPr>
          <p:spPr bwMode="auto">
            <a:xfrm>
              <a:off x="3360" y="1488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260190" tIns="130096" rIns="260190" bIns="130096" anchor="ctr"/>
            <a:lstStyle/>
            <a:p>
              <a:endParaRPr lang="zh-CN" altLang="en-US"/>
            </a:p>
          </p:txBody>
        </p:sp>
        <p:sp>
          <p:nvSpPr>
            <p:cNvPr id="248844" name="Line 12"/>
            <p:cNvSpPr>
              <a:spLocks noChangeShapeType="1"/>
            </p:cNvSpPr>
            <p:nvPr/>
          </p:nvSpPr>
          <p:spPr bwMode="auto">
            <a:xfrm>
              <a:off x="3360" y="1920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260190" tIns="130096" rIns="260190" bIns="130096" anchor="ctr"/>
            <a:lstStyle/>
            <a:p>
              <a:endParaRPr lang="zh-CN" altLang="en-US"/>
            </a:p>
          </p:txBody>
        </p:sp>
        <p:sp>
          <p:nvSpPr>
            <p:cNvPr id="248845" name="Line 13"/>
            <p:cNvSpPr>
              <a:spLocks noChangeShapeType="1"/>
            </p:cNvSpPr>
            <p:nvPr/>
          </p:nvSpPr>
          <p:spPr bwMode="auto">
            <a:xfrm>
              <a:off x="3360" y="2352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260190" tIns="130096" rIns="260190" bIns="130096" anchor="ctr"/>
            <a:lstStyle/>
            <a:p>
              <a:endParaRPr lang="zh-CN" altLang="en-US"/>
            </a:p>
          </p:txBody>
        </p:sp>
        <p:sp>
          <p:nvSpPr>
            <p:cNvPr id="248846" name="Line 14"/>
            <p:cNvSpPr>
              <a:spLocks noChangeShapeType="1"/>
            </p:cNvSpPr>
            <p:nvPr/>
          </p:nvSpPr>
          <p:spPr bwMode="auto">
            <a:xfrm>
              <a:off x="3888" y="2832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260190" tIns="130096" rIns="260190" bIns="130096" anchor="ctr"/>
            <a:lstStyle/>
            <a:p>
              <a:endParaRPr lang="zh-CN" altLang="en-US"/>
            </a:p>
          </p:txBody>
        </p:sp>
        <p:sp>
          <p:nvSpPr>
            <p:cNvPr id="248847" name="Line 15"/>
            <p:cNvSpPr>
              <a:spLocks noChangeShapeType="1"/>
            </p:cNvSpPr>
            <p:nvPr/>
          </p:nvSpPr>
          <p:spPr bwMode="auto">
            <a:xfrm flipV="1">
              <a:off x="4128" y="1584"/>
              <a:ext cx="0" cy="12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260190" tIns="130096" rIns="260190" bIns="130096" anchor="ctr"/>
            <a:lstStyle/>
            <a:p>
              <a:endParaRPr lang="zh-CN" altLang="en-US"/>
            </a:p>
          </p:txBody>
        </p:sp>
        <p:sp>
          <p:nvSpPr>
            <p:cNvPr id="248848" name="Line 16"/>
            <p:cNvSpPr>
              <a:spLocks noChangeShapeType="1"/>
            </p:cNvSpPr>
            <p:nvPr/>
          </p:nvSpPr>
          <p:spPr bwMode="auto">
            <a:xfrm flipH="1">
              <a:off x="3360" y="1584"/>
              <a:ext cx="7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260190" tIns="130096" rIns="260190" bIns="130096" anchor="ctr"/>
            <a:lstStyle/>
            <a:p>
              <a:endParaRPr lang="zh-CN" altLang="en-US"/>
            </a:p>
          </p:txBody>
        </p:sp>
        <p:sp>
          <p:nvSpPr>
            <p:cNvPr id="248849" name="Line 17"/>
            <p:cNvSpPr>
              <a:spLocks noChangeShapeType="1"/>
            </p:cNvSpPr>
            <p:nvPr/>
          </p:nvSpPr>
          <p:spPr bwMode="auto">
            <a:xfrm>
              <a:off x="3360" y="3072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260190" tIns="130096" rIns="260190" bIns="130096" anchor="ctr"/>
            <a:lstStyle/>
            <a:p>
              <a:endParaRPr lang="zh-CN" altLang="en-US"/>
            </a:p>
          </p:txBody>
        </p:sp>
        <p:sp>
          <p:nvSpPr>
            <p:cNvPr id="248850" name="Line 18"/>
            <p:cNvSpPr>
              <a:spLocks noChangeShapeType="1"/>
            </p:cNvSpPr>
            <p:nvPr/>
          </p:nvSpPr>
          <p:spPr bwMode="auto">
            <a:xfrm>
              <a:off x="3360" y="1056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260190" tIns="130096" rIns="260190" bIns="130096" anchor="ctr"/>
            <a:lstStyle/>
            <a:p>
              <a:endParaRPr lang="zh-CN" altLang="en-US"/>
            </a:p>
          </p:txBody>
        </p:sp>
        <p:sp>
          <p:nvSpPr>
            <p:cNvPr id="248851" name="Text Box 19"/>
            <p:cNvSpPr txBox="1">
              <a:spLocks noChangeArrowheads="1"/>
            </p:cNvSpPr>
            <p:nvPr/>
          </p:nvSpPr>
          <p:spPr bwMode="auto">
            <a:xfrm>
              <a:off x="3456" y="3072"/>
              <a:ext cx="2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260190" tIns="130096" rIns="260190" bIns="130096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kumimoji="0" lang="en-US" altLang="zh-CN" sz="21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</a:p>
          </p:txBody>
        </p:sp>
        <p:sp>
          <p:nvSpPr>
            <p:cNvPr id="248852" name="Text Box 20"/>
            <p:cNvSpPr txBox="1">
              <a:spLocks noChangeArrowheads="1"/>
            </p:cNvSpPr>
            <p:nvPr/>
          </p:nvSpPr>
          <p:spPr bwMode="auto">
            <a:xfrm>
              <a:off x="3840" y="2592"/>
              <a:ext cx="2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260190" tIns="130096" rIns="260190" bIns="130096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kumimoji="0" lang="en-US" altLang="zh-CN" sz="21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N</a:t>
              </a:r>
            </a:p>
          </p:txBody>
        </p:sp>
      </p:grpSp>
      <p:sp>
        <p:nvSpPr>
          <p:cNvPr id="20" name="文本框 1"/>
          <p:cNvSpPr txBox="1"/>
          <p:nvPr/>
        </p:nvSpPr>
        <p:spPr>
          <a:xfrm>
            <a:off x="452120" y="317500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控制转移指令</a:t>
            </a:r>
          </a:p>
        </p:txBody>
      </p:sp>
    </p:spTree>
    <p:extLst>
      <p:ext uri="{BB962C8B-B14F-4D97-AF65-F5344CB8AC3E}">
        <p14:creationId xmlns:p14="http://schemas.microsoft.com/office/powerpoint/2010/main" val="568369876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文本框 101377"/>
          <p:cNvSpPr txBox="1"/>
          <p:nvPr/>
        </p:nvSpPr>
        <p:spPr>
          <a:xfrm>
            <a:off x="1403648" y="1047750"/>
            <a:ext cx="6264696" cy="10402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just" eaLnBrk="0" hangingPunct="0">
              <a:lnSpc>
                <a:spcPct val="140000"/>
              </a:lnSpc>
            </a:pPr>
            <a:r>
              <a:rPr lang="zh-CN" altLang="en-US" sz="22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例：求首地址为 </a:t>
            </a:r>
            <a:r>
              <a:rPr lang="en-US" altLang="zh-CN" sz="22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ARRAY </a:t>
            </a:r>
            <a:r>
              <a:rPr lang="zh-CN" altLang="en-US" sz="22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的 </a:t>
            </a:r>
            <a:r>
              <a:rPr lang="en-US" altLang="zh-CN" sz="22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M </a:t>
            </a:r>
            <a:r>
              <a:rPr lang="zh-CN" altLang="en-US" sz="22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个字之和（不考虑溢出），结果存入 </a:t>
            </a:r>
            <a:r>
              <a:rPr lang="en-US" altLang="zh-CN" sz="22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TOTAL</a:t>
            </a:r>
            <a:r>
              <a:rPr lang="zh-CN" altLang="en-US" sz="22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中。</a:t>
            </a:r>
            <a:endParaRPr lang="en-US" altLang="zh-CN" sz="2200" b="0" i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01379" name="文本框 101378"/>
          <p:cNvSpPr txBox="1"/>
          <p:nvPr/>
        </p:nvSpPr>
        <p:spPr>
          <a:xfrm>
            <a:off x="791580" y="2276872"/>
            <a:ext cx="7652772" cy="373519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spAutoFit/>
          </a:bodyPr>
          <a:lstStyle/>
          <a:p>
            <a:pPr lvl="3" eaLnBrk="0" hangingPunct="0">
              <a:lnSpc>
                <a:spcPct val="150000"/>
              </a:lnSpc>
            </a:pPr>
            <a:r>
              <a:rPr lang="en-US" altLang="zh-CN" sz="2000" b="0" dirty="0">
                <a:solidFill>
                  <a:srgbClr val="000000"/>
                </a:solidFill>
                <a:latin typeface="Lucida Console" panose="020B0609040504020204" pitchFamily="49" charset="0"/>
              </a:rPr>
              <a:t>MOV   CX, M		;</a:t>
            </a:r>
            <a:r>
              <a:rPr lang="zh-CN" altLang="en-US" sz="2000" b="0" dirty="0">
                <a:solidFill>
                  <a:srgbClr val="000000"/>
                </a:solidFill>
                <a:latin typeface="Lucida Console" panose="020B0609040504020204" pitchFamily="49" charset="0"/>
              </a:rPr>
              <a:t>循环次数</a:t>
            </a:r>
            <a:endParaRPr lang="en-US" altLang="zh-CN" sz="2000" b="0" dirty="0"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lvl="3" eaLnBrk="0" hangingPunct="0">
              <a:lnSpc>
                <a:spcPct val="150000"/>
              </a:lnSpc>
            </a:pPr>
            <a:r>
              <a:rPr lang="en-US" altLang="zh-CN" sz="2000" b="0" dirty="0">
                <a:solidFill>
                  <a:srgbClr val="000000"/>
                </a:solidFill>
                <a:latin typeface="Lucida Console" panose="020B0609040504020204" pitchFamily="49" charset="0"/>
              </a:rPr>
              <a:t>MOV   AX, 0		    </a:t>
            </a:r>
          </a:p>
          <a:p>
            <a:pPr lvl="3" eaLnBrk="0" hangingPunct="0">
              <a:lnSpc>
                <a:spcPct val="150000"/>
              </a:lnSpc>
            </a:pPr>
            <a:r>
              <a:rPr lang="en-US" altLang="zh-CN" sz="2000" b="0" dirty="0">
                <a:solidFill>
                  <a:srgbClr val="000000"/>
                </a:solidFill>
                <a:latin typeface="Lucida Console" panose="020B0609040504020204" pitchFamily="49" charset="0"/>
              </a:rPr>
              <a:t>MOV   SI, 0</a:t>
            </a:r>
          </a:p>
          <a:p>
            <a:pPr eaLnBrk="0" hangingPunct="0">
              <a:lnSpc>
                <a:spcPct val="150000"/>
              </a:lnSpc>
            </a:pPr>
            <a:r>
              <a:rPr lang="en-US" altLang="zh-CN" sz="2000" b="0" dirty="0">
                <a:solidFill>
                  <a:srgbClr val="000000"/>
                </a:solidFill>
                <a:latin typeface="Lucida Console" panose="020B0609040504020204" pitchFamily="49" charset="0"/>
              </a:rPr>
              <a:t>AGAIN:  </a:t>
            </a:r>
          </a:p>
          <a:p>
            <a:pPr lvl="3" eaLnBrk="0" hangingPunct="0">
              <a:lnSpc>
                <a:spcPct val="150000"/>
              </a:lnSpc>
            </a:pPr>
            <a:r>
              <a:rPr lang="en-US" altLang="zh-CN" sz="2000" b="0" dirty="0">
                <a:solidFill>
                  <a:srgbClr val="000000"/>
                </a:solidFill>
                <a:latin typeface="Lucida Console" panose="020B0609040504020204" pitchFamily="49" charset="0"/>
              </a:rPr>
              <a:t>ADD   AX, ARRAY[SI]</a:t>
            </a:r>
          </a:p>
          <a:p>
            <a:pPr lvl="3" eaLnBrk="0" hangingPunct="0">
              <a:lnSpc>
                <a:spcPct val="150000"/>
              </a:lnSpc>
            </a:pPr>
            <a:r>
              <a:rPr lang="en-US" altLang="zh-CN" sz="2000" b="0" dirty="0">
                <a:solidFill>
                  <a:srgbClr val="000000"/>
                </a:solidFill>
                <a:latin typeface="Lucida Console" panose="020B0609040504020204" pitchFamily="49" charset="0"/>
              </a:rPr>
              <a:t>ADD   SI, 2</a:t>
            </a:r>
          </a:p>
          <a:p>
            <a:pPr lvl="3" eaLnBrk="0" hangingPunct="0">
              <a:lnSpc>
                <a:spcPct val="150000"/>
              </a:lnSpc>
            </a:pPr>
            <a:r>
              <a:rPr lang="en-US" altLang="zh-CN" sz="2000" b="0" dirty="0">
                <a:solidFill>
                  <a:srgbClr val="000000"/>
                </a:solidFill>
                <a:latin typeface="Lucida Console" panose="020B0609040504020204" pitchFamily="49" charset="0"/>
              </a:rPr>
              <a:t>LOOP  AGAIN</a:t>
            </a:r>
          </a:p>
          <a:p>
            <a:pPr lvl="3" eaLnBrk="0" hangingPunct="0">
              <a:lnSpc>
                <a:spcPct val="150000"/>
              </a:lnSpc>
            </a:pPr>
            <a:r>
              <a:rPr lang="en-US" altLang="zh-CN" sz="2000" b="0" dirty="0">
                <a:solidFill>
                  <a:srgbClr val="000000"/>
                </a:solidFill>
                <a:latin typeface="Lucida Console" panose="020B0609040504020204" pitchFamily="49" charset="0"/>
              </a:rPr>
              <a:t>MOV   TOTAL, AX</a:t>
            </a:r>
          </a:p>
        </p:txBody>
      </p:sp>
      <p:sp>
        <p:nvSpPr>
          <p:cNvPr id="5" name="文本框 1"/>
          <p:cNvSpPr txBox="1"/>
          <p:nvPr/>
        </p:nvSpPr>
        <p:spPr>
          <a:xfrm>
            <a:off x="452120" y="317500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控制转移指令</a:t>
            </a:r>
          </a:p>
        </p:txBody>
      </p:sp>
    </p:spTree>
    <p:extLst>
      <p:ext uri="{BB962C8B-B14F-4D97-AF65-F5344CB8AC3E}">
        <p14:creationId xmlns:p14="http://schemas.microsoft.com/office/powerpoint/2010/main" val="16669141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13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13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7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60" name="Rectangle 4"/>
          <p:cNvSpPr>
            <a:spLocks noChangeArrowheads="1"/>
          </p:cNvSpPr>
          <p:nvPr/>
        </p:nvSpPr>
        <p:spPr bwMode="auto">
          <a:xfrm>
            <a:off x="427339" y="1339565"/>
            <a:ext cx="5433045" cy="4378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08850" tIns="54425" rIns="108850" bIns="54425">
            <a:spAutoFit/>
          </a:bodyPr>
          <a:lstStyle/>
          <a:p>
            <a:pPr eaLnBrk="0" hangingPunct="0">
              <a:lnSpc>
                <a:spcPct val="120000"/>
              </a:lnSpc>
              <a:buClr>
                <a:srgbClr val="66FF33"/>
              </a:buClr>
              <a:buSzPts val="2400"/>
            </a:pPr>
            <a:r>
              <a:rPr lang="zh-CN" altLang="en-US" dirty="0">
                <a:solidFill>
                  <a:srgbClr val="FF0000"/>
                </a:solidFill>
                <a:latin typeface="+mn-lt"/>
              </a:rPr>
              <a:t>相等</a:t>
            </a:r>
            <a:r>
              <a:rPr lang="en-US" altLang="zh-CN" dirty="0">
                <a:solidFill>
                  <a:srgbClr val="FF0000"/>
                </a:solidFill>
                <a:latin typeface="+mn-lt"/>
              </a:rPr>
              <a:t>/</a:t>
            </a:r>
            <a:r>
              <a:rPr lang="zh-CN" altLang="en-US" dirty="0">
                <a:solidFill>
                  <a:srgbClr val="FF0000"/>
                </a:solidFill>
                <a:latin typeface="+mn-lt"/>
              </a:rPr>
              <a:t>为零循环指令  </a:t>
            </a:r>
            <a:r>
              <a:rPr lang="en-US" altLang="zh-CN" dirty="0">
                <a:solidFill>
                  <a:srgbClr val="FF0000"/>
                </a:solidFill>
                <a:latin typeface="+mn-lt"/>
              </a:rPr>
              <a:t>LOOPE/LOOPZ</a:t>
            </a:r>
          </a:p>
          <a:p>
            <a:pPr algn="just" eaLnBrk="0" hangingPunct="0">
              <a:spcBef>
                <a:spcPct val="0"/>
              </a:spcBef>
              <a:buClr>
                <a:srgbClr val="66FF33"/>
              </a:buClr>
              <a:buSzPts val="2400"/>
              <a:buFont typeface="Wingdings" panose="05000000000000000000" pitchFamily="2" charset="2"/>
              <a:buNone/>
            </a:pPr>
            <a:endParaRPr kumimoji="0" lang="en-US" altLang="zh-CN" b="0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pPr algn="just" eaLnBrk="0" hangingPunct="0">
              <a:spcBef>
                <a:spcPct val="0"/>
              </a:spcBef>
            </a:pPr>
            <a:r>
              <a:rPr kumimoji="0" lang="en-US" altLang="zh-CN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   </a:t>
            </a:r>
            <a:r>
              <a:rPr kumimoji="0" lang="zh-CN" altLang="en-US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语句格式： </a:t>
            </a:r>
            <a:r>
              <a:rPr kumimoji="0" lang="en-US" altLang="zh-CN" b="0" dirty="0">
                <a:solidFill>
                  <a:srgbClr val="CC0000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LOOPE/ LOOPZ  </a:t>
            </a:r>
            <a:r>
              <a:rPr kumimoji="0" lang="zh-CN" altLang="en-US" b="0" dirty="0">
                <a:solidFill>
                  <a:srgbClr val="CC0000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短标号</a:t>
            </a:r>
          </a:p>
          <a:p>
            <a:pPr eaLnBrk="0" hangingPunct="0">
              <a:spcBef>
                <a:spcPct val="0"/>
              </a:spcBef>
            </a:pPr>
            <a:r>
              <a:rPr kumimoji="0" lang="zh-CN" altLang="en-US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   </a:t>
            </a:r>
          </a:p>
          <a:p>
            <a:pPr algn="just" eaLnBrk="0" hangingPunct="0">
              <a:lnSpc>
                <a:spcPct val="150000"/>
              </a:lnSpc>
              <a:spcBef>
                <a:spcPct val="0"/>
              </a:spcBef>
            </a:pPr>
            <a:r>
              <a:rPr kumimoji="0" lang="zh-CN" altLang="en-US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  执行过程：</a:t>
            </a:r>
          </a:p>
          <a:p>
            <a:pPr algn="just" eaLnBrk="0" hangingPunct="0">
              <a:lnSpc>
                <a:spcPct val="150000"/>
              </a:lnSpc>
              <a:spcBef>
                <a:spcPct val="0"/>
              </a:spcBef>
            </a:pPr>
            <a:r>
              <a:rPr kumimoji="0" lang="zh-CN" altLang="en-US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  </a:t>
            </a:r>
            <a:r>
              <a:rPr kumimoji="0" lang="en-US" altLang="zh-CN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1</a:t>
            </a:r>
            <a:r>
              <a:rPr lang="en-US" altLang="zh-CN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. (</a:t>
            </a:r>
            <a:r>
              <a:rPr kumimoji="0" lang="en-US" altLang="zh-CN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CX)</a:t>
            </a:r>
            <a:r>
              <a:rPr kumimoji="0" lang="zh-CN" altLang="en-US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＝</a:t>
            </a:r>
            <a:r>
              <a:rPr kumimoji="0" lang="en-US" altLang="zh-CN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(CX)-1</a:t>
            </a:r>
            <a:r>
              <a:rPr kumimoji="0" lang="zh-CN" altLang="en-US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（不改变任何标志位）</a:t>
            </a:r>
          </a:p>
          <a:p>
            <a:pPr algn="just" eaLnBrk="0" hangingPunct="0">
              <a:lnSpc>
                <a:spcPct val="150000"/>
              </a:lnSpc>
              <a:spcBef>
                <a:spcPct val="0"/>
              </a:spcBef>
            </a:pPr>
            <a:r>
              <a:rPr kumimoji="0" lang="zh-CN" altLang="en-US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  </a:t>
            </a:r>
            <a:r>
              <a:rPr kumimoji="0" lang="en-US" altLang="zh-CN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2. </a:t>
            </a:r>
            <a:r>
              <a:rPr kumimoji="0" lang="zh-CN" altLang="en-US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如果</a:t>
            </a:r>
            <a:r>
              <a:rPr kumimoji="0" lang="en-US" altLang="zh-CN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CX≠0</a:t>
            </a:r>
            <a:r>
              <a:rPr kumimoji="0" lang="zh-CN" altLang="en-US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且</a:t>
            </a:r>
            <a:r>
              <a:rPr kumimoji="0" lang="en-US" altLang="zh-CN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ZF=1</a:t>
            </a:r>
            <a:r>
              <a:rPr kumimoji="0" lang="zh-CN" altLang="en-US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，则程序转到循环体的第一条指令；否则，程序将执行该循环指令下面的指令。 </a:t>
            </a:r>
          </a:p>
        </p:txBody>
      </p:sp>
      <p:grpSp>
        <p:nvGrpSpPr>
          <p:cNvPr id="249861" name="Group 5"/>
          <p:cNvGrpSpPr/>
          <p:nvPr/>
        </p:nvGrpSpPr>
        <p:grpSpPr bwMode="auto">
          <a:xfrm>
            <a:off x="5904148" y="1347130"/>
            <a:ext cx="2933700" cy="4376737"/>
            <a:chOff x="2688" y="1056"/>
            <a:chExt cx="1584" cy="2256"/>
          </a:xfrm>
        </p:grpSpPr>
        <p:sp>
          <p:nvSpPr>
            <p:cNvPr id="249862" name="Rectangle 6"/>
            <p:cNvSpPr>
              <a:spLocks noChangeArrowheads="1"/>
            </p:cNvSpPr>
            <p:nvPr/>
          </p:nvSpPr>
          <p:spPr bwMode="auto">
            <a:xfrm>
              <a:off x="2736" y="1296"/>
              <a:ext cx="1200" cy="192"/>
            </a:xfrm>
            <a:prstGeom prst="rect">
              <a:avLst/>
            </a:prstGeom>
            <a:noFill/>
            <a:ln w="28575">
              <a:solidFill>
                <a:srgbClr val="66FF33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260190" tIns="130096" rIns="260190" bIns="130096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kumimoji="0" lang="en-US" altLang="zh-CN" sz="21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CX←</a:t>
              </a:r>
              <a:r>
                <a:rPr kumimoji="0" lang="zh-CN" altLang="en-US" sz="21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循环次数</a:t>
              </a:r>
            </a:p>
          </p:txBody>
        </p:sp>
        <p:sp>
          <p:nvSpPr>
            <p:cNvPr id="249863" name="Rectangle 7"/>
            <p:cNvSpPr>
              <a:spLocks noChangeArrowheads="1"/>
            </p:cNvSpPr>
            <p:nvPr/>
          </p:nvSpPr>
          <p:spPr bwMode="auto">
            <a:xfrm>
              <a:off x="2976" y="1728"/>
              <a:ext cx="720" cy="192"/>
            </a:xfrm>
            <a:prstGeom prst="rect">
              <a:avLst/>
            </a:prstGeom>
            <a:noFill/>
            <a:ln w="28575">
              <a:solidFill>
                <a:srgbClr val="66FF33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260190" tIns="130096" rIns="260190" bIns="130096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kumimoji="0" lang="zh-CN" altLang="en-US" sz="21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循环体</a:t>
              </a:r>
            </a:p>
          </p:txBody>
        </p:sp>
        <p:sp>
          <p:nvSpPr>
            <p:cNvPr id="249864" name="Rectangle 8"/>
            <p:cNvSpPr>
              <a:spLocks noChangeArrowheads="1"/>
            </p:cNvSpPr>
            <p:nvPr/>
          </p:nvSpPr>
          <p:spPr bwMode="auto">
            <a:xfrm>
              <a:off x="2832" y="2112"/>
              <a:ext cx="1056" cy="240"/>
            </a:xfrm>
            <a:prstGeom prst="rect">
              <a:avLst/>
            </a:prstGeom>
            <a:noFill/>
            <a:ln w="28575">
              <a:solidFill>
                <a:srgbClr val="66FF33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260190" tIns="130096" rIns="260190" bIns="130096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kumimoji="0" lang="en-US" altLang="zh-CN" sz="21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CX← CX-1</a:t>
              </a:r>
            </a:p>
          </p:txBody>
        </p:sp>
        <p:sp>
          <p:nvSpPr>
            <p:cNvPr id="249865" name="AutoShape 9"/>
            <p:cNvSpPr>
              <a:spLocks noChangeArrowheads="1"/>
            </p:cNvSpPr>
            <p:nvPr/>
          </p:nvSpPr>
          <p:spPr bwMode="auto">
            <a:xfrm>
              <a:off x="2688" y="2592"/>
              <a:ext cx="1344" cy="480"/>
            </a:xfrm>
            <a:prstGeom prst="diamond">
              <a:avLst/>
            </a:prstGeom>
            <a:noFill/>
            <a:ln w="28575">
              <a:solidFill>
                <a:srgbClr val="66FF33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260190" tIns="130096" rIns="260190" bIns="130096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kumimoji="0" lang="en-US" altLang="zh-CN" sz="21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CX&lt;&gt;0</a:t>
              </a:r>
              <a:r>
                <a:rPr kumimoji="0" lang="zh-CN" altLang="en-US" sz="21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且</a:t>
              </a:r>
              <a:r>
                <a:rPr kumimoji="0" lang="en-US" altLang="zh-CN" sz="21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ZF=1</a:t>
              </a:r>
              <a:r>
                <a:rPr kumimoji="0" lang="zh-CN" altLang="en-US" sz="21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？</a:t>
              </a:r>
            </a:p>
          </p:txBody>
        </p:sp>
        <p:sp>
          <p:nvSpPr>
            <p:cNvPr id="249866" name="Line 10"/>
            <p:cNvSpPr>
              <a:spLocks noChangeShapeType="1"/>
            </p:cNvSpPr>
            <p:nvPr/>
          </p:nvSpPr>
          <p:spPr bwMode="auto">
            <a:xfrm>
              <a:off x="3360" y="1488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260190" tIns="130096" rIns="260190" bIns="130096" anchor="ctr"/>
            <a:lstStyle/>
            <a:p>
              <a:endParaRPr lang="zh-CN" altLang="en-US"/>
            </a:p>
          </p:txBody>
        </p:sp>
        <p:sp>
          <p:nvSpPr>
            <p:cNvPr id="249867" name="Line 11"/>
            <p:cNvSpPr>
              <a:spLocks noChangeShapeType="1"/>
            </p:cNvSpPr>
            <p:nvPr/>
          </p:nvSpPr>
          <p:spPr bwMode="auto">
            <a:xfrm>
              <a:off x="3360" y="1920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260190" tIns="130096" rIns="260190" bIns="130096" anchor="ctr"/>
            <a:lstStyle/>
            <a:p>
              <a:endParaRPr lang="zh-CN" altLang="en-US"/>
            </a:p>
          </p:txBody>
        </p:sp>
        <p:sp>
          <p:nvSpPr>
            <p:cNvPr id="249868" name="Line 12"/>
            <p:cNvSpPr>
              <a:spLocks noChangeShapeType="1"/>
            </p:cNvSpPr>
            <p:nvPr/>
          </p:nvSpPr>
          <p:spPr bwMode="auto">
            <a:xfrm>
              <a:off x="3360" y="2352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260190" tIns="130096" rIns="260190" bIns="130096" anchor="ctr"/>
            <a:lstStyle/>
            <a:p>
              <a:endParaRPr lang="zh-CN" altLang="en-US"/>
            </a:p>
          </p:txBody>
        </p:sp>
        <p:sp>
          <p:nvSpPr>
            <p:cNvPr id="249869" name="Line 13"/>
            <p:cNvSpPr>
              <a:spLocks noChangeShapeType="1"/>
            </p:cNvSpPr>
            <p:nvPr/>
          </p:nvSpPr>
          <p:spPr bwMode="auto">
            <a:xfrm>
              <a:off x="4080" y="2832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260190" tIns="130096" rIns="260190" bIns="130096" anchor="ctr"/>
            <a:lstStyle/>
            <a:p>
              <a:endParaRPr lang="zh-CN" altLang="en-US"/>
            </a:p>
          </p:txBody>
        </p:sp>
        <p:sp>
          <p:nvSpPr>
            <p:cNvPr id="249870" name="Line 14"/>
            <p:cNvSpPr>
              <a:spLocks noChangeShapeType="1"/>
            </p:cNvSpPr>
            <p:nvPr/>
          </p:nvSpPr>
          <p:spPr bwMode="auto">
            <a:xfrm flipV="1">
              <a:off x="4224" y="1584"/>
              <a:ext cx="0" cy="12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260190" tIns="130096" rIns="260190" bIns="130096" anchor="ctr"/>
            <a:lstStyle/>
            <a:p>
              <a:endParaRPr lang="zh-CN" altLang="en-US"/>
            </a:p>
          </p:txBody>
        </p:sp>
        <p:sp>
          <p:nvSpPr>
            <p:cNvPr id="249871" name="Line 15"/>
            <p:cNvSpPr>
              <a:spLocks noChangeShapeType="1"/>
            </p:cNvSpPr>
            <p:nvPr/>
          </p:nvSpPr>
          <p:spPr bwMode="auto">
            <a:xfrm flipH="1">
              <a:off x="3360" y="1584"/>
              <a:ext cx="86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260190" tIns="130096" rIns="260190" bIns="130096" anchor="ctr"/>
            <a:lstStyle/>
            <a:p>
              <a:endParaRPr lang="zh-CN" altLang="en-US"/>
            </a:p>
          </p:txBody>
        </p:sp>
        <p:sp>
          <p:nvSpPr>
            <p:cNvPr id="249872" name="Line 16"/>
            <p:cNvSpPr>
              <a:spLocks noChangeShapeType="1"/>
            </p:cNvSpPr>
            <p:nvPr/>
          </p:nvSpPr>
          <p:spPr bwMode="auto">
            <a:xfrm>
              <a:off x="3360" y="3072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260190" tIns="130096" rIns="260190" bIns="130096" anchor="ctr"/>
            <a:lstStyle/>
            <a:p>
              <a:endParaRPr lang="zh-CN" altLang="en-US"/>
            </a:p>
          </p:txBody>
        </p:sp>
        <p:sp>
          <p:nvSpPr>
            <p:cNvPr id="249873" name="Line 17"/>
            <p:cNvSpPr>
              <a:spLocks noChangeShapeType="1"/>
            </p:cNvSpPr>
            <p:nvPr/>
          </p:nvSpPr>
          <p:spPr bwMode="auto">
            <a:xfrm>
              <a:off x="3360" y="1056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260190" tIns="130096" rIns="260190" bIns="130096" anchor="ctr"/>
            <a:lstStyle/>
            <a:p>
              <a:endParaRPr lang="zh-CN" altLang="en-US"/>
            </a:p>
          </p:txBody>
        </p:sp>
        <p:sp>
          <p:nvSpPr>
            <p:cNvPr id="249874" name="Text Box 18"/>
            <p:cNvSpPr txBox="1">
              <a:spLocks noChangeArrowheads="1"/>
            </p:cNvSpPr>
            <p:nvPr/>
          </p:nvSpPr>
          <p:spPr bwMode="auto">
            <a:xfrm>
              <a:off x="3456" y="3072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260190" tIns="130096" rIns="260190" bIns="130096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kumimoji="0" lang="en-US" altLang="zh-CN" sz="21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No</a:t>
              </a:r>
            </a:p>
          </p:txBody>
        </p:sp>
        <p:sp>
          <p:nvSpPr>
            <p:cNvPr id="249875" name="Text Box 19"/>
            <p:cNvSpPr txBox="1">
              <a:spLocks noChangeArrowheads="1"/>
            </p:cNvSpPr>
            <p:nvPr/>
          </p:nvSpPr>
          <p:spPr bwMode="auto">
            <a:xfrm>
              <a:off x="3840" y="2592"/>
              <a:ext cx="43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260190" tIns="130096" rIns="260190" bIns="130096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kumimoji="0" lang="en-US" altLang="zh-CN" sz="21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Yes</a:t>
              </a:r>
            </a:p>
          </p:txBody>
        </p:sp>
      </p:grpSp>
      <p:sp>
        <p:nvSpPr>
          <p:cNvPr id="20" name="文本框 1"/>
          <p:cNvSpPr txBox="1"/>
          <p:nvPr/>
        </p:nvSpPr>
        <p:spPr>
          <a:xfrm>
            <a:off x="452120" y="317500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控制转移指令</a:t>
            </a:r>
          </a:p>
        </p:txBody>
      </p:sp>
    </p:spTree>
    <p:extLst>
      <p:ext uri="{BB962C8B-B14F-4D97-AF65-F5344CB8AC3E}">
        <p14:creationId xmlns:p14="http://schemas.microsoft.com/office/powerpoint/2010/main" val="4210263558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2"/>
          <p:cNvSpPr>
            <a:spLocks noChangeArrowheads="1"/>
          </p:cNvSpPr>
          <p:nvPr/>
        </p:nvSpPr>
        <p:spPr bwMode="auto">
          <a:xfrm>
            <a:off x="414833" y="1929185"/>
            <a:ext cx="5523096" cy="35657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08850" tIns="54425" rIns="108850" bIns="54425">
            <a:spAutoFit/>
          </a:bodyPr>
          <a:lstStyle/>
          <a:p>
            <a:pPr algn="just" eaLnBrk="0" hangingPunct="0">
              <a:spcBef>
                <a:spcPct val="0"/>
              </a:spcBef>
              <a:buClr>
                <a:srgbClr val="66FF33"/>
              </a:buClr>
              <a:buSzPts val="2400"/>
              <a:buFont typeface="Wingdings" panose="05000000000000000000" pitchFamily="2" charset="2"/>
              <a:buNone/>
            </a:pPr>
            <a:r>
              <a:rPr kumimoji="0" lang="zh-CN" altLang="en-US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语句格式：</a:t>
            </a:r>
            <a:r>
              <a:rPr kumimoji="0" lang="en-US" altLang="zh-CN" b="0" dirty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LOOPNE/LOOPNZ  </a:t>
            </a:r>
            <a:r>
              <a:rPr kumimoji="0" lang="zh-CN" altLang="en-US" b="0" dirty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短标号</a:t>
            </a:r>
          </a:p>
          <a:p>
            <a:pPr algn="just" eaLnBrk="0" hangingPunct="0">
              <a:spcBef>
                <a:spcPct val="0"/>
              </a:spcBef>
            </a:pPr>
            <a:endParaRPr kumimoji="0" lang="zh-CN" altLang="en-US" b="0" dirty="0">
              <a:solidFill>
                <a:srgbClr val="CC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pPr algn="just" eaLnBrk="0" hangingPunct="0">
              <a:lnSpc>
                <a:spcPct val="150000"/>
              </a:lnSpc>
              <a:spcBef>
                <a:spcPct val="0"/>
              </a:spcBef>
            </a:pPr>
            <a:r>
              <a:rPr kumimoji="0" lang="zh-CN" altLang="en-US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执行过程：</a:t>
            </a:r>
          </a:p>
          <a:p>
            <a:pPr algn="just" eaLnBrk="0" hangingPunct="0">
              <a:lnSpc>
                <a:spcPct val="150000"/>
              </a:lnSpc>
              <a:spcBef>
                <a:spcPct val="0"/>
              </a:spcBef>
            </a:pPr>
            <a:r>
              <a:rPr kumimoji="0" lang="zh-CN" altLang="en-US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  </a:t>
            </a:r>
            <a:r>
              <a:rPr kumimoji="0" lang="en-US" altLang="zh-CN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1</a:t>
            </a:r>
            <a:r>
              <a:rPr lang="en-US" altLang="zh-CN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. (</a:t>
            </a:r>
            <a:r>
              <a:rPr kumimoji="0" lang="en-US" altLang="zh-CN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CX)</a:t>
            </a:r>
            <a:r>
              <a:rPr kumimoji="0" lang="zh-CN" altLang="en-US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＝</a:t>
            </a:r>
            <a:r>
              <a:rPr kumimoji="0" lang="en-US" altLang="zh-CN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(CX)-1</a:t>
            </a:r>
            <a:r>
              <a:rPr kumimoji="0" lang="zh-CN" altLang="en-US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（不改变任何标志位）</a:t>
            </a:r>
          </a:p>
          <a:p>
            <a:pPr algn="just" eaLnBrk="0" hangingPunct="0">
              <a:lnSpc>
                <a:spcPct val="150000"/>
              </a:lnSpc>
              <a:spcBef>
                <a:spcPct val="0"/>
              </a:spcBef>
            </a:pPr>
            <a:r>
              <a:rPr kumimoji="0" lang="zh-CN" altLang="en-US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  </a:t>
            </a:r>
            <a:r>
              <a:rPr kumimoji="0" lang="en-US" altLang="zh-CN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2. </a:t>
            </a:r>
            <a:r>
              <a:rPr kumimoji="0" lang="zh-CN" altLang="en-US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如果</a:t>
            </a:r>
            <a:r>
              <a:rPr kumimoji="0" lang="en-US" altLang="zh-CN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CX≠0</a:t>
            </a:r>
            <a:r>
              <a:rPr kumimoji="0" lang="zh-CN" altLang="en-US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且</a:t>
            </a:r>
            <a:r>
              <a:rPr kumimoji="0" lang="en-US" altLang="zh-CN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ZF=0</a:t>
            </a:r>
            <a:r>
              <a:rPr kumimoji="0" lang="zh-CN" altLang="en-US" b="0" dirty="0">
                <a:latin typeface="华文宋体" panose="02010600040101010101" pitchFamily="2" charset="-122"/>
                <a:ea typeface="华文宋体" panose="02010600040101010101" pitchFamily="2" charset="-122"/>
              </a:rPr>
              <a:t>，则程序转到循环体的第一条指令；否则，程序将执行该循环指令下面的指令。 </a:t>
            </a:r>
          </a:p>
        </p:txBody>
      </p:sp>
      <p:grpSp>
        <p:nvGrpSpPr>
          <p:cNvPr id="251907" name="Group 3"/>
          <p:cNvGrpSpPr/>
          <p:nvPr/>
        </p:nvGrpSpPr>
        <p:grpSpPr bwMode="auto">
          <a:xfrm>
            <a:off x="6138800" y="1808820"/>
            <a:ext cx="2933700" cy="4376737"/>
            <a:chOff x="2688" y="1056"/>
            <a:chExt cx="1584" cy="2256"/>
          </a:xfrm>
        </p:grpSpPr>
        <p:sp>
          <p:nvSpPr>
            <p:cNvPr id="251908" name="Rectangle 4"/>
            <p:cNvSpPr>
              <a:spLocks noChangeArrowheads="1"/>
            </p:cNvSpPr>
            <p:nvPr/>
          </p:nvSpPr>
          <p:spPr bwMode="auto">
            <a:xfrm>
              <a:off x="2736" y="1296"/>
              <a:ext cx="1200" cy="192"/>
            </a:xfrm>
            <a:prstGeom prst="rect">
              <a:avLst/>
            </a:prstGeom>
            <a:noFill/>
            <a:ln w="28575">
              <a:solidFill>
                <a:srgbClr val="008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260190" tIns="130096" rIns="260190" bIns="130096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kumimoji="0" lang="en-US" altLang="zh-CN" sz="21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CX←</a:t>
              </a:r>
              <a:r>
                <a:rPr kumimoji="0" lang="zh-CN" altLang="en-US" sz="21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循环次数</a:t>
              </a:r>
            </a:p>
          </p:txBody>
        </p:sp>
        <p:sp>
          <p:nvSpPr>
            <p:cNvPr id="251909" name="Rectangle 5"/>
            <p:cNvSpPr>
              <a:spLocks noChangeArrowheads="1"/>
            </p:cNvSpPr>
            <p:nvPr/>
          </p:nvSpPr>
          <p:spPr bwMode="auto">
            <a:xfrm>
              <a:off x="2976" y="1728"/>
              <a:ext cx="720" cy="192"/>
            </a:xfrm>
            <a:prstGeom prst="rect">
              <a:avLst/>
            </a:prstGeom>
            <a:noFill/>
            <a:ln w="28575">
              <a:solidFill>
                <a:srgbClr val="008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260190" tIns="130096" rIns="260190" bIns="130096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kumimoji="0" lang="zh-CN" altLang="en-US" sz="21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循环体</a:t>
              </a:r>
            </a:p>
          </p:txBody>
        </p:sp>
        <p:sp>
          <p:nvSpPr>
            <p:cNvPr id="251910" name="Rectangle 6"/>
            <p:cNvSpPr>
              <a:spLocks noChangeArrowheads="1"/>
            </p:cNvSpPr>
            <p:nvPr/>
          </p:nvSpPr>
          <p:spPr bwMode="auto">
            <a:xfrm>
              <a:off x="2832" y="2112"/>
              <a:ext cx="1056" cy="240"/>
            </a:xfrm>
            <a:prstGeom prst="rect">
              <a:avLst/>
            </a:prstGeom>
            <a:noFill/>
            <a:ln w="28575">
              <a:solidFill>
                <a:srgbClr val="008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260190" tIns="130096" rIns="260190" bIns="130096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kumimoji="0" lang="en-US" altLang="zh-CN" sz="21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CX← CX-1</a:t>
              </a:r>
            </a:p>
          </p:txBody>
        </p:sp>
        <p:sp>
          <p:nvSpPr>
            <p:cNvPr id="251911" name="AutoShape 7"/>
            <p:cNvSpPr>
              <a:spLocks noChangeArrowheads="1"/>
            </p:cNvSpPr>
            <p:nvPr/>
          </p:nvSpPr>
          <p:spPr bwMode="auto">
            <a:xfrm>
              <a:off x="2688" y="2592"/>
              <a:ext cx="1344" cy="480"/>
            </a:xfrm>
            <a:prstGeom prst="diamond">
              <a:avLst/>
            </a:prstGeom>
            <a:noFill/>
            <a:ln w="28575">
              <a:solidFill>
                <a:srgbClr val="008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260190" tIns="130096" rIns="260190" bIns="130096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kumimoji="0" lang="en-US" altLang="zh-CN" sz="21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CX&lt;&gt;0</a:t>
              </a:r>
              <a:r>
                <a:rPr kumimoji="0" lang="zh-CN" altLang="en-US" sz="21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且</a:t>
              </a:r>
              <a:r>
                <a:rPr kumimoji="0" lang="en-US" altLang="zh-CN" sz="21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ZF=0</a:t>
              </a:r>
              <a:r>
                <a:rPr kumimoji="0" lang="zh-CN" altLang="en-US" sz="21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？</a:t>
              </a:r>
            </a:p>
          </p:txBody>
        </p:sp>
        <p:sp>
          <p:nvSpPr>
            <p:cNvPr id="251912" name="Line 8"/>
            <p:cNvSpPr>
              <a:spLocks noChangeShapeType="1"/>
            </p:cNvSpPr>
            <p:nvPr/>
          </p:nvSpPr>
          <p:spPr bwMode="auto">
            <a:xfrm>
              <a:off x="3360" y="1488"/>
              <a:ext cx="0" cy="240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260190" tIns="130096" rIns="260190" bIns="130096" anchor="ctr"/>
            <a:lstStyle/>
            <a:p>
              <a:endParaRPr lang="zh-CN" altLang="en-US"/>
            </a:p>
          </p:txBody>
        </p:sp>
        <p:sp>
          <p:nvSpPr>
            <p:cNvPr id="251913" name="Line 9"/>
            <p:cNvSpPr>
              <a:spLocks noChangeShapeType="1"/>
            </p:cNvSpPr>
            <p:nvPr/>
          </p:nvSpPr>
          <p:spPr bwMode="auto">
            <a:xfrm>
              <a:off x="3360" y="1920"/>
              <a:ext cx="0" cy="192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260190" tIns="130096" rIns="260190" bIns="130096" anchor="ctr"/>
            <a:lstStyle/>
            <a:p>
              <a:endParaRPr lang="zh-CN" altLang="en-US"/>
            </a:p>
          </p:txBody>
        </p:sp>
        <p:sp>
          <p:nvSpPr>
            <p:cNvPr id="251914" name="Line 10"/>
            <p:cNvSpPr>
              <a:spLocks noChangeShapeType="1"/>
            </p:cNvSpPr>
            <p:nvPr/>
          </p:nvSpPr>
          <p:spPr bwMode="auto">
            <a:xfrm>
              <a:off x="3360" y="2352"/>
              <a:ext cx="0" cy="240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260190" tIns="130096" rIns="260190" bIns="130096" anchor="ctr"/>
            <a:lstStyle/>
            <a:p>
              <a:endParaRPr lang="zh-CN" altLang="en-US"/>
            </a:p>
          </p:txBody>
        </p:sp>
        <p:sp>
          <p:nvSpPr>
            <p:cNvPr id="251915" name="Line 11"/>
            <p:cNvSpPr>
              <a:spLocks noChangeShapeType="1"/>
            </p:cNvSpPr>
            <p:nvPr/>
          </p:nvSpPr>
          <p:spPr bwMode="auto">
            <a:xfrm>
              <a:off x="4080" y="2832"/>
              <a:ext cx="144" cy="0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260190" tIns="130096" rIns="260190" bIns="130096" anchor="ctr"/>
            <a:lstStyle/>
            <a:p>
              <a:endParaRPr lang="zh-CN" altLang="en-US"/>
            </a:p>
          </p:txBody>
        </p:sp>
        <p:sp>
          <p:nvSpPr>
            <p:cNvPr id="251916" name="Line 12"/>
            <p:cNvSpPr>
              <a:spLocks noChangeShapeType="1"/>
            </p:cNvSpPr>
            <p:nvPr/>
          </p:nvSpPr>
          <p:spPr bwMode="auto">
            <a:xfrm flipV="1">
              <a:off x="4224" y="1584"/>
              <a:ext cx="0" cy="1248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260190" tIns="130096" rIns="260190" bIns="130096" anchor="ctr"/>
            <a:lstStyle/>
            <a:p>
              <a:endParaRPr lang="zh-CN" altLang="en-US"/>
            </a:p>
          </p:txBody>
        </p:sp>
        <p:sp>
          <p:nvSpPr>
            <p:cNvPr id="251917" name="Line 13"/>
            <p:cNvSpPr>
              <a:spLocks noChangeShapeType="1"/>
            </p:cNvSpPr>
            <p:nvPr/>
          </p:nvSpPr>
          <p:spPr bwMode="auto">
            <a:xfrm flipH="1">
              <a:off x="3360" y="1584"/>
              <a:ext cx="864" cy="0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260190" tIns="130096" rIns="260190" bIns="130096" anchor="ctr"/>
            <a:lstStyle/>
            <a:p>
              <a:endParaRPr lang="zh-CN" altLang="en-US"/>
            </a:p>
          </p:txBody>
        </p:sp>
        <p:sp>
          <p:nvSpPr>
            <p:cNvPr id="251918" name="Line 14"/>
            <p:cNvSpPr>
              <a:spLocks noChangeShapeType="1"/>
            </p:cNvSpPr>
            <p:nvPr/>
          </p:nvSpPr>
          <p:spPr bwMode="auto">
            <a:xfrm>
              <a:off x="3360" y="3072"/>
              <a:ext cx="0" cy="240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260190" tIns="130096" rIns="260190" bIns="130096" anchor="ctr"/>
            <a:lstStyle/>
            <a:p>
              <a:endParaRPr lang="zh-CN" altLang="en-US"/>
            </a:p>
          </p:txBody>
        </p:sp>
        <p:sp>
          <p:nvSpPr>
            <p:cNvPr id="251919" name="Line 15"/>
            <p:cNvSpPr>
              <a:spLocks noChangeShapeType="1"/>
            </p:cNvSpPr>
            <p:nvPr/>
          </p:nvSpPr>
          <p:spPr bwMode="auto">
            <a:xfrm>
              <a:off x="3360" y="1056"/>
              <a:ext cx="0" cy="240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260190" tIns="130096" rIns="260190" bIns="130096" anchor="ctr"/>
            <a:lstStyle/>
            <a:p>
              <a:endParaRPr lang="zh-CN" altLang="en-US"/>
            </a:p>
          </p:txBody>
        </p:sp>
        <p:sp>
          <p:nvSpPr>
            <p:cNvPr id="251920" name="Text Box 16"/>
            <p:cNvSpPr txBox="1">
              <a:spLocks noChangeArrowheads="1"/>
            </p:cNvSpPr>
            <p:nvPr/>
          </p:nvSpPr>
          <p:spPr bwMode="auto">
            <a:xfrm>
              <a:off x="3456" y="3072"/>
              <a:ext cx="336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260190" tIns="130096" rIns="260190" bIns="130096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kumimoji="0" lang="en-US" altLang="zh-CN" sz="21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No</a:t>
              </a:r>
            </a:p>
          </p:txBody>
        </p:sp>
        <p:sp>
          <p:nvSpPr>
            <p:cNvPr id="251921" name="Text Box 17"/>
            <p:cNvSpPr txBox="1">
              <a:spLocks noChangeArrowheads="1"/>
            </p:cNvSpPr>
            <p:nvPr/>
          </p:nvSpPr>
          <p:spPr bwMode="auto">
            <a:xfrm>
              <a:off x="3840" y="2592"/>
              <a:ext cx="432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260190" tIns="130096" rIns="260190" bIns="130096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kumimoji="0" lang="en-US" altLang="zh-CN" sz="21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Yes</a:t>
              </a:r>
            </a:p>
          </p:txBody>
        </p:sp>
      </p:grpSp>
      <p:sp>
        <p:nvSpPr>
          <p:cNvPr id="251922" name="Rectangle 18"/>
          <p:cNvSpPr>
            <a:spLocks noChangeArrowheads="1"/>
          </p:cNvSpPr>
          <p:nvPr/>
        </p:nvSpPr>
        <p:spPr bwMode="auto">
          <a:xfrm>
            <a:off x="439738" y="1160463"/>
            <a:ext cx="6045245" cy="493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lnSpc>
                <a:spcPct val="120000"/>
              </a:lnSpc>
              <a:buClr>
                <a:srgbClr val="66FF33"/>
              </a:buClr>
              <a:buSzPts val="2400"/>
            </a:pPr>
            <a:r>
              <a:rPr lang="zh-CN" altLang="en-US" dirty="0">
                <a:solidFill>
                  <a:srgbClr val="FF0000"/>
                </a:solidFill>
                <a:latin typeface="+mn-lt"/>
              </a:rPr>
              <a:t>不相等</a:t>
            </a:r>
            <a:r>
              <a:rPr lang="en-US" altLang="zh-CN" dirty="0">
                <a:solidFill>
                  <a:srgbClr val="FF0000"/>
                </a:solidFill>
                <a:latin typeface="+mn-lt"/>
              </a:rPr>
              <a:t>/</a:t>
            </a:r>
            <a:r>
              <a:rPr lang="zh-CN" altLang="en-US" dirty="0">
                <a:solidFill>
                  <a:srgbClr val="FF0000"/>
                </a:solidFill>
                <a:latin typeface="+mn-lt"/>
              </a:rPr>
              <a:t>不为零循环指令</a:t>
            </a:r>
            <a:r>
              <a:rPr lang="en-US" altLang="zh-CN" dirty="0">
                <a:solidFill>
                  <a:srgbClr val="FF0000"/>
                </a:solidFill>
                <a:latin typeface="+mn-lt"/>
              </a:rPr>
              <a:t>LOOPNE/LOOPNZ</a:t>
            </a:r>
          </a:p>
        </p:txBody>
      </p:sp>
      <p:sp>
        <p:nvSpPr>
          <p:cNvPr id="21" name="文本框 1"/>
          <p:cNvSpPr txBox="1"/>
          <p:nvPr/>
        </p:nvSpPr>
        <p:spPr>
          <a:xfrm>
            <a:off x="452120" y="317500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控制转移指令</a:t>
            </a:r>
          </a:p>
        </p:txBody>
      </p:sp>
    </p:spTree>
    <p:extLst>
      <p:ext uri="{BB962C8B-B14F-4D97-AF65-F5344CB8AC3E}">
        <p14:creationId xmlns:p14="http://schemas.microsoft.com/office/powerpoint/2010/main" val="1935324675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Rectangle 2"/>
          <p:cNvSpPr>
            <a:spLocks noChangeArrowheads="1"/>
          </p:cNvSpPr>
          <p:nvPr/>
        </p:nvSpPr>
        <p:spPr bwMode="auto">
          <a:xfrm>
            <a:off x="452120" y="1012436"/>
            <a:ext cx="8152328" cy="848577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08850" tIns="54425" rIns="108850" bIns="54425">
            <a:spAutoFit/>
          </a:bodyPr>
          <a:lstStyle/>
          <a:p>
            <a:pPr eaLnBrk="0" hangingPunct="0">
              <a:spcBef>
                <a:spcPct val="0"/>
              </a:spcBef>
            </a:pPr>
            <a:r>
              <a:rPr kumimoji="0" lang="zh-CN" altLang="en-US" sz="2400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例：在附加段一个长度为</a:t>
            </a:r>
            <a:r>
              <a:rPr kumimoji="0" lang="en-US" altLang="zh-CN" sz="2400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count</a:t>
            </a:r>
            <a:r>
              <a:rPr kumimoji="0" lang="zh-CN" altLang="en-US" sz="2400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的字符串中，寻找是否有空格，若有则转到</a:t>
            </a:r>
            <a:r>
              <a:rPr kumimoji="0" lang="en-US" altLang="zh-CN" sz="2400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FOUND</a:t>
            </a:r>
            <a:r>
              <a:rPr kumimoji="0" lang="zh-CN" altLang="en-US" sz="2400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去执行。</a:t>
            </a:r>
          </a:p>
        </p:txBody>
      </p:sp>
      <p:sp>
        <p:nvSpPr>
          <p:cNvPr id="252931" name="Rectangle 3"/>
          <p:cNvSpPr>
            <a:spLocks noChangeArrowheads="1"/>
          </p:cNvSpPr>
          <p:nvPr/>
        </p:nvSpPr>
        <p:spPr bwMode="auto">
          <a:xfrm>
            <a:off x="323528" y="1861013"/>
            <a:ext cx="8604250" cy="48188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8850" tIns="54425" rIns="108850" bIns="54425">
            <a:spAutoFit/>
          </a:bodyPr>
          <a:lstStyle/>
          <a:p>
            <a:pPr eaLnBrk="0" hangingPunct="0">
              <a:lnSpc>
                <a:spcPct val="150000"/>
              </a:lnSpc>
              <a:spcBef>
                <a:spcPct val="0"/>
              </a:spcBef>
            </a:pPr>
            <a:r>
              <a:rPr kumimoji="0" lang="en-US" altLang="zh-CN" sz="2400" b="0" dirty="0">
                <a:latin typeface="+mn-lt"/>
                <a:ea typeface="华文宋体" panose="02010600040101010101" pitchFamily="2" charset="-122"/>
              </a:rPr>
              <a:t>              </a:t>
            </a:r>
            <a:r>
              <a:rPr kumimoji="0" lang="en-US" altLang="zh-CN" sz="2000" b="0" dirty="0">
                <a:latin typeface="+mn-lt"/>
                <a:ea typeface="华文宋体" panose="02010600040101010101" pitchFamily="2" charset="-122"/>
              </a:rPr>
              <a:t>MOV   CX</a:t>
            </a:r>
            <a:r>
              <a:rPr kumimoji="0" lang="zh-CN" altLang="en-US" sz="2000" b="0" dirty="0">
                <a:latin typeface="+mn-lt"/>
                <a:ea typeface="华文宋体" panose="02010600040101010101" pitchFamily="2" charset="-122"/>
              </a:rPr>
              <a:t>，</a:t>
            </a:r>
            <a:r>
              <a:rPr kumimoji="0" lang="en-US" altLang="zh-CN" sz="2000" b="0" dirty="0">
                <a:latin typeface="+mn-lt"/>
                <a:ea typeface="华文宋体" panose="02010600040101010101" pitchFamily="2" charset="-122"/>
              </a:rPr>
              <a:t>COUNT           	 </a:t>
            </a:r>
            <a:r>
              <a:rPr kumimoji="0" lang="zh-CN" altLang="en-US" sz="2000" b="0" dirty="0">
                <a:latin typeface="+mn-lt"/>
                <a:ea typeface="华文宋体" panose="02010600040101010101" pitchFamily="2" charset="-122"/>
              </a:rPr>
              <a:t>；设置循环次数</a:t>
            </a:r>
          </a:p>
          <a:p>
            <a:pPr eaLnBrk="0" hangingPunct="0">
              <a:lnSpc>
                <a:spcPct val="150000"/>
              </a:lnSpc>
              <a:spcBef>
                <a:spcPct val="0"/>
              </a:spcBef>
            </a:pPr>
            <a:r>
              <a:rPr kumimoji="0" lang="en-US" altLang="zh-CN" sz="2000" b="0" dirty="0">
                <a:latin typeface="+mn-lt"/>
                <a:ea typeface="华文宋体" panose="02010600040101010101" pitchFamily="2" charset="-122"/>
              </a:rPr>
              <a:t>	  MOV</a:t>
            </a:r>
            <a:r>
              <a:rPr kumimoji="0" lang="en-US" altLang="zh-CN" sz="2000" b="0" dirty="0">
                <a:solidFill>
                  <a:srgbClr val="FF0000"/>
                </a:solidFill>
                <a:latin typeface="+mn-lt"/>
                <a:ea typeface="华文宋体" panose="02010600040101010101" pitchFamily="2" charset="-122"/>
              </a:rPr>
              <a:t>    SI</a:t>
            </a:r>
            <a:r>
              <a:rPr kumimoji="0" lang="zh-CN" altLang="en-US" sz="2000" b="0" dirty="0">
                <a:solidFill>
                  <a:srgbClr val="FF0000"/>
                </a:solidFill>
                <a:latin typeface="+mn-lt"/>
                <a:ea typeface="华文宋体" panose="02010600040101010101" pitchFamily="2" charset="-122"/>
              </a:rPr>
              <a:t>，</a:t>
            </a:r>
            <a:r>
              <a:rPr kumimoji="0" lang="en-US" altLang="zh-CN" sz="2000" b="0" dirty="0">
                <a:solidFill>
                  <a:srgbClr val="FF0000"/>
                </a:solidFill>
                <a:latin typeface="+mn-lt"/>
                <a:ea typeface="华文宋体" panose="02010600040101010101" pitchFamily="2" charset="-122"/>
              </a:rPr>
              <a:t>- 1                     </a:t>
            </a:r>
            <a:r>
              <a:rPr kumimoji="0" lang="en-US" altLang="zh-CN" sz="2000" b="0" dirty="0">
                <a:latin typeface="+mn-lt"/>
                <a:ea typeface="华文宋体" panose="02010600040101010101" pitchFamily="2" charset="-122"/>
              </a:rPr>
              <a:t>	</a:t>
            </a:r>
          </a:p>
          <a:p>
            <a:pPr eaLnBrk="0" hangingPunct="0">
              <a:lnSpc>
                <a:spcPct val="150000"/>
              </a:lnSpc>
              <a:spcBef>
                <a:spcPct val="0"/>
              </a:spcBef>
            </a:pPr>
            <a:r>
              <a:rPr kumimoji="0" lang="zh-CN" altLang="en-US" sz="2000" b="0" dirty="0">
                <a:latin typeface="+mn-lt"/>
                <a:ea typeface="华文宋体" panose="02010600040101010101" pitchFamily="2" charset="-122"/>
              </a:rPr>
              <a:t>    </a:t>
            </a:r>
            <a:r>
              <a:rPr kumimoji="0" lang="en-US" altLang="zh-CN" sz="2000" b="0" dirty="0">
                <a:latin typeface="+mn-lt"/>
                <a:ea typeface="华文宋体" panose="02010600040101010101" pitchFamily="2" charset="-122"/>
              </a:rPr>
              <a:t>	 </a:t>
            </a:r>
            <a:r>
              <a:rPr kumimoji="0" lang="zh-CN" altLang="en-US" sz="2000" b="0" dirty="0">
                <a:latin typeface="+mn-lt"/>
                <a:ea typeface="华文宋体" panose="02010600040101010101" pitchFamily="2" charset="-122"/>
              </a:rPr>
              <a:t> </a:t>
            </a:r>
            <a:r>
              <a:rPr kumimoji="0" lang="en-US" altLang="zh-CN" sz="2000" b="0" dirty="0">
                <a:latin typeface="+mn-lt"/>
                <a:ea typeface="华文宋体" panose="02010600040101010101" pitchFamily="2" charset="-122"/>
              </a:rPr>
              <a:t>MOV   AL</a:t>
            </a:r>
            <a:r>
              <a:rPr kumimoji="0" lang="zh-CN" altLang="en-US" sz="2000" b="0" dirty="0">
                <a:latin typeface="+mn-lt"/>
                <a:ea typeface="华文宋体" panose="02010600040101010101" pitchFamily="2" charset="-122"/>
              </a:rPr>
              <a:t>，</a:t>
            </a:r>
            <a:r>
              <a:rPr kumimoji="0" lang="en-US" altLang="zh-CN" sz="2000" b="0" dirty="0">
                <a:latin typeface="+mn-lt"/>
                <a:ea typeface="华文宋体" panose="02010600040101010101" pitchFamily="2" charset="-122"/>
              </a:rPr>
              <a:t>20H                     	</a:t>
            </a:r>
            <a:r>
              <a:rPr kumimoji="0" lang="zh-CN" altLang="en-US" sz="2000" b="0" dirty="0">
                <a:latin typeface="+mn-lt"/>
                <a:ea typeface="华文宋体" panose="02010600040101010101" pitchFamily="2" charset="-122"/>
              </a:rPr>
              <a:t>；空格的</a:t>
            </a:r>
            <a:r>
              <a:rPr kumimoji="0" lang="en-US" altLang="zh-CN" sz="2000" b="0" dirty="0">
                <a:latin typeface="+mn-lt"/>
                <a:ea typeface="华文宋体" panose="02010600040101010101" pitchFamily="2" charset="-122"/>
              </a:rPr>
              <a:t>ASC</a:t>
            </a:r>
            <a:r>
              <a:rPr kumimoji="0" lang="zh-CN" altLang="en-US" sz="2000" b="0" dirty="0">
                <a:latin typeface="+mn-lt"/>
                <a:ea typeface="华文宋体" panose="02010600040101010101" pitchFamily="2" charset="-122"/>
              </a:rPr>
              <a:t>码为</a:t>
            </a:r>
            <a:r>
              <a:rPr kumimoji="0" lang="en-US" altLang="zh-CN" sz="2000" b="0" dirty="0">
                <a:latin typeface="+mn-lt"/>
                <a:ea typeface="华文宋体" panose="02010600040101010101" pitchFamily="2" charset="-122"/>
              </a:rPr>
              <a:t>20H</a:t>
            </a:r>
          </a:p>
          <a:p>
            <a:pPr eaLnBrk="0" hangingPunct="0">
              <a:lnSpc>
                <a:spcPct val="150000"/>
              </a:lnSpc>
              <a:spcBef>
                <a:spcPct val="0"/>
              </a:spcBef>
            </a:pPr>
            <a:r>
              <a:rPr kumimoji="0" lang="en-US" altLang="zh-CN" sz="2000" b="0" dirty="0">
                <a:latin typeface="+mn-lt"/>
                <a:ea typeface="华文宋体" panose="02010600040101010101" pitchFamily="2" charset="-122"/>
              </a:rPr>
              <a:t>AGAIN:  INC     SI  </a:t>
            </a:r>
          </a:p>
          <a:p>
            <a:pPr eaLnBrk="0" hangingPunct="0">
              <a:lnSpc>
                <a:spcPct val="150000"/>
              </a:lnSpc>
              <a:spcBef>
                <a:spcPct val="0"/>
              </a:spcBef>
            </a:pPr>
            <a:r>
              <a:rPr lang="en-US" altLang="zh-CN" sz="2000" b="0" dirty="0">
                <a:latin typeface="+mn-lt"/>
                <a:ea typeface="华文宋体" panose="02010600040101010101" pitchFamily="2" charset="-122"/>
              </a:rPr>
              <a:t>	  </a:t>
            </a:r>
            <a:r>
              <a:rPr kumimoji="0" lang="en-US" altLang="zh-CN" sz="2000" b="0" dirty="0">
                <a:latin typeface="+mn-lt"/>
                <a:ea typeface="华文宋体" panose="02010600040101010101" pitchFamily="2" charset="-122"/>
              </a:rPr>
              <a:t>CMP   AL</a:t>
            </a:r>
            <a:r>
              <a:rPr kumimoji="0" lang="zh-CN" altLang="en-US" sz="2000" b="0" dirty="0">
                <a:latin typeface="+mn-lt"/>
                <a:ea typeface="华文宋体" panose="02010600040101010101" pitchFamily="2" charset="-122"/>
              </a:rPr>
              <a:t>，</a:t>
            </a:r>
            <a:r>
              <a:rPr kumimoji="0" lang="en-US" altLang="zh-CN" sz="2000" b="0" dirty="0">
                <a:latin typeface="+mn-lt"/>
                <a:ea typeface="华文宋体" panose="02010600040101010101" pitchFamily="2" charset="-122"/>
              </a:rPr>
              <a:t>ES: STRING[SI]</a:t>
            </a:r>
          </a:p>
          <a:p>
            <a:pPr eaLnBrk="0" hangingPunct="0">
              <a:lnSpc>
                <a:spcPct val="150000"/>
              </a:lnSpc>
              <a:spcBef>
                <a:spcPct val="0"/>
              </a:spcBef>
            </a:pPr>
            <a:r>
              <a:rPr kumimoji="0" lang="en-US" altLang="zh-CN" sz="2000" b="0" dirty="0">
                <a:latin typeface="+mn-lt"/>
                <a:ea typeface="华文宋体" panose="02010600040101010101" pitchFamily="2" charset="-122"/>
              </a:rPr>
              <a:t>	  LOOPNE  AGAIN                        	</a:t>
            </a:r>
            <a:r>
              <a:rPr kumimoji="0" lang="zh-CN" altLang="en-US" sz="2000" b="0" dirty="0">
                <a:latin typeface="+mn-lt"/>
                <a:ea typeface="华文宋体" panose="02010600040101010101" pitchFamily="2" charset="-122"/>
              </a:rPr>
              <a:t>；不</a:t>
            </a:r>
            <a:r>
              <a:rPr lang="zh-CN" altLang="en-US" sz="2000" b="0" dirty="0">
                <a:latin typeface="+mn-lt"/>
                <a:ea typeface="华文宋体" panose="02010600040101010101" pitchFamily="2" charset="-122"/>
              </a:rPr>
              <a:t>相等则</a:t>
            </a:r>
            <a:r>
              <a:rPr kumimoji="0" lang="zh-CN" altLang="en-US" sz="2000" b="0" dirty="0">
                <a:latin typeface="+mn-lt"/>
                <a:ea typeface="华文宋体" panose="02010600040101010101" pitchFamily="2" charset="-122"/>
              </a:rPr>
              <a:t>继续循环</a:t>
            </a:r>
          </a:p>
          <a:p>
            <a:pPr eaLnBrk="0" hangingPunct="0">
              <a:lnSpc>
                <a:spcPct val="150000"/>
              </a:lnSpc>
              <a:spcBef>
                <a:spcPct val="0"/>
              </a:spcBef>
            </a:pPr>
            <a:r>
              <a:rPr kumimoji="0" lang="zh-CN" altLang="en-US" sz="2000" b="0" dirty="0">
                <a:latin typeface="+mn-lt"/>
                <a:ea typeface="华文宋体" panose="02010600040101010101" pitchFamily="2" charset="-122"/>
              </a:rPr>
              <a:t>   </a:t>
            </a:r>
            <a:r>
              <a:rPr kumimoji="0" lang="en-US" altLang="zh-CN" sz="2000" b="0" dirty="0">
                <a:latin typeface="+mn-lt"/>
                <a:ea typeface="华文宋体" panose="02010600040101010101" pitchFamily="2" charset="-122"/>
              </a:rPr>
              <a:t>	</a:t>
            </a:r>
            <a:r>
              <a:rPr kumimoji="0" lang="zh-CN" altLang="en-US" sz="2000" b="0" dirty="0">
                <a:latin typeface="+mn-lt"/>
                <a:ea typeface="华文宋体" panose="02010600040101010101" pitchFamily="2" charset="-122"/>
              </a:rPr>
              <a:t>  </a:t>
            </a:r>
            <a:r>
              <a:rPr kumimoji="0" lang="en-US" altLang="zh-CN" sz="2000" b="0" dirty="0">
                <a:latin typeface="+mn-lt"/>
                <a:ea typeface="华文宋体" panose="02010600040101010101" pitchFamily="2" charset="-122"/>
              </a:rPr>
              <a:t>JZ   FOUND		             	</a:t>
            </a:r>
            <a:r>
              <a:rPr kumimoji="0" lang="zh-CN" altLang="en-US" sz="2000" b="0" dirty="0">
                <a:latin typeface="+mn-lt"/>
                <a:ea typeface="华文宋体" panose="02010600040101010101" pitchFamily="2" charset="-122"/>
              </a:rPr>
              <a:t>；找到则跳转</a:t>
            </a:r>
            <a:endParaRPr kumimoji="0" lang="en-US" altLang="zh-CN" sz="2000" b="0" dirty="0">
              <a:latin typeface="+mn-lt"/>
              <a:ea typeface="华文宋体" panose="02010600040101010101" pitchFamily="2" charset="-122"/>
            </a:endParaRPr>
          </a:p>
          <a:p>
            <a:pPr eaLnBrk="0" hangingPunct="0">
              <a:lnSpc>
                <a:spcPct val="150000"/>
              </a:lnSpc>
              <a:spcBef>
                <a:spcPct val="0"/>
              </a:spcBef>
            </a:pPr>
            <a:r>
              <a:rPr lang="en-US" altLang="zh-CN" sz="2000" b="0" dirty="0">
                <a:latin typeface="+mn-lt"/>
                <a:ea typeface="华文宋体" panose="02010600040101010101" pitchFamily="2" charset="-122"/>
              </a:rPr>
              <a:t>	  ……</a:t>
            </a:r>
          </a:p>
          <a:p>
            <a:pPr eaLnBrk="0" hangingPunct="0">
              <a:lnSpc>
                <a:spcPct val="150000"/>
              </a:lnSpc>
              <a:spcBef>
                <a:spcPct val="0"/>
              </a:spcBef>
            </a:pPr>
            <a:r>
              <a:rPr kumimoji="0" lang="en-US" altLang="zh-CN" sz="2000" b="0" dirty="0">
                <a:latin typeface="+mn-lt"/>
                <a:ea typeface="华文宋体" panose="02010600040101010101" pitchFamily="2" charset="-122"/>
              </a:rPr>
              <a:t>FOUND:</a:t>
            </a:r>
          </a:p>
          <a:p>
            <a:pPr eaLnBrk="0" hangingPunct="0">
              <a:lnSpc>
                <a:spcPct val="150000"/>
              </a:lnSpc>
              <a:spcBef>
                <a:spcPct val="0"/>
              </a:spcBef>
            </a:pPr>
            <a:r>
              <a:rPr lang="en-US" altLang="zh-CN" sz="2000" b="0" dirty="0">
                <a:latin typeface="+mn-lt"/>
                <a:ea typeface="华文宋体" panose="02010600040101010101" pitchFamily="2" charset="-122"/>
              </a:rPr>
              <a:t>	 ……</a:t>
            </a:r>
            <a:endParaRPr kumimoji="0" lang="zh-CN" altLang="en-US" sz="2000" b="0" dirty="0">
              <a:latin typeface="+mn-lt"/>
              <a:ea typeface="华文宋体" panose="02010600040101010101" pitchFamily="2" charset="-122"/>
            </a:endParaRPr>
          </a:p>
        </p:txBody>
      </p:sp>
      <p:sp>
        <p:nvSpPr>
          <p:cNvPr id="6" name="文本框 1"/>
          <p:cNvSpPr txBox="1"/>
          <p:nvPr/>
        </p:nvSpPr>
        <p:spPr>
          <a:xfrm>
            <a:off x="452120" y="317500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控制转移指令</a:t>
            </a:r>
          </a:p>
        </p:txBody>
      </p:sp>
    </p:spTree>
    <p:extLst>
      <p:ext uri="{BB962C8B-B14F-4D97-AF65-F5344CB8AC3E}">
        <p14:creationId xmlns:p14="http://schemas.microsoft.com/office/powerpoint/2010/main" val="665286441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043608" y="2129315"/>
            <a:ext cx="6571615" cy="17858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60000"/>
              </a:lnSpc>
              <a:buClr>
                <a:srgbClr val="FF3300"/>
              </a:buClr>
              <a:buFont typeface="Wingdings" panose="05000000000000000000" charset="0"/>
              <a:buChar char=""/>
            </a:pPr>
            <a:r>
              <a:rPr lang="zh-CN" altLang="en-US" dirty="0">
                <a:sym typeface="+mn-ea"/>
              </a:rPr>
              <a:t>控制转移指令</a:t>
            </a:r>
            <a:endParaRPr lang="en-US" altLang="zh-CN" dirty="0">
              <a:sym typeface="+mn-ea"/>
            </a:endParaRPr>
          </a:p>
          <a:p>
            <a:pPr marL="342900" indent="-342900">
              <a:lnSpc>
                <a:spcPct val="160000"/>
              </a:lnSpc>
              <a:buClr>
                <a:srgbClr val="FF3300"/>
              </a:buClr>
              <a:buFont typeface="Wingdings" panose="05000000000000000000" charset="0"/>
              <a:buChar char=""/>
            </a:pPr>
            <a:r>
              <a:rPr lang="zh-CN" altLang="en-US" dirty="0">
                <a:solidFill>
                  <a:srgbClr val="FF0000"/>
                </a:solidFill>
                <a:sym typeface="+mn-ea"/>
              </a:rPr>
              <a:t>循环结构程序设计</a:t>
            </a:r>
          </a:p>
          <a:p>
            <a:pPr marL="342900" indent="-342900">
              <a:lnSpc>
                <a:spcPct val="160000"/>
              </a:lnSpc>
              <a:buClr>
                <a:srgbClr val="FF3300"/>
              </a:buClr>
              <a:buFont typeface="Wingdings" panose="05000000000000000000" charset="0"/>
              <a:buChar char=""/>
            </a:pPr>
            <a:r>
              <a:rPr lang="zh-CN" altLang="en-US" dirty="0">
                <a:sym typeface="+mn-ea"/>
              </a:rPr>
              <a:t>分支结构程序设计</a:t>
            </a:r>
          </a:p>
        </p:txBody>
      </p:sp>
      <p:sp>
        <p:nvSpPr>
          <p:cNvPr id="4" name="文本框 1"/>
          <p:cNvSpPr txBox="1"/>
          <p:nvPr/>
        </p:nvSpPr>
        <p:spPr>
          <a:xfrm>
            <a:off x="452120" y="317500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第</a:t>
            </a:r>
            <a:r>
              <a:rPr lang="en-US" altLang="zh-CN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5</a:t>
            </a:r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讲：循环和分枝程序设计</a:t>
            </a:r>
          </a:p>
        </p:txBody>
      </p:sp>
    </p:spTree>
    <p:extLst>
      <p:ext uri="{BB962C8B-B14F-4D97-AF65-F5344CB8AC3E}">
        <p14:creationId xmlns:p14="http://schemas.microsoft.com/office/powerpoint/2010/main" val="133849444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424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3876988"/>
              </p:ext>
            </p:extLst>
          </p:nvPr>
        </p:nvGraphicFramePr>
        <p:xfrm>
          <a:off x="1223628" y="1484784"/>
          <a:ext cx="6705600" cy="3730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55" name="位图图像" r:id="rId3" imgW="4742857" imgH="2638095" progId="Paint.Picture">
                  <p:embed/>
                </p:oleObj>
              </mc:Choice>
              <mc:Fallback>
                <p:oleObj name="位图图像" r:id="rId3" imgW="4742857" imgH="2638095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3628" y="1484784"/>
                        <a:ext cx="6705600" cy="3730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1"/>
          <p:cNvSpPr txBox="1"/>
          <p:nvPr/>
        </p:nvSpPr>
        <p:spPr>
          <a:xfrm>
            <a:off x="452120" y="317500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循环结构程序设计</a:t>
            </a:r>
          </a:p>
        </p:txBody>
      </p:sp>
      <p:sp>
        <p:nvSpPr>
          <p:cNvPr id="3" name="矩形 2"/>
          <p:cNvSpPr/>
          <p:nvPr/>
        </p:nvSpPr>
        <p:spPr>
          <a:xfrm>
            <a:off x="3153172" y="6065986"/>
            <a:ext cx="304602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336699"/>
                </a:solidFill>
                <a:latin typeface="宋体" charset="-122"/>
              </a:rPr>
              <a:t>基本循环结构示意图</a:t>
            </a:r>
            <a:r>
              <a:rPr lang="zh-CN" altLang="en-US" dirty="0"/>
              <a:t> </a:t>
            </a:r>
          </a:p>
        </p:txBody>
      </p:sp>
      <p:sp>
        <p:nvSpPr>
          <p:cNvPr id="5" name="Rectangle 9"/>
          <p:cNvSpPr>
            <a:spLocks noChangeArrowheads="1"/>
          </p:cNvSpPr>
          <p:nvPr/>
        </p:nvSpPr>
        <p:spPr bwMode="auto">
          <a:xfrm>
            <a:off x="1583668" y="5364163"/>
            <a:ext cx="645999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2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DO-WHILE </a:t>
            </a:r>
            <a:r>
              <a:rPr kumimoji="1" lang="zh-CN" altLang="zh-CN" sz="22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结构            </a:t>
            </a:r>
            <a:r>
              <a:rPr kumimoji="1" lang="zh-CN" altLang="en-US" sz="22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              </a:t>
            </a:r>
            <a:r>
              <a:rPr kumimoji="1" lang="en-US" altLang="zh-CN" sz="22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DO-UNTIL </a:t>
            </a:r>
            <a:r>
              <a:rPr kumimoji="1" lang="zh-CN" altLang="zh-CN" sz="22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结构</a:t>
            </a:r>
            <a:endParaRPr kumimoji="1" lang="zh-CN" altLang="en-US" sz="2200" b="1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74413002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5556" y="1052736"/>
            <a:ext cx="8100900" cy="5256584"/>
          </a:xfrm>
        </p:spPr>
        <p:txBody>
          <a:bodyPr/>
          <a:lstStyle/>
          <a:p>
            <a:pPr algn="just">
              <a:lnSpc>
                <a:spcPct val="90000"/>
              </a:lnSpc>
              <a:spcBef>
                <a:spcPts val="1200"/>
              </a:spcBef>
            </a:pPr>
            <a:r>
              <a:rPr lang="zh-CN" altLang="en-US" sz="2800" dirty="0">
                <a:effectLst/>
                <a:latin typeface="宋体" charset="-122"/>
              </a:rPr>
              <a:t>循环初始化部分</a:t>
            </a:r>
            <a:endParaRPr lang="zh-CN" altLang="en-US" sz="2800" dirty="0">
              <a:effectLst/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90000"/>
              </a:lnSpc>
              <a:spcBef>
                <a:spcPts val="1200"/>
              </a:spcBef>
              <a:buFontTx/>
              <a:buNone/>
            </a:pPr>
            <a:r>
              <a:rPr lang="en-US" altLang="zh-CN" sz="2000" dirty="0">
                <a:effectLst/>
                <a:latin typeface="宋体" charset="-122"/>
              </a:rPr>
              <a:t>	</a:t>
            </a:r>
            <a:r>
              <a:rPr lang="zh-CN" altLang="en-US" sz="2200" dirty="0">
                <a:effectLst/>
                <a:latin typeface="宋体" charset="-122"/>
              </a:rPr>
              <a:t>这是循环准备工作阶段，如建立地址指针、设置循环次数、必要的数据保护以及为循环体正常工作而建立的初始状态等。</a:t>
            </a:r>
            <a:endParaRPr lang="zh-CN" altLang="en-US" sz="2200" dirty="0">
              <a:effectLst/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90000"/>
              </a:lnSpc>
              <a:spcBef>
                <a:spcPts val="1200"/>
              </a:spcBef>
            </a:pPr>
            <a:r>
              <a:rPr lang="zh-CN" altLang="en-US" sz="2800" dirty="0">
                <a:effectLst/>
                <a:latin typeface="宋体" charset="-122"/>
              </a:rPr>
              <a:t>循环体</a:t>
            </a:r>
            <a:endParaRPr lang="zh-CN" altLang="en-US" sz="2800" dirty="0">
              <a:effectLst/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90000"/>
              </a:lnSpc>
              <a:spcBef>
                <a:spcPts val="1200"/>
              </a:spcBef>
              <a:buNone/>
            </a:pPr>
            <a:r>
              <a:rPr lang="en-US" altLang="zh-CN" sz="2000" dirty="0">
                <a:effectLst/>
                <a:latin typeface="宋体" charset="-122"/>
              </a:rPr>
              <a:t>	</a:t>
            </a:r>
            <a:r>
              <a:rPr lang="zh-CN" altLang="en-US" sz="2200" dirty="0">
                <a:effectLst/>
                <a:latin typeface="宋体" charset="-122"/>
              </a:rPr>
              <a:t>循环体是在循环过程中反复执行的部分。它是循环的核心部分，是循环程序所要完成的若干操作的全部指令。</a:t>
            </a:r>
          </a:p>
          <a:p>
            <a:pPr algn="just">
              <a:lnSpc>
                <a:spcPct val="90000"/>
              </a:lnSpc>
              <a:spcBef>
                <a:spcPts val="1200"/>
              </a:spcBef>
            </a:pPr>
            <a:r>
              <a:rPr lang="zh-CN" altLang="en-US" sz="2800" dirty="0">
                <a:effectLst/>
                <a:latin typeface="宋体" charset="-122"/>
              </a:rPr>
              <a:t>循环修改部分</a:t>
            </a:r>
            <a:endParaRPr lang="zh-CN" altLang="en-US" sz="2800" dirty="0">
              <a:effectLst/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90000"/>
              </a:lnSpc>
              <a:spcBef>
                <a:spcPts val="1200"/>
              </a:spcBef>
              <a:buFontTx/>
              <a:buNone/>
            </a:pPr>
            <a:r>
              <a:rPr lang="en-US" altLang="zh-CN" sz="2000" dirty="0">
                <a:effectLst/>
                <a:latin typeface="宋体" charset="-122"/>
              </a:rPr>
              <a:t>	</a:t>
            </a:r>
            <a:r>
              <a:rPr lang="zh-CN" altLang="en-US" sz="2200" dirty="0">
                <a:effectLst/>
                <a:latin typeface="宋体" charset="-122"/>
              </a:rPr>
              <a:t>循环修改主要是指对一些运算控制单元（变量、寄存器）的修改，如修改操作数地址、修改循环计数器、改变变量的值等。</a:t>
            </a:r>
          </a:p>
          <a:p>
            <a:pPr algn="just">
              <a:lnSpc>
                <a:spcPct val="90000"/>
              </a:lnSpc>
              <a:spcBef>
                <a:spcPts val="1200"/>
              </a:spcBef>
            </a:pPr>
            <a:r>
              <a:rPr lang="zh-CN" altLang="en-US" sz="2800" dirty="0">
                <a:effectLst/>
                <a:latin typeface="宋体" charset="-122"/>
              </a:rPr>
              <a:t>循环控制部分</a:t>
            </a:r>
            <a:endParaRPr lang="zh-CN" altLang="en-US" sz="2800" dirty="0">
              <a:effectLst/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90000"/>
              </a:lnSpc>
              <a:spcBef>
                <a:spcPts val="1200"/>
              </a:spcBef>
              <a:buNone/>
            </a:pPr>
            <a:r>
              <a:rPr lang="en-US" altLang="zh-CN" sz="2000" dirty="0">
                <a:effectLst/>
                <a:latin typeface="宋体" charset="-122"/>
              </a:rPr>
              <a:t>	</a:t>
            </a:r>
            <a:r>
              <a:rPr lang="zh-CN" altLang="en-US" sz="2200" dirty="0">
                <a:effectLst/>
                <a:latin typeface="宋体" charset="-122"/>
              </a:rPr>
              <a:t>根据给定的循环次数或循环条件，判断是否结束循环。若未结束，则转去重复执行循环工作部分。</a:t>
            </a:r>
          </a:p>
        </p:txBody>
      </p:sp>
      <p:sp>
        <p:nvSpPr>
          <p:cNvPr id="5" name="文本框 1"/>
          <p:cNvSpPr txBox="1"/>
          <p:nvPr/>
        </p:nvSpPr>
        <p:spPr>
          <a:xfrm>
            <a:off x="452120" y="317500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循环结构程序设计</a:t>
            </a:r>
          </a:p>
        </p:txBody>
      </p:sp>
    </p:spTree>
    <p:extLst>
      <p:ext uri="{BB962C8B-B14F-4D97-AF65-F5344CB8AC3E}">
        <p14:creationId xmlns:p14="http://schemas.microsoft.com/office/powerpoint/2010/main" val="4179923750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5556" y="1052736"/>
            <a:ext cx="8172908" cy="5256584"/>
          </a:xfrm>
        </p:spPr>
        <p:txBody>
          <a:bodyPr/>
          <a:lstStyle/>
          <a:p>
            <a:pPr marL="0" indent="0" algn="just">
              <a:lnSpc>
                <a:spcPct val="90000"/>
              </a:lnSpc>
              <a:spcBef>
                <a:spcPts val="1200"/>
              </a:spcBef>
              <a:buNone/>
            </a:pPr>
            <a:r>
              <a:rPr lang="zh-CN" altLang="en-US" sz="2800" dirty="0">
                <a:latin typeface="宋体" charset="-122"/>
              </a:rPr>
              <a:t>重点：循环控制部分。</a:t>
            </a:r>
          </a:p>
          <a:p>
            <a:pPr algn="just">
              <a:lnSpc>
                <a:spcPct val="90000"/>
              </a:lnSpc>
              <a:spcBef>
                <a:spcPts val="1200"/>
              </a:spcBef>
              <a:buFont typeface="Wingdings" panose="05000000000000000000" pitchFamily="2" charset="2"/>
              <a:buChar char="u"/>
            </a:pPr>
            <a:r>
              <a:rPr lang="zh-CN" altLang="en-US" sz="2600" b="0" dirty="0">
                <a:effectLst/>
                <a:latin typeface="宋体" charset="-122"/>
              </a:rPr>
              <a:t>循环控制是循环体的一部分，它是循环程序设计的关键。</a:t>
            </a:r>
            <a:endParaRPr lang="en-US" altLang="zh-CN" sz="2600" b="0" dirty="0">
              <a:effectLst/>
              <a:latin typeface="宋体" charset="-122"/>
            </a:endParaRPr>
          </a:p>
          <a:p>
            <a:pPr algn="just">
              <a:lnSpc>
                <a:spcPct val="90000"/>
              </a:lnSpc>
              <a:spcBef>
                <a:spcPts val="1200"/>
              </a:spcBef>
              <a:buFont typeface="Wingdings" panose="05000000000000000000" pitchFamily="2" charset="2"/>
              <a:buChar char="u"/>
            </a:pPr>
            <a:r>
              <a:rPr lang="zh-CN" altLang="en-US" sz="2600" b="0" dirty="0">
                <a:effectLst/>
              </a:rPr>
              <a:t>每个循环程序必须选择一个循环控制条件来控制循环的运行和结束。</a:t>
            </a:r>
            <a:endParaRPr lang="en-US" altLang="zh-CN" sz="2600" b="0" dirty="0">
              <a:effectLst/>
            </a:endParaRPr>
          </a:p>
          <a:p>
            <a:pPr lvl="1" algn="just">
              <a:lnSpc>
                <a:spcPct val="90000"/>
              </a:lnSpc>
              <a:spcBef>
                <a:spcPts val="1200"/>
              </a:spcBef>
              <a:buFont typeface="Wingdings" panose="05000000000000000000" pitchFamily="2" charset="2"/>
              <a:buChar char="u"/>
            </a:pPr>
            <a:r>
              <a:rPr lang="zh-CN" altLang="en-US" sz="2600" b="0" dirty="0">
                <a:solidFill>
                  <a:srgbClr val="3333FF"/>
                </a:solidFill>
                <a:effectLst/>
              </a:rPr>
              <a:t>有时循环次数已知，此时可以用循环次数作为控制条件，</a:t>
            </a:r>
            <a:r>
              <a:rPr lang="en-US" altLang="zh-CN" sz="2600" b="0" dirty="0">
                <a:solidFill>
                  <a:srgbClr val="3333FF"/>
                </a:solidFill>
                <a:effectLst/>
              </a:rPr>
              <a:t>loop</a:t>
            </a:r>
            <a:r>
              <a:rPr lang="zh-CN" altLang="en-US" sz="2600" b="0" dirty="0">
                <a:solidFill>
                  <a:srgbClr val="3333FF"/>
                </a:solidFill>
                <a:effectLst/>
              </a:rPr>
              <a:t>指令使得这种循环程序设计很容易实现。</a:t>
            </a:r>
            <a:endParaRPr lang="en-US" altLang="zh-CN" sz="2600" b="0" dirty="0">
              <a:solidFill>
                <a:srgbClr val="3333FF"/>
              </a:solidFill>
              <a:effectLst/>
            </a:endParaRPr>
          </a:p>
          <a:p>
            <a:pPr lvl="1" algn="just">
              <a:lnSpc>
                <a:spcPct val="90000"/>
              </a:lnSpc>
              <a:spcBef>
                <a:spcPts val="1200"/>
              </a:spcBef>
              <a:buFont typeface="Wingdings" panose="05000000000000000000" pitchFamily="2" charset="2"/>
              <a:buChar char="u"/>
            </a:pPr>
            <a:r>
              <a:rPr lang="zh-CN" altLang="en-US" sz="2600" b="0" dirty="0">
                <a:solidFill>
                  <a:srgbClr val="3333FF"/>
                </a:solidFill>
                <a:effectLst/>
              </a:rPr>
              <a:t>有时循环次数已知，但有可能使用其他特征或条件使循环提前结束，此时可用</a:t>
            </a:r>
            <a:r>
              <a:rPr lang="en-US" altLang="zh-CN" sz="2600" b="0" dirty="0" err="1">
                <a:solidFill>
                  <a:srgbClr val="3333FF"/>
                </a:solidFill>
                <a:effectLst/>
              </a:rPr>
              <a:t>loopz</a:t>
            </a:r>
            <a:r>
              <a:rPr lang="zh-CN" altLang="en-US" sz="2600" b="0" dirty="0">
                <a:solidFill>
                  <a:srgbClr val="3333FF"/>
                </a:solidFill>
                <a:effectLst/>
              </a:rPr>
              <a:t>或</a:t>
            </a:r>
            <a:r>
              <a:rPr lang="en-US" altLang="zh-CN" sz="2600" b="0" dirty="0" err="1">
                <a:solidFill>
                  <a:srgbClr val="3333FF"/>
                </a:solidFill>
                <a:effectLst/>
              </a:rPr>
              <a:t>loopnz</a:t>
            </a:r>
            <a:r>
              <a:rPr lang="zh-CN" altLang="en-US" sz="2600" b="0" dirty="0">
                <a:solidFill>
                  <a:srgbClr val="3333FF"/>
                </a:solidFill>
                <a:effectLst/>
              </a:rPr>
              <a:t>指令。</a:t>
            </a:r>
            <a:endParaRPr lang="en-US" altLang="zh-CN" sz="2600" b="0" dirty="0">
              <a:solidFill>
                <a:srgbClr val="3333FF"/>
              </a:solidFill>
              <a:effectLst/>
            </a:endParaRPr>
          </a:p>
          <a:p>
            <a:pPr lvl="1" algn="just">
              <a:lnSpc>
                <a:spcPct val="90000"/>
              </a:lnSpc>
              <a:spcBef>
                <a:spcPts val="1200"/>
              </a:spcBef>
              <a:buFont typeface="Wingdings" panose="05000000000000000000" pitchFamily="2" charset="2"/>
              <a:buChar char="u"/>
            </a:pPr>
            <a:r>
              <a:rPr lang="zh-CN" altLang="en-US" sz="2600" b="0" dirty="0">
                <a:solidFill>
                  <a:srgbClr val="3333FF"/>
                </a:solidFill>
                <a:effectLst/>
              </a:rPr>
              <a:t>有时循环次数未知，那就需要根据具体情况找出控制循环结束的条件，采用转移指令来实现循环。</a:t>
            </a:r>
          </a:p>
        </p:txBody>
      </p:sp>
      <p:sp>
        <p:nvSpPr>
          <p:cNvPr id="5" name="文本框 1"/>
          <p:cNvSpPr txBox="1"/>
          <p:nvPr/>
        </p:nvSpPr>
        <p:spPr>
          <a:xfrm>
            <a:off x="452120" y="317500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循环结构程序设计</a:t>
            </a:r>
          </a:p>
        </p:txBody>
      </p:sp>
    </p:spTree>
    <p:extLst>
      <p:ext uri="{BB962C8B-B14F-4D97-AF65-F5344CB8AC3E}">
        <p14:creationId xmlns:p14="http://schemas.microsoft.com/office/powerpoint/2010/main" val="33645093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2900" y="1052736"/>
            <a:ext cx="8225544" cy="9906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zh-TW" dirty="0"/>
              <a:t>【</a:t>
            </a:r>
            <a:r>
              <a:rPr lang="zh-CN" altLang="en-US" dirty="0"/>
              <a:t>例</a:t>
            </a:r>
            <a:r>
              <a:rPr lang="zh-CN" altLang="zh-CN" dirty="0"/>
              <a:t>】</a:t>
            </a:r>
            <a:r>
              <a:rPr lang="en-US" altLang="zh-TW" dirty="0"/>
              <a:t> </a:t>
            </a:r>
            <a:r>
              <a:rPr lang="zh-TW" altLang="en-US" dirty="0"/>
              <a:t>试编制一个程序把 </a:t>
            </a:r>
            <a:r>
              <a:rPr lang="en-US" altLang="zh-TW" dirty="0"/>
              <a:t>BX </a:t>
            </a:r>
            <a:r>
              <a:rPr lang="zh-TW" altLang="en-US" dirty="0"/>
              <a:t>寄存器内的二进制数用十六进制数的形式在屏幕上显示出来。</a:t>
            </a:r>
            <a:endParaRPr lang="zh-TW" altLang="zh-CN" dirty="0"/>
          </a:p>
        </p:txBody>
      </p:sp>
      <p:grpSp>
        <p:nvGrpSpPr>
          <p:cNvPr id="2" name="Group 99"/>
          <p:cNvGrpSpPr>
            <a:grpSpLocks/>
          </p:cNvGrpSpPr>
          <p:nvPr/>
        </p:nvGrpSpPr>
        <p:grpSpPr bwMode="auto">
          <a:xfrm>
            <a:off x="1079612" y="3144924"/>
            <a:ext cx="7315200" cy="3200400"/>
            <a:chOff x="720" y="1440"/>
            <a:chExt cx="4608" cy="2016"/>
          </a:xfrm>
        </p:grpSpPr>
        <p:grpSp>
          <p:nvGrpSpPr>
            <p:cNvPr id="10245" name="Group 8"/>
            <p:cNvGrpSpPr>
              <a:grpSpLocks/>
            </p:cNvGrpSpPr>
            <p:nvPr/>
          </p:nvGrpSpPr>
          <p:grpSpPr bwMode="auto">
            <a:xfrm>
              <a:off x="1248" y="1440"/>
              <a:ext cx="3264" cy="264"/>
              <a:chOff x="1296" y="888"/>
              <a:chExt cx="3312" cy="312"/>
            </a:xfrm>
          </p:grpSpPr>
          <p:sp>
            <p:nvSpPr>
              <p:cNvPr id="10319" name="Rectangle 9"/>
              <p:cNvSpPr>
                <a:spLocks noChangeArrowheads="1"/>
              </p:cNvSpPr>
              <p:nvPr/>
            </p:nvSpPr>
            <p:spPr bwMode="auto">
              <a:xfrm>
                <a:off x="1296" y="888"/>
                <a:ext cx="207" cy="312"/>
              </a:xfrm>
              <a:prstGeom prst="rect">
                <a:avLst/>
              </a:prstGeom>
              <a:solidFill>
                <a:srgbClr val="FF33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0320" name="Rectangle 10"/>
              <p:cNvSpPr>
                <a:spLocks noChangeArrowheads="1"/>
              </p:cNvSpPr>
              <p:nvPr/>
            </p:nvSpPr>
            <p:spPr bwMode="auto">
              <a:xfrm>
                <a:off x="1503" y="888"/>
                <a:ext cx="207" cy="312"/>
              </a:xfrm>
              <a:prstGeom prst="rect">
                <a:avLst/>
              </a:prstGeom>
              <a:solidFill>
                <a:srgbClr val="FF33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0321" name="Rectangle 11"/>
              <p:cNvSpPr>
                <a:spLocks noChangeArrowheads="1"/>
              </p:cNvSpPr>
              <p:nvPr/>
            </p:nvSpPr>
            <p:spPr bwMode="auto">
              <a:xfrm>
                <a:off x="1710" y="888"/>
                <a:ext cx="207" cy="312"/>
              </a:xfrm>
              <a:prstGeom prst="rect">
                <a:avLst/>
              </a:prstGeom>
              <a:solidFill>
                <a:srgbClr val="FF33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0322" name="Rectangle 12"/>
              <p:cNvSpPr>
                <a:spLocks noChangeArrowheads="1"/>
              </p:cNvSpPr>
              <p:nvPr/>
            </p:nvSpPr>
            <p:spPr bwMode="auto">
              <a:xfrm>
                <a:off x="1917" y="888"/>
                <a:ext cx="207" cy="312"/>
              </a:xfrm>
              <a:prstGeom prst="rect">
                <a:avLst/>
              </a:prstGeom>
              <a:solidFill>
                <a:srgbClr val="FF33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0323" name="Rectangle 13"/>
              <p:cNvSpPr>
                <a:spLocks noChangeArrowheads="1"/>
              </p:cNvSpPr>
              <p:nvPr/>
            </p:nvSpPr>
            <p:spPr bwMode="auto">
              <a:xfrm>
                <a:off x="2124" y="888"/>
                <a:ext cx="207" cy="312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0324" name="Rectangle 14"/>
              <p:cNvSpPr>
                <a:spLocks noChangeArrowheads="1"/>
              </p:cNvSpPr>
              <p:nvPr/>
            </p:nvSpPr>
            <p:spPr bwMode="auto">
              <a:xfrm>
                <a:off x="2331" y="888"/>
                <a:ext cx="207" cy="312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0325" name="Rectangle 15"/>
              <p:cNvSpPr>
                <a:spLocks noChangeArrowheads="1"/>
              </p:cNvSpPr>
              <p:nvPr/>
            </p:nvSpPr>
            <p:spPr bwMode="auto">
              <a:xfrm>
                <a:off x="2538" y="888"/>
                <a:ext cx="207" cy="312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0326" name="Rectangle 16"/>
              <p:cNvSpPr>
                <a:spLocks noChangeArrowheads="1"/>
              </p:cNvSpPr>
              <p:nvPr/>
            </p:nvSpPr>
            <p:spPr bwMode="auto">
              <a:xfrm>
                <a:off x="2745" y="888"/>
                <a:ext cx="207" cy="312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0327" name="Rectangle 17"/>
              <p:cNvSpPr>
                <a:spLocks noChangeArrowheads="1"/>
              </p:cNvSpPr>
              <p:nvPr/>
            </p:nvSpPr>
            <p:spPr bwMode="auto">
              <a:xfrm>
                <a:off x="2952" y="888"/>
                <a:ext cx="207" cy="312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0328" name="Rectangle 18"/>
              <p:cNvSpPr>
                <a:spLocks noChangeArrowheads="1"/>
              </p:cNvSpPr>
              <p:nvPr/>
            </p:nvSpPr>
            <p:spPr bwMode="auto">
              <a:xfrm>
                <a:off x="3159" y="888"/>
                <a:ext cx="207" cy="312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0329" name="Rectangle 19"/>
              <p:cNvSpPr>
                <a:spLocks noChangeArrowheads="1"/>
              </p:cNvSpPr>
              <p:nvPr/>
            </p:nvSpPr>
            <p:spPr bwMode="auto">
              <a:xfrm>
                <a:off x="3366" y="888"/>
                <a:ext cx="207" cy="312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0330" name="Rectangle 20"/>
              <p:cNvSpPr>
                <a:spLocks noChangeArrowheads="1"/>
              </p:cNvSpPr>
              <p:nvPr/>
            </p:nvSpPr>
            <p:spPr bwMode="auto">
              <a:xfrm>
                <a:off x="3573" y="888"/>
                <a:ext cx="207" cy="312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0331" name="Rectangle 21"/>
              <p:cNvSpPr>
                <a:spLocks noChangeArrowheads="1"/>
              </p:cNvSpPr>
              <p:nvPr/>
            </p:nvSpPr>
            <p:spPr bwMode="auto">
              <a:xfrm>
                <a:off x="3780" y="888"/>
                <a:ext cx="207" cy="312"/>
              </a:xfrm>
              <a:prstGeom prst="rect">
                <a:avLst/>
              </a:prstGeom>
              <a:solidFill>
                <a:srgbClr val="CC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0332" name="Rectangle 22"/>
              <p:cNvSpPr>
                <a:spLocks noChangeArrowheads="1"/>
              </p:cNvSpPr>
              <p:nvPr/>
            </p:nvSpPr>
            <p:spPr bwMode="auto">
              <a:xfrm>
                <a:off x="3987" y="888"/>
                <a:ext cx="207" cy="312"/>
              </a:xfrm>
              <a:prstGeom prst="rect">
                <a:avLst/>
              </a:prstGeom>
              <a:solidFill>
                <a:srgbClr val="CC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0333" name="Rectangle 23"/>
              <p:cNvSpPr>
                <a:spLocks noChangeArrowheads="1"/>
              </p:cNvSpPr>
              <p:nvPr/>
            </p:nvSpPr>
            <p:spPr bwMode="auto">
              <a:xfrm>
                <a:off x="4194" y="888"/>
                <a:ext cx="207" cy="312"/>
              </a:xfrm>
              <a:prstGeom prst="rect">
                <a:avLst/>
              </a:prstGeom>
              <a:solidFill>
                <a:srgbClr val="CC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0334" name="Rectangle 24"/>
              <p:cNvSpPr>
                <a:spLocks noChangeArrowheads="1"/>
              </p:cNvSpPr>
              <p:nvPr/>
            </p:nvSpPr>
            <p:spPr bwMode="auto">
              <a:xfrm>
                <a:off x="4401" y="888"/>
                <a:ext cx="207" cy="312"/>
              </a:xfrm>
              <a:prstGeom prst="rect">
                <a:avLst/>
              </a:prstGeom>
              <a:solidFill>
                <a:srgbClr val="CC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10246" name="Group 25"/>
            <p:cNvGrpSpPr>
              <a:grpSpLocks/>
            </p:cNvGrpSpPr>
            <p:nvPr/>
          </p:nvGrpSpPr>
          <p:grpSpPr bwMode="auto">
            <a:xfrm>
              <a:off x="1248" y="1872"/>
              <a:ext cx="3264" cy="264"/>
              <a:chOff x="1296" y="1152"/>
              <a:chExt cx="3264" cy="264"/>
            </a:xfrm>
          </p:grpSpPr>
          <p:sp>
            <p:nvSpPr>
              <p:cNvPr id="10303" name="Rectangle 26"/>
              <p:cNvSpPr>
                <a:spLocks noChangeArrowheads="1"/>
              </p:cNvSpPr>
              <p:nvPr/>
            </p:nvSpPr>
            <p:spPr bwMode="auto">
              <a:xfrm>
                <a:off x="1296" y="1152"/>
                <a:ext cx="204" cy="264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0304" name="Rectangle 27"/>
              <p:cNvSpPr>
                <a:spLocks noChangeArrowheads="1"/>
              </p:cNvSpPr>
              <p:nvPr/>
            </p:nvSpPr>
            <p:spPr bwMode="auto">
              <a:xfrm>
                <a:off x="1500" y="1152"/>
                <a:ext cx="204" cy="264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0305" name="Rectangle 28"/>
              <p:cNvSpPr>
                <a:spLocks noChangeArrowheads="1"/>
              </p:cNvSpPr>
              <p:nvPr/>
            </p:nvSpPr>
            <p:spPr bwMode="auto">
              <a:xfrm>
                <a:off x="1704" y="1152"/>
                <a:ext cx="204" cy="264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0306" name="Rectangle 29"/>
              <p:cNvSpPr>
                <a:spLocks noChangeArrowheads="1"/>
              </p:cNvSpPr>
              <p:nvPr/>
            </p:nvSpPr>
            <p:spPr bwMode="auto">
              <a:xfrm>
                <a:off x="1908" y="1152"/>
                <a:ext cx="204" cy="264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0307" name="Rectangle 30"/>
              <p:cNvSpPr>
                <a:spLocks noChangeArrowheads="1"/>
              </p:cNvSpPr>
              <p:nvPr/>
            </p:nvSpPr>
            <p:spPr bwMode="auto">
              <a:xfrm>
                <a:off x="2112" y="1152"/>
                <a:ext cx="204" cy="264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0308" name="Rectangle 31"/>
              <p:cNvSpPr>
                <a:spLocks noChangeArrowheads="1"/>
              </p:cNvSpPr>
              <p:nvPr/>
            </p:nvSpPr>
            <p:spPr bwMode="auto">
              <a:xfrm>
                <a:off x="2316" y="1152"/>
                <a:ext cx="204" cy="264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0309" name="Rectangle 32"/>
              <p:cNvSpPr>
                <a:spLocks noChangeArrowheads="1"/>
              </p:cNvSpPr>
              <p:nvPr/>
            </p:nvSpPr>
            <p:spPr bwMode="auto">
              <a:xfrm>
                <a:off x="2520" y="1152"/>
                <a:ext cx="204" cy="264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0310" name="Rectangle 33"/>
              <p:cNvSpPr>
                <a:spLocks noChangeArrowheads="1"/>
              </p:cNvSpPr>
              <p:nvPr/>
            </p:nvSpPr>
            <p:spPr bwMode="auto">
              <a:xfrm>
                <a:off x="2724" y="1152"/>
                <a:ext cx="204" cy="264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0311" name="Rectangle 34"/>
              <p:cNvSpPr>
                <a:spLocks noChangeArrowheads="1"/>
              </p:cNvSpPr>
              <p:nvPr/>
            </p:nvSpPr>
            <p:spPr bwMode="auto">
              <a:xfrm>
                <a:off x="2928" y="1152"/>
                <a:ext cx="204" cy="264"/>
              </a:xfrm>
              <a:prstGeom prst="rect">
                <a:avLst/>
              </a:prstGeom>
              <a:solidFill>
                <a:srgbClr val="CC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0312" name="Rectangle 35"/>
              <p:cNvSpPr>
                <a:spLocks noChangeArrowheads="1"/>
              </p:cNvSpPr>
              <p:nvPr/>
            </p:nvSpPr>
            <p:spPr bwMode="auto">
              <a:xfrm>
                <a:off x="3132" y="1152"/>
                <a:ext cx="204" cy="264"/>
              </a:xfrm>
              <a:prstGeom prst="rect">
                <a:avLst/>
              </a:prstGeom>
              <a:solidFill>
                <a:srgbClr val="CC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0313" name="Rectangle 36"/>
              <p:cNvSpPr>
                <a:spLocks noChangeArrowheads="1"/>
              </p:cNvSpPr>
              <p:nvPr/>
            </p:nvSpPr>
            <p:spPr bwMode="auto">
              <a:xfrm>
                <a:off x="3336" y="1152"/>
                <a:ext cx="204" cy="264"/>
              </a:xfrm>
              <a:prstGeom prst="rect">
                <a:avLst/>
              </a:prstGeom>
              <a:solidFill>
                <a:srgbClr val="CC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0314" name="Rectangle 37"/>
              <p:cNvSpPr>
                <a:spLocks noChangeArrowheads="1"/>
              </p:cNvSpPr>
              <p:nvPr/>
            </p:nvSpPr>
            <p:spPr bwMode="auto">
              <a:xfrm>
                <a:off x="3540" y="1152"/>
                <a:ext cx="204" cy="264"/>
              </a:xfrm>
              <a:prstGeom prst="rect">
                <a:avLst/>
              </a:prstGeom>
              <a:solidFill>
                <a:srgbClr val="CC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0315" name="Rectangle 38"/>
              <p:cNvSpPr>
                <a:spLocks noChangeArrowheads="1"/>
              </p:cNvSpPr>
              <p:nvPr/>
            </p:nvSpPr>
            <p:spPr bwMode="auto">
              <a:xfrm>
                <a:off x="3744" y="1152"/>
                <a:ext cx="204" cy="264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0316" name="Rectangle 39"/>
              <p:cNvSpPr>
                <a:spLocks noChangeArrowheads="1"/>
              </p:cNvSpPr>
              <p:nvPr/>
            </p:nvSpPr>
            <p:spPr bwMode="auto">
              <a:xfrm>
                <a:off x="3948" y="1152"/>
                <a:ext cx="204" cy="264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0317" name="Rectangle 40"/>
              <p:cNvSpPr>
                <a:spLocks noChangeArrowheads="1"/>
              </p:cNvSpPr>
              <p:nvPr/>
            </p:nvSpPr>
            <p:spPr bwMode="auto">
              <a:xfrm>
                <a:off x="4152" y="1152"/>
                <a:ext cx="204" cy="264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0318" name="Rectangle 41"/>
              <p:cNvSpPr>
                <a:spLocks noChangeArrowheads="1"/>
              </p:cNvSpPr>
              <p:nvPr/>
            </p:nvSpPr>
            <p:spPr bwMode="auto">
              <a:xfrm>
                <a:off x="4356" y="1152"/>
                <a:ext cx="204" cy="264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10247" name="Group 42"/>
            <p:cNvGrpSpPr>
              <a:grpSpLocks/>
            </p:cNvGrpSpPr>
            <p:nvPr/>
          </p:nvGrpSpPr>
          <p:grpSpPr bwMode="auto">
            <a:xfrm>
              <a:off x="1248" y="2304"/>
              <a:ext cx="3264" cy="264"/>
              <a:chOff x="1296" y="1632"/>
              <a:chExt cx="3264" cy="264"/>
            </a:xfrm>
          </p:grpSpPr>
          <p:sp>
            <p:nvSpPr>
              <p:cNvPr id="10287" name="Rectangle 43"/>
              <p:cNvSpPr>
                <a:spLocks noChangeArrowheads="1"/>
              </p:cNvSpPr>
              <p:nvPr/>
            </p:nvSpPr>
            <p:spPr bwMode="auto">
              <a:xfrm>
                <a:off x="1296" y="1632"/>
                <a:ext cx="204" cy="264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0288" name="Rectangle 44"/>
              <p:cNvSpPr>
                <a:spLocks noChangeArrowheads="1"/>
              </p:cNvSpPr>
              <p:nvPr/>
            </p:nvSpPr>
            <p:spPr bwMode="auto">
              <a:xfrm>
                <a:off x="1500" y="1632"/>
                <a:ext cx="204" cy="264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0289" name="Rectangle 45"/>
              <p:cNvSpPr>
                <a:spLocks noChangeArrowheads="1"/>
              </p:cNvSpPr>
              <p:nvPr/>
            </p:nvSpPr>
            <p:spPr bwMode="auto">
              <a:xfrm>
                <a:off x="1704" y="1632"/>
                <a:ext cx="204" cy="264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0290" name="Rectangle 46"/>
              <p:cNvSpPr>
                <a:spLocks noChangeArrowheads="1"/>
              </p:cNvSpPr>
              <p:nvPr/>
            </p:nvSpPr>
            <p:spPr bwMode="auto">
              <a:xfrm>
                <a:off x="1908" y="1632"/>
                <a:ext cx="204" cy="264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0291" name="Rectangle 47"/>
              <p:cNvSpPr>
                <a:spLocks noChangeArrowheads="1"/>
              </p:cNvSpPr>
              <p:nvPr/>
            </p:nvSpPr>
            <p:spPr bwMode="auto">
              <a:xfrm>
                <a:off x="2112" y="1632"/>
                <a:ext cx="204" cy="264"/>
              </a:xfrm>
              <a:prstGeom prst="rect">
                <a:avLst/>
              </a:prstGeom>
              <a:solidFill>
                <a:srgbClr val="CC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0292" name="Rectangle 48"/>
              <p:cNvSpPr>
                <a:spLocks noChangeArrowheads="1"/>
              </p:cNvSpPr>
              <p:nvPr/>
            </p:nvSpPr>
            <p:spPr bwMode="auto">
              <a:xfrm>
                <a:off x="2316" y="1632"/>
                <a:ext cx="204" cy="264"/>
              </a:xfrm>
              <a:prstGeom prst="rect">
                <a:avLst/>
              </a:prstGeom>
              <a:solidFill>
                <a:srgbClr val="CC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0293" name="Rectangle 49"/>
              <p:cNvSpPr>
                <a:spLocks noChangeArrowheads="1"/>
              </p:cNvSpPr>
              <p:nvPr/>
            </p:nvSpPr>
            <p:spPr bwMode="auto">
              <a:xfrm>
                <a:off x="2520" y="1632"/>
                <a:ext cx="204" cy="264"/>
              </a:xfrm>
              <a:prstGeom prst="rect">
                <a:avLst/>
              </a:prstGeom>
              <a:solidFill>
                <a:srgbClr val="CC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0294" name="Rectangle 50"/>
              <p:cNvSpPr>
                <a:spLocks noChangeArrowheads="1"/>
              </p:cNvSpPr>
              <p:nvPr/>
            </p:nvSpPr>
            <p:spPr bwMode="auto">
              <a:xfrm>
                <a:off x="2724" y="1632"/>
                <a:ext cx="204" cy="264"/>
              </a:xfrm>
              <a:prstGeom prst="rect">
                <a:avLst/>
              </a:prstGeom>
              <a:solidFill>
                <a:srgbClr val="CC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0295" name="Rectangle 51"/>
              <p:cNvSpPr>
                <a:spLocks noChangeArrowheads="1"/>
              </p:cNvSpPr>
              <p:nvPr/>
            </p:nvSpPr>
            <p:spPr bwMode="auto">
              <a:xfrm>
                <a:off x="2928" y="1632"/>
                <a:ext cx="204" cy="264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0296" name="Rectangle 52"/>
              <p:cNvSpPr>
                <a:spLocks noChangeArrowheads="1"/>
              </p:cNvSpPr>
              <p:nvPr/>
            </p:nvSpPr>
            <p:spPr bwMode="auto">
              <a:xfrm>
                <a:off x="3132" y="1632"/>
                <a:ext cx="204" cy="264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0297" name="Rectangle 53"/>
              <p:cNvSpPr>
                <a:spLocks noChangeArrowheads="1"/>
              </p:cNvSpPr>
              <p:nvPr/>
            </p:nvSpPr>
            <p:spPr bwMode="auto">
              <a:xfrm>
                <a:off x="3336" y="1632"/>
                <a:ext cx="204" cy="264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0298" name="Rectangle 54"/>
              <p:cNvSpPr>
                <a:spLocks noChangeArrowheads="1"/>
              </p:cNvSpPr>
              <p:nvPr/>
            </p:nvSpPr>
            <p:spPr bwMode="auto">
              <a:xfrm>
                <a:off x="3540" y="1632"/>
                <a:ext cx="204" cy="264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0299" name="Rectangle 55"/>
              <p:cNvSpPr>
                <a:spLocks noChangeArrowheads="1"/>
              </p:cNvSpPr>
              <p:nvPr/>
            </p:nvSpPr>
            <p:spPr bwMode="auto">
              <a:xfrm>
                <a:off x="3744" y="1632"/>
                <a:ext cx="204" cy="264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0300" name="Rectangle 56"/>
              <p:cNvSpPr>
                <a:spLocks noChangeArrowheads="1"/>
              </p:cNvSpPr>
              <p:nvPr/>
            </p:nvSpPr>
            <p:spPr bwMode="auto">
              <a:xfrm>
                <a:off x="3948" y="1632"/>
                <a:ext cx="204" cy="264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0301" name="Rectangle 57"/>
              <p:cNvSpPr>
                <a:spLocks noChangeArrowheads="1"/>
              </p:cNvSpPr>
              <p:nvPr/>
            </p:nvSpPr>
            <p:spPr bwMode="auto">
              <a:xfrm>
                <a:off x="4152" y="1632"/>
                <a:ext cx="204" cy="264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0302" name="Rectangle 58"/>
              <p:cNvSpPr>
                <a:spLocks noChangeArrowheads="1"/>
              </p:cNvSpPr>
              <p:nvPr/>
            </p:nvSpPr>
            <p:spPr bwMode="auto">
              <a:xfrm>
                <a:off x="4356" y="1632"/>
                <a:ext cx="204" cy="264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10248" name="Group 59"/>
            <p:cNvGrpSpPr>
              <a:grpSpLocks/>
            </p:cNvGrpSpPr>
            <p:nvPr/>
          </p:nvGrpSpPr>
          <p:grpSpPr bwMode="auto">
            <a:xfrm>
              <a:off x="1248" y="3168"/>
              <a:ext cx="3264" cy="264"/>
              <a:chOff x="1296" y="888"/>
              <a:chExt cx="3312" cy="312"/>
            </a:xfrm>
          </p:grpSpPr>
          <p:sp>
            <p:nvSpPr>
              <p:cNvPr id="10271" name="Rectangle 60"/>
              <p:cNvSpPr>
                <a:spLocks noChangeArrowheads="1"/>
              </p:cNvSpPr>
              <p:nvPr/>
            </p:nvSpPr>
            <p:spPr bwMode="auto">
              <a:xfrm>
                <a:off x="1296" y="888"/>
                <a:ext cx="207" cy="312"/>
              </a:xfrm>
              <a:prstGeom prst="rect">
                <a:avLst/>
              </a:prstGeom>
              <a:solidFill>
                <a:srgbClr val="FF33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0272" name="Rectangle 61"/>
              <p:cNvSpPr>
                <a:spLocks noChangeArrowheads="1"/>
              </p:cNvSpPr>
              <p:nvPr/>
            </p:nvSpPr>
            <p:spPr bwMode="auto">
              <a:xfrm>
                <a:off x="1503" y="888"/>
                <a:ext cx="207" cy="312"/>
              </a:xfrm>
              <a:prstGeom prst="rect">
                <a:avLst/>
              </a:prstGeom>
              <a:solidFill>
                <a:srgbClr val="FF33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0273" name="Rectangle 62"/>
              <p:cNvSpPr>
                <a:spLocks noChangeArrowheads="1"/>
              </p:cNvSpPr>
              <p:nvPr/>
            </p:nvSpPr>
            <p:spPr bwMode="auto">
              <a:xfrm>
                <a:off x="1710" y="888"/>
                <a:ext cx="207" cy="312"/>
              </a:xfrm>
              <a:prstGeom prst="rect">
                <a:avLst/>
              </a:prstGeom>
              <a:solidFill>
                <a:srgbClr val="FF33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0274" name="Rectangle 63"/>
              <p:cNvSpPr>
                <a:spLocks noChangeArrowheads="1"/>
              </p:cNvSpPr>
              <p:nvPr/>
            </p:nvSpPr>
            <p:spPr bwMode="auto">
              <a:xfrm>
                <a:off x="1917" y="888"/>
                <a:ext cx="207" cy="312"/>
              </a:xfrm>
              <a:prstGeom prst="rect">
                <a:avLst/>
              </a:prstGeom>
              <a:solidFill>
                <a:srgbClr val="FF33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0275" name="Rectangle 64"/>
              <p:cNvSpPr>
                <a:spLocks noChangeArrowheads="1"/>
              </p:cNvSpPr>
              <p:nvPr/>
            </p:nvSpPr>
            <p:spPr bwMode="auto">
              <a:xfrm>
                <a:off x="2124" y="888"/>
                <a:ext cx="207" cy="312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0276" name="Rectangle 65"/>
              <p:cNvSpPr>
                <a:spLocks noChangeArrowheads="1"/>
              </p:cNvSpPr>
              <p:nvPr/>
            </p:nvSpPr>
            <p:spPr bwMode="auto">
              <a:xfrm>
                <a:off x="2331" y="888"/>
                <a:ext cx="207" cy="312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0277" name="Rectangle 66"/>
              <p:cNvSpPr>
                <a:spLocks noChangeArrowheads="1"/>
              </p:cNvSpPr>
              <p:nvPr/>
            </p:nvSpPr>
            <p:spPr bwMode="auto">
              <a:xfrm>
                <a:off x="2538" y="888"/>
                <a:ext cx="207" cy="312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0278" name="Rectangle 67"/>
              <p:cNvSpPr>
                <a:spLocks noChangeArrowheads="1"/>
              </p:cNvSpPr>
              <p:nvPr/>
            </p:nvSpPr>
            <p:spPr bwMode="auto">
              <a:xfrm>
                <a:off x="2745" y="888"/>
                <a:ext cx="207" cy="312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0279" name="Rectangle 68"/>
              <p:cNvSpPr>
                <a:spLocks noChangeArrowheads="1"/>
              </p:cNvSpPr>
              <p:nvPr/>
            </p:nvSpPr>
            <p:spPr bwMode="auto">
              <a:xfrm>
                <a:off x="2952" y="888"/>
                <a:ext cx="207" cy="312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0280" name="Rectangle 69"/>
              <p:cNvSpPr>
                <a:spLocks noChangeArrowheads="1"/>
              </p:cNvSpPr>
              <p:nvPr/>
            </p:nvSpPr>
            <p:spPr bwMode="auto">
              <a:xfrm>
                <a:off x="3159" y="888"/>
                <a:ext cx="207" cy="312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0281" name="Rectangle 70"/>
              <p:cNvSpPr>
                <a:spLocks noChangeArrowheads="1"/>
              </p:cNvSpPr>
              <p:nvPr/>
            </p:nvSpPr>
            <p:spPr bwMode="auto">
              <a:xfrm>
                <a:off x="3366" y="888"/>
                <a:ext cx="207" cy="312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0282" name="Rectangle 71"/>
              <p:cNvSpPr>
                <a:spLocks noChangeArrowheads="1"/>
              </p:cNvSpPr>
              <p:nvPr/>
            </p:nvSpPr>
            <p:spPr bwMode="auto">
              <a:xfrm>
                <a:off x="3573" y="888"/>
                <a:ext cx="207" cy="312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0283" name="Rectangle 72"/>
              <p:cNvSpPr>
                <a:spLocks noChangeArrowheads="1"/>
              </p:cNvSpPr>
              <p:nvPr/>
            </p:nvSpPr>
            <p:spPr bwMode="auto">
              <a:xfrm>
                <a:off x="3780" y="888"/>
                <a:ext cx="207" cy="312"/>
              </a:xfrm>
              <a:prstGeom prst="rect">
                <a:avLst/>
              </a:prstGeom>
              <a:solidFill>
                <a:srgbClr val="CC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0284" name="Rectangle 73"/>
              <p:cNvSpPr>
                <a:spLocks noChangeArrowheads="1"/>
              </p:cNvSpPr>
              <p:nvPr/>
            </p:nvSpPr>
            <p:spPr bwMode="auto">
              <a:xfrm>
                <a:off x="3987" y="888"/>
                <a:ext cx="207" cy="312"/>
              </a:xfrm>
              <a:prstGeom prst="rect">
                <a:avLst/>
              </a:prstGeom>
              <a:solidFill>
                <a:srgbClr val="CC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0285" name="Rectangle 74"/>
              <p:cNvSpPr>
                <a:spLocks noChangeArrowheads="1"/>
              </p:cNvSpPr>
              <p:nvPr/>
            </p:nvSpPr>
            <p:spPr bwMode="auto">
              <a:xfrm>
                <a:off x="4194" y="888"/>
                <a:ext cx="207" cy="312"/>
              </a:xfrm>
              <a:prstGeom prst="rect">
                <a:avLst/>
              </a:prstGeom>
              <a:solidFill>
                <a:srgbClr val="CC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0286" name="Rectangle 75"/>
              <p:cNvSpPr>
                <a:spLocks noChangeArrowheads="1"/>
              </p:cNvSpPr>
              <p:nvPr/>
            </p:nvSpPr>
            <p:spPr bwMode="auto">
              <a:xfrm>
                <a:off x="4401" y="888"/>
                <a:ext cx="207" cy="312"/>
              </a:xfrm>
              <a:prstGeom prst="rect">
                <a:avLst/>
              </a:prstGeom>
              <a:solidFill>
                <a:srgbClr val="CC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10249" name="Rectangle 76"/>
            <p:cNvSpPr>
              <a:spLocks noChangeArrowheads="1"/>
            </p:cNvSpPr>
            <p:nvPr/>
          </p:nvSpPr>
          <p:spPr bwMode="auto">
            <a:xfrm>
              <a:off x="1248" y="2736"/>
              <a:ext cx="204" cy="264"/>
            </a:xfrm>
            <a:prstGeom prst="rect">
              <a:avLst/>
            </a:prstGeom>
            <a:solidFill>
              <a:srgbClr val="CC66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250" name="Rectangle 77"/>
            <p:cNvSpPr>
              <a:spLocks noChangeArrowheads="1"/>
            </p:cNvSpPr>
            <p:nvPr/>
          </p:nvSpPr>
          <p:spPr bwMode="auto">
            <a:xfrm>
              <a:off x="1452" y="2736"/>
              <a:ext cx="204" cy="264"/>
            </a:xfrm>
            <a:prstGeom prst="rect">
              <a:avLst/>
            </a:prstGeom>
            <a:solidFill>
              <a:srgbClr val="CC66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251" name="Rectangle 78"/>
            <p:cNvSpPr>
              <a:spLocks noChangeArrowheads="1"/>
            </p:cNvSpPr>
            <p:nvPr/>
          </p:nvSpPr>
          <p:spPr bwMode="auto">
            <a:xfrm>
              <a:off x="1656" y="2736"/>
              <a:ext cx="204" cy="264"/>
            </a:xfrm>
            <a:prstGeom prst="rect">
              <a:avLst/>
            </a:prstGeom>
            <a:solidFill>
              <a:srgbClr val="CC66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252" name="Rectangle 79"/>
            <p:cNvSpPr>
              <a:spLocks noChangeArrowheads="1"/>
            </p:cNvSpPr>
            <p:nvPr/>
          </p:nvSpPr>
          <p:spPr bwMode="auto">
            <a:xfrm>
              <a:off x="1860" y="2736"/>
              <a:ext cx="204" cy="264"/>
            </a:xfrm>
            <a:prstGeom prst="rect">
              <a:avLst/>
            </a:prstGeom>
            <a:solidFill>
              <a:srgbClr val="CC66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253" name="Rectangle 80"/>
            <p:cNvSpPr>
              <a:spLocks noChangeArrowheads="1"/>
            </p:cNvSpPr>
            <p:nvPr/>
          </p:nvSpPr>
          <p:spPr bwMode="auto">
            <a:xfrm>
              <a:off x="2064" y="2736"/>
              <a:ext cx="204" cy="264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254" name="Rectangle 81"/>
            <p:cNvSpPr>
              <a:spLocks noChangeArrowheads="1"/>
            </p:cNvSpPr>
            <p:nvPr/>
          </p:nvSpPr>
          <p:spPr bwMode="auto">
            <a:xfrm>
              <a:off x="2268" y="2736"/>
              <a:ext cx="204" cy="264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255" name="Rectangle 82"/>
            <p:cNvSpPr>
              <a:spLocks noChangeArrowheads="1"/>
            </p:cNvSpPr>
            <p:nvPr/>
          </p:nvSpPr>
          <p:spPr bwMode="auto">
            <a:xfrm>
              <a:off x="2472" y="2736"/>
              <a:ext cx="204" cy="264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256" name="Rectangle 83"/>
            <p:cNvSpPr>
              <a:spLocks noChangeArrowheads="1"/>
            </p:cNvSpPr>
            <p:nvPr/>
          </p:nvSpPr>
          <p:spPr bwMode="auto">
            <a:xfrm>
              <a:off x="2676" y="2736"/>
              <a:ext cx="204" cy="264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257" name="Rectangle 84"/>
            <p:cNvSpPr>
              <a:spLocks noChangeArrowheads="1"/>
            </p:cNvSpPr>
            <p:nvPr/>
          </p:nvSpPr>
          <p:spPr bwMode="auto">
            <a:xfrm>
              <a:off x="2880" y="2736"/>
              <a:ext cx="204" cy="264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258" name="Rectangle 85"/>
            <p:cNvSpPr>
              <a:spLocks noChangeArrowheads="1"/>
            </p:cNvSpPr>
            <p:nvPr/>
          </p:nvSpPr>
          <p:spPr bwMode="auto">
            <a:xfrm>
              <a:off x="3084" y="2736"/>
              <a:ext cx="204" cy="264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259" name="Rectangle 86"/>
            <p:cNvSpPr>
              <a:spLocks noChangeArrowheads="1"/>
            </p:cNvSpPr>
            <p:nvPr/>
          </p:nvSpPr>
          <p:spPr bwMode="auto">
            <a:xfrm>
              <a:off x="3288" y="2736"/>
              <a:ext cx="204" cy="264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260" name="Rectangle 87"/>
            <p:cNvSpPr>
              <a:spLocks noChangeArrowheads="1"/>
            </p:cNvSpPr>
            <p:nvPr/>
          </p:nvSpPr>
          <p:spPr bwMode="auto">
            <a:xfrm>
              <a:off x="3492" y="2736"/>
              <a:ext cx="204" cy="264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261" name="Rectangle 88"/>
            <p:cNvSpPr>
              <a:spLocks noChangeArrowheads="1"/>
            </p:cNvSpPr>
            <p:nvPr/>
          </p:nvSpPr>
          <p:spPr bwMode="auto">
            <a:xfrm>
              <a:off x="3696" y="2736"/>
              <a:ext cx="204" cy="264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262" name="Rectangle 89"/>
            <p:cNvSpPr>
              <a:spLocks noChangeArrowheads="1"/>
            </p:cNvSpPr>
            <p:nvPr/>
          </p:nvSpPr>
          <p:spPr bwMode="auto">
            <a:xfrm>
              <a:off x="3900" y="2736"/>
              <a:ext cx="204" cy="264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263" name="Rectangle 90"/>
            <p:cNvSpPr>
              <a:spLocks noChangeArrowheads="1"/>
            </p:cNvSpPr>
            <p:nvPr/>
          </p:nvSpPr>
          <p:spPr bwMode="auto">
            <a:xfrm>
              <a:off x="4104" y="2736"/>
              <a:ext cx="204" cy="264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264" name="Rectangle 91"/>
            <p:cNvSpPr>
              <a:spLocks noChangeArrowheads="1"/>
            </p:cNvSpPr>
            <p:nvPr/>
          </p:nvSpPr>
          <p:spPr bwMode="auto">
            <a:xfrm>
              <a:off x="4308" y="2736"/>
              <a:ext cx="204" cy="264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265" name="Text Box 92"/>
            <p:cNvSpPr txBox="1">
              <a:spLocks noChangeArrowheads="1"/>
            </p:cNvSpPr>
            <p:nvPr/>
          </p:nvSpPr>
          <p:spPr bwMode="auto">
            <a:xfrm>
              <a:off x="720" y="1440"/>
              <a:ext cx="672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just"/>
              <a:r>
                <a:rPr kumimoji="1" lang="en-US" altLang="zh-CN" sz="2200" b="1">
                  <a:solidFill>
                    <a:srgbClr val="000000"/>
                  </a:solidFill>
                  <a:latin typeface="Times New Roman" pitchFamily="18" charset="0"/>
                </a:rPr>
                <a:t>    </a:t>
              </a:r>
              <a:r>
                <a:rPr kumimoji="1" lang="en-US" altLang="zh-CN" sz="2200" b="1">
                  <a:solidFill>
                    <a:srgbClr val="000000"/>
                  </a:solidFill>
                  <a:latin typeface="Lucida Console" pitchFamily="49" charset="0"/>
                </a:rPr>
                <a:t>BX</a:t>
              </a:r>
              <a:endParaRPr kumimoji="1" lang="en-US" altLang="zh-CN" sz="2200">
                <a:solidFill>
                  <a:srgbClr val="000000"/>
                </a:solidFill>
                <a:latin typeface="Lucida Console" pitchFamily="49" charset="0"/>
              </a:endParaRPr>
            </a:p>
          </p:txBody>
        </p:sp>
        <p:sp>
          <p:nvSpPr>
            <p:cNvPr id="10266" name="AutoShape 93"/>
            <p:cNvSpPr>
              <a:spLocks noChangeArrowheads="1"/>
            </p:cNvSpPr>
            <p:nvPr/>
          </p:nvSpPr>
          <p:spPr bwMode="auto">
            <a:xfrm>
              <a:off x="4560" y="1584"/>
              <a:ext cx="240" cy="432"/>
            </a:xfrm>
            <a:prstGeom prst="curvedLeftArrow">
              <a:avLst>
                <a:gd name="adj1" fmla="val 36000"/>
                <a:gd name="adj2" fmla="val 72000"/>
                <a:gd name="adj3" fmla="val 33333"/>
              </a:avLst>
            </a:prstGeom>
            <a:noFill/>
            <a:ln w="9525">
              <a:solidFill>
                <a:schemeClr val="bg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267" name="AutoShape 94"/>
            <p:cNvSpPr>
              <a:spLocks noChangeArrowheads="1"/>
            </p:cNvSpPr>
            <p:nvPr/>
          </p:nvSpPr>
          <p:spPr bwMode="auto">
            <a:xfrm>
              <a:off x="4560" y="2064"/>
              <a:ext cx="240" cy="432"/>
            </a:xfrm>
            <a:prstGeom prst="curvedLeftArrow">
              <a:avLst>
                <a:gd name="adj1" fmla="val 36000"/>
                <a:gd name="adj2" fmla="val 72000"/>
                <a:gd name="adj3" fmla="val 33333"/>
              </a:avLst>
            </a:prstGeom>
            <a:noFill/>
            <a:ln w="9525">
              <a:solidFill>
                <a:schemeClr val="bg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268" name="AutoShape 95"/>
            <p:cNvSpPr>
              <a:spLocks noChangeArrowheads="1"/>
            </p:cNvSpPr>
            <p:nvPr/>
          </p:nvSpPr>
          <p:spPr bwMode="auto">
            <a:xfrm>
              <a:off x="4560" y="2544"/>
              <a:ext cx="240" cy="432"/>
            </a:xfrm>
            <a:prstGeom prst="curvedLeftArrow">
              <a:avLst>
                <a:gd name="adj1" fmla="val 36000"/>
                <a:gd name="adj2" fmla="val 72000"/>
                <a:gd name="adj3" fmla="val 33333"/>
              </a:avLst>
            </a:prstGeom>
            <a:noFill/>
            <a:ln w="9525">
              <a:solidFill>
                <a:schemeClr val="bg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269" name="AutoShape 96"/>
            <p:cNvSpPr>
              <a:spLocks noChangeArrowheads="1"/>
            </p:cNvSpPr>
            <p:nvPr/>
          </p:nvSpPr>
          <p:spPr bwMode="auto">
            <a:xfrm>
              <a:off x="4560" y="3024"/>
              <a:ext cx="240" cy="432"/>
            </a:xfrm>
            <a:prstGeom prst="curvedLeftArrow">
              <a:avLst>
                <a:gd name="adj1" fmla="val 36000"/>
                <a:gd name="adj2" fmla="val 72000"/>
                <a:gd name="adj3" fmla="val 33333"/>
              </a:avLst>
            </a:prstGeom>
            <a:noFill/>
            <a:ln w="9525">
              <a:solidFill>
                <a:schemeClr val="bg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270" name="Text Box 97"/>
            <p:cNvSpPr txBox="1">
              <a:spLocks noChangeArrowheads="1"/>
            </p:cNvSpPr>
            <p:nvPr/>
          </p:nvSpPr>
          <p:spPr bwMode="auto">
            <a:xfrm>
              <a:off x="4896" y="1632"/>
              <a:ext cx="432" cy="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just"/>
              <a:r>
                <a:rPr kumimoji="1" lang="en-US" altLang="zh-CN" sz="2000" b="1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</a:p>
            <a:p>
              <a:pPr algn="just"/>
              <a:endParaRPr kumimoji="1" lang="en-US" altLang="zh-CN" sz="2000" b="1">
                <a:solidFill>
                  <a:srgbClr val="000000"/>
                </a:solidFill>
                <a:latin typeface="Times New Roman" pitchFamily="18" charset="0"/>
              </a:endParaRPr>
            </a:p>
            <a:p>
              <a:pPr algn="just"/>
              <a:endParaRPr kumimoji="1" lang="en-US" altLang="zh-CN" sz="2000" b="1">
                <a:solidFill>
                  <a:srgbClr val="000000"/>
                </a:solidFill>
                <a:latin typeface="Times New Roman" pitchFamily="18" charset="0"/>
              </a:endParaRPr>
            </a:p>
            <a:p>
              <a:pPr algn="just"/>
              <a:r>
                <a:rPr kumimoji="1" lang="en-US" altLang="zh-CN" sz="2000" b="1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</a:p>
            <a:p>
              <a:pPr algn="just"/>
              <a:endParaRPr kumimoji="1" lang="en-US" altLang="zh-CN" sz="2000" b="1">
                <a:solidFill>
                  <a:srgbClr val="000000"/>
                </a:solidFill>
                <a:latin typeface="Times New Roman" pitchFamily="18" charset="0"/>
              </a:endParaRPr>
            </a:p>
            <a:p>
              <a:pPr algn="just"/>
              <a:r>
                <a:rPr kumimoji="1" lang="en-US" altLang="zh-CN" sz="2000" b="1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</a:p>
            <a:p>
              <a:pPr algn="just"/>
              <a:endParaRPr kumimoji="1" lang="en-US" altLang="zh-CN" sz="2000" b="1">
                <a:solidFill>
                  <a:srgbClr val="000000"/>
                </a:solidFill>
                <a:latin typeface="Times New Roman" pitchFamily="18" charset="0"/>
              </a:endParaRPr>
            </a:p>
            <a:p>
              <a:pPr algn="just"/>
              <a:endParaRPr kumimoji="1" lang="en-US" altLang="zh-CN" sz="2000" b="1">
                <a:solidFill>
                  <a:srgbClr val="000000"/>
                </a:solidFill>
                <a:latin typeface="Times New Roman" pitchFamily="18" charset="0"/>
              </a:endParaRPr>
            </a:p>
            <a:p>
              <a:pPr algn="just"/>
              <a:r>
                <a:rPr kumimoji="1" lang="en-US" altLang="zh-CN" sz="2000" b="1">
                  <a:solidFill>
                    <a:srgbClr val="000000"/>
                  </a:solidFill>
                  <a:latin typeface="Times New Roman" pitchFamily="18" charset="0"/>
                </a:rPr>
                <a:t>4</a:t>
              </a:r>
              <a:endParaRPr kumimoji="1" lang="en-US" altLang="zh-CN" sz="20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</p:grpSp>
      <p:sp>
        <p:nvSpPr>
          <p:cNvPr id="95" name="文本框 1"/>
          <p:cNvSpPr txBox="1"/>
          <p:nvPr/>
        </p:nvSpPr>
        <p:spPr>
          <a:xfrm>
            <a:off x="452120" y="317500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循环结构程序设计</a:t>
            </a:r>
          </a:p>
        </p:txBody>
      </p:sp>
      <p:sp>
        <p:nvSpPr>
          <p:cNvPr id="96" name="Text Box 4"/>
          <p:cNvSpPr txBox="1">
            <a:spLocks noChangeArrowheads="1"/>
          </p:cNvSpPr>
          <p:nvPr/>
        </p:nvSpPr>
        <p:spPr bwMode="auto">
          <a:xfrm>
            <a:off x="1003412" y="2240868"/>
            <a:ext cx="739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1" lang="en-US" altLang="zh-CN" sz="2400" dirty="0">
                <a:solidFill>
                  <a:schemeClr val="tx2"/>
                </a:solidFill>
                <a:latin typeface="Arial" charset="0"/>
              </a:rPr>
              <a:t> </a:t>
            </a:r>
            <a:r>
              <a:rPr kumimoji="1" lang="zh-CN" altLang="en-US" sz="2400" dirty="0">
                <a:solidFill>
                  <a:schemeClr val="tx2"/>
                </a:solidFill>
                <a:latin typeface="Arial" charset="0"/>
              </a:rPr>
              <a:t>如：</a:t>
            </a:r>
            <a:r>
              <a:rPr kumimoji="1" lang="en-US" altLang="zh-CN" sz="2400" dirty="0">
                <a:solidFill>
                  <a:schemeClr val="tx2"/>
                </a:solidFill>
                <a:latin typeface="Arial" charset="0"/>
              </a:rPr>
              <a:t>0</a:t>
            </a:r>
            <a:r>
              <a:rPr kumimoji="1" lang="en-US" altLang="zh-CN" sz="2400" dirty="0">
                <a:solidFill>
                  <a:schemeClr val="accent2"/>
                </a:solidFill>
                <a:latin typeface="Arial" charset="0"/>
              </a:rPr>
              <a:t>111 0010 1111 1010</a:t>
            </a:r>
            <a:r>
              <a:rPr kumimoji="1" lang="en-US" altLang="zh-CN" sz="2400" dirty="0">
                <a:solidFill>
                  <a:schemeClr val="tx2"/>
                </a:solidFill>
                <a:latin typeface="Arial" charset="0"/>
              </a:rPr>
              <a:t> B </a:t>
            </a:r>
            <a:r>
              <a:rPr kumimoji="1" lang="en-US" altLang="zh-CN" sz="2400" dirty="0">
                <a:solidFill>
                  <a:schemeClr val="tx2"/>
                </a:solidFill>
                <a:latin typeface="Arial" charset="0"/>
                <a:sym typeface="Wingdings" pitchFamily="2" charset="2"/>
              </a:rPr>
              <a:t>7</a:t>
            </a:r>
            <a:r>
              <a:rPr kumimoji="1" lang="en-US" altLang="zh-CN" sz="2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sym typeface="Wingdings" pitchFamily="2" charset="2"/>
              </a:rPr>
              <a:t>2FA</a:t>
            </a:r>
            <a:r>
              <a:rPr kumimoji="1" lang="en-US" altLang="zh-CN" sz="2400" dirty="0">
                <a:solidFill>
                  <a:schemeClr val="tx2"/>
                </a:solidFill>
                <a:latin typeface="Arial" charset="0"/>
                <a:sym typeface="Wingdings" pitchFamily="2" charset="2"/>
              </a:rPr>
              <a:t>H</a:t>
            </a:r>
            <a:r>
              <a:rPr kumimoji="1" lang="en-US" altLang="zh-CN" sz="2400" dirty="0">
                <a:solidFill>
                  <a:schemeClr val="tx2"/>
                </a:solidFill>
                <a:latin typeface="Arial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407879026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707" name="Text Box 3"/>
          <p:cNvSpPr txBox="1">
            <a:spLocks noChangeArrowheads="1"/>
          </p:cNvSpPr>
          <p:nvPr/>
        </p:nvSpPr>
        <p:spPr bwMode="auto">
          <a:xfrm>
            <a:off x="358588" y="1016732"/>
            <a:ext cx="8382000" cy="5324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1" lang="zh-CN" altLang="en-US" sz="2000" dirty="0">
                <a:solidFill>
                  <a:schemeClr val="tx1"/>
                </a:solidFill>
                <a:latin typeface="Arial" charset="0"/>
              </a:rPr>
              <a:t>分析：   </a:t>
            </a:r>
            <a:r>
              <a:rPr kumimoji="1" lang="en-US" altLang="zh-CN" sz="2000" dirty="0">
                <a:solidFill>
                  <a:srgbClr val="FF0000"/>
                </a:solidFill>
                <a:latin typeface="Arial" charset="0"/>
                <a:sym typeface="Wingdings" pitchFamily="2" charset="2"/>
              </a:rPr>
              <a:t>(1)</a:t>
            </a:r>
            <a:r>
              <a:rPr kumimoji="1" lang="zh-CN" altLang="en-US" sz="2000" dirty="0">
                <a:solidFill>
                  <a:srgbClr val="FF0000"/>
                </a:solidFill>
                <a:latin typeface="Arial" charset="0"/>
                <a:sym typeface="Wingdings" pitchFamily="2" charset="2"/>
              </a:rPr>
              <a:t>程序结构的确定</a:t>
            </a:r>
          </a:p>
          <a:p>
            <a:pPr algn="l">
              <a:spcBef>
                <a:spcPct val="50000"/>
              </a:spcBef>
            </a:pPr>
            <a:r>
              <a:rPr kumimoji="1" lang="zh-CN" altLang="en-US" sz="2000" b="0" dirty="0">
                <a:solidFill>
                  <a:schemeClr val="accent2"/>
                </a:solidFill>
                <a:latin typeface="Arial" charset="0"/>
              </a:rPr>
              <a:t>       </a:t>
            </a:r>
            <a:r>
              <a:rPr kumimoji="1" lang="zh-CN" altLang="en-US" sz="2000" b="0" dirty="0">
                <a:latin typeface="Arial" charset="0"/>
              </a:rPr>
              <a:t>由题意应该把</a:t>
            </a:r>
            <a:r>
              <a:rPr kumimoji="1" lang="en-US" altLang="zh-CN" sz="2000" b="0" dirty="0">
                <a:latin typeface="Arial" charset="0"/>
              </a:rPr>
              <a:t>BX</a:t>
            </a:r>
            <a:r>
              <a:rPr kumimoji="1" lang="zh-CN" altLang="en-US" sz="2000" b="0" dirty="0">
                <a:latin typeface="Arial" charset="0"/>
              </a:rPr>
              <a:t>的内容从左到右每</a:t>
            </a:r>
            <a:r>
              <a:rPr kumimoji="1" lang="en-US" altLang="zh-CN" sz="2000" b="0" dirty="0">
                <a:latin typeface="Arial" charset="0"/>
              </a:rPr>
              <a:t>4</a:t>
            </a:r>
            <a:r>
              <a:rPr kumimoji="1" lang="zh-CN" altLang="en-US" sz="2000" b="0" dirty="0">
                <a:latin typeface="Arial" charset="0"/>
              </a:rPr>
              <a:t>位为一组在屏幕上显示出来，显然这可以用循环结构来完成，每次显示一个十六进制数位，因而循环次数是已知的，计数值为</a:t>
            </a:r>
            <a:r>
              <a:rPr kumimoji="1" lang="en-US" altLang="zh-CN" sz="2000" b="0" dirty="0">
                <a:latin typeface="Arial" charset="0"/>
              </a:rPr>
              <a:t>4</a:t>
            </a:r>
            <a:r>
              <a:rPr kumimoji="1" lang="zh-CN" altLang="en-US" sz="2000" b="0" dirty="0">
                <a:latin typeface="Arial" charset="0"/>
              </a:rPr>
              <a:t>。</a:t>
            </a:r>
            <a:endParaRPr kumimoji="1" lang="en-US" altLang="zh-CN" sz="2000" b="0" dirty="0">
              <a:latin typeface="Arial" charset="0"/>
            </a:endParaRPr>
          </a:p>
          <a:p>
            <a:pPr>
              <a:spcBef>
                <a:spcPct val="50000"/>
              </a:spcBef>
            </a:pPr>
            <a:r>
              <a:rPr kumimoji="1" lang="en-US" altLang="zh-CN" sz="2000" b="0" dirty="0">
                <a:latin typeface="Arial" charset="0"/>
              </a:rPr>
              <a:t>	 </a:t>
            </a:r>
            <a:r>
              <a:rPr kumimoji="1" lang="en-US" altLang="zh-CN" sz="2000" dirty="0">
                <a:solidFill>
                  <a:srgbClr val="FF0000"/>
                </a:solidFill>
                <a:latin typeface="Arial" charset="0"/>
              </a:rPr>
              <a:t>(2)</a:t>
            </a:r>
            <a:r>
              <a:rPr kumimoji="1" lang="zh-CN" altLang="en-US" sz="2000" dirty="0">
                <a:solidFill>
                  <a:srgbClr val="FF0000"/>
                </a:solidFill>
                <a:latin typeface="Arial" charset="0"/>
              </a:rPr>
              <a:t>循环体的构成（算法确定）</a:t>
            </a:r>
          </a:p>
          <a:p>
            <a:pPr>
              <a:spcBef>
                <a:spcPct val="50000"/>
              </a:spcBef>
            </a:pPr>
            <a:r>
              <a:rPr kumimoji="1" lang="zh-CN" altLang="en-US" sz="2000" dirty="0">
                <a:solidFill>
                  <a:schemeClr val="accent2"/>
                </a:solidFill>
                <a:latin typeface="Arial" charset="0"/>
              </a:rPr>
              <a:t>         </a:t>
            </a:r>
            <a:r>
              <a:rPr kumimoji="1" lang="zh-CN" altLang="en-US" sz="2000" dirty="0">
                <a:latin typeface="Arial" charset="0"/>
              </a:rPr>
              <a:t>循环体应该包括：</a:t>
            </a:r>
            <a:r>
              <a:rPr kumimoji="1" lang="zh-CN" altLang="en-US" sz="2000" b="0" dirty="0">
                <a:latin typeface="Arial" charset="0"/>
              </a:rPr>
              <a:t>二进制到所显示字符的</a:t>
            </a:r>
            <a:r>
              <a:rPr kumimoji="1" lang="en-US" altLang="zh-CN" sz="2000" b="0" dirty="0">
                <a:latin typeface="Arial" charset="0"/>
              </a:rPr>
              <a:t>ASCII</a:t>
            </a:r>
            <a:r>
              <a:rPr kumimoji="1" lang="zh-CN" altLang="en-US" sz="2000" b="0" dirty="0">
                <a:latin typeface="Arial" charset="0"/>
              </a:rPr>
              <a:t>之间的转换，以及每个字符的显示。</a:t>
            </a:r>
            <a:endParaRPr kumimoji="1" lang="en-US" altLang="zh-CN" sz="2000" b="0" dirty="0">
              <a:latin typeface="Arial" charset="0"/>
            </a:endParaRPr>
          </a:p>
          <a:p>
            <a:pPr>
              <a:spcBef>
                <a:spcPct val="50000"/>
              </a:spcBef>
            </a:pPr>
            <a:r>
              <a:rPr kumimoji="1" lang="zh-CN" altLang="en-US" sz="2000" dirty="0">
                <a:solidFill>
                  <a:srgbClr val="FF0000"/>
                </a:solidFill>
                <a:latin typeface="Arial" charset="0"/>
              </a:rPr>
              <a:t>              </a:t>
            </a:r>
            <a:r>
              <a:rPr kumimoji="1" lang="en-US" altLang="zh-CN" sz="2000" dirty="0">
                <a:solidFill>
                  <a:srgbClr val="FF0000"/>
                </a:solidFill>
                <a:latin typeface="Arial" charset="0"/>
              </a:rPr>
              <a:t>(3)</a:t>
            </a:r>
            <a:r>
              <a:rPr kumimoji="1" lang="zh-CN" altLang="en-US" sz="2000" dirty="0">
                <a:solidFill>
                  <a:srgbClr val="FF0000"/>
                </a:solidFill>
                <a:latin typeface="Arial" charset="0"/>
              </a:rPr>
              <a:t>需要了解相关知识</a:t>
            </a:r>
            <a:endParaRPr kumimoji="1" lang="zh-CN" altLang="en-US" sz="2000" b="0" dirty="0">
              <a:latin typeface="Arial" charset="0"/>
            </a:endParaRPr>
          </a:p>
          <a:p>
            <a:pPr lvl="1">
              <a:spcBef>
                <a:spcPct val="50000"/>
              </a:spcBef>
            </a:pPr>
            <a:r>
              <a:rPr kumimoji="1" lang="zh-CN" altLang="en-US" sz="2000" b="0" dirty="0">
                <a:solidFill>
                  <a:srgbClr val="FF0000"/>
                </a:solidFill>
                <a:latin typeface="Arial" charset="0"/>
              </a:rPr>
              <a:t>◆</a:t>
            </a:r>
            <a:r>
              <a:rPr kumimoji="1" lang="zh-CN" altLang="en-US" sz="2000" b="0" dirty="0">
                <a:latin typeface="Arial" charset="0"/>
              </a:rPr>
              <a:t>字符和其</a:t>
            </a:r>
            <a:r>
              <a:rPr kumimoji="1" lang="en-US" altLang="zh-CN" sz="2000" b="0" dirty="0">
                <a:latin typeface="Arial" charset="0"/>
              </a:rPr>
              <a:t>ASCII</a:t>
            </a:r>
            <a:r>
              <a:rPr kumimoji="1" lang="zh-CN" altLang="en-US" sz="2000" b="0" dirty="0">
                <a:latin typeface="Arial" charset="0"/>
              </a:rPr>
              <a:t>码之间的关系？ </a:t>
            </a:r>
          </a:p>
          <a:p>
            <a:pPr lvl="1">
              <a:spcBef>
                <a:spcPct val="50000"/>
              </a:spcBef>
            </a:pPr>
            <a:r>
              <a:rPr kumimoji="1" lang="en-US" altLang="zh-CN" sz="2000" dirty="0">
                <a:solidFill>
                  <a:schemeClr val="tx2"/>
                </a:solidFill>
                <a:latin typeface="Times New Roman"/>
              </a:rPr>
              <a:t>	</a:t>
            </a:r>
            <a:r>
              <a:rPr kumimoji="1" lang="zh-CN" altLang="en-US" sz="2000" dirty="0">
                <a:solidFill>
                  <a:schemeClr val="tx2"/>
                </a:solidFill>
                <a:latin typeface="Times New Roman"/>
              </a:rPr>
              <a:t>“</a:t>
            </a:r>
            <a:r>
              <a:rPr kumimoji="1" lang="en-US" altLang="zh-CN" sz="2000" dirty="0">
                <a:solidFill>
                  <a:schemeClr val="tx2"/>
                </a:solidFill>
                <a:latin typeface="Arial" charset="0"/>
              </a:rPr>
              <a:t>0</a:t>
            </a:r>
            <a:r>
              <a:rPr kumimoji="1" lang="en-US" altLang="zh-CN" sz="2000" dirty="0">
                <a:solidFill>
                  <a:schemeClr val="tx2"/>
                </a:solidFill>
                <a:latin typeface="Times New Roman"/>
              </a:rPr>
              <a:t>”</a:t>
            </a:r>
            <a:r>
              <a:rPr kumimoji="1" lang="en-US" altLang="zh-CN" sz="2000" dirty="0">
                <a:solidFill>
                  <a:schemeClr val="tx2"/>
                </a:solidFill>
                <a:latin typeface="Arial" charset="0"/>
              </a:rPr>
              <a:t>~</a:t>
            </a:r>
            <a:r>
              <a:rPr kumimoji="1" lang="en-US" altLang="zh-CN" sz="2000" dirty="0">
                <a:solidFill>
                  <a:schemeClr val="tx2"/>
                </a:solidFill>
                <a:latin typeface="Times New Roman"/>
              </a:rPr>
              <a:t>“</a:t>
            </a:r>
            <a:r>
              <a:rPr kumimoji="1" lang="en-US" altLang="zh-CN" sz="2000" dirty="0">
                <a:solidFill>
                  <a:schemeClr val="tx2"/>
                </a:solidFill>
                <a:latin typeface="Arial" charset="0"/>
              </a:rPr>
              <a:t>9</a:t>
            </a:r>
            <a:r>
              <a:rPr kumimoji="1" lang="en-US" altLang="zh-CN" sz="2000" dirty="0">
                <a:solidFill>
                  <a:schemeClr val="tx2"/>
                </a:solidFill>
                <a:latin typeface="Times New Roman"/>
              </a:rPr>
              <a:t>”</a:t>
            </a:r>
            <a:r>
              <a:rPr kumimoji="1" lang="en-US" altLang="zh-CN" sz="2000" b="0" dirty="0">
                <a:latin typeface="Arial" charset="0"/>
              </a:rPr>
              <a:t> </a:t>
            </a:r>
            <a:r>
              <a:rPr kumimoji="1" lang="en-US" altLang="zh-CN" sz="2000" dirty="0">
                <a:solidFill>
                  <a:schemeClr val="tx2"/>
                </a:solidFill>
                <a:latin typeface="Arial" charset="0"/>
                <a:sym typeface="Wingdings" pitchFamily="2" charset="2"/>
              </a:rPr>
              <a:t>30H~39H, </a:t>
            </a:r>
            <a:r>
              <a:rPr kumimoji="1" lang="en-US" altLang="zh-CN" sz="2000" dirty="0">
                <a:solidFill>
                  <a:schemeClr val="tx2"/>
                </a:solidFill>
                <a:latin typeface="Times New Roman"/>
                <a:sym typeface="Wingdings" pitchFamily="2" charset="2"/>
              </a:rPr>
              <a:t>“</a:t>
            </a:r>
            <a:r>
              <a:rPr kumimoji="1" lang="en-US" altLang="zh-CN" sz="2000" dirty="0">
                <a:solidFill>
                  <a:schemeClr val="tx2"/>
                </a:solidFill>
                <a:latin typeface="Arial" charset="0"/>
                <a:sym typeface="Wingdings" pitchFamily="2" charset="2"/>
              </a:rPr>
              <a:t>A</a:t>
            </a:r>
            <a:r>
              <a:rPr kumimoji="1" lang="en-US" altLang="zh-CN" sz="2000" dirty="0">
                <a:solidFill>
                  <a:schemeClr val="tx2"/>
                </a:solidFill>
                <a:latin typeface="Times New Roman"/>
                <a:sym typeface="Wingdings" pitchFamily="2" charset="2"/>
              </a:rPr>
              <a:t>”</a:t>
            </a:r>
            <a:r>
              <a:rPr kumimoji="1" lang="en-US" altLang="zh-CN" sz="2000" dirty="0">
                <a:solidFill>
                  <a:schemeClr val="tx2"/>
                </a:solidFill>
                <a:latin typeface="Arial" charset="0"/>
                <a:sym typeface="Wingdings" pitchFamily="2" charset="2"/>
              </a:rPr>
              <a:t>~</a:t>
            </a:r>
            <a:r>
              <a:rPr kumimoji="1" lang="en-US" altLang="zh-CN" sz="2000" dirty="0">
                <a:solidFill>
                  <a:schemeClr val="tx2"/>
                </a:solidFill>
                <a:latin typeface="Times New Roman"/>
                <a:sym typeface="Wingdings" pitchFamily="2" charset="2"/>
              </a:rPr>
              <a:t>”</a:t>
            </a:r>
            <a:r>
              <a:rPr kumimoji="1" lang="en-US" altLang="zh-CN" sz="2000" dirty="0">
                <a:solidFill>
                  <a:schemeClr val="tx2"/>
                </a:solidFill>
                <a:latin typeface="Arial" charset="0"/>
                <a:sym typeface="Wingdings" pitchFamily="2" charset="2"/>
              </a:rPr>
              <a:t>F</a:t>
            </a:r>
            <a:r>
              <a:rPr kumimoji="1" lang="en-US" altLang="zh-CN" sz="2000" dirty="0">
                <a:solidFill>
                  <a:schemeClr val="tx2"/>
                </a:solidFill>
                <a:latin typeface="Times New Roman"/>
                <a:sym typeface="Wingdings" pitchFamily="2" charset="2"/>
              </a:rPr>
              <a:t>”</a:t>
            </a:r>
            <a:r>
              <a:rPr kumimoji="1" lang="en-US" altLang="zh-CN" sz="2000" dirty="0">
                <a:solidFill>
                  <a:schemeClr val="tx2"/>
                </a:solidFill>
                <a:latin typeface="Arial" charset="0"/>
                <a:sym typeface="Wingdings" pitchFamily="2" charset="2"/>
              </a:rPr>
              <a:t> 41H~46H</a:t>
            </a:r>
          </a:p>
          <a:p>
            <a:pPr lvl="1">
              <a:spcBef>
                <a:spcPct val="50000"/>
              </a:spcBef>
            </a:pPr>
            <a:r>
              <a:rPr kumimoji="1" lang="en-US" altLang="zh-CN" sz="2000" b="0" dirty="0">
                <a:solidFill>
                  <a:srgbClr val="FF0000"/>
                </a:solidFill>
                <a:latin typeface="Arial" charset="0"/>
              </a:rPr>
              <a:t>◆</a:t>
            </a:r>
            <a:r>
              <a:rPr kumimoji="1" lang="zh-CN" altLang="en-US" sz="2000" b="0" dirty="0">
                <a:latin typeface="Arial" charset="0"/>
              </a:rPr>
              <a:t>如何显示一个字符？</a:t>
            </a:r>
          </a:p>
          <a:p>
            <a:pPr lvl="1">
              <a:spcBef>
                <a:spcPct val="50000"/>
              </a:spcBef>
            </a:pPr>
            <a:r>
              <a:rPr kumimoji="1" lang="en-US" altLang="zh-CN" sz="2000" b="0" dirty="0">
                <a:solidFill>
                  <a:schemeClr val="tx2"/>
                </a:solidFill>
                <a:latin typeface="Arial" charset="0"/>
              </a:rPr>
              <a:t>	</a:t>
            </a:r>
            <a:r>
              <a:rPr kumimoji="1" lang="zh-CN" altLang="en-US" sz="2000" b="0" dirty="0">
                <a:solidFill>
                  <a:schemeClr val="tx2"/>
                </a:solidFill>
                <a:latin typeface="Arial" charset="0"/>
              </a:rPr>
              <a:t>（</a:t>
            </a:r>
            <a:r>
              <a:rPr kumimoji="1" lang="en-US" altLang="zh-CN" sz="2000" b="0" dirty="0">
                <a:solidFill>
                  <a:schemeClr val="tx2"/>
                </a:solidFill>
                <a:latin typeface="Arial" charset="0"/>
              </a:rPr>
              <a:t>a</a:t>
            </a:r>
            <a:r>
              <a:rPr kumimoji="1" lang="zh-CN" altLang="en-US" sz="2000" b="0" dirty="0">
                <a:solidFill>
                  <a:schemeClr val="tx2"/>
                </a:solidFill>
                <a:latin typeface="Arial" charset="0"/>
              </a:rPr>
              <a:t>）</a:t>
            </a:r>
            <a:r>
              <a:rPr kumimoji="1" lang="zh-CN" altLang="en-US" sz="2000" b="0" dirty="0">
                <a:latin typeface="Arial" charset="0"/>
              </a:rPr>
              <a:t>将显示字符的</a:t>
            </a:r>
            <a:r>
              <a:rPr kumimoji="1" lang="en-US" altLang="zh-CN" sz="2000" b="0" dirty="0">
                <a:latin typeface="Arial" charset="0"/>
              </a:rPr>
              <a:t>ASCII</a:t>
            </a:r>
            <a:r>
              <a:rPr kumimoji="1" lang="zh-CN" altLang="en-US" sz="2000" b="0" dirty="0">
                <a:latin typeface="Arial" charset="0"/>
              </a:rPr>
              <a:t>码放入</a:t>
            </a:r>
            <a:r>
              <a:rPr kumimoji="1" lang="en-US" altLang="zh-CN" sz="2000" b="0" dirty="0">
                <a:latin typeface="Arial" charset="0"/>
              </a:rPr>
              <a:t>DL</a:t>
            </a:r>
            <a:r>
              <a:rPr kumimoji="1" lang="zh-CN" altLang="en-US" sz="2000" b="0" dirty="0">
                <a:latin typeface="Arial" charset="0"/>
              </a:rPr>
              <a:t>寄存器；</a:t>
            </a:r>
            <a:r>
              <a:rPr kumimoji="1" lang="en-US" altLang="zh-CN" sz="2000" b="0" dirty="0">
                <a:solidFill>
                  <a:schemeClr val="tx2"/>
                </a:solidFill>
                <a:latin typeface="Arial" charset="0"/>
              </a:rPr>
              <a:t>(b)</a:t>
            </a:r>
            <a:r>
              <a:rPr kumimoji="1" lang="zh-CN" altLang="en-US" sz="2000" b="0" dirty="0">
                <a:latin typeface="Arial" charset="0"/>
              </a:rPr>
              <a:t>将</a:t>
            </a:r>
            <a:r>
              <a:rPr kumimoji="1" lang="en-US" altLang="zh-CN" sz="2000" b="0" dirty="0">
                <a:latin typeface="Arial" charset="0"/>
              </a:rPr>
              <a:t>AH</a:t>
            </a:r>
            <a:r>
              <a:rPr kumimoji="1" lang="zh-CN" altLang="en-US" sz="2000" b="0" dirty="0">
                <a:latin typeface="Arial" charset="0"/>
              </a:rPr>
              <a:t>的内容置为</a:t>
            </a:r>
            <a:r>
              <a:rPr kumimoji="1" lang="en-US" altLang="zh-CN" sz="2000" b="0" dirty="0">
                <a:latin typeface="Arial" charset="0"/>
              </a:rPr>
              <a:t>2</a:t>
            </a:r>
            <a:r>
              <a:rPr kumimoji="1" lang="zh-CN" altLang="en-US" sz="2000" b="0" dirty="0">
                <a:latin typeface="Arial" charset="0"/>
              </a:rPr>
              <a:t>（功能号）；</a:t>
            </a:r>
            <a:r>
              <a:rPr kumimoji="1" lang="zh-CN" altLang="en-US" sz="2000" b="0" dirty="0">
                <a:solidFill>
                  <a:schemeClr val="tx2"/>
                </a:solidFill>
                <a:latin typeface="Arial" charset="0"/>
              </a:rPr>
              <a:t>（</a:t>
            </a:r>
            <a:r>
              <a:rPr kumimoji="1" lang="en-US" altLang="zh-CN" sz="2000" b="0" dirty="0">
                <a:solidFill>
                  <a:schemeClr val="tx2"/>
                </a:solidFill>
                <a:latin typeface="Arial" charset="0"/>
              </a:rPr>
              <a:t>c</a:t>
            </a:r>
            <a:r>
              <a:rPr kumimoji="1" lang="zh-CN" altLang="en-US" sz="2000" b="0" dirty="0">
                <a:solidFill>
                  <a:schemeClr val="tx2"/>
                </a:solidFill>
                <a:latin typeface="Arial" charset="0"/>
              </a:rPr>
              <a:t>）</a:t>
            </a:r>
            <a:r>
              <a:rPr kumimoji="1" lang="zh-CN" altLang="en-US" sz="2000" b="0" dirty="0">
                <a:latin typeface="Arial" charset="0"/>
              </a:rPr>
              <a:t>执行</a:t>
            </a:r>
            <a:r>
              <a:rPr kumimoji="1" lang="en-US" altLang="zh-CN" sz="2000" b="0" dirty="0">
                <a:latin typeface="Arial" charset="0"/>
              </a:rPr>
              <a:t>INT  21H</a:t>
            </a:r>
            <a:r>
              <a:rPr kumimoji="1" lang="zh-CN" altLang="en-US" sz="2000" b="0" dirty="0">
                <a:latin typeface="Arial" charset="0"/>
              </a:rPr>
              <a:t>（</a:t>
            </a:r>
            <a:r>
              <a:rPr kumimoji="1" lang="en-US" altLang="zh-CN" sz="2000" b="0" dirty="0">
                <a:latin typeface="Arial" charset="0"/>
              </a:rPr>
              <a:t>DOS </a:t>
            </a:r>
            <a:r>
              <a:rPr kumimoji="1" lang="zh-CN" altLang="en-US" sz="2000" b="0" dirty="0">
                <a:latin typeface="Arial" charset="0"/>
              </a:rPr>
              <a:t>功能调用）。</a:t>
            </a:r>
            <a:endParaRPr kumimoji="1" lang="zh-CN" altLang="en-US" sz="2000" b="0" dirty="0">
              <a:solidFill>
                <a:schemeClr val="accent2"/>
              </a:solidFill>
              <a:latin typeface="Arial" charset="0"/>
            </a:endParaRPr>
          </a:p>
        </p:txBody>
      </p:sp>
      <p:sp>
        <p:nvSpPr>
          <p:cNvPr id="6" name="文本框 1"/>
          <p:cNvSpPr txBox="1"/>
          <p:nvPr/>
        </p:nvSpPr>
        <p:spPr>
          <a:xfrm>
            <a:off x="452120" y="317500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循环结构程序设计</a:t>
            </a:r>
          </a:p>
        </p:txBody>
      </p:sp>
    </p:spTree>
    <p:extLst>
      <p:ext uri="{BB962C8B-B14F-4D97-AF65-F5344CB8AC3E}">
        <p14:creationId xmlns:p14="http://schemas.microsoft.com/office/powerpoint/2010/main" val="49766814"/>
      </p:ext>
    </p:extLst>
  </p:cSld>
  <p:clrMapOvr>
    <a:masterClrMapping/>
  </p:clrMapOvr>
  <p:transition spd="slow">
    <p:rand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90" name="Group 37"/>
          <p:cNvGrpSpPr>
            <a:grpSpLocks/>
          </p:cNvGrpSpPr>
          <p:nvPr/>
        </p:nvGrpSpPr>
        <p:grpSpPr bwMode="auto">
          <a:xfrm>
            <a:off x="4293394" y="174625"/>
            <a:ext cx="3538538" cy="6584950"/>
            <a:chOff x="1056" y="76"/>
            <a:chExt cx="2229" cy="4148"/>
          </a:xfrm>
        </p:grpSpPr>
        <p:sp>
          <p:nvSpPr>
            <p:cNvPr id="12292" name="AutoShape 5"/>
            <p:cNvSpPr>
              <a:spLocks noChangeArrowheads="1"/>
            </p:cNvSpPr>
            <p:nvPr/>
          </p:nvSpPr>
          <p:spPr bwMode="auto">
            <a:xfrm>
              <a:off x="2016" y="96"/>
              <a:ext cx="576" cy="192"/>
            </a:xfrm>
            <a:prstGeom prst="flowChartTerminator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293" name="Text Box 6"/>
            <p:cNvSpPr txBox="1">
              <a:spLocks noChangeArrowheads="1"/>
            </p:cNvSpPr>
            <p:nvPr/>
          </p:nvSpPr>
          <p:spPr bwMode="auto">
            <a:xfrm>
              <a:off x="2112" y="76"/>
              <a:ext cx="43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1600" b="1"/>
                <a:t>开始</a:t>
              </a:r>
            </a:p>
          </p:txBody>
        </p:sp>
        <p:sp>
          <p:nvSpPr>
            <p:cNvPr id="12294" name="AutoShape 7"/>
            <p:cNvSpPr>
              <a:spLocks noChangeArrowheads="1"/>
            </p:cNvSpPr>
            <p:nvPr/>
          </p:nvSpPr>
          <p:spPr bwMode="auto">
            <a:xfrm>
              <a:off x="2016" y="4032"/>
              <a:ext cx="576" cy="192"/>
            </a:xfrm>
            <a:prstGeom prst="flowChartTerminator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295" name="Text Box 8"/>
            <p:cNvSpPr txBox="1">
              <a:spLocks noChangeArrowheads="1"/>
            </p:cNvSpPr>
            <p:nvPr/>
          </p:nvSpPr>
          <p:spPr bwMode="auto">
            <a:xfrm>
              <a:off x="2112" y="4012"/>
              <a:ext cx="43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1600" b="1"/>
                <a:t>结束</a:t>
              </a:r>
            </a:p>
          </p:txBody>
        </p:sp>
        <p:sp>
          <p:nvSpPr>
            <p:cNvPr id="12296" name="Text Box 9"/>
            <p:cNvSpPr txBox="1">
              <a:spLocks noChangeArrowheads="1"/>
            </p:cNvSpPr>
            <p:nvPr/>
          </p:nvSpPr>
          <p:spPr bwMode="auto">
            <a:xfrm>
              <a:off x="1680" y="450"/>
              <a:ext cx="1248" cy="21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1600" b="1" dirty="0"/>
                <a:t>初始化循环计数值</a:t>
              </a:r>
            </a:p>
          </p:txBody>
        </p:sp>
        <p:sp>
          <p:nvSpPr>
            <p:cNvPr id="12297" name="Text Box 10"/>
            <p:cNvSpPr txBox="1">
              <a:spLocks noChangeArrowheads="1"/>
            </p:cNvSpPr>
            <p:nvPr/>
          </p:nvSpPr>
          <p:spPr bwMode="auto">
            <a:xfrm>
              <a:off x="1632" y="876"/>
              <a:ext cx="1392" cy="21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600" b="1" dirty="0"/>
                <a:t>BX</a:t>
              </a:r>
              <a:r>
                <a:rPr lang="zh-CN" altLang="en-US" sz="1600" b="1" dirty="0"/>
                <a:t>循环左移</a:t>
              </a:r>
              <a:r>
                <a:rPr lang="en-US" altLang="zh-CN" sz="1600" b="1" dirty="0"/>
                <a:t>4</a:t>
              </a:r>
              <a:r>
                <a:rPr lang="zh-CN" altLang="en-US" sz="1600" b="1" dirty="0"/>
                <a:t>位</a:t>
              </a:r>
              <a:r>
                <a:rPr lang="zh-CN" altLang="en-US" sz="1600" dirty="0"/>
                <a:t>数</a:t>
              </a:r>
              <a:endParaRPr lang="zh-CN" altLang="en-US" sz="1600" b="1" dirty="0"/>
            </a:p>
          </p:txBody>
        </p:sp>
        <p:sp>
          <p:nvSpPr>
            <p:cNvPr id="12298" name="Text Box 11"/>
            <p:cNvSpPr txBox="1">
              <a:spLocks noChangeArrowheads="1"/>
            </p:cNvSpPr>
            <p:nvPr/>
          </p:nvSpPr>
          <p:spPr bwMode="auto">
            <a:xfrm>
              <a:off x="1680" y="1260"/>
              <a:ext cx="1248" cy="36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lang="zh-CN" altLang="en-US" sz="1600" b="1" dirty="0"/>
                <a:t>把最右边的</a:t>
              </a:r>
              <a:r>
                <a:rPr lang="en-US" altLang="zh-CN" sz="1600" b="1" dirty="0"/>
                <a:t>4</a:t>
              </a:r>
              <a:r>
                <a:rPr lang="zh-CN" altLang="en-US" sz="1600" b="1" dirty="0"/>
                <a:t>位</a:t>
              </a:r>
              <a:r>
                <a:rPr lang="zh-CN" altLang="en-US" sz="1600" dirty="0"/>
                <a:t>数</a:t>
              </a:r>
              <a:endParaRPr lang="en-US" altLang="zh-CN" sz="1600" b="1" dirty="0"/>
            </a:p>
            <a:p>
              <a:pPr algn="ctr" eaLnBrk="1" hangingPunct="1"/>
              <a:r>
                <a:rPr lang="zh-CN" altLang="en-US" sz="1600" b="1" dirty="0"/>
                <a:t>转换为</a:t>
              </a:r>
              <a:r>
                <a:rPr lang="en-US" altLang="zh-CN" sz="1600" b="1" dirty="0"/>
                <a:t>ASCII(+30h)</a:t>
              </a:r>
            </a:p>
          </p:txBody>
        </p:sp>
        <p:sp>
          <p:nvSpPr>
            <p:cNvPr id="12299" name="Text Box 13"/>
            <p:cNvSpPr txBox="1">
              <a:spLocks noChangeArrowheads="1"/>
            </p:cNvSpPr>
            <p:nvPr/>
          </p:nvSpPr>
          <p:spPr bwMode="auto">
            <a:xfrm>
              <a:off x="1680" y="2470"/>
              <a:ext cx="1248" cy="21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1600" b="1"/>
                <a:t>加上</a:t>
              </a:r>
              <a:r>
                <a:rPr lang="en-US" altLang="zh-CN" sz="1600" b="1"/>
                <a:t>7</a:t>
              </a:r>
            </a:p>
          </p:txBody>
        </p:sp>
        <p:sp>
          <p:nvSpPr>
            <p:cNvPr id="12300" name="Text Box 14"/>
            <p:cNvSpPr txBox="1">
              <a:spLocks noChangeArrowheads="1"/>
            </p:cNvSpPr>
            <p:nvPr/>
          </p:nvSpPr>
          <p:spPr bwMode="auto">
            <a:xfrm>
              <a:off x="1680" y="2902"/>
              <a:ext cx="1248" cy="21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1600" b="1"/>
                <a:t>显示一个字符</a:t>
              </a:r>
            </a:p>
          </p:txBody>
        </p:sp>
        <p:sp>
          <p:nvSpPr>
            <p:cNvPr id="12301" name="AutoShape 15"/>
            <p:cNvSpPr>
              <a:spLocks noChangeArrowheads="1"/>
            </p:cNvSpPr>
            <p:nvPr/>
          </p:nvSpPr>
          <p:spPr bwMode="auto">
            <a:xfrm>
              <a:off x="1659" y="1776"/>
              <a:ext cx="1296" cy="528"/>
            </a:xfrm>
            <a:prstGeom prst="flowChartDecision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302" name="AutoShape 16"/>
            <p:cNvSpPr>
              <a:spLocks noChangeArrowheads="1"/>
            </p:cNvSpPr>
            <p:nvPr/>
          </p:nvSpPr>
          <p:spPr bwMode="auto">
            <a:xfrm>
              <a:off x="1652" y="3312"/>
              <a:ext cx="1296" cy="528"/>
            </a:xfrm>
            <a:prstGeom prst="flowChartDecision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303" name="Text Box 17"/>
            <p:cNvSpPr txBox="1">
              <a:spLocks noChangeArrowheads="1"/>
            </p:cNvSpPr>
            <p:nvPr/>
          </p:nvSpPr>
          <p:spPr bwMode="auto">
            <a:xfrm>
              <a:off x="1700" y="3408"/>
              <a:ext cx="1248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lang="zh-CN" altLang="en-US" sz="1600" b="1"/>
                <a:t>循环计数值</a:t>
              </a:r>
            </a:p>
            <a:p>
              <a:pPr algn="ctr" eaLnBrk="1" hangingPunct="1"/>
              <a:r>
                <a:rPr lang="en-US" altLang="zh-CN" sz="1600" b="1"/>
                <a:t>=0?</a:t>
              </a:r>
            </a:p>
          </p:txBody>
        </p:sp>
        <p:sp>
          <p:nvSpPr>
            <p:cNvPr id="12304" name="Text Box 18"/>
            <p:cNvSpPr txBox="1">
              <a:spLocks noChangeArrowheads="1"/>
            </p:cNvSpPr>
            <p:nvPr/>
          </p:nvSpPr>
          <p:spPr bwMode="auto">
            <a:xfrm>
              <a:off x="1707" y="1794"/>
              <a:ext cx="1248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lang="zh-CN" altLang="en-US" sz="1600" b="1"/>
                <a:t>是</a:t>
              </a:r>
            </a:p>
            <a:p>
              <a:pPr algn="ctr" eaLnBrk="1" hangingPunct="1"/>
              <a:r>
                <a:rPr lang="en-US" altLang="zh-CN" sz="1600" b="1"/>
                <a:t>ASCII A-F?</a:t>
              </a:r>
            </a:p>
          </p:txBody>
        </p:sp>
        <p:sp>
          <p:nvSpPr>
            <p:cNvPr id="12305" name="Line 19"/>
            <p:cNvSpPr>
              <a:spLocks noChangeShapeType="1"/>
            </p:cNvSpPr>
            <p:nvPr/>
          </p:nvSpPr>
          <p:spPr bwMode="auto">
            <a:xfrm>
              <a:off x="2304" y="28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6" name="Line 20"/>
            <p:cNvSpPr>
              <a:spLocks noChangeShapeType="1"/>
            </p:cNvSpPr>
            <p:nvPr/>
          </p:nvSpPr>
          <p:spPr bwMode="auto">
            <a:xfrm>
              <a:off x="2304" y="67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7" name="Line 21"/>
            <p:cNvSpPr>
              <a:spLocks noChangeShapeType="1"/>
            </p:cNvSpPr>
            <p:nvPr/>
          </p:nvSpPr>
          <p:spPr bwMode="auto">
            <a:xfrm>
              <a:off x="2304" y="1104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8" name="Line 22"/>
            <p:cNvSpPr>
              <a:spLocks noChangeShapeType="1"/>
            </p:cNvSpPr>
            <p:nvPr/>
          </p:nvSpPr>
          <p:spPr bwMode="auto">
            <a:xfrm>
              <a:off x="2304" y="163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9" name="Line 23"/>
            <p:cNvSpPr>
              <a:spLocks noChangeShapeType="1"/>
            </p:cNvSpPr>
            <p:nvPr/>
          </p:nvSpPr>
          <p:spPr bwMode="auto">
            <a:xfrm>
              <a:off x="2304" y="230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0" name="Line 24"/>
            <p:cNvSpPr>
              <a:spLocks noChangeShapeType="1"/>
            </p:cNvSpPr>
            <p:nvPr/>
          </p:nvSpPr>
          <p:spPr bwMode="auto">
            <a:xfrm>
              <a:off x="2304" y="268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1" name="Line 25"/>
            <p:cNvSpPr>
              <a:spLocks noChangeShapeType="1"/>
            </p:cNvSpPr>
            <p:nvPr/>
          </p:nvSpPr>
          <p:spPr bwMode="auto">
            <a:xfrm>
              <a:off x="2304" y="3120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2" name="Line 26"/>
            <p:cNvSpPr>
              <a:spLocks noChangeShapeType="1"/>
            </p:cNvSpPr>
            <p:nvPr/>
          </p:nvSpPr>
          <p:spPr bwMode="auto">
            <a:xfrm>
              <a:off x="2304" y="3840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3" name="Line 27"/>
            <p:cNvSpPr>
              <a:spLocks noChangeShapeType="1"/>
            </p:cNvSpPr>
            <p:nvPr/>
          </p:nvSpPr>
          <p:spPr bwMode="auto">
            <a:xfrm flipH="1">
              <a:off x="1070" y="3579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4" name="Line 28"/>
            <p:cNvSpPr>
              <a:spLocks noChangeShapeType="1"/>
            </p:cNvSpPr>
            <p:nvPr/>
          </p:nvSpPr>
          <p:spPr bwMode="auto">
            <a:xfrm flipH="1">
              <a:off x="1056" y="768"/>
              <a:ext cx="0" cy="28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5" name="Line 29"/>
            <p:cNvSpPr>
              <a:spLocks noChangeShapeType="1"/>
            </p:cNvSpPr>
            <p:nvPr/>
          </p:nvSpPr>
          <p:spPr bwMode="auto">
            <a:xfrm flipH="1">
              <a:off x="1056" y="768"/>
              <a:ext cx="12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6" name="Line 30"/>
            <p:cNvSpPr>
              <a:spLocks noChangeShapeType="1"/>
            </p:cNvSpPr>
            <p:nvPr/>
          </p:nvSpPr>
          <p:spPr bwMode="auto">
            <a:xfrm flipH="1" flipV="1">
              <a:off x="2942" y="2043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7" name="Line 31"/>
            <p:cNvSpPr>
              <a:spLocks noChangeShapeType="1"/>
            </p:cNvSpPr>
            <p:nvPr/>
          </p:nvSpPr>
          <p:spPr bwMode="auto">
            <a:xfrm flipV="1">
              <a:off x="3285" y="2043"/>
              <a:ext cx="0" cy="7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8" name="Line 32"/>
            <p:cNvSpPr>
              <a:spLocks noChangeShapeType="1"/>
            </p:cNvSpPr>
            <p:nvPr/>
          </p:nvSpPr>
          <p:spPr bwMode="auto">
            <a:xfrm flipH="1" flipV="1">
              <a:off x="2311" y="2784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9" name="Text Box 33"/>
            <p:cNvSpPr txBox="1">
              <a:spLocks noChangeArrowheads="1"/>
            </p:cNvSpPr>
            <p:nvPr/>
          </p:nvSpPr>
          <p:spPr bwMode="auto">
            <a:xfrm>
              <a:off x="1440" y="3388"/>
              <a:ext cx="19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600" b="1"/>
                <a:t>N</a:t>
              </a:r>
            </a:p>
          </p:txBody>
        </p:sp>
        <p:sp>
          <p:nvSpPr>
            <p:cNvPr id="12320" name="Text Box 34"/>
            <p:cNvSpPr txBox="1">
              <a:spLocks noChangeArrowheads="1"/>
            </p:cNvSpPr>
            <p:nvPr/>
          </p:nvSpPr>
          <p:spPr bwMode="auto">
            <a:xfrm>
              <a:off x="2928" y="1852"/>
              <a:ext cx="19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600" b="1"/>
                <a:t>N</a:t>
              </a:r>
            </a:p>
          </p:txBody>
        </p:sp>
        <p:sp>
          <p:nvSpPr>
            <p:cNvPr id="12321" name="Text Box 35"/>
            <p:cNvSpPr txBox="1">
              <a:spLocks noChangeArrowheads="1"/>
            </p:cNvSpPr>
            <p:nvPr/>
          </p:nvSpPr>
          <p:spPr bwMode="auto">
            <a:xfrm>
              <a:off x="2304" y="2256"/>
              <a:ext cx="19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600" b="1"/>
                <a:t>Y</a:t>
              </a:r>
            </a:p>
          </p:txBody>
        </p:sp>
        <p:sp>
          <p:nvSpPr>
            <p:cNvPr id="12322" name="Text Box 36"/>
            <p:cNvSpPr txBox="1">
              <a:spLocks noChangeArrowheads="1"/>
            </p:cNvSpPr>
            <p:nvPr/>
          </p:nvSpPr>
          <p:spPr bwMode="auto">
            <a:xfrm>
              <a:off x="2304" y="3792"/>
              <a:ext cx="19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600" b="1"/>
                <a:t>Y</a:t>
              </a:r>
            </a:p>
          </p:txBody>
        </p:sp>
      </p:grpSp>
      <p:sp>
        <p:nvSpPr>
          <p:cNvPr id="35" name="文本框 1"/>
          <p:cNvSpPr txBox="1"/>
          <p:nvPr/>
        </p:nvSpPr>
        <p:spPr>
          <a:xfrm>
            <a:off x="452120" y="317500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循环结构程序设计</a:t>
            </a:r>
          </a:p>
        </p:txBody>
      </p:sp>
      <p:pic>
        <p:nvPicPr>
          <p:cNvPr id="54273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120" y="1166811"/>
            <a:ext cx="3111768" cy="52266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00940423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1"/>
          <p:cNvSpPr txBox="1"/>
          <p:nvPr/>
        </p:nvSpPr>
        <p:spPr>
          <a:xfrm>
            <a:off x="452120" y="317500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循环结构程序设计</a:t>
            </a:r>
          </a:p>
        </p:txBody>
      </p:sp>
      <p:sp>
        <p:nvSpPr>
          <p:cNvPr id="3" name="矩形 2"/>
          <p:cNvSpPr/>
          <p:nvPr/>
        </p:nvSpPr>
        <p:spPr>
          <a:xfrm>
            <a:off x="299899" y="903486"/>
            <a:ext cx="6280120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b="0" dirty="0" err="1"/>
              <a:t>datas</a:t>
            </a:r>
            <a:r>
              <a:rPr lang="en-US" altLang="zh-CN" sz="1400" b="0" dirty="0"/>
              <a:t> segment</a:t>
            </a:r>
          </a:p>
          <a:p>
            <a:r>
              <a:rPr lang="en-US" altLang="zh-CN" sz="1400" b="0" dirty="0"/>
              <a:t>    temp </a:t>
            </a:r>
            <a:r>
              <a:rPr lang="en-US" altLang="zh-CN" sz="1400" b="0" dirty="0" err="1"/>
              <a:t>dw</a:t>
            </a:r>
            <a:r>
              <a:rPr lang="en-US" altLang="zh-CN" sz="1400" b="0" dirty="0"/>
              <a:t>  72FAH</a:t>
            </a:r>
          </a:p>
          <a:p>
            <a:r>
              <a:rPr lang="en-US" altLang="zh-CN" sz="1400" b="0" dirty="0" err="1"/>
              <a:t>datas</a:t>
            </a:r>
            <a:r>
              <a:rPr lang="en-US" altLang="zh-CN" sz="1400" b="0" dirty="0"/>
              <a:t> ends</a:t>
            </a:r>
          </a:p>
          <a:p>
            <a:r>
              <a:rPr lang="en-US" altLang="zh-CN" sz="1400" b="0" dirty="0"/>
              <a:t>codes segment</a:t>
            </a:r>
          </a:p>
          <a:p>
            <a:r>
              <a:rPr lang="en-US" altLang="zh-CN" sz="1400" b="0" dirty="0"/>
              <a:t>    assume </a:t>
            </a:r>
            <a:r>
              <a:rPr lang="en-US" altLang="zh-CN" sz="1400" b="0" dirty="0" err="1"/>
              <a:t>cs:codes</a:t>
            </a:r>
            <a:r>
              <a:rPr lang="en-US" altLang="zh-CN" sz="1400" b="0" dirty="0"/>
              <a:t>, </a:t>
            </a:r>
            <a:r>
              <a:rPr lang="en-US" altLang="zh-CN" sz="1400" b="0" dirty="0" err="1"/>
              <a:t>ds:datas</a:t>
            </a:r>
            <a:endParaRPr lang="en-US" altLang="zh-CN" sz="1400" b="0" dirty="0"/>
          </a:p>
          <a:p>
            <a:r>
              <a:rPr lang="en-US" altLang="zh-CN" sz="1400" b="0" dirty="0"/>
              <a:t>start:    	mov 	ax, </a:t>
            </a:r>
            <a:r>
              <a:rPr lang="en-US" altLang="zh-CN" sz="1400" b="0" dirty="0" err="1"/>
              <a:t>datas</a:t>
            </a:r>
            <a:endParaRPr lang="en-US" altLang="zh-CN" sz="1400" b="0" dirty="0"/>
          </a:p>
          <a:p>
            <a:r>
              <a:rPr lang="en-US" altLang="zh-CN" sz="1400" b="0" dirty="0"/>
              <a:t>    	</a:t>
            </a:r>
            <a:r>
              <a:rPr lang="en-US" altLang="zh-CN" sz="1400" b="0" dirty="0" err="1"/>
              <a:t>mov</a:t>
            </a:r>
            <a:r>
              <a:rPr lang="en-US" altLang="zh-CN" sz="1400" b="0" dirty="0"/>
              <a:t>	ds, ax</a:t>
            </a:r>
          </a:p>
          <a:p>
            <a:r>
              <a:rPr lang="en-US" altLang="zh-CN" sz="1400" b="0" dirty="0"/>
              <a:t>    	</a:t>
            </a:r>
            <a:r>
              <a:rPr lang="en-US" altLang="zh-CN" sz="1400" b="0" dirty="0" err="1"/>
              <a:t>mov</a:t>
            </a:r>
            <a:r>
              <a:rPr lang="en-US" altLang="zh-CN" sz="1400" b="0" dirty="0"/>
              <a:t>	</a:t>
            </a:r>
            <a:r>
              <a:rPr lang="en-US" altLang="zh-CN" sz="1400" b="0" dirty="0" err="1"/>
              <a:t>bx</a:t>
            </a:r>
            <a:r>
              <a:rPr lang="en-US" altLang="zh-CN" sz="1400" b="0" dirty="0"/>
              <a:t>, temp</a:t>
            </a:r>
          </a:p>
          <a:p>
            <a:r>
              <a:rPr lang="en-US" altLang="zh-CN" sz="1400" b="0" dirty="0"/>
              <a:t>   	</a:t>
            </a:r>
            <a:r>
              <a:rPr lang="en-US" altLang="zh-CN" sz="1400" b="0" dirty="0" err="1"/>
              <a:t>mov</a:t>
            </a:r>
            <a:r>
              <a:rPr lang="en-US" altLang="zh-CN" sz="1400" b="0" dirty="0"/>
              <a:t> 	</a:t>
            </a:r>
            <a:r>
              <a:rPr lang="en-US" altLang="zh-CN" sz="1400" b="0" dirty="0" err="1"/>
              <a:t>ch</a:t>
            </a:r>
            <a:r>
              <a:rPr lang="en-US" altLang="zh-CN" sz="1400" b="0" dirty="0"/>
              <a:t>, 4	</a:t>
            </a:r>
            <a:r>
              <a:rPr lang="zh-CN" altLang="en-US" sz="1400" b="0" dirty="0"/>
              <a:t>；循环次数</a:t>
            </a:r>
          </a:p>
          <a:p>
            <a:r>
              <a:rPr lang="en-US" altLang="zh-CN" sz="1400" b="0" dirty="0"/>
              <a:t>rotate: 	</a:t>
            </a:r>
            <a:r>
              <a:rPr lang="en-US" altLang="zh-CN" sz="1400" b="0" dirty="0" err="1"/>
              <a:t>mov</a:t>
            </a:r>
            <a:r>
              <a:rPr lang="en-US" altLang="zh-CN" sz="1400" b="0" dirty="0"/>
              <a:t> 	cl, 4	</a:t>
            </a:r>
            <a:r>
              <a:rPr lang="zh-CN" altLang="en-US" sz="1400" b="0" dirty="0"/>
              <a:t>；移位个数</a:t>
            </a:r>
          </a:p>
          <a:p>
            <a:r>
              <a:rPr lang="en-US" altLang="zh-CN" sz="1400" b="0" dirty="0"/>
              <a:t>       	</a:t>
            </a:r>
            <a:r>
              <a:rPr lang="en-US" altLang="zh-CN" sz="1400" b="0" dirty="0" err="1"/>
              <a:t>rol</a:t>
            </a:r>
            <a:r>
              <a:rPr lang="en-US" altLang="zh-CN" sz="1400" b="0" dirty="0"/>
              <a:t> 	</a:t>
            </a:r>
            <a:r>
              <a:rPr lang="en-US" altLang="zh-CN" sz="1400" b="0" dirty="0" err="1"/>
              <a:t>bx</a:t>
            </a:r>
            <a:r>
              <a:rPr lang="en-US" altLang="zh-CN" sz="1400" b="0" dirty="0"/>
              <a:t>, cl	</a:t>
            </a:r>
            <a:r>
              <a:rPr lang="zh-CN" altLang="en-US" sz="1400" b="0" dirty="0"/>
              <a:t>；</a:t>
            </a:r>
            <a:r>
              <a:rPr lang="en-US" altLang="zh-CN" sz="1400" b="0" dirty="0" err="1"/>
              <a:t>bx</a:t>
            </a:r>
            <a:r>
              <a:rPr lang="zh-CN" altLang="en-US" sz="1400" b="0" dirty="0"/>
              <a:t>循环左移</a:t>
            </a:r>
            <a:r>
              <a:rPr lang="en-US" altLang="zh-CN" sz="1400" b="0" dirty="0"/>
              <a:t>4</a:t>
            </a:r>
            <a:r>
              <a:rPr lang="zh-CN" altLang="en-US" sz="1400" b="0" dirty="0"/>
              <a:t>位 </a:t>
            </a:r>
          </a:p>
          <a:p>
            <a:r>
              <a:rPr lang="en-US" altLang="zh-CN" sz="1400" b="0" dirty="0"/>
              <a:t>       	</a:t>
            </a:r>
            <a:r>
              <a:rPr lang="en-US" altLang="zh-CN" sz="1400" b="0" dirty="0" err="1"/>
              <a:t>mov</a:t>
            </a:r>
            <a:r>
              <a:rPr lang="en-US" altLang="zh-CN" sz="1400" b="0" dirty="0"/>
              <a:t> 	al, </a:t>
            </a:r>
            <a:r>
              <a:rPr lang="en-US" altLang="zh-CN" sz="1400" b="0" dirty="0" err="1"/>
              <a:t>bl</a:t>
            </a:r>
            <a:r>
              <a:rPr lang="en-US" altLang="zh-CN" sz="1400" b="0" dirty="0"/>
              <a:t>	</a:t>
            </a:r>
            <a:r>
              <a:rPr lang="zh-CN" altLang="en-US" sz="1400" b="0" dirty="0"/>
              <a:t>；移位后的低</a:t>
            </a:r>
            <a:r>
              <a:rPr lang="en-US" altLang="zh-CN" sz="1400" b="0" dirty="0"/>
              <a:t>8</a:t>
            </a:r>
            <a:r>
              <a:rPr lang="zh-CN" altLang="en-US" sz="1400" b="0" dirty="0"/>
              <a:t>位送</a:t>
            </a:r>
            <a:r>
              <a:rPr lang="en-US" altLang="zh-CN" sz="1400" b="0" dirty="0"/>
              <a:t>al</a:t>
            </a:r>
          </a:p>
          <a:p>
            <a:r>
              <a:rPr lang="en-US" altLang="zh-CN" sz="1400" b="0" dirty="0"/>
              <a:t>       	and 	al, 0fh 	</a:t>
            </a:r>
            <a:r>
              <a:rPr lang="zh-CN" altLang="en-US" sz="1400" b="0" dirty="0"/>
              <a:t>；取</a:t>
            </a:r>
            <a:r>
              <a:rPr lang="en-US" altLang="zh-CN" sz="1400" b="0" dirty="0"/>
              <a:t>al</a:t>
            </a:r>
            <a:r>
              <a:rPr lang="zh-CN" altLang="en-US" sz="1400" b="0" dirty="0"/>
              <a:t>的低四位</a:t>
            </a:r>
          </a:p>
          <a:p>
            <a:r>
              <a:rPr lang="en-US" altLang="zh-CN" sz="1400" b="0" dirty="0"/>
              <a:t> 	add 	al, 30h	</a:t>
            </a:r>
            <a:r>
              <a:rPr lang="zh-CN" altLang="en-US" sz="1400" b="0" dirty="0"/>
              <a:t>；</a:t>
            </a:r>
            <a:r>
              <a:rPr lang="en-US" altLang="zh-CN" sz="1400" b="0" dirty="0"/>
              <a:t>0-9</a:t>
            </a:r>
            <a:r>
              <a:rPr lang="zh-CN" altLang="en-US" sz="1400" b="0" dirty="0"/>
              <a:t>转</a:t>
            </a:r>
            <a:r>
              <a:rPr lang="en-US" altLang="zh-CN" sz="1400" b="0" dirty="0" err="1"/>
              <a:t>ascii</a:t>
            </a:r>
            <a:r>
              <a:rPr lang="zh-CN" altLang="en-US" sz="1400" b="0" dirty="0"/>
              <a:t>码，加</a:t>
            </a:r>
            <a:r>
              <a:rPr lang="en-US" altLang="zh-CN" sz="1400" b="0" dirty="0"/>
              <a:t>30h</a:t>
            </a:r>
          </a:p>
          <a:p>
            <a:r>
              <a:rPr lang="en-US" altLang="zh-CN" sz="1400" b="0" dirty="0"/>
              <a:t>	</a:t>
            </a:r>
            <a:r>
              <a:rPr lang="en-US" altLang="zh-CN" sz="1400" b="0" dirty="0" err="1"/>
              <a:t>cmp</a:t>
            </a:r>
            <a:r>
              <a:rPr lang="en-US" altLang="zh-CN" sz="1400" b="0" dirty="0"/>
              <a:t> 	al, 3ah	</a:t>
            </a:r>
            <a:r>
              <a:rPr lang="zh-CN" altLang="en-US" sz="1400" b="0" dirty="0"/>
              <a:t>；比较是否是</a:t>
            </a:r>
            <a:r>
              <a:rPr lang="en-US" altLang="zh-CN" sz="1400" b="0" dirty="0"/>
              <a:t>a-f</a:t>
            </a:r>
          </a:p>
          <a:p>
            <a:r>
              <a:rPr lang="en-US" altLang="zh-CN" sz="1400" b="0" dirty="0"/>
              <a:t>       	</a:t>
            </a:r>
            <a:r>
              <a:rPr lang="en-US" altLang="zh-CN" sz="1400" b="0" dirty="0" err="1"/>
              <a:t>jl</a:t>
            </a:r>
            <a:r>
              <a:rPr lang="en-US" altLang="zh-CN" sz="1400" b="0" dirty="0"/>
              <a:t>  	</a:t>
            </a:r>
            <a:r>
              <a:rPr lang="en-US" altLang="zh-CN" sz="1400" b="0" dirty="0" err="1"/>
              <a:t>printit</a:t>
            </a:r>
            <a:r>
              <a:rPr lang="en-US" altLang="zh-CN" sz="1400" b="0" dirty="0"/>
              <a:t>	</a:t>
            </a:r>
            <a:r>
              <a:rPr lang="zh-CN" altLang="en-US" sz="1400" b="0" dirty="0"/>
              <a:t>；如果小于</a:t>
            </a:r>
            <a:r>
              <a:rPr lang="en-US" altLang="zh-CN" sz="1400" b="0" dirty="0"/>
              <a:t>3ah</a:t>
            </a:r>
            <a:r>
              <a:rPr lang="zh-CN" altLang="en-US" sz="1400" b="0" dirty="0"/>
              <a:t>，说明是</a:t>
            </a:r>
            <a:r>
              <a:rPr lang="en-US" altLang="zh-CN" sz="1400" b="0" dirty="0"/>
              <a:t>0-9</a:t>
            </a:r>
            <a:r>
              <a:rPr lang="zh-CN" altLang="en-US" sz="1400" b="0" dirty="0"/>
              <a:t>，直接输出</a:t>
            </a:r>
          </a:p>
          <a:p>
            <a:r>
              <a:rPr lang="en-US" altLang="zh-CN" sz="1400" b="0" dirty="0"/>
              <a:t>       	add 	al, 7h	</a:t>
            </a:r>
            <a:r>
              <a:rPr lang="zh-CN" altLang="en-US" sz="1400" b="0" dirty="0"/>
              <a:t>；反之说明是</a:t>
            </a:r>
            <a:r>
              <a:rPr lang="en-US" altLang="zh-CN" sz="1400" b="0" dirty="0"/>
              <a:t>a-f</a:t>
            </a:r>
            <a:r>
              <a:rPr lang="zh-CN" altLang="en-US" sz="1400" b="0" dirty="0"/>
              <a:t>，则加</a:t>
            </a:r>
            <a:r>
              <a:rPr lang="en-US" altLang="zh-CN" sz="1400" b="0" dirty="0"/>
              <a:t>7</a:t>
            </a:r>
          </a:p>
          <a:p>
            <a:r>
              <a:rPr lang="en-US" altLang="zh-CN" sz="1400" b="0" dirty="0" err="1"/>
              <a:t>printit</a:t>
            </a:r>
            <a:r>
              <a:rPr lang="en-US" altLang="zh-CN" sz="1400" b="0" dirty="0"/>
              <a:t>:     	</a:t>
            </a:r>
            <a:r>
              <a:rPr lang="en-US" altLang="zh-CN" sz="1400" b="0" dirty="0" err="1">
                <a:solidFill>
                  <a:srgbClr val="FF0000"/>
                </a:solidFill>
              </a:rPr>
              <a:t>mov</a:t>
            </a:r>
            <a:r>
              <a:rPr lang="en-US" altLang="zh-CN" sz="1400" b="0" dirty="0">
                <a:solidFill>
                  <a:srgbClr val="FF0000"/>
                </a:solidFill>
              </a:rPr>
              <a:t> 	dl, al</a:t>
            </a:r>
          </a:p>
          <a:p>
            <a:r>
              <a:rPr lang="en-US" altLang="zh-CN" sz="1400" b="0" dirty="0">
                <a:solidFill>
                  <a:srgbClr val="FF0000"/>
                </a:solidFill>
              </a:rPr>
              <a:t>       	</a:t>
            </a:r>
            <a:r>
              <a:rPr lang="en-US" altLang="zh-CN" sz="1400" b="0" dirty="0" err="1">
                <a:solidFill>
                  <a:srgbClr val="FF0000"/>
                </a:solidFill>
              </a:rPr>
              <a:t>mov</a:t>
            </a:r>
            <a:r>
              <a:rPr lang="en-US" altLang="zh-CN" sz="1400" b="0" dirty="0">
                <a:solidFill>
                  <a:srgbClr val="FF0000"/>
                </a:solidFill>
              </a:rPr>
              <a:t> 	ah, 2</a:t>
            </a:r>
          </a:p>
          <a:p>
            <a:r>
              <a:rPr lang="en-US" altLang="zh-CN" sz="1400" b="0" dirty="0">
                <a:solidFill>
                  <a:srgbClr val="FF0000"/>
                </a:solidFill>
              </a:rPr>
              <a:t>       	</a:t>
            </a:r>
            <a:r>
              <a:rPr lang="en-US" altLang="zh-CN" sz="1400" b="0" dirty="0" err="1">
                <a:solidFill>
                  <a:srgbClr val="FF0000"/>
                </a:solidFill>
              </a:rPr>
              <a:t>int</a:t>
            </a:r>
            <a:r>
              <a:rPr lang="en-US" altLang="zh-CN" sz="1400" b="0" dirty="0">
                <a:solidFill>
                  <a:srgbClr val="FF0000"/>
                </a:solidFill>
              </a:rPr>
              <a:t> 	21h</a:t>
            </a:r>
          </a:p>
          <a:p>
            <a:r>
              <a:rPr lang="en-US" altLang="zh-CN" sz="1400" b="0" dirty="0"/>
              <a:t>       	</a:t>
            </a:r>
            <a:r>
              <a:rPr lang="en-US" altLang="zh-CN" sz="1400" b="0" dirty="0" err="1"/>
              <a:t>dec</a:t>
            </a:r>
            <a:r>
              <a:rPr lang="en-US" altLang="zh-CN" sz="1400" b="0" dirty="0"/>
              <a:t> 	</a:t>
            </a:r>
            <a:r>
              <a:rPr lang="en-US" altLang="zh-CN" sz="1400" b="0" dirty="0" err="1"/>
              <a:t>ch</a:t>
            </a:r>
            <a:r>
              <a:rPr lang="en-US" altLang="zh-CN" sz="1400" b="0" dirty="0"/>
              <a:t>	</a:t>
            </a:r>
            <a:r>
              <a:rPr lang="zh-CN" altLang="en-US" sz="1400" b="0" dirty="0"/>
              <a:t>；循环次数减</a:t>
            </a:r>
            <a:r>
              <a:rPr lang="en-US" altLang="zh-CN" sz="1400" b="0" dirty="0"/>
              <a:t>1</a:t>
            </a:r>
          </a:p>
          <a:p>
            <a:r>
              <a:rPr lang="en-US" altLang="zh-CN" sz="1400" b="0" dirty="0"/>
              <a:t>       	</a:t>
            </a:r>
            <a:r>
              <a:rPr lang="en-US" altLang="zh-CN" sz="1400" b="0" dirty="0" err="1"/>
              <a:t>jnz</a:t>
            </a:r>
            <a:r>
              <a:rPr lang="en-US" altLang="zh-CN" sz="1400" b="0" dirty="0"/>
              <a:t> 	rotate	</a:t>
            </a:r>
            <a:r>
              <a:rPr lang="zh-CN" altLang="en-US" sz="1400" b="0" dirty="0"/>
              <a:t>；若</a:t>
            </a:r>
            <a:r>
              <a:rPr lang="en-US" altLang="zh-CN" sz="1400" b="0" dirty="0" err="1"/>
              <a:t>zf</a:t>
            </a:r>
            <a:r>
              <a:rPr lang="zh-CN" altLang="en-US" sz="1400" b="0" dirty="0"/>
              <a:t>不为</a:t>
            </a:r>
            <a:r>
              <a:rPr lang="en-US" altLang="zh-CN" sz="1400" b="0" dirty="0"/>
              <a:t>0</a:t>
            </a:r>
            <a:r>
              <a:rPr lang="zh-CN" altLang="en-US" sz="1400" b="0" dirty="0"/>
              <a:t>则循环</a:t>
            </a:r>
          </a:p>
          <a:p>
            <a:r>
              <a:rPr lang="en-US" altLang="zh-CN" sz="1400" b="0" dirty="0"/>
              <a:t>	</a:t>
            </a:r>
            <a:r>
              <a:rPr lang="en-US" altLang="zh-CN" sz="1400" b="0" dirty="0" err="1"/>
              <a:t>mov</a:t>
            </a:r>
            <a:r>
              <a:rPr lang="en-US" altLang="zh-CN" sz="1400" b="0" dirty="0"/>
              <a:t> 	ah, 4ch</a:t>
            </a:r>
          </a:p>
          <a:p>
            <a:r>
              <a:rPr lang="en-US" altLang="zh-CN" sz="1400" b="0" dirty="0"/>
              <a:t>    	</a:t>
            </a:r>
            <a:r>
              <a:rPr lang="en-US" altLang="zh-CN" sz="1400" b="0" dirty="0" err="1"/>
              <a:t>int</a:t>
            </a:r>
            <a:r>
              <a:rPr lang="en-US" altLang="zh-CN" sz="1400" b="0" dirty="0"/>
              <a:t> 	21h</a:t>
            </a:r>
          </a:p>
          <a:p>
            <a:r>
              <a:rPr lang="en-US" altLang="zh-CN" sz="1400" b="0" dirty="0"/>
              <a:t>codes ends</a:t>
            </a:r>
          </a:p>
          <a:p>
            <a:r>
              <a:rPr lang="en-US" altLang="zh-CN" sz="1400" b="0" dirty="0"/>
              <a:t>    end start</a:t>
            </a:r>
            <a:endParaRPr lang="zh-CN" altLang="en-US" sz="1400" b="0" dirty="0"/>
          </a:p>
        </p:txBody>
      </p:sp>
      <p:grpSp>
        <p:nvGrpSpPr>
          <p:cNvPr id="5" name="Group 37"/>
          <p:cNvGrpSpPr>
            <a:grpSpLocks/>
          </p:cNvGrpSpPr>
          <p:nvPr/>
        </p:nvGrpSpPr>
        <p:grpSpPr bwMode="auto">
          <a:xfrm>
            <a:off x="5508104" y="80628"/>
            <a:ext cx="3538538" cy="6584950"/>
            <a:chOff x="1056" y="76"/>
            <a:chExt cx="2229" cy="4148"/>
          </a:xfrm>
        </p:grpSpPr>
        <p:sp>
          <p:nvSpPr>
            <p:cNvPr id="6" name="AutoShape 5"/>
            <p:cNvSpPr>
              <a:spLocks noChangeArrowheads="1"/>
            </p:cNvSpPr>
            <p:nvPr/>
          </p:nvSpPr>
          <p:spPr bwMode="auto">
            <a:xfrm>
              <a:off x="2016" y="96"/>
              <a:ext cx="576" cy="192"/>
            </a:xfrm>
            <a:prstGeom prst="flowChartTerminator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" name="Text Box 6"/>
            <p:cNvSpPr txBox="1">
              <a:spLocks noChangeArrowheads="1"/>
            </p:cNvSpPr>
            <p:nvPr/>
          </p:nvSpPr>
          <p:spPr bwMode="auto">
            <a:xfrm>
              <a:off x="2112" y="76"/>
              <a:ext cx="43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1600" b="1"/>
                <a:t>开始</a:t>
              </a:r>
            </a:p>
          </p:txBody>
        </p:sp>
        <p:sp>
          <p:nvSpPr>
            <p:cNvPr id="8" name="AutoShape 7"/>
            <p:cNvSpPr>
              <a:spLocks noChangeArrowheads="1"/>
            </p:cNvSpPr>
            <p:nvPr/>
          </p:nvSpPr>
          <p:spPr bwMode="auto">
            <a:xfrm>
              <a:off x="2016" y="4032"/>
              <a:ext cx="576" cy="192"/>
            </a:xfrm>
            <a:prstGeom prst="flowChartTerminator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" name="Text Box 8"/>
            <p:cNvSpPr txBox="1">
              <a:spLocks noChangeArrowheads="1"/>
            </p:cNvSpPr>
            <p:nvPr/>
          </p:nvSpPr>
          <p:spPr bwMode="auto">
            <a:xfrm>
              <a:off x="2112" y="4012"/>
              <a:ext cx="43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1600" b="1"/>
                <a:t>结束</a:t>
              </a:r>
            </a:p>
          </p:txBody>
        </p:sp>
        <p:sp>
          <p:nvSpPr>
            <p:cNvPr id="10" name="Text Box 9"/>
            <p:cNvSpPr txBox="1">
              <a:spLocks noChangeArrowheads="1"/>
            </p:cNvSpPr>
            <p:nvPr/>
          </p:nvSpPr>
          <p:spPr bwMode="auto">
            <a:xfrm>
              <a:off x="1680" y="450"/>
              <a:ext cx="1248" cy="21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1600" b="1" dirty="0"/>
                <a:t>初始化循环计数值</a:t>
              </a:r>
            </a:p>
          </p:txBody>
        </p:sp>
        <p:sp>
          <p:nvSpPr>
            <p:cNvPr id="11" name="Text Box 10"/>
            <p:cNvSpPr txBox="1">
              <a:spLocks noChangeArrowheads="1"/>
            </p:cNvSpPr>
            <p:nvPr/>
          </p:nvSpPr>
          <p:spPr bwMode="auto">
            <a:xfrm>
              <a:off x="1632" y="876"/>
              <a:ext cx="1392" cy="21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600" b="1" dirty="0"/>
                <a:t>BX</a:t>
              </a:r>
              <a:r>
                <a:rPr lang="zh-CN" altLang="en-US" sz="1600" b="1" dirty="0"/>
                <a:t>循环左移</a:t>
              </a:r>
              <a:r>
                <a:rPr lang="en-US" altLang="zh-CN" sz="1600" b="1" dirty="0"/>
                <a:t>4</a:t>
              </a:r>
              <a:r>
                <a:rPr lang="zh-CN" altLang="en-US" sz="1600" b="1" dirty="0"/>
                <a:t>位</a:t>
              </a:r>
              <a:r>
                <a:rPr lang="zh-CN" altLang="en-US" sz="1600" dirty="0"/>
                <a:t>数</a:t>
              </a:r>
              <a:endParaRPr lang="zh-CN" altLang="en-US" sz="1600" b="1" dirty="0"/>
            </a:p>
          </p:txBody>
        </p:sp>
        <p:sp>
          <p:nvSpPr>
            <p:cNvPr id="12" name="Text Box 11"/>
            <p:cNvSpPr txBox="1">
              <a:spLocks noChangeArrowheads="1"/>
            </p:cNvSpPr>
            <p:nvPr/>
          </p:nvSpPr>
          <p:spPr bwMode="auto">
            <a:xfrm>
              <a:off x="1680" y="1260"/>
              <a:ext cx="1248" cy="36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lang="zh-CN" altLang="en-US" sz="1600" b="1" dirty="0"/>
                <a:t>把最右边的</a:t>
              </a:r>
              <a:r>
                <a:rPr lang="en-US" altLang="zh-CN" sz="1600" b="1" dirty="0"/>
                <a:t>4</a:t>
              </a:r>
              <a:r>
                <a:rPr lang="zh-CN" altLang="en-US" sz="1600" b="1" dirty="0"/>
                <a:t>位</a:t>
              </a:r>
              <a:r>
                <a:rPr lang="zh-CN" altLang="en-US" sz="1600" dirty="0"/>
                <a:t>数</a:t>
              </a:r>
              <a:endParaRPr lang="en-US" altLang="zh-CN" sz="1600" b="1" dirty="0"/>
            </a:p>
            <a:p>
              <a:pPr algn="ctr" eaLnBrk="1" hangingPunct="1"/>
              <a:r>
                <a:rPr lang="zh-CN" altLang="en-US" sz="1600" b="1" dirty="0"/>
                <a:t>转换为</a:t>
              </a:r>
              <a:r>
                <a:rPr lang="en-US" altLang="zh-CN" sz="1600" b="1" dirty="0"/>
                <a:t>ASCII(+30h)</a:t>
              </a:r>
            </a:p>
          </p:txBody>
        </p:sp>
        <p:sp>
          <p:nvSpPr>
            <p:cNvPr id="13" name="Text Box 13"/>
            <p:cNvSpPr txBox="1">
              <a:spLocks noChangeArrowheads="1"/>
            </p:cNvSpPr>
            <p:nvPr/>
          </p:nvSpPr>
          <p:spPr bwMode="auto">
            <a:xfrm>
              <a:off x="1680" y="2470"/>
              <a:ext cx="1248" cy="21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1600" b="1"/>
                <a:t>加上</a:t>
              </a:r>
              <a:r>
                <a:rPr lang="en-US" altLang="zh-CN" sz="1600" b="1"/>
                <a:t>7</a:t>
              </a:r>
            </a:p>
          </p:txBody>
        </p:sp>
        <p:sp>
          <p:nvSpPr>
            <p:cNvPr id="14" name="Text Box 14"/>
            <p:cNvSpPr txBox="1">
              <a:spLocks noChangeArrowheads="1"/>
            </p:cNvSpPr>
            <p:nvPr/>
          </p:nvSpPr>
          <p:spPr bwMode="auto">
            <a:xfrm>
              <a:off x="1680" y="2902"/>
              <a:ext cx="1248" cy="21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1600" b="1"/>
                <a:t>显示一个字符</a:t>
              </a:r>
            </a:p>
          </p:txBody>
        </p:sp>
        <p:sp>
          <p:nvSpPr>
            <p:cNvPr id="15" name="AutoShape 15"/>
            <p:cNvSpPr>
              <a:spLocks noChangeArrowheads="1"/>
            </p:cNvSpPr>
            <p:nvPr/>
          </p:nvSpPr>
          <p:spPr bwMode="auto">
            <a:xfrm>
              <a:off x="1659" y="1776"/>
              <a:ext cx="1296" cy="528"/>
            </a:xfrm>
            <a:prstGeom prst="flowChartDecision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6" name="AutoShape 16"/>
            <p:cNvSpPr>
              <a:spLocks noChangeArrowheads="1"/>
            </p:cNvSpPr>
            <p:nvPr/>
          </p:nvSpPr>
          <p:spPr bwMode="auto">
            <a:xfrm>
              <a:off x="1652" y="3312"/>
              <a:ext cx="1296" cy="528"/>
            </a:xfrm>
            <a:prstGeom prst="flowChartDecision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7" name="Text Box 17"/>
            <p:cNvSpPr txBox="1">
              <a:spLocks noChangeArrowheads="1"/>
            </p:cNvSpPr>
            <p:nvPr/>
          </p:nvSpPr>
          <p:spPr bwMode="auto">
            <a:xfrm>
              <a:off x="1700" y="3408"/>
              <a:ext cx="1248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lang="zh-CN" altLang="en-US" sz="1600" b="1"/>
                <a:t>循环计数值</a:t>
              </a:r>
            </a:p>
            <a:p>
              <a:pPr algn="ctr" eaLnBrk="1" hangingPunct="1"/>
              <a:r>
                <a:rPr lang="en-US" altLang="zh-CN" sz="1600" b="1"/>
                <a:t>=0?</a:t>
              </a:r>
            </a:p>
          </p:txBody>
        </p:sp>
        <p:sp>
          <p:nvSpPr>
            <p:cNvPr id="18" name="Text Box 18"/>
            <p:cNvSpPr txBox="1">
              <a:spLocks noChangeArrowheads="1"/>
            </p:cNvSpPr>
            <p:nvPr/>
          </p:nvSpPr>
          <p:spPr bwMode="auto">
            <a:xfrm>
              <a:off x="1707" y="1794"/>
              <a:ext cx="1248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lang="zh-CN" altLang="en-US" sz="1600" b="1"/>
                <a:t>是</a:t>
              </a:r>
            </a:p>
            <a:p>
              <a:pPr algn="ctr" eaLnBrk="1" hangingPunct="1"/>
              <a:r>
                <a:rPr lang="en-US" altLang="zh-CN" sz="1600" b="1"/>
                <a:t>ASCII A-F?</a:t>
              </a:r>
            </a:p>
          </p:txBody>
        </p:sp>
        <p:sp>
          <p:nvSpPr>
            <p:cNvPr id="19" name="Line 19"/>
            <p:cNvSpPr>
              <a:spLocks noChangeShapeType="1"/>
            </p:cNvSpPr>
            <p:nvPr/>
          </p:nvSpPr>
          <p:spPr bwMode="auto">
            <a:xfrm>
              <a:off x="2304" y="28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20"/>
            <p:cNvSpPr>
              <a:spLocks noChangeShapeType="1"/>
            </p:cNvSpPr>
            <p:nvPr/>
          </p:nvSpPr>
          <p:spPr bwMode="auto">
            <a:xfrm>
              <a:off x="2304" y="67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21"/>
            <p:cNvSpPr>
              <a:spLocks noChangeShapeType="1"/>
            </p:cNvSpPr>
            <p:nvPr/>
          </p:nvSpPr>
          <p:spPr bwMode="auto">
            <a:xfrm>
              <a:off x="2304" y="1104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22"/>
            <p:cNvSpPr>
              <a:spLocks noChangeShapeType="1"/>
            </p:cNvSpPr>
            <p:nvPr/>
          </p:nvSpPr>
          <p:spPr bwMode="auto">
            <a:xfrm>
              <a:off x="2304" y="163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23"/>
            <p:cNvSpPr>
              <a:spLocks noChangeShapeType="1"/>
            </p:cNvSpPr>
            <p:nvPr/>
          </p:nvSpPr>
          <p:spPr bwMode="auto">
            <a:xfrm>
              <a:off x="2304" y="230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24"/>
            <p:cNvSpPr>
              <a:spLocks noChangeShapeType="1"/>
            </p:cNvSpPr>
            <p:nvPr/>
          </p:nvSpPr>
          <p:spPr bwMode="auto">
            <a:xfrm>
              <a:off x="2304" y="268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25"/>
            <p:cNvSpPr>
              <a:spLocks noChangeShapeType="1"/>
            </p:cNvSpPr>
            <p:nvPr/>
          </p:nvSpPr>
          <p:spPr bwMode="auto">
            <a:xfrm>
              <a:off x="2304" y="3120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26"/>
            <p:cNvSpPr>
              <a:spLocks noChangeShapeType="1"/>
            </p:cNvSpPr>
            <p:nvPr/>
          </p:nvSpPr>
          <p:spPr bwMode="auto">
            <a:xfrm>
              <a:off x="2304" y="3840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27"/>
            <p:cNvSpPr>
              <a:spLocks noChangeShapeType="1"/>
            </p:cNvSpPr>
            <p:nvPr/>
          </p:nvSpPr>
          <p:spPr bwMode="auto">
            <a:xfrm flipH="1">
              <a:off x="1070" y="3579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28"/>
            <p:cNvSpPr>
              <a:spLocks noChangeShapeType="1"/>
            </p:cNvSpPr>
            <p:nvPr/>
          </p:nvSpPr>
          <p:spPr bwMode="auto">
            <a:xfrm flipH="1">
              <a:off x="1056" y="768"/>
              <a:ext cx="0" cy="28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29"/>
            <p:cNvSpPr>
              <a:spLocks noChangeShapeType="1"/>
            </p:cNvSpPr>
            <p:nvPr/>
          </p:nvSpPr>
          <p:spPr bwMode="auto">
            <a:xfrm flipH="1">
              <a:off x="1056" y="768"/>
              <a:ext cx="12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Line 30"/>
            <p:cNvSpPr>
              <a:spLocks noChangeShapeType="1"/>
            </p:cNvSpPr>
            <p:nvPr/>
          </p:nvSpPr>
          <p:spPr bwMode="auto">
            <a:xfrm flipH="1" flipV="1">
              <a:off x="2942" y="2043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Line 31"/>
            <p:cNvSpPr>
              <a:spLocks noChangeShapeType="1"/>
            </p:cNvSpPr>
            <p:nvPr/>
          </p:nvSpPr>
          <p:spPr bwMode="auto">
            <a:xfrm flipV="1">
              <a:off x="3285" y="2043"/>
              <a:ext cx="0" cy="7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Line 32"/>
            <p:cNvSpPr>
              <a:spLocks noChangeShapeType="1"/>
            </p:cNvSpPr>
            <p:nvPr/>
          </p:nvSpPr>
          <p:spPr bwMode="auto">
            <a:xfrm flipH="1" flipV="1">
              <a:off x="2311" y="2784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Text Box 33"/>
            <p:cNvSpPr txBox="1">
              <a:spLocks noChangeArrowheads="1"/>
            </p:cNvSpPr>
            <p:nvPr/>
          </p:nvSpPr>
          <p:spPr bwMode="auto">
            <a:xfrm>
              <a:off x="1440" y="3388"/>
              <a:ext cx="19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600" b="1"/>
                <a:t>N</a:t>
              </a:r>
            </a:p>
          </p:txBody>
        </p:sp>
        <p:sp>
          <p:nvSpPr>
            <p:cNvPr id="34" name="Text Box 34"/>
            <p:cNvSpPr txBox="1">
              <a:spLocks noChangeArrowheads="1"/>
            </p:cNvSpPr>
            <p:nvPr/>
          </p:nvSpPr>
          <p:spPr bwMode="auto">
            <a:xfrm>
              <a:off x="2928" y="1852"/>
              <a:ext cx="19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600" b="1"/>
                <a:t>N</a:t>
              </a:r>
            </a:p>
          </p:txBody>
        </p:sp>
        <p:sp>
          <p:nvSpPr>
            <p:cNvPr id="35" name="Text Box 35"/>
            <p:cNvSpPr txBox="1">
              <a:spLocks noChangeArrowheads="1"/>
            </p:cNvSpPr>
            <p:nvPr/>
          </p:nvSpPr>
          <p:spPr bwMode="auto">
            <a:xfrm>
              <a:off x="2304" y="2256"/>
              <a:ext cx="19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600" b="1"/>
                <a:t>Y</a:t>
              </a:r>
            </a:p>
          </p:txBody>
        </p:sp>
        <p:sp>
          <p:nvSpPr>
            <p:cNvPr id="36" name="Text Box 36"/>
            <p:cNvSpPr txBox="1">
              <a:spLocks noChangeArrowheads="1"/>
            </p:cNvSpPr>
            <p:nvPr/>
          </p:nvSpPr>
          <p:spPr bwMode="auto">
            <a:xfrm>
              <a:off x="2304" y="3792"/>
              <a:ext cx="19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600" b="1"/>
                <a:t>Y</a:t>
              </a: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763688" y="6381328"/>
            <a:ext cx="5077031" cy="461665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zh-CN" altLang="en-US" dirty="0"/>
              <a:t>思考：为什么不用</a:t>
            </a:r>
            <a:r>
              <a:rPr lang="en-US" altLang="zh-CN" dirty="0"/>
              <a:t>LOOP</a:t>
            </a:r>
            <a:r>
              <a:rPr lang="zh-CN" altLang="en-US" dirty="0"/>
              <a:t>指令实现？</a:t>
            </a:r>
          </a:p>
        </p:txBody>
      </p:sp>
    </p:spTree>
    <p:extLst>
      <p:ext uri="{BB962C8B-B14F-4D97-AF65-F5344CB8AC3E}">
        <p14:creationId xmlns:p14="http://schemas.microsoft.com/office/powerpoint/2010/main" val="121382147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755" name="Text Box 3"/>
          <p:cNvSpPr txBox="1">
            <a:spLocks noChangeArrowheads="1"/>
          </p:cNvSpPr>
          <p:nvPr/>
        </p:nvSpPr>
        <p:spPr bwMode="auto">
          <a:xfrm>
            <a:off x="1331640" y="381000"/>
            <a:ext cx="6934200" cy="6445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dash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lnSpc>
                <a:spcPct val="120000"/>
              </a:lnSpc>
            </a:pPr>
            <a:r>
              <a:rPr kumimoji="1" lang="en-US" altLang="zh-CN" sz="2400" dirty="0">
                <a:solidFill>
                  <a:srgbClr val="000000"/>
                </a:solidFill>
                <a:latin typeface="宋体" charset="-122"/>
              </a:rPr>
              <a:t>         </a:t>
            </a:r>
            <a:r>
              <a:rPr kumimoji="1" lang="en-US" altLang="zh-CN" sz="2000" dirty="0">
                <a:solidFill>
                  <a:srgbClr val="000000"/>
                </a:solidFill>
                <a:latin typeface="Lucida Console" pitchFamily="49" charset="0"/>
              </a:rPr>
              <a:t>……</a:t>
            </a:r>
            <a:r>
              <a:rPr kumimoji="1" lang="en-US" altLang="zh-CN" sz="2400" dirty="0">
                <a:solidFill>
                  <a:srgbClr val="000000"/>
                </a:solidFill>
                <a:latin typeface="宋体" charset="-122"/>
              </a:rPr>
              <a:t> </a:t>
            </a:r>
            <a:endParaRPr kumimoji="1" lang="en-US" altLang="zh-CN" sz="2000" dirty="0">
              <a:solidFill>
                <a:srgbClr val="000000"/>
              </a:solidFill>
              <a:latin typeface="Lucida Console" pitchFamily="49" charset="0"/>
            </a:endParaRPr>
          </a:p>
          <a:p>
            <a:pPr algn="l" eaLnBrk="0" hangingPunct="0">
              <a:lnSpc>
                <a:spcPct val="120000"/>
              </a:lnSpc>
            </a:pPr>
            <a:r>
              <a:rPr kumimoji="1" lang="en-US" altLang="zh-CN" sz="2400" dirty="0">
                <a:solidFill>
                  <a:srgbClr val="000000"/>
                </a:solidFill>
                <a:latin typeface="宋体" charset="-122"/>
              </a:rPr>
              <a:t>         </a:t>
            </a:r>
            <a:r>
              <a:rPr kumimoji="1" lang="en-US" altLang="zh-CN" sz="2000" dirty="0" err="1">
                <a:solidFill>
                  <a:srgbClr val="000000"/>
                </a:solidFill>
                <a:latin typeface="Lucida Console" pitchFamily="49" charset="0"/>
              </a:rPr>
              <a:t>mov</a:t>
            </a:r>
            <a:r>
              <a:rPr kumimoji="1" lang="en-US" altLang="zh-CN" sz="2000" dirty="0">
                <a:solidFill>
                  <a:srgbClr val="000000"/>
                </a:solidFill>
                <a:latin typeface="Lucida Console" pitchFamily="49" charset="0"/>
              </a:rPr>
              <a:t>  cx, 4     </a:t>
            </a:r>
            <a:r>
              <a:rPr kumimoji="1" lang="zh-CN" altLang="en-US" sz="2000" dirty="0">
                <a:solidFill>
                  <a:srgbClr val="000000"/>
                </a:solidFill>
                <a:latin typeface="Lucida Console" pitchFamily="49" charset="0"/>
              </a:rPr>
              <a:t>；初始化</a:t>
            </a:r>
          </a:p>
          <a:p>
            <a:pPr algn="l" eaLnBrk="0" hangingPunct="0">
              <a:lnSpc>
                <a:spcPct val="120000"/>
              </a:lnSpc>
            </a:pPr>
            <a:r>
              <a:rPr kumimoji="1" lang="en-US" altLang="zh-CN" sz="2000" dirty="0">
                <a:solidFill>
                  <a:srgbClr val="000000"/>
                </a:solidFill>
                <a:latin typeface="Lucida Console" pitchFamily="49" charset="0"/>
              </a:rPr>
              <a:t>rotate:  </a:t>
            </a:r>
            <a:r>
              <a:rPr kumimoji="1" lang="en-US" altLang="zh-CN" sz="20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Lucida Console" pitchFamily="49" charset="0"/>
              </a:rPr>
              <a:t>push cx</a:t>
            </a:r>
            <a:r>
              <a:rPr kumimoji="1" lang="en-US" altLang="zh-CN" sz="2000" dirty="0">
                <a:solidFill>
                  <a:srgbClr val="000000"/>
                </a:solidFill>
                <a:latin typeface="Lucida Console" pitchFamily="49" charset="0"/>
              </a:rPr>
              <a:t> </a:t>
            </a:r>
          </a:p>
          <a:p>
            <a:pPr algn="l" eaLnBrk="0" hangingPunct="0">
              <a:lnSpc>
                <a:spcPct val="120000"/>
              </a:lnSpc>
            </a:pPr>
            <a:r>
              <a:rPr kumimoji="1" lang="en-US" altLang="zh-CN" sz="2000" dirty="0">
                <a:solidFill>
                  <a:srgbClr val="000000"/>
                </a:solidFill>
                <a:latin typeface="Lucida Console" pitchFamily="49" charset="0"/>
              </a:rPr>
              <a:t>         </a:t>
            </a:r>
            <a:r>
              <a:rPr kumimoji="1" lang="en-US" altLang="zh-CN" sz="2000" dirty="0" err="1">
                <a:solidFill>
                  <a:srgbClr val="000000"/>
                </a:solidFill>
                <a:latin typeface="Lucida Console" pitchFamily="49" charset="0"/>
              </a:rPr>
              <a:t>mov</a:t>
            </a:r>
            <a:r>
              <a:rPr kumimoji="1" lang="en-US" altLang="zh-CN" sz="2000" dirty="0">
                <a:solidFill>
                  <a:srgbClr val="000000"/>
                </a:solidFill>
                <a:latin typeface="Lucida Console" pitchFamily="49" charset="0"/>
              </a:rPr>
              <a:t>  cl, 4</a:t>
            </a:r>
          </a:p>
          <a:p>
            <a:pPr algn="l" eaLnBrk="0" hangingPunct="0">
              <a:lnSpc>
                <a:spcPct val="120000"/>
              </a:lnSpc>
            </a:pPr>
            <a:r>
              <a:rPr kumimoji="1" lang="en-US" altLang="zh-CN" sz="2000" dirty="0">
                <a:solidFill>
                  <a:srgbClr val="000000"/>
                </a:solidFill>
                <a:latin typeface="Lucida Console" pitchFamily="49" charset="0"/>
              </a:rPr>
              <a:t>         </a:t>
            </a:r>
            <a:r>
              <a:rPr kumimoji="1" lang="en-US" altLang="zh-CN" sz="2000" dirty="0" err="1">
                <a:solidFill>
                  <a:srgbClr val="000000"/>
                </a:solidFill>
                <a:latin typeface="Lucida Console" pitchFamily="49" charset="0"/>
              </a:rPr>
              <a:t>rol</a:t>
            </a:r>
            <a:r>
              <a:rPr kumimoji="1" lang="en-US" altLang="zh-CN" sz="2000" dirty="0">
                <a:solidFill>
                  <a:srgbClr val="000000"/>
                </a:solidFill>
                <a:latin typeface="Lucida Console" pitchFamily="49" charset="0"/>
              </a:rPr>
              <a:t>  </a:t>
            </a:r>
            <a:r>
              <a:rPr kumimoji="1" lang="en-US" altLang="zh-CN" sz="2000" dirty="0" err="1">
                <a:solidFill>
                  <a:srgbClr val="000000"/>
                </a:solidFill>
                <a:latin typeface="Lucida Console" pitchFamily="49" charset="0"/>
              </a:rPr>
              <a:t>bx</a:t>
            </a:r>
            <a:r>
              <a:rPr kumimoji="1" lang="en-US" altLang="zh-CN" sz="2000" dirty="0">
                <a:solidFill>
                  <a:srgbClr val="000000"/>
                </a:solidFill>
                <a:latin typeface="Lucida Console" pitchFamily="49" charset="0"/>
              </a:rPr>
              <a:t>, cl</a:t>
            </a:r>
          </a:p>
          <a:p>
            <a:pPr algn="l" eaLnBrk="0" hangingPunct="0">
              <a:lnSpc>
                <a:spcPct val="120000"/>
              </a:lnSpc>
            </a:pPr>
            <a:r>
              <a:rPr kumimoji="1" lang="en-US" altLang="zh-CN" sz="2000" dirty="0">
                <a:solidFill>
                  <a:srgbClr val="000000"/>
                </a:solidFill>
                <a:latin typeface="Lucida Console" pitchFamily="49" charset="0"/>
              </a:rPr>
              <a:t>         </a:t>
            </a:r>
            <a:r>
              <a:rPr kumimoji="1" lang="en-US" altLang="zh-CN" sz="2000" dirty="0" err="1">
                <a:solidFill>
                  <a:srgbClr val="000000"/>
                </a:solidFill>
                <a:latin typeface="Lucida Console" pitchFamily="49" charset="0"/>
              </a:rPr>
              <a:t>mov</a:t>
            </a:r>
            <a:r>
              <a:rPr kumimoji="1" lang="en-US" altLang="zh-CN" sz="2000" dirty="0">
                <a:solidFill>
                  <a:srgbClr val="000000"/>
                </a:solidFill>
                <a:latin typeface="Lucida Console" pitchFamily="49" charset="0"/>
              </a:rPr>
              <a:t>  al, </a:t>
            </a:r>
            <a:r>
              <a:rPr kumimoji="1" lang="en-US" altLang="zh-CN" sz="2000" dirty="0" err="1">
                <a:solidFill>
                  <a:srgbClr val="000000"/>
                </a:solidFill>
                <a:latin typeface="Lucida Console" pitchFamily="49" charset="0"/>
              </a:rPr>
              <a:t>bl</a:t>
            </a:r>
            <a:endParaRPr kumimoji="1" lang="en-US" altLang="zh-CN" sz="2000" dirty="0">
              <a:solidFill>
                <a:srgbClr val="000000"/>
              </a:solidFill>
              <a:latin typeface="Lucida Console" pitchFamily="49" charset="0"/>
            </a:endParaRPr>
          </a:p>
          <a:p>
            <a:pPr algn="l" eaLnBrk="0" hangingPunct="0">
              <a:lnSpc>
                <a:spcPct val="120000"/>
              </a:lnSpc>
            </a:pPr>
            <a:r>
              <a:rPr kumimoji="1" lang="en-US" altLang="zh-CN" sz="2000" dirty="0">
                <a:solidFill>
                  <a:srgbClr val="000000"/>
                </a:solidFill>
                <a:latin typeface="Lucida Console" pitchFamily="49" charset="0"/>
              </a:rPr>
              <a:t>         and  al, 0fh</a:t>
            </a:r>
          </a:p>
          <a:p>
            <a:pPr algn="l" eaLnBrk="0" hangingPunct="0">
              <a:lnSpc>
                <a:spcPct val="120000"/>
              </a:lnSpc>
            </a:pPr>
            <a:r>
              <a:rPr kumimoji="1" lang="en-US" altLang="zh-CN" sz="2000" dirty="0">
                <a:solidFill>
                  <a:srgbClr val="000000"/>
                </a:solidFill>
                <a:latin typeface="Lucida Console" pitchFamily="49" charset="0"/>
              </a:rPr>
              <a:t>         add  al, 30h   </a:t>
            </a:r>
            <a:r>
              <a:rPr kumimoji="1" lang="en-US" altLang="zh-CN" sz="1600" dirty="0">
                <a:solidFill>
                  <a:srgbClr val="000000"/>
                </a:solidFill>
                <a:latin typeface="Lucida Console" pitchFamily="49" charset="0"/>
              </a:rPr>
              <a:t>; ’0’~’9’ ASCII 30H~39H</a:t>
            </a:r>
          </a:p>
          <a:p>
            <a:pPr algn="l" eaLnBrk="0" hangingPunct="0">
              <a:lnSpc>
                <a:spcPct val="120000"/>
              </a:lnSpc>
            </a:pPr>
            <a:r>
              <a:rPr kumimoji="1" lang="en-US" altLang="zh-CN" sz="2000" dirty="0">
                <a:solidFill>
                  <a:srgbClr val="000000"/>
                </a:solidFill>
                <a:latin typeface="Lucida Console" pitchFamily="49" charset="0"/>
              </a:rPr>
              <a:t>         </a:t>
            </a:r>
            <a:r>
              <a:rPr kumimoji="1" lang="en-US" altLang="zh-CN" sz="2000" dirty="0" err="1">
                <a:solidFill>
                  <a:srgbClr val="000000"/>
                </a:solidFill>
                <a:latin typeface="Lucida Console" pitchFamily="49" charset="0"/>
              </a:rPr>
              <a:t>cmp</a:t>
            </a:r>
            <a:r>
              <a:rPr kumimoji="1" lang="en-US" altLang="zh-CN" sz="2000" dirty="0">
                <a:solidFill>
                  <a:srgbClr val="000000"/>
                </a:solidFill>
                <a:latin typeface="Lucida Console" pitchFamily="49" charset="0"/>
              </a:rPr>
              <a:t>  al, 3ah</a:t>
            </a:r>
          </a:p>
          <a:p>
            <a:pPr algn="l" eaLnBrk="0" hangingPunct="0">
              <a:lnSpc>
                <a:spcPct val="120000"/>
              </a:lnSpc>
            </a:pPr>
            <a:r>
              <a:rPr kumimoji="1" lang="en-US" altLang="zh-CN" sz="2000" dirty="0">
                <a:solidFill>
                  <a:srgbClr val="000000"/>
                </a:solidFill>
                <a:latin typeface="Lucida Console" pitchFamily="49" charset="0"/>
              </a:rPr>
              <a:t>         </a:t>
            </a:r>
            <a:r>
              <a:rPr kumimoji="1" lang="en-US" altLang="zh-CN" sz="2000" dirty="0" err="1">
                <a:solidFill>
                  <a:srgbClr val="000000"/>
                </a:solidFill>
                <a:latin typeface="Lucida Console" pitchFamily="49" charset="0"/>
              </a:rPr>
              <a:t>jl</a:t>
            </a:r>
            <a:r>
              <a:rPr kumimoji="1" lang="en-US" altLang="zh-CN" sz="2000" dirty="0">
                <a:solidFill>
                  <a:srgbClr val="000000"/>
                </a:solidFill>
                <a:latin typeface="Lucida Console" pitchFamily="49" charset="0"/>
              </a:rPr>
              <a:t>   </a:t>
            </a:r>
            <a:r>
              <a:rPr kumimoji="1" lang="en-US" altLang="zh-CN" sz="2000" dirty="0" err="1">
                <a:solidFill>
                  <a:srgbClr val="000000"/>
                </a:solidFill>
                <a:latin typeface="Lucida Console" pitchFamily="49" charset="0"/>
              </a:rPr>
              <a:t>printit</a:t>
            </a:r>
            <a:endParaRPr kumimoji="1" lang="en-US" altLang="zh-CN" sz="2000" dirty="0">
              <a:solidFill>
                <a:srgbClr val="000000"/>
              </a:solidFill>
              <a:latin typeface="Lucida Console" pitchFamily="49" charset="0"/>
            </a:endParaRPr>
          </a:p>
          <a:p>
            <a:pPr algn="l" eaLnBrk="0" hangingPunct="0">
              <a:lnSpc>
                <a:spcPct val="120000"/>
              </a:lnSpc>
            </a:pPr>
            <a:r>
              <a:rPr kumimoji="1" lang="en-US" altLang="zh-CN" sz="2000" dirty="0">
                <a:solidFill>
                  <a:srgbClr val="000000"/>
                </a:solidFill>
                <a:latin typeface="Lucida Console" pitchFamily="49" charset="0"/>
              </a:rPr>
              <a:t>         add  al, 7h    </a:t>
            </a:r>
            <a:r>
              <a:rPr kumimoji="1" lang="en-US" altLang="zh-CN" sz="1600" dirty="0">
                <a:solidFill>
                  <a:srgbClr val="000000"/>
                </a:solidFill>
                <a:latin typeface="Lucida Console" pitchFamily="49" charset="0"/>
              </a:rPr>
              <a:t>; ’A’~’F’ ASCII 41H~46H</a:t>
            </a:r>
          </a:p>
          <a:p>
            <a:pPr algn="l" eaLnBrk="0" hangingPunct="0">
              <a:lnSpc>
                <a:spcPct val="120000"/>
              </a:lnSpc>
            </a:pPr>
            <a:r>
              <a:rPr kumimoji="1" lang="en-US" altLang="zh-CN" sz="2000" dirty="0" err="1">
                <a:solidFill>
                  <a:srgbClr val="000000"/>
                </a:solidFill>
                <a:latin typeface="Lucida Console" pitchFamily="49" charset="0"/>
              </a:rPr>
              <a:t>printit</a:t>
            </a:r>
            <a:r>
              <a:rPr kumimoji="1" lang="en-US" altLang="zh-CN" sz="2000" dirty="0">
                <a:solidFill>
                  <a:srgbClr val="000000"/>
                </a:solidFill>
                <a:latin typeface="Lucida Console" pitchFamily="49" charset="0"/>
              </a:rPr>
              <a:t>: </a:t>
            </a:r>
            <a:r>
              <a:rPr kumimoji="1" lang="en-US" altLang="zh-CN" sz="2000" dirty="0" err="1">
                <a:solidFill>
                  <a:srgbClr val="FF0000"/>
                </a:solidFill>
                <a:latin typeface="Lucida Console" pitchFamily="49" charset="0"/>
              </a:rPr>
              <a:t>mov</a:t>
            </a:r>
            <a:r>
              <a:rPr kumimoji="1" lang="en-US" altLang="zh-CN" sz="2000" dirty="0">
                <a:solidFill>
                  <a:srgbClr val="FF0000"/>
                </a:solidFill>
                <a:latin typeface="Lucida Console" pitchFamily="49" charset="0"/>
              </a:rPr>
              <a:t>  dl, al</a:t>
            </a:r>
          </a:p>
          <a:p>
            <a:pPr algn="l" eaLnBrk="0" hangingPunct="0">
              <a:lnSpc>
                <a:spcPct val="120000"/>
              </a:lnSpc>
            </a:pPr>
            <a:r>
              <a:rPr kumimoji="1" lang="en-US" altLang="zh-CN" sz="2000" dirty="0">
                <a:solidFill>
                  <a:srgbClr val="FF0000"/>
                </a:solidFill>
                <a:latin typeface="Lucida Console" pitchFamily="49" charset="0"/>
              </a:rPr>
              <a:t>         </a:t>
            </a:r>
            <a:r>
              <a:rPr kumimoji="1" lang="en-US" altLang="zh-CN" sz="2000" dirty="0" err="1">
                <a:solidFill>
                  <a:srgbClr val="FF0000"/>
                </a:solidFill>
                <a:latin typeface="Lucida Console" pitchFamily="49" charset="0"/>
              </a:rPr>
              <a:t>mov</a:t>
            </a:r>
            <a:r>
              <a:rPr kumimoji="1" lang="en-US" altLang="zh-CN" sz="2000" dirty="0">
                <a:solidFill>
                  <a:srgbClr val="FF0000"/>
                </a:solidFill>
                <a:latin typeface="Lucida Console" pitchFamily="49" charset="0"/>
              </a:rPr>
              <a:t>  ah, 2</a:t>
            </a:r>
          </a:p>
          <a:p>
            <a:pPr algn="l" eaLnBrk="0" hangingPunct="0">
              <a:lnSpc>
                <a:spcPct val="120000"/>
              </a:lnSpc>
            </a:pPr>
            <a:r>
              <a:rPr kumimoji="1" lang="en-US" altLang="zh-CN" sz="2000" dirty="0">
                <a:solidFill>
                  <a:srgbClr val="FF0000"/>
                </a:solidFill>
                <a:latin typeface="Lucida Console" pitchFamily="49" charset="0"/>
              </a:rPr>
              <a:t>         </a:t>
            </a:r>
            <a:r>
              <a:rPr kumimoji="1" lang="en-US" altLang="zh-CN" sz="2000" dirty="0" err="1">
                <a:solidFill>
                  <a:srgbClr val="FF0000"/>
                </a:solidFill>
                <a:latin typeface="Lucida Console" pitchFamily="49" charset="0"/>
              </a:rPr>
              <a:t>int</a:t>
            </a:r>
            <a:r>
              <a:rPr kumimoji="1" lang="en-US" altLang="zh-CN" sz="2000" dirty="0">
                <a:solidFill>
                  <a:srgbClr val="FF0000"/>
                </a:solidFill>
                <a:latin typeface="Lucida Console" pitchFamily="49" charset="0"/>
              </a:rPr>
              <a:t>  21h</a:t>
            </a:r>
          </a:p>
          <a:p>
            <a:pPr algn="l" eaLnBrk="0" hangingPunct="0">
              <a:lnSpc>
                <a:spcPct val="120000"/>
              </a:lnSpc>
            </a:pPr>
            <a:r>
              <a:rPr kumimoji="1" lang="en-US" altLang="zh-CN" sz="2000" dirty="0">
                <a:solidFill>
                  <a:srgbClr val="000000"/>
                </a:solidFill>
                <a:latin typeface="Lucida Console" pitchFamily="49" charset="0"/>
              </a:rPr>
              <a:t>         </a:t>
            </a:r>
            <a:r>
              <a:rPr kumimoji="1" lang="en-US" altLang="zh-CN" sz="20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Lucida Console" pitchFamily="49" charset="0"/>
              </a:rPr>
              <a:t>pop  cx</a:t>
            </a:r>
            <a:r>
              <a:rPr kumimoji="1" lang="en-US" altLang="zh-CN" sz="2000" dirty="0">
                <a:solidFill>
                  <a:srgbClr val="000000"/>
                </a:solidFill>
                <a:latin typeface="Lucida Console" pitchFamily="49" charset="0"/>
              </a:rPr>
              <a:t> </a:t>
            </a:r>
          </a:p>
          <a:p>
            <a:pPr algn="l" eaLnBrk="0" hangingPunct="0">
              <a:lnSpc>
                <a:spcPct val="120000"/>
              </a:lnSpc>
            </a:pPr>
            <a:r>
              <a:rPr kumimoji="1" lang="en-US" altLang="zh-CN" sz="2000" dirty="0">
                <a:solidFill>
                  <a:srgbClr val="000000"/>
                </a:solidFill>
                <a:latin typeface="Lucida Console" pitchFamily="49" charset="0"/>
              </a:rPr>
              <a:t>         loop rotate</a:t>
            </a:r>
            <a:endParaRPr kumimoji="1" lang="en-US" altLang="zh-CN" sz="2000" dirty="0">
              <a:solidFill>
                <a:srgbClr val="000000"/>
              </a:solidFill>
              <a:latin typeface="Lucida Sans Unicode" pitchFamily="34" charset="0"/>
            </a:endParaRPr>
          </a:p>
          <a:p>
            <a:pPr algn="l" eaLnBrk="0" hangingPunct="0">
              <a:lnSpc>
                <a:spcPct val="120000"/>
              </a:lnSpc>
            </a:pPr>
            <a:r>
              <a:rPr kumimoji="1" lang="en-US" altLang="zh-CN" sz="2000" dirty="0">
                <a:solidFill>
                  <a:srgbClr val="000000"/>
                </a:solidFill>
                <a:latin typeface="Lucida Sans Unicode" pitchFamily="34" charset="0"/>
              </a:rPr>
              <a:t>                 </a:t>
            </a:r>
            <a:r>
              <a:rPr kumimoji="1" lang="en-US" altLang="zh-CN" sz="2000" dirty="0">
                <a:solidFill>
                  <a:srgbClr val="000000"/>
                </a:solidFill>
                <a:latin typeface="Lucida Console" pitchFamily="49" charset="0"/>
              </a:rPr>
              <a:t>……</a:t>
            </a:r>
          </a:p>
        </p:txBody>
      </p:sp>
      <p:sp>
        <p:nvSpPr>
          <p:cNvPr id="330756" name="AutoShape 4"/>
          <p:cNvSpPr>
            <a:spLocks/>
          </p:cNvSpPr>
          <p:nvPr/>
        </p:nvSpPr>
        <p:spPr bwMode="auto">
          <a:xfrm>
            <a:off x="2659596" y="1828800"/>
            <a:ext cx="76200" cy="457200"/>
          </a:xfrm>
          <a:prstGeom prst="leftBracket">
            <a:avLst>
              <a:gd name="adj" fmla="val 50000"/>
            </a:avLst>
          </a:prstGeom>
          <a:noFill/>
          <a:ln w="12700" cap="sq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30757" name="AutoShape 5"/>
          <p:cNvSpPr>
            <a:spLocks/>
          </p:cNvSpPr>
          <p:nvPr/>
        </p:nvSpPr>
        <p:spPr bwMode="auto">
          <a:xfrm>
            <a:off x="2659596" y="2564904"/>
            <a:ext cx="76200" cy="457200"/>
          </a:xfrm>
          <a:prstGeom prst="leftBracket">
            <a:avLst>
              <a:gd name="adj" fmla="val 50000"/>
            </a:avLst>
          </a:prstGeom>
          <a:noFill/>
          <a:ln w="12700" cap="sq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30758" name="AutoShape 6"/>
          <p:cNvSpPr>
            <a:spLocks/>
          </p:cNvSpPr>
          <p:nvPr/>
        </p:nvSpPr>
        <p:spPr bwMode="auto">
          <a:xfrm>
            <a:off x="2659596" y="3320988"/>
            <a:ext cx="76200" cy="1143000"/>
          </a:xfrm>
          <a:prstGeom prst="leftBracket">
            <a:avLst>
              <a:gd name="adj" fmla="val 125000"/>
            </a:avLst>
          </a:prstGeom>
          <a:noFill/>
          <a:ln w="12700" cap="sq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30759" name="AutoShape 7"/>
          <p:cNvSpPr>
            <a:spLocks/>
          </p:cNvSpPr>
          <p:nvPr/>
        </p:nvSpPr>
        <p:spPr bwMode="auto">
          <a:xfrm>
            <a:off x="2659596" y="4800600"/>
            <a:ext cx="76200" cy="762000"/>
          </a:xfrm>
          <a:prstGeom prst="leftBracket">
            <a:avLst>
              <a:gd name="adj" fmla="val 83333"/>
            </a:avLst>
          </a:prstGeom>
          <a:noFill/>
          <a:ln w="12700" cap="sq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30760" name="Text Box 8"/>
          <p:cNvSpPr txBox="1">
            <a:spLocks noChangeArrowheads="1"/>
          </p:cNvSpPr>
          <p:nvPr/>
        </p:nvSpPr>
        <p:spPr bwMode="auto">
          <a:xfrm>
            <a:off x="6660232" y="1016732"/>
            <a:ext cx="2286000" cy="457200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1" lang="zh-CN" altLang="en-US" sz="2400" dirty="0">
                <a:solidFill>
                  <a:srgbClr val="FF0000"/>
                </a:solidFill>
                <a:latin typeface="Arial" charset="0"/>
              </a:rPr>
              <a:t>方法</a:t>
            </a:r>
            <a:r>
              <a:rPr kumimoji="1" lang="en-US" altLang="zh-CN" sz="2400" dirty="0">
                <a:solidFill>
                  <a:srgbClr val="FF0000"/>
                </a:solidFill>
                <a:latin typeface="Arial" charset="0"/>
              </a:rPr>
              <a:t>2 (LOOP)</a:t>
            </a:r>
          </a:p>
        </p:txBody>
      </p:sp>
      <p:sp>
        <p:nvSpPr>
          <p:cNvPr id="9" name="文本框 1"/>
          <p:cNvSpPr txBox="1"/>
          <p:nvPr/>
        </p:nvSpPr>
        <p:spPr>
          <a:xfrm>
            <a:off x="452120" y="317500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循环结构程序设计</a:t>
            </a:r>
          </a:p>
        </p:txBody>
      </p:sp>
    </p:spTree>
    <p:extLst>
      <p:ext uri="{BB962C8B-B14F-4D97-AF65-F5344CB8AC3E}">
        <p14:creationId xmlns:p14="http://schemas.microsoft.com/office/powerpoint/2010/main" val="1776810714"/>
      </p:ext>
    </p:extLst>
  </p:cSld>
  <p:clrMapOvr>
    <a:masterClrMapping/>
  </p:clrMapOvr>
  <p:transition spd="slow">
    <p:rand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ChangeArrowheads="1"/>
          </p:cNvSpPr>
          <p:nvPr/>
        </p:nvSpPr>
        <p:spPr bwMode="auto">
          <a:xfrm>
            <a:off x="474980" y="1025036"/>
            <a:ext cx="8382000" cy="5336846"/>
          </a:xfrm>
          <a:prstGeom prst="rect">
            <a:avLst/>
          </a:prstGeom>
          <a:noFill/>
          <a:ln w="9525">
            <a:solidFill>
              <a:srgbClr val="FF0000"/>
            </a:solidFill>
            <a:prstDash val="dash"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893763" indent="-893763">
              <a:spcBef>
                <a:spcPts val="600"/>
              </a:spcBef>
              <a:buClr>
                <a:schemeClr val="bg2"/>
              </a:buClr>
              <a:buSzPct val="75000"/>
              <a:buFont typeface="Wingdings" pitchFamily="2" charset="2"/>
            </a:pPr>
            <a:r>
              <a:rPr lang="zh-CN" altLang="zh-TW" dirty="0">
                <a:solidFill>
                  <a:srgbClr val="3333FF"/>
                </a:solidFill>
                <a:latin typeface="+mn-lt"/>
                <a:ea typeface="+mn-ea"/>
              </a:rPr>
              <a:t>【</a:t>
            </a:r>
            <a:r>
              <a:rPr lang="zh-CN" altLang="en-US" dirty="0">
                <a:solidFill>
                  <a:srgbClr val="3333FF"/>
                </a:solidFill>
                <a:latin typeface="+mn-lt"/>
                <a:ea typeface="+mn-ea"/>
              </a:rPr>
              <a:t>例</a:t>
            </a:r>
            <a:r>
              <a:rPr lang="zh-CN" altLang="zh-CN" dirty="0">
                <a:solidFill>
                  <a:srgbClr val="3333FF"/>
                </a:solidFill>
                <a:latin typeface="+mn-lt"/>
                <a:ea typeface="+mn-ea"/>
              </a:rPr>
              <a:t>】</a:t>
            </a:r>
            <a:r>
              <a:rPr lang="zh-CN" altLang="en-US" dirty="0">
                <a:solidFill>
                  <a:srgbClr val="3333FF"/>
                </a:solidFill>
                <a:latin typeface="+mn-lt"/>
                <a:ea typeface="+mn-ea"/>
              </a:rPr>
              <a:t>有字类型数组 </a:t>
            </a:r>
            <a:r>
              <a:rPr lang="en-US" altLang="en-US" dirty="0">
                <a:solidFill>
                  <a:srgbClr val="3333FF"/>
                </a:solidFill>
                <a:latin typeface="+mn-lt"/>
                <a:ea typeface="+mn-ea"/>
              </a:rPr>
              <a:t>x(x1,</a:t>
            </a:r>
            <a:r>
              <a:rPr lang="en-US" altLang="zh-CN" dirty="0">
                <a:solidFill>
                  <a:srgbClr val="3333FF"/>
                </a:solidFill>
                <a:latin typeface="+mn-lt"/>
                <a:ea typeface="+mn-ea"/>
              </a:rPr>
              <a:t>x2,……</a:t>
            </a:r>
            <a:r>
              <a:rPr lang="en-US" altLang="en-US" dirty="0">
                <a:solidFill>
                  <a:srgbClr val="3333FF"/>
                </a:solidFill>
                <a:latin typeface="+mn-lt"/>
                <a:ea typeface="+mn-ea"/>
              </a:rPr>
              <a:t>,x10) </a:t>
            </a:r>
            <a:r>
              <a:rPr lang="zh-CN" altLang="en-US" dirty="0">
                <a:solidFill>
                  <a:srgbClr val="3333FF"/>
                </a:solidFill>
                <a:latin typeface="+mn-lt"/>
                <a:ea typeface="+mn-ea"/>
              </a:rPr>
              <a:t>和 </a:t>
            </a:r>
            <a:r>
              <a:rPr lang="en-US" altLang="en-US" dirty="0">
                <a:solidFill>
                  <a:srgbClr val="3333FF"/>
                </a:solidFill>
                <a:latin typeface="+mn-lt"/>
                <a:ea typeface="+mn-ea"/>
              </a:rPr>
              <a:t>y(y1,y2,……,y10)</a:t>
            </a:r>
            <a:r>
              <a:rPr lang="zh-CN" altLang="en-US" dirty="0">
                <a:solidFill>
                  <a:srgbClr val="3333FF"/>
                </a:solidFill>
                <a:latin typeface="+mn-lt"/>
                <a:ea typeface="+mn-ea"/>
              </a:rPr>
              <a:t>，        </a:t>
            </a:r>
            <a:r>
              <a:rPr lang="zh-CN" altLang="zh-CN" dirty="0">
                <a:solidFill>
                  <a:srgbClr val="3333FF"/>
                </a:solidFill>
                <a:latin typeface="+mn-lt"/>
                <a:ea typeface="+mn-ea"/>
              </a:rPr>
              <a:t>编程计算</a:t>
            </a:r>
            <a:r>
              <a:rPr lang="en-US" altLang="zh-CN" dirty="0">
                <a:solidFill>
                  <a:srgbClr val="3333FF"/>
                </a:solidFill>
                <a:latin typeface="+mn-lt"/>
                <a:ea typeface="+mn-ea"/>
              </a:rPr>
              <a:t>z</a:t>
            </a:r>
            <a:r>
              <a:rPr lang="en-US" altLang="en-US" dirty="0">
                <a:solidFill>
                  <a:srgbClr val="3333FF"/>
                </a:solidFill>
                <a:latin typeface="+mn-lt"/>
                <a:ea typeface="+mn-ea"/>
              </a:rPr>
              <a:t>(z1,</a:t>
            </a:r>
            <a:r>
              <a:rPr lang="en-US" altLang="zh-CN" dirty="0">
                <a:solidFill>
                  <a:srgbClr val="3333FF"/>
                </a:solidFill>
                <a:latin typeface="+mn-lt"/>
                <a:ea typeface="+mn-ea"/>
              </a:rPr>
              <a:t>z2,……</a:t>
            </a:r>
            <a:r>
              <a:rPr lang="en-US" altLang="en-US" dirty="0">
                <a:solidFill>
                  <a:srgbClr val="3333FF"/>
                </a:solidFill>
                <a:latin typeface="+mn-lt"/>
                <a:ea typeface="+mn-ea"/>
              </a:rPr>
              <a:t>,z10)</a:t>
            </a:r>
            <a:endParaRPr lang="en-US" altLang="zh-CN" dirty="0">
              <a:solidFill>
                <a:srgbClr val="3333FF"/>
              </a:solidFill>
              <a:latin typeface="+mn-lt"/>
              <a:ea typeface="+mn-ea"/>
            </a:endParaRPr>
          </a:p>
          <a:p>
            <a:pPr marL="342900" indent="-342900">
              <a:lnSpc>
                <a:spcPct val="85000"/>
              </a:lnSpc>
              <a:spcBef>
                <a:spcPct val="5000"/>
              </a:spcBef>
              <a:buClr>
                <a:schemeClr val="bg2"/>
              </a:buClr>
              <a:buSzPct val="75000"/>
              <a:buFont typeface="Wingdings" pitchFamily="2" charset="2"/>
            </a:pPr>
            <a:endParaRPr lang="en-US" altLang="zh-CN" sz="1800" dirty="0">
              <a:solidFill>
                <a:srgbClr val="3333FF"/>
              </a:solidFill>
              <a:latin typeface="+mn-lt"/>
              <a:ea typeface="+mn-ea"/>
            </a:endParaRPr>
          </a:p>
          <a:p>
            <a:pPr lvl="1" eaLnBrk="0" hangingPunct="0">
              <a:spcBef>
                <a:spcPct val="20000"/>
              </a:spcBef>
              <a:buClr>
                <a:schemeClr val="tx2"/>
              </a:buClr>
              <a:buSzPct val="75000"/>
            </a:pPr>
            <a:r>
              <a:rPr lang="en-US" altLang="zh-CN" sz="2200" b="0" dirty="0">
                <a:latin typeface="+mn-lt"/>
                <a:ea typeface="+mn-ea"/>
              </a:rPr>
              <a:t>z1 = x1  + y1</a:t>
            </a:r>
          </a:p>
          <a:p>
            <a:pPr lvl="1" eaLnBrk="0" hangingPunct="0">
              <a:spcBef>
                <a:spcPct val="20000"/>
              </a:spcBef>
              <a:buClr>
                <a:schemeClr val="tx2"/>
              </a:buClr>
              <a:buSzPct val="75000"/>
            </a:pPr>
            <a:r>
              <a:rPr lang="en-US" altLang="zh-CN" sz="2200" b="0" dirty="0">
                <a:latin typeface="+mn-lt"/>
                <a:ea typeface="+mn-ea"/>
              </a:rPr>
              <a:t>z2 = x2  + y2</a:t>
            </a:r>
          </a:p>
          <a:p>
            <a:pPr lvl="1" eaLnBrk="0" hangingPunct="0">
              <a:spcBef>
                <a:spcPct val="20000"/>
              </a:spcBef>
              <a:buClr>
                <a:schemeClr val="tx2"/>
              </a:buClr>
              <a:buSzPct val="75000"/>
            </a:pPr>
            <a:r>
              <a:rPr lang="en-US" altLang="zh-CN" sz="2200" b="0" dirty="0">
                <a:latin typeface="+mn-lt"/>
                <a:ea typeface="+mn-ea"/>
              </a:rPr>
              <a:t>z3 = x3  - y3</a:t>
            </a:r>
          </a:p>
          <a:p>
            <a:pPr lvl="1" eaLnBrk="0" hangingPunct="0">
              <a:spcBef>
                <a:spcPct val="20000"/>
              </a:spcBef>
              <a:buClr>
                <a:schemeClr val="tx2"/>
              </a:buClr>
              <a:buSzPct val="75000"/>
            </a:pPr>
            <a:r>
              <a:rPr lang="en-US" altLang="zh-CN" sz="2200" b="0" dirty="0">
                <a:latin typeface="+mn-lt"/>
                <a:ea typeface="+mn-ea"/>
              </a:rPr>
              <a:t>z4 = x4  - y4</a:t>
            </a:r>
          </a:p>
          <a:p>
            <a:pPr lvl="1" eaLnBrk="0" hangingPunct="0">
              <a:spcBef>
                <a:spcPct val="20000"/>
              </a:spcBef>
              <a:buClr>
                <a:schemeClr val="tx2"/>
              </a:buClr>
              <a:buSzPct val="75000"/>
            </a:pPr>
            <a:r>
              <a:rPr lang="en-US" altLang="zh-CN" sz="2200" b="0" dirty="0">
                <a:latin typeface="+mn-lt"/>
                <a:ea typeface="+mn-ea"/>
              </a:rPr>
              <a:t>z5 = x5  - y5</a:t>
            </a:r>
          </a:p>
          <a:p>
            <a:pPr lvl="1" eaLnBrk="0" hangingPunct="0">
              <a:spcBef>
                <a:spcPct val="20000"/>
              </a:spcBef>
              <a:buClr>
                <a:schemeClr val="tx2"/>
              </a:buClr>
              <a:buSzPct val="75000"/>
            </a:pPr>
            <a:r>
              <a:rPr lang="en-US" altLang="zh-CN" sz="2200" b="0" dirty="0">
                <a:latin typeface="+mn-lt"/>
                <a:ea typeface="+mn-ea"/>
              </a:rPr>
              <a:t>z6 = x6  + y6</a:t>
            </a:r>
          </a:p>
          <a:p>
            <a:pPr lvl="1" eaLnBrk="0" hangingPunct="0">
              <a:spcBef>
                <a:spcPct val="20000"/>
              </a:spcBef>
              <a:buClr>
                <a:schemeClr val="tx2"/>
              </a:buClr>
              <a:buSzPct val="75000"/>
            </a:pPr>
            <a:r>
              <a:rPr lang="en-US" altLang="zh-CN" sz="2200" b="0" dirty="0">
                <a:latin typeface="+mn-lt"/>
                <a:ea typeface="+mn-ea"/>
              </a:rPr>
              <a:t>z7 = x7  - y7</a:t>
            </a:r>
          </a:p>
          <a:p>
            <a:pPr lvl="1" eaLnBrk="0" hangingPunct="0">
              <a:spcBef>
                <a:spcPct val="20000"/>
              </a:spcBef>
              <a:buClr>
                <a:schemeClr val="tx2"/>
              </a:buClr>
              <a:buSzPct val="75000"/>
            </a:pPr>
            <a:r>
              <a:rPr lang="en-US" altLang="zh-CN" sz="2200" b="0" dirty="0">
                <a:latin typeface="+mn-lt"/>
                <a:ea typeface="+mn-ea"/>
              </a:rPr>
              <a:t>z8 = x8  - y8</a:t>
            </a:r>
          </a:p>
          <a:p>
            <a:pPr lvl="1" eaLnBrk="0" hangingPunct="0">
              <a:spcBef>
                <a:spcPct val="20000"/>
              </a:spcBef>
              <a:buClr>
                <a:schemeClr val="tx2"/>
              </a:buClr>
              <a:buSzPct val="75000"/>
            </a:pPr>
            <a:r>
              <a:rPr lang="en-US" altLang="zh-CN" sz="2200" b="0" dirty="0">
                <a:latin typeface="+mn-lt"/>
                <a:ea typeface="+mn-ea"/>
              </a:rPr>
              <a:t>z9 = x9  + y9</a:t>
            </a:r>
          </a:p>
          <a:p>
            <a:pPr lvl="1" eaLnBrk="0" hangingPunct="0">
              <a:spcBef>
                <a:spcPct val="20000"/>
              </a:spcBef>
              <a:buClr>
                <a:schemeClr val="tx2"/>
              </a:buClr>
              <a:buSzPct val="75000"/>
            </a:pPr>
            <a:r>
              <a:rPr lang="en-US" altLang="zh-CN" sz="2200" b="0" dirty="0">
                <a:latin typeface="+mn-lt"/>
                <a:ea typeface="+mn-ea"/>
              </a:rPr>
              <a:t>z10= x10 + y10   </a:t>
            </a:r>
          </a:p>
        </p:txBody>
      </p:sp>
      <p:sp>
        <p:nvSpPr>
          <p:cNvPr id="57347" name="Text Box 3"/>
          <p:cNvSpPr txBox="1">
            <a:spLocks noChangeArrowheads="1"/>
          </p:cNvSpPr>
          <p:nvPr/>
        </p:nvSpPr>
        <p:spPr bwMode="auto">
          <a:xfrm>
            <a:off x="3563888" y="2852936"/>
            <a:ext cx="4525598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286000" indent="-4572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000FF"/>
                </a:solidFill>
                <a:ea typeface="楷体_GB2312" pitchFamily="49" charset="-122"/>
              </a:rPr>
              <a:t>逻辑尺：</a:t>
            </a:r>
            <a:r>
              <a:rPr kumimoji="1" lang="en-US" altLang="zh-CN" sz="2800" b="1" dirty="0">
                <a:solidFill>
                  <a:srgbClr val="0000FF"/>
                </a:solidFill>
                <a:ea typeface="楷体_GB2312" pitchFamily="49" charset="-122"/>
              </a:rPr>
              <a:t>0 0 1 1 </a:t>
            </a:r>
            <a:r>
              <a:rPr kumimoji="1" lang="en-US" altLang="zh-CN" sz="2800" dirty="0">
                <a:solidFill>
                  <a:srgbClr val="0000FF"/>
                </a:solidFill>
                <a:ea typeface="楷体_GB2312" pitchFamily="49" charset="-122"/>
              </a:rPr>
              <a:t>1 </a:t>
            </a:r>
            <a:r>
              <a:rPr kumimoji="1" lang="en-US" altLang="zh-CN" sz="2800" b="1" dirty="0">
                <a:solidFill>
                  <a:srgbClr val="0000FF"/>
                </a:solidFill>
                <a:ea typeface="楷体_GB2312" pitchFamily="49" charset="-122"/>
              </a:rPr>
              <a:t>0 1 1 0 0</a:t>
            </a:r>
          </a:p>
          <a:p>
            <a:pPr lvl="4">
              <a:spcBef>
                <a:spcPct val="50000"/>
              </a:spcBef>
            </a:pPr>
            <a:r>
              <a:rPr kumimoji="1" lang="en-US" altLang="zh-CN" sz="2800" b="1" dirty="0">
                <a:solidFill>
                  <a:srgbClr val="0000FF"/>
                </a:solidFill>
                <a:ea typeface="楷体_GB2312" pitchFamily="49" charset="-122"/>
              </a:rPr>
              <a:t>1  </a:t>
            </a:r>
            <a:r>
              <a:rPr kumimoji="1" lang="zh-CN" altLang="en-US" sz="2800" b="1" dirty="0">
                <a:solidFill>
                  <a:srgbClr val="0000FF"/>
                </a:solidFill>
                <a:ea typeface="楷体_GB2312" pitchFamily="49" charset="-122"/>
              </a:rPr>
              <a:t>减法</a:t>
            </a:r>
          </a:p>
          <a:p>
            <a:pPr lvl="4">
              <a:spcBef>
                <a:spcPct val="50000"/>
              </a:spcBef>
            </a:pPr>
            <a:r>
              <a:rPr kumimoji="1" lang="en-US" altLang="zh-CN" sz="2800" b="1" dirty="0">
                <a:solidFill>
                  <a:srgbClr val="0000FF"/>
                </a:solidFill>
                <a:ea typeface="楷体_GB2312" pitchFamily="49" charset="-122"/>
              </a:rPr>
              <a:t>0  </a:t>
            </a:r>
            <a:r>
              <a:rPr kumimoji="1" lang="zh-CN" altLang="en-US" sz="2800" b="1" dirty="0">
                <a:solidFill>
                  <a:srgbClr val="0000FF"/>
                </a:solidFill>
                <a:ea typeface="楷体_GB2312" pitchFamily="49" charset="-122"/>
              </a:rPr>
              <a:t>加法</a:t>
            </a:r>
          </a:p>
        </p:txBody>
      </p:sp>
      <p:sp>
        <p:nvSpPr>
          <p:cNvPr id="5" name="文本框 1"/>
          <p:cNvSpPr txBox="1"/>
          <p:nvPr/>
        </p:nvSpPr>
        <p:spPr>
          <a:xfrm>
            <a:off x="452120" y="317500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循环结构程序设计</a:t>
            </a:r>
          </a:p>
        </p:txBody>
      </p:sp>
    </p:spTree>
    <p:extLst>
      <p:ext uri="{BB962C8B-B14F-4D97-AF65-F5344CB8AC3E}">
        <p14:creationId xmlns:p14="http://schemas.microsoft.com/office/powerpoint/2010/main" val="228745304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7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1"/>
          <p:cNvSpPr txBox="1"/>
          <p:nvPr/>
        </p:nvSpPr>
        <p:spPr>
          <a:xfrm>
            <a:off x="452120" y="317500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循环结构程序设计</a:t>
            </a:r>
          </a:p>
        </p:txBody>
      </p:sp>
      <p:sp>
        <p:nvSpPr>
          <p:cNvPr id="40" name="Rectangle 2"/>
          <p:cNvSpPr>
            <a:spLocks noChangeArrowheads="1"/>
          </p:cNvSpPr>
          <p:nvPr/>
        </p:nvSpPr>
        <p:spPr bwMode="auto">
          <a:xfrm>
            <a:off x="251520" y="944724"/>
            <a:ext cx="5580620" cy="5542682"/>
          </a:xfrm>
          <a:prstGeom prst="rect">
            <a:avLst/>
          </a:prstGeom>
          <a:noFill/>
          <a:ln w="9525">
            <a:solidFill>
              <a:srgbClr val="FF0000"/>
            </a:solidFill>
            <a:prstDash val="dash"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342900" indent="-342900">
              <a:lnSpc>
                <a:spcPct val="85000"/>
              </a:lnSpc>
              <a:spcBef>
                <a:spcPct val="5000"/>
              </a:spcBef>
              <a:buClr>
                <a:schemeClr val="bg2"/>
              </a:buClr>
              <a:buSzPct val="75000"/>
              <a:buFont typeface="Wingdings" pitchFamily="2" charset="2"/>
            </a:pPr>
            <a:r>
              <a:rPr lang="en-US" altLang="zh-CN" sz="2000" b="0" dirty="0">
                <a:solidFill>
                  <a:srgbClr val="3333FF"/>
                </a:solidFill>
                <a:latin typeface="+mn-lt"/>
                <a:ea typeface="+mn-ea"/>
              </a:rPr>
              <a:t>         x        </a:t>
            </a:r>
            <a:r>
              <a:rPr lang="en-US" altLang="zh-CN" sz="2000" b="0" dirty="0" err="1">
                <a:solidFill>
                  <a:srgbClr val="3333FF"/>
                </a:solidFill>
                <a:latin typeface="+mn-lt"/>
                <a:ea typeface="+mn-ea"/>
              </a:rPr>
              <a:t>dw</a:t>
            </a:r>
            <a:r>
              <a:rPr lang="en-US" altLang="zh-CN" sz="2000" b="0" dirty="0">
                <a:solidFill>
                  <a:srgbClr val="3333FF"/>
                </a:solidFill>
                <a:latin typeface="+mn-lt"/>
                <a:ea typeface="+mn-ea"/>
              </a:rPr>
              <a:t>  x1,x2,x3,x4,x5,x6,x7,x8,x9,x10</a:t>
            </a:r>
          </a:p>
          <a:p>
            <a:pPr marL="342900" indent="-342900">
              <a:lnSpc>
                <a:spcPct val="85000"/>
              </a:lnSpc>
              <a:spcBef>
                <a:spcPct val="5000"/>
              </a:spcBef>
              <a:buClr>
                <a:schemeClr val="bg2"/>
              </a:buClr>
              <a:buSzPct val="75000"/>
              <a:buFont typeface="Wingdings" pitchFamily="2" charset="2"/>
            </a:pPr>
            <a:r>
              <a:rPr lang="en-US" altLang="zh-CN" sz="2000" b="0" dirty="0">
                <a:solidFill>
                  <a:srgbClr val="3333FF"/>
                </a:solidFill>
                <a:latin typeface="+mn-lt"/>
                <a:ea typeface="+mn-ea"/>
              </a:rPr>
              <a:t>         y        </a:t>
            </a:r>
            <a:r>
              <a:rPr lang="en-US" altLang="zh-CN" sz="2000" b="0" dirty="0" err="1">
                <a:solidFill>
                  <a:srgbClr val="3333FF"/>
                </a:solidFill>
                <a:latin typeface="+mn-lt"/>
                <a:ea typeface="+mn-ea"/>
              </a:rPr>
              <a:t>dw</a:t>
            </a:r>
            <a:r>
              <a:rPr lang="en-US" altLang="zh-CN" sz="2000" b="0" dirty="0">
                <a:solidFill>
                  <a:srgbClr val="3333FF"/>
                </a:solidFill>
                <a:latin typeface="+mn-lt"/>
                <a:ea typeface="+mn-ea"/>
              </a:rPr>
              <a:t>  y1,y2,y3,y4,y5,y6,y7,y8,y9,y10</a:t>
            </a:r>
          </a:p>
          <a:p>
            <a:pPr marL="342900" indent="-342900">
              <a:lnSpc>
                <a:spcPct val="85000"/>
              </a:lnSpc>
              <a:spcBef>
                <a:spcPct val="5000"/>
              </a:spcBef>
              <a:buClr>
                <a:schemeClr val="bg2"/>
              </a:buClr>
              <a:buSzPct val="75000"/>
              <a:buFont typeface="Wingdings" pitchFamily="2" charset="2"/>
            </a:pPr>
            <a:r>
              <a:rPr lang="en-US" altLang="zh-CN" sz="2000" b="0" dirty="0">
                <a:solidFill>
                  <a:srgbClr val="3333FF"/>
                </a:solidFill>
                <a:latin typeface="+mn-lt"/>
                <a:ea typeface="+mn-ea"/>
              </a:rPr>
              <a:t>         z        </a:t>
            </a:r>
            <a:r>
              <a:rPr lang="en-US" altLang="zh-CN" sz="2000" b="0" dirty="0" err="1">
                <a:solidFill>
                  <a:srgbClr val="3333FF"/>
                </a:solidFill>
                <a:latin typeface="+mn-lt"/>
                <a:ea typeface="+mn-ea"/>
              </a:rPr>
              <a:t>dw</a:t>
            </a:r>
            <a:r>
              <a:rPr lang="en-US" altLang="zh-CN" sz="2000" b="0" dirty="0">
                <a:solidFill>
                  <a:srgbClr val="3333FF"/>
                </a:solidFill>
                <a:latin typeface="+mn-lt"/>
                <a:ea typeface="+mn-ea"/>
              </a:rPr>
              <a:t>  z1,z2,z3,z4,z5,z6,z7,z8,z9,z10</a:t>
            </a:r>
          </a:p>
          <a:p>
            <a:pPr marL="342900" indent="-342900">
              <a:lnSpc>
                <a:spcPct val="85000"/>
              </a:lnSpc>
              <a:spcBef>
                <a:spcPct val="5000"/>
              </a:spcBef>
              <a:buClr>
                <a:schemeClr val="bg2"/>
              </a:buClr>
              <a:buSzPct val="75000"/>
              <a:buFont typeface="Wingdings" pitchFamily="2" charset="2"/>
            </a:pPr>
            <a:r>
              <a:rPr lang="en-US" altLang="zh-CN" sz="2000" b="0" dirty="0" err="1">
                <a:solidFill>
                  <a:srgbClr val="3333FF"/>
                </a:solidFill>
                <a:latin typeface="+mn-lt"/>
                <a:ea typeface="+mn-ea"/>
              </a:rPr>
              <a:t>logic_rule</a:t>
            </a:r>
            <a:r>
              <a:rPr lang="en-US" altLang="zh-CN" sz="2000" b="0" dirty="0">
                <a:solidFill>
                  <a:srgbClr val="3333FF"/>
                </a:solidFill>
                <a:latin typeface="+mn-lt"/>
                <a:ea typeface="+mn-ea"/>
              </a:rPr>
              <a:t>  </a:t>
            </a:r>
            <a:r>
              <a:rPr lang="en-US" altLang="zh-CN" sz="2000" b="0" dirty="0" err="1">
                <a:solidFill>
                  <a:srgbClr val="3333FF"/>
                </a:solidFill>
                <a:latin typeface="+mn-lt"/>
                <a:ea typeface="+mn-ea"/>
              </a:rPr>
              <a:t>dw</a:t>
            </a:r>
            <a:r>
              <a:rPr lang="en-US" altLang="zh-CN" sz="2000" b="0" dirty="0">
                <a:solidFill>
                  <a:srgbClr val="3333FF"/>
                </a:solidFill>
                <a:latin typeface="+mn-lt"/>
                <a:ea typeface="+mn-ea"/>
              </a:rPr>
              <a:t>  </a:t>
            </a:r>
            <a:r>
              <a:rPr lang="en-US" altLang="zh-CN" sz="2000" b="0" dirty="0">
                <a:solidFill>
                  <a:srgbClr val="FF0000"/>
                </a:solidFill>
                <a:latin typeface="+mn-lt"/>
                <a:ea typeface="+mn-ea"/>
              </a:rPr>
              <a:t>3B00H       ; 0011 1011 00</a:t>
            </a:r>
            <a:r>
              <a:rPr lang="en-US" altLang="zh-CN" sz="2000" b="0" dirty="0">
                <a:solidFill>
                  <a:srgbClr val="FF0000"/>
                </a:solidFill>
              </a:rPr>
              <a:t>00 0000</a:t>
            </a:r>
            <a:endParaRPr lang="en-US" altLang="zh-CN" sz="2000" b="0" dirty="0">
              <a:solidFill>
                <a:srgbClr val="FF0000"/>
              </a:solidFill>
              <a:latin typeface="+mn-lt"/>
              <a:ea typeface="+mn-ea"/>
            </a:endParaRPr>
          </a:p>
          <a:p>
            <a:pPr marL="342900" indent="-342900">
              <a:lnSpc>
                <a:spcPct val="85000"/>
              </a:lnSpc>
              <a:spcBef>
                <a:spcPct val="5000"/>
              </a:spcBef>
              <a:buClr>
                <a:schemeClr val="bg2"/>
              </a:buClr>
              <a:buSzPct val="75000"/>
              <a:buFont typeface="Wingdings" pitchFamily="2" charset="2"/>
            </a:pPr>
            <a:r>
              <a:rPr lang="en-US" altLang="zh-CN" sz="2000" b="0" dirty="0">
                <a:solidFill>
                  <a:srgbClr val="3333FF"/>
                </a:solidFill>
                <a:latin typeface="+mn-lt"/>
                <a:ea typeface="+mn-ea"/>
              </a:rPr>
              <a:t>           …… </a:t>
            </a:r>
          </a:p>
          <a:p>
            <a:pPr marL="342900" indent="-342900">
              <a:lnSpc>
                <a:spcPct val="85000"/>
              </a:lnSpc>
              <a:spcBef>
                <a:spcPct val="5000"/>
              </a:spcBef>
              <a:buClr>
                <a:schemeClr val="bg2"/>
              </a:buClr>
              <a:buSzPct val="75000"/>
              <a:buFont typeface="Wingdings" pitchFamily="2" charset="2"/>
            </a:pPr>
            <a:r>
              <a:rPr lang="en-US" altLang="zh-CN" sz="2000" b="0" dirty="0">
                <a:solidFill>
                  <a:srgbClr val="3333FF"/>
                </a:solidFill>
                <a:latin typeface="+mn-lt"/>
                <a:ea typeface="+mn-ea"/>
              </a:rPr>
              <a:t>         </a:t>
            </a:r>
            <a:r>
              <a:rPr lang="en-US" altLang="zh-CN" sz="2000" b="0" dirty="0" err="1">
                <a:solidFill>
                  <a:srgbClr val="3333FF"/>
                </a:solidFill>
                <a:latin typeface="+mn-lt"/>
                <a:ea typeface="+mn-ea"/>
              </a:rPr>
              <a:t>mov</a:t>
            </a:r>
            <a:r>
              <a:rPr lang="en-US" altLang="zh-CN" sz="2000" b="0" dirty="0">
                <a:solidFill>
                  <a:srgbClr val="3333FF"/>
                </a:solidFill>
                <a:latin typeface="+mn-lt"/>
                <a:ea typeface="+mn-ea"/>
              </a:rPr>
              <a:t>   </a:t>
            </a:r>
            <a:r>
              <a:rPr lang="en-US" altLang="zh-CN" sz="2000" b="0" dirty="0" err="1">
                <a:solidFill>
                  <a:srgbClr val="3333FF"/>
                </a:solidFill>
                <a:latin typeface="+mn-lt"/>
                <a:ea typeface="+mn-ea"/>
              </a:rPr>
              <a:t>bx</a:t>
            </a:r>
            <a:r>
              <a:rPr lang="en-US" altLang="zh-CN" sz="2000" b="0" dirty="0">
                <a:solidFill>
                  <a:srgbClr val="3333FF"/>
                </a:solidFill>
                <a:latin typeface="+mn-lt"/>
                <a:ea typeface="+mn-ea"/>
              </a:rPr>
              <a:t>, 0		</a:t>
            </a:r>
            <a:r>
              <a:rPr lang="zh-CN" altLang="en-US" sz="2000" b="0" dirty="0">
                <a:solidFill>
                  <a:srgbClr val="3333FF"/>
                </a:solidFill>
                <a:latin typeface="+mn-lt"/>
                <a:ea typeface="+mn-ea"/>
              </a:rPr>
              <a:t>；数组索引</a:t>
            </a:r>
            <a:endParaRPr lang="en-US" altLang="zh-CN" sz="2000" b="0" dirty="0">
              <a:solidFill>
                <a:srgbClr val="3333FF"/>
              </a:solidFill>
              <a:latin typeface="+mn-lt"/>
              <a:ea typeface="+mn-ea"/>
            </a:endParaRPr>
          </a:p>
          <a:p>
            <a:pPr marL="342900" indent="-342900">
              <a:lnSpc>
                <a:spcPct val="85000"/>
              </a:lnSpc>
              <a:spcBef>
                <a:spcPct val="5000"/>
              </a:spcBef>
              <a:buClr>
                <a:schemeClr val="bg2"/>
              </a:buClr>
              <a:buSzPct val="75000"/>
              <a:buFont typeface="Wingdings" pitchFamily="2" charset="2"/>
            </a:pPr>
            <a:r>
              <a:rPr lang="en-US" altLang="zh-CN" sz="2000" b="0" dirty="0">
                <a:solidFill>
                  <a:srgbClr val="3333FF"/>
                </a:solidFill>
                <a:latin typeface="+mn-lt"/>
                <a:ea typeface="+mn-ea"/>
              </a:rPr>
              <a:t>         </a:t>
            </a:r>
            <a:r>
              <a:rPr lang="en-US" altLang="zh-CN" sz="2000" b="0" dirty="0" err="1">
                <a:solidFill>
                  <a:srgbClr val="3333FF"/>
                </a:solidFill>
                <a:latin typeface="+mn-lt"/>
                <a:ea typeface="+mn-ea"/>
              </a:rPr>
              <a:t>mov</a:t>
            </a:r>
            <a:r>
              <a:rPr lang="en-US" altLang="zh-CN" sz="2000" b="0" dirty="0">
                <a:solidFill>
                  <a:srgbClr val="3333FF"/>
                </a:solidFill>
                <a:latin typeface="+mn-lt"/>
                <a:ea typeface="+mn-ea"/>
              </a:rPr>
              <a:t>   cx, 10	</a:t>
            </a:r>
            <a:r>
              <a:rPr lang="zh-CN" altLang="en-US" sz="2000" b="0" dirty="0">
                <a:solidFill>
                  <a:srgbClr val="3333FF"/>
                </a:solidFill>
                <a:latin typeface="+mn-lt"/>
                <a:ea typeface="+mn-ea"/>
              </a:rPr>
              <a:t>；循环次数</a:t>
            </a:r>
            <a:endParaRPr lang="en-US" altLang="zh-CN" sz="2000" b="0" dirty="0">
              <a:solidFill>
                <a:srgbClr val="3333FF"/>
              </a:solidFill>
              <a:latin typeface="+mn-lt"/>
              <a:ea typeface="+mn-ea"/>
            </a:endParaRPr>
          </a:p>
          <a:p>
            <a:pPr marL="342900" indent="-342900">
              <a:lnSpc>
                <a:spcPct val="85000"/>
              </a:lnSpc>
              <a:spcBef>
                <a:spcPct val="5000"/>
              </a:spcBef>
              <a:buClr>
                <a:schemeClr val="bg2"/>
              </a:buClr>
              <a:buSzPct val="75000"/>
              <a:buFont typeface="Wingdings" pitchFamily="2" charset="2"/>
            </a:pPr>
            <a:r>
              <a:rPr lang="en-US" altLang="zh-CN" sz="2000" b="0" dirty="0">
                <a:solidFill>
                  <a:srgbClr val="3333FF"/>
                </a:solidFill>
                <a:latin typeface="+mn-lt"/>
                <a:ea typeface="+mn-ea"/>
              </a:rPr>
              <a:t>         </a:t>
            </a:r>
            <a:r>
              <a:rPr lang="en-US" altLang="zh-CN" sz="2000" b="0" dirty="0" err="1">
                <a:solidFill>
                  <a:srgbClr val="3333FF"/>
                </a:solidFill>
                <a:latin typeface="+mn-lt"/>
                <a:ea typeface="+mn-ea"/>
              </a:rPr>
              <a:t>mov</a:t>
            </a:r>
            <a:r>
              <a:rPr lang="en-US" altLang="zh-CN" sz="2000" b="0" dirty="0">
                <a:solidFill>
                  <a:srgbClr val="3333FF"/>
                </a:solidFill>
                <a:latin typeface="+mn-lt"/>
                <a:ea typeface="+mn-ea"/>
              </a:rPr>
              <a:t>   dx, </a:t>
            </a:r>
            <a:r>
              <a:rPr lang="en-US" altLang="zh-CN" sz="2000" b="0" dirty="0" err="1">
                <a:solidFill>
                  <a:srgbClr val="3333FF"/>
                </a:solidFill>
                <a:latin typeface="+mn-lt"/>
                <a:ea typeface="+mn-ea"/>
              </a:rPr>
              <a:t>logic_rule</a:t>
            </a:r>
            <a:endParaRPr lang="en-US" altLang="zh-CN" sz="2000" b="0" dirty="0">
              <a:solidFill>
                <a:srgbClr val="3333FF"/>
              </a:solidFill>
              <a:latin typeface="+mn-lt"/>
              <a:ea typeface="+mn-ea"/>
            </a:endParaRPr>
          </a:p>
          <a:p>
            <a:pPr marL="342900" indent="-342900">
              <a:lnSpc>
                <a:spcPct val="85000"/>
              </a:lnSpc>
              <a:spcBef>
                <a:spcPct val="5000"/>
              </a:spcBef>
              <a:buClr>
                <a:schemeClr val="bg2"/>
              </a:buClr>
              <a:buSzPct val="75000"/>
              <a:buFont typeface="Wingdings" pitchFamily="2" charset="2"/>
            </a:pPr>
            <a:r>
              <a:rPr lang="en-US" altLang="zh-CN" sz="2000" b="0" dirty="0">
                <a:solidFill>
                  <a:srgbClr val="3333FF"/>
                </a:solidFill>
                <a:latin typeface="+mn-lt"/>
                <a:ea typeface="+mn-ea"/>
              </a:rPr>
              <a:t>next: </a:t>
            </a:r>
            <a:r>
              <a:rPr lang="en-US" altLang="zh-CN" sz="2000" b="0" dirty="0" err="1">
                <a:solidFill>
                  <a:srgbClr val="3333FF"/>
                </a:solidFill>
                <a:latin typeface="+mn-lt"/>
                <a:ea typeface="+mn-ea"/>
              </a:rPr>
              <a:t>mov</a:t>
            </a:r>
            <a:r>
              <a:rPr lang="en-US" altLang="zh-CN" sz="2000" b="0" dirty="0">
                <a:solidFill>
                  <a:srgbClr val="3333FF"/>
                </a:solidFill>
                <a:latin typeface="+mn-lt"/>
                <a:ea typeface="+mn-ea"/>
              </a:rPr>
              <a:t>  ax, x[</a:t>
            </a:r>
            <a:r>
              <a:rPr lang="en-US" altLang="zh-CN" sz="2000" b="0" dirty="0" err="1">
                <a:solidFill>
                  <a:srgbClr val="3333FF"/>
                </a:solidFill>
                <a:latin typeface="+mn-lt"/>
                <a:ea typeface="+mn-ea"/>
              </a:rPr>
              <a:t>bx</a:t>
            </a:r>
            <a:r>
              <a:rPr lang="en-US" altLang="zh-CN" sz="2000" b="0" dirty="0">
                <a:solidFill>
                  <a:srgbClr val="3333FF"/>
                </a:solidFill>
                <a:latin typeface="+mn-lt"/>
                <a:ea typeface="+mn-ea"/>
              </a:rPr>
              <a:t>]</a:t>
            </a:r>
          </a:p>
          <a:p>
            <a:pPr marL="342900" indent="-342900">
              <a:lnSpc>
                <a:spcPct val="85000"/>
              </a:lnSpc>
              <a:spcBef>
                <a:spcPct val="5000"/>
              </a:spcBef>
              <a:buClr>
                <a:schemeClr val="bg2"/>
              </a:buClr>
              <a:buSzPct val="75000"/>
              <a:buFont typeface="Wingdings" pitchFamily="2" charset="2"/>
            </a:pPr>
            <a:r>
              <a:rPr lang="en-US" altLang="zh-CN" sz="2000" b="0" dirty="0">
                <a:solidFill>
                  <a:srgbClr val="3333FF"/>
                </a:solidFill>
                <a:latin typeface="+mn-lt"/>
                <a:ea typeface="+mn-ea"/>
              </a:rPr>
              <a:t>         </a:t>
            </a:r>
            <a:r>
              <a:rPr lang="en-US" altLang="zh-CN" sz="2000" b="0" dirty="0" err="1">
                <a:solidFill>
                  <a:srgbClr val="3333FF"/>
                </a:solidFill>
                <a:latin typeface="+mn-lt"/>
                <a:ea typeface="+mn-ea"/>
              </a:rPr>
              <a:t>shl</a:t>
            </a:r>
            <a:r>
              <a:rPr lang="en-US" altLang="zh-CN" sz="2000" b="0" dirty="0">
                <a:solidFill>
                  <a:srgbClr val="3333FF"/>
                </a:solidFill>
                <a:latin typeface="+mn-lt"/>
                <a:ea typeface="+mn-ea"/>
              </a:rPr>
              <a:t>     dx, 1		</a:t>
            </a:r>
            <a:r>
              <a:rPr lang="zh-CN" altLang="en-US" sz="2000" b="0" dirty="0">
                <a:solidFill>
                  <a:srgbClr val="3333FF"/>
                </a:solidFill>
                <a:latin typeface="+mn-lt"/>
                <a:ea typeface="+mn-ea"/>
              </a:rPr>
              <a:t>；逻辑尺逻辑左移</a:t>
            </a:r>
            <a:endParaRPr lang="en-US" altLang="zh-CN" sz="2000" b="0" dirty="0">
              <a:solidFill>
                <a:srgbClr val="3333FF"/>
              </a:solidFill>
              <a:latin typeface="+mn-lt"/>
              <a:ea typeface="+mn-ea"/>
            </a:endParaRPr>
          </a:p>
          <a:p>
            <a:pPr marL="342900" indent="-342900">
              <a:lnSpc>
                <a:spcPct val="85000"/>
              </a:lnSpc>
              <a:spcBef>
                <a:spcPct val="5000"/>
              </a:spcBef>
              <a:buClr>
                <a:schemeClr val="bg2"/>
              </a:buClr>
              <a:buSzPct val="75000"/>
              <a:buFont typeface="Wingdings" pitchFamily="2" charset="2"/>
            </a:pPr>
            <a:r>
              <a:rPr lang="en-US" altLang="zh-CN" sz="2000" b="0" dirty="0">
                <a:solidFill>
                  <a:srgbClr val="3333FF"/>
                </a:solidFill>
                <a:latin typeface="+mn-lt"/>
                <a:ea typeface="+mn-ea"/>
              </a:rPr>
              <a:t>         </a:t>
            </a:r>
            <a:r>
              <a:rPr lang="en-US" altLang="zh-CN" sz="2000" b="0" dirty="0" err="1">
                <a:solidFill>
                  <a:srgbClr val="3333FF"/>
                </a:solidFill>
                <a:latin typeface="+mn-lt"/>
                <a:ea typeface="+mn-ea"/>
              </a:rPr>
              <a:t>jc</a:t>
            </a:r>
            <a:r>
              <a:rPr lang="en-US" altLang="zh-CN" sz="2000" b="0" dirty="0">
                <a:solidFill>
                  <a:srgbClr val="3333FF"/>
                </a:solidFill>
                <a:latin typeface="+mn-lt"/>
                <a:ea typeface="+mn-ea"/>
              </a:rPr>
              <a:t>       subtract	</a:t>
            </a:r>
            <a:r>
              <a:rPr lang="zh-CN" altLang="en-US" sz="2000" b="0" dirty="0">
                <a:solidFill>
                  <a:srgbClr val="3333FF"/>
                </a:solidFill>
                <a:latin typeface="+mn-lt"/>
                <a:ea typeface="+mn-ea"/>
              </a:rPr>
              <a:t>；</a:t>
            </a:r>
            <a:r>
              <a:rPr lang="en-US" altLang="zh-CN" sz="2000" b="0" dirty="0">
                <a:solidFill>
                  <a:srgbClr val="3333FF"/>
                </a:solidFill>
                <a:latin typeface="+mn-lt"/>
                <a:ea typeface="+mn-ea"/>
              </a:rPr>
              <a:t>CF=1</a:t>
            </a:r>
            <a:r>
              <a:rPr lang="zh-CN" altLang="en-US" sz="2000" b="0" dirty="0">
                <a:solidFill>
                  <a:srgbClr val="3333FF"/>
                </a:solidFill>
                <a:latin typeface="+mn-lt"/>
                <a:ea typeface="+mn-ea"/>
              </a:rPr>
              <a:t>，减法</a:t>
            </a:r>
            <a:endParaRPr lang="en-US" altLang="zh-CN" sz="2000" b="0" dirty="0">
              <a:solidFill>
                <a:srgbClr val="3333FF"/>
              </a:solidFill>
              <a:latin typeface="+mn-lt"/>
              <a:ea typeface="+mn-ea"/>
            </a:endParaRPr>
          </a:p>
          <a:p>
            <a:pPr marL="342900" indent="-342900">
              <a:lnSpc>
                <a:spcPct val="85000"/>
              </a:lnSpc>
              <a:spcBef>
                <a:spcPct val="5000"/>
              </a:spcBef>
              <a:buClr>
                <a:schemeClr val="bg2"/>
              </a:buClr>
              <a:buSzPct val="75000"/>
              <a:buFont typeface="Wingdings" pitchFamily="2" charset="2"/>
            </a:pPr>
            <a:r>
              <a:rPr lang="en-US" altLang="zh-CN" sz="2000" b="0" dirty="0">
                <a:solidFill>
                  <a:srgbClr val="3333FF"/>
                </a:solidFill>
                <a:latin typeface="+mn-lt"/>
                <a:ea typeface="+mn-ea"/>
              </a:rPr>
              <a:t>         add    ax, y[</a:t>
            </a:r>
            <a:r>
              <a:rPr lang="en-US" altLang="zh-CN" sz="2000" b="0" dirty="0" err="1">
                <a:solidFill>
                  <a:srgbClr val="3333FF"/>
                </a:solidFill>
                <a:latin typeface="+mn-lt"/>
                <a:ea typeface="+mn-ea"/>
              </a:rPr>
              <a:t>bx</a:t>
            </a:r>
            <a:r>
              <a:rPr lang="en-US" altLang="zh-CN" sz="2000" b="0" dirty="0">
                <a:solidFill>
                  <a:srgbClr val="3333FF"/>
                </a:solidFill>
                <a:latin typeface="+mn-lt"/>
                <a:ea typeface="+mn-ea"/>
              </a:rPr>
              <a:t>]	</a:t>
            </a:r>
            <a:r>
              <a:rPr lang="zh-CN" altLang="en-US" sz="2000" b="0" dirty="0">
                <a:solidFill>
                  <a:srgbClr val="3333FF"/>
                </a:solidFill>
                <a:latin typeface="+mn-lt"/>
                <a:ea typeface="+mn-ea"/>
              </a:rPr>
              <a:t>；</a:t>
            </a:r>
            <a:r>
              <a:rPr lang="en-US" altLang="zh-CN" sz="2000" b="0" dirty="0">
                <a:solidFill>
                  <a:srgbClr val="3333FF"/>
                </a:solidFill>
                <a:latin typeface="+mn-lt"/>
                <a:ea typeface="+mn-ea"/>
              </a:rPr>
              <a:t>CF=0</a:t>
            </a:r>
            <a:r>
              <a:rPr lang="zh-CN" altLang="en-US" sz="2000" b="0" dirty="0">
                <a:solidFill>
                  <a:srgbClr val="3333FF"/>
                </a:solidFill>
                <a:latin typeface="+mn-lt"/>
                <a:ea typeface="+mn-ea"/>
              </a:rPr>
              <a:t>，加法</a:t>
            </a:r>
            <a:endParaRPr lang="en-US" altLang="zh-CN" sz="2000" b="0" dirty="0">
              <a:solidFill>
                <a:srgbClr val="3333FF"/>
              </a:solidFill>
              <a:latin typeface="+mn-lt"/>
              <a:ea typeface="+mn-ea"/>
            </a:endParaRPr>
          </a:p>
          <a:p>
            <a:pPr marL="342900" indent="-342900">
              <a:lnSpc>
                <a:spcPct val="85000"/>
              </a:lnSpc>
              <a:spcBef>
                <a:spcPct val="5000"/>
              </a:spcBef>
              <a:buClr>
                <a:schemeClr val="bg2"/>
              </a:buClr>
              <a:buSzPct val="75000"/>
              <a:buFont typeface="Wingdings" pitchFamily="2" charset="2"/>
            </a:pPr>
            <a:r>
              <a:rPr lang="en-US" altLang="zh-CN" sz="2000" b="0" dirty="0">
                <a:solidFill>
                  <a:srgbClr val="3333FF"/>
                </a:solidFill>
                <a:latin typeface="+mn-lt"/>
                <a:ea typeface="+mn-ea"/>
              </a:rPr>
              <a:t>         </a:t>
            </a:r>
            <a:r>
              <a:rPr lang="en-US" altLang="zh-CN" sz="2000" b="0" dirty="0" err="1">
                <a:solidFill>
                  <a:srgbClr val="3333FF"/>
                </a:solidFill>
                <a:latin typeface="+mn-lt"/>
                <a:ea typeface="+mn-ea"/>
              </a:rPr>
              <a:t>jmp</a:t>
            </a:r>
            <a:r>
              <a:rPr lang="en-US" altLang="zh-CN" sz="2000" b="0" dirty="0">
                <a:solidFill>
                  <a:srgbClr val="3333FF"/>
                </a:solidFill>
                <a:latin typeface="+mn-lt"/>
                <a:ea typeface="+mn-ea"/>
              </a:rPr>
              <a:t>    short  result      ; </a:t>
            </a:r>
            <a:r>
              <a:rPr lang="zh-CN" altLang="en-US" sz="2000" b="0" dirty="0">
                <a:solidFill>
                  <a:srgbClr val="3333FF"/>
                </a:solidFill>
                <a:latin typeface="+mn-lt"/>
                <a:ea typeface="+mn-ea"/>
              </a:rPr>
              <a:t>跳转</a:t>
            </a:r>
          </a:p>
          <a:p>
            <a:pPr marL="342900" indent="-342900">
              <a:lnSpc>
                <a:spcPct val="85000"/>
              </a:lnSpc>
              <a:spcBef>
                <a:spcPct val="5000"/>
              </a:spcBef>
              <a:buClr>
                <a:schemeClr val="bg2"/>
              </a:buClr>
              <a:buSzPct val="75000"/>
              <a:buFont typeface="Wingdings" pitchFamily="2" charset="2"/>
            </a:pPr>
            <a:r>
              <a:rPr lang="en-US" altLang="zh-CN" sz="2000" b="0" dirty="0">
                <a:solidFill>
                  <a:srgbClr val="3333FF"/>
                </a:solidFill>
                <a:latin typeface="+mn-lt"/>
                <a:ea typeface="+mn-ea"/>
              </a:rPr>
              <a:t>subtract:   </a:t>
            </a:r>
          </a:p>
          <a:p>
            <a:pPr marL="342900" indent="-342900">
              <a:lnSpc>
                <a:spcPct val="85000"/>
              </a:lnSpc>
              <a:spcBef>
                <a:spcPct val="5000"/>
              </a:spcBef>
              <a:buClr>
                <a:schemeClr val="bg2"/>
              </a:buClr>
              <a:buSzPct val="75000"/>
              <a:buFont typeface="Wingdings" pitchFamily="2" charset="2"/>
            </a:pPr>
            <a:r>
              <a:rPr lang="en-US" altLang="zh-CN" sz="2000" b="0" dirty="0">
                <a:solidFill>
                  <a:srgbClr val="3333FF"/>
                </a:solidFill>
                <a:latin typeface="+mn-lt"/>
                <a:ea typeface="+mn-ea"/>
              </a:rPr>
              <a:t>         sub    ax, y[</a:t>
            </a:r>
            <a:r>
              <a:rPr lang="en-US" altLang="zh-CN" sz="2000" b="0" dirty="0" err="1">
                <a:solidFill>
                  <a:srgbClr val="3333FF"/>
                </a:solidFill>
                <a:latin typeface="+mn-lt"/>
                <a:ea typeface="+mn-ea"/>
              </a:rPr>
              <a:t>bx</a:t>
            </a:r>
            <a:r>
              <a:rPr lang="en-US" altLang="zh-CN" sz="2000" b="0" dirty="0">
                <a:solidFill>
                  <a:srgbClr val="3333FF"/>
                </a:solidFill>
                <a:latin typeface="+mn-lt"/>
                <a:ea typeface="+mn-ea"/>
              </a:rPr>
              <a:t>]</a:t>
            </a:r>
          </a:p>
          <a:p>
            <a:pPr marL="342900" indent="-342900">
              <a:lnSpc>
                <a:spcPct val="85000"/>
              </a:lnSpc>
              <a:spcBef>
                <a:spcPct val="5000"/>
              </a:spcBef>
              <a:buClr>
                <a:schemeClr val="bg2"/>
              </a:buClr>
              <a:buSzPct val="75000"/>
              <a:buFont typeface="Wingdings" pitchFamily="2" charset="2"/>
            </a:pPr>
            <a:r>
              <a:rPr lang="en-US" altLang="zh-CN" sz="2000" b="0" dirty="0">
                <a:solidFill>
                  <a:srgbClr val="3333FF"/>
                </a:solidFill>
                <a:latin typeface="+mn-lt"/>
                <a:ea typeface="+mn-ea"/>
              </a:rPr>
              <a:t>result:  </a:t>
            </a:r>
          </a:p>
          <a:p>
            <a:pPr marL="342900" indent="-342900">
              <a:lnSpc>
                <a:spcPct val="85000"/>
              </a:lnSpc>
              <a:spcBef>
                <a:spcPct val="5000"/>
              </a:spcBef>
              <a:buClr>
                <a:schemeClr val="bg2"/>
              </a:buClr>
              <a:buSzPct val="75000"/>
              <a:buFont typeface="Wingdings" pitchFamily="2" charset="2"/>
            </a:pPr>
            <a:r>
              <a:rPr lang="en-US" altLang="zh-CN" sz="2000" b="0" dirty="0">
                <a:solidFill>
                  <a:srgbClr val="3333FF"/>
                </a:solidFill>
                <a:latin typeface="+mn-lt"/>
                <a:ea typeface="+mn-ea"/>
              </a:rPr>
              <a:t>	    </a:t>
            </a:r>
            <a:r>
              <a:rPr lang="en-US" altLang="zh-CN" sz="2000" b="0" dirty="0" err="1">
                <a:solidFill>
                  <a:srgbClr val="3333FF"/>
                </a:solidFill>
                <a:latin typeface="+mn-lt"/>
                <a:ea typeface="+mn-ea"/>
              </a:rPr>
              <a:t>mov</a:t>
            </a:r>
            <a:r>
              <a:rPr lang="en-US" altLang="zh-CN" sz="2000" b="0" dirty="0">
                <a:solidFill>
                  <a:srgbClr val="3333FF"/>
                </a:solidFill>
                <a:latin typeface="+mn-lt"/>
                <a:ea typeface="+mn-ea"/>
              </a:rPr>
              <a:t>   z[</a:t>
            </a:r>
            <a:r>
              <a:rPr lang="en-US" altLang="zh-CN" sz="2000" b="0" dirty="0" err="1">
                <a:solidFill>
                  <a:srgbClr val="3333FF"/>
                </a:solidFill>
                <a:latin typeface="+mn-lt"/>
                <a:ea typeface="+mn-ea"/>
              </a:rPr>
              <a:t>bx</a:t>
            </a:r>
            <a:r>
              <a:rPr lang="en-US" altLang="zh-CN" sz="2000" b="0" dirty="0">
                <a:solidFill>
                  <a:srgbClr val="3333FF"/>
                </a:solidFill>
                <a:latin typeface="+mn-lt"/>
                <a:ea typeface="+mn-ea"/>
              </a:rPr>
              <a:t>], ax	</a:t>
            </a:r>
            <a:r>
              <a:rPr lang="zh-CN" altLang="en-US" sz="2000" b="0" dirty="0">
                <a:solidFill>
                  <a:srgbClr val="3333FF"/>
                </a:solidFill>
                <a:latin typeface="+mn-lt"/>
                <a:ea typeface="+mn-ea"/>
              </a:rPr>
              <a:t>；输出到</a:t>
            </a:r>
            <a:r>
              <a:rPr lang="en-US" altLang="zh-CN" sz="2000" b="0" dirty="0">
                <a:solidFill>
                  <a:srgbClr val="3333FF"/>
                </a:solidFill>
                <a:latin typeface="+mn-lt"/>
                <a:ea typeface="+mn-ea"/>
              </a:rPr>
              <a:t>Z</a:t>
            </a:r>
          </a:p>
          <a:p>
            <a:pPr marL="342900" indent="-342900">
              <a:lnSpc>
                <a:spcPct val="85000"/>
              </a:lnSpc>
              <a:spcBef>
                <a:spcPct val="5000"/>
              </a:spcBef>
              <a:buClr>
                <a:schemeClr val="bg2"/>
              </a:buClr>
              <a:buSzPct val="75000"/>
              <a:buFont typeface="Wingdings" pitchFamily="2" charset="2"/>
            </a:pPr>
            <a:r>
              <a:rPr lang="en-US" altLang="zh-CN" sz="2000" b="0" dirty="0">
                <a:solidFill>
                  <a:srgbClr val="3333FF"/>
                </a:solidFill>
                <a:latin typeface="+mn-lt"/>
                <a:ea typeface="+mn-ea"/>
              </a:rPr>
              <a:t>         add    </a:t>
            </a:r>
            <a:r>
              <a:rPr lang="en-US" altLang="zh-CN" sz="2000" b="0" dirty="0" err="1">
                <a:solidFill>
                  <a:srgbClr val="3333FF"/>
                </a:solidFill>
                <a:latin typeface="+mn-lt"/>
                <a:ea typeface="+mn-ea"/>
              </a:rPr>
              <a:t>bx</a:t>
            </a:r>
            <a:r>
              <a:rPr lang="en-US" altLang="zh-CN" sz="2000" b="0" dirty="0">
                <a:solidFill>
                  <a:srgbClr val="3333FF"/>
                </a:solidFill>
                <a:latin typeface="+mn-lt"/>
                <a:ea typeface="+mn-ea"/>
              </a:rPr>
              <a:t>, 2		</a:t>
            </a:r>
            <a:r>
              <a:rPr lang="zh-CN" altLang="en-US" sz="2000" b="0" dirty="0">
                <a:solidFill>
                  <a:srgbClr val="3333FF"/>
                </a:solidFill>
                <a:latin typeface="+mn-lt"/>
                <a:ea typeface="+mn-ea"/>
              </a:rPr>
              <a:t>；修改数组索引</a:t>
            </a:r>
            <a:endParaRPr lang="en-US" altLang="zh-CN" sz="2000" b="0" dirty="0">
              <a:solidFill>
                <a:srgbClr val="3333FF"/>
              </a:solidFill>
              <a:latin typeface="+mn-lt"/>
              <a:ea typeface="+mn-ea"/>
            </a:endParaRPr>
          </a:p>
          <a:p>
            <a:pPr marL="342900" indent="-342900">
              <a:lnSpc>
                <a:spcPct val="85000"/>
              </a:lnSpc>
              <a:spcBef>
                <a:spcPct val="5000"/>
              </a:spcBef>
              <a:buClr>
                <a:schemeClr val="bg2"/>
              </a:buClr>
              <a:buSzPct val="75000"/>
              <a:buFont typeface="Wingdings" pitchFamily="2" charset="2"/>
            </a:pPr>
            <a:r>
              <a:rPr lang="en-US" altLang="zh-CN" sz="2000" b="0" dirty="0">
                <a:solidFill>
                  <a:srgbClr val="3333FF"/>
                </a:solidFill>
                <a:latin typeface="+mn-lt"/>
                <a:ea typeface="+mn-ea"/>
              </a:rPr>
              <a:t>         loop   next		</a:t>
            </a:r>
            <a:r>
              <a:rPr lang="zh-CN" altLang="en-US" sz="2000" b="0" dirty="0">
                <a:solidFill>
                  <a:srgbClr val="3333FF"/>
                </a:solidFill>
                <a:latin typeface="+mn-lt"/>
                <a:ea typeface="+mn-ea"/>
              </a:rPr>
              <a:t>；</a:t>
            </a:r>
            <a:r>
              <a:rPr lang="en-US" altLang="zh-CN" sz="2000" b="0" dirty="0">
                <a:solidFill>
                  <a:srgbClr val="3333FF"/>
                </a:solidFill>
                <a:latin typeface="+mn-lt"/>
                <a:ea typeface="+mn-ea"/>
              </a:rPr>
              <a:t>CX</a:t>
            </a:r>
            <a:r>
              <a:rPr lang="zh-CN" altLang="en-US" sz="2000" b="0" dirty="0">
                <a:solidFill>
                  <a:srgbClr val="3333FF"/>
                </a:solidFill>
                <a:latin typeface="+mn-lt"/>
                <a:ea typeface="+mn-ea"/>
              </a:rPr>
              <a:t>不为</a:t>
            </a:r>
            <a:r>
              <a:rPr lang="en-US" altLang="zh-CN" sz="2000" b="0" dirty="0">
                <a:solidFill>
                  <a:srgbClr val="3333FF"/>
                </a:solidFill>
                <a:latin typeface="+mn-lt"/>
                <a:ea typeface="+mn-ea"/>
              </a:rPr>
              <a:t>0</a:t>
            </a:r>
            <a:r>
              <a:rPr lang="zh-CN" altLang="en-US" sz="2000" b="0" dirty="0">
                <a:solidFill>
                  <a:srgbClr val="3333FF"/>
                </a:solidFill>
                <a:latin typeface="+mn-lt"/>
                <a:ea typeface="+mn-ea"/>
              </a:rPr>
              <a:t>则循环</a:t>
            </a:r>
            <a:endParaRPr lang="en-US" altLang="zh-CN" sz="2000" b="0" dirty="0">
              <a:solidFill>
                <a:srgbClr val="3333FF"/>
              </a:solidFill>
              <a:latin typeface="+mn-lt"/>
              <a:ea typeface="+mn-ea"/>
            </a:endParaRPr>
          </a:p>
          <a:p>
            <a:pPr marL="342900" indent="-342900">
              <a:lnSpc>
                <a:spcPct val="85000"/>
              </a:lnSpc>
              <a:spcBef>
                <a:spcPct val="5000"/>
              </a:spcBef>
              <a:buClr>
                <a:schemeClr val="bg2"/>
              </a:buClr>
              <a:buSzPct val="75000"/>
              <a:buFont typeface="Wingdings" pitchFamily="2" charset="2"/>
            </a:pPr>
            <a:r>
              <a:rPr lang="en-US" altLang="zh-CN" sz="2000" b="0" dirty="0">
                <a:solidFill>
                  <a:srgbClr val="3333FF"/>
                </a:solidFill>
                <a:latin typeface="+mn-lt"/>
                <a:ea typeface="+mn-ea"/>
              </a:rPr>
              <a:t>           ……</a:t>
            </a:r>
          </a:p>
        </p:txBody>
      </p:sp>
      <p:pic>
        <p:nvPicPr>
          <p:cNvPr id="942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0954" y="1030264"/>
            <a:ext cx="3676650" cy="537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F0338CA-2471-4770-B18A-8CD2BC1D543D}"/>
              </a:ext>
            </a:extLst>
          </p:cNvPr>
          <p:cNvSpPr/>
          <p:nvPr/>
        </p:nvSpPr>
        <p:spPr>
          <a:xfrm>
            <a:off x="3887924" y="236692"/>
            <a:ext cx="36535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逻辑尺：</a:t>
            </a:r>
            <a:r>
              <a:rPr lang="en-US" altLang="zh-CN" dirty="0"/>
              <a:t>0 0 1 1 1 0 1 1 0 0</a:t>
            </a:r>
          </a:p>
        </p:txBody>
      </p:sp>
    </p:spTree>
    <p:extLst>
      <p:ext uri="{BB962C8B-B14F-4D97-AF65-F5344CB8AC3E}">
        <p14:creationId xmlns:p14="http://schemas.microsoft.com/office/powerpoint/2010/main" val="3766531552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1569" y="1053369"/>
            <a:ext cx="8044316" cy="5328592"/>
          </a:xfrm>
        </p:spPr>
        <p:txBody>
          <a:bodyPr/>
          <a:lstStyle/>
          <a:p>
            <a:pPr marL="0" indent="0" eaLnBrk="1" hangingPunct="1">
              <a:spcBef>
                <a:spcPts val="1200"/>
              </a:spcBef>
              <a:buNone/>
            </a:pPr>
            <a:r>
              <a:rPr lang="zh-CN" altLang="en-US" sz="2400" dirty="0">
                <a:effectLst/>
              </a:rPr>
              <a:t>多重循环程序设计</a:t>
            </a:r>
            <a:r>
              <a:rPr lang="en-US" altLang="zh-CN" sz="2400" dirty="0">
                <a:effectLst/>
              </a:rPr>
              <a:t>:</a:t>
            </a:r>
          </a:p>
          <a:p>
            <a:pPr marL="0" indent="0" eaLnBrk="1" hangingPunct="1">
              <a:spcBef>
                <a:spcPts val="1200"/>
              </a:spcBef>
              <a:buNone/>
            </a:pPr>
            <a:r>
              <a:rPr lang="zh-CN" altLang="en-US" sz="2400" dirty="0">
                <a:effectLst/>
              </a:rPr>
              <a:t>        循环可以有多重结构。多重循环程序设计的基本方法和单重循环程序设计基本一致的，应分别考虑各重循环的控制条件及其程序实现，相互之间不能混淆。</a:t>
            </a:r>
            <a:endParaRPr lang="en-US" altLang="zh-CN" sz="2400" dirty="0">
              <a:effectLst/>
              <a:latin typeface="宋体" charset="-122"/>
            </a:endParaRPr>
          </a:p>
          <a:p>
            <a:pPr algn="just">
              <a:spcBef>
                <a:spcPts val="1200"/>
              </a:spcBef>
            </a:pPr>
            <a:r>
              <a:rPr lang="zh-CN" altLang="en-US" sz="2400" dirty="0">
                <a:effectLst/>
                <a:latin typeface="宋体" charset="-122"/>
              </a:rPr>
              <a:t>内循环必须完整地包含在外循环内，内外循环不能相互交叉。</a:t>
            </a:r>
            <a:endParaRPr lang="zh-CN" altLang="en-US" sz="2400" dirty="0">
              <a:effectLst/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1200"/>
              </a:spcBef>
            </a:pPr>
            <a:r>
              <a:rPr lang="zh-CN" altLang="en-US" sz="2400" dirty="0">
                <a:effectLst/>
                <a:latin typeface="宋体" charset="-122"/>
              </a:rPr>
              <a:t>多个内循环可以拥有一个外循环，这些内循环间的关系可以是嵌套的，也可以是并列的。</a:t>
            </a:r>
            <a:endParaRPr lang="en-US" altLang="zh-CN" sz="2400" dirty="0">
              <a:effectLst/>
              <a:latin typeface="宋体" charset="-122"/>
            </a:endParaRPr>
          </a:p>
          <a:p>
            <a:pPr algn="just">
              <a:spcBef>
                <a:spcPts val="1200"/>
              </a:spcBef>
            </a:pPr>
            <a:r>
              <a:rPr lang="zh-CN" altLang="en-US" sz="2400" dirty="0">
                <a:effectLst/>
                <a:latin typeface="宋体" charset="-122"/>
              </a:rPr>
              <a:t>程序可以从内循环中直接跳到外循环，但不能从外循环直接跳到内循环中。</a:t>
            </a:r>
            <a:endParaRPr lang="zh-CN" altLang="en-US" sz="2400" dirty="0">
              <a:effectLst/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1200"/>
              </a:spcBef>
            </a:pPr>
            <a:r>
              <a:rPr lang="zh-CN" altLang="en-US" sz="2400" dirty="0">
                <a:effectLst/>
                <a:latin typeface="宋体" charset="-122"/>
              </a:rPr>
              <a:t>无论是外循环，还是内循环，注意不要使循环返回到初始部分，以避免出现</a:t>
            </a:r>
            <a:r>
              <a:rPr lang="zh-CN" altLang="en-US" sz="2400" dirty="0">
                <a:effectLst/>
                <a:latin typeface="Times New Roman"/>
              </a:rPr>
              <a:t>“</a:t>
            </a:r>
            <a:r>
              <a:rPr lang="zh-CN" altLang="en-US" sz="2400" dirty="0">
                <a:effectLst/>
                <a:latin typeface="宋体" charset="-122"/>
              </a:rPr>
              <a:t>死循环</a:t>
            </a:r>
            <a:r>
              <a:rPr lang="zh-CN" altLang="en-US" sz="2400" dirty="0">
                <a:effectLst/>
                <a:latin typeface="Times New Roman"/>
              </a:rPr>
              <a:t>”</a:t>
            </a:r>
            <a:r>
              <a:rPr lang="zh-CN" altLang="en-US" sz="2400" dirty="0">
                <a:effectLst/>
                <a:latin typeface="宋体" charset="-122"/>
              </a:rPr>
              <a:t>情况。</a:t>
            </a:r>
            <a:endParaRPr lang="zh-CN" altLang="en-US" sz="2400" dirty="0">
              <a:effectLst/>
            </a:endParaRPr>
          </a:p>
        </p:txBody>
      </p:sp>
      <p:sp>
        <p:nvSpPr>
          <p:cNvPr id="5" name="文本框 1"/>
          <p:cNvSpPr txBox="1"/>
          <p:nvPr/>
        </p:nvSpPr>
        <p:spPr>
          <a:xfrm>
            <a:off x="452120" y="317500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循环结构程序设计</a:t>
            </a:r>
          </a:p>
        </p:txBody>
      </p:sp>
      <p:pic>
        <p:nvPicPr>
          <p:cNvPr id="942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0131" y="23822"/>
            <a:ext cx="3313631" cy="1460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9787444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文本框 102401"/>
          <p:cNvSpPr txBox="1"/>
          <p:nvPr/>
        </p:nvSpPr>
        <p:spPr>
          <a:xfrm>
            <a:off x="317340" y="1088740"/>
            <a:ext cx="8323112" cy="430887"/>
          </a:xfrm>
          <a:prstGeom prst="rect">
            <a:avLst/>
          </a:prstGeom>
          <a:noFill/>
          <a:ln w="12700">
            <a:noFill/>
          </a:ln>
        </p:spPr>
        <p:txBody>
          <a:bodyPr wrap="none"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zh-CN" altLang="en-US" sz="2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注意：在多重循环的程序结构中，要注意</a:t>
            </a:r>
            <a:r>
              <a:rPr lang="en-US" altLang="en-US" sz="2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CX </a:t>
            </a:r>
            <a:r>
              <a:rPr lang="zh-CN" altLang="en-US" sz="2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计数器的保存和恢复</a:t>
            </a:r>
            <a:endParaRPr lang="zh-CN" altLang="en-US" sz="22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" name="文本框 1"/>
          <p:cNvSpPr txBox="1"/>
          <p:nvPr/>
        </p:nvSpPr>
        <p:spPr>
          <a:xfrm>
            <a:off x="452120" y="317500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循环结构程序设计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526327" y="1808820"/>
            <a:ext cx="3414717" cy="4716524"/>
            <a:chOff x="526327" y="1808820"/>
            <a:chExt cx="3414717" cy="4716524"/>
          </a:xfrm>
        </p:grpSpPr>
        <p:sp>
          <p:nvSpPr>
            <p:cNvPr id="102403" name="文本框 102402"/>
            <p:cNvSpPr txBox="1"/>
            <p:nvPr/>
          </p:nvSpPr>
          <p:spPr>
            <a:xfrm>
              <a:off x="719572" y="1808820"/>
              <a:ext cx="3040063" cy="4067175"/>
            </a:xfrm>
            <a:prstGeom prst="rect">
              <a:avLst/>
            </a:prstGeom>
            <a:noFill/>
            <a:ln w="12700" cap="flat" cmpd="sng">
              <a:solidFill>
                <a:schemeClr val="tx2"/>
              </a:solidFill>
              <a:prstDash val="dash"/>
              <a:miter/>
              <a:headEnd type="none" w="med" len="med"/>
              <a:tailEnd type="none" w="med" len="med"/>
            </a:ln>
          </p:spPr>
          <p:txBody>
            <a:bodyPr anchor="ctr">
              <a:spAutoFit/>
            </a:bodyPr>
            <a:lstStyle/>
            <a:p>
              <a:pPr lvl="2" eaLnBrk="0" hangingPunct="0">
                <a:spcBef>
                  <a:spcPct val="50000"/>
                </a:spcBef>
              </a:pPr>
              <a:r>
                <a:rPr lang="en-US" altLang="en-US" sz="2000" b="1" dirty="0">
                  <a:solidFill>
                    <a:srgbClr val="000000"/>
                  </a:solidFill>
                  <a:latin typeface="Lucida Console" panose="020B0609040504020204" pitchFamily="49" charset="0"/>
                </a:rPr>
                <a:t> MOV   CX, M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en-US" altLang="zh-CN" sz="2000" b="1" dirty="0">
                  <a:solidFill>
                    <a:srgbClr val="000000"/>
                  </a:solidFill>
                  <a:latin typeface="Lucida Console" panose="020B0609040504020204" pitchFamily="49" charset="0"/>
                </a:rPr>
                <a:t>AGAIN: ……</a:t>
              </a:r>
            </a:p>
            <a:p>
              <a:pPr lvl="2" eaLnBrk="0" hangingPunct="0">
                <a:spcBef>
                  <a:spcPct val="50000"/>
                </a:spcBef>
              </a:pPr>
              <a:r>
                <a:rPr lang="en-US" altLang="zh-CN" sz="2000" b="1" dirty="0">
                  <a:solidFill>
                    <a:srgbClr val="000000"/>
                  </a:solidFill>
                  <a:latin typeface="Lucida Console" panose="020B0609040504020204" pitchFamily="49" charset="0"/>
                </a:rPr>
                <a:t> </a:t>
              </a:r>
              <a:r>
                <a:rPr lang="en-US" altLang="zh-CN" sz="2000" b="1" dirty="0">
                  <a:solidFill>
                    <a:srgbClr val="FF0000"/>
                  </a:solidFill>
                  <a:latin typeface="Lucida Console" panose="020B0609040504020204" pitchFamily="49" charset="0"/>
                </a:rPr>
                <a:t>PUSH  CX</a:t>
              </a:r>
            </a:p>
            <a:p>
              <a:pPr lvl="2" eaLnBrk="0" hangingPunct="0">
                <a:spcBef>
                  <a:spcPct val="50000"/>
                </a:spcBef>
              </a:pPr>
              <a:r>
                <a:rPr lang="en-US" altLang="zh-CN" sz="2000" b="1" dirty="0">
                  <a:solidFill>
                    <a:srgbClr val="000000"/>
                  </a:solidFill>
                  <a:latin typeface="Lucida Console" panose="020B0609040504020204" pitchFamily="49" charset="0"/>
                </a:rPr>
                <a:t> MOV   CX, N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en-US" altLang="zh-CN" sz="2000" b="1" dirty="0">
                  <a:solidFill>
                    <a:srgbClr val="000000"/>
                  </a:solidFill>
                  <a:latin typeface="Lucida Console" panose="020B0609040504020204" pitchFamily="49" charset="0"/>
                </a:rPr>
                <a:t>NEXT:  ……</a:t>
              </a:r>
            </a:p>
            <a:p>
              <a:pPr lvl="2" eaLnBrk="0" hangingPunct="0">
                <a:spcBef>
                  <a:spcPct val="50000"/>
                </a:spcBef>
              </a:pPr>
              <a:r>
                <a:rPr lang="en-US" altLang="zh-CN" sz="2000" b="1" dirty="0">
                  <a:solidFill>
                    <a:srgbClr val="000000"/>
                  </a:solidFill>
                  <a:latin typeface="Lucida Console" panose="020B0609040504020204" pitchFamily="49" charset="0"/>
                </a:rPr>
                <a:t> LOOP  NEXT</a:t>
              </a:r>
            </a:p>
            <a:p>
              <a:pPr lvl="2" eaLnBrk="0" hangingPunct="0">
                <a:spcBef>
                  <a:spcPct val="50000"/>
                </a:spcBef>
              </a:pPr>
              <a:r>
                <a:rPr lang="en-US" altLang="zh-CN" sz="2000" b="1" dirty="0">
                  <a:solidFill>
                    <a:srgbClr val="000000"/>
                  </a:solidFill>
                  <a:latin typeface="Lucida Console" panose="020B0609040504020204" pitchFamily="49" charset="0"/>
                </a:rPr>
                <a:t> ……</a:t>
              </a:r>
            </a:p>
            <a:p>
              <a:pPr lvl="2" eaLnBrk="0" hangingPunct="0">
                <a:spcBef>
                  <a:spcPct val="50000"/>
                </a:spcBef>
              </a:pPr>
              <a:r>
                <a:rPr lang="en-US" altLang="zh-CN" sz="2000" b="1" dirty="0">
                  <a:solidFill>
                    <a:srgbClr val="000000"/>
                  </a:solidFill>
                  <a:latin typeface="Lucida Console" panose="020B0609040504020204" pitchFamily="49" charset="0"/>
                </a:rPr>
                <a:t> </a:t>
              </a:r>
              <a:r>
                <a:rPr lang="en-US" altLang="zh-CN" sz="2000" b="1" dirty="0">
                  <a:solidFill>
                    <a:srgbClr val="FF0000"/>
                  </a:solidFill>
                  <a:latin typeface="Lucida Console" panose="020B0609040504020204" pitchFamily="49" charset="0"/>
                </a:rPr>
                <a:t>POP   CX</a:t>
              </a:r>
            </a:p>
            <a:p>
              <a:pPr lvl="2" eaLnBrk="0" hangingPunct="0">
                <a:spcBef>
                  <a:spcPct val="50000"/>
                </a:spcBef>
              </a:pPr>
              <a:r>
                <a:rPr lang="en-US" altLang="zh-CN" sz="2000" b="1" dirty="0">
                  <a:solidFill>
                    <a:srgbClr val="000000"/>
                  </a:solidFill>
                  <a:latin typeface="Lucida Console" panose="020B0609040504020204" pitchFamily="49" charset="0"/>
                </a:rPr>
                <a:t> LOOP  AGAIN</a:t>
              </a:r>
            </a:p>
          </p:txBody>
        </p:sp>
        <p:sp>
          <p:nvSpPr>
            <p:cNvPr id="102405" name="右中括号 102404"/>
            <p:cNvSpPr/>
            <p:nvPr/>
          </p:nvSpPr>
          <p:spPr>
            <a:xfrm>
              <a:off x="3637716" y="3897051"/>
              <a:ext cx="45719" cy="431131"/>
            </a:xfrm>
            <a:prstGeom prst="rightBracket">
              <a:avLst>
                <a:gd name="adj" fmla="val 100000"/>
              </a:avLst>
            </a:prstGeom>
            <a:noFill/>
            <a:ln w="28575" cap="sq" cmpd="sng">
              <a:solidFill>
                <a:schemeClr val="bg2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406" name="右中括号 102405"/>
            <p:cNvSpPr/>
            <p:nvPr/>
          </p:nvSpPr>
          <p:spPr>
            <a:xfrm>
              <a:off x="3691372" y="2494620"/>
              <a:ext cx="228600" cy="3200400"/>
            </a:xfrm>
            <a:prstGeom prst="rightBracket">
              <a:avLst>
                <a:gd name="adj" fmla="val 116666"/>
              </a:avLst>
            </a:prstGeom>
            <a:noFill/>
            <a:ln w="28575" cap="sq" cmpd="sng">
              <a:solidFill>
                <a:schemeClr val="bg2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" name="TextBox 1"/>
            <p:cNvSpPr txBox="1"/>
            <p:nvPr/>
          </p:nvSpPr>
          <p:spPr>
            <a:xfrm>
              <a:off x="526327" y="6063679"/>
              <a:ext cx="341471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rgbClr val="FF0000"/>
                  </a:solidFill>
                </a:rPr>
                <a:t>利用堆栈保存和恢复</a:t>
              </a:r>
              <a:r>
                <a:rPr lang="en-US" altLang="zh-CN" dirty="0">
                  <a:solidFill>
                    <a:srgbClr val="FF0000"/>
                  </a:solidFill>
                </a:rPr>
                <a:t>CX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4427984" y="1916832"/>
            <a:ext cx="3911129" cy="4613463"/>
            <a:chOff x="4427984" y="1916832"/>
            <a:chExt cx="3911129" cy="4613463"/>
          </a:xfrm>
        </p:grpSpPr>
        <p:sp>
          <p:nvSpPr>
            <p:cNvPr id="102404" name="文本框 102403"/>
            <p:cNvSpPr txBox="1"/>
            <p:nvPr/>
          </p:nvSpPr>
          <p:spPr>
            <a:xfrm>
              <a:off x="4863988" y="1916832"/>
              <a:ext cx="3048000" cy="3609975"/>
            </a:xfrm>
            <a:prstGeom prst="rect">
              <a:avLst/>
            </a:prstGeom>
            <a:noFill/>
            <a:ln w="12700" cap="flat" cmpd="sng">
              <a:solidFill>
                <a:schemeClr val="hlink"/>
              </a:solidFill>
              <a:prstDash val="dash"/>
              <a:miter/>
              <a:headEnd type="none" w="med" len="med"/>
              <a:tailEnd type="none" w="med" len="med"/>
            </a:ln>
          </p:spPr>
          <p:txBody>
            <a:bodyPr anchor="ctr">
              <a:spAutoFit/>
            </a:bodyPr>
            <a:lstStyle/>
            <a:p>
              <a:pPr lvl="2" eaLnBrk="0" hangingPunct="0">
                <a:spcBef>
                  <a:spcPct val="50000"/>
                </a:spcBef>
              </a:pPr>
              <a:r>
                <a:rPr lang="en-US" altLang="en-US" sz="2000" b="1" dirty="0">
                  <a:solidFill>
                    <a:srgbClr val="000000"/>
                  </a:solidFill>
                  <a:latin typeface="Lucida Console" panose="020B0609040504020204" pitchFamily="49" charset="0"/>
                </a:rPr>
                <a:t> </a:t>
              </a:r>
              <a:r>
                <a:rPr lang="en-US" altLang="en-US" sz="2000" b="1" dirty="0">
                  <a:solidFill>
                    <a:srgbClr val="FF0000"/>
                  </a:solidFill>
                  <a:latin typeface="Lucida Console" panose="020B0609040504020204" pitchFamily="49" charset="0"/>
                </a:rPr>
                <a:t>MOV   DI, M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en-US" altLang="zh-CN" sz="2000" b="1" dirty="0">
                  <a:solidFill>
                    <a:srgbClr val="000000"/>
                  </a:solidFill>
                  <a:latin typeface="Lucida Console" panose="020B0609040504020204" pitchFamily="49" charset="0"/>
                </a:rPr>
                <a:t>AGAIN: ……</a:t>
              </a:r>
            </a:p>
            <a:p>
              <a:pPr lvl="2" eaLnBrk="0" hangingPunct="0">
                <a:spcBef>
                  <a:spcPct val="50000"/>
                </a:spcBef>
              </a:pPr>
              <a:r>
                <a:rPr lang="en-US" altLang="zh-CN" sz="2000" b="1" dirty="0">
                  <a:solidFill>
                    <a:srgbClr val="000000"/>
                  </a:solidFill>
                  <a:latin typeface="Lucida Console" panose="020B0609040504020204" pitchFamily="49" charset="0"/>
                </a:rPr>
                <a:t> </a:t>
              </a:r>
              <a:r>
                <a:rPr lang="en-US" altLang="zh-CN" sz="2000" b="1" dirty="0">
                  <a:solidFill>
                    <a:srgbClr val="3333FF"/>
                  </a:solidFill>
                  <a:latin typeface="Lucida Console" panose="020B0609040504020204" pitchFamily="49" charset="0"/>
                </a:rPr>
                <a:t>MOV   CX, N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en-US" altLang="zh-CN" sz="2000" b="1" dirty="0">
                  <a:solidFill>
                    <a:srgbClr val="000000"/>
                  </a:solidFill>
                  <a:latin typeface="Lucida Console" panose="020B0609040504020204" pitchFamily="49" charset="0"/>
                </a:rPr>
                <a:t>NEXT:  ……</a:t>
              </a:r>
            </a:p>
            <a:p>
              <a:pPr lvl="2" eaLnBrk="0" hangingPunct="0">
                <a:spcBef>
                  <a:spcPct val="50000"/>
                </a:spcBef>
              </a:pPr>
              <a:r>
                <a:rPr lang="en-US" altLang="zh-CN" sz="2000" b="1" dirty="0">
                  <a:solidFill>
                    <a:srgbClr val="000000"/>
                  </a:solidFill>
                  <a:latin typeface="Lucida Console" panose="020B0609040504020204" pitchFamily="49" charset="0"/>
                </a:rPr>
                <a:t> LOOP  NEXT</a:t>
              </a:r>
            </a:p>
            <a:p>
              <a:pPr lvl="2" eaLnBrk="0" hangingPunct="0">
                <a:spcBef>
                  <a:spcPct val="50000"/>
                </a:spcBef>
              </a:pPr>
              <a:r>
                <a:rPr lang="en-US" altLang="zh-CN" sz="2000" b="1" dirty="0">
                  <a:solidFill>
                    <a:srgbClr val="000000"/>
                  </a:solidFill>
                  <a:latin typeface="Lucida Console" panose="020B0609040504020204" pitchFamily="49" charset="0"/>
                </a:rPr>
                <a:t> ……</a:t>
              </a:r>
            </a:p>
            <a:p>
              <a:pPr lvl="2" eaLnBrk="0" hangingPunct="0">
                <a:spcBef>
                  <a:spcPct val="50000"/>
                </a:spcBef>
              </a:pPr>
              <a:r>
                <a:rPr lang="en-US" altLang="zh-CN" sz="2000" b="1" dirty="0">
                  <a:solidFill>
                    <a:srgbClr val="FF0000"/>
                  </a:solidFill>
                  <a:latin typeface="Lucida Console" panose="020B0609040504020204" pitchFamily="49" charset="0"/>
                </a:rPr>
                <a:t> DEC   DI</a:t>
              </a:r>
            </a:p>
            <a:p>
              <a:pPr lvl="2" eaLnBrk="0" hangingPunct="0">
                <a:spcBef>
                  <a:spcPct val="50000"/>
                </a:spcBef>
              </a:pPr>
              <a:r>
                <a:rPr lang="en-US" altLang="zh-CN" sz="2000" b="1" dirty="0">
                  <a:solidFill>
                    <a:srgbClr val="000000"/>
                  </a:solidFill>
                  <a:latin typeface="Lucida Console" panose="020B0609040504020204" pitchFamily="49" charset="0"/>
                </a:rPr>
                <a:t> JNZ   AGAIN</a:t>
              </a:r>
              <a:endParaRPr lang="en-US" altLang="zh-CN" sz="2000" dirty="0">
                <a:solidFill>
                  <a:srgbClr val="000000"/>
                </a:solidFill>
                <a:latin typeface="Lucida Console" panose="020B0609040504020204" pitchFamily="49" charset="0"/>
              </a:endParaRPr>
            </a:p>
          </p:txBody>
        </p:sp>
        <p:sp>
          <p:nvSpPr>
            <p:cNvPr id="102407" name="右中括号 102406"/>
            <p:cNvSpPr/>
            <p:nvPr/>
          </p:nvSpPr>
          <p:spPr>
            <a:xfrm>
              <a:off x="7835788" y="3537012"/>
              <a:ext cx="45719" cy="513420"/>
            </a:xfrm>
            <a:prstGeom prst="rightBracket">
              <a:avLst>
                <a:gd name="adj" fmla="val 108333"/>
              </a:avLst>
            </a:prstGeom>
            <a:noFill/>
            <a:ln w="28575" cap="sq" cmpd="sng">
              <a:solidFill>
                <a:schemeClr val="bg2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408" name="右中括号 102407"/>
            <p:cNvSpPr/>
            <p:nvPr/>
          </p:nvSpPr>
          <p:spPr>
            <a:xfrm>
              <a:off x="7759588" y="2526432"/>
              <a:ext cx="304800" cy="2819400"/>
            </a:xfrm>
            <a:prstGeom prst="rightBracket">
              <a:avLst>
                <a:gd name="adj" fmla="val 77083"/>
              </a:avLst>
            </a:prstGeom>
            <a:noFill/>
            <a:ln w="28575" cap="sq" cmpd="sng">
              <a:solidFill>
                <a:schemeClr val="bg2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427984" y="5699298"/>
              <a:ext cx="391112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rgbClr val="FF0000"/>
                  </a:solidFill>
                </a:rPr>
                <a:t>分别用不同的寄存器来进行内外循环计数，避免出错。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9338728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552" y="944724"/>
            <a:ext cx="7936304" cy="1656184"/>
          </a:xfrm>
        </p:spPr>
        <p:txBody>
          <a:bodyPr/>
          <a:lstStyle/>
          <a:p>
            <a:pPr marL="177800" indent="-177800" algn="just" eaLnBrk="1" hangingPunct="1">
              <a:lnSpc>
                <a:spcPct val="15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zh-CN" altLang="zh-TW" sz="2400" b="0" dirty="0">
                <a:solidFill>
                  <a:schemeClr val="tx1"/>
                </a:solidFill>
                <a:effectLst/>
              </a:rPr>
              <a:t>【</a:t>
            </a:r>
            <a:r>
              <a:rPr lang="zh-CN" altLang="en-US" sz="2400" b="0" dirty="0">
                <a:solidFill>
                  <a:schemeClr val="tx1"/>
                </a:solidFill>
                <a:effectLst/>
              </a:rPr>
              <a:t>例</a:t>
            </a:r>
            <a:r>
              <a:rPr lang="en-US" altLang="zh-CN" sz="2400" b="0" dirty="0">
                <a:solidFill>
                  <a:schemeClr val="tx1"/>
                </a:solidFill>
                <a:effectLst/>
              </a:rPr>
              <a:t>5.7</a:t>
            </a:r>
            <a:r>
              <a:rPr lang="zh-CN" altLang="zh-CN" sz="2400" b="0" dirty="0">
                <a:solidFill>
                  <a:schemeClr val="tx1"/>
                </a:solidFill>
                <a:effectLst/>
              </a:rPr>
              <a:t>】</a:t>
            </a:r>
            <a:r>
              <a:rPr lang="zh-CN" altLang="en-US" sz="2400" b="0" dirty="0">
                <a:solidFill>
                  <a:schemeClr val="tx1"/>
                </a:solidFill>
                <a:effectLst/>
              </a:rPr>
              <a:t>有一个首地址为</a:t>
            </a:r>
            <a:r>
              <a:rPr lang="en-US" altLang="zh-CN" sz="2400" b="0" dirty="0">
                <a:solidFill>
                  <a:schemeClr val="tx1"/>
                </a:solidFill>
                <a:effectLst/>
              </a:rPr>
              <a:t>A</a:t>
            </a:r>
            <a:r>
              <a:rPr lang="zh-CN" altLang="en-US" sz="2400" b="0" dirty="0">
                <a:solidFill>
                  <a:schemeClr val="tx1"/>
                </a:solidFill>
                <a:effectLst/>
              </a:rPr>
              <a:t>的</a:t>
            </a:r>
            <a:r>
              <a:rPr lang="en-US" altLang="zh-CN" sz="2400" b="0" dirty="0">
                <a:solidFill>
                  <a:schemeClr val="tx1"/>
                </a:solidFill>
                <a:effectLst/>
              </a:rPr>
              <a:t>N</a:t>
            </a:r>
            <a:r>
              <a:rPr lang="zh-CN" altLang="en-US" sz="2400" b="0" dirty="0">
                <a:solidFill>
                  <a:schemeClr val="tx1"/>
                </a:solidFill>
                <a:effectLst/>
              </a:rPr>
              <a:t>字数组，编写程序使该数组中的数按照从大到小的次序整序。 </a:t>
            </a:r>
          </a:p>
          <a:p>
            <a:pPr algn="just" eaLnBrk="1" hangingPunct="1">
              <a:lnSpc>
                <a:spcPct val="15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kumimoji="1" lang="zh-CN" altLang="en-US" sz="2400" b="0" dirty="0">
                <a:solidFill>
                  <a:schemeClr val="tx1"/>
                </a:solidFill>
                <a:effectLst/>
              </a:rPr>
              <a:t>（冒泡算法，多重循环） </a:t>
            </a:r>
            <a:endParaRPr kumimoji="1" lang="en-US" altLang="zh-CN" sz="2400" b="0" dirty="0">
              <a:solidFill>
                <a:schemeClr val="tx1"/>
              </a:solidFill>
              <a:effectLst/>
            </a:endParaRPr>
          </a:p>
        </p:txBody>
      </p:sp>
      <p:sp>
        <p:nvSpPr>
          <p:cNvPr id="6" name="文本框 1"/>
          <p:cNvSpPr txBox="1"/>
          <p:nvPr/>
        </p:nvSpPr>
        <p:spPr>
          <a:xfrm>
            <a:off x="452120" y="317500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循环结构程序设计</a:t>
            </a:r>
          </a:p>
        </p:txBody>
      </p:sp>
      <p:sp>
        <p:nvSpPr>
          <p:cNvPr id="2" name="矩形 1"/>
          <p:cNvSpPr/>
          <p:nvPr/>
        </p:nvSpPr>
        <p:spPr>
          <a:xfrm>
            <a:off x="791580" y="2960948"/>
            <a:ext cx="7684276" cy="35640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spcBef>
                <a:spcPct val="20000"/>
              </a:spcBef>
              <a:buClr>
                <a:srgbClr val="663300"/>
              </a:buClr>
              <a:buSzPct val="75000"/>
            </a:pPr>
            <a:r>
              <a:rPr kumimoji="1" lang="zh-CN" altLang="en-US" b="0" kern="0" dirty="0">
                <a:latin typeface="Times New Roman"/>
                <a:ea typeface="华文楷体"/>
              </a:rPr>
              <a:t>冒泡法排序算法思想：</a:t>
            </a:r>
          </a:p>
          <a:p>
            <a:pPr marL="342900" lvl="0" indent="-342900" algn="just">
              <a:lnSpc>
                <a:spcPct val="150000"/>
              </a:lnSpc>
              <a:spcBef>
                <a:spcPct val="20000"/>
              </a:spcBef>
              <a:buClr>
                <a:srgbClr val="663300"/>
              </a:buClr>
              <a:buSzPct val="75000"/>
              <a:buFont typeface="Wingdings" panose="05000000000000000000" pitchFamily="2" charset="2"/>
              <a:buChar char="u"/>
            </a:pPr>
            <a:r>
              <a:rPr kumimoji="1" lang="zh-CN" altLang="en-US" b="0" kern="0" dirty="0">
                <a:latin typeface="Times New Roman"/>
                <a:ea typeface="华文楷体"/>
              </a:rPr>
              <a:t>初始时，数组为无序排列。在排序过程中，数组会有一部分元素处于无序状态，称为无序集合，另一部分元素处于有序状态，称为有序集合。</a:t>
            </a:r>
            <a:endParaRPr kumimoji="1" lang="en-US" altLang="zh-CN" b="0" kern="0" dirty="0">
              <a:latin typeface="Times New Roman"/>
              <a:ea typeface="华文楷体"/>
            </a:endParaRPr>
          </a:p>
          <a:p>
            <a:pPr marL="342900" lvl="0" indent="-342900" algn="just">
              <a:lnSpc>
                <a:spcPct val="150000"/>
              </a:lnSpc>
              <a:spcBef>
                <a:spcPct val="20000"/>
              </a:spcBef>
              <a:buClr>
                <a:srgbClr val="663300"/>
              </a:buClr>
              <a:buSzPct val="75000"/>
              <a:buFont typeface="Wingdings" panose="05000000000000000000" pitchFamily="2" charset="2"/>
              <a:buChar char="u"/>
            </a:pPr>
            <a:r>
              <a:rPr kumimoji="1" lang="zh-CN" altLang="en-US" b="0" kern="0" dirty="0">
                <a:latin typeface="Times New Roman"/>
                <a:ea typeface="华文楷体"/>
              </a:rPr>
              <a:t>冒泡法算法每循环一次：使得无序集合减少一个元素，有序集合增加一个元素。</a:t>
            </a:r>
            <a:endParaRPr kumimoji="1" lang="en-US" altLang="zh-CN" b="0" kern="0" dirty="0">
              <a:latin typeface="Times New Roman"/>
              <a:ea typeface="华文楷体"/>
            </a:endParaRPr>
          </a:p>
        </p:txBody>
      </p:sp>
    </p:spTree>
    <p:extLst>
      <p:ext uri="{BB962C8B-B14F-4D97-AF65-F5344CB8AC3E}">
        <p14:creationId xmlns:p14="http://schemas.microsoft.com/office/powerpoint/2010/main" val="1413326027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68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2484762"/>
              </p:ext>
            </p:extLst>
          </p:nvPr>
        </p:nvGraphicFramePr>
        <p:xfrm>
          <a:off x="791580" y="1088741"/>
          <a:ext cx="7620000" cy="3168352"/>
        </p:xfrm>
        <a:graphic>
          <a:graphicData uri="http://schemas.openxmlformats.org/drawingml/2006/table">
            <a:tbl>
              <a:tblPr/>
              <a:tblGrid>
                <a:gridCol w="259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01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74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90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0445"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itchFamily="2" charset="2"/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itchFamily="2" charset="2"/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序号   地址          数</a:t>
                      </a: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itchFamily="2" charset="2"/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itchFamily="2" charset="2"/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比      较      遍      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911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itchFamily="2" charset="2"/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itchFamily="2" charset="2"/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itchFamily="2" charset="2"/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itchFamily="2" charset="2"/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itchFamily="2" charset="2"/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itchFamily="2" charset="2"/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itchFamily="2" charset="2"/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itchFamily="2" charset="2"/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878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itchFamily="2" charset="2"/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itchFamily="2" charset="2"/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     A          8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2     A+2      5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3     A+4     16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4     A+6     84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5     A+8     32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itchFamily="2" charset="2"/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itchFamily="2" charset="2"/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84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32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itchFamily="2" charset="2"/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itchFamily="2" charset="2"/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84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32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itchFamily="2" charset="2"/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itchFamily="2" charset="2"/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84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32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itchFamily="2" charset="2"/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itchFamily="2" charset="2"/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rgbClr val="0000FF"/>
                          </a:solidFill>
                          <a:latin typeface="Arial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84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32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文本框 1"/>
          <p:cNvSpPr txBox="1"/>
          <p:nvPr/>
        </p:nvSpPr>
        <p:spPr>
          <a:xfrm>
            <a:off x="452120" y="317500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循环结构程序设计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3568" y="4293096"/>
            <a:ext cx="7920880" cy="22382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dirty="0"/>
              <a:t>N</a:t>
            </a:r>
            <a:r>
              <a:rPr lang="zh-CN" altLang="en-US" dirty="0"/>
              <a:t>个数排序，第一遍比较了</a:t>
            </a:r>
            <a:r>
              <a:rPr lang="en-US" altLang="zh-CN" dirty="0"/>
              <a:t>N-1</a:t>
            </a:r>
            <a:r>
              <a:rPr lang="zh-CN" altLang="en-US" dirty="0"/>
              <a:t>次，把最小的数排到了第</a:t>
            </a:r>
            <a:r>
              <a:rPr lang="en-US" altLang="zh-CN" dirty="0"/>
              <a:t>N</a:t>
            </a:r>
            <a:r>
              <a:rPr lang="zh-CN" altLang="en-US" dirty="0"/>
              <a:t>的位置。</a:t>
            </a:r>
            <a:endParaRPr lang="en-US" altLang="zh-CN" dirty="0"/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dirty="0"/>
              <a:t>第二遍比较了</a:t>
            </a:r>
            <a:r>
              <a:rPr lang="en-US" altLang="zh-CN" dirty="0"/>
              <a:t>N-2</a:t>
            </a:r>
            <a:r>
              <a:rPr lang="zh-CN" altLang="en-US" dirty="0"/>
              <a:t>次，把第二小的数排到了第</a:t>
            </a:r>
            <a:r>
              <a:rPr lang="en-US" altLang="zh-CN" dirty="0"/>
              <a:t>N-1</a:t>
            </a:r>
            <a:r>
              <a:rPr lang="zh-CN" altLang="en-US" dirty="0"/>
              <a:t>的位置。</a:t>
            </a:r>
            <a:endParaRPr lang="en-US" altLang="zh-CN" dirty="0"/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dirty="0"/>
              <a:t>以此类推，最终只需比较</a:t>
            </a:r>
            <a:r>
              <a:rPr lang="en-US" altLang="zh-CN" dirty="0"/>
              <a:t>N-1</a:t>
            </a:r>
            <a:r>
              <a:rPr lang="zh-CN" altLang="en-US" dirty="0"/>
              <a:t>遍，每遍比较次数递减。</a:t>
            </a:r>
          </a:p>
        </p:txBody>
      </p:sp>
    </p:spTree>
    <p:extLst>
      <p:ext uri="{BB962C8B-B14F-4D97-AF65-F5344CB8AC3E}">
        <p14:creationId xmlns:p14="http://schemas.microsoft.com/office/powerpoint/2010/main" val="4045532567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94" name="Group 47"/>
          <p:cNvGrpSpPr>
            <a:grpSpLocks/>
          </p:cNvGrpSpPr>
          <p:nvPr/>
        </p:nvGrpSpPr>
        <p:grpSpPr bwMode="auto">
          <a:xfrm>
            <a:off x="1871700" y="0"/>
            <a:ext cx="3962400" cy="6813550"/>
            <a:chOff x="1440" y="0"/>
            <a:chExt cx="2496" cy="4292"/>
          </a:xfrm>
        </p:grpSpPr>
        <p:sp>
          <p:nvSpPr>
            <p:cNvPr id="33796" name="AutoShape 5"/>
            <p:cNvSpPr>
              <a:spLocks noChangeArrowheads="1"/>
            </p:cNvSpPr>
            <p:nvPr/>
          </p:nvSpPr>
          <p:spPr bwMode="auto">
            <a:xfrm>
              <a:off x="2688" y="20"/>
              <a:ext cx="576" cy="192"/>
            </a:xfrm>
            <a:prstGeom prst="flowChartTerminator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3797" name="Text Box 6"/>
            <p:cNvSpPr txBox="1">
              <a:spLocks noChangeArrowheads="1"/>
            </p:cNvSpPr>
            <p:nvPr/>
          </p:nvSpPr>
          <p:spPr bwMode="auto">
            <a:xfrm>
              <a:off x="2784" y="0"/>
              <a:ext cx="43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1400" b="1"/>
                <a:t>开始</a:t>
              </a:r>
            </a:p>
          </p:txBody>
        </p:sp>
        <p:sp>
          <p:nvSpPr>
            <p:cNvPr id="33798" name="AutoShape 7"/>
            <p:cNvSpPr>
              <a:spLocks noChangeArrowheads="1"/>
            </p:cNvSpPr>
            <p:nvPr/>
          </p:nvSpPr>
          <p:spPr bwMode="auto">
            <a:xfrm>
              <a:off x="2688" y="4100"/>
              <a:ext cx="576" cy="192"/>
            </a:xfrm>
            <a:prstGeom prst="flowChartTerminator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3799" name="Text Box 8"/>
            <p:cNvSpPr txBox="1">
              <a:spLocks noChangeArrowheads="1"/>
            </p:cNvSpPr>
            <p:nvPr/>
          </p:nvSpPr>
          <p:spPr bwMode="auto">
            <a:xfrm>
              <a:off x="2784" y="4080"/>
              <a:ext cx="43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1400" b="1"/>
                <a:t>结束</a:t>
              </a:r>
            </a:p>
          </p:txBody>
        </p:sp>
        <p:sp>
          <p:nvSpPr>
            <p:cNvPr id="33800" name="Text Box 9"/>
            <p:cNvSpPr txBox="1">
              <a:spLocks noChangeArrowheads="1"/>
            </p:cNvSpPr>
            <p:nvPr/>
          </p:nvSpPr>
          <p:spPr bwMode="auto">
            <a:xfrm>
              <a:off x="2352" y="356"/>
              <a:ext cx="1248" cy="19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400" b="1"/>
                <a:t>(COUNT1)</a:t>
              </a:r>
              <a:r>
                <a:rPr lang="en-US" altLang="zh-TW" sz="1400" b="1"/>
                <a:t>←</a:t>
              </a:r>
              <a:r>
                <a:rPr lang="en-US" altLang="zh-CN" sz="1400" b="1"/>
                <a:t>N-1</a:t>
              </a:r>
            </a:p>
          </p:txBody>
        </p:sp>
        <p:sp>
          <p:nvSpPr>
            <p:cNvPr id="33801" name="Text Box 10"/>
            <p:cNvSpPr txBox="1">
              <a:spLocks noChangeArrowheads="1"/>
            </p:cNvSpPr>
            <p:nvPr/>
          </p:nvSpPr>
          <p:spPr bwMode="auto">
            <a:xfrm>
              <a:off x="2064" y="740"/>
              <a:ext cx="1776" cy="19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400" b="1"/>
                <a:t>(COUNT2)</a:t>
              </a:r>
              <a:r>
                <a:rPr lang="en-US" altLang="zh-TW" sz="1400" b="1"/>
                <a:t>←</a:t>
              </a:r>
              <a:r>
                <a:rPr lang="en-US" altLang="zh-CN" sz="1400" b="1"/>
                <a:t>(COUNT1)</a:t>
              </a:r>
            </a:p>
          </p:txBody>
        </p:sp>
        <p:sp>
          <p:nvSpPr>
            <p:cNvPr id="33802" name="Text Box 11"/>
            <p:cNvSpPr txBox="1">
              <a:spLocks noChangeArrowheads="1"/>
            </p:cNvSpPr>
            <p:nvPr/>
          </p:nvSpPr>
          <p:spPr bwMode="auto">
            <a:xfrm>
              <a:off x="2352" y="1076"/>
              <a:ext cx="1248" cy="19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lang="en-US" altLang="zh-CN" sz="1400" b="1">
                  <a:latin typeface="宋体" charset="-122"/>
                </a:rPr>
                <a:t>I</a:t>
              </a:r>
              <a:r>
                <a:rPr lang="en-US" altLang="zh-TW" sz="1400" b="1"/>
                <a:t>←</a:t>
              </a:r>
              <a:r>
                <a:rPr lang="en-US" altLang="zh-CN" sz="1400" b="1"/>
                <a:t>0</a:t>
              </a:r>
            </a:p>
          </p:txBody>
        </p:sp>
        <p:sp>
          <p:nvSpPr>
            <p:cNvPr id="33803" name="Text Box 12"/>
            <p:cNvSpPr txBox="1">
              <a:spLocks noChangeArrowheads="1"/>
            </p:cNvSpPr>
            <p:nvPr/>
          </p:nvSpPr>
          <p:spPr bwMode="auto">
            <a:xfrm>
              <a:off x="2352" y="1844"/>
              <a:ext cx="1248" cy="19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400" b="1"/>
                <a:t>A</a:t>
              </a:r>
              <a:r>
                <a:rPr lang="en-US" altLang="zh-CN" sz="1400" b="1" baseline="-25000">
                  <a:latin typeface="宋体" charset="-122"/>
                </a:rPr>
                <a:t>I</a:t>
              </a:r>
              <a:r>
                <a:rPr lang="en-US" altLang="zh-TW" sz="1400" b="1"/>
                <a:t>←</a:t>
              </a:r>
              <a:r>
                <a:rPr lang="en-US" altLang="zh-CN" sz="1400" b="1"/>
                <a:t>→A</a:t>
              </a:r>
              <a:r>
                <a:rPr lang="en-US" altLang="zh-CN" sz="1400" b="1" baseline="-25000">
                  <a:latin typeface="宋体" charset="-122"/>
                </a:rPr>
                <a:t>I+1</a:t>
              </a:r>
            </a:p>
          </p:txBody>
        </p:sp>
        <p:sp>
          <p:nvSpPr>
            <p:cNvPr id="33804" name="Text Box 13"/>
            <p:cNvSpPr txBox="1">
              <a:spLocks noChangeArrowheads="1"/>
            </p:cNvSpPr>
            <p:nvPr/>
          </p:nvSpPr>
          <p:spPr bwMode="auto">
            <a:xfrm>
              <a:off x="2064" y="2564"/>
              <a:ext cx="1872" cy="19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400" b="1"/>
                <a:t>(COUNT2)</a:t>
              </a:r>
              <a:r>
                <a:rPr lang="en-US" altLang="zh-TW" sz="1400" b="1"/>
                <a:t>←</a:t>
              </a:r>
              <a:r>
                <a:rPr lang="en-US" altLang="zh-CN" sz="1400" b="1"/>
                <a:t>(COUNT2)-1</a:t>
              </a:r>
            </a:p>
          </p:txBody>
        </p:sp>
        <p:sp>
          <p:nvSpPr>
            <p:cNvPr id="33805" name="AutoShape 14"/>
            <p:cNvSpPr>
              <a:spLocks noChangeArrowheads="1"/>
            </p:cNvSpPr>
            <p:nvPr/>
          </p:nvSpPr>
          <p:spPr bwMode="auto">
            <a:xfrm>
              <a:off x="2496" y="1412"/>
              <a:ext cx="1008" cy="288"/>
            </a:xfrm>
            <a:prstGeom prst="flowChartDecision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3806" name="AutoShape 15"/>
            <p:cNvSpPr>
              <a:spLocks noChangeArrowheads="1"/>
            </p:cNvSpPr>
            <p:nvPr/>
          </p:nvSpPr>
          <p:spPr bwMode="auto">
            <a:xfrm>
              <a:off x="2324" y="2900"/>
              <a:ext cx="1296" cy="288"/>
            </a:xfrm>
            <a:prstGeom prst="flowChartDecision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3807" name="Text Box 16"/>
            <p:cNvSpPr txBox="1">
              <a:spLocks noChangeArrowheads="1"/>
            </p:cNvSpPr>
            <p:nvPr/>
          </p:nvSpPr>
          <p:spPr bwMode="auto">
            <a:xfrm>
              <a:off x="2448" y="2948"/>
              <a:ext cx="105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lang="en-US" altLang="zh-CN" sz="1400" b="1"/>
                <a:t>(COUNT2)=0?</a:t>
              </a:r>
            </a:p>
          </p:txBody>
        </p:sp>
        <p:sp>
          <p:nvSpPr>
            <p:cNvPr id="33808" name="Text Box 17"/>
            <p:cNvSpPr txBox="1">
              <a:spLocks noChangeArrowheads="1"/>
            </p:cNvSpPr>
            <p:nvPr/>
          </p:nvSpPr>
          <p:spPr bwMode="auto">
            <a:xfrm>
              <a:off x="2400" y="1460"/>
              <a:ext cx="124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lang="en-US" altLang="zh-CN" sz="1400" b="1"/>
                <a:t>A</a:t>
              </a:r>
              <a:r>
                <a:rPr lang="en-US" altLang="zh-CN" sz="1400" b="1" baseline="-25000">
                  <a:latin typeface="宋体" charset="-122"/>
                </a:rPr>
                <a:t>I</a:t>
              </a:r>
              <a:r>
                <a:rPr lang="en-US" altLang="zh-CN" sz="1400" b="1"/>
                <a:t>≥A</a:t>
              </a:r>
              <a:r>
                <a:rPr lang="en-US" altLang="zh-CN" sz="1400" b="1" baseline="-25000">
                  <a:latin typeface="宋体" charset="-122"/>
                </a:rPr>
                <a:t>I+1</a:t>
              </a:r>
              <a:r>
                <a:rPr lang="en-US" altLang="zh-CN" sz="1400" b="1"/>
                <a:t>?</a:t>
              </a:r>
            </a:p>
          </p:txBody>
        </p:sp>
        <p:sp>
          <p:nvSpPr>
            <p:cNvPr id="33809" name="Line 18"/>
            <p:cNvSpPr>
              <a:spLocks noChangeShapeType="1"/>
            </p:cNvSpPr>
            <p:nvPr/>
          </p:nvSpPr>
          <p:spPr bwMode="auto">
            <a:xfrm>
              <a:off x="2976" y="21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10" name="Line 19"/>
            <p:cNvSpPr>
              <a:spLocks noChangeShapeType="1"/>
            </p:cNvSpPr>
            <p:nvPr/>
          </p:nvSpPr>
          <p:spPr bwMode="auto">
            <a:xfrm>
              <a:off x="2976" y="54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11" name="Line 20"/>
            <p:cNvSpPr>
              <a:spLocks noChangeShapeType="1"/>
            </p:cNvSpPr>
            <p:nvPr/>
          </p:nvSpPr>
          <p:spPr bwMode="auto">
            <a:xfrm>
              <a:off x="2976" y="93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12" name="Line 21"/>
            <p:cNvSpPr>
              <a:spLocks noChangeShapeType="1"/>
            </p:cNvSpPr>
            <p:nvPr/>
          </p:nvSpPr>
          <p:spPr bwMode="auto">
            <a:xfrm>
              <a:off x="2976" y="126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13" name="Line 22"/>
            <p:cNvSpPr>
              <a:spLocks noChangeShapeType="1"/>
            </p:cNvSpPr>
            <p:nvPr/>
          </p:nvSpPr>
          <p:spPr bwMode="auto">
            <a:xfrm>
              <a:off x="2976" y="203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14" name="Line 23"/>
            <p:cNvSpPr>
              <a:spLocks noChangeShapeType="1"/>
            </p:cNvSpPr>
            <p:nvPr/>
          </p:nvSpPr>
          <p:spPr bwMode="auto">
            <a:xfrm>
              <a:off x="2976" y="2420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15" name="Line 24"/>
            <p:cNvSpPr>
              <a:spLocks noChangeShapeType="1"/>
            </p:cNvSpPr>
            <p:nvPr/>
          </p:nvSpPr>
          <p:spPr bwMode="auto">
            <a:xfrm>
              <a:off x="2976" y="275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16" name="Line 25"/>
            <p:cNvSpPr>
              <a:spLocks noChangeShapeType="1"/>
            </p:cNvSpPr>
            <p:nvPr/>
          </p:nvSpPr>
          <p:spPr bwMode="auto">
            <a:xfrm>
              <a:off x="2976" y="393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17" name="Line 26"/>
            <p:cNvSpPr>
              <a:spLocks noChangeShapeType="1"/>
            </p:cNvSpPr>
            <p:nvPr/>
          </p:nvSpPr>
          <p:spPr bwMode="auto">
            <a:xfrm flipH="1">
              <a:off x="1762" y="3045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18" name="Line 27"/>
            <p:cNvSpPr>
              <a:spLocks noChangeShapeType="1"/>
            </p:cNvSpPr>
            <p:nvPr/>
          </p:nvSpPr>
          <p:spPr bwMode="auto">
            <a:xfrm flipH="1">
              <a:off x="1776" y="1344"/>
              <a:ext cx="0" cy="17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19" name="Line 28"/>
            <p:cNvSpPr>
              <a:spLocks noChangeShapeType="1"/>
            </p:cNvSpPr>
            <p:nvPr/>
          </p:nvSpPr>
          <p:spPr bwMode="auto">
            <a:xfrm flipH="1">
              <a:off x="1776" y="1344"/>
              <a:ext cx="1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20" name="Line 29"/>
            <p:cNvSpPr>
              <a:spLocks noChangeShapeType="1"/>
            </p:cNvSpPr>
            <p:nvPr/>
          </p:nvSpPr>
          <p:spPr bwMode="auto">
            <a:xfrm flipH="1" flipV="1">
              <a:off x="3504" y="1556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21" name="Line 30"/>
            <p:cNvSpPr>
              <a:spLocks noChangeShapeType="1"/>
            </p:cNvSpPr>
            <p:nvPr/>
          </p:nvSpPr>
          <p:spPr bwMode="auto">
            <a:xfrm flipV="1">
              <a:off x="3936" y="1556"/>
              <a:ext cx="0" cy="5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22" name="Line 31"/>
            <p:cNvSpPr>
              <a:spLocks noChangeShapeType="1"/>
            </p:cNvSpPr>
            <p:nvPr/>
          </p:nvSpPr>
          <p:spPr bwMode="auto">
            <a:xfrm flipH="1" flipV="1">
              <a:off x="2976" y="2112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23" name="Text Box 32"/>
            <p:cNvSpPr txBox="1">
              <a:spLocks noChangeArrowheads="1"/>
            </p:cNvSpPr>
            <p:nvPr/>
          </p:nvSpPr>
          <p:spPr bwMode="auto">
            <a:xfrm>
              <a:off x="2160" y="2880"/>
              <a:ext cx="19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400" b="1"/>
                <a:t>N</a:t>
              </a:r>
            </a:p>
          </p:txBody>
        </p:sp>
        <p:sp>
          <p:nvSpPr>
            <p:cNvPr id="33824" name="Text Box 33"/>
            <p:cNvSpPr txBox="1">
              <a:spLocks noChangeArrowheads="1"/>
            </p:cNvSpPr>
            <p:nvPr/>
          </p:nvSpPr>
          <p:spPr bwMode="auto">
            <a:xfrm>
              <a:off x="2976" y="1680"/>
              <a:ext cx="19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400" b="1"/>
                <a:t>N</a:t>
              </a:r>
            </a:p>
          </p:txBody>
        </p:sp>
        <p:sp>
          <p:nvSpPr>
            <p:cNvPr id="33825" name="Text Box 34"/>
            <p:cNvSpPr txBox="1">
              <a:spLocks noChangeArrowheads="1"/>
            </p:cNvSpPr>
            <p:nvPr/>
          </p:nvSpPr>
          <p:spPr bwMode="auto">
            <a:xfrm>
              <a:off x="2976" y="3168"/>
              <a:ext cx="19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400" b="1"/>
                <a:t>Y</a:t>
              </a:r>
            </a:p>
          </p:txBody>
        </p:sp>
        <p:sp>
          <p:nvSpPr>
            <p:cNvPr id="33826" name="Text Box 35"/>
            <p:cNvSpPr txBox="1">
              <a:spLocks noChangeArrowheads="1"/>
            </p:cNvSpPr>
            <p:nvPr/>
          </p:nvSpPr>
          <p:spPr bwMode="auto">
            <a:xfrm>
              <a:off x="3552" y="1392"/>
              <a:ext cx="19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400" b="1"/>
                <a:t>Y</a:t>
              </a:r>
            </a:p>
          </p:txBody>
        </p:sp>
        <p:sp>
          <p:nvSpPr>
            <p:cNvPr id="33827" name="Text Box 36"/>
            <p:cNvSpPr txBox="1">
              <a:spLocks noChangeArrowheads="1"/>
            </p:cNvSpPr>
            <p:nvPr/>
          </p:nvSpPr>
          <p:spPr bwMode="auto">
            <a:xfrm>
              <a:off x="2352" y="2228"/>
              <a:ext cx="1248" cy="19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lang="en-US" altLang="zh-CN" sz="1400" b="1">
                  <a:latin typeface="宋体" charset="-122"/>
                </a:rPr>
                <a:t>I</a:t>
              </a:r>
              <a:r>
                <a:rPr lang="en-US" altLang="zh-TW" sz="1400" b="1"/>
                <a:t>←</a:t>
              </a:r>
              <a:r>
                <a:rPr lang="en-US" altLang="zh-CN" sz="1400" b="1">
                  <a:latin typeface="宋体" charset="-122"/>
                </a:rPr>
                <a:t>I</a:t>
              </a:r>
              <a:r>
                <a:rPr lang="en-US" altLang="zh-CN" sz="1400" b="1"/>
                <a:t>+1</a:t>
              </a:r>
            </a:p>
          </p:txBody>
        </p:sp>
        <p:sp>
          <p:nvSpPr>
            <p:cNvPr id="33828" name="Line 37"/>
            <p:cNvSpPr>
              <a:spLocks noChangeShapeType="1"/>
            </p:cNvSpPr>
            <p:nvPr/>
          </p:nvSpPr>
          <p:spPr bwMode="auto">
            <a:xfrm>
              <a:off x="2976" y="1700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29" name="Text Box 38"/>
            <p:cNvSpPr txBox="1">
              <a:spLocks noChangeArrowheads="1"/>
            </p:cNvSpPr>
            <p:nvPr/>
          </p:nvSpPr>
          <p:spPr bwMode="auto">
            <a:xfrm>
              <a:off x="2064" y="3332"/>
              <a:ext cx="1872" cy="19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400" b="1"/>
                <a:t>(COUNT1)</a:t>
              </a:r>
              <a:r>
                <a:rPr lang="en-US" altLang="zh-TW" sz="1400" b="1"/>
                <a:t>←</a:t>
              </a:r>
              <a:r>
                <a:rPr lang="en-US" altLang="zh-CN" sz="1400" b="1"/>
                <a:t>(COUNT1)-1</a:t>
              </a:r>
            </a:p>
          </p:txBody>
        </p:sp>
        <p:sp>
          <p:nvSpPr>
            <p:cNvPr id="33830" name="Text Box 39"/>
            <p:cNvSpPr txBox="1">
              <a:spLocks noChangeArrowheads="1"/>
            </p:cNvSpPr>
            <p:nvPr/>
          </p:nvSpPr>
          <p:spPr bwMode="auto">
            <a:xfrm>
              <a:off x="2400" y="3716"/>
              <a:ext cx="124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lang="en-US" altLang="zh-CN" sz="1400" b="1"/>
                <a:t>(COUNT1)=0?</a:t>
              </a:r>
            </a:p>
          </p:txBody>
        </p:sp>
        <p:sp>
          <p:nvSpPr>
            <p:cNvPr id="33831" name="Line 40"/>
            <p:cNvSpPr>
              <a:spLocks noChangeShapeType="1"/>
            </p:cNvSpPr>
            <p:nvPr/>
          </p:nvSpPr>
          <p:spPr bwMode="auto">
            <a:xfrm>
              <a:off x="2976" y="318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32" name="Line 41"/>
            <p:cNvSpPr>
              <a:spLocks noChangeShapeType="1"/>
            </p:cNvSpPr>
            <p:nvPr/>
          </p:nvSpPr>
          <p:spPr bwMode="auto">
            <a:xfrm>
              <a:off x="2976" y="3524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33" name="AutoShape 42"/>
            <p:cNvSpPr>
              <a:spLocks noChangeArrowheads="1"/>
            </p:cNvSpPr>
            <p:nvPr/>
          </p:nvSpPr>
          <p:spPr bwMode="auto">
            <a:xfrm>
              <a:off x="2352" y="3668"/>
              <a:ext cx="1296" cy="288"/>
            </a:xfrm>
            <a:prstGeom prst="flowChartDecision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3834" name="Line 43"/>
            <p:cNvSpPr>
              <a:spLocks noChangeShapeType="1"/>
            </p:cNvSpPr>
            <p:nvPr/>
          </p:nvSpPr>
          <p:spPr bwMode="auto">
            <a:xfrm flipH="1">
              <a:off x="1440" y="3819"/>
              <a:ext cx="91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35" name="Line 44"/>
            <p:cNvSpPr>
              <a:spLocks noChangeShapeType="1"/>
            </p:cNvSpPr>
            <p:nvPr/>
          </p:nvSpPr>
          <p:spPr bwMode="auto">
            <a:xfrm flipH="1">
              <a:off x="1440" y="624"/>
              <a:ext cx="0" cy="31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36" name="Line 45"/>
            <p:cNvSpPr>
              <a:spLocks noChangeShapeType="1"/>
            </p:cNvSpPr>
            <p:nvPr/>
          </p:nvSpPr>
          <p:spPr bwMode="auto">
            <a:xfrm flipH="1">
              <a:off x="1440" y="624"/>
              <a:ext cx="15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5" name="文本框 1"/>
          <p:cNvSpPr txBox="1"/>
          <p:nvPr/>
        </p:nvSpPr>
        <p:spPr>
          <a:xfrm>
            <a:off x="452120" y="317500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循环结构程序设计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228184" y="1168400"/>
            <a:ext cx="259228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Count1:</a:t>
            </a:r>
          </a:p>
          <a:p>
            <a:r>
              <a:rPr lang="en-US" altLang="zh-CN" dirty="0"/>
              <a:t>    </a:t>
            </a:r>
            <a:r>
              <a:rPr lang="zh-CN" altLang="en-US" dirty="0"/>
              <a:t>比较遍数</a:t>
            </a:r>
            <a:endParaRPr lang="en-US" altLang="zh-CN" dirty="0"/>
          </a:p>
          <a:p>
            <a:r>
              <a:rPr lang="en-US" altLang="zh-CN" dirty="0"/>
              <a:t>Count2:</a:t>
            </a:r>
          </a:p>
          <a:p>
            <a:r>
              <a:rPr lang="en-US" altLang="zh-CN" dirty="0"/>
              <a:t>    </a:t>
            </a:r>
            <a:r>
              <a:rPr lang="zh-CN" altLang="en-US" dirty="0"/>
              <a:t>每遍比较次数</a:t>
            </a:r>
          </a:p>
        </p:txBody>
      </p:sp>
    </p:spTree>
    <p:extLst>
      <p:ext uri="{BB962C8B-B14F-4D97-AF65-F5344CB8AC3E}">
        <p14:creationId xmlns:p14="http://schemas.microsoft.com/office/powerpoint/2010/main" val="1811534597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2120" y="1052736"/>
            <a:ext cx="4434644" cy="4884204"/>
          </a:xfrm>
          <a:noFill/>
          <a:ln w="9525">
            <a:solidFill>
              <a:srgbClr val="FF0000"/>
            </a:solidFill>
            <a:prstDash val="dash"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lnSpc>
                <a:spcPct val="85000"/>
              </a:lnSpc>
              <a:spcBef>
                <a:spcPct val="5000"/>
              </a:spcBef>
              <a:buNone/>
            </a:pPr>
            <a:r>
              <a:rPr lang="en-US" altLang="zh-CN" sz="2000" dirty="0">
                <a:effectLst/>
              </a:rPr>
              <a:t>data 	segment</a:t>
            </a:r>
          </a:p>
          <a:p>
            <a:pPr eaLnBrk="1" hangingPunct="1">
              <a:lnSpc>
                <a:spcPct val="85000"/>
              </a:lnSpc>
              <a:spcBef>
                <a:spcPct val="5000"/>
              </a:spcBef>
              <a:buNone/>
            </a:pPr>
            <a:r>
              <a:rPr lang="en-US" altLang="zh-CN" sz="2000" dirty="0">
                <a:effectLst/>
              </a:rPr>
              <a:t>   		a 	</a:t>
            </a:r>
            <a:r>
              <a:rPr lang="en-US" altLang="zh-CN" sz="2000" dirty="0" err="1">
                <a:effectLst/>
              </a:rPr>
              <a:t>dw</a:t>
            </a:r>
            <a:r>
              <a:rPr lang="en-US" altLang="zh-CN" sz="2000" dirty="0">
                <a:effectLst/>
              </a:rPr>
              <a:t> 	8,16,84,32, 5</a:t>
            </a:r>
          </a:p>
          <a:p>
            <a:pPr eaLnBrk="1" hangingPunct="1">
              <a:lnSpc>
                <a:spcPct val="85000"/>
              </a:lnSpc>
              <a:spcBef>
                <a:spcPct val="5000"/>
              </a:spcBef>
              <a:buNone/>
            </a:pPr>
            <a:r>
              <a:rPr lang="en-US" altLang="zh-CN" sz="2000" dirty="0">
                <a:effectLst/>
              </a:rPr>
              <a:t> 		n 	</a:t>
            </a:r>
            <a:r>
              <a:rPr lang="en-US" altLang="zh-CN" sz="2000" dirty="0" err="1">
                <a:effectLst/>
              </a:rPr>
              <a:t>equ</a:t>
            </a:r>
            <a:r>
              <a:rPr lang="en-US" altLang="zh-CN" sz="2000" dirty="0">
                <a:effectLst/>
              </a:rPr>
              <a:t>  	5</a:t>
            </a:r>
          </a:p>
          <a:p>
            <a:pPr eaLnBrk="1" hangingPunct="1">
              <a:lnSpc>
                <a:spcPct val="85000"/>
              </a:lnSpc>
              <a:spcBef>
                <a:spcPct val="5000"/>
              </a:spcBef>
              <a:buNone/>
            </a:pPr>
            <a:r>
              <a:rPr lang="en-US" altLang="zh-CN" sz="2000" dirty="0">
                <a:effectLst/>
              </a:rPr>
              <a:t>data 	ends</a:t>
            </a:r>
          </a:p>
          <a:p>
            <a:pPr eaLnBrk="1" hangingPunct="1">
              <a:lnSpc>
                <a:spcPct val="85000"/>
              </a:lnSpc>
              <a:spcBef>
                <a:spcPct val="5000"/>
              </a:spcBef>
              <a:buNone/>
            </a:pPr>
            <a:endParaRPr lang="en-US" altLang="zh-CN" sz="2000" dirty="0">
              <a:effectLst/>
            </a:endParaRPr>
          </a:p>
          <a:p>
            <a:pPr eaLnBrk="1" hangingPunct="1">
              <a:lnSpc>
                <a:spcPct val="85000"/>
              </a:lnSpc>
              <a:spcBef>
                <a:spcPct val="5000"/>
              </a:spcBef>
              <a:buNone/>
            </a:pPr>
            <a:r>
              <a:rPr lang="en-US" altLang="zh-CN" sz="2000" dirty="0" err="1">
                <a:effectLst/>
              </a:rPr>
              <a:t>prognam</a:t>
            </a:r>
            <a:r>
              <a:rPr lang="en-US" altLang="zh-CN" sz="2000" dirty="0">
                <a:effectLst/>
              </a:rPr>
              <a:t> segment</a:t>
            </a:r>
          </a:p>
          <a:p>
            <a:pPr eaLnBrk="1" hangingPunct="1">
              <a:lnSpc>
                <a:spcPct val="85000"/>
              </a:lnSpc>
              <a:spcBef>
                <a:spcPct val="5000"/>
              </a:spcBef>
              <a:buNone/>
            </a:pPr>
            <a:r>
              <a:rPr lang="en-US" altLang="zh-CN" sz="2000" dirty="0">
                <a:effectLst/>
              </a:rPr>
              <a:t>main 	proc 	far</a:t>
            </a:r>
          </a:p>
          <a:p>
            <a:pPr eaLnBrk="1" hangingPunct="1">
              <a:lnSpc>
                <a:spcPct val="85000"/>
              </a:lnSpc>
              <a:spcBef>
                <a:spcPct val="5000"/>
              </a:spcBef>
              <a:buNone/>
            </a:pPr>
            <a:r>
              <a:rPr lang="en-US" altLang="zh-CN" sz="2000" dirty="0">
                <a:effectLst/>
              </a:rPr>
              <a:t>     	assume </a:t>
            </a:r>
            <a:r>
              <a:rPr lang="en-US" altLang="zh-CN" sz="2000" dirty="0" err="1">
                <a:effectLst/>
              </a:rPr>
              <a:t>cs:prognam</a:t>
            </a:r>
            <a:r>
              <a:rPr lang="en-US" altLang="zh-CN" sz="2000" dirty="0">
                <a:effectLst/>
              </a:rPr>
              <a:t>, </a:t>
            </a:r>
            <a:r>
              <a:rPr lang="en-US" altLang="zh-CN" sz="2000" dirty="0" err="1">
                <a:effectLst/>
              </a:rPr>
              <a:t>ds:data</a:t>
            </a:r>
            <a:endParaRPr lang="en-US" altLang="zh-CN" sz="2000" dirty="0">
              <a:effectLst/>
            </a:endParaRPr>
          </a:p>
          <a:p>
            <a:pPr eaLnBrk="1" hangingPunct="1">
              <a:lnSpc>
                <a:spcPct val="85000"/>
              </a:lnSpc>
              <a:spcBef>
                <a:spcPct val="5000"/>
              </a:spcBef>
              <a:buNone/>
            </a:pPr>
            <a:r>
              <a:rPr lang="en-US" altLang="zh-CN" sz="2000" dirty="0">
                <a:effectLst/>
              </a:rPr>
              <a:t>start: 	</a:t>
            </a:r>
          </a:p>
          <a:p>
            <a:pPr eaLnBrk="1" hangingPunct="1">
              <a:lnSpc>
                <a:spcPct val="85000"/>
              </a:lnSpc>
              <a:spcBef>
                <a:spcPct val="5000"/>
              </a:spcBef>
              <a:buNone/>
            </a:pPr>
            <a:r>
              <a:rPr lang="en-US" altLang="zh-CN" sz="2000" dirty="0">
                <a:effectLst/>
              </a:rPr>
              <a:t>        	</a:t>
            </a:r>
            <a:r>
              <a:rPr lang="en-US" altLang="zh-CN" sz="2000" dirty="0" err="1">
                <a:effectLst/>
              </a:rPr>
              <a:t>mov</a:t>
            </a:r>
            <a:r>
              <a:rPr lang="en-US" altLang="zh-CN" sz="2000" dirty="0">
                <a:effectLst/>
              </a:rPr>
              <a:t> 	ax, data</a:t>
            </a:r>
          </a:p>
          <a:p>
            <a:pPr eaLnBrk="1" hangingPunct="1">
              <a:lnSpc>
                <a:spcPct val="85000"/>
              </a:lnSpc>
              <a:spcBef>
                <a:spcPct val="5000"/>
              </a:spcBef>
              <a:buNone/>
            </a:pPr>
            <a:r>
              <a:rPr lang="en-US" altLang="zh-CN" sz="2000" dirty="0">
                <a:effectLst/>
              </a:rPr>
              <a:t>        	</a:t>
            </a:r>
            <a:r>
              <a:rPr lang="en-US" altLang="zh-CN" sz="2000" dirty="0" err="1">
                <a:effectLst/>
              </a:rPr>
              <a:t>mov</a:t>
            </a:r>
            <a:r>
              <a:rPr lang="en-US" altLang="zh-CN" sz="2000" dirty="0">
                <a:effectLst/>
              </a:rPr>
              <a:t> 	ds, ax</a:t>
            </a:r>
          </a:p>
          <a:p>
            <a:pPr eaLnBrk="1" hangingPunct="1">
              <a:lnSpc>
                <a:spcPct val="85000"/>
              </a:lnSpc>
              <a:spcBef>
                <a:spcPct val="5000"/>
              </a:spcBef>
              <a:buNone/>
            </a:pPr>
            <a:r>
              <a:rPr lang="en-US" altLang="zh-CN" sz="2000" dirty="0">
                <a:effectLst/>
              </a:rPr>
              <a:t>        	</a:t>
            </a:r>
            <a:r>
              <a:rPr lang="en-US" altLang="zh-CN" sz="2000" dirty="0" err="1">
                <a:effectLst/>
              </a:rPr>
              <a:t>mov</a:t>
            </a:r>
            <a:r>
              <a:rPr lang="en-US" altLang="zh-CN" sz="2000" dirty="0">
                <a:effectLst/>
              </a:rPr>
              <a:t> 	cx, n</a:t>
            </a:r>
          </a:p>
          <a:p>
            <a:pPr eaLnBrk="1" hangingPunct="1">
              <a:lnSpc>
                <a:spcPct val="85000"/>
              </a:lnSpc>
              <a:spcBef>
                <a:spcPct val="5000"/>
              </a:spcBef>
              <a:buNone/>
            </a:pPr>
            <a:r>
              <a:rPr lang="en-US" altLang="zh-CN" sz="2000" dirty="0">
                <a:effectLst/>
              </a:rPr>
              <a:t>        	</a:t>
            </a:r>
            <a:r>
              <a:rPr lang="en-US" altLang="zh-CN" sz="2000" dirty="0" err="1">
                <a:effectLst/>
              </a:rPr>
              <a:t>dec</a:t>
            </a:r>
            <a:r>
              <a:rPr lang="en-US" altLang="zh-CN" sz="2000" dirty="0">
                <a:effectLst/>
              </a:rPr>
              <a:t> 	cx	</a:t>
            </a:r>
            <a:r>
              <a:rPr lang="zh-CN" altLang="en-US" sz="2000" dirty="0">
                <a:effectLst/>
              </a:rPr>
              <a:t>；</a:t>
            </a:r>
            <a:r>
              <a:rPr lang="zh-CN" altLang="en-US" sz="2000" dirty="0"/>
              <a:t>比较遍数</a:t>
            </a:r>
            <a:endParaRPr lang="en-US" altLang="zh-CN" sz="2000" dirty="0">
              <a:effectLst/>
            </a:endParaRPr>
          </a:p>
        </p:txBody>
      </p:sp>
      <p:sp>
        <p:nvSpPr>
          <p:cNvPr id="4" name="文本框 1"/>
          <p:cNvSpPr txBox="1"/>
          <p:nvPr/>
        </p:nvSpPr>
        <p:spPr>
          <a:xfrm>
            <a:off x="452120" y="317500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循环结构程序设计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5112061" y="1088740"/>
            <a:ext cx="3744416" cy="4848200"/>
          </a:xfrm>
          <a:prstGeom prst="rect">
            <a:avLst/>
          </a:prstGeom>
          <a:noFill/>
          <a:ln w="9525">
            <a:solidFill>
              <a:srgbClr val="FF0000"/>
            </a:solidFill>
            <a:prstDash val="dash"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Blip>
                <a:blip r:embed="rId2"/>
              </a:buBlip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"/>
              </a:spcBef>
              <a:buFont typeface="Wingdings" panose="05000000000000000000" pitchFamily="2" charset="2"/>
              <a:buNone/>
            </a:pPr>
            <a:r>
              <a:rPr lang="en-US" altLang="zh-CN" sz="2000" kern="0" dirty="0">
                <a:effectLst/>
              </a:rPr>
              <a:t>loop1:    </a:t>
            </a:r>
            <a:r>
              <a:rPr lang="en-US" altLang="zh-CN" sz="2000" kern="0" dirty="0" err="1">
                <a:solidFill>
                  <a:srgbClr val="FF0000"/>
                </a:solidFill>
                <a:effectLst/>
              </a:rPr>
              <a:t>mov</a:t>
            </a:r>
            <a:r>
              <a:rPr lang="en-US" altLang="zh-CN" sz="2000" kern="0" dirty="0">
                <a:solidFill>
                  <a:srgbClr val="FF0000"/>
                </a:solidFill>
                <a:effectLst/>
              </a:rPr>
              <a:t>       </a:t>
            </a:r>
            <a:r>
              <a:rPr lang="en-US" altLang="zh-CN" sz="2000" kern="0" dirty="0" err="1">
                <a:solidFill>
                  <a:srgbClr val="FF0000"/>
                </a:solidFill>
                <a:effectLst/>
              </a:rPr>
              <a:t>di,cx</a:t>
            </a:r>
            <a:endParaRPr lang="en-US" altLang="zh-CN" sz="2000" kern="0" dirty="0">
              <a:solidFill>
                <a:srgbClr val="FF0000"/>
              </a:solidFill>
              <a:effectLst/>
            </a:endParaRPr>
          </a:p>
          <a:p>
            <a:pPr eaLnBrk="1" hangingPunct="1">
              <a:lnSpc>
                <a:spcPct val="85000"/>
              </a:lnSpc>
              <a:spcBef>
                <a:spcPct val="5000"/>
              </a:spcBef>
              <a:buFont typeface="Wingdings" panose="05000000000000000000" pitchFamily="2" charset="2"/>
              <a:buNone/>
            </a:pPr>
            <a:r>
              <a:rPr lang="en-US" altLang="zh-CN" sz="2000" kern="0" dirty="0">
                <a:effectLst/>
              </a:rPr>
              <a:t>        	</a:t>
            </a:r>
            <a:r>
              <a:rPr lang="en-US" altLang="zh-CN" sz="2000" kern="0" dirty="0" err="1">
                <a:effectLst/>
              </a:rPr>
              <a:t>mov</a:t>
            </a:r>
            <a:r>
              <a:rPr lang="en-US" altLang="zh-CN" sz="2000" kern="0" dirty="0">
                <a:effectLst/>
              </a:rPr>
              <a:t> 	bx,0</a:t>
            </a:r>
          </a:p>
          <a:p>
            <a:pPr eaLnBrk="1" hangingPunct="1">
              <a:lnSpc>
                <a:spcPct val="85000"/>
              </a:lnSpc>
              <a:spcBef>
                <a:spcPct val="5000"/>
              </a:spcBef>
              <a:buFont typeface="Wingdings" panose="05000000000000000000" pitchFamily="2" charset="2"/>
              <a:buNone/>
            </a:pPr>
            <a:r>
              <a:rPr lang="en-US" altLang="zh-CN" sz="2000" kern="0" dirty="0">
                <a:effectLst/>
              </a:rPr>
              <a:t>loop2:    </a:t>
            </a:r>
            <a:r>
              <a:rPr lang="en-US" altLang="zh-CN" sz="2000" kern="0" dirty="0" err="1">
                <a:effectLst/>
              </a:rPr>
              <a:t>mov</a:t>
            </a:r>
            <a:r>
              <a:rPr lang="en-US" altLang="zh-CN" sz="2000" kern="0" dirty="0">
                <a:effectLst/>
              </a:rPr>
              <a:t>      </a:t>
            </a:r>
            <a:r>
              <a:rPr lang="en-US" altLang="zh-CN" sz="2000" kern="0" dirty="0" err="1">
                <a:effectLst/>
              </a:rPr>
              <a:t>ax,a</a:t>
            </a:r>
            <a:r>
              <a:rPr lang="en-US" altLang="zh-CN" sz="2000" kern="0" dirty="0">
                <a:effectLst/>
              </a:rPr>
              <a:t>[</a:t>
            </a:r>
            <a:r>
              <a:rPr lang="en-US" altLang="zh-CN" sz="2000" kern="0" dirty="0" err="1">
                <a:effectLst/>
              </a:rPr>
              <a:t>bx</a:t>
            </a:r>
            <a:r>
              <a:rPr lang="en-US" altLang="zh-CN" sz="2000" kern="0" dirty="0">
                <a:effectLst/>
              </a:rPr>
              <a:t>]</a:t>
            </a:r>
          </a:p>
          <a:p>
            <a:pPr eaLnBrk="1" hangingPunct="1">
              <a:lnSpc>
                <a:spcPct val="85000"/>
              </a:lnSpc>
              <a:spcBef>
                <a:spcPct val="5000"/>
              </a:spcBef>
              <a:buFont typeface="Wingdings" panose="05000000000000000000" pitchFamily="2" charset="2"/>
              <a:buNone/>
            </a:pPr>
            <a:r>
              <a:rPr lang="en-US" altLang="zh-CN" sz="2000" kern="0" dirty="0">
                <a:effectLst/>
              </a:rPr>
              <a:t>        	</a:t>
            </a:r>
            <a:r>
              <a:rPr lang="en-US" altLang="zh-CN" sz="2000" kern="0" dirty="0" err="1">
                <a:effectLst/>
              </a:rPr>
              <a:t>cmp</a:t>
            </a:r>
            <a:r>
              <a:rPr lang="en-US" altLang="zh-CN" sz="2000" kern="0" dirty="0">
                <a:effectLst/>
              </a:rPr>
              <a:t> 	ax, a[bx+2]</a:t>
            </a:r>
          </a:p>
          <a:p>
            <a:pPr eaLnBrk="1" hangingPunct="1">
              <a:lnSpc>
                <a:spcPct val="85000"/>
              </a:lnSpc>
              <a:spcBef>
                <a:spcPct val="5000"/>
              </a:spcBef>
              <a:buFont typeface="Wingdings" panose="05000000000000000000" pitchFamily="2" charset="2"/>
              <a:buNone/>
            </a:pPr>
            <a:r>
              <a:rPr lang="en-US" altLang="zh-CN" sz="2000" kern="0" dirty="0">
                <a:effectLst/>
              </a:rPr>
              <a:t>        	</a:t>
            </a:r>
            <a:r>
              <a:rPr lang="en-US" altLang="zh-CN" sz="2000" kern="0" dirty="0" err="1">
                <a:effectLst/>
              </a:rPr>
              <a:t>jge</a:t>
            </a:r>
            <a:r>
              <a:rPr lang="en-US" altLang="zh-CN" sz="2000" kern="0" dirty="0">
                <a:effectLst/>
              </a:rPr>
              <a:t> 	continue</a:t>
            </a:r>
          </a:p>
          <a:p>
            <a:pPr eaLnBrk="1" hangingPunct="1">
              <a:lnSpc>
                <a:spcPct val="85000"/>
              </a:lnSpc>
              <a:spcBef>
                <a:spcPct val="5000"/>
              </a:spcBef>
              <a:buFont typeface="Wingdings" panose="05000000000000000000" pitchFamily="2" charset="2"/>
              <a:buNone/>
            </a:pPr>
            <a:r>
              <a:rPr lang="en-US" altLang="zh-CN" sz="2000" kern="0" dirty="0">
                <a:effectLst/>
              </a:rPr>
              <a:t>        	</a:t>
            </a:r>
            <a:r>
              <a:rPr lang="en-US" altLang="zh-CN" sz="2000" kern="0" dirty="0" err="1">
                <a:effectLst/>
              </a:rPr>
              <a:t>xchg</a:t>
            </a:r>
            <a:r>
              <a:rPr lang="en-US" altLang="zh-CN" sz="2000" kern="0" dirty="0">
                <a:effectLst/>
              </a:rPr>
              <a:t>      ax, a[bx+2]</a:t>
            </a:r>
          </a:p>
          <a:p>
            <a:pPr eaLnBrk="1" hangingPunct="1">
              <a:lnSpc>
                <a:spcPct val="85000"/>
              </a:lnSpc>
              <a:spcBef>
                <a:spcPct val="5000"/>
              </a:spcBef>
              <a:buFont typeface="Wingdings" panose="05000000000000000000" pitchFamily="2" charset="2"/>
              <a:buNone/>
            </a:pPr>
            <a:r>
              <a:rPr lang="en-US" altLang="zh-CN" sz="2000" kern="0" dirty="0">
                <a:effectLst/>
              </a:rPr>
              <a:t>        	</a:t>
            </a:r>
            <a:r>
              <a:rPr lang="en-US" altLang="zh-CN" sz="2000" kern="0" dirty="0" err="1">
                <a:effectLst/>
              </a:rPr>
              <a:t>mov</a:t>
            </a:r>
            <a:r>
              <a:rPr lang="en-US" altLang="zh-CN" sz="2000" kern="0" dirty="0">
                <a:effectLst/>
              </a:rPr>
              <a:t> 	a[</a:t>
            </a:r>
            <a:r>
              <a:rPr lang="en-US" altLang="zh-CN" sz="2000" kern="0" dirty="0" err="1">
                <a:effectLst/>
              </a:rPr>
              <a:t>bx</a:t>
            </a:r>
            <a:r>
              <a:rPr lang="en-US" altLang="zh-CN" sz="2000" kern="0" dirty="0">
                <a:effectLst/>
              </a:rPr>
              <a:t>], ax</a:t>
            </a:r>
          </a:p>
          <a:p>
            <a:pPr eaLnBrk="1" hangingPunct="1">
              <a:lnSpc>
                <a:spcPct val="85000"/>
              </a:lnSpc>
              <a:spcBef>
                <a:spcPct val="5000"/>
              </a:spcBef>
              <a:buFont typeface="Wingdings" panose="05000000000000000000" pitchFamily="2" charset="2"/>
              <a:buNone/>
            </a:pPr>
            <a:r>
              <a:rPr lang="en-US" altLang="zh-CN" sz="2000" kern="0" dirty="0">
                <a:effectLst/>
              </a:rPr>
              <a:t>continue:</a:t>
            </a:r>
          </a:p>
          <a:p>
            <a:pPr eaLnBrk="1" hangingPunct="1">
              <a:lnSpc>
                <a:spcPct val="85000"/>
              </a:lnSpc>
              <a:spcBef>
                <a:spcPct val="5000"/>
              </a:spcBef>
              <a:buFont typeface="Wingdings" panose="05000000000000000000" pitchFamily="2" charset="2"/>
              <a:buNone/>
            </a:pPr>
            <a:r>
              <a:rPr lang="en-US" altLang="zh-CN" sz="2000" kern="0" dirty="0">
                <a:effectLst/>
              </a:rPr>
              <a:t>        	add 	bx,2</a:t>
            </a:r>
          </a:p>
          <a:p>
            <a:pPr eaLnBrk="1" hangingPunct="1">
              <a:lnSpc>
                <a:spcPct val="85000"/>
              </a:lnSpc>
              <a:spcBef>
                <a:spcPct val="5000"/>
              </a:spcBef>
              <a:buFont typeface="Wingdings" panose="05000000000000000000" pitchFamily="2" charset="2"/>
              <a:buNone/>
            </a:pPr>
            <a:r>
              <a:rPr lang="en-US" altLang="zh-CN" sz="2000" kern="0" dirty="0">
                <a:effectLst/>
              </a:rPr>
              <a:t>        	loop 	loop2</a:t>
            </a:r>
          </a:p>
          <a:p>
            <a:pPr eaLnBrk="1" hangingPunct="1">
              <a:lnSpc>
                <a:spcPct val="85000"/>
              </a:lnSpc>
              <a:spcBef>
                <a:spcPct val="5000"/>
              </a:spcBef>
              <a:buFont typeface="Wingdings" panose="05000000000000000000" pitchFamily="2" charset="2"/>
              <a:buNone/>
            </a:pPr>
            <a:r>
              <a:rPr lang="en-US" altLang="zh-CN" sz="2000" kern="0" dirty="0">
                <a:effectLst/>
              </a:rPr>
              <a:t>        	</a:t>
            </a:r>
            <a:r>
              <a:rPr lang="en-US" altLang="zh-CN" sz="2000" kern="0" dirty="0" err="1">
                <a:solidFill>
                  <a:srgbClr val="FF0000"/>
                </a:solidFill>
                <a:effectLst/>
              </a:rPr>
              <a:t>mov</a:t>
            </a:r>
            <a:r>
              <a:rPr lang="en-US" altLang="zh-CN" sz="2000" kern="0" dirty="0">
                <a:solidFill>
                  <a:srgbClr val="FF0000"/>
                </a:solidFill>
                <a:effectLst/>
              </a:rPr>
              <a:t> 	cx, di</a:t>
            </a:r>
          </a:p>
          <a:p>
            <a:pPr eaLnBrk="1" hangingPunct="1">
              <a:lnSpc>
                <a:spcPct val="85000"/>
              </a:lnSpc>
              <a:spcBef>
                <a:spcPct val="5000"/>
              </a:spcBef>
              <a:buFont typeface="Wingdings" panose="05000000000000000000" pitchFamily="2" charset="2"/>
              <a:buNone/>
            </a:pPr>
            <a:r>
              <a:rPr lang="en-US" altLang="zh-CN" sz="2000" kern="0" dirty="0">
                <a:effectLst/>
              </a:rPr>
              <a:t>        	loop 	loop1</a:t>
            </a:r>
          </a:p>
          <a:p>
            <a:pPr eaLnBrk="1" hangingPunct="1">
              <a:lnSpc>
                <a:spcPct val="85000"/>
              </a:lnSpc>
              <a:spcBef>
                <a:spcPct val="5000"/>
              </a:spcBef>
              <a:buFont typeface="Wingdings" panose="05000000000000000000" pitchFamily="2" charset="2"/>
              <a:buNone/>
            </a:pPr>
            <a:r>
              <a:rPr lang="en-US" altLang="zh-CN" sz="2000" kern="0" dirty="0">
                <a:effectLst/>
              </a:rPr>
              <a:t>        	ret</a:t>
            </a:r>
          </a:p>
          <a:p>
            <a:pPr eaLnBrk="1" hangingPunct="1">
              <a:lnSpc>
                <a:spcPct val="85000"/>
              </a:lnSpc>
              <a:spcBef>
                <a:spcPct val="5000"/>
              </a:spcBef>
              <a:buFont typeface="Wingdings" panose="05000000000000000000" pitchFamily="2" charset="2"/>
              <a:buNone/>
            </a:pPr>
            <a:r>
              <a:rPr lang="en-US" altLang="zh-CN" sz="2000" kern="0" dirty="0">
                <a:effectLst/>
              </a:rPr>
              <a:t>main </a:t>
            </a:r>
            <a:r>
              <a:rPr lang="en-US" altLang="zh-CN" sz="2000" kern="0" dirty="0" err="1">
                <a:effectLst/>
              </a:rPr>
              <a:t>endp</a:t>
            </a:r>
            <a:endParaRPr lang="en-US" altLang="zh-CN" sz="2000" kern="0" dirty="0">
              <a:effectLst/>
            </a:endParaRPr>
          </a:p>
          <a:p>
            <a:pPr eaLnBrk="1" hangingPunct="1">
              <a:lnSpc>
                <a:spcPct val="85000"/>
              </a:lnSpc>
              <a:spcBef>
                <a:spcPct val="5000"/>
              </a:spcBef>
              <a:buFont typeface="Wingdings" panose="05000000000000000000" pitchFamily="2" charset="2"/>
              <a:buNone/>
            </a:pPr>
            <a:r>
              <a:rPr lang="en-US" altLang="zh-CN" sz="2000" kern="0" dirty="0" err="1">
                <a:effectLst/>
              </a:rPr>
              <a:t>prognam</a:t>
            </a:r>
            <a:r>
              <a:rPr lang="en-US" altLang="zh-CN" sz="2000" kern="0" dirty="0">
                <a:effectLst/>
              </a:rPr>
              <a:t> ends</a:t>
            </a:r>
          </a:p>
          <a:p>
            <a:pPr eaLnBrk="1" hangingPunct="1">
              <a:lnSpc>
                <a:spcPct val="85000"/>
              </a:lnSpc>
              <a:spcBef>
                <a:spcPct val="5000"/>
              </a:spcBef>
              <a:buFont typeface="Wingdings" panose="05000000000000000000" pitchFamily="2" charset="2"/>
              <a:buNone/>
            </a:pPr>
            <a:r>
              <a:rPr lang="en-US" altLang="zh-CN" sz="2000" kern="0" dirty="0">
                <a:effectLst/>
              </a:rPr>
              <a:t>        	end 	start</a:t>
            </a:r>
          </a:p>
        </p:txBody>
      </p:sp>
      <p:grpSp>
        <p:nvGrpSpPr>
          <p:cNvPr id="6" name="Group 14"/>
          <p:cNvGrpSpPr>
            <a:grpSpLocks/>
          </p:cNvGrpSpPr>
          <p:nvPr/>
        </p:nvGrpSpPr>
        <p:grpSpPr bwMode="auto">
          <a:xfrm rot="10800000">
            <a:off x="7848506" y="1736812"/>
            <a:ext cx="647930" cy="2016224"/>
            <a:chOff x="672" y="768"/>
            <a:chExt cx="1392" cy="1824"/>
          </a:xfrm>
        </p:grpSpPr>
        <p:sp>
          <p:nvSpPr>
            <p:cNvPr id="7" name="Line 6"/>
            <p:cNvSpPr>
              <a:spLocks noChangeShapeType="1"/>
            </p:cNvSpPr>
            <p:nvPr/>
          </p:nvSpPr>
          <p:spPr bwMode="auto">
            <a:xfrm>
              <a:off x="672" y="768"/>
              <a:ext cx="1392" cy="0"/>
            </a:xfrm>
            <a:prstGeom prst="line">
              <a:avLst/>
            </a:prstGeom>
            <a:noFill/>
            <a:ln w="31750" cap="sq">
              <a:solidFill>
                <a:schemeClr val="tx1"/>
              </a:solidFill>
              <a:round/>
              <a:headEnd type="none" w="sm" len="sm"/>
              <a:tailEnd type="stealth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>
              <a:spAutoFit/>
            </a:bodyPr>
            <a:lstStyle/>
            <a:p>
              <a:endParaRPr lang="zh-CN" altLang="en-US"/>
            </a:p>
          </p:txBody>
        </p:sp>
        <p:sp>
          <p:nvSpPr>
            <p:cNvPr id="8" name="Line 7"/>
            <p:cNvSpPr>
              <a:spLocks noChangeShapeType="1"/>
            </p:cNvSpPr>
            <p:nvPr/>
          </p:nvSpPr>
          <p:spPr bwMode="auto">
            <a:xfrm>
              <a:off x="672" y="768"/>
              <a:ext cx="0" cy="1824"/>
            </a:xfrm>
            <a:prstGeom prst="line">
              <a:avLst/>
            </a:prstGeom>
            <a:noFill/>
            <a:ln w="3175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9" name="Line 8"/>
            <p:cNvSpPr>
              <a:spLocks noChangeShapeType="1"/>
            </p:cNvSpPr>
            <p:nvPr/>
          </p:nvSpPr>
          <p:spPr bwMode="auto">
            <a:xfrm>
              <a:off x="672" y="2592"/>
              <a:ext cx="1248" cy="0"/>
            </a:xfrm>
            <a:prstGeom prst="line">
              <a:avLst/>
            </a:prstGeom>
            <a:noFill/>
            <a:ln w="3175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0" name="Group 15"/>
          <p:cNvGrpSpPr>
            <a:grpSpLocks/>
          </p:cNvGrpSpPr>
          <p:nvPr/>
        </p:nvGrpSpPr>
        <p:grpSpPr bwMode="auto">
          <a:xfrm rot="10800000">
            <a:off x="7667872" y="1232756"/>
            <a:ext cx="972577" cy="3060340"/>
            <a:chOff x="432" y="336"/>
            <a:chExt cx="902" cy="2736"/>
          </a:xfrm>
        </p:grpSpPr>
        <p:sp>
          <p:nvSpPr>
            <p:cNvPr id="11" name="Line 9"/>
            <p:cNvSpPr>
              <a:spLocks noChangeShapeType="1"/>
            </p:cNvSpPr>
            <p:nvPr/>
          </p:nvSpPr>
          <p:spPr bwMode="auto">
            <a:xfrm>
              <a:off x="432" y="336"/>
              <a:ext cx="801" cy="0"/>
            </a:xfrm>
            <a:prstGeom prst="line">
              <a:avLst/>
            </a:prstGeom>
            <a:noFill/>
            <a:ln w="31750" cap="sq">
              <a:solidFill>
                <a:schemeClr val="tx1"/>
              </a:solidFill>
              <a:round/>
              <a:headEnd type="none" w="sm" len="sm"/>
              <a:tailEnd type="stealth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>
              <a:spAutoFit/>
            </a:bodyPr>
            <a:lstStyle/>
            <a:p>
              <a:endParaRPr lang="zh-CN" altLang="en-US"/>
            </a:p>
          </p:txBody>
        </p:sp>
        <p:sp>
          <p:nvSpPr>
            <p:cNvPr id="12" name="Line 10"/>
            <p:cNvSpPr>
              <a:spLocks noChangeShapeType="1"/>
            </p:cNvSpPr>
            <p:nvPr/>
          </p:nvSpPr>
          <p:spPr bwMode="auto">
            <a:xfrm>
              <a:off x="432" y="336"/>
              <a:ext cx="0" cy="2736"/>
            </a:xfrm>
            <a:prstGeom prst="line">
              <a:avLst/>
            </a:prstGeom>
            <a:noFill/>
            <a:ln w="3175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3" name="Line 11"/>
            <p:cNvSpPr>
              <a:spLocks noChangeShapeType="1"/>
            </p:cNvSpPr>
            <p:nvPr/>
          </p:nvSpPr>
          <p:spPr bwMode="auto">
            <a:xfrm flipV="1">
              <a:off x="432" y="3072"/>
              <a:ext cx="902" cy="0"/>
            </a:xfrm>
            <a:prstGeom prst="line">
              <a:avLst/>
            </a:prstGeom>
            <a:noFill/>
            <a:ln w="3175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251520" y="6078486"/>
            <a:ext cx="88924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0" dirty="0">
                <a:solidFill>
                  <a:srgbClr val="FF0000"/>
                </a:solidFill>
              </a:rPr>
              <a:t>注意：</a:t>
            </a:r>
            <a:r>
              <a:rPr lang="en-US" altLang="zh-CN" sz="2000" b="0" dirty="0">
                <a:solidFill>
                  <a:srgbClr val="FF0000"/>
                </a:solidFill>
              </a:rPr>
              <a:t>Loop</a:t>
            </a:r>
            <a:r>
              <a:rPr lang="zh-CN" altLang="en-US" sz="2000" b="0" dirty="0">
                <a:solidFill>
                  <a:srgbClr val="FF0000"/>
                </a:solidFill>
              </a:rPr>
              <a:t>指令会自动修改</a:t>
            </a:r>
            <a:r>
              <a:rPr lang="en-US" altLang="zh-CN" sz="2000" b="0" dirty="0">
                <a:solidFill>
                  <a:srgbClr val="FF0000"/>
                </a:solidFill>
              </a:rPr>
              <a:t>CX</a:t>
            </a:r>
            <a:r>
              <a:rPr lang="zh-CN" altLang="en-US" sz="2000" b="0" dirty="0">
                <a:solidFill>
                  <a:srgbClr val="FF0000"/>
                </a:solidFill>
              </a:rPr>
              <a:t>的值，多重循环的时候要注意</a:t>
            </a:r>
            <a:r>
              <a:rPr lang="en-US" altLang="zh-CN" sz="2000" b="0" dirty="0">
                <a:solidFill>
                  <a:srgbClr val="FF0000"/>
                </a:solidFill>
              </a:rPr>
              <a:t>CX</a:t>
            </a:r>
            <a:r>
              <a:rPr lang="zh-CN" altLang="en-US" sz="2000" b="0" dirty="0">
                <a:solidFill>
                  <a:srgbClr val="FF0000"/>
                </a:solidFill>
              </a:rPr>
              <a:t>的保存和恢复。</a:t>
            </a:r>
          </a:p>
        </p:txBody>
      </p:sp>
    </p:spTree>
    <p:extLst>
      <p:ext uri="{BB962C8B-B14F-4D97-AF65-F5344CB8AC3E}">
        <p14:creationId xmlns:p14="http://schemas.microsoft.com/office/powerpoint/2010/main" val="191817091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043608" y="2155893"/>
            <a:ext cx="6571615" cy="17858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60000"/>
              </a:lnSpc>
              <a:buClr>
                <a:srgbClr val="FF3300"/>
              </a:buClr>
              <a:buFont typeface="Wingdings" panose="05000000000000000000" charset="0"/>
              <a:buChar char=""/>
            </a:pPr>
            <a:r>
              <a:rPr lang="zh-CN" altLang="en-US" dirty="0">
                <a:sym typeface="+mn-ea"/>
              </a:rPr>
              <a:t>控制转移指令</a:t>
            </a:r>
            <a:endParaRPr lang="en-US" altLang="zh-CN" dirty="0">
              <a:sym typeface="+mn-ea"/>
            </a:endParaRPr>
          </a:p>
          <a:p>
            <a:pPr marL="342900" indent="-342900">
              <a:lnSpc>
                <a:spcPct val="160000"/>
              </a:lnSpc>
              <a:buClr>
                <a:srgbClr val="FF3300"/>
              </a:buClr>
              <a:buFont typeface="Wingdings" panose="05000000000000000000" charset="0"/>
              <a:buChar char=""/>
            </a:pPr>
            <a:r>
              <a:rPr lang="zh-CN" altLang="en-US" dirty="0">
                <a:sym typeface="+mn-ea"/>
              </a:rPr>
              <a:t>循环结构程序设计</a:t>
            </a:r>
          </a:p>
          <a:p>
            <a:pPr marL="342900" indent="-342900">
              <a:lnSpc>
                <a:spcPct val="160000"/>
              </a:lnSpc>
              <a:buClr>
                <a:srgbClr val="FF3300"/>
              </a:buClr>
              <a:buFont typeface="Wingdings" panose="05000000000000000000" charset="0"/>
              <a:buChar char=""/>
            </a:pPr>
            <a:r>
              <a:rPr lang="zh-CN" altLang="en-US" dirty="0">
                <a:solidFill>
                  <a:srgbClr val="FF0000"/>
                </a:solidFill>
                <a:sym typeface="+mn-ea"/>
              </a:rPr>
              <a:t>分支结构程序设计</a:t>
            </a:r>
          </a:p>
        </p:txBody>
      </p:sp>
      <p:sp>
        <p:nvSpPr>
          <p:cNvPr id="4" name="文本框 1"/>
          <p:cNvSpPr txBox="1"/>
          <p:nvPr/>
        </p:nvSpPr>
        <p:spPr>
          <a:xfrm>
            <a:off x="452120" y="317500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第</a:t>
            </a:r>
            <a:r>
              <a:rPr lang="en-US" altLang="zh-CN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5</a:t>
            </a:r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讲：循环和分枝程序设计</a:t>
            </a:r>
          </a:p>
        </p:txBody>
      </p:sp>
    </p:spTree>
    <p:extLst>
      <p:ext uri="{BB962C8B-B14F-4D97-AF65-F5344CB8AC3E}">
        <p14:creationId xmlns:p14="http://schemas.microsoft.com/office/powerpoint/2010/main" val="133849444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544" y="980728"/>
            <a:ext cx="8229600" cy="4530725"/>
          </a:xfrm>
        </p:spPr>
        <p:txBody>
          <a:bodyPr/>
          <a:lstStyle/>
          <a:p>
            <a:r>
              <a:rPr lang="zh-CN" altLang="en-US" sz="2000" dirty="0">
                <a:effectLst/>
                <a:latin typeface="宋体" charset="-122"/>
              </a:rPr>
              <a:t>在程序中</a:t>
            </a:r>
            <a:r>
              <a:rPr lang="zh-CN" altLang="fr-FR" sz="2000" dirty="0">
                <a:effectLst/>
                <a:latin typeface="宋体" charset="-122"/>
              </a:rPr>
              <a:t>，</a:t>
            </a:r>
            <a:r>
              <a:rPr lang="zh-CN" altLang="en-US" sz="2000" dirty="0">
                <a:effectLst/>
                <a:latin typeface="宋体" charset="-122"/>
              </a:rPr>
              <a:t>往往需要对不同的情况或条件进行不同的处理</a:t>
            </a:r>
            <a:r>
              <a:rPr lang="zh-CN" altLang="fr-FR" sz="2000" dirty="0">
                <a:effectLst/>
                <a:latin typeface="宋体" charset="-122"/>
              </a:rPr>
              <a:t>，</a:t>
            </a:r>
            <a:r>
              <a:rPr lang="zh-CN" altLang="en-US" sz="2000" dirty="0">
                <a:effectLst/>
                <a:latin typeface="宋体" charset="-122"/>
              </a:rPr>
              <a:t>这样的程序就不再是简单的顺序结构</a:t>
            </a:r>
            <a:r>
              <a:rPr lang="zh-CN" altLang="fr-FR" sz="2000" dirty="0">
                <a:effectLst/>
                <a:latin typeface="宋体" charset="-122"/>
              </a:rPr>
              <a:t>，</a:t>
            </a:r>
            <a:r>
              <a:rPr lang="zh-CN" altLang="en-US" sz="2000" dirty="0">
                <a:effectLst/>
                <a:latin typeface="宋体" charset="-122"/>
              </a:rPr>
              <a:t>而要采用分支结构。</a:t>
            </a:r>
          </a:p>
          <a:p>
            <a:r>
              <a:rPr lang="zh-CN" altLang="en-US" sz="2000" dirty="0">
                <a:effectLst/>
                <a:latin typeface="宋体" charset="-122"/>
              </a:rPr>
              <a:t>分支程序结构可以有两种基本形式，即</a:t>
            </a:r>
            <a:r>
              <a:rPr lang="zh-CN" altLang="en-US" sz="2000" dirty="0">
                <a:solidFill>
                  <a:srgbClr val="FF0000"/>
                </a:solidFill>
                <a:effectLst/>
                <a:latin typeface="宋体" charset="-122"/>
              </a:rPr>
              <a:t>双分支结构</a:t>
            </a:r>
            <a:r>
              <a:rPr lang="zh-CN" altLang="en-US" sz="2000" dirty="0">
                <a:effectLst/>
                <a:latin typeface="宋体" charset="-122"/>
              </a:rPr>
              <a:t>和</a:t>
            </a:r>
            <a:r>
              <a:rPr lang="zh-CN" altLang="en-US" sz="2000" dirty="0">
                <a:solidFill>
                  <a:srgbClr val="FF0000"/>
                </a:solidFill>
                <a:effectLst/>
                <a:latin typeface="宋体" charset="-122"/>
              </a:rPr>
              <a:t>多分支结构</a:t>
            </a:r>
            <a:r>
              <a:rPr lang="zh-CN" altLang="en-US" sz="2000" dirty="0">
                <a:effectLst/>
                <a:latin typeface="宋体" charset="-122"/>
              </a:rPr>
              <a:t>。</a:t>
            </a:r>
            <a:r>
              <a:rPr lang="zh-CN" altLang="en-US" sz="2000" dirty="0">
                <a:effectLst/>
              </a:rPr>
              <a:t> </a:t>
            </a:r>
            <a:endParaRPr lang="en-US" altLang="zh-CN" sz="2000" dirty="0">
              <a:effectLst/>
            </a:endParaRPr>
          </a:p>
          <a:p>
            <a:r>
              <a:rPr lang="zh-CN" altLang="en-US" sz="2000" dirty="0">
                <a:effectLst/>
              </a:rPr>
              <a:t>不论哪种形式，共同点是：运行方向是向前的，在某一特定条件下，只能执行多个分支中的一个分支。</a:t>
            </a:r>
          </a:p>
        </p:txBody>
      </p:sp>
      <p:sp>
        <p:nvSpPr>
          <p:cNvPr id="7" name="文本框 1"/>
          <p:cNvSpPr txBox="1"/>
          <p:nvPr/>
        </p:nvSpPr>
        <p:spPr>
          <a:xfrm>
            <a:off x="359532" y="317499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分枝结构程序设计</a:t>
            </a:r>
          </a:p>
        </p:txBody>
      </p:sp>
      <p:grpSp>
        <p:nvGrpSpPr>
          <p:cNvPr id="4" name="Group 42"/>
          <p:cNvGrpSpPr>
            <a:grpSpLocks/>
          </p:cNvGrpSpPr>
          <p:nvPr/>
        </p:nvGrpSpPr>
        <p:grpSpPr bwMode="auto">
          <a:xfrm>
            <a:off x="533400" y="2780928"/>
            <a:ext cx="8077200" cy="3886200"/>
            <a:chOff x="336" y="960"/>
            <a:chExt cx="5088" cy="2448"/>
          </a:xfrm>
        </p:grpSpPr>
        <p:sp>
          <p:nvSpPr>
            <p:cNvPr id="5" name="Text Box 6"/>
            <p:cNvSpPr txBox="1">
              <a:spLocks noChangeArrowheads="1"/>
            </p:cNvSpPr>
            <p:nvPr/>
          </p:nvSpPr>
          <p:spPr bwMode="auto">
            <a:xfrm>
              <a:off x="336" y="1838"/>
              <a:ext cx="567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0" rIns="18000" bIns="0"/>
            <a:lstStyle/>
            <a:p>
              <a:pPr algn="ctr" eaLnBrk="0" hangingPunct="0"/>
              <a:r>
                <a:rPr lang="zh-CN" altLang="en-US" sz="2000" b="0">
                  <a:latin typeface="黑体" pitchFamily="2" charset="-122"/>
                  <a:ea typeface="黑体" pitchFamily="2" charset="-122"/>
                </a:rPr>
                <a:t>不满足</a:t>
              </a:r>
            </a:p>
          </p:txBody>
        </p:sp>
        <p:sp>
          <p:nvSpPr>
            <p:cNvPr id="6" name="Line 15"/>
            <p:cNvSpPr>
              <a:spLocks noChangeShapeType="1"/>
            </p:cNvSpPr>
            <p:nvPr/>
          </p:nvSpPr>
          <p:spPr bwMode="auto">
            <a:xfrm flipH="1">
              <a:off x="1794" y="2429"/>
              <a:ext cx="0" cy="18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Text Box 17"/>
            <p:cNvSpPr txBox="1">
              <a:spLocks noChangeArrowheads="1"/>
            </p:cNvSpPr>
            <p:nvPr/>
          </p:nvSpPr>
          <p:spPr bwMode="auto">
            <a:xfrm>
              <a:off x="1373" y="1402"/>
              <a:ext cx="567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0" rIns="18000" bIns="0"/>
            <a:lstStyle/>
            <a:p>
              <a:pPr algn="ctr" eaLnBrk="0" hangingPunct="0"/>
              <a:r>
                <a:rPr lang="zh-CN" altLang="en-US" sz="2000" b="0" dirty="0">
                  <a:latin typeface="黑体" pitchFamily="2" charset="-122"/>
                  <a:ea typeface="黑体" pitchFamily="2" charset="-122"/>
                </a:rPr>
                <a:t>满足</a:t>
              </a:r>
            </a:p>
          </p:txBody>
        </p:sp>
        <p:sp>
          <p:nvSpPr>
            <p:cNvPr id="9" name="Text Box 18"/>
            <p:cNvSpPr txBox="1">
              <a:spLocks noChangeArrowheads="1"/>
            </p:cNvSpPr>
            <p:nvPr/>
          </p:nvSpPr>
          <p:spPr bwMode="auto">
            <a:xfrm>
              <a:off x="385" y="3085"/>
              <a:ext cx="181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0" rIns="18000" bIns="0"/>
            <a:lstStyle/>
            <a:p>
              <a:pPr algn="ctr" eaLnBrk="0" hangingPunct="0"/>
              <a:r>
                <a:rPr lang="en-US" altLang="zh-CN" sz="2000" b="0">
                  <a:latin typeface="黑体" pitchFamily="2" charset="-122"/>
                  <a:ea typeface="黑体" pitchFamily="2" charset="-122"/>
                </a:rPr>
                <a:t>IF</a:t>
              </a:r>
              <a:r>
                <a:rPr lang="zh-CN" altLang="en-US" sz="2000" b="0">
                  <a:latin typeface="黑体" pitchFamily="2" charset="-122"/>
                  <a:ea typeface="黑体" pitchFamily="2" charset="-122"/>
                </a:rPr>
                <a:t>＿</a:t>
              </a:r>
              <a:r>
                <a:rPr lang="en-US" altLang="zh-CN" sz="2000" b="0">
                  <a:latin typeface="黑体" pitchFamily="2" charset="-122"/>
                  <a:ea typeface="黑体" pitchFamily="2" charset="-122"/>
                </a:rPr>
                <a:t>THEN</a:t>
              </a:r>
              <a:r>
                <a:rPr lang="zh-CN" altLang="en-US" sz="2000" b="0">
                  <a:latin typeface="黑体" pitchFamily="2" charset="-122"/>
                  <a:ea typeface="黑体" pitchFamily="2" charset="-122"/>
                </a:rPr>
                <a:t>＿</a:t>
              </a:r>
              <a:r>
                <a:rPr lang="en-US" altLang="zh-CN" sz="2000" b="0">
                  <a:latin typeface="黑体" pitchFamily="2" charset="-122"/>
                  <a:ea typeface="黑体" pitchFamily="2" charset="-122"/>
                </a:rPr>
                <a:t>ELSE</a:t>
              </a:r>
              <a:r>
                <a:rPr lang="zh-CN" altLang="en-US" sz="2000" b="0">
                  <a:latin typeface="黑体" pitchFamily="2" charset="-122"/>
                  <a:ea typeface="黑体" pitchFamily="2" charset="-122"/>
                </a:rPr>
                <a:t>结构</a:t>
              </a:r>
            </a:p>
          </p:txBody>
        </p:sp>
        <p:sp>
          <p:nvSpPr>
            <p:cNvPr id="10" name="Text Box 19"/>
            <p:cNvSpPr txBox="1">
              <a:spLocks noChangeArrowheads="1"/>
            </p:cNvSpPr>
            <p:nvPr/>
          </p:nvSpPr>
          <p:spPr bwMode="auto">
            <a:xfrm>
              <a:off x="3091" y="3139"/>
              <a:ext cx="181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0" rIns="18000" bIns="0"/>
            <a:lstStyle/>
            <a:p>
              <a:pPr algn="ctr" eaLnBrk="0" hangingPunct="0"/>
              <a:r>
                <a:rPr lang="en-US" altLang="zh-CN" sz="2000" b="0">
                  <a:latin typeface="黑体" pitchFamily="2" charset="-122"/>
                  <a:ea typeface="黑体" pitchFamily="2" charset="-122"/>
                </a:rPr>
                <a:t>CASE</a:t>
              </a:r>
              <a:r>
                <a:rPr lang="zh-CN" altLang="en-US" sz="2000" b="0">
                  <a:latin typeface="黑体" pitchFamily="2" charset="-122"/>
                  <a:ea typeface="黑体" pitchFamily="2" charset="-122"/>
                </a:rPr>
                <a:t>结构</a:t>
              </a:r>
            </a:p>
          </p:txBody>
        </p:sp>
        <p:sp>
          <p:nvSpPr>
            <p:cNvPr id="11" name="Line 22"/>
            <p:cNvSpPr>
              <a:spLocks noChangeShapeType="1"/>
            </p:cNvSpPr>
            <p:nvPr/>
          </p:nvSpPr>
          <p:spPr bwMode="auto">
            <a:xfrm>
              <a:off x="3968" y="1736"/>
              <a:ext cx="0" cy="25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Text Box 28"/>
            <p:cNvSpPr txBox="1">
              <a:spLocks noChangeArrowheads="1"/>
            </p:cNvSpPr>
            <p:nvPr/>
          </p:nvSpPr>
          <p:spPr bwMode="auto">
            <a:xfrm>
              <a:off x="4128" y="2227"/>
              <a:ext cx="567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0" rIns="18000" bIns="0"/>
            <a:lstStyle/>
            <a:p>
              <a:pPr algn="ctr" eaLnBrk="0" hangingPunct="0"/>
              <a:r>
                <a:rPr lang="zh-CN" altLang="en-US" sz="2000" b="0">
                  <a:latin typeface="黑体" pitchFamily="2" charset="-122"/>
                  <a:ea typeface="黑体" pitchFamily="2" charset="-122"/>
                </a:rPr>
                <a:t>．．．</a:t>
              </a:r>
            </a:p>
          </p:txBody>
        </p:sp>
        <p:sp>
          <p:nvSpPr>
            <p:cNvPr id="13" name="Line 7"/>
            <p:cNvSpPr>
              <a:spLocks noChangeShapeType="1"/>
            </p:cNvSpPr>
            <p:nvPr/>
          </p:nvSpPr>
          <p:spPr bwMode="auto">
            <a:xfrm>
              <a:off x="936" y="1071"/>
              <a:ext cx="0" cy="36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AutoShape 8"/>
            <p:cNvSpPr>
              <a:spLocks noChangeArrowheads="1"/>
            </p:cNvSpPr>
            <p:nvPr/>
          </p:nvSpPr>
          <p:spPr bwMode="auto">
            <a:xfrm>
              <a:off x="463" y="1430"/>
              <a:ext cx="940" cy="443"/>
            </a:xfrm>
            <a:prstGeom prst="flowChartDecision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" tIns="0" rIns="18000" bIns="0"/>
            <a:lstStyle/>
            <a:p>
              <a:pPr algn="ctr" eaLnBrk="0" hangingPunct="0"/>
              <a:r>
                <a:rPr lang="zh-CN" altLang="en-US" sz="2000" b="0">
                  <a:latin typeface="黑体" pitchFamily="2" charset="-122"/>
                  <a:ea typeface="黑体" pitchFamily="2" charset="-122"/>
                </a:rPr>
                <a:t>条件</a:t>
              </a:r>
            </a:p>
          </p:txBody>
        </p:sp>
        <p:sp>
          <p:nvSpPr>
            <p:cNvPr id="15" name="Line 9"/>
            <p:cNvSpPr>
              <a:spLocks noChangeShapeType="1"/>
            </p:cNvSpPr>
            <p:nvPr/>
          </p:nvSpPr>
          <p:spPr bwMode="auto">
            <a:xfrm>
              <a:off x="936" y="1873"/>
              <a:ext cx="0" cy="25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10"/>
            <p:cNvSpPr>
              <a:spLocks noChangeShapeType="1"/>
            </p:cNvSpPr>
            <p:nvPr/>
          </p:nvSpPr>
          <p:spPr bwMode="auto">
            <a:xfrm>
              <a:off x="1794" y="1652"/>
              <a:ext cx="0" cy="4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AutoShape 11"/>
            <p:cNvSpPr>
              <a:spLocks noChangeArrowheads="1"/>
            </p:cNvSpPr>
            <p:nvPr/>
          </p:nvSpPr>
          <p:spPr bwMode="auto">
            <a:xfrm>
              <a:off x="547" y="2134"/>
              <a:ext cx="777" cy="285"/>
            </a:xfrm>
            <a:prstGeom prst="flowChartProcess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AutoShape 12"/>
            <p:cNvSpPr>
              <a:spLocks noChangeArrowheads="1"/>
            </p:cNvSpPr>
            <p:nvPr/>
          </p:nvSpPr>
          <p:spPr bwMode="auto">
            <a:xfrm>
              <a:off x="1422" y="2134"/>
              <a:ext cx="777" cy="285"/>
            </a:xfrm>
            <a:prstGeom prst="flowChartProcess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13"/>
            <p:cNvSpPr>
              <a:spLocks noChangeShapeType="1"/>
            </p:cNvSpPr>
            <p:nvPr/>
          </p:nvSpPr>
          <p:spPr bwMode="auto">
            <a:xfrm>
              <a:off x="1389" y="1652"/>
              <a:ext cx="40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16"/>
            <p:cNvSpPr>
              <a:spLocks noChangeShapeType="1"/>
            </p:cNvSpPr>
            <p:nvPr/>
          </p:nvSpPr>
          <p:spPr bwMode="auto">
            <a:xfrm flipH="1">
              <a:off x="936" y="2608"/>
              <a:ext cx="85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20"/>
            <p:cNvSpPr>
              <a:spLocks noChangeShapeType="1"/>
            </p:cNvSpPr>
            <p:nvPr/>
          </p:nvSpPr>
          <p:spPr bwMode="auto">
            <a:xfrm>
              <a:off x="3968" y="960"/>
              <a:ext cx="0" cy="36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AutoShape 21"/>
            <p:cNvSpPr>
              <a:spLocks noChangeArrowheads="1"/>
            </p:cNvSpPr>
            <p:nvPr/>
          </p:nvSpPr>
          <p:spPr bwMode="auto">
            <a:xfrm>
              <a:off x="3504" y="1296"/>
              <a:ext cx="940" cy="443"/>
            </a:xfrm>
            <a:prstGeom prst="flowChartDecision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" tIns="0" rIns="18000" bIns="0"/>
            <a:lstStyle/>
            <a:p>
              <a:pPr algn="ctr" eaLnBrk="0" hangingPunct="0"/>
              <a:r>
                <a:rPr lang="zh-CN" altLang="en-US" sz="2000" b="0">
                  <a:latin typeface="黑体" pitchFamily="2" charset="-122"/>
                  <a:ea typeface="黑体" pitchFamily="2" charset="-122"/>
                </a:rPr>
                <a:t>条件</a:t>
              </a:r>
            </a:p>
          </p:txBody>
        </p:sp>
        <p:sp>
          <p:nvSpPr>
            <p:cNvPr id="23" name="Line 23"/>
            <p:cNvSpPr>
              <a:spLocks noChangeShapeType="1"/>
            </p:cNvSpPr>
            <p:nvPr/>
          </p:nvSpPr>
          <p:spPr bwMode="auto">
            <a:xfrm>
              <a:off x="2831" y="2002"/>
              <a:ext cx="231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24"/>
            <p:cNvSpPr>
              <a:spLocks noChangeShapeType="1"/>
            </p:cNvSpPr>
            <p:nvPr/>
          </p:nvSpPr>
          <p:spPr bwMode="auto">
            <a:xfrm>
              <a:off x="3674" y="2005"/>
              <a:ext cx="0" cy="31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25"/>
            <p:cNvSpPr>
              <a:spLocks noChangeShapeType="1"/>
            </p:cNvSpPr>
            <p:nvPr/>
          </p:nvSpPr>
          <p:spPr bwMode="auto">
            <a:xfrm>
              <a:off x="2831" y="2005"/>
              <a:ext cx="0" cy="36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26"/>
            <p:cNvSpPr>
              <a:spLocks noChangeShapeType="1"/>
            </p:cNvSpPr>
            <p:nvPr/>
          </p:nvSpPr>
          <p:spPr bwMode="auto">
            <a:xfrm>
              <a:off x="5132" y="2005"/>
              <a:ext cx="0" cy="31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AutoShape 27"/>
            <p:cNvSpPr>
              <a:spLocks noChangeArrowheads="1"/>
            </p:cNvSpPr>
            <p:nvPr/>
          </p:nvSpPr>
          <p:spPr bwMode="auto">
            <a:xfrm>
              <a:off x="2553" y="2336"/>
              <a:ext cx="568" cy="254"/>
            </a:xfrm>
            <a:prstGeom prst="flowChartProcess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pPr algn="ctr" eaLnBrk="0" hangingPunct="0"/>
              <a:r>
                <a:rPr lang="en-US" altLang="zh-CN" sz="2000" b="0">
                  <a:latin typeface="黑体" pitchFamily="2" charset="-122"/>
                  <a:ea typeface="黑体" pitchFamily="2" charset="-122"/>
                </a:rPr>
                <a:t>C</a:t>
              </a:r>
              <a:r>
                <a:rPr lang="en-US" altLang="zh-CN" sz="2000" b="0" baseline="-25000">
                  <a:latin typeface="黑体" pitchFamily="2" charset="-122"/>
                  <a:ea typeface="黑体" pitchFamily="2" charset="-122"/>
                </a:rPr>
                <a:t>1</a:t>
              </a:r>
              <a:endParaRPr lang="en-US" altLang="zh-CN" sz="2000" b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28" name="Line 29"/>
            <p:cNvSpPr>
              <a:spLocks noChangeShapeType="1"/>
            </p:cNvSpPr>
            <p:nvPr/>
          </p:nvSpPr>
          <p:spPr bwMode="auto">
            <a:xfrm>
              <a:off x="2831" y="2857"/>
              <a:ext cx="231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30"/>
            <p:cNvSpPr>
              <a:spLocks noChangeShapeType="1"/>
            </p:cNvSpPr>
            <p:nvPr/>
          </p:nvSpPr>
          <p:spPr bwMode="auto">
            <a:xfrm>
              <a:off x="3674" y="2607"/>
              <a:ext cx="0" cy="25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Line 31"/>
            <p:cNvSpPr>
              <a:spLocks noChangeShapeType="1"/>
            </p:cNvSpPr>
            <p:nvPr/>
          </p:nvSpPr>
          <p:spPr bwMode="auto">
            <a:xfrm>
              <a:off x="2831" y="2607"/>
              <a:ext cx="0" cy="25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Line 32"/>
            <p:cNvSpPr>
              <a:spLocks noChangeShapeType="1"/>
            </p:cNvSpPr>
            <p:nvPr/>
          </p:nvSpPr>
          <p:spPr bwMode="auto">
            <a:xfrm>
              <a:off x="5132" y="2603"/>
              <a:ext cx="0" cy="25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Line 33"/>
            <p:cNvSpPr>
              <a:spLocks noChangeShapeType="1"/>
            </p:cNvSpPr>
            <p:nvPr/>
          </p:nvSpPr>
          <p:spPr bwMode="auto">
            <a:xfrm>
              <a:off x="3998" y="2867"/>
              <a:ext cx="0" cy="25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Text Box 34"/>
            <p:cNvSpPr txBox="1">
              <a:spLocks noChangeArrowheads="1"/>
            </p:cNvSpPr>
            <p:nvPr/>
          </p:nvSpPr>
          <p:spPr bwMode="auto">
            <a:xfrm>
              <a:off x="2912" y="2053"/>
              <a:ext cx="256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0" rIns="18000" bIns="0"/>
            <a:lstStyle/>
            <a:p>
              <a:pPr algn="ctr" eaLnBrk="0" hangingPunct="0"/>
              <a:r>
                <a:rPr lang="en-US" altLang="zh-CN" sz="2000" b="0">
                  <a:latin typeface="黑体" pitchFamily="2" charset="-122"/>
                  <a:ea typeface="黑体" pitchFamily="2" charset="-122"/>
                </a:rPr>
                <a:t>1</a:t>
              </a:r>
            </a:p>
          </p:txBody>
        </p:sp>
        <p:sp>
          <p:nvSpPr>
            <p:cNvPr id="34" name="Text Box 35"/>
            <p:cNvSpPr txBox="1">
              <a:spLocks noChangeArrowheads="1"/>
            </p:cNvSpPr>
            <p:nvPr/>
          </p:nvSpPr>
          <p:spPr bwMode="auto">
            <a:xfrm>
              <a:off x="3787" y="2037"/>
              <a:ext cx="211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0" rIns="18000" bIns="0"/>
            <a:lstStyle/>
            <a:p>
              <a:pPr algn="ctr" eaLnBrk="0" hangingPunct="0"/>
              <a:r>
                <a:rPr lang="en-US" altLang="zh-CN" sz="2000" b="0">
                  <a:latin typeface="黑体" pitchFamily="2" charset="-122"/>
                  <a:ea typeface="黑体" pitchFamily="2" charset="-122"/>
                </a:rPr>
                <a:t>2</a:t>
              </a:r>
            </a:p>
          </p:txBody>
        </p:sp>
        <p:sp>
          <p:nvSpPr>
            <p:cNvPr id="35" name="Text Box 36"/>
            <p:cNvSpPr txBox="1">
              <a:spLocks noChangeArrowheads="1"/>
            </p:cNvSpPr>
            <p:nvPr/>
          </p:nvSpPr>
          <p:spPr bwMode="auto">
            <a:xfrm>
              <a:off x="5181" y="2037"/>
              <a:ext cx="211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0" rIns="18000" bIns="0"/>
            <a:lstStyle/>
            <a:p>
              <a:pPr algn="ctr" eaLnBrk="0" hangingPunct="0"/>
              <a:r>
                <a:rPr lang="en-US" altLang="zh-CN" sz="2000" b="0">
                  <a:latin typeface="黑体" pitchFamily="2" charset="-122"/>
                  <a:ea typeface="黑体" pitchFamily="2" charset="-122"/>
                </a:rPr>
                <a:t>n</a:t>
              </a:r>
            </a:p>
          </p:txBody>
        </p:sp>
        <p:sp>
          <p:nvSpPr>
            <p:cNvPr id="36" name="AutoShape 37"/>
            <p:cNvSpPr>
              <a:spLocks noChangeArrowheads="1"/>
            </p:cNvSpPr>
            <p:nvPr/>
          </p:nvSpPr>
          <p:spPr bwMode="auto">
            <a:xfrm>
              <a:off x="3382" y="2320"/>
              <a:ext cx="567" cy="270"/>
            </a:xfrm>
            <a:prstGeom prst="flowChartProcess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pPr algn="ctr" eaLnBrk="0" hangingPunct="0"/>
              <a:r>
                <a:rPr lang="en-US" altLang="zh-CN" sz="2000" b="0">
                  <a:latin typeface="黑体" pitchFamily="2" charset="-122"/>
                  <a:ea typeface="黑体" pitchFamily="2" charset="-122"/>
                </a:rPr>
                <a:t>C</a:t>
              </a:r>
              <a:r>
                <a:rPr lang="en-US" altLang="zh-CN" sz="2000" b="0" baseline="-25000">
                  <a:latin typeface="黑体" pitchFamily="2" charset="-122"/>
                  <a:ea typeface="黑体" pitchFamily="2" charset="-122"/>
                </a:rPr>
                <a:t>2</a:t>
              </a:r>
              <a:endParaRPr lang="en-US" altLang="zh-CN" sz="2000" b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7" name="AutoShape 38"/>
            <p:cNvSpPr>
              <a:spLocks noChangeArrowheads="1"/>
            </p:cNvSpPr>
            <p:nvPr/>
          </p:nvSpPr>
          <p:spPr bwMode="auto">
            <a:xfrm>
              <a:off x="4857" y="2320"/>
              <a:ext cx="567" cy="270"/>
            </a:xfrm>
            <a:prstGeom prst="flowChartProcess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pPr algn="ctr" eaLnBrk="0" hangingPunct="0"/>
              <a:r>
                <a:rPr lang="en-US" altLang="zh-CN" sz="2000" b="0">
                  <a:latin typeface="黑体" pitchFamily="2" charset="-122"/>
                  <a:ea typeface="黑体" pitchFamily="2" charset="-122"/>
                </a:rPr>
                <a:t>C</a:t>
              </a:r>
              <a:r>
                <a:rPr lang="en-US" altLang="zh-CN" sz="2000" b="0" baseline="-25000">
                  <a:latin typeface="黑体" pitchFamily="2" charset="-122"/>
                  <a:ea typeface="黑体" pitchFamily="2" charset="-122"/>
                </a:rPr>
                <a:t>n</a:t>
              </a:r>
              <a:endParaRPr lang="en-US" altLang="zh-CN" sz="2000" b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8" name="Line 39"/>
            <p:cNvSpPr>
              <a:spLocks noChangeShapeType="1"/>
            </p:cNvSpPr>
            <p:nvPr/>
          </p:nvSpPr>
          <p:spPr bwMode="auto">
            <a:xfrm>
              <a:off x="912" y="2445"/>
              <a:ext cx="0" cy="44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147866403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9532" y="1052736"/>
            <a:ext cx="8229600" cy="972108"/>
          </a:xfrm>
        </p:spPr>
        <p:txBody>
          <a:bodyPr/>
          <a:lstStyle/>
          <a:p>
            <a:pPr marL="0" indent="0" algn="just">
              <a:spcBef>
                <a:spcPct val="30000"/>
              </a:spcBef>
              <a:buClr>
                <a:srgbClr val="000000"/>
              </a:buClr>
              <a:buNone/>
            </a:pPr>
            <a:r>
              <a:rPr lang="zh-CN" altLang="en-US" sz="2000" dirty="0">
                <a:latin typeface="华文宋体" panose="02010600040101010101" pitchFamily="2" charset="-122"/>
                <a:ea typeface="华文宋体" panose="02010600040101010101" pitchFamily="2" charset="-122"/>
              </a:rPr>
              <a:t>双分枝结构：</a:t>
            </a:r>
            <a:r>
              <a:rPr lang="zh-CN" altLang="en-US" sz="2000" b="0" dirty="0">
                <a:solidFill>
                  <a:srgbClr val="000000"/>
                </a:solidFill>
                <a:effectLst/>
                <a:latin typeface="华文宋体" panose="02010600040101010101" pitchFamily="2" charset="-122"/>
                <a:ea typeface="华文宋体" panose="02010600040101010101" pitchFamily="2" charset="-122"/>
              </a:rPr>
              <a:t>  </a:t>
            </a:r>
            <a:endParaRPr lang="en-US" altLang="zh-CN" sz="2000" b="0" dirty="0">
              <a:solidFill>
                <a:srgbClr val="000000"/>
              </a:solidFill>
              <a:effectLst/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pPr marL="0" indent="0" algn="just">
              <a:spcBef>
                <a:spcPct val="30000"/>
              </a:spcBef>
              <a:buClr>
                <a:srgbClr val="000000"/>
              </a:buClr>
              <a:buNone/>
            </a:pPr>
            <a:r>
              <a:rPr lang="zh-CN" altLang="en-US" sz="2000" b="0" dirty="0">
                <a:solidFill>
                  <a:srgbClr val="000000"/>
                </a:solidFill>
                <a:effectLst/>
                <a:latin typeface="Times New Roman" panose="02020603050405020304" charset="0"/>
                <a:ea typeface="楷体_GB2312" pitchFamily="49" charset="-122"/>
              </a:rPr>
              <a:t>        使用条件转移指令与无条件转移指令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Times New Roman" panose="02020603050405020304" charset="0"/>
                <a:ea typeface="楷体_GB2312" pitchFamily="49" charset="-122"/>
              </a:rPr>
              <a:t>JMP</a:t>
            </a:r>
            <a:r>
              <a:rPr lang="zh-CN" altLang="en-US" sz="2000" b="0" dirty="0">
                <a:solidFill>
                  <a:srgbClr val="000000"/>
                </a:solidFill>
                <a:effectLst/>
                <a:latin typeface="Times New Roman" panose="02020603050405020304" charset="0"/>
                <a:ea typeface="楷体_GB2312" pitchFamily="49" charset="-122"/>
              </a:rPr>
              <a:t>来实现分支：一般必须先进行比较或算术、逻辑运算等影响标志位的指令，然后用条件转移指令判断条件，以实现分支转移。</a:t>
            </a:r>
            <a:endParaRPr lang="en-US" altLang="zh-CN" sz="2000" b="0" dirty="0">
              <a:solidFill>
                <a:srgbClr val="000000"/>
              </a:solidFill>
              <a:effectLst/>
              <a:latin typeface="Times New Roman" panose="02020603050405020304" charset="0"/>
              <a:ea typeface="楷体_GB2312" pitchFamily="49" charset="-122"/>
            </a:endParaRPr>
          </a:p>
          <a:p>
            <a:pPr marL="0" indent="0" algn="just">
              <a:spcBef>
                <a:spcPct val="30000"/>
              </a:spcBef>
              <a:buClr>
                <a:srgbClr val="000000"/>
              </a:buClr>
              <a:buNone/>
            </a:pPr>
            <a:endParaRPr lang="en-US" altLang="zh-CN" sz="2000" b="0" dirty="0">
              <a:solidFill>
                <a:srgbClr val="000000"/>
              </a:solidFill>
              <a:effectLst/>
              <a:latin typeface="Times New Roman" panose="02020603050405020304" charset="0"/>
              <a:ea typeface="楷体_GB2312" pitchFamily="49" charset="-122"/>
            </a:endParaRPr>
          </a:p>
          <a:p>
            <a:pPr marL="0" indent="0" algn="just">
              <a:spcBef>
                <a:spcPct val="30000"/>
              </a:spcBef>
              <a:buClr>
                <a:srgbClr val="000000"/>
              </a:buClr>
              <a:buNone/>
            </a:pPr>
            <a:endParaRPr lang="en-US" altLang="zh-CN" sz="2000" b="0" dirty="0">
              <a:solidFill>
                <a:srgbClr val="000000"/>
              </a:solidFill>
              <a:effectLst/>
              <a:latin typeface="Times New Roman" panose="02020603050405020304" charset="0"/>
              <a:ea typeface="楷体_GB2312" pitchFamily="49" charset="-122"/>
            </a:endParaRPr>
          </a:p>
          <a:p>
            <a:pPr marL="0" indent="0" algn="just">
              <a:spcBef>
                <a:spcPct val="30000"/>
              </a:spcBef>
              <a:buClr>
                <a:srgbClr val="000000"/>
              </a:buClr>
              <a:buNone/>
            </a:pPr>
            <a:endParaRPr lang="zh-CN" altLang="en-US" sz="2000" b="0" dirty="0">
              <a:solidFill>
                <a:srgbClr val="000000"/>
              </a:solidFill>
              <a:effectLst/>
              <a:latin typeface="Times New Roman" panose="02020603050405020304" charset="0"/>
              <a:ea typeface="楷体_GB2312" pitchFamily="49" charset="-122"/>
            </a:endParaRPr>
          </a:p>
          <a:p>
            <a:pPr algn="just">
              <a:spcBef>
                <a:spcPct val="30000"/>
              </a:spcBef>
              <a:buClr>
                <a:srgbClr val="000000"/>
              </a:buClr>
              <a:buNone/>
            </a:pPr>
            <a:endParaRPr lang="en-US" altLang="zh-CN" sz="1800" b="0" dirty="0">
              <a:solidFill>
                <a:srgbClr val="000000"/>
              </a:solidFill>
              <a:effectLst/>
              <a:latin typeface="Times New Roman" panose="02020603050405020304" charset="0"/>
              <a:ea typeface="楷体_GB2312" pitchFamily="49" charset="-122"/>
            </a:endParaRPr>
          </a:p>
          <a:p>
            <a:pPr algn="just">
              <a:spcBef>
                <a:spcPct val="30000"/>
              </a:spcBef>
              <a:buClr>
                <a:srgbClr val="000000"/>
              </a:buClr>
              <a:buNone/>
            </a:pPr>
            <a:endParaRPr lang="en-US" altLang="zh-CN" sz="1800" b="0" dirty="0">
              <a:solidFill>
                <a:srgbClr val="000000"/>
              </a:solidFill>
              <a:effectLst/>
              <a:latin typeface="Times New Roman" panose="02020603050405020304" charset="0"/>
              <a:ea typeface="楷体_GB2312" pitchFamily="49" charset="-122"/>
            </a:endParaRPr>
          </a:p>
          <a:p>
            <a:pPr algn="just">
              <a:spcBef>
                <a:spcPct val="30000"/>
              </a:spcBef>
              <a:buClr>
                <a:srgbClr val="000000"/>
              </a:buClr>
              <a:buNone/>
            </a:pPr>
            <a:endParaRPr lang="en-US" altLang="zh-CN" sz="1800" b="0" dirty="0">
              <a:solidFill>
                <a:srgbClr val="000000"/>
              </a:solidFill>
              <a:effectLst/>
              <a:latin typeface="Times New Roman" panose="02020603050405020304" charset="0"/>
              <a:ea typeface="楷体_GB2312" pitchFamily="49" charset="-122"/>
            </a:endParaRPr>
          </a:p>
          <a:p>
            <a:pPr algn="just">
              <a:spcBef>
                <a:spcPct val="30000"/>
              </a:spcBef>
              <a:buClr>
                <a:srgbClr val="000000"/>
              </a:buClr>
              <a:buNone/>
            </a:pPr>
            <a:endParaRPr lang="en-US" altLang="zh-CN" sz="1800" b="0" dirty="0">
              <a:solidFill>
                <a:srgbClr val="000000"/>
              </a:solidFill>
              <a:effectLst/>
              <a:latin typeface="Times New Roman" panose="02020603050405020304" charset="0"/>
              <a:ea typeface="楷体_GB2312" pitchFamily="49" charset="-122"/>
            </a:endParaRPr>
          </a:p>
          <a:p>
            <a:pPr algn="just">
              <a:spcBef>
                <a:spcPct val="30000"/>
              </a:spcBef>
              <a:buClr>
                <a:srgbClr val="000000"/>
              </a:buClr>
              <a:buNone/>
            </a:pPr>
            <a:endParaRPr lang="en-US" altLang="zh-CN" sz="1800" b="0" dirty="0">
              <a:solidFill>
                <a:srgbClr val="000000"/>
              </a:solidFill>
              <a:effectLst/>
              <a:latin typeface="Times New Roman" panose="02020603050405020304" charset="0"/>
              <a:ea typeface="楷体_GB2312" pitchFamily="49" charset="-122"/>
            </a:endParaRPr>
          </a:p>
          <a:p>
            <a:pPr algn="just">
              <a:spcBef>
                <a:spcPct val="30000"/>
              </a:spcBef>
              <a:buClr>
                <a:srgbClr val="000000"/>
              </a:buClr>
              <a:buNone/>
            </a:pPr>
            <a:endParaRPr lang="en-US" altLang="zh-CN" sz="1800" b="0" dirty="0">
              <a:solidFill>
                <a:srgbClr val="000000"/>
              </a:solidFill>
              <a:effectLst/>
              <a:latin typeface="Times New Roman" panose="02020603050405020304" charset="0"/>
              <a:ea typeface="楷体_GB2312" pitchFamily="49" charset="-122"/>
            </a:endParaRPr>
          </a:p>
          <a:p>
            <a:pPr algn="just">
              <a:spcBef>
                <a:spcPct val="30000"/>
              </a:spcBef>
              <a:buClr>
                <a:srgbClr val="000000"/>
              </a:buClr>
              <a:buNone/>
            </a:pPr>
            <a:endParaRPr lang="en-US" altLang="zh-CN" sz="1800" b="0" dirty="0">
              <a:solidFill>
                <a:srgbClr val="000000"/>
              </a:solidFill>
              <a:effectLst/>
              <a:latin typeface="Times New Roman" panose="02020603050405020304" charset="0"/>
              <a:ea typeface="楷体_GB2312" pitchFamily="49" charset="-122"/>
            </a:endParaRP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文本框 1"/>
          <p:cNvSpPr txBox="1"/>
          <p:nvPr/>
        </p:nvSpPr>
        <p:spPr>
          <a:xfrm>
            <a:off x="359532" y="317499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分枝结构程序设计</a:t>
            </a:r>
          </a:p>
        </p:txBody>
      </p:sp>
      <p:sp>
        <p:nvSpPr>
          <p:cNvPr id="5" name="文本框 65538"/>
          <p:cNvSpPr txBox="1"/>
          <p:nvPr/>
        </p:nvSpPr>
        <p:spPr>
          <a:xfrm>
            <a:off x="503548" y="2834349"/>
            <a:ext cx="3276363" cy="18097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spcBef>
                <a:spcPct val="30000"/>
              </a:spcBef>
              <a:buClr>
                <a:srgbClr val="000000"/>
              </a:buClr>
              <a:defRPr sz="1800" b="0">
                <a:solidFill>
                  <a:srgbClr val="000000"/>
                </a:solidFill>
                <a:latin typeface="Times New Roman" panose="02020603050405020304" charset="0"/>
                <a:ea typeface="楷体_GB2312" pitchFamily="49" charset="-122"/>
              </a:defRPr>
            </a:lvl1pPr>
          </a:lstStyle>
          <a:p>
            <a:r>
              <a:rPr lang="en-US" altLang="zh-CN" dirty="0"/>
              <a:t>IF-THEN</a:t>
            </a:r>
            <a:r>
              <a:rPr lang="zh-CN" altLang="en-US" dirty="0"/>
              <a:t>结构：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cmp</a:t>
            </a:r>
            <a:r>
              <a:rPr lang="en-US" altLang="zh-CN" dirty="0"/>
              <a:t> AX, BX</a:t>
            </a:r>
          </a:p>
          <a:p>
            <a:r>
              <a:rPr lang="en-US" altLang="zh-CN" dirty="0"/>
              <a:t>	JE   </a:t>
            </a:r>
            <a:r>
              <a:rPr lang="en-US" altLang="zh-CN" dirty="0" err="1"/>
              <a:t>EndOfIF</a:t>
            </a:r>
            <a:r>
              <a:rPr lang="en-US" altLang="zh-CN" dirty="0"/>
              <a:t> </a:t>
            </a:r>
          </a:p>
          <a:p>
            <a:r>
              <a:rPr lang="en-US" altLang="zh-CN" dirty="0"/>
              <a:t>	        &lt;THEN </a:t>
            </a:r>
            <a:r>
              <a:rPr lang="zh-CN" altLang="en-US" dirty="0"/>
              <a:t>程序段</a:t>
            </a:r>
            <a:r>
              <a:rPr lang="en-US" altLang="zh-CN" dirty="0"/>
              <a:t>&gt; </a:t>
            </a:r>
          </a:p>
          <a:p>
            <a:r>
              <a:rPr lang="en-US" altLang="zh-CN" dirty="0" err="1"/>
              <a:t>EndOfIF</a:t>
            </a:r>
            <a:r>
              <a:rPr lang="en-US" altLang="zh-CN" dirty="0"/>
              <a:t>:</a:t>
            </a:r>
          </a:p>
        </p:txBody>
      </p:sp>
      <p:sp>
        <p:nvSpPr>
          <p:cNvPr id="6" name="矩形 5"/>
          <p:cNvSpPr/>
          <p:nvPr/>
        </p:nvSpPr>
        <p:spPr>
          <a:xfrm>
            <a:off x="4608004" y="2753415"/>
            <a:ext cx="3941394" cy="28900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just">
              <a:spcBef>
                <a:spcPct val="30000"/>
              </a:spcBef>
              <a:buClr>
                <a:srgbClr val="000000"/>
              </a:buClr>
            </a:pPr>
            <a:r>
              <a:rPr lang="en-US" altLang="zh-CN" sz="1800" b="0" dirty="0">
                <a:solidFill>
                  <a:srgbClr val="000000"/>
                </a:solidFill>
                <a:latin typeface="Times New Roman" panose="02020603050405020304" charset="0"/>
                <a:ea typeface="楷体_GB2312" pitchFamily="49" charset="-122"/>
              </a:rPr>
              <a:t>IF-THEN-ELSE</a:t>
            </a:r>
            <a:r>
              <a:rPr lang="zh-CN" altLang="en-US" sz="1800" b="0" dirty="0">
                <a:solidFill>
                  <a:srgbClr val="000000"/>
                </a:solidFill>
                <a:latin typeface="Times New Roman" panose="02020603050405020304" charset="0"/>
                <a:ea typeface="楷体_GB2312" pitchFamily="49" charset="-122"/>
              </a:rPr>
              <a:t>结构：</a:t>
            </a:r>
            <a:endParaRPr lang="en-US" altLang="zh-CN" sz="1800" b="0" dirty="0">
              <a:solidFill>
                <a:srgbClr val="000000"/>
              </a:solidFill>
              <a:latin typeface="Times New Roman" panose="02020603050405020304" charset="0"/>
              <a:ea typeface="楷体_GB2312" pitchFamily="49" charset="-122"/>
            </a:endParaRPr>
          </a:p>
          <a:p>
            <a:pPr algn="just">
              <a:spcBef>
                <a:spcPct val="30000"/>
              </a:spcBef>
              <a:buClr>
                <a:srgbClr val="000000"/>
              </a:buClr>
            </a:pPr>
            <a:r>
              <a:rPr lang="en-US" altLang="zh-CN" sz="1800" b="0" dirty="0">
                <a:solidFill>
                  <a:srgbClr val="000000"/>
                </a:solidFill>
                <a:latin typeface="Times New Roman" panose="02020603050405020304" charset="0"/>
                <a:ea typeface="楷体_GB2312" pitchFamily="49" charset="-122"/>
              </a:rPr>
              <a:t>	</a:t>
            </a:r>
            <a:r>
              <a:rPr lang="en-US" altLang="zh-CN" sz="1800" b="0" dirty="0" err="1">
                <a:solidFill>
                  <a:srgbClr val="000000"/>
                </a:solidFill>
                <a:latin typeface="Times New Roman" panose="02020603050405020304" charset="0"/>
                <a:ea typeface="楷体_GB2312" pitchFamily="49" charset="-122"/>
              </a:rPr>
              <a:t>cmp</a:t>
            </a:r>
            <a:r>
              <a:rPr lang="en-US" altLang="zh-CN" sz="1800" b="0" dirty="0">
                <a:solidFill>
                  <a:srgbClr val="000000"/>
                </a:solidFill>
                <a:latin typeface="Times New Roman" panose="02020603050405020304" charset="0"/>
                <a:ea typeface="楷体_GB2312" pitchFamily="49" charset="-122"/>
              </a:rPr>
              <a:t> AX, BX</a:t>
            </a:r>
          </a:p>
          <a:p>
            <a:pPr algn="just">
              <a:spcBef>
                <a:spcPct val="30000"/>
              </a:spcBef>
              <a:buClr>
                <a:srgbClr val="000000"/>
              </a:buClr>
            </a:pPr>
            <a:r>
              <a:rPr lang="en-US" altLang="zh-CN" sz="1800" b="0" dirty="0">
                <a:solidFill>
                  <a:srgbClr val="000000"/>
                </a:solidFill>
                <a:latin typeface="Times New Roman" panose="02020603050405020304" charset="0"/>
                <a:ea typeface="楷体_GB2312" pitchFamily="49" charset="-122"/>
              </a:rPr>
              <a:t>	JE    </a:t>
            </a:r>
            <a:r>
              <a:rPr lang="en-US" altLang="zh-CN" sz="1800" b="0" dirty="0" err="1">
                <a:solidFill>
                  <a:srgbClr val="000000"/>
                </a:solidFill>
                <a:latin typeface="Times New Roman" panose="02020603050405020304" charset="0"/>
                <a:ea typeface="楷体_GB2312" pitchFamily="49" charset="-122"/>
              </a:rPr>
              <a:t>ElseCode</a:t>
            </a:r>
            <a:r>
              <a:rPr lang="en-US" altLang="zh-CN" sz="1800" b="0" dirty="0">
                <a:solidFill>
                  <a:srgbClr val="000000"/>
                </a:solidFill>
                <a:latin typeface="Times New Roman" panose="02020603050405020304" charset="0"/>
                <a:ea typeface="楷体_GB2312" pitchFamily="49" charset="-122"/>
              </a:rPr>
              <a:t> </a:t>
            </a:r>
          </a:p>
          <a:p>
            <a:pPr algn="just">
              <a:spcBef>
                <a:spcPct val="30000"/>
              </a:spcBef>
              <a:buClr>
                <a:srgbClr val="000000"/>
              </a:buClr>
            </a:pPr>
            <a:r>
              <a:rPr lang="en-US" altLang="zh-CN" sz="1800" b="0" dirty="0">
                <a:solidFill>
                  <a:srgbClr val="000000"/>
                </a:solidFill>
                <a:latin typeface="Times New Roman" panose="02020603050405020304" charset="0"/>
                <a:ea typeface="楷体_GB2312" pitchFamily="49" charset="-122"/>
              </a:rPr>
              <a:t>	        &lt;THEN </a:t>
            </a:r>
            <a:r>
              <a:rPr lang="zh-CN" altLang="en-US" sz="1800" b="0" dirty="0">
                <a:solidFill>
                  <a:srgbClr val="000000"/>
                </a:solidFill>
                <a:latin typeface="Times New Roman" panose="02020603050405020304" charset="0"/>
                <a:ea typeface="楷体_GB2312" pitchFamily="49" charset="-122"/>
              </a:rPr>
              <a:t>程序段</a:t>
            </a:r>
            <a:r>
              <a:rPr lang="en-US" altLang="zh-CN" sz="1800" b="0" dirty="0">
                <a:solidFill>
                  <a:srgbClr val="000000"/>
                </a:solidFill>
                <a:latin typeface="Times New Roman" panose="02020603050405020304" charset="0"/>
                <a:ea typeface="楷体_GB2312" pitchFamily="49" charset="-122"/>
              </a:rPr>
              <a:t>&gt; </a:t>
            </a:r>
          </a:p>
          <a:p>
            <a:pPr algn="just">
              <a:spcBef>
                <a:spcPct val="30000"/>
              </a:spcBef>
              <a:buClr>
                <a:srgbClr val="000000"/>
              </a:buClr>
            </a:pPr>
            <a:r>
              <a:rPr lang="en-US" altLang="zh-CN" sz="1800" b="0" dirty="0">
                <a:solidFill>
                  <a:srgbClr val="FF0000"/>
                </a:solidFill>
                <a:latin typeface="Times New Roman" panose="02020603050405020304" charset="0"/>
                <a:ea typeface="楷体_GB2312" pitchFamily="49" charset="-122"/>
              </a:rPr>
              <a:t>	</a:t>
            </a:r>
            <a:r>
              <a:rPr lang="en-US" altLang="zh-CN" sz="1800" b="0" dirty="0" err="1">
                <a:solidFill>
                  <a:srgbClr val="FF0000"/>
                </a:solidFill>
                <a:latin typeface="Times New Roman" panose="02020603050405020304" charset="0"/>
                <a:ea typeface="楷体_GB2312" pitchFamily="49" charset="-122"/>
              </a:rPr>
              <a:t>jmp</a:t>
            </a:r>
            <a:r>
              <a:rPr lang="en-US" altLang="zh-CN" sz="1800" b="0" dirty="0">
                <a:solidFill>
                  <a:srgbClr val="FF0000"/>
                </a:solidFill>
                <a:latin typeface="Times New Roman" panose="02020603050405020304" charset="0"/>
                <a:ea typeface="楷体_GB2312" pitchFamily="49" charset="-122"/>
              </a:rPr>
              <a:t>     </a:t>
            </a:r>
            <a:r>
              <a:rPr lang="en-US" altLang="zh-CN" sz="1800" b="0" dirty="0" err="1">
                <a:solidFill>
                  <a:srgbClr val="FF0000"/>
                </a:solidFill>
                <a:latin typeface="Times New Roman" panose="02020603050405020304" charset="0"/>
                <a:ea typeface="楷体_GB2312" pitchFamily="49" charset="-122"/>
              </a:rPr>
              <a:t>EndOfIF</a:t>
            </a:r>
            <a:r>
              <a:rPr lang="en-US" altLang="zh-CN" sz="1800" b="0" dirty="0">
                <a:solidFill>
                  <a:srgbClr val="FF0000"/>
                </a:solidFill>
                <a:latin typeface="Times New Roman" panose="02020603050405020304" charset="0"/>
                <a:ea typeface="楷体_GB2312" pitchFamily="49" charset="-122"/>
              </a:rPr>
              <a:t> </a:t>
            </a:r>
          </a:p>
          <a:p>
            <a:pPr algn="just">
              <a:spcBef>
                <a:spcPct val="30000"/>
              </a:spcBef>
              <a:buClr>
                <a:srgbClr val="000000"/>
              </a:buClr>
            </a:pPr>
            <a:r>
              <a:rPr lang="en-US" altLang="zh-CN" sz="1800" b="0" dirty="0" err="1">
                <a:solidFill>
                  <a:srgbClr val="000000"/>
                </a:solidFill>
                <a:latin typeface="Times New Roman" panose="02020603050405020304" charset="0"/>
                <a:ea typeface="楷体_GB2312" pitchFamily="49" charset="-122"/>
              </a:rPr>
              <a:t>ElseCode</a:t>
            </a:r>
            <a:r>
              <a:rPr lang="en-US" altLang="zh-CN" sz="1800" b="0" dirty="0">
                <a:solidFill>
                  <a:srgbClr val="000000"/>
                </a:solidFill>
                <a:latin typeface="Times New Roman" panose="02020603050405020304" charset="0"/>
                <a:ea typeface="楷体_GB2312" pitchFamily="49" charset="-122"/>
              </a:rPr>
              <a:t>: </a:t>
            </a:r>
          </a:p>
          <a:p>
            <a:pPr algn="just">
              <a:spcBef>
                <a:spcPct val="30000"/>
              </a:spcBef>
              <a:buClr>
                <a:srgbClr val="000000"/>
              </a:buClr>
            </a:pPr>
            <a:r>
              <a:rPr lang="en-US" altLang="zh-CN" sz="1800" b="0" dirty="0">
                <a:solidFill>
                  <a:srgbClr val="000000"/>
                </a:solidFill>
                <a:latin typeface="Times New Roman" panose="02020603050405020304" charset="0"/>
                <a:ea typeface="楷体_GB2312" pitchFamily="49" charset="-122"/>
              </a:rPr>
              <a:t>	       &lt;ELSE </a:t>
            </a:r>
            <a:r>
              <a:rPr lang="zh-CN" altLang="en-US" sz="1800" b="0" dirty="0">
                <a:solidFill>
                  <a:srgbClr val="000000"/>
                </a:solidFill>
                <a:latin typeface="Times New Roman" panose="02020603050405020304" charset="0"/>
                <a:ea typeface="楷体_GB2312" pitchFamily="49" charset="-122"/>
              </a:rPr>
              <a:t>程序段</a:t>
            </a:r>
            <a:r>
              <a:rPr lang="en-US" altLang="zh-CN" sz="1800" b="0" dirty="0">
                <a:solidFill>
                  <a:srgbClr val="000000"/>
                </a:solidFill>
                <a:latin typeface="Times New Roman" panose="02020603050405020304" charset="0"/>
                <a:ea typeface="楷体_GB2312" pitchFamily="49" charset="-122"/>
              </a:rPr>
              <a:t>&gt; </a:t>
            </a:r>
          </a:p>
          <a:p>
            <a:pPr algn="just">
              <a:spcBef>
                <a:spcPct val="30000"/>
              </a:spcBef>
              <a:buClr>
                <a:srgbClr val="000000"/>
              </a:buClr>
            </a:pPr>
            <a:r>
              <a:rPr lang="en-US" altLang="zh-CN" sz="1800" b="0" dirty="0" err="1">
                <a:solidFill>
                  <a:srgbClr val="000000"/>
                </a:solidFill>
                <a:latin typeface="Times New Roman" panose="02020603050405020304" charset="0"/>
                <a:ea typeface="楷体_GB2312" pitchFamily="49" charset="-122"/>
              </a:rPr>
              <a:t>EndOfIF</a:t>
            </a:r>
            <a:r>
              <a:rPr lang="en-US" altLang="zh-CN" sz="1800" b="0" dirty="0">
                <a:solidFill>
                  <a:srgbClr val="000000"/>
                </a:solidFill>
                <a:latin typeface="Times New Roman" panose="02020603050405020304" charset="0"/>
                <a:ea typeface="楷体_GB2312" pitchFamily="49" charset="-122"/>
              </a:rPr>
              <a:t>:</a:t>
            </a:r>
            <a:endParaRPr lang="zh-CN" altLang="en-US" sz="1800" dirty="0"/>
          </a:p>
        </p:txBody>
      </p:sp>
      <p:sp>
        <p:nvSpPr>
          <p:cNvPr id="2" name="矩形 1"/>
          <p:cNvSpPr/>
          <p:nvPr/>
        </p:nvSpPr>
        <p:spPr>
          <a:xfrm>
            <a:off x="503548" y="4981717"/>
            <a:ext cx="328931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sz="2000" b="0" dirty="0"/>
              <a:t>注意：程序隐含是顺序执行的，在</a:t>
            </a:r>
            <a:r>
              <a:rPr lang="en-US" altLang="zh-CN" sz="2000" b="0" dirty="0"/>
              <a:t>THEN</a:t>
            </a:r>
            <a:r>
              <a:rPr lang="zh-CN" altLang="en-US" sz="2000" b="0" dirty="0"/>
              <a:t>分支体执行后，不会自动跳过</a:t>
            </a:r>
            <a:r>
              <a:rPr lang="en-US" altLang="zh-CN" sz="2000" b="0" dirty="0"/>
              <a:t>ELSE</a:t>
            </a:r>
            <a:r>
              <a:rPr lang="zh-CN" altLang="en-US" sz="2000" b="0" dirty="0"/>
              <a:t>分支体，而是继续执行其后的代码。</a:t>
            </a:r>
          </a:p>
        </p:txBody>
      </p:sp>
    </p:spTree>
    <p:extLst>
      <p:ext uri="{BB962C8B-B14F-4D97-AF65-F5344CB8AC3E}">
        <p14:creationId xmlns:p14="http://schemas.microsoft.com/office/powerpoint/2010/main" val="227888394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43" name="Text Box 7"/>
          <p:cNvSpPr txBox="1">
            <a:spLocks noChangeArrowheads="1"/>
          </p:cNvSpPr>
          <p:nvPr/>
        </p:nvSpPr>
        <p:spPr bwMode="auto">
          <a:xfrm>
            <a:off x="395288" y="944724"/>
            <a:ext cx="813715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CC0000"/>
                </a:solidFill>
              </a:rPr>
              <a:t>例：</a:t>
            </a:r>
            <a:r>
              <a:rPr lang="zh-CN" altLang="en-US" sz="2000" dirty="0">
                <a:latin typeface="楷体_GB2312" pitchFamily="49" charset="-122"/>
                <a:ea typeface="楷体_GB2312" pitchFamily="49" charset="-122"/>
              </a:rPr>
              <a:t>已知在内存中有一个字节单元</a:t>
            </a:r>
            <a:r>
              <a:rPr lang="en-US" altLang="zh-CN" sz="2000" dirty="0">
                <a:latin typeface="楷体_GB2312" pitchFamily="49" charset="-122"/>
                <a:ea typeface="楷体_GB2312" pitchFamily="49" charset="-122"/>
              </a:rPr>
              <a:t>NUM</a:t>
            </a:r>
            <a:r>
              <a:rPr lang="zh-CN" altLang="en-US" sz="2000" dirty="0">
                <a:latin typeface="楷体_GB2312" pitchFamily="49" charset="-122"/>
                <a:ea typeface="楷体_GB2312" pitchFamily="49" charset="-122"/>
              </a:rPr>
              <a:t>，存有带符号数据，要求计算出它的绝对值后，放入</a:t>
            </a:r>
            <a:r>
              <a:rPr lang="en-US" altLang="zh-CN" sz="2000" dirty="0">
                <a:latin typeface="楷体_GB2312" pitchFamily="49" charset="-122"/>
                <a:ea typeface="楷体_GB2312" pitchFamily="49" charset="-122"/>
              </a:rPr>
              <a:t>RESULT</a:t>
            </a:r>
            <a:r>
              <a:rPr lang="zh-CN" altLang="en-US" sz="2000" dirty="0">
                <a:latin typeface="楷体_GB2312" pitchFamily="49" charset="-122"/>
                <a:ea typeface="楷体_GB2312" pitchFamily="49" charset="-122"/>
              </a:rPr>
              <a:t>单元中。 </a:t>
            </a:r>
          </a:p>
        </p:txBody>
      </p:sp>
      <p:sp>
        <p:nvSpPr>
          <p:cNvPr id="91144" name="Rectangle 8"/>
          <p:cNvSpPr>
            <a:spLocks noChangeArrowheads="1"/>
          </p:cNvSpPr>
          <p:nvPr/>
        </p:nvSpPr>
        <p:spPr bwMode="auto">
          <a:xfrm>
            <a:off x="1662114" y="1688026"/>
            <a:ext cx="7056438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indent="269875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en-US" altLang="zh-CN" sz="1800" b="0" dirty="0"/>
              <a:t>DATA     SEGMENT</a:t>
            </a:r>
          </a:p>
          <a:p>
            <a:r>
              <a:rPr lang="en-US" altLang="zh-CN" sz="1800" b="0" dirty="0"/>
              <a:t>           X               DB       -25</a:t>
            </a:r>
          </a:p>
          <a:p>
            <a:r>
              <a:rPr lang="en-US" altLang="zh-CN" sz="1800" b="0" dirty="0"/>
              <a:t>           RESULT   DB       ?</a:t>
            </a:r>
          </a:p>
          <a:p>
            <a:r>
              <a:rPr lang="en-US" altLang="zh-CN" sz="1800" b="0" dirty="0"/>
              <a:t>DATA ENDS</a:t>
            </a:r>
          </a:p>
          <a:p>
            <a:r>
              <a:rPr lang="en-US" altLang="zh-CN" sz="1800" b="0" dirty="0"/>
              <a:t>CODE SEGMENT</a:t>
            </a:r>
          </a:p>
          <a:p>
            <a:r>
              <a:rPr lang="en-US" altLang="zh-CN" sz="1800" b="0" dirty="0"/>
              <a:t>      ASSUME   DS:DATA,CS:CODE</a:t>
            </a:r>
          </a:p>
          <a:p>
            <a:r>
              <a:rPr lang="en-US" altLang="zh-CN" sz="1800" b="0" dirty="0"/>
              <a:t>START:	MOV	AX, DATA</a:t>
            </a:r>
          </a:p>
          <a:p>
            <a:r>
              <a:rPr lang="en-US" altLang="zh-CN" sz="1800" b="0" dirty="0"/>
              <a:t>                           MOV	DS, AX                ;</a:t>
            </a:r>
            <a:r>
              <a:rPr lang="zh-CN" altLang="en-US" sz="1800" b="0" dirty="0"/>
              <a:t>初始化</a:t>
            </a:r>
          </a:p>
          <a:p>
            <a:r>
              <a:rPr lang="zh-CN" altLang="en-US" sz="1800" b="0" dirty="0"/>
              <a:t>                 	</a:t>
            </a:r>
            <a:r>
              <a:rPr lang="it-IT" altLang="zh-CN" sz="1800" b="0" dirty="0"/>
              <a:t>MOV	AL, X                   ;X</a:t>
            </a:r>
            <a:r>
              <a:rPr lang="zh-CN" altLang="it-IT" sz="1800" b="0" dirty="0"/>
              <a:t>取到</a:t>
            </a:r>
            <a:r>
              <a:rPr lang="it-IT" altLang="zh-CN" sz="1800" b="0" dirty="0"/>
              <a:t>AL</a:t>
            </a:r>
            <a:r>
              <a:rPr lang="zh-CN" altLang="it-IT" sz="1800" b="0" dirty="0"/>
              <a:t>中</a:t>
            </a:r>
          </a:p>
          <a:p>
            <a:r>
              <a:rPr lang="zh-CN" altLang="it-IT" sz="1800" b="0" dirty="0"/>
              <a:t>  		</a:t>
            </a:r>
            <a:r>
              <a:rPr lang="it-IT" altLang="zh-CN" sz="1800" b="0" dirty="0"/>
              <a:t>TEST	AL, 80H               ;</a:t>
            </a:r>
            <a:r>
              <a:rPr lang="zh-CN" altLang="it-IT" sz="1800" b="0" dirty="0"/>
              <a:t>测试</a:t>
            </a:r>
            <a:r>
              <a:rPr lang="it-IT" altLang="zh-CN" sz="1800" b="0" dirty="0"/>
              <a:t>AL</a:t>
            </a:r>
            <a:r>
              <a:rPr lang="zh-CN" altLang="it-IT" sz="1800" b="0" dirty="0"/>
              <a:t>正负</a:t>
            </a:r>
          </a:p>
          <a:p>
            <a:r>
              <a:rPr lang="zh-CN" altLang="it-IT" sz="1800" b="0" dirty="0"/>
              <a:t>  		</a:t>
            </a:r>
            <a:r>
              <a:rPr lang="it-IT" altLang="zh-CN" sz="1800" b="0" dirty="0"/>
              <a:t>JZ	NEXT                  ;</a:t>
            </a:r>
            <a:r>
              <a:rPr lang="zh-CN" altLang="it-IT" sz="1800" b="0" dirty="0"/>
              <a:t>为正，转</a:t>
            </a:r>
            <a:r>
              <a:rPr lang="it-IT" altLang="zh-CN" sz="1800" b="0" dirty="0"/>
              <a:t>NEXT</a:t>
            </a:r>
          </a:p>
          <a:p>
            <a:r>
              <a:rPr lang="it-IT" altLang="zh-CN" sz="1800" b="0" dirty="0"/>
              <a:t>                           NEG	AL                        ;</a:t>
            </a:r>
            <a:r>
              <a:rPr lang="zh-CN" altLang="it-IT" sz="1800" b="0" dirty="0"/>
              <a:t>否则</a:t>
            </a:r>
            <a:r>
              <a:rPr lang="it-IT" altLang="zh-CN" sz="1800" b="0" dirty="0"/>
              <a:t>AL</a:t>
            </a:r>
            <a:r>
              <a:rPr lang="zh-CN" altLang="it-IT" sz="1800" b="0" dirty="0"/>
              <a:t>求补</a:t>
            </a:r>
          </a:p>
          <a:p>
            <a:r>
              <a:rPr lang="it-IT" altLang="zh-CN" sz="1800" b="0" dirty="0"/>
              <a:t>NEXT:	MOV	RESULT, AL        ;</a:t>
            </a:r>
            <a:r>
              <a:rPr lang="zh-CN" altLang="it-IT" sz="1800" b="0" dirty="0"/>
              <a:t>送结果</a:t>
            </a:r>
          </a:p>
          <a:p>
            <a:r>
              <a:rPr lang="zh-CN" altLang="en-US" sz="1800" b="0" dirty="0"/>
              <a:t>                            </a:t>
            </a:r>
            <a:r>
              <a:rPr lang="en-US" altLang="zh-CN" sz="1800" b="0" dirty="0"/>
              <a:t>MOV	AH, 4CH</a:t>
            </a:r>
          </a:p>
          <a:p>
            <a:r>
              <a:rPr lang="en-US" altLang="zh-CN" sz="1800" b="0" dirty="0"/>
              <a:t>                            INT	21H                       ;</a:t>
            </a:r>
            <a:r>
              <a:rPr lang="zh-CN" altLang="en-US" sz="1800" b="0" dirty="0"/>
              <a:t>返回</a:t>
            </a:r>
            <a:r>
              <a:rPr lang="en-US" altLang="zh-CN" sz="1800" b="0" dirty="0"/>
              <a:t>DOS</a:t>
            </a:r>
          </a:p>
          <a:p>
            <a:r>
              <a:rPr lang="en-US" altLang="zh-CN" sz="1800" b="0" dirty="0"/>
              <a:t>CODE ENDS</a:t>
            </a:r>
          </a:p>
          <a:p>
            <a:r>
              <a:rPr lang="en-US" altLang="zh-CN" sz="1800" b="0" dirty="0"/>
              <a:t>     END      START		              ;</a:t>
            </a:r>
            <a:r>
              <a:rPr lang="zh-CN" altLang="en-US" sz="1800" b="0" dirty="0"/>
              <a:t>汇编结束   </a:t>
            </a:r>
          </a:p>
        </p:txBody>
      </p:sp>
      <p:sp>
        <p:nvSpPr>
          <p:cNvPr id="9" name="文本框 1"/>
          <p:cNvSpPr txBox="1"/>
          <p:nvPr/>
        </p:nvSpPr>
        <p:spPr>
          <a:xfrm>
            <a:off x="359532" y="317499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分枝结构程序设计</a:t>
            </a:r>
          </a:p>
        </p:txBody>
      </p:sp>
    </p:spTree>
    <p:extLst>
      <p:ext uri="{BB962C8B-B14F-4D97-AF65-F5344CB8AC3E}">
        <p14:creationId xmlns:p14="http://schemas.microsoft.com/office/powerpoint/2010/main" val="385174273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3548" y="1088740"/>
            <a:ext cx="8107052" cy="2514600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400" dirty="0">
                <a:latin typeface="宋体" charset="-122"/>
              </a:rPr>
              <a:t>多分枝结构：</a:t>
            </a:r>
            <a:endParaRPr lang="en-US" altLang="zh-CN" sz="2400" dirty="0">
              <a:latin typeface="宋体" charset="-122"/>
            </a:endParaRPr>
          </a:p>
          <a:p>
            <a:r>
              <a:rPr lang="zh-CN" altLang="en-US" sz="2000" dirty="0">
                <a:latin typeface="宋体" charset="-122"/>
              </a:rPr>
              <a:t>多分支结构是指有两个以上的分支。在程序设计时，有时要求对多个条件同时进行判断，根据判断的结果，可能有多个分支要进行处理。</a:t>
            </a:r>
          </a:p>
          <a:p>
            <a:r>
              <a:rPr lang="zh-CN" altLang="en-US" sz="2000" dirty="0">
                <a:latin typeface="宋体" charset="-122"/>
              </a:rPr>
              <a:t>在汇编语言中，多分支只能由多次使用单分支方式予以实现。</a:t>
            </a:r>
            <a:endParaRPr lang="en-US" altLang="zh-CN" sz="2000" dirty="0">
              <a:latin typeface="宋体" charset="-122"/>
            </a:endParaRPr>
          </a:p>
          <a:p>
            <a:r>
              <a:rPr lang="zh-CN" altLang="en-US" sz="2000" dirty="0"/>
              <a:t> 设计方法：</a:t>
            </a:r>
            <a:r>
              <a:rPr lang="zh-CN" altLang="en-US" sz="2000" dirty="0">
                <a:solidFill>
                  <a:srgbClr val="FF0000"/>
                </a:solidFill>
              </a:rPr>
              <a:t>双分支法、逻辑分解法、跳跃表法、转移表法</a:t>
            </a:r>
            <a:r>
              <a:rPr lang="zh-CN" altLang="en-US" sz="2000" dirty="0"/>
              <a:t>。</a:t>
            </a:r>
          </a:p>
        </p:txBody>
      </p:sp>
      <p:sp>
        <p:nvSpPr>
          <p:cNvPr id="7" name="文本框 1"/>
          <p:cNvSpPr txBox="1"/>
          <p:nvPr/>
        </p:nvSpPr>
        <p:spPr>
          <a:xfrm>
            <a:off x="359532" y="317499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分枝结构程序设计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8776814"/>
              </p:ext>
            </p:extLst>
          </p:nvPr>
        </p:nvGraphicFramePr>
        <p:xfrm>
          <a:off x="1799692" y="3392996"/>
          <a:ext cx="5638800" cy="3138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228" name="位图图像" r:id="rId3" imgW="3200000" imgH="1781424" progId="PBrush">
                  <p:embed/>
                </p:oleObj>
              </mc:Choice>
              <mc:Fallback>
                <p:oleObj name="位图图像" r:id="rId3" imgW="3200000" imgH="1781424" progId="PBrush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9692" y="3392996"/>
                        <a:ext cx="5638800" cy="3138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64657364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ChangeArrowheads="1"/>
          </p:cNvSpPr>
          <p:nvPr/>
        </p:nvSpPr>
        <p:spPr bwMode="auto">
          <a:xfrm>
            <a:off x="359532" y="1761204"/>
            <a:ext cx="4307396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b="0" dirty="0">
                <a:latin typeface="黑体" pitchFamily="2" charset="-122"/>
                <a:ea typeface="黑体" pitchFamily="2" charset="-122"/>
              </a:rPr>
              <a:t>例</a:t>
            </a:r>
            <a:r>
              <a:rPr kumimoji="1" lang="en-US" altLang="zh-CN" b="0" dirty="0">
                <a:latin typeface="黑体" pitchFamily="2" charset="-122"/>
                <a:ea typeface="黑体" pitchFamily="2" charset="-122"/>
              </a:rPr>
              <a:t>.</a:t>
            </a:r>
            <a:r>
              <a:rPr kumimoji="1" lang="zh-CN" altLang="en-US" b="0" dirty="0">
                <a:latin typeface="黑体" pitchFamily="2" charset="-122"/>
                <a:ea typeface="黑体" pitchFamily="2" charset="-122"/>
              </a:rPr>
              <a:t>实现符号函数</a:t>
            </a:r>
            <a:r>
              <a:rPr kumimoji="1" lang="en-US" altLang="zh-CN" b="0" dirty="0">
                <a:latin typeface="黑体" pitchFamily="2" charset="-122"/>
                <a:ea typeface="黑体" pitchFamily="2" charset="-122"/>
              </a:rPr>
              <a:t>Y</a:t>
            </a:r>
            <a:r>
              <a:rPr kumimoji="1" lang="zh-CN" altLang="en-US" b="0" dirty="0">
                <a:latin typeface="黑体" pitchFamily="2" charset="-122"/>
                <a:ea typeface="黑体" pitchFamily="2" charset="-122"/>
              </a:rPr>
              <a:t>的功能。</a:t>
            </a:r>
            <a:endParaRPr kumimoji="1" lang="en-US" altLang="zh-CN" b="0" dirty="0">
              <a:latin typeface="黑体" pitchFamily="2" charset="-122"/>
              <a:ea typeface="黑体" pitchFamily="2" charset="-122"/>
            </a:endParaRPr>
          </a:p>
          <a:p>
            <a:r>
              <a:rPr kumimoji="1" lang="en-US" altLang="zh-CN" b="0" dirty="0">
                <a:latin typeface="黑体" pitchFamily="2" charset="-122"/>
                <a:ea typeface="黑体" pitchFamily="2" charset="-122"/>
              </a:rPr>
              <a:t>      </a:t>
            </a:r>
            <a:r>
              <a:rPr kumimoji="1" lang="zh-CN" altLang="en-US" b="0" dirty="0">
                <a:latin typeface="黑体" pitchFamily="2" charset="-122"/>
                <a:ea typeface="黑体" pitchFamily="2" charset="-122"/>
              </a:rPr>
              <a:t>其中：</a:t>
            </a:r>
            <a:r>
              <a:rPr kumimoji="1" lang="en-US" altLang="zh-CN" b="0" dirty="0">
                <a:latin typeface="黑体" pitchFamily="2" charset="-122"/>
                <a:ea typeface="黑体" pitchFamily="2" charset="-122"/>
              </a:rPr>
              <a:t>-128≤X≤+127</a:t>
            </a:r>
          </a:p>
          <a:p>
            <a:endParaRPr kumimoji="1" lang="en-US" altLang="zh-CN" b="0" dirty="0">
              <a:latin typeface="黑体" pitchFamily="2" charset="-122"/>
              <a:ea typeface="黑体" pitchFamily="2" charset="-122"/>
            </a:endParaRPr>
          </a:p>
          <a:p>
            <a:endParaRPr kumimoji="1" lang="en-US" altLang="zh-CN" b="0" dirty="0">
              <a:latin typeface="黑体" pitchFamily="2" charset="-122"/>
              <a:ea typeface="黑体" pitchFamily="2" charset="-122"/>
            </a:endParaRPr>
          </a:p>
          <a:p>
            <a:endParaRPr kumimoji="1" lang="en-US" altLang="zh-CN" b="0" dirty="0">
              <a:latin typeface="黑体" pitchFamily="2" charset="-122"/>
              <a:ea typeface="黑体" pitchFamily="2" charset="-122"/>
            </a:endParaRPr>
          </a:p>
          <a:p>
            <a:endParaRPr kumimoji="1" lang="en-US" altLang="zh-CN" b="0" dirty="0">
              <a:latin typeface="黑体" pitchFamily="2" charset="-122"/>
              <a:ea typeface="黑体" pitchFamily="2" charset="-122"/>
            </a:endParaRPr>
          </a:p>
          <a:p>
            <a:endParaRPr kumimoji="1" lang="en-US" altLang="zh-CN" b="0" dirty="0">
              <a:latin typeface="黑体" pitchFamily="2" charset="-122"/>
              <a:ea typeface="黑体" pitchFamily="2" charset="-122"/>
            </a:endParaRPr>
          </a:p>
          <a:p>
            <a:endParaRPr kumimoji="1" lang="en-US" altLang="zh-CN" b="0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9711" name="Text Box 15"/>
          <p:cNvSpPr txBox="1">
            <a:spLocks noChangeArrowheads="1"/>
          </p:cNvSpPr>
          <p:nvPr/>
        </p:nvSpPr>
        <p:spPr bwMode="auto">
          <a:xfrm>
            <a:off x="539552" y="3088280"/>
            <a:ext cx="2916324" cy="20982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just" eaLnBrk="0" hangingPunct="0"/>
            <a:r>
              <a:rPr lang="en-US" altLang="zh-CN" b="0" dirty="0">
                <a:solidFill>
                  <a:schemeClr val="bg1"/>
                </a:solidFill>
                <a:latin typeface="宋体" panose="02010600030101010101" pitchFamily="2" charset="-122"/>
              </a:rPr>
              <a:t>      </a:t>
            </a:r>
            <a:r>
              <a:rPr lang="en-US" altLang="zh-CN" b="0" dirty="0">
                <a:latin typeface="宋体" panose="02010600030101010101" pitchFamily="2" charset="-122"/>
              </a:rPr>
              <a:t>1</a:t>
            </a:r>
            <a:r>
              <a:rPr lang="zh-CN" altLang="en-US" b="0" dirty="0">
                <a:latin typeface="宋体" panose="02010600030101010101" pitchFamily="2" charset="-122"/>
              </a:rPr>
              <a:t>当</a:t>
            </a:r>
            <a:r>
              <a:rPr lang="en-US" altLang="zh-CN" b="0" dirty="0">
                <a:latin typeface="宋体" panose="02010600030101010101" pitchFamily="2" charset="-122"/>
              </a:rPr>
              <a:t>X</a:t>
            </a:r>
            <a:r>
              <a:rPr lang="zh-CN" altLang="en-US" b="0" dirty="0">
                <a:latin typeface="宋体" panose="02010600030101010101" pitchFamily="2" charset="-122"/>
              </a:rPr>
              <a:t>＞</a:t>
            </a:r>
            <a:r>
              <a:rPr lang="en-US" altLang="zh-CN" b="0" dirty="0">
                <a:latin typeface="宋体" panose="02010600030101010101" pitchFamily="2" charset="-122"/>
              </a:rPr>
              <a:t>0</a:t>
            </a:r>
            <a:r>
              <a:rPr lang="zh-CN" altLang="en-US" b="0" dirty="0">
                <a:latin typeface="宋体" panose="02010600030101010101" pitchFamily="2" charset="-122"/>
              </a:rPr>
              <a:t>时</a:t>
            </a:r>
          </a:p>
          <a:p>
            <a:pPr algn="just" eaLnBrk="0" hangingPunct="0"/>
            <a:endParaRPr lang="zh-CN" altLang="en-US" b="0" dirty="0">
              <a:latin typeface="宋体" panose="02010600030101010101" pitchFamily="2" charset="-122"/>
            </a:endParaRPr>
          </a:p>
          <a:p>
            <a:pPr algn="just" eaLnBrk="0" hangingPunct="0"/>
            <a:r>
              <a:rPr lang="en-US" altLang="zh-CN" b="0" dirty="0">
                <a:latin typeface="宋体" panose="02010600030101010101" pitchFamily="2" charset="-122"/>
              </a:rPr>
              <a:t>Y</a:t>
            </a:r>
            <a:r>
              <a:rPr lang="zh-CN" altLang="en-US" b="0" dirty="0">
                <a:latin typeface="宋体" panose="02010600030101010101" pitchFamily="2" charset="-122"/>
              </a:rPr>
              <a:t>＝   </a:t>
            </a:r>
            <a:r>
              <a:rPr lang="en-US" altLang="zh-CN" b="0" dirty="0">
                <a:latin typeface="宋体" panose="02010600030101010101" pitchFamily="2" charset="-122"/>
              </a:rPr>
              <a:t>0</a:t>
            </a:r>
            <a:r>
              <a:rPr lang="zh-CN" altLang="en-US" b="0" dirty="0">
                <a:latin typeface="宋体" panose="02010600030101010101" pitchFamily="2" charset="-122"/>
              </a:rPr>
              <a:t>当</a:t>
            </a:r>
            <a:r>
              <a:rPr lang="en-US" altLang="zh-CN" b="0" dirty="0">
                <a:latin typeface="宋体" panose="02010600030101010101" pitchFamily="2" charset="-122"/>
              </a:rPr>
              <a:t>X</a:t>
            </a:r>
            <a:r>
              <a:rPr lang="zh-CN" altLang="en-US" b="0" dirty="0">
                <a:latin typeface="宋体" panose="02010600030101010101" pitchFamily="2" charset="-122"/>
              </a:rPr>
              <a:t>＝</a:t>
            </a:r>
            <a:r>
              <a:rPr lang="en-US" altLang="zh-CN" b="0" dirty="0">
                <a:latin typeface="宋体" panose="02010600030101010101" pitchFamily="2" charset="-122"/>
              </a:rPr>
              <a:t>0</a:t>
            </a:r>
            <a:r>
              <a:rPr lang="zh-CN" altLang="en-US" b="0" dirty="0">
                <a:latin typeface="宋体" panose="02010600030101010101" pitchFamily="2" charset="-122"/>
              </a:rPr>
              <a:t>时</a:t>
            </a:r>
          </a:p>
          <a:p>
            <a:pPr algn="just" eaLnBrk="0" hangingPunct="0"/>
            <a:r>
              <a:rPr lang="zh-CN" altLang="en-US" b="0" dirty="0">
                <a:latin typeface="宋体" panose="02010600030101010101" pitchFamily="2" charset="-122"/>
              </a:rPr>
              <a:t>      </a:t>
            </a:r>
          </a:p>
          <a:p>
            <a:pPr algn="just" eaLnBrk="0" hangingPunct="0"/>
            <a:r>
              <a:rPr lang="zh-CN" altLang="en-US" b="0" dirty="0">
                <a:latin typeface="宋体" panose="02010600030101010101" pitchFamily="2" charset="-122"/>
              </a:rPr>
              <a:t>      </a:t>
            </a:r>
            <a:r>
              <a:rPr lang="en-US" altLang="zh-CN" b="0" dirty="0">
                <a:latin typeface="宋体" panose="02010600030101010101" pitchFamily="2" charset="-122"/>
              </a:rPr>
              <a:t>-1</a:t>
            </a:r>
            <a:r>
              <a:rPr lang="zh-CN" altLang="en-US" b="0" dirty="0">
                <a:latin typeface="宋体" panose="02010600030101010101" pitchFamily="2" charset="-122"/>
              </a:rPr>
              <a:t>当</a:t>
            </a:r>
            <a:r>
              <a:rPr lang="en-US" altLang="zh-CN" b="0" dirty="0">
                <a:latin typeface="宋体" panose="02010600030101010101" pitchFamily="2" charset="-122"/>
              </a:rPr>
              <a:t>X</a:t>
            </a:r>
            <a:r>
              <a:rPr lang="zh-CN" altLang="en-US" b="0" dirty="0">
                <a:latin typeface="宋体" panose="02010600030101010101" pitchFamily="2" charset="-122"/>
              </a:rPr>
              <a:t>＜</a:t>
            </a:r>
            <a:r>
              <a:rPr lang="en-US" altLang="zh-CN" b="0" dirty="0">
                <a:latin typeface="宋体" panose="02010600030101010101" pitchFamily="2" charset="-122"/>
              </a:rPr>
              <a:t>0</a:t>
            </a:r>
            <a:r>
              <a:rPr lang="zh-CN" altLang="en-US" b="0" dirty="0">
                <a:latin typeface="宋体" panose="02010600030101010101" pitchFamily="2" charset="-122"/>
              </a:rPr>
              <a:t>时</a:t>
            </a:r>
          </a:p>
        </p:txBody>
      </p:sp>
      <p:sp>
        <p:nvSpPr>
          <p:cNvPr id="29720" name="AutoShape 24"/>
          <p:cNvSpPr>
            <a:spLocks/>
          </p:cNvSpPr>
          <p:nvPr/>
        </p:nvSpPr>
        <p:spPr bwMode="auto">
          <a:xfrm>
            <a:off x="1115616" y="3088280"/>
            <a:ext cx="176213" cy="1872208"/>
          </a:xfrm>
          <a:prstGeom prst="leftBrace">
            <a:avLst>
              <a:gd name="adj1" fmla="val 108108"/>
              <a:gd name="adj2" fmla="val 50694"/>
            </a:avLst>
          </a:prstGeom>
          <a:noFill/>
          <a:ln w="412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zh-CN"/>
          </a:p>
        </p:txBody>
      </p:sp>
      <p:sp>
        <p:nvSpPr>
          <p:cNvPr id="6" name="文本框 1"/>
          <p:cNvSpPr txBox="1"/>
          <p:nvPr/>
        </p:nvSpPr>
        <p:spPr>
          <a:xfrm>
            <a:off x="359532" y="317499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分枝结构程序设计</a:t>
            </a: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3555804" y="3109024"/>
            <a:ext cx="5372680" cy="341632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indent="2667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just" eaLnBrk="0" hangingPunct="0"/>
            <a:r>
              <a:rPr lang="zh-CN" altLang="en-US" sz="1800" b="0" dirty="0">
                <a:solidFill>
                  <a:srgbClr val="FF0000"/>
                </a:solidFill>
                <a:latin typeface="+mn-lt"/>
                <a:ea typeface="黑体" pitchFamily="2" charset="-122"/>
              </a:rPr>
              <a:t>代码：</a:t>
            </a:r>
            <a:endParaRPr lang="en-US" altLang="zh-CN" sz="1800" b="0" dirty="0">
              <a:solidFill>
                <a:srgbClr val="FF0000"/>
              </a:solidFill>
              <a:latin typeface="+mn-lt"/>
              <a:ea typeface="黑体" pitchFamily="2" charset="-122"/>
            </a:endParaRPr>
          </a:p>
          <a:p>
            <a:pPr algn="just" eaLnBrk="0" hangingPunct="0"/>
            <a:r>
              <a:rPr lang="en-US" altLang="zh-CN" sz="1800" b="0" dirty="0">
                <a:latin typeface="+mn-lt"/>
                <a:ea typeface="黑体" pitchFamily="2" charset="-122"/>
              </a:rPr>
              <a:t>X	DB	</a:t>
            </a:r>
            <a:r>
              <a:rPr lang="zh-CN" altLang="en-US" sz="1800" b="0" dirty="0">
                <a:latin typeface="+mn-lt"/>
                <a:ea typeface="黑体" pitchFamily="2" charset="-122"/>
              </a:rPr>
              <a:t>？	</a:t>
            </a:r>
            <a:r>
              <a:rPr lang="en-US" altLang="zh-CN" sz="1800" b="0" dirty="0">
                <a:latin typeface="+mn-lt"/>
                <a:ea typeface="黑体" pitchFamily="2" charset="-122"/>
              </a:rPr>
              <a:t>	;</a:t>
            </a:r>
            <a:r>
              <a:rPr lang="zh-CN" altLang="en-US" sz="1800" b="0" dirty="0">
                <a:latin typeface="+mn-lt"/>
                <a:ea typeface="黑体" pitchFamily="2" charset="-122"/>
              </a:rPr>
              <a:t>被测数据</a:t>
            </a:r>
          </a:p>
          <a:p>
            <a:pPr algn="just" eaLnBrk="0" hangingPunct="0"/>
            <a:r>
              <a:rPr lang="en-US" altLang="zh-CN" sz="1800" b="0" dirty="0">
                <a:latin typeface="+mn-lt"/>
                <a:ea typeface="黑体" pitchFamily="2" charset="-122"/>
              </a:rPr>
              <a:t>Y	DB  	</a:t>
            </a:r>
            <a:r>
              <a:rPr lang="zh-CN" altLang="en-US" sz="1800" b="0" dirty="0">
                <a:latin typeface="+mn-lt"/>
                <a:ea typeface="黑体" pitchFamily="2" charset="-122"/>
              </a:rPr>
              <a:t>？		</a:t>
            </a:r>
            <a:r>
              <a:rPr lang="en-US" altLang="zh-CN" sz="1800" b="0" dirty="0">
                <a:latin typeface="+mn-lt"/>
                <a:ea typeface="黑体" pitchFamily="2" charset="-122"/>
              </a:rPr>
              <a:t>;</a:t>
            </a:r>
            <a:r>
              <a:rPr lang="zh-CN" altLang="en-US" sz="1800" b="0" dirty="0">
                <a:latin typeface="+mn-lt"/>
                <a:ea typeface="黑体" pitchFamily="2" charset="-122"/>
              </a:rPr>
              <a:t>函数值单元</a:t>
            </a:r>
            <a:endParaRPr lang="en-US" altLang="zh-CN" sz="1800" b="0" dirty="0">
              <a:latin typeface="+mn-lt"/>
              <a:ea typeface="黑体" pitchFamily="2" charset="-122"/>
            </a:endParaRPr>
          </a:p>
          <a:p>
            <a:pPr algn="just" eaLnBrk="0" hangingPunct="0"/>
            <a:r>
              <a:rPr lang="en-US" altLang="zh-CN" sz="1800" b="0" dirty="0">
                <a:latin typeface="+mn-lt"/>
                <a:ea typeface="黑体" pitchFamily="2" charset="-122"/>
              </a:rPr>
              <a:t>…</a:t>
            </a:r>
            <a:endParaRPr lang="zh-CN" altLang="en-US" sz="1800" b="0" dirty="0">
              <a:latin typeface="+mn-lt"/>
              <a:ea typeface="黑体" pitchFamily="2" charset="-122"/>
            </a:endParaRPr>
          </a:p>
          <a:p>
            <a:pPr algn="just" eaLnBrk="0" hangingPunct="0"/>
            <a:r>
              <a:rPr lang="zh-CN" altLang="en-US" sz="1800" b="0" dirty="0">
                <a:latin typeface="+mn-lt"/>
                <a:ea typeface="黑体" pitchFamily="2" charset="-122"/>
              </a:rPr>
              <a:t>	</a:t>
            </a:r>
            <a:r>
              <a:rPr lang="en-US" altLang="zh-CN" sz="1800" b="0" dirty="0">
                <a:latin typeface="+mn-lt"/>
                <a:ea typeface="黑体" pitchFamily="2" charset="-122"/>
              </a:rPr>
              <a:t>MOV	AL, 0</a:t>
            </a:r>
          </a:p>
          <a:p>
            <a:pPr algn="just" eaLnBrk="0" hangingPunct="0"/>
            <a:r>
              <a:rPr lang="en-US" altLang="zh-CN" sz="1800" b="0" dirty="0">
                <a:latin typeface="+mn-lt"/>
                <a:ea typeface="黑体" pitchFamily="2" charset="-122"/>
              </a:rPr>
              <a:t>	CMP	X, AL</a:t>
            </a:r>
          </a:p>
          <a:p>
            <a:pPr algn="just" eaLnBrk="0" hangingPunct="0"/>
            <a:r>
              <a:rPr lang="en-US" altLang="zh-CN" sz="1800" b="0" dirty="0">
                <a:latin typeface="+mn-lt"/>
                <a:ea typeface="黑体" pitchFamily="2" charset="-122"/>
              </a:rPr>
              <a:t>	JG	BIG</a:t>
            </a:r>
          </a:p>
          <a:p>
            <a:pPr algn="just" eaLnBrk="0" hangingPunct="0"/>
            <a:r>
              <a:rPr lang="en-US" altLang="zh-CN" sz="1800" b="0" dirty="0">
                <a:latin typeface="+mn-lt"/>
                <a:ea typeface="黑体" pitchFamily="2" charset="-122"/>
              </a:rPr>
              <a:t>	JZ	SAV		;</a:t>
            </a:r>
            <a:r>
              <a:rPr lang="zh-CN" altLang="en-US" sz="1800" b="0" dirty="0">
                <a:latin typeface="+mn-lt"/>
                <a:ea typeface="黑体" pitchFamily="2" charset="-122"/>
              </a:rPr>
              <a:t>等于</a:t>
            </a:r>
            <a:r>
              <a:rPr lang="en-US" altLang="zh-CN" sz="1800" b="0" dirty="0">
                <a:latin typeface="+mn-lt"/>
                <a:ea typeface="黑体" pitchFamily="2" charset="-122"/>
              </a:rPr>
              <a:t>0</a:t>
            </a:r>
          </a:p>
          <a:p>
            <a:pPr algn="just" eaLnBrk="0" hangingPunct="0"/>
            <a:r>
              <a:rPr lang="en-US" altLang="zh-CN" sz="1800" b="0" dirty="0">
                <a:latin typeface="+mn-lt"/>
                <a:ea typeface="黑体" pitchFamily="2" charset="-122"/>
              </a:rPr>
              <a:t>	MOV	AL, 0FFH	;</a:t>
            </a:r>
            <a:r>
              <a:rPr lang="zh-CN" altLang="en-US" sz="1800" b="0" dirty="0">
                <a:latin typeface="+mn-lt"/>
                <a:ea typeface="黑体" pitchFamily="2" charset="-122"/>
              </a:rPr>
              <a:t>小于</a:t>
            </a:r>
            <a:r>
              <a:rPr lang="en-US" altLang="zh-CN" sz="1800" b="0" dirty="0">
                <a:latin typeface="+mn-lt"/>
                <a:ea typeface="黑体" pitchFamily="2" charset="-122"/>
              </a:rPr>
              <a:t>0</a:t>
            </a:r>
          </a:p>
          <a:p>
            <a:pPr algn="just" eaLnBrk="0" hangingPunct="0"/>
            <a:r>
              <a:rPr lang="en-US" altLang="zh-CN" sz="1800" b="0" dirty="0">
                <a:solidFill>
                  <a:schemeClr val="bg1"/>
                </a:solidFill>
                <a:latin typeface="+mn-lt"/>
                <a:ea typeface="黑体" pitchFamily="2" charset="-122"/>
              </a:rPr>
              <a:t>	</a:t>
            </a:r>
            <a:r>
              <a:rPr lang="en-US" altLang="zh-CN" sz="1800" b="0" dirty="0">
                <a:solidFill>
                  <a:srgbClr val="FF0000"/>
                </a:solidFill>
                <a:latin typeface="+mn-lt"/>
                <a:ea typeface="黑体" pitchFamily="2" charset="-122"/>
              </a:rPr>
              <a:t>JMP  	SAV</a:t>
            </a:r>
          </a:p>
          <a:p>
            <a:pPr algn="just" eaLnBrk="0" hangingPunct="0"/>
            <a:r>
              <a:rPr lang="en-US" altLang="zh-CN" sz="1800" b="0" dirty="0">
                <a:latin typeface="+mn-lt"/>
                <a:ea typeface="黑体" pitchFamily="2" charset="-122"/>
              </a:rPr>
              <a:t>BIG:	MOV	AL, 1		;</a:t>
            </a:r>
            <a:r>
              <a:rPr lang="zh-CN" altLang="en-US" sz="1800" b="0" dirty="0">
                <a:latin typeface="+mn-lt"/>
                <a:ea typeface="黑体" pitchFamily="2" charset="-122"/>
              </a:rPr>
              <a:t>大于</a:t>
            </a:r>
            <a:r>
              <a:rPr lang="en-US" altLang="zh-CN" sz="1800" b="0" dirty="0">
                <a:latin typeface="+mn-lt"/>
                <a:ea typeface="黑体" pitchFamily="2" charset="-122"/>
              </a:rPr>
              <a:t>0</a:t>
            </a:r>
          </a:p>
          <a:p>
            <a:pPr algn="just" eaLnBrk="0" hangingPunct="0"/>
            <a:r>
              <a:rPr lang="en-US" altLang="zh-CN" sz="1800" b="0" dirty="0">
                <a:latin typeface="+mn-lt"/>
                <a:ea typeface="黑体" pitchFamily="2" charset="-122"/>
              </a:rPr>
              <a:t>SAV:	MOV	Y, AL		;</a:t>
            </a:r>
            <a:r>
              <a:rPr lang="zh-CN" altLang="en-US" sz="1800" b="0" dirty="0">
                <a:latin typeface="+mn-lt"/>
                <a:ea typeface="黑体" pitchFamily="2" charset="-122"/>
              </a:rPr>
              <a:t>保存结果</a:t>
            </a:r>
            <a:endParaRPr lang="en-US" altLang="zh-CN" sz="1800" dirty="0">
              <a:latin typeface="+mn-lt"/>
              <a:ea typeface="黑体" pitchFamily="2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79820" y="1073931"/>
            <a:ext cx="63722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双分支法：由多个双分支实现多分枝程序设计</a:t>
            </a:r>
          </a:p>
        </p:txBody>
      </p:sp>
    </p:spTree>
    <p:extLst>
      <p:ext uri="{BB962C8B-B14F-4D97-AF65-F5344CB8AC3E}">
        <p14:creationId xmlns:p14="http://schemas.microsoft.com/office/powerpoint/2010/main" val="951520879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68" name="Rectangle 36"/>
          <p:cNvSpPr>
            <a:spLocks noChangeArrowheads="1"/>
          </p:cNvSpPr>
          <p:nvPr/>
        </p:nvSpPr>
        <p:spPr bwMode="auto">
          <a:xfrm>
            <a:off x="468313" y="908050"/>
            <a:ext cx="806412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逻辑分解</a:t>
            </a:r>
            <a:r>
              <a:rPr lang="zh-CN" altLang="en-US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法：</a:t>
            </a:r>
            <a:r>
              <a:rPr lang="zh-CN" altLang="en-US" dirty="0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rPr>
              <a:t>按条件成立的先后，依次逻辑分解成下图所示的一串双分支结构，然后使用双分支的方法来进行程序设计。</a:t>
            </a:r>
            <a:endParaRPr lang="zh-CN" altLang="en-US" b="1" dirty="0">
              <a:solidFill>
                <a:srgbClr val="CC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4" name="文本框 1"/>
          <p:cNvSpPr txBox="1"/>
          <p:nvPr/>
        </p:nvSpPr>
        <p:spPr>
          <a:xfrm>
            <a:off x="359532" y="317499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分枝结构程序设计</a:t>
            </a:r>
          </a:p>
        </p:txBody>
      </p:sp>
      <p:pic>
        <p:nvPicPr>
          <p:cNvPr id="962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2492896"/>
            <a:ext cx="5126124" cy="35352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2129929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1"/>
          <p:cNvSpPr txBox="1"/>
          <p:nvPr/>
        </p:nvSpPr>
        <p:spPr>
          <a:xfrm>
            <a:off x="359532" y="317499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分枝结构程序设计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479537" y="1016732"/>
            <a:ext cx="792011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/>
            <a:r>
              <a:rPr lang="zh-CN" altLang="en-US" sz="20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例：根据输入值（</a:t>
            </a:r>
            <a:r>
              <a:rPr lang="en-US" altLang="zh-CN" sz="20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0-4</a:t>
            </a:r>
            <a:r>
              <a:rPr lang="zh-CN" altLang="en-US" sz="20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）的不同，执行不同的操作。</a:t>
            </a:r>
            <a:endParaRPr lang="zh-CN" altLang="en-US" sz="2000" b="1" dirty="0"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972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664804"/>
            <a:ext cx="6747471" cy="4796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74788456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727684" y="1448780"/>
            <a:ext cx="5940660" cy="36724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r>
              <a:rPr lang="zh-CN" altLang="en-US" sz="2800" b="1" dirty="0">
                <a:solidFill>
                  <a:srgbClr val="800000"/>
                </a:solidFill>
              </a:rPr>
              <a:t>第</a:t>
            </a:r>
            <a:r>
              <a:rPr lang="en-US" altLang="zh-CN" sz="2800" dirty="0">
                <a:solidFill>
                  <a:srgbClr val="800000"/>
                </a:solidFill>
              </a:rPr>
              <a:t>5</a:t>
            </a:r>
            <a:r>
              <a:rPr lang="zh-CN" altLang="en-US" sz="2800" dirty="0">
                <a:solidFill>
                  <a:srgbClr val="800000"/>
                </a:solidFill>
              </a:rPr>
              <a:t>讲作业：</a:t>
            </a:r>
            <a:endParaRPr lang="en-US" altLang="zh-CN" sz="2800" dirty="0">
              <a:solidFill>
                <a:srgbClr val="800000"/>
              </a:solidFill>
            </a:endParaRPr>
          </a:p>
          <a:p>
            <a:endParaRPr lang="en-US" altLang="zh-CN" sz="2800" dirty="0">
              <a:solidFill>
                <a:srgbClr val="800000"/>
              </a:solidFill>
            </a:endParaRPr>
          </a:p>
          <a:p>
            <a:r>
              <a:rPr lang="en-US" altLang="zh-CN" sz="2800" dirty="0">
                <a:solidFill>
                  <a:srgbClr val="800000"/>
                </a:solidFill>
              </a:rPr>
              <a:t>	</a:t>
            </a:r>
            <a:r>
              <a:rPr lang="fr-FR" altLang="zh-CN" sz="2800" dirty="0">
                <a:solidFill>
                  <a:srgbClr val="800000"/>
                </a:solidFill>
              </a:rPr>
              <a:t> Page 193 -194</a:t>
            </a:r>
            <a:r>
              <a:rPr lang="zh-CN" altLang="en-US" sz="2800" dirty="0">
                <a:solidFill>
                  <a:srgbClr val="800000"/>
                </a:solidFill>
              </a:rPr>
              <a:t>：</a:t>
            </a:r>
            <a:r>
              <a:rPr lang="en-US" altLang="zh-CN" sz="2800" dirty="0">
                <a:solidFill>
                  <a:srgbClr val="800000"/>
                </a:solidFill>
              </a:rPr>
              <a:t>5.19</a:t>
            </a:r>
          </a:p>
          <a:p>
            <a:endParaRPr lang="en-US" altLang="zh-CN" sz="2800" b="1" dirty="0">
              <a:solidFill>
                <a:srgbClr val="800000"/>
              </a:solidFill>
            </a:endParaRPr>
          </a:p>
          <a:p>
            <a:r>
              <a:rPr lang="zh-CN" altLang="en-US" sz="2800" dirty="0">
                <a:solidFill>
                  <a:srgbClr val="FF0000"/>
                </a:solidFill>
              </a:rPr>
              <a:t>后面的例题感兴趣的同学可自学！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25065" y="1007902"/>
            <a:ext cx="8017669" cy="32766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zh-TW" sz="2400" dirty="0"/>
              <a:t>【</a:t>
            </a:r>
            <a:r>
              <a:rPr lang="zh-CN" altLang="en-US" sz="2400" dirty="0"/>
              <a:t>例</a:t>
            </a:r>
            <a:r>
              <a:rPr lang="en-US" altLang="zh-CN" sz="2400" dirty="0"/>
              <a:t>5.2</a:t>
            </a:r>
            <a:r>
              <a:rPr lang="zh-CN" altLang="zh-CN" sz="2400" dirty="0"/>
              <a:t>】</a:t>
            </a:r>
            <a:r>
              <a:rPr lang="zh-CN" altLang="en-US" sz="2400" dirty="0"/>
              <a:t>在</a:t>
            </a:r>
            <a:r>
              <a:rPr lang="en-US" altLang="zh-CN" sz="2400" dirty="0"/>
              <a:t>Y</a:t>
            </a:r>
            <a:r>
              <a:rPr lang="zh-CN" altLang="en-US" sz="2400" dirty="0"/>
              <a:t>中存放着</a:t>
            </a:r>
            <a:r>
              <a:rPr lang="en-US" altLang="zh-CN" sz="2400" dirty="0"/>
              <a:t>16</a:t>
            </a:r>
            <a:r>
              <a:rPr lang="zh-CN" altLang="en-US" sz="2400" dirty="0"/>
              <a:t>位数，试编制一个程序把</a:t>
            </a:r>
            <a:r>
              <a:rPr lang="en-US" altLang="zh-CN" sz="2400" dirty="0"/>
              <a:t>Y</a:t>
            </a:r>
            <a:r>
              <a:rPr lang="zh-CN" altLang="en-US" sz="2400" dirty="0"/>
              <a:t>中</a:t>
            </a:r>
            <a:r>
              <a:rPr lang="en-US" altLang="zh-CN" sz="2400" dirty="0"/>
              <a:t>1</a:t>
            </a:r>
            <a:r>
              <a:rPr lang="zh-CN" altLang="en-US" sz="2400" dirty="0"/>
              <a:t>的个数存入</a:t>
            </a:r>
            <a:r>
              <a:rPr lang="en-US" altLang="zh-CN" sz="2400" dirty="0"/>
              <a:t>COUNT</a:t>
            </a:r>
            <a:r>
              <a:rPr lang="zh-CN" altLang="en-US" sz="2400" dirty="0"/>
              <a:t>单元中。</a:t>
            </a:r>
          </a:p>
        </p:txBody>
      </p:sp>
      <p:grpSp>
        <p:nvGrpSpPr>
          <p:cNvPr id="2" name="Group 38"/>
          <p:cNvGrpSpPr>
            <a:grpSpLocks/>
          </p:cNvGrpSpPr>
          <p:nvPr/>
        </p:nvGrpSpPr>
        <p:grpSpPr bwMode="auto">
          <a:xfrm>
            <a:off x="2958465" y="1947863"/>
            <a:ext cx="3886200" cy="4679950"/>
            <a:chOff x="2928" y="700"/>
            <a:chExt cx="2448" cy="2948"/>
          </a:xfrm>
        </p:grpSpPr>
        <p:sp>
          <p:nvSpPr>
            <p:cNvPr id="15365" name="AutoShape 5"/>
            <p:cNvSpPr>
              <a:spLocks noChangeArrowheads="1"/>
            </p:cNvSpPr>
            <p:nvPr/>
          </p:nvSpPr>
          <p:spPr bwMode="auto">
            <a:xfrm>
              <a:off x="3552" y="720"/>
              <a:ext cx="576" cy="192"/>
            </a:xfrm>
            <a:prstGeom prst="flowChartTerminator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366" name="Text Box 6"/>
            <p:cNvSpPr txBox="1">
              <a:spLocks noChangeArrowheads="1"/>
            </p:cNvSpPr>
            <p:nvPr/>
          </p:nvSpPr>
          <p:spPr bwMode="auto">
            <a:xfrm>
              <a:off x="3648" y="700"/>
              <a:ext cx="43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1600" b="1"/>
                <a:t>开始</a:t>
              </a:r>
            </a:p>
          </p:txBody>
        </p:sp>
        <p:sp>
          <p:nvSpPr>
            <p:cNvPr id="15367" name="AutoShape 7"/>
            <p:cNvSpPr>
              <a:spLocks noChangeArrowheads="1"/>
            </p:cNvSpPr>
            <p:nvPr/>
          </p:nvSpPr>
          <p:spPr bwMode="auto">
            <a:xfrm>
              <a:off x="4608" y="2496"/>
              <a:ext cx="576" cy="192"/>
            </a:xfrm>
            <a:prstGeom prst="flowChartTerminator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368" name="Text Box 8"/>
            <p:cNvSpPr txBox="1">
              <a:spLocks noChangeArrowheads="1"/>
            </p:cNvSpPr>
            <p:nvPr/>
          </p:nvSpPr>
          <p:spPr bwMode="auto">
            <a:xfrm>
              <a:off x="4704" y="2476"/>
              <a:ext cx="43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1600" b="1"/>
                <a:t>结束</a:t>
              </a:r>
            </a:p>
          </p:txBody>
        </p:sp>
        <p:sp>
          <p:nvSpPr>
            <p:cNvPr id="15369" name="Text Box 9"/>
            <p:cNvSpPr txBox="1">
              <a:spLocks noChangeArrowheads="1"/>
            </p:cNvSpPr>
            <p:nvPr/>
          </p:nvSpPr>
          <p:spPr bwMode="auto">
            <a:xfrm>
              <a:off x="3024" y="1074"/>
              <a:ext cx="1632" cy="21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1600" b="1" dirty="0"/>
                <a:t>初始化</a:t>
              </a:r>
              <a:r>
                <a:rPr lang="en-US" altLang="zh-CN" sz="1600" b="1" dirty="0"/>
                <a:t>CX=0</a:t>
              </a:r>
            </a:p>
          </p:txBody>
        </p:sp>
        <p:sp>
          <p:nvSpPr>
            <p:cNvPr id="15370" name="Text Box 11"/>
            <p:cNvSpPr txBox="1">
              <a:spLocks noChangeArrowheads="1"/>
            </p:cNvSpPr>
            <p:nvPr/>
          </p:nvSpPr>
          <p:spPr bwMode="auto">
            <a:xfrm>
              <a:off x="3360" y="2806"/>
              <a:ext cx="960" cy="21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600" b="1" dirty="0"/>
                <a:t>CX=CX+1</a:t>
              </a:r>
            </a:p>
          </p:txBody>
        </p:sp>
        <p:sp>
          <p:nvSpPr>
            <p:cNvPr id="15371" name="Text Box 12"/>
            <p:cNvSpPr txBox="1">
              <a:spLocks noChangeArrowheads="1"/>
            </p:cNvSpPr>
            <p:nvPr/>
          </p:nvSpPr>
          <p:spPr bwMode="auto">
            <a:xfrm>
              <a:off x="3360" y="3216"/>
              <a:ext cx="960" cy="21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600" b="1" dirty="0"/>
                <a:t>Y</a:t>
              </a:r>
              <a:r>
                <a:rPr lang="zh-CN" altLang="en-US" sz="1600" b="1" dirty="0"/>
                <a:t>逻辑左移</a:t>
              </a:r>
              <a:r>
                <a:rPr lang="en-US" altLang="zh-CN" sz="1600" b="1" dirty="0"/>
                <a:t>1</a:t>
              </a:r>
              <a:r>
                <a:rPr lang="zh-CN" altLang="en-US" sz="1600" b="1" dirty="0"/>
                <a:t>位</a:t>
              </a:r>
            </a:p>
          </p:txBody>
        </p:sp>
        <p:sp>
          <p:nvSpPr>
            <p:cNvPr id="15372" name="AutoShape 13"/>
            <p:cNvSpPr>
              <a:spLocks noChangeArrowheads="1"/>
            </p:cNvSpPr>
            <p:nvPr/>
          </p:nvSpPr>
          <p:spPr bwMode="auto">
            <a:xfrm>
              <a:off x="3408" y="2112"/>
              <a:ext cx="864" cy="480"/>
            </a:xfrm>
            <a:prstGeom prst="flowChartDecision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373" name="Text Box 14"/>
            <p:cNvSpPr txBox="1">
              <a:spLocks noChangeArrowheads="1"/>
            </p:cNvSpPr>
            <p:nvPr/>
          </p:nvSpPr>
          <p:spPr bwMode="auto">
            <a:xfrm>
              <a:off x="3648" y="2256"/>
              <a:ext cx="4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lang="en-US" altLang="zh-CN" sz="1600" b="1"/>
                <a:t>Y=-</a:t>
              </a:r>
              <a:r>
                <a:rPr lang="zh-CN" altLang="en-US" sz="1600" b="1"/>
                <a:t>？</a:t>
              </a:r>
            </a:p>
          </p:txBody>
        </p:sp>
        <p:sp>
          <p:nvSpPr>
            <p:cNvPr id="15374" name="Line 15"/>
            <p:cNvSpPr>
              <a:spLocks noChangeShapeType="1"/>
            </p:cNvSpPr>
            <p:nvPr/>
          </p:nvSpPr>
          <p:spPr bwMode="auto">
            <a:xfrm>
              <a:off x="3840" y="91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5" name="Line 16"/>
            <p:cNvSpPr>
              <a:spLocks noChangeShapeType="1"/>
            </p:cNvSpPr>
            <p:nvPr/>
          </p:nvSpPr>
          <p:spPr bwMode="auto">
            <a:xfrm>
              <a:off x="3840" y="129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6" name="Line 17"/>
            <p:cNvSpPr>
              <a:spLocks noChangeShapeType="1"/>
            </p:cNvSpPr>
            <p:nvPr/>
          </p:nvSpPr>
          <p:spPr bwMode="auto">
            <a:xfrm>
              <a:off x="3840" y="196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7" name="Line 18"/>
            <p:cNvSpPr>
              <a:spLocks noChangeShapeType="1"/>
            </p:cNvSpPr>
            <p:nvPr/>
          </p:nvSpPr>
          <p:spPr bwMode="auto">
            <a:xfrm>
              <a:off x="3840" y="259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8" name="Line 19"/>
            <p:cNvSpPr>
              <a:spLocks noChangeShapeType="1"/>
            </p:cNvSpPr>
            <p:nvPr/>
          </p:nvSpPr>
          <p:spPr bwMode="auto">
            <a:xfrm>
              <a:off x="3840" y="302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9" name="Line 20"/>
            <p:cNvSpPr>
              <a:spLocks noChangeShapeType="1"/>
            </p:cNvSpPr>
            <p:nvPr/>
          </p:nvSpPr>
          <p:spPr bwMode="auto">
            <a:xfrm>
              <a:off x="4896" y="1728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0" name="Line 21"/>
            <p:cNvSpPr>
              <a:spLocks noChangeShapeType="1"/>
            </p:cNvSpPr>
            <p:nvPr/>
          </p:nvSpPr>
          <p:spPr bwMode="auto">
            <a:xfrm>
              <a:off x="3840" y="345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1" name="Line 22"/>
            <p:cNvSpPr>
              <a:spLocks noChangeShapeType="1"/>
            </p:cNvSpPr>
            <p:nvPr/>
          </p:nvSpPr>
          <p:spPr bwMode="auto">
            <a:xfrm>
              <a:off x="4896" y="230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2" name="Line 23"/>
            <p:cNvSpPr>
              <a:spLocks noChangeShapeType="1"/>
            </p:cNvSpPr>
            <p:nvPr/>
          </p:nvSpPr>
          <p:spPr bwMode="auto">
            <a:xfrm flipH="1">
              <a:off x="2928" y="3648"/>
              <a:ext cx="9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3" name="Line 24"/>
            <p:cNvSpPr>
              <a:spLocks noChangeShapeType="1"/>
            </p:cNvSpPr>
            <p:nvPr/>
          </p:nvSpPr>
          <p:spPr bwMode="auto">
            <a:xfrm flipH="1">
              <a:off x="2928" y="1392"/>
              <a:ext cx="0" cy="2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4" name="Line 25"/>
            <p:cNvSpPr>
              <a:spLocks noChangeShapeType="1"/>
            </p:cNvSpPr>
            <p:nvPr/>
          </p:nvSpPr>
          <p:spPr bwMode="auto">
            <a:xfrm flipH="1">
              <a:off x="2928" y="1392"/>
              <a:ext cx="9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5" name="Line 26"/>
            <p:cNvSpPr>
              <a:spLocks noChangeShapeType="1"/>
            </p:cNvSpPr>
            <p:nvPr/>
          </p:nvSpPr>
          <p:spPr bwMode="auto">
            <a:xfrm flipH="1" flipV="1">
              <a:off x="4272" y="1728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6" name="Text Box 27"/>
            <p:cNvSpPr txBox="1">
              <a:spLocks noChangeArrowheads="1"/>
            </p:cNvSpPr>
            <p:nvPr/>
          </p:nvSpPr>
          <p:spPr bwMode="auto">
            <a:xfrm>
              <a:off x="3840" y="1948"/>
              <a:ext cx="19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600" b="1"/>
                <a:t>N</a:t>
              </a:r>
            </a:p>
          </p:txBody>
        </p:sp>
        <p:sp>
          <p:nvSpPr>
            <p:cNvPr id="15387" name="Text Box 28"/>
            <p:cNvSpPr txBox="1">
              <a:spLocks noChangeArrowheads="1"/>
            </p:cNvSpPr>
            <p:nvPr/>
          </p:nvSpPr>
          <p:spPr bwMode="auto">
            <a:xfrm>
              <a:off x="4272" y="1536"/>
              <a:ext cx="19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600" b="1"/>
                <a:t>Y</a:t>
              </a:r>
            </a:p>
          </p:txBody>
        </p:sp>
        <p:sp>
          <p:nvSpPr>
            <p:cNvPr id="15388" name="Text Box 29"/>
            <p:cNvSpPr txBox="1">
              <a:spLocks noChangeArrowheads="1"/>
            </p:cNvSpPr>
            <p:nvPr/>
          </p:nvSpPr>
          <p:spPr bwMode="auto">
            <a:xfrm>
              <a:off x="4416" y="2064"/>
              <a:ext cx="960" cy="21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600" b="1" dirty="0"/>
                <a:t>COUNT </a:t>
              </a:r>
              <a:r>
                <a:rPr lang="en-US" altLang="zh-TW" sz="1600" b="1" dirty="0"/>
                <a:t>←</a:t>
              </a:r>
              <a:r>
                <a:rPr lang="en-US" altLang="zh-CN" sz="1600" b="1" dirty="0"/>
                <a:t> CX</a:t>
              </a:r>
            </a:p>
          </p:txBody>
        </p:sp>
        <p:sp>
          <p:nvSpPr>
            <p:cNvPr id="15389" name="AutoShape 30"/>
            <p:cNvSpPr>
              <a:spLocks noChangeArrowheads="1"/>
            </p:cNvSpPr>
            <p:nvPr/>
          </p:nvSpPr>
          <p:spPr bwMode="auto">
            <a:xfrm>
              <a:off x="3408" y="1488"/>
              <a:ext cx="864" cy="480"/>
            </a:xfrm>
            <a:prstGeom prst="flowChartDecision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390" name="Text Box 31"/>
            <p:cNvSpPr txBox="1">
              <a:spLocks noChangeArrowheads="1"/>
            </p:cNvSpPr>
            <p:nvPr/>
          </p:nvSpPr>
          <p:spPr bwMode="auto">
            <a:xfrm>
              <a:off x="3648" y="1632"/>
              <a:ext cx="4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lang="en-US" altLang="zh-CN" sz="1600" b="1"/>
                <a:t>Y=0</a:t>
              </a:r>
              <a:r>
                <a:rPr lang="zh-CN" altLang="en-US" sz="1600" b="1"/>
                <a:t>？</a:t>
              </a:r>
            </a:p>
          </p:txBody>
        </p:sp>
        <p:sp>
          <p:nvSpPr>
            <p:cNvPr id="15391" name="Line 32"/>
            <p:cNvSpPr>
              <a:spLocks noChangeShapeType="1"/>
            </p:cNvSpPr>
            <p:nvPr/>
          </p:nvSpPr>
          <p:spPr bwMode="auto">
            <a:xfrm flipH="1">
              <a:off x="3168" y="2352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2" name="Line 34"/>
            <p:cNvSpPr>
              <a:spLocks noChangeShapeType="1"/>
            </p:cNvSpPr>
            <p:nvPr/>
          </p:nvSpPr>
          <p:spPr bwMode="auto">
            <a:xfrm flipH="1">
              <a:off x="3168" y="2352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3" name="Line 35"/>
            <p:cNvSpPr>
              <a:spLocks noChangeShapeType="1"/>
            </p:cNvSpPr>
            <p:nvPr/>
          </p:nvSpPr>
          <p:spPr bwMode="auto">
            <a:xfrm flipH="1">
              <a:off x="3168" y="3120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4" name="Text Box 36"/>
            <p:cNvSpPr txBox="1">
              <a:spLocks noChangeArrowheads="1"/>
            </p:cNvSpPr>
            <p:nvPr/>
          </p:nvSpPr>
          <p:spPr bwMode="auto">
            <a:xfrm>
              <a:off x="3840" y="2572"/>
              <a:ext cx="19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600" b="1"/>
                <a:t>Y</a:t>
              </a:r>
            </a:p>
          </p:txBody>
        </p:sp>
        <p:sp>
          <p:nvSpPr>
            <p:cNvPr id="15395" name="Text Box 37"/>
            <p:cNvSpPr txBox="1">
              <a:spLocks noChangeArrowheads="1"/>
            </p:cNvSpPr>
            <p:nvPr/>
          </p:nvSpPr>
          <p:spPr bwMode="auto">
            <a:xfrm>
              <a:off x="3264" y="2160"/>
              <a:ext cx="19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600" b="1"/>
                <a:t>N</a:t>
              </a:r>
            </a:p>
          </p:txBody>
        </p:sp>
      </p:grpSp>
      <p:sp>
        <p:nvSpPr>
          <p:cNvPr id="36" name="文本框 1"/>
          <p:cNvSpPr txBox="1"/>
          <p:nvPr/>
        </p:nvSpPr>
        <p:spPr>
          <a:xfrm>
            <a:off x="452120" y="317500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循环结构程序设计</a:t>
            </a:r>
          </a:p>
        </p:txBody>
      </p:sp>
    </p:spTree>
    <p:extLst>
      <p:ext uri="{BB962C8B-B14F-4D97-AF65-F5344CB8AC3E}">
        <p14:creationId xmlns:p14="http://schemas.microsoft.com/office/powerpoint/2010/main" val="269012688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1"/>
          <p:cNvSpPr txBox="1"/>
          <p:nvPr/>
        </p:nvSpPr>
        <p:spPr>
          <a:xfrm>
            <a:off x="452120" y="317500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循环结构程序设计</a:t>
            </a:r>
          </a:p>
        </p:txBody>
      </p:sp>
      <p:sp>
        <p:nvSpPr>
          <p:cNvPr id="2" name="矩形 1"/>
          <p:cNvSpPr/>
          <p:nvPr/>
        </p:nvSpPr>
        <p:spPr>
          <a:xfrm>
            <a:off x="2195736" y="948690"/>
            <a:ext cx="5256584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800" b="0" dirty="0"/>
              <a:t>data	segment</a:t>
            </a:r>
          </a:p>
          <a:p>
            <a:r>
              <a:rPr lang="en-US" altLang="zh-CN" sz="1800" b="0" dirty="0"/>
              <a:t>	Y	</a:t>
            </a:r>
            <a:r>
              <a:rPr lang="en-US" altLang="zh-CN" sz="1800" b="0" dirty="0" err="1"/>
              <a:t>dw</a:t>
            </a:r>
            <a:r>
              <a:rPr lang="en-US" altLang="zh-CN" sz="1800" b="0" dirty="0"/>
              <a:t>	06F3CH</a:t>
            </a:r>
          </a:p>
          <a:p>
            <a:r>
              <a:rPr lang="en-US" altLang="zh-CN" sz="1800" b="0" dirty="0"/>
              <a:t>	count	</a:t>
            </a:r>
            <a:r>
              <a:rPr lang="en-US" altLang="zh-CN" sz="1800" b="0" dirty="0" err="1"/>
              <a:t>dw</a:t>
            </a:r>
            <a:r>
              <a:rPr lang="en-US" altLang="zh-CN" sz="1800" b="0" dirty="0"/>
              <a:t>	?</a:t>
            </a:r>
          </a:p>
          <a:p>
            <a:r>
              <a:rPr lang="en-US" altLang="zh-CN" sz="1800" b="0" dirty="0"/>
              <a:t>data	ends</a:t>
            </a:r>
          </a:p>
          <a:p>
            <a:r>
              <a:rPr lang="en-US" altLang="zh-CN" sz="1800" b="0" dirty="0" err="1"/>
              <a:t>prog</a:t>
            </a:r>
            <a:r>
              <a:rPr lang="en-US" altLang="zh-CN" sz="1800" b="0" dirty="0"/>
              <a:t>	segment</a:t>
            </a:r>
          </a:p>
          <a:p>
            <a:r>
              <a:rPr lang="en-US" altLang="zh-CN" sz="1800" b="0" dirty="0"/>
              <a:t>	assume	</a:t>
            </a:r>
            <a:r>
              <a:rPr lang="en-US" altLang="zh-CN" sz="1800" b="0" dirty="0" err="1"/>
              <a:t>cs</a:t>
            </a:r>
            <a:r>
              <a:rPr lang="en-US" altLang="zh-CN" sz="1800" b="0" dirty="0"/>
              <a:t>: </a:t>
            </a:r>
            <a:r>
              <a:rPr lang="en-US" altLang="zh-CN" sz="1800" b="0" dirty="0" err="1"/>
              <a:t>prog</a:t>
            </a:r>
            <a:r>
              <a:rPr lang="en-US" altLang="zh-CN" sz="1800" b="0" dirty="0"/>
              <a:t>, ds: data</a:t>
            </a:r>
          </a:p>
          <a:p>
            <a:r>
              <a:rPr lang="en-US" altLang="zh-CN" sz="1800" b="0" dirty="0"/>
              <a:t>start:</a:t>
            </a:r>
            <a:r>
              <a:rPr lang="zh-CN" altLang="en-US" sz="1800" b="0" dirty="0"/>
              <a:t>	</a:t>
            </a:r>
            <a:r>
              <a:rPr lang="en-US" altLang="zh-CN" sz="1800" b="0" dirty="0" err="1"/>
              <a:t>mov</a:t>
            </a:r>
            <a:r>
              <a:rPr lang="en-US" altLang="zh-CN" sz="1800" b="0" dirty="0"/>
              <a:t>	ax, data	;</a:t>
            </a:r>
            <a:r>
              <a:rPr lang="zh-CN" altLang="en-US" sz="1800" b="0" dirty="0"/>
              <a:t>数据段地址送</a:t>
            </a:r>
            <a:r>
              <a:rPr lang="en-US" altLang="zh-CN" sz="1800" b="0" dirty="0"/>
              <a:t>ax</a:t>
            </a:r>
          </a:p>
          <a:p>
            <a:r>
              <a:rPr lang="en-US" altLang="zh-CN" sz="1800" b="0" dirty="0"/>
              <a:t>	</a:t>
            </a:r>
            <a:r>
              <a:rPr lang="en-US" altLang="zh-CN" sz="1800" b="0" dirty="0" err="1"/>
              <a:t>mov</a:t>
            </a:r>
            <a:r>
              <a:rPr lang="en-US" altLang="zh-CN" sz="1800" b="0" dirty="0"/>
              <a:t>	ds, ax	</a:t>
            </a:r>
          </a:p>
          <a:p>
            <a:r>
              <a:rPr lang="en-US" altLang="zh-CN" sz="1800" b="0" dirty="0"/>
              <a:t>	</a:t>
            </a:r>
            <a:r>
              <a:rPr lang="en-US" altLang="zh-CN" sz="1800" b="0" dirty="0" err="1"/>
              <a:t>mov</a:t>
            </a:r>
            <a:r>
              <a:rPr lang="en-US" altLang="zh-CN" sz="1800" b="0" dirty="0"/>
              <a:t>	cx, 0	;</a:t>
            </a:r>
            <a:r>
              <a:rPr lang="zh-CN" altLang="en-US" sz="1800" b="0" dirty="0"/>
              <a:t>初始化</a:t>
            </a:r>
            <a:r>
              <a:rPr lang="en-US" altLang="zh-CN" sz="1800" b="0" dirty="0"/>
              <a:t>CX=0</a:t>
            </a:r>
          </a:p>
          <a:p>
            <a:r>
              <a:rPr lang="en-US" altLang="zh-CN" sz="1800" b="0" dirty="0"/>
              <a:t>	</a:t>
            </a:r>
            <a:r>
              <a:rPr lang="en-US" altLang="zh-CN" sz="1800" b="0" dirty="0" err="1"/>
              <a:t>mov</a:t>
            </a:r>
            <a:r>
              <a:rPr lang="en-US" altLang="zh-CN" sz="1800" b="0" dirty="0"/>
              <a:t>	ax, Y	;</a:t>
            </a:r>
            <a:r>
              <a:rPr lang="zh-CN" altLang="en-US" sz="1800" b="0" dirty="0"/>
              <a:t>把数放到</a:t>
            </a:r>
            <a:r>
              <a:rPr lang="en-US" altLang="zh-CN" sz="1800" b="0" dirty="0"/>
              <a:t>ax</a:t>
            </a:r>
          </a:p>
          <a:p>
            <a:r>
              <a:rPr lang="en-US" altLang="zh-CN" sz="1800" b="0" dirty="0"/>
              <a:t>testing: 	and 	ax, ax	;</a:t>
            </a:r>
            <a:r>
              <a:rPr lang="zh-CN" altLang="en-US" sz="1800" b="0" dirty="0"/>
              <a:t>测试</a:t>
            </a:r>
            <a:r>
              <a:rPr lang="en-US" altLang="zh-CN" sz="1800" b="0" dirty="0"/>
              <a:t>Y</a:t>
            </a:r>
          </a:p>
          <a:p>
            <a:r>
              <a:rPr lang="en-US" altLang="zh-CN" sz="1800" b="0" dirty="0"/>
              <a:t>	</a:t>
            </a:r>
            <a:r>
              <a:rPr lang="en-US" altLang="zh-CN" sz="1800" b="0" dirty="0" err="1"/>
              <a:t>jz</a:t>
            </a:r>
            <a:r>
              <a:rPr lang="en-US" altLang="zh-CN" sz="1800" b="0" dirty="0"/>
              <a:t>	exit	;</a:t>
            </a:r>
            <a:r>
              <a:rPr lang="zh-CN" altLang="en-US" sz="1800" b="0" dirty="0"/>
              <a:t>如果</a:t>
            </a:r>
            <a:r>
              <a:rPr lang="en-US" altLang="zh-CN" sz="1800" b="0" dirty="0"/>
              <a:t>Y=0</a:t>
            </a:r>
            <a:r>
              <a:rPr lang="zh-CN" altLang="en-US" sz="1800" b="0" dirty="0"/>
              <a:t>，结束</a:t>
            </a:r>
          </a:p>
          <a:p>
            <a:r>
              <a:rPr lang="zh-CN" altLang="en-US" sz="1800" b="0" dirty="0"/>
              <a:t>	</a:t>
            </a:r>
            <a:r>
              <a:rPr lang="en-US" altLang="zh-CN" sz="1800" b="0" dirty="0" err="1"/>
              <a:t>jns</a:t>
            </a:r>
            <a:r>
              <a:rPr lang="en-US" altLang="zh-CN" sz="1800" b="0" dirty="0"/>
              <a:t>	shift	;</a:t>
            </a:r>
            <a:r>
              <a:rPr lang="zh-CN" altLang="en-US" sz="1800" b="0" dirty="0"/>
              <a:t>如果为正数，不变</a:t>
            </a:r>
          </a:p>
          <a:p>
            <a:r>
              <a:rPr lang="zh-CN" altLang="en-US" sz="1800" b="0" dirty="0"/>
              <a:t>	</a:t>
            </a:r>
            <a:r>
              <a:rPr lang="en-US" altLang="zh-CN" sz="1800" b="0" dirty="0" err="1"/>
              <a:t>inc</a:t>
            </a:r>
            <a:r>
              <a:rPr lang="en-US" altLang="zh-CN" sz="1800" b="0" dirty="0"/>
              <a:t>	cx	;</a:t>
            </a:r>
            <a:r>
              <a:rPr lang="zh-CN" altLang="en-US" sz="1800" b="0" dirty="0"/>
              <a:t>否则</a:t>
            </a:r>
            <a:r>
              <a:rPr lang="en-US" altLang="zh-CN" sz="1800" b="0" dirty="0"/>
              <a:t>CX=CX+1</a:t>
            </a:r>
          </a:p>
          <a:p>
            <a:r>
              <a:rPr lang="en-US" altLang="zh-CN" sz="1800" b="0" dirty="0"/>
              <a:t>shift: 	</a:t>
            </a:r>
            <a:r>
              <a:rPr lang="en-US" altLang="zh-CN" sz="1800" b="0" dirty="0" err="1"/>
              <a:t>shl</a:t>
            </a:r>
            <a:r>
              <a:rPr lang="en-US" altLang="zh-CN" sz="1800" b="0" dirty="0"/>
              <a:t>	ax, 1	;</a:t>
            </a:r>
            <a:r>
              <a:rPr lang="zh-CN" altLang="en-US" sz="1800" b="0" dirty="0"/>
              <a:t>左移</a:t>
            </a:r>
            <a:r>
              <a:rPr lang="en-US" altLang="zh-CN" sz="1800" b="0" dirty="0"/>
              <a:t>Y</a:t>
            </a:r>
          </a:p>
          <a:p>
            <a:r>
              <a:rPr lang="en-US" altLang="zh-CN" sz="1800" b="0" dirty="0"/>
              <a:t>	</a:t>
            </a:r>
            <a:r>
              <a:rPr lang="en-US" altLang="zh-CN" sz="1800" b="0" dirty="0" err="1"/>
              <a:t>jmp</a:t>
            </a:r>
            <a:r>
              <a:rPr lang="en-US" altLang="zh-CN" sz="1800" b="0" dirty="0"/>
              <a:t> 	testing</a:t>
            </a:r>
          </a:p>
          <a:p>
            <a:r>
              <a:rPr lang="en-US" altLang="zh-CN" sz="1800" b="0" dirty="0"/>
              <a:t>exit: 	</a:t>
            </a:r>
            <a:r>
              <a:rPr lang="en-US" altLang="zh-CN" sz="1800" b="0" dirty="0" err="1"/>
              <a:t>mov</a:t>
            </a:r>
            <a:r>
              <a:rPr lang="en-US" altLang="zh-CN" sz="1800" b="0" dirty="0"/>
              <a:t>	count, cx</a:t>
            </a:r>
          </a:p>
          <a:p>
            <a:r>
              <a:rPr lang="en-US" altLang="zh-CN" sz="1800" b="0" dirty="0"/>
              <a:t>	</a:t>
            </a:r>
            <a:r>
              <a:rPr lang="en-US" altLang="zh-CN" sz="1800" b="0" dirty="0" err="1"/>
              <a:t>mov</a:t>
            </a:r>
            <a:r>
              <a:rPr lang="en-US" altLang="zh-CN" sz="1800" b="0" dirty="0"/>
              <a:t> 	ah, 4ch</a:t>
            </a:r>
          </a:p>
          <a:p>
            <a:r>
              <a:rPr lang="en-US" altLang="zh-CN" sz="1800" b="0" dirty="0"/>
              <a:t>	</a:t>
            </a:r>
            <a:r>
              <a:rPr lang="en-US" altLang="zh-CN" sz="1800" b="0" dirty="0" err="1"/>
              <a:t>int</a:t>
            </a:r>
            <a:r>
              <a:rPr lang="en-US" altLang="zh-CN" sz="1800" b="0" dirty="0"/>
              <a:t> 	21h</a:t>
            </a:r>
          </a:p>
          <a:p>
            <a:r>
              <a:rPr lang="en-US" altLang="zh-CN" sz="1800" b="0" dirty="0" err="1"/>
              <a:t>prog</a:t>
            </a:r>
            <a:r>
              <a:rPr lang="en-US" altLang="zh-CN" sz="1800" b="0" dirty="0"/>
              <a:t> ends</a:t>
            </a:r>
          </a:p>
          <a:p>
            <a:r>
              <a:rPr lang="en-US" altLang="zh-CN" sz="1800" b="0" dirty="0"/>
              <a:t>	end	start</a:t>
            </a: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356916407"/>
      </p:ext>
    </p:extLst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51520" y="1127125"/>
            <a:ext cx="5311080" cy="5156200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zh-TW" sz="2400" dirty="0">
                <a:effectLst/>
              </a:rPr>
              <a:t>【</a:t>
            </a:r>
            <a:r>
              <a:rPr lang="zh-CN" altLang="en-US" sz="2400" dirty="0">
                <a:effectLst/>
              </a:rPr>
              <a:t>例</a:t>
            </a:r>
            <a:r>
              <a:rPr lang="en-US" altLang="zh-CN" sz="2400" dirty="0">
                <a:effectLst/>
              </a:rPr>
              <a:t>5.6</a:t>
            </a:r>
            <a:r>
              <a:rPr lang="zh-CN" altLang="zh-CN" sz="2400" dirty="0">
                <a:effectLst/>
              </a:rPr>
              <a:t>】从键盘输入一行字符，要求输入的第一个字符必须是空格，如果不是，则退出，如果是，则开始接受输入的字符并顺序存入首地址为BUFFER的缓冲区，直到接收到第二个空格为止</a:t>
            </a:r>
            <a:r>
              <a:rPr lang="zh-CN" altLang="en-US" sz="2400" dirty="0">
                <a:effectLst/>
              </a:rPr>
              <a:t>。</a:t>
            </a:r>
            <a:endParaRPr lang="en-US" altLang="zh-CN" sz="2400" dirty="0">
              <a:effectLst/>
            </a:endParaRPr>
          </a:p>
          <a:p>
            <a:pPr marL="0" indent="0"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CN" sz="2400" dirty="0">
              <a:effectLst/>
            </a:endParaRPr>
          </a:p>
          <a:p>
            <a:pPr marL="0" indent="0"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CN" sz="2400" dirty="0">
              <a:effectLst/>
            </a:endParaRPr>
          </a:p>
          <a:p>
            <a:pPr marL="0" indent="0"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CN" sz="2400" dirty="0">
              <a:effectLst/>
            </a:endParaRPr>
          </a:p>
          <a:p>
            <a:pPr marL="0" indent="0"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CN" sz="2400" dirty="0">
              <a:effectLst/>
            </a:endParaRPr>
          </a:p>
          <a:p>
            <a:pPr marL="0" indent="0"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CN" sz="2400" dirty="0">
              <a:effectLst/>
            </a:endParaRPr>
          </a:p>
          <a:p>
            <a:pPr marL="0" indent="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dirty="0">
                <a:effectLst/>
              </a:rPr>
              <a:t>Flag=0</a:t>
            </a:r>
            <a:r>
              <a:rPr lang="zh-CN" altLang="en-US" sz="2400" dirty="0">
                <a:effectLst/>
              </a:rPr>
              <a:t>：第</a:t>
            </a:r>
            <a:r>
              <a:rPr lang="en-US" altLang="zh-CN" sz="2400" dirty="0">
                <a:effectLst/>
              </a:rPr>
              <a:t>1</a:t>
            </a:r>
            <a:r>
              <a:rPr lang="zh-CN" altLang="en-US" sz="2400" dirty="0">
                <a:effectLst/>
              </a:rPr>
              <a:t>个字符</a:t>
            </a:r>
            <a:endParaRPr lang="en-US" altLang="zh-CN" sz="2400" dirty="0">
              <a:effectLst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CN" sz="2400" dirty="0">
                <a:effectLst/>
              </a:rPr>
              <a:t>Flag=1</a:t>
            </a:r>
            <a:r>
              <a:rPr lang="zh-CN" altLang="en-US" sz="2400" dirty="0">
                <a:effectLst/>
              </a:rPr>
              <a:t>：不是第</a:t>
            </a:r>
            <a:r>
              <a:rPr lang="en-US" altLang="zh-CN" sz="2400" dirty="0">
                <a:effectLst/>
              </a:rPr>
              <a:t>1</a:t>
            </a:r>
            <a:r>
              <a:rPr lang="zh-CN" altLang="en-US" sz="2400" dirty="0">
                <a:effectLst/>
              </a:rPr>
              <a:t>个字符</a:t>
            </a:r>
          </a:p>
          <a:p>
            <a:pPr marL="0" indent="0" eaLnBrk="1" hangingPunct="1">
              <a:lnSpc>
                <a:spcPct val="90000"/>
              </a:lnSpc>
              <a:buFont typeface="Wingdings" pitchFamily="2" charset="2"/>
              <a:buNone/>
            </a:pPr>
            <a:endParaRPr lang="zh-CN" altLang="en-US" sz="2400" dirty="0">
              <a:effectLst/>
            </a:endParaRPr>
          </a:p>
        </p:txBody>
      </p:sp>
      <p:grpSp>
        <p:nvGrpSpPr>
          <p:cNvPr id="2" name="Group 50"/>
          <p:cNvGrpSpPr>
            <a:grpSpLocks/>
          </p:cNvGrpSpPr>
          <p:nvPr/>
        </p:nvGrpSpPr>
        <p:grpSpPr bwMode="auto">
          <a:xfrm>
            <a:off x="3200400" y="1463675"/>
            <a:ext cx="5791200" cy="5060950"/>
            <a:chOff x="1776" y="76"/>
            <a:chExt cx="3648" cy="3188"/>
          </a:xfrm>
        </p:grpSpPr>
        <p:sp>
          <p:nvSpPr>
            <p:cNvPr id="27653" name="AutoShape 4"/>
            <p:cNvSpPr>
              <a:spLocks noChangeArrowheads="1"/>
            </p:cNvSpPr>
            <p:nvPr/>
          </p:nvSpPr>
          <p:spPr bwMode="auto">
            <a:xfrm>
              <a:off x="3771" y="96"/>
              <a:ext cx="576" cy="192"/>
            </a:xfrm>
            <a:prstGeom prst="flowChartTerminator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7654" name="Text Box 5"/>
            <p:cNvSpPr txBox="1">
              <a:spLocks noChangeArrowheads="1"/>
            </p:cNvSpPr>
            <p:nvPr/>
          </p:nvSpPr>
          <p:spPr bwMode="auto">
            <a:xfrm>
              <a:off x="3867" y="76"/>
              <a:ext cx="43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1600" b="1"/>
                <a:t>开始</a:t>
              </a:r>
            </a:p>
          </p:txBody>
        </p:sp>
        <p:sp>
          <p:nvSpPr>
            <p:cNvPr id="27655" name="AutoShape 6"/>
            <p:cNvSpPr>
              <a:spLocks noChangeArrowheads="1"/>
            </p:cNvSpPr>
            <p:nvPr/>
          </p:nvSpPr>
          <p:spPr bwMode="auto">
            <a:xfrm>
              <a:off x="3792" y="3072"/>
              <a:ext cx="576" cy="192"/>
            </a:xfrm>
            <a:prstGeom prst="flowChartTerminator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7656" name="Text Box 7"/>
            <p:cNvSpPr txBox="1">
              <a:spLocks noChangeArrowheads="1"/>
            </p:cNvSpPr>
            <p:nvPr/>
          </p:nvSpPr>
          <p:spPr bwMode="auto">
            <a:xfrm>
              <a:off x="3888" y="3052"/>
              <a:ext cx="43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1600" b="1"/>
                <a:t>结束</a:t>
              </a:r>
            </a:p>
          </p:txBody>
        </p:sp>
        <p:sp>
          <p:nvSpPr>
            <p:cNvPr id="27657" name="Text Box 8"/>
            <p:cNvSpPr txBox="1">
              <a:spLocks noChangeArrowheads="1"/>
            </p:cNvSpPr>
            <p:nvPr/>
          </p:nvSpPr>
          <p:spPr bwMode="auto">
            <a:xfrm>
              <a:off x="3552" y="432"/>
              <a:ext cx="960" cy="21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1600" b="1"/>
                <a:t>初始化首地址</a:t>
              </a:r>
            </a:p>
          </p:txBody>
        </p:sp>
        <p:sp>
          <p:nvSpPr>
            <p:cNvPr id="27658" name="Text Box 9"/>
            <p:cNvSpPr txBox="1">
              <a:spLocks noChangeArrowheads="1"/>
            </p:cNvSpPr>
            <p:nvPr/>
          </p:nvSpPr>
          <p:spPr bwMode="auto">
            <a:xfrm>
              <a:off x="4608" y="2160"/>
              <a:ext cx="816" cy="21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1600" b="1"/>
                <a:t>置</a:t>
              </a:r>
              <a:r>
                <a:rPr lang="en-US" altLang="zh-CN" sz="1600" b="1"/>
                <a:t>FLAG</a:t>
              </a:r>
              <a:r>
                <a:rPr lang="zh-CN" altLang="en-US" sz="1600" b="1"/>
                <a:t>为</a:t>
              </a:r>
              <a:r>
                <a:rPr lang="en-US" altLang="zh-CN" sz="1600" b="1"/>
                <a:t>1</a:t>
              </a:r>
            </a:p>
          </p:txBody>
        </p:sp>
        <p:sp>
          <p:nvSpPr>
            <p:cNvPr id="27659" name="Text Box 10"/>
            <p:cNvSpPr txBox="1">
              <a:spLocks noChangeArrowheads="1"/>
            </p:cNvSpPr>
            <p:nvPr/>
          </p:nvSpPr>
          <p:spPr bwMode="auto">
            <a:xfrm>
              <a:off x="1776" y="1366"/>
              <a:ext cx="720" cy="21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1600" b="1"/>
                <a:t>修改地址</a:t>
              </a:r>
            </a:p>
          </p:txBody>
        </p:sp>
        <p:sp>
          <p:nvSpPr>
            <p:cNvPr id="27660" name="AutoShape 11"/>
            <p:cNvSpPr>
              <a:spLocks noChangeArrowheads="1"/>
            </p:cNvSpPr>
            <p:nvPr/>
          </p:nvSpPr>
          <p:spPr bwMode="auto">
            <a:xfrm>
              <a:off x="2400" y="1996"/>
              <a:ext cx="1296" cy="528"/>
            </a:xfrm>
            <a:prstGeom prst="flowChartDecision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7661" name="AutoShape 12"/>
            <p:cNvSpPr>
              <a:spLocks noChangeArrowheads="1"/>
            </p:cNvSpPr>
            <p:nvPr/>
          </p:nvSpPr>
          <p:spPr bwMode="auto">
            <a:xfrm>
              <a:off x="3408" y="2352"/>
              <a:ext cx="1296" cy="528"/>
            </a:xfrm>
            <a:prstGeom prst="flowChartDecision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7662" name="Text Box 13"/>
            <p:cNvSpPr txBox="1">
              <a:spLocks noChangeArrowheads="1"/>
            </p:cNvSpPr>
            <p:nvPr/>
          </p:nvSpPr>
          <p:spPr bwMode="auto">
            <a:xfrm>
              <a:off x="3456" y="2476"/>
              <a:ext cx="124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lang="zh-CN" altLang="en-US" sz="1600" b="1"/>
                <a:t>是空格符吗？</a:t>
              </a:r>
            </a:p>
          </p:txBody>
        </p:sp>
        <p:sp>
          <p:nvSpPr>
            <p:cNvPr id="27663" name="Line 15"/>
            <p:cNvSpPr>
              <a:spLocks noChangeShapeType="1"/>
            </p:cNvSpPr>
            <p:nvPr/>
          </p:nvSpPr>
          <p:spPr bwMode="auto">
            <a:xfrm>
              <a:off x="4080" y="28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64" name="Line 16"/>
            <p:cNvSpPr>
              <a:spLocks noChangeShapeType="1"/>
            </p:cNvSpPr>
            <p:nvPr/>
          </p:nvSpPr>
          <p:spPr bwMode="auto">
            <a:xfrm>
              <a:off x="2160" y="159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65" name="Line 17"/>
            <p:cNvSpPr>
              <a:spLocks noChangeShapeType="1"/>
            </p:cNvSpPr>
            <p:nvPr/>
          </p:nvSpPr>
          <p:spPr bwMode="auto">
            <a:xfrm>
              <a:off x="4059" y="2160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66" name="Line 18"/>
            <p:cNvSpPr>
              <a:spLocks noChangeShapeType="1"/>
            </p:cNvSpPr>
            <p:nvPr/>
          </p:nvSpPr>
          <p:spPr bwMode="auto">
            <a:xfrm>
              <a:off x="2160" y="115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67" name="Line 19"/>
            <p:cNvSpPr>
              <a:spLocks noChangeShapeType="1"/>
            </p:cNvSpPr>
            <p:nvPr/>
          </p:nvSpPr>
          <p:spPr bwMode="auto">
            <a:xfrm>
              <a:off x="3072" y="187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68" name="Line 20"/>
            <p:cNvSpPr>
              <a:spLocks noChangeShapeType="1"/>
            </p:cNvSpPr>
            <p:nvPr/>
          </p:nvSpPr>
          <p:spPr bwMode="auto">
            <a:xfrm>
              <a:off x="4080" y="2880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69" name="Line 21"/>
            <p:cNvSpPr>
              <a:spLocks noChangeShapeType="1"/>
            </p:cNvSpPr>
            <p:nvPr/>
          </p:nvSpPr>
          <p:spPr bwMode="auto">
            <a:xfrm flipH="1">
              <a:off x="4704" y="2613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0" name="Line 22"/>
            <p:cNvSpPr>
              <a:spLocks noChangeShapeType="1"/>
            </p:cNvSpPr>
            <p:nvPr/>
          </p:nvSpPr>
          <p:spPr bwMode="auto">
            <a:xfrm flipH="1">
              <a:off x="2160" y="1968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1" name="Line 23"/>
            <p:cNvSpPr>
              <a:spLocks noChangeShapeType="1"/>
            </p:cNvSpPr>
            <p:nvPr/>
          </p:nvSpPr>
          <p:spPr bwMode="auto">
            <a:xfrm flipH="1">
              <a:off x="2160" y="2256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2" name="Line 25"/>
            <p:cNvSpPr>
              <a:spLocks noChangeShapeType="1"/>
            </p:cNvSpPr>
            <p:nvPr/>
          </p:nvSpPr>
          <p:spPr bwMode="auto">
            <a:xfrm flipV="1">
              <a:off x="5040" y="1152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3" name="Line 26"/>
            <p:cNvSpPr>
              <a:spLocks noChangeShapeType="1"/>
            </p:cNvSpPr>
            <p:nvPr/>
          </p:nvSpPr>
          <p:spPr bwMode="auto">
            <a:xfrm flipH="1">
              <a:off x="3072" y="2976"/>
              <a:ext cx="10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4" name="Text Box 27"/>
            <p:cNvSpPr txBox="1">
              <a:spLocks noChangeArrowheads="1"/>
            </p:cNvSpPr>
            <p:nvPr/>
          </p:nvSpPr>
          <p:spPr bwMode="auto">
            <a:xfrm>
              <a:off x="4080" y="2832"/>
              <a:ext cx="19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600" b="1"/>
                <a:t>N</a:t>
              </a:r>
            </a:p>
          </p:txBody>
        </p:sp>
        <p:sp>
          <p:nvSpPr>
            <p:cNvPr id="27675" name="Text Box 28"/>
            <p:cNvSpPr txBox="1">
              <a:spLocks noChangeArrowheads="1"/>
            </p:cNvSpPr>
            <p:nvPr/>
          </p:nvSpPr>
          <p:spPr bwMode="auto">
            <a:xfrm>
              <a:off x="3216" y="1680"/>
              <a:ext cx="19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600" b="1"/>
                <a:t>N</a:t>
              </a:r>
            </a:p>
          </p:txBody>
        </p:sp>
        <p:sp>
          <p:nvSpPr>
            <p:cNvPr id="27676" name="Text Box 29"/>
            <p:cNvSpPr txBox="1">
              <a:spLocks noChangeArrowheads="1"/>
            </p:cNvSpPr>
            <p:nvPr/>
          </p:nvSpPr>
          <p:spPr bwMode="auto">
            <a:xfrm>
              <a:off x="4752" y="2428"/>
              <a:ext cx="19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600" b="1"/>
                <a:t>Y</a:t>
              </a:r>
            </a:p>
          </p:txBody>
        </p:sp>
        <p:sp>
          <p:nvSpPr>
            <p:cNvPr id="27677" name="Text Box 30"/>
            <p:cNvSpPr txBox="1">
              <a:spLocks noChangeArrowheads="1"/>
            </p:cNvSpPr>
            <p:nvPr/>
          </p:nvSpPr>
          <p:spPr bwMode="auto">
            <a:xfrm>
              <a:off x="4032" y="2140"/>
              <a:ext cx="19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600" b="1"/>
                <a:t>Y</a:t>
              </a:r>
            </a:p>
          </p:txBody>
        </p:sp>
        <p:sp>
          <p:nvSpPr>
            <p:cNvPr id="27678" name="AutoShape 31"/>
            <p:cNvSpPr>
              <a:spLocks noChangeArrowheads="1"/>
            </p:cNvSpPr>
            <p:nvPr/>
          </p:nvSpPr>
          <p:spPr bwMode="auto">
            <a:xfrm>
              <a:off x="3408" y="1632"/>
              <a:ext cx="1296" cy="528"/>
            </a:xfrm>
            <a:prstGeom prst="flowChartDecision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7679" name="Text Box 32"/>
            <p:cNvSpPr txBox="1">
              <a:spLocks noChangeArrowheads="1"/>
            </p:cNvSpPr>
            <p:nvPr/>
          </p:nvSpPr>
          <p:spPr bwMode="auto">
            <a:xfrm>
              <a:off x="3450" y="1632"/>
              <a:ext cx="1248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lang="zh-CN" altLang="en-US" sz="1600" b="1"/>
                <a:t>是</a:t>
              </a:r>
            </a:p>
            <a:p>
              <a:pPr algn="ctr" eaLnBrk="1" hangingPunct="1"/>
              <a:r>
                <a:rPr lang="zh-CN" altLang="en-US" sz="1600" b="1"/>
                <a:t>第一个字符吗？</a:t>
              </a:r>
            </a:p>
          </p:txBody>
        </p:sp>
        <p:sp>
          <p:nvSpPr>
            <p:cNvPr id="27680" name="Line 33"/>
            <p:cNvSpPr>
              <a:spLocks noChangeShapeType="1"/>
            </p:cNvSpPr>
            <p:nvPr/>
          </p:nvSpPr>
          <p:spPr bwMode="auto">
            <a:xfrm>
              <a:off x="4080" y="105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1" name="Line 34"/>
            <p:cNvSpPr>
              <a:spLocks noChangeShapeType="1"/>
            </p:cNvSpPr>
            <p:nvPr/>
          </p:nvSpPr>
          <p:spPr bwMode="auto">
            <a:xfrm flipH="1" flipV="1">
              <a:off x="2160" y="1152"/>
              <a:ext cx="19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2" name="Line 35"/>
            <p:cNvSpPr>
              <a:spLocks noChangeShapeType="1"/>
            </p:cNvSpPr>
            <p:nvPr/>
          </p:nvSpPr>
          <p:spPr bwMode="auto">
            <a:xfrm flipV="1">
              <a:off x="5040" y="2390"/>
              <a:ext cx="0" cy="2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3" name="Text Box 37"/>
            <p:cNvSpPr txBox="1">
              <a:spLocks noChangeArrowheads="1"/>
            </p:cNvSpPr>
            <p:nvPr/>
          </p:nvSpPr>
          <p:spPr bwMode="auto">
            <a:xfrm>
              <a:off x="2208" y="2064"/>
              <a:ext cx="19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600" b="1"/>
                <a:t>N</a:t>
              </a:r>
            </a:p>
          </p:txBody>
        </p:sp>
        <p:sp>
          <p:nvSpPr>
            <p:cNvPr id="27684" name="Text Box 38"/>
            <p:cNvSpPr txBox="1">
              <a:spLocks noChangeArrowheads="1"/>
            </p:cNvSpPr>
            <p:nvPr/>
          </p:nvSpPr>
          <p:spPr bwMode="auto">
            <a:xfrm>
              <a:off x="3072" y="2496"/>
              <a:ext cx="19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600" b="1"/>
                <a:t>Y</a:t>
              </a:r>
            </a:p>
          </p:txBody>
        </p:sp>
        <p:sp>
          <p:nvSpPr>
            <p:cNvPr id="27685" name="Text Box 39"/>
            <p:cNvSpPr txBox="1">
              <a:spLocks noChangeArrowheads="1"/>
            </p:cNvSpPr>
            <p:nvPr/>
          </p:nvSpPr>
          <p:spPr bwMode="auto">
            <a:xfrm>
              <a:off x="3552" y="816"/>
              <a:ext cx="1008" cy="21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1600" b="1"/>
                <a:t>置</a:t>
              </a:r>
              <a:r>
                <a:rPr lang="en-US" altLang="zh-CN" sz="1600" b="1"/>
                <a:t>FLAG</a:t>
              </a:r>
              <a:r>
                <a:rPr lang="zh-CN" altLang="en-US" sz="1600" b="1"/>
                <a:t>为</a:t>
              </a:r>
              <a:r>
                <a:rPr lang="en-US" altLang="zh-CN" sz="1600" b="1"/>
                <a:t>0</a:t>
              </a:r>
            </a:p>
          </p:txBody>
        </p:sp>
        <p:sp>
          <p:nvSpPr>
            <p:cNvPr id="27686" name="Text Box 40"/>
            <p:cNvSpPr txBox="1">
              <a:spLocks noChangeArrowheads="1"/>
            </p:cNvSpPr>
            <p:nvPr/>
          </p:nvSpPr>
          <p:spPr bwMode="auto">
            <a:xfrm>
              <a:off x="3552" y="1248"/>
              <a:ext cx="1008" cy="21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1600" b="1"/>
                <a:t>接收一个字符</a:t>
              </a:r>
            </a:p>
          </p:txBody>
        </p:sp>
        <p:sp>
          <p:nvSpPr>
            <p:cNvPr id="27687" name="Line 43"/>
            <p:cNvSpPr>
              <a:spLocks noChangeShapeType="1"/>
            </p:cNvSpPr>
            <p:nvPr/>
          </p:nvSpPr>
          <p:spPr bwMode="auto">
            <a:xfrm>
              <a:off x="4080" y="67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8" name="Line 44"/>
            <p:cNvSpPr>
              <a:spLocks noChangeShapeType="1"/>
            </p:cNvSpPr>
            <p:nvPr/>
          </p:nvSpPr>
          <p:spPr bwMode="auto">
            <a:xfrm>
              <a:off x="4080" y="148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9" name="Text Box 45"/>
            <p:cNvSpPr txBox="1">
              <a:spLocks noChangeArrowheads="1"/>
            </p:cNvSpPr>
            <p:nvPr/>
          </p:nvSpPr>
          <p:spPr bwMode="auto">
            <a:xfrm>
              <a:off x="2448" y="2140"/>
              <a:ext cx="124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lang="zh-CN" altLang="en-US" sz="1600" b="1"/>
                <a:t>是空格符吗？</a:t>
              </a:r>
            </a:p>
          </p:txBody>
        </p:sp>
        <p:sp>
          <p:nvSpPr>
            <p:cNvPr id="27690" name="Text Box 46"/>
            <p:cNvSpPr txBox="1">
              <a:spLocks noChangeArrowheads="1"/>
            </p:cNvSpPr>
            <p:nvPr/>
          </p:nvSpPr>
          <p:spPr bwMode="auto">
            <a:xfrm>
              <a:off x="1776" y="1750"/>
              <a:ext cx="768" cy="21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1600" b="1"/>
                <a:t>存入缓冲区</a:t>
              </a:r>
            </a:p>
          </p:txBody>
        </p:sp>
        <p:sp>
          <p:nvSpPr>
            <p:cNvPr id="27691" name="Line 47"/>
            <p:cNvSpPr>
              <a:spLocks noChangeShapeType="1"/>
            </p:cNvSpPr>
            <p:nvPr/>
          </p:nvSpPr>
          <p:spPr bwMode="auto">
            <a:xfrm flipH="1" flipV="1">
              <a:off x="4080" y="1152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92" name="Line 48"/>
            <p:cNvSpPr>
              <a:spLocks noChangeShapeType="1"/>
            </p:cNvSpPr>
            <p:nvPr/>
          </p:nvSpPr>
          <p:spPr bwMode="auto">
            <a:xfrm flipH="1">
              <a:off x="3072" y="2496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93" name="Line 49"/>
            <p:cNvSpPr>
              <a:spLocks noChangeShapeType="1"/>
            </p:cNvSpPr>
            <p:nvPr/>
          </p:nvSpPr>
          <p:spPr bwMode="auto">
            <a:xfrm flipH="1">
              <a:off x="3072" y="1872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6" name="文本框 1"/>
          <p:cNvSpPr txBox="1"/>
          <p:nvPr/>
        </p:nvSpPr>
        <p:spPr>
          <a:xfrm>
            <a:off x="452120" y="317500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循环结构程序设计</a:t>
            </a:r>
          </a:p>
        </p:txBody>
      </p:sp>
    </p:spTree>
    <p:extLst>
      <p:ext uri="{BB962C8B-B14F-4D97-AF65-F5344CB8AC3E}">
        <p14:creationId xmlns:p14="http://schemas.microsoft.com/office/powerpoint/2010/main" val="204679257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7524" y="1074215"/>
            <a:ext cx="4572508" cy="5101160"/>
          </a:xfrm>
          <a:noFill/>
          <a:ln w="9525">
            <a:solidFill>
              <a:srgbClr val="FF0000"/>
            </a:solidFill>
            <a:prstDash val="dash"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lnSpc>
                <a:spcPct val="85000"/>
              </a:lnSpc>
              <a:spcBef>
                <a:spcPct val="5000"/>
              </a:spcBef>
              <a:buNone/>
            </a:pPr>
            <a:r>
              <a:rPr lang="en-US" altLang="zh-CN" sz="1800" dirty="0">
                <a:effectLst/>
              </a:rPr>
              <a:t>		buffer	</a:t>
            </a:r>
            <a:r>
              <a:rPr lang="en-US" altLang="zh-CN" sz="1800" dirty="0" err="1">
                <a:effectLst/>
              </a:rPr>
              <a:t>db</a:t>
            </a:r>
            <a:r>
              <a:rPr lang="en-US" altLang="zh-CN" sz="1800" dirty="0">
                <a:effectLst/>
              </a:rPr>
              <a:t>	80 dup(?)</a:t>
            </a:r>
          </a:p>
          <a:p>
            <a:pPr eaLnBrk="1" hangingPunct="1">
              <a:lnSpc>
                <a:spcPct val="85000"/>
              </a:lnSpc>
              <a:spcBef>
                <a:spcPct val="5000"/>
              </a:spcBef>
              <a:buNone/>
            </a:pPr>
            <a:r>
              <a:rPr lang="en-US" altLang="zh-CN" sz="1800" dirty="0">
                <a:effectLst/>
              </a:rPr>
              <a:t>		flag	</a:t>
            </a:r>
            <a:r>
              <a:rPr lang="en-US" altLang="zh-CN" sz="1800" dirty="0" err="1">
                <a:effectLst/>
              </a:rPr>
              <a:t>db</a:t>
            </a:r>
            <a:r>
              <a:rPr lang="en-US" altLang="zh-CN" sz="1800" dirty="0">
                <a:effectLst/>
              </a:rPr>
              <a:t>	?</a:t>
            </a:r>
          </a:p>
          <a:p>
            <a:pPr eaLnBrk="1" hangingPunct="1">
              <a:lnSpc>
                <a:spcPct val="85000"/>
              </a:lnSpc>
              <a:spcBef>
                <a:spcPct val="5000"/>
              </a:spcBef>
              <a:buNone/>
            </a:pPr>
            <a:r>
              <a:rPr lang="en-US" altLang="zh-CN" sz="1800" dirty="0">
                <a:effectLst/>
              </a:rPr>
              <a:t>		……</a:t>
            </a:r>
          </a:p>
          <a:p>
            <a:pPr eaLnBrk="1" hangingPunct="1">
              <a:lnSpc>
                <a:spcPct val="85000"/>
              </a:lnSpc>
              <a:spcBef>
                <a:spcPct val="5000"/>
              </a:spcBef>
              <a:buNone/>
            </a:pPr>
            <a:r>
              <a:rPr lang="en-US" altLang="zh-CN" sz="1800" dirty="0">
                <a:effectLst/>
              </a:rPr>
              <a:t>		lea	</a:t>
            </a:r>
            <a:r>
              <a:rPr lang="en-US" altLang="zh-CN" sz="1800" dirty="0" err="1">
                <a:effectLst/>
              </a:rPr>
              <a:t>bx,buffer</a:t>
            </a:r>
            <a:endParaRPr lang="en-US" altLang="zh-CN" sz="1800" dirty="0">
              <a:effectLst/>
            </a:endParaRPr>
          </a:p>
          <a:p>
            <a:pPr eaLnBrk="1" hangingPunct="1">
              <a:lnSpc>
                <a:spcPct val="85000"/>
              </a:lnSpc>
              <a:spcBef>
                <a:spcPct val="5000"/>
              </a:spcBef>
              <a:buNone/>
            </a:pPr>
            <a:r>
              <a:rPr lang="en-US" altLang="zh-CN" sz="1800" dirty="0">
                <a:effectLst/>
              </a:rPr>
              <a:t>		</a:t>
            </a:r>
            <a:r>
              <a:rPr lang="en-US" altLang="zh-CN" sz="1800" dirty="0" err="1">
                <a:effectLst/>
              </a:rPr>
              <a:t>mov</a:t>
            </a:r>
            <a:r>
              <a:rPr lang="en-US" altLang="zh-CN" sz="1800" dirty="0">
                <a:effectLst/>
              </a:rPr>
              <a:t>	flag,0</a:t>
            </a:r>
          </a:p>
          <a:p>
            <a:pPr eaLnBrk="1" hangingPunct="1">
              <a:lnSpc>
                <a:spcPct val="85000"/>
              </a:lnSpc>
              <a:spcBef>
                <a:spcPct val="5000"/>
              </a:spcBef>
              <a:buNone/>
            </a:pPr>
            <a:r>
              <a:rPr lang="en-US" altLang="zh-CN" sz="1800" dirty="0">
                <a:effectLst/>
              </a:rPr>
              <a:t>next:	</a:t>
            </a:r>
            <a:r>
              <a:rPr lang="en-US" altLang="zh-CN" sz="1800" dirty="0" err="1">
                <a:effectLst/>
              </a:rPr>
              <a:t>mov</a:t>
            </a:r>
            <a:r>
              <a:rPr lang="en-US" altLang="zh-CN" sz="1800" dirty="0">
                <a:effectLst/>
              </a:rPr>
              <a:t>	ah,1</a:t>
            </a:r>
          </a:p>
          <a:p>
            <a:pPr eaLnBrk="1" hangingPunct="1">
              <a:lnSpc>
                <a:spcPct val="85000"/>
              </a:lnSpc>
              <a:spcBef>
                <a:spcPct val="5000"/>
              </a:spcBef>
              <a:buNone/>
            </a:pPr>
            <a:r>
              <a:rPr lang="en-US" altLang="zh-CN" sz="1800" dirty="0">
                <a:effectLst/>
              </a:rPr>
              <a:t>		</a:t>
            </a:r>
            <a:r>
              <a:rPr lang="en-US" altLang="zh-CN" sz="1800" dirty="0" err="1">
                <a:effectLst/>
              </a:rPr>
              <a:t>int</a:t>
            </a:r>
            <a:r>
              <a:rPr lang="en-US" altLang="zh-CN" sz="1800" dirty="0">
                <a:effectLst/>
              </a:rPr>
              <a:t>	21h</a:t>
            </a:r>
          </a:p>
          <a:p>
            <a:pPr eaLnBrk="1" hangingPunct="1">
              <a:lnSpc>
                <a:spcPct val="85000"/>
              </a:lnSpc>
              <a:spcBef>
                <a:spcPct val="5000"/>
              </a:spcBef>
              <a:buNone/>
            </a:pPr>
            <a:r>
              <a:rPr lang="en-US" altLang="zh-CN" sz="1800" dirty="0">
                <a:effectLst/>
              </a:rPr>
              <a:t>		test	flag,01h</a:t>
            </a:r>
          </a:p>
          <a:p>
            <a:pPr eaLnBrk="1" hangingPunct="1">
              <a:lnSpc>
                <a:spcPct val="85000"/>
              </a:lnSpc>
              <a:spcBef>
                <a:spcPct val="5000"/>
              </a:spcBef>
              <a:buNone/>
            </a:pPr>
            <a:r>
              <a:rPr lang="en-US" altLang="zh-CN" sz="1800" dirty="0">
                <a:effectLst/>
              </a:rPr>
              <a:t>		</a:t>
            </a:r>
            <a:r>
              <a:rPr lang="en-US" altLang="zh-CN" sz="1800" dirty="0" err="1">
                <a:effectLst/>
              </a:rPr>
              <a:t>jnz</a:t>
            </a:r>
            <a:r>
              <a:rPr lang="en-US" altLang="zh-CN" sz="1800" dirty="0">
                <a:effectLst/>
              </a:rPr>
              <a:t>	follow</a:t>
            </a:r>
          </a:p>
          <a:p>
            <a:pPr eaLnBrk="1" hangingPunct="1">
              <a:lnSpc>
                <a:spcPct val="85000"/>
              </a:lnSpc>
              <a:spcBef>
                <a:spcPct val="5000"/>
              </a:spcBef>
              <a:buNone/>
            </a:pPr>
            <a:r>
              <a:rPr lang="en-US" altLang="zh-CN" sz="1800" dirty="0">
                <a:effectLst/>
              </a:rPr>
              <a:t>		</a:t>
            </a:r>
            <a:r>
              <a:rPr lang="en-US" altLang="zh-CN" sz="1800" dirty="0" err="1">
                <a:effectLst/>
              </a:rPr>
              <a:t>cmp</a:t>
            </a:r>
            <a:r>
              <a:rPr lang="en-US" altLang="zh-CN" sz="1800" dirty="0">
                <a:effectLst/>
              </a:rPr>
              <a:t>	al,20h</a:t>
            </a:r>
          </a:p>
          <a:p>
            <a:pPr eaLnBrk="1" hangingPunct="1">
              <a:lnSpc>
                <a:spcPct val="85000"/>
              </a:lnSpc>
              <a:spcBef>
                <a:spcPct val="5000"/>
              </a:spcBef>
              <a:buNone/>
            </a:pPr>
            <a:r>
              <a:rPr lang="en-US" altLang="zh-CN" sz="1800" dirty="0">
                <a:effectLst/>
              </a:rPr>
              <a:t>		</a:t>
            </a:r>
            <a:r>
              <a:rPr lang="en-US" altLang="zh-CN" sz="1800" dirty="0" err="1">
                <a:effectLst/>
              </a:rPr>
              <a:t>jnz</a:t>
            </a:r>
            <a:r>
              <a:rPr lang="en-US" altLang="zh-CN" sz="1800" dirty="0">
                <a:effectLst/>
              </a:rPr>
              <a:t>	exit</a:t>
            </a:r>
          </a:p>
          <a:p>
            <a:pPr eaLnBrk="1" hangingPunct="1">
              <a:lnSpc>
                <a:spcPct val="85000"/>
              </a:lnSpc>
              <a:spcBef>
                <a:spcPct val="5000"/>
              </a:spcBef>
              <a:buNone/>
            </a:pPr>
            <a:r>
              <a:rPr lang="en-US" altLang="zh-CN" sz="1800" dirty="0">
                <a:effectLst/>
              </a:rPr>
              <a:t>		</a:t>
            </a:r>
            <a:r>
              <a:rPr lang="en-US" altLang="zh-CN" sz="1800" dirty="0" err="1">
                <a:effectLst/>
              </a:rPr>
              <a:t>mov</a:t>
            </a:r>
            <a:r>
              <a:rPr lang="en-US" altLang="zh-CN" sz="1800" dirty="0">
                <a:effectLst/>
              </a:rPr>
              <a:t>	flag,1</a:t>
            </a:r>
          </a:p>
          <a:p>
            <a:pPr eaLnBrk="1" hangingPunct="1">
              <a:lnSpc>
                <a:spcPct val="85000"/>
              </a:lnSpc>
              <a:spcBef>
                <a:spcPct val="5000"/>
              </a:spcBef>
              <a:buNone/>
            </a:pPr>
            <a:r>
              <a:rPr lang="en-US" altLang="zh-CN" sz="1800" dirty="0">
                <a:effectLst/>
              </a:rPr>
              <a:t>		</a:t>
            </a:r>
            <a:r>
              <a:rPr lang="en-US" altLang="zh-CN" sz="1800" dirty="0" err="1">
                <a:effectLst/>
              </a:rPr>
              <a:t>jmp</a:t>
            </a:r>
            <a:r>
              <a:rPr lang="en-US" altLang="zh-CN" sz="1800" dirty="0">
                <a:effectLst/>
              </a:rPr>
              <a:t>	next</a:t>
            </a:r>
          </a:p>
          <a:p>
            <a:pPr eaLnBrk="1" hangingPunct="1">
              <a:lnSpc>
                <a:spcPct val="85000"/>
              </a:lnSpc>
              <a:spcBef>
                <a:spcPct val="5000"/>
              </a:spcBef>
              <a:buNone/>
            </a:pPr>
            <a:r>
              <a:rPr lang="en-US" altLang="zh-CN" sz="1800" dirty="0">
                <a:effectLst/>
              </a:rPr>
              <a:t>follow:    </a:t>
            </a:r>
            <a:r>
              <a:rPr lang="en-US" altLang="zh-CN" sz="1800" dirty="0" err="1">
                <a:effectLst/>
              </a:rPr>
              <a:t>cmp</a:t>
            </a:r>
            <a:r>
              <a:rPr lang="en-US" altLang="zh-CN" sz="1800" dirty="0">
                <a:effectLst/>
              </a:rPr>
              <a:t> 	al,20h</a:t>
            </a:r>
          </a:p>
          <a:p>
            <a:pPr eaLnBrk="1" hangingPunct="1">
              <a:lnSpc>
                <a:spcPct val="85000"/>
              </a:lnSpc>
              <a:spcBef>
                <a:spcPct val="5000"/>
              </a:spcBef>
              <a:buNone/>
            </a:pPr>
            <a:r>
              <a:rPr lang="en-US" altLang="zh-CN" sz="1800" dirty="0">
                <a:effectLst/>
              </a:rPr>
              <a:t>		</a:t>
            </a:r>
            <a:r>
              <a:rPr lang="en-US" altLang="zh-CN" sz="1800" dirty="0" err="1">
                <a:effectLst/>
              </a:rPr>
              <a:t>jz</a:t>
            </a:r>
            <a:r>
              <a:rPr lang="en-US" altLang="zh-CN" sz="1800" dirty="0">
                <a:effectLst/>
              </a:rPr>
              <a:t> 	exit</a:t>
            </a:r>
          </a:p>
          <a:p>
            <a:pPr eaLnBrk="1" hangingPunct="1">
              <a:lnSpc>
                <a:spcPct val="85000"/>
              </a:lnSpc>
              <a:spcBef>
                <a:spcPct val="5000"/>
              </a:spcBef>
              <a:buNone/>
            </a:pPr>
            <a:r>
              <a:rPr lang="en-US" altLang="zh-CN" sz="1800" dirty="0">
                <a:effectLst/>
              </a:rPr>
              <a:t>		</a:t>
            </a:r>
            <a:r>
              <a:rPr lang="en-US" altLang="zh-CN" sz="1800" dirty="0" err="1">
                <a:effectLst/>
              </a:rPr>
              <a:t>mov</a:t>
            </a:r>
            <a:r>
              <a:rPr lang="en-US" altLang="zh-CN" sz="1800" dirty="0">
                <a:effectLst/>
              </a:rPr>
              <a:t>	[</a:t>
            </a:r>
            <a:r>
              <a:rPr lang="en-US" altLang="zh-CN" sz="1800" dirty="0" err="1">
                <a:effectLst/>
              </a:rPr>
              <a:t>bx</a:t>
            </a:r>
            <a:r>
              <a:rPr lang="en-US" altLang="zh-CN" sz="1800" dirty="0">
                <a:effectLst/>
              </a:rPr>
              <a:t>],al</a:t>
            </a:r>
          </a:p>
          <a:p>
            <a:pPr eaLnBrk="1" hangingPunct="1">
              <a:lnSpc>
                <a:spcPct val="85000"/>
              </a:lnSpc>
              <a:spcBef>
                <a:spcPct val="5000"/>
              </a:spcBef>
              <a:buNone/>
            </a:pPr>
            <a:r>
              <a:rPr lang="en-US" altLang="zh-CN" sz="1800" dirty="0">
                <a:effectLst/>
              </a:rPr>
              <a:t>		</a:t>
            </a:r>
            <a:r>
              <a:rPr lang="en-US" altLang="zh-CN" sz="1800" dirty="0" err="1">
                <a:effectLst/>
              </a:rPr>
              <a:t>inc</a:t>
            </a:r>
            <a:r>
              <a:rPr lang="en-US" altLang="zh-CN" sz="1800" dirty="0">
                <a:effectLst/>
              </a:rPr>
              <a:t>	</a:t>
            </a:r>
            <a:r>
              <a:rPr lang="en-US" altLang="zh-CN" sz="1800" dirty="0" err="1">
                <a:effectLst/>
              </a:rPr>
              <a:t>bx</a:t>
            </a:r>
            <a:endParaRPr lang="en-US" altLang="zh-CN" sz="1800" dirty="0">
              <a:effectLst/>
            </a:endParaRPr>
          </a:p>
          <a:p>
            <a:pPr eaLnBrk="1" hangingPunct="1">
              <a:lnSpc>
                <a:spcPct val="85000"/>
              </a:lnSpc>
              <a:spcBef>
                <a:spcPct val="5000"/>
              </a:spcBef>
              <a:buNone/>
            </a:pPr>
            <a:r>
              <a:rPr lang="en-US" altLang="zh-CN" sz="1800" dirty="0">
                <a:effectLst/>
              </a:rPr>
              <a:t>		</a:t>
            </a:r>
            <a:r>
              <a:rPr lang="en-US" altLang="zh-CN" sz="1800" dirty="0" err="1">
                <a:effectLst/>
              </a:rPr>
              <a:t>jmp</a:t>
            </a:r>
            <a:r>
              <a:rPr lang="en-US" altLang="zh-CN" sz="1800" dirty="0">
                <a:effectLst/>
              </a:rPr>
              <a:t>	next</a:t>
            </a:r>
          </a:p>
          <a:p>
            <a:pPr eaLnBrk="1" hangingPunct="1">
              <a:lnSpc>
                <a:spcPct val="85000"/>
              </a:lnSpc>
              <a:spcBef>
                <a:spcPct val="5000"/>
              </a:spcBef>
              <a:buNone/>
            </a:pPr>
            <a:r>
              <a:rPr lang="en-US" altLang="zh-CN" sz="1800" dirty="0">
                <a:effectLst/>
              </a:rPr>
              <a:t>exit:	……</a:t>
            </a:r>
          </a:p>
        </p:txBody>
      </p:sp>
      <p:sp>
        <p:nvSpPr>
          <p:cNvPr id="4" name="文本框 1"/>
          <p:cNvSpPr txBox="1"/>
          <p:nvPr/>
        </p:nvSpPr>
        <p:spPr>
          <a:xfrm>
            <a:off x="452120" y="317500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循环结构程序设计</a:t>
            </a:r>
          </a:p>
        </p:txBody>
      </p:sp>
      <p:grpSp>
        <p:nvGrpSpPr>
          <p:cNvPr id="5" name="Group 50"/>
          <p:cNvGrpSpPr>
            <a:grpSpLocks/>
          </p:cNvGrpSpPr>
          <p:nvPr/>
        </p:nvGrpSpPr>
        <p:grpSpPr bwMode="auto">
          <a:xfrm>
            <a:off x="3200400" y="1463675"/>
            <a:ext cx="5791200" cy="5060950"/>
            <a:chOff x="1776" y="76"/>
            <a:chExt cx="3648" cy="3188"/>
          </a:xfrm>
        </p:grpSpPr>
        <p:sp>
          <p:nvSpPr>
            <p:cNvPr id="6" name="AutoShape 4"/>
            <p:cNvSpPr>
              <a:spLocks noChangeArrowheads="1"/>
            </p:cNvSpPr>
            <p:nvPr/>
          </p:nvSpPr>
          <p:spPr bwMode="auto">
            <a:xfrm>
              <a:off x="3771" y="96"/>
              <a:ext cx="576" cy="192"/>
            </a:xfrm>
            <a:prstGeom prst="flowChartTerminator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" name="Text Box 5"/>
            <p:cNvSpPr txBox="1">
              <a:spLocks noChangeArrowheads="1"/>
            </p:cNvSpPr>
            <p:nvPr/>
          </p:nvSpPr>
          <p:spPr bwMode="auto">
            <a:xfrm>
              <a:off x="3867" y="76"/>
              <a:ext cx="43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1600" b="1"/>
                <a:t>开始</a:t>
              </a:r>
            </a:p>
          </p:txBody>
        </p:sp>
        <p:sp>
          <p:nvSpPr>
            <p:cNvPr id="8" name="AutoShape 6"/>
            <p:cNvSpPr>
              <a:spLocks noChangeArrowheads="1"/>
            </p:cNvSpPr>
            <p:nvPr/>
          </p:nvSpPr>
          <p:spPr bwMode="auto">
            <a:xfrm>
              <a:off x="3792" y="3072"/>
              <a:ext cx="576" cy="192"/>
            </a:xfrm>
            <a:prstGeom prst="flowChartTerminator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" name="Text Box 7"/>
            <p:cNvSpPr txBox="1">
              <a:spLocks noChangeArrowheads="1"/>
            </p:cNvSpPr>
            <p:nvPr/>
          </p:nvSpPr>
          <p:spPr bwMode="auto">
            <a:xfrm>
              <a:off x="3888" y="3052"/>
              <a:ext cx="43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1600" b="1"/>
                <a:t>结束</a:t>
              </a:r>
            </a:p>
          </p:txBody>
        </p:sp>
        <p:sp>
          <p:nvSpPr>
            <p:cNvPr id="10" name="Text Box 8"/>
            <p:cNvSpPr txBox="1">
              <a:spLocks noChangeArrowheads="1"/>
            </p:cNvSpPr>
            <p:nvPr/>
          </p:nvSpPr>
          <p:spPr bwMode="auto">
            <a:xfrm>
              <a:off x="3552" y="432"/>
              <a:ext cx="960" cy="21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1600" b="1"/>
                <a:t>初始化首地址</a:t>
              </a:r>
            </a:p>
          </p:txBody>
        </p:sp>
        <p:sp>
          <p:nvSpPr>
            <p:cNvPr id="11" name="Text Box 9"/>
            <p:cNvSpPr txBox="1">
              <a:spLocks noChangeArrowheads="1"/>
            </p:cNvSpPr>
            <p:nvPr/>
          </p:nvSpPr>
          <p:spPr bwMode="auto">
            <a:xfrm>
              <a:off x="4608" y="2160"/>
              <a:ext cx="816" cy="21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1600" b="1"/>
                <a:t>置</a:t>
              </a:r>
              <a:r>
                <a:rPr lang="en-US" altLang="zh-CN" sz="1600" b="1"/>
                <a:t>FLAG</a:t>
              </a:r>
              <a:r>
                <a:rPr lang="zh-CN" altLang="en-US" sz="1600" b="1"/>
                <a:t>为</a:t>
              </a:r>
              <a:r>
                <a:rPr lang="en-US" altLang="zh-CN" sz="1600" b="1"/>
                <a:t>1</a:t>
              </a:r>
            </a:p>
          </p:txBody>
        </p:sp>
        <p:sp>
          <p:nvSpPr>
            <p:cNvPr id="12" name="Text Box 10"/>
            <p:cNvSpPr txBox="1">
              <a:spLocks noChangeArrowheads="1"/>
            </p:cNvSpPr>
            <p:nvPr/>
          </p:nvSpPr>
          <p:spPr bwMode="auto">
            <a:xfrm>
              <a:off x="1776" y="1366"/>
              <a:ext cx="720" cy="21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1600" b="1"/>
                <a:t>修改地址</a:t>
              </a:r>
            </a:p>
          </p:txBody>
        </p:sp>
        <p:sp>
          <p:nvSpPr>
            <p:cNvPr id="13" name="AutoShape 11"/>
            <p:cNvSpPr>
              <a:spLocks noChangeArrowheads="1"/>
            </p:cNvSpPr>
            <p:nvPr/>
          </p:nvSpPr>
          <p:spPr bwMode="auto">
            <a:xfrm>
              <a:off x="2400" y="1996"/>
              <a:ext cx="1296" cy="528"/>
            </a:xfrm>
            <a:prstGeom prst="flowChartDecision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" name="AutoShape 12"/>
            <p:cNvSpPr>
              <a:spLocks noChangeArrowheads="1"/>
            </p:cNvSpPr>
            <p:nvPr/>
          </p:nvSpPr>
          <p:spPr bwMode="auto">
            <a:xfrm>
              <a:off x="3408" y="2352"/>
              <a:ext cx="1296" cy="528"/>
            </a:xfrm>
            <a:prstGeom prst="flowChartDecision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" name="Text Box 13"/>
            <p:cNvSpPr txBox="1">
              <a:spLocks noChangeArrowheads="1"/>
            </p:cNvSpPr>
            <p:nvPr/>
          </p:nvSpPr>
          <p:spPr bwMode="auto">
            <a:xfrm>
              <a:off x="3456" y="2476"/>
              <a:ext cx="124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lang="zh-CN" altLang="en-US" sz="1600" b="1"/>
                <a:t>是空格符吗？</a:t>
              </a:r>
            </a:p>
          </p:txBody>
        </p:sp>
        <p:sp>
          <p:nvSpPr>
            <p:cNvPr id="16" name="Line 15"/>
            <p:cNvSpPr>
              <a:spLocks noChangeShapeType="1"/>
            </p:cNvSpPr>
            <p:nvPr/>
          </p:nvSpPr>
          <p:spPr bwMode="auto">
            <a:xfrm>
              <a:off x="4080" y="28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6"/>
            <p:cNvSpPr>
              <a:spLocks noChangeShapeType="1"/>
            </p:cNvSpPr>
            <p:nvPr/>
          </p:nvSpPr>
          <p:spPr bwMode="auto">
            <a:xfrm>
              <a:off x="2160" y="159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17"/>
            <p:cNvSpPr>
              <a:spLocks noChangeShapeType="1"/>
            </p:cNvSpPr>
            <p:nvPr/>
          </p:nvSpPr>
          <p:spPr bwMode="auto">
            <a:xfrm>
              <a:off x="4059" y="2160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18"/>
            <p:cNvSpPr>
              <a:spLocks noChangeShapeType="1"/>
            </p:cNvSpPr>
            <p:nvPr/>
          </p:nvSpPr>
          <p:spPr bwMode="auto">
            <a:xfrm>
              <a:off x="2160" y="115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19"/>
            <p:cNvSpPr>
              <a:spLocks noChangeShapeType="1"/>
            </p:cNvSpPr>
            <p:nvPr/>
          </p:nvSpPr>
          <p:spPr bwMode="auto">
            <a:xfrm>
              <a:off x="3072" y="187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20"/>
            <p:cNvSpPr>
              <a:spLocks noChangeShapeType="1"/>
            </p:cNvSpPr>
            <p:nvPr/>
          </p:nvSpPr>
          <p:spPr bwMode="auto">
            <a:xfrm>
              <a:off x="4080" y="2880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21"/>
            <p:cNvSpPr>
              <a:spLocks noChangeShapeType="1"/>
            </p:cNvSpPr>
            <p:nvPr/>
          </p:nvSpPr>
          <p:spPr bwMode="auto">
            <a:xfrm flipH="1">
              <a:off x="4704" y="2613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22"/>
            <p:cNvSpPr>
              <a:spLocks noChangeShapeType="1"/>
            </p:cNvSpPr>
            <p:nvPr/>
          </p:nvSpPr>
          <p:spPr bwMode="auto">
            <a:xfrm flipH="1">
              <a:off x="2160" y="1968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23"/>
            <p:cNvSpPr>
              <a:spLocks noChangeShapeType="1"/>
            </p:cNvSpPr>
            <p:nvPr/>
          </p:nvSpPr>
          <p:spPr bwMode="auto">
            <a:xfrm flipH="1">
              <a:off x="2160" y="2256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25"/>
            <p:cNvSpPr>
              <a:spLocks noChangeShapeType="1"/>
            </p:cNvSpPr>
            <p:nvPr/>
          </p:nvSpPr>
          <p:spPr bwMode="auto">
            <a:xfrm flipV="1">
              <a:off x="5040" y="1152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26"/>
            <p:cNvSpPr>
              <a:spLocks noChangeShapeType="1"/>
            </p:cNvSpPr>
            <p:nvPr/>
          </p:nvSpPr>
          <p:spPr bwMode="auto">
            <a:xfrm flipH="1">
              <a:off x="3072" y="2976"/>
              <a:ext cx="10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Text Box 27"/>
            <p:cNvSpPr txBox="1">
              <a:spLocks noChangeArrowheads="1"/>
            </p:cNvSpPr>
            <p:nvPr/>
          </p:nvSpPr>
          <p:spPr bwMode="auto">
            <a:xfrm>
              <a:off x="4080" y="2832"/>
              <a:ext cx="19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600" b="1"/>
                <a:t>N</a:t>
              </a:r>
            </a:p>
          </p:txBody>
        </p:sp>
        <p:sp>
          <p:nvSpPr>
            <p:cNvPr id="28" name="Text Box 28"/>
            <p:cNvSpPr txBox="1">
              <a:spLocks noChangeArrowheads="1"/>
            </p:cNvSpPr>
            <p:nvPr/>
          </p:nvSpPr>
          <p:spPr bwMode="auto">
            <a:xfrm>
              <a:off x="3216" y="1680"/>
              <a:ext cx="19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600" b="1"/>
                <a:t>N</a:t>
              </a:r>
            </a:p>
          </p:txBody>
        </p:sp>
        <p:sp>
          <p:nvSpPr>
            <p:cNvPr id="29" name="Text Box 29"/>
            <p:cNvSpPr txBox="1">
              <a:spLocks noChangeArrowheads="1"/>
            </p:cNvSpPr>
            <p:nvPr/>
          </p:nvSpPr>
          <p:spPr bwMode="auto">
            <a:xfrm>
              <a:off x="4752" y="2428"/>
              <a:ext cx="19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600" b="1"/>
                <a:t>Y</a:t>
              </a:r>
            </a:p>
          </p:txBody>
        </p:sp>
        <p:sp>
          <p:nvSpPr>
            <p:cNvPr id="30" name="Text Box 30"/>
            <p:cNvSpPr txBox="1">
              <a:spLocks noChangeArrowheads="1"/>
            </p:cNvSpPr>
            <p:nvPr/>
          </p:nvSpPr>
          <p:spPr bwMode="auto">
            <a:xfrm>
              <a:off x="4032" y="2140"/>
              <a:ext cx="19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600" b="1"/>
                <a:t>Y</a:t>
              </a:r>
            </a:p>
          </p:txBody>
        </p:sp>
        <p:sp>
          <p:nvSpPr>
            <p:cNvPr id="31" name="AutoShape 31"/>
            <p:cNvSpPr>
              <a:spLocks noChangeArrowheads="1"/>
            </p:cNvSpPr>
            <p:nvPr/>
          </p:nvSpPr>
          <p:spPr bwMode="auto">
            <a:xfrm>
              <a:off x="3408" y="1632"/>
              <a:ext cx="1296" cy="528"/>
            </a:xfrm>
            <a:prstGeom prst="flowChartDecision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2" name="Text Box 32"/>
            <p:cNvSpPr txBox="1">
              <a:spLocks noChangeArrowheads="1"/>
            </p:cNvSpPr>
            <p:nvPr/>
          </p:nvSpPr>
          <p:spPr bwMode="auto">
            <a:xfrm>
              <a:off x="3450" y="1632"/>
              <a:ext cx="1248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lang="zh-CN" altLang="en-US" sz="1600" b="1"/>
                <a:t>是</a:t>
              </a:r>
            </a:p>
            <a:p>
              <a:pPr algn="ctr" eaLnBrk="1" hangingPunct="1"/>
              <a:r>
                <a:rPr lang="zh-CN" altLang="en-US" sz="1600" b="1"/>
                <a:t>第一个字符吗？</a:t>
              </a:r>
            </a:p>
          </p:txBody>
        </p:sp>
        <p:sp>
          <p:nvSpPr>
            <p:cNvPr id="33" name="Line 33"/>
            <p:cNvSpPr>
              <a:spLocks noChangeShapeType="1"/>
            </p:cNvSpPr>
            <p:nvPr/>
          </p:nvSpPr>
          <p:spPr bwMode="auto">
            <a:xfrm>
              <a:off x="4080" y="105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Line 34"/>
            <p:cNvSpPr>
              <a:spLocks noChangeShapeType="1"/>
            </p:cNvSpPr>
            <p:nvPr/>
          </p:nvSpPr>
          <p:spPr bwMode="auto">
            <a:xfrm flipH="1" flipV="1">
              <a:off x="2160" y="1152"/>
              <a:ext cx="19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Line 35"/>
            <p:cNvSpPr>
              <a:spLocks noChangeShapeType="1"/>
            </p:cNvSpPr>
            <p:nvPr/>
          </p:nvSpPr>
          <p:spPr bwMode="auto">
            <a:xfrm flipV="1">
              <a:off x="5040" y="2390"/>
              <a:ext cx="0" cy="2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Text Box 37"/>
            <p:cNvSpPr txBox="1">
              <a:spLocks noChangeArrowheads="1"/>
            </p:cNvSpPr>
            <p:nvPr/>
          </p:nvSpPr>
          <p:spPr bwMode="auto">
            <a:xfrm>
              <a:off x="2208" y="2064"/>
              <a:ext cx="19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600" b="1"/>
                <a:t>N</a:t>
              </a:r>
            </a:p>
          </p:txBody>
        </p:sp>
        <p:sp>
          <p:nvSpPr>
            <p:cNvPr id="37" name="Text Box 38"/>
            <p:cNvSpPr txBox="1">
              <a:spLocks noChangeArrowheads="1"/>
            </p:cNvSpPr>
            <p:nvPr/>
          </p:nvSpPr>
          <p:spPr bwMode="auto">
            <a:xfrm>
              <a:off x="3072" y="2496"/>
              <a:ext cx="19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600" b="1"/>
                <a:t>Y</a:t>
              </a:r>
            </a:p>
          </p:txBody>
        </p:sp>
        <p:sp>
          <p:nvSpPr>
            <p:cNvPr id="38" name="Text Box 39"/>
            <p:cNvSpPr txBox="1">
              <a:spLocks noChangeArrowheads="1"/>
            </p:cNvSpPr>
            <p:nvPr/>
          </p:nvSpPr>
          <p:spPr bwMode="auto">
            <a:xfrm>
              <a:off x="3552" y="816"/>
              <a:ext cx="1008" cy="21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1600" b="1"/>
                <a:t>置</a:t>
              </a:r>
              <a:r>
                <a:rPr lang="en-US" altLang="zh-CN" sz="1600" b="1"/>
                <a:t>FLAG</a:t>
              </a:r>
              <a:r>
                <a:rPr lang="zh-CN" altLang="en-US" sz="1600" b="1"/>
                <a:t>为</a:t>
              </a:r>
              <a:r>
                <a:rPr lang="en-US" altLang="zh-CN" sz="1600" b="1"/>
                <a:t>0</a:t>
              </a:r>
            </a:p>
          </p:txBody>
        </p:sp>
        <p:sp>
          <p:nvSpPr>
            <p:cNvPr id="39" name="Text Box 40"/>
            <p:cNvSpPr txBox="1">
              <a:spLocks noChangeArrowheads="1"/>
            </p:cNvSpPr>
            <p:nvPr/>
          </p:nvSpPr>
          <p:spPr bwMode="auto">
            <a:xfrm>
              <a:off x="3552" y="1248"/>
              <a:ext cx="1008" cy="21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1600" b="1"/>
                <a:t>接收一个字符</a:t>
              </a:r>
            </a:p>
          </p:txBody>
        </p:sp>
        <p:sp>
          <p:nvSpPr>
            <p:cNvPr id="40" name="Line 43"/>
            <p:cNvSpPr>
              <a:spLocks noChangeShapeType="1"/>
            </p:cNvSpPr>
            <p:nvPr/>
          </p:nvSpPr>
          <p:spPr bwMode="auto">
            <a:xfrm>
              <a:off x="4080" y="67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Line 44"/>
            <p:cNvSpPr>
              <a:spLocks noChangeShapeType="1"/>
            </p:cNvSpPr>
            <p:nvPr/>
          </p:nvSpPr>
          <p:spPr bwMode="auto">
            <a:xfrm>
              <a:off x="4080" y="148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Text Box 45"/>
            <p:cNvSpPr txBox="1">
              <a:spLocks noChangeArrowheads="1"/>
            </p:cNvSpPr>
            <p:nvPr/>
          </p:nvSpPr>
          <p:spPr bwMode="auto">
            <a:xfrm>
              <a:off x="2448" y="2140"/>
              <a:ext cx="124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lang="zh-CN" altLang="en-US" sz="1600" b="1"/>
                <a:t>是空格符吗？</a:t>
              </a:r>
            </a:p>
          </p:txBody>
        </p:sp>
        <p:sp>
          <p:nvSpPr>
            <p:cNvPr id="43" name="Text Box 46"/>
            <p:cNvSpPr txBox="1">
              <a:spLocks noChangeArrowheads="1"/>
            </p:cNvSpPr>
            <p:nvPr/>
          </p:nvSpPr>
          <p:spPr bwMode="auto">
            <a:xfrm>
              <a:off x="1776" y="1750"/>
              <a:ext cx="768" cy="21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1600" b="1"/>
                <a:t>存入缓冲区</a:t>
              </a:r>
            </a:p>
          </p:txBody>
        </p:sp>
        <p:sp>
          <p:nvSpPr>
            <p:cNvPr id="44" name="Line 47"/>
            <p:cNvSpPr>
              <a:spLocks noChangeShapeType="1"/>
            </p:cNvSpPr>
            <p:nvPr/>
          </p:nvSpPr>
          <p:spPr bwMode="auto">
            <a:xfrm flipH="1" flipV="1">
              <a:off x="4080" y="1152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Line 48"/>
            <p:cNvSpPr>
              <a:spLocks noChangeShapeType="1"/>
            </p:cNvSpPr>
            <p:nvPr/>
          </p:nvSpPr>
          <p:spPr bwMode="auto">
            <a:xfrm flipH="1">
              <a:off x="3072" y="2496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Line 49"/>
            <p:cNvSpPr>
              <a:spLocks noChangeShapeType="1"/>
            </p:cNvSpPr>
            <p:nvPr/>
          </p:nvSpPr>
          <p:spPr bwMode="auto">
            <a:xfrm flipH="1">
              <a:off x="3072" y="1872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880037333"/>
      </p:ext>
    </p:extLst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6" name="Rectangle 10"/>
          <p:cNvSpPr>
            <a:spLocks noGrp="1" noChangeArrowheads="1"/>
          </p:cNvSpPr>
          <p:nvPr>
            <p:ph type="body" idx="1"/>
          </p:nvPr>
        </p:nvSpPr>
        <p:spPr>
          <a:xfrm>
            <a:off x="397669" y="1052736"/>
            <a:ext cx="8530815" cy="5805264"/>
          </a:xfrm>
        </p:spPr>
        <p:txBody>
          <a:bodyPr/>
          <a:lstStyle/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zh-TW" altLang="zh-TW" sz="2000" dirty="0">
                <a:effectLst/>
              </a:rPr>
              <a:t>【</a:t>
            </a:r>
            <a:r>
              <a:rPr lang="zh-TW" altLang="en-US" sz="2000" dirty="0">
                <a:effectLst/>
              </a:rPr>
              <a:t>例</a:t>
            </a:r>
            <a:r>
              <a:rPr lang="en-US" altLang="zh-CN" sz="2000" dirty="0">
                <a:effectLst/>
              </a:rPr>
              <a:t>5.9</a:t>
            </a:r>
            <a:r>
              <a:rPr lang="zh-TW" altLang="zh-TW" sz="2000" dirty="0">
                <a:effectLst/>
              </a:rPr>
              <a:t>】</a:t>
            </a:r>
            <a:r>
              <a:rPr lang="zh-CN" altLang="en-US" sz="2000" dirty="0">
                <a:effectLst/>
              </a:rPr>
              <a:t>在数据段中，有一个按从小到大顺序排列的无符号数数组，其首地址存放在</a:t>
            </a:r>
            <a:r>
              <a:rPr lang="en-US" altLang="zh-CN" sz="2000" dirty="0">
                <a:effectLst/>
              </a:rPr>
              <a:t>DI</a:t>
            </a:r>
            <a:r>
              <a:rPr lang="zh-CN" altLang="en-US" sz="2000" dirty="0">
                <a:effectLst/>
              </a:rPr>
              <a:t>寄存器中，数组中的第一个字单元存放着数组长度。在</a:t>
            </a:r>
            <a:r>
              <a:rPr lang="en-US" altLang="zh-CN" sz="2000" dirty="0">
                <a:effectLst/>
              </a:rPr>
              <a:t>AX</a:t>
            </a:r>
            <a:r>
              <a:rPr lang="zh-CN" altLang="en-US" sz="2000" dirty="0">
                <a:effectLst/>
              </a:rPr>
              <a:t>中有一个无符号数，要求在数组中查找</a:t>
            </a:r>
            <a:r>
              <a:rPr lang="en-US" altLang="zh-CN" sz="2000" dirty="0">
                <a:effectLst/>
              </a:rPr>
              <a:t>(AX)</a:t>
            </a:r>
            <a:r>
              <a:rPr lang="zh-CN" altLang="en-US" sz="2000" dirty="0">
                <a:effectLst/>
              </a:rPr>
              <a:t>：</a:t>
            </a:r>
            <a:endParaRPr lang="en-US" altLang="zh-CN" sz="2000" dirty="0">
              <a:effectLst/>
            </a:endParaRPr>
          </a:p>
          <a:p>
            <a:pPr eaLnBrk="1" hangingPunct="1">
              <a:lnSpc>
                <a:spcPct val="110000"/>
              </a:lnSpc>
            </a:pPr>
            <a:r>
              <a:rPr lang="zh-CN" altLang="en-US" sz="2000" dirty="0">
                <a:effectLst/>
              </a:rPr>
              <a:t>如找到，则使</a:t>
            </a:r>
            <a:r>
              <a:rPr lang="en-US" altLang="zh-CN" sz="2000" dirty="0">
                <a:effectLst/>
              </a:rPr>
              <a:t>CF=0</a:t>
            </a:r>
            <a:r>
              <a:rPr lang="zh-CN" altLang="en-US" sz="2000" dirty="0">
                <a:effectLst/>
              </a:rPr>
              <a:t>，并在</a:t>
            </a:r>
            <a:r>
              <a:rPr lang="en-US" altLang="zh-CN" sz="2000" dirty="0">
                <a:effectLst/>
              </a:rPr>
              <a:t>SI</a:t>
            </a:r>
            <a:r>
              <a:rPr lang="zh-CN" altLang="en-US" sz="2000" dirty="0">
                <a:effectLst/>
              </a:rPr>
              <a:t>中给出该元素在数组中的偏移地址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2000" dirty="0">
                <a:effectLst/>
              </a:rPr>
              <a:t>如未找到，则使</a:t>
            </a:r>
            <a:r>
              <a:rPr lang="en-US" altLang="zh-CN" sz="2000" dirty="0">
                <a:effectLst/>
              </a:rPr>
              <a:t>CF=1</a:t>
            </a:r>
            <a:r>
              <a:rPr lang="zh-CN" altLang="en-US" sz="2000" dirty="0">
                <a:effectLst/>
              </a:rPr>
              <a:t>，并使</a:t>
            </a:r>
            <a:r>
              <a:rPr lang="en-US" altLang="zh-CN" sz="2000" dirty="0">
                <a:effectLst/>
              </a:rPr>
              <a:t>SI</a:t>
            </a:r>
            <a:r>
              <a:rPr lang="zh-CN" altLang="en-US" sz="2000" dirty="0">
                <a:effectLst/>
              </a:rPr>
              <a:t>中存放最后一次比较的数组元素的偏移地址</a:t>
            </a:r>
            <a:endParaRPr lang="en-US" altLang="zh-CN" sz="2000" dirty="0">
              <a:effectLst/>
            </a:endParaRPr>
          </a:p>
          <a:p>
            <a:pPr marL="0" indent="0">
              <a:spcBef>
                <a:spcPts val="600"/>
              </a:spcBef>
              <a:buNone/>
            </a:pPr>
            <a:r>
              <a:rPr kumimoji="1" lang="zh-CN" altLang="en-US" sz="2000" dirty="0">
                <a:solidFill>
                  <a:schemeClr val="accent2"/>
                </a:solidFill>
                <a:latin typeface="Arial" charset="0"/>
              </a:rPr>
              <a:t>折半查找：在一个长度为</a:t>
            </a:r>
            <a:r>
              <a:rPr kumimoji="1" lang="en-US" altLang="zh-CN" sz="2000" dirty="0">
                <a:solidFill>
                  <a:schemeClr val="accent2"/>
                </a:solidFill>
                <a:latin typeface="Arial" charset="0"/>
              </a:rPr>
              <a:t>n </a:t>
            </a:r>
            <a:r>
              <a:rPr kumimoji="1" lang="zh-CN" altLang="en-US" sz="2000" dirty="0">
                <a:solidFill>
                  <a:schemeClr val="accent2"/>
                </a:solidFill>
                <a:latin typeface="Arial" charset="0"/>
              </a:rPr>
              <a:t>的有序数组</a:t>
            </a:r>
            <a:r>
              <a:rPr kumimoji="1" lang="en-US" altLang="zh-CN" sz="2000" dirty="0">
                <a:solidFill>
                  <a:schemeClr val="accent2"/>
                </a:solidFill>
                <a:latin typeface="Arial" charset="0"/>
              </a:rPr>
              <a:t>r</a:t>
            </a:r>
            <a:r>
              <a:rPr kumimoji="1" lang="zh-CN" altLang="en-US" sz="2000" dirty="0">
                <a:solidFill>
                  <a:schemeClr val="accent2"/>
                </a:solidFill>
                <a:latin typeface="Arial" charset="0"/>
              </a:rPr>
              <a:t>中，查找元素</a:t>
            </a:r>
            <a:r>
              <a:rPr kumimoji="1" lang="en-US" altLang="zh-CN" sz="2000" dirty="0">
                <a:solidFill>
                  <a:schemeClr val="accent2"/>
                </a:solidFill>
                <a:latin typeface="Arial" charset="0"/>
              </a:rPr>
              <a:t>k</a:t>
            </a:r>
            <a:r>
              <a:rPr kumimoji="1" lang="zh-CN" altLang="en-US" sz="2000" dirty="0">
                <a:solidFill>
                  <a:schemeClr val="accent2"/>
                </a:solidFill>
                <a:latin typeface="Arial" charset="0"/>
              </a:rPr>
              <a:t>的折半查找算法可描述如下：</a:t>
            </a:r>
          </a:p>
          <a:p>
            <a:pPr marL="0" indent="0">
              <a:spcBef>
                <a:spcPts val="600"/>
              </a:spcBef>
              <a:buNone/>
            </a:pPr>
            <a:r>
              <a:rPr kumimoji="1" lang="zh-CN" altLang="en-US" sz="2000" b="0" dirty="0">
                <a:solidFill>
                  <a:srgbClr val="FF0000"/>
                </a:solidFill>
                <a:effectLst/>
                <a:latin typeface="Arial" charset="0"/>
              </a:rPr>
              <a:t>（</a:t>
            </a:r>
            <a:r>
              <a:rPr kumimoji="1" lang="en-US" altLang="zh-CN" sz="2000" b="0" dirty="0">
                <a:solidFill>
                  <a:srgbClr val="FF0000"/>
                </a:solidFill>
                <a:effectLst/>
                <a:latin typeface="Arial" charset="0"/>
              </a:rPr>
              <a:t>1</a:t>
            </a:r>
            <a:r>
              <a:rPr kumimoji="1" lang="zh-CN" altLang="en-US" sz="2000" b="0" dirty="0">
                <a:solidFill>
                  <a:srgbClr val="FF0000"/>
                </a:solidFill>
                <a:effectLst/>
                <a:latin typeface="Arial" charset="0"/>
              </a:rPr>
              <a:t>）初始化被查找数组的首尾下标，</a:t>
            </a:r>
            <a:r>
              <a:rPr kumimoji="1" lang="en-US" altLang="zh-CN" sz="2000" b="0" dirty="0">
                <a:solidFill>
                  <a:srgbClr val="FF0000"/>
                </a:solidFill>
                <a:effectLst/>
                <a:latin typeface="Arial" charset="0"/>
              </a:rPr>
              <a:t>low</a:t>
            </a:r>
            <a:r>
              <a:rPr kumimoji="1" lang="en-US" altLang="zh-CN" sz="2000" b="0" dirty="0">
                <a:solidFill>
                  <a:srgbClr val="FF0000"/>
                </a:solidFill>
                <a:effectLst/>
                <a:latin typeface="Arial" charset="0"/>
                <a:sym typeface="Wingdings" pitchFamily="2" charset="2"/>
              </a:rPr>
              <a:t>1</a:t>
            </a:r>
            <a:r>
              <a:rPr kumimoji="1" lang="zh-CN" altLang="en-US" sz="2000" b="0" dirty="0">
                <a:solidFill>
                  <a:srgbClr val="FF0000"/>
                </a:solidFill>
                <a:effectLst/>
                <a:latin typeface="Arial" charset="0"/>
                <a:sym typeface="Wingdings" pitchFamily="2" charset="2"/>
              </a:rPr>
              <a:t>，</a:t>
            </a:r>
            <a:r>
              <a:rPr kumimoji="1" lang="en-US" altLang="zh-CN" sz="2000" b="0" dirty="0" err="1">
                <a:solidFill>
                  <a:srgbClr val="FF0000"/>
                </a:solidFill>
                <a:effectLst/>
                <a:latin typeface="Arial" charset="0"/>
                <a:sym typeface="Wingdings" pitchFamily="2" charset="2"/>
              </a:rPr>
              <a:t>highn</a:t>
            </a:r>
            <a:r>
              <a:rPr kumimoji="1" lang="zh-CN" altLang="en-US" sz="2000" b="0" dirty="0">
                <a:solidFill>
                  <a:srgbClr val="FF0000"/>
                </a:solidFill>
                <a:effectLst/>
                <a:latin typeface="Arial" charset="0"/>
                <a:sym typeface="Wingdings" pitchFamily="2" charset="2"/>
              </a:rPr>
              <a:t>；</a:t>
            </a:r>
          </a:p>
          <a:p>
            <a:pPr marL="0" indent="0">
              <a:spcBef>
                <a:spcPts val="600"/>
              </a:spcBef>
              <a:buNone/>
            </a:pPr>
            <a:r>
              <a:rPr kumimoji="1" lang="zh-CN" altLang="en-US" sz="2000" b="0" dirty="0">
                <a:solidFill>
                  <a:srgbClr val="FF0000"/>
                </a:solidFill>
                <a:effectLst/>
                <a:latin typeface="Arial" charset="0"/>
                <a:sym typeface="Wingdings" pitchFamily="2" charset="2"/>
              </a:rPr>
              <a:t>（</a:t>
            </a:r>
            <a:r>
              <a:rPr kumimoji="1" lang="en-US" altLang="zh-CN" sz="2000" b="0" dirty="0">
                <a:solidFill>
                  <a:srgbClr val="FF0000"/>
                </a:solidFill>
                <a:effectLst/>
                <a:latin typeface="Arial" charset="0"/>
                <a:sym typeface="Wingdings" pitchFamily="2" charset="2"/>
              </a:rPr>
              <a:t>2</a:t>
            </a:r>
            <a:r>
              <a:rPr kumimoji="1" lang="zh-CN" altLang="en-US" sz="2000" b="0" dirty="0">
                <a:solidFill>
                  <a:srgbClr val="FF0000"/>
                </a:solidFill>
                <a:effectLst/>
                <a:latin typeface="Arial" charset="0"/>
                <a:sym typeface="Wingdings" pitchFamily="2" charset="2"/>
              </a:rPr>
              <a:t>）若</a:t>
            </a:r>
            <a:r>
              <a:rPr kumimoji="1" lang="en-US" altLang="zh-CN" sz="2000" b="0" dirty="0">
                <a:solidFill>
                  <a:srgbClr val="FF0000"/>
                </a:solidFill>
                <a:effectLst/>
                <a:latin typeface="Arial" charset="0"/>
                <a:sym typeface="Wingdings" pitchFamily="2" charset="2"/>
              </a:rPr>
              <a:t>low&gt;high</a:t>
            </a:r>
            <a:r>
              <a:rPr kumimoji="1" lang="zh-CN" altLang="en-US" sz="2000" b="0" dirty="0">
                <a:solidFill>
                  <a:srgbClr val="FF0000"/>
                </a:solidFill>
                <a:effectLst/>
                <a:latin typeface="Arial" charset="0"/>
                <a:sym typeface="Wingdings" pitchFamily="2" charset="2"/>
              </a:rPr>
              <a:t>，则查找失败，置</a:t>
            </a:r>
            <a:r>
              <a:rPr kumimoji="1" lang="en-US" altLang="zh-CN" sz="2000" b="0" dirty="0">
                <a:solidFill>
                  <a:srgbClr val="FF0000"/>
                </a:solidFill>
                <a:effectLst/>
                <a:latin typeface="Arial" charset="0"/>
                <a:sym typeface="Wingdings" pitchFamily="2" charset="2"/>
              </a:rPr>
              <a:t>CF=1</a:t>
            </a:r>
            <a:r>
              <a:rPr kumimoji="1" lang="zh-CN" altLang="en-US" sz="2000" b="0" dirty="0">
                <a:solidFill>
                  <a:srgbClr val="FF0000"/>
                </a:solidFill>
                <a:effectLst/>
                <a:latin typeface="Arial" charset="0"/>
                <a:sym typeface="Wingdings" pitchFamily="2" charset="2"/>
              </a:rPr>
              <a:t>，退出程序。否则，计算中点</a:t>
            </a:r>
            <a:r>
              <a:rPr kumimoji="1" lang="en-US" altLang="zh-CN" sz="2000" b="0" dirty="0">
                <a:solidFill>
                  <a:srgbClr val="FF0000"/>
                </a:solidFill>
                <a:effectLst/>
                <a:latin typeface="Arial" charset="0"/>
                <a:sym typeface="Wingdings" pitchFamily="2" charset="2"/>
              </a:rPr>
              <a:t>mid[(</a:t>
            </a:r>
            <a:r>
              <a:rPr kumimoji="1" lang="en-US" altLang="zh-CN" sz="2000" b="0" dirty="0" err="1">
                <a:solidFill>
                  <a:srgbClr val="FF0000"/>
                </a:solidFill>
                <a:effectLst/>
                <a:latin typeface="Arial" charset="0"/>
                <a:sym typeface="Wingdings" pitchFamily="2" charset="2"/>
              </a:rPr>
              <a:t>low+high</a:t>
            </a:r>
            <a:r>
              <a:rPr kumimoji="1" lang="en-US" altLang="zh-CN" sz="2000" b="0" dirty="0">
                <a:solidFill>
                  <a:srgbClr val="FF0000"/>
                </a:solidFill>
                <a:effectLst/>
                <a:latin typeface="Arial" charset="0"/>
                <a:sym typeface="Wingdings" pitchFamily="2" charset="2"/>
              </a:rPr>
              <a:t>)/2]</a:t>
            </a:r>
            <a:r>
              <a:rPr kumimoji="1" lang="zh-CN" altLang="en-US" sz="2000" b="0" dirty="0">
                <a:solidFill>
                  <a:srgbClr val="FF0000"/>
                </a:solidFill>
                <a:effectLst/>
                <a:latin typeface="Arial" charset="0"/>
                <a:sym typeface="Wingdings" pitchFamily="2" charset="2"/>
              </a:rPr>
              <a:t>；</a:t>
            </a:r>
          </a:p>
          <a:p>
            <a:pPr marL="0" indent="0">
              <a:spcBef>
                <a:spcPts val="600"/>
              </a:spcBef>
              <a:buNone/>
            </a:pPr>
            <a:r>
              <a:rPr kumimoji="1" lang="zh-CN" altLang="en-US" sz="2000" b="0" dirty="0">
                <a:solidFill>
                  <a:srgbClr val="FF0000"/>
                </a:solidFill>
                <a:effectLst/>
                <a:latin typeface="Arial" charset="0"/>
                <a:sym typeface="Wingdings" pitchFamily="2" charset="2"/>
              </a:rPr>
              <a:t>（</a:t>
            </a:r>
            <a:r>
              <a:rPr kumimoji="1" lang="en-US" altLang="zh-CN" sz="2000" b="0" dirty="0">
                <a:solidFill>
                  <a:srgbClr val="FF0000"/>
                </a:solidFill>
                <a:effectLst/>
                <a:latin typeface="Arial" charset="0"/>
                <a:sym typeface="Wingdings" pitchFamily="2" charset="2"/>
              </a:rPr>
              <a:t>3</a:t>
            </a:r>
            <a:r>
              <a:rPr kumimoji="1" lang="zh-CN" altLang="en-US" sz="2000" b="0" dirty="0">
                <a:solidFill>
                  <a:srgbClr val="FF0000"/>
                </a:solidFill>
                <a:effectLst/>
                <a:latin typeface="Arial" charset="0"/>
                <a:sym typeface="Wingdings" pitchFamily="2" charset="2"/>
              </a:rPr>
              <a:t>）</a:t>
            </a:r>
            <a:r>
              <a:rPr kumimoji="1" lang="en-US" altLang="zh-CN" sz="2000" b="0" dirty="0">
                <a:solidFill>
                  <a:srgbClr val="FF0000"/>
                </a:solidFill>
                <a:effectLst/>
                <a:latin typeface="Arial" charset="0"/>
                <a:sym typeface="Wingdings" pitchFamily="2" charset="2"/>
              </a:rPr>
              <a:t>k</a:t>
            </a:r>
            <a:r>
              <a:rPr kumimoji="1" lang="zh-CN" altLang="en-US" sz="2000" b="0" dirty="0">
                <a:solidFill>
                  <a:srgbClr val="FF0000"/>
                </a:solidFill>
                <a:effectLst/>
                <a:latin typeface="Arial" charset="0"/>
                <a:sym typeface="Wingdings" pitchFamily="2" charset="2"/>
              </a:rPr>
              <a:t>与中点元素</a:t>
            </a:r>
            <a:r>
              <a:rPr kumimoji="1" lang="en-US" altLang="zh-CN" sz="2000" b="0" dirty="0">
                <a:solidFill>
                  <a:srgbClr val="FF0000"/>
                </a:solidFill>
                <a:effectLst/>
                <a:latin typeface="Arial" charset="0"/>
                <a:sym typeface="Wingdings" pitchFamily="2" charset="2"/>
              </a:rPr>
              <a:t>r[mid]</a:t>
            </a:r>
            <a:r>
              <a:rPr kumimoji="1" lang="zh-CN" altLang="en-US" sz="2000" b="0" dirty="0">
                <a:solidFill>
                  <a:srgbClr val="FF0000"/>
                </a:solidFill>
                <a:effectLst/>
                <a:latin typeface="Arial" charset="0"/>
                <a:sym typeface="Wingdings" pitchFamily="2" charset="2"/>
              </a:rPr>
              <a:t>比较。若</a:t>
            </a:r>
            <a:r>
              <a:rPr kumimoji="1" lang="en-US" altLang="zh-CN" sz="2000" b="0" dirty="0">
                <a:solidFill>
                  <a:srgbClr val="FF0000"/>
                </a:solidFill>
                <a:effectLst/>
                <a:latin typeface="Arial" charset="0"/>
                <a:sym typeface="Wingdings" pitchFamily="2" charset="2"/>
              </a:rPr>
              <a:t>k=r[mid]</a:t>
            </a:r>
            <a:r>
              <a:rPr kumimoji="1" lang="zh-CN" altLang="en-US" sz="2000" b="0" dirty="0">
                <a:solidFill>
                  <a:srgbClr val="FF0000"/>
                </a:solidFill>
                <a:effectLst/>
                <a:latin typeface="Arial" charset="0"/>
                <a:sym typeface="Wingdings" pitchFamily="2" charset="2"/>
              </a:rPr>
              <a:t>，则查找成功，程序结束；若</a:t>
            </a:r>
            <a:r>
              <a:rPr kumimoji="1" lang="en-US" altLang="zh-CN" sz="2000" b="0" dirty="0">
                <a:solidFill>
                  <a:srgbClr val="FF0000"/>
                </a:solidFill>
                <a:effectLst/>
                <a:latin typeface="Arial" charset="0"/>
                <a:sym typeface="Wingdings" pitchFamily="2" charset="2"/>
              </a:rPr>
              <a:t>k&lt;r[mid]</a:t>
            </a:r>
            <a:r>
              <a:rPr kumimoji="1" lang="zh-CN" altLang="en-US" sz="2000" b="0" dirty="0">
                <a:solidFill>
                  <a:srgbClr val="FF0000"/>
                </a:solidFill>
                <a:effectLst/>
                <a:latin typeface="Arial" charset="0"/>
                <a:sym typeface="Wingdings" pitchFamily="2" charset="2"/>
              </a:rPr>
              <a:t>，则转（</a:t>
            </a:r>
            <a:r>
              <a:rPr kumimoji="1" lang="en-US" altLang="zh-CN" sz="2000" b="0" dirty="0">
                <a:solidFill>
                  <a:srgbClr val="FF0000"/>
                </a:solidFill>
                <a:effectLst/>
                <a:latin typeface="Arial" charset="0"/>
                <a:sym typeface="Wingdings" pitchFamily="2" charset="2"/>
              </a:rPr>
              <a:t>4</a:t>
            </a:r>
            <a:r>
              <a:rPr kumimoji="1" lang="zh-CN" altLang="en-US" sz="2000" b="0" dirty="0">
                <a:solidFill>
                  <a:srgbClr val="FF0000"/>
                </a:solidFill>
                <a:effectLst/>
                <a:latin typeface="Arial" charset="0"/>
                <a:sym typeface="Wingdings" pitchFamily="2" charset="2"/>
              </a:rPr>
              <a:t>）；若</a:t>
            </a:r>
            <a:r>
              <a:rPr kumimoji="1" lang="en-US" altLang="zh-CN" sz="2000" b="0" dirty="0">
                <a:solidFill>
                  <a:srgbClr val="FF0000"/>
                </a:solidFill>
                <a:effectLst/>
                <a:latin typeface="Arial" charset="0"/>
                <a:sym typeface="Wingdings" pitchFamily="2" charset="2"/>
              </a:rPr>
              <a:t>k&gt;r[mid]</a:t>
            </a:r>
            <a:r>
              <a:rPr kumimoji="1" lang="zh-CN" altLang="en-US" sz="2000" b="0" dirty="0">
                <a:solidFill>
                  <a:srgbClr val="FF0000"/>
                </a:solidFill>
                <a:effectLst/>
                <a:latin typeface="Arial" charset="0"/>
                <a:sym typeface="Wingdings" pitchFamily="2" charset="2"/>
              </a:rPr>
              <a:t>，则转（</a:t>
            </a:r>
            <a:r>
              <a:rPr kumimoji="1" lang="en-US" altLang="zh-CN" sz="2000" b="0" dirty="0">
                <a:solidFill>
                  <a:srgbClr val="FF0000"/>
                </a:solidFill>
                <a:effectLst/>
                <a:latin typeface="Arial" charset="0"/>
                <a:sym typeface="Wingdings" pitchFamily="2" charset="2"/>
              </a:rPr>
              <a:t>5</a:t>
            </a:r>
            <a:r>
              <a:rPr kumimoji="1" lang="zh-CN" altLang="en-US" sz="2000" b="0" dirty="0">
                <a:solidFill>
                  <a:srgbClr val="FF0000"/>
                </a:solidFill>
                <a:effectLst/>
                <a:latin typeface="Arial" charset="0"/>
                <a:sym typeface="Wingdings" pitchFamily="2" charset="2"/>
              </a:rPr>
              <a:t>）；</a:t>
            </a:r>
          </a:p>
          <a:p>
            <a:pPr marL="0" indent="0">
              <a:spcBef>
                <a:spcPts val="600"/>
              </a:spcBef>
              <a:buNone/>
            </a:pPr>
            <a:r>
              <a:rPr kumimoji="1" lang="zh-CN" altLang="en-US" sz="2000" b="0" dirty="0">
                <a:solidFill>
                  <a:srgbClr val="FF0000"/>
                </a:solidFill>
                <a:effectLst/>
                <a:latin typeface="Arial" charset="0"/>
                <a:sym typeface="Wingdings" pitchFamily="2" charset="2"/>
              </a:rPr>
              <a:t>（</a:t>
            </a:r>
            <a:r>
              <a:rPr kumimoji="1" lang="en-US" altLang="zh-CN" sz="2000" b="0" dirty="0">
                <a:solidFill>
                  <a:srgbClr val="FF0000"/>
                </a:solidFill>
                <a:effectLst/>
                <a:latin typeface="Arial" charset="0"/>
                <a:sym typeface="Wingdings" pitchFamily="2" charset="2"/>
              </a:rPr>
              <a:t>4</a:t>
            </a:r>
            <a:r>
              <a:rPr kumimoji="1" lang="zh-CN" altLang="en-US" sz="2000" b="0" dirty="0">
                <a:solidFill>
                  <a:srgbClr val="FF0000"/>
                </a:solidFill>
                <a:effectLst/>
                <a:latin typeface="Arial" charset="0"/>
                <a:sym typeface="Wingdings" pitchFamily="2" charset="2"/>
              </a:rPr>
              <a:t>）低半部分查找，</a:t>
            </a:r>
            <a:r>
              <a:rPr kumimoji="1" lang="en-US" altLang="zh-CN" sz="2000" b="0" dirty="0">
                <a:solidFill>
                  <a:srgbClr val="FF0000"/>
                </a:solidFill>
                <a:effectLst/>
                <a:latin typeface="Arial" charset="0"/>
                <a:sym typeface="Wingdings" pitchFamily="2" charset="2"/>
              </a:rPr>
              <a:t>highmid-1</a:t>
            </a:r>
            <a:r>
              <a:rPr kumimoji="1" lang="zh-CN" altLang="en-US" sz="2000" b="0" dirty="0">
                <a:solidFill>
                  <a:srgbClr val="FF0000"/>
                </a:solidFill>
                <a:effectLst/>
                <a:latin typeface="Arial" charset="0"/>
                <a:sym typeface="Wingdings" pitchFamily="2" charset="2"/>
              </a:rPr>
              <a:t>，返回（</a:t>
            </a:r>
            <a:r>
              <a:rPr kumimoji="1" lang="en-US" altLang="zh-CN" sz="2000" b="0" dirty="0">
                <a:solidFill>
                  <a:srgbClr val="FF0000"/>
                </a:solidFill>
                <a:effectLst/>
                <a:latin typeface="Arial" charset="0"/>
                <a:sym typeface="Wingdings" pitchFamily="2" charset="2"/>
              </a:rPr>
              <a:t>2</a:t>
            </a:r>
            <a:r>
              <a:rPr kumimoji="1" lang="zh-CN" altLang="en-US" sz="2000" b="0" dirty="0">
                <a:solidFill>
                  <a:srgbClr val="FF0000"/>
                </a:solidFill>
                <a:effectLst/>
                <a:latin typeface="Arial" charset="0"/>
                <a:sym typeface="Wingdings" pitchFamily="2" charset="2"/>
              </a:rPr>
              <a:t>），继续查找；</a:t>
            </a:r>
          </a:p>
          <a:p>
            <a:pPr marL="0" indent="0">
              <a:spcBef>
                <a:spcPts val="600"/>
              </a:spcBef>
              <a:buNone/>
            </a:pPr>
            <a:r>
              <a:rPr kumimoji="1" lang="zh-CN" altLang="en-US" sz="2000" b="0" dirty="0">
                <a:solidFill>
                  <a:srgbClr val="FF0000"/>
                </a:solidFill>
                <a:effectLst/>
                <a:latin typeface="Arial" charset="0"/>
                <a:sym typeface="Wingdings" pitchFamily="2" charset="2"/>
              </a:rPr>
              <a:t>（</a:t>
            </a:r>
            <a:r>
              <a:rPr kumimoji="1" lang="en-US" altLang="zh-CN" sz="2000" b="0" dirty="0">
                <a:solidFill>
                  <a:srgbClr val="FF0000"/>
                </a:solidFill>
                <a:effectLst/>
                <a:latin typeface="Arial" charset="0"/>
                <a:sym typeface="Wingdings" pitchFamily="2" charset="2"/>
              </a:rPr>
              <a:t>5</a:t>
            </a:r>
            <a:r>
              <a:rPr kumimoji="1" lang="zh-CN" altLang="en-US" sz="2000" b="0" dirty="0">
                <a:solidFill>
                  <a:srgbClr val="FF0000"/>
                </a:solidFill>
                <a:effectLst/>
                <a:latin typeface="Arial" charset="0"/>
                <a:sym typeface="Wingdings" pitchFamily="2" charset="2"/>
              </a:rPr>
              <a:t>）高半部分查找，</a:t>
            </a:r>
            <a:r>
              <a:rPr kumimoji="1" lang="en-US" altLang="zh-CN" sz="2000" b="0" dirty="0">
                <a:solidFill>
                  <a:srgbClr val="FF0000"/>
                </a:solidFill>
                <a:effectLst/>
                <a:latin typeface="Arial" charset="0"/>
                <a:sym typeface="Wingdings" pitchFamily="2" charset="2"/>
              </a:rPr>
              <a:t>lowmid+1</a:t>
            </a:r>
            <a:r>
              <a:rPr kumimoji="1" lang="zh-CN" altLang="en-US" sz="2000" b="0" dirty="0">
                <a:solidFill>
                  <a:srgbClr val="FF0000"/>
                </a:solidFill>
                <a:effectLst/>
                <a:latin typeface="Arial" charset="0"/>
                <a:sym typeface="Wingdings" pitchFamily="2" charset="2"/>
              </a:rPr>
              <a:t>，返回（</a:t>
            </a:r>
            <a:r>
              <a:rPr kumimoji="1" lang="en-US" altLang="zh-CN" sz="2000" b="0" dirty="0">
                <a:solidFill>
                  <a:srgbClr val="FF0000"/>
                </a:solidFill>
                <a:effectLst/>
                <a:latin typeface="Arial" charset="0"/>
                <a:sym typeface="Wingdings" pitchFamily="2" charset="2"/>
              </a:rPr>
              <a:t>2</a:t>
            </a:r>
            <a:r>
              <a:rPr kumimoji="1" lang="zh-CN" altLang="en-US" sz="2000" b="0" dirty="0">
                <a:solidFill>
                  <a:srgbClr val="FF0000"/>
                </a:solidFill>
                <a:effectLst/>
                <a:latin typeface="Arial" charset="0"/>
                <a:sym typeface="Wingdings" pitchFamily="2" charset="2"/>
              </a:rPr>
              <a:t>），继续查找。</a:t>
            </a:r>
          </a:p>
          <a:p>
            <a:pPr marL="0" indent="0" eaLnBrk="1" hangingPunct="1">
              <a:lnSpc>
                <a:spcPct val="110000"/>
              </a:lnSpc>
              <a:buNone/>
            </a:pPr>
            <a:endParaRPr lang="en-US" altLang="zh-CN" sz="2000" dirty="0">
              <a:effectLst/>
            </a:endParaRPr>
          </a:p>
          <a:p>
            <a:pPr eaLnBrk="1" hangingPunct="1">
              <a:lnSpc>
                <a:spcPct val="110000"/>
              </a:lnSpc>
            </a:pPr>
            <a:endParaRPr lang="zh-CN" altLang="en-US" sz="2000" dirty="0">
              <a:effectLst/>
            </a:endParaRPr>
          </a:p>
        </p:txBody>
      </p:sp>
      <p:sp>
        <p:nvSpPr>
          <p:cNvPr id="6" name="文本框 1"/>
          <p:cNvSpPr txBox="1"/>
          <p:nvPr/>
        </p:nvSpPr>
        <p:spPr>
          <a:xfrm>
            <a:off x="359532" y="317499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分枝结构程序设计</a:t>
            </a:r>
          </a:p>
        </p:txBody>
      </p:sp>
    </p:spTree>
    <p:extLst>
      <p:ext uri="{BB962C8B-B14F-4D97-AF65-F5344CB8AC3E}">
        <p14:creationId xmlns:p14="http://schemas.microsoft.com/office/powerpoint/2010/main" val="3277330351"/>
      </p:ext>
    </p:extLst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6" name="Group 46"/>
          <p:cNvGrpSpPr>
            <a:grpSpLocks/>
          </p:cNvGrpSpPr>
          <p:nvPr/>
        </p:nvGrpSpPr>
        <p:grpSpPr bwMode="auto">
          <a:xfrm>
            <a:off x="1077913" y="253306"/>
            <a:ext cx="7010400" cy="6096000"/>
            <a:chOff x="384" y="144"/>
            <a:chExt cx="4416" cy="3840"/>
          </a:xfrm>
        </p:grpSpPr>
        <p:sp>
          <p:nvSpPr>
            <p:cNvPr id="41988" name="AutoShape 5"/>
            <p:cNvSpPr>
              <a:spLocks noChangeArrowheads="1"/>
            </p:cNvSpPr>
            <p:nvPr/>
          </p:nvSpPr>
          <p:spPr bwMode="auto">
            <a:xfrm>
              <a:off x="2427" y="164"/>
              <a:ext cx="576" cy="192"/>
            </a:xfrm>
            <a:prstGeom prst="flowChartTerminator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1989" name="Text Box 6"/>
            <p:cNvSpPr txBox="1">
              <a:spLocks noChangeArrowheads="1"/>
            </p:cNvSpPr>
            <p:nvPr/>
          </p:nvSpPr>
          <p:spPr bwMode="auto">
            <a:xfrm>
              <a:off x="2523" y="144"/>
              <a:ext cx="43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1600" b="1"/>
                <a:t>开始</a:t>
              </a:r>
            </a:p>
          </p:txBody>
        </p:sp>
        <p:sp>
          <p:nvSpPr>
            <p:cNvPr id="41990" name="AutoShape 7"/>
            <p:cNvSpPr>
              <a:spLocks noChangeArrowheads="1"/>
            </p:cNvSpPr>
            <p:nvPr/>
          </p:nvSpPr>
          <p:spPr bwMode="auto">
            <a:xfrm>
              <a:off x="3840" y="3476"/>
              <a:ext cx="576" cy="192"/>
            </a:xfrm>
            <a:prstGeom prst="flowChartTerminator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1991" name="Text Box 8"/>
            <p:cNvSpPr txBox="1">
              <a:spLocks noChangeArrowheads="1"/>
            </p:cNvSpPr>
            <p:nvPr/>
          </p:nvSpPr>
          <p:spPr bwMode="auto">
            <a:xfrm>
              <a:off x="3936" y="3456"/>
              <a:ext cx="43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1600" b="1"/>
                <a:t>结束</a:t>
              </a:r>
            </a:p>
          </p:txBody>
        </p:sp>
        <p:sp>
          <p:nvSpPr>
            <p:cNvPr id="41992" name="Text Box 9"/>
            <p:cNvSpPr txBox="1">
              <a:spLocks noChangeArrowheads="1"/>
            </p:cNvSpPr>
            <p:nvPr/>
          </p:nvSpPr>
          <p:spPr bwMode="auto">
            <a:xfrm>
              <a:off x="1968" y="500"/>
              <a:ext cx="1488" cy="21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1600" b="1"/>
                <a:t>初始化</a:t>
              </a:r>
              <a:r>
                <a:rPr lang="en-US" altLang="zh-CN" sz="1600" b="1"/>
                <a:t>low,high</a:t>
              </a:r>
            </a:p>
          </p:txBody>
        </p:sp>
        <p:sp>
          <p:nvSpPr>
            <p:cNvPr id="41993" name="Text Box 10"/>
            <p:cNvSpPr txBox="1">
              <a:spLocks noChangeArrowheads="1"/>
            </p:cNvSpPr>
            <p:nvPr/>
          </p:nvSpPr>
          <p:spPr bwMode="auto">
            <a:xfrm>
              <a:off x="1872" y="2394"/>
              <a:ext cx="1680" cy="21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600" b="1"/>
                <a:t>SI</a:t>
              </a:r>
              <a:r>
                <a:rPr lang="en-US" altLang="zh-TW" sz="1600" b="1"/>
                <a:t>←</a:t>
              </a:r>
              <a:r>
                <a:rPr lang="zh-CN" altLang="en-US" sz="1600" b="1"/>
                <a:t>所查找元素的偏移地址</a:t>
              </a:r>
            </a:p>
          </p:txBody>
        </p:sp>
        <p:sp>
          <p:nvSpPr>
            <p:cNvPr id="41994" name="Text Box 11"/>
            <p:cNvSpPr txBox="1">
              <a:spLocks noChangeArrowheads="1"/>
            </p:cNvSpPr>
            <p:nvPr/>
          </p:nvSpPr>
          <p:spPr bwMode="auto">
            <a:xfrm>
              <a:off x="2112" y="3572"/>
              <a:ext cx="1248" cy="21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600" b="1"/>
                <a:t>high</a:t>
              </a:r>
              <a:r>
                <a:rPr lang="en-US" altLang="zh-TW" sz="1600" b="1"/>
                <a:t>←</a:t>
              </a:r>
              <a:r>
                <a:rPr lang="en-US" altLang="zh-CN" sz="1600" b="1"/>
                <a:t>mid-1</a:t>
              </a:r>
            </a:p>
          </p:txBody>
        </p:sp>
        <p:sp>
          <p:nvSpPr>
            <p:cNvPr id="41995" name="AutoShape 12"/>
            <p:cNvSpPr>
              <a:spLocks noChangeArrowheads="1"/>
            </p:cNvSpPr>
            <p:nvPr/>
          </p:nvSpPr>
          <p:spPr bwMode="auto">
            <a:xfrm>
              <a:off x="2070" y="932"/>
              <a:ext cx="1296" cy="528"/>
            </a:xfrm>
            <a:prstGeom prst="flowChartDecision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1996" name="AutoShape 13"/>
            <p:cNvSpPr>
              <a:spLocks noChangeArrowheads="1"/>
            </p:cNvSpPr>
            <p:nvPr/>
          </p:nvSpPr>
          <p:spPr bwMode="auto">
            <a:xfrm>
              <a:off x="2064" y="2852"/>
              <a:ext cx="1296" cy="528"/>
            </a:xfrm>
            <a:prstGeom prst="flowChartDecision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1997" name="Text Box 14"/>
            <p:cNvSpPr txBox="1">
              <a:spLocks noChangeArrowheads="1"/>
            </p:cNvSpPr>
            <p:nvPr/>
          </p:nvSpPr>
          <p:spPr bwMode="auto">
            <a:xfrm>
              <a:off x="2111" y="2996"/>
              <a:ext cx="124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lang="en-US" altLang="zh-CN" sz="1600" b="1"/>
                <a:t>(AX)=r[mid]?</a:t>
              </a:r>
            </a:p>
          </p:txBody>
        </p:sp>
        <p:sp>
          <p:nvSpPr>
            <p:cNvPr id="41998" name="Text Box 15"/>
            <p:cNvSpPr txBox="1">
              <a:spLocks noChangeArrowheads="1"/>
            </p:cNvSpPr>
            <p:nvPr/>
          </p:nvSpPr>
          <p:spPr bwMode="auto">
            <a:xfrm>
              <a:off x="2112" y="1076"/>
              <a:ext cx="124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lang="en-US" altLang="zh-CN" sz="1600" b="1"/>
                <a:t>low&gt;high</a:t>
              </a:r>
              <a:r>
                <a:rPr lang="zh-CN" altLang="en-US" sz="1600" b="1"/>
                <a:t>？</a:t>
              </a:r>
            </a:p>
          </p:txBody>
        </p:sp>
        <p:sp>
          <p:nvSpPr>
            <p:cNvPr id="41999" name="Line 16"/>
            <p:cNvSpPr>
              <a:spLocks noChangeShapeType="1"/>
            </p:cNvSpPr>
            <p:nvPr/>
          </p:nvSpPr>
          <p:spPr bwMode="auto">
            <a:xfrm>
              <a:off x="2715" y="35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00" name="Line 17"/>
            <p:cNvSpPr>
              <a:spLocks noChangeShapeType="1"/>
            </p:cNvSpPr>
            <p:nvPr/>
          </p:nvSpPr>
          <p:spPr bwMode="auto">
            <a:xfrm>
              <a:off x="2715" y="740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01" name="Line 18"/>
            <p:cNvSpPr>
              <a:spLocks noChangeShapeType="1"/>
            </p:cNvSpPr>
            <p:nvPr/>
          </p:nvSpPr>
          <p:spPr bwMode="auto">
            <a:xfrm flipH="1">
              <a:off x="2736" y="206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02" name="Line 19"/>
            <p:cNvSpPr>
              <a:spLocks noChangeShapeType="1"/>
            </p:cNvSpPr>
            <p:nvPr/>
          </p:nvSpPr>
          <p:spPr bwMode="auto">
            <a:xfrm>
              <a:off x="2715" y="2612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03" name="Line 20"/>
            <p:cNvSpPr>
              <a:spLocks noChangeShapeType="1"/>
            </p:cNvSpPr>
            <p:nvPr/>
          </p:nvSpPr>
          <p:spPr bwMode="auto">
            <a:xfrm>
              <a:off x="2736" y="3380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04" name="Line 21"/>
            <p:cNvSpPr>
              <a:spLocks noChangeShapeType="1"/>
            </p:cNvSpPr>
            <p:nvPr/>
          </p:nvSpPr>
          <p:spPr bwMode="auto">
            <a:xfrm>
              <a:off x="2736" y="378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05" name="Line 22"/>
            <p:cNvSpPr>
              <a:spLocks noChangeShapeType="1"/>
            </p:cNvSpPr>
            <p:nvPr/>
          </p:nvSpPr>
          <p:spPr bwMode="auto">
            <a:xfrm flipH="1">
              <a:off x="1152" y="3120"/>
              <a:ext cx="9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06" name="Line 23"/>
            <p:cNvSpPr>
              <a:spLocks noChangeShapeType="1"/>
            </p:cNvSpPr>
            <p:nvPr/>
          </p:nvSpPr>
          <p:spPr bwMode="auto">
            <a:xfrm flipH="1">
              <a:off x="1152" y="3120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07" name="Line 24"/>
            <p:cNvSpPr>
              <a:spLocks noChangeShapeType="1"/>
            </p:cNvSpPr>
            <p:nvPr/>
          </p:nvSpPr>
          <p:spPr bwMode="auto">
            <a:xfrm flipH="1">
              <a:off x="3360" y="3120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08" name="Line 25"/>
            <p:cNvSpPr>
              <a:spLocks noChangeShapeType="1"/>
            </p:cNvSpPr>
            <p:nvPr/>
          </p:nvSpPr>
          <p:spPr bwMode="auto">
            <a:xfrm flipH="1" flipV="1">
              <a:off x="384" y="816"/>
              <a:ext cx="23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09" name="Line 26"/>
            <p:cNvSpPr>
              <a:spLocks noChangeShapeType="1"/>
            </p:cNvSpPr>
            <p:nvPr/>
          </p:nvSpPr>
          <p:spPr bwMode="auto">
            <a:xfrm flipH="1" flipV="1">
              <a:off x="384" y="816"/>
              <a:ext cx="7" cy="316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10" name="Text Box 28"/>
            <p:cNvSpPr txBox="1">
              <a:spLocks noChangeArrowheads="1"/>
            </p:cNvSpPr>
            <p:nvPr/>
          </p:nvSpPr>
          <p:spPr bwMode="auto">
            <a:xfrm>
              <a:off x="1152" y="2928"/>
              <a:ext cx="86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600" b="1"/>
                <a:t>HIGHER    &gt;</a:t>
              </a:r>
            </a:p>
          </p:txBody>
        </p:sp>
        <p:sp>
          <p:nvSpPr>
            <p:cNvPr id="42011" name="Text Box 29"/>
            <p:cNvSpPr txBox="1">
              <a:spLocks noChangeArrowheads="1"/>
            </p:cNvSpPr>
            <p:nvPr/>
          </p:nvSpPr>
          <p:spPr bwMode="auto">
            <a:xfrm>
              <a:off x="3408" y="932"/>
              <a:ext cx="19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600" b="1"/>
                <a:t>&gt;</a:t>
              </a:r>
            </a:p>
          </p:txBody>
        </p:sp>
        <p:sp>
          <p:nvSpPr>
            <p:cNvPr id="42012" name="Text Box 30"/>
            <p:cNvSpPr txBox="1">
              <a:spLocks noChangeArrowheads="1"/>
            </p:cNvSpPr>
            <p:nvPr/>
          </p:nvSpPr>
          <p:spPr bwMode="auto">
            <a:xfrm>
              <a:off x="2736" y="1460"/>
              <a:ext cx="28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600" b="1"/>
                <a:t>≤ </a:t>
              </a:r>
            </a:p>
          </p:txBody>
        </p:sp>
        <p:sp>
          <p:nvSpPr>
            <p:cNvPr id="42013" name="Text Box 31"/>
            <p:cNvSpPr txBox="1">
              <a:spLocks noChangeArrowheads="1"/>
            </p:cNvSpPr>
            <p:nvPr/>
          </p:nvSpPr>
          <p:spPr bwMode="auto">
            <a:xfrm>
              <a:off x="2784" y="2640"/>
              <a:ext cx="100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600" b="1"/>
                <a:t>COMPARE</a:t>
              </a:r>
            </a:p>
          </p:txBody>
        </p:sp>
        <p:sp>
          <p:nvSpPr>
            <p:cNvPr id="42014" name="Text Box 33"/>
            <p:cNvSpPr txBox="1">
              <a:spLocks noChangeArrowheads="1"/>
            </p:cNvSpPr>
            <p:nvPr/>
          </p:nvSpPr>
          <p:spPr bwMode="auto">
            <a:xfrm>
              <a:off x="2064" y="1680"/>
              <a:ext cx="1302" cy="3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lang="en-US" altLang="zh-CN" sz="1600" b="1"/>
                <a:t> </a:t>
              </a:r>
              <a:r>
                <a:rPr lang="zh-CN" altLang="en-US" sz="1600" b="1"/>
                <a:t>计算中间元素下标</a:t>
              </a:r>
            </a:p>
            <a:p>
              <a:pPr algn="ctr" eaLnBrk="1" hangingPunct="1"/>
              <a:r>
                <a:rPr lang="en-US" altLang="zh-CN" sz="1600" b="1"/>
                <a:t>mid</a:t>
              </a:r>
              <a:r>
                <a:rPr lang="en-US" altLang="zh-TW" sz="1600" b="1"/>
                <a:t>←</a:t>
              </a:r>
              <a:r>
                <a:rPr lang="en-US" altLang="zh-CN" sz="1600" b="1"/>
                <a:t>[(low+high)/2]</a:t>
              </a:r>
            </a:p>
          </p:txBody>
        </p:sp>
        <p:sp>
          <p:nvSpPr>
            <p:cNvPr id="42015" name="Line 34"/>
            <p:cNvSpPr>
              <a:spLocks noChangeShapeType="1"/>
            </p:cNvSpPr>
            <p:nvPr/>
          </p:nvSpPr>
          <p:spPr bwMode="auto">
            <a:xfrm flipH="1">
              <a:off x="2736" y="144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16" name="Line 35"/>
            <p:cNvSpPr>
              <a:spLocks noChangeShapeType="1"/>
            </p:cNvSpPr>
            <p:nvPr/>
          </p:nvSpPr>
          <p:spPr bwMode="auto">
            <a:xfrm flipH="1" flipV="1">
              <a:off x="3360" y="1200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17" name="Line 36"/>
            <p:cNvSpPr>
              <a:spLocks noChangeShapeType="1"/>
            </p:cNvSpPr>
            <p:nvPr/>
          </p:nvSpPr>
          <p:spPr bwMode="auto">
            <a:xfrm flipV="1">
              <a:off x="4128" y="1196"/>
              <a:ext cx="0" cy="1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18" name="Line 37"/>
            <p:cNvSpPr>
              <a:spLocks noChangeShapeType="1"/>
            </p:cNvSpPr>
            <p:nvPr/>
          </p:nvSpPr>
          <p:spPr bwMode="auto">
            <a:xfrm flipH="1" flipV="1">
              <a:off x="384" y="3984"/>
              <a:ext cx="23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19" name="Text Box 38"/>
            <p:cNvSpPr txBox="1">
              <a:spLocks noChangeArrowheads="1"/>
            </p:cNvSpPr>
            <p:nvPr/>
          </p:nvSpPr>
          <p:spPr bwMode="auto">
            <a:xfrm>
              <a:off x="3360" y="2908"/>
              <a:ext cx="81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600" b="1"/>
                <a:t>=</a:t>
              </a:r>
              <a:r>
                <a:rPr lang="zh-CN" altLang="en-US" sz="1600" b="1"/>
                <a:t>查找成功</a:t>
              </a:r>
            </a:p>
          </p:txBody>
        </p:sp>
        <p:sp>
          <p:nvSpPr>
            <p:cNvPr id="42020" name="Text Box 39"/>
            <p:cNvSpPr txBox="1">
              <a:spLocks noChangeArrowheads="1"/>
            </p:cNvSpPr>
            <p:nvPr/>
          </p:nvSpPr>
          <p:spPr bwMode="auto">
            <a:xfrm>
              <a:off x="2736" y="3360"/>
              <a:ext cx="91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600" b="1"/>
                <a:t>&lt;      LOWER</a:t>
              </a:r>
            </a:p>
          </p:txBody>
        </p:sp>
        <p:sp>
          <p:nvSpPr>
            <p:cNvPr id="42021" name="Text Box 40"/>
            <p:cNvSpPr txBox="1">
              <a:spLocks noChangeArrowheads="1"/>
            </p:cNvSpPr>
            <p:nvPr/>
          </p:nvSpPr>
          <p:spPr bwMode="auto">
            <a:xfrm>
              <a:off x="3648" y="816"/>
              <a:ext cx="864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lang="zh-CN" altLang="en-US" sz="1600" b="1"/>
                <a:t>查找不成功</a:t>
              </a:r>
            </a:p>
            <a:p>
              <a:pPr algn="ctr" eaLnBrk="1" hangingPunct="1"/>
              <a:r>
                <a:rPr lang="en-US" altLang="zh-CN" sz="1600" b="1"/>
                <a:t>NO_MATCH</a:t>
              </a:r>
            </a:p>
          </p:txBody>
        </p:sp>
        <p:sp>
          <p:nvSpPr>
            <p:cNvPr id="42022" name="Text Box 41"/>
            <p:cNvSpPr txBox="1">
              <a:spLocks noChangeArrowheads="1"/>
            </p:cNvSpPr>
            <p:nvPr/>
          </p:nvSpPr>
          <p:spPr bwMode="auto">
            <a:xfrm>
              <a:off x="3456" y="1392"/>
              <a:ext cx="1248" cy="21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600" b="1"/>
                <a:t>CF </a:t>
              </a:r>
              <a:r>
                <a:rPr lang="en-US" altLang="zh-TW" sz="1600" b="1"/>
                <a:t>←</a:t>
              </a:r>
              <a:r>
                <a:rPr lang="en-US" altLang="zh-CN" sz="1600"/>
                <a:t> </a:t>
              </a:r>
              <a:r>
                <a:rPr lang="en-US" altLang="zh-CN" sz="1600" b="1"/>
                <a:t>1</a:t>
              </a:r>
            </a:p>
          </p:txBody>
        </p:sp>
        <p:sp>
          <p:nvSpPr>
            <p:cNvPr id="42023" name="Line 42"/>
            <p:cNvSpPr>
              <a:spLocks noChangeShapeType="1"/>
            </p:cNvSpPr>
            <p:nvPr/>
          </p:nvSpPr>
          <p:spPr bwMode="auto">
            <a:xfrm flipV="1">
              <a:off x="4128" y="1607"/>
              <a:ext cx="0" cy="18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24" name="Text Box 43"/>
            <p:cNvSpPr txBox="1">
              <a:spLocks noChangeArrowheads="1"/>
            </p:cNvSpPr>
            <p:nvPr/>
          </p:nvSpPr>
          <p:spPr bwMode="auto">
            <a:xfrm>
              <a:off x="576" y="3574"/>
              <a:ext cx="1248" cy="21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600" b="1"/>
                <a:t>low</a:t>
              </a:r>
              <a:r>
                <a:rPr lang="en-US" altLang="zh-TW" sz="1600" b="1"/>
                <a:t>←</a:t>
              </a:r>
              <a:r>
                <a:rPr lang="en-US" altLang="zh-CN" sz="1600" b="1"/>
                <a:t>mid+1</a:t>
              </a:r>
            </a:p>
          </p:txBody>
        </p:sp>
        <p:sp>
          <p:nvSpPr>
            <p:cNvPr id="42025" name="Line 44"/>
            <p:cNvSpPr>
              <a:spLocks noChangeShapeType="1"/>
            </p:cNvSpPr>
            <p:nvPr/>
          </p:nvSpPr>
          <p:spPr bwMode="auto">
            <a:xfrm flipH="1">
              <a:off x="1152" y="379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26" name="Text Box 45"/>
            <p:cNvSpPr txBox="1">
              <a:spLocks noChangeArrowheads="1"/>
            </p:cNvSpPr>
            <p:nvPr/>
          </p:nvSpPr>
          <p:spPr bwMode="auto">
            <a:xfrm>
              <a:off x="4176" y="3264"/>
              <a:ext cx="62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600" b="1"/>
                <a:t>exit</a:t>
              </a:r>
            </a:p>
          </p:txBody>
        </p:sp>
      </p:grpSp>
      <p:sp>
        <p:nvSpPr>
          <p:cNvPr id="43" name="文本框 1"/>
          <p:cNvSpPr txBox="1"/>
          <p:nvPr/>
        </p:nvSpPr>
        <p:spPr>
          <a:xfrm>
            <a:off x="359532" y="317499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分枝结构程序设计</a:t>
            </a:r>
          </a:p>
        </p:txBody>
      </p:sp>
    </p:spTree>
    <p:extLst>
      <p:ext uri="{BB962C8B-B14F-4D97-AF65-F5344CB8AC3E}">
        <p14:creationId xmlns:p14="http://schemas.microsoft.com/office/powerpoint/2010/main" val="4027169261"/>
      </p:ext>
    </p:extLst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矩形 22529"/>
          <p:cNvSpPr/>
          <p:nvPr/>
        </p:nvSpPr>
        <p:spPr>
          <a:xfrm>
            <a:off x="1685020" y="1630002"/>
            <a:ext cx="658813" cy="4851400"/>
          </a:xfrm>
          <a:prstGeom prst="rect">
            <a:avLst/>
          </a:prstGeom>
          <a:noFill/>
          <a:ln w="12700" cap="flat" cmpd="sng">
            <a:solidFill>
              <a:schemeClr val="bg2"/>
            </a:solidFill>
            <a:prstDash val="dash"/>
            <a:miter/>
            <a:headEnd type="none" w="sm" len="sm"/>
            <a:tailEnd type="none" w="sm" len="sm"/>
          </a:ln>
        </p:spPr>
        <p:txBody>
          <a:bodyPr wrap="none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 12</a:t>
            </a:r>
          </a:p>
          <a:p>
            <a:pPr>
              <a:lnSpc>
                <a:spcPct val="120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 11</a:t>
            </a:r>
          </a:p>
          <a:p>
            <a:pPr>
              <a:lnSpc>
                <a:spcPct val="120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 22</a:t>
            </a:r>
          </a:p>
          <a:p>
            <a:pPr>
              <a:lnSpc>
                <a:spcPct val="120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 33</a:t>
            </a:r>
          </a:p>
          <a:p>
            <a:pPr>
              <a:lnSpc>
                <a:spcPct val="120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 44</a:t>
            </a:r>
          </a:p>
          <a:p>
            <a:pPr>
              <a:lnSpc>
                <a:spcPct val="120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 55</a:t>
            </a:r>
          </a:p>
          <a:p>
            <a:pPr>
              <a:lnSpc>
                <a:spcPct val="120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 66</a:t>
            </a:r>
          </a:p>
          <a:p>
            <a:pPr>
              <a:lnSpc>
                <a:spcPct val="120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 77</a:t>
            </a:r>
          </a:p>
          <a:p>
            <a:pPr>
              <a:lnSpc>
                <a:spcPct val="120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 88</a:t>
            </a:r>
          </a:p>
          <a:p>
            <a:pPr>
              <a:lnSpc>
                <a:spcPct val="120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 99</a:t>
            </a:r>
          </a:p>
          <a:p>
            <a:pPr>
              <a:lnSpc>
                <a:spcPct val="120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111</a:t>
            </a:r>
          </a:p>
          <a:p>
            <a:pPr>
              <a:lnSpc>
                <a:spcPct val="120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222</a:t>
            </a:r>
          </a:p>
          <a:p>
            <a:pPr>
              <a:lnSpc>
                <a:spcPct val="120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333</a:t>
            </a:r>
            <a:endParaRPr lang="en-US" altLang="zh-CN" sz="2000" b="1">
              <a:solidFill>
                <a:srgbClr val="000000"/>
              </a:solidFill>
              <a:latin typeface="Lucida Console" panose="020B0609040504020204" pitchFamily="49" charset="0"/>
              <a:ea typeface="宋体" panose="02010600030101010101" pitchFamily="2" charset="-122"/>
            </a:endParaRPr>
          </a:p>
        </p:txBody>
      </p:sp>
      <p:sp>
        <p:nvSpPr>
          <p:cNvPr id="22531" name="矩形 22530"/>
          <p:cNvSpPr/>
          <p:nvPr/>
        </p:nvSpPr>
        <p:spPr>
          <a:xfrm>
            <a:off x="1304020" y="1630002"/>
            <a:ext cx="441325" cy="4859338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rgbClr val="000000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t> 0</a:t>
            </a: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rgbClr val="000000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t> 1</a:t>
            </a: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rgbClr val="000000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t> 2</a:t>
            </a: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rgbClr val="000000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t> 3</a:t>
            </a: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rgbClr val="000000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t> 4</a:t>
            </a: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rgbClr val="000000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t> 5</a:t>
            </a: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rgbClr val="000000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t> 6</a:t>
            </a: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rgbClr val="000000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t> 7</a:t>
            </a: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rgbClr val="000000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t> 8</a:t>
            </a: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rgbClr val="000000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t> 9</a:t>
            </a: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rgbClr val="000000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t>10</a:t>
            </a: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rgbClr val="000000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t>11</a:t>
            </a: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rgbClr val="000000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t>12</a:t>
            </a:r>
            <a:endParaRPr lang="en-US" altLang="zh-CN" sz="1600" b="1">
              <a:solidFill>
                <a:srgbClr val="000000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22532" name="组合 22531"/>
          <p:cNvGrpSpPr/>
          <p:nvPr/>
        </p:nvGrpSpPr>
        <p:grpSpPr>
          <a:xfrm>
            <a:off x="2904220" y="1477602"/>
            <a:ext cx="4222750" cy="1920875"/>
            <a:chOff x="2160" y="672"/>
            <a:chExt cx="2660" cy="1210"/>
          </a:xfrm>
        </p:grpSpPr>
        <p:sp>
          <p:nvSpPr>
            <p:cNvPr id="22533" name="文本框 22532"/>
            <p:cNvSpPr txBox="1"/>
            <p:nvPr/>
          </p:nvSpPr>
          <p:spPr>
            <a:xfrm>
              <a:off x="2160" y="1296"/>
              <a:ext cx="960" cy="250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b="1">
                  <a:solidFill>
                    <a:srgbClr val="000000"/>
                  </a:solidFill>
                  <a:latin typeface="Lucida Console" panose="020B0609040504020204" pitchFamily="49" charset="0"/>
                  <a:ea typeface="宋体" panose="02010600030101010101" pitchFamily="2" charset="-122"/>
                </a:rPr>
                <a:t>(ax)=55</a:t>
              </a:r>
            </a:p>
          </p:txBody>
        </p:sp>
        <p:grpSp>
          <p:nvGrpSpPr>
            <p:cNvPr id="22534" name="组合 22533"/>
            <p:cNvGrpSpPr/>
            <p:nvPr/>
          </p:nvGrpSpPr>
          <p:grpSpPr>
            <a:xfrm>
              <a:off x="3024" y="672"/>
              <a:ext cx="1796" cy="1210"/>
              <a:chOff x="3216" y="672"/>
              <a:chExt cx="1796" cy="1210"/>
            </a:xfrm>
          </p:grpSpPr>
          <p:sp>
            <p:nvSpPr>
              <p:cNvPr id="22535" name="矩形 22534"/>
              <p:cNvSpPr/>
              <p:nvPr/>
            </p:nvSpPr>
            <p:spPr>
              <a:xfrm>
                <a:off x="3216" y="672"/>
                <a:ext cx="864" cy="121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>
                <a:spAutoFit/>
              </a:bodyPr>
              <a:lstStyle/>
              <a:p>
                <a:r>
                  <a:rPr lang="en-US" altLang="zh-CN" sz="2000" err="1">
                    <a:solidFill>
                      <a:srgbClr val="000000"/>
                    </a:solidFill>
                    <a:latin typeface="Lucida Console" panose="020B0609040504020204" pitchFamily="49" charset="0"/>
                    <a:ea typeface="宋体" panose="02010600030101010101" pitchFamily="2" charset="-122"/>
                  </a:rPr>
                  <a:t>low_idx</a:t>
                </a:r>
              </a:p>
              <a:p>
                <a:endParaRPr lang="en-US" altLang="zh-CN" sz="2000" err="1">
                  <a:solidFill>
                    <a:srgbClr val="000000"/>
                  </a:solidFill>
                  <a:latin typeface="Lucida Console" panose="020B0609040504020204" pitchFamily="49" charset="0"/>
                  <a:ea typeface="宋体" panose="02010600030101010101" pitchFamily="2" charset="-122"/>
                </a:endParaRPr>
              </a:p>
              <a:p>
                <a:r>
                  <a:rPr lang="en-US" altLang="zh-CN" sz="2000" err="1">
                    <a:solidFill>
                      <a:srgbClr val="000000"/>
                    </a:solidFill>
                    <a:latin typeface="Lucida Console" panose="020B0609040504020204" pitchFamily="49" charset="0"/>
                    <a:ea typeface="宋体" panose="02010600030101010101" pitchFamily="2" charset="-122"/>
                  </a:rPr>
                  <a:t>      </a:t>
                </a:r>
                <a:r>
                  <a:rPr lang="en-US" altLang="zh-CN" sz="2000">
                    <a:solidFill>
                      <a:srgbClr val="000000"/>
                    </a:solidFill>
                    <a:latin typeface="Lucida Console" panose="020B0609040504020204" pitchFamily="49" charset="0"/>
                    <a:ea typeface="宋体" panose="02010600030101010101" pitchFamily="2" charset="-122"/>
                  </a:rPr>
                  <a:t>1  </a:t>
                </a:r>
              </a:p>
              <a:p>
                <a:r>
                  <a:rPr lang="en-US" altLang="zh-CN" sz="2000">
                    <a:solidFill>
                      <a:srgbClr val="000000"/>
                    </a:solidFill>
                    <a:latin typeface="Lucida Console" panose="020B0609040504020204" pitchFamily="49" charset="0"/>
                    <a:ea typeface="宋体" panose="02010600030101010101" pitchFamily="2" charset="-122"/>
                  </a:rPr>
                  <a:t>      1  </a:t>
                </a:r>
              </a:p>
              <a:p>
                <a:r>
                  <a:rPr lang="en-US" altLang="zh-CN" sz="2000">
                    <a:solidFill>
                      <a:srgbClr val="000000"/>
                    </a:solidFill>
                    <a:latin typeface="Lucida Console" panose="020B0609040504020204" pitchFamily="49" charset="0"/>
                    <a:ea typeface="宋体" panose="02010600030101010101" pitchFamily="2" charset="-122"/>
                  </a:rPr>
                  <a:t>      4 </a:t>
                </a:r>
              </a:p>
              <a:p>
                <a:r>
                  <a:rPr lang="en-US" altLang="zh-CN" sz="2000">
                    <a:solidFill>
                      <a:srgbClr val="000000"/>
                    </a:solidFill>
                    <a:latin typeface="Lucida Console" panose="020B0609040504020204" pitchFamily="49" charset="0"/>
                    <a:ea typeface="宋体" panose="02010600030101010101" pitchFamily="2" charset="-122"/>
                  </a:rPr>
                  <a:t>      5 </a:t>
                </a:r>
              </a:p>
            </p:txBody>
          </p:sp>
          <p:sp>
            <p:nvSpPr>
              <p:cNvPr id="22536" name="矩形 22535"/>
              <p:cNvSpPr/>
              <p:nvPr/>
            </p:nvSpPr>
            <p:spPr>
              <a:xfrm>
                <a:off x="4128" y="672"/>
                <a:ext cx="884" cy="121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anchor="t">
                <a:spAutoFit/>
              </a:bodyPr>
              <a:lstStyle/>
              <a:p>
                <a:r>
                  <a:rPr lang="en-US" altLang="zh-CN" sz="2000" dirty="0" err="1">
                    <a:solidFill>
                      <a:srgbClr val="000000"/>
                    </a:solidFill>
                    <a:latin typeface="Lucida Console" panose="020B0609040504020204" pitchFamily="49" charset="0"/>
                    <a:ea typeface="宋体" panose="02010600030101010101" pitchFamily="2" charset="-122"/>
                  </a:rPr>
                  <a:t>high_idx</a:t>
                </a:r>
                <a:endParaRPr lang="en-US" altLang="zh-CN" sz="2000" dirty="0">
                  <a:solidFill>
                    <a:srgbClr val="000000"/>
                  </a:solidFill>
                  <a:latin typeface="Lucida Console" panose="020B0609040504020204" pitchFamily="49" charset="0"/>
                  <a:ea typeface="宋体" panose="02010600030101010101" pitchFamily="2" charset="-122"/>
                </a:endParaRPr>
              </a:p>
              <a:p>
                <a:r>
                  <a:rPr lang="en-US" altLang="zh-CN" sz="20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宋体" panose="02010600030101010101" pitchFamily="2" charset="-122"/>
                  </a:rPr>
                  <a:t>   </a:t>
                </a:r>
              </a:p>
              <a:p>
                <a:r>
                  <a:rPr lang="en-US" altLang="zh-CN" sz="20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宋体" panose="02010600030101010101" pitchFamily="2" charset="-122"/>
                  </a:rPr>
                  <a:t>12</a:t>
                </a:r>
              </a:p>
              <a:p>
                <a:r>
                  <a:rPr lang="en-US" altLang="zh-CN" sz="20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宋体" panose="02010600030101010101" pitchFamily="2" charset="-122"/>
                  </a:rPr>
                  <a:t>5</a:t>
                </a:r>
              </a:p>
              <a:p>
                <a:r>
                  <a:rPr lang="en-US" altLang="zh-CN" sz="20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宋体" panose="02010600030101010101" pitchFamily="2" charset="-122"/>
                  </a:rPr>
                  <a:t>5</a:t>
                </a:r>
              </a:p>
              <a:p>
                <a:r>
                  <a:rPr lang="en-US" altLang="zh-CN" sz="20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宋体" panose="02010600030101010101" pitchFamily="2" charset="-122"/>
                  </a:rPr>
                  <a:t>5</a:t>
                </a:r>
              </a:p>
            </p:txBody>
          </p:sp>
        </p:grpSp>
      </p:grpSp>
      <p:sp>
        <p:nvSpPr>
          <p:cNvPr id="22537" name="文本框 22536"/>
          <p:cNvSpPr txBox="1"/>
          <p:nvPr/>
        </p:nvSpPr>
        <p:spPr>
          <a:xfrm>
            <a:off x="6809470" y="2696802"/>
            <a:ext cx="1371600" cy="77946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b="1" err="1">
                <a:solidFill>
                  <a:srgbClr val="000000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(si</a:t>
            </a:r>
            <a:r>
              <a:rPr lang="en-US" altLang="zh-CN" sz="1800" b="1">
                <a:solidFill>
                  <a:srgbClr val="000000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)=0ah</a:t>
            </a:r>
          </a:p>
          <a:p>
            <a:pPr>
              <a:spcBef>
                <a:spcPct val="50000"/>
              </a:spcBef>
            </a:pPr>
            <a:r>
              <a:rPr lang="en-US" altLang="zh-CN" sz="1800" b="1" err="1">
                <a:solidFill>
                  <a:srgbClr val="000000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Cf</a:t>
            </a:r>
            <a:r>
              <a:rPr lang="en-US" altLang="zh-CN" sz="1800" b="1">
                <a:solidFill>
                  <a:srgbClr val="000000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=0</a:t>
            </a:r>
          </a:p>
        </p:txBody>
      </p:sp>
      <p:grpSp>
        <p:nvGrpSpPr>
          <p:cNvPr id="22538" name="组合 22537"/>
          <p:cNvGrpSpPr/>
          <p:nvPr/>
        </p:nvGrpSpPr>
        <p:grpSpPr>
          <a:xfrm>
            <a:off x="2904220" y="3992202"/>
            <a:ext cx="4222750" cy="2225675"/>
            <a:chOff x="2160" y="672"/>
            <a:chExt cx="2660" cy="1402"/>
          </a:xfrm>
        </p:grpSpPr>
        <p:sp>
          <p:nvSpPr>
            <p:cNvPr id="22539" name="文本框 22538"/>
            <p:cNvSpPr txBox="1"/>
            <p:nvPr/>
          </p:nvSpPr>
          <p:spPr>
            <a:xfrm>
              <a:off x="2160" y="1296"/>
              <a:ext cx="960" cy="250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solidFill>
                    <a:srgbClr val="000000"/>
                  </a:solidFill>
                  <a:latin typeface="Lucida Console" panose="020B0609040504020204" pitchFamily="49" charset="0"/>
                  <a:ea typeface="宋体" panose="02010600030101010101" pitchFamily="2" charset="-122"/>
                </a:rPr>
                <a:t>(ax)=90</a:t>
              </a:r>
            </a:p>
          </p:txBody>
        </p:sp>
        <p:grpSp>
          <p:nvGrpSpPr>
            <p:cNvPr id="22540" name="组合 22539"/>
            <p:cNvGrpSpPr/>
            <p:nvPr/>
          </p:nvGrpSpPr>
          <p:grpSpPr>
            <a:xfrm>
              <a:off x="3024" y="672"/>
              <a:ext cx="1796" cy="1402"/>
              <a:chOff x="3216" y="672"/>
              <a:chExt cx="1796" cy="1402"/>
            </a:xfrm>
          </p:grpSpPr>
          <p:sp>
            <p:nvSpPr>
              <p:cNvPr id="22541" name="矩形 22540"/>
              <p:cNvSpPr/>
              <p:nvPr/>
            </p:nvSpPr>
            <p:spPr>
              <a:xfrm>
                <a:off x="3216" y="672"/>
                <a:ext cx="864" cy="1402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>
                <a:spAutoFit/>
              </a:bodyPr>
              <a:lstStyle/>
              <a:p>
                <a:r>
                  <a:rPr lang="en-US" altLang="zh-CN" sz="2000" err="1">
                    <a:solidFill>
                      <a:srgbClr val="000000"/>
                    </a:solidFill>
                    <a:latin typeface="Lucida Console" panose="020B0609040504020204" pitchFamily="49" charset="0"/>
                    <a:ea typeface="宋体" panose="02010600030101010101" pitchFamily="2" charset="-122"/>
                  </a:rPr>
                  <a:t>low_idx</a:t>
                </a:r>
              </a:p>
              <a:p>
                <a:endParaRPr lang="en-US" altLang="zh-CN" sz="2000" err="1">
                  <a:solidFill>
                    <a:srgbClr val="000000"/>
                  </a:solidFill>
                  <a:latin typeface="Lucida Console" panose="020B0609040504020204" pitchFamily="49" charset="0"/>
                  <a:ea typeface="宋体" panose="02010600030101010101" pitchFamily="2" charset="-122"/>
                </a:endParaRPr>
              </a:p>
              <a:p>
                <a:r>
                  <a:rPr lang="en-US" altLang="zh-CN" sz="2000" err="1">
                    <a:solidFill>
                      <a:srgbClr val="000000"/>
                    </a:solidFill>
                    <a:latin typeface="Lucida Console" panose="020B0609040504020204" pitchFamily="49" charset="0"/>
                    <a:ea typeface="宋体" panose="02010600030101010101" pitchFamily="2" charset="-122"/>
                  </a:rPr>
                  <a:t>      </a:t>
                </a:r>
                <a:r>
                  <a:rPr lang="en-US" altLang="zh-CN" sz="2000">
                    <a:solidFill>
                      <a:srgbClr val="000000"/>
                    </a:solidFill>
                    <a:latin typeface="Lucida Console" panose="020B0609040504020204" pitchFamily="49" charset="0"/>
                    <a:ea typeface="宋体" panose="02010600030101010101" pitchFamily="2" charset="-122"/>
                  </a:rPr>
                  <a:t>1  </a:t>
                </a:r>
              </a:p>
              <a:p>
                <a:r>
                  <a:rPr lang="en-US" altLang="zh-CN" sz="2000">
                    <a:solidFill>
                      <a:srgbClr val="000000"/>
                    </a:solidFill>
                    <a:latin typeface="Lucida Console" panose="020B0609040504020204" pitchFamily="49" charset="0"/>
                    <a:ea typeface="宋体" panose="02010600030101010101" pitchFamily="2" charset="-122"/>
                  </a:rPr>
                  <a:t>      7  </a:t>
                </a:r>
              </a:p>
              <a:p>
                <a:r>
                  <a:rPr lang="en-US" altLang="zh-CN" sz="2000">
                    <a:solidFill>
                      <a:srgbClr val="000000"/>
                    </a:solidFill>
                    <a:latin typeface="Lucida Console" panose="020B0609040504020204" pitchFamily="49" charset="0"/>
                    <a:ea typeface="宋体" panose="02010600030101010101" pitchFamily="2" charset="-122"/>
                  </a:rPr>
                  <a:t>      7 </a:t>
                </a:r>
              </a:p>
              <a:p>
                <a:r>
                  <a:rPr lang="en-US" altLang="zh-CN" sz="2000">
                    <a:solidFill>
                      <a:srgbClr val="000000"/>
                    </a:solidFill>
                    <a:latin typeface="Lucida Console" panose="020B0609040504020204" pitchFamily="49" charset="0"/>
                    <a:ea typeface="宋体" panose="02010600030101010101" pitchFamily="2" charset="-122"/>
                  </a:rPr>
                  <a:t>      8</a:t>
                </a:r>
              </a:p>
              <a:p>
                <a:r>
                  <a:rPr lang="en-US" altLang="zh-CN" sz="2000">
                    <a:solidFill>
                      <a:srgbClr val="000000"/>
                    </a:solidFill>
                    <a:latin typeface="Lucida Console" panose="020B0609040504020204" pitchFamily="49" charset="0"/>
                    <a:ea typeface="宋体" panose="02010600030101010101" pitchFamily="2" charset="-122"/>
                  </a:rPr>
                  <a:t>      9 </a:t>
                </a:r>
              </a:p>
            </p:txBody>
          </p:sp>
          <p:sp>
            <p:nvSpPr>
              <p:cNvPr id="22542" name="矩形 22541"/>
              <p:cNvSpPr/>
              <p:nvPr/>
            </p:nvSpPr>
            <p:spPr>
              <a:xfrm>
                <a:off x="4128" y="672"/>
                <a:ext cx="884" cy="1402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anchor="t">
                <a:spAutoFit/>
              </a:bodyPr>
              <a:lstStyle/>
              <a:p>
                <a:r>
                  <a:rPr lang="en-US" altLang="zh-CN" sz="2000" dirty="0" err="1">
                    <a:solidFill>
                      <a:srgbClr val="000000"/>
                    </a:solidFill>
                    <a:latin typeface="Lucida Console" panose="020B0609040504020204" pitchFamily="49" charset="0"/>
                    <a:ea typeface="宋体" panose="02010600030101010101" pitchFamily="2" charset="-122"/>
                  </a:rPr>
                  <a:t>high_idx</a:t>
                </a:r>
                <a:endParaRPr lang="en-US" altLang="zh-CN" sz="2000" dirty="0">
                  <a:solidFill>
                    <a:srgbClr val="000000"/>
                  </a:solidFill>
                  <a:latin typeface="Lucida Console" panose="020B0609040504020204" pitchFamily="49" charset="0"/>
                  <a:ea typeface="宋体" panose="02010600030101010101" pitchFamily="2" charset="-122"/>
                </a:endParaRPr>
              </a:p>
              <a:p>
                <a:r>
                  <a:rPr lang="en-US" altLang="zh-CN" sz="20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宋体" panose="02010600030101010101" pitchFamily="2" charset="-122"/>
                  </a:rPr>
                  <a:t>   </a:t>
                </a:r>
              </a:p>
              <a:p>
                <a:r>
                  <a:rPr lang="en-US" altLang="zh-CN" sz="20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宋体" panose="02010600030101010101" pitchFamily="2" charset="-122"/>
                  </a:rPr>
                  <a:t>12</a:t>
                </a:r>
              </a:p>
              <a:p>
                <a:r>
                  <a:rPr lang="en-US" altLang="zh-CN" sz="20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宋体" panose="02010600030101010101" pitchFamily="2" charset="-122"/>
                  </a:rPr>
                  <a:t>12</a:t>
                </a:r>
              </a:p>
              <a:p>
                <a:r>
                  <a:rPr lang="en-US" altLang="zh-CN" sz="20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宋体" panose="02010600030101010101" pitchFamily="2" charset="-122"/>
                  </a:rPr>
                  <a:t>8</a:t>
                </a:r>
              </a:p>
              <a:p>
                <a:r>
                  <a:rPr lang="en-US" altLang="zh-CN" sz="20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宋体" panose="02010600030101010101" pitchFamily="2" charset="-122"/>
                  </a:rPr>
                  <a:t>8</a:t>
                </a:r>
              </a:p>
              <a:p>
                <a:r>
                  <a:rPr lang="en-US" altLang="zh-CN" sz="20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宋体" panose="02010600030101010101" pitchFamily="2" charset="-122"/>
                  </a:rPr>
                  <a:t>8</a:t>
                </a:r>
              </a:p>
            </p:txBody>
          </p:sp>
        </p:grpSp>
      </p:grpSp>
      <p:sp>
        <p:nvSpPr>
          <p:cNvPr id="22543" name="文本框 22542"/>
          <p:cNvSpPr txBox="1"/>
          <p:nvPr/>
        </p:nvSpPr>
        <p:spPr>
          <a:xfrm>
            <a:off x="6809470" y="5363802"/>
            <a:ext cx="1371600" cy="77946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b="1" err="1">
                <a:solidFill>
                  <a:srgbClr val="000000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(si</a:t>
            </a:r>
            <a:r>
              <a:rPr lang="en-US" altLang="zh-CN" sz="1800" b="1">
                <a:solidFill>
                  <a:srgbClr val="000000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)=10h</a:t>
            </a:r>
          </a:p>
          <a:p>
            <a:pPr>
              <a:spcBef>
                <a:spcPct val="50000"/>
              </a:spcBef>
            </a:pPr>
            <a:r>
              <a:rPr lang="en-US" altLang="zh-CN" sz="1800" b="1" err="1">
                <a:solidFill>
                  <a:srgbClr val="000000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Cf</a:t>
            </a:r>
            <a:r>
              <a:rPr lang="en-US" altLang="zh-CN" sz="1800" b="1">
                <a:solidFill>
                  <a:srgbClr val="000000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=1</a:t>
            </a:r>
          </a:p>
        </p:txBody>
      </p:sp>
      <p:sp>
        <p:nvSpPr>
          <p:cNvPr id="22544" name="椭圆 22543"/>
          <p:cNvSpPr/>
          <p:nvPr/>
        </p:nvSpPr>
        <p:spPr>
          <a:xfrm>
            <a:off x="1837420" y="3839802"/>
            <a:ext cx="533400" cy="381000"/>
          </a:xfrm>
          <a:prstGeom prst="ellipse">
            <a:avLst/>
          </a:prstGeom>
          <a:noFill/>
          <a:ln w="12700" cap="flat" cmpd="sng">
            <a:solidFill>
              <a:schemeClr val="bg2"/>
            </a:solidFill>
            <a:prstDash val="dash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545" name="矩形 22544"/>
          <p:cNvSpPr/>
          <p:nvPr/>
        </p:nvSpPr>
        <p:spPr>
          <a:xfrm>
            <a:off x="2370820" y="3458802"/>
            <a:ext cx="455613" cy="457200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  <a:sym typeface="Wingdings 2" panose="05020102010507070707" pitchFamily="18" charset="2"/>
              </a:rPr>
              <a:t></a:t>
            </a:r>
          </a:p>
        </p:txBody>
      </p:sp>
      <p:sp>
        <p:nvSpPr>
          <p:cNvPr id="22546" name="矩形 22545"/>
          <p:cNvSpPr/>
          <p:nvPr/>
        </p:nvSpPr>
        <p:spPr>
          <a:xfrm>
            <a:off x="2370820" y="3839802"/>
            <a:ext cx="455613" cy="457200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  <a:sym typeface="Wingdings 2" panose="05020102010507070707" pitchFamily="18" charset="2"/>
              </a:rPr>
              <a:t></a:t>
            </a:r>
          </a:p>
        </p:txBody>
      </p:sp>
      <p:sp>
        <p:nvSpPr>
          <p:cNvPr id="22547" name="矩形 22546"/>
          <p:cNvSpPr/>
          <p:nvPr/>
        </p:nvSpPr>
        <p:spPr>
          <a:xfrm>
            <a:off x="2370820" y="2773002"/>
            <a:ext cx="455613" cy="457200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  <a:sym typeface="Wingdings 2" panose="05020102010507070707" pitchFamily="18" charset="2"/>
              </a:rPr>
              <a:t></a:t>
            </a:r>
          </a:p>
        </p:txBody>
      </p:sp>
      <p:sp>
        <p:nvSpPr>
          <p:cNvPr id="22548" name="椭圆 22547"/>
          <p:cNvSpPr/>
          <p:nvPr/>
        </p:nvSpPr>
        <p:spPr>
          <a:xfrm>
            <a:off x="1837420" y="2773002"/>
            <a:ext cx="533400" cy="381000"/>
          </a:xfrm>
          <a:prstGeom prst="ellipse">
            <a:avLst/>
          </a:prstGeom>
          <a:noFill/>
          <a:ln w="12700" cap="flat" cmpd="sng">
            <a:solidFill>
              <a:schemeClr val="bg2"/>
            </a:solidFill>
            <a:prstDash val="dash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549" name="椭圆 22548"/>
          <p:cNvSpPr/>
          <p:nvPr/>
        </p:nvSpPr>
        <p:spPr>
          <a:xfrm>
            <a:off x="1837420" y="3154002"/>
            <a:ext cx="533400" cy="381000"/>
          </a:xfrm>
          <a:prstGeom prst="ellipse">
            <a:avLst/>
          </a:prstGeom>
          <a:noFill/>
          <a:ln w="12700" cap="flat" cmpd="sng">
            <a:solidFill>
              <a:schemeClr val="bg2"/>
            </a:solidFill>
            <a:prstDash val="dash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550" name="椭圆 22549"/>
          <p:cNvSpPr/>
          <p:nvPr/>
        </p:nvSpPr>
        <p:spPr>
          <a:xfrm>
            <a:off x="1837420" y="3458802"/>
            <a:ext cx="533400" cy="381000"/>
          </a:xfrm>
          <a:prstGeom prst="ellipse">
            <a:avLst/>
          </a:prstGeom>
          <a:noFill/>
          <a:ln w="12700" cap="flat" cmpd="sng">
            <a:solidFill>
              <a:schemeClr val="bg2"/>
            </a:solidFill>
            <a:prstDash val="dash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551" name="矩形 22550"/>
          <p:cNvSpPr/>
          <p:nvPr/>
        </p:nvSpPr>
        <p:spPr>
          <a:xfrm>
            <a:off x="2370820" y="3154002"/>
            <a:ext cx="455613" cy="457200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  <a:sym typeface="Wingdings 2" panose="05020102010507070707" pitchFamily="18" charset="2"/>
              </a:rPr>
              <a:t></a:t>
            </a:r>
          </a:p>
        </p:txBody>
      </p:sp>
      <p:sp>
        <p:nvSpPr>
          <p:cNvPr id="22552" name="文本框 22551"/>
          <p:cNvSpPr txBox="1"/>
          <p:nvPr/>
        </p:nvSpPr>
        <p:spPr>
          <a:xfrm>
            <a:off x="1151620" y="944202"/>
            <a:ext cx="2057400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折半算法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1</a:t>
            </a:r>
            <a:endParaRPr lang="en-US" altLang="zh-CN" b="1">
              <a:solidFill>
                <a:srgbClr val="00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22553" name="矩形 22552"/>
          <p:cNvSpPr/>
          <p:nvPr/>
        </p:nvSpPr>
        <p:spPr>
          <a:xfrm>
            <a:off x="1151620" y="944202"/>
            <a:ext cx="1600200" cy="457200"/>
          </a:xfrm>
          <a:prstGeom prst="rect">
            <a:avLst/>
          </a:prstGeom>
          <a:noFill/>
          <a:ln w="12700" cap="sq" cmpd="sng">
            <a:solidFill>
              <a:schemeClr val="bg2"/>
            </a:solidFill>
            <a:prstDash val="solid"/>
            <a:miter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554" name="文本框 22553"/>
          <p:cNvSpPr txBox="1"/>
          <p:nvPr/>
        </p:nvSpPr>
        <p:spPr>
          <a:xfrm>
            <a:off x="2370820" y="4982802"/>
            <a:ext cx="533400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  <a:sym typeface="Wingdings 2" panose="05020102010507070707" pitchFamily="18" charset="2"/>
              </a:rPr>
              <a:t></a:t>
            </a:r>
          </a:p>
        </p:txBody>
      </p:sp>
      <p:sp>
        <p:nvSpPr>
          <p:cNvPr id="22555" name="文本框 22554"/>
          <p:cNvSpPr txBox="1"/>
          <p:nvPr/>
        </p:nvSpPr>
        <p:spPr>
          <a:xfrm>
            <a:off x="2370820" y="4220802"/>
            <a:ext cx="457200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  <a:sym typeface="Wingdings 2" panose="05020102010507070707" pitchFamily="18" charset="2"/>
              </a:rPr>
              <a:t></a:t>
            </a:r>
          </a:p>
        </p:txBody>
      </p:sp>
      <p:sp>
        <p:nvSpPr>
          <p:cNvPr id="22556" name="文本框 22555"/>
          <p:cNvSpPr txBox="1"/>
          <p:nvPr/>
        </p:nvSpPr>
        <p:spPr>
          <a:xfrm>
            <a:off x="2370820" y="4601802"/>
            <a:ext cx="533400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  <a:sym typeface="Wingdings 2" panose="05020102010507070707" pitchFamily="18" charset="2"/>
              </a:rPr>
              <a:t></a:t>
            </a:r>
          </a:p>
        </p:txBody>
      </p:sp>
      <p:sp>
        <p:nvSpPr>
          <p:cNvPr id="29" name="文本框 1"/>
          <p:cNvSpPr txBox="1"/>
          <p:nvPr/>
        </p:nvSpPr>
        <p:spPr>
          <a:xfrm>
            <a:off x="359532" y="317499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分枝结构程序设计</a:t>
            </a:r>
          </a:p>
        </p:txBody>
      </p:sp>
    </p:spTree>
    <p:extLst>
      <p:ext uri="{BB962C8B-B14F-4D97-AF65-F5344CB8AC3E}">
        <p14:creationId xmlns:p14="http://schemas.microsoft.com/office/powerpoint/2010/main" val="1147407494"/>
      </p:ext>
    </p:extLst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3380" y="980728"/>
            <a:ext cx="4974704" cy="5508848"/>
          </a:xfrm>
          <a:noFill/>
          <a:ln w="9525">
            <a:solidFill>
              <a:srgbClr val="FF0000"/>
            </a:solidFill>
            <a:prstDash val="dash"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lnSpc>
                <a:spcPct val="85000"/>
              </a:lnSpc>
              <a:spcBef>
                <a:spcPct val="5000"/>
              </a:spcBef>
              <a:buNone/>
            </a:pPr>
            <a:r>
              <a:rPr lang="en-US" altLang="zh-CN" sz="1800" dirty="0">
                <a:effectLst/>
              </a:rPr>
              <a:t>       …</a:t>
            </a:r>
          </a:p>
          <a:p>
            <a:pPr eaLnBrk="1" hangingPunct="1">
              <a:lnSpc>
                <a:spcPct val="85000"/>
              </a:lnSpc>
              <a:spcBef>
                <a:spcPct val="5000"/>
              </a:spcBef>
              <a:buNone/>
            </a:pPr>
            <a:r>
              <a:rPr lang="en-US" altLang="zh-CN" sz="1800" dirty="0">
                <a:effectLst/>
              </a:rPr>
              <a:t>	</a:t>
            </a:r>
            <a:r>
              <a:rPr lang="en-US" altLang="zh-CN" sz="1800" dirty="0" err="1">
                <a:effectLst/>
              </a:rPr>
              <a:t>mov</a:t>
            </a:r>
            <a:r>
              <a:rPr lang="en-US" altLang="zh-CN" sz="1800" dirty="0">
                <a:effectLst/>
              </a:rPr>
              <a:t>  ax, number  ;</a:t>
            </a:r>
            <a:r>
              <a:rPr lang="zh-CN" altLang="en-US" sz="1800" dirty="0">
                <a:effectLst/>
              </a:rPr>
              <a:t>要查找数</a:t>
            </a:r>
            <a:endParaRPr lang="en-US" altLang="zh-CN" sz="1800" dirty="0">
              <a:effectLst/>
            </a:endParaRPr>
          </a:p>
          <a:p>
            <a:pPr eaLnBrk="1" hangingPunct="1">
              <a:lnSpc>
                <a:spcPct val="85000"/>
              </a:lnSpc>
              <a:spcBef>
                <a:spcPct val="5000"/>
              </a:spcBef>
              <a:buNone/>
            </a:pPr>
            <a:r>
              <a:rPr lang="en-US" altLang="zh-CN" sz="1800" dirty="0">
                <a:effectLst/>
              </a:rPr>
              <a:t>	</a:t>
            </a:r>
            <a:r>
              <a:rPr lang="en-US" altLang="zh-CN" sz="1800" dirty="0" err="1">
                <a:effectLst/>
              </a:rPr>
              <a:t>cmp</a:t>
            </a:r>
            <a:r>
              <a:rPr lang="en-US" altLang="zh-CN" sz="1800" dirty="0">
                <a:effectLst/>
              </a:rPr>
              <a:t> ax, [di+2]</a:t>
            </a:r>
            <a:r>
              <a:rPr lang="zh-CN" altLang="en-US" sz="1800" dirty="0">
                <a:effectLst/>
              </a:rPr>
              <a:t> </a:t>
            </a:r>
            <a:r>
              <a:rPr lang="en-US" altLang="zh-CN" sz="1800" dirty="0">
                <a:effectLst/>
              </a:rPr>
              <a:t>; (ax)</a:t>
            </a:r>
            <a:r>
              <a:rPr lang="zh-CN" altLang="en-US" sz="1800" dirty="0">
                <a:effectLst/>
              </a:rPr>
              <a:t>与第一个元素比较</a:t>
            </a:r>
            <a:endParaRPr lang="en-US" altLang="zh-CN" sz="1800" dirty="0">
              <a:effectLst/>
            </a:endParaRPr>
          </a:p>
          <a:p>
            <a:pPr eaLnBrk="1" hangingPunct="1">
              <a:lnSpc>
                <a:spcPct val="85000"/>
              </a:lnSpc>
              <a:spcBef>
                <a:spcPct val="5000"/>
              </a:spcBef>
              <a:buNone/>
            </a:pPr>
            <a:r>
              <a:rPr lang="en-US" altLang="zh-CN" sz="1800" dirty="0">
                <a:effectLst/>
              </a:rPr>
              <a:t>       ja     </a:t>
            </a:r>
            <a:r>
              <a:rPr lang="en-US" altLang="zh-CN" sz="1800" dirty="0" err="1">
                <a:effectLst/>
              </a:rPr>
              <a:t>chk_last</a:t>
            </a:r>
            <a:endParaRPr lang="en-US" altLang="zh-CN" sz="1800" dirty="0">
              <a:effectLst/>
            </a:endParaRPr>
          </a:p>
          <a:p>
            <a:pPr eaLnBrk="1" hangingPunct="1">
              <a:lnSpc>
                <a:spcPct val="85000"/>
              </a:lnSpc>
              <a:spcBef>
                <a:spcPct val="5000"/>
              </a:spcBef>
              <a:buNone/>
            </a:pPr>
            <a:r>
              <a:rPr lang="en-US" altLang="zh-CN" sz="1800" dirty="0">
                <a:effectLst/>
              </a:rPr>
              <a:t>       lea   </a:t>
            </a:r>
            <a:r>
              <a:rPr lang="en-US" altLang="zh-CN" sz="1800" dirty="0" err="1">
                <a:effectLst/>
              </a:rPr>
              <a:t>si</a:t>
            </a:r>
            <a:r>
              <a:rPr lang="en-US" altLang="zh-CN" sz="1800" dirty="0">
                <a:effectLst/>
              </a:rPr>
              <a:t>, [di+2]	</a:t>
            </a:r>
          </a:p>
          <a:p>
            <a:pPr eaLnBrk="1" hangingPunct="1">
              <a:lnSpc>
                <a:spcPct val="85000"/>
              </a:lnSpc>
              <a:spcBef>
                <a:spcPct val="5000"/>
              </a:spcBef>
              <a:buNone/>
            </a:pPr>
            <a:r>
              <a:rPr lang="en-US" altLang="zh-CN" sz="1800" dirty="0">
                <a:effectLst/>
              </a:rPr>
              <a:t>       je     exit       ; (ax)</a:t>
            </a:r>
            <a:r>
              <a:rPr lang="zh-CN" altLang="en-US" sz="1800" dirty="0">
                <a:effectLst/>
              </a:rPr>
              <a:t>＝第</a:t>
            </a:r>
            <a:r>
              <a:rPr lang="en-US" altLang="zh-CN" sz="1800" dirty="0">
                <a:effectLst/>
              </a:rPr>
              <a:t>1</a:t>
            </a:r>
            <a:r>
              <a:rPr lang="zh-CN" altLang="en-US" sz="1800" dirty="0">
                <a:effectLst/>
              </a:rPr>
              <a:t>个元素</a:t>
            </a:r>
            <a:r>
              <a:rPr lang="en-US" altLang="zh-CN" sz="1800" dirty="0">
                <a:effectLst/>
              </a:rPr>
              <a:t>,</a:t>
            </a:r>
            <a:r>
              <a:rPr lang="zh-CN" altLang="en-US" sz="1800" dirty="0">
                <a:effectLst/>
              </a:rPr>
              <a:t>找到退出</a:t>
            </a:r>
          </a:p>
          <a:p>
            <a:pPr eaLnBrk="1" hangingPunct="1">
              <a:lnSpc>
                <a:spcPct val="85000"/>
              </a:lnSpc>
              <a:spcBef>
                <a:spcPct val="5000"/>
              </a:spcBef>
              <a:buNone/>
            </a:pPr>
            <a:r>
              <a:rPr lang="en-US" altLang="zh-CN" sz="1800" dirty="0">
                <a:effectLst/>
              </a:rPr>
              <a:t>       </a:t>
            </a:r>
            <a:r>
              <a:rPr lang="en-US" altLang="zh-CN" sz="1800" dirty="0" err="1">
                <a:effectLst/>
              </a:rPr>
              <a:t>stc</a:t>
            </a:r>
            <a:r>
              <a:rPr lang="en-US" altLang="zh-CN" sz="1800" dirty="0">
                <a:effectLst/>
              </a:rPr>
              <a:t>	            ;</a:t>
            </a:r>
            <a:r>
              <a:rPr lang="zh-CN" altLang="en-US" sz="1800" dirty="0">
                <a:effectLst/>
              </a:rPr>
              <a:t>可以去掉</a:t>
            </a:r>
          </a:p>
          <a:p>
            <a:pPr eaLnBrk="1" hangingPunct="1">
              <a:lnSpc>
                <a:spcPct val="85000"/>
              </a:lnSpc>
              <a:spcBef>
                <a:spcPct val="5000"/>
              </a:spcBef>
              <a:buNone/>
            </a:pPr>
            <a:r>
              <a:rPr lang="zh-CN" altLang="en-US" sz="1800" dirty="0">
                <a:effectLst/>
              </a:rPr>
              <a:t>       </a:t>
            </a:r>
            <a:r>
              <a:rPr lang="en-US" altLang="zh-CN" sz="1800" dirty="0" err="1">
                <a:effectLst/>
              </a:rPr>
              <a:t>jmp</a:t>
            </a:r>
            <a:r>
              <a:rPr lang="en-US" altLang="zh-CN" sz="1800" dirty="0">
                <a:effectLst/>
              </a:rPr>
              <a:t>  exit      ; (ax)&lt;</a:t>
            </a:r>
            <a:r>
              <a:rPr lang="zh-CN" altLang="en-US" sz="1800" dirty="0">
                <a:effectLst/>
              </a:rPr>
              <a:t>第一个元素</a:t>
            </a:r>
            <a:r>
              <a:rPr lang="en-US" altLang="zh-CN" sz="1800" dirty="0">
                <a:effectLst/>
              </a:rPr>
              <a:t>,</a:t>
            </a:r>
            <a:r>
              <a:rPr lang="zh-CN" altLang="en-US" sz="1800" dirty="0">
                <a:effectLst/>
              </a:rPr>
              <a:t>未找到退出</a:t>
            </a:r>
          </a:p>
          <a:p>
            <a:pPr eaLnBrk="1" hangingPunct="1">
              <a:lnSpc>
                <a:spcPct val="85000"/>
              </a:lnSpc>
              <a:spcBef>
                <a:spcPct val="5000"/>
              </a:spcBef>
              <a:buNone/>
            </a:pPr>
            <a:r>
              <a:rPr lang="en-US" altLang="zh-CN" sz="1800" dirty="0" err="1">
                <a:effectLst/>
              </a:rPr>
              <a:t>chk_last</a:t>
            </a:r>
            <a:r>
              <a:rPr lang="en-US" altLang="zh-CN" sz="1800" dirty="0">
                <a:effectLst/>
              </a:rPr>
              <a:t>:  </a:t>
            </a:r>
          </a:p>
          <a:p>
            <a:pPr eaLnBrk="1" hangingPunct="1">
              <a:lnSpc>
                <a:spcPct val="85000"/>
              </a:lnSpc>
              <a:spcBef>
                <a:spcPct val="5000"/>
              </a:spcBef>
              <a:buNone/>
            </a:pPr>
            <a:r>
              <a:rPr lang="en-US" altLang="zh-CN" sz="1800" dirty="0">
                <a:effectLst/>
              </a:rPr>
              <a:t>	</a:t>
            </a:r>
            <a:r>
              <a:rPr lang="en-US" altLang="zh-CN" sz="1800" dirty="0" err="1">
                <a:effectLst/>
              </a:rPr>
              <a:t>mov</a:t>
            </a:r>
            <a:r>
              <a:rPr lang="en-US" altLang="zh-CN" sz="1800" dirty="0">
                <a:effectLst/>
              </a:rPr>
              <a:t>  </a:t>
            </a:r>
            <a:r>
              <a:rPr lang="en-US" altLang="zh-CN" sz="1800" dirty="0" err="1">
                <a:effectLst/>
              </a:rPr>
              <a:t>si</a:t>
            </a:r>
            <a:r>
              <a:rPr lang="en-US" altLang="zh-CN" sz="1800" dirty="0">
                <a:effectLst/>
              </a:rPr>
              <a:t>, [di]  </a:t>
            </a:r>
            <a:r>
              <a:rPr lang="zh-CN" altLang="en-US" sz="1800" dirty="0">
                <a:effectLst/>
              </a:rPr>
              <a:t>；</a:t>
            </a:r>
            <a:r>
              <a:rPr lang="en-US" altLang="zh-CN" sz="1800" dirty="0" err="1">
                <a:effectLst/>
              </a:rPr>
              <a:t>si</a:t>
            </a:r>
            <a:r>
              <a:rPr lang="en-US" altLang="zh-CN" sz="1800" dirty="0">
                <a:effectLst/>
              </a:rPr>
              <a:t>=</a:t>
            </a:r>
            <a:r>
              <a:rPr lang="zh-CN" altLang="en-US" sz="1800" dirty="0">
                <a:effectLst/>
              </a:rPr>
              <a:t>元素个数</a:t>
            </a:r>
          </a:p>
          <a:p>
            <a:pPr eaLnBrk="1" hangingPunct="1">
              <a:lnSpc>
                <a:spcPct val="85000"/>
              </a:lnSpc>
              <a:spcBef>
                <a:spcPct val="5000"/>
              </a:spcBef>
              <a:buNone/>
            </a:pPr>
            <a:r>
              <a:rPr lang="zh-CN" altLang="en-US" sz="1800" dirty="0">
                <a:effectLst/>
              </a:rPr>
              <a:t>       </a:t>
            </a:r>
            <a:r>
              <a:rPr lang="en-US" altLang="zh-CN" sz="1800" dirty="0" err="1">
                <a:effectLst/>
              </a:rPr>
              <a:t>shl</a:t>
            </a:r>
            <a:r>
              <a:rPr lang="en-US" altLang="zh-CN" sz="1800" dirty="0">
                <a:effectLst/>
              </a:rPr>
              <a:t>   si,1</a:t>
            </a:r>
          </a:p>
          <a:p>
            <a:pPr eaLnBrk="1" hangingPunct="1">
              <a:lnSpc>
                <a:spcPct val="85000"/>
              </a:lnSpc>
              <a:spcBef>
                <a:spcPct val="5000"/>
              </a:spcBef>
              <a:buNone/>
            </a:pPr>
            <a:r>
              <a:rPr lang="en-US" altLang="zh-CN" sz="1800" dirty="0">
                <a:effectLst/>
              </a:rPr>
              <a:t>       add  </a:t>
            </a:r>
            <a:r>
              <a:rPr lang="en-US" altLang="zh-CN" sz="1800" dirty="0" err="1">
                <a:effectLst/>
              </a:rPr>
              <a:t>si,di</a:t>
            </a:r>
            <a:r>
              <a:rPr lang="en-US" altLang="zh-CN" sz="1800" dirty="0">
                <a:effectLst/>
              </a:rPr>
              <a:t>       ; </a:t>
            </a:r>
            <a:r>
              <a:rPr lang="zh-CN" altLang="en-US" sz="1800" dirty="0">
                <a:effectLst/>
              </a:rPr>
              <a:t>计算最后一个元素的地址</a:t>
            </a:r>
          </a:p>
          <a:p>
            <a:pPr eaLnBrk="1" hangingPunct="1">
              <a:lnSpc>
                <a:spcPct val="85000"/>
              </a:lnSpc>
              <a:spcBef>
                <a:spcPct val="5000"/>
              </a:spcBef>
              <a:buNone/>
            </a:pPr>
            <a:r>
              <a:rPr lang="en-US" altLang="zh-CN" sz="1800" dirty="0">
                <a:effectLst/>
              </a:rPr>
              <a:t>	</a:t>
            </a:r>
            <a:r>
              <a:rPr lang="en-US" altLang="zh-CN" sz="1800" dirty="0" err="1">
                <a:effectLst/>
              </a:rPr>
              <a:t>cmp</a:t>
            </a:r>
            <a:r>
              <a:rPr lang="en-US" altLang="zh-CN" sz="1800" dirty="0">
                <a:effectLst/>
              </a:rPr>
              <a:t> ax,[</a:t>
            </a:r>
            <a:r>
              <a:rPr lang="en-US" altLang="zh-CN" sz="1800" dirty="0" err="1">
                <a:effectLst/>
              </a:rPr>
              <a:t>si</a:t>
            </a:r>
            <a:r>
              <a:rPr lang="en-US" altLang="zh-CN" sz="1800" dirty="0">
                <a:effectLst/>
              </a:rPr>
              <a:t>]</a:t>
            </a:r>
          </a:p>
          <a:p>
            <a:pPr eaLnBrk="1" hangingPunct="1">
              <a:lnSpc>
                <a:spcPct val="85000"/>
              </a:lnSpc>
              <a:spcBef>
                <a:spcPct val="5000"/>
              </a:spcBef>
              <a:buNone/>
            </a:pPr>
            <a:r>
              <a:rPr lang="en-US" altLang="zh-CN" sz="1800" dirty="0">
                <a:effectLst/>
              </a:rPr>
              <a:t>       </a:t>
            </a:r>
            <a:r>
              <a:rPr lang="en-US" altLang="zh-CN" sz="1800" dirty="0" err="1">
                <a:effectLst/>
              </a:rPr>
              <a:t>jb</a:t>
            </a:r>
            <a:r>
              <a:rPr lang="en-US" altLang="zh-CN" sz="1800" dirty="0">
                <a:effectLst/>
              </a:rPr>
              <a:t>      search</a:t>
            </a:r>
          </a:p>
          <a:p>
            <a:pPr eaLnBrk="1" hangingPunct="1">
              <a:lnSpc>
                <a:spcPct val="85000"/>
              </a:lnSpc>
              <a:spcBef>
                <a:spcPct val="5000"/>
              </a:spcBef>
              <a:buNone/>
            </a:pPr>
            <a:r>
              <a:rPr lang="en-US" altLang="zh-CN" sz="1800" dirty="0">
                <a:effectLst/>
              </a:rPr>
              <a:t>       je      exit    ; (ax)</a:t>
            </a:r>
            <a:r>
              <a:rPr lang="zh-CN" altLang="en-US" sz="1800" dirty="0">
                <a:effectLst/>
              </a:rPr>
              <a:t>＝最后一个元素</a:t>
            </a:r>
            <a:r>
              <a:rPr lang="en-US" altLang="zh-CN" sz="1800" dirty="0">
                <a:effectLst/>
              </a:rPr>
              <a:t>,</a:t>
            </a:r>
            <a:r>
              <a:rPr lang="zh-CN" altLang="en-US" sz="1800" dirty="0">
                <a:effectLst/>
              </a:rPr>
              <a:t>找到退出</a:t>
            </a:r>
            <a:endParaRPr lang="en-US" altLang="zh-CN" sz="1800" dirty="0">
              <a:effectLst/>
            </a:endParaRPr>
          </a:p>
          <a:p>
            <a:pPr eaLnBrk="1" hangingPunct="1">
              <a:lnSpc>
                <a:spcPct val="85000"/>
              </a:lnSpc>
              <a:spcBef>
                <a:spcPct val="5000"/>
              </a:spcBef>
              <a:buNone/>
            </a:pPr>
            <a:r>
              <a:rPr lang="en-US" altLang="zh-CN" sz="1800" dirty="0">
                <a:effectLst/>
              </a:rPr>
              <a:t>       </a:t>
            </a:r>
            <a:r>
              <a:rPr lang="en-US" altLang="zh-CN" sz="1800" dirty="0" err="1">
                <a:effectLst/>
              </a:rPr>
              <a:t>stc</a:t>
            </a:r>
            <a:endParaRPr lang="en-US" altLang="zh-CN" sz="1800" dirty="0">
              <a:effectLst/>
            </a:endParaRPr>
          </a:p>
          <a:p>
            <a:pPr eaLnBrk="1" hangingPunct="1">
              <a:lnSpc>
                <a:spcPct val="85000"/>
              </a:lnSpc>
              <a:spcBef>
                <a:spcPct val="5000"/>
              </a:spcBef>
              <a:buNone/>
            </a:pPr>
            <a:r>
              <a:rPr lang="en-US" altLang="zh-CN" sz="1800" dirty="0">
                <a:effectLst/>
              </a:rPr>
              <a:t>       </a:t>
            </a:r>
            <a:r>
              <a:rPr lang="en-US" altLang="zh-CN" sz="1800" dirty="0" err="1">
                <a:effectLst/>
              </a:rPr>
              <a:t>jmp</a:t>
            </a:r>
            <a:r>
              <a:rPr lang="en-US" altLang="zh-CN" sz="1800" dirty="0">
                <a:effectLst/>
              </a:rPr>
              <a:t>  exit   ; (ax)&gt;</a:t>
            </a:r>
            <a:r>
              <a:rPr lang="zh-CN" altLang="en-US" sz="1800" dirty="0">
                <a:effectLst/>
              </a:rPr>
              <a:t>最后一个元素</a:t>
            </a:r>
            <a:r>
              <a:rPr lang="en-US" altLang="zh-CN" sz="1800" dirty="0">
                <a:effectLst/>
              </a:rPr>
              <a:t>,</a:t>
            </a:r>
            <a:r>
              <a:rPr lang="zh-CN" altLang="en-US" sz="1800" dirty="0">
                <a:effectLst/>
              </a:rPr>
              <a:t>未找到退出</a:t>
            </a:r>
          </a:p>
          <a:p>
            <a:pPr eaLnBrk="1" hangingPunct="1">
              <a:lnSpc>
                <a:spcPct val="85000"/>
              </a:lnSpc>
              <a:spcBef>
                <a:spcPct val="5000"/>
              </a:spcBef>
              <a:buNone/>
            </a:pPr>
            <a:r>
              <a:rPr lang="en-US" altLang="zh-CN" sz="1800" dirty="0">
                <a:effectLst/>
              </a:rPr>
              <a:t>search:  </a:t>
            </a:r>
          </a:p>
          <a:p>
            <a:pPr eaLnBrk="1" hangingPunct="1">
              <a:lnSpc>
                <a:spcPct val="85000"/>
              </a:lnSpc>
              <a:spcBef>
                <a:spcPct val="5000"/>
              </a:spcBef>
              <a:buNone/>
            </a:pPr>
            <a:r>
              <a:rPr lang="en-US" altLang="zh-CN" sz="1800" dirty="0">
                <a:effectLst/>
              </a:rPr>
              <a:t>       </a:t>
            </a:r>
            <a:r>
              <a:rPr lang="en-US" altLang="zh-CN" sz="1800" dirty="0" err="1">
                <a:effectLst/>
              </a:rPr>
              <a:t>mov</a:t>
            </a:r>
            <a:r>
              <a:rPr lang="en-US" altLang="zh-CN" sz="1800" dirty="0">
                <a:effectLst/>
              </a:rPr>
              <a:t>  low_idx,1</a:t>
            </a:r>
          </a:p>
          <a:p>
            <a:pPr eaLnBrk="1" hangingPunct="1">
              <a:lnSpc>
                <a:spcPct val="85000"/>
              </a:lnSpc>
              <a:spcBef>
                <a:spcPct val="5000"/>
              </a:spcBef>
              <a:buNone/>
            </a:pPr>
            <a:r>
              <a:rPr lang="en-US" altLang="zh-CN" sz="1800" dirty="0">
                <a:effectLst/>
              </a:rPr>
              <a:t>       </a:t>
            </a:r>
            <a:r>
              <a:rPr lang="en-US" altLang="zh-CN" sz="1800" dirty="0" err="1">
                <a:effectLst/>
              </a:rPr>
              <a:t>mov</a:t>
            </a:r>
            <a:r>
              <a:rPr lang="en-US" altLang="zh-CN" sz="1800" dirty="0">
                <a:effectLst/>
              </a:rPr>
              <a:t>  </a:t>
            </a:r>
            <a:r>
              <a:rPr lang="en-US" altLang="zh-CN" sz="1800" dirty="0" err="1">
                <a:effectLst/>
              </a:rPr>
              <a:t>bx</a:t>
            </a:r>
            <a:r>
              <a:rPr lang="en-US" altLang="zh-CN" sz="1800" dirty="0">
                <a:effectLst/>
              </a:rPr>
              <a:t>,[di]</a:t>
            </a:r>
          </a:p>
          <a:p>
            <a:pPr eaLnBrk="1" hangingPunct="1">
              <a:lnSpc>
                <a:spcPct val="85000"/>
              </a:lnSpc>
              <a:spcBef>
                <a:spcPct val="5000"/>
              </a:spcBef>
              <a:buNone/>
            </a:pPr>
            <a:r>
              <a:rPr lang="en-US" altLang="zh-CN" sz="1800" dirty="0">
                <a:effectLst/>
              </a:rPr>
              <a:t>       </a:t>
            </a:r>
            <a:r>
              <a:rPr lang="en-US" altLang="zh-CN" sz="1800" dirty="0" err="1">
                <a:effectLst/>
              </a:rPr>
              <a:t>mov</a:t>
            </a:r>
            <a:r>
              <a:rPr lang="en-US" altLang="zh-CN" sz="1800" dirty="0">
                <a:effectLst/>
              </a:rPr>
              <a:t>  </a:t>
            </a:r>
            <a:r>
              <a:rPr lang="en-US" altLang="zh-CN" sz="1800" dirty="0" err="1">
                <a:effectLst/>
              </a:rPr>
              <a:t>high_idx,bx</a:t>
            </a:r>
            <a:endParaRPr lang="en-US" altLang="zh-CN" sz="1800" dirty="0">
              <a:effectLst/>
            </a:endParaRPr>
          </a:p>
          <a:p>
            <a:pPr eaLnBrk="1" hangingPunct="1">
              <a:lnSpc>
                <a:spcPct val="85000"/>
              </a:lnSpc>
              <a:spcBef>
                <a:spcPct val="5000"/>
              </a:spcBef>
              <a:buNone/>
            </a:pPr>
            <a:r>
              <a:rPr lang="en-US" altLang="zh-CN" sz="1800" dirty="0">
                <a:effectLst/>
              </a:rPr>
              <a:t>       </a:t>
            </a:r>
            <a:r>
              <a:rPr lang="en-US" altLang="zh-CN" sz="1800" dirty="0" err="1">
                <a:effectLst/>
              </a:rPr>
              <a:t>mov</a:t>
            </a:r>
            <a:r>
              <a:rPr lang="en-US" altLang="zh-CN" sz="1800" dirty="0">
                <a:effectLst/>
              </a:rPr>
              <a:t>  </a:t>
            </a:r>
            <a:r>
              <a:rPr lang="en-US" altLang="zh-CN" sz="1800" dirty="0" err="1">
                <a:effectLst/>
              </a:rPr>
              <a:t>bx,di</a:t>
            </a:r>
            <a:endParaRPr lang="en-US" altLang="zh-CN" sz="1800" dirty="0">
              <a:effectLst/>
            </a:endParaRPr>
          </a:p>
          <a:p>
            <a:pPr eaLnBrk="1" hangingPunct="1">
              <a:lnSpc>
                <a:spcPct val="85000"/>
              </a:lnSpc>
              <a:spcBef>
                <a:spcPct val="5000"/>
              </a:spcBef>
              <a:buNone/>
            </a:pPr>
            <a:endParaRPr lang="en-US" altLang="zh-CN" sz="1600" dirty="0">
              <a:effectLst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5472100" y="980728"/>
            <a:ext cx="3600400" cy="5472844"/>
          </a:xfrm>
          <a:prstGeom prst="rect">
            <a:avLst/>
          </a:prstGeom>
          <a:noFill/>
          <a:ln w="9525">
            <a:solidFill>
              <a:srgbClr val="FF0000"/>
            </a:solidFill>
            <a:prstDash val="dash"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Blip>
                <a:blip r:embed="rId2"/>
              </a:buBlip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"/>
              </a:spcBef>
              <a:buNone/>
            </a:pPr>
            <a:r>
              <a:rPr lang="en-US" altLang="zh-CN" sz="1800" dirty="0">
                <a:effectLst/>
              </a:rPr>
              <a:t>mid: </a:t>
            </a:r>
            <a:r>
              <a:rPr lang="en-US" altLang="zh-CN" sz="1800" dirty="0" err="1">
                <a:effectLst/>
              </a:rPr>
              <a:t>mov</a:t>
            </a:r>
            <a:r>
              <a:rPr lang="en-US" altLang="zh-CN" sz="1800" dirty="0">
                <a:effectLst/>
              </a:rPr>
              <a:t>  </a:t>
            </a:r>
            <a:r>
              <a:rPr lang="en-US" altLang="zh-CN" sz="1800" dirty="0" err="1">
                <a:effectLst/>
              </a:rPr>
              <a:t>cx,low_idx</a:t>
            </a:r>
            <a:endParaRPr lang="en-US" altLang="zh-CN" sz="1800" dirty="0">
              <a:effectLst/>
            </a:endParaRPr>
          </a:p>
          <a:p>
            <a:pPr eaLnBrk="1" hangingPunct="1">
              <a:lnSpc>
                <a:spcPct val="85000"/>
              </a:lnSpc>
              <a:spcBef>
                <a:spcPct val="5000"/>
              </a:spcBef>
              <a:buNone/>
            </a:pPr>
            <a:r>
              <a:rPr lang="en-US" altLang="zh-CN" sz="1800" dirty="0">
                <a:effectLst/>
              </a:rPr>
              <a:t>         </a:t>
            </a:r>
            <a:r>
              <a:rPr lang="en-US" altLang="zh-CN" sz="1800" dirty="0" err="1">
                <a:effectLst/>
              </a:rPr>
              <a:t>mov</a:t>
            </a:r>
            <a:r>
              <a:rPr lang="en-US" altLang="zh-CN" sz="1800" dirty="0">
                <a:effectLst/>
              </a:rPr>
              <a:t>  </a:t>
            </a:r>
            <a:r>
              <a:rPr lang="en-US" altLang="zh-CN" sz="1800" dirty="0" err="1">
                <a:effectLst/>
              </a:rPr>
              <a:t>dx,high_idx</a:t>
            </a:r>
            <a:endParaRPr lang="en-US" altLang="zh-CN" sz="1800" dirty="0">
              <a:effectLst/>
            </a:endParaRPr>
          </a:p>
          <a:p>
            <a:pPr eaLnBrk="1" hangingPunct="1">
              <a:lnSpc>
                <a:spcPct val="85000"/>
              </a:lnSpc>
              <a:spcBef>
                <a:spcPct val="5000"/>
              </a:spcBef>
              <a:buNone/>
            </a:pPr>
            <a:r>
              <a:rPr lang="en-US" altLang="zh-CN" sz="1800" dirty="0">
                <a:effectLst/>
              </a:rPr>
              <a:t>         </a:t>
            </a:r>
            <a:r>
              <a:rPr lang="en-US" altLang="zh-CN" sz="1800" dirty="0" err="1">
                <a:effectLst/>
              </a:rPr>
              <a:t>cmp</a:t>
            </a:r>
            <a:r>
              <a:rPr lang="en-US" altLang="zh-CN" sz="1800" dirty="0">
                <a:effectLst/>
              </a:rPr>
              <a:t>  </a:t>
            </a:r>
            <a:r>
              <a:rPr lang="en-US" altLang="zh-CN" sz="1800" dirty="0" err="1">
                <a:effectLst/>
              </a:rPr>
              <a:t>cx,dx</a:t>
            </a:r>
            <a:endParaRPr lang="en-US" altLang="zh-CN" sz="1800" dirty="0">
              <a:effectLst/>
            </a:endParaRPr>
          </a:p>
          <a:p>
            <a:pPr eaLnBrk="1" hangingPunct="1">
              <a:lnSpc>
                <a:spcPct val="85000"/>
              </a:lnSpc>
              <a:spcBef>
                <a:spcPct val="5000"/>
              </a:spcBef>
              <a:buNone/>
            </a:pPr>
            <a:r>
              <a:rPr lang="en-US" altLang="zh-CN" sz="1800" dirty="0">
                <a:effectLst/>
              </a:rPr>
              <a:t>         ja       </a:t>
            </a:r>
            <a:r>
              <a:rPr lang="en-US" altLang="zh-CN" sz="1800" dirty="0" err="1">
                <a:effectLst/>
              </a:rPr>
              <a:t>no_match</a:t>
            </a:r>
            <a:endParaRPr lang="en-US" altLang="zh-CN" sz="1800" dirty="0">
              <a:effectLst/>
            </a:endParaRPr>
          </a:p>
          <a:p>
            <a:pPr eaLnBrk="1" hangingPunct="1">
              <a:lnSpc>
                <a:spcPct val="85000"/>
              </a:lnSpc>
              <a:spcBef>
                <a:spcPct val="5000"/>
              </a:spcBef>
              <a:buNone/>
            </a:pPr>
            <a:r>
              <a:rPr lang="en-US" altLang="zh-CN" sz="1800" dirty="0">
                <a:effectLst/>
              </a:rPr>
              <a:t>         add   </a:t>
            </a:r>
            <a:r>
              <a:rPr lang="en-US" altLang="zh-CN" sz="1800" dirty="0" err="1">
                <a:effectLst/>
              </a:rPr>
              <a:t>cx,dx</a:t>
            </a:r>
            <a:endParaRPr lang="en-US" altLang="zh-CN" sz="1800" dirty="0">
              <a:effectLst/>
            </a:endParaRPr>
          </a:p>
          <a:p>
            <a:pPr eaLnBrk="1" hangingPunct="1">
              <a:lnSpc>
                <a:spcPct val="85000"/>
              </a:lnSpc>
              <a:spcBef>
                <a:spcPct val="5000"/>
              </a:spcBef>
              <a:buNone/>
            </a:pPr>
            <a:r>
              <a:rPr lang="en-US" altLang="zh-CN" sz="1800" dirty="0">
                <a:effectLst/>
              </a:rPr>
              <a:t>         </a:t>
            </a:r>
            <a:r>
              <a:rPr lang="en-US" altLang="zh-CN" sz="1800" dirty="0" err="1">
                <a:effectLst/>
              </a:rPr>
              <a:t>shr</a:t>
            </a:r>
            <a:r>
              <a:rPr lang="en-US" altLang="zh-CN" sz="1800" dirty="0">
                <a:effectLst/>
              </a:rPr>
              <a:t>    cx,1</a:t>
            </a:r>
          </a:p>
          <a:p>
            <a:pPr eaLnBrk="1" hangingPunct="1">
              <a:lnSpc>
                <a:spcPct val="85000"/>
              </a:lnSpc>
              <a:spcBef>
                <a:spcPct val="5000"/>
              </a:spcBef>
              <a:buNone/>
            </a:pPr>
            <a:r>
              <a:rPr lang="en-US" altLang="zh-CN" sz="1800" dirty="0">
                <a:effectLst/>
              </a:rPr>
              <a:t>         </a:t>
            </a:r>
            <a:r>
              <a:rPr lang="en-US" altLang="zh-CN" sz="1800" dirty="0" err="1">
                <a:effectLst/>
              </a:rPr>
              <a:t>mov</a:t>
            </a:r>
            <a:r>
              <a:rPr lang="en-US" altLang="zh-CN" sz="1800" dirty="0">
                <a:effectLst/>
              </a:rPr>
              <a:t>  </a:t>
            </a:r>
            <a:r>
              <a:rPr lang="en-US" altLang="zh-CN" sz="1800" dirty="0" err="1">
                <a:effectLst/>
              </a:rPr>
              <a:t>si,cx</a:t>
            </a:r>
            <a:endParaRPr lang="en-US" altLang="zh-CN" sz="1800" dirty="0">
              <a:effectLst/>
            </a:endParaRPr>
          </a:p>
          <a:p>
            <a:pPr eaLnBrk="1" hangingPunct="1">
              <a:lnSpc>
                <a:spcPct val="85000"/>
              </a:lnSpc>
              <a:spcBef>
                <a:spcPct val="5000"/>
              </a:spcBef>
              <a:buNone/>
            </a:pPr>
            <a:r>
              <a:rPr lang="en-US" altLang="zh-CN" sz="1800" dirty="0">
                <a:effectLst/>
              </a:rPr>
              <a:t>         </a:t>
            </a:r>
            <a:r>
              <a:rPr lang="en-US" altLang="zh-CN" sz="1800" dirty="0" err="1">
                <a:effectLst/>
              </a:rPr>
              <a:t>shl</a:t>
            </a:r>
            <a:r>
              <a:rPr lang="en-US" altLang="zh-CN" sz="1800" dirty="0">
                <a:effectLst/>
              </a:rPr>
              <a:t>    si,1</a:t>
            </a:r>
          </a:p>
          <a:p>
            <a:pPr eaLnBrk="1" hangingPunct="1">
              <a:lnSpc>
                <a:spcPct val="85000"/>
              </a:lnSpc>
              <a:spcBef>
                <a:spcPct val="5000"/>
              </a:spcBef>
              <a:buNone/>
            </a:pPr>
            <a:r>
              <a:rPr lang="en-US" altLang="zh-CN" sz="1800" dirty="0">
                <a:effectLst/>
              </a:rPr>
              <a:t>compare: </a:t>
            </a:r>
          </a:p>
          <a:p>
            <a:pPr eaLnBrk="1" hangingPunct="1">
              <a:lnSpc>
                <a:spcPct val="85000"/>
              </a:lnSpc>
              <a:spcBef>
                <a:spcPct val="5000"/>
              </a:spcBef>
              <a:buNone/>
            </a:pPr>
            <a:r>
              <a:rPr lang="en-US" altLang="zh-CN" sz="1800" dirty="0">
                <a:effectLst/>
              </a:rPr>
              <a:t>         </a:t>
            </a:r>
            <a:r>
              <a:rPr lang="en-US" altLang="zh-CN" sz="1800" dirty="0" err="1">
                <a:effectLst/>
              </a:rPr>
              <a:t>cmp</a:t>
            </a:r>
            <a:r>
              <a:rPr lang="en-US" altLang="zh-CN" sz="1800" dirty="0">
                <a:effectLst/>
              </a:rPr>
              <a:t>  ax,[</a:t>
            </a:r>
            <a:r>
              <a:rPr lang="en-US" altLang="zh-CN" sz="1800" dirty="0" err="1">
                <a:effectLst/>
              </a:rPr>
              <a:t>bx+si</a:t>
            </a:r>
            <a:r>
              <a:rPr lang="en-US" altLang="zh-CN" sz="1800" dirty="0">
                <a:effectLst/>
              </a:rPr>
              <a:t>]</a:t>
            </a:r>
          </a:p>
          <a:p>
            <a:pPr marL="0" indent="0" eaLnBrk="1" hangingPunct="1">
              <a:lnSpc>
                <a:spcPct val="85000"/>
              </a:lnSpc>
              <a:spcBef>
                <a:spcPct val="5000"/>
              </a:spcBef>
              <a:buNone/>
            </a:pPr>
            <a:r>
              <a:rPr lang="en-US" altLang="zh-CN" sz="1800" dirty="0">
                <a:effectLst/>
              </a:rPr>
              <a:t>         je      exit   </a:t>
            </a:r>
          </a:p>
          <a:p>
            <a:pPr marL="0" indent="0" eaLnBrk="1" hangingPunct="1">
              <a:lnSpc>
                <a:spcPct val="85000"/>
              </a:lnSpc>
              <a:spcBef>
                <a:spcPct val="5000"/>
              </a:spcBef>
              <a:buNone/>
            </a:pPr>
            <a:r>
              <a:rPr lang="en-US" altLang="zh-CN" sz="1800" dirty="0">
                <a:effectLst/>
              </a:rPr>
              <a:t>         ja      higher</a:t>
            </a:r>
          </a:p>
          <a:p>
            <a:pPr eaLnBrk="1" hangingPunct="1">
              <a:lnSpc>
                <a:spcPct val="85000"/>
              </a:lnSpc>
              <a:spcBef>
                <a:spcPct val="5000"/>
              </a:spcBef>
              <a:buNone/>
            </a:pPr>
            <a:r>
              <a:rPr lang="en-US" altLang="zh-CN" sz="1800" kern="0" dirty="0">
                <a:effectLst/>
              </a:rPr>
              <a:t>	  </a:t>
            </a:r>
            <a:r>
              <a:rPr lang="en-US" altLang="zh-CN" sz="1800" kern="0" dirty="0" err="1">
                <a:effectLst/>
              </a:rPr>
              <a:t>dec</a:t>
            </a:r>
            <a:r>
              <a:rPr lang="en-US" altLang="zh-CN" sz="1800" kern="0" dirty="0">
                <a:effectLst/>
              </a:rPr>
              <a:t>   cx</a:t>
            </a:r>
          </a:p>
          <a:p>
            <a:pPr eaLnBrk="1" hangingPunct="1">
              <a:lnSpc>
                <a:spcPct val="85000"/>
              </a:lnSpc>
              <a:spcBef>
                <a:spcPct val="5000"/>
              </a:spcBef>
              <a:buNone/>
            </a:pPr>
            <a:r>
              <a:rPr lang="en-US" altLang="zh-CN" sz="1800" kern="0" dirty="0">
                <a:effectLst/>
              </a:rPr>
              <a:t>	  </a:t>
            </a:r>
            <a:r>
              <a:rPr lang="en-US" altLang="zh-CN" sz="1800" kern="0" dirty="0" err="1">
                <a:effectLst/>
              </a:rPr>
              <a:t>mov</a:t>
            </a:r>
            <a:r>
              <a:rPr lang="en-US" altLang="zh-CN" sz="1800" kern="0" dirty="0">
                <a:effectLst/>
              </a:rPr>
              <a:t>  </a:t>
            </a:r>
            <a:r>
              <a:rPr lang="en-US" altLang="zh-CN" sz="1800" kern="0" dirty="0" err="1">
                <a:effectLst/>
              </a:rPr>
              <a:t>high_idx,cx</a:t>
            </a:r>
            <a:endParaRPr lang="en-US" altLang="zh-CN" sz="1800" kern="0" dirty="0">
              <a:effectLst/>
            </a:endParaRPr>
          </a:p>
          <a:p>
            <a:pPr eaLnBrk="1" hangingPunct="1">
              <a:lnSpc>
                <a:spcPct val="85000"/>
              </a:lnSpc>
              <a:spcBef>
                <a:spcPct val="5000"/>
              </a:spcBef>
              <a:buNone/>
            </a:pPr>
            <a:r>
              <a:rPr lang="en-US" altLang="zh-CN" sz="1800" kern="0" dirty="0">
                <a:effectLst/>
              </a:rPr>
              <a:t>         </a:t>
            </a:r>
            <a:r>
              <a:rPr lang="en-US" altLang="zh-CN" sz="1800" kern="0" dirty="0" err="1">
                <a:effectLst/>
              </a:rPr>
              <a:t>jmp</a:t>
            </a:r>
            <a:r>
              <a:rPr lang="en-US" altLang="zh-CN" sz="1800" kern="0" dirty="0">
                <a:effectLst/>
              </a:rPr>
              <a:t>   mid</a:t>
            </a:r>
          </a:p>
          <a:p>
            <a:pPr eaLnBrk="1" hangingPunct="1">
              <a:lnSpc>
                <a:spcPct val="85000"/>
              </a:lnSpc>
              <a:spcBef>
                <a:spcPct val="5000"/>
              </a:spcBef>
              <a:buNone/>
            </a:pPr>
            <a:r>
              <a:rPr lang="en-US" altLang="zh-CN" sz="1800" kern="0" dirty="0">
                <a:effectLst/>
              </a:rPr>
              <a:t>higher: </a:t>
            </a:r>
            <a:r>
              <a:rPr lang="en-US" altLang="zh-CN" sz="1800" kern="0" dirty="0" err="1">
                <a:effectLst/>
              </a:rPr>
              <a:t>inc</a:t>
            </a:r>
            <a:r>
              <a:rPr lang="en-US" altLang="zh-CN" sz="1800" kern="0" dirty="0">
                <a:effectLst/>
              </a:rPr>
              <a:t>    cx</a:t>
            </a:r>
          </a:p>
          <a:p>
            <a:pPr eaLnBrk="1" hangingPunct="1">
              <a:lnSpc>
                <a:spcPct val="85000"/>
              </a:lnSpc>
              <a:spcBef>
                <a:spcPct val="5000"/>
              </a:spcBef>
              <a:buNone/>
            </a:pPr>
            <a:r>
              <a:rPr lang="en-US" altLang="zh-CN" sz="1800" kern="0" dirty="0">
                <a:effectLst/>
              </a:rPr>
              <a:t>	  </a:t>
            </a:r>
            <a:r>
              <a:rPr lang="en-US" altLang="zh-CN" sz="1800" kern="0" dirty="0" err="1">
                <a:effectLst/>
              </a:rPr>
              <a:t>mov</a:t>
            </a:r>
            <a:r>
              <a:rPr lang="en-US" altLang="zh-CN" sz="1800" kern="0" dirty="0">
                <a:effectLst/>
              </a:rPr>
              <a:t>  </a:t>
            </a:r>
            <a:r>
              <a:rPr lang="en-US" altLang="zh-CN" sz="1800" kern="0" dirty="0" err="1">
                <a:effectLst/>
              </a:rPr>
              <a:t>low_idx,cx</a:t>
            </a:r>
            <a:endParaRPr lang="en-US" altLang="zh-CN" sz="1800" kern="0" dirty="0">
              <a:effectLst/>
            </a:endParaRPr>
          </a:p>
          <a:p>
            <a:pPr eaLnBrk="1" hangingPunct="1">
              <a:lnSpc>
                <a:spcPct val="85000"/>
              </a:lnSpc>
              <a:spcBef>
                <a:spcPct val="5000"/>
              </a:spcBef>
              <a:buNone/>
            </a:pPr>
            <a:r>
              <a:rPr lang="en-US" altLang="zh-CN" sz="1800" kern="0" dirty="0">
                <a:effectLst/>
              </a:rPr>
              <a:t>	  </a:t>
            </a:r>
            <a:r>
              <a:rPr lang="en-US" altLang="zh-CN" sz="1800" kern="0" dirty="0" err="1">
                <a:effectLst/>
              </a:rPr>
              <a:t>jmp</a:t>
            </a:r>
            <a:r>
              <a:rPr lang="en-US" altLang="zh-CN" sz="1800" kern="0" dirty="0">
                <a:effectLst/>
              </a:rPr>
              <a:t>   mid</a:t>
            </a:r>
          </a:p>
          <a:p>
            <a:pPr eaLnBrk="1" hangingPunct="1">
              <a:lnSpc>
                <a:spcPct val="85000"/>
              </a:lnSpc>
              <a:spcBef>
                <a:spcPct val="5000"/>
              </a:spcBef>
              <a:buNone/>
            </a:pPr>
            <a:r>
              <a:rPr lang="en-US" altLang="zh-CN" sz="1800" kern="0" dirty="0" err="1">
                <a:effectLst/>
              </a:rPr>
              <a:t>no_match</a:t>
            </a:r>
            <a:r>
              <a:rPr lang="en-US" altLang="zh-CN" sz="1800" kern="0" dirty="0">
                <a:effectLst/>
              </a:rPr>
              <a:t>: </a:t>
            </a:r>
          </a:p>
          <a:p>
            <a:pPr eaLnBrk="1" hangingPunct="1">
              <a:lnSpc>
                <a:spcPct val="85000"/>
              </a:lnSpc>
              <a:spcBef>
                <a:spcPct val="5000"/>
              </a:spcBef>
              <a:buNone/>
            </a:pPr>
            <a:r>
              <a:rPr lang="en-US" altLang="zh-CN" sz="1800" kern="0" dirty="0">
                <a:effectLst/>
              </a:rPr>
              <a:t>	  </a:t>
            </a:r>
            <a:r>
              <a:rPr lang="en-US" altLang="zh-CN" sz="1800" kern="0" dirty="0" err="1">
                <a:effectLst/>
              </a:rPr>
              <a:t>stc</a:t>
            </a:r>
            <a:endParaRPr lang="en-US" altLang="zh-CN" sz="1800" kern="0" dirty="0">
              <a:effectLst/>
            </a:endParaRPr>
          </a:p>
          <a:p>
            <a:pPr eaLnBrk="1" hangingPunct="1">
              <a:lnSpc>
                <a:spcPct val="85000"/>
              </a:lnSpc>
              <a:spcBef>
                <a:spcPct val="5000"/>
              </a:spcBef>
              <a:buNone/>
            </a:pPr>
            <a:r>
              <a:rPr lang="en-US" altLang="zh-CN" sz="1800" kern="0" dirty="0">
                <a:effectLst/>
              </a:rPr>
              <a:t>exit:	…</a:t>
            </a:r>
          </a:p>
          <a:p>
            <a:pPr eaLnBrk="1" hangingPunct="1">
              <a:lnSpc>
                <a:spcPct val="85000"/>
              </a:lnSpc>
              <a:spcBef>
                <a:spcPct val="5000"/>
              </a:spcBef>
              <a:buFont typeface="Wingdings" panose="05000000000000000000" pitchFamily="2" charset="2"/>
              <a:buNone/>
            </a:pPr>
            <a:endParaRPr lang="en-US" altLang="zh-CN" sz="1800" kern="0" dirty="0">
              <a:effectLst/>
            </a:endParaRPr>
          </a:p>
        </p:txBody>
      </p:sp>
      <p:sp>
        <p:nvSpPr>
          <p:cNvPr id="5" name="文本框 1"/>
          <p:cNvSpPr txBox="1"/>
          <p:nvPr/>
        </p:nvSpPr>
        <p:spPr>
          <a:xfrm>
            <a:off x="359532" y="317499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分枝结构程序设计</a:t>
            </a:r>
          </a:p>
        </p:txBody>
      </p:sp>
    </p:spTree>
    <p:extLst>
      <p:ext uri="{BB962C8B-B14F-4D97-AF65-F5344CB8AC3E}">
        <p14:creationId xmlns:p14="http://schemas.microsoft.com/office/powerpoint/2010/main" val="328636599"/>
      </p:ext>
    </p:extLst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6" name="Rectangle 4"/>
          <p:cNvSpPr>
            <a:spLocks noChangeArrowheads="1"/>
          </p:cNvSpPr>
          <p:nvPr/>
        </p:nvSpPr>
        <p:spPr bwMode="auto">
          <a:xfrm>
            <a:off x="468313" y="2262257"/>
            <a:ext cx="792011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/>
            <a:r>
              <a:rPr lang="zh-CN" altLang="en-US" sz="20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例：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设某程序有</a:t>
            </a:r>
            <a:r>
              <a:rPr lang="en-US" altLang="zh-CN" sz="2000" b="1" dirty="0">
                <a:latin typeface="楷体_GB2312" pitchFamily="49" charset="-122"/>
                <a:ea typeface="楷体_GB2312" pitchFamily="49" charset="-122"/>
              </a:rPr>
              <a:t>8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路分支，试根据给定的</a:t>
            </a:r>
            <a:r>
              <a:rPr lang="en-US" altLang="zh-CN" sz="2000" b="1" dirty="0">
                <a:latin typeface="楷体_GB2312" pitchFamily="49" charset="-122"/>
                <a:ea typeface="楷体_GB2312" pitchFamily="49" charset="-122"/>
              </a:rPr>
              <a:t>N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值（</a:t>
            </a:r>
            <a:r>
              <a:rPr lang="en-US" altLang="zh-CN" sz="2000" b="1" dirty="0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～</a:t>
            </a:r>
            <a:r>
              <a:rPr lang="en-US" altLang="zh-CN" sz="2000" b="1" dirty="0">
                <a:latin typeface="楷体_GB2312" pitchFamily="49" charset="-122"/>
                <a:ea typeface="楷体_GB2312" pitchFamily="49" charset="-122"/>
              </a:rPr>
              <a:t>8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），将程序的执行转移到其中的一路分支。 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2171121" y="3032956"/>
            <a:ext cx="5040312" cy="3612063"/>
            <a:chOff x="2171121" y="3057297"/>
            <a:chExt cx="5040312" cy="3612063"/>
          </a:xfrm>
        </p:grpSpPr>
        <p:sp>
          <p:nvSpPr>
            <p:cNvPr id="95244" name="AutoShape 12"/>
            <p:cNvSpPr>
              <a:spLocks noChangeAspect="1" noChangeArrowheads="1"/>
            </p:cNvSpPr>
            <p:nvPr/>
          </p:nvSpPr>
          <p:spPr bwMode="auto">
            <a:xfrm>
              <a:off x="2171121" y="3057297"/>
              <a:ext cx="5040312" cy="3612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45" name="Rectangle 13"/>
            <p:cNvSpPr>
              <a:spLocks noChangeArrowheads="1"/>
            </p:cNvSpPr>
            <p:nvPr/>
          </p:nvSpPr>
          <p:spPr bwMode="auto">
            <a:xfrm>
              <a:off x="4304399" y="5246028"/>
              <a:ext cx="1144287" cy="41775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/>
              <a:r>
                <a:rPr lang="zh-CN" altLang="en-US" sz="1600" b="1"/>
                <a:t>符合条件</a:t>
              </a:r>
              <a:r>
                <a:rPr lang="en-US" altLang="zh-CN" sz="1600" b="1"/>
                <a:t>2</a:t>
              </a:r>
            </a:p>
          </p:txBody>
        </p:sp>
        <p:sp>
          <p:nvSpPr>
            <p:cNvPr id="95246" name="Rectangle 14"/>
            <p:cNvSpPr>
              <a:spLocks noChangeArrowheads="1"/>
            </p:cNvSpPr>
            <p:nvPr/>
          </p:nvSpPr>
          <p:spPr bwMode="auto">
            <a:xfrm>
              <a:off x="5003691" y="5721593"/>
              <a:ext cx="648429" cy="41775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/>
              <a:r>
                <a:rPr lang="en-US" altLang="zh-CN" sz="1000" dirty="0">
                  <a:latin typeface="宋体" pitchFamily="2" charset="-122"/>
                </a:rPr>
                <a:t>┅┅</a:t>
              </a:r>
              <a:endParaRPr lang="en-US" altLang="zh-CN" dirty="0"/>
            </a:p>
          </p:txBody>
        </p:sp>
        <p:sp>
          <p:nvSpPr>
            <p:cNvPr id="95247" name="Rectangle 15"/>
            <p:cNvSpPr>
              <a:spLocks noChangeArrowheads="1"/>
            </p:cNvSpPr>
            <p:nvPr/>
          </p:nvSpPr>
          <p:spPr bwMode="auto">
            <a:xfrm>
              <a:off x="2661530" y="5279948"/>
              <a:ext cx="1144287" cy="4106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/>
              <a:r>
                <a:rPr lang="zh-CN" altLang="en-US" sz="1600" b="1"/>
                <a:t>符合条件</a:t>
              </a:r>
              <a:r>
                <a:rPr lang="en-US" altLang="zh-CN" sz="1600" b="1"/>
                <a:t>1</a:t>
              </a:r>
            </a:p>
          </p:txBody>
        </p:sp>
        <p:sp>
          <p:nvSpPr>
            <p:cNvPr id="95248" name="Rectangle 16"/>
            <p:cNvSpPr>
              <a:spLocks noChangeArrowheads="1"/>
            </p:cNvSpPr>
            <p:nvPr/>
          </p:nvSpPr>
          <p:spPr bwMode="auto">
            <a:xfrm>
              <a:off x="6067146" y="5234424"/>
              <a:ext cx="1144287" cy="36419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/>
              <a:r>
                <a:rPr lang="zh-CN" altLang="en-US" sz="1600" b="1"/>
                <a:t>符合条件</a:t>
              </a:r>
              <a:r>
                <a:rPr lang="en-US" altLang="zh-CN" sz="1600" b="1"/>
                <a:t>8</a:t>
              </a:r>
            </a:p>
          </p:txBody>
        </p:sp>
        <p:sp>
          <p:nvSpPr>
            <p:cNvPr id="95249" name="Line 17"/>
            <p:cNvSpPr>
              <a:spLocks noChangeShapeType="1"/>
            </p:cNvSpPr>
            <p:nvPr/>
          </p:nvSpPr>
          <p:spPr bwMode="auto">
            <a:xfrm>
              <a:off x="4296226" y="4988058"/>
              <a:ext cx="908" cy="27850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50" name="AutoShape 18"/>
            <p:cNvSpPr>
              <a:spLocks noChangeArrowheads="1"/>
            </p:cNvSpPr>
            <p:nvPr/>
          </p:nvSpPr>
          <p:spPr bwMode="auto">
            <a:xfrm>
              <a:off x="3601480" y="4471225"/>
              <a:ext cx="1389491" cy="557002"/>
            </a:xfrm>
            <a:prstGeom prst="flowChartDecision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en-US" altLang="zh-CN" sz="1600" b="1"/>
                <a:t>N=?</a:t>
              </a:r>
            </a:p>
          </p:txBody>
        </p:sp>
        <p:sp>
          <p:nvSpPr>
            <p:cNvPr id="95251" name="Line 19"/>
            <p:cNvSpPr>
              <a:spLocks noChangeShapeType="1"/>
            </p:cNvSpPr>
            <p:nvPr/>
          </p:nvSpPr>
          <p:spPr bwMode="auto">
            <a:xfrm>
              <a:off x="4296226" y="4206113"/>
              <a:ext cx="908" cy="27850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52" name="AutoShape 20"/>
            <p:cNvSpPr>
              <a:spLocks noChangeArrowheads="1"/>
            </p:cNvSpPr>
            <p:nvPr/>
          </p:nvSpPr>
          <p:spPr bwMode="auto">
            <a:xfrm>
              <a:off x="5603982" y="5587906"/>
              <a:ext cx="979909" cy="417751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zh-CN" altLang="en-US" sz="1400" b="1"/>
                <a:t>程序段</a:t>
              </a:r>
              <a:r>
                <a:rPr lang="en-US" altLang="zh-CN" sz="1400" b="1"/>
                <a:t>8</a:t>
              </a:r>
            </a:p>
          </p:txBody>
        </p:sp>
        <p:cxnSp>
          <p:nvCxnSpPr>
            <p:cNvPr id="95253" name="AutoShape 21"/>
            <p:cNvCxnSpPr>
              <a:cxnSpLocks noChangeShapeType="1"/>
              <a:endCxn id="95252" idx="0"/>
            </p:cNvCxnSpPr>
            <p:nvPr/>
          </p:nvCxnSpPr>
          <p:spPr bwMode="auto">
            <a:xfrm flipV="1">
              <a:off x="2661530" y="5587906"/>
              <a:ext cx="3432861" cy="10712"/>
            </a:xfrm>
            <a:prstGeom prst="bentConnector4">
              <a:avLst>
                <a:gd name="adj1" fmla="val 370"/>
                <a:gd name="adj2" fmla="val 3100000"/>
              </a:avLst>
            </a:prstGeom>
            <a:noFill/>
            <a:ln w="9525">
              <a:solidFill>
                <a:srgbClr val="000000"/>
              </a:solidFill>
              <a:miter lim="800000"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95254" name="Line 22"/>
            <p:cNvSpPr>
              <a:spLocks noChangeShapeType="1"/>
            </p:cNvSpPr>
            <p:nvPr/>
          </p:nvSpPr>
          <p:spPr bwMode="auto">
            <a:xfrm>
              <a:off x="4296226" y="5207645"/>
              <a:ext cx="908" cy="4177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55" name="Line 23"/>
            <p:cNvSpPr>
              <a:spLocks noChangeShapeType="1"/>
            </p:cNvSpPr>
            <p:nvPr/>
          </p:nvSpPr>
          <p:spPr bwMode="auto">
            <a:xfrm>
              <a:off x="2661530" y="6294870"/>
              <a:ext cx="343286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56" name="Line 24"/>
            <p:cNvSpPr>
              <a:spLocks noChangeShapeType="1"/>
            </p:cNvSpPr>
            <p:nvPr/>
          </p:nvSpPr>
          <p:spPr bwMode="auto">
            <a:xfrm>
              <a:off x="2661530" y="6016369"/>
              <a:ext cx="0" cy="27850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57" name="Line 25"/>
            <p:cNvSpPr>
              <a:spLocks noChangeShapeType="1"/>
            </p:cNvSpPr>
            <p:nvPr/>
          </p:nvSpPr>
          <p:spPr bwMode="auto">
            <a:xfrm>
              <a:off x="4296226" y="6016369"/>
              <a:ext cx="908" cy="27850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58" name="Line 26"/>
            <p:cNvSpPr>
              <a:spLocks noChangeShapeType="1"/>
            </p:cNvSpPr>
            <p:nvPr/>
          </p:nvSpPr>
          <p:spPr bwMode="auto">
            <a:xfrm>
              <a:off x="6094391" y="6016369"/>
              <a:ext cx="908" cy="27850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59" name="Line 27"/>
            <p:cNvSpPr>
              <a:spLocks noChangeShapeType="1"/>
            </p:cNvSpPr>
            <p:nvPr/>
          </p:nvSpPr>
          <p:spPr bwMode="auto">
            <a:xfrm>
              <a:off x="4296226" y="6294870"/>
              <a:ext cx="908" cy="27850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61" name="AutoShape 29"/>
            <p:cNvSpPr>
              <a:spLocks noChangeArrowheads="1"/>
            </p:cNvSpPr>
            <p:nvPr/>
          </p:nvSpPr>
          <p:spPr bwMode="auto">
            <a:xfrm>
              <a:off x="3949262" y="3070686"/>
              <a:ext cx="694746" cy="417751"/>
            </a:xfrm>
            <a:prstGeom prst="flowChartAlternate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zh-CN" altLang="en-US" sz="1800" b="1" dirty="0"/>
                <a:t>开始</a:t>
              </a:r>
            </a:p>
          </p:txBody>
        </p:sp>
        <p:sp>
          <p:nvSpPr>
            <p:cNvPr id="95262" name="AutoShape 30"/>
            <p:cNvSpPr>
              <a:spLocks noChangeArrowheads="1"/>
            </p:cNvSpPr>
            <p:nvPr/>
          </p:nvSpPr>
          <p:spPr bwMode="auto">
            <a:xfrm>
              <a:off x="3093983" y="3788362"/>
              <a:ext cx="2264795" cy="417751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zh-CN" altLang="en-US" sz="1400" b="1" dirty="0">
                  <a:latin typeface="楷体_GB2312" pitchFamily="49" charset="-122"/>
                  <a:ea typeface="楷体_GB2312" pitchFamily="49" charset="-122"/>
                </a:rPr>
                <a:t>查表地址＝</a:t>
              </a:r>
              <a:r>
                <a:rPr lang="en-US" altLang="zh-CN" sz="1400" b="1" dirty="0">
                  <a:latin typeface="楷体_GB2312" pitchFamily="49" charset="-122"/>
                  <a:ea typeface="楷体_GB2312" pitchFamily="49" charset="-122"/>
                </a:rPr>
                <a:t>TAB+(N-1)*2</a:t>
              </a:r>
            </a:p>
          </p:txBody>
        </p:sp>
        <p:sp>
          <p:nvSpPr>
            <p:cNvPr id="95263" name="Line 31"/>
            <p:cNvSpPr>
              <a:spLocks noChangeShapeType="1"/>
            </p:cNvSpPr>
            <p:nvPr/>
          </p:nvSpPr>
          <p:spPr bwMode="auto">
            <a:xfrm>
              <a:off x="4296226" y="3509861"/>
              <a:ext cx="908" cy="27850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64" name="AutoShape 32"/>
            <p:cNvSpPr>
              <a:spLocks noChangeArrowheads="1"/>
            </p:cNvSpPr>
            <p:nvPr/>
          </p:nvSpPr>
          <p:spPr bwMode="auto">
            <a:xfrm>
              <a:off x="2171121" y="5598618"/>
              <a:ext cx="979909" cy="417751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zh-CN" altLang="en-US" sz="1600" b="1"/>
                <a:t>程序段</a:t>
              </a:r>
              <a:r>
                <a:rPr lang="en-US" altLang="zh-CN" sz="1600" b="1"/>
                <a:t>1</a:t>
              </a:r>
            </a:p>
          </p:txBody>
        </p:sp>
        <p:sp>
          <p:nvSpPr>
            <p:cNvPr id="95265" name="AutoShape 33"/>
            <p:cNvSpPr>
              <a:spLocks noChangeArrowheads="1"/>
            </p:cNvSpPr>
            <p:nvPr/>
          </p:nvSpPr>
          <p:spPr bwMode="auto">
            <a:xfrm>
              <a:off x="3805817" y="5612007"/>
              <a:ext cx="979909" cy="417751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zh-CN" altLang="en-US" sz="1600" b="1"/>
                <a:t>程序段</a:t>
              </a:r>
              <a:r>
                <a:rPr lang="en-US" altLang="zh-CN" sz="1600" b="1"/>
                <a:t>2</a:t>
              </a:r>
            </a:p>
          </p:txBody>
        </p:sp>
      </p:grpSp>
      <p:sp>
        <p:nvSpPr>
          <p:cNvPr id="95268" name="Rectangle 36"/>
          <p:cNvSpPr>
            <a:spLocks noChangeArrowheads="1"/>
          </p:cNvSpPr>
          <p:nvPr/>
        </p:nvSpPr>
        <p:spPr bwMode="auto">
          <a:xfrm>
            <a:off x="468313" y="908050"/>
            <a:ext cx="806412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跳跃表法：</a:t>
            </a:r>
            <a:r>
              <a:rPr lang="zh-CN" altLang="en-US" dirty="0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rPr>
              <a:t>设有若干段分支程序，将每段分支程序的入口地址（也称跳跃地址）组成一个连续存放在内存中的表，称为跳跃表。</a:t>
            </a:r>
            <a:endParaRPr lang="zh-CN" altLang="en-US" b="1" dirty="0">
              <a:solidFill>
                <a:srgbClr val="CC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4" name="文本框 1"/>
          <p:cNvSpPr txBox="1"/>
          <p:nvPr/>
        </p:nvSpPr>
        <p:spPr>
          <a:xfrm>
            <a:off x="359532" y="317499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分枝结构程序设计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50018" y="3764021"/>
            <a:ext cx="24929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0" dirty="0"/>
              <a:t>地址表一般为字类型</a:t>
            </a:r>
          </a:p>
        </p:txBody>
      </p:sp>
      <p:cxnSp>
        <p:nvCxnSpPr>
          <p:cNvPr id="5" name="直接箭头连接符 4"/>
          <p:cNvCxnSpPr>
            <a:stCxn id="3" idx="1"/>
          </p:cNvCxnSpPr>
          <p:nvPr/>
        </p:nvCxnSpPr>
        <p:spPr bwMode="auto">
          <a:xfrm flipH="1">
            <a:off x="5448686" y="3964076"/>
            <a:ext cx="601332" cy="0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rgbClr val="66CCFF"/>
            </a:solidFill>
            <a:prstDash val="solid"/>
            <a:round/>
            <a:headEnd type="none" w="med" len="med"/>
            <a:tailEnd type="arrow"/>
          </a:ln>
        </p:spPr>
      </p:cxnSp>
    </p:spTree>
    <p:extLst>
      <p:ext uri="{BB962C8B-B14F-4D97-AF65-F5344CB8AC3E}">
        <p14:creationId xmlns:p14="http://schemas.microsoft.com/office/powerpoint/2010/main" val="1064352870"/>
      </p:ext>
    </p:extLst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4" name="Rectangle 4"/>
          <p:cNvSpPr>
            <a:spLocks noChangeArrowheads="1"/>
          </p:cNvSpPr>
          <p:nvPr/>
        </p:nvSpPr>
        <p:spPr bwMode="auto">
          <a:xfrm>
            <a:off x="471065" y="959240"/>
            <a:ext cx="8335963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/>
            <a:r>
              <a:rPr lang="zh-CN" altLang="en-US" b="0" dirty="0"/>
              <a:t>例：用跳跃表法编程实现：从低到高逐位检测一个字节数据，找出第一个非</a:t>
            </a:r>
            <a:r>
              <a:rPr lang="en-US" altLang="zh-CN" b="0" dirty="0"/>
              <a:t>0</a:t>
            </a:r>
            <a:r>
              <a:rPr lang="zh-CN" altLang="en-US" b="0" dirty="0"/>
              <a:t>的位数。检测时，为零则继续检测，为</a:t>
            </a:r>
            <a:r>
              <a:rPr lang="en-US" altLang="zh-CN" b="0" dirty="0"/>
              <a:t>1</a:t>
            </a:r>
            <a:r>
              <a:rPr lang="zh-CN" altLang="en-US" b="0" dirty="0"/>
              <a:t>则转移到对应的处理程序段显示相应的位数。若数据本身为</a:t>
            </a:r>
            <a:r>
              <a:rPr lang="en-US" altLang="zh-CN" b="0" dirty="0"/>
              <a:t>0</a:t>
            </a:r>
            <a:r>
              <a:rPr lang="zh-CN" altLang="en-US" b="0" dirty="0"/>
              <a:t>，则显示？号。</a:t>
            </a:r>
            <a:endParaRPr lang="en-US" altLang="zh-CN" b="0" dirty="0"/>
          </a:p>
        </p:txBody>
      </p:sp>
      <p:sp>
        <p:nvSpPr>
          <p:cNvPr id="11" name="文本框 1"/>
          <p:cNvSpPr txBox="1"/>
          <p:nvPr/>
        </p:nvSpPr>
        <p:spPr>
          <a:xfrm>
            <a:off x="359532" y="317499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分枝结构程序设计</a:t>
            </a:r>
          </a:p>
        </p:txBody>
      </p:sp>
      <p:pic>
        <p:nvPicPr>
          <p:cNvPr id="942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019" y="2960948"/>
            <a:ext cx="7092054" cy="3035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40128640"/>
      </p:ext>
    </p:extLst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7" name="Text Box 7"/>
          <p:cNvSpPr txBox="1">
            <a:spLocks noChangeArrowheads="1"/>
          </p:cNvSpPr>
          <p:nvPr/>
        </p:nvSpPr>
        <p:spPr bwMode="auto">
          <a:xfrm>
            <a:off x="678607" y="6197242"/>
            <a:ext cx="792088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b="1" dirty="0">
                <a:solidFill>
                  <a:srgbClr val="FF3300"/>
                </a:solidFill>
                <a:ea typeface="楷体_GB2312" pitchFamily="49" charset="-122"/>
              </a:rPr>
              <a:t>注意：每个分支程序的最后要有一条转移语句，以便跳过其他的分支。</a:t>
            </a:r>
          </a:p>
        </p:txBody>
      </p:sp>
      <p:sp>
        <p:nvSpPr>
          <p:cNvPr id="11" name="文本框 1"/>
          <p:cNvSpPr txBox="1"/>
          <p:nvPr/>
        </p:nvSpPr>
        <p:spPr>
          <a:xfrm>
            <a:off x="359532" y="317499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分枝结构程序设计</a:t>
            </a:r>
          </a:p>
        </p:txBody>
      </p:sp>
      <p:sp>
        <p:nvSpPr>
          <p:cNvPr id="2" name="矩形 1"/>
          <p:cNvSpPr/>
          <p:nvPr/>
        </p:nvSpPr>
        <p:spPr>
          <a:xfrm>
            <a:off x="346708" y="938329"/>
            <a:ext cx="4441316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b="0" dirty="0"/>
              <a:t>DATAS SEGMENT</a:t>
            </a:r>
          </a:p>
          <a:p>
            <a:r>
              <a:rPr lang="en-US" altLang="zh-CN" sz="1600" b="0" dirty="0"/>
              <a:t>    </a:t>
            </a:r>
            <a:r>
              <a:rPr lang="en-US" altLang="zh-CN" sz="1600" b="0" dirty="0" err="1"/>
              <a:t>num</a:t>
            </a:r>
            <a:r>
              <a:rPr lang="en-US" altLang="zh-CN" sz="1600" b="0" dirty="0"/>
              <a:t>	</a:t>
            </a:r>
            <a:r>
              <a:rPr lang="en-US" altLang="zh-CN" sz="1600" b="0" dirty="0" err="1"/>
              <a:t>db</a:t>
            </a:r>
            <a:r>
              <a:rPr lang="en-US" altLang="zh-CN" sz="1600" b="0" dirty="0"/>
              <a:t>  78h</a:t>
            </a:r>
          </a:p>
          <a:p>
            <a:r>
              <a:rPr lang="en-US" altLang="zh-CN" sz="1600" b="0" dirty="0"/>
              <a:t>    </a:t>
            </a:r>
            <a:r>
              <a:rPr lang="en-US" altLang="zh-CN" sz="1600" b="0" dirty="0" err="1"/>
              <a:t>adtab</a:t>
            </a:r>
            <a:r>
              <a:rPr lang="en-US" altLang="zh-CN" sz="1600" b="0" dirty="0"/>
              <a:t>	</a:t>
            </a:r>
            <a:r>
              <a:rPr lang="en-US" altLang="zh-CN" sz="1600" b="0" dirty="0" err="1"/>
              <a:t>dw</a:t>
            </a:r>
            <a:r>
              <a:rPr lang="en-US" altLang="zh-CN" sz="1600" b="0" dirty="0"/>
              <a:t>  ad0,ad1,ad2,ad3,ad4,ad5,ad6,ad7</a:t>
            </a:r>
          </a:p>
          <a:p>
            <a:r>
              <a:rPr lang="en-US" altLang="zh-CN" sz="1600" b="0" dirty="0"/>
              <a:t>DATAS ENDS</a:t>
            </a:r>
          </a:p>
          <a:p>
            <a:endParaRPr lang="en-US" altLang="zh-CN" sz="1600" b="0" dirty="0"/>
          </a:p>
          <a:p>
            <a:r>
              <a:rPr lang="en-US" altLang="zh-CN" sz="1600" b="0" dirty="0"/>
              <a:t>CODES SEGMENT</a:t>
            </a:r>
          </a:p>
          <a:p>
            <a:r>
              <a:rPr lang="en-US" altLang="zh-CN" sz="1600" b="0" dirty="0"/>
              <a:t>    ASSUME CS:CODES,DS:DATAS</a:t>
            </a:r>
          </a:p>
          <a:p>
            <a:r>
              <a:rPr lang="en-US" altLang="zh-CN" sz="1600" b="0" dirty="0"/>
              <a:t>START:</a:t>
            </a:r>
          </a:p>
          <a:p>
            <a:r>
              <a:rPr lang="en-US" altLang="zh-CN" sz="1600" b="0" dirty="0"/>
              <a:t>    	MOV AX,DATAS</a:t>
            </a:r>
          </a:p>
          <a:p>
            <a:r>
              <a:rPr lang="en-US" altLang="zh-CN" sz="1600" b="0" dirty="0"/>
              <a:t>    	MOV DS,AX</a:t>
            </a:r>
          </a:p>
          <a:p>
            <a:r>
              <a:rPr lang="en-US" altLang="zh-CN" sz="1600" b="0" dirty="0"/>
              <a:t>   	</a:t>
            </a:r>
            <a:r>
              <a:rPr lang="en-US" altLang="zh-CN" sz="1600" b="0" dirty="0" err="1"/>
              <a:t>mov</a:t>
            </a:r>
            <a:r>
              <a:rPr lang="en-US" altLang="zh-CN" sz="1600" b="0" dirty="0"/>
              <a:t> </a:t>
            </a:r>
            <a:r>
              <a:rPr lang="en-US" altLang="zh-CN" sz="1600" b="0" dirty="0" err="1"/>
              <a:t>al,num</a:t>
            </a:r>
            <a:endParaRPr lang="en-US" altLang="zh-CN" sz="1600" b="0" dirty="0"/>
          </a:p>
          <a:p>
            <a:r>
              <a:rPr lang="en-US" altLang="zh-CN" sz="1600" b="0" dirty="0"/>
              <a:t>    	</a:t>
            </a:r>
            <a:r>
              <a:rPr lang="en-US" altLang="zh-CN" sz="1600" b="0" dirty="0" err="1"/>
              <a:t>mov</a:t>
            </a:r>
            <a:r>
              <a:rPr lang="en-US" altLang="zh-CN" sz="1600" b="0" dirty="0"/>
              <a:t> dl,'?'</a:t>
            </a:r>
          </a:p>
          <a:p>
            <a:r>
              <a:rPr lang="en-US" altLang="zh-CN" sz="1600" b="0" dirty="0"/>
              <a:t>    	</a:t>
            </a:r>
            <a:r>
              <a:rPr lang="en-US" altLang="zh-CN" sz="1600" b="0" dirty="0" err="1"/>
              <a:t>cmp</a:t>
            </a:r>
            <a:r>
              <a:rPr lang="en-US" altLang="zh-CN" sz="1600" b="0" dirty="0"/>
              <a:t> al,0</a:t>
            </a:r>
          </a:p>
          <a:p>
            <a:r>
              <a:rPr lang="en-US" altLang="zh-CN" sz="1600" b="0" dirty="0"/>
              <a:t>    	</a:t>
            </a:r>
            <a:r>
              <a:rPr lang="en-US" altLang="zh-CN" sz="1600" b="0" dirty="0" err="1"/>
              <a:t>jz</a:t>
            </a:r>
            <a:r>
              <a:rPr lang="en-US" altLang="zh-CN" sz="1600" b="0" dirty="0"/>
              <a:t>     </a:t>
            </a:r>
            <a:r>
              <a:rPr lang="en-US" altLang="zh-CN" sz="1600" b="0" dirty="0" err="1"/>
              <a:t>disp</a:t>
            </a:r>
            <a:r>
              <a:rPr lang="en-US" altLang="zh-CN" sz="1600" b="0" dirty="0"/>
              <a:t>    ;</a:t>
            </a:r>
            <a:r>
              <a:rPr lang="zh-CN" altLang="en-US" sz="1600" b="0" dirty="0"/>
              <a:t>为</a:t>
            </a:r>
            <a:r>
              <a:rPr lang="en-US" altLang="zh-CN" sz="1600" b="0" dirty="0"/>
              <a:t>0</a:t>
            </a:r>
            <a:r>
              <a:rPr lang="zh-CN" altLang="en-US" sz="1600" b="0" dirty="0"/>
              <a:t>则跳转显示？</a:t>
            </a:r>
            <a:endParaRPr lang="en-US" altLang="zh-CN" sz="1600" b="0" dirty="0"/>
          </a:p>
          <a:p>
            <a:r>
              <a:rPr lang="en-US" altLang="zh-CN" sz="1600" b="0" dirty="0"/>
              <a:t>  	</a:t>
            </a:r>
            <a:r>
              <a:rPr lang="en-US" altLang="zh-CN" sz="1600" b="0" dirty="0" err="1"/>
              <a:t>mov</a:t>
            </a:r>
            <a:r>
              <a:rPr lang="en-US" altLang="zh-CN" sz="1600" b="0" dirty="0"/>
              <a:t> bx,0    ;</a:t>
            </a:r>
            <a:r>
              <a:rPr lang="zh-CN" altLang="en-US" sz="1600" b="0" dirty="0"/>
              <a:t>循环计数初值</a:t>
            </a:r>
            <a:endParaRPr lang="en-US" altLang="zh-CN" sz="1600" b="0" dirty="0"/>
          </a:p>
          <a:p>
            <a:r>
              <a:rPr lang="en-US" altLang="zh-CN" sz="1600" b="0" dirty="0"/>
              <a:t>again:	</a:t>
            </a:r>
            <a:r>
              <a:rPr lang="en-US" altLang="zh-CN" sz="1600" b="0" dirty="0" err="1"/>
              <a:t>shr</a:t>
            </a:r>
            <a:r>
              <a:rPr lang="en-US" altLang="zh-CN" sz="1600" b="0" dirty="0"/>
              <a:t>   al,1      ;</a:t>
            </a:r>
            <a:r>
              <a:rPr lang="zh-CN" altLang="en-US" sz="1600" b="0" dirty="0"/>
              <a:t>测试最低位是否为</a:t>
            </a:r>
            <a:r>
              <a:rPr lang="en-US" altLang="zh-CN" sz="1600" b="0" dirty="0"/>
              <a:t>1</a:t>
            </a:r>
          </a:p>
          <a:p>
            <a:r>
              <a:rPr lang="en-US" altLang="zh-CN" sz="1600" b="0" dirty="0"/>
              <a:t>	</a:t>
            </a:r>
            <a:r>
              <a:rPr lang="en-US" altLang="zh-CN" sz="1600" b="0" dirty="0" err="1"/>
              <a:t>jc</a:t>
            </a:r>
            <a:r>
              <a:rPr lang="en-US" altLang="zh-CN" sz="1600" b="0" dirty="0"/>
              <a:t>     next     ;</a:t>
            </a:r>
            <a:r>
              <a:rPr lang="zh-CN" altLang="en-US" sz="1600" b="0" dirty="0"/>
              <a:t>为</a:t>
            </a:r>
            <a:r>
              <a:rPr lang="en-US" altLang="zh-CN" sz="1600" b="0" dirty="0"/>
              <a:t>1</a:t>
            </a:r>
            <a:r>
              <a:rPr lang="zh-CN" altLang="en-US" sz="1600" b="0" dirty="0"/>
              <a:t>则跳转</a:t>
            </a:r>
            <a:r>
              <a:rPr lang="en-US" altLang="zh-CN" sz="1600" b="0" dirty="0"/>
              <a:t> </a:t>
            </a:r>
          </a:p>
          <a:p>
            <a:r>
              <a:rPr lang="en-US" altLang="zh-CN" sz="1600" b="0" dirty="0"/>
              <a:t>	</a:t>
            </a:r>
            <a:r>
              <a:rPr lang="en-US" altLang="zh-CN" sz="1600" b="0" dirty="0" err="1"/>
              <a:t>inc</a:t>
            </a:r>
            <a:r>
              <a:rPr lang="en-US" altLang="zh-CN" sz="1600" b="0" dirty="0"/>
              <a:t>   </a:t>
            </a:r>
            <a:r>
              <a:rPr lang="en-US" altLang="zh-CN" sz="1600" b="0" dirty="0" err="1"/>
              <a:t>bx</a:t>
            </a:r>
            <a:endParaRPr lang="en-US" altLang="zh-CN" sz="1600" b="0" dirty="0"/>
          </a:p>
          <a:p>
            <a:r>
              <a:rPr lang="en-US" altLang="zh-CN" sz="1600" b="0" dirty="0"/>
              <a:t>	</a:t>
            </a:r>
            <a:r>
              <a:rPr lang="en-US" altLang="zh-CN" sz="1600" b="0" dirty="0" err="1"/>
              <a:t>jmp</a:t>
            </a:r>
            <a:r>
              <a:rPr lang="en-US" altLang="zh-CN" sz="1600" b="0" dirty="0"/>
              <a:t>  again</a:t>
            </a:r>
          </a:p>
          <a:p>
            <a:r>
              <a:rPr lang="en-US" altLang="zh-CN" sz="1600" b="0" dirty="0"/>
              <a:t>next:	</a:t>
            </a:r>
            <a:r>
              <a:rPr lang="en-US" altLang="zh-CN" sz="1600" b="0" dirty="0" err="1"/>
              <a:t>shl</a:t>
            </a:r>
            <a:r>
              <a:rPr lang="en-US" altLang="zh-CN" sz="1600" b="0" dirty="0"/>
              <a:t>    bx,1    ;</a:t>
            </a:r>
            <a:r>
              <a:rPr lang="en-US" altLang="zh-CN" sz="1600" b="0" dirty="0" err="1"/>
              <a:t>bx</a:t>
            </a:r>
            <a:r>
              <a:rPr lang="zh-CN" altLang="en-US" sz="1600" b="0" dirty="0"/>
              <a:t>*</a:t>
            </a:r>
            <a:r>
              <a:rPr lang="en-US" altLang="zh-CN" sz="1600" b="0" dirty="0"/>
              <a:t>2</a:t>
            </a:r>
            <a:r>
              <a:rPr lang="zh-CN" altLang="en-US" sz="1600" b="0" dirty="0"/>
              <a:t>，计算偏移量</a:t>
            </a:r>
            <a:r>
              <a:rPr lang="en-US" altLang="zh-CN" sz="1600" b="0" dirty="0"/>
              <a:t> </a:t>
            </a:r>
          </a:p>
          <a:p>
            <a:r>
              <a:rPr lang="en-US" altLang="zh-CN" sz="1600" b="0" dirty="0"/>
              <a:t>	</a:t>
            </a:r>
            <a:r>
              <a:rPr lang="en-US" altLang="zh-CN" sz="1600" b="0" dirty="0" err="1"/>
              <a:t>jmp</a:t>
            </a:r>
            <a:r>
              <a:rPr lang="en-US" altLang="zh-CN" sz="1600" b="0" dirty="0"/>
              <a:t>  </a:t>
            </a:r>
            <a:r>
              <a:rPr lang="en-US" altLang="zh-CN" sz="1600" b="0" dirty="0" err="1"/>
              <a:t>adtab</a:t>
            </a:r>
            <a:r>
              <a:rPr lang="en-US" altLang="zh-CN" sz="1600" b="0" dirty="0"/>
              <a:t>[</a:t>
            </a:r>
            <a:r>
              <a:rPr lang="en-US" altLang="zh-CN" sz="1600" b="0" dirty="0" err="1"/>
              <a:t>bx</a:t>
            </a:r>
            <a:r>
              <a:rPr lang="en-US" altLang="zh-CN" sz="1600" b="0" dirty="0"/>
              <a:t>]  ;</a:t>
            </a:r>
            <a:r>
              <a:rPr lang="zh-CN" altLang="en-US" sz="1600" b="0" dirty="0"/>
              <a:t>跳转到指定分支</a:t>
            </a:r>
            <a:endParaRPr lang="en-US" altLang="zh-CN" sz="1600" b="0" dirty="0"/>
          </a:p>
        </p:txBody>
      </p:sp>
      <p:sp>
        <p:nvSpPr>
          <p:cNvPr id="3" name="矩形 2"/>
          <p:cNvSpPr/>
          <p:nvPr/>
        </p:nvSpPr>
        <p:spPr>
          <a:xfrm>
            <a:off x="5436096" y="872128"/>
            <a:ext cx="3301764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b="0" dirty="0"/>
              <a:t>ad0:	</a:t>
            </a:r>
            <a:r>
              <a:rPr lang="en-US" altLang="zh-CN" sz="1600" b="0" dirty="0" err="1"/>
              <a:t>mov</a:t>
            </a:r>
            <a:r>
              <a:rPr lang="en-US" altLang="zh-CN" sz="1600" b="0" dirty="0"/>
              <a:t>  dl,'0'</a:t>
            </a:r>
          </a:p>
          <a:p>
            <a:r>
              <a:rPr lang="en-US" altLang="zh-CN" sz="1600" b="0" dirty="0"/>
              <a:t>	</a:t>
            </a:r>
            <a:r>
              <a:rPr lang="en-US" altLang="zh-CN" sz="1600" b="0" dirty="0" err="1"/>
              <a:t>jmp</a:t>
            </a:r>
            <a:r>
              <a:rPr lang="en-US" altLang="zh-CN" sz="1600" b="0" dirty="0"/>
              <a:t>   </a:t>
            </a:r>
            <a:r>
              <a:rPr lang="en-US" altLang="zh-CN" sz="1600" b="0" dirty="0" err="1"/>
              <a:t>disp</a:t>
            </a:r>
            <a:endParaRPr lang="en-US" altLang="zh-CN" sz="1600" b="0" dirty="0"/>
          </a:p>
          <a:p>
            <a:r>
              <a:rPr lang="en-US" altLang="zh-CN" sz="1600" b="0" dirty="0"/>
              <a:t>ad1:	</a:t>
            </a:r>
            <a:r>
              <a:rPr lang="en-US" altLang="zh-CN" sz="1600" b="0" dirty="0" err="1"/>
              <a:t>mov</a:t>
            </a:r>
            <a:r>
              <a:rPr lang="en-US" altLang="zh-CN" sz="1600" b="0" dirty="0"/>
              <a:t>  dl,'1'</a:t>
            </a:r>
          </a:p>
          <a:p>
            <a:r>
              <a:rPr lang="en-US" altLang="zh-CN" sz="1600" b="0" dirty="0"/>
              <a:t>	</a:t>
            </a:r>
            <a:r>
              <a:rPr lang="en-US" altLang="zh-CN" sz="1600" b="0" dirty="0" err="1"/>
              <a:t>jmp</a:t>
            </a:r>
            <a:r>
              <a:rPr lang="en-US" altLang="zh-CN" sz="1600" b="0" dirty="0"/>
              <a:t>   </a:t>
            </a:r>
            <a:r>
              <a:rPr lang="en-US" altLang="zh-CN" sz="1600" b="0" dirty="0" err="1"/>
              <a:t>disp</a:t>
            </a:r>
            <a:endParaRPr lang="en-US" altLang="zh-CN" sz="1600" b="0" dirty="0"/>
          </a:p>
          <a:p>
            <a:r>
              <a:rPr lang="en-US" altLang="zh-CN" sz="1600" b="0" dirty="0"/>
              <a:t>ad2:	</a:t>
            </a:r>
            <a:r>
              <a:rPr lang="en-US" altLang="zh-CN" sz="1600" b="0" dirty="0" err="1"/>
              <a:t>mov</a:t>
            </a:r>
            <a:r>
              <a:rPr lang="en-US" altLang="zh-CN" sz="1600" b="0" dirty="0"/>
              <a:t>  dl,'2'</a:t>
            </a:r>
          </a:p>
          <a:p>
            <a:r>
              <a:rPr lang="en-US" altLang="zh-CN" sz="1600" b="0" dirty="0"/>
              <a:t>	</a:t>
            </a:r>
            <a:r>
              <a:rPr lang="en-US" altLang="zh-CN" sz="1600" b="0" dirty="0" err="1"/>
              <a:t>jmp</a:t>
            </a:r>
            <a:r>
              <a:rPr lang="en-US" altLang="zh-CN" sz="1600" b="0" dirty="0"/>
              <a:t>   </a:t>
            </a:r>
            <a:r>
              <a:rPr lang="en-US" altLang="zh-CN" sz="1600" b="0" dirty="0" err="1"/>
              <a:t>disp</a:t>
            </a:r>
            <a:endParaRPr lang="en-US" altLang="zh-CN" sz="1600" b="0" dirty="0"/>
          </a:p>
          <a:p>
            <a:r>
              <a:rPr lang="en-US" altLang="zh-CN" sz="1600" b="0" dirty="0"/>
              <a:t>ad3:	</a:t>
            </a:r>
            <a:r>
              <a:rPr lang="en-US" altLang="zh-CN" sz="1600" b="0" dirty="0" err="1"/>
              <a:t>mov</a:t>
            </a:r>
            <a:r>
              <a:rPr lang="en-US" altLang="zh-CN" sz="1600" b="0" dirty="0"/>
              <a:t>  dl,'3'</a:t>
            </a:r>
          </a:p>
          <a:p>
            <a:r>
              <a:rPr lang="en-US" altLang="zh-CN" sz="1600" b="0" dirty="0"/>
              <a:t>	</a:t>
            </a:r>
            <a:r>
              <a:rPr lang="en-US" altLang="zh-CN" sz="1600" b="0" dirty="0" err="1"/>
              <a:t>jmp</a:t>
            </a:r>
            <a:r>
              <a:rPr lang="en-US" altLang="zh-CN" sz="1600" b="0" dirty="0"/>
              <a:t>   </a:t>
            </a:r>
            <a:r>
              <a:rPr lang="en-US" altLang="zh-CN" sz="1600" b="0" dirty="0" err="1"/>
              <a:t>disp</a:t>
            </a:r>
            <a:endParaRPr lang="en-US" altLang="zh-CN" sz="1600" b="0" dirty="0"/>
          </a:p>
          <a:p>
            <a:r>
              <a:rPr lang="en-US" altLang="zh-CN" sz="1600" b="0" dirty="0"/>
              <a:t>ad4:	</a:t>
            </a:r>
            <a:r>
              <a:rPr lang="en-US" altLang="zh-CN" sz="1600" b="0" dirty="0" err="1"/>
              <a:t>mov</a:t>
            </a:r>
            <a:r>
              <a:rPr lang="en-US" altLang="zh-CN" sz="1600" b="0" dirty="0"/>
              <a:t>  dl,'4'</a:t>
            </a:r>
          </a:p>
          <a:p>
            <a:r>
              <a:rPr lang="en-US" altLang="zh-CN" sz="1600" b="0" dirty="0"/>
              <a:t>	</a:t>
            </a:r>
            <a:r>
              <a:rPr lang="en-US" altLang="zh-CN" sz="1600" b="0" dirty="0" err="1"/>
              <a:t>jmp</a:t>
            </a:r>
            <a:r>
              <a:rPr lang="en-US" altLang="zh-CN" sz="1600" b="0" dirty="0"/>
              <a:t>   </a:t>
            </a:r>
            <a:r>
              <a:rPr lang="en-US" altLang="zh-CN" sz="1600" b="0" dirty="0" err="1"/>
              <a:t>disp</a:t>
            </a:r>
            <a:endParaRPr lang="en-US" altLang="zh-CN" sz="1600" b="0" dirty="0"/>
          </a:p>
          <a:p>
            <a:r>
              <a:rPr lang="en-US" altLang="zh-CN" sz="1600" b="0" dirty="0"/>
              <a:t>ad5:	</a:t>
            </a:r>
            <a:r>
              <a:rPr lang="en-US" altLang="zh-CN" sz="1600" b="0" dirty="0" err="1"/>
              <a:t>mov</a:t>
            </a:r>
            <a:r>
              <a:rPr lang="en-US" altLang="zh-CN" sz="1600" b="0" dirty="0"/>
              <a:t>  dl,'5'</a:t>
            </a:r>
          </a:p>
          <a:p>
            <a:r>
              <a:rPr lang="en-US" altLang="zh-CN" sz="1600" b="0" dirty="0"/>
              <a:t>	</a:t>
            </a:r>
            <a:r>
              <a:rPr lang="en-US" altLang="zh-CN" sz="1600" b="0" dirty="0" err="1"/>
              <a:t>jmp</a:t>
            </a:r>
            <a:r>
              <a:rPr lang="en-US" altLang="zh-CN" sz="1600" b="0" dirty="0"/>
              <a:t>   </a:t>
            </a:r>
            <a:r>
              <a:rPr lang="en-US" altLang="zh-CN" sz="1600" b="0" dirty="0" err="1"/>
              <a:t>disp</a:t>
            </a:r>
            <a:endParaRPr lang="en-US" altLang="zh-CN" sz="1600" b="0" dirty="0"/>
          </a:p>
          <a:p>
            <a:r>
              <a:rPr lang="en-US" altLang="zh-CN" sz="1600" b="0" dirty="0"/>
              <a:t>ad6:	</a:t>
            </a:r>
            <a:r>
              <a:rPr lang="en-US" altLang="zh-CN" sz="1600" b="0" dirty="0" err="1"/>
              <a:t>mov</a:t>
            </a:r>
            <a:r>
              <a:rPr lang="en-US" altLang="zh-CN" sz="1600" b="0" dirty="0"/>
              <a:t>  dl,'6'</a:t>
            </a:r>
          </a:p>
          <a:p>
            <a:r>
              <a:rPr lang="en-US" altLang="zh-CN" sz="1600" b="0" dirty="0"/>
              <a:t>	</a:t>
            </a:r>
            <a:r>
              <a:rPr lang="en-US" altLang="zh-CN" sz="1600" b="0" dirty="0" err="1"/>
              <a:t>jmp</a:t>
            </a:r>
            <a:r>
              <a:rPr lang="en-US" altLang="zh-CN" sz="1600" b="0" dirty="0"/>
              <a:t>   </a:t>
            </a:r>
            <a:r>
              <a:rPr lang="en-US" altLang="zh-CN" sz="1600" b="0" dirty="0" err="1"/>
              <a:t>disp</a:t>
            </a:r>
            <a:endParaRPr lang="en-US" altLang="zh-CN" sz="1600" b="0" dirty="0"/>
          </a:p>
          <a:p>
            <a:r>
              <a:rPr lang="en-US" altLang="zh-CN" sz="1600" b="0" dirty="0"/>
              <a:t>ad7:	</a:t>
            </a:r>
            <a:r>
              <a:rPr lang="en-US" altLang="zh-CN" sz="1600" b="0" dirty="0" err="1"/>
              <a:t>mov</a:t>
            </a:r>
            <a:r>
              <a:rPr lang="en-US" altLang="zh-CN" sz="1600" b="0" dirty="0"/>
              <a:t>  dl,'7'</a:t>
            </a:r>
          </a:p>
          <a:p>
            <a:r>
              <a:rPr lang="en-US" altLang="zh-CN" sz="1600" b="0" dirty="0"/>
              <a:t>	</a:t>
            </a:r>
            <a:r>
              <a:rPr lang="en-US" altLang="zh-CN" sz="1600" b="0" dirty="0" err="1"/>
              <a:t>jmp</a:t>
            </a:r>
            <a:r>
              <a:rPr lang="en-US" altLang="zh-CN" sz="1600" b="0" dirty="0"/>
              <a:t>   </a:t>
            </a:r>
            <a:r>
              <a:rPr lang="en-US" altLang="zh-CN" sz="1600" b="0" dirty="0" err="1"/>
              <a:t>disp</a:t>
            </a:r>
            <a:endParaRPr lang="en-US" altLang="zh-CN" sz="1600" b="0" dirty="0"/>
          </a:p>
          <a:p>
            <a:r>
              <a:rPr lang="en-US" altLang="zh-CN" sz="1600" b="0" dirty="0" err="1"/>
              <a:t>disp</a:t>
            </a:r>
            <a:r>
              <a:rPr lang="en-US" altLang="zh-CN" sz="1600" b="0" dirty="0"/>
              <a:t>:	</a:t>
            </a:r>
            <a:r>
              <a:rPr lang="en-US" altLang="zh-CN" sz="1600" b="0" dirty="0" err="1"/>
              <a:t>mov</a:t>
            </a:r>
            <a:r>
              <a:rPr lang="en-US" altLang="zh-CN" sz="1600" b="0" dirty="0"/>
              <a:t>  ah,2</a:t>
            </a:r>
          </a:p>
          <a:p>
            <a:r>
              <a:rPr lang="en-US" altLang="zh-CN" sz="1600" b="0" dirty="0"/>
              <a:t>	</a:t>
            </a:r>
            <a:r>
              <a:rPr lang="en-US" altLang="zh-CN" sz="1600" b="0" dirty="0" err="1"/>
              <a:t>int</a:t>
            </a:r>
            <a:r>
              <a:rPr lang="en-US" altLang="zh-CN" sz="1600" b="0" dirty="0"/>
              <a:t>     21h</a:t>
            </a:r>
          </a:p>
          <a:p>
            <a:r>
              <a:rPr lang="en-US" altLang="zh-CN" sz="1600" b="0" dirty="0"/>
              <a:t>	</a:t>
            </a:r>
            <a:r>
              <a:rPr lang="en-US" altLang="zh-CN" sz="1600" b="0" dirty="0" err="1"/>
              <a:t>mov</a:t>
            </a:r>
            <a:r>
              <a:rPr lang="en-US" altLang="zh-CN" sz="1600" b="0" dirty="0"/>
              <a:t>  ah,4ch</a:t>
            </a:r>
          </a:p>
          <a:p>
            <a:r>
              <a:rPr lang="en-US" altLang="zh-CN" sz="1600" b="0" dirty="0"/>
              <a:t>	</a:t>
            </a:r>
            <a:r>
              <a:rPr lang="en-US" altLang="zh-CN" sz="1600" b="0" dirty="0" err="1"/>
              <a:t>int</a:t>
            </a:r>
            <a:r>
              <a:rPr lang="en-US" altLang="zh-CN" sz="1600" b="0" dirty="0"/>
              <a:t>     21h</a:t>
            </a:r>
          </a:p>
          <a:p>
            <a:r>
              <a:rPr lang="en-US" altLang="zh-CN" sz="1600" b="0" dirty="0"/>
              <a:t>CODES ENDS</a:t>
            </a:r>
          </a:p>
          <a:p>
            <a:r>
              <a:rPr lang="en-US" altLang="zh-CN" sz="1600" b="0" dirty="0"/>
              <a:t>    END START</a:t>
            </a:r>
          </a:p>
        </p:txBody>
      </p:sp>
    </p:spTree>
    <p:extLst>
      <p:ext uri="{BB962C8B-B14F-4D97-AF65-F5344CB8AC3E}">
        <p14:creationId xmlns:p14="http://schemas.microsoft.com/office/powerpoint/2010/main" val="302020476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7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6" name="Rectangle 4"/>
          <p:cNvSpPr>
            <a:spLocks noChangeArrowheads="1"/>
          </p:cNvSpPr>
          <p:nvPr/>
        </p:nvSpPr>
        <p:spPr bwMode="auto">
          <a:xfrm>
            <a:off x="468313" y="2911006"/>
            <a:ext cx="792011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/>
            <a:r>
              <a:rPr lang="zh-CN" altLang="en-US" sz="20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例：根据输入值（</a:t>
            </a:r>
            <a:r>
              <a:rPr lang="en-US" altLang="zh-CN" sz="20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0-4</a:t>
            </a:r>
            <a:r>
              <a:rPr lang="zh-CN" altLang="en-US" sz="20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）的不同，执行不同的操作。</a:t>
            </a:r>
            <a:endParaRPr lang="zh-CN" altLang="en-US" sz="20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95268" name="Rectangle 36"/>
          <p:cNvSpPr>
            <a:spLocks noChangeArrowheads="1"/>
          </p:cNvSpPr>
          <p:nvPr/>
        </p:nvSpPr>
        <p:spPr bwMode="auto">
          <a:xfrm>
            <a:off x="468313" y="908050"/>
            <a:ext cx="8064127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转移</a:t>
            </a:r>
            <a:r>
              <a:rPr lang="zh-CN" altLang="en-US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表法：</a:t>
            </a:r>
            <a:r>
              <a:rPr lang="zh-CN" altLang="en-US" dirty="0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rPr>
              <a:t>把转移到各分支程序段的转移指令依次存放在一起，形成转移表。各转移指令在表中的位置</a:t>
            </a:r>
            <a:r>
              <a:rPr lang="en-US" altLang="zh-CN" dirty="0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rPr>
              <a:t>——</a:t>
            </a:r>
            <a:r>
              <a:rPr lang="zh-CN" altLang="en-US" dirty="0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rPr>
              <a:t>离表首地址的偏移量作为转移条件，偏移量加上表首地址作为转移地址，转到表的相应位置，执行相应的无条件转移指令。</a:t>
            </a:r>
            <a:endParaRPr lang="zh-CN" altLang="en-US" b="1" dirty="0">
              <a:solidFill>
                <a:srgbClr val="CC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4" name="文本框 1"/>
          <p:cNvSpPr txBox="1"/>
          <p:nvPr/>
        </p:nvSpPr>
        <p:spPr>
          <a:xfrm>
            <a:off x="359532" y="317499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分枝结构程序设计</a:t>
            </a:r>
          </a:p>
        </p:txBody>
      </p:sp>
      <p:pic>
        <p:nvPicPr>
          <p:cNvPr id="952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1643" y="3429000"/>
            <a:ext cx="4772025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68379596"/>
      </p:ext>
    </p:extLst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1"/>
          <p:cNvSpPr txBox="1"/>
          <p:nvPr/>
        </p:nvSpPr>
        <p:spPr>
          <a:xfrm>
            <a:off x="359532" y="317499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分枝结构程序设计</a:t>
            </a:r>
          </a:p>
        </p:txBody>
      </p:sp>
      <p:pic>
        <p:nvPicPr>
          <p:cNvPr id="91206" name="Picture 7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572" y="1196751"/>
            <a:ext cx="7704856" cy="438587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719571" y="5785229"/>
            <a:ext cx="78128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0" dirty="0"/>
              <a:t>说明：转移表中每条转移指令占用</a:t>
            </a:r>
            <a:r>
              <a:rPr lang="en-US" altLang="zh-CN" sz="2000" b="0" dirty="0"/>
              <a:t>2</a:t>
            </a:r>
            <a:r>
              <a:rPr lang="zh-CN" altLang="en-US" sz="2000" b="0" dirty="0"/>
              <a:t>个字节（段内短转移），所以有以下计算公式：表地址</a:t>
            </a:r>
            <a:r>
              <a:rPr lang="en-US" altLang="zh-CN" sz="2000" b="0" dirty="0"/>
              <a:t>=</a:t>
            </a:r>
            <a:r>
              <a:rPr lang="zh-CN" altLang="en-US" sz="2000" b="0" dirty="0"/>
              <a:t>模式字*</a:t>
            </a:r>
            <a:r>
              <a:rPr lang="en-US" altLang="zh-CN" sz="2000" b="0" dirty="0"/>
              <a:t>2+</a:t>
            </a:r>
            <a:r>
              <a:rPr lang="zh-CN" altLang="en-US" sz="2000" b="0" dirty="0"/>
              <a:t>表首地址</a:t>
            </a:r>
          </a:p>
        </p:txBody>
      </p:sp>
    </p:spTree>
    <p:extLst>
      <p:ext uri="{BB962C8B-B14F-4D97-AF65-F5344CB8AC3E}">
        <p14:creationId xmlns:p14="http://schemas.microsoft.com/office/powerpoint/2010/main" val="4040456150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Level">
  <a:themeElements>
    <a:clrScheme name="Level 9">
      <a:dk1>
        <a:srgbClr val="000000"/>
      </a:dk1>
      <a:lt1>
        <a:srgbClr val="FFFFFF"/>
      </a:lt1>
      <a:dk2>
        <a:srgbClr val="CC3300"/>
      </a:dk2>
      <a:lt2>
        <a:srgbClr val="663300"/>
      </a:lt2>
      <a:accent1>
        <a:srgbClr val="FFCC00"/>
      </a:accent1>
      <a:accent2>
        <a:srgbClr val="CC6600"/>
      </a:accent2>
      <a:accent3>
        <a:srgbClr val="FFFFFF"/>
      </a:accent3>
      <a:accent4>
        <a:srgbClr val="000000"/>
      </a:accent4>
      <a:accent5>
        <a:srgbClr val="FFE2AA"/>
      </a:accent5>
      <a:accent6>
        <a:srgbClr val="B95C00"/>
      </a:accent6>
      <a:hlink>
        <a:srgbClr val="FF0000"/>
      </a:hlink>
      <a:folHlink>
        <a:srgbClr val="996633"/>
      </a:folHlink>
    </a:clrScheme>
    <a:fontScheme name="Level">
      <a:majorFont>
        <a:latin typeface="Times New Roman"/>
        <a:ea typeface="隶书"/>
        <a:cs typeface=""/>
      </a:majorFont>
      <a:minorFont>
        <a:latin typeface="Times New Roman"/>
        <a:ea typeface="华文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rgbClr val="66CCFF"/>
          </a:solidFill>
          <a:prstDash val="solid"/>
          <a:round/>
          <a:headEnd type="none" w="med" len="med"/>
          <a:tailEnd type="stealth" w="lg" len="lg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rgbClr val="66CCFF"/>
          </a:solidFill>
          <a:prstDash val="solid"/>
          <a:round/>
          <a:headEnd type="none" w="med" len="med"/>
          <a:tailEnd type="stealth" w="lg" len="lg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Level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9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FF00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Level</Template>
  <TotalTime>16958</TotalTime>
  <Words>6818</Words>
  <Application>Microsoft Office PowerPoint</Application>
  <PresentationFormat>全屏显示(4:3)</PresentationFormat>
  <Paragraphs>983</Paragraphs>
  <Slides>60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60</vt:i4>
      </vt:variant>
    </vt:vector>
  </HeadingPairs>
  <TitlesOfParts>
    <vt:vector size="74" baseType="lpstr">
      <vt:lpstr>黑体</vt:lpstr>
      <vt:lpstr>华文宋体</vt:lpstr>
      <vt:lpstr>华文新魏</vt:lpstr>
      <vt:lpstr>楷体_GB2312</vt:lpstr>
      <vt:lpstr>宋体</vt:lpstr>
      <vt:lpstr>Arial</vt:lpstr>
      <vt:lpstr>Lucida Console</vt:lpstr>
      <vt:lpstr>Lucida Sans Unicode</vt:lpstr>
      <vt:lpstr>Symbol</vt:lpstr>
      <vt:lpstr>Times New Roman</vt:lpstr>
      <vt:lpstr>Verdana</vt:lpstr>
      <vt:lpstr>Wingdings</vt:lpstr>
      <vt:lpstr>Level</vt:lpstr>
      <vt:lpstr>位图图像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哈尔滨工业大学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陈磊工作总结</dc:title>
  <dc:creator>陈磊</dc:creator>
  <cp:lastModifiedBy>Lgm</cp:lastModifiedBy>
  <cp:revision>822</cp:revision>
  <dcterms:created xsi:type="dcterms:W3CDTF">2004-04-02T12:11:32Z</dcterms:created>
  <dcterms:modified xsi:type="dcterms:W3CDTF">2025-09-15T12:41:59Z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4</vt:r8>
  </property>
  <property fmtid="{D5CDD505-2E9C-101B-9397-08002B2CF9AE}" pid="3" name="KSOProductBuildVer">
    <vt:lpwstr>2052-10.1.0.6690</vt:lpwstr>
  </property>
</Properties>
</file>