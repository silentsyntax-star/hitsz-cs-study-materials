
<file path=[Content_Types].xml><?xml version="1.0" encoding="utf-8"?>
<Types xmlns="http://schemas.openxmlformats.org/package/2006/content-types">
  <Default Extension="png" ContentType="image/png"/>
  <Default Extension="jpeg" ContentType="image/jpeg"/>
  <Default Extension="JPG" ContentType="image/.jp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1346" r:id="rId4"/>
    <p:sldId id="1393" r:id="rId6"/>
    <p:sldId id="1402" r:id="rId7"/>
    <p:sldId id="1087" r:id="rId8"/>
    <p:sldId id="1347" r:id="rId9"/>
    <p:sldId id="1348" r:id="rId10"/>
    <p:sldId id="1349" r:id="rId11"/>
    <p:sldId id="1351" r:id="rId12"/>
    <p:sldId id="1379" r:id="rId13"/>
    <p:sldId id="1352" r:id="rId14"/>
    <p:sldId id="1380" r:id="rId15"/>
    <p:sldId id="1381" r:id="rId16"/>
    <p:sldId id="1398" r:id="rId17"/>
    <p:sldId id="1353" r:id="rId18"/>
    <p:sldId id="1354" r:id="rId19"/>
    <p:sldId id="1355" r:id="rId20"/>
    <p:sldId id="1383" r:id="rId21"/>
    <p:sldId id="1382" r:id="rId22"/>
    <p:sldId id="1311" r:id="rId23"/>
    <p:sldId id="1312" r:id="rId24"/>
    <p:sldId id="1313" r:id="rId25"/>
    <p:sldId id="1321" r:id="rId26"/>
    <p:sldId id="1322" r:id="rId27"/>
    <p:sldId id="1323" r:id="rId28"/>
    <p:sldId id="1324" r:id="rId29"/>
    <p:sldId id="1399" r:id="rId30"/>
    <p:sldId id="1325" r:id="rId31"/>
    <p:sldId id="1326" r:id="rId32"/>
    <p:sldId id="1327" r:id="rId33"/>
    <p:sldId id="1330" r:id="rId34"/>
    <p:sldId id="1334" r:id="rId35"/>
    <p:sldId id="1403" r:id="rId36"/>
    <p:sldId id="1400" r:id="rId37"/>
    <p:sldId id="1401" r:id="rId38"/>
    <p:sldId id="1335" r:id="rId39"/>
    <p:sldId id="1337" r:id="rId40"/>
    <p:sldId id="1385" r:id="rId41"/>
    <p:sldId id="1338" r:id="rId42"/>
    <p:sldId id="1339" r:id="rId43"/>
    <p:sldId id="1386" r:id="rId44"/>
    <p:sldId id="1387" r:id="rId45"/>
    <p:sldId id="1341" r:id="rId46"/>
    <p:sldId id="1388" r:id="rId47"/>
    <p:sldId id="1389" r:id="rId48"/>
    <p:sldId id="1343" r:id="rId49"/>
    <p:sldId id="1088" r:id="rId50"/>
    <p:sldId id="1132" r:id="rId51"/>
    <p:sldId id="1358" r:id="rId52"/>
    <p:sldId id="1359" r:id="rId53"/>
    <p:sldId id="1360" r:id="rId54"/>
    <p:sldId id="1361" r:id="rId55"/>
    <p:sldId id="1362" r:id="rId56"/>
    <p:sldId id="1363" r:id="rId57"/>
    <p:sldId id="1364" r:id="rId58"/>
    <p:sldId id="1390" r:id="rId59"/>
    <p:sldId id="1395" r:id="rId60"/>
    <p:sldId id="1396" r:id="rId61"/>
    <p:sldId id="1391" r:id="rId62"/>
  </p:sldIdLst>
  <p:sldSz cx="9144000" cy="6858000" type="screen4x3"/>
  <p:notesSz cx="7099300" cy="10234295"/>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9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CCECFF"/>
    <a:srgbClr val="FFFFCC"/>
    <a:srgbClr val="66CCFF"/>
    <a:srgbClr val="6600FF"/>
    <a:srgbClr val="FF9900"/>
    <a:srgbClr val="FF3300"/>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92" autoAdjust="0"/>
    <p:restoredTop sz="84446" autoAdjust="0"/>
  </p:normalViewPr>
  <p:slideViewPr>
    <p:cSldViewPr showGuides="1">
      <p:cViewPr varScale="1">
        <p:scale>
          <a:sx n="79" d="100"/>
          <a:sy n="79" d="100"/>
        </p:scale>
        <p:origin x="1912" y="40"/>
      </p:cViewPr>
      <p:guideLst>
        <p:guide orient="horz" pos="2160"/>
        <p:guide pos="2899"/>
      </p:guideLst>
    </p:cSldViewPr>
  </p:slideViewPr>
  <p:outlineViewPr>
    <p:cViewPr>
      <p:scale>
        <a:sx n="25" d="100"/>
        <a:sy n="25"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36004" cy="36004"/>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5" Type="http://schemas.openxmlformats.org/officeDocument/2006/relationships/tableStyles" Target="tableStyles.xml"/><Relationship Id="rId64" Type="http://schemas.openxmlformats.org/officeDocument/2006/relationships/viewProps" Target="viewProps.xml"/><Relationship Id="rId63" Type="http://schemas.openxmlformats.org/officeDocument/2006/relationships/presProps" Target="presProps.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70722" name="Rectangle 2"/>
          <p:cNvSpPr>
            <a:spLocks noGrp="1" noChangeArrowheads="1"/>
          </p:cNvSpPr>
          <p:nvPr>
            <p:ph type="hdr" sz="quarter"/>
          </p:nvPr>
        </p:nvSpPr>
        <p:spPr bwMode="auto">
          <a:xfrm>
            <a:off x="0" y="0"/>
            <a:ext cx="3076363" cy="511731"/>
          </a:xfrm>
          <a:prstGeom prst="rect">
            <a:avLst/>
          </a:prstGeom>
          <a:noFill/>
          <a:ln w="9525">
            <a:noFill/>
            <a:miter lim="800000"/>
          </a:ln>
          <a:effectLst/>
        </p:spPr>
        <p:txBody>
          <a:bodyPr vert="horz" wrap="square" lIns="99048" tIns="49524" rIns="99048" bIns="49524" numCol="1" anchor="t" anchorCtr="0" compatLnSpc="1"/>
          <a:lstStyle>
            <a:lvl1pPr>
              <a:buFontTx/>
              <a:buNone/>
              <a:defRPr sz="1300" b="0">
                <a:latin typeface="Arial" panose="020B0604020202020204" pitchFamily="34" charset="0"/>
              </a:defRPr>
            </a:lvl1pPr>
          </a:lstStyle>
          <a:p>
            <a:pPr defTabSz="990600">
              <a:defRPr/>
            </a:pPr>
            <a:endParaRPr lang="en-US"/>
          </a:p>
        </p:txBody>
      </p:sp>
      <p:sp>
        <p:nvSpPr>
          <p:cNvPr id="670723" name="Rectangle 3"/>
          <p:cNvSpPr>
            <a:spLocks noGrp="1" noChangeArrowheads="1"/>
          </p:cNvSpPr>
          <p:nvPr>
            <p:ph type="dt" idx="1"/>
          </p:nvPr>
        </p:nvSpPr>
        <p:spPr bwMode="auto">
          <a:xfrm>
            <a:off x="4021294" y="0"/>
            <a:ext cx="3076363" cy="511731"/>
          </a:xfrm>
          <a:prstGeom prst="rect">
            <a:avLst/>
          </a:prstGeom>
          <a:noFill/>
          <a:ln w="9525">
            <a:noFill/>
            <a:miter lim="800000"/>
          </a:ln>
          <a:effectLst/>
        </p:spPr>
        <p:txBody>
          <a:bodyPr vert="horz" wrap="square" lIns="99048" tIns="49524" rIns="99048" bIns="49524" numCol="1" anchor="t" anchorCtr="0" compatLnSpc="1"/>
          <a:lstStyle>
            <a:lvl1pPr algn="r">
              <a:buFontTx/>
              <a:buNone/>
              <a:defRPr sz="1300" b="0">
                <a:latin typeface="Arial" panose="020B0604020202020204" pitchFamily="34" charset="0"/>
              </a:defRPr>
            </a:lvl1pPr>
          </a:lstStyle>
          <a:p>
            <a:pPr defTabSz="990600">
              <a:defRPr/>
            </a:pPr>
            <a:endParaRPr lang="en-US"/>
          </a:p>
        </p:txBody>
      </p:sp>
      <p:sp>
        <p:nvSpPr>
          <p:cNvPr id="21508" name="Rectangle 4"/>
          <p:cNvSpPr>
            <a:spLocks noGrp="1" noRot="1" noChangeAspect="1" noTextEdit="1"/>
          </p:cNvSpPr>
          <p:nvPr>
            <p:ph type="sldImg"/>
          </p:nvPr>
        </p:nvSpPr>
        <p:spPr>
          <a:xfrm>
            <a:off x="992188" y="768350"/>
            <a:ext cx="5114925" cy="3836988"/>
          </a:xfrm>
          <a:prstGeom prst="rect">
            <a:avLst/>
          </a:prstGeom>
          <a:noFill/>
          <a:ln w="9525" cap="flat" cmpd="sng">
            <a:solidFill>
              <a:srgbClr val="000000"/>
            </a:solidFill>
            <a:prstDash val="solid"/>
            <a:miter/>
            <a:headEnd type="none" w="med" len="med"/>
            <a:tailEnd type="none" w="med" len="med"/>
          </a:ln>
        </p:spPr>
      </p:sp>
      <p:sp>
        <p:nvSpPr>
          <p:cNvPr id="670725" name="Rectangle 5"/>
          <p:cNvSpPr>
            <a:spLocks noGrp="1" noChangeArrowheads="1"/>
          </p:cNvSpPr>
          <p:nvPr>
            <p:ph type="body" sz="quarter" idx="3"/>
          </p:nvPr>
        </p:nvSpPr>
        <p:spPr bwMode="auto">
          <a:xfrm>
            <a:off x="709930" y="4861441"/>
            <a:ext cx="5679440" cy="4605576"/>
          </a:xfrm>
          <a:prstGeom prst="rect">
            <a:avLst/>
          </a:prstGeom>
          <a:noFill/>
          <a:ln w="9525">
            <a:noFill/>
            <a:miter lim="800000"/>
          </a:ln>
          <a:effectLst/>
        </p:spPr>
        <p:txBody>
          <a:bodyPr vert="horz" wrap="square" lIns="99048" tIns="49524" rIns="99048" bIns="49524" numCol="1" anchor="t" anchorCtr="0" compatLnSpc="1"/>
          <a:lstStyle/>
          <a:p>
            <a:pPr marL="0" marR="0" lvl="0" indent="0" algn="l" defTabSz="990600" rtl="0" eaLnBrk="0" fontAlgn="base" latinLnBrk="0" hangingPunct="0">
              <a:lnSpc>
                <a:spcPct val="100000"/>
              </a:lnSpc>
              <a:spcBef>
                <a:spcPct val="30000"/>
              </a:spcBef>
              <a:spcAft>
                <a:spcPct val="0"/>
              </a:spcAft>
              <a:buClrTx/>
              <a:buSzTx/>
              <a:buFontTx/>
              <a:buNone/>
              <a:defRPr/>
            </a:pPr>
            <a:r>
              <a:rPr kumimoji="0" 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Click to edit Master text styles</a:t>
            </a:r>
            <a:endParaRPr kumimoji="0" 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95300" marR="0" lvl="1" indent="0" algn="l" defTabSz="990600" rtl="0" eaLnBrk="0" fontAlgn="base" latinLnBrk="0" hangingPunct="0">
              <a:lnSpc>
                <a:spcPct val="100000"/>
              </a:lnSpc>
              <a:spcBef>
                <a:spcPct val="30000"/>
              </a:spcBef>
              <a:spcAft>
                <a:spcPct val="0"/>
              </a:spcAft>
              <a:buClrTx/>
              <a:buSzTx/>
              <a:buFontTx/>
              <a:buNone/>
              <a:defRPr/>
            </a:pPr>
            <a:r>
              <a:rPr kumimoji="0" 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Second level</a:t>
            </a:r>
            <a:endParaRPr kumimoji="0" 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90600" marR="0" lvl="2" indent="0" algn="l" defTabSz="990600" rtl="0" eaLnBrk="0" fontAlgn="base" latinLnBrk="0" hangingPunct="0">
              <a:lnSpc>
                <a:spcPct val="100000"/>
              </a:lnSpc>
              <a:spcBef>
                <a:spcPct val="30000"/>
              </a:spcBef>
              <a:spcAft>
                <a:spcPct val="0"/>
              </a:spcAft>
              <a:buClrTx/>
              <a:buSzTx/>
              <a:buFontTx/>
              <a:buNone/>
              <a:defRPr/>
            </a:pPr>
            <a:r>
              <a:rPr kumimoji="0" 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Third level</a:t>
            </a:r>
            <a:endParaRPr kumimoji="0" 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485900" marR="0" lvl="3" indent="0" algn="l" defTabSz="990600" rtl="0" eaLnBrk="0" fontAlgn="base" latinLnBrk="0" hangingPunct="0">
              <a:lnSpc>
                <a:spcPct val="100000"/>
              </a:lnSpc>
              <a:spcBef>
                <a:spcPct val="30000"/>
              </a:spcBef>
              <a:spcAft>
                <a:spcPct val="0"/>
              </a:spcAft>
              <a:buClrTx/>
              <a:buSzTx/>
              <a:buFontTx/>
              <a:buNone/>
              <a:defRPr/>
            </a:pPr>
            <a:r>
              <a:rPr kumimoji="0" 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Fourth level</a:t>
            </a:r>
            <a:endParaRPr kumimoji="0" 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981200" marR="0" lvl="4" indent="0" algn="l" defTabSz="990600" rtl="0" eaLnBrk="0" fontAlgn="base" latinLnBrk="0" hangingPunct="0">
              <a:lnSpc>
                <a:spcPct val="100000"/>
              </a:lnSpc>
              <a:spcBef>
                <a:spcPct val="30000"/>
              </a:spcBef>
              <a:spcAft>
                <a:spcPct val="0"/>
              </a:spcAft>
              <a:buClrTx/>
              <a:buSzTx/>
              <a:buFontTx/>
              <a:buNone/>
              <a:defRPr/>
            </a:pPr>
            <a:r>
              <a:rPr kumimoji="0" 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Fifth level</a:t>
            </a:r>
            <a:endParaRPr kumimoji="0" 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70726" name="Rectangle 6"/>
          <p:cNvSpPr>
            <a:spLocks noGrp="1" noChangeArrowheads="1"/>
          </p:cNvSpPr>
          <p:nvPr>
            <p:ph type="ftr" sz="quarter" idx="4"/>
          </p:nvPr>
        </p:nvSpPr>
        <p:spPr bwMode="auto">
          <a:xfrm>
            <a:off x="0" y="9721106"/>
            <a:ext cx="3076363" cy="511731"/>
          </a:xfrm>
          <a:prstGeom prst="rect">
            <a:avLst/>
          </a:prstGeom>
          <a:noFill/>
          <a:ln w="9525">
            <a:noFill/>
            <a:miter lim="800000"/>
          </a:ln>
          <a:effectLst/>
        </p:spPr>
        <p:txBody>
          <a:bodyPr vert="horz" wrap="square" lIns="99048" tIns="49524" rIns="99048" bIns="49524" numCol="1" anchor="b" anchorCtr="0" compatLnSpc="1"/>
          <a:lstStyle>
            <a:lvl1pPr>
              <a:buFontTx/>
              <a:buNone/>
              <a:defRPr sz="1300" b="0">
                <a:latin typeface="Arial" panose="020B0604020202020204" pitchFamily="34" charset="0"/>
              </a:defRPr>
            </a:lvl1pPr>
          </a:lstStyle>
          <a:p>
            <a:pPr defTabSz="990600">
              <a:defRPr/>
            </a:pPr>
            <a:endParaRPr lang="en-US"/>
          </a:p>
        </p:txBody>
      </p:sp>
      <p:sp>
        <p:nvSpPr>
          <p:cNvPr id="670727" name="Rectangle 7"/>
          <p:cNvSpPr>
            <a:spLocks noGrp="1" noChangeArrowheads="1"/>
          </p:cNvSpPr>
          <p:nvPr>
            <p:ph type="sldNum" sz="quarter" idx="5"/>
          </p:nvPr>
        </p:nvSpPr>
        <p:spPr bwMode="auto">
          <a:xfrm>
            <a:off x="4021294" y="9721106"/>
            <a:ext cx="3076363" cy="511731"/>
          </a:xfrm>
          <a:prstGeom prst="rect">
            <a:avLst/>
          </a:prstGeom>
          <a:noFill/>
          <a:ln w="9525">
            <a:noFill/>
            <a:miter lim="800000"/>
          </a:ln>
          <a:effectLst/>
        </p:spPr>
        <p:txBody>
          <a:bodyPr vert="horz" wrap="square" lIns="99048" tIns="49524" rIns="99048" bIns="49524" numCol="1" anchor="b" anchorCtr="0" compatLnSpc="1"/>
          <a:lstStyle/>
          <a:p>
            <a:pPr lvl="0" algn="r" eaLnBrk="1" hangingPunct="1"/>
            <a:fld id="{9A0DB2DC-4C9A-4742-B13C-FB6460FD3503}" type="slidenum">
              <a:rPr lang="en-US" altLang="zh-CN" sz="1300" b="0" dirty="0">
                <a:latin typeface="Arial" panose="020B0604020202020204" pitchFamily="34" charset="0"/>
              </a:rPr>
            </a:fld>
            <a:endParaRPr lang="en-US" altLang="zh-CN" sz="1300" b="0" dirty="0">
              <a:latin typeface="Arial" panose="020B060402020202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6" Type="http://schemas.openxmlformats.org/officeDocument/2006/relationships/hyperlink" Target="https://www.baidu.com/s?sa=re_dqa_generate&amp;wd=%E5%B7%AE%E5%88%86%E6%80%BB%E7%BA%BF%E4%BC%A0%E8%BE%93&amp;rsv_pq=97cf33b2022e099d&amp;oq=%E4%B8%BA%E4%BB%80%E4%B9%88%E7%8E%B0%E5%9C%A8%E4%B8%B2%E8%A1%8C%E4%BC%A0%E8%BE%93%E9%80%9F%E5%BA%A6%E8%83%BD%E5%A4%9F%E8%B6%85%E8%BF%87%E5%B9%B6%E8%A1%8C%E4%BC%A0%E8%BE%93%3F&amp;rsv_t=9c538/SR+ano23NdL+nPnuRZ5f7zNPHOOETb3beE92NFLfdmR7TrCJwNSmeBpyT7lJ7q&amp;tn=baiduhome_pg&amp;ie=utf-8" TargetMode="External"/><Relationship Id="rId5" Type="http://schemas.openxmlformats.org/officeDocument/2006/relationships/hyperlink" Target="https://www.baidu.com/s?sa=re_dqa_generate&amp;wd=Thunderbolt&amp;rsv_pq=97cf33b2022e099d&amp;oq=%E4%B8%BA%E4%BB%80%E4%B9%88%E7%8E%B0%E5%9C%A8%E4%B8%B2%E8%A1%8C%E4%BC%A0%E8%BE%93%E9%80%9F%E5%BA%A6%E8%83%BD%E5%A4%9F%E8%B6%85%E8%BF%87%E5%B9%B6%E8%A1%8C%E4%BC%A0%E8%BE%93%3F&amp;rsv_t=9c538/SR+ano23NdL+nPnuRZ5f7zNPHOOETb3beE92NFLfdmR7TrCJwNSmeBpyT7lJ7q&amp;tn=baiduhome_pg&amp;ie=utf-8" TargetMode="External"/><Relationship Id="rId4" Type="http://schemas.openxmlformats.org/officeDocument/2006/relationships/hyperlink" Target="https://www.baidu.com/s?sa=re_dqa_generate&amp;wd=USB%203.0&amp;rsv_pq=97cf33b2022e099d&amp;oq=%E4%B8%BA%E4%BB%80%E4%B9%88%E7%8E%B0%E5%9C%A8%E4%B8%B2%E8%A1%8C%E4%BC%A0%E8%BE%93%E9%80%9F%E5%BA%A6%E8%83%BD%E5%A4%9F%E8%B6%85%E8%BF%87%E5%B9%B6%E8%A1%8C%E4%BC%A0%E8%BE%93%3F&amp;rsv_t=9c538/SR+ano23NdL+nPnuRZ5f7zNPHOOETb3beE92NFLfdmR7TrCJwNSmeBpyT7lJ7q&amp;tn=baiduhome_pg&amp;ie=utf-8" TargetMode="External"/><Relationship Id="rId3" Type="http://schemas.openxmlformats.org/officeDocument/2006/relationships/hyperlink" Target="https://www.baidu.com/s?sa=re_dqa_generate&amp;wd=PCI%20Express&amp;rsv_pq=97cf33b2022e099d&amp;oq=%E4%B8%BA%E4%BB%80%E4%B9%88%E7%8E%B0%E5%9C%A8%E4%B8%B2%E8%A1%8C%E4%BC%A0%E8%BE%93%E9%80%9F%E5%BA%A6%E8%83%BD%E5%A4%9F%E8%B6%85%E8%BF%87%E5%B9%B6%E8%A1%8C%E4%BC%A0%E8%BE%93%3F&amp;rsv_t=9c538/SR+ano23NdL+nPnuRZ5f7zNPHOOETb3beE92NFLfdmR7TrCJwNSmeBpyT7lJ7q&amp;tn=baiduhome_pg&amp;ie=utf-8" TargetMode="External"/><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33333"/>
                </a:solidFill>
                <a:effectLst/>
                <a:latin typeface="-apple-system"/>
              </a:rPr>
              <a:t>‌</a:t>
            </a:r>
            <a:endParaRPr lang="en-US" altLang="zh-CN" b="0" i="0" dirty="0">
              <a:solidFill>
                <a:srgbClr val="333333"/>
              </a:solidFill>
              <a:effectLst/>
              <a:latin typeface="-apple-system"/>
            </a:endParaRPr>
          </a:p>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IEEE 1284</a:t>
            </a:r>
            <a:r>
              <a:rPr lang="zh-CN" altLang="en-US" dirty="0"/>
              <a:t>，并行打印机接口</a:t>
            </a:r>
            <a:endParaRPr lang="en-US" altLang="zh-CN" dirty="0"/>
          </a:p>
          <a:p>
            <a:r>
              <a:rPr lang="zh-CN" altLang="en-US" b="1" i="0" dirty="0">
                <a:solidFill>
                  <a:srgbClr val="333333"/>
                </a:solidFill>
                <a:effectLst/>
                <a:latin typeface="-apple-system"/>
              </a:rPr>
              <a:t>现在串行传输速度能够超过并行传输的主要原因是串行传输在高速传输时具有更少的线间干扰和更高的频率提升空间。</a:t>
            </a:r>
            <a:r>
              <a:rPr lang="zh-CN" altLang="en-US" b="0" i="0" dirty="0">
                <a:solidFill>
                  <a:srgbClr val="333333"/>
                </a:solidFill>
                <a:effectLst/>
                <a:latin typeface="-apple-system"/>
              </a:rPr>
              <a:t>‌ 随着时钟频率的提高，并行传输的线间干扰问题越来越严重，导致传输速率无法进一步提升。而串行传输由于导线少，线间干扰容易控制，可以通过不断提高时钟频率来提高传输速率。</a:t>
            </a:r>
            <a:endParaRPr lang="zh-CN" altLang="en-US" b="0" i="0" dirty="0">
              <a:solidFill>
                <a:srgbClr val="333333"/>
              </a:solidFill>
              <a:effectLst/>
              <a:latin typeface="-apple-system"/>
            </a:endParaRPr>
          </a:p>
          <a:p>
            <a:pPr algn="l"/>
            <a:r>
              <a:rPr lang="zh-CN" altLang="en-US" b="0" i="0" dirty="0">
                <a:solidFill>
                  <a:srgbClr val="333333"/>
                </a:solidFill>
                <a:effectLst/>
                <a:latin typeface="-apple-system"/>
              </a:rPr>
              <a:t>具体来说，串行传输相比并行传输有以下优势：</a:t>
            </a:r>
            <a:endParaRPr lang="zh-CN" altLang="en-US" b="0" i="0" dirty="0">
              <a:solidFill>
                <a:srgbClr val="333333"/>
              </a:solidFill>
              <a:effectLst/>
              <a:latin typeface="-apple-system"/>
            </a:endParaRPr>
          </a:p>
          <a:p>
            <a:pPr algn="l">
              <a:buFont typeface="+mj-lt"/>
              <a:buAutoNum type="arabicPeriod"/>
            </a:pPr>
            <a:r>
              <a:rPr lang="zh-CN" altLang="en-US" b="0" i="0" dirty="0">
                <a:solidFill>
                  <a:srgbClr val="333333"/>
                </a:solidFill>
                <a:effectLst/>
                <a:latin typeface="-apple-system"/>
              </a:rPr>
              <a:t>‌</a:t>
            </a:r>
            <a:r>
              <a:rPr lang="zh-CN" altLang="en-US" b="1" i="0" dirty="0">
                <a:solidFill>
                  <a:srgbClr val="333333"/>
                </a:solidFill>
                <a:effectLst/>
                <a:latin typeface="-apple-system"/>
              </a:rPr>
              <a:t>线间干扰</a:t>
            </a:r>
            <a:r>
              <a:rPr lang="zh-CN" altLang="en-US" b="0" i="0" dirty="0">
                <a:solidFill>
                  <a:srgbClr val="333333"/>
                </a:solidFill>
                <a:effectLst/>
                <a:latin typeface="-apple-system"/>
              </a:rPr>
              <a:t>‌：并行传输需要多条通信线路来传输多个数据位，这会导致布线复杂、成本高昂以及信号干扰的问题。而串行传输只需要一条通信线路，可以有效降低物理布线的复杂性和成本，从而提高了传输速率‌</a:t>
            </a:r>
            <a:r>
              <a:rPr lang="en-US" altLang="zh-CN" b="0" i="0" dirty="0">
                <a:solidFill>
                  <a:srgbClr val="333333"/>
                </a:solidFill>
                <a:effectLst/>
                <a:latin typeface="-apple-system"/>
              </a:rPr>
              <a:t>13</a:t>
            </a:r>
            <a:r>
              <a:rPr lang="zh-CN" altLang="en-US" b="0" i="0" dirty="0">
                <a:solidFill>
                  <a:srgbClr val="333333"/>
                </a:solidFill>
                <a:effectLst/>
                <a:latin typeface="-apple-system"/>
              </a:rPr>
              <a:t>。</a:t>
            </a:r>
            <a:endParaRPr lang="zh-CN" altLang="en-US" b="0" i="0" dirty="0">
              <a:solidFill>
                <a:srgbClr val="333333"/>
              </a:solidFill>
              <a:effectLst/>
              <a:latin typeface="-apple-system"/>
            </a:endParaRPr>
          </a:p>
          <a:p>
            <a:pPr algn="l">
              <a:buFont typeface="+mj-lt"/>
              <a:buAutoNum type="arabicPeriod"/>
            </a:pPr>
            <a:r>
              <a:rPr lang="zh-CN" altLang="en-US" b="0" i="0" dirty="0">
                <a:solidFill>
                  <a:srgbClr val="333333"/>
                </a:solidFill>
                <a:effectLst/>
                <a:latin typeface="-apple-system"/>
              </a:rPr>
              <a:t>‌</a:t>
            </a:r>
            <a:r>
              <a:rPr lang="zh-CN" altLang="en-US" b="1" i="0" dirty="0">
                <a:solidFill>
                  <a:srgbClr val="333333"/>
                </a:solidFill>
                <a:effectLst/>
                <a:latin typeface="-apple-system"/>
              </a:rPr>
              <a:t>时钟频率</a:t>
            </a:r>
            <a:r>
              <a:rPr lang="zh-CN" altLang="en-US" b="0" i="0" dirty="0">
                <a:solidFill>
                  <a:srgbClr val="333333"/>
                </a:solidFill>
                <a:effectLst/>
                <a:latin typeface="-apple-system"/>
              </a:rPr>
              <a:t>‌：在并行传输中，多个数据位需要同步传输，需要更高的时钟频率来确保数据的同步性。高时钟频率会导致时序问题和信号完整性的挑战。而串行传输由于只有一个数据位传输，时钟频率可以相对较低，从而降低了时序和信号完整性的问题‌。</a:t>
            </a:r>
            <a:endParaRPr lang="zh-CN" altLang="en-US" b="0" i="0" dirty="0">
              <a:solidFill>
                <a:srgbClr val="333333"/>
              </a:solidFill>
              <a:effectLst/>
              <a:latin typeface="-apple-system"/>
            </a:endParaRPr>
          </a:p>
          <a:p>
            <a:pPr algn="l">
              <a:buFont typeface="+mj-lt"/>
              <a:buAutoNum type="arabicPeriod"/>
            </a:pPr>
            <a:r>
              <a:rPr lang="zh-CN" altLang="en-US" b="0" i="0" dirty="0">
                <a:solidFill>
                  <a:srgbClr val="333333"/>
                </a:solidFill>
                <a:effectLst/>
                <a:latin typeface="-apple-system"/>
              </a:rPr>
              <a:t>‌</a:t>
            </a:r>
            <a:r>
              <a:rPr lang="zh-CN" altLang="en-US" b="1" i="0" dirty="0">
                <a:solidFill>
                  <a:srgbClr val="333333"/>
                </a:solidFill>
                <a:effectLst/>
                <a:latin typeface="-apple-system"/>
              </a:rPr>
              <a:t>技术发展</a:t>
            </a:r>
            <a:r>
              <a:rPr lang="zh-CN" altLang="en-US" b="0" i="0" dirty="0">
                <a:solidFill>
                  <a:srgbClr val="333333"/>
                </a:solidFill>
                <a:effectLst/>
                <a:latin typeface="-apple-system"/>
              </a:rPr>
              <a:t>‌：随着半导体技术的发展，串行传输技术也得到了很大的提升，例如</a:t>
            </a:r>
            <a:r>
              <a:rPr lang="en-US" altLang="zh-CN" b="0" i="0" u="none" strike="noStrike" dirty="0">
                <a:solidFill>
                  <a:srgbClr val="333333"/>
                </a:solidFill>
                <a:effectLst/>
                <a:latin typeface="-apple-system"/>
                <a:hlinkClick r:id="rId3"/>
              </a:rPr>
              <a:t>PCI Express</a:t>
            </a:r>
            <a:r>
              <a:rPr lang="zh-CN" altLang="en-US" b="0" i="0" dirty="0">
                <a:solidFill>
                  <a:srgbClr val="333333"/>
                </a:solidFill>
                <a:effectLst/>
                <a:latin typeface="-apple-system"/>
              </a:rPr>
              <a:t>、</a:t>
            </a:r>
            <a:r>
              <a:rPr lang="en-US" altLang="zh-CN" b="0" i="0" u="none" strike="noStrike" dirty="0">
                <a:solidFill>
                  <a:srgbClr val="333333"/>
                </a:solidFill>
                <a:effectLst/>
                <a:latin typeface="-apple-system"/>
                <a:hlinkClick r:id="rId4"/>
              </a:rPr>
              <a:t>USB 3.0</a:t>
            </a:r>
            <a:r>
              <a:rPr lang="zh-CN" altLang="en-US" b="0" i="0" dirty="0">
                <a:solidFill>
                  <a:srgbClr val="333333"/>
                </a:solidFill>
                <a:effectLst/>
                <a:latin typeface="-apple-system"/>
              </a:rPr>
              <a:t>、</a:t>
            </a:r>
            <a:r>
              <a:rPr lang="en-US" altLang="zh-CN" b="0" i="0" u="none" strike="noStrike" dirty="0">
                <a:solidFill>
                  <a:srgbClr val="333333"/>
                </a:solidFill>
                <a:effectLst/>
                <a:latin typeface="-apple-system"/>
                <a:hlinkClick r:id="rId5"/>
              </a:rPr>
              <a:t>Thunderbolt</a:t>
            </a:r>
            <a:r>
              <a:rPr lang="zh-CN" altLang="en-US" b="0" i="0" dirty="0">
                <a:solidFill>
                  <a:srgbClr val="333333"/>
                </a:solidFill>
                <a:effectLst/>
                <a:latin typeface="-apple-system"/>
              </a:rPr>
              <a:t>等高速串行接口。这些串行接口利用高级编码和解码技术，可以在单个通信线路上实现更高的数据传输速率，超越了传统的并行传输‌。</a:t>
            </a:r>
            <a:endParaRPr lang="zh-CN" altLang="en-US" b="0" i="0" dirty="0">
              <a:solidFill>
                <a:srgbClr val="333333"/>
              </a:solidFill>
              <a:effectLst/>
              <a:latin typeface="-apple-system"/>
            </a:endParaRPr>
          </a:p>
          <a:p>
            <a:pPr algn="l">
              <a:buFont typeface="+mj-lt"/>
              <a:buAutoNum type="arabicPeriod"/>
            </a:pPr>
            <a:r>
              <a:rPr lang="zh-CN" altLang="en-US" b="0" i="0" dirty="0">
                <a:solidFill>
                  <a:srgbClr val="333333"/>
                </a:solidFill>
                <a:effectLst/>
                <a:latin typeface="-apple-system"/>
              </a:rPr>
              <a:t>‌</a:t>
            </a:r>
            <a:r>
              <a:rPr lang="zh-CN" altLang="en-US" b="1" i="0" dirty="0">
                <a:solidFill>
                  <a:srgbClr val="333333"/>
                </a:solidFill>
                <a:effectLst/>
                <a:latin typeface="-apple-system"/>
              </a:rPr>
              <a:t>抗干扰能力</a:t>
            </a:r>
            <a:r>
              <a:rPr lang="zh-CN" altLang="en-US" b="0" i="0" dirty="0">
                <a:solidFill>
                  <a:srgbClr val="333333"/>
                </a:solidFill>
                <a:effectLst/>
                <a:latin typeface="-apple-system"/>
              </a:rPr>
              <a:t>‌：所有高速串行接口采用</a:t>
            </a:r>
            <a:r>
              <a:rPr lang="zh-CN" altLang="en-US" b="0" i="0" u="none" strike="noStrike" dirty="0">
                <a:solidFill>
                  <a:srgbClr val="333333"/>
                </a:solidFill>
                <a:effectLst/>
                <a:latin typeface="-apple-system"/>
                <a:hlinkClick r:id="rId6"/>
              </a:rPr>
              <a:t>差分总线传输</a:t>
            </a:r>
            <a:r>
              <a:rPr lang="zh-CN" altLang="en-US" b="0" i="0" dirty="0">
                <a:solidFill>
                  <a:srgbClr val="333333"/>
                </a:solidFill>
                <a:effectLst/>
                <a:latin typeface="-apple-system"/>
              </a:rPr>
              <a:t>，外界噪声同时加载到两条差分线上，相减之后可以抵消，具备很强的抗干扰能力。差分信号没有时钟</a:t>
            </a:r>
            <a:r>
              <a:rPr lang="en-US" altLang="zh-CN" b="0" i="0" dirty="0">
                <a:solidFill>
                  <a:srgbClr val="333333"/>
                </a:solidFill>
                <a:effectLst/>
                <a:latin typeface="-apple-system"/>
              </a:rPr>
              <a:t>skew</a:t>
            </a:r>
            <a:r>
              <a:rPr lang="zh-CN" altLang="en-US" b="0" i="0" dirty="0">
                <a:solidFill>
                  <a:srgbClr val="333333"/>
                </a:solidFill>
                <a:effectLst/>
                <a:latin typeface="-apple-system"/>
              </a:rPr>
              <a:t>问题，不存在时钟和数据流的对齐问题，从而保证了传输的稳定性和可靠性。</a:t>
            </a:r>
            <a:endParaRPr lang="zh-CN" altLang="en-US" b="0" i="0" dirty="0">
              <a:solidFill>
                <a:srgbClr val="333333"/>
              </a:solidFill>
              <a:effectLst/>
              <a:latin typeface="-apple-system"/>
            </a:endParaRPr>
          </a:p>
          <a:p>
            <a:pPr algn="l"/>
            <a:r>
              <a:rPr lang="zh-CN" altLang="en-US" b="0" i="0" dirty="0">
                <a:solidFill>
                  <a:srgbClr val="333333"/>
                </a:solidFill>
                <a:effectLst/>
                <a:latin typeface="-apple-system"/>
              </a:rPr>
              <a:t>综上所述，串行传输在现代高速数据传输中的应用越来越广泛，主要是因为其在高频率下的稳定性和抗干扰能力优于并行传输。</a:t>
            </a:r>
            <a:endParaRPr lang="zh-CN" altLang="en-US" b="0" i="0" dirty="0">
              <a:solidFill>
                <a:srgbClr val="333333"/>
              </a:solidFill>
              <a:effectLst/>
              <a:latin typeface="-apple-system"/>
            </a:endParaRPr>
          </a:p>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D0A7BC8F-496D-484F-87DC-C4D66BD6A143}" type="slidenum">
              <a:rPr lang="en-US" altLang="zh-CN"/>
            </a:fld>
            <a:endParaRPr lang="en-US" altLang="zh-CN"/>
          </a:p>
        </p:txBody>
      </p:sp>
      <p:sp>
        <p:nvSpPr>
          <p:cNvPr id="454658" name="Rectangle 2"/>
          <p:cNvSpPr>
            <a:spLocks noGrp="1" noRot="1" noChangeAspect="1" noChangeArrowheads="1" noTextEdit="1"/>
          </p:cNvSpPr>
          <p:nvPr>
            <p:ph type="sldImg"/>
          </p:nvPr>
        </p:nvSpPr>
        <p:spPr/>
      </p:sp>
      <p:sp>
        <p:nvSpPr>
          <p:cNvPr id="45465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3002D87-6751-4144-A872-6F23C9ED9835}" type="slidenum">
              <a:rPr lang="en-US" altLang="zh-CN"/>
            </a:fld>
            <a:endParaRPr lang="en-US" altLang="zh-CN"/>
          </a:p>
        </p:txBody>
      </p:sp>
      <p:sp>
        <p:nvSpPr>
          <p:cNvPr id="455682" name="Rectangle 2"/>
          <p:cNvSpPr>
            <a:spLocks noGrp="1" noRot="1" noChangeAspect="1" noChangeArrowheads="1" noTextEdit="1"/>
          </p:cNvSpPr>
          <p:nvPr>
            <p:ph type="sldImg"/>
          </p:nvPr>
        </p:nvSpPr>
        <p:spPr/>
      </p:sp>
      <p:sp>
        <p:nvSpPr>
          <p:cNvPr id="455683" name="Rectangle 3"/>
          <p:cNvSpPr>
            <a:spLocks noGrp="1" noChangeArrowheads="1"/>
          </p:cNvSpPr>
          <p:nvPr>
            <p:ph type="body" idx="1"/>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F54707B-8816-46C0-A90E-271E9F21BF9C}" type="slidenum">
              <a:rPr lang="en-US" altLang="zh-CN"/>
            </a:fld>
            <a:endParaRPr lang="en-US" altLang="zh-CN"/>
          </a:p>
        </p:txBody>
      </p:sp>
      <p:sp>
        <p:nvSpPr>
          <p:cNvPr id="406530" name="Rectangle 2"/>
          <p:cNvSpPr>
            <a:spLocks noGrp="1" noRot="1" noChangeAspect="1" noChangeArrowheads="1" noTextEdit="1"/>
          </p:cNvSpPr>
          <p:nvPr>
            <p:ph type="sldImg"/>
          </p:nvPr>
        </p:nvSpPr>
        <p:spPr/>
      </p:sp>
      <p:sp>
        <p:nvSpPr>
          <p:cNvPr id="406531" name="Rectangle 3"/>
          <p:cNvSpPr>
            <a:spLocks noGrp="1" noChangeArrowheads="1"/>
          </p:cNvSpPr>
          <p:nvPr>
            <p:ph type="body" idx="1"/>
          </p:nvPr>
        </p:nvSpPr>
        <p:spPr/>
        <p:txBody>
          <a:bodyPr/>
          <a:lstStyle/>
          <a:p>
            <a:endParaRPr lang="en-US"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F54707B-8816-46C0-A90E-271E9F21BF9C}" type="slidenum">
              <a:rPr lang="en-US" altLang="zh-CN"/>
            </a:fld>
            <a:endParaRPr lang="en-US" altLang="zh-CN"/>
          </a:p>
        </p:txBody>
      </p:sp>
      <p:sp>
        <p:nvSpPr>
          <p:cNvPr id="406530" name="Rectangle 2"/>
          <p:cNvSpPr>
            <a:spLocks noGrp="1" noRot="1" noChangeAspect="1" noChangeArrowheads="1" noTextEdit="1"/>
          </p:cNvSpPr>
          <p:nvPr>
            <p:ph type="sldImg"/>
          </p:nvPr>
        </p:nvSpPr>
        <p:spPr/>
      </p:sp>
      <p:sp>
        <p:nvSpPr>
          <p:cNvPr id="406531" name="Rectangle 3"/>
          <p:cNvSpPr>
            <a:spLocks noGrp="1" noChangeArrowheads="1"/>
          </p:cNvSpPr>
          <p:nvPr>
            <p:ph type="body" idx="1"/>
          </p:nvPr>
        </p:nvSpPr>
        <p:spPr/>
        <p:txBody>
          <a:bodyPr/>
          <a:lstStyle/>
          <a:p>
            <a:r>
              <a:rPr lang="zh-CN" altLang="en-US" dirty="0"/>
              <a:t>关于</a:t>
            </a:r>
            <a:r>
              <a:rPr lang="en-US" altLang="zh-CN" dirty="0"/>
              <a:t>8251</a:t>
            </a:r>
            <a:r>
              <a:rPr lang="zh-CN" altLang="en-US" dirty="0"/>
              <a:t>的地址问题，参见书</a:t>
            </a:r>
            <a:r>
              <a:rPr lang="en-US" altLang="zh-CN" dirty="0"/>
              <a:t>p321</a:t>
            </a:r>
            <a:r>
              <a:rPr lang="zh-CN" altLang="en-US" dirty="0"/>
              <a:t>－</a:t>
            </a:r>
            <a:r>
              <a:rPr lang="en-US" altLang="zh-CN" dirty="0"/>
              <a:t>322</a:t>
            </a:r>
            <a:endParaRPr lang="en-US"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80175C9-D03D-4E1B-B67E-DA7E5869FD67}" type="slidenum">
              <a:rPr lang="en-US" altLang="zh-CN"/>
            </a:fld>
            <a:endParaRPr lang="en-US" altLang="zh-CN"/>
          </a:p>
        </p:txBody>
      </p:sp>
      <p:sp>
        <p:nvSpPr>
          <p:cNvPr id="407554" name="Rectangle 2"/>
          <p:cNvSpPr>
            <a:spLocks noGrp="1" noRot="1" noChangeAspect="1" noChangeArrowheads="1" noTextEdit="1"/>
          </p:cNvSpPr>
          <p:nvPr>
            <p:ph type="sldImg"/>
          </p:nvPr>
        </p:nvSpPr>
        <p:spPr/>
      </p:sp>
      <p:sp>
        <p:nvSpPr>
          <p:cNvPr id="407555" name="Rectangle 3"/>
          <p:cNvSpPr>
            <a:spLocks noGrp="1" noChangeArrowheads="1"/>
          </p:cNvSpPr>
          <p:nvPr>
            <p:ph type="body" idx="1"/>
          </p:nvPr>
        </p:nvSpPr>
        <p:spPr/>
        <p:txBody>
          <a:bodyPr/>
          <a:lstStyle/>
          <a:p>
            <a:endParaRPr lang="en-US"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80175C9-D03D-4E1B-B67E-DA7E5869FD67}" type="slidenum">
              <a:rPr lang="en-US" altLang="zh-CN"/>
            </a:fld>
            <a:endParaRPr lang="en-US" altLang="zh-CN"/>
          </a:p>
        </p:txBody>
      </p:sp>
      <p:sp>
        <p:nvSpPr>
          <p:cNvPr id="407554" name="Rectangle 2"/>
          <p:cNvSpPr>
            <a:spLocks noGrp="1" noRot="1" noChangeAspect="1" noChangeArrowheads="1" noTextEdit="1"/>
          </p:cNvSpPr>
          <p:nvPr>
            <p:ph type="sldImg"/>
          </p:nvPr>
        </p:nvSpPr>
        <p:spPr/>
      </p:sp>
      <p:sp>
        <p:nvSpPr>
          <p:cNvPr id="407555" name="Rectangle 3"/>
          <p:cNvSpPr>
            <a:spLocks noGrp="1" noChangeArrowheads="1"/>
          </p:cNvSpPr>
          <p:nvPr>
            <p:ph type="body" idx="1"/>
          </p:nvPr>
        </p:nvSpPr>
        <p:spPr/>
        <p:txBody>
          <a:bodyPr/>
          <a:lstStyle/>
          <a:p>
            <a:endParaRPr lang="en-US"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80175C9-D03D-4E1B-B67E-DA7E5869FD67}" type="slidenum">
              <a:rPr lang="en-US" altLang="zh-CN"/>
            </a:fld>
            <a:endParaRPr lang="en-US" altLang="zh-CN"/>
          </a:p>
        </p:txBody>
      </p:sp>
      <p:sp>
        <p:nvSpPr>
          <p:cNvPr id="407554" name="Rectangle 2"/>
          <p:cNvSpPr>
            <a:spLocks noGrp="1" noRot="1" noChangeAspect="1" noChangeArrowheads="1" noTextEdit="1"/>
          </p:cNvSpPr>
          <p:nvPr>
            <p:ph type="sldImg"/>
          </p:nvPr>
        </p:nvSpPr>
        <p:spPr/>
      </p:sp>
      <p:sp>
        <p:nvSpPr>
          <p:cNvPr id="407555" name="Rectangle 3"/>
          <p:cNvSpPr>
            <a:spLocks noGrp="1" noChangeArrowheads="1"/>
          </p:cNvSpPr>
          <p:nvPr>
            <p:ph type="body" idx="1"/>
          </p:nvPr>
        </p:nvSpPr>
        <p:spPr/>
        <p:txBody>
          <a:bodyPr/>
          <a:lstStyle/>
          <a:p>
            <a:endParaRPr lang="en-US"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80175C9-D03D-4E1B-B67E-DA7E5869FD67}" type="slidenum">
              <a:rPr lang="en-US" altLang="zh-CN"/>
            </a:fld>
            <a:endParaRPr lang="en-US" altLang="zh-CN"/>
          </a:p>
        </p:txBody>
      </p:sp>
      <p:sp>
        <p:nvSpPr>
          <p:cNvPr id="407554" name="Rectangle 2"/>
          <p:cNvSpPr>
            <a:spLocks noGrp="1" noRot="1" noChangeAspect="1" noChangeArrowheads="1" noTextEdit="1"/>
          </p:cNvSpPr>
          <p:nvPr>
            <p:ph type="sldImg"/>
          </p:nvPr>
        </p:nvSpPr>
        <p:spPr/>
      </p:sp>
      <p:sp>
        <p:nvSpPr>
          <p:cNvPr id="407555" name="Rectangle 3"/>
          <p:cNvSpPr>
            <a:spLocks noGrp="1" noChangeArrowheads="1"/>
          </p:cNvSpPr>
          <p:nvPr>
            <p:ph type="body" idx="1"/>
          </p:nvPr>
        </p:nvSpPr>
        <p:spPr/>
        <p:txBody>
          <a:bodyPr/>
          <a:lstStyle/>
          <a:p>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2050" name="Group 7"/>
          <p:cNvGrpSpPr/>
          <p:nvPr/>
        </p:nvGrpSpPr>
        <p:grpSpPr>
          <a:xfrm>
            <a:off x="228600" y="3587750"/>
            <a:ext cx="8610600" cy="201613"/>
            <a:chOff x="144" y="1680"/>
            <a:chExt cx="5424" cy="144"/>
          </a:xfrm>
        </p:grpSpPr>
        <p:sp>
          <p:nvSpPr>
            <p:cNvPr id="13" name="Rectangle 8"/>
            <p:cNvSpPr>
              <a:spLocks noChangeArrowheads="1"/>
            </p:cNvSpPr>
            <p:nvPr/>
          </p:nvSpPr>
          <p:spPr bwMode="auto">
            <a:xfrm>
              <a:off x="144" y="1680"/>
              <a:ext cx="1808" cy="14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 name="Rectangle 9"/>
            <p:cNvSpPr>
              <a:spLocks noChangeArrowheads="1"/>
            </p:cNvSpPr>
            <p:nvPr/>
          </p:nvSpPr>
          <p:spPr bwMode="auto">
            <a:xfrm>
              <a:off x="1952" y="1680"/>
              <a:ext cx="1808" cy="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 name="Rectangle 10"/>
            <p:cNvSpPr>
              <a:spLocks noChangeArrowheads="1"/>
            </p:cNvSpPr>
            <p:nvPr/>
          </p:nvSpPr>
          <p:spPr bwMode="auto">
            <a:xfrm>
              <a:off x="3760" y="1680"/>
              <a:ext cx="1808" cy="144"/>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291842" name="Rectangle 2"/>
          <p:cNvSpPr>
            <a:spLocks noGrp="1" noChangeArrowheads="1"/>
          </p:cNvSpPr>
          <p:nvPr>
            <p:ph type="ctrTitle"/>
          </p:nvPr>
        </p:nvSpPr>
        <p:spPr>
          <a:xfrm>
            <a:off x="685800" y="685800"/>
            <a:ext cx="7772400" cy="2127250"/>
          </a:xfrm>
        </p:spPr>
        <p:txBody>
          <a:bodyPr/>
          <a:lstStyle>
            <a:lvl1pPr>
              <a:defRPr sz="2800">
                <a:solidFill>
                  <a:srgbClr val="3333FF"/>
                </a:solidFill>
                <a:latin typeface="宋体" panose="02010600030101010101" pitchFamily="2" charset="-122"/>
                <a:ea typeface="宋体" panose="02010600030101010101" pitchFamily="2" charset="-122"/>
              </a:defRPr>
            </a:lvl1pPr>
          </a:lstStyle>
          <a:p>
            <a:r>
              <a:rPr lang="zh-CN" altLang="en-US" noProof="1"/>
              <a:t>单击此处编辑母版标题样式</a:t>
            </a:r>
            <a:endParaRPr lang="zh-CN" altLang="en-US" noProof="1"/>
          </a:p>
        </p:txBody>
      </p:sp>
      <p:sp>
        <p:nvSpPr>
          <p:cNvPr id="291843" name="Rectangle 3"/>
          <p:cNvSpPr>
            <a:spLocks noGrp="1" noChangeArrowheads="1"/>
          </p:cNvSpPr>
          <p:nvPr>
            <p:ph type="subTitle" idx="1"/>
          </p:nvPr>
        </p:nvSpPr>
        <p:spPr>
          <a:xfrm>
            <a:off x="1371600" y="3270250"/>
            <a:ext cx="6400800" cy="2209800"/>
          </a:xfrm>
        </p:spPr>
        <p:txBody>
          <a:bodyPr/>
          <a:lstStyle>
            <a:lvl1pPr marL="0" indent="0" algn="ctr">
              <a:buFont typeface="Wingdings" panose="05000000000000000000" pitchFamily="2" charset="2"/>
              <a:buNone/>
              <a:defRPr sz="3000"/>
            </a:lvl1pPr>
          </a:lstStyle>
          <a:p>
            <a:r>
              <a:rPr lang="zh-CN" altLang="en-US" noProof="1"/>
              <a:t>单击此处编辑母版副标题样式</a:t>
            </a:r>
            <a:endParaRPr lang="zh-CN" altLang="en-US" noProof="1"/>
          </a:p>
        </p:txBody>
      </p:sp>
      <p:sp>
        <p:nvSpPr>
          <p:cNvPr id="16" name="Rectangle 4"/>
          <p:cNvSpPr>
            <a:spLocks noGrp="1" noChangeArrowheads="1"/>
          </p:cNvSpPr>
          <p:nvPr>
            <p:ph type="dt" sz="half" idx="2"/>
          </p:nvPr>
        </p:nvSpPr>
        <p:spPr bwMode="auto">
          <a:xfrm>
            <a:off x="457200" y="6248400"/>
            <a:ext cx="2133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7" name="Rectangle 5"/>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8" name="Rectangle 6"/>
          <p:cNvSpPr>
            <a:spLocks noGrp="1" noChangeArrowheads="1"/>
          </p:cNvSpPr>
          <p:nvPr>
            <p:ph type="sldNum" sz="quarter" idx="4"/>
          </p:nvPr>
        </p:nvSpPr>
        <p:spPr bwMode="auto">
          <a:xfrm>
            <a:off x="6553200" y="6248400"/>
            <a:ext cx="2133600" cy="457200"/>
          </a:xfrm>
          <a:prstGeom prst="rect">
            <a:avLst/>
          </a:prstGeom>
          <a:ln>
            <a:miter lim="800000"/>
          </a:ln>
        </p:spPr>
        <p:txBody>
          <a:bodyPr vert="horz" wrap="square" lIns="91440" tIns="45720" rIns="91440" bIns="45720" numCol="1" anchor="t" anchorCtr="0" compatLnSpc="1"/>
          <a:lstStyle/>
          <a:p>
            <a:pPr lvl="0" algn="r" eaLnBrk="1" hangingPunct="1"/>
            <a:fld id="{9A0DB2DC-4C9A-4742-B13C-FB6460FD3503}" type="slidenum">
              <a:rPr lang="en-US" altLang="zh-CN" sz="1000" b="0" dirty="0">
                <a:latin typeface="Verdana" panose="020B0604030504040204" pitchFamily="34" charset="0"/>
              </a:rPr>
            </a:fld>
            <a:endParaRPr lang="en-US" altLang="zh-CN" sz="1000" b="0" dirty="0">
              <a:latin typeface="Verdana" panose="020B0604030504040204" pitchFamily="34" charset="0"/>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Text Box 4"/>
          <p:cNvSpPr txBox="1">
            <a:spLocks noChangeArrowheads="1"/>
          </p:cNvSpPr>
          <p:nvPr userDrawn="1"/>
        </p:nvSpPr>
        <p:spPr bwMode="auto">
          <a:xfrm>
            <a:off x="7704348" y="8620"/>
            <a:ext cx="1440161" cy="900100"/>
          </a:xfrm>
          <a:prstGeom prst="rect">
            <a:avLst/>
          </a:prstGeom>
          <a:noFill/>
          <a:ln w="25400">
            <a:noFill/>
            <a:miter lim="800000"/>
          </a:ln>
        </p:spPr>
        <p:txBody>
          <a:bodyPr anchor="ctr" anchorCtr="1"/>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spcBef>
                <a:spcPct val="50000"/>
              </a:spcBef>
            </a:pPr>
            <a:fld id="{17E66D44-5078-4FC8-AF00-8FF9453B7C99}" type="slidenum">
              <a:rPr lang="zh-CN" altLang="en-US" sz="2000" b="0" smtClean="0">
                <a:solidFill>
                  <a:srgbClr val="FF0000"/>
                </a:solidFill>
                <a:ea typeface="宋体" panose="02010600030101010101" pitchFamily="2" charset="-122"/>
              </a:rPr>
            </a:fld>
            <a:r>
              <a:rPr lang="en-US" altLang="zh-CN" sz="2000" b="0" dirty="0">
                <a:solidFill>
                  <a:srgbClr val="FF0000"/>
                </a:solidFill>
                <a:ea typeface="宋体" panose="02010600030101010101" pitchFamily="2" charset="-122"/>
              </a:rPr>
              <a:t>/60</a:t>
            </a:r>
            <a:endParaRPr lang="en-US" altLang="zh-CN" sz="2000" b="0" dirty="0">
              <a:solidFill>
                <a:srgbClr val="FF0000"/>
              </a:solidFill>
              <a:ea typeface="宋体" panose="02010600030101010101" pitchFamily="2" charset="-122"/>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Text Box 4"/>
          <p:cNvSpPr txBox="1">
            <a:spLocks noChangeArrowheads="1"/>
          </p:cNvSpPr>
          <p:nvPr userDrawn="1"/>
        </p:nvSpPr>
        <p:spPr bwMode="auto">
          <a:xfrm>
            <a:off x="7704348" y="8620"/>
            <a:ext cx="1440161" cy="900100"/>
          </a:xfrm>
          <a:prstGeom prst="rect">
            <a:avLst/>
          </a:prstGeom>
          <a:noFill/>
          <a:ln w="25400">
            <a:noFill/>
            <a:miter lim="800000"/>
          </a:ln>
        </p:spPr>
        <p:txBody>
          <a:bodyPr anchor="ctr" anchorCtr="1"/>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spcBef>
                <a:spcPct val="50000"/>
              </a:spcBef>
            </a:pPr>
            <a:fld id="{17E66D44-5078-4FC8-AF00-8FF9453B7C99}" type="slidenum">
              <a:rPr lang="zh-CN" altLang="en-US" sz="2000" b="0" smtClean="0">
                <a:solidFill>
                  <a:srgbClr val="FF0000"/>
                </a:solidFill>
                <a:ea typeface="宋体" panose="02010600030101010101" pitchFamily="2" charset="-122"/>
              </a:rPr>
            </a:fld>
            <a:r>
              <a:rPr lang="en-US" altLang="zh-CN" sz="2000" b="0" dirty="0">
                <a:solidFill>
                  <a:srgbClr val="FF0000"/>
                </a:solidFill>
                <a:ea typeface="宋体" panose="02010600030101010101" pitchFamily="2" charset="-122"/>
              </a:rPr>
              <a:t>/60</a:t>
            </a:r>
            <a:endParaRPr lang="en-US" altLang="zh-CN" sz="2000" b="0" dirty="0">
              <a:solidFill>
                <a:srgbClr val="FF0000"/>
              </a:solidFill>
              <a:ea typeface="宋体" panose="02010600030101010101" pitchFamily="2" charset="-122"/>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Text Box 4"/>
          <p:cNvSpPr txBox="1">
            <a:spLocks noChangeArrowheads="1"/>
          </p:cNvSpPr>
          <p:nvPr userDrawn="1"/>
        </p:nvSpPr>
        <p:spPr bwMode="auto">
          <a:xfrm>
            <a:off x="7704348" y="8620"/>
            <a:ext cx="1440161" cy="900100"/>
          </a:xfrm>
          <a:prstGeom prst="rect">
            <a:avLst/>
          </a:prstGeom>
          <a:noFill/>
          <a:ln w="25400">
            <a:noFill/>
            <a:miter lim="800000"/>
          </a:ln>
        </p:spPr>
        <p:txBody>
          <a:bodyPr anchor="ctr" anchorCtr="1"/>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spcBef>
                <a:spcPct val="50000"/>
              </a:spcBef>
            </a:pPr>
            <a:fld id="{17E66D44-5078-4FC8-AF00-8FF9453B7C99}" type="slidenum">
              <a:rPr lang="zh-CN" altLang="en-US" sz="2000" b="0" smtClean="0">
                <a:solidFill>
                  <a:srgbClr val="FF0000"/>
                </a:solidFill>
                <a:ea typeface="宋体" panose="02010600030101010101" pitchFamily="2" charset="-122"/>
              </a:rPr>
            </a:fld>
            <a:r>
              <a:rPr lang="en-US" altLang="zh-CN" sz="2000" b="0" dirty="0">
                <a:solidFill>
                  <a:srgbClr val="FF0000"/>
                </a:solidFill>
                <a:ea typeface="宋体" panose="02010600030101010101" pitchFamily="2" charset="-122"/>
              </a:rPr>
              <a:t>/60</a:t>
            </a:r>
            <a:endParaRPr lang="en-US" altLang="zh-CN" sz="2000" b="0" dirty="0">
              <a:solidFill>
                <a:srgbClr val="FF0000"/>
              </a:solidFill>
              <a:ea typeface="宋体" panose="02010600030101010101" pitchFamily="2" charset="-122"/>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 name="Text Box 4"/>
          <p:cNvSpPr txBox="1">
            <a:spLocks noChangeArrowheads="1"/>
          </p:cNvSpPr>
          <p:nvPr userDrawn="1"/>
        </p:nvSpPr>
        <p:spPr bwMode="auto">
          <a:xfrm>
            <a:off x="7704348" y="8620"/>
            <a:ext cx="1440161" cy="900100"/>
          </a:xfrm>
          <a:prstGeom prst="rect">
            <a:avLst/>
          </a:prstGeom>
          <a:noFill/>
          <a:ln w="25400">
            <a:noFill/>
            <a:miter lim="800000"/>
          </a:ln>
        </p:spPr>
        <p:txBody>
          <a:bodyPr anchor="ctr" anchorCtr="1"/>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spcBef>
                <a:spcPct val="50000"/>
              </a:spcBef>
            </a:pPr>
            <a:fld id="{17E66D44-5078-4FC8-AF00-8FF9453B7C99}" type="slidenum">
              <a:rPr lang="zh-CN" altLang="en-US" sz="2000" b="0" smtClean="0">
                <a:solidFill>
                  <a:srgbClr val="FF0000"/>
                </a:solidFill>
                <a:ea typeface="宋体" panose="02010600030101010101" pitchFamily="2" charset="-122"/>
              </a:rPr>
            </a:fld>
            <a:r>
              <a:rPr lang="en-US" altLang="zh-CN" sz="2000" b="0" dirty="0">
                <a:solidFill>
                  <a:srgbClr val="FF0000"/>
                </a:solidFill>
                <a:ea typeface="宋体" panose="02010600030101010101" pitchFamily="2" charset="-122"/>
              </a:rPr>
              <a:t>/60</a:t>
            </a:r>
            <a:endParaRPr lang="en-US" altLang="zh-CN" sz="2000" b="0" dirty="0">
              <a:solidFill>
                <a:srgbClr val="FF0000"/>
              </a:solidFill>
              <a:ea typeface="宋体" panose="02010600030101010101" pitchFamily="2" charset="-122"/>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Text Box 4"/>
          <p:cNvSpPr txBox="1">
            <a:spLocks noChangeArrowheads="1"/>
          </p:cNvSpPr>
          <p:nvPr userDrawn="1"/>
        </p:nvSpPr>
        <p:spPr bwMode="auto">
          <a:xfrm>
            <a:off x="7704348" y="8620"/>
            <a:ext cx="1440161" cy="900100"/>
          </a:xfrm>
          <a:prstGeom prst="rect">
            <a:avLst/>
          </a:prstGeom>
          <a:noFill/>
          <a:ln w="25400">
            <a:noFill/>
            <a:miter lim="800000"/>
          </a:ln>
        </p:spPr>
        <p:txBody>
          <a:bodyPr anchor="ctr" anchorCtr="1"/>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spcBef>
                <a:spcPct val="50000"/>
              </a:spcBef>
            </a:pPr>
            <a:fld id="{17E66D44-5078-4FC8-AF00-8FF9453B7C99}" type="slidenum">
              <a:rPr lang="zh-CN" altLang="en-US" sz="2000" b="0" smtClean="0">
                <a:solidFill>
                  <a:srgbClr val="FF0000"/>
                </a:solidFill>
                <a:ea typeface="宋体" panose="02010600030101010101" pitchFamily="2" charset="-122"/>
              </a:rPr>
            </a:fld>
            <a:r>
              <a:rPr lang="en-US" altLang="zh-CN" sz="2000" b="0" dirty="0">
                <a:solidFill>
                  <a:srgbClr val="FF0000"/>
                </a:solidFill>
                <a:ea typeface="宋体" panose="02010600030101010101" pitchFamily="2" charset="-122"/>
              </a:rPr>
              <a:t>/60</a:t>
            </a:r>
            <a:endParaRPr lang="en-US" altLang="zh-CN" sz="2000" b="0" dirty="0">
              <a:solidFill>
                <a:srgbClr val="FF0000"/>
              </a:solidFill>
              <a:ea typeface="宋体" panose="02010600030101010101" pitchFamily="2" charset="-122"/>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Text Box 4"/>
          <p:cNvSpPr txBox="1">
            <a:spLocks noChangeArrowheads="1"/>
          </p:cNvSpPr>
          <p:nvPr userDrawn="1"/>
        </p:nvSpPr>
        <p:spPr bwMode="auto">
          <a:xfrm>
            <a:off x="7704348" y="8620"/>
            <a:ext cx="1440161" cy="900100"/>
          </a:xfrm>
          <a:prstGeom prst="rect">
            <a:avLst/>
          </a:prstGeom>
          <a:noFill/>
          <a:ln w="25400">
            <a:noFill/>
            <a:miter lim="800000"/>
          </a:ln>
        </p:spPr>
        <p:txBody>
          <a:bodyPr anchor="ctr" anchorCtr="1"/>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spcBef>
                <a:spcPct val="50000"/>
              </a:spcBef>
            </a:pPr>
            <a:fld id="{17E66D44-5078-4FC8-AF00-8FF9453B7C99}" type="slidenum">
              <a:rPr lang="zh-CN" altLang="en-US" sz="2000" b="0" smtClean="0">
                <a:solidFill>
                  <a:srgbClr val="FF0000"/>
                </a:solidFill>
                <a:ea typeface="宋体" panose="02010600030101010101" pitchFamily="2" charset="-122"/>
              </a:rPr>
            </a:fld>
            <a:r>
              <a:rPr lang="en-US" altLang="zh-CN" sz="2000" b="0" dirty="0">
                <a:solidFill>
                  <a:srgbClr val="FF0000"/>
                </a:solidFill>
                <a:ea typeface="宋体" panose="02010600030101010101" pitchFamily="2" charset="-122"/>
              </a:rPr>
              <a:t>/60</a:t>
            </a:r>
            <a:endParaRPr lang="en-US" altLang="zh-CN" sz="2000" b="0" dirty="0">
              <a:solidFill>
                <a:srgbClr val="FF0000"/>
              </a:solidFill>
              <a:ea typeface="宋体" panose="02010600030101010101" pitchFamily="2" charset="-122"/>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1.png"/><Relationship Id="rId8" Type="http://schemas.openxmlformats.org/officeDocument/2006/relationships/hyperlink" Target="mailto:luguangm@gmail.com" TargetMode="Externa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image" Target="../media/image3.GIF"/><Relationship Id="rId10" Type="http://schemas.openxmlformats.org/officeDocument/2006/relationships/image" Target="../media/image2.png"/><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0818" name="Rectangle 2"/>
          <p:cNvSpPr>
            <a:spLocks noGrp="1" noChangeArrowheads="1"/>
          </p:cNvSpPr>
          <p:nvPr>
            <p:ph type="title"/>
          </p:nvPr>
        </p:nvSpPr>
        <p:spPr bwMode="auto">
          <a:xfrm>
            <a:off x="457200" y="-242887"/>
            <a:ext cx="8229600" cy="1139825"/>
          </a:xfrm>
          <a:prstGeom prst="rect">
            <a:avLst/>
          </a:prstGeom>
          <a:noFill/>
          <a:ln w="9525">
            <a:noFill/>
            <a:miter lim="800000"/>
          </a:ln>
          <a:effectLst/>
        </p:spPr>
        <p:txBody>
          <a:bodyPr vert="horz" wrap="square" lIns="91440" tIns="45720" rIns="91440" bIns="45720" numCol="1" anchor="b" anchorCtr="0" compatLnSpc="1"/>
          <a:lstStyle/>
          <a:p>
            <a:pPr lvl="0"/>
            <a:r>
              <a:rPr lang="zh-CN" altLang="en-US" noProof="1"/>
              <a:t>单击此处编辑母版标题样式</a:t>
            </a:r>
            <a:endParaRPr lang="zh-CN" altLang="en-US" noProof="1"/>
          </a:p>
        </p:txBody>
      </p:sp>
      <p:sp>
        <p:nvSpPr>
          <p:cNvPr id="290819" name="Rectangle 3"/>
          <p:cNvSpPr>
            <a:spLocks noGrp="1" noChangeArrowheads="1"/>
          </p:cNvSpPr>
          <p:nvPr>
            <p:ph type="body" idx="1"/>
          </p:nvPr>
        </p:nvSpPr>
        <p:spPr bwMode="auto">
          <a:xfrm>
            <a:off x="457200" y="1600200"/>
            <a:ext cx="8229600" cy="4530725"/>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290820" name="Rectangle 4"/>
          <p:cNvSpPr>
            <a:spLocks noGrp="1" noChangeArrowheads="1"/>
          </p:cNvSpPr>
          <p:nvPr>
            <p:ph type="dt" sz="half" idx="2"/>
          </p:nvPr>
        </p:nvSpPr>
        <p:spPr bwMode="auto">
          <a:xfrm>
            <a:off x="457200" y="6248400"/>
            <a:ext cx="2133600" cy="457200"/>
          </a:xfrm>
          <a:prstGeom prst="rect">
            <a:avLst/>
          </a:prstGeom>
          <a:noFill/>
          <a:ln w="9525">
            <a:noFill/>
            <a:miter lim="800000"/>
          </a:ln>
          <a:effectLst/>
        </p:spPr>
        <p:txBody>
          <a:bodyPr vert="horz" wrap="square" lIns="91440" tIns="45720" rIns="91440" bIns="45720" numCol="1" anchor="t" anchorCtr="0" compatLnSpc="1"/>
          <a:lstStyle>
            <a:lvl1pPr>
              <a:buFontTx/>
              <a:buNone/>
              <a:defRPr sz="1000" b="0">
                <a:latin typeface="Verdana" panose="020B060403050404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90821"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buFontTx/>
              <a:buNone/>
              <a:defRPr sz="1000" b="0">
                <a:latin typeface="Verdana" panose="020B060403050404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30" name="Rectangle 7"/>
          <p:cNvSpPr>
            <a:spLocks noChangeArrowheads="1"/>
          </p:cNvSpPr>
          <p:nvPr/>
        </p:nvSpPr>
        <p:spPr bwMode="auto">
          <a:xfrm>
            <a:off x="0" y="0"/>
            <a:ext cx="22860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1" name="Line 8"/>
          <p:cNvSpPr/>
          <p:nvPr/>
        </p:nvSpPr>
        <p:spPr>
          <a:xfrm>
            <a:off x="457200" y="908050"/>
            <a:ext cx="8077200" cy="0"/>
          </a:xfrm>
          <a:prstGeom prst="line">
            <a:avLst/>
          </a:prstGeom>
          <a:ln w="19050" cap="flat" cmpd="sng">
            <a:solidFill>
              <a:schemeClr val="tx2"/>
            </a:solidFill>
            <a:prstDash val="solid"/>
            <a:headEnd type="none" w="med" len="med"/>
            <a:tailEnd type="none" w="med" len="med"/>
          </a:ln>
        </p:spPr>
      </p:sp>
      <p:sp>
        <p:nvSpPr>
          <p:cNvPr id="1032" name="Rectangle 9"/>
          <p:cNvSpPr>
            <a:spLocks noChangeArrowheads="1"/>
          </p:cNvSpPr>
          <p:nvPr/>
        </p:nvSpPr>
        <p:spPr bwMode="auto">
          <a:xfrm>
            <a:off x="0" y="2286000"/>
            <a:ext cx="22860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3" name="Rectangle 10"/>
          <p:cNvSpPr>
            <a:spLocks noChangeArrowheads="1"/>
          </p:cNvSpPr>
          <p:nvPr/>
        </p:nvSpPr>
        <p:spPr bwMode="auto">
          <a:xfrm>
            <a:off x="0" y="4572000"/>
            <a:ext cx="228600" cy="22860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60" name="Rectangle 12"/>
          <p:cNvSpPr>
            <a:spLocks noChangeArrowheads="1"/>
          </p:cNvSpPr>
          <p:nvPr/>
        </p:nvSpPr>
        <p:spPr bwMode="auto">
          <a:xfrm>
            <a:off x="6759575" y="6491288"/>
            <a:ext cx="2384425" cy="366713"/>
          </a:xfrm>
          <a:prstGeom prst="rect">
            <a:avLst/>
          </a:prstGeom>
          <a:noFill/>
          <a:ln w="9525">
            <a:noFill/>
            <a:miter lim="800000"/>
            <a:tailEnd type="none" w="lg" len="lg"/>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3333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hlinkClick r:id="rId8"/>
              </a:rPr>
              <a:t>luguangm@gmail.com</a:t>
            </a:r>
            <a:endParaRPr kumimoji="0" lang="zh-CN" altLang="en-US" sz="1800" b="1" i="0" u="none" strike="noStrike" kern="1200" cap="none" spc="0" normalizeH="0" baseline="0" noProof="0">
              <a:ln>
                <a:noFill/>
              </a:ln>
              <a:solidFill>
                <a:srgbClr val="3333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pic>
        <p:nvPicPr>
          <p:cNvPr id="12" name="图片 11"/>
          <p:cNvPicPr>
            <a:picLocks noChangeAspect="1"/>
          </p:cNvPicPr>
          <p:nvPr userDrawn="1"/>
        </p:nvPicPr>
        <p:blipFill>
          <a:blip r:embed="rId9"/>
          <a:stretch>
            <a:fillRect/>
          </a:stretch>
        </p:blipFill>
        <p:spPr>
          <a:xfrm>
            <a:off x="228531" y="6561348"/>
            <a:ext cx="1355137" cy="289632"/>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ransition/>
  <p:hf sldNum="0" hdr="0" ftr="0" dt="0"/>
  <p:txStyles>
    <p:titleStyle>
      <a:lvl1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2pPr>
      <a:lvl3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3pPr>
      <a:lvl4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4pPr>
      <a:lvl5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5pPr>
      <a:lvl6pPr marL="457200" algn="l" rtl="0" fontAlgn="base">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6pPr>
      <a:lvl7pPr marL="914400" algn="l" rtl="0" fontAlgn="base">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7pPr>
      <a:lvl8pPr marL="1371600" algn="l" rtl="0" fontAlgn="base">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8pPr>
      <a:lvl9pPr marL="1828800" algn="l" rtl="0" fontAlgn="base">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Blip>
          <a:blip r:embed="rId10"/>
        </a:buBlip>
        <a:defRPr sz="2800" b="1">
          <a:solidFill>
            <a:srgbClr val="3333FF"/>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Blip>
          <a:blip r:embed="rId11"/>
        </a:buBlip>
        <a:defRPr sz="2400">
          <a:solidFill>
            <a:schemeClr val="tx1"/>
          </a:solidFill>
          <a:latin typeface="+mn-lt"/>
          <a:ea typeface="+mn-ea"/>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Blip>
          <a:blip r:embed="rId10"/>
        </a:buBlip>
        <a:defRPr sz="2000">
          <a:solidFill>
            <a:schemeClr val="tx1"/>
          </a:solidFill>
          <a:latin typeface="+mn-lt"/>
          <a:ea typeface="+mn-ea"/>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6pPr>
      <a:lvl7pPr marL="29718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7pPr>
      <a:lvl8pPr marL="34290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8pPr>
      <a:lvl9pPr marL="38862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0.png"/><Relationship Id="rId1" Type="http://schemas.openxmlformats.org/officeDocument/2006/relationships/image" Target="../media/image19.jpe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7.xml"/><Relationship Id="rId2" Type="http://schemas.openxmlformats.org/officeDocument/2006/relationships/image" Target="../media/image23.png"/><Relationship Id="rId1" Type="http://schemas.openxmlformats.org/officeDocument/2006/relationships/image" Target="../media/image2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7.xml"/><Relationship Id="rId2" Type="http://schemas.openxmlformats.org/officeDocument/2006/relationships/image" Target="../media/image23.png"/><Relationship Id="rId1" Type="http://schemas.openxmlformats.org/officeDocument/2006/relationships/image" Target="../media/image2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jpe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jpe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7.jpe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8.jpe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7.jpe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8.jpe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5" name="Rectangle 3"/>
          <p:cNvSpPr>
            <a:spLocks noGrp="1" noChangeArrowheads="1"/>
          </p:cNvSpPr>
          <p:nvPr>
            <p:ph type="subTitle" idx="1"/>
          </p:nvPr>
        </p:nvSpPr>
        <p:spPr>
          <a:xfrm>
            <a:off x="359093" y="4584065"/>
            <a:ext cx="8424863" cy="541338"/>
          </a:xfrm>
        </p:spPr>
        <p:txBody>
          <a:bodyPr vert="horz" wrap="square" lIns="91440" tIns="45720" rIns="91440" bIns="45720" numCol="1" anchor="t" anchorCtr="0" compatLnSpc="1"/>
          <a:lstStyle/>
          <a:p>
            <a:pPr marL="0" marR="0" lvl="0" indent="0" algn="ctr" defTabSz="914400" rtl="0" eaLnBrk="1" fontAlgn="base" latinLnBrk="0" hangingPunct="1">
              <a:lnSpc>
                <a:spcPct val="80000"/>
              </a:lnSpc>
              <a:spcBef>
                <a:spcPct val="20000"/>
              </a:spcBef>
              <a:spcAft>
                <a:spcPct val="0"/>
              </a:spcAft>
              <a:buClr>
                <a:schemeClr val="bg2"/>
              </a:buClr>
              <a:buSzPct val="75000"/>
              <a:buFont typeface="Wingdings" panose="05000000000000000000" pitchFamily="2" charset="2"/>
              <a:buNone/>
              <a:defRPr/>
            </a:pPr>
            <a:r>
              <a:rPr kumimoji="0" lang="zh-CN" altLang="en-US" sz="3500" b="1" i="0" u="none" strike="noStrike" kern="0" cap="none" spc="0" normalizeH="0" baseline="0" noProof="0" dirty="0">
                <a:ln>
                  <a:noFill/>
                </a:ln>
                <a:solidFill>
                  <a:schemeClr val="folHlink"/>
                </a:solidFill>
                <a:effectLst>
                  <a:outerShdw blurRad="38100" dist="38100" dir="2700000" algn="tl">
                    <a:srgbClr val="C0C0C0"/>
                  </a:outerShdw>
                </a:effectLst>
                <a:uLnTx/>
                <a:uFillTx/>
                <a:latin typeface="宋体" panose="02010600030101010101" pitchFamily="2" charset="-122"/>
                <a:ea typeface="+mn-ea"/>
                <a:cs typeface="+mn-cs"/>
              </a:rPr>
              <a:t>卢光明</a:t>
            </a:r>
            <a:endParaRPr kumimoji="0" lang="en-US" altLang="zh-CN" sz="3500" b="1" i="0" u="none" strike="noStrike" kern="0" cap="none" spc="0" normalizeH="0" baseline="0" noProof="0" dirty="0">
              <a:ln>
                <a:noFill/>
              </a:ln>
              <a:solidFill>
                <a:schemeClr val="folHlink"/>
              </a:solidFill>
              <a:effectLst>
                <a:outerShdw blurRad="38100" dist="38100" dir="2700000" algn="tl">
                  <a:srgbClr val="C0C0C0"/>
                </a:outerShdw>
              </a:effectLst>
              <a:uLnTx/>
              <a:uFillTx/>
              <a:latin typeface="宋体" panose="02010600030101010101" pitchFamily="2" charset="-122"/>
              <a:ea typeface="+mn-ea"/>
              <a:cs typeface="+mn-cs"/>
            </a:endParaRPr>
          </a:p>
          <a:p>
            <a:pPr marL="0" marR="0" lvl="0" indent="0" algn="ctr" defTabSz="914400" rtl="0" eaLnBrk="1" fontAlgn="base" latinLnBrk="0" hangingPunct="1">
              <a:lnSpc>
                <a:spcPct val="80000"/>
              </a:lnSpc>
              <a:spcBef>
                <a:spcPct val="20000"/>
              </a:spcBef>
              <a:spcAft>
                <a:spcPct val="0"/>
              </a:spcAft>
              <a:buClr>
                <a:schemeClr val="bg2"/>
              </a:buClr>
              <a:buSzPct val="75000"/>
              <a:buFont typeface="Wingdings" panose="05000000000000000000" pitchFamily="2" charset="2"/>
              <a:buNone/>
              <a:defRPr/>
            </a:pPr>
            <a:endParaRPr kumimoji="0" lang="zh-CN" altLang="en-US" sz="3500" b="1" i="0" u="none" strike="noStrike" kern="0" cap="none" spc="0" normalizeH="0" baseline="0" noProof="0" dirty="0">
              <a:ln>
                <a:noFill/>
              </a:ln>
              <a:solidFill>
                <a:schemeClr val="folHlink"/>
              </a:solidFill>
              <a:effectLst>
                <a:outerShdw blurRad="38100" dist="38100" dir="2700000" algn="tl">
                  <a:srgbClr val="C0C0C0"/>
                </a:outerShdw>
              </a:effectLst>
              <a:uLnTx/>
              <a:uFillTx/>
              <a:latin typeface="宋体" panose="02010600030101010101" pitchFamily="2" charset="-122"/>
              <a:ea typeface="+mn-ea"/>
              <a:cs typeface="+mn-cs"/>
            </a:endParaRPr>
          </a:p>
        </p:txBody>
      </p:sp>
      <p:sp>
        <p:nvSpPr>
          <p:cNvPr id="320516" name="Text Box 4"/>
          <p:cNvSpPr txBox="1">
            <a:spLocks noChangeArrowheads="1"/>
          </p:cNvSpPr>
          <p:nvPr/>
        </p:nvSpPr>
        <p:spPr bwMode="auto">
          <a:xfrm>
            <a:off x="107950" y="1843088"/>
            <a:ext cx="8893175" cy="1329595"/>
          </a:xfrm>
          <a:prstGeom prst="rect">
            <a:avLst/>
          </a:prstGeom>
          <a:noFill/>
          <a:ln w="9525">
            <a:noFill/>
            <a:miter lim="800000"/>
          </a:ln>
          <a:effectLst/>
        </p:spPr>
        <p:txBody>
          <a:bodyPr>
            <a:spAutoFit/>
          </a:bodyPr>
          <a:lstStyle/>
          <a:p>
            <a:pPr marR="0" algn="ctr" defTabSz="914400">
              <a:lnSpc>
                <a:spcPct val="80000"/>
              </a:lnSpc>
              <a:spcBef>
                <a:spcPts val="1200"/>
              </a:spcBef>
              <a:buClr>
                <a:srgbClr val="663300"/>
              </a:buClr>
              <a:buSzPct val="75000"/>
              <a:buFontTx/>
              <a:buNone/>
              <a:defRPr/>
            </a:pPr>
            <a:r>
              <a:rPr kumimoji="0" lang="zh-CN" altLang="en-US" sz="4400" kern="1200" cap="none" spc="0" normalizeH="0" baseline="0" noProof="0" dirty="0">
                <a:solidFill>
                  <a:srgbClr val="FF3300"/>
                </a:solidFill>
                <a:effectLst>
                  <a:outerShdw blurRad="38100" dist="38100" dir="2700000" algn="tl">
                    <a:srgbClr val="C0C0C0"/>
                  </a:outerShdw>
                </a:effectLst>
                <a:latin typeface="Times New Roman" panose="02020603050405020304" pitchFamily="18" charset="0"/>
                <a:ea typeface="隶书" panose="02010509060101010101" pitchFamily="49" charset="-122"/>
                <a:cs typeface="+mn-cs"/>
              </a:rPr>
              <a:t>汇编语言</a:t>
            </a:r>
            <a:r>
              <a:rPr lang="zh-CN" altLang="en-US" sz="4400" dirty="0">
                <a:solidFill>
                  <a:srgbClr val="FF3300"/>
                </a:solidFill>
                <a:effectLst>
                  <a:outerShdw blurRad="38100" dist="38100" dir="2700000" algn="tl">
                    <a:srgbClr val="C0C0C0"/>
                  </a:outerShdw>
                </a:effectLst>
                <a:ea typeface="隶书" panose="02010509060101010101" pitchFamily="49" charset="-122"/>
              </a:rPr>
              <a:t>与接口介绍</a:t>
            </a:r>
            <a:endParaRPr kumimoji="0" lang="en-US" altLang="zh-CN" sz="4400" kern="1200" cap="none" spc="0" normalizeH="0" baseline="0" noProof="0" dirty="0">
              <a:solidFill>
                <a:srgbClr val="FF3300"/>
              </a:solidFill>
              <a:effectLst>
                <a:outerShdw blurRad="38100" dist="38100" dir="2700000" algn="tl">
                  <a:srgbClr val="C0C0C0"/>
                </a:outerShdw>
              </a:effectLst>
              <a:latin typeface="Times New Roman" panose="02020603050405020304" pitchFamily="18" charset="0"/>
              <a:ea typeface="隶书" panose="02010509060101010101" pitchFamily="49" charset="-122"/>
              <a:cs typeface="+mn-cs"/>
            </a:endParaRPr>
          </a:p>
          <a:p>
            <a:pPr algn="ctr">
              <a:lnSpc>
                <a:spcPct val="80000"/>
              </a:lnSpc>
              <a:spcBef>
                <a:spcPts val="1200"/>
              </a:spcBef>
              <a:buClr>
                <a:srgbClr val="663300"/>
              </a:buClr>
              <a:buSzPct val="75000"/>
              <a:defRPr/>
            </a:pPr>
            <a:r>
              <a:rPr lang="zh-CN" altLang="en-US" sz="4400" dirty="0">
                <a:solidFill>
                  <a:srgbClr val="FF3300"/>
                </a:solidFill>
                <a:effectLst>
                  <a:outerShdw blurRad="38100" dist="38100" dir="2700000" algn="tl">
                    <a:srgbClr val="C0C0C0"/>
                  </a:outerShdw>
                </a:effectLst>
                <a:ea typeface="隶书" panose="02010509060101010101" pitchFamily="49" charset="-122"/>
              </a:rPr>
              <a:t>第</a:t>
            </a:r>
            <a:r>
              <a:rPr lang="en-US" altLang="zh-CN" sz="4400" dirty="0">
                <a:solidFill>
                  <a:srgbClr val="FF3300"/>
                </a:solidFill>
                <a:effectLst>
                  <a:outerShdw blurRad="38100" dist="38100" dir="2700000" algn="tl">
                    <a:srgbClr val="C0C0C0"/>
                  </a:outerShdw>
                </a:effectLst>
                <a:ea typeface="隶书" panose="02010509060101010101" pitchFamily="49" charset="-122"/>
              </a:rPr>
              <a:t>12</a:t>
            </a:r>
            <a:r>
              <a:rPr lang="zh-CN" altLang="en-US" sz="4400" dirty="0">
                <a:solidFill>
                  <a:srgbClr val="FF3300"/>
                </a:solidFill>
                <a:effectLst>
                  <a:outerShdw blurRad="38100" dist="38100" dir="2700000" algn="tl">
                    <a:srgbClr val="C0C0C0"/>
                  </a:outerShdw>
                </a:effectLst>
                <a:ea typeface="隶书" panose="02010509060101010101" pitchFamily="49" charset="-122"/>
              </a:rPr>
              <a:t>讲：串并行接口</a:t>
            </a:r>
            <a:endParaRPr kumimoji="0" lang="zh-CN" altLang="en-US" sz="4400" kern="1200" cap="none" spc="0" normalizeH="0" baseline="0" noProof="0" dirty="0">
              <a:solidFill>
                <a:srgbClr val="FF3300"/>
              </a:solidFill>
              <a:effectLst>
                <a:outerShdw blurRad="38100" dist="38100" dir="2700000" algn="tl">
                  <a:srgbClr val="C0C0C0"/>
                </a:outerShdw>
              </a:effectLst>
              <a:latin typeface="Times New Roman" panose="02020603050405020304" pitchFamily="18" charset="0"/>
              <a:ea typeface="隶书" panose="02010509060101010101" pitchFamily="49" charset="-122"/>
              <a:cs typeface="+mn-cs"/>
            </a:endParaRPr>
          </a:p>
        </p:txBody>
      </p:sp>
      <p:pic>
        <p:nvPicPr>
          <p:cNvPr id="6" name="图片 5"/>
          <p:cNvPicPr>
            <a:picLocks noChangeAspect="1"/>
          </p:cNvPicPr>
          <p:nvPr/>
        </p:nvPicPr>
        <p:blipFill>
          <a:blip r:embed="rId1"/>
          <a:stretch>
            <a:fillRect/>
          </a:stretch>
        </p:blipFill>
        <p:spPr>
          <a:xfrm>
            <a:off x="-2372" y="0"/>
            <a:ext cx="5262486" cy="1124744"/>
          </a:xfrm>
          <a:prstGeom prst="rect">
            <a:avLst/>
          </a:prstGeom>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40" name="Rectangle 4"/>
          <p:cNvSpPr>
            <a:spLocks noGrp="1" noChangeArrowheads="1"/>
          </p:cNvSpPr>
          <p:nvPr>
            <p:ph type="body" idx="1"/>
          </p:nvPr>
        </p:nvSpPr>
        <p:spPr>
          <a:xfrm>
            <a:off x="395536" y="1196752"/>
            <a:ext cx="8316924" cy="5076564"/>
          </a:xfrm>
          <a:noFill/>
        </p:spPr>
        <p:txBody>
          <a:bodyPr/>
          <a:lstStyle/>
          <a:p>
            <a:r>
              <a:rPr lang="zh-CN" altLang="en-US" sz="2800" dirty="0">
                <a:effectLst/>
                <a:latin typeface="楷体_GB2312" pitchFamily="1" charset="-122"/>
                <a:ea typeface="楷体_GB2312" pitchFamily="1" charset="-122"/>
              </a:rPr>
              <a:t>计算机与外设数据传输的两种主要模式</a:t>
            </a:r>
            <a:endParaRPr lang="zh-CN" altLang="en-US" sz="2800" dirty="0">
              <a:effectLst/>
              <a:latin typeface="楷体_GB2312" pitchFamily="1" charset="-122"/>
              <a:ea typeface="楷体_GB2312" pitchFamily="1" charset="-122"/>
            </a:endParaRPr>
          </a:p>
          <a:p>
            <a:pPr lvl="1"/>
            <a:r>
              <a:rPr lang="zh-CN" altLang="en-US" dirty="0">
                <a:latin typeface="楷体_GB2312" pitchFamily="1" charset="-122"/>
                <a:ea typeface="楷体_GB2312" pitchFamily="1" charset="-122"/>
              </a:rPr>
              <a:t>串行通信：多位数据通过同一条数据线按位传送。</a:t>
            </a:r>
            <a:endParaRPr lang="zh-CN" altLang="en-US" dirty="0">
              <a:latin typeface="楷体_GB2312" pitchFamily="1" charset="-122"/>
              <a:ea typeface="楷体_GB2312" pitchFamily="1" charset="-122"/>
            </a:endParaRPr>
          </a:p>
          <a:p>
            <a:pPr lvl="1"/>
            <a:r>
              <a:rPr lang="zh-CN" altLang="en-US" sz="2400" dirty="0">
                <a:latin typeface="楷体_GB2312" pitchFamily="1" charset="-122"/>
                <a:ea typeface="楷体_GB2312" pitchFamily="1" charset="-122"/>
              </a:rPr>
              <a:t>并行通信：多位数据通过多条数据线同时传送。</a:t>
            </a:r>
            <a:endParaRPr lang="zh-CN" altLang="en-US" sz="2400" dirty="0">
              <a:latin typeface="楷体_GB2312" pitchFamily="1" charset="-122"/>
              <a:ea typeface="楷体_GB2312" pitchFamily="1" charset="-122"/>
            </a:endParaRPr>
          </a:p>
          <a:p>
            <a:pPr marL="342900" lvl="1" indent="-342900">
              <a:buClr>
                <a:schemeClr val="bg2"/>
              </a:buClr>
              <a:buNone/>
            </a:pPr>
            <a:r>
              <a:rPr lang="zh-CN" altLang="en-US" sz="2800" b="1" dirty="0">
                <a:solidFill>
                  <a:srgbClr val="3333FF"/>
                </a:solidFill>
                <a:latin typeface="楷体_GB2312" pitchFamily="1" charset="-122"/>
                <a:ea typeface="楷体_GB2312" pitchFamily="1" charset="-122"/>
                <a:cs typeface="+mn-cs"/>
              </a:rPr>
              <a:t>      并行通信就是把一个字符的各数据位用几条线同时进行传输。与串行通信（一位一位传输）相比，在相同传输率下，并行通信的信息实际传输速度快、信息率高。</a:t>
            </a:r>
            <a:endParaRPr lang="en-US" altLang="zh-CN" sz="2800" b="1" dirty="0">
              <a:solidFill>
                <a:srgbClr val="3333FF"/>
              </a:solidFill>
              <a:latin typeface="楷体_GB2312" pitchFamily="1" charset="-122"/>
              <a:ea typeface="楷体_GB2312" pitchFamily="1" charset="-122"/>
              <a:cs typeface="+mn-cs"/>
            </a:endParaRPr>
          </a:p>
          <a:p>
            <a:pPr>
              <a:buFontTx/>
              <a:buNone/>
            </a:pPr>
            <a:r>
              <a:rPr lang="en-US" altLang="zh-CN" dirty="0">
                <a:effectLst/>
                <a:latin typeface="楷体_GB2312" pitchFamily="1" charset="-122"/>
                <a:ea typeface="楷体_GB2312" pitchFamily="1" charset="-122"/>
              </a:rPr>
              <a:t>		 </a:t>
            </a:r>
            <a:r>
              <a:rPr lang="zh-CN" altLang="en-US" sz="2800" dirty="0">
                <a:effectLst/>
                <a:latin typeface="楷体_GB2312" pitchFamily="1" charset="-122"/>
                <a:ea typeface="楷体_GB2312" pitchFamily="1" charset="-122"/>
              </a:rPr>
              <a:t>但并行通信比串行通信所用电缆多，随着距离的增加，电缆的开销会成为突出的问题。所以，并行通信总是用在数据传输率要求较高，而传输距离较短的场合。</a:t>
            </a:r>
            <a:endParaRPr lang="zh-CN" altLang="en-US" sz="2800" dirty="0">
              <a:effectLst/>
              <a:latin typeface="楷体_GB2312" pitchFamily="1" charset="-122"/>
              <a:ea typeface="楷体_GB2312" pitchFamily="1" charset="-122"/>
            </a:endParaRPr>
          </a:p>
        </p:txBody>
      </p:sp>
      <p:sp>
        <p:nvSpPr>
          <p:cNvPr id="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串并行通信</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4740">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474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串并行通信</a:t>
            </a:r>
            <a:endParaRPr lang="zh-CN" altLang="en-US" sz="2600" kern="0" dirty="0">
              <a:solidFill>
                <a:schemeClr val="tx2"/>
              </a:solidFill>
              <a:effectLst>
                <a:outerShdw blurRad="38100" dist="38100" dir="2700000" algn="tl">
                  <a:srgbClr val="C0C0C0"/>
                </a:outerShdw>
              </a:effectLst>
              <a:latin typeface="+mj-lt"/>
              <a:cs typeface="+mj-cs"/>
            </a:endParaRPr>
          </a:p>
        </p:txBody>
      </p:sp>
      <p:pic>
        <p:nvPicPr>
          <p:cNvPr id="3" name="图片 2"/>
          <p:cNvPicPr>
            <a:picLocks noChangeAspect="1"/>
          </p:cNvPicPr>
          <p:nvPr/>
        </p:nvPicPr>
        <p:blipFill>
          <a:blip r:embed="rId1"/>
          <a:stretch>
            <a:fillRect/>
          </a:stretch>
        </p:blipFill>
        <p:spPr>
          <a:xfrm>
            <a:off x="719572" y="1052736"/>
            <a:ext cx="3288200" cy="3816424"/>
          </a:xfrm>
          <a:prstGeom prst="rect">
            <a:avLst/>
          </a:prstGeom>
        </p:spPr>
      </p:pic>
      <p:pic>
        <p:nvPicPr>
          <p:cNvPr id="6" name="图片 5"/>
          <p:cNvPicPr>
            <a:picLocks noChangeAspect="1"/>
          </p:cNvPicPr>
          <p:nvPr/>
        </p:nvPicPr>
        <p:blipFill>
          <a:blip r:embed="rId2"/>
          <a:stretch>
            <a:fillRect/>
          </a:stretch>
        </p:blipFill>
        <p:spPr>
          <a:xfrm>
            <a:off x="4427855" y="1557020"/>
            <a:ext cx="4286250" cy="2980055"/>
          </a:xfrm>
          <a:prstGeom prst="rect">
            <a:avLst/>
          </a:prstGeom>
        </p:spPr>
      </p:pic>
      <p:sp>
        <p:nvSpPr>
          <p:cNvPr id="7" name="文本框 6"/>
          <p:cNvSpPr txBox="1"/>
          <p:nvPr/>
        </p:nvSpPr>
        <p:spPr>
          <a:xfrm>
            <a:off x="647564" y="4977172"/>
            <a:ext cx="8028892" cy="1569660"/>
          </a:xfrm>
          <a:prstGeom prst="rect">
            <a:avLst/>
          </a:prstGeom>
          <a:noFill/>
        </p:spPr>
        <p:txBody>
          <a:bodyPr wrap="square" rtlCol="0">
            <a:spAutoFit/>
          </a:bodyPr>
          <a:lstStyle/>
          <a:p>
            <a:pPr marL="342900" indent="-342900" algn="just">
              <a:buFont typeface="Wingdings" panose="05000000000000000000" pitchFamily="2" charset="2"/>
              <a:buChar char="u"/>
            </a:pPr>
            <a:r>
              <a:rPr lang="zh-CN" altLang="en-US" dirty="0"/>
              <a:t>从原理上看，并行传输好像优于串行传输。</a:t>
            </a:r>
            <a:endParaRPr lang="en-US" altLang="zh-CN" dirty="0"/>
          </a:p>
          <a:p>
            <a:pPr marL="342900" indent="-342900" algn="just">
              <a:buFont typeface="Wingdings" panose="05000000000000000000" pitchFamily="2" charset="2"/>
              <a:buChar char="u"/>
            </a:pPr>
            <a:r>
              <a:rPr lang="zh-CN" altLang="en-US" dirty="0"/>
              <a:t>从技术发展来看，串行传输有取代并行传输的势头，如</a:t>
            </a:r>
            <a:r>
              <a:rPr lang="en-US" altLang="zh-CN" dirty="0"/>
              <a:t>USB</a:t>
            </a:r>
            <a:r>
              <a:rPr lang="zh-CN" altLang="en-US" dirty="0"/>
              <a:t>取代</a:t>
            </a:r>
            <a:r>
              <a:rPr lang="en-US" altLang="zh-CN" dirty="0"/>
              <a:t>IEEE 1284</a:t>
            </a:r>
            <a:r>
              <a:rPr lang="zh-CN" altLang="en-US" dirty="0"/>
              <a:t>、</a:t>
            </a:r>
            <a:r>
              <a:rPr lang="en-US" altLang="zh-CN" dirty="0"/>
              <a:t>SATA</a:t>
            </a:r>
            <a:r>
              <a:rPr lang="zh-CN" altLang="en-US" dirty="0"/>
              <a:t>取代</a:t>
            </a:r>
            <a:r>
              <a:rPr lang="en-US" altLang="zh-CN" dirty="0"/>
              <a:t>IDE</a:t>
            </a:r>
            <a:r>
              <a:rPr lang="zh-CN" altLang="en-US" dirty="0"/>
              <a:t>（</a:t>
            </a:r>
            <a:r>
              <a:rPr lang="en-US" altLang="zh-CN" dirty="0"/>
              <a:t>PATA</a:t>
            </a:r>
            <a:r>
              <a:rPr lang="zh-CN" altLang="en-US" dirty="0"/>
              <a:t>接口）、</a:t>
            </a:r>
            <a:r>
              <a:rPr lang="en-US" altLang="zh-CN" dirty="0"/>
              <a:t>PCI Express</a:t>
            </a:r>
            <a:r>
              <a:rPr lang="zh-CN" altLang="en-US" dirty="0"/>
              <a:t>取代</a:t>
            </a:r>
            <a:r>
              <a:rPr lang="en-US" altLang="zh-CN" dirty="0"/>
              <a:t>PCI……</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3358" y="906979"/>
            <a:ext cx="8233442" cy="5474349"/>
          </a:xfrm>
        </p:spPr>
        <p:txBody>
          <a:bodyPr/>
          <a:lstStyle/>
          <a:p>
            <a:pPr marL="0" indent="0" algn="just">
              <a:buNone/>
            </a:pPr>
            <a:r>
              <a:rPr lang="zh-CN" altLang="en-US" sz="2400" b="0" dirty="0">
                <a:solidFill>
                  <a:schemeClr val="tx1"/>
                </a:solidFill>
                <a:effectLst/>
                <a:latin typeface="宋体" panose="02010600030101010101" pitchFamily="2" charset="-122"/>
                <a:ea typeface="宋体" panose="02010600030101010101" pitchFamily="2" charset="-122"/>
              </a:rPr>
              <a:t>为什么工业领域串口较少用</a:t>
            </a:r>
            <a:r>
              <a:rPr lang="en-US" altLang="zh-CN" sz="2400" b="0" dirty="0" err="1">
                <a:solidFill>
                  <a:schemeClr val="tx1"/>
                </a:solidFill>
                <a:effectLst/>
                <a:latin typeface="宋体" panose="02010600030101010101" pitchFamily="2" charset="-122"/>
                <a:ea typeface="宋体" panose="02010600030101010101" pitchFamily="2" charset="-122"/>
              </a:rPr>
              <a:t>usb</a:t>
            </a:r>
            <a:r>
              <a:rPr lang="zh-CN" altLang="en-US" sz="2400" b="0" dirty="0">
                <a:solidFill>
                  <a:schemeClr val="tx1"/>
                </a:solidFill>
                <a:effectLst/>
                <a:latin typeface="宋体" panose="02010600030101010101" pitchFamily="2" charset="-122"/>
                <a:ea typeface="宋体" panose="02010600030101010101" pitchFamily="2" charset="-122"/>
              </a:rPr>
              <a:t>？</a:t>
            </a:r>
            <a:endParaRPr lang="zh-CN" altLang="en-US" sz="2400" b="0" dirty="0">
              <a:solidFill>
                <a:schemeClr val="tx1"/>
              </a:solidFill>
              <a:latin typeface="宋体" panose="02010600030101010101" pitchFamily="2" charset="-122"/>
              <a:ea typeface="宋体" panose="02010600030101010101" pitchFamily="2" charset="-122"/>
            </a:endParaRPr>
          </a:p>
          <a:p>
            <a:pPr algn="just"/>
            <a:r>
              <a:rPr lang="zh-CN" altLang="en-US" sz="2400" b="0" dirty="0">
                <a:solidFill>
                  <a:schemeClr val="tx1"/>
                </a:solidFill>
                <a:effectLst/>
                <a:latin typeface="宋体" panose="02010600030101010101" pitchFamily="2" charset="-122"/>
                <a:ea typeface="宋体" panose="02010600030101010101" pitchFamily="2" charset="-122"/>
              </a:rPr>
              <a:t>可靠性和稳定性：工业环境通常存在电磁干扰、温度变化、振动和冲击等不利因素。</a:t>
            </a:r>
            <a:r>
              <a:rPr lang="en-US" altLang="zh-CN" sz="2400" b="0" dirty="0">
                <a:solidFill>
                  <a:schemeClr val="tx1"/>
                </a:solidFill>
                <a:effectLst/>
                <a:latin typeface="宋体" panose="02010600030101010101" pitchFamily="2" charset="-122"/>
                <a:ea typeface="宋体" panose="02010600030101010101" pitchFamily="2" charset="-122"/>
              </a:rPr>
              <a:t>USB</a:t>
            </a:r>
            <a:r>
              <a:rPr lang="zh-CN" altLang="en-US" sz="2400" b="0" dirty="0">
                <a:solidFill>
                  <a:schemeClr val="tx1"/>
                </a:solidFill>
                <a:effectLst/>
                <a:latin typeface="宋体" panose="02010600030101010101" pitchFamily="2" charset="-122"/>
                <a:ea typeface="宋体" panose="02010600030101010101" pitchFamily="2" charset="-122"/>
              </a:rPr>
              <a:t>接口更为复杂，容易受到外部干扰的影响，不够稳定可靠。</a:t>
            </a:r>
            <a:r>
              <a:rPr lang="en-US" altLang="zh-CN" sz="2400" b="0" dirty="0">
                <a:solidFill>
                  <a:schemeClr val="tx1"/>
                </a:solidFill>
                <a:effectLst/>
                <a:latin typeface="宋体" panose="02010600030101010101" pitchFamily="2" charset="-122"/>
                <a:ea typeface="宋体" panose="02010600030101010101" pitchFamily="2" charset="-122"/>
              </a:rPr>
              <a:t>RS232/485</a:t>
            </a:r>
            <a:r>
              <a:rPr lang="zh-CN" altLang="en-US" sz="2400" b="0" dirty="0">
                <a:solidFill>
                  <a:schemeClr val="tx1"/>
                </a:solidFill>
                <a:effectLst/>
                <a:latin typeface="宋体" panose="02010600030101010101" pitchFamily="2" charset="-122"/>
                <a:ea typeface="宋体" panose="02010600030101010101" pitchFamily="2" charset="-122"/>
              </a:rPr>
              <a:t>串口接口通常采用较简单的物理连接和信号传输方式，相对来说更能抵御这些干扰。</a:t>
            </a:r>
            <a:endParaRPr lang="en-US" altLang="zh-CN" sz="2400" b="0" dirty="0">
              <a:solidFill>
                <a:schemeClr val="tx1"/>
              </a:solidFill>
              <a:effectLst/>
              <a:latin typeface="宋体" panose="02010600030101010101" pitchFamily="2" charset="-122"/>
              <a:ea typeface="宋体" panose="02010600030101010101" pitchFamily="2" charset="-122"/>
            </a:endParaRPr>
          </a:p>
          <a:p>
            <a:pPr algn="just"/>
            <a:r>
              <a:rPr lang="zh-CN" altLang="en-US" sz="2400" b="0" dirty="0">
                <a:solidFill>
                  <a:schemeClr val="tx1"/>
                </a:solidFill>
                <a:effectLst/>
                <a:latin typeface="宋体" panose="02010600030101010101" pitchFamily="2" charset="-122"/>
                <a:ea typeface="宋体" panose="02010600030101010101" pitchFamily="2" charset="-122"/>
              </a:rPr>
              <a:t>兼容性和可扩展性：许多传统的工业设备和控制系统在设计之初就使用</a:t>
            </a:r>
            <a:r>
              <a:rPr lang="en-US" altLang="zh-CN" sz="2400" b="0" dirty="0">
                <a:solidFill>
                  <a:schemeClr val="tx1"/>
                </a:solidFill>
                <a:effectLst/>
                <a:latin typeface="宋体" panose="02010600030101010101" pitchFamily="2" charset="-122"/>
                <a:ea typeface="宋体" panose="02010600030101010101" pitchFamily="2" charset="-122"/>
              </a:rPr>
              <a:t>RS232/485</a:t>
            </a:r>
            <a:r>
              <a:rPr lang="zh-CN" altLang="en-US" sz="2400" b="0" dirty="0">
                <a:solidFill>
                  <a:schemeClr val="tx1"/>
                </a:solidFill>
                <a:effectLst/>
                <a:latin typeface="宋体" panose="02010600030101010101" pitchFamily="2" charset="-122"/>
                <a:ea typeface="宋体" panose="02010600030101010101" pitchFamily="2" charset="-122"/>
              </a:rPr>
              <a:t>串口通信的方式，而不是</a:t>
            </a:r>
            <a:r>
              <a:rPr lang="en-US" altLang="zh-CN" sz="2400" b="0" dirty="0">
                <a:solidFill>
                  <a:schemeClr val="tx1"/>
                </a:solidFill>
                <a:effectLst/>
                <a:latin typeface="宋体" panose="02010600030101010101" pitchFamily="2" charset="-122"/>
                <a:ea typeface="宋体" panose="02010600030101010101" pitchFamily="2" charset="-122"/>
              </a:rPr>
              <a:t>USB</a:t>
            </a:r>
            <a:r>
              <a:rPr lang="zh-CN" altLang="en-US" sz="2400" b="0" dirty="0">
                <a:solidFill>
                  <a:schemeClr val="tx1"/>
                </a:solidFill>
                <a:effectLst/>
                <a:latin typeface="宋体" panose="02010600030101010101" pitchFamily="2" charset="-122"/>
                <a:ea typeface="宋体" panose="02010600030101010101" pitchFamily="2" charset="-122"/>
              </a:rPr>
              <a:t>，更换为</a:t>
            </a:r>
            <a:r>
              <a:rPr lang="en-US" altLang="zh-CN" sz="2400" b="0" dirty="0">
                <a:solidFill>
                  <a:schemeClr val="tx1"/>
                </a:solidFill>
                <a:effectLst/>
                <a:latin typeface="宋体" panose="02010600030101010101" pitchFamily="2" charset="-122"/>
                <a:ea typeface="宋体" panose="02010600030101010101" pitchFamily="2" charset="-122"/>
              </a:rPr>
              <a:t>USB</a:t>
            </a:r>
            <a:r>
              <a:rPr lang="zh-CN" altLang="en-US" sz="2400" b="0" dirty="0">
                <a:solidFill>
                  <a:schemeClr val="tx1"/>
                </a:solidFill>
                <a:effectLst/>
                <a:latin typeface="宋体" panose="02010600030101010101" pitchFamily="2" charset="-122"/>
                <a:ea typeface="宋体" panose="02010600030101010101" pitchFamily="2" charset="-122"/>
              </a:rPr>
              <a:t>接口需要进行硬件和软件的改动。</a:t>
            </a:r>
            <a:endParaRPr lang="en-US" altLang="zh-CN" sz="2400" b="0" dirty="0">
              <a:solidFill>
                <a:schemeClr val="tx1"/>
              </a:solidFill>
              <a:effectLst/>
              <a:latin typeface="宋体" panose="02010600030101010101" pitchFamily="2" charset="-122"/>
              <a:ea typeface="宋体" panose="02010600030101010101" pitchFamily="2" charset="-122"/>
            </a:endParaRPr>
          </a:p>
          <a:p>
            <a:pPr algn="just"/>
            <a:r>
              <a:rPr lang="zh-CN" altLang="en-US" sz="2400" b="0" dirty="0">
                <a:solidFill>
                  <a:schemeClr val="tx1"/>
                </a:solidFill>
                <a:effectLst/>
                <a:latin typeface="宋体" panose="02010600030101010101" pitchFamily="2" charset="-122"/>
                <a:ea typeface="宋体" panose="02010600030101010101" pitchFamily="2" charset="-122"/>
              </a:rPr>
              <a:t>驱动程序稳定性：在工业环境中，设备的可靠性和稳定性是非常重要的。</a:t>
            </a:r>
            <a:r>
              <a:rPr lang="en-US" altLang="zh-CN" sz="2400" b="0" dirty="0">
                <a:solidFill>
                  <a:schemeClr val="tx1"/>
                </a:solidFill>
                <a:effectLst/>
                <a:latin typeface="宋体" panose="02010600030101010101" pitchFamily="2" charset="-122"/>
                <a:ea typeface="宋体" panose="02010600030101010101" pitchFamily="2" charset="-122"/>
              </a:rPr>
              <a:t>USB</a:t>
            </a:r>
            <a:r>
              <a:rPr lang="zh-CN" altLang="en-US" sz="2400" b="0" dirty="0">
                <a:solidFill>
                  <a:schemeClr val="tx1"/>
                </a:solidFill>
                <a:effectLst/>
                <a:latin typeface="宋体" panose="02010600030101010101" pitchFamily="2" charset="-122"/>
                <a:ea typeface="宋体" panose="02010600030101010101" pitchFamily="2" charset="-122"/>
              </a:rPr>
              <a:t>设备通常需要安装特定的驱动程序，这个驱动程序的稳定性和兼容性可能会受到限制。而</a:t>
            </a:r>
            <a:r>
              <a:rPr lang="en-US" altLang="zh-CN" sz="2400" b="0" dirty="0">
                <a:solidFill>
                  <a:schemeClr val="tx1"/>
                </a:solidFill>
                <a:effectLst/>
                <a:latin typeface="宋体" panose="02010600030101010101" pitchFamily="2" charset="-122"/>
                <a:ea typeface="宋体" panose="02010600030101010101" pitchFamily="2" charset="-122"/>
              </a:rPr>
              <a:t>RS232/485</a:t>
            </a:r>
            <a:r>
              <a:rPr lang="zh-CN" altLang="en-US" sz="2400" b="0" dirty="0">
                <a:solidFill>
                  <a:schemeClr val="tx1"/>
                </a:solidFill>
                <a:effectLst/>
                <a:latin typeface="宋体" panose="02010600030101010101" pitchFamily="2" charset="-122"/>
                <a:ea typeface="宋体" panose="02010600030101010101" pitchFamily="2" charset="-122"/>
              </a:rPr>
              <a:t>串口设备通常具有更广泛的操作系统兼容性，并且不需要独立的驱动程序。</a:t>
            </a:r>
            <a:endParaRPr lang="en-US" altLang="zh-CN" sz="2400" b="0" dirty="0">
              <a:solidFill>
                <a:schemeClr val="tx1"/>
              </a:solidFill>
              <a:effectLst/>
              <a:latin typeface="宋体" panose="02010600030101010101" pitchFamily="2" charset="-122"/>
              <a:ea typeface="宋体" panose="02010600030101010101" pitchFamily="2" charset="-122"/>
            </a:endParaRPr>
          </a:p>
          <a:p>
            <a:endParaRPr lang="zh-CN" altLang="en-US" dirty="0"/>
          </a:p>
        </p:txBody>
      </p:sp>
      <p:sp>
        <p:nvSpPr>
          <p:cNvPr id="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串并行通信</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第</a:t>
            </a:r>
            <a:r>
              <a:rPr lang="en-US" altLang="zh-CN" sz="2600" kern="0" dirty="0">
                <a:solidFill>
                  <a:schemeClr val="tx2"/>
                </a:solidFill>
                <a:effectLst>
                  <a:outerShdw blurRad="38100" dist="38100" dir="2700000" algn="tl">
                    <a:srgbClr val="C0C0C0"/>
                  </a:outerShdw>
                </a:effectLst>
                <a:latin typeface="+mj-lt"/>
                <a:cs typeface="+mj-cs"/>
              </a:rPr>
              <a:t>12</a:t>
            </a:r>
            <a:r>
              <a:rPr lang="zh-CN" altLang="en-US" sz="2600" kern="0" dirty="0">
                <a:solidFill>
                  <a:schemeClr val="tx2"/>
                </a:solidFill>
                <a:effectLst>
                  <a:outerShdw blurRad="38100" dist="38100" dir="2700000" algn="tl">
                    <a:srgbClr val="C0C0C0"/>
                  </a:outerShdw>
                </a:effectLst>
                <a:latin typeface="+mj-lt"/>
                <a:cs typeface="+mj-cs"/>
              </a:rPr>
              <a:t>讲：串并行接口</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3" name="文本框 2"/>
          <p:cNvSpPr txBox="1"/>
          <p:nvPr/>
        </p:nvSpPr>
        <p:spPr>
          <a:xfrm>
            <a:off x="1223626" y="1225104"/>
            <a:ext cx="6571615" cy="1274195"/>
          </a:xfrm>
          <a:prstGeom prst="rect">
            <a:avLst/>
          </a:prstGeom>
          <a:noFill/>
        </p:spPr>
        <p:txBody>
          <a:bodyPr wrap="square" rtlCol="0">
            <a:spAutoFit/>
          </a:bodyPr>
          <a:lstStyle/>
          <a:p>
            <a:pPr marL="342900" indent="-342900">
              <a:lnSpc>
                <a:spcPct val="160000"/>
              </a:lnSpc>
              <a:buClr>
                <a:srgbClr val="FF3300"/>
              </a:buClr>
              <a:buFont typeface="Wingdings" panose="05000000000000000000" charset="0"/>
              <a:buChar char=""/>
            </a:pPr>
            <a:r>
              <a:rPr lang="zh-CN" altLang="en-US" b="0" dirty="0">
                <a:solidFill>
                  <a:srgbClr val="FF0000"/>
                </a:solidFill>
                <a:latin typeface="+mn-lt"/>
                <a:sym typeface="+mn-ea"/>
              </a:rPr>
              <a:t>串行通信接口</a:t>
            </a:r>
            <a:endParaRPr lang="zh-CN" altLang="en-US" b="0" dirty="0">
              <a:solidFill>
                <a:srgbClr val="FF0000"/>
              </a:solidFill>
              <a:latin typeface="+mn-lt"/>
              <a:sym typeface="+mn-ea"/>
            </a:endParaRPr>
          </a:p>
          <a:p>
            <a:pPr marL="342900" indent="-342900">
              <a:lnSpc>
                <a:spcPct val="160000"/>
              </a:lnSpc>
              <a:buClr>
                <a:srgbClr val="FF3300"/>
              </a:buClr>
              <a:buFont typeface="Wingdings" panose="05000000000000000000" charset="0"/>
              <a:buChar char=""/>
            </a:pPr>
            <a:r>
              <a:rPr lang="zh-CN" altLang="en-US" b="0" dirty="0">
                <a:latin typeface="+mn-lt"/>
                <a:sym typeface="+mn-ea"/>
              </a:rPr>
              <a:t>并行通信接口</a:t>
            </a:r>
            <a:endParaRPr lang="zh-CN" altLang="en-US" b="0" dirty="0">
              <a:latin typeface="+mn-lt"/>
              <a:sym typeface="+mn-ea"/>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9940" name="Rectangle 4"/>
          <p:cNvSpPr>
            <a:spLocks noChangeArrowheads="1"/>
          </p:cNvSpPr>
          <p:nvPr/>
        </p:nvSpPr>
        <p:spPr bwMode="auto">
          <a:xfrm>
            <a:off x="452120" y="1125012"/>
            <a:ext cx="8512368"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dirty="0">
                <a:latin typeface="宋体" panose="02010600030101010101" pitchFamily="2" charset="-122"/>
              </a:rPr>
              <a:t>按通信进行的过程，分为：单工、半双工、全双工通信方式 </a:t>
            </a:r>
            <a:endParaRPr kumimoji="1" lang="zh-CN" altLang="en-US" dirty="0">
              <a:latin typeface="宋体" panose="02010600030101010101" pitchFamily="2" charset="-122"/>
            </a:endParaRPr>
          </a:p>
          <a:p>
            <a:r>
              <a:rPr kumimoji="1" lang="zh-CN" altLang="en-US" dirty="0">
                <a:latin typeface="宋体" panose="02010600030101010101" pitchFamily="2" charset="-122"/>
              </a:rPr>
              <a:t> </a:t>
            </a:r>
            <a:endParaRPr kumimoji="1" lang="zh-CN" altLang="en-US" dirty="0">
              <a:latin typeface="宋体" panose="02010600030101010101" pitchFamily="2" charset="-122"/>
            </a:endParaRPr>
          </a:p>
          <a:p>
            <a:pPr marL="457200" indent="-457200">
              <a:buAutoNum type="arabicParenR"/>
            </a:pPr>
            <a:r>
              <a:rPr kumimoji="1" lang="zh-CN" altLang="en-US" dirty="0">
                <a:latin typeface="宋体" panose="02010600030101010101" pitchFamily="2" charset="-122"/>
              </a:rPr>
              <a:t>单  工：只容许数据由一方发、一方收，单向通讯，如打印机、电视、广播。</a:t>
            </a:r>
            <a:endParaRPr kumimoji="1" lang="en-US" altLang="zh-CN" dirty="0">
              <a:latin typeface="宋体" panose="02010600030101010101" pitchFamily="2" charset="-122"/>
            </a:endParaRPr>
          </a:p>
          <a:p>
            <a:endParaRPr kumimoji="1" lang="zh-CN" altLang="en-US" dirty="0">
              <a:latin typeface="宋体" panose="02010600030101010101" pitchFamily="2" charset="-122"/>
            </a:endParaRPr>
          </a:p>
          <a:p>
            <a:endParaRPr kumimoji="1" lang="zh-CN" altLang="en-US" dirty="0">
              <a:latin typeface="宋体" panose="02010600030101010101" pitchFamily="2" charset="-122"/>
            </a:endParaRPr>
          </a:p>
          <a:p>
            <a:endParaRPr kumimoji="1" lang="zh-CN" altLang="en-US" dirty="0">
              <a:latin typeface="宋体" panose="02010600030101010101" pitchFamily="2" charset="-122"/>
            </a:endParaRPr>
          </a:p>
          <a:p>
            <a:r>
              <a:rPr kumimoji="1" lang="en-US" altLang="zh-CN" dirty="0">
                <a:latin typeface="宋体" panose="02010600030101010101" pitchFamily="2" charset="-122"/>
              </a:rPr>
              <a:t>2) </a:t>
            </a:r>
            <a:r>
              <a:rPr kumimoji="1" lang="zh-CN" altLang="en-US" dirty="0">
                <a:latin typeface="宋体" panose="02010600030101010101" pitchFamily="2" charset="-122"/>
              </a:rPr>
              <a:t>半双工：容许双向通讯，但是收发只能分时共用一路</a:t>
            </a:r>
            <a:endParaRPr kumimoji="1" lang="zh-CN" altLang="en-US" dirty="0">
              <a:latin typeface="宋体" panose="02010600030101010101" pitchFamily="2" charset="-122"/>
            </a:endParaRPr>
          </a:p>
          <a:p>
            <a:r>
              <a:rPr kumimoji="1" lang="zh-CN" altLang="en-US" dirty="0">
                <a:latin typeface="宋体" panose="02010600030101010101" pitchFamily="2" charset="-122"/>
              </a:rPr>
              <a:t>           通道，如对讲机。</a:t>
            </a:r>
            <a:endParaRPr kumimoji="1" lang="en-US" altLang="zh-CN" dirty="0">
              <a:latin typeface="宋体" panose="02010600030101010101" pitchFamily="2" charset="-122"/>
            </a:endParaRPr>
          </a:p>
          <a:p>
            <a:endParaRPr kumimoji="1" lang="zh-CN" altLang="en-US" dirty="0">
              <a:latin typeface="宋体" panose="02010600030101010101" pitchFamily="2" charset="-122"/>
            </a:endParaRPr>
          </a:p>
          <a:p>
            <a:endParaRPr kumimoji="1" lang="zh-CN" altLang="en-US" dirty="0">
              <a:latin typeface="宋体" panose="02010600030101010101" pitchFamily="2" charset="-122"/>
            </a:endParaRPr>
          </a:p>
          <a:p>
            <a:endParaRPr kumimoji="1" lang="zh-CN" altLang="en-US" dirty="0">
              <a:latin typeface="宋体" panose="02010600030101010101" pitchFamily="2" charset="-122"/>
            </a:endParaRPr>
          </a:p>
          <a:p>
            <a:r>
              <a:rPr kumimoji="1" lang="en-US" altLang="zh-CN" dirty="0">
                <a:latin typeface="宋体" panose="02010600030101010101" pitchFamily="2" charset="-122"/>
              </a:rPr>
              <a:t>3) </a:t>
            </a:r>
            <a:r>
              <a:rPr kumimoji="1" lang="zh-CN" altLang="en-US" dirty="0">
                <a:latin typeface="宋体" panose="02010600030101010101" pitchFamily="2" charset="-122"/>
              </a:rPr>
              <a:t>全双工：容许数据同时双向收发，如电话。</a:t>
            </a:r>
            <a:endParaRPr kumimoji="1" lang="zh-CN" altLang="en-US" dirty="0">
              <a:latin typeface="宋体" panose="02010600030101010101" pitchFamily="2" charset="-122"/>
            </a:endParaRPr>
          </a:p>
        </p:txBody>
      </p:sp>
      <p:grpSp>
        <p:nvGrpSpPr>
          <p:cNvPr id="2" name="组合 1"/>
          <p:cNvGrpSpPr/>
          <p:nvPr/>
        </p:nvGrpSpPr>
        <p:grpSpPr>
          <a:xfrm>
            <a:off x="2438400" y="2817750"/>
            <a:ext cx="4421188" cy="503238"/>
            <a:chOff x="2438400" y="2601726"/>
            <a:chExt cx="4421188" cy="503238"/>
          </a:xfrm>
        </p:grpSpPr>
        <p:sp>
          <p:nvSpPr>
            <p:cNvPr id="679942" name="Rectangle 6"/>
            <p:cNvSpPr>
              <a:spLocks noChangeArrowheads="1"/>
            </p:cNvSpPr>
            <p:nvPr/>
          </p:nvSpPr>
          <p:spPr bwMode="auto">
            <a:xfrm>
              <a:off x="5562600" y="2601726"/>
              <a:ext cx="1296988" cy="503238"/>
            </a:xfrm>
            <a:prstGeom prst="rect">
              <a:avLst/>
            </a:prstGeom>
            <a:solidFill>
              <a:schemeClr val="accent1"/>
            </a:solidFill>
            <a:ln w="28575" algn="ctr">
              <a:solidFill>
                <a:srgbClr val="FF33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400" b="1" dirty="0">
                  <a:latin typeface="Times New Roman" panose="02020603050405020304" pitchFamily="18" charset="0"/>
                  <a:ea typeface="黑体" panose="02010609060101010101" pitchFamily="49" charset="-122"/>
                </a:rPr>
                <a:t>接收器</a:t>
              </a:r>
              <a:endParaRPr kumimoji="1" lang="zh-CN" altLang="en-US" sz="2400" b="1" dirty="0">
                <a:latin typeface="Times New Roman" panose="02020603050405020304" pitchFamily="18" charset="0"/>
                <a:ea typeface="黑体" panose="02010609060101010101" pitchFamily="49" charset="-122"/>
              </a:endParaRPr>
            </a:p>
          </p:txBody>
        </p:sp>
        <p:sp>
          <p:nvSpPr>
            <p:cNvPr id="679943" name="Rectangle 7"/>
            <p:cNvSpPr>
              <a:spLocks noChangeArrowheads="1"/>
            </p:cNvSpPr>
            <p:nvPr/>
          </p:nvSpPr>
          <p:spPr bwMode="auto">
            <a:xfrm>
              <a:off x="2438400" y="2601726"/>
              <a:ext cx="1296988" cy="503238"/>
            </a:xfrm>
            <a:prstGeom prst="rect">
              <a:avLst/>
            </a:prstGeom>
            <a:solidFill>
              <a:schemeClr val="accent1"/>
            </a:solidFill>
            <a:ln w="28575" algn="ctr">
              <a:solidFill>
                <a:srgbClr val="FF33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400" b="1" dirty="0">
                  <a:latin typeface="Times New Roman" panose="02020603050405020304" pitchFamily="18" charset="0"/>
                  <a:ea typeface="黑体" panose="02010609060101010101" pitchFamily="49" charset="-122"/>
                </a:rPr>
                <a:t>发送器</a:t>
              </a:r>
              <a:endParaRPr kumimoji="1" lang="zh-CN" altLang="en-US" sz="2400" b="1" dirty="0">
                <a:latin typeface="Times New Roman" panose="02020603050405020304" pitchFamily="18" charset="0"/>
                <a:ea typeface="黑体" panose="02010609060101010101" pitchFamily="49" charset="-122"/>
              </a:endParaRPr>
            </a:p>
          </p:txBody>
        </p:sp>
        <p:sp>
          <p:nvSpPr>
            <p:cNvPr id="679944" name="Line 8"/>
            <p:cNvSpPr>
              <a:spLocks noChangeShapeType="1"/>
            </p:cNvSpPr>
            <p:nvPr/>
          </p:nvSpPr>
          <p:spPr bwMode="auto">
            <a:xfrm>
              <a:off x="3733800" y="2830326"/>
              <a:ext cx="1800225" cy="0"/>
            </a:xfrm>
            <a:prstGeom prst="line">
              <a:avLst/>
            </a:prstGeom>
            <a:noFill/>
            <a:ln w="76200">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grpSp>
      <p:grpSp>
        <p:nvGrpSpPr>
          <p:cNvPr id="3" name="组合 2"/>
          <p:cNvGrpSpPr/>
          <p:nvPr/>
        </p:nvGrpSpPr>
        <p:grpSpPr>
          <a:xfrm>
            <a:off x="2411413" y="4653954"/>
            <a:ext cx="4537075" cy="503238"/>
            <a:chOff x="2411413" y="4365922"/>
            <a:chExt cx="4537075" cy="503238"/>
          </a:xfrm>
        </p:grpSpPr>
        <p:sp>
          <p:nvSpPr>
            <p:cNvPr id="679941" name="Rectangle 5"/>
            <p:cNvSpPr>
              <a:spLocks noChangeArrowheads="1"/>
            </p:cNvSpPr>
            <p:nvPr/>
          </p:nvSpPr>
          <p:spPr bwMode="auto">
            <a:xfrm>
              <a:off x="2411413" y="4365922"/>
              <a:ext cx="1296987" cy="503238"/>
            </a:xfrm>
            <a:prstGeom prst="rect">
              <a:avLst/>
            </a:prstGeom>
            <a:solidFill>
              <a:schemeClr val="accent1"/>
            </a:solidFill>
            <a:ln w="28575" algn="ctr">
              <a:solidFill>
                <a:srgbClr val="FF33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400" b="1">
                  <a:latin typeface="Times New Roman" panose="02020603050405020304" pitchFamily="18" charset="0"/>
                  <a:ea typeface="黑体" panose="02010609060101010101" pitchFamily="49" charset="-122"/>
                </a:rPr>
                <a:t>收发器</a:t>
              </a:r>
              <a:endParaRPr kumimoji="1" lang="zh-CN" altLang="en-US" sz="2400" b="1">
                <a:latin typeface="Times New Roman" panose="02020603050405020304" pitchFamily="18" charset="0"/>
                <a:ea typeface="黑体" panose="02010609060101010101" pitchFamily="49" charset="-122"/>
              </a:endParaRPr>
            </a:p>
          </p:txBody>
        </p:sp>
        <p:sp>
          <p:nvSpPr>
            <p:cNvPr id="679947" name="Rectangle 11"/>
            <p:cNvSpPr>
              <a:spLocks noChangeArrowheads="1"/>
            </p:cNvSpPr>
            <p:nvPr/>
          </p:nvSpPr>
          <p:spPr bwMode="auto">
            <a:xfrm>
              <a:off x="5651500" y="4365922"/>
              <a:ext cx="1296988" cy="503238"/>
            </a:xfrm>
            <a:prstGeom prst="rect">
              <a:avLst/>
            </a:prstGeom>
            <a:solidFill>
              <a:schemeClr val="accent1"/>
            </a:solidFill>
            <a:ln w="28575" algn="ctr">
              <a:solidFill>
                <a:srgbClr val="FF33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400" b="1" dirty="0">
                  <a:latin typeface="Times New Roman" panose="02020603050405020304" pitchFamily="18" charset="0"/>
                  <a:ea typeface="黑体" panose="02010609060101010101" pitchFamily="49" charset="-122"/>
                </a:rPr>
                <a:t>收发器</a:t>
              </a:r>
              <a:endParaRPr kumimoji="1" lang="zh-CN" altLang="en-US" sz="2400" b="1" dirty="0">
                <a:latin typeface="Times New Roman" panose="02020603050405020304" pitchFamily="18" charset="0"/>
                <a:ea typeface="黑体" panose="02010609060101010101" pitchFamily="49" charset="-122"/>
              </a:endParaRPr>
            </a:p>
          </p:txBody>
        </p:sp>
        <p:sp>
          <p:nvSpPr>
            <p:cNvPr id="679948" name="Line 12"/>
            <p:cNvSpPr>
              <a:spLocks noChangeShapeType="1"/>
            </p:cNvSpPr>
            <p:nvPr/>
          </p:nvSpPr>
          <p:spPr bwMode="auto">
            <a:xfrm>
              <a:off x="4140200" y="4653260"/>
              <a:ext cx="1079500" cy="0"/>
            </a:xfrm>
            <a:prstGeom prst="line">
              <a:avLst/>
            </a:prstGeom>
            <a:noFill/>
            <a:ln w="76200">
              <a:solidFill>
                <a:schemeClr val="accent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679949" name="Line 13"/>
            <p:cNvSpPr>
              <a:spLocks noChangeShapeType="1"/>
            </p:cNvSpPr>
            <p:nvPr/>
          </p:nvSpPr>
          <p:spPr bwMode="auto">
            <a:xfrm>
              <a:off x="3779838" y="4437360"/>
              <a:ext cx="215900" cy="144462"/>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679950" name="Line 14"/>
            <p:cNvSpPr>
              <a:spLocks noChangeShapeType="1"/>
            </p:cNvSpPr>
            <p:nvPr/>
          </p:nvSpPr>
          <p:spPr bwMode="auto">
            <a:xfrm flipH="1">
              <a:off x="3779838" y="4653260"/>
              <a:ext cx="215900" cy="144462"/>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679951" name="Line 15"/>
            <p:cNvSpPr>
              <a:spLocks noChangeShapeType="1"/>
            </p:cNvSpPr>
            <p:nvPr/>
          </p:nvSpPr>
          <p:spPr bwMode="auto">
            <a:xfrm flipH="1">
              <a:off x="5292725" y="4437360"/>
              <a:ext cx="287338" cy="144462"/>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679952" name="Line 16"/>
            <p:cNvSpPr>
              <a:spLocks noChangeShapeType="1"/>
            </p:cNvSpPr>
            <p:nvPr/>
          </p:nvSpPr>
          <p:spPr bwMode="auto">
            <a:xfrm>
              <a:off x="5364163" y="4653260"/>
              <a:ext cx="215900" cy="144462"/>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grpSp>
      <p:grpSp>
        <p:nvGrpSpPr>
          <p:cNvPr id="4" name="组合 3"/>
          <p:cNvGrpSpPr/>
          <p:nvPr/>
        </p:nvGrpSpPr>
        <p:grpSpPr>
          <a:xfrm>
            <a:off x="2411413" y="6094115"/>
            <a:ext cx="4537075" cy="503237"/>
            <a:chOff x="2411413" y="5841268"/>
            <a:chExt cx="4537075" cy="503237"/>
          </a:xfrm>
        </p:grpSpPr>
        <p:sp>
          <p:nvSpPr>
            <p:cNvPr id="679945" name="Rectangle 9"/>
            <p:cNvSpPr>
              <a:spLocks noChangeArrowheads="1"/>
            </p:cNvSpPr>
            <p:nvPr/>
          </p:nvSpPr>
          <p:spPr bwMode="auto">
            <a:xfrm>
              <a:off x="2411413" y="5841268"/>
              <a:ext cx="1296987" cy="503237"/>
            </a:xfrm>
            <a:prstGeom prst="rect">
              <a:avLst/>
            </a:prstGeom>
            <a:solidFill>
              <a:schemeClr val="accent1"/>
            </a:solidFill>
            <a:ln w="28575" algn="ctr">
              <a:solidFill>
                <a:srgbClr val="FF33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400" b="1">
                  <a:latin typeface="Times New Roman" panose="02020603050405020304" pitchFamily="18" charset="0"/>
                  <a:ea typeface="黑体" panose="02010609060101010101" pitchFamily="49" charset="-122"/>
                </a:rPr>
                <a:t>收发器</a:t>
              </a:r>
              <a:endParaRPr kumimoji="1" lang="zh-CN" altLang="en-US" sz="2400" b="1">
                <a:latin typeface="Times New Roman" panose="02020603050405020304" pitchFamily="18" charset="0"/>
                <a:ea typeface="黑体" panose="02010609060101010101" pitchFamily="49" charset="-122"/>
              </a:endParaRPr>
            </a:p>
          </p:txBody>
        </p:sp>
        <p:sp>
          <p:nvSpPr>
            <p:cNvPr id="679946" name="Rectangle 10"/>
            <p:cNvSpPr>
              <a:spLocks noChangeArrowheads="1"/>
            </p:cNvSpPr>
            <p:nvPr/>
          </p:nvSpPr>
          <p:spPr bwMode="auto">
            <a:xfrm>
              <a:off x="5651500" y="5841268"/>
              <a:ext cx="1296988" cy="503237"/>
            </a:xfrm>
            <a:prstGeom prst="rect">
              <a:avLst/>
            </a:prstGeom>
            <a:solidFill>
              <a:schemeClr val="accent1"/>
            </a:solidFill>
            <a:ln w="28575" algn="ctr">
              <a:solidFill>
                <a:srgbClr val="FF33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400" b="1">
                  <a:latin typeface="Times New Roman" panose="02020603050405020304" pitchFamily="18" charset="0"/>
                  <a:ea typeface="黑体" panose="02010609060101010101" pitchFamily="49" charset="-122"/>
                </a:rPr>
                <a:t>收发器</a:t>
              </a:r>
              <a:endParaRPr kumimoji="1" lang="zh-CN" altLang="en-US" sz="2400" b="1">
                <a:latin typeface="Times New Roman" panose="02020603050405020304" pitchFamily="18" charset="0"/>
                <a:ea typeface="黑体" panose="02010609060101010101" pitchFamily="49" charset="-122"/>
              </a:endParaRPr>
            </a:p>
          </p:txBody>
        </p:sp>
        <p:sp>
          <p:nvSpPr>
            <p:cNvPr id="679953" name="Line 17"/>
            <p:cNvSpPr>
              <a:spLocks noChangeShapeType="1"/>
            </p:cNvSpPr>
            <p:nvPr/>
          </p:nvSpPr>
          <p:spPr bwMode="auto">
            <a:xfrm>
              <a:off x="3779838" y="5914293"/>
              <a:ext cx="1800225" cy="0"/>
            </a:xfrm>
            <a:prstGeom prst="line">
              <a:avLst/>
            </a:prstGeom>
            <a:noFill/>
            <a:ln w="76200">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679954" name="Line 18"/>
            <p:cNvSpPr>
              <a:spLocks noChangeShapeType="1"/>
            </p:cNvSpPr>
            <p:nvPr/>
          </p:nvSpPr>
          <p:spPr bwMode="auto">
            <a:xfrm flipH="1">
              <a:off x="3779838" y="6201630"/>
              <a:ext cx="1800225" cy="0"/>
            </a:xfrm>
            <a:prstGeom prst="line">
              <a:avLst/>
            </a:prstGeom>
            <a:noFill/>
            <a:ln w="76200">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grpSp>
      <p:sp>
        <p:nvSpPr>
          <p:cNvPr id="17"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串行通信口</a:t>
            </a:r>
            <a:r>
              <a:rPr lang="en-US" altLang="zh-CN" sz="2600" kern="0" dirty="0">
                <a:solidFill>
                  <a:schemeClr val="tx2"/>
                </a:solidFill>
                <a:effectLst>
                  <a:outerShdw blurRad="38100" dist="38100" dir="2700000" algn="tl">
                    <a:srgbClr val="C0C0C0"/>
                  </a:outerShdw>
                </a:effectLst>
                <a:latin typeface="+mj-lt"/>
                <a:cs typeface="+mj-cs"/>
              </a:rPr>
              <a:t>I/O</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9940">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79940">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79940">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79940">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4" name="Text Box 4"/>
          <p:cNvSpPr txBox="1">
            <a:spLocks noChangeArrowheads="1"/>
          </p:cNvSpPr>
          <p:nvPr/>
        </p:nvSpPr>
        <p:spPr bwMode="auto">
          <a:xfrm>
            <a:off x="914400" y="1066800"/>
            <a:ext cx="612058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dirty="0"/>
              <a:t>串行通信可以分为两种类型：</a:t>
            </a:r>
            <a:r>
              <a:rPr lang="zh-CN" altLang="en-US" sz="2000" b="1" dirty="0">
                <a:solidFill>
                  <a:schemeClr val="hlink"/>
                </a:solidFill>
              </a:rPr>
              <a:t>同步通信、异步通信。</a:t>
            </a:r>
            <a:endParaRPr lang="zh-CN" altLang="en-US" sz="2000" b="1" dirty="0">
              <a:solidFill>
                <a:schemeClr val="hlink"/>
              </a:solidFill>
            </a:endParaRPr>
          </a:p>
        </p:txBody>
      </p:sp>
      <p:sp>
        <p:nvSpPr>
          <p:cNvPr id="245765" name="Rectangle 5"/>
          <p:cNvSpPr>
            <a:spLocks noChangeArrowheads="1"/>
          </p:cNvSpPr>
          <p:nvPr/>
        </p:nvSpPr>
        <p:spPr bwMode="auto">
          <a:xfrm>
            <a:off x="904167" y="1524000"/>
            <a:ext cx="14221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dirty="0">
                <a:solidFill>
                  <a:schemeClr val="hlink"/>
                </a:solidFill>
                <a:effectLst>
                  <a:outerShdw blurRad="38100" dist="38100" dir="2700000" algn="tl">
                    <a:srgbClr val="000000"/>
                  </a:outerShdw>
                </a:effectLst>
              </a:rPr>
              <a:t>异步通信</a:t>
            </a:r>
            <a:endParaRPr lang="zh-CN" altLang="en-US" b="1" dirty="0">
              <a:solidFill>
                <a:schemeClr val="hlink"/>
              </a:solidFill>
              <a:effectLst>
                <a:outerShdw blurRad="38100" dist="38100" dir="2700000" algn="tl">
                  <a:srgbClr val="000000"/>
                </a:outerShdw>
              </a:effectLst>
            </a:endParaRPr>
          </a:p>
        </p:txBody>
      </p:sp>
      <p:sp>
        <p:nvSpPr>
          <p:cNvPr id="245766" name="Text Box 6"/>
          <p:cNvSpPr txBox="1">
            <a:spLocks noChangeArrowheads="1"/>
          </p:cNvSpPr>
          <p:nvPr/>
        </p:nvSpPr>
        <p:spPr bwMode="auto">
          <a:xfrm>
            <a:off x="863588" y="1985665"/>
            <a:ext cx="7717836"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1200"/>
              </a:spcBef>
            </a:pPr>
            <a:r>
              <a:rPr lang="zh-CN" altLang="en-US" sz="2000" b="0" dirty="0"/>
              <a:t>        一个字符一个字符地传输，每个字符一位一位地传输，传输一个字符时，以</a:t>
            </a:r>
            <a:r>
              <a:rPr lang="zh-CN" altLang="en-US" sz="2000" b="0" dirty="0">
                <a:solidFill>
                  <a:schemeClr val="hlink"/>
                </a:solidFill>
              </a:rPr>
              <a:t>起始位</a:t>
            </a:r>
            <a:r>
              <a:rPr lang="zh-CN" altLang="en-US" sz="2000" b="0" dirty="0"/>
              <a:t>开始，然后传输字符本身的各位，接着传输</a:t>
            </a:r>
            <a:r>
              <a:rPr lang="zh-CN" altLang="en-US" sz="2000" b="0" dirty="0">
                <a:solidFill>
                  <a:schemeClr val="hlink"/>
                </a:solidFill>
              </a:rPr>
              <a:t>校验位</a:t>
            </a:r>
            <a:r>
              <a:rPr lang="zh-CN" altLang="en-US" sz="2000" b="0" dirty="0"/>
              <a:t>，最后以</a:t>
            </a:r>
            <a:r>
              <a:rPr lang="zh-CN" altLang="en-US" sz="2000" b="0" dirty="0">
                <a:solidFill>
                  <a:schemeClr val="hlink"/>
                </a:solidFill>
              </a:rPr>
              <a:t>停止位</a:t>
            </a:r>
            <a:r>
              <a:rPr lang="zh-CN" altLang="en-US" sz="2000" b="0" dirty="0"/>
              <a:t>结束该字符的传输。一次传输的起始位、字符各位、校验位、停止位构成一组完整的信息，称为</a:t>
            </a:r>
            <a:r>
              <a:rPr lang="zh-CN" altLang="en-US" sz="2000" b="0" dirty="0">
                <a:solidFill>
                  <a:schemeClr val="hlink"/>
                </a:solidFill>
              </a:rPr>
              <a:t>帧（</a:t>
            </a:r>
            <a:r>
              <a:rPr lang="en-US" altLang="zh-CN" sz="2000" b="0" dirty="0">
                <a:solidFill>
                  <a:schemeClr val="hlink"/>
                </a:solidFill>
              </a:rPr>
              <a:t>Frame</a:t>
            </a:r>
            <a:r>
              <a:rPr lang="zh-CN" altLang="en-US" sz="2000" b="0" dirty="0">
                <a:solidFill>
                  <a:schemeClr val="hlink"/>
                </a:solidFill>
              </a:rPr>
              <a:t>）。</a:t>
            </a:r>
            <a:endParaRPr lang="zh-CN" altLang="en-US" sz="2000" b="0" dirty="0">
              <a:solidFill>
                <a:schemeClr val="hlink"/>
              </a:solidFill>
            </a:endParaRPr>
          </a:p>
          <a:p>
            <a:pPr>
              <a:spcBef>
                <a:spcPts val="1200"/>
              </a:spcBef>
            </a:pPr>
            <a:r>
              <a:rPr lang="zh-CN" altLang="en-US" sz="2000" b="0" dirty="0"/>
              <a:t>        帧与帧之间可有任意个</a:t>
            </a:r>
            <a:r>
              <a:rPr lang="zh-CN" altLang="en-US" sz="2000" b="0" dirty="0">
                <a:solidFill>
                  <a:schemeClr val="hlink"/>
                </a:solidFill>
              </a:rPr>
              <a:t>空闲位</a:t>
            </a:r>
            <a:r>
              <a:rPr lang="zh-CN" altLang="en-US" sz="2000" b="0" dirty="0">
                <a:solidFill>
                  <a:srgbClr val="0000FF"/>
                </a:solidFill>
              </a:rPr>
              <a:t>。</a:t>
            </a:r>
            <a:r>
              <a:rPr lang="zh-CN" altLang="en-US" sz="2000" b="0" dirty="0"/>
              <a:t>起始位之后是数据的最低位。</a:t>
            </a:r>
            <a:endParaRPr lang="zh-CN" altLang="en-US" sz="2000" b="0" dirty="0"/>
          </a:p>
        </p:txBody>
      </p:sp>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串行通信口</a:t>
            </a:r>
            <a:r>
              <a:rPr lang="en-US" altLang="zh-CN" sz="2600" kern="0" dirty="0">
                <a:solidFill>
                  <a:schemeClr val="tx2"/>
                </a:solidFill>
                <a:effectLst>
                  <a:outerShdw blurRad="38100" dist="38100" dir="2700000" algn="tl">
                    <a:srgbClr val="C0C0C0"/>
                  </a:outerShdw>
                </a:effectLst>
                <a:latin typeface="+mj-lt"/>
                <a:cs typeface="+mj-cs"/>
              </a:rPr>
              <a:t>I/O</a:t>
            </a:r>
            <a:endParaRPr lang="zh-CN" altLang="en-US" sz="2600" kern="0" dirty="0">
              <a:solidFill>
                <a:schemeClr val="tx2"/>
              </a:solidFill>
              <a:effectLst>
                <a:outerShdw blurRad="38100" dist="38100" dir="2700000" algn="tl">
                  <a:srgbClr val="C0C0C0"/>
                </a:outerShdw>
              </a:effectLst>
              <a:latin typeface="+mj-lt"/>
              <a:cs typeface="+mj-cs"/>
            </a:endParaRPr>
          </a:p>
        </p:txBody>
      </p:sp>
      <p:pic>
        <p:nvPicPr>
          <p:cNvPr id="6" name="Picture 4"/>
          <p:cNvPicPr>
            <a:picLocks noChangeAspect="1" noChangeArrowheads="1"/>
          </p:cNvPicPr>
          <p:nvPr/>
        </p:nvPicPr>
        <p:blipFill>
          <a:blip r:embed="rId1">
            <a:clrChange>
              <a:clrFrom>
                <a:srgbClr val="FFFFFF"/>
              </a:clrFrom>
              <a:clrTo>
                <a:srgbClr val="FFFFFF">
                  <a:alpha val="0"/>
                </a:srgbClr>
              </a:clrTo>
            </a:clrChange>
          </a:blip>
          <a:srcRect/>
          <a:stretch>
            <a:fillRect/>
          </a:stretch>
        </p:blipFill>
        <p:spPr bwMode="auto">
          <a:xfrm>
            <a:off x="1367644" y="3801061"/>
            <a:ext cx="6228692" cy="1760219"/>
          </a:xfrm>
          <a:prstGeom prst="rect">
            <a:avLst/>
          </a:prstGeom>
          <a:noFill/>
        </p:spPr>
      </p:pic>
      <p:sp>
        <p:nvSpPr>
          <p:cNvPr id="2" name="矩形 1"/>
          <p:cNvSpPr/>
          <p:nvPr/>
        </p:nvSpPr>
        <p:spPr>
          <a:xfrm>
            <a:off x="827584" y="5561280"/>
            <a:ext cx="7596844" cy="1015663"/>
          </a:xfrm>
          <a:prstGeom prst="rect">
            <a:avLst/>
          </a:prstGeom>
        </p:spPr>
        <p:txBody>
          <a:bodyPr wrap="square">
            <a:spAutoFit/>
          </a:bodyPr>
          <a:lstStyle/>
          <a:p>
            <a:r>
              <a:rPr lang="zh-CN" altLang="en-US" sz="2000" b="0" dirty="0"/>
              <a:t>      在异步通信中，字符数据以上图所示的格式，一个接一个的传送。在发送间隙，即空闲时，通信线路总是处于逻辑‘</a:t>
            </a:r>
            <a:r>
              <a:rPr lang="en-US" altLang="zh-CN" sz="2000" b="0" dirty="0"/>
              <a:t>1’</a:t>
            </a:r>
            <a:r>
              <a:rPr lang="zh-CN" altLang="en-US" sz="2000" b="0" dirty="0"/>
              <a:t>状态（高电平），每个字符数据的传送均以逻辑‘</a:t>
            </a:r>
            <a:r>
              <a:rPr lang="en-US" altLang="zh-CN" sz="2000" b="0" dirty="0"/>
              <a:t>0’</a:t>
            </a:r>
            <a:r>
              <a:rPr lang="zh-CN" altLang="en-US" sz="2000" b="0" dirty="0"/>
              <a:t>（低电平）开始。</a:t>
            </a:r>
            <a:endParaRPr lang="zh-CN" altLang="en-US" sz="2000" b="0"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串行通信口</a:t>
            </a:r>
            <a:r>
              <a:rPr lang="en-US" altLang="zh-CN" sz="2600" kern="0" dirty="0">
                <a:solidFill>
                  <a:schemeClr val="tx2"/>
                </a:solidFill>
                <a:effectLst>
                  <a:outerShdw blurRad="38100" dist="38100" dir="2700000" algn="tl">
                    <a:srgbClr val="C0C0C0"/>
                  </a:outerShdw>
                </a:effectLst>
                <a:latin typeface="+mj-lt"/>
                <a:cs typeface="+mj-cs"/>
              </a:rPr>
              <a:t>I/O</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22" name="Rectangle 4"/>
          <p:cNvSpPr>
            <a:spLocks noChangeArrowheads="1"/>
          </p:cNvSpPr>
          <p:nvPr/>
        </p:nvSpPr>
        <p:spPr bwMode="auto">
          <a:xfrm>
            <a:off x="719572" y="1088740"/>
            <a:ext cx="7812868"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kumimoji="1" lang="zh-CN" altLang="en-US" sz="2000" dirty="0">
                <a:latin typeface="+mn-lt"/>
              </a:rPr>
              <a:t>异步通信：</a:t>
            </a:r>
            <a:endParaRPr kumimoji="1" lang="en-US" altLang="zh-CN" sz="2000" dirty="0">
              <a:latin typeface="+mn-lt"/>
            </a:endParaRPr>
          </a:p>
          <a:p>
            <a:pPr marL="342900" indent="-342900" algn="just">
              <a:buFont typeface="Wingdings" panose="05000000000000000000" pitchFamily="2" charset="2"/>
              <a:buChar char="u"/>
            </a:pPr>
            <a:r>
              <a:rPr kumimoji="1" lang="zh-CN" altLang="en-US" sz="2000" dirty="0">
                <a:latin typeface="+mn-lt"/>
              </a:rPr>
              <a:t>起始位：</a:t>
            </a:r>
            <a:r>
              <a:rPr kumimoji="1" lang="zh-CN" altLang="en-US" sz="2000" b="0" dirty="0">
                <a:latin typeface="+mn-lt"/>
              </a:rPr>
              <a:t>在数据发送线上规定</a:t>
            </a:r>
            <a:r>
              <a:rPr kumimoji="1" lang="zh-CN" altLang="en-US" sz="2000" b="0" dirty="0">
                <a:solidFill>
                  <a:srgbClr val="FF0000"/>
                </a:solidFill>
                <a:latin typeface="+mn-lt"/>
              </a:rPr>
              <a:t>无数据时电平为</a:t>
            </a:r>
            <a:r>
              <a:rPr kumimoji="1" lang="en-US" altLang="zh-CN" sz="2000" b="0" dirty="0">
                <a:solidFill>
                  <a:srgbClr val="FF0000"/>
                </a:solidFill>
                <a:latin typeface="+mn-lt"/>
              </a:rPr>
              <a:t>1</a:t>
            </a:r>
            <a:r>
              <a:rPr kumimoji="1" lang="zh-CN" altLang="en-US" sz="2000" b="0" dirty="0">
                <a:latin typeface="+mn-lt"/>
              </a:rPr>
              <a:t>，当要发送数据时，首先发送一个低电平</a:t>
            </a:r>
            <a:r>
              <a:rPr kumimoji="1" lang="en-US" altLang="zh-CN" sz="2000" b="0" dirty="0">
                <a:latin typeface="+mn-lt"/>
              </a:rPr>
              <a:t>0</a:t>
            </a:r>
            <a:r>
              <a:rPr kumimoji="1" lang="zh-CN" altLang="en-US" sz="2000" b="0" dirty="0">
                <a:latin typeface="+mn-lt"/>
              </a:rPr>
              <a:t>，表示数据传送的开始，这就是起始位。</a:t>
            </a:r>
            <a:endParaRPr kumimoji="1" lang="zh-CN" altLang="en-US" sz="2000" b="0" dirty="0">
              <a:latin typeface="+mn-lt"/>
            </a:endParaRPr>
          </a:p>
          <a:p>
            <a:pPr marL="342900" indent="-342900" algn="just">
              <a:buFont typeface="Wingdings" panose="05000000000000000000" pitchFamily="2" charset="2"/>
              <a:buChar char="u"/>
            </a:pPr>
            <a:r>
              <a:rPr kumimoji="1" lang="zh-CN" altLang="en-US" sz="2000" dirty="0">
                <a:latin typeface="+mn-lt"/>
              </a:rPr>
              <a:t>数据位：</a:t>
            </a:r>
            <a:r>
              <a:rPr kumimoji="1" lang="zh-CN" altLang="en-US" sz="2000" b="0" dirty="0">
                <a:latin typeface="+mn-lt"/>
              </a:rPr>
              <a:t>真正要传送的数据，由于字符编码方式不同，可以是</a:t>
            </a:r>
            <a:r>
              <a:rPr kumimoji="1" lang="en-US" altLang="zh-CN" sz="2000" b="0" dirty="0">
                <a:latin typeface="+mn-lt"/>
              </a:rPr>
              <a:t>5</a:t>
            </a:r>
            <a:r>
              <a:rPr kumimoji="1" lang="zh-CN" altLang="en-US" sz="2000" b="0" dirty="0">
                <a:latin typeface="+mn-lt"/>
              </a:rPr>
              <a:t>位、</a:t>
            </a:r>
            <a:r>
              <a:rPr kumimoji="1" lang="en-US" altLang="zh-CN" sz="2000" b="0" dirty="0">
                <a:latin typeface="+mn-lt"/>
              </a:rPr>
              <a:t>6</a:t>
            </a:r>
            <a:r>
              <a:rPr kumimoji="1" lang="zh-CN" altLang="en-US" sz="2000" b="0" dirty="0">
                <a:latin typeface="+mn-lt"/>
              </a:rPr>
              <a:t>位、</a:t>
            </a:r>
            <a:r>
              <a:rPr kumimoji="1" lang="en-US" altLang="zh-CN" sz="2000" b="0" dirty="0">
                <a:latin typeface="+mn-lt"/>
              </a:rPr>
              <a:t>7</a:t>
            </a:r>
            <a:r>
              <a:rPr kumimoji="1" lang="zh-CN" altLang="en-US" sz="2000" b="0" dirty="0">
                <a:latin typeface="+mn-lt"/>
              </a:rPr>
              <a:t>位、</a:t>
            </a:r>
            <a:r>
              <a:rPr kumimoji="1" lang="en-US" altLang="zh-CN" sz="2000" b="0" dirty="0">
                <a:latin typeface="+mn-lt"/>
              </a:rPr>
              <a:t>8</a:t>
            </a:r>
            <a:r>
              <a:rPr kumimoji="1" lang="zh-CN" altLang="en-US" sz="2000" b="0" dirty="0">
                <a:latin typeface="+mn-lt"/>
              </a:rPr>
              <a:t>位、</a:t>
            </a:r>
            <a:r>
              <a:rPr kumimoji="1" lang="en-US" altLang="zh-CN" sz="2000" b="0" dirty="0">
                <a:latin typeface="+mn-lt"/>
              </a:rPr>
              <a:t>9</a:t>
            </a:r>
            <a:r>
              <a:rPr kumimoji="1" lang="zh-CN" altLang="en-US" sz="2000" b="0" dirty="0">
                <a:latin typeface="+mn-lt"/>
              </a:rPr>
              <a:t>位等多位，数据位是由低位开始，高位结束（低位在前（左）、高位在后（右））；</a:t>
            </a:r>
            <a:endParaRPr kumimoji="1" lang="zh-CN" altLang="en-US" sz="2000" b="0" dirty="0">
              <a:latin typeface="+mn-lt"/>
            </a:endParaRPr>
          </a:p>
          <a:p>
            <a:pPr marL="342900" indent="-342900" algn="just">
              <a:buFont typeface="Wingdings" panose="05000000000000000000" pitchFamily="2" charset="2"/>
              <a:buChar char="u"/>
            </a:pPr>
            <a:r>
              <a:rPr kumimoji="1" lang="zh-CN" altLang="en-US" sz="2000" dirty="0">
                <a:latin typeface="+mn-lt"/>
              </a:rPr>
              <a:t>奇偶校验：</a:t>
            </a:r>
            <a:r>
              <a:rPr kumimoji="1" lang="zh-CN" altLang="en-US" sz="2000" b="0" dirty="0">
                <a:latin typeface="+mn-lt"/>
              </a:rPr>
              <a:t>数据发送完后，发送奇偶校验位，以检验数据传送的正确性，这种方法简单，容易实现。</a:t>
            </a:r>
            <a:endParaRPr kumimoji="1" lang="zh-CN" altLang="en-US" sz="2000" b="0" dirty="0">
              <a:latin typeface="+mn-lt"/>
            </a:endParaRPr>
          </a:p>
          <a:p>
            <a:pPr marL="342900" indent="-342900" algn="just">
              <a:buFont typeface="Wingdings" panose="05000000000000000000" pitchFamily="2" charset="2"/>
              <a:buChar char="u"/>
            </a:pPr>
            <a:r>
              <a:rPr kumimoji="1" lang="zh-CN" altLang="en-US" sz="2000" dirty="0">
                <a:latin typeface="+mn-lt"/>
              </a:rPr>
              <a:t>停止位：</a:t>
            </a:r>
            <a:r>
              <a:rPr kumimoji="1" lang="zh-CN" altLang="en-US" sz="2000" b="0" dirty="0">
                <a:latin typeface="+mn-lt"/>
              </a:rPr>
              <a:t>表示数据传送的结束，可以是</a:t>
            </a:r>
            <a:r>
              <a:rPr kumimoji="1" lang="en-US" altLang="zh-CN" sz="2000" b="0" dirty="0">
                <a:latin typeface="+mn-lt"/>
              </a:rPr>
              <a:t>1</a:t>
            </a:r>
            <a:r>
              <a:rPr kumimoji="1" lang="zh-CN" altLang="en-US" sz="2000" b="0" dirty="0">
                <a:latin typeface="+mn-lt"/>
              </a:rPr>
              <a:t>位、</a:t>
            </a:r>
            <a:r>
              <a:rPr kumimoji="1" lang="en-US" altLang="zh-CN" sz="2000" b="0" dirty="0">
                <a:latin typeface="+mn-lt"/>
              </a:rPr>
              <a:t>1.5</a:t>
            </a:r>
            <a:r>
              <a:rPr kumimoji="1" lang="zh-CN" altLang="en-US" sz="2000" b="0" dirty="0">
                <a:latin typeface="+mn-lt"/>
              </a:rPr>
              <a:t>位或</a:t>
            </a:r>
            <a:r>
              <a:rPr kumimoji="1" lang="en-US" altLang="zh-CN" sz="2000" b="0" dirty="0">
                <a:latin typeface="+mn-lt"/>
              </a:rPr>
              <a:t>2</a:t>
            </a:r>
            <a:r>
              <a:rPr kumimoji="1" lang="zh-CN" altLang="en-US" sz="2000" b="0" dirty="0">
                <a:latin typeface="+mn-lt"/>
              </a:rPr>
              <a:t>位。高电平</a:t>
            </a:r>
            <a:r>
              <a:rPr kumimoji="1" lang="en-US" altLang="zh-CN" sz="2000" b="0" dirty="0">
                <a:latin typeface="+mn-lt"/>
              </a:rPr>
              <a:t>1</a:t>
            </a:r>
            <a:r>
              <a:rPr kumimoji="1" lang="zh-CN" altLang="en-US" sz="2000" b="0" dirty="0">
                <a:latin typeface="+mn-lt"/>
              </a:rPr>
              <a:t>有效。 </a:t>
            </a:r>
            <a:endParaRPr kumimoji="1" lang="zh-CN" altLang="en-US" sz="2000" b="0" dirty="0">
              <a:latin typeface="+mn-lt"/>
            </a:endParaRPr>
          </a:p>
        </p:txBody>
      </p:sp>
      <p:pic>
        <p:nvPicPr>
          <p:cNvPr id="19" name="Picture 4"/>
          <p:cNvPicPr>
            <a:picLocks noChangeAspect="1" noChangeArrowheads="1"/>
          </p:cNvPicPr>
          <p:nvPr/>
        </p:nvPicPr>
        <p:blipFill>
          <a:blip r:embed="rId1">
            <a:clrChange>
              <a:clrFrom>
                <a:srgbClr val="FFFFFF"/>
              </a:clrFrom>
              <a:clrTo>
                <a:srgbClr val="FFFFFF">
                  <a:alpha val="0"/>
                </a:srgbClr>
              </a:clrTo>
            </a:clrChange>
          </a:blip>
          <a:srcRect/>
          <a:stretch>
            <a:fillRect/>
          </a:stretch>
        </p:blipFill>
        <p:spPr bwMode="auto">
          <a:xfrm>
            <a:off x="1115616" y="4437112"/>
            <a:ext cx="6769100" cy="1912937"/>
          </a:xfrm>
          <a:prstGeom prst="rect">
            <a:avLst/>
          </a:prstGeom>
          <a:noFill/>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8" name="Text Box 4"/>
          <p:cNvSpPr txBox="1">
            <a:spLocks noChangeArrowheads="1"/>
          </p:cNvSpPr>
          <p:nvPr/>
        </p:nvSpPr>
        <p:spPr bwMode="auto">
          <a:xfrm>
            <a:off x="381000" y="1016732"/>
            <a:ext cx="8382000" cy="3784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dirty="0">
                <a:solidFill>
                  <a:srgbClr val="FF0000"/>
                </a:solidFill>
              </a:rPr>
              <a:t>同步通信</a:t>
            </a:r>
            <a:endParaRPr lang="zh-CN" altLang="en-US" dirty="0">
              <a:solidFill>
                <a:srgbClr val="FF0000"/>
              </a:solidFill>
            </a:endParaRPr>
          </a:p>
          <a:p>
            <a:pPr marL="342900" indent="-342900" algn="just">
              <a:spcBef>
                <a:spcPct val="50000"/>
              </a:spcBef>
              <a:buFont typeface="Wingdings" panose="05000000000000000000" pitchFamily="2" charset="2"/>
              <a:buChar char="u"/>
            </a:pPr>
            <a:r>
              <a:rPr lang="zh-CN" altLang="en-US" b="0" dirty="0"/>
              <a:t>在异步通信中，</a:t>
            </a:r>
            <a:r>
              <a:rPr lang="zh-CN" altLang="en-US" b="0" dirty="0">
                <a:solidFill>
                  <a:schemeClr val="hlink"/>
                </a:solidFill>
              </a:rPr>
              <a:t>每个</a:t>
            </a:r>
            <a:r>
              <a:rPr lang="zh-CN" altLang="en-US" b="0" dirty="0"/>
              <a:t>字符</a:t>
            </a:r>
            <a:r>
              <a:rPr lang="zh-CN" altLang="en-US" b="0" dirty="0">
                <a:solidFill>
                  <a:schemeClr val="hlink"/>
                </a:solidFill>
              </a:rPr>
              <a:t>都</a:t>
            </a:r>
            <a:r>
              <a:rPr lang="zh-CN" altLang="en-US" b="0" dirty="0"/>
              <a:t>要用起始位和结束位作为字符的开始和结束的标志，占用了传输的时间，所以在数据块传送时，为了提高效率，可以考虑去掉这些标志。</a:t>
            </a:r>
            <a:endParaRPr lang="en-US" altLang="zh-CN" b="0" dirty="0"/>
          </a:p>
          <a:p>
            <a:pPr marL="342900" indent="-342900" algn="just">
              <a:spcBef>
                <a:spcPct val="50000"/>
              </a:spcBef>
              <a:buFont typeface="Wingdings" panose="05000000000000000000" pitchFamily="2" charset="2"/>
              <a:buChar char="u"/>
            </a:pPr>
            <a:r>
              <a:rPr lang="zh-CN" altLang="en-US" b="0" dirty="0">
                <a:solidFill>
                  <a:schemeClr val="hlink"/>
                </a:solidFill>
              </a:rPr>
              <a:t>同步通信方式不给每个字符都加起始位和停止位，而把字符顺序的连接起来，组成一个数据块</a:t>
            </a:r>
            <a:r>
              <a:rPr lang="zh-CN" altLang="en-US" b="0" dirty="0"/>
              <a:t>（首尾相连的数据串），把这样一个数据块称为一个信息帧。在数据的开始加上</a:t>
            </a:r>
            <a:r>
              <a:rPr lang="zh-CN" altLang="en-US" b="0" dirty="0">
                <a:solidFill>
                  <a:srgbClr val="FF0000"/>
                </a:solidFill>
              </a:rPr>
              <a:t>一个或两个同步字符</a:t>
            </a:r>
            <a:r>
              <a:rPr lang="zh-CN" altLang="en-US" b="0" dirty="0"/>
              <a:t>，在信息的末尾加有一定的差错检验字符，其格式如下：</a:t>
            </a:r>
            <a:endParaRPr lang="zh-CN" altLang="en-US" b="0" dirty="0"/>
          </a:p>
        </p:txBody>
      </p:sp>
      <p:grpSp>
        <p:nvGrpSpPr>
          <p:cNvPr id="2" name="组合 1"/>
          <p:cNvGrpSpPr/>
          <p:nvPr/>
        </p:nvGrpSpPr>
        <p:grpSpPr>
          <a:xfrm>
            <a:off x="1143000" y="5157192"/>
            <a:ext cx="6637338" cy="1328737"/>
            <a:chOff x="1143000" y="5157192"/>
            <a:chExt cx="6637338" cy="1328737"/>
          </a:xfrm>
        </p:grpSpPr>
        <p:sp>
          <p:nvSpPr>
            <p:cNvPr id="246792" name="Rectangle 8"/>
            <p:cNvSpPr>
              <a:spLocks noChangeArrowheads="1"/>
            </p:cNvSpPr>
            <p:nvPr/>
          </p:nvSpPr>
          <p:spPr bwMode="auto">
            <a:xfrm>
              <a:off x="1143000" y="5157192"/>
              <a:ext cx="6602413" cy="442912"/>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793" name="Line 9"/>
            <p:cNvSpPr>
              <a:spLocks noChangeShapeType="1"/>
            </p:cNvSpPr>
            <p:nvPr/>
          </p:nvSpPr>
          <p:spPr bwMode="auto">
            <a:xfrm>
              <a:off x="2176463" y="5174654"/>
              <a:ext cx="0" cy="4429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794" name="Line 10"/>
            <p:cNvSpPr>
              <a:spLocks noChangeShapeType="1"/>
            </p:cNvSpPr>
            <p:nvPr/>
          </p:nvSpPr>
          <p:spPr bwMode="auto">
            <a:xfrm>
              <a:off x="3195638" y="5174654"/>
              <a:ext cx="0" cy="4429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795" name="Line 11"/>
            <p:cNvSpPr>
              <a:spLocks noChangeShapeType="1"/>
            </p:cNvSpPr>
            <p:nvPr/>
          </p:nvSpPr>
          <p:spPr bwMode="auto">
            <a:xfrm>
              <a:off x="4195763" y="5157192"/>
              <a:ext cx="0" cy="44291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796" name="Line 12"/>
            <p:cNvSpPr>
              <a:spLocks noChangeShapeType="1"/>
            </p:cNvSpPr>
            <p:nvPr/>
          </p:nvSpPr>
          <p:spPr bwMode="auto">
            <a:xfrm>
              <a:off x="5807075" y="5157192"/>
              <a:ext cx="0" cy="44291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797" name="Line 13"/>
            <p:cNvSpPr>
              <a:spLocks noChangeShapeType="1"/>
            </p:cNvSpPr>
            <p:nvPr/>
          </p:nvSpPr>
          <p:spPr bwMode="auto">
            <a:xfrm>
              <a:off x="6770688" y="5157192"/>
              <a:ext cx="0" cy="44291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798" name="Text Box 14"/>
            <p:cNvSpPr txBox="1">
              <a:spLocks noChangeArrowheads="1"/>
            </p:cNvSpPr>
            <p:nvPr/>
          </p:nvSpPr>
          <p:spPr bwMode="auto">
            <a:xfrm>
              <a:off x="1150938" y="5234979"/>
              <a:ext cx="6629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800" b="1"/>
                <a:t>同步字符   字符</a:t>
              </a:r>
              <a:r>
                <a:rPr lang="en-US" altLang="zh-CN" sz="1800" b="1"/>
                <a:t>1         </a:t>
              </a:r>
              <a:r>
                <a:rPr lang="zh-CN" altLang="en-US" sz="1800" b="1"/>
                <a:t>字符</a:t>
              </a:r>
              <a:r>
                <a:rPr lang="en-US" altLang="zh-CN" sz="1800" b="1"/>
                <a:t>2              ……             </a:t>
              </a:r>
              <a:r>
                <a:rPr lang="zh-CN" altLang="en-US" sz="1800" b="1"/>
                <a:t>字符</a:t>
              </a:r>
              <a:r>
                <a:rPr lang="en-US" altLang="zh-CN" sz="1800" b="1"/>
                <a:t>n    </a:t>
              </a:r>
              <a:r>
                <a:rPr lang="zh-CN" altLang="en-US" sz="1800" b="1"/>
                <a:t>校验字符</a:t>
              </a:r>
              <a:endParaRPr lang="zh-CN" altLang="en-US" sz="1800" b="1"/>
            </a:p>
          </p:txBody>
        </p:sp>
        <p:sp>
          <p:nvSpPr>
            <p:cNvPr id="246799" name="AutoShape 15"/>
            <p:cNvSpPr/>
            <p:nvPr/>
          </p:nvSpPr>
          <p:spPr bwMode="auto">
            <a:xfrm rot="-5400000">
              <a:off x="4348162" y="3545880"/>
              <a:ext cx="238125" cy="4597400"/>
            </a:xfrm>
            <a:prstGeom prst="leftBrace">
              <a:avLst>
                <a:gd name="adj1" fmla="val 160889"/>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800" name="Text Box 16"/>
            <p:cNvSpPr txBox="1">
              <a:spLocks noChangeArrowheads="1"/>
            </p:cNvSpPr>
            <p:nvPr/>
          </p:nvSpPr>
          <p:spPr bwMode="auto">
            <a:xfrm>
              <a:off x="3919538" y="6028729"/>
              <a:ext cx="1108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t>数据块</a:t>
              </a:r>
              <a:endParaRPr lang="zh-CN" altLang="en-US" b="1"/>
            </a:p>
          </p:txBody>
        </p:sp>
      </p:grpSp>
      <p:sp>
        <p:nvSpPr>
          <p:cNvPr id="13"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串行通信口</a:t>
            </a:r>
            <a:r>
              <a:rPr lang="en-US" altLang="zh-CN" sz="2600" kern="0" dirty="0">
                <a:solidFill>
                  <a:schemeClr val="tx2"/>
                </a:solidFill>
                <a:effectLst>
                  <a:outerShdw blurRad="38100" dist="38100" dir="2700000" algn="tl">
                    <a:srgbClr val="C0C0C0"/>
                  </a:outerShdw>
                </a:effectLst>
                <a:latin typeface="+mj-lt"/>
                <a:cs typeface="+mj-cs"/>
              </a:rPr>
              <a:t>I/O</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678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60" name="Text Box 4"/>
          <p:cNvSpPr txBox="1">
            <a:spLocks noChangeArrowheads="1"/>
          </p:cNvSpPr>
          <p:nvPr/>
        </p:nvSpPr>
        <p:spPr bwMode="auto">
          <a:xfrm>
            <a:off x="685800" y="1604094"/>
            <a:ext cx="7846640" cy="2015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5000"/>
              </a:lnSpc>
            </a:pPr>
            <a:r>
              <a:rPr lang="zh-CN" altLang="en-US" sz="2000" dirty="0">
                <a:solidFill>
                  <a:srgbClr val="3333FF"/>
                </a:solidFill>
              </a:rPr>
              <a:t>        波特率：</a:t>
            </a:r>
            <a:r>
              <a:rPr lang="zh-CN" altLang="en-US" sz="2000" b="0" dirty="0"/>
              <a:t>串行通信中，传输速率用波特率来表示。所谓波特率是指</a:t>
            </a:r>
            <a:r>
              <a:rPr lang="zh-CN" altLang="en-US" sz="2000" b="0" dirty="0">
                <a:solidFill>
                  <a:srgbClr val="FF0000"/>
                </a:solidFill>
              </a:rPr>
              <a:t>单位时间内传送二进制数据的位数（</a:t>
            </a:r>
            <a:r>
              <a:rPr lang="zh-CN" altLang="en-US" sz="2000" b="0" dirty="0"/>
              <a:t>简写为</a:t>
            </a:r>
            <a:r>
              <a:rPr lang="en-US" altLang="zh-CN" sz="2000" b="0" dirty="0"/>
              <a:t>bps</a:t>
            </a:r>
            <a:r>
              <a:rPr lang="zh-CN" altLang="en-US" sz="2000" b="0" dirty="0">
                <a:solidFill>
                  <a:srgbClr val="FF0000"/>
                </a:solidFill>
              </a:rPr>
              <a:t>）</a:t>
            </a:r>
            <a:r>
              <a:rPr lang="zh-CN" altLang="en-US" sz="2000" b="0" dirty="0"/>
              <a:t>。在计算机里，每秒传输多少位和波特率的含义是完全一致的。</a:t>
            </a:r>
            <a:endParaRPr lang="zh-CN" altLang="en-US" sz="2000" b="0" dirty="0"/>
          </a:p>
          <a:p>
            <a:pPr>
              <a:lnSpc>
                <a:spcPct val="125000"/>
              </a:lnSpc>
            </a:pPr>
            <a:r>
              <a:rPr lang="en-US" altLang="zh-CN" sz="2000" b="0" dirty="0"/>
              <a:t>        </a:t>
            </a:r>
            <a:r>
              <a:rPr lang="zh-CN" altLang="en-US" sz="2000" b="0" dirty="0"/>
              <a:t>常用的波特率：</a:t>
            </a:r>
            <a:r>
              <a:rPr lang="en-US" altLang="zh-CN" sz="2000" b="0" dirty="0"/>
              <a:t>2400</a:t>
            </a:r>
            <a:r>
              <a:rPr lang="zh-CN" altLang="en-US" sz="2000" b="0" dirty="0"/>
              <a:t>、</a:t>
            </a:r>
            <a:r>
              <a:rPr lang="en-US" altLang="zh-CN" sz="2000" b="0" dirty="0"/>
              <a:t>4800</a:t>
            </a:r>
            <a:r>
              <a:rPr lang="zh-CN" altLang="en-US" sz="2000" b="0" dirty="0"/>
              <a:t>、</a:t>
            </a:r>
            <a:r>
              <a:rPr lang="en-US" altLang="zh-CN" sz="2000" b="0" dirty="0"/>
              <a:t>9600</a:t>
            </a:r>
            <a:r>
              <a:rPr lang="zh-CN" altLang="en-US" sz="2000" b="0" dirty="0"/>
              <a:t>、</a:t>
            </a:r>
            <a:r>
              <a:rPr lang="en-US" altLang="zh-CN" sz="2000" b="0" dirty="0"/>
              <a:t>19200</a:t>
            </a:r>
            <a:r>
              <a:rPr lang="zh-CN" altLang="en-US" sz="2000" b="0" dirty="0"/>
              <a:t>、</a:t>
            </a:r>
            <a:r>
              <a:rPr lang="en-US" altLang="zh-CN" sz="2000" b="0" dirty="0"/>
              <a:t>38400</a:t>
            </a:r>
            <a:r>
              <a:rPr lang="zh-CN" altLang="en-US" sz="2000" b="0" dirty="0"/>
              <a:t>等。</a:t>
            </a:r>
            <a:endParaRPr lang="en-US" altLang="zh-CN" sz="2000" b="0" dirty="0">
              <a:solidFill>
                <a:schemeClr val="hlink"/>
              </a:solidFill>
            </a:endParaRPr>
          </a:p>
          <a:p>
            <a:pPr>
              <a:lnSpc>
                <a:spcPct val="125000"/>
              </a:lnSpc>
            </a:pPr>
            <a:r>
              <a:rPr lang="en-US" altLang="zh-CN" sz="2000" b="0" dirty="0">
                <a:solidFill>
                  <a:schemeClr val="hlink"/>
                </a:solidFill>
              </a:rPr>
              <a:t>        </a:t>
            </a:r>
            <a:r>
              <a:rPr lang="zh-CN" altLang="en-US" sz="2000" b="0" dirty="0">
                <a:solidFill>
                  <a:schemeClr val="hlink"/>
                </a:solidFill>
              </a:rPr>
              <a:t>收、发双方的波特率必须一致。</a:t>
            </a:r>
            <a:endParaRPr lang="zh-CN" altLang="en-US" sz="2000" b="0" dirty="0">
              <a:solidFill>
                <a:schemeClr val="hlink"/>
              </a:solidFill>
            </a:endParaRPr>
          </a:p>
        </p:txBody>
      </p:sp>
      <p:sp>
        <p:nvSpPr>
          <p:cNvPr id="249861" name="Text Box 5"/>
          <p:cNvSpPr txBox="1">
            <a:spLocks noChangeArrowheads="1"/>
          </p:cNvSpPr>
          <p:nvPr/>
        </p:nvSpPr>
        <p:spPr bwMode="auto">
          <a:xfrm>
            <a:off x="685800" y="962348"/>
            <a:ext cx="45159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zh-CN" altLang="en-US" b="1" dirty="0">
                <a:solidFill>
                  <a:srgbClr val="3333FF"/>
                </a:solidFill>
              </a:rPr>
              <a:t>波特率（传输速率）</a:t>
            </a:r>
            <a:r>
              <a:rPr lang="zh-CN" altLang="en-US" b="1" dirty="0"/>
              <a:t>和</a:t>
            </a:r>
            <a:r>
              <a:rPr lang="zh-CN" altLang="en-US" dirty="0">
                <a:solidFill>
                  <a:srgbClr val="3333FF"/>
                </a:solidFill>
              </a:rPr>
              <a:t>字符速</a:t>
            </a:r>
            <a:r>
              <a:rPr lang="zh-CN" altLang="en-US" b="1" dirty="0">
                <a:solidFill>
                  <a:srgbClr val="3333FF"/>
                </a:solidFill>
              </a:rPr>
              <a:t>率</a:t>
            </a:r>
            <a:endParaRPr lang="zh-CN" altLang="en-US" b="1" dirty="0">
              <a:solidFill>
                <a:srgbClr val="3333FF"/>
              </a:solidFill>
            </a:endParaRPr>
          </a:p>
        </p:txBody>
      </p:sp>
      <p:sp>
        <p:nvSpPr>
          <p:cNvPr id="249862" name="Text Box 6"/>
          <p:cNvSpPr txBox="1">
            <a:spLocks noChangeArrowheads="1"/>
          </p:cNvSpPr>
          <p:nvPr/>
        </p:nvSpPr>
        <p:spPr bwMode="auto">
          <a:xfrm>
            <a:off x="685800" y="3800111"/>
            <a:ext cx="7771864" cy="2785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25000"/>
              </a:lnSpc>
              <a:spcBef>
                <a:spcPts val="0"/>
              </a:spcBef>
            </a:pPr>
            <a:r>
              <a:rPr lang="zh-CN" altLang="en-US" sz="2000" dirty="0">
                <a:solidFill>
                  <a:srgbClr val="3333FF"/>
                </a:solidFill>
              </a:rPr>
              <a:t>        字符速率：</a:t>
            </a:r>
            <a:r>
              <a:rPr lang="zh-CN" altLang="en-US" sz="2000" b="0" dirty="0"/>
              <a:t>串行通信线上所传输的字符数据是按位传送的，</a:t>
            </a:r>
            <a:r>
              <a:rPr lang="en-US" altLang="zh-CN" sz="2000" b="0" dirty="0"/>
              <a:t>1</a:t>
            </a:r>
            <a:r>
              <a:rPr lang="zh-CN" altLang="en-US" sz="2000" b="0" dirty="0"/>
              <a:t>个字符由若干位组成，因此每秒钟所传输的字符数</a:t>
            </a:r>
            <a:r>
              <a:rPr lang="en-US" altLang="zh-CN" sz="2000" b="0" dirty="0"/>
              <a:t>--</a:t>
            </a:r>
            <a:r>
              <a:rPr lang="zh-CN" altLang="en-US" sz="2000" b="0" dirty="0"/>
              <a:t>字符速率和波特率是两种概念。在串行通信中，所说的传输速率是指波特率，而不是指字符速率，两者的关系是：假如在某异步串行通信中传送</a:t>
            </a:r>
            <a:r>
              <a:rPr lang="en-US" altLang="zh-CN" sz="2000" b="0" dirty="0"/>
              <a:t>1</a:t>
            </a:r>
            <a:r>
              <a:rPr lang="zh-CN" altLang="en-US" sz="2000" b="0" dirty="0"/>
              <a:t>个字符（包括</a:t>
            </a:r>
            <a:r>
              <a:rPr lang="en-US" altLang="zh-CN" sz="2000" b="0" dirty="0"/>
              <a:t>1</a:t>
            </a:r>
            <a:r>
              <a:rPr lang="zh-CN" altLang="en-US" sz="2000" b="0" dirty="0"/>
              <a:t>个起始位，</a:t>
            </a:r>
            <a:r>
              <a:rPr lang="en-US" altLang="zh-CN" sz="2000" b="0" dirty="0"/>
              <a:t>8</a:t>
            </a:r>
            <a:r>
              <a:rPr lang="zh-CN" altLang="en-US" sz="2000" b="0" dirty="0"/>
              <a:t>个数据位，</a:t>
            </a:r>
            <a:r>
              <a:rPr lang="en-US" altLang="zh-CN" sz="2000" b="0" dirty="0"/>
              <a:t>1</a:t>
            </a:r>
            <a:r>
              <a:rPr lang="zh-CN" altLang="en-US" sz="2000" b="0" dirty="0"/>
              <a:t>个偶校验位，</a:t>
            </a:r>
            <a:r>
              <a:rPr lang="en-US" altLang="zh-CN" sz="2000" b="0" dirty="0"/>
              <a:t>2</a:t>
            </a:r>
            <a:r>
              <a:rPr lang="zh-CN" altLang="en-US" sz="2000" b="0" dirty="0"/>
              <a:t>个停止位），若传输速率是</a:t>
            </a:r>
            <a:r>
              <a:rPr lang="en-US" altLang="zh-CN" sz="2000" b="0" dirty="0"/>
              <a:t>1200bps</a:t>
            </a:r>
            <a:r>
              <a:rPr lang="zh-CN" altLang="en-US" sz="2000" b="0" dirty="0"/>
              <a:t>，那么，每秒所能传送的字符数，即字符速率是：</a:t>
            </a:r>
            <a:endParaRPr lang="en-US" altLang="zh-CN" sz="2000" b="0" dirty="0"/>
          </a:p>
          <a:p>
            <a:pPr algn="just">
              <a:lnSpc>
                <a:spcPct val="125000"/>
              </a:lnSpc>
              <a:spcBef>
                <a:spcPts val="0"/>
              </a:spcBef>
            </a:pPr>
            <a:r>
              <a:rPr lang="en-US" altLang="zh-CN" sz="2000" b="0" dirty="0">
                <a:latin typeface="+mn-lt"/>
              </a:rPr>
              <a:t>	1200/(1+8+1+2)=100</a:t>
            </a:r>
            <a:r>
              <a:rPr lang="zh-CN" altLang="en-US" sz="2000" b="0" dirty="0">
                <a:latin typeface="+mn-lt"/>
              </a:rPr>
              <a:t>字符</a:t>
            </a:r>
            <a:r>
              <a:rPr lang="en-US" altLang="zh-CN" sz="2000" b="0" dirty="0">
                <a:latin typeface="+mn-lt"/>
              </a:rPr>
              <a:t>/s</a:t>
            </a:r>
            <a:r>
              <a:rPr lang="zh-CN" altLang="en-US" sz="2000" b="0" dirty="0">
                <a:latin typeface="+mn-lt"/>
              </a:rPr>
              <a:t>。</a:t>
            </a:r>
            <a:endParaRPr lang="en-US" altLang="zh-CN" sz="2000" b="0" dirty="0">
              <a:latin typeface="+mn-lt"/>
            </a:endParaRPr>
          </a:p>
        </p:txBody>
      </p:sp>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串行通信口</a:t>
            </a:r>
            <a:r>
              <a:rPr lang="en-US" altLang="zh-CN" sz="2600" kern="0" dirty="0">
                <a:solidFill>
                  <a:schemeClr val="tx2"/>
                </a:solidFill>
                <a:effectLst>
                  <a:outerShdw blurRad="38100" dist="38100" dir="2700000" algn="tl">
                    <a:srgbClr val="C0C0C0"/>
                  </a:outerShdw>
                </a:effectLst>
                <a:latin typeface="+mj-lt"/>
                <a:cs typeface="+mj-cs"/>
              </a:rPr>
              <a:t>I/O</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986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986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62" name="Text Box 6"/>
          <p:cNvSpPr txBox="1">
            <a:spLocks noChangeArrowheads="1"/>
          </p:cNvSpPr>
          <p:nvPr/>
        </p:nvSpPr>
        <p:spPr bwMode="auto">
          <a:xfrm>
            <a:off x="575556" y="980728"/>
            <a:ext cx="8136904" cy="1630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zh-CN" altLang="en-US" sz="2000" b="0" dirty="0"/>
              <a:t>例：假设每个字符</a:t>
            </a:r>
            <a:r>
              <a:rPr lang="en-US" altLang="zh-CN" sz="2000" b="0" dirty="0"/>
              <a:t>8</a:t>
            </a:r>
            <a:r>
              <a:rPr lang="zh-CN" altLang="en-US" sz="2000" b="0" dirty="0"/>
              <a:t>位，</a:t>
            </a:r>
            <a:r>
              <a:rPr lang="en-US" altLang="zh-CN" sz="2000" b="0" dirty="0"/>
              <a:t>1</a:t>
            </a:r>
            <a:r>
              <a:rPr lang="zh-CN" altLang="en-US" sz="2000" b="0" dirty="0"/>
              <a:t>位起始位和</a:t>
            </a:r>
            <a:r>
              <a:rPr lang="en-US" altLang="zh-CN" sz="2000" b="0" dirty="0"/>
              <a:t>1</a:t>
            </a:r>
            <a:r>
              <a:rPr lang="zh-CN" altLang="en-US" sz="2000" b="0" dirty="0"/>
              <a:t>位终止位。计算异步串行传输</a:t>
            </a:r>
            <a:r>
              <a:rPr lang="en-US" altLang="zh-CN" sz="2000" b="0" dirty="0"/>
              <a:t>5</a:t>
            </a:r>
            <a:r>
              <a:rPr lang="zh-CN" altLang="en-US" sz="2000" b="0" dirty="0"/>
              <a:t>页需要多少时间？（若数据传输率为</a:t>
            </a:r>
            <a:r>
              <a:rPr lang="en-US" altLang="zh-CN" sz="2000" b="0" dirty="0"/>
              <a:t>9600bps</a:t>
            </a:r>
            <a:r>
              <a:rPr lang="zh-CN" altLang="en-US" sz="2000" b="0" dirty="0"/>
              <a:t>）</a:t>
            </a:r>
            <a:endParaRPr lang="en-US" altLang="zh-CN" sz="2000" b="0" dirty="0"/>
          </a:p>
          <a:p>
            <a:pPr>
              <a:spcBef>
                <a:spcPts val="0"/>
              </a:spcBef>
            </a:pPr>
            <a:r>
              <a:rPr lang="zh-CN" altLang="en-US" sz="2000" b="0" dirty="0"/>
              <a:t>解：每个字符</a:t>
            </a:r>
            <a:r>
              <a:rPr lang="en-US" altLang="zh-CN" sz="2000" b="0" dirty="0"/>
              <a:t>10b</a:t>
            </a:r>
            <a:endParaRPr lang="en-US" altLang="zh-CN" sz="2000" b="0" dirty="0"/>
          </a:p>
          <a:p>
            <a:pPr>
              <a:spcBef>
                <a:spcPts val="0"/>
              </a:spcBef>
            </a:pPr>
            <a:r>
              <a:rPr lang="en-US" altLang="zh-CN" sz="2000" b="0" dirty="0"/>
              <a:t>        </a:t>
            </a:r>
            <a:r>
              <a:rPr lang="zh-CN" altLang="en-US" sz="2000" b="0" dirty="0"/>
              <a:t>总数据量为：</a:t>
            </a:r>
            <a:r>
              <a:rPr lang="en-US" altLang="zh-CN" sz="2000" b="0" dirty="0"/>
              <a:t>10*80*25*5=100000b</a:t>
            </a:r>
            <a:endParaRPr lang="en-US" altLang="zh-CN" sz="2000" b="0" dirty="0"/>
          </a:p>
          <a:p>
            <a:pPr>
              <a:spcBef>
                <a:spcPts val="0"/>
              </a:spcBef>
            </a:pPr>
            <a:r>
              <a:rPr lang="en-US" altLang="zh-CN" sz="2000" b="0" dirty="0"/>
              <a:t>        </a:t>
            </a:r>
            <a:r>
              <a:rPr lang="zh-CN" altLang="en-US" sz="2000" b="0" dirty="0"/>
              <a:t>所需时间：</a:t>
            </a:r>
            <a:r>
              <a:rPr lang="en-US" altLang="zh-CN" sz="2000" b="0" dirty="0"/>
              <a:t>100000/9600=10.4</a:t>
            </a:r>
            <a:r>
              <a:rPr lang="zh-CN" altLang="en-US" sz="2000" b="0" dirty="0"/>
              <a:t>秒</a:t>
            </a:r>
            <a:endParaRPr lang="en-US" altLang="zh-CN" sz="2000" b="0" dirty="0"/>
          </a:p>
        </p:txBody>
      </p:sp>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串行通信口</a:t>
            </a:r>
            <a:r>
              <a:rPr lang="en-US" altLang="zh-CN" sz="2600" kern="0" dirty="0">
                <a:solidFill>
                  <a:schemeClr val="tx2"/>
                </a:solidFill>
                <a:effectLst>
                  <a:outerShdw blurRad="38100" dist="38100" dir="2700000" algn="tl">
                    <a:srgbClr val="C0C0C0"/>
                  </a:outerShdw>
                </a:effectLst>
                <a:latin typeface="+mj-lt"/>
                <a:cs typeface="+mj-cs"/>
              </a:rPr>
              <a:t>I/O</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3" name="矩形 2"/>
          <p:cNvSpPr/>
          <p:nvPr/>
        </p:nvSpPr>
        <p:spPr>
          <a:xfrm>
            <a:off x="560264" y="2708920"/>
            <a:ext cx="8152196" cy="3785652"/>
          </a:xfrm>
          <a:prstGeom prst="rect">
            <a:avLst/>
          </a:prstGeom>
        </p:spPr>
        <p:txBody>
          <a:bodyPr wrap="square">
            <a:spAutoFit/>
          </a:bodyPr>
          <a:lstStyle/>
          <a:p>
            <a:pPr algn="just"/>
            <a:r>
              <a:rPr lang="zh-CN" altLang="en-US" sz="2000" dirty="0">
                <a:solidFill>
                  <a:srgbClr val="3333FF"/>
                </a:solidFill>
              </a:rPr>
              <a:t>波特率因子：</a:t>
            </a:r>
            <a:r>
              <a:rPr lang="zh-CN" altLang="en-US" sz="2000" b="0" dirty="0"/>
              <a:t>在发送数据时，发送器在发送时钟（下降沿）作用下，将移位寄存器的数据按位串行移位输出；在接收数据时，接收器在接收时钟（上升沿）作用下对接收数据位采样，并按位串行移入移位寄存器。因此，</a:t>
            </a:r>
            <a:r>
              <a:rPr lang="zh-CN" altLang="en-US" sz="2000" b="0" dirty="0">
                <a:solidFill>
                  <a:srgbClr val="FF0000"/>
                </a:solidFill>
              </a:rPr>
              <a:t>发送／接收时钟的快慢直接影响通信设备发送／接收字符数据的速度</a:t>
            </a:r>
            <a:r>
              <a:rPr lang="zh-CN" altLang="en-US" sz="2000" b="0" dirty="0"/>
              <a:t>。用波特率因子</a:t>
            </a:r>
            <a:r>
              <a:rPr lang="en-US" altLang="zh-CN" sz="2000" b="0" dirty="0"/>
              <a:t>n</a:t>
            </a:r>
            <a:r>
              <a:rPr lang="zh-CN" altLang="en-US" sz="2000" b="0" dirty="0"/>
              <a:t>来表示发送／接收时钟频率与波特率的关系：</a:t>
            </a:r>
            <a:endParaRPr lang="zh-CN" altLang="en-US" sz="2000" b="0" dirty="0"/>
          </a:p>
          <a:p>
            <a:pPr algn="just"/>
            <a:r>
              <a:rPr lang="en-US" altLang="zh-CN" sz="2000" b="0" dirty="0"/>
              <a:t>	</a:t>
            </a:r>
            <a:r>
              <a:rPr lang="zh-CN" altLang="en-US" sz="2000" b="0" dirty="0"/>
              <a:t>发收时钟频率 </a:t>
            </a:r>
            <a:r>
              <a:rPr lang="en-US" altLang="zh-CN" sz="2000" b="0" dirty="0"/>
              <a:t>=n*</a:t>
            </a:r>
            <a:r>
              <a:rPr lang="zh-CN" altLang="en-US" sz="2000" b="0" dirty="0"/>
              <a:t>（发收波特率）或者</a:t>
            </a:r>
            <a:endParaRPr lang="en-US" altLang="zh-CN" sz="2000" b="0" dirty="0"/>
          </a:p>
          <a:p>
            <a:pPr algn="just"/>
            <a:r>
              <a:rPr lang="en-US" altLang="zh-CN" sz="2000" b="0" dirty="0"/>
              <a:t>	</a:t>
            </a:r>
            <a:r>
              <a:rPr lang="zh-CN" altLang="en-US" sz="2000" b="0" dirty="0"/>
              <a:t>发收波特率</a:t>
            </a:r>
            <a:r>
              <a:rPr lang="en-US" altLang="zh-CN" sz="2000" b="0" dirty="0"/>
              <a:t>=</a:t>
            </a:r>
            <a:r>
              <a:rPr lang="zh-CN" altLang="en-US" sz="2000" b="0" dirty="0"/>
              <a:t>发收时钟</a:t>
            </a:r>
            <a:r>
              <a:rPr lang="en-US" altLang="zh-CN" sz="2000" b="0" dirty="0"/>
              <a:t>/n </a:t>
            </a:r>
            <a:r>
              <a:rPr lang="zh-CN" altLang="en-US" sz="2000" b="0" dirty="0"/>
              <a:t>（其中</a:t>
            </a:r>
            <a:r>
              <a:rPr lang="en-US" altLang="zh-CN" sz="2000" b="0" dirty="0"/>
              <a:t>n=1</a:t>
            </a:r>
            <a:r>
              <a:rPr lang="zh-CN" altLang="en-US" sz="2000" b="0" dirty="0"/>
              <a:t>，</a:t>
            </a:r>
            <a:r>
              <a:rPr lang="en-US" altLang="zh-CN" sz="2000" b="0" dirty="0"/>
              <a:t>16</a:t>
            </a:r>
            <a:r>
              <a:rPr lang="zh-CN" altLang="en-US" sz="2000" b="0" dirty="0"/>
              <a:t>，</a:t>
            </a:r>
            <a:r>
              <a:rPr lang="en-US" altLang="zh-CN" sz="2000" b="0" dirty="0"/>
              <a:t>64</a:t>
            </a:r>
            <a:r>
              <a:rPr lang="zh-CN" altLang="en-US" sz="2000" b="0" dirty="0"/>
              <a:t>） </a:t>
            </a:r>
            <a:endParaRPr lang="zh-CN" altLang="en-US" sz="2000" b="0" dirty="0"/>
          </a:p>
          <a:p>
            <a:pPr algn="just"/>
            <a:r>
              <a:rPr lang="zh-CN" altLang="en-US" sz="2000" b="0" dirty="0"/>
              <a:t>　　因此，可根据所要求的传输波特率及所选择的波特率因子</a:t>
            </a:r>
            <a:r>
              <a:rPr lang="en-US" altLang="zh-CN" sz="2000" b="0" dirty="0"/>
              <a:t>n</a:t>
            </a:r>
            <a:r>
              <a:rPr lang="zh-CN" altLang="en-US" sz="2000" b="0" dirty="0"/>
              <a:t>来确定发送／接收时钟的频率。例如：要求传输速率为</a:t>
            </a:r>
            <a:r>
              <a:rPr lang="en-US" altLang="zh-CN" sz="2000" b="0" dirty="0"/>
              <a:t>1200</a:t>
            </a:r>
            <a:r>
              <a:rPr lang="zh-CN" altLang="en-US" sz="2000" b="0" dirty="0"/>
              <a:t>波特，则 </a:t>
            </a:r>
            <a:endParaRPr lang="zh-CN" altLang="en-US" sz="2000" b="0" dirty="0"/>
          </a:p>
          <a:p>
            <a:r>
              <a:rPr lang="zh-CN" altLang="en-US" sz="2000" b="0" dirty="0"/>
              <a:t>　　当选择</a:t>
            </a:r>
            <a:r>
              <a:rPr lang="en-US" altLang="zh-CN" sz="2000" b="0" dirty="0"/>
              <a:t>n=1</a:t>
            </a:r>
            <a:r>
              <a:rPr lang="zh-CN" altLang="en-US" sz="2000" b="0" dirty="0"/>
              <a:t>时，发收时钟频率＝</a:t>
            </a:r>
            <a:r>
              <a:rPr lang="en-US" altLang="zh-CN" sz="2000" b="0" dirty="0"/>
              <a:t>1.2kHz </a:t>
            </a:r>
            <a:endParaRPr lang="en-US" altLang="zh-CN" sz="2000" b="0" dirty="0"/>
          </a:p>
          <a:p>
            <a:r>
              <a:rPr lang="zh-CN" altLang="en-US" sz="2000" b="0" dirty="0"/>
              <a:t>　　当选择</a:t>
            </a:r>
            <a:r>
              <a:rPr lang="en-US" altLang="zh-CN" sz="2000" b="0" dirty="0"/>
              <a:t>n=16</a:t>
            </a:r>
            <a:r>
              <a:rPr lang="zh-CN" altLang="en-US" sz="2000" b="0" dirty="0"/>
              <a:t>时，发收时钟频率＝</a:t>
            </a:r>
            <a:r>
              <a:rPr lang="en-US" altLang="zh-CN" sz="2000" b="0" dirty="0"/>
              <a:t>19.2kHz </a:t>
            </a:r>
            <a:endParaRPr lang="en-US" altLang="zh-CN" sz="2000" b="0" dirty="0"/>
          </a:p>
          <a:p>
            <a:r>
              <a:rPr lang="zh-CN" altLang="en-US" sz="2000" b="0" dirty="0"/>
              <a:t>　　当选择</a:t>
            </a:r>
            <a:r>
              <a:rPr lang="en-US" altLang="zh-CN" sz="2000" b="0" dirty="0"/>
              <a:t>n</a:t>
            </a:r>
            <a:r>
              <a:rPr lang="zh-CN" altLang="en-US" sz="2000" b="0" dirty="0"/>
              <a:t>＝</a:t>
            </a:r>
            <a:r>
              <a:rPr lang="en-US" altLang="zh-CN" sz="2000" b="0" dirty="0"/>
              <a:t>64</a:t>
            </a:r>
            <a:r>
              <a:rPr lang="zh-CN" altLang="en-US" sz="2000" b="0" dirty="0"/>
              <a:t>时，发收时钟频率＝</a:t>
            </a:r>
            <a:r>
              <a:rPr lang="en-US" altLang="zh-CN" sz="2000" b="0" dirty="0"/>
              <a:t>76.8kHz</a:t>
            </a:r>
            <a:endParaRPr lang="zh-CN" altLang="en-US" sz="2000" b="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986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9862">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9862">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986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串行通信口</a:t>
            </a:r>
            <a:r>
              <a:rPr lang="en-US" altLang="zh-CN" sz="2600" kern="0" dirty="0">
                <a:solidFill>
                  <a:schemeClr val="tx2"/>
                </a:solidFill>
                <a:effectLst>
                  <a:outerShdw blurRad="38100" dist="38100" dir="2700000" algn="tl">
                    <a:srgbClr val="C0C0C0"/>
                  </a:outerShdw>
                </a:effectLst>
                <a:latin typeface="+mj-lt"/>
                <a:cs typeface="+mj-cs"/>
              </a:rPr>
              <a:t>I/O</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250886" name="Text Box 6"/>
          <p:cNvSpPr txBox="1">
            <a:spLocks noChangeArrowheads="1"/>
          </p:cNvSpPr>
          <p:nvPr/>
        </p:nvSpPr>
        <p:spPr bwMode="auto">
          <a:xfrm>
            <a:off x="503548" y="1088740"/>
            <a:ext cx="7924800" cy="2723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ts val="600"/>
              </a:spcBef>
            </a:pPr>
            <a:r>
              <a:rPr lang="zh-CN" altLang="en-US" sz="2000" dirty="0"/>
              <a:t>信号的调制与解调</a:t>
            </a:r>
            <a:endParaRPr lang="zh-CN" altLang="en-US" sz="2000" dirty="0"/>
          </a:p>
          <a:p>
            <a:pPr marL="342900" indent="-342900" algn="just">
              <a:spcBef>
                <a:spcPts val="600"/>
              </a:spcBef>
              <a:buFont typeface="Wingdings" panose="05000000000000000000" pitchFamily="2" charset="2"/>
              <a:buChar char="u"/>
            </a:pPr>
            <a:r>
              <a:rPr lang="zh-CN" altLang="en-US" sz="2200" b="0" dirty="0"/>
              <a:t>为了保证信号传送的正确性，在长距离通信中，采用调制／解调器来改善信号的品质</a:t>
            </a:r>
            <a:endParaRPr lang="en-US" altLang="zh-CN" sz="2200" b="0" dirty="0"/>
          </a:p>
          <a:p>
            <a:pPr marL="342900" indent="-342900" algn="just">
              <a:spcBef>
                <a:spcPts val="600"/>
              </a:spcBef>
              <a:buFont typeface="Wingdings" panose="05000000000000000000" pitchFamily="2" charset="2"/>
              <a:buChar char="u"/>
            </a:pPr>
            <a:r>
              <a:rPr lang="zh-CN" altLang="en-US" sz="2200" b="0" dirty="0"/>
              <a:t>调制器把数字信号转换为模拟信号，经过传输线送到目的地后，再用解调器检测此模拟信号，并把它转换成数字信号</a:t>
            </a:r>
            <a:endParaRPr lang="en-US" altLang="zh-CN" sz="2200" b="0" dirty="0"/>
          </a:p>
          <a:p>
            <a:pPr marL="342900" indent="-342900" algn="just">
              <a:spcBef>
                <a:spcPts val="600"/>
              </a:spcBef>
              <a:buFont typeface="Wingdings" panose="05000000000000000000" pitchFamily="2" charset="2"/>
              <a:buChar char="u"/>
            </a:pPr>
            <a:r>
              <a:rPr lang="zh-CN" altLang="en-US" b="0" dirty="0"/>
              <a:t>在实际应用中， 通常把调调制器和解调器做到一起，构成调制解调器（</a:t>
            </a:r>
            <a:r>
              <a:rPr lang="en-US" altLang="zh-CN" b="0" dirty="0"/>
              <a:t>MODEM</a:t>
            </a:r>
            <a:r>
              <a:rPr lang="zh-CN" altLang="en-US" b="0" dirty="0"/>
              <a:t>）</a:t>
            </a:r>
            <a:endParaRPr lang="zh-CN" altLang="en-US" b="0" dirty="0"/>
          </a:p>
        </p:txBody>
      </p:sp>
      <p:sp>
        <p:nvSpPr>
          <p:cNvPr id="2" name="矩形 1"/>
          <p:cNvSpPr/>
          <p:nvPr/>
        </p:nvSpPr>
        <p:spPr>
          <a:xfrm>
            <a:off x="611560" y="4080990"/>
            <a:ext cx="7956884" cy="2165208"/>
          </a:xfrm>
          <a:prstGeom prst="rect">
            <a:avLst/>
          </a:prstGeom>
        </p:spPr>
        <p:txBody>
          <a:bodyPr wrap="square">
            <a:spAutoFit/>
          </a:bodyPr>
          <a:lstStyle/>
          <a:p>
            <a:pPr>
              <a:lnSpc>
                <a:spcPct val="125000"/>
              </a:lnSpc>
            </a:pPr>
            <a:r>
              <a:rPr lang="zh-CN" altLang="en-US" sz="2200" dirty="0">
                <a:latin typeface="+mn-lt"/>
              </a:rPr>
              <a:t>调制技术：</a:t>
            </a:r>
            <a:endParaRPr lang="en-US" altLang="zh-CN" sz="2200" dirty="0">
              <a:latin typeface="+mn-lt"/>
            </a:endParaRPr>
          </a:p>
          <a:p>
            <a:pPr>
              <a:lnSpc>
                <a:spcPct val="125000"/>
              </a:lnSpc>
            </a:pPr>
            <a:r>
              <a:rPr lang="zh-CN" altLang="en-US" sz="2200" b="0" dirty="0">
                <a:latin typeface="+mn-lt"/>
              </a:rPr>
              <a:t>ASK（调幅）用载波信号的不同幅度代表‘</a:t>
            </a:r>
            <a:r>
              <a:rPr lang="en-US" altLang="zh-CN" sz="2200" b="0" dirty="0">
                <a:latin typeface="+mn-lt"/>
              </a:rPr>
              <a:t>1</a:t>
            </a:r>
            <a:r>
              <a:rPr lang="zh-CN" altLang="en-US" sz="2200" b="0" dirty="0">
                <a:latin typeface="+mn-lt"/>
              </a:rPr>
              <a:t>’和‘</a:t>
            </a:r>
            <a:r>
              <a:rPr lang="en-US" altLang="zh-CN" sz="2200" b="0" dirty="0">
                <a:latin typeface="+mn-lt"/>
              </a:rPr>
              <a:t>0</a:t>
            </a:r>
            <a:r>
              <a:rPr lang="zh-CN" altLang="en-US" sz="2200" b="0" dirty="0">
                <a:latin typeface="+mn-lt"/>
              </a:rPr>
              <a:t>’</a:t>
            </a:r>
            <a:endParaRPr lang="zh-CN" altLang="en-US" sz="2200" b="0" dirty="0">
              <a:latin typeface="+mn-lt"/>
            </a:endParaRPr>
          </a:p>
          <a:p>
            <a:pPr>
              <a:lnSpc>
                <a:spcPct val="125000"/>
              </a:lnSpc>
            </a:pPr>
            <a:r>
              <a:rPr lang="zh-CN" altLang="en-US" sz="2200" b="0" dirty="0">
                <a:latin typeface="+mn-lt"/>
              </a:rPr>
              <a:t>FSK（调频）用载波信号的不同频率代表</a:t>
            </a:r>
            <a:r>
              <a:rPr lang="zh-CN" altLang="en-US" sz="2200" b="0" dirty="0"/>
              <a:t>‘</a:t>
            </a:r>
            <a:r>
              <a:rPr lang="en-US" altLang="zh-CN" sz="2200" b="0" dirty="0"/>
              <a:t>1</a:t>
            </a:r>
            <a:r>
              <a:rPr lang="zh-CN" altLang="en-US" sz="2200" b="0" dirty="0"/>
              <a:t>’和‘</a:t>
            </a:r>
            <a:r>
              <a:rPr lang="en-US" altLang="zh-CN" sz="2200" b="0" dirty="0"/>
              <a:t>0</a:t>
            </a:r>
            <a:r>
              <a:rPr lang="zh-CN" altLang="en-US" sz="2200" b="0" dirty="0"/>
              <a:t>’</a:t>
            </a:r>
            <a:endParaRPr lang="zh-CN" altLang="en-US" sz="2200" b="0" dirty="0"/>
          </a:p>
          <a:p>
            <a:pPr>
              <a:lnSpc>
                <a:spcPct val="125000"/>
              </a:lnSpc>
            </a:pPr>
            <a:r>
              <a:rPr lang="zh-CN" altLang="en-US" sz="2200" b="0" dirty="0">
                <a:latin typeface="+mn-lt"/>
              </a:rPr>
              <a:t>PSK（调相）用载波信号的相位变化代表</a:t>
            </a:r>
            <a:r>
              <a:rPr lang="zh-CN" altLang="en-US" sz="2200" b="0" dirty="0"/>
              <a:t>‘</a:t>
            </a:r>
            <a:r>
              <a:rPr lang="en-US" altLang="zh-CN" sz="2200" b="0" dirty="0"/>
              <a:t>1</a:t>
            </a:r>
            <a:r>
              <a:rPr lang="zh-CN" altLang="en-US" sz="2200" b="0" dirty="0"/>
              <a:t>’</a:t>
            </a:r>
            <a:r>
              <a:rPr lang="zh-CN" altLang="en-US" sz="2200" b="0" dirty="0">
                <a:latin typeface="+mn-lt"/>
              </a:rPr>
              <a:t>和</a:t>
            </a:r>
            <a:r>
              <a:rPr lang="zh-CN" altLang="en-US" sz="2200" b="0" dirty="0"/>
              <a:t>‘</a:t>
            </a:r>
            <a:r>
              <a:rPr lang="en-US" altLang="zh-CN" sz="2200" b="0" dirty="0"/>
              <a:t>0</a:t>
            </a:r>
            <a:r>
              <a:rPr lang="zh-CN" altLang="en-US" sz="2200" b="0" dirty="0"/>
              <a:t>’</a:t>
            </a:r>
            <a:r>
              <a:rPr lang="zh-CN" altLang="en-US" sz="2200" b="0" dirty="0">
                <a:latin typeface="+mn-lt"/>
              </a:rPr>
              <a:t>(有变化为</a:t>
            </a:r>
            <a:r>
              <a:rPr lang="zh-CN" altLang="en-US" sz="2200" b="0" dirty="0"/>
              <a:t>‘</a:t>
            </a:r>
            <a:r>
              <a:rPr lang="en-US" altLang="zh-CN" sz="2200" b="0" dirty="0"/>
              <a:t>1</a:t>
            </a:r>
            <a:r>
              <a:rPr lang="zh-CN" altLang="en-US" sz="2200" b="0" dirty="0"/>
              <a:t>’</a:t>
            </a:r>
            <a:r>
              <a:rPr lang="zh-CN" altLang="en-US" sz="2200" b="0" dirty="0">
                <a:latin typeface="+mn-lt"/>
              </a:rPr>
              <a:t>, 无变化为</a:t>
            </a:r>
            <a:r>
              <a:rPr lang="zh-CN" altLang="en-US" sz="2200" b="0" dirty="0"/>
              <a:t>‘</a:t>
            </a:r>
            <a:r>
              <a:rPr lang="en-US" altLang="zh-CN" sz="2200" b="0" dirty="0"/>
              <a:t>0</a:t>
            </a:r>
            <a:r>
              <a:rPr lang="zh-CN" altLang="en-US" sz="2200" b="0" dirty="0"/>
              <a:t>’</a:t>
            </a:r>
            <a:r>
              <a:rPr lang="zh-CN" altLang="en-US" sz="2200" b="0" dirty="0">
                <a:latin typeface="+mn-lt"/>
              </a:rPr>
              <a:t>)</a:t>
            </a:r>
            <a:endParaRPr lang="zh-CN" altLang="en-US" sz="2200" b="0" dirty="0">
              <a:latin typeface="+mn-l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串行通信口</a:t>
            </a:r>
            <a:r>
              <a:rPr lang="en-US" altLang="zh-CN" sz="2600" kern="0" dirty="0">
                <a:solidFill>
                  <a:schemeClr val="tx2"/>
                </a:solidFill>
                <a:effectLst>
                  <a:outerShdw blurRad="38100" dist="38100" dir="2700000" algn="tl">
                    <a:srgbClr val="C0C0C0"/>
                  </a:outerShdw>
                </a:effectLst>
                <a:latin typeface="+mj-lt"/>
                <a:cs typeface="+mj-cs"/>
              </a:rPr>
              <a:t>I/O</a:t>
            </a:r>
            <a:endParaRPr lang="zh-CN" altLang="en-US" sz="2600" kern="0" dirty="0">
              <a:solidFill>
                <a:schemeClr val="tx2"/>
              </a:solidFill>
              <a:effectLst>
                <a:outerShdw blurRad="38100" dist="38100" dir="2700000" algn="tl">
                  <a:srgbClr val="C0C0C0"/>
                </a:outerShdw>
              </a:effectLst>
              <a:latin typeface="+mj-lt"/>
              <a:cs typeface="+mj-cs"/>
            </a:endParaRPr>
          </a:p>
        </p:txBody>
      </p:sp>
      <p:pic>
        <p:nvPicPr>
          <p:cNvPr id="2" name="图片 1"/>
          <p:cNvPicPr>
            <a:picLocks noChangeAspect="1"/>
          </p:cNvPicPr>
          <p:nvPr/>
        </p:nvPicPr>
        <p:blipFill>
          <a:blip r:embed="rId1"/>
          <a:stretch>
            <a:fillRect/>
          </a:stretch>
        </p:blipFill>
        <p:spPr>
          <a:xfrm>
            <a:off x="683568" y="1412776"/>
            <a:ext cx="7668175" cy="4824536"/>
          </a:xfrm>
          <a:prstGeom prst="rect">
            <a:avLst/>
          </a:prstGeom>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7892" name="Rectangle 4"/>
          <p:cNvSpPr>
            <a:spLocks noChangeArrowheads="1"/>
          </p:cNvSpPr>
          <p:nvPr/>
        </p:nvSpPr>
        <p:spPr bwMode="auto">
          <a:xfrm>
            <a:off x="419100" y="457200"/>
            <a:ext cx="8305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457200" algn="l"/>
              </a:tabLst>
              <a:defRPr>
                <a:solidFill>
                  <a:schemeClr val="tx1"/>
                </a:solidFill>
                <a:latin typeface="Arial" panose="020B0604020202020204" pitchFamily="34" charset="0"/>
                <a:ea typeface="宋体" panose="02010600030101010101" pitchFamily="2" charset="-122"/>
              </a:defRPr>
            </a:lvl1pPr>
            <a:lvl2pPr>
              <a:tabLst>
                <a:tab pos="457200" algn="l"/>
              </a:tabLst>
              <a:defRPr>
                <a:solidFill>
                  <a:schemeClr val="tx1"/>
                </a:solidFill>
                <a:latin typeface="Arial" panose="020B0604020202020204" pitchFamily="34" charset="0"/>
                <a:ea typeface="宋体" panose="02010600030101010101" pitchFamily="2" charset="-122"/>
              </a:defRPr>
            </a:lvl2pPr>
            <a:lvl3pPr>
              <a:tabLst>
                <a:tab pos="457200" algn="l"/>
              </a:tabLst>
              <a:defRPr>
                <a:solidFill>
                  <a:schemeClr val="tx1"/>
                </a:solidFill>
                <a:latin typeface="Arial" panose="020B0604020202020204" pitchFamily="34" charset="0"/>
                <a:ea typeface="宋体" panose="02010600030101010101" pitchFamily="2" charset="-122"/>
              </a:defRPr>
            </a:lvl3pPr>
            <a:lvl4pPr>
              <a:tabLst>
                <a:tab pos="457200" algn="l"/>
              </a:tabLst>
              <a:defRPr>
                <a:solidFill>
                  <a:schemeClr val="tx1"/>
                </a:solidFill>
                <a:latin typeface="Arial" panose="020B0604020202020204" pitchFamily="34" charset="0"/>
                <a:ea typeface="宋体" panose="02010600030101010101" pitchFamily="2" charset="-122"/>
              </a:defRPr>
            </a:lvl4pPr>
            <a:lvl5pPr>
              <a:tabLst>
                <a:tab pos="457200"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457200"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457200"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457200"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457200" algn="l"/>
              </a:tabLst>
              <a:defRPr>
                <a:solidFill>
                  <a:schemeClr val="tx1"/>
                </a:solidFill>
                <a:latin typeface="Arial" panose="020B0604020202020204" pitchFamily="34" charset="0"/>
                <a:ea typeface="宋体" panose="02010600030101010101" pitchFamily="2" charset="-122"/>
              </a:defRPr>
            </a:lvl9pPr>
          </a:lstStyle>
          <a:p>
            <a:pPr eaLnBrk="0" hangingPunct="0"/>
            <a:endParaRPr kumimoji="1" lang="en-US" altLang="zh-CN" sz="2000" b="1">
              <a:solidFill>
                <a:schemeClr val="bg1"/>
              </a:solidFill>
              <a:latin typeface="Times New Roman" panose="02020603050405020304" pitchFamily="18" charset="0"/>
            </a:endParaRPr>
          </a:p>
          <a:p>
            <a:pPr eaLnBrk="0" hangingPunct="0"/>
            <a:endParaRPr kumimoji="1" lang="en-US" altLang="zh-CN" sz="2000">
              <a:solidFill>
                <a:schemeClr val="bg1"/>
              </a:solidFill>
              <a:latin typeface="Times New Roman" panose="02020603050405020304" pitchFamily="18" charset="0"/>
            </a:endParaRPr>
          </a:p>
        </p:txBody>
      </p:sp>
      <p:sp>
        <p:nvSpPr>
          <p:cNvPr id="677894" name="Rectangle 6"/>
          <p:cNvSpPr>
            <a:spLocks noChangeArrowheads="1"/>
          </p:cNvSpPr>
          <p:nvPr/>
        </p:nvSpPr>
        <p:spPr bwMode="auto">
          <a:xfrm>
            <a:off x="452120" y="944724"/>
            <a:ext cx="7885571"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kumimoji="1" lang="zh-CN" altLang="en-US" sz="2000" dirty="0">
                <a:cs typeface="Times New Roman" panose="02020603050405020304" pitchFamily="18" charset="0"/>
              </a:rPr>
              <a:t>专用</a:t>
            </a:r>
            <a:r>
              <a:rPr kumimoji="1" lang="en-US" altLang="zh-CN" sz="2000" dirty="0">
                <a:cs typeface="Times New Roman" panose="02020603050405020304" pitchFamily="18" charset="0"/>
              </a:rPr>
              <a:t>IC</a:t>
            </a:r>
            <a:r>
              <a:rPr kumimoji="1" lang="zh-CN" altLang="en-US" sz="2000" dirty="0">
                <a:cs typeface="Times New Roman" panose="02020603050405020304" pitchFamily="18" charset="0"/>
              </a:rPr>
              <a:t>：通用异步接收</a:t>
            </a:r>
            <a:r>
              <a:rPr kumimoji="1" lang="en-US" altLang="zh-CN" sz="2000" dirty="0">
                <a:cs typeface="Times New Roman" panose="02020603050405020304" pitchFamily="18" charset="0"/>
              </a:rPr>
              <a:t>/</a:t>
            </a:r>
            <a:r>
              <a:rPr kumimoji="1" lang="zh-CN" altLang="en-US" sz="2000" dirty="0">
                <a:cs typeface="Times New Roman" panose="02020603050405020304" pitchFamily="18" charset="0"/>
              </a:rPr>
              <a:t>发送器（</a:t>
            </a:r>
            <a:r>
              <a:rPr kumimoji="1" lang="en-US" altLang="zh-CN" sz="2000" dirty="0">
                <a:cs typeface="Times New Roman" panose="02020603050405020304" pitchFamily="18" charset="0"/>
              </a:rPr>
              <a:t>UNIVERSAL  ASYNCHRONOUS  RECEIVER /TRANSMITTER</a:t>
            </a:r>
            <a:r>
              <a:rPr kumimoji="1" lang="zh-CN" altLang="en-US" sz="2000" dirty="0">
                <a:cs typeface="Times New Roman" panose="02020603050405020304" pitchFamily="18" charset="0"/>
              </a:rPr>
              <a:t>），</a:t>
            </a:r>
            <a:r>
              <a:rPr kumimoji="1" lang="en-US" altLang="zh-CN" sz="2000" dirty="0">
                <a:cs typeface="Times New Roman" panose="02020603050405020304" pitchFamily="18" charset="0"/>
              </a:rPr>
              <a:t>UART</a:t>
            </a:r>
            <a:r>
              <a:rPr kumimoji="1" lang="zh-CN" altLang="en-US" sz="2000" dirty="0">
                <a:cs typeface="Times New Roman" panose="02020603050405020304" pitchFamily="18" charset="0"/>
              </a:rPr>
              <a:t>。</a:t>
            </a:r>
            <a:endParaRPr kumimoji="1" lang="zh-CN" altLang="en-US" sz="2000" dirty="0">
              <a:cs typeface="Times New Roman" panose="02020603050405020304" pitchFamily="18" charset="0"/>
            </a:endParaRPr>
          </a:p>
          <a:p>
            <a:pPr>
              <a:lnSpc>
                <a:spcPct val="150000"/>
              </a:lnSpc>
            </a:pPr>
            <a:r>
              <a:rPr kumimoji="1" lang="zh-CN" altLang="en-US" sz="2000" dirty="0">
                <a:latin typeface="宋体" panose="02010600030101010101" pitchFamily="2" charset="-122"/>
              </a:rPr>
              <a:t>作用：</a:t>
            </a:r>
            <a:endParaRPr kumimoji="1" lang="en-US" altLang="zh-CN" sz="2000" dirty="0">
              <a:latin typeface="宋体" panose="02010600030101010101" pitchFamily="2" charset="-122"/>
            </a:endParaRPr>
          </a:p>
          <a:p>
            <a:pPr>
              <a:lnSpc>
                <a:spcPct val="150000"/>
              </a:lnSpc>
            </a:pPr>
            <a:r>
              <a:rPr kumimoji="1" lang="en-US" altLang="zh-CN" sz="2000" dirty="0">
                <a:latin typeface="宋体" panose="02010600030101010101" pitchFamily="2" charset="-122"/>
              </a:rPr>
              <a:t>1.</a:t>
            </a:r>
            <a:r>
              <a:rPr kumimoji="1" lang="zh-CN" altLang="en-US" sz="2000" dirty="0">
                <a:latin typeface="宋体" panose="02010600030101010101" pitchFamily="2" charset="-122"/>
              </a:rPr>
              <a:t>数据的串行化</a:t>
            </a:r>
            <a:r>
              <a:rPr kumimoji="1" lang="en-US" altLang="zh-CN" sz="2000" dirty="0">
                <a:latin typeface="宋体" panose="02010600030101010101" pitchFamily="2" charset="-122"/>
              </a:rPr>
              <a:t>(</a:t>
            </a:r>
            <a:r>
              <a:rPr kumimoji="1" lang="zh-CN" altLang="en-US" sz="2000" dirty="0">
                <a:latin typeface="宋体" panose="02010600030101010101" pitchFamily="2" charset="-122"/>
              </a:rPr>
              <a:t>并行数据转化为串行数据</a:t>
            </a:r>
            <a:r>
              <a:rPr kumimoji="1" lang="en-US" altLang="zh-CN" sz="2000" dirty="0">
                <a:latin typeface="宋体" panose="02010600030101010101" pitchFamily="2" charset="-122"/>
              </a:rPr>
              <a:t>)</a:t>
            </a:r>
            <a:r>
              <a:rPr kumimoji="1" lang="zh-CN" altLang="en-US" sz="2000" dirty="0">
                <a:latin typeface="宋体" panose="02010600030101010101" pitchFamily="2" charset="-122"/>
              </a:rPr>
              <a:t>和反串行化（串行数据转化为并行数据）。</a:t>
            </a:r>
            <a:endParaRPr kumimoji="1" lang="zh-CN" altLang="en-US" sz="2000" dirty="0">
              <a:latin typeface="宋体" panose="02010600030101010101" pitchFamily="2" charset="-122"/>
            </a:endParaRPr>
          </a:p>
          <a:p>
            <a:pPr>
              <a:lnSpc>
                <a:spcPct val="150000"/>
              </a:lnSpc>
            </a:pPr>
            <a:r>
              <a:rPr kumimoji="1" lang="en-US" altLang="zh-CN" sz="2000" dirty="0">
                <a:latin typeface="宋体" panose="02010600030101010101" pitchFamily="2" charset="-122"/>
              </a:rPr>
              <a:t>2.</a:t>
            </a:r>
            <a:r>
              <a:rPr kumimoji="1" lang="zh-CN" altLang="en-US" sz="2000" dirty="0">
                <a:latin typeface="宋体" panose="02010600030101010101" pitchFamily="2" charset="-122"/>
              </a:rPr>
              <a:t>错误检验。</a:t>
            </a:r>
            <a:endParaRPr kumimoji="1" lang="zh-CN" altLang="en-US" sz="2000" dirty="0">
              <a:latin typeface="宋体" panose="02010600030101010101" pitchFamily="2" charset="-122"/>
            </a:endParaRPr>
          </a:p>
        </p:txBody>
      </p:sp>
      <p:pic>
        <p:nvPicPr>
          <p:cNvPr id="677895"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99205" y="3897052"/>
            <a:ext cx="7391400" cy="2133600"/>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串行通信口</a:t>
            </a:r>
            <a:r>
              <a:rPr lang="en-US" altLang="zh-CN" sz="2600" kern="0" dirty="0">
                <a:solidFill>
                  <a:schemeClr val="tx2"/>
                </a:solidFill>
                <a:effectLst>
                  <a:outerShdw blurRad="38100" dist="38100" dir="2700000" algn="tl">
                    <a:srgbClr val="C0C0C0"/>
                  </a:outerShdw>
                </a:effectLst>
                <a:latin typeface="+mj-lt"/>
                <a:cs typeface="+mj-cs"/>
              </a:rPr>
              <a:t>I/O</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4" name="Text Box 4"/>
          <p:cNvSpPr txBox="1">
            <a:spLocks noChangeArrowheads="1"/>
          </p:cNvSpPr>
          <p:nvPr/>
        </p:nvSpPr>
        <p:spPr bwMode="auto">
          <a:xfrm>
            <a:off x="612675" y="1160748"/>
            <a:ext cx="486669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b="1" dirty="0"/>
              <a:t>标准串行通信接口</a:t>
            </a:r>
            <a:r>
              <a:rPr lang="en-US" altLang="zh-CN" sz="2800" dirty="0"/>
              <a:t>RS232C</a:t>
            </a:r>
            <a:endParaRPr lang="zh-CN" altLang="en-US" sz="2800" b="1" dirty="0"/>
          </a:p>
        </p:txBody>
      </p:sp>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串行通信口</a:t>
            </a:r>
            <a:r>
              <a:rPr lang="en-US" altLang="zh-CN" sz="2600" kern="0" dirty="0">
                <a:solidFill>
                  <a:schemeClr val="tx2"/>
                </a:solidFill>
                <a:effectLst>
                  <a:outerShdw blurRad="38100" dist="38100" dir="2700000" algn="tl">
                    <a:srgbClr val="C0C0C0"/>
                  </a:outerShdw>
                </a:effectLst>
                <a:latin typeface="+mj-lt"/>
                <a:cs typeface="+mj-cs"/>
              </a:rPr>
              <a:t>I/O</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250886" name="Text Box 6"/>
          <p:cNvSpPr txBox="1">
            <a:spLocks noChangeArrowheads="1"/>
          </p:cNvSpPr>
          <p:nvPr/>
        </p:nvSpPr>
        <p:spPr bwMode="auto">
          <a:xfrm>
            <a:off x="611560" y="1880828"/>
            <a:ext cx="7924800" cy="4216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gn="just">
              <a:lnSpc>
                <a:spcPct val="150000"/>
              </a:lnSpc>
              <a:spcBef>
                <a:spcPts val="600"/>
              </a:spcBef>
              <a:buFont typeface="Wingdings" panose="05000000000000000000" pitchFamily="2" charset="2"/>
              <a:buChar char="u"/>
            </a:pPr>
            <a:r>
              <a:rPr lang="zh-CN" altLang="en-US" sz="2200" b="0" dirty="0"/>
              <a:t>美国电子工业协会</a:t>
            </a:r>
            <a:r>
              <a:rPr lang="en-US" altLang="zh-CN" sz="2200" b="0" dirty="0"/>
              <a:t>EIA</a:t>
            </a:r>
            <a:r>
              <a:rPr lang="zh-CN" altLang="en-US" sz="2200" b="0" dirty="0"/>
              <a:t>制定的通用标准串行接口</a:t>
            </a:r>
            <a:endParaRPr lang="en-US" altLang="zh-CN" sz="2200" b="0" dirty="0"/>
          </a:p>
          <a:p>
            <a:pPr marL="800100" lvl="1" indent="-342900" algn="just">
              <a:lnSpc>
                <a:spcPct val="150000"/>
              </a:lnSpc>
              <a:spcBef>
                <a:spcPts val="600"/>
              </a:spcBef>
              <a:buFont typeface="Wingdings" panose="05000000000000000000" pitchFamily="2" charset="2"/>
              <a:buChar char="u"/>
            </a:pPr>
            <a:r>
              <a:rPr lang="en-US" altLang="zh-CN" sz="2200" b="0" dirty="0"/>
              <a:t>1962</a:t>
            </a:r>
            <a:r>
              <a:rPr lang="zh-CN" altLang="en-US" sz="2200" b="0" dirty="0"/>
              <a:t>年公布， </a:t>
            </a:r>
            <a:r>
              <a:rPr lang="en-US" altLang="zh-CN" sz="2200" b="0" dirty="0"/>
              <a:t>1969</a:t>
            </a:r>
            <a:r>
              <a:rPr lang="zh-CN" altLang="en-US" sz="2200" b="0" dirty="0"/>
              <a:t>年修订</a:t>
            </a:r>
            <a:endParaRPr lang="zh-CN" altLang="en-US" sz="2200" b="0" dirty="0"/>
          </a:p>
          <a:p>
            <a:pPr marL="800100" lvl="1" indent="-342900" algn="just">
              <a:lnSpc>
                <a:spcPct val="150000"/>
              </a:lnSpc>
              <a:spcBef>
                <a:spcPts val="600"/>
              </a:spcBef>
              <a:buFont typeface="Wingdings" panose="05000000000000000000" pitchFamily="2" charset="2"/>
              <a:buChar char="u"/>
            </a:pPr>
            <a:r>
              <a:rPr lang="en-US" altLang="zh-CN" sz="2200" b="0" dirty="0"/>
              <a:t>1987</a:t>
            </a:r>
            <a:r>
              <a:rPr lang="zh-CN" altLang="en-US" sz="2200" b="0" dirty="0"/>
              <a:t>年</a:t>
            </a:r>
            <a:r>
              <a:rPr lang="en-US" altLang="zh-CN" sz="2200" b="0" dirty="0"/>
              <a:t>1</a:t>
            </a:r>
            <a:r>
              <a:rPr lang="zh-CN" altLang="en-US" sz="2200" b="0" dirty="0"/>
              <a:t>月正式改名为</a:t>
            </a:r>
            <a:r>
              <a:rPr lang="en-US" altLang="zh-CN" sz="2200" b="0" dirty="0"/>
              <a:t>EIA-232D</a:t>
            </a:r>
            <a:endParaRPr lang="en-US" altLang="zh-CN" sz="2200" b="0" dirty="0"/>
          </a:p>
          <a:p>
            <a:pPr marL="342900" indent="-342900" algn="just">
              <a:lnSpc>
                <a:spcPct val="150000"/>
              </a:lnSpc>
              <a:spcBef>
                <a:spcPts val="600"/>
              </a:spcBef>
              <a:buFont typeface="Wingdings" panose="05000000000000000000" pitchFamily="2" charset="2"/>
              <a:buChar char="u"/>
            </a:pPr>
            <a:r>
              <a:rPr lang="zh-CN" altLang="en-US" b="0" dirty="0"/>
              <a:t>设计目的是用于连接调制解调器</a:t>
            </a:r>
            <a:endParaRPr lang="en-US" altLang="zh-CN" b="0" dirty="0"/>
          </a:p>
          <a:p>
            <a:pPr marL="342900" indent="-342900" algn="just">
              <a:lnSpc>
                <a:spcPct val="150000"/>
              </a:lnSpc>
              <a:spcBef>
                <a:spcPts val="600"/>
              </a:spcBef>
              <a:buFont typeface="Wingdings" panose="05000000000000000000" pitchFamily="2" charset="2"/>
              <a:buChar char="u"/>
            </a:pPr>
            <a:r>
              <a:rPr lang="zh-CN" altLang="en-US" b="0" dirty="0"/>
              <a:t>现已成为数据终端设备</a:t>
            </a:r>
            <a:r>
              <a:rPr lang="en-US" altLang="zh-CN" b="0" dirty="0"/>
              <a:t>DTE </a:t>
            </a:r>
            <a:r>
              <a:rPr lang="zh-CN" altLang="en-US" b="0" dirty="0"/>
              <a:t>（例如计算机）与数据通信设备</a:t>
            </a:r>
            <a:r>
              <a:rPr lang="en-US" altLang="zh-CN" b="0" dirty="0"/>
              <a:t>DCE</a:t>
            </a:r>
            <a:r>
              <a:rPr lang="zh-CN" altLang="en-US" b="0" dirty="0"/>
              <a:t>（例如调制解调器）的标准接口</a:t>
            </a:r>
            <a:endParaRPr lang="en-US" altLang="zh-CN" b="0" dirty="0"/>
          </a:p>
          <a:p>
            <a:pPr marL="342900" indent="-342900" algn="just">
              <a:lnSpc>
                <a:spcPct val="150000"/>
              </a:lnSpc>
              <a:spcBef>
                <a:spcPts val="600"/>
              </a:spcBef>
              <a:buFont typeface="Wingdings" panose="05000000000000000000" pitchFamily="2" charset="2"/>
              <a:buChar char="u"/>
            </a:pPr>
            <a:r>
              <a:rPr lang="zh-CN" altLang="en-US" b="0" dirty="0"/>
              <a:t>可实现远距离通信，也可近距离连接两台微机</a:t>
            </a:r>
            <a:endParaRPr lang="zh-CN" altLang="en-US" b="0" dirty="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串行通信口</a:t>
            </a:r>
            <a:r>
              <a:rPr lang="en-US" altLang="zh-CN" sz="2600" kern="0" dirty="0">
                <a:solidFill>
                  <a:schemeClr val="tx2"/>
                </a:solidFill>
                <a:effectLst>
                  <a:outerShdw blurRad="38100" dist="38100" dir="2700000" algn="tl">
                    <a:srgbClr val="C0C0C0"/>
                  </a:outerShdw>
                </a:effectLst>
                <a:latin typeface="+mj-lt"/>
                <a:cs typeface="+mj-cs"/>
              </a:rPr>
              <a:t>I/O</a:t>
            </a:r>
            <a:endParaRPr lang="zh-CN" altLang="en-US" sz="2600" kern="0" dirty="0">
              <a:solidFill>
                <a:schemeClr val="tx2"/>
              </a:solidFill>
              <a:effectLst>
                <a:outerShdw blurRad="38100" dist="38100" dir="2700000" algn="tl">
                  <a:srgbClr val="C0C0C0"/>
                </a:outerShdw>
              </a:effectLst>
              <a:latin typeface="+mj-lt"/>
              <a:cs typeface="+mj-cs"/>
            </a:endParaRPr>
          </a:p>
        </p:txBody>
      </p:sp>
      <p:pic>
        <p:nvPicPr>
          <p:cNvPr id="2" name="图片 1"/>
          <p:cNvPicPr>
            <a:picLocks noChangeAspect="1"/>
          </p:cNvPicPr>
          <p:nvPr/>
        </p:nvPicPr>
        <p:blipFill>
          <a:blip r:embed="rId1"/>
          <a:stretch>
            <a:fillRect/>
          </a:stretch>
        </p:blipFill>
        <p:spPr>
          <a:xfrm>
            <a:off x="1151620" y="2958524"/>
            <a:ext cx="6948772" cy="3626995"/>
          </a:xfrm>
          <a:prstGeom prst="rect">
            <a:avLst/>
          </a:prstGeom>
        </p:spPr>
      </p:pic>
      <p:pic>
        <p:nvPicPr>
          <p:cNvPr id="5" name="Picture 10"/>
          <p:cNvPicPr>
            <a:picLocks noChangeAspect="1" noChangeArrowheads="1"/>
          </p:cNvPicPr>
          <p:nvPr/>
        </p:nvPicPr>
        <p:blipFill rotWithShape="1">
          <a:blip r:embed="rId2">
            <a:extLst>
              <a:ext uri="{28A0092B-C50C-407E-A947-70E740481C1C}">
                <a14:useLocalDpi xmlns:a14="http://schemas.microsoft.com/office/drawing/2010/main" val="0"/>
              </a:ext>
            </a:extLst>
          </a:blip>
          <a:srcRect l="7825" t="11790" r="16195"/>
          <a:stretch>
            <a:fillRect/>
          </a:stretch>
        </p:blipFill>
        <p:spPr bwMode="auto">
          <a:xfrm>
            <a:off x="2544157" y="980728"/>
            <a:ext cx="3828043" cy="19417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串行通信口</a:t>
            </a:r>
            <a:r>
              <a:rPr lang="en-US" altLang="zh-CN" sz="2600" kern="0" dirty="0">
                <a:solidFill>
                  <a:schemeClr val="tx2"/>
                </a:solidFill>
                <a:effectLst>
                  <a:outerShdw blurRad="38100" dist="38100" dir="2700000" algn="tl">
                    <a:srgbClr val="C0C0C0"/>
                  </a:outerShdw>
                </a:effectLst>
                <a:latin typeface="+mj-lt"/>
                <a:cs typeface="+mj-cs"/>
              </a:rPr>
              <a:t>I/O</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2" name="矩形 1"/>
          <p:cNvSpPr/>
          <p:nvPr/>
        </p:nvSpPr>
        <p:spPr>
          <a:xfrm>
            <a:off x="539552" y="1088740"/>
            <a:ext cx="5913798" cy="461665"/>
          </a:xfrm>
          <a:prstGeom prst="rect">
            <a:avLst/>
          </a:prstGeom>
        </p:spPr>
        <p:txBody>
          <a:bodyPr wrap="none">
            <a:spAutoFit/>
          </a:bodyPr>
          <a:lstStyle/>
          <a:p>
            <a:pPr>
              <a:spcBef>
                <a:spcPct val="50000"/>
              </a:spcBef>
            </a:pPr>
            <a:r>
              <a:rPr lang="en-US" altLang="zh-CN" dirty="0"/>
              <a:t>RS232C</a:t>
            </a:r>
            <a:r>
              <a:rPr lang="zh-CN" altLang="en-US" dirty="0"/>
              <a:t>接口连接方式：通过</a:t>
            </a:r>
            <a:r>
              <a:rPr lang="en-US" altLang="zh-CN" dirty="0"/>
              <a:t>MODEM</a:t>
            </a:r>
            <a:r>
              <a:rPr lang="zh-CN" altLang="en-US" dirty="0"/>
              <a:t>连接</a:t>
            </a:r>
            <a:endParaRPr lang="zh-CN" altLang="en-US" dirty="0"/>
          </a:p>
        </p:txBody>
      </p:sp>
      <p:pic>
        <p:nvPicPr>
          <p:cNvPr id="6" name="图片 5"/>
          <p:cNvPicPr>
            <a:picLocks noChangeAspect="1"/>
          </p:cNvPicPr>
          <p:nvPr/>
        </p:nvPicPr>
        <p:blipFill>
          <a:blip r:embed="rId1"/>
          <a:stretch>
            <a:fillRect/>
          </a:stretch>
        </p:blipFill>
        <p:spPr>
          <a:xfrm>
            <a:off x="616633" y="1573100"/>
            <a:ext cx="6192689" cy="3011899"/>
          </a:xfrm>
          <a:prstGeom prst="rect">
            <a:avLst/>
          </a:prstGeom>
        </p:spPr>
      </p:pic>
      <p:sp>
        <p:nvSpPr>
          <p:cNvPr id="7" name="Text Box 6"/>
          <p:cNvSpPr txBox="1">
            <a:spLocks noChangeArrowheads="1"/>
          </p:cNvSpPr>
          <p:nvPr/>
        </p:nvSpPr>
        <p:spPr bwMode="auto">
          <a:xfrm>
            <a:off x="323528" y="4617132"/>
            <a:ext cx="8565553" cy="186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spcBef>
                <a:spcPts val="600"/>
              </a:spcBef>
            </a:pPr>
            <a:r>
              <a:rPr lang="zh-CN" altLang="en-US" sz="2000" b="0" dirty="0"/>
              <a:t>数据发送过程：</a:t>
            </a:r>
            <a:endParaRPr lang="en-US" altLang="zh-CN" sz="2000" b="0" dirty="0"/>
          </a:p>
          <a:p>
            <a:pPr marL="342900" indent="-342900" algn="just">
              <a:spcBef>
                <a:spcPts val="600"/>
              </a:spcBef>
              <a:buFont typeface="Wingdings" panose="05000000000000000000" pitchFamily="2" charset="2"/>
              <a:buChar char="u"/>
            </a:pPr>
            <a:r>
              <a:rPr lang="zh-CN" altLang="en-US" sz="2000" b="0" dirty="0"/>
              <a:t>首先微机向</a:t>
            </a:r>
            <a:r>
              <a:rPr lang="en-US" altLang="zh-CN" sz="2000" b="0" dirty="0"/>
              <a:t>MODEM</a:t>
            </a:r>
            <a:r>
              <a:rPr lang="zh-CN" altLang="en-US" sz="2000" b="0" dirty="0"/>
              <a:t>发出</a:t>
            </a:r>
            <a:r>
              <a:rPr lang="en-US" altLang="zh-CN" sz="2000" b="0" dirty="0">
                <a:solidFill>
                  <a:srgbClr val="FF0000"/>
                </a:solidFill>
              </a:rPr>
              <a:t>DTR</a:t>
            </a:r>
            <a:r>
              <a:rPr lang="zh-CN" altLang="en-US" sz="2000" b="0" dirty="0"/>
              <a:t>和</a:t>
            </a:r>
            <a:r>
              <a:rPr lang="en-US" altLang="zh-CN" sz="2000" b="0" dirty="0">
                <a:solidFill>
                  <a:srgbClr val="FF0000"/>
                </a:solidFill>
              </a:rPr>
              <a:t>RTS</a:t>
            </a:r>
            <a:r>
              <a:rPr lang="zh-CN" altLang="en-US" sz="2000" b="0" dirty="0"/>
              <a:t>有效信号，表示微机请求发送数据。</a:t>
            </a:r>
            <a:endParaRPr lang="en-US" altLang="zh-CN" sz="2000" b="0" dirty="0"/>
          </a:p>
          <a:p>
            <a:pPr marL="342900" indent="-342900" algn="just">
              <a:spcBef>
                <a:spcPts val="600"/>
              </a:spcBef>
              <a:buFont typeface="Wingdings" panose="05000000000000000000" pitchFamily="2" charset="2"/>
              <a:buChar char="u"/>
            </a:pPr>
            <a:r>
              <a:rPr lang="zh-CN" altLang="en-US" sz="2000" b="0" dirty="0"/>
              <a:t>当</a:t>
            </a:r>
            <a:r>
              <a:rPr lang="en-US" altLang="zh-CN" sz="2000" b="0" dirty="0"/>
              <a:t>MODEM</a:t>
            </a:r>
            <a:r>
              <a:rPr lang="zh-CN" altLang="en-US" sz="2000" b="0" dirty="0"/>
              <a:t>返回有效的</a:t>
            </a:r>
            <a:r>
              <a:rPr lang="en-US" altLang="zh-CN" sz="2000" b="0" dirty="0">
                <a:solidFill>
                  <a:srgbClr val="FF0000"/>
                </a:solidFill>
              </a:rPr>
              <a:t>DSR</a:t>
            </a:r>
            <a:r>
              <a:rPr lang="zh-CN" altLang="en-US" sz="2000" b="0" dirty="0"/>
              <a:t>信号时，表明</a:t>
            </a:r>
            <a:r>
              <a:rPr lang="en-US" altLang="zh-CN" sz="2000" b="0" dirty="0"/>
              <a:t>MODEM</a:t>
            </a:r>
            <a:r>
              <a:rPr lang="zh-CN" altLang="en-US" sz="2000" b="0" dirty="0"/>
              <a:t>已做好接收数据的准备，此时又向微机发送有效信号</a:t>
            </a:r>
            <a:r>
              <a:rPr lang="en-US" altLang="zh-CN" sz="2000" b="0" dirty="0">
                <a:solidFill>
                  <a:srgbClr val="FF0000"/>
                </a:solidFill>
              </a:rPr>
              <a:t>CTS</a:t>
            </a:r>
            <a:r>
              <a:rPr lang="zh-CN" altLang="en-US" sz="2000" b="0" dirty="0"/>
              <a:t>。</a:t>
            </a:r>
            <a:endParaRPr lang="en-US" altLang="zh-CN" sz="2000" b="0" dirty="0"/>
          </a:p>
          <a:p>
            <a:pPr marL="342900" indent="-342900" algn="just">
              <a:spcBef>
                <a:spcPts val="600"/>
              </a:spcBef>
              <a:buFont typeface="Wingdings" panose="05000000000000000000" pitchFamily="2" charset="2"/>
              <a:buChar char="u"/>
            </a:pPr>
            <a:r>
              <a:rPr lang="zh-CN" altLang="en-US" sz="2000" b="0" dirty="0"/>
              <a:t>当微机收到</a:t>
            </a:r>
            <a:r>
              <a:rPr lang="en-US" altLang="zh-CN" sz="2000" b="0" dirty="0"/>
              <a:t>MODEM</a:t>
            </a:r>
            <a:r>
              <a:rPr lang="zh-CN" altLang="en-US" sz="2000" b="0" dirty="0"/>
              <a:t>发回的</a:t>
            </a:r>
            <a:r>
              <a:rPr lang="en-US" altLang="zh-CN" sz="2000" b="0" dirty="0">
                <a:solidFill>
                  <a:srgbClr val="FF0000"/>
                </a:solidFill>
              </a:rPr>
              <a:t>DSR</a:t>
            </a:r>
            <a:r>
              <a:rPr lang="zh-CN" altLang="en-US" sz="2000" b="0" dirty="0"/>
              <a:t>和</a:t>
            </a:r>
            <a:r>
              <a:rPr lang="en-US" altLang="zh-CN" sz="2000" b="0" dirty="0">
                <a:solidFill>
                  <a:srgbClr val="FF0000"/>
                </a:solidFill>
              </a:rPr>
              <a:t>CTS</a:t>
            </a:r>
            <a:r>
              <a:rPr lang="zh-CN" altLang="en-US" sz="2000" b="0" dirty="0"/>
              <a:t>后，才能由</a:t>
            </a:r>
            <a:r>
              <a:rPr lang="en-US" altLang="zh-CN" sz="2000" b="0" dirty="0" err="1"/>
              <a:t>TxD</a:t>
            </a:r>
            <a:r>
              <a:rPr lang="zh-CN" altLang="en-US" sz="2000" b="0" dirty="0"/>
              <a:t>线向设备发送数据。</a:t>
            </a:r>
            <a:endParaRPr lang="zh-CN" altLang="en-US" sz="2000" b="0" dirty="0"/>
          </a:p>
        </p:txBody>
      </p:sp>
      <p:sp>
        <p:nvSpPr>
          <p:cNvPr id="8" name="矩形 7"/>
          <p:cNvSpPr/>
          <p:nvPr/>
        </p:nvSpPr>
        <p:spPr>
          <a:xfrm>
            <a:off x="6948264" y="2422049"/>
            <a:ext cx="1723433" cy="1323439"/>
          </a:xfrm>
          <a:prstGeom prst="rect">
            <a:avLst/>
          </a:prstGeom>
        </p:spPr>
        <p:txBody>
          <a:bodyPr wrap="square">
            <a:spAutoFit/>
          </a:bodyPr>
          <a:lstStyle/>
          <a:p>
            <a:pPr>
              <a:spcBef>
                <a:spcPct val="50000"/>
              </a:spcBef>
            </a:pPr>
            <a:r>
              <a:rPr lang="zh-CN" altLang="en-US" sz="2000" dirty="0"/>
              <a:t>用于远距离数据传输，如传输距离大于</a:t>
            </a:r>
            <a:r>
              <a:rPr lang="en-US" altLang="zh-CN" sz="2000" dirty="0"/>
              <a:t>15</a:t>
            </a:r>
            <a:r>
              <a:rPr lang="zh-CN" altLang="en-US" sz="2000" dirty="0"/>
              <a:t>米。</a:t>
            </a:r>
            <a:endParaRPr lang="zh-CN" altLang="en-US" sz="20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串行通信口</a:t>
            </a:r>
            <a:r>
              <a:rPr lang="en-US" altLang="zh-CN" sz="2600" kern="0" dirty="0">
                <a:solidFill>
                  <a:schemeClr val="tx2"/>
                </a:solidFill>
                <a:effectLst>
                  <a:outerShdw blurRad="38100" dist="38100" dir="2700000" algn="tl">
                    <a:srgbClr val="C0C0C0"/>
                  </a:outerShdw>
                </a:effectLst>
                <a:latin typeface="+mj-lt"/>
                <a:cs typeface="+mj-cs"/>
              </a:rPr>
              <a:t>I/O</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2" name="矩形 1"/>
          <p:cNvSpPr/>
          <p:nvPr/>
        </p:nvSpPr>
        <p:spPr>
          <a:xfrm>
            <a:off x="539552" y="1088740"/>
            <a:ext cx="3429144" cy="461665"/>
          </a:xfrm>
          <a:prstGeom prst="rect">
            <a:avLst/>
          </a:prstGeom>
        </p:spPr>
        <p:txBody>
          <a:bodyPr wrap="none">
            <a:spAutoFit/>
          </a:bodyPr>
          <a:lstStyle/>
          <a:p>
            <a:pPr>
              <a:spcBef>
                <a:spcPct val="50000"/>
              </a:spcBef>
            </a:pPr>
            <a:r>
              <a:rPr lang="en-US" altLang="zh-CN" dirty="0"/>
              <a:t>RS232C</a:t>
            </a:r>
            <a:r>
              <a:rPr lang="zh-CN" altLang="en-US" dirty="0"/>
              <a:t>接口连接方式：</a:t>
            </a:r>
            <a:endParaRPr lang="zh-CN" altLang="en-US" dirty="0"/>
          </a:p>
        </p:txBody>
      </p:sp>
      <p:pic>
        <p:nvPicPr>
          <p:cNvPr id="6" name="图片 5"/>
          <p:cNvPicPr>
            <a:picLocks noChangeAspect="1"/>
          </p:cNvPicPr>
          <p:nvPr/>
        </p:nvPicPr>
        <p:blipFill>
          <a:blip r:embed="rId1"/>
          <a:stretch>
            <a:fillRect/>
          </a:stretch>
        </p:blipFill>
        <p:spPr>
          <a:xfrm>
            <a:off x="1403648" y="1550405"/>
            <a:ext cx="6192689" cy="3011899"/>
          </a:xfrm>
          <a:prstGeom prst="rect">
            <a:avLst/>
          </a:prstGeom>
        </p:spPr>
      </p:pic>
      <p:sp>
        <p:nvSpPr>
          <p:cNvPr id="7" name="Text Box 6"/>
          <p:cNvSpPr txBox="1">
            <a:spLocks noChangeArrowheads="1"/>
          </p:cNvSpPr>
          <p:nvPr/>
        </p:nvSpPr>
        <p:spPr bwMode="auto">
          <a:xfrm>
            <a:off x="532956" y="4689140"/>
            <a:ext cx="8208912"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spcBef>
                <a:spcPts val="600"/>
              </a:spcBef>
            </a:pPr>
            <a:r>
              <a:rPr lang="zh-CN" altLang="en-US" sz="2000" b="0" dirty="0"/>
              <a:t>数据接收过程：</a:t>
            </a:r>
            <a:endParaRPr lang="en-US" altLang="zh-CN" sz="2000" b="0" dirty="0"/>
          </a:p>
          <a:p>
            <a:pPr marL="342900" indent="-342900" algn="just">
              <a:spcBef>
                <a:spcPts val="600"/>
              </a:spcBef>
              <a:buFont typeface="Wingdings" panose="05000000000000000000" pitchFamily="2" charset="2"/>
              <a:buChar char="u"/>
            </a:pPr>
            <a:r>
              <a:rPr lang="zh-CN" altLang="en-US" sz="2000" b="0" dirty="0"/>
              <a:t>微机向</a:t>
            </a:r>
            <a:r>
              <a:rPr lang="en-US" altLang="zh-CN" sz="2000" b="0" dirty="0"/>
              <a:t>MODEM</a:t>
            </a:r>
            <a:r>
              <a:rPr lang="zh-CN" altLang="en-US" sz="2000" b="0" dirty="0"/>
              <a:t>发出</a:t>
            </a:r>
            <a:r>
              <a:rPr lang="en-US" altLang="zh-CN" sz="2000" b="0" dirty="0">
                <a:solidFill>
                  <a:srgbClr val="FF0000"/>
                </a:solidFill>
              </a:rPr>
              <a:t>DTR</a:t>
            </a:r>
            <a:r>
              <a:rPr lang="zh-CN" altLang="en-US" sz="2000" b="0" dirty="0"/>
              <a:t>信号，表示微机和</a:t>
            </a:r>
            <a:r>
              <a:rPr lang="en-US" altLang="zh-CN" sz="2000" b="0" dirty="0"/>
              <a:t>MODEM</a:t>
            </a:r>
            <a:r>
              <a:rPr lang="zh-CN" altLang="en-US" sz="2000" b="0" dirty="0"/>
              <a:t>之间可以建立通道。</a:t>
            </a:r>
            <a:endParaRPr lang="en-US" altLang="zh-CN" sz="2000" b="0" dirty="0"/>
          </a:p>
          <a:p>
            <a:pPr marL="342900" indent="-342900" algn="just">
              <a:spcBef>
                <a:spcPts val="600"/>
              </a:spcBef>
              <a:buFont typeface="Wingdings" panose="05000000000000000000" pitchFamily="2" charset="2"/>
              <a:buChar char="u"/>
            </a:pPr>
            <a:r>
              <a:rPr lang="zh-CN" altLang="en-US" sz="2000" b="0" dirty="0"/>
              <a:t>一旦通道建立好，</a:t>
            </a:r>
            <a:r>
              <a:rPr lang="en-US" altLang="zh-CN" sz="2000" b="0" dirty="0"/>
              <a:t>MODEM</a:t>
            </a:r>
            <a:r>
              <a:rPr lang="zh-CN" altLang="en-US" sz="2000" b="0" dirty="0"/>
              <a:t>向微机发出</a:t>
            </a:r>
            <a:r>
              <a:rPr lang="en-US" altLang="zh-CN" sz="2000" b="0" dirty="0">
                <a:solidFill>
                  <a:srgbClr val="FF0000"/>
                </a:solidFill>
              </a:rPr>
              <a:t>DSR</a:t>
            </a:r>
            <a:r>
              <a:rPr lang="zh-CN" altLang="en-US" sz="2000" b="0" dirty="0"/>
              <a:t>信号，这时数据就可以通过</a:t>
            </a:r>
            <a:r>
              <a:rPr lang="en-US" altLang="zh-CN" sz="2000" b="0" dirty="0" err="1"/>
              <a:t>RxD</a:t>
            </a:r>
            <a:r>
              <a:rPr lang="zh-CN" altLang="en-US" sz="2000" b="0" dirty="0"/>
              <a:t>线传到微机。</a:t>
            </a:r>
            <a:endParaRPr lang="zh-CN" altLang="en-US" sz="2000" b="0" dirty="0"/>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串行通信口</a:t>
            </a:r>
            <a:r>
              <a:rPr lang="en-US" altLang="zh-CN" sz="2600" kern="0" dirty="0">
                <a:solidFill>
                  <a:schemeClr val="tx2"/>
                </a:solidFill>
                <a:effectLst>
                  <a:outerShdw blurRad="38100" dist="38100" dir="2700000" algn="tl">
                    <a:srgbClr val="C0C0C0"/>
                  </a:outerShdw>
                </a:effectLst>
                <a:latin typeface="+mj-lt"/>
                <a:cs typeface="+mj-cs"/>
              </a:rPr>
              <a:t>I/O</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2" name="矩形 1"/>
          <p:cNvSpPr/>
          <p:nvPr/>
        </p:nvSpPr>
        <p:spPr>
          <a:xfrm>
            <a:off x="528657" y="984454"/>
            <a:ext cx="3429144" cy="461665"/>
          </a:xfrm>
          <a:prstGeom prst="rect">
            <a:avLst/>
          </a:prstGeom>
        </p:spPr>
        <p:txBody>
          <a:bodyPr wrap="none">
            <a:spAutoFit/>
          </a:bodyPr>
          <a:lstStyle/>
          <a:p>
            <a:pPr>
              <a:spcBef>
                <a:spcPct val="50000"/>
              </a:spcBef>
            </a:pPr>
            <a:r>
              <a:rPr lang="en-US" altLang="zh-CN" dirty="0"/>
              <a:t>RS232C</a:t>
            </a:r>
            <a:r>
              <a:rPr lang="zh-CN" altLang="en-US" dirty="0"/>
              <a:t>接口连接方式：</a:t>
            </a:r>
            <a:endParaRPr lang="zh-CN" altLang="en-US" dirty="0"/>
          </a:p>
        </p:txBody>
      </p:sp>
      <p:pic>
        <p:nvPicPr>
          <p:cNvPr id="4" name="图片 3"/>
          <p:cNvPicPr>
            <a:picLocks noChangeAspect="1"/>
          </p:cNvPicPr>
          <p:nvPr/>
        </p:nvPicPr>
        <p:blipFill>
          <a:blip r:embed="rId1"/>
          <a:stretch>
            <a:fillRect/>
          </a:stretch>
        </p:blipFill>
        <p:spPr>
          <a:xfrm>
            <a:off x="537837" y="1592796"/>
            <a:ext cx="3658338" cy="2448272"/>
          </a:xfrm>
          <a:prstGeom prst="rect">
            <a:avLst/>
          </a:prstGeom>
        </p:spPr>
      </p:pic>
      <p:pic>
        <p:nvPicPr>
          <p:cNvPr id="3" name="图片 2"/>
          <p:cNvPicPr>
            <a:picLocks noChangeAspect="1"/>
          </p:cNvPicPr>
          <p:nvPr/>
        </p:nvPicPr>
        <p:blipFill>
          <a:blip r:embed="rId2"/>
          <a:stretch>
            <a:fillRect/>
          </a:stretch>
        </p:blipFill>
        <p:spPr>
          <a:xfrm>
            <a:off x="537837" y="4089696"/>
            <a:ext cx="3631340" cy="2448055"/>
          </a:xfrm>
          <a:prstGeom prst="rect">
            <a:avLst/>
          </a:prstGeom>
        </p:spPr>
      </p:pic>
      <p:sp>
        <p:nvSpPr>
          <p:cNvPr id="6" name="矩形 5"/>
          <p:cNvSpPr/>
          <p:nvPr/>
        </p:nvSpPr>
        <p:spPr>
          <a:xfrm>
            <a:off x="4463988" y="1592796"/>
            <a:ext cx="4176464" cy="2477601"/>
          </a:xfrm>
          <a:prstGeom prst="rect">
            <a:avLst/>
          </a:prstGeom>
        </p:spPr>
        <p:txBody>
          <a:bodyPr wrap="square">
            <a:spAutoFit/>
          </a:bodyPr>
          <a:lstStyle/>
          <a:p>
            <a:pPr>
              <a:spcBef>
                <a:spcPct val="50000"/>
              </a:spcBef>
            </a:pPr>
            <a:r>
              <a:rPr lang="zh-CN" altLang="en-US" sz="2000" b="0" dirty="0"/>
              <a:t>直接连接：</a:t>
            </a:r>
            <a:endParaRPr lang="en-US" altLang="zh-CN" sz="2000" b="0" dirty="0"/>
          </a:p>
          <a:p>
            <a:pPr marL="457200" indent="-457200">
              <a:spcBef>
                <a:spcPct val="50000"/>
              </a:spcBef>
              <a:buFont typeface="Wingdings" panose="05000000000000000000" pitchFamily="2" charset="2"/>
              <a:buChar char="u"/>
            </a:pPr>
            <a:r>
              <a:rPr lang="zh-CN" altLang="en-US" sz="1800" b="0" dirty="0"/>
              <a:t>通信双方的</a:t>
            </a:r>
            <a:r>
              <a:rPr lang="en-US" altLang="zh-CN" sz="1800" b="0" dirty="0" err="1"/>
              <a:t>TxD</a:t>
            </a:r>
            <a:r>
              <a:rPr lang="zh-CN" altLang="en-US" sz="1800" b="0" dirty="0"/>
              <a:t>和</a:t>
            </a:r>
            <a:r>
              <a:rPr lang="en-US" altLang="zh-CN" sz="1800" b="0" dirty="0" err="1"/>
              <a:t>RxD</a:t>
            </a:r>
            <a:r>
              <a:rPr lang="zh-CN" altLang="en-US" sz="1800" b="0" dirty="0"/>
              <a:t>交叉连接，保证接收方和发送方能进行双全工通信。</a:t>
            </a:r>
            <a:endParaRPr lang="en-US" altLang="zh-CN" sz="1800" b="0" dirty="0"/>
          </a:p>
          <a:p>
            <a:pPr marL="457200" indent="-457200">
              <a:spcBef>
                <a:spcPct val="50000"/>
              </a:spcBef>
              <a:buFont typeface="Wingdings" panose="05000000000000000000" pitchFamily="2" charset="2"/>
              <a:buChar char="u"/>
            </a:pPr>
            <a:r>
              <a:rPr lang="en-US" altLang="zh-CN" sz="1800" b="0" dirty="0"/>
              <a:t>DSR</a:t>
            </a:r>
            <a:r>
              <a:rPr lang="zh-CN" altLang="en-US" sz="1800" b="0" dirty="0"/>
              <a:t>和</a:t>
            </a:r>
            <a:r>
              <a:rPr lang="en-US" altLang="zh-CN" sz="1800" b="0" dirty="0"/>
              <a:t>DTR</a:t>
            </a:r>
            <a:r>
              <a:rPr lang="zh-CN" altLang="en-US" sz="1800" b="0" dirty="0"/>
              <a:t>交叉连接，用于检测对方“数据已就绪”状态。</a:t>
            </a:r>
            <a:endParaRPr lang="en-US" altLang="zh-CN" sz="1800" b="0" dirty="0"/>
          </a:p>
          <a:p>
            <a:pPr marL="457200" indent="-457200">
              <a:spcBef>
                <a:spcPct val="50000"/>
              </a:spcBef>
              <a:buFont typeface="Wingdings" panose="05000000000000000000" pitchFamily="2" charset="2"/>
              <a:buChar char="u"/>
            </a:pPr>
            <a:r>
              <a:rPr lang="zh-CN" altLang="en-US" sz="1800" b="0" dirty="0"/>
              <a:t>一般用于近距离传输。</a:t>
            </a:r>
            <a:endParaRPr lang="zh-CN" altLang="en-US" sz="1800" b="0" dirty="0"/>
          </a:p>
        </p:txBody>
      </p:sp>
      <p:sp>
        <p:nvSpPr>
          <p:cNvPr id="7" name="矩形 6"/>
          <p:cNvSpPr/>
          <p:nvPr/>
        </p:nvSpPr>
        <p:spPr>
          <a:xfrm>
            <a:off x="4463988" y="4698170"/>
            <a:ext cx="4176464" cy="1200329"/>
          </a:xfrm>
          <a:prstGeom prst="rect">
            <a:avLst/>
          </a:prstGeom>
        </p:spPr>
        <p:txBody>
          <a:bodyPr wrap="square">
            <a:spAutoFit/>
          </a:bodyPr>
          <a:lstStyle/>
          <a:p>
            <a:pPr>
              <a:spcBef>
                <a:spcPct val="50000"/>
              </a:spcBef>
            </a:pPr>
            <a:r>
              <a:rPr lang="zh-CN" altLang="en-US" sz="1800" b="0" dirty="0"/>
              <a:t>三线连接：</a:t>
            </a:r>
            <a:endParaRPr lang="en-US" altLang="zh-CN" sz="1800" b="0" dirty="0"/>
          </a:p>
          <a:p>
            <a:pPr marL="457200" indent="-457200">
              <a:spcBef>
                <a:spcPct val="50000"/>
              </a:spcBef>
              <a:buFont typeface="Wingdings" panose="05000000000000000000" pitchFamily="2" charset="2"/>
              <a:buChar char="u"/>
            </a:pPr>
            <a:r>
              <a:rPr lang="zh-CN" altLang="en-US" sz="1800" b="0" dirty="0"/>
              <a:t>最简单的连接方式。</a:t>
            </a:r>
            <a:endParaRPr lang="en-US" altLang="zh-CN" sz="1800" b="0" dirty="0"/>
          </a:p>
          <a:p>
            <a:pPr marL="457200" indent="-457200">
              <a:spcBef>
                <a:spcPct val="50000"/>
              </a:spcBef>
              <a:buFont typeface="Wingdings" panose="05000000000000000000" pitchFamily="2" charset="2"/>
              <a:buChar char="u"/>
            </a:pPr>
            <a:r>
              <a:rPr lang="zh-CN" altLang="en-US" sz="1800" b="0" dirty="0"/>
              <a:t>通信双方的</a:t>
            </a:r>
            <a:r>
              <a:rPr lang="en-US" altLang="zh-CN" sz="1800" b="0" dirty="0" err="1"/>
              <a:t>TxD</a:t>
            </a:r>
            <a:r>
              <a:rPr lang="zh-CN" altLang="en-US" sz="1800" b="0" dirty="0"/>
              <a:t>和</a:t>
            </a:r>
            <a:r>
              <a:rPr lang="en-US" altLang="zh-CN" sz="1800" b="0" dirty="0" err="1"/>
              <a:t>RxD</a:t>
            </a:r>
            <a:r>
              <a:rPr lang="zh-CN" altLang="en-US" sz="1800" b="0" dirty="0"/>
              <a:t>交叉连接。</a:t>
            </a:r>
            <a:endParaRPr lang="en-US" altLang="zh-CN" sz="1800" b="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Rectangle 2"/>
          <p:cNvSpPr>
            <a:spLocks noChangeArrowheads="1"/>
          </p:cNvSpPr>
          <p:nvPr/>
        </p:nvSpPr>
        <p:spPr bwMode="auto">
          <a:xfrm>
            <a:off x="452120" y="944724"/>
            <a:ext cx="8188332" cy="4393510"/>
          </a:xfrm>
          <a:prstGeom prst="rect">
            <a:avLst/>
          </a:prstGeom>
          <a:noFill/>
          <a:ln w="9525" algn="ctr">
            <a:noFill/>
            <a:miter lim="800000"/>
          </a:ln>
          <a:effectLst/>
        </p:spPr>
        <p:txBody>
          <a:bodyPr wrap="square">
            <a:spAutoFit/>
          </a:bodyPr>
          <a:lstStyle/>
          <a:p>
            <a:pPr>
              <a:lnSpc>
                <a:spcPct val="125000"/>
              </a:lnSpc>
            </a:pPr>
            <a:endParaRPr lang="en-US" altLang="zh-CN" sz="2200" b="0" u="sng" dirty="0">
              <a:solidFill>
                <a:srgbClr val="0000FF"/>
              </a:solidFill>
              <a:effectLst>
                <a:outerShdw blurRad="38100" dist="38100" dir="2700000" algn="tl">
                  <a:srgbClr val="C0C0C0"/>
                </a:outerShdw>
              </a:effectLst>
            </a:endParaRPr>
          </a:p>
          <a:p>
            <a:pPr>
              <a:lnSpc>
                <a:spcPct val="150000"/>
              </a:lnSpc>
            </a:pPr>
            <a:r>
              <a:rPr lang="en-US" altLang="zh-CN" b="0" dirty="0"/>
              <a:t>        </a:t>
            </a:r>
            <a:r>
              <a:rPr lang="zh-CN" altLang="en-US" b="0" dirty="0"/>
              <a:t>串行通信接口芯片种类和型号繁多，有能完成</a:t>
            </a:r>
            <a:r>
              <a:rPr lang="zh-CN" altLang="en-US" b="0" dirty="0">
                <a:solidFill>
                  <a:srgbClr val="3333FF"/>
                </a:solidFill>
              </a:rPr>
              <a:t>异步通信</a:t>
            </a:r>
            <a:r>
              <a:rPr lang="zh-CN" altLang="en-US" b="0" dirty="0"/>
              <a:t>的硬件电路：</a:t>
            </a:r>
            <a:r>
              <a:rPr lang="en-US" altLang="zh-CN" b="0" dirty="0"/>
              <a:t>UART</a:t>
            </a:r>
            <a:r>
              <a:rPr lang="zh-CN" altLang="en-US" b="0" dirty="0"/>
              <a:t>，即通用异步接收器</a:t>
            </a:r>
            <a:r>
              <a:rPr lang="en-US" altLang="zh-CN" b="0" dirty="0"/>
              <a:t>/</a:t>
            </a:r>
            <a:r>
              <a:rPr lang="zh-CN" altLang="en-US" b="0" dirty="0"/>
              <a:t>发送器；有能完成</a:t>
            </a:r>
            <a:r>
              <a:rPr lang="zh-CN" altLang="en-US" b="0" dirty="0">
                <a:solidFill>
                  <a:srgbClr val="3333FF"/>
                </a:solidFill>
              </a:rPr>
              <a:t>同步通讯</a:t>
            </a:r>
            <a:r>
              <a:rPr lang="zh-CN" altLang="en-US" b="0" dirty="0"/>
              <a:t>的硬件电路称为</a:t>
            </a:r>
            <a:r>
              <a:rPr lang="en-US" altLang="zh-CN" b="0" dirty="0"/>
              <a:t>USRT</a:t>
            </a:r>
            <a:r>
              <a:rPr lang="zh-CN" altLang="en-US" b="0" dirty="0"/>
              <a:t>；也有</a:t>
            </a:r>
            <a:r>
              <a:rPr lang="zh-CN" altLang="en-US" b="0" dirty="0">
                <a:solidFill>
                  <a:srgbClr val="3333FF"/>
                </a:solidFill>
              </a:rPr>
              <a:t>既能异步又能同步通信</a:t>
            </a:r>
            <a:r>
              <a:rPr lang="zh-CN" altLang="en-US" b="0" dirty="0"/>
              <a:t>的硬件电路，称为</a:t>
            </a:r>
            <a:r>
              <a:rPr lang="en-US" altLang="zh-CN" b="0" dirty="0"/>
              <a:t>USARTRU(</a:t>
            </a:r>
            <a:r>
              <a:rPr lang="zh-CN" altLang="en-US" b="0" dirty="0"/>
              <a:t>如：</a:t>
            </a:r>
            <a:r>
              <a:rPr lang="en-US" altLang="zh-CN" b="0" dirty="0"/>
              <a:t>Intel 8251A)</a:t>
            </a:r>
            <a:r>
              <a:rPr lang="zh-CN" altLang="en-US" b="0" dirty="0"/>
              <a:t>。</a:t>
            </a:r>
            <a:endParaRPr lang="zh-CN" altLang="en-US" b="0" dirty="0"/>
          </a:p>
          <a:p>
            <a:pPr algn="just">
              <a:lnSpc>
                <a:spcPct val="150000"/>
              </a:lnSpc>
            </a:pPr>
            <a:r>
              <a:rPr lang="zh-CN" altLang="en-US" b="0" dirty="0"/>
              <a:t>        从本质上讲，所有的串行接口电路都是以并行数据形式与</a:t>
            </a:r>
            <a:r>
              <a:rPr lang="en-US" altLang="zh-CN" b="0" dirty="0"/>
              <a:t>CPU</a:t>
            </a:r>
            <a:r>
              <a:rPr lang="zh-CN" altLang="en-US" b="0" dirty="0"/>
              <a:t>接口，而以串行数据形式与外部逻辑接口，其基本功能就是实现并→串、串→并转换。</a:t>
            </a:r>
            <a:endParaRPr lang="zh-CN" altLang="en-US" b="0" dirty="0"/>
          </a:p>
        </p:txBody>
      </p:sp>
      <p:sp>
        <p:nvSpPr>
          <p:cNvPr id="3"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串行通信口</a:t>
            </a:r>
            <a:r>
              <a:rPr lang="en-US" altLang="zh-CN" sz="2600" kern="0" dirty="0">
                <a:solidFill>
                  <a:schemeClr val="tx2"/>
                </a:solidFill>
                <a:effectLst>
                  <a:outerShdw blurRad="38100" dist="38100" dir="2700000" algn="tl">
                    <a:srgbClr val="C0C0C0"/>
                  </a:outerShdw>
                </a:effectLst>
                <a:latin typeface="+mj-lt"/>
                <a:cs typeface="+mj-cs"/>
              </a:rPr>
              <a:t>I/O</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40" name="Rectangle 4"/>
          <p:cNvSpPr>
            <a:spLocks noChangeArrowheads="1"/>
          </p:cNvSpPr>
          <p:nvPr/>
        </p:nvSpPr>
        <p:spPr bwMode="auto">
          <a:xfrm>
            <a:off x="467544" y="368660"/>
            <a:ext cx="7848600" cy="492443"/>
          </a:xfrm>
          <a:prstGeom prst="rect">
            <a:avLst/>
          </a:prstGeom>
          <a:noFill/>
          <a:ln w="9525" algn="ctr">
            <a:noFill/>
            <a:miter lim="800000"/>
          </a:ln>
          <a:effectLst/>
        </p:spPr>
        <p:txBody>
          <a:bodyPr>
            <a:spAutoFit/>
          </a:bodyPr>
          <a:lstStyle/>
          <a:p>
            <a:r>
              <a:rPr lang="zh-CN" altLang="en-US" sz="2600" kern="0" dirty="0">
                <a:solidFill>
                  <a:schemeClr val="tx2"/>
                </a:solidFill>
                <a:effectLst>
                  <a:outerShdw blurRad="38100" dist="38100" dir="2700000" algn="tl">
                    <a:srgbClr val="C0C0C0"/>
                  </a:outerShdw>
                </a:effectLst>
                <a:latin typeface="+mj-lt"/>
                <a:cs typeface="+mj-cs"/>
              </a:rPr>
              <a:t>可编程串行通信接口</a:t>
            </a:r>
            <a:r>
              <a:rPr lang="en-US" altLang="zh-CN" sz="2600" kern="0" dirty="0">
                <a:solidFill>
                  <a:schemeClr val="tx2"/>
                </a:solidFill>
                <a:effectLst>
                  <a:outerShdw blurRad="38100" dist="38100" dir="2700000" algn="tl">
                    <a:srgbClr val="C0C0C0"/>
                  </a:outerShdw>
                </a:effectLst>
                <a:latin typeface="+mj-lt"/>
                <a:cs typeface="+mj-cs"/>
              </a:rPr>
              <a:t>8251A</a:t>
            </a:r>
            <a:endParaRPr lang="en-US" altLang="zh-CN" sz="2600" kern="0" dirty="0">
              <a:solidFill>
                <a:schemeClr val="tx2"/>
              </a:solidFill>
              <a:effectLst>
                <a:outerShdw blurRad="38100" dist="38100" dir="2700000" algn="tl">
                  <a:srgbClr val="C0C0C0"/>
                </a:outerShdw>
              </a:effectLst>
              <a:latin typeface="+mj-lt"/>
              <a:cs typeface="+mj-cs"/>
            </a:endParaRPr>
          </a:p>
        </p:txBody>
      </p:sp>
      <p:pic>
        <p:nvPicPr>
          <p:cNvPr id="372742" name="Picture 6" descr="片段_4"/>
          <p:cNvPicPr>
            <a:picLocks noChangeAspect="1" noChangeArrowheads="1"/>
          </p:cNvPicPr>
          <p:nvPr/>
        </p:nvPicPr>
        <p:blipFill>
          <a:blip r:embed="rId1">
            <a:clrChange>
              <a:clrFrom>
                <a:srgbClr val="FFFFFF"/>
              </a:clrFrom>
              <a:clrTo>
                <a:srgbClr val="FFFFFF">
                  <a:alpha val="0"/>
                </a:srgbClr>
              </a:clrTo>
            </a:clrChange>
          </a:blip>
          <a:srcRect r="21704"/>
          <a:stretch>
            <a:fillRect/>
          </a:stretch>
        </p:blipFill>
        <p:spPr bwMode="auto">
          <a:xfrm>
            <a:off x="4932363" y="1052513"/>
            <a:ext cx="3800475" cy="5256212"/>
          </a:xfrm>
          <a:prstGeom prst="rect">
            <a:avLst/>
          </a:prstGeom>
          <a:noFill/>
        </p:spPr>
      </p:pic>
      <p:sp>
        <p:nvSpPr>
          <p:cNvPr id="372745" name="Rectangle 9"/>
          <p:cNvSpPr>
            <a:spLocks noChangeArrowheads="1"/>
          </p:cNvSpPr>
          <p:nvPr/>
        </p:nvSpPr>
        <p:spPr bwMode="auto">
          <a:xfrm>
            <a:off x="469750" y="1184245"/>
            <a:ext cx="4176464" cy="5124480"/>
          </a:xfrm>
          <a:prstGeom prst="rect">
            <a:avLst/>
          </a:prstGeom>
          <a:noFill/>
          <a:ln w="9525" algn="ctr">
            <a:noFill/>
            <a:miter lim="800000"/>
          </a:ln>
          <a:effectLst/>
        </p:spPr>
        <p:txBody>
          <a:bodyPr wrap="square">
            <a:spAutoFit/>
          </a:bodyPr>
          <a:lstStyle/>
          <a:p>
            <a:pPr marL="443230" indent="-443230" algn="just">
              <a:spcBef>
                <a:spcPts val="600"/>
              </a:spcBef>
            </a:pPr>
            <a:r>
              <a:rPr lang="en-US" altLang="zh-CN" b="0" dirty="0"/>
              <a:t>1</a:t>
            </a:r>
            <a:r>
              <a:rPr lang="zh-CN" altLang="en-US" b="0" dirty="0"/>
              <a:t>、可工作于</a:t>
            </a:r>
            <a:r>
              <a:rPr lang="zh-CN" altLang="en-US" b="0" dirty="0">
                <a:solidFill>
                  <a:srgbClr val="0000FF"/>
                </a:solidFill>
              </a:rPr>
              <a:t>同步方式</a:t>
            </a:r>
            <a:r>
              <a:rPr lang="zh-CN" altLang="en-US" b="0" dirty="0"/>
              <a:t>或</a:t>
            </a:r>
            <a:r>
              <a:rPr lang="zh-CN" altLang="en-US" b="0" dirty="0">
                <a:solidFill>
                  <a:srgbClr val="0000FF"/>
                </a:solidFill>
              </a:rPr>
              <a:t>异步方式</a:t>
            </a:r>
            <a:r>
              <a:rPr lang="zh-CN" altLang="en-US" b="0" dirty="0"/>
              <a:t>，</a:t>
            </a:r>
            <a:r>
              <a:rPr lang="zh-CN" altLang="en-US" b="0" dirty="0">
                <a:solidFill>
                  <a:srgbClr val="0000FF"/>
                </a:solidFill>
              </a:rPr>
              <a:t>全双工方式</a:t>
            </a:r>
            <a:r>
              <a:rPr lang="zh-CN" altLang="en-US" b="0" dirty="0"/>
              <a:t>。</a:t>
            </a:r>
            <a:endParaRPr lang="zh-CN" altLang="en-US" b="0" dirty="0"/>
          </a:p>
          <a:p>
            <a:pPr marL="443230" indent="-443230" algn="just">
              <a:spcBef>
                <a:spcPts val="600"/>
              </a:spcBef>
            </a:pPr>
            <a:r>
              <a:rPr lang="en-US" altLang="zh-CN" b="0" dirty="0"/>
              <a:t>2</a:t>
            </a:r>
            <a:r>
              <a:rPr lang="zh-CN" altLang="en-US" b="0" dirty="0"/>
              <a:t>、同步方式下，波特率</a:t>
            </a:r>
            <a:r>
              <a:rPr lang="en-US" altLang="zh-CN" b="0" dirty="0">
                <a:solidFill>
                  <a:srgbClr val="0000FF"/>
                </a:solidFill>
              </a:rPr>
              <a:t>0-64K bps</a:t>
            </a:r>
            <a:r>
              <a:rPr lang="zh-CN" altLang="en-US" b="0" dirty="0"/>
              <a:t>，每个字符可为</a:t>
            </a:r>
            <a:r>
              <a:rPr lang="en-US" altLang="zh-CN" b="0" dirty="0">
                <a:solidFill>
                  <a:srgbClr val="0000FF"/>
                </a:solidFill>
              </a:rPr>
              <a:t>5-8</a:t>
            </a:r>
            <a:r>
              <a:rPr lang="zh-CN" altLang="en-US" b="0" dirty="0">
                <a:solidFill>
                  <a:srgbClr val="0000FF"/>
                </a:solidFill>
              </a:rPr>
              <a:t>位</a:t>
            </a:r>
            <a:r>
              <a:rPr lang="zh-CN" altLang="en-US" b="0" dirty="0"/>
              <a:t>。</a:t>
            </a:r>
            <a:endParaRPr lang="zh-CN" altLang="en-US" b="0" dirty="0"/>
          </a:p>
          <a:p>
            <a:pPr marL="443230" indent="-443230" algn="just">
              <a:spcBef>
                <a:spcPts val="600"/>
              </a:spcBef>
            </a:pPr>
            <a:r>
              <a:rPr lang="en-US" altLang="zh-CN" b="0" dirty="0"/>
              <a:t>3</a:t>
            </a:r>
            <a:r>
              <a:rPr lang="zh-CN" altLang="en-US" b="0" dirty="0"/>
              <a:t>、异步方式下，波特率</a:t>
            </a:r>
            <a:r>
              <a:rPr lang="en-US" altLang="zh-CN" b="0" dirty="0">
                <a:solidFill>
                  <a:srgbClr val="0000FF"/>
                </a:solidFill>
              </a:rPr>
              <a:t>0-19.2Kbps</a:t>
            </a:r>
            <a:r>
              <a:rPr lang="zh-CN" altLang="en-US" b="0" dirty="0"/>
              <a:t>，每个字符可为</a:t>
            </a:r>
            <a:r>
              <a:rPr lang="en-US" altLang="zh-CN" b="0" dirty="0">
                <a:solidFill>
                  <a:srgbClr val="0000FF"/>
                </a:solidFill>
              </a:rPr>
              <a:t>5-8</a:t>
            </a:r>
            <a:r>
              <a:rPr lang="zh-CN" altLang="en-US" b="0" dirty="0">
                <a:solidFill>
                  <a:srgbClr val="0000FF"/>
                </a:solidFill>
              </a:rPr>
              <a:t>位</a:t>
            </a:r>
            <a:r>
              <a:rPr lang="zh-CN" altLang="en-US" b="0" dirty="0"/>
              <a:t>，可产生</a:t>
            </a:r>
            <a:r>
              <a:rPr lang="zh-CN" altLang="en-US" b="0" dirty="0">
                <a:solidFill>
                  <a:srgbClr val="0000FF"/>
                </a:solidFill>
              </a:rPr>
              <a:t>启动位</a:t>
            </a:r>
            <a:r>
              <a:rPr lang="zh-CN" altLang="en-US" b="0" dirty="0"/>
              <a:t>，设定</a:t>
            </a:r>
            <a:r>
              <a:rPr lang="zh-CN" altLang="en-US" b="0" dirty="0">
                <a:solidFill>
                  <a:srgbClr val="0000FF"/>
                </a:solidFill>
              </a:rPr>
              <a:t>停止位</a:t>
            </a:r>
            <a:r>
              <a:rPr lang="zh-CN" altLang="en-US" b="0" dirty="0"/>
              <a:t>位数，时钟速率可设为波特率的</a:t>
            </a:r>
            <a:r>
              <a:rPr lang="en-US" altLang="zh-CN" b="0" dirty="0">
                <a:solidFill>
                  <a:srgbClr val="0000FF"/>
                </a:solidFill>
              </a:rPr>
              <a:t>1</a:t>
            </a:r>
            <a:r>
              <a:rPr lang="zh-CN" altLang="en-US" b="0" dirty="0">
                <a:solidFill>
                  <a:srgbClr val="0000FF"/>
                </a:solidFill>
              </a:rPr>
              <a:t>、</a:t>
            </a:r>
            <a:r>
              <a:rPr lang="en-US" altLang="zh-CN" b="0" dirty="0">
                <a:solidFill>
                  <a:srgbClr val="0000FF"/>
                </a:solidFill>
              </a:rPr>
              <a:t>16</a:t>
            </a:r>
            <a:r>
              <a:rPr lang="zh-CN" altLang="en-US" b="0" dirty="0">
                <a:solidFill>
                  <a:srgbClr val="0000FF"/>
                </a:solidFill>
              </a:rPr>
              <a:t>、</a:t>
            </a:r>
            <a:r>
              <a:rPr lang="en-US" altLang="zh-CN" b="0" dirty="0">
                <a:solidFill>
                  <a:srgbClr val="0000FF"/>
                </a:solidFill>
              </a:rPr>
              <a:t>64</a:t>
            </a:r>
            <a:r>
              <a:rPr lang="zh-CN" altLang="en-US" b="0" dirty="0"/>
              <a:t>倍（波特率因子）。</a:t>
            </a:r>
            <a:endParaRPr lang="zh-CN" altLang="en-US" b="0" dirty="0"/>
          </a:p>
          <a:p>
            <a:pPr marL="443230" indent="-443230" algn="just">
              <a:spcBef>
                <a:spcPts val="600"/>
              </a:spcBef>
            </a:pPr>
            <a:r>
              <a:rPr lang="en-US" altLang="zh-CN" b="0" dirty="0"/>
              <a:t>4</a:t>
            </a:r>
            <a:r>
              <a:rPr lang="zh-CN" altLang="en-US" b="0" dirty="0"/>
              <a:t>、具有</a:t>
            </a:r>
            <a:r>
              <a:rPr lang="zh-CN" altLang="en-US" b="0" dirty="0">
                <a:solidFill>
                  <a:srgbClr val="0000FF"/>
                </a:solidFill>
              </a:rPr>
              <a:t>自动检测</a:t>
            </a:r>
            <a:r>
              <a:rPr lang="zh-CN" altLang="en-US" b="0" dirty="0"/>
              <a:t>功能，可检测奇偶错、溢出错、帧错误。</a:t>
            </a:r>
            <a:endParaRPr lang="zh-CN" altLang="en-US" b="0" dirty="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1714" name="Picture 2"/>
          <p:cNvPicPr>
            <a:picLocks noChangeAspect="1" noChangeArrowheads="1"/>
          </p:cNvPicPr>
          <p:nvPr/>
        </p:nvPicPr>
        <p:blipFill>
          <a:blip r:embed="rId1">
            <a:clrChange>
              <a:clrFrom>
                <a:srgbClr val="FFFFFF"/>
              </a:clrFrom>
              <a:clrTo>
                <a:srgbClr val="FFFFFF">
                  <a:alpha val="0"/>
                </a:srgbClr>
              </a:clrTo>
            </a:clrChange>
          </a:blip>
          <a:srcRect/>
          <a:stretch>
            <a:fillRect/>
          </a:stretch>
        </p:blipFill>
        <p:spPr bwMode="auto">
          <a:xfrm>
            <a:off x="719956" y="1365920"/>
            <a:ext cx="7343775" cy="5240337"/>
          </a:xfrm>
          <a:prstGeom prst="rect">
            <a:avLst/>
          </a:prstGeom>
          <a:noFill/>
        </p:spPr>
      </p:pic>
      <p:sp>
        <p:nvSpPr>
          <p:cNvPr id="371715" name="Rectangle 3"/>
          <p:cNvSpPr>
            <a:spLocks noChangeArrowheads="1"/>
          </p:cNvSpPr>
          <p:nvPr/>
        </p:nvSpPr>
        <p:spPr bwMode="auto">
          <a:xfrm>
            <a:off x="395536" y="908720"/>
            <a:ext cx="7993062" cy="457200"/>
          </a:xfrm>
          <a:prstGeom prst="rect">
            <a:avLst/>
          </a:prstGeom>
          <a:noFill/>
          <a:ln w="9525" algn="ctr">
            <a:noFill/>
            <a:miter lim="800000"/>
          </a:ln>
          <a:effectLst/>
        </p:spPr>
        <p:txBody>
          <a:bodyPr>
            <a:spAutoFit/>
          </a:bodyPr>
          <a:lstStyle/>
          <a:p>
            <a:r>
              <a:rPr lang="en-US" altLang="zh-CN" b="1" u="sng" dirty="0">
                <a:solidFill>
                  <a:srgbClr val="0000FF"/>
                </a:solidFill>
                <a:effectLst>
                  <a:outerShdw blurRad="38100" dist="38100" dir="2700000" algn="tl">
                    <a:srgbClr val="C0C0C0"/>
                  </a:outerShdw>
                </a:effectLst>
              </a:rPr>
              <a:t>8251</a:t>
            </a:r>
            <a:r>
              <a:rPr lang="zh-CN" altLang="en-US" b="1" u="sng" dirty="0">
                <a:solidFill>
                  <a:srgbClr val="0000FF"/>
                </a:solidFill>
                <a:effectLst>
                  <a:outerShdw blurRad="38100" dist="38100" dir="2700000" algn="tl">
                    <a:srgbClr val="C0C0C0"/>
                  </a:outerShdw>
                </a:effectLst>
              </a:rPr>
              <a:t>内部工作原理</a:t>
            </a:r>
            <a:endParaRPr lang="zh-CN" altLang="en-US" dirty="0"/>
          </a:p>
        </p:txBody>
      </p:sp>
      <p:sp>
        <p:nvSpPr>
          <p:cNvPr id="4" name="Rectangle 4"/>
          <p:cNvSpPr>
            <a:spLocks noChangeArrowheads="1"/>
          </p:cNvSpPr>
          <p:nvPr/>
        </p:nvSpPr>
        <p:spPr bwMode="auto">
          <a:xfrm>
            <a:off x="467544" y="368660"/>
            <a:ext cx="7848600" cy="492443"/>
          </a:xfrm>
          <a:prstGeom prst="rect">
            <a:avLst/>
          </a:prstGeom>
          <a:noFill/>
          <a:ln w="9525" algn="ctr">
            <a:noFill/>
            <a:miter lim="800000"/>
          </a:ln>
          <a:effectLst/>
        </p:spPr>
        <p:txBody>
          <a:bodyPr>
            <a:spAutoFit/>
          </a:bodyPr>
          <a:lstStyle/>
          <a:p>
            <a:r>
              <a:rPr lang="zh-CN" altLang="en-US" sz="2600" kern="0" dirty="0">
                <a:solidFill>
                  <a:schemeClr val="tx2"/>
                </a:solidFill>
                <a:effectLst>
                  <a:outerShdw blurRad="38100" dist="38100" dir="2700000" algn="tl">
                    <a:srgbClr val="C0C0C0"/>
                  </a:outerShdw>
                </a:effectLst>
                <a:latin typeface="+mj-lt"/>
                <a:cs typeface="+mj-cs"/>
              </a:rPr>
              <a:t>可编程串行通信接口</a:t>
            </a:r>
            <a:r>
              <a:rPr lang="en-US" altLang="zh-CN" sz="2600" kern="0" dirty="0">
                <a:solidFill>
                  <a:schemeClr val="tx2"/>
                </a:solidFill>
                <a:effectLst>
                  <a:outerShdw blurRad="38100" dist="38100" dir="2700000" algn="tl">
                    <a:srgbClr val="C0C0C0"/>
                  </a:outerShdw>
                </a:effectLst>
                <a:latin typeface="+mj-lt"/>
                <a:cs typeface="+mj-cs"/>
              </a:rPr>
              <a:t>8251A</a:t>
            </a:r>
            <a:endParaRPr lang="en-US" altLang="zh-CN"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7074" name="Picture 2"/>
          <p:cNvPicPr>
            <a:picLocks noChangeAspect="1" noChangeArrowheads="1"/>
          </p:cNvPicPr>
          <p:nvPr/>
        </p:nvPicPr>
        <p:blipFill>
          <a:blip r:embed="rId1">
            <a:clrChange>
              <a:clrFrom>
                <a:srgbClr val="FFFFFF"/>
              </a:clrFrom>
              <a:clrTo>
                <a:srgbClr val="FFFFFF">
                  <a:alpha val="0"/>
                </a:srgbClr>
              </a:clrTo>
            </a:clrChange>
          </a:blip>
          <a:srcRect/>
          <a:stretch>
            <a:fillRect/>
          </a:stretch>
        </p:blipFill>
        <p:spPr bwMode="auto">
          <a:xfrm>
            <a:off x="2195364" y="848635"/>
            <a:ext cx="6192986" cy="4658604"/>
          </a:xfrm>
          <a:prstGeom prst="rect">
            <a:avLst/>
          </a:prstGeom>
          <a:noFill/>
        </p:spPr>
      </p:pic>
      <p:sp>
        <p:nvSpPr>
          <p:cNvPr id="387075" name="Rectangle 3"/>
          <p:cNvSpPr>
            <a:spLocks noChangeArrowheads="1"/>
          </p:cNvSpPr>
          <p:nvPr/>
        </p:nvSpPr>
        <p:spPr bwMode="auto">
          <a:xfrm>
            <a:off x="467544" y="1124744"/>
            <a:ext cx="1584424" cy="830997"/>
          </a:xfrm>
          <a:prstGeom prst="rect">
            <a:avLst/>
          </a:prstGeom>
          <a:noFill/>
          <a:ln w="9525" algn="ctr">
            <a:noFill/>
            <a:miter lim="800000"/>
          </a:ln>
          <a:effectLst/>
        </p:spPr>
        <p:txBody>
          <a:bodyPr wrap="square">
            <a:spAutoFit/>
          </a:bodyPr>
          <a:lstStyle/>
          <a:p>
            <a:r>
              <a:rPr lang="en-US" altLang="zh-CN" b="1" u="sng" dirty="0">
                <a:solidFill>
                  <a:srgbClr val="0000FF"/>
                </a:solidFill>
                <a:effectLst>
                  <a:outerShdw blurRad="38100" dist="38100" dir="2700000" algn="tl">
                    <a:srgbClr val="C0C0C0"/>
                  </a:outerShdw>
                </a:effectLst>
              </a:rPr>
              <a:t>8251</a:t>
            </a:r>
            <a:r>
              <a:rPr lang="zh-CN" altLang="en-US" b="1" u="sng" dirty="0">
                <a:solidFill>
                  <a:srgbClr val="0000FF"/>
                </a:solidFill>
                <a:effectLst>
                  <a:outerShdw blurRad="38100" dist="38100" dir="2700000" algn="tl">
                    <a:srgbClr val="C0C0C0"/>
                  </a:outerShdw>
                </a:effectLst>
              </a:rPr>
              <a:t>的接口信号</a:t>
            </a:r>
            <a:endParaRPr lang="zh-CN" altLang="en-US" dirty="0"/>
          </a:p>
        </p:txBody>
      </p:sp>
      <p:sp>
        <p:nvSpPr>
          <p:cNvPr id="387076" name="Rectangle 4"/>
          <p:cNvSpPr>
            <a:spLocks noChangeArrowheads="1"/>
          </p:cNvSpPr>
          <p:nvPr/>
        </p:nvSpPr>
        <p:spPr bwMode="auto">
          <a:xfrm>
            <a:off x="539750" y="5516563"/>
            <a:ext cx="7848600" cy="1077218"/>
          </a:xfrm>
          <a:prstGeom prst="rect">
            <a:avLst/>
          </a:prstGeom>
          <a:noFill/>
          <a:ln w="9525" algn="ctr">
            <a:noFill/>
            <a:miter lim="800000"/>
          </a:ln>
          <a:effectLst/>
        </p:spPr>
        <p:txBody>
          <a:bodyPr wrap="square">
            <a:spAutoFit/>
          </a:bodyPr>
          <a:lstStyle/>
          <a:p>
            <a:pPr algn="just"/>
            <a:r>
              <a:rPr lang="en-US" altLang="zh-CN" dirty="0"/>
              <a:t>    </a:t>
            </a:r>
            <a:r>
              <a:rPr lang="en-US" altLang="zh-CN" sz="2000" dirty="0"/>
              <a:t>8251A</a:t>
            </a:r>
            <a:r>
              <a:rPr lang="zh-CN" altLang="en-US" sz="2000" dirty="0"/>
              <a:t>做为</a:t>
            </a:r>
            <a:r>
              <a:rPr lang="en-US" altLang="zh-CN" sz="2000" dirty="0"/>
              <a:t>CPU</a:t>
            </a:r>
            <a:r>
              <a:rPr lang="zh-CN" altLang="en-US" sz="2000" dirty="0"/>
              <a:t>和外部设备</a:t>
            </a:r>
            <a:r>
              <a:rPr lang="en-US" altLang="zh-CN" sz="2000" dirty="0"/>
              <a:t>(</a:t>
            </a:r>
            <a:r>
              <a:rPr lang="zh-CN" altLang="en-US" sz="2000" dirty="0"/>
              <a:t>或调制解调器</a:t>
            </a:r>
            <a:r>
              <a:rPr lang="en-US" altLang="zh-CN" sz="2000" dirty="0"/>
              <a:t>)</a:t>
            </a:r>
            <a:r>
              <a:rPr lang="zh-CN" altLang="en-US" sz="2000" dirty="0"/>
              <a:t>之间的接口，</a:t>
            </a:r>
            <a:r>
              <a:rPr lang="en-US" altLang="zh-CN" sz="2000" dirty="0">
                <a:solidFill>
                  <a:srgbClr val="FF0000"/>
                </a:solidFill>
              </a:rPr>
              <a:t>8251A</a:t>
            </a:r>
            <a:r>
              <a:rPr lang="zh-CN" altLang="en-US" sz="2000" dirty="0">
                <a:solidFill>
                  <a:srgbClr val="FF0000"/>
                </a:solidFill>
              </a:rPr>
              <a:t>对外信号分为两组</a:t>
            </a:r>
            <a:r>
              <a:rPr lang="zh-CN" altLang="en-US" sz="2000" dirty="0"/>
              <a:t>，一组是</a:t>
            </a:r>
            <a:r>
              <a:rPr lang="en-US" altLang="zh-CN" sz="2000" dirty="0"/>
              <a:t>8251A</a:t>
            </a:r>
            <a:r>
              <a:rPr lang="zh-CN" altLang="en-US" sz="2000" dirty="0"/>
              <a:t>与</a:t>
            </a:r>
            <a:r>
              <a:rPr lang="en-US" altLang="zh-CN" sz="2000" dirty="0"/>
              <a:t>CPU</a:t>
            </a:r>
            <a:r>
              <a:rPr lang="zh-CN" altLang="en-US" sz="2000" dirty="0"/>
              <a:t>之间的信号，一组是</a:t>
            </a:r>
            <a:r>
              <a:rPr lang="en-US" altLang="zh-CN" sz="2000" dirty="0"/>
              <a:t>8251A</a:t>
            </a:r>
            <a:r>
              <a:rPr lang="zh-CN" altLang="en-US" sz="2000" dirty="0"/>
              <a:t>与外部设备之间的信号。</a:t>
            </a:r>
            <a:endParaRPr lang="zh-CN" altLang="en-US" sz="2000" dirty="0"/>
          </a:p>
        </p:txBody>
      </p:sp>
      <p:sp>
        <p:nvSpPr>
          <p:cNvPr id="5" name="Rectangle 4"/>
          <p:cNvSpPr>
            <a:spLocks noChangeArrowheads="1"/>
          </p:cNvSpPr>
          <p:nvPr/>
        </p:nvSpPr>
        <p:spPr bwMode="auto">
          <a:xfrm>
            <a:off x="467544" y="368660"/>
            <a:ext cx="7848600" cy="492443"/>
          </a:xfrm>
          <a:prstGeom prst="rect">
            <a:avLst/>
          </a:prstGeom>
          <a:noFill/>
          <a:ln w="9525" algn="ctr">
            <a:noFill/>
            <a:miter lim="800000"/>
          </a:ln>
          <a:effectLst/>
        </p:spPr>
        <p:txBody>
          <a:bodyPr>
            <a:spAutoFit/>
          </a:bodyPr>
          <a:lstStyle/>
          <a:p>
            <a:r>
              <a:rPr lang="zh-CN" altLang="en-US" sz="2600" kern="0" dirty="0">
                <a:solidFill>
                  <a:schemeClr val="tx2"/>
                </a:solidFill>
                <a:effectLst>
                  <a:outerShdw blurRad="38100" dist="38100" dir="2700000" algn="tl">
                    <a:srgbClr val="C0C0C0"/>
                  </a:outerShdw>
                </a:effectLst>
                <a:latin typeface="+mj-lt"/>
                <a:cs typeface="+mj-cs"/>
              </a:rPr>
              <a:t>可编程串行通信接口</a:t>
            </a:r>
            <a:r>
              <a:rPr lang="en-US" altLang="zh-CN" sz="2600" kern="0" dirty="0">
                <a:solidFill>
                  <a:schemeClr val="tx2"/>
                </a:solidFill>
                <a:effectLst>
                  <a:outerShdw blurRad="38100" dist="38100" dir="2700000" algn="tl">
                    <a:srgbClr val="C0C0C0"/>
                  </a:outerShdw>
                </a:effectLst>
                <a:latin typeface="+mj-lt"/>
                <a:cs typeface="+mj-cs"/>
              </a:rPr>
              <a:t>8251A</a:t>
            </a:r>
            <a:endParaRPr lang="en-US" altLang="zh-CN"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4" name="Rectangle 4"/>
          <p:cNvSpPr>
            <a:spLocks noChangeArrowheads="1"/>
          </p:cNvSpPr>
          <p:nvPr/>
        </p:nvSpPr>
        <p:spPr bwMode="auto">
          <a:xfrm>
            <a:off x="611188" y="1124868"/>
            <a:ext cx="7993062" cy="2751522"/>
          </a:xfrm>
          <a:prstGeom prst="rect">
            <a:avLst/>
          </a:prstGeom>
          <a:noFill/>
          <a:ln w="9525" algn="ctr">
            <a:noFill/>
            <a:miter lim="800000"/>
          </a:ln>
          <a:effectLst/>
        </p:spPr>
        <p:txBody>
          <a:bodyPr>
            <a:spAutoFit/>
          </a:bodyPr>
          <a:lstStyle/>
          <a:p>
            <a:pPr>
              <a:lnSpc>
                <a:spcPct val="90000"/>
              </a:lnSpc>
            </a:pPr>
            <a:r>
              <a:rPr lang="en-US" altLang="zh-CN" b="0" u="sng" dirty="0">
                <a:solidFill>
                  <a:srgbClr val="0000FF"/>
                </a:solidFill>
              </a:rPr>
              <a:t>8251A</a:t>
            </a:r>
            <a:r>
              <a:rPr lang="zh-CN" altLang="en-US" b="0" u="sng" dirty="0">
                <a:solidFill>
                  <a:srgbClr val="0000FF"/>
                </a:solidFill>
              </a:rPr>
              <a:t>与</a:t>
            </a:r>
            <a:r>
              <a:rPr lang="en-US" altLang="zh-CN" b="0" u="sng" dirty="0">
                <a:solidFill>
                  <a:srgbClr val="0000FF"/>
                </a:solidFill>
              </a:rPr>
              <a:t>CPU</a:t>
            </a:r>
            <a:r>
              <a:rPr lang="zh-CN" altLang="en-US" b="0" u="sng" dirty="0">
                <a:solidFill>
                  <a:srgbClr val="0000FF"/>
                </a:solidFill>
              </a:rPr>
              <a:t>的连接信号</a:t>
            </a:r>
            <a:endParaRPr lang="zh-CN" altLang="en-US" b="0" u="sng" dirty="0">
              <a:solidFill>
                <a:srgbClr val="0000FF"/>
              </a:solidFill>
            </a:endParaRPr>
          </a:p>
          <a:p>
            <a:pPr>
              <a:lnSpc>
                <a:spcPct val="90000"/>
              </a:lnSpc>
            </a:pPr>
            <a:endParaRPr lang="zh-CN" altLang="en-US" b="0" dirty="0"/>
          </a:p>
          <a:p>
            <a:pPr>
              <a:lnSpc>
                <a:spcPct val="90000"/>
              </a:lnSpc>
            </a:pPr>
            <a:r>
              <a:rPr lang="en-US" altLang="zh-CN" b="0" dirty="0"/>
              <a:t>1</a:t>
            </a:r>
            <a:r>
              <a:rPr lang="zh-CN" altLang="en-US" b="0" dirty="0"/>
              <a:t>、数据线</a:t>
            </a:r>
            <a:r>
              <a:rPr lang="en-US" altLang="zh-CN" b="0" dirty="0"/>
              <a:t>D0-D7</a:t>
            </a:r>
            <a:r>
              <a:rPr lang="zh-CN" altLang="en-US" b="0" dirty="0"/>
              <a:t>，双向三态、</a:t>
            </a:r>
            <a:r>
              <a:rPr lang="en-US" altLang="zh-CN" b="0" dirty="0"/>
              <a:t>8</a:t>
            </a:r>
            <a:r>
              <a:rPr lang="zh-CN" altLang="en-US" b="0" dirty="0"/>
              <a:t>位缓冲器</a:t>
            </a:r>
            <a:endParaRPr lang="zh-CN" altLang="en-US" b="0" dirty="0"/>
          </a:p>
          <a:p>
            <a:pPr>
              <a:lnSpc>
                <a:spcPct val="90000"/>
              </a:lnSpc>
            </a:pPr>
            <a:r>
              <a:rPr lang="en-US" altLang="zh-CN" b="0" dirty="0"/>
              <a:t>2</a:t>
            </a:r>
            <a:r>
              <a:rPr lang="zh-CN" altLang="en-US" b="0" dirty="0"/>
              <a:t>、片选信号</a:t>
            </a:r>
            <a:r>
              <a:rPr lang="en-US" altLang="zh-CN" b="0" dirty="0"/>
              <a:t>CS</a:t>
            </a:r>
            <a:r>
              <a:rPr lang="zh-CN" altLang="en-US" b="0" dirty="0"/>
              <a:t>，由地址线和</a:t>
            </a:r>
            <a:r>
              <a:rPr lang="en-US" altLang="zh-CN" b="0" dirty="0"/>
              <a:t>M/IO</a:t>
            </a:r>
            <a:r>
              <a:rPr lang="zh-CN" altLang="en-US" b="0" dirty="0"/>
              <a:t>信号译码产生</a:t>
            </a:r>
            <a:endParaRPr lang="zh-CN" altLang="en-US" b="0" dirty="0"/>
          </a:p>
          <a:p>
            <a:pPr>
              <a:lnSpc>
                <a:spcPct val="90000"/>
              </a:lnSpc>
            </a:pPr>
            <a:r>
              <a:rPr lang="en-US" altLang="zh-CN" b="0" dirty="0"/>
              <a:t>3</a:t>
            </a:r>
            <a:r>
              <a:rPr lang="zh-CN" altLang="en-US" b="0" dirty="0"/>
              <a:t>、读</a:t>
            </a:r>
            <a:r>
              <a:rPr lang="en-US" altLang="zh-CN" b="0" dirty="0"/>
              <a:t>/</a:t>
            </a:r>
            <a:r>
              <a:rPr lang="zh-CN" altLang="en-US" b="0" dirty="0"/>
              <a:t>写控制信号线</a:t>
            </a:r>
            <a:r>
              <a:rPr lang="en-US" altLang="zh-CN" b="0" dirty="0"/>
              <a:t>WR</a:t>
            </a:r>
            <a:r>
              <a:rPr lang="zh-CN" altLang="en-US" b="0" dirty="0"/>
              <a:t>、</a:t>
            </a:r>
            <a:r>
              <a:rPr lang="en-US" altLang="zh-CN" b="0" dirty="0"/>
              <a:t>RD</a:t>
            </a:r>
            <a:endParaRPr lang="en-US" altLang="zh-CN" b="0" dirty="0"/>
          </a:p>
          <a:p>
            <a:pPr>
              <a:lnSpc>
                <a:spcPct val="90000"/>
              </a:lnSpc>
            </a:pPr>
            <a:r>
              <a:rPr lang="en-US" altLang="zh-CN" b="0" dirty="0"/>
              <a:t>4</a:t>
            </a:r>
            <a:r>
              <a:rPr lang="zh-CN" altLang="en-US" b="0" dirty="0"/>
              <a:t>、控制</a:t>
            </a:r>
            <a:r>
              <a:rPr lang="en-US" altLang="zh-CN" b="0" dirty="0"/>
              <a:t>/</a:t>
            </a:r>
            <a:r>
              <a:rPr lang="zh-CN" altLang="en-US" b="0" dirty="0"/>
              <a:t>数据选择</a:t>
            </a:r>
            <a:r>
              <a:rPr lang="en-US" altLang="zh-CN" b="0" dirty="0"/>
              <a:t>C/D</a:t>
            </a:r>
            <a:r>
              <a:rPr lang="zh-CN" altLang="en-US" b="0" dirty="0"/>
              <a:t>，区分当前数据线上信息的种类</a:t>
            </a:r>
            <a:endParaRPr lang="zh-CN" altLang="en-US" b="0" dirty="0"/>
          </a:p>
          <a:p>
            <a:pPr>
              <a:lnSpc>
                <a:spcPct val="90000"/>
              </a:lnSpc>
            </a:pPr>
            <a:r>
              <a:rPr lang="zh-CN" altLang="en-US" b="0" dirty="0"/>
              <a:t>    </a:t>
            </a:r>
            <a:r>
              <a:rPr lang="en-US" altLang="zh-CN" b="0" dirty="0"/>
              <a:t>C/D=1 </a:t>
            </a:r>
            <a:r>
              <a:rPr lang="en-US" altLang="zh-CN" b="0" dirty="0">
                <a:latin typeface="Arial" panose="020B0604020202020204"/>
              </a:rPr>
              <a:t>——</a:t>
            </a:r>
            <a:r>
              <a:rPr lang="en-US" altLang="zh-CN" b="0" dirty="0"/>
              <a:t> </a:t>
            </a:r>
            <a:r>
              <a:rPr lang="zh-CN" altLang="en-US" b="0" dirty="0"/>
              <a:t>传送控制信息</a:t>
            </a:r>
            <a:endParaRPr lang="zh-CN" altLang="en-US" b="0" dirty="0"/>
          </a:p>
          <a:p>
            <a:pPr>
              <a:lnSpc>
                <a:spcPct val="90000"/>
              </a:lnSpc>
            </a:pPr>
            <a:r>
              <a:rPr lang="zh-CN" altLang="en-US" b="0" dirty="0"/>
              <a:t>    </a:t>
            </a:r>
            <a:r>
              <a:rPr lang="en-US" altLang="zh-CN" b="0" dirty="0"/>
              <a:t>C/D=0 </a:t>
            </a:r>
            <a:r>
              <a:rPr lang="en-US" altLang="zh-CN" b="0" dirty="0">
                <a:latin typeface="Arial" panose="020B0604020202020204"/>
              </a:rPr>
              <a:t>——</a:t>
            </a:r>
            <a:r>
              <a:rPr lang="en-US" altLang="zh-CN" b="0" dirty="0"/>
              <a:t> </a:t>
            </a:r>
            <a:r>
              <a:rPr lang="zh-CN" altLang="en-US" b="0" dirty="0"/>
              <a:t>传送数据</a:t>
            </a:r>
            <a:endParaRPr lang="zh-CN" altLang="en-US" b="0" dirty="0"/>
          </a:p>
        </p:txBody>
      </p:sp>
      <p:sp>
        <p:nvSpPr>
          <p:cNvPr id="378886" name="Line 6"/>
          <p:cNvSpPr>
            <a:spLocks noChangeShapeType="1"/>
          </p:cNvSpPr>
          <p:nvPr/>
        </p:nvSpPr>
        <p:spPr bwMode="auto">
          <a:xfrm>
            <a:off x="2339975" y="2168860"/>
            <a:ext cx="360363" cy="0"/>
          </a:xfrm>
          <a:prstGeom prst="line">
            <a:avLst/>
          </a:prstGeom>
          <a:noFill/>
          <a:ln w="9525">
            <a:solidFill>
              <a:schemeClr val="tx1"/>
            </a:solidFill>
            <a:round/>
          </a:ln>
          <a:effectLst/>
        </p:spPr>
        <p:txBody>
          <a:bodyPr/>
          <a:lstStyle/>
          <a:p>
            <a:endParaRPr lang="zh-CN" altLang="en-US"/>
          </a:p>
        </p:txBody>
      </p:sp>
      <p:sp>
        <p:nvSpPr>
          <p:cNvPr id="378887" name="Line 7"/>
          <p:cNvSpPr>
            <a:spLocks noChangeShapeType="1"/>
          </p:cNvSpPr>
          <p:nvPr/>
        </p:nvSpPr>
        <p:spPr bwMode="auto">
          <a:xfrm>
            <a:off x="4931717" y="2168860"/>
            <a:ext cx="360363" cy="0"/>
          </a:xfrm>
          <a:prstGeom prst="line">
            <a:avLst/>
          </a:prstGeom>
          <a:noFill/>
          <a:ln w="9525">
            <a:solidFill>
              <a:schemeClr val="tx1"/>
            </a:solidFill>
            <a:round/>
          </a:ln>
          <a:effectLst/>
        </p:spPr>
        <p:txBody>
          <a:bodyPr/>
          <a:lstStyle/>
          <a:p>
            <a:endParaRPr lang="zh-CN" altLang="en-US"/>
          </a:p>
        </p:txBody>
      </p:sp>
      <p:sp>
        <p:nvSpPr>
          <p:cNvPr id="378888" name="Line 8"/>
          <p:cNvSpPr>
            <a:spLocks noChangeShapeType="1"/>
          </p:cNvSpPr>
          <p:nvPr/>
        </p:nvSpPr>
        <p:spPr bwMode="auto">
          <a:xfrm>
            <a:off x="4175634" y="2493293"/>
            <a:ext cx="360362" cy="0"/>
          </a:xfrm>
          <a:prstGeom prst="line">
            <a:avLst/>
          </a:prstGeom>
          <a:noFill/>
          <a:ln w="9525">
            <a:solidFill>
              <a:schemeClr val="tx1"/>
            </a:solidFill>
            <a:round/>
          </a:ln>
          <a:effectLst/>
        </p:spPr>
        <p:txBody>
          <a:bodyPr/>
          <a:lstStyle/>
          <a:p>
            <a:endParaRPr lang="zh-CN" altLang="en-US"/>
          </a:p>
        </p:txBody>
      </p:sp>
      <p:sp>
        <p:nvSpPr>
          <p:cNvPr id="378889" name="Line 9"/>
          <p:cNvSpPr>
            <a:spLocks noChangeShapeType="1"/>
          </p:cNvSpPr>
          <p:nvPr/>
        </p:nvSpPr>
        <p:spPr bwMode="auto">
          <a:xfrm>
            <a:off x="3419475" y="2493293"/>
            <a:ext cx="360363" cy="0"/>
          </a:xfrm>
          <a:prstGeom prst="line">
            <a:avLst/>
          </a:prstGeom>
          <a:noFill/>
          <a:ln w="9525">
            <a:solidFill>
              <a:schemeClr val="tx1"/>
            </a:solidFill>
            <a:round/>
          </a:ln>
          <a:effectLst/>
        </p:spPr>
        <p:txBody>
          <a:bodyPr/>
          <a:lstStyle/>
          <a:p>
            <a:endParaRPr lang="zh-CN" altLang="en-US"/>
          </a:p>
        </p:txBody>
      </p:sp>
      <p:sp>
        <p:nvSpPr>
          <p:cNvPr id="378890" name="Line 10"/>
          <p:cNvSpPr>
            <a:spLocks noChangeShapeType="1"/>
          </p:cNvSpPr>
          <p:nvPr/>
        </p:nvSpPr>
        <p:spPr bwMode="auto">
          <a:xfrm>
            <a:off x="1295636" y="3140993"/>
            <a:ext cx="215900" cy="0"/>
          </a:xfrm>
          <a:prstGeom prst="line">
            <a:avLst/>
          </a:prstGeom>
          <a:noFill/>
          <a:ln w="9525">
            <a:solidFill>
              <a:schemeClr val="tx1"/>
            </a:solidFill>
            <a:round/>
          </a:ln>
          <a:effectLst/>
        </p:spPr>
        <p:txBody>
          <a:bodyPr/>
          <a:lstStyle/>
          <a:p>
            <a:endParaRPr lang="zh-CN" altLang="en-US"/>
          </a:p>
        </p:txBody>
      </p:sp>
      <p:sp>
        <p:nvSpPr>
          <p:cNvPr id="378891" name="Line 11"/>
          <p:cNvSpPr>
            <a:spLocks noChangeShapeType="1"/>
          </p:cNvSpPr>
          <p:nvPr/>
        </p:nvSpPr>
        <p:spPr bwMode="auto">
          <a:xfrm>
            <a:off x="1295636" y="3465004"/>
            <a:ext cx="215900" cy="0"/>
          </a:xfrm>
          <a:prstGeom prst="line">
            <a:avLst/>
          </a:prstGeom>
          <a:noFill/>
          <a:ln w="9525">
            <a:solidFill>
              <a:schemeClr val="tx1"/>
            </a:solidFill>
            <a:round/>
          </a:ln>
          <a:effectLst/>
        </p:spPr>
        <p:txBody>
          <a:bodyPr/>
          <a:lstStyle/>
          <a:p>
            <a:endParaRPr lang="zh-CN" altLang="en-US"/>
          </a:p>
        </p:txBody>
      </p:sp>
      <p:sp>
        <p:nvSpPr>
          <p:cNvPr id="14" name="Rectangle 4"/>
          <p:cNvSpPr>
            <a:spLocks noChangeArrowheads="1"/>
          </p:cNvSpPr>
          <p:nvPr/>
        </p:nvSpPr>
        <p:spPr bwMode="auto">
          <a:xfrm>
            <a:off x="467544" y="368660"/>
            <a:ext cx="7848600" cy="492443"/>
          </a:xfrm>
          <a:prstGeom prst="rect">
            <a:avLst/>
          </a:prstGeom>
          <a:noFill/>
          <a:ln w="9525" algn="ctr">
            <a:noFill/>
            <a:miter lim="800000"/>
          </a:ln>
          <a:effectLst/>
        </p:spPr>
        <p:txBody>
          <a:bodyPr>
            <a:spAutoFit/>
          </a:bodyPr>
          <a:lstStyle/>
          <a:p>
            <a:r>
              <a:rPr lang="zh-CN" altLang="en-US" sz="2600" kern="0" dirty="0">
                <a:solidFill>
                  <a:schemeClr val="tx2"/>
                </a:solidFill>
                <a:effectLst>
                  <a:outerShdw blurRad="38100" dist="38100" dir="2700000" algn="tl">
                    <a:srgbClr val="C0C0C0"/>
                  </a:outerShdw>
                </a:effectLst>
                <a:latin typeface="+mj-lt"/>
                <a:cs typeface="+mj-cs"/>
              </a:rPr>
              <a:t>可编程串行通信接口</a:t>
            </a:r>
            <a:r>
              <a:rPr lang="en-US" altLang="zh-CN" sz="2600" kern="0" dirty="0">
                <a:solidFill>
                  <a:schemeClr val="tx2"/>
                </a:solidFill>
                <a:effectLst>
                  <a:outerShdw blurRad="38100" dist="38100" dir="2700000" algn="tl">
                    <a:srgbClr val="C0C0C0"/>
                  </a:outerShdw>
                </a:effectLst>
                <a:latin typeface="+mj-lt"/>
                <a:cs typeface="+mj-cs"/>
              </a:rPr>
              <a:t>8251A</a:t>
            </a:r>
            <a:endParaRPr lang="en-US" altLang="zh-CN" sz="2600" kern="0" dirty="0">
              <a:solidFill>
                <a:schemeClr val="tx2"/>
              </a:solidFill>
              <a:effectLst>
                <a:outerShdw blurRad="38100" dist="38100" dir="2700000" algn="tl">
                  <a:srgbClr val="C0C0C0"/>
                </a:outerShdw>
              </a:effectLst>
              <a:latin typeface="+mj-lt"/>
              <a:cs typeface="+mj-cs"/>
            </a:endParaRPr>
          </a:p>
        </p:txBody>
      </p:sp>
      <p:pic>
        <p:nvPicPr>
          <p:cNvPr id="3" name="图片 2"/>
          <p:cNvPicPr>
            <a:picLocks noChangeAspect="1"/>
          </p:cNvPicPr>
          <p:nvPr/>
        </p:nvPicPr>
        <p:blipFill>
          <a:blip r:embed="rId1"/>
          <a:stretch>
            <a:fillRect/>
          </a:stretch>
        </p:blipFill>
        <p:spPr>
          <a:xfrm>
            <a:off x="1296061" y="3870999"/>
            <a:ext cx="5724212" cy="2677936"/>
          </a:xfrm>
          <a:prstGeom prst="rect">
            <a:avLst/>
          </a:prstGeom>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2"/>
          <p:cNvSpPr>
            <a:spLocks noChangeArrowheads="1"/>
          </p:cNvSpPr>
          <p:nvPr/>
        </p:nvSpPr>
        <p:spPr bwMode="auto">
          <a:xfrm>
            <a:off x="575556" y="1002613"/>
            <a:ext cx="4464496" cy="5447645"/>
          </a:xfrm>
          <a:prstGeom prst="rect">
            <a:avLst/>
          </a:prstGeom>
          <a:noFill/>
          <a:ln w="9525" algn="ctr">
            <a:noFill/>
            <a:miter lim="800000"/>
          </a:ln>
          <a:effectLst/>
        </p:spPr>
        <p:txBody>
          <a:bodyPr wrap="square">
            <a:spAutoFit/>
          </a:bodyPr>
          <a:lstStyle/>
          <a:p>
            <a:pPr algn="just">
              <a:spcBef>
                <a:spcPts val="1200"/>
              </a:spcBef>
            </a:pPr>
            <a:r>
              <a:rPr lang="en-US" altLang="zh-CN" b="0" dirty="0"/>
              <a:t>5</a:t>
            </a:r>
            <a:r>
              <a:rPr lang="zh-CN" altLang="en-US" b="0" dirty="0"/>
              <a:t>、收发联络信号</a:t>
            </a:r>
            <a:endParaRPr lang="zh-CN" altLang="en-US" b="0" dirty="0"/>
          </a:p>
          <a:p>
            <a:pPr algn="just">
              <a:spcBef>
                <a:spcPts val="1200"/>
              </a:spcBef>
            </a:pPr>
            <a:r>
              <a:rPr lang="zh-CN" altLang="en-US" b="0" dirty="0">
                <a:solidFill>
                  <a:srgbClr val="FF0000"/>
                </a:solidFill>
              </a:rPr>
              <a:t>    </a:t>
            </a:r>
            <a:r>
              <a:rPr lang="en-US" altLang="zh-CN" b="0" dirty="0" err="1">
                <a:solidFill>
                  <a:srgbClr val="FF0000"/>
                </a:solidFill>
              </a:rPr>
              <a:t>TxRDY</a:t>
            </a:r>
            <a:r>
              <a:rPr lang="zh-CN" altLang="en-US" b="0" dirty="0">
                <a:solidFill>
                  <a:srgbClr val="FF0000"/>
                </a:solidFill>
              </a:rPr>
              <a:t>－发送器准备好</a:t>
            </a:r>
            <a:endParaRPr lang="zh-CN" altLang="en-US" b="0" dirty="0">
              <a:solidFill>
                <a:srgbClr val="FF0000"/>
              </a:solidFill>
            </a:endParaRPr>
          </a:p>
          <a:p>
            <a:pPr algn="just">
              <a:spcBef>
                <a:spcPts val="1200"/>
              </a:spcBef>
            </a:pPr>
            <a:r>
              <a:rPr lang="zh-CN" altLang="en-US" b="0" dirty="0"/>
              <a:t>    </a:t>
            </a:r>
            <a:r>
              <a:rPr lang="en-US" altLang="zh-CN" b="0" dirty="0" err="1"/>
              <a:t>TxRDY</a:t>
            </a:r>
            <a:r>
              <a:rPr lang="en-US" altLang="zh-CN" b="0" dirty="0"/>
              <a:t>=l</a:t>
            </a:r>
            <a:r>
              <a:rPr lang="zh-CN" altLang="en-US" b="0" dirty="0"/>
              <a:t>表示</a:t>
            </a:r>
            <a:r>
              <a:rPr lang="en-US" altLang="zh-CN" b="0" dirty="0"/>
              <a:t>8251A</a:t>
            </a:r>
            <a:r>
              <a:rPr lang="zh-CN" altLang="en-US" b="0" dirty="0"/>
              <a:t>的发送器可以接收数据，</a:t>
            </a:r>
            <a:r>
              <a:rPr lang="en-US" altLang="zh-CN" b="0" dirty="0"/>
              <a:t>CPU</a:t>
            </a:r>
            <a:r>
              <a:rPr lang="zh-CN" altLang="en-US" b="0" dirty="0"/>
              <a:t>向</a:t>
            </a:r>
            <a:r>
              <a:rPr lang="en-US" altLang="zh-CN" b="0" dirty="0"/>
              <a:t>8251A</a:t>
            </a:r>
            <a:r>
              <a:rPr lang="zh-CN" altLang="en-US" b="0" dirty="0"/>
              <a:t>发送数据后</a:t>
            </a:r>
            <a:r>
              <a:rPr lang="en-US" altLang="zh-CN" b="0" dirty="0" err="1"/>
              <a:t>TxRDY</a:t>
            </a:r>
            <a:r>
              <a:rPr lang="en-US" altLang="zh-CN" b="0" dirty="0"/>
              <a:t>=0</a:t>
            </a:r>
            <a:r>
              <a:rPr lang="zh-CN" altLang="en-US" b="0" dirty="0"/>
              <a:t>。</a:t>
            </a:r>
            <a:endParaRPr lang="zh-CN" altLang="en-US" b="0" dirty="0"/>
          </a:p>
          <a:p>
            <a:pPr algn="just">
              <a:spcBef>
                <a:spcPts val="1200"/>
              </a:spcBef>
            </a:pPr>
            <a:r>
              <a:rPr lang="zh-CN" altLang="en-US" b="0" dirty="0">
                <a:solidFill>
                  <a:srgbClr val="FF0000"/>
                </a:solidFill>
              </a:rPr>
              <a:t>    </a:t>
            </a:r>
            <a:r>
              <a:rPr lang="en-US" altLang="zh-CN" b="0" dirty="0" err="1">
                <a:solidFill>
                  <a:srgbClr val="FF0000"/>
                </a:solidFill>
              </a:rPr>
              <a:t>TxE</a:t>
            </a:r>
            <a:r>
              <a:rPr lang="zh-CN" altLang="en-US" b="0" dirty="0">
                <a:solidFill>
                  <a:srgbClr val="FF0000"/>
                </a:solidFill>
              </a:rPr>
              <a:t>－发送器空</a:t>
            </a:r>
            <a:endParaRPr lang="zh-CN" altLang="en-US" b="0" dirty="0">
              <a:solidFill>
                <a:srgbClr val="FF0000"/>
              </a:solidFill>
            </a:endParaRPr>
          </a:p>
          <a:p>
            <a:pPr algn="just">
              <a:spcBef>
                <a:spcPts val="1200"/>
              </a:spcBef>
            </a:pPr>
            <a:r>
              <a:rPr lang="zh-CN" altLang="en-US" b="0" dirty="0"/>
              <a:t>    </a:t>
            </a:r>
            <a:r>
              <a:rPr lang="en-US" altLang="zh-CN" b="0" dirty="0" err="1"/>
              <a:t>TxE</a:t>
            </a:r>
            <a:r>
              <a:rPr lang="en-US" altLang="zh-CN" b="0" dirty="0"/>
              <a:t>=1</a:t>
            </a:r>
            <a:r>
              <a:rPr lang="zh-CN" altLang="en-US" b="0" dirty="0"/>
              <a:t>表示发送器中的移位寄存器变空，数据已发出。</a:t>
            </a:r>
            <a:endParaRPr lang="zh-CN" altLang="en-US" b="0" dirty="0"/>
          </a:p>
          <a:p>
            <a:pPr algn="just">
              <a:spcBef>
                <a:spcPts val="1200"/>
              </a:spcBef>
            </a:pPr>
            <a:r>
              <a:rPr lang="zh-CN" altLang="en-US" b="0" dirty="0">
                <a:solidFill>
                  <a:srgbClr val="FF0000"/>
                </a:solidFill>
              </a:rPr>
              <a:t>    </a:t>
            </a:r>
            <a:r>
              <a:rPr lang="en-US" altLang="zh-CN" b="0" dirty="0" err="1">
                <a:solidFill>
                  <a:srgbClr val="FF0000"/>
                </a:solidFill>
              </a:rPr>
              <a:t>RxRDY</a:t>
            </a:r>
            <a:r>
              <a:rPr lang="zh-CN" altLang="en-US" b="0" dirty="0">
                <a:solidFill>
                  <a:srgbClr val="FF0000"/>
                </a:solidFill>
              </a:rPr>
              <a:t>－接收器准备好</a:t>
            </a:r>
            <a:endParaRPr lang="zh-CN" altLang="en-US" b="0" dirty="0">
              <a:solidFill>
                <a:srgbClr val="FF0000"/>
              </a:solidFill>
            </a:endParaRPr>
          </a:p>
          <a:p>
            <a:pPr algn="just">
              <a:spcBef>
                <a:spcPts val="1200"/>
              </a:spcBef>
            </a:pPr>
            <a:r>
              <a:rPr lang="zh-CN" altLang="en-US" b="0" dirty="0"/>
              <a:t>    </a:t>
            </a:r>
            <a:r>
              <a:rPr lang="en-US" altLang="zh-CN" b="0" dirty="0" err="1"/>
              <a:t>RxRDY</a:t>
            </a:r>
            <a:r>
              <a:rPr lang="en-US" altLang="zh-CN" b="0" dirty="0"/>
              <a:t>=l</a:t>
            </a:r>
            <a:r>
              <a:rPr lang="zh-CN" altLang="en-US" b="0" dirty="0"/>
              <a:t>表示</a:t>
            </a:r>
            <a:r>
              <a:rPr lang="en-US" altLang="zh-CN" b="0" dirty="0"/>
              <a:t>8251A</a:t>
            </a:r>
            <a:r>
              <a:rPr lang="zh-CN" altLang="en-US" b="0" dirty="0"/>
              <a:t>已经从外设接收到数据，等待</a:t>
            </a:r>
            <a:r>
              <a:rPr lang="en-US" altLang="zh-CN" b="0" dirty="0"/>
              <a:t>CPU</a:t>
            </a:r>
            <a:r>
              <a:rPr lang="zh-CN" altLang="en-US" b="0" dirty="0"/>
              <a:t>读取。</a:t>
            </a:r>
            <a:r>
              <a:rPr lang="en-US" altLang="zh-CN" b="0" dirty="0"/>
              <a:t>CPU</a:t>
            </a:r>
            <a:r>
              <a:rPr lang="zh-CN" altLang="en-US" b="0" dirty="0"/>
              <a:t>读取数据后自动复位。</a:t>
            </a:r>
            <a:endParaRPr lang="zh-CN" altLang="en-US" b="0" dirty="0"/>
          </a:p>
        </p:txBody>
      </p:sp>
      <p:sp>
        <p:nvSpPr>
          <p:cNvPr id="3" name="Rectangle 4"/>
          <p:cNvSpPr>
            <a:spLocks noChangeArrowheads="1"/>
          </p:cNvSpPr>
          <p:nvPr/>
        </p:nvSpPr>
        <p:spPr bwMode="auto">
          <a:xfrm>
            <a:off x="467544" y="368660"/>
            <a:ext cx="7848600" cy="492443"/>
          </a:xfrm>
          <a:prstGeom prst="rect">
            <a:avLst/>
          </a:prstGeom>
          <a:noFill/>
          <a:ln w="9525" algn="ctr">
            <a:noFill/>
            <a:miter lim="800000"/>
          </a:ln>
          <a:effectLst/>
        </p:spPr>
        <p:txBody>
          <a:bodyPr>
            <a:spAutoFit/>
          </a:bodyPr>
          <a:lstStyle/>
          <a:p>
            <a:r>
              <a:rPr lang="zh-CN" altLang="en-US" sz="2600" kern="0" dirty="0">
                <a:solidFill>
                  <a:schemeClr val="tx2"/>
                </a:solidFill>
                <a:effectLst>
                  <a:outerShdw blurRad="38100" dist="38100" dir="2700000" algn="tl">
                    <a:srgbClr val="C0C0C0"/>
                  </a:outerShdw>
                </a:effectLst>
                <a:latin typeface="+mj-lt"/>
                <a:cs typeface="+mj-cs"/>
              </a:rPr>
              <a:t>可编程串行通信接口</a:t>
            </a:r>
            <a:r>
              <a:rPr lang="en-US" altLang="zh-CN" sz="2600" kern="0" dirty="0">
                <a:solidFill>
                  <a:schemeClr val="tx2"/>
                </a:solidFill>
                <a:effectLst>
                  <a:outerShdw blurRad="38100" dist="38100" dir="2700000" algn="tl">
                    <a:srgbClr val="C0C0C0"/>
                  </a:outerShdw>
                </a:effectLst>
                <a:latin typeface="+mj-lt"/>
                <a:cs typeface="+mj-cs"/>
              </a:rPr>
              <a:t>8251A</a:t>
            </a:r>
            <a:endParaRPr lang="en-US" altLang="zh-CN" sz="2600" kern="0" dirty="0">
              <a:solidFill>
                <a:schemeClr val="tx2"/>
              </a:solidFill>
              <a:effectLst>
                <a:outerShdw blurRad="38100" dist="38100" dir="2700000" algn="tl">
                  <a:srgbClr val="C0C0C0"/>
                </a:outerShdw>
              </a:effectLst>
              <a:latin typeface="+mj-lt"/>
              <a:cs typeface="+mj-cs"/>
            </a:endParaRPr>
          </a:p>
        </p:txBody>
      </p:sp>
      <p:pic>
        <p:nvPicPr>
          <p:cNvPr id="2" name="图片 1"/>
          <p:cNvPicPr>
            <a:picLocks noChangeAspect="1"/>
          </p:cNvPicPr>
          <p:nvPr/>
        </p:nvPicPr>
        <p:blipFill>
          <a:blip r:embed="rId1"/>
          <a:stretch>
            <a:fillRect/>
          </a:stretch>
        </p:blipFill>
        <p:spPr>
          <a:xfrm>
            <a:off x="5024132" y="2384884"/>
            <a:ext cx="3974012" cy="2988332"/>
          </a:xfrm>
          <a:prstGeom prst="rect">
            <a:avLst/>
          </a:prstGeom>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Rectangle 2"/>
          <p:cNvSpPr>
            <a:spLocks noChangeArrowheads="1"/>
          </p:cNvSpPr>
          <p:nvPr/>
        </p:nvSpPr>
        <p:spPr bwMode="auto">
          <a:xfrm>
            <a:off x="458626" y="908720"/>
            <a:ext cx="8280400" cy="5739130"/>
          </a:xfrm>
          <a:prstGeom prst="rect">
            <a:avLst/>
          </a:prstGeom>
          <a:noFill/>
          <a:ln w="9525" algn="ctr">
            <a:noFill/>
            <a:miter lim="800000"/>
          </a:ln>
          <a:effectLst/>
        </p:spPr>
        <p:txBody>
          <a:bodyPr>
            <a:spAutoFit/>
          </a:bodyPr>
          <a:lstStyle/>
          <a:p>
            <a:pPr marL="720725" indent="-720725" algn="just">
              <a:spcBef>
                <a:spcPts val="600"/>
              </a:spcBef>
            </a:pPr>
            <a:r>
              <a:rPr lang="en-US" altLang="zh-CN" sz="2000" b="1" u="sng" dirty="0">
                <a:solidFill>
                  <a:srgbClr val="0000FF"/>
                </a:solidFill>
              </a:rPr>
              <a:t>8251A</a:t>
            </a:r>
            <a:r>
              <a:rPr lang="zh-CN" altLang="en-US" sz="2000" b="1" u="sng" dirty="0">
                <a:solidFill>
                  <a:srgbClr val="0000FF"/>
                </a:solidFill>
              </a:rPr>
              <a:t>与外设的连接信号</a:t>
            </a:r>
            <a:endParaRPr lang="zh-CN" altLang="en-US" sz="2000" b="1" u="sng" dirty="0">
              <a:solidFill>
                <a:srgbClr val="0000FF"/>
              </a:solidFill>
            </a:endParaRPr>
          </a:p>
          <a:p>
            <a:pPr marL="720725" indent="-720725" algn="just">
              <a:spcBef>
                <a:spcPts val="600"/>
              </a:spcBef>
            </a:pPr>
            <a:r>
              <a:rPr lang="zh-CN" altLang="en-US" sz="2000" u="sng" dirty="0">
                <a:solidFill>
                  <a:srgbClr val="3333FF"/>
                </a:solidFill>
              </a:rPr>
              <a:t>数据信号</a:t>
            </a:r>
            <a:endParaRPr lang="zh-CN" altLang="en-US" sz="2000" u="sng" dirty="0">
              <a:solidFill>
                <a:srgbClr val="3333FF"/>
              </a:solidFill>
            </a:endParaRPr>
          </a:p>
          <a:p>
            <a:pPr marL="720725" indent="-720725" algn="just">
              <a:spcBef>
                <a:spcPts val="600"/>
              </a:spcBef>
            </a:pPr>
            <a:r>
              <a:rPr lang="en-US" altLang="zh-CN" sz="2000" dirty="0" err="1"/>
              <a:t>TxD</a:t>
            </a:r>
            <a:r>
              <a:rPr lang="zh-CN" altLang="en-US" sz="2000" dirty="0"/>
              <a:t>－发送数据端：</a:t>
            </a:r>
            <a:r>
              <a:rPr lang="en-US" altLang="zh-CN" sz="2000" dirty="0">
                <a:solidFill>
                  <a:srgbClr val="0000FF"/>
                </a:solidFill>
              </a:rPr>
              <a:t>CPU(</a:t>
            </a:r>
            <a:r>
              <a:rPr lang="zh-CN" altLang="en-US" sz="2000" dirty="0">
                <a:solidFill>
                  <a:srgbClr val="0000FF"/>
                </a:solidFill>
              </a:rPr>
              <a:t>并行</a:t>
            </a:r>
            <a:r>
              <a:rPr lang="en-US" altLang="zh-CN" sz="2000" dirty="0">
                <a:solidFill>
                  <a:srgbClr val="0000FF"/>
                </a:solidFill>
              </a:rPr>
              <a:t>)→8251A→</a:t>
            </a:r>
            <a:r>
              <a:rPr lang="zh-CN" altLang="en-US" sz="2000" dirty="0">
                <a:solidFill>
                  <a:srgbClr val="0000FF"/>
                </a:solidFill>
              </a:rPr>
              <a:t>串行数据</a:t>
            </a:r>
            <a:endParaRPr lang="zh-CN" altLang="en-US" sz="2000" dirty="0">
              <a:solidFill>
                <a:srgbClr val="0000FF"/>
              </a:solidFill>
            </a:endParaRPr>
          </a:p>
          <a:p>
            <a:pPr marL="720725" indent="-720725" algn="just">
              <a:spcBef>
                <a:spcPts val="600"/>
              </a:spcBef>
            </a:pPr>
            <a:r>
              <a:rPr lang="en-US" altLang="zh-CN" sz="2000" dirty="0" err="1"/>
              <a:t>RxD</a:t>
            </a:r>
            <a:r>
              <a:rPr lang="zh-CN" altLang="en-US" sz="2000" dirty="0"/>
              <a:t>－接收数据端：</a:t>
            </a:r>
            <a:r>
              <a:rPr lang="zh-CN" altLang="en-US" sz="2000" dirty="0">
                <a:solidFill>
                  <a:srgbClr val="0000FF"/>
                </a:solidFill>
              </a:rPr>
              <a:t>串行数据→</a:t>
            </a:r>
            <a:r>
              <a:rPr lang="en-US" altLang="zh-CN" sz="2000" dirty="0">
                <a:solidFill>
                  <a:srgbClr val="0000FF"/>
                </a:solidFill>
              </a:rPr>
              <a:t>8251A(</a:t>
            </a:r>
            <a:r>
              <a:rPr lang="zh-CN" altLang="en-US" sz="2000" dirty="0">
                <a:solidFill>
                  <a:srgbClr val="0000FF"/>
                </a:solidFill>
              </a:rPr>
              <a:t>并行</a:t>
            </a:r>
            <a:r>
              <a:rPr lang="en-US" altLang="zh-CN" sz="2000" dirty="0">
                <a:solidFill>
                  <a:srgbClr val="0000FF"/>
                </a:solidFill>
              </a:rPr>
              <a:t>)→CPU</a:t>
            </a:r>
            <a:endParaRPr lang="en-US" altLang="zh-CN" sz="2000" dirty="0">
              <a:solidFill>
                <a:srgbClr val="0000FF"/>
              </a:solidFill>
            </a:endParaRPr>
          </a:p>
          <a:p>
            <a:pPr marL="720725" indent="-720725" algn="just">
              <a:spcBef>
                <a:spcPts val="600"/>
              </a:spcBef>
            </a:pPr>
            <a:r>
              <a:rPr lang="zh-CN" altLang="en-US" sz="2000" u="sng" dirty="0">
                <a:solidFill>
                  <a:srgbClr val="3333FF"/>
                </a:solidFill>
              </a:rPr>
              <a:t>收发联络信号</a:t>
            </a:r>
            <a:endParaRPr lang="zh-CN" altLang="en-US" sz="2000" u="sng" dirty="0">
              <a:solidFill>
                <a:srgbClr val="3333FF"/>
              </a:solidFill>
            </a:endParaRPr>
          </a:p>
          <a:p>
            <a:pPr marL="720725" indent="-720725" algn="just">
              <a:spcBef>
                <a:spcPts val="600"/>
              </a:spcBef>
            </a:pPr>
            <a:r>
              <a:rPr lang="en-US" altLang="zh-CN" sz="2000" dirty="0"/>
              <a:t>DTR</a:t>
            </a:r>
            <a:r>
              <a:rPr lang="zh-CN" altLang="en-US" sz="2000" dirty="0"/>
              <a:t>－数据终端准备好。有效时，表示</a:t>
            </a:r>
            <a:r>
              <a:rPr lang="en-US" altLang="zh-CN" sz="2000" dirty="0"/>
              <a:t>CPU</a:t>
            </a:r>
            <a:r>
              <a:rPr lang="zh-CN" altLang="en-US" sz="2000" dirty="0"/>
              <a:t>已经准备好接收数据，其状态可软件定义。</a:t>
            </a:r>
            <a:endParaRPr lang="zh-CN" altLang="en-US" sz="2000" dirty="0"/>
          </a:p>
          <a:p>
            <a:pPr algn="just">
              <a:spcBef>
                <a:spcPts val="600"/>
              </a:spcBef>
            </a:pPr>
            <a:r>
              <a:rPr lang="en-US" altLang="zh-CN" sz="2000" dirty="0"/>
              <a:t>DSR</a:t>
            </a:r>
            <a:r>
              <a:rPr lang="zh-CN" altLang="en-US" sz="2000" dirty="0"/>
              <a:t>－数据装置准备好。有效时，表示调制解调器或外设已准备好发送</a:t>
            </a:r>
            <a:endParaRPr lang="en-US" altLang="zh-CN" sz="2000" dirty="0"/>
          </a:p>
          <a:p>
            <a:pPr algn="just">
              <a:spcBef>
                <a:spcPts val="600"/>
              </a:spcBef>
            </a:pPr>
            <a:r>
              <a:rPr lang="en-US" altLang="zh-CN" sz="2000" dirty="0"/>
              <a:t>            </a:t>
            </a:r>
            <a:r>
              <a:rPr lang="zh-CN" altLang="en-US" sz="2000" dirty="0"/>
              <a:t>数据，实际是对</a:t>
            </a:r>
            <a:r>
              <a:rPr lang="en-US" altLang="zh-CN" sz="2000" dirty="0"/>
              <a:t>DTR</a:t>
            </a:r>
            <a:r>
              <a:rPr lang="zh-CN" altLang="en-US" sz="2000" dirty="0"/>
              <a:t>的应答。</a:t>
            </a:r>
            <a:endParaRPr lang="zh-CN" altLang="en-US" sz="2000" dirty="0"/>
          </a:p>
          <a:p>
            <a:pPr marL="720725" indent="-720725" algn="just">
              <a:spcBef>
                <a:spcPts val="600"/>
              </a:spcBef>
            </a:pPr>
            <a:r>
              <a:rPr lang="en-US" altLang="zh-CN" sz="2000" dirty="0"/>
              <a:t>RTS</a:t>
            </a:r>
            <a:r>
              <a:rPr lang="zh-CN" altLang="en-US" sz="2000" dirty="0"/>
              <a:t>－请求发送信号。有效时，表示</a:t>
            </a:r>
            <a:r>
              <a:rPr lang="en-US" altLang="zh-CN" sz="2000" dirty="0"/>
              <a:t>CPU</a:t>
            </a:r>
            <a:r>
              <a:rPr lang="zh-CN" altLang="en-US" sz="2000" dirty="0"/>
              <a:t>准备好发送数据</a:t>
            </a:r>
            <a:endParaRPr lang="en-US" altLang="zh-CN" sz="2000" dirty="0"/>
          </a:p>
          <a:p>
            <a:pPr marL="720725" indent="-720725" algn="just">
              <a:spcBef>
                <a:spcPts val="600"/>
              </a:spcBef>
            </a:pPr>
            <a:r>
              <a:rPr lang="en-US" altLang="zh-CN" sz="2000" dirty="0"/>
              <a:t>CTS</a:t>
            </a:r>
            <a:r>
              <a:rPr lang="zh-CN" altLang="en-US" sz="2000" dirty="0"/>
              <a:t>－清除允许发送信号。有效时，表示调制解调器已经做好接收数据准备，实际上是对</a:t>
            </a:r>
            <a:r>
              <a:rPr lang="en-US" altLang="zh-CN" sz="2000" dirty="0"/>
              <a:t>RTS</a:t>
            </a:r>
            <a:r>
              <a:rPr lang="zh-CN" altLang="en-US" sz="2000" dirty="0"/>
              <a:t>的响应。只有当</a:t>
            </a:r>
            <a:r>
              <a:rPr lang="en-US" altLang="zh-CN" sz="2000" dirty="0"/>
              <a:t>CTS=0</a:t>
            </a:r>
            <a:r>
              <a:rPr lang="zh-CN" altLang="en-US" sz="2000" dirty="0"/>
              <a:t>时，发送器才可串行发送数据。</a:t>
            </a:r>
            <a:endParaRPr lang="zh-CN" altLang="en-US" sz="2000" dirty="0"/>
          </a:p>
          <a:p>
            <a:pPr marL="720725" indent="-720725" algn="just">
              <a:spcBef>
                <a:spcPts val="600"/>
              </a:spcBef>
            </a:pPr>
            <a:endParaRPr lang="zh-CN" altLang="en-US" sz="1200" dirty="0"/>
          </a:p>
          <a:p>
            <a:pPr marL="720725" indent="-720725" algn="just">
              <a:spcBef>
                <a:spcPts val="600"/>
              </a:spcBef>
            </a:pPr>
            <a:r>
              <a:rPr lang="zh-CN" altLang="en-US" sz="2000" dirty="0">
                <a:solidFill>
                  <a:srgbClr val="CC6600"/>
                </a:solidFill>
              </a:rPr>
              <a:t>注意：若外设不要联络信号，这些信号线可以悬空，但</a:t>
            </a:r>
            <a:r>
              <a:rPr lang="en-US" altLang="zh-CN" sz="2000" dirty="0">
                <a:solidFill>
                  <a:srgbClr val="CC6600"/>
                </a:solidFill>
              </a:rPr>
              <a:t>CTS</a:t>
            </a:r>
            <a:r>
              <a:rPr lang="zh-CN" altLang="en-US" sz="2000" dirty="0">
                <a:solidFill>
                  <a:srgbClr val="CC6600"/>
                </a:solidFill>
              </a:rPr>
              <a:t>必须接地，</a:t>
            </a:r>
            <a:r>
              <a:rPr lang="en-US" altLang="zh-CN" sz="2000" dirty="0">
                <a:solidFill>
                  <a:srgbClr val="CC6600"/>
                </a:solidFill>
              </a:rPr>
              <a:t>CPU</a:t>
            </a:r>
            <a:r>
              <a:rPr lang="zh-CN" altLang="en-US" sz="2000" dirty="0">
                <a:solidFill>
                  <a:srgbClr val="CC6600"/>
                </a:solidFill>
              </a:rPr>
              <a:t>才能发送数据</a:t>
            </a:r>
            <a:endParaRPr lang="zh-CN" altLang="en-US" sz="2000" dirty="0">
              <a:solidFill>
                <a:srgbClr val="CC6600"/>
              </a:solidFill>
            </a:endParaRPr>
          </a:p>
        </p:txBody>
      </p:sp>
      <p:sp>
        <p:nvSpPr>
          <p:cNvPr id="9" name="Rectangle 4"/>
          <p:cNvSpPr>
            <a:spLocks noChangeArrowheads="1"/>
          </p:cNvSpPr>
          <p:nvPr/>
        </p:nvSpPr>
        <p:spPr bwMode="auto">
          <a:xfrm>
            <a:off x="467544" y="368660"/>
            <a:ext cx="7848600" cy="492443"/>
          </a:xfrm>
          <a:prstGeom prst="rect">
            <a:avLst/>
          </a:prstGeom>
          <a:noFill/>
          <a:ln w="9525" algn="ctr">
            <a:noFill/>
            <a:miter lim="800000"/>
          </a:ln>
          <a:effectLst/>
        </p:spPr>
        <p:txBody>
          <a:bodyPr>
            <a:spAutoFit/>
          </a:bodyPr>
          <a:lstStyle/>
          <a:p>
            <a:r>
              <a:rPr lang="zh-CN" altLang="en-US" sz="2600" kern="0" dirty="0">
                <a:solidFill>
                  <a:schemeClr val="tx2"/>
                </a:solidFill>
                <a:effectLst>
                  <a:outerShdw blurRad="38100" dist="38100" dir="2700000" algn="tl">
                    <a:srgbClr val="C0C0C0"/>
                  </a:outerShdw>
                </a:effectLst>
                <a:latin typeface="+mj-lt"/>
                <a:cs typeface="+mj-cs"/>
              </a:rPr>
              <a:t>可编程串行通信接口</a:t>
            </a:r>
            <a:r>
              <a:rPr lang="en-US" altLang="zh-CN" sz="2600" kern="0" dirty="0">
                <a:solidFill>
                  <a:schemeClr val="tx2"/>
                </a:solidFill>
                <a:effectLst>
                  <a:outerShdw blurRad="38100" dist="38100" dir="2700000" algn="tl">
                    <a:srgbClr val="C0C0C0"/>
                  </a:outerShdw>
                </a:effectLst>
                <a:latin typeface="+mj-lt"/>
                <a:cs typeface="+mj-cs"/>
              </a:rPr>
              <a:t>8251A</a:t>
            </a:r>
            <a:endParaRPr lang="en-US" altLang="zh-CN"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85026" name="Rectangle 2"/>
          <p:cNvSpPr>
            <a:spLocks noChangeArrowheads="1"/>
          </p:cNvSpPr>
          <p:nvPr/>
        </p:nvSpPr>
        <p:spPr bwMode="auto">
          <a:xfrm>
            <a:off x="467670" y="1088740"/>
            <a:ext cx="8280400" cy="4801314"/>
          </a:xfrm>
          <a:prstGeom prst="rect">
            <a:avLst/>
          </a:prstGeom>
          <a:noFill/>
          <a:ln w="9525" algn="ctr">
            <a:noFill/>
            <a:miter lim="800000"/>
          </a:ln>
          <a:effectLst/>
        </p:spPr>
        <p:txBody>
          <a:bodyPr>
            <a:spAutoFit/>
          </a:bodyPr>
          <a:lstStyle/>
          <a:p>
            <a:pPr marL="720725" indent="-720725" algn="just">
              <a:lnSpc>
                <a:spcPct val="90000"/>
              </a:lnSpc>
            </a:pPr>
            <a:r>
              <a:rPr lang="en-US" altLang="zh-CN" sz="2000" b="1" u="sng" dirty="0">
                <a:solidFill>
                  <a:srgbClr val="0000FF"/>
                </a:solidFill>
              </a:rPr>
              <a:t>8251A</a:t>
            </a:r>
            <a:r>
              <a:rPr lang="zh-CN" altLang="en-US" sz="2000" b="1" u="sng" dirty="0">
                <a:solidFill>
                  <a:srgbClr val="0000FF"/>
                </a:solidFill>
              </a:rPr>
              <a:t>与外设的连接信号</a:t>
            </a:r>
            <a:endParaRPr lang="zh-CN" altLang="en-US" sz="2000" b="1" u="sng" dirty="0">
              <a:solidFill>
                <a:srgbClr val="0000FF"/>
              </a:solidFill>
            </a:endParaRPr>
          </a:p>
          <a:p>
            <a:pPr marL="720725" indent="-720725" algn="just">
              <a:lnSpc>
                <a:spcPct val="90000"/>
              </a:lnSpc>
            </a:pPr>
            <a:endParaRPr lang="zh-CN" altLang="en-US" sz="2000" dirty="0"/>
          </a:p>
          <a:p>
            <a:pPr marL="720725" indent="-720725" algn="just">
              <a:lnSpc>
                <a:spcPct val="150000"/>
              </a:lnSpc>
            </a:pPr>
            <a:r>
              <a:rPr lang="zh-CN" altLang="en-US" sz="2000" b="1" u="sng" dirty="0">
                <a:solidFill>
                  <a:srgbClr val="0000FF"/>
                </a:solidFill>
              </a:rPr>
              <a:t>时钟信号</a:t>
            </a:r>
            <a:endParaRPr lang="zh-CN" altLang="en-US" sz="2000" b="1" u="sng" dirty="0">
              <a:solidFill>
                <a:srgbClr val="0000FF"/>
              </a:solidFill>
            </a:endParaRPr>
          </a:p>
          <a:p>
            <a:pPr marL="720725" indent="-720725" algn="just">
              <a:lnSpc>
                <a:spcPct val="150000"/>
              </a:lnSpc>
            </a:pPr>
            <a:r>
              <a:rPr lang="en-US" altLang="zh-CN" sz="2000" dirty="0"/>
              <a:t>CLK</a:t>
            </a:r>
            <a:r>
              <a:rPr lang="zh-CN" altLang="en-US" sz="2000" dirty="0"/>
              <a:t>－</a:t>
            </a:r>
            <a:r>
              <a:rPr lang="en-US" altLang="zh-CN" sz="2000" dirty="0"/>
              <a:t>8251A</a:t>
            </a:r>
            <a:r>
              <a:rPr lang="zh-CN" altLang="en-US" sz="2000" dirty="0"/>
              <a:t>内部工作时钟，产生内部工作时序。</a:t>
            </a:r>
            <a:endParaRPr lang="zh-CN" altLang="en-US" sz="2000" dirty="0"/>
          </a:p>
          <a:p>
            <a:pPr marL="720725" indent="-720725" algn="just">
              <a:lnSpc>
                <a:spcPct val="150000"/>
              </a:lnSpc>
            </a:pPr>
            <a:r>
              <a:rPr lang="en-US" altLang="zh-CN" sz="2000" dirty="0" err="1"/>
              <a:t>RxC</a:t>
            </a:r>
            <a:r>
              <a:rPr lang="en-US" altLang="zh-CN" sz="2000" dirty="0"/>
              <a:t>/</a:t>
            </a:r>
            <a:r>
              <a:rPr lang="en-US" altLang="zh-CN" sz="2000" dirty="0" err="1"/>
              <a:t>TxC</a:t>
            </a:r>
            <a:r>
              <a:rPr lang="zh-CN" altLang="en-US" sz="2000" dirty="0"/>
              <a:t>－接收</a:t>
            </a:r>
            <a:r>
              <a:rPr lang="en-US" altLang="zh-CN" sz="2000" dirty="0"/>
              <a:t>/</a:t>
            </a:r>
            <a:r>
              <a:rPr lang="zh-CN" altLang="en-US" sz="2000" dirty="0"/>
              <a:t>发送时钟，由外部时钟提供。用于控制</a:t>
            </a:r>
            <a:r>
              <a:rPr lang="en-US" altLang="zh-CN" sz="2000" dirty="0"/>
              <a:t>8251A</a:t>
            </a:r>
            <a:r>
              <a:rPr lang="zh-CN" altLang="en-US" sz="2000" dirty="0"/>
              <a:t>收发数据的速率。</a:t>
            </a:r>
            <a:endParaRPr lang="en-US" altLang="zh-CN" sz="2000" dirty="0"/>
          </a:p>
          <a:p>
            <a:pPr marL="720725" indent="-720725" algn="just">
              <a:lnSpc>
                <a:spcPct val="150000"/>
              </a:lnSpc>
            </a:pPr>
            <a:endParaRPr lang="en-US" altLang="zh-CN" sz="2000" dirty="0"/>
          </a:p>
          <a:p>
            <a:pPr marL="720725" indent="-720725" algn="just">
              <a:lnSpc>
                <a:spcPct val="150000"/>
              </a:lnSpc>
            </a:pPr>
            <a:r>
              <a:rPr lang="zh-CN" altLang="en-US" sz="2000" dirty="0"/>
              <a:t>注意：</a:t>
            </a:r>
            <a:endParaRPr lang="zh-CN" altLang="en-US" sz="2000" dirty="0"/>
          </a:p>
          <a:p>
            <a:pPr marL="720725" indent="-720725" algn="just">
              <a:lnSpc>
                <a:spcPct val="150000"/>
              </a:lnSpc>
            </a:pPr>
            <a:r>
              <a:rPr lang="zh-CN" altLang="en-US" sz="2000" dirty="0"/>
              <a:t>同步方式：接收</a:t>
            </a:r>
            <a:r>
              <a:rPr lang="en-US" altLang="zh-CN" sz="2000" dirty="0"/>
              <a:t>/</a:t>
            </a:r>
            <a:r>
              <a:rPr lang="zh-CN" altLang="en-US" sz="2000" dirty="0"/>
              <a:t>发送时钟频率等于传送数据的波特率。（波特率因子</a:t>
            </a:r>
            <a:r>
              <a:rPr lang="en-US" altLang="zh-CN" sz="2000" dirty="0"/>
              <a:t>=1</a:t>
            </a:r>
            <a:r>
              <a:rPr lang="zh-CN" altLang="en-US" sz="2000" dirty="0"/>
              <a:t>）</a:t>
            </a:r>
            <a:endParaRPr lang="zh-CN" altLang="en-US" sz="2000" dirty="0"/>
          </a:p>
          <a:p>
            <a:pPr marL="720725" indent="-720725" algn="just">
              <a:lnSpc>
                <a:spcPct val="150000"/>
              </a:lnSpc>
            </a:pPr>
            <a:r>
              <a:rPr lang="zh-CN" altLang="en-US" sz="2000" dirty="0"/>
              <a:t>异步方式：接收</a:t>
            </a:r>
            <a:r>
              <a:rPr lang="en-US" altLang="zh-CN" sz="2000" dirty="0"/>
              <a:t>/</a:t>
            </a:r>
            <a:r>
              <a:rPr lang="zh-CN" altLang="en-US" sz="2000" dirty="0"/>
              <a:t>发送时钟频率可以取波特率的</a:t>
            </a:r>
            <a:r>
              <a:rPr lang="en-US" altLang="zh-CN" sz="2000" dirty="0"/>
              <a:t>1</a:t>
            </a:r>
            <a:r>
              <a:rPr lang="zh-CN" altLang="en-US" sz="2000" dirty="0"/>
              <a:t>、</a:t>
            </a:r>
            <a:r>
              <a:rPr lang="en-US" altLang="zh-CN" sz="2000" dirty="0"/>
              <a:t>16</a:t>
            </a:r>
            <a:r>
              <a:rPr lang="zh-CN" altLang="en-US" sz="2000" dirty="0"/>
              <a:t>、</a:t>
            </a:r>
            <a:r>
              <a:rPr lang="en-US" altLang="zh-CN" sz="2000" dirty="0"/>
              <a:t>64</a:t>
            </a:r>
            <a:r>
              <a:rPr lang="zh-CN" altLang="en-US" sz="2000" dirty="0"/>
              <a:t>倍，初始化时由波特率因子指明。</a:t>
            </a:r>
            <a:endParaRPr lang="zh-CN" altLang="en-US" sz="2000" dirty="0"/>
          </a:p>
        </p:txBody>
      </p:sp>
      <p:sp>
        <p:nvSpPr>
          <p:cNvPr id="9" name="Rectangle 4"/>
          <p:cNvSpPr>
            <a:spLocks noChangeArrowheads="1"/>
          </p:cNvSpPr>
          <p:nvPr/>
        </p:nvSpPr>
        <p:spPr bwMode="auto">
          <a:xfrm>
            <a:off x="467544" y="368660"/>
            <a:ext cx="7848600" cy="492443"/>
          </a:xfrm>
          <a:prstGeom prst="rect">
            <a:avLst/>
          </a:prstGeom>
          <a:noFill/>
          <a:ln w="9525" algn="ctr">
            <a:noFill/>
            <a:miter lim="800000"/>
          </a:ln>
          <a:effectLst/>
        </p:spPr>
        <p:txBody>
          <a:bodyPr>
            <a:spAutoFit/>
          </a:bodyPr>
          <a:lstStyle/>
          <a:p>
            <a:r>
              <a:rPr lang="zh-CN" altLang="en-US" sz="2600" kern="0" dirty="0">
                <a:solidFill>
                  <a:schemeClr val="tx2"/>
                </a:solidFill>
                <a:effectLst>
                  <a:outerShdw blurRad="38100" dist="38100" dir="2700000" algn="tl">
                    <a:srgbClr val="C0C0C0"/>
                  </a:outerShdw>
                </a:effectLst>
                <a:latin typeface="+mj-lt"/>
                <a:cs typeface="+mj-cs"/>
              </a:rPr>
              <a:t>可编程串行通信接口</a:t>
            </a:r>
            <a:r>
              <a:rPr lang="en-US" altLang="zh-CN" sz="2600" kern="0" dirty="0">
                <a:solidFill>
                  <a:schemeClr val="tx2"/>
                </a:solidFill>
                <a:effectLst>
                  <a:outerShdw blurRad="38100" dist="38100" dir="2700000" algn="tl">
                    <a:srgbClr val="C0C0C0"/>
                  </a:outerShdw>
                </a:effectLst>
                <a:latin typeface="+mj-lt"/>
                <a:cs typeface="+mj-cs"/>
              </a:rPr>
              <a:t>8251A</a:t>
            </a:r>
            <a:endParaRPr lang="en-US" altLang="zh-CN"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4002" name="Picture 2" descr="片段"/>
          <p:cNvPicPr>
            <a:picLocks noChangeAspect="1" noChangeArrowheads="1"/>
          </p:cNvPicPr>
          <p:nvPr/>
        </p:nvPicPr>
        <p:blipFill>
          <a:blip r:embed="rId1">
            <a:clrChange>
              <a:clrFrom>
                <a:srgbClr val="FFFFFF"/>
              </a:clrFrom>
              <a:clrTo>
                <a:srgbClr val="FFFFFF">
                  <a:alpha val="0"/>
                </a:srgbClr>
              </a:clrTo>
            </a:clrChange>
          </a:blip>
          <a:srcRect/>
          <a:stretch>
            <a:fillRect/>
          </a:stretch>
        </p:blipFill>
        <p:spPr bwMode="auto">
          <a:xfrm>
            <a:off x="3275771" y="1232756"/>
            <a:ext cx="5688806" cy="4244410"/>
          </a:xfrm>
          <a:prstGeom prst="rect">
            <a:avLst/>
          </a:prstGeom>
          <a:noFill/>
        </p:spPr>
      </p:pic>
      <p:sp>
        <p:nvSpPr>
          <p:cNvPr id="384003" name="Rectangle 3"/>
          <p:cNvSpPr>
            <a:spLocks noChangeArrowheads="1"/>
          </p:cNvSpPr>
          <p:nvPr/>
        </p:nvSpPr>
        <p:spPr bwMode="auto">
          <a:xfrm>
            <a:off x="395536" y="1016732"/>
            <a:ext cx="2628292" cy="1200329"/>
          </a:xfrm>
          <a:prstGeom prst="rect">
            <a:avLst/>
          </a:prstGeom>
          <a:noFill/>
          <a:ln w="9525" algn="ctr">
            <a:noFill/>
            <a:miter lim="800000"/>
          </a:ln>
          <a:effectLst/>
        </p:spPr>
        <p:txBody>
          <a:bodyPr wrap="square">
            <a:spAutoFit/>
          </a:bodyPr>
          <a:lstStyle/>
          <a:p>
            <a:pPr algn="just"/>
            <a:r>
              <a:rPr lang="en-US" altLang="zh-CN" b="1" u="sng" dirty="0">
                <a:solidFill>
                  <a:srgbClr val="0000FF"/>
                </a:solidFill>
              </a:rPr>
              <a:t>8251A</a:t>
            </a:r>
            <a:r>
              <a:rPr lang="zh-CN" altLang="en-US" b="1" u="sng" dirty="0">
                <a:solidFill>
                  <a:srgbClr val="0000FF"/>
                </a:solidFill>
              </a:rPr>
              <a:t>的编程结构</a:t>
            </a:r>
            <a:r>
              <a:rPr lang="zh-CN" altLang="en-US" b="1" dirty="0">
                <a:solidFill>
                  <a:srgbClr val="0000FF"/>
                </a:solidFill>
              </a:rPr>
              <a:t>：</a:t>
            </a:r>
            <a:r>
              <a:rPr lang="en-US" altLang="zh-CN" dirty="0"/>
              <a:t>2</a:t>
            </a:r>
            <a:r>
              <a:rPr lang="zh-CN" altLang="en-US" dirty="0"/>
              <a:t>个控制字节和</a:t>
            </a:r>
            <a:r>
              <a:rPr lang="en-US" altLang="zh-CN" dirty="0"/>
              <a:t>1</a:t>
            </a:r>
            <a:r>
              <a:rPr lang="zh-CN" altLang="en-US" dirty="0"/>
              <a:t>个状态字节</a:t>
            </a:r>
            <a:endParaRPr lang="zh-CN" altLang="en-US" dirty="0"/>
          </a:p>
        </p:txBody>
      </p:sp>
      <p:sp>
        <p:nvSpPr>
          <p:cNvPr id="384004" name="Rectangle 4"/>
          <p:cNvSpPr>
            <a:spLocks noChangeArrowheads="1"/>
          </p:cNvSpPr>
          <p:nvPr/>
        </p:nvSpPr>
        <p:spPr bwMode="auto">
          <a:xfrm>
            <a:off x="395536" y="2359722"/>
            <a:ext cx="2384080" cy="2640723"/>
          </a:xfrm>
          <a:prstGeom prst="rect">
            <a:avLst/>
          </a:prstGeom>
          <a:noFill/>
          <a:ln w="9525" algn="ctr">
            <a:noFill/>
            <a:miter lim="800000"/>
          </a:ln>
          <a:effectLst/>
        </p:spPr>
        <p:txBody>
          <a:bodyPr wrap="square">
            <a:spAutoFit/>
          </a:bodyPr>
          <a:lstStyle/>
          <a:p>
            <a:pPr algn="just">
              <a:lnSpc>
                <a:spcPct val="90000"/>
              </a:lnSpc>
            </a:pPr>
            <a:r>
              <a:rPr lang="en-US" altLang="zh-CN" dirty="0"/>
              <a:t>    </a:t>
            </a:r>
            <a:r>
              <a:rPr lang="zh-CN" altLang="en-US" sz="2000" dirty="0"/>
              <a:t>编程结构并不是一个器件的内部结构，而是从使用者的角度归纳出来的。所以编程模块中有的与内部结构模块对应，有的可能不对应内部结构中的模块。</a:t>
            </a:r>
            <a:endParaRPr lang="zh-CN" altLang="en-US" sz="2000" dirty="0"/>
          </a:p>
        </p:txBody>
      </p:sp>
      <p:sp>
        <p:nvSpPr>
          <p:cNvPr id="5" name="Rectangle 4"/>
          <p:cNvSpPr>
            <a:spLocks noChangeArrowheads="1"/>
          </p:cNvSpPr>
          <p:nvPr/>
        </p:nvSpPr>
        <p:spPr bwMode="auto">
          <a:xfrm>
            <a:off x="467544" y="368660"/>
            <a:ext cx="7848600" cy="492443"/>
          </a:xfrm>
          <a:prstGeom prst="rect">
            <a:avLst/>
          </a:prstGeom>
          <a:noFill/>
          <a:ln w="9525" algn="ctr">
            <a:noFill/>
            <a:miter lim="800000"/>
          </a:ln>
          <a:effectLst/>
        </p:spPr>
        <p:txBody>
          <a:bodyPr>
            <a:spAutoFit/>
          </a:bodyPr>
          <a:lstStyle/>
          <a:p>
            <a:r>
              <a:rPr lang="zh-CN" altLang="en-US" sz="2600" kern="0" dirty="0">
                <a:solidFill>
                  <a:schemeClr val="tx2"/>
                </a:solidFill>
                <a:effectLst>
                  <a:outerShdw blurRad="38100" dist="38100" dir="2700000" algn="tl">
                    <a:srgbClr val="C0C0C0"/>
                  </a:outerShdw>
                </a:effectLst>
                <a:latin typeface="+mj-lt"/>
                <a:cs typeface="+mj-cs"/>
              </a:rPr>
              <a:t>可编程串行通信接口</a:t>
            </a:r>
            <a:r>
              <a:rPr lang="en-US" altLang="zh-CN" sz="2600" kern="0" dirty="0">
                <a:solidFill>
                  <a:schemeClr val="tx2"/>
                </a:solidFill>
                <a:effectLst>
                  <a:outerShdw blurRad="38100" dist="38100" dir="2700000" algn="tl">
                    <a:srgbClr val="C0C0C0"/>
                  </a:outerShdw>
                </a:effectLst>
                <a:latin typeface="+mj-lt"/>
                <a:cs typeface="+mj-cs"/>
              </a:rPr>
              <a:t>8251A</a:t>
            </a:r>
            <a:endParaRPr lang="en-US" altLang="zh-CN" sz="2600" kern="0" dirty="0">
              <a:solidFill>
                <a:schemeClr val="tx2"/>
              </a:solidFill>
              <a:effectLst>
                <a:outerShdw blurRad="38100" dist="38100" dir="2700000" algn="tl">
                  <a:srgbClr val="C0C0C0"/>
                </a:outerShdw>
              </a:effectLst>
              <a:latin typeface="+mj-lt"/>
              <a:cs typeface="+mj-cs"/>
            </a:endParaRPr>
          </a:p>
        </p:txBody>
      </p:sp>
      <p:pic>
        <p:nvPicPr>
          <p:cNvPr id="2" name="图片 1"/>
          <p:cNvPicPr>
            <a:picLocks noChangeAspect="1"/>
          </p:cNvPicPr>
          <p:nvPr/>
        </p:nvPicPr>
        <p:blipFill>
          <a:blip r:embed="rId2"/>
          <a:stretch>
            <a:fillRect/>
          </a:stretch>
        </p:blipFill>
        <p:spPr>
          <a:xfrm>
            <a:off x="-8734" y="5169623"/>
            <a:ext cx="3611358" cy="1688377"/>
          </a:xfrm>
          <a:prstGeom prst="rect">
            <a:avLst/>
          </a:prstGeom>
        </p:spPr>
      </p:pic>
      <p:sp>
        <p:nvSpPr>
          <p:cNvPr id="7" name="Rectangle 4"/>
          <p:cNvSpPr>
            <a:spLocks noChangeArrowheads="1"/>
          </p:cNvSpPr>
          <p:nvPr/>
        </p:nvSpPr>
        <p:spPr bwMode="auto">
          <a:xfrm>
            <a:off x="3754378" y="5712930"/>
            <a:ext cx="5217759" cy="923330"/>
          </a:xfrm>
          <a:prstGeom prst="rect">
            <a:avLst/>
          </a:prstGeom>
          <a:noFill/>
          <a:ln w="9525" algn="ctr">
            <a:noFill/>
            <a:miter lim="800000"/>
          </a:ln>
          <a:effectLst/>
        </p:spPr>
        <p:txBody>
          <a:bodyPr wrap="square">
            <a:spAutoFit/>
          </a:bodyPr>
          <a:lstStyle/>
          <a:p>
            <a:pPr algn="just">
              <a:lnSpc>
                <a:spcPct val="90000"/>
              </a:lnSpc>
            </a:pPr>
            <a:r>
              <a:rPr lang="en-US" altLang="zh-CN" sz="2000" dirty="0"/>
              <a:t>8251</a:t>
            </a:r>
            <a:r>
              <a:rPr lang="zh-CN" altLang="en-US" sz="2000" dirty="0"/>
              <a:t>只有</a:t>
            </a:r>
            <a:r>
              <a:rPr lang="en-US" altLang="zh-CN" sz="2000" dirty="0"/>
              <a:t>2</a:t>
            </a:r>
            <a:r>
              <a:rPr lang="zh-CN" altLang="en-US" sz="2000" dirty="0"/>
              <a:t>个端口地址，数据端口（一般为偶地址）、状态和控制端口合用一个端口地址（一般为奇地址）。</a:t>
            </a:r>
            <a:endParaRPr lang="zh-CN" altLang="en-US" sz="2000" dirty="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2978" name="Picture 2" descr="片段"/>
          <p:cNvPicPr>
            <a:picLocks noChangeAspect="1" noChangeArrowheads="1"/>
          </p:cNvPicPr>
          <p:nvPr/>
        </p:nvPicPr>
        <p:blipFill>
          <a:blip r:embed="rId1">
            <a:clrChange>
              <a:clrFrom>
                <a:srgbClr val="FFFFFF"/>
              </a:clrFrom>
              <a:clrTo>
                <a:srgbClr val="FFFFFF">
                  <a:alpha val="0"/>
                </a:srgbClr>
              </a:clrTo>
            </a:clrChange>
          </a:blip>
          <a:srcRect/>
          <a:stretch>
            <a:fillRect/>
          </a:stretch>
        </p:blipFill>
        <p:spPr bwMode="auto">
          <a:xfrm>
            <a:off x="755576" y="1016732"/>
            <a:ext cx="7272338" cy="5426075"/>
          </a:xfrm>
          <a:prstGeom prst="rect">
            <a:avLst/>
          </a:prstGeom>
          <a:noFill/>
        </p:spPr>
      </p:pic>
      <p:sp>
        <p:nvSpPr>
          <p:cNvPr id="382979" name="AutoShape 3"/>
          <p:cNvSpPr>
            <a:spLocks noChangeArrowheads="1"/>
          </p:cNvSpPr>
          <p:nvPr/>
        </p:nvSpPr>
        <p:spPr bwMode="auto">
          <a:xfrm>
            <a:off x="4288347" y="1340768"/>
            <a:ext cx="4392314" cy="1475147"/>
          </a:xfrm>
          <a:prstGeom prst="wedgeRoundRectCallout">
            <a:avLst>
              <a:gd name="adj1" fmla="val -59731"/>
              <a:gd name="adj2" fmla="val -30537"/>
              <a:gd name="adj3" fmla="val 16667"/>
            </a:avLst>
          </a:prstGeom>
          <a:solidFill>
            <a:schemeClr val="accent1"/>
          </a:solidFill>
          <a:ln w="9525" algn="ctr">
            <a:solidFill>
              <a:schemeClr val="tx1"/>
            </a:solidFill>
            <a:miter lim="800000"/>
          </a:ln>
          <a:effectLst/>
        </p:spPr>
        <p:txBody>
          <a:bodyPr/>
          <a:lstStyle/>
          <a:p>
            <a:pPr algn="just"/>
            <a:r>
              <a:rPr lang="en-US" altLang="zh-CN" sz="2000" u="sng" dirty="0">
                <a:solidFill>
                  <a:srgbClr val="0000FF"/>
                </a:solidFill>
              </a:rPr>
              <a:t>8251A</a:t>
            </a:r>
            <a:r>
              <a:rPr lang="zh-CN" altLang="en-US" sz="2000" u="sng" dirty="0">
                <a:solidFill>
                  <a:srgbClr val="0000FF"/>
                </a:solidFill>
              </a:rPr>
              <a:t>模式寄存器：</a:t>
            </a:r>
            <a:r>
              <a:rPr lang="zh-CN" altLang="en-US" sz="2000" dirty="0"/>
              <a:t>决定了</a:t>
            </a:r>
            <a:r>
              <a:rPr lang="en-US" altLang="zh-CN" sz="2000" dirty="0"/>
              <a:t>8251A</a:t>
            </a:r>
            <a:r>
              <a:rPr lang="zh-CN" altLang="en-US" sz="2000" dirty="0"/>
              <a:t>是工作在同步模式还是异步模式，以及所有接收和发送字符的格式。由程序在</a:t>
            </a:r>
            <a:r>
              <a:rPr lang="en-US" altLang="zh-CN" sz="2000" dirty="0"/>
              <a:t>8251A</a:t>
            </a:r>
            <a:r>
              <a:rPr lang="zh-CN" altLang="en-US" sz="2000" dirty="0"/>
              <a:t>初始化时设置。</a:t>
            </a:r>
            <a:endParaRPr lang="zh-CN" altLang="en-US" sz="2000" dirty="0"/>
          </a:p>
        </p:txBody>
      </p:sp>
      <p:sp>
        <p:nvSpPr>
          <p:cNvPr id="4" name="Rectangle 4"/>
          <p:cNvSpPr>
            <a:spLocks noChangeArrowheads="1"/>
          </p:cNvSpPr>
          <p:nvPr/>
        </p:nvSpPr>
        <p:spPr bwMode="auto">
          <a:xfrm>
            <a:off x="467544" y="368660"/>
            <a:ext cx="7848600" cy="492443"/>
          </a:xfrm>
          <a:prstGeom prst="rect">
            <a:avLst/>
          </a:prstGeom>
          <a:noFill/>
          <a:ln w="9525" algn="ctr">
            <a:noFill/>
            <a:miter lim="800000"/>
          </a:ln>
          <a:effectLst/>
        </p:spPr>
        <p:txBody>
          <a:bodyPr>
            <a:spAutoFit/>
          </a:bodyPr>
          <a:lstStyle/>
          <a:p>
            <a:r>
              <a:rPr lang="zh-CN" altLang="en-US" sz="2600" kern="0" dirty="0">
                <a:solidFill>
                  <a:schemeClr val="tx2"/>
                </a:solidFill>
                <a:effectLst>
                  <a:outerShdw blurRad="38100" dist="38100" dir="2700000" algn="tl">
                    <a:srgbClr val="C0C0C0"/>
                  </a:outerShdw>
                </a:effectLst>
                <a:latin typeface="+mj-lt"/>
                <a:cs typeface="+mj-cs"/>
              </a:rPr>
              <a:t>可编程串行通信接口</a:t>
            </a:r>
            <a:r>
              <a:rPr lang="en-US" altLang="zh-CN" sz="2600" kern="0" dirty="0">
                <a:solidFill>
                  <a:schemeClr val="tx2"/>
                </a:solidFill>
                <a:effectLst>
                  <a:outerShdw blurRad="38100" dist="38100" dir="2700000" algn="tl">
                    <a:srgbClr val="C0C0C0"/>
                  </a:outerShdw>
                </a:effectLst>
                <a:latin typeface="+mj-lt"/>
                <a:cs typeface="+mj-cs"/>
              </a:rPr>
              <a:t>8251A</a:t>
            </a:r>
            <a:endParaRPr lang="en-US" altLang="zh-CN" sz="2600" kern="0" dirty="0">
              <a:solidFill>
                <a:schemeClr val="tx2"/>
              </a:solidFill>
              <a:effectLst>
                <a:outerShdw blurRad="38100" dist="38100" dir="2700000" algn="tl">
                  <a:srgbClr val="C0C0C0"/>
                </a:outerShdw>
              </a:effectLst>
              <a:latin typeface="+mj-lt"/>
              <a:cs typeface="+mj-cs"/>
            </a:endParaRPr>
          </a:p>
        </p:txBody>
      </p:sp>
      <p:sp>
        <p:nvSpPr>
          <p:cNvPr id="5" name="AutoShape 3"/>
          <p:cNvSpPr>
            <a:spLocks noChangeArrowheads="1"/>
          </p:cNvSpPr>
          <p:nvPr/>
        </p:nvSpPr>
        <p:spPr bwMode="auto">
          <a:xfrm>
            <a:off x="4436568" y="3537359"/>
            <a:ext cx="4095872" cy="827745"/>
          </a:xfrm>
          <a:prstGeom prst="wedgeRoundRectCallout">
            <a:avLst>
              <a:gd name="adj1" fmla="val -61419"/>
              <a:gd name="adj2" fmla="val -85685"/>
              <a:gd name="adj3" fmla="val 16667"/>
            </a:avLst>
          </a:prstGeom>
          <a:solidFill>
            <a:schemeClr val="accent1"/>
          </a:solidFill>
          <a:ln w="9525" algn="ctr">
            <a:solidFill>
              <a:schemeClr val="tx1"/>
            </a:solidFill>
            <a:miter lim="800000"/>
          </a:ln>
          <a:effectLst/>
        </p:spPr>
        <p:txBody>
          <a:bodyPr/>
          <a:lstStyle/>
          <a:p>
            <a:r>
              <a:rPr lang="en-US" altLang="zh-CN" sz="2000" u="sng" dirty="0">
                <a:solidFill>
                  <a:srgbClr val="0000FF"/>
                </a:solidFill>
              </a:rPr>
              <a:t>8251A</a:t>
            </a:r>
            <a:r>
              <a:rPr lang="zh-CN" altLang="en-US" sz="2000" u="sng" dirty="0">
                <a:solidFill>
                  <a:srgbClr val="0000FF"/>
                </a:solidFill>
              </a:rPr>
              <a:t>操作寄存器：</a:t>
            </a:r>
            <a:r>
              <a:rPr lang="zh-CN" altLang="en-US" sz="2000" dirty="0"/>
              <a:t>主要用来控制</a:t>
            </a:r>
            <a:r>
              <a:rPr lang="en-US" altLang="zh-CN" sz="2000" dirty="0"/>
              <a:t>8251A</a:t>
            </a:r>
            <a:r>
              <a:rPr lang="zh-CN" altLang="en-US" sz="2000" dirty="0"/>
              <a:t>的工作，其内容由程序设定。</a:t>
            </a:r>
            <a:endParaRPr lang="zh-CN" altLang="en-US" sz="2000" dirty="0"/>
          </a:p>
        </p:txBody>
      </p:sp>
      <p:sp>
        <p:nvSpPr>
          <p:cNvPr id="6" name="AutoShape 3"/>
          <p:cNvSpPr>
            <a:spLocks noChangeArrowheads="1"/>
          </p:cNvSpPr>
          <p:nvPr/>
        </p:nvSpPr>
        <p:spPr bwMode="auto">
          <a:xfrm>
            <a:off x="4391745" y="5445224"/>
            <a:ext cx="4032448" cy="828092"/>
          </a:xfrm>
          <a:prstGeom prst="wedgeRoundRectCallout">
            <a:avLst>
              <a:gd name="adj1" fmla="val -61977"/>
              <a:gd name="adj2" fmla="val 21102"/>
              <a:gd name="adj3" fmla="val 16667"/>
            </a:avLst>
          </a:prstGeom>
          <a:solidFill>
            <a:schemeClr val="accent1"/>
          </a:solidFill>
          <a:ln w="9525" algn="ctr">
            <a:solidFill>
              <a:schemeClr val="tx1"/>
            </a:solidFill>
            <a:miter lim="800000"/>
          </a:ln>
          <a:effectLst/>
        </p:spPr>
        <p:txBody>
          <a:bodyPr/>
          <a:lstStyle/>
          <a:p>
            <a:r>
              <a:rPr lang="en-US" altLang="zh-CN" sz="2000" u="sng" dirty="0">
                <a:solidFill>
                  <a:srgbClr val="0000FF"/>
                </a:solidFill>
              </a:rPr>
              <a:t>8251A</a:t>
            </a:r>
            <a:r>
              <a:rPr lang="zh-CN" altLang="en-US" sz="2000" u="sng" dirty="0">
                <a:solidFill>
                  <a:srgbClr val="0000FF"/>
                </a:solidFill>
              </a:rPr>
              <a:t>状态寄存器：</a:t>
            </a:r>
            <a:r>
              <a:rPr lang="zh-CN" altLang="en-US" sz="2000" dirty="0"/>
              <a:t>表示</a:t>
            </a:r>
            <a:r>
              <a:rPr lang="en-US" altLang="zh-CN" sz="2000" dirty="0"/>
              <a:t>8251A</a:t>
            </a:r>
            <a:r>
              <a:rPr lang="zh-CN" altLang="en-US" sz="2000" dirty="0"/>
              <a:t>的工作状态，可以读出。</a:t>
            </a:r>
            <a:endParaRPr lang="zh-CN" altLang="en-US" sz="20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29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2979" grpId="0" animBg="1"/>
      <p:bldP spid="5" grpId="0" animBg="1"/>
      <p:bldP spid="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1191" name="Group 23"/>
          <p:cNvGraphicFramePr>
            <a:graphicFrameLocks noGrp="1"/>
          </p:cNvGraphicFramePr>
          <p:nvPr/>
        </p:nvGraphicFramePr>
        <p:xfrm>
          <a:off x="1079561" y="1683566"/>
          <a:ext cx="6908800" cy="457200"/>
        </p:xfrm>
        <a:graphic>
          <a:graphicData uri="http://schemas.openxmlformats.org/drawingml/2006/table">
            <a:tbl>
              <a:tblPr/>
              <a:tblGrid>
                <a:gridCol w="863600"/>
                <a:gridCol w="863600"/>
                <a:gridCol w="863600"/>
                <a:gridCol w="863600"/>
                <a:gridCol w="863600"/>
                <a:gridCol w="863600"/>
                <a:gridCol w="863600"/>
                <a:gridCol w="863600"/>
              </a:tblGrid>
              <a:tr h="433388">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rPr>
                        <a:t>D7</a:t>
                      </a:r>
                      <a:endPar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rPr>
                        <a:t>D6</a:t>
                      </a:r>
                      <a:endPar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rPr>
                        <a:t>D5</a:t>
                      </a:r>
                      <a:endPar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rPr>
                        <a:t>D4</a:t>
                      </a:r>
                      <a:endPar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rPr>
                        <a:t>D3</a:t>
                      </a:r>
                      <a:endPar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rPr>
                        <a:t>D2</a:t>
                      </a:r>
                      <a:endPar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rPr>
                        <a:t>D1</a:t>
                      </a:r>
                      <a:endPar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rPr>
                        <a:t>D0</a:t>
                      </a:r>
                      <a:endPar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91192" name="Rectangle 24"/>
          <p:cNvSpPr>
            <a:spLocks noChangeArrowheads="1"/>
          </p:cNvSpPr>
          <p:nvPr/>
        </p:nvSpPr>
        <p:spPr bwMode="auto">
          <a:xfrm>
            <a:off x="467580" y="1046185"/>
            <a:ext cx="6551612" cy="457200"/>
          </a:xfrm>
          <a:prstGeom prst="rect">
            <a:avLst/>
          </a:prstGeom>
          <a:noFill/>
          <a:ln w="9525" algn="ctr">
            <a:noFill/>
            <a:miter lim="800000"/>
          </a:ln>
          <a:effectLst/>
        </p:spPr>
        <p:txBody>
          <a:bodyPr>
            <a:spAutoFit/>
          </a:bodyPr>
          <a:lstStyle/>
          <a:p>
            <a:r>
              <a:rPr lang="en-US" altLang="zh-CN" dirty="0">
                <a:solidFill>
                  <a:srgbClr val="0000FF"/>
                </a:solidFill>
              </a:rPr>
              <a:t>8251A</a:t>
            </a:r>
            <a:r>
              <a:rPr lang="zh-CN" altLang="en-US" dirty="0">
                <a:solidFill>
                  <a:srgbClr val="0000FF"/>
                </a:solidFill>
              </a:rPr>
              <a:t>模式寄存器</a:t>
            </a:r>
            <a:r>
              <a:rPr lang="en-US" altLang="zh-CN" dirty="0"/>
              <a:t>(</a:t>
            </a:r>
            <a:r>
              <a:rPr lang="zh-CN" altLang="en-US" dirty="0"/>
              <a:t>写入控制口</a:t>
            </a:r>
            <a:r>
              <a:rPr lang="en-US" altLang="zh-CN" dirty="0"/>
              <a:t>)</a:t>
            </a:r>
            <a:endParaRPr lang="en-US" altLang="zh-CN" dirty="0"/>
          </a:p>
        </p:txBody>
      </p:sp>
      <p:sp>
        <p:nvSpPr>
          <p:cNvPr id="391196" name="Line 28"/>
          <p:cNvSpPr>
            <a:spLocks noChangeShapeType="1"/>
          </p:cNvSpPr>
          <p:nvPr/>
        </p:nvSpPr>
        <p:spPr bwMode="auto">
          <a:xfrm>
            <a:off x="6335774" y="2259828"/>
            <a:ext cx="1584325" cy="0"/>
          </a:xfrm>
          <a:prstGeom prst="line">
            <a:avLst/>
          </a:prstGeom>
          <a:noFill/>
          <a:ln w="28575">
            <a:solidFill>
              <a:schemeClr val="tx1"/>
            </a:solidFill>
            <a:round/>
          </a:ln>
          <a:effectLst/>
        </p:spPr>
        <p:txBody>
          <a:bodyPr/>
          <a:lstStyle/>
          <a:p>
            <a:endParaRPr lang="zh-CN" altLang="en-US"/>
          </a:p>
        </p:txBody>
      </p:sp>
      <p:sp>
        <p:nvSpPr>
          <p:cNvPr id="391198" name="Rectangle 30"/>
          <p:cNvSpPr>
            <a:spLocks noChangeArrowheads="1"/>
          </p:cNvSpPr>
          <p:nvPr/>
        </p:nvSpPr>
        <p:spPr bwMode="auto">
          <a:xfrm>
            <a:off x="6175755" y="2691628"/>
            <a:ext cx="2532250" cy="1631216"/>
          </a:xfrm>
          <a:prstGeom prst="rect">
            <a:avLst/>
          </a:prstGeom>
          <a:solidFill>
            <a:srgbClr val="FFFF00"/>
          </a:solidFill>
          <a:ln w="9525" algn="ctr">
            <a:noFill/>
            <a:miter lim="800000"/>
          </a:ln>
          <a:effectLst/>
        </p:spPr>
        <p:txBody>
          <a:bodyPr wrap="square">
            <a:spAutoFit/>
          </a:bodyPr>
          <a:lstStyle/>
          <a:p>
            <a:r>
              <a:rPr lang="zh-CN" altLang="en-US" sz="2000" b="1" dirty="0">
                <a:effectLst>
                  <a:outerShdw blurRad="38100" dist="38100" dir="2700000" algn="tl">
                    <a:srgbClr val="FFFFFF"/>
                  </a:outerShdw>
                </a:effectLst>
              </a:rPr>
              <a:t>波特率因子：</a:t>
            </a:r>
            <a:endParaRPr lang="zh-CN" altLang="en-US" sz="2000" b="1" dirty="0">
              <a:effectLst>
                <a:outerShdw blurRad="38100" dist="38100" dir="2700000" algn="tl">
                  <a:srgbClr val="FFFFFF"/>
                </a:outerShdw>
              </a:effectLst>
            </a:endParaRPr>
          </a:p>
          <a:p>
            <a:r>
              <a:rPr lang="en-US" altLang="zh-CN" sz="2000" dirty="0">
                <a:solidFill>
                  <a:srgbClr val="0000FF"/>
                </a:solidFill>
              </a:rPr>
              <a:t>00</a:t>
            </a:r>
            <a:r>
              <a:rPr lang="zh-CN" altLang="en-US" sz="2000" dirty="0">
                <a:solidFill>
                  <a:srgbClr val="0000FF"/>
                </a:solidFill>
              </a:rPr>
              <a:t>－同步方式</a:t>
            </a:r>
            <a:endParaRPr lang="zh-CN" altLang="en-US" sz="2000" dirty="0">
              <a:solidFill>
                <a:srgbClr val="0000FF"/>
              </a:solidFill>
            </a:endParaRPr>
          </a:p>
          <a:p>
            <a:r>
              <a:rPr lang="en-US" altLang="zh-CN" sz="2000" dirty="0"/>
              <a:t>01</a:t>
            </a:r>
            <a:r>
              <a:rPr lang="zh-CN" altLang="en-US" sz="2000" dirty="0"/>
              <a:t>－波特率因子为</a:t>
            </a:r>
            <a:r>
              <a:rPr lang="en-US" altLang="zh-CN" sz="2000" dirty="0"/>
              <a:t>1</a:t>
            </a:r>
            <a:endParaRPr lang="en-US" altLang="zh-CN" sz="2000" dirty="0"/>
          </a:p>
          <a:p>
            <a:r>
              <a:rPr lang="en-US" altLang="zh-CN" sz="2000" dirty="0"/>
              <a:t>10</a:t>
            </a:r>
            <a:r>
              <a:rPr lang="zh-CN" altLang="en-US" sz="2000" dirty="0"/>
              <a:t>－波特率因子为</a:t>
            </a:r>
            <a:r>
              <a:rPr lang="en-US" altLang="zh-CN" sz="2000" dirty="0"/>
              <a:t>16</a:t>
            </a:r>
            <a:endParaRPr lang="en-US" altLang="zh-CN" sz="2000" dirty="0"/>
          </a:p>
          <a:p>
            <a:r>
              <a:rPr lang="en-US" altLang="zh-CN" sz="2000" dirty="0"/>
              <a:t>11</a:t>
            </a:r>
            <a:r>
              <a:rPr lang="zh-CN" altLang="en-US" sz="2000" dirty="0"/>
              <a:t>－波特率因子为</a:t>
            </a:r>
            <a:r>
              <a:rPr lang="en-US" altLang="zh-CN" sz="2000" dirty="0"/>
              <a:t>64</a:t>
            </a:r>
            <a:endParaRPr lang="en-US" altLang="zh-CN" sz="2000" dirty="0"/>
          </a:p>
        </p:txBody>
      </p:sp>
      <p:sp>
        <p:nvSpPr>
          <p:cNvPr id="391199" name="Line 31"/>
          <p:cNvSpPr>
            <a:spLocks noChangeShapeType="1"/>
          </p:cNvSpPr>
          <p:nvPr/>
        </p:nvSpPr>
        <p:spPr bwMode="auto">
          <a:xfrm>
            <a:off x="6624699" y="2259828"/>
            <a:ext cx="0" cy="431800"/>
          </a:xfrm>
          <a:prstGeom prst="line">
            <a:avLst/>
          </a:prstGeom>
          <a:noFill/>
          <a:ln w="28575">
            <a:solidFill>
              <a:schemeClr val="tx1"/>
            </a:solidFill>
            <a:round/>
          </a:ln>
          <a:effectLst/>
        </p:spPr>
        <p:txBody>
          <a:bodyPr/>
          <a:lstStyle/>
          <a:p>
            <a:endParaRPr lang="zh-CN" altLang="en-US"/>
          </a:p>
        </p:txBody>
      </p:sp>
      <p:sp>
        <p:nvSpPr>
          <p:cNvPr id="391200" name="Line 32"/>
          <p:cNvSpPr>
            <a:spLocks noChangeShapeType="1"/>
          </p:cNvSpPr>
          <p:nvPr/>
        </p:nvSpPr>
        <p:spPr bwMode="auto">
          <a:xfrm>
            <a:off x="4608574" y="2259828"/>
            <a:ext cx="1584325" cy="0"/>
          </a:xfrm>
          <a:prstGeom prst="line">
            <a:avLst/>
          </a:prstGeom>
          <a:noFill/>
          <a:ln w="28575">
            <a:solidFill>
              <a:schemeClr val="tx1"/>
            </a:solidFill>
            <a:round/>
          </a:ln>
          <a:effectLst/>
        </p:spPr>
        <p:txBody>
          <a:bodyPr/>
          <a:lstStyle/>
          <a:p>
            <a:endParaRPr lang="zh-CN" altLang="en-US"/>
          </a:p>
        </p:txBody>
      </p:sp>
      <p:sp>
        <p:nvSpPr>
          <p:cNvPr id="391201" name="Line 33"/>
          <p:cNvSpPr>
            <a:spLocks noChangeShapeType="1"/>
          </p:cNvSpPr>
          <p:nvPr/>
        </p:nvSpPr>
        <p:spPr bwMode="auto">
          <a:xfrm flipH="1">
            <a:off x="5832536" y="2259828"/>
            <a:ext cx="0" cy="2376488"/>
          </a:xfrm>
          <a:prstGeom prst="line">
            <a:avLst/>
          </a:prstGeom>
          <a:noFill/>
          <a:ln w="28575">
            <a:solidFill>
              <a:schemeClr val="tx1"/>
            </a:solidFill>
            <a:round/>
          </a:ln>
          <a:effectLst/>
        </p:spPr>
        <p:txBody>
          <a:bodyPr/>
          <a:lstStyle/>
          <a:p>
            <a:endParaRPr lang="zh-CN" altLang="en-US"/>
          </a:p>
        </p:txBody>
      </p:sp>
      <p:sp>
        <p:nvSpPr>
          <p:cNvPr id="391202" name="Rectangle 34"/>
          <p:cNvSpPr>
            <a:spLocks noChangeArrowheads="1"/>
          </p:cNvSpPr>
          <p:nvPr/>
        </p:nvSpPr>
        <p:spPr bwMode="auto">
          <a:xfrm>
            <a:off x="5709532" y="4636316"/>
            <a:ext cx="1778791" cy="1631216"/>
          </a:xfrm>
          <a:prstGeom prst="rect">
            <a:avLst/>
          </a:prstGeom>
          <a:solidFill>
            <a:srgbClr val="FFFF00"/>
          </a:solidFill>
          <a:ln w="9525" algn="ctr">
            <a:noFill/>
            <a:miter lim="800000"/>
          </a:ln>
          <a:effectLst/>
        </p:spPr>
        <p:txBody>
          <a:bodyPr wrap="square">
            <a:spAutoFit/>
          </a:bodyPr>
          <a:lstStyle/>
          <a:p>
            <a:r>
              <a:rPr lang="zh-CN" altLang="en-US" sz="2000" b="1" dirty="0">
                <a:effectLst>
                  <a:outerShdw blurRad="38100" dist="38100" dir="2700000" algn="tl">
                    <a:srgbClr val="FFFFFF"/>
                  </a:outerShdw>
                </a:effectLst>
              </a:rPr>
              <a:t>数据位数目：</a:t>
            </a:r>
            <a:endParaRPr lang="zh-CN" altLang="en-US" sz="2000" b="1" dirty="0">
              <a:effectLst>
                <a:outerShdw blurRad="38100" dist="38100" dir="2700000" algn="tl">
                  <a:srgbClr val="FFFFFF"/>
                </a:outerShdw>
              </a:effectLst>
            </a:endParaRPr>
          </a:p>
          <a:p>
            <a:r>
              <a:rPr lang="en-US" altLang="zh-CN" sz="2000" dirty="0"/>
              <a:t>00</a:t>
            </a:r>
            <a:r>
              <a:rPr lang="zh-CN" altLang="en-US" sz="2000" dirty="0"/>
              <a:t>－</a:t>
            </a:r>
            <a:r>
              <a:rPr lang="en-US" altLang="zh-CN" sz="2000" dirty="0"/>
              <a:t>5</a:t>
            </a:r>
            <a:r>
              <a:rPr lang="zh-CN" altLang="en-US" sz="2000" dirty="0"/>
              <a:t>位</a:t>
            </a:r>
            <a:endParaRPr lang="zh-CN" altLang="en-US" sz="2000" dirty="0"/>
          </a:p>
          <a:p>
            <a:r>
              <a:rPr lang="en-US" altLang="zh-CN" sz="2000" dirty="0"/>
              <a:t>01</a:t>
            </a:r>
            <a:r>
              <a:rPr lang="zh-CN" altLang="en-US" sz="2000" dirty="0"/>
              <a:t>－</a:t>
            </a:r>
            <a:r>
              <a:rPr lang="en-US" altLang="zh-CN" sz="2000" dirty="0"/>
              <a:t>6</a:t>
            </a:r>
            <a:r>
              <a:rPr lang="zh-CN" altLang="en-US" sz="2000" dirty="0"/>
              <a:t>位</a:t>
            </a:r>
            <a:endParaRPr lang="zh-CN" altLang="en-US" sz="2000" dirty="0"/>
          </a:p>
          <a:p>
            <a:r>
              <a:rPr lang="en-US" altLang="zh-CN" sz="2000" dirty="0"/>
              <a:t>10</a:t>
            </a:r>
            <a:r>
              <a:rPr lang="zh-CN" altLang="en-US" sz="2000" dirty="0"/>
              <a:t>－</a:t>
            </a:r>
            <a:r>
              <a:rPr lang="en-US" altLang="zh-CN" sz="2000" dirty="0"/>
              <a:t>7</a:t>
            </a:r>
            <a:r>
              <a:rPr lang="zh-CN" altLang="en-US" sz="2000" dirty="0"/>
              <a:t>位</a:t>
            </a:r>
            <a:endParaRPr lang="zh-CN" altLang="en-US" sz="2000" dirty="0"/>
          </a:p>
          <a:p>
            <a:r>
              <a:rPr lang="en-US" altLang="zh-CN" sz="2000" dirty="0"/>
              <a:t>11</a:t>
            </a:r>
            <a:r>
              <a:rPr lang="zh-CN" altLang="en-US" sz="2000" dirty="0"/>
              <a:t>－</a:t>
            </a:r>
            <a:r>
              <a:rPr lang="en-US" altLang="zh-CN" sz="2000" dirty="0"/>
              <a:t>8</a:t>
            </a:r>
            <a:r>
              <a:rPr lang="zh-CN" altLang="en-US" sz="2000" dirty="0"/>
              <a:t>位</a:t>
            </a:r>
            <a:endParaRPr lang="zh-CN" altLang="en-US" sz="2000" dirty="0"/>
          </a:p>
        </p:txBody>
      </p:sp>
      <p:sp>
        <p:nvSpPr>
          <p:cNvPr id="391203" name="Line 35"/>
          <p:cNvSpPr>
            <a:spLocks noChangeShapeType="1"/>
          </p:cNvSpPr>
          <p:nvPr/>
        </p:nvSpPr>
        <p:spPr bwMode="auto">
          <a:xfrm>
            <a:off x="3743386" y="2259828"/>
            <a:ext cx="720725" cy="0"/>
          </a:xfrm>
          <a:prstGeom prst="line">
            <a:avLst/>
          </a:prstGeom>
          <a:noFill/>
          <a:ln w="28575">
            <a:solidFill>
              <a:schemeClr val="tx1"/>
            </a:solidFill>
            <a:round/>
          </a:ln>
          <a:effectLst/>
        </p:spPr>
        <p:txBody>
          <a:bodyPr/>
          <a:lstStyle/>
          <a:p>
            <a:endParaRPr lang="zh-CN" altLang="en-US"/>
          </a:p>
        </p:txBody>
      </p:sp>
      <p:sp>
        <p:nvSpPr>
          <p:cNvPr id="391204" name="Line 36"/>
          <p:cNvSpPr>
            <a:spLocks noChangeShapeType="1"/>
          </p:cNvSpPr>
          <p:nvPr/>
        </p:nvSpPr>
        <p:spPr bwMode="auto">
          <a:xfrm flipH="1">
            <a:off x="4103749" y="2259828"/>
            <a:ext cx="0" cy="503238"/>
          </a:xfrm>
          <a:prstGeom prst="line">
            <a:avLst/>
          </a:prstGeom>
          <a:noFill/>
          <a:ln w="28575">
            <a:solidFill>
              <a:schemeClr val="tx1"/>
            </a:solidFill>
            <a:round/>
          </a:ln>
          <a:effectLst/>
        </p:spPr>
        <p:txBody>
          <a:bodyPr/>
          <a:lstStyle/>
          <a:p>
            <a:endParaRPr lang="zh-CN" altLang="en-US"/>
          </a:p>
        </p:txBody>
      </p:sp>
      <p:sp>
        <p:nvSpPr>
          <p:cNvPr id="391205" name="Rectangle 37"/>
          <p:cNvSpPr>
            <a:spLocks noChangeArrowheads="1"/>
          </p:cNvSpPr>
          <p:nvPr/>
        </p:nvSpPr>
        <p:spPr bwMode="auto">
          <a:xfrm>
            <a:off x="3384611" y="2691628"/>
            <a:ext cx="1944688" cy="1015663"/>
          </a:xfrm>
          <a:prstGeom prst="rect">
            <a:avLst/>
          </a:prstGeom>
          <a:solidFill>
            <a:srgbClr val="FFFF00"/>
          </a:solidFill>
          <a:ln w="9525" algn="ctr">
            <a:noFill/>
            <a:miter lim="800000"/>
          </a:ln>
          <a:effectLst/>
        </p:spPr>
        <p:txBody>
          <a:bodyPr wrap="square">
            <a:spAutoFit/>
          </a:bodyPr>
          <a:lstStyle/>
          <a:p>
            <a:r>
              <a:rPr lang="zh-CN" altLang="en-US" sz="2000" b="1" dirty="0">
                <a:effectLst>
                  <a:outerShdw blurRad="38100" dist="38100" dir="2700000" algn="tl">
                    <a:srgbClr val="FFFFFF"/>
                  </a:outerShdw>
                </a:effectLst>
              </a:rPr>
              <a:t>是否有校验位：</a:t>
            </a:r>
            <a:endParaRPr lang="zh-CN" altLang="en-US" sz="2000" b="1" dirty="0">
              <a:effectLst>
                <a:outerShdw blurRad="38100" dist="38100" dir="2700000" algn="tl">
                  <a:srgbClr val="FFFFFF"/>
                </a:outerShdw>
              </a:effectLst>
            </a:endParaRPr>
          </a:p>
          <a:p>
            <a:r>
              <a:rPr lang="en-US" altLang="zh-CN" sz="2000" dirty="0"/>
              <a:t>0</a:t>
            </a:r>
            <a:r>
              <a:rPr lang="zh-CN" altLang="en-US" sz="2000" dirty="0"/>
              <a:t>－无</a:t>
            </a:r>
            <a:endParaRPr lang="zh-CN" altLang="en-US" sz="2000" dirty="0"/>
          </a:p>
          <a:p>
            <a:r>
              <a:rPr lang="en-US" altLang="zh-CN" sz="2000" dirty="0"/>
              <a:t>1</a:t>
            </a:r>
            <a:r>
              <a:rPr lang="zh-CN" altLang="en-US" sz="2000" dirty="0"/>
              <a:t>－有</a:t>
            </a:r>
            <a:endParaRPr lang="zh-CN" altLang="en-US" sz="2000" dirty="0"/>
          </a:p>
        </p:txBody>
      </p:sp>
      <p:sp>
        <p:nvSpPr>
          <p:cNvPr id="391206" name="Line 38"/>
          <p:cNvSpPr>
            <a:spLocks noChangeShapeType="1"/>
          </p:cNvSpPr>
          <p:nvPr/>
        </p:nvSpPr>
        <p:spPr bwMode="auto">
          <a:xfrm>
            <a:off x="2879786" y="2259828"/>
            <a:ext cx="720725" cy="0"/>
          </a:xfrm>
          <a:prstGeom prst="line">
            <a:avLst/>
          </a:prstGeom>
          <a:noFill/>
          <a:ln w="28575">
            <a:solidFill>
              <a:schemeClr val="tx1"/>
            </a:solidFill>
            <a:round/>
          </a:ln>
          <a:effectLst/>
        </p:spPr>
        <p:txBody>
          <a:bodyPr/>
          <a:lstStyle/>
          <a:p>
            <a:endParaRPr lang="zh-CN" altLang="en-US"/>
          </a:p>
        </p:txBody>
      </p:sp>
      <p:sp>
        <p:nvSpPr>
          <p:cNvPr id="391207" name="Line 39"/>
          <p:cNvSpPr>
            <a:spLocks noChangeShapeType="1"/>
          </p:cNvSpPr>
          <p:nvPr/>
        </p:nvSpPr>
        <p:spPr bwMode="auto">
          <a:xfrm flipH="1">
            <a:off x="3240149" y="2259828"/>
            <a:ext cx="0" cy="2376488"/>
          </a:xfrm>
          <a:prstGeom prst="line">
            <a:avLst/>
          </a:prstGeom>
          <a:noFill/>
          <a:ln w="28575">
            <a:solidFill>
              <a:schemeClr val="tx1"/>
            </a:solidFill>
            <a:round/>
          </a:ln>
          <a:effectLst/>
        </p:spPr>
        <p:txBody>
          <a:bodyPr/>
          <a:lstStyle/>
          <a:p>
            <a:endParaRPr lang="zh-CN" altLang="en-US"/>
          </a:p>
        </p:txBody>
      </p:sp>
      <p:sp>
        <p:nvSpPr>
          <p:cNvPr id="391208" name="Rectangle 40"/>
          <p:cNvSpPr>
            <a:spLocks noChangeArrowheads="1"/>
          </p:cNvSpPr>
          <p:nvPr/>
        </p:nvSpPr>
        <p:spPr bwMode="auto">
          <a:xfrm>
            <a:off x="3203848" y="4581128"/>
            <a:ext cx="1692907" cy="1015663"/>
          </a:xfrm>
          <a:prstGeom prst="rect">
            <a:avLst/>
          </a:prstGeom>
          <a:solidFill>
            <a:srgbClr val="FFFF00"/>
          </a:solidFill>
          <a:ln w="9525" algn="ctr">
            <a:noFill/>
            <a:miter lim="800000"/>
          </a:ln>
          <a:effectLst/>
        </p:spPr>
        <p:txBody>
          <a:bodyPr wrap="square">
            <a:spAutoFit/>
          </a:bodyPr>
          <a:lstStyle/>
          <a:p>
            <a:r>
              <a:rPr lang="zh-CN" altLang="en-US" sz="2000" b="1" dirty="0">
                <a:effectLst>
                  <a:outerShdw blurRad="38100" dist="38100" dir="2700000" algn="tl">
                    <a:srgbClr val="FFFFFF"/>
                  </a:outerShdw>
                </a:effectLst>
              </a:rPr>
              <a:t>校验类型：</a:t>
            </a:r>
            <a:endParaRPr lang="zh-CN" altLang="en-US" sz="2000" b="1" dirty="0">
              <a:effectLst>
                <a:outerShdw blurRad="38100" dist="38100" dir="2700000" algn="tl">
                  <a:srgbClr val="FFFFFF"/>
                </a:outerShdw>
              </a:effectLst>
            </a:endParaRPr>
          </a:p>
          <a:p>
            <a:r>
              <a:rPr lang="en-US" altLang="zh-CN" sz="2000" dirty="0"/>
              <a:t>0</a:t>
            </a:r>
            <a:r>
              <a:rPr lang="zh-CN" altLang="en-US" sz="2000" dirty="0"/>
              <a:t>－奇校验</a:t>
            </a:r>
            <a:endParaRPr lang="zh-CN" altLang="en-US" sz="2000" dirty="0"/>
          </a:p>
          <a:p>
            <a:r>
              <a:rPr lang="en-US" altLang="zh-CN" sz="2000" dirty="0"/>
              <a:t>1</a:t>
            </a:r>
            <a:r>
              <a:rPr lang="zh-CN" altLang="en-US" sz="2000" dirty="0"/>
              <a:t>－偶校验</a:t>
            </a:r>
            <a:endParaRPr lang="zh-CN" altLang="en-US" sz="2000" dirty="0"/>
          </a:p>
        </p:txBody>
      </p:sp>
      <p:sp>
        <p:nvSpPr>
          <p:cNvPr id="391209" name="Line 41"/>
          <p:cNvSpPr>
            <a:spLocks noChangeShapeType="1"/>
          </p:cNvSpPr>
          <p:nvPr/>
        </p:nvSpPr>
        <p:spPr bwMode="auto">
          <a:xfrm>
            <a:off x="1150999" y="2259828"/>
            <a:ext cx="1584325" cy="0"/>
          </a:xfrm>
          <a:prstGeom prst="line">
            <a:avLst/>
          </a:prstGeom>
          <a:noFill/>
          <a:ln w="28575">
            <a:solidFill>
              <a:schemeClr val="tx1"/>
            </a:solidFill>
            <a:round/>
          </a:ln>
          <a:effectLst/>
        </p:spPr>
        <p:txBody>
          <a:bodyPr/>
          <a:lstStyle/>
          <a:p>
            <a:endParaRPr lang="zh-CN" altLang="en-US"/>
          </a:p>
        </p:txBody>
      </p:sp>
      <p:sp>
        <p:nvSpPr>
          <p:cNvPr id="391210" name="Line 42"/>
          <p:cNvSpPr>
            <a:spLocks noChangeShapeType="1"/>
          </p:cNvSpPr>
          <p:nvPr/>
        </p:nvSpPr>
        <p:spPr bwMode="auto">
          <a:xfrm flipH="1">
            <a:off x="1439924" y="2259828"/>
            <a:ext cx="0" cy="576263"/>
          </a:xfrm>
          <a:prstGeom prst="line">
            <a:avLst/>
          </a:prstGeom>
          <a:noFill/>
          <a:ln w="28575">
            <a:solidFill>
              <a:schemeClr val="tx1"/>
            </a:solidFill>
            <a:round/>
          </a:ln>
          <a:effectLst/>
        </p:spPr>
        <p:txBody>
          <a:bodyPr/>
          <a:lstStyle/>
          <a:p>
            <a:endParaRPr lang="zh-CN" altLang="en-US"/>
          </a:p>
        </p:txBody>
      </p:sp>
      <p:sp>
        <p:nvSpPr>
          <p:cNvPr id="391211" name="Rectangle 43"/>
          <p:cNvSpPr>
            <a:spLocks noChangeArrowheads="1"/>
          </p:cNvSpPr>
          <p:nvPr/>
        </p:nvSpPr>
        <p:spPr bwMode="auto">
          <a:xfrm>
            <a:off x="361217" y="2384884"/>
            <a:ext cx="2519363" cy="4093428"/>
          </a:xfrm>
          <a:prstGeom prst="rect">
            <a:avLst/>
          </a:prstGeom>
          <a:solidFill>
            <a:srgbClr val="FFFF00"/>
          </a:solidFill>
          <a:ln w="9525" algn="ctr">
            <a:noFill/>
            <a:miter lim="800000"/>
          </a:ln>
          <a:effectLst/>
        </p:spPr>
        <p:txBody>
          <a:bodyPr wrap="square">
            <a:spAutoFit/>
          </a:bodyPr>
          <a:lstStyle/>
          <a:p>
            <a:r>
              <a:rPr lang="zh-CN" altLang="en-US" sz="2000" b="1" dirty="0">
                <a:solidFill>
                  <a:srgbClr val="0000FF"/>
                </a:solidFill>
                <a:effectLst>
                  <a:outerShdw blurRad="38100" dist="38100" dir="2700000" algn="tl">
                    <a:srgbClr val="000000"/>
                  </a:outerShdw>
                </a:effectLst>
              </a:rPr>
              <a:t>异步方式下：</a:t>
            </a:r>
            <a:endParaRPr lang="en-US" altLang="zh-CN" sz="2000" b="1" dirty="0">
              <a:solidFill>
                <a:srgbClr val="0000FF"/>
              </a:solidFill>
              <a:effectLst>
                <a:outerShdw blurRad="38100" dist="38100" dir="2700000" algn="tl">
                  <a:srgbClr val="000000"/>
                </a:outerShdw>
              </a:effectLst>
            </a:endParaRPr>
          </a:p>
          <a:p>
            <a:r>
              <a:rPr lang="zh-CN" altLang="en-US" sz="2000" b="1" dirty="0">
                <a:effectLst>
                  <a:outerShdw blurRad="38100" dist="38100" dir="2700000" algn="tl">
                    <a:srgbClr val="FFFFFF"/>
                  </a:outerShdw>
                </a:effectLst>
              </a:rPr>
              <a:t>停止位数目：</a:t>
            </a:r>
            <a:endParaRPr lang="zh-CN" altLang="en-US" sz="2000" b="1" dirty="0">
              <a:effectLst>
                <a:outerShdw blurRad="38100" dist="38100" dir="2700000" algn="tl">
                  <a:srgbClr val="FFFFFF"/>
                </a:outerShdw>
              </a:effectLst>
            </a:endParaRPr>
          </a:p>
          <a:p>
            <a:r>
              <a:rPr lang="en-US" altLang="zh-CN" sz="2000" dirty="0"/>
              <a:t>00</a:t>
            </a:r>
            <a:r>
              <a:rPr lang="zh-CN" altLang="en-US" sz="2000" dirty="0"/>
              <a:t>－无意义</a:t>
            </a:r>
            <a:endParaRPr lang="zh-CN" altLang="en-US" sz="2000" dirty="0"/>
          </a:p>
          <a:p>
            <a:r>
              <a:rPr lang="en-US" altLang="zh-CN" sz="2000" dirty="0"/>
              <a:t>01</a:t>
            </a:r>
            <a:r>
              <a:rPr lang="zh-CN" altLang="en-US" sz="2000" dirty="0"/>
              <a:t>－</a:t>
            </a:r>
            <a:r>
              <a:rPr lang="en-US" altLang="zh-CN" sz="2000" dirty="0"/>
              <a:t>1</a:t>
            </a:r>
            <a:r>
              <a:rPr lang="zh-CN" altLang="en-US" sz="2000" dirty="0"/>
              <a:t>个停止位</a:t>
            </a:r>
            <a:endParaRPr lang="zh-CN" altLang="en-US" sz="2000" dirty="0"/>
          </a:p>
          <a:p>
            <a:r>
              <a:rPr lang="en-US" altLang="zh-CN" sz="2000" dirty="0"/>
              <a:t>10</a:t>
            </a:r>
            <a:r>
              <a:rPr lang="zh-CN" altLang="en-US" sz="2000" dirty="0"/>
              <a:t>－</a:t>
            </a:r>
            <a:r>
              <a:rPr lang="en-US" altLang="zh-CN" sz="2000" dirty="0"/>
              <a:t>1.5</a:t>
            </a:r>
            <a:r>
              <a:rPr lang="zh-CN" altLang="en-US" sz="2000" dirty="0"/>
              <a:t>个停止位</a:t>
            </a:r>
            <a:endParaRPr lang="zh-CN" altLang="en-US" sz="2000" dirty="0"/>
          </a:p>
          <a:p>
            <a:r>
              <a:rPr lang="en-US" altLang="zh-CN" sz="2000" dirty="0"/>
              <a:t>11</a:t>
            </a:r>
            <a:r>
              <a:rPr lang="zh-CN" altLang="en-US" sz="2000" dirty="0"/>
              <a:t>－</a:t>
            </a:r>
            <a:r>
              <a:rPr lang="en-US" altLang="zh-CN" sz="2000" dirty="0"/>
              <a:t>2</a:t>
            </a:r>
            <a:r>
              <a:rPr lang="zh-CN" altLang="en-US" sz="2000" dirty="0"/>
              <a:t>个停止位</a:t>
            </a:r>
            <a:endParaRPr lang="zh-CN" altLang="en-US" sz="2000" dirty="0"/>
          </a:p>
          <a:p>
            <a:r>
              <a:rPr lang="zh-CN" altLang="en-US" sz="2000" b="1" dirty="0">
                <a:solidFill>
                  <a:srgbClr val="0000FF"/>
                </a:solidFill>
                <a:effectLst>
                  <a:outerShdw blurRad="38100" dist="38100" dir="2700000" algn="tl">
                    <a:srgbClr val="000000"/>
                  </a:outerShdw>
                </a:effectLst>
              </a:rPr>
              <a:t>同步方式下：</a:t>
            </a:r>
            <a:endParaRPr lang="en-US" altLang="zh-CN" sz="2000" b="1" dirty="0">
              <a:solidFill>
                <a:srgbClr val="0000FF"/>
              </a:solidFill>
              <a:effectLst>
                <a:outerShdw blurRad="38100" dist="38100" dir="2700000" algn="tl">
                  <a:srgbClr val="000000"/>
                </a:outerShdw>
              </a:effectLst>
            </a:endParaRPr>
          </a:p>
          <a:p>
            <a:r>
              <a:rPr lang="en-US" altLang="zh-CN" sz="2000" b="1" dirty="0">
                <a:effectLst>
                  <a:outerShdw blurRad="38100" dist="38100" dir="2700000" algn="tl">
                    <a:srgbClr val="FFFFFF"/>
                  </a:outerShdw>
                </a:effectLst>
              </a:rPr>
              <a:t>D6</a:t>
            </a:r>
            <a:r>
              <a:rPr lang="zh-CN" altLang="en-US" sz="2000" b="1" dirty="0">
                <a:effectLst>
                  <a:outerShdw blurRad="38100" dist="38100" dir="2700000" algn="tl">
                    <a:srgbClr val="FFFFFF"/>
                  </a:outerShdw>
                </a:effectLst>
              </a:rPr>
              <a:t>：同步方式：</a:t>
            </a:r>
            <a:endParaRPr lang="zh-CN" altLang="en-US" sz="2000" b="1" dirty="0">
              <a:effectLst>
                <a:outerShdw blurRad="38100" dist="38100" dir="2700000" algn="tl">
                  <a:srgbClr val="FFFFFF"/>
                </a:outerShdw>
              </a:effectLst>
            </a:endParaRPr>
          </a:p>
          <a:p>
            <a:r>
              <a:rPr lang="en-US" altLang="zh-CN" sz="2000" dirty="0"/>
              <a:t>0</a:t>
            </a:r>
            <a:r>
              <a:rPr lang="zh-CN" altLang="en-US" sz="2000" dirty="0"/>
              <a:t>－内同步</a:t>
            </a:r>
            <a:endParaRPr lang="zh-CN" altLang="en-US" sz="2000" dirty="0"/>
          </a:p>
          <a:p>
            <a:r>
              <a:rPr lang="en-US" altLang="zh-CN" sz="2000" dirty="0"/>
              <a:t>1</a:t>
            </a:r>
            <a:r>
              <a:rPr lang="zh-CN" altLang="en-US" sz="2000" dirty="0"/>
              <a:t>－外同步</a:t>
            </a:r>
            <a:endParaRPr lang="zh-CN" altLang="en-US" sz="2000" dirty="0"/>
          </a:p>
          <a:p>
            <a:r>
              <a:rPr lang="en-US" altLang="zh-CN" sz="2000" b="1" dirty="0">
                <a:effectLst>
                  <a:outerShdw blurRad="38100" dist="38100" dir="2700000" algn="tl">
                    <a:srgbClr val="FFFFFF"/>
                  </a:outerShdw>
                </a:effectLst>
              </a:rPr>
              <a:t>D7</a:t>
            </a:r>
            <a:r>
              <a:rPr lang="zh-CN" altLang="en-US" sz="2000" b="1" dirty="0">
                <a:effectLst>
                  <a:outerShdw blurRad="38100" dist="38100" dir="2700000" algn="tl">
                    <a:srgbClr val="FFFFFF"/>
                  </a:outerShdw>
                </a:effectLst>
              </a:rPr>
              <a:t>：同步字符数目：</a:t>
            </a:r>
            <a:endParaRPr lang="zh-CN" altLang="en-US" sz="2000" b="1" dirty="0">
              <a:effectLst>
                <a:outerShdw blurRad="38100" dist="38100" dir="2700000" algn="tl">
                  <a:srgbClr val="FFFFFF"/>
                </a:outerShdw>
              </a:effectLst>
            </a:endParaRPr>
          </a:p>
          <a:p>
            <a:r>
              <a:rPr lang="en-US" altLang="zh-CN" sz="2000" dirty="0"/>
              <a:t>0</a:t>
            </a:r>
            <a:r>
              <a:rPr lang="zh-CN" altLang="en-US" sz="2000" dirty="0"/>
              <a:t>－</a:t>
            </a:r>
            <a:r>
              <a:rPr lang="en-US" altLang="zh-CN" sz="2000" dirty="0"/>
              <a:t>2</a:t>
            </a:r>
            <a:r>
              <a:rPr lang="zh-CN" altLang="en-US" sz="2000" dirty="0"/>
              <a:t>个同步字符</a:t>
            </a:r>
            <a:endParaRPr lang="zh-CN" altLang="en-US" sz="2000" dirty="0"/>
          </a:p>
          <a:p>
            <a:r>
              <a:rPr lang="en-US" altLang="zh-CN" sz="2000" dirty="0"/>
              <a:t>1</a:t>
            </a:r>
            <a:r>
              <a:rPr lang="zh-CN" altLang="en-US" sz="2000" dirty="0"/>
              <a:t>－</a:t>
            </a:r>
            <a:r>
              <a:rPr lang="en-US" altLang="zh-CN" sz="2000" dirty="0"/>
              <a:t>1</a:t>
            </a:r>
            <a:r>
              <a:rPr lang="zh-CN" altLang="en-US" sz="2000" dirty="0"/>
              <a:t>个同步字符</a:t>
            </a:r>
            <a:endParaRPr lang="zh-CN" altLang="en-US" sz="2000" dirty="0"/>
          </a:p>
        </p:txBody>
      </p:sp>
      <p:sp>
        <p:nvSpPr>
          <p:cNvPr id="20" name="Rectangle 4"/>
          <p:cNvSpPr>
            <a:spLocks noChangeArrowheads="1"/>
          </p:cNvSpPr>
          <p:nvPr/>
        </p:nvSpPr>
        <p:spPr bwMode="auto">
          <a:xfrm>
            <a:off x="467544" y="368660"/>
            <a:ext cx="7848600" cy="492443"/>
          </a:xfrm>
          <a:prstGeom prst="rect">
            <a:avLst/>
          </a:prstGeom>
          <a:noFill/>
          <a:ln w="9525" algn="ctr">
            <a:noFill/>
            <a:miter lim="800000"/>
          </a:ln>
          <a:effectLst/>
        </p:spPr>
        <p:txBody>
          <a:bodyPr>
            <a:spAutoFit/>
          </a:bodyPr>
          <a:lstStyle/>
          <a:p>
            <a:r>
              <a:rPr lang="zh-CN" altLang="en-US" sz="2600" kern="0" dirty="0">
                <a:solidFill>
                  <a:schemeClr val="tx2"/>
                </a:solidFill>
                <a:effectLst>
                  <a:outerShdw blurRad="38100" dist="38100" dir="2700000" algn="tl">
                    <a:srgbClr val="C0C0C0"/>
                  </a:outerShdw>
                </a:effectLst>
                <a:latin typeface="+mj-lt"/>
                <a:cs typeface="+mj-cs"/>
              </a:rPr>
              <a:t>可编程串行通信接口</a:t>
            </a:r>
            <a:r>
              <a:rPr lang="en-US" altLang="zh-CN" sz="2600" kern="0" dirty="0">
                <a:solidFill>
                  <a:schemeClr val="tx2"/>
                </a:solidFill>
                <a:effectLst>
                  <a:outerShdw blurRad="38100" dist="38100" dir="2700000" algn="tl">
                    <a:srgbClr val="C0C0C0"/>
                  </a:outerShdw>
                </a:effectLst>
                <a:latin typeface="+mj-lt"/>
                <a:cs typeface="+mj-cs"/>
              </a:rPr>
              <a:t>8251A</a:t>
            </a:r>
            <a:endParaRPr lang="en-US" altLang="zh-CN"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3268" name="Group 52"/>
          <p:cNvGraphicFramePr>
            <a:graphicFrameLocks noGrp="1"/>
          </p:cNvGraphicFramePr>
          <p:nvPr/>
        </p:nvGraphicFramePr>
        <p:xfrm>
          <a:off x="1151570" y="1495636"/>
          <a:ext cx="6908800" cy="457200"/>
        </p:xfrm>
        <a:graphic>
          <a:graphicData uri="http://schemas.openxmlformats.org/drawingml/2006/table">
            <a:tbl>
              <a:tblPr/>
              <a:tblGrid>
                <a:gridCol w="863600"/>
                <a:gridCol w="863600"/>
                <a:gridCol w="863600"/>
                <a:gridCol w="865188"/>
                <a:gridCol w="862012"/>
                <a:gridCol w="863600"/>
                <a:gridCol w="863600"/>
                <a:gridCol w="863600"/>
              </a:tblGrid>
              <a:tr h="433388">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rPr>
                        <a:t>EH</a:t>
                      </a:r>
                      <a:endPar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rPr>
                        <a:t>IR</a:t>
                      </a:r>
                      <a:endParaRPr kumimoji="0" lang="en-US" altLang="zh-CN" sz="2400" b="1" i="0" u="none" strike="noStrike" cap="none" normalizeH="0" baseline="-2500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rPr>
                        <a:t>RTS</a:t>
                      </a:r>
                      <a:endPar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rPr>
                        <a:t>ER</a:t>
                      </a:r>
                      <a:endPar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rPr>
                        <a:t>SBRK</a:t>
                      </a:r>
                      <a:endPar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rPr>
                        <a:t>RxE</a:t>
                      </a:r>
                      <a:endPar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rPr>
                        <a:t>DTR</a:t>
                      </a:r>
                      <a:endPar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400" b="1" i="0" u="none" strike="noStrike" cap="none" normalizeH="0" baseline="0" dirty="0" err="1">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rPr>
                        <a:t>TxEN</a:t>
                      </a:r>
                      <a:endParaRPr kumimoji="0" lang="en-US" altLang="zh-CN" sz="2400" b="1" i="0" u="none" strike="noStrike" cap="none" normalizeH="0" baseline="0" dirty="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93238" name="Rectangle 22"/>
          <p:cNvSpPr>
            <a:spLocks noChangeArrowheads="1"/>
          </p:cNvSpPr>
          <p:nvPr/>
        </p:nvSpPr>
        <p:spPr bwMode="auto">
          <a:xfrm>
            <a:off x="485559" y="955576"/>
            <a:ext cx="6767512" cy="457200"/>
          </a:xfrm>
          <a:prstGeom prst="rect">
            <a:avLst/>
          </a:prstGeom>
          <a:noFill/>
          <a:ln w="9525" algn="ctr">
            <a:noFill/>
            <a:miter lim="800000"/>
          </a:ln>
          <a:effectLst/>
        </p:spPr>
        <p:txBody>
          <a:bodyPr>
            <a:spAutoFit/>
          </a:bodyPr>
          <a:lstStyle/>
          <a:p>
            <a:r>
              <a:rPr lang="en-US" altLang="zh-CN" dirty="0">
                <a:solidFill>
                  <a:srgbClr val="0000FF"/>
                </a:solidFill>
              </a:rPr>
              <a:t>8251A</a:t>
            </a:r>
            <a:r>
              <a:rPr lang="zh-CN" altLang="en-US" dirty="0">
                <a:solidFill>
                  <a:srgbClr val="0000FF"/>
                </a:solidFill>
              </a:rPr>
              <a:t>操作寄存器</a:t>
            </a:r>
            <a:r>
              <a:rPr lang="en-US" altLang="zh-CN" dirty="0"/>
              <a:t>(</a:t>
            </a:r>
            <a:r>
              <a:rPr lang="zh-CN" altLang="en-US" dirty="0"/>
              <a:t>命令控制字，写入控制口</a:t>
            </a:r>
            <a:r>
              <a:rPr lang="en-US" altLang="zh-CN" dirty="0"/>
              <a:t>)</a:t>
            </a:r>
            <a:endParaRPr lang="en-US" altLang="zh-CN" dirty="0"/>
          </a:p>
        </p:txBody>
      </p:sp>
      <p:sp>
        <p:nvSpPr>
          <p:cNvPr id="393241" name="Line 25"/>
          <p:cNvSpPr>
            <a:spLocks noChangeShapeType="1"/>
          </p:cNvSpPr>
          <p:nvPr/>
        </p:nvSpPr>
        <p:spPr bwMode="auto">
          <a:xfrm>
            <a:off x="6480808" y="2009026"/>
            <a:ext cx="0" cy="1223963"/>
          </a:xfrm>
          <a:prstGeom prst="line">
            <a:avLst/>
          </a:prstGeom>
          <a:noFill/>
          <a:ln w="28575">
            <a:solidFill>
              <a:schemeClr val="tx1"/>
            </a:solidFill>
            <a:round/>
          </a:ln>
          <a:effectLst/>
        </p:spPr>
        <p:txBody>
          <a:bodyPr/>
          <a:lstStyle/>
          <a:p>
            <a:endParaRPr lang="zh-CN" altLang="en-US"/>
          </a:p>
        </p:txBody>
      </p:sp>
      <p:sp>
        <p:nvSpPr>
          <p:cNvPr id="393243" name="Line 27"/>
          <p:cNvSpPr>
            <a:spLocks noChangeShapeType="1"/>
          </p:cNvSpPr>
          <p:nvPr/>
        </p:nvSpPr>
        <p:spPr bwMode="auto">
          <a:xfrm flipH="1">
            <a:off x="5904545" y="2009026"/>
            <a:ext cx="0" cy="2087563"/>
          </a:xfrm>
          <a:prstGeom prst="line">
            <a:avLst/>
          </a:prstGeom>
          <a:noFill/>
          <a:ln w="28575">
            <a:solidFill>
              <a:schemeClr val="tx1"/>
            </a:solidFill>
            <a:round/>
          </a:ln>
          <a:effectLst/>
        </p:spPr>
        <p:txBody>
          <a:bodyPr/>
          <a:lstStyle/>
          <a:p>
            <a:endParaRPr lang="zh-CN" altLang="en-US"/>
          </a:p>
        </p:txBody>
      </p:sp>
      <p:sp>
        <p:nvSpPr>
          <p:cNvPr id="393244" name="Rectangle 28"/>
          <p:cNvSpPr>
            <a:spLocks noChangeArrowheads="1"/>
          </p:cNvSpPr>
          <p:nvPr/>
        </p:nvSpPr>
        <p:spPr bwMode="auto">
          <a:xfrm>
            <a:off x="5615620" y="3836991"/>
            <a:ext cx="2088728" cy="707886"/>
          </a:xfrm>
          <a:prstGeom prst="rect">
            <a:avLst/>
          </a:prstGeom>
          <a:solidFill>
            <a:srgbClr val="FFFF00"/>
          </a:solidFill>
          <a:ln w="9525" algn="ctr">
            <a:noFill/>
            <a:miter lim="800000"/>
          </a:ln>
          <a:effectLst/>
        </p:spPr>
        <p:txBody>
          <a:bodyPr wrap="square">
            <a:spAutoFit/>
          </a:bodyPr>
          <a:lstStyle/>
          <a:p>
            <a:r>
              <a:rPr lang="zh-CN" altLang="en-US" sz="2000" dirty="0">
                <a:solidFill>
                  <a:srgbClr val="0000FF"/>
                </a:solidFill>
              </a:rPr>
              <a:t>接收允许：</a:t>
            </a:r>
            <a:endParaRPr lang="zh-CN" altLang="en-US" sz="2000" dirty="0">
              <a:solidFill>
                <a:srgbClr val="0000FF"/>
              </a:solidFill>
            </a:endParaRPr>
          </a:p>
          <a:p>
            <a:r>
              <a:rPr lang="en-US" altLang="zh-CN" sz="2000" dirty="0">
                <a:solidFill>
                  <a:srgbClr val="0000FF"/>
                </a:solidFill>
              </a:rPr>
              <a:t>1</a:t>
            </a:r>
            <a:r>
              <a:rPr lang="zh-CN" altLang="en-US" sz="2000" dirty="0">
                <a:solidFill>
                  <a:srgbClr val="0000FF"/>
                </a:solidFill>
              </a:rPr>
              <a:t>－允许 </a:t>
            </a:r>
            <a:r>
              <a:rPr lang="en-US" altLang="zh-CN" sz="2000" dirty="0">
                <a:solidFill>
                  <a:srgbClr val="0000FF"/>
                </a:solidFill>
              </a:rPr>
              <a:t>0</a:t>
            </a:r>
            <a:r>
              <a:rPr lang="zh-CN" altLang="en-US" sz="2000" dirty="0">
                <a:solidFill>
                  <a:srgbClr val="0000FF"/>
                </a:solidFill>
              </a:rPr>
              <a:t>－屏蔽</a:t>
            </a:r>
            <a:endParaRPr lang="zh-CN" altLang="en-US" sz="2000" dirty="0">
              <a:solidFill>
                <a:srgbClr val="0000FF"/>
              </a:solidFill>
            </a:endParaRPr>
          </a:p>
        </p:txBody>
      </p:sp>
      <p:sp>
        <p:nvSpPr>
          <p:cNvPr id="393245" name="Line 29"/>
          <p:cNvSpPr>
            <a:spLocks noChangeShapeType="1"/>
          </p:cNvSpPr>
          <p:nvPr/>
        </p:nvSpPr>
        <p:spPr bwMode="auto">
          <a:xfrm>
            <a:off x="3815395" y="2025042"/>
            <a:ext cx="720725" cy="0"/>
          </a:xfrm>
          <a:prstGeom prst="line">
            <a:avLst/>
          </a:prstGeom>
          <a:noFill/>
          <a:ln w="28575">
            <a:solidFill>
              <a:schemeClr val="tx1"/>
            </a:solidFill>
            <a:round/>
          </a:ln>
          <a:effectLst/>
        </p:spPr>
        <p:txBody>
          <a:bodyPr/>
          <a:lstStyle/>
          <a:p>
            <a:endParaRPr lang="zh-CN" altLang="en-US"/>
          </a:p>
        </p:txBody>
      </p:sp>
      <p:sp>
        <p:nvSpPr>
          <p:cNvPr id="393246" name="Line 30"/>
          <p:cNvSpPr>
            <a:spLocks noChangeShapeType="1"/>
          </p:cNvSpPr>
          <p:nvPr/>
        </p:nvSpPr>
        <p:spPr bwMode="auto">
          <a:xfrm flipH="1">
            <a:off x="4175758" y="2009026"/>
            <a:ext cx="0" cy="3816350"/>
          </a:xfrm>
          <a:prstGeom prst="line">
            <a:avLst/>
          </a:prstGeom>
          <a:noFill/>
          <a:ln w="28575">
            <a:solidFill>
              <a:schemeClr val="tx1"/>
            </a:solidFill>
            <a:round/>
          </a:ln>
          <a:effectLst/>
        </p:spPr>
        <p:txBody>
          <a:bodyPr/>
          <a:lstStyle/>
          <a:p>
            <a:endParaRPr lang="zh-CN" altLang="en-US"/>
          </a:p>
        </p:txBody>
      </p:sp>
      <p:sp>
        <p:nvSpPr>
          <p:cNvPr id="393248" name="Line 32"/>
          <p:cNvSpPr>
            <a:spLocks noChangeShapeType="1"/>
          </p:cNvSpPr>
          <p:nvPr/>
        </p:nvSpPr>
        <p:spPr bwMode="auto">
          <a:xfrm>
            <a:off x="2951795" y="2025042"/>
            <a:ext cx="720725" cy="0"/>
          </a:xfrm>
          <a:prstGeom prst="line">
            <a:avLst/>
          </a:prstGeom>
          <a:noFill/>
          <a:ln w="28575">
            <a:solidFill>
              <a:schemeClr val="tx1"/>
            </a:solidFill>
            <a:round/>
          </a:ln>
          <a:effectLst/>
        </p:spPr>
        <p:txBody>
          <a:bodyPr/>
          <a:lstStyle/>
          <a:p>
            <a:endParaRPr lang="zh-CN" altLang="en-US"/>
          </a:p>
        </p:txBody>
      </p:sp>
      <p:sp>
        <p:nvSpPr>
          <p:cNvPr id="393249" name="Line 33"/>
          <p:cNvSpPr>
            <a:spLocks noChangeShapeType="1"/>
          </p:cNvSpPr>
          <p:nvPr/>
        </p:nvSpPr>
        <p:spPr bwMode="auto">
          <a:xfrm flipH="1">
            <a:off x="3312158" y="2009026"/>
            <a:ext cx="0" cy="4248150"/>
          </a:xfrm>
          <a:prstGeom prst="line">
            <a:avLst/>
          </a:prstGeom>
          <a:noFill/>
          <a:ln w="28575">
            <a:solidFill>
              <a:schemeClr val="tx1"/>
            </a:solidFill>
            <a:round/>
          </a:ln>
          <a:effectLst/>
        </p:spPr>
        <p:txBody>
          <a:bodyPr/>
          <a:lstStyle/>
          <a:p>
            <a:endParaRPr lang="zh-CN" altLang="en-US"/>
          </a:p>
        </p:txBody>
      </p:sp>
      <p:sp>
        <p:nvSpPr>
          <p:cNvPr id="393250" name="Rectangle 34"/>
          <p:cNvSpPr>
            <a:spLocks noChangeArrowheads="1"/>
          </p:cNvSpPr>
          <p:nvPr/>
        </p:nvSpPr>
        <p:spPr bwMode="auto">
          <a:xfrm>
            <a:off x="3888420" y="5348291"/>
            <a:ext cx="4536008" cy="707886"/>
          </a:xfrm>
          <a:prstGeom prst="rect">
            <a:avLst/>
          </a:prstGeom>
          <a:solidFill>
            <a:srgbClr val="FFFF00"/>
          </a:solidFill>
          <a:ln w="9525" algn="ctr">
            <a:noFill/>
            <a:miter lim="800000"/>
          </a:ln>
          <a:effectLst/>
        </p:spPr>
        <p:txBody>
          <a:bodyPr wrap="square">
            <a:spAutoFit/>
          </a:bodyPr>
          <a:lstStyle/>
          <a:p>
            <a:r>
              <a:rPr lang="zh-CN" altLang="en-US" sz="2000" dirty="0">
                <a:solidFill>
                  <a:srgbClr val="0000FF"/>
                </a:solidFill>
              </a:rPr>
              <a:t>出错标志复位</a:t>
            </a:r>
            <a:endParaRPr lang="zh-CN" altLang="en-US" sz="2000" dirty="0">
              <a:solidFill>
                <a:srgbClr val="0000FF"/>
              </a:solidFill>
            </a:endParaRPr>
          </a:p>
          <a:p>
            <a:r>
              <a:rPr lang="en-US" altLang="zh-CN" sz="2000" dirty="0">
                <a:solidFill>
                  <a:srgbClr val="0000FF"/>
                </a:solidFill>
              </a:rPr>
              <a:t>1</a:t>
            </a:r>
            <a:r>
              <a:rPr lang="zh-CN" altLang="en-US" sz="2000" dirty="0">
                <a:solidFill>
                  <a:srgbClr val="0000FF"/>
                </a:solidFill>
              </a:rPr>
              <a:t>－使状态寄存器中的</a:t>
            </a:r>
            <a:r>
              <a:rPr lang="en-US" altLang="zh-CN" sz="2000" dirty="0">
                <a:solidFill>
                  <a:srgbClr val="0000FF"/>
                </a:solidFill>
              </a:rPr>
              <a:t>3</a:t>
            </a:r>
            <a:r>
              <a:rPr lang="zh-CN" altLang="en-US" sz="2000" dirty="0">
                <a:solidFill>
                  <a:srgbClr val="0000FF"/>
                </a:solidFill>
              </a:rPr>
              <a:t>个错误标志复位</a:t>
            </a:r>
            <a:endParaRPr lang="zh-CN" altLang="en-US" sz="2000" dirty="0">
              <a:solidFill>
                <a:srgbClr val="0000FF"/>
              </a:solidFill>
            </a:endParaRPr>
          </a:p>
        </p:txBody>
      </p:sp>
      <p:sp>
        <p:nvSpPr>
          <p:cNvPr id="393252" name="Line 36"/>
          <p:cNvSpPr>
            <a:spLocks noChangeShapeType="1"/>
          </p:cNvSpPr>
          <p:nvPr/>
        </p:nvSpPr>
        <p:spPr bwMode="auto">
          <a:xfrm flipH="1">
            <a:off x="1511933" y="2009026"/>
            <a:ext cx="0" cy="2376488"/>
          </a:xfrm>
          <a:prstGeom prst="line">
            <a:avLst/>
          </a:prstGeom>
          <a:noFill/>
          <a:ln w="28575">
            <a:solidFill>
              <a:schemeClr val="tx1"/>
            </a:solidFill>
            <a:round/>
          </a:ln>
          <a:effectLst/>
        </p:spPr>
        <p:txBody>
          <a:bodyPr/>
          <a:lstStyle/>
          <a:p>
            <a:endParaRPr lang="zh-CN" altLang="en-US"/>
          </a:p>
        </p:txBody>
      </p:sp>
      <p:sp>
        <p:nvSpPr>
          <p:cNvPr id="393254" name="Line 38"/>
          <p:cNvSpPr>
            <a:spLocks noChangeShapeType="1"/>
          </p:cNvSpPr>
          <p:nvPr/>
        </p:nvSpPr>
        <p:spPr bwMode="auto">
          <a:xfrm>
            <a:off x="7271383" y="2025042"/>
            <a:ext cx="720725" cy="0"/>
          </a:xfrm>
          <a:prstGeom prst="line">
            <a:avLst/>
          </a:prstGeom>
          <a:noFill/>
          <a:ln w="28575">
            <a:solidFill>
              <a:schemeClr val="tx1"/>
            </a:solidFill>
            <a:round/>
          </a:ln>
          <a:effectLst/>
        </p:spPr>
        <p:txBody>
          <a:bodyPr/>
          <a:lstStyle/>
          <a:p>
            <a:endParaRPr lang="zh-CN" altLang="en-US"/>
          </a:p>
        </p:txBody>
      </p:sp>
      <p:sp>
        <p:nvSpPr>
          <p:cNvPr id="393255" name="Line 39"/>
          <p:cNvSpPr>
            <a:spLocks noChangeShapeType="1"/>
          </p:cNvSpPr>
          <p:nvPr/>
        </p:nvSpPr>
        <p:spPr bwMode="auto">
          <a:xfrm>
            <a:off x="6407783" y="2025042"/>
            <a:ext cx="720725" cy="0"/>
          </a:xfrm>
          <a:prstGeom prst="line">
            <a:avLst/>
          </a:prstGeom>
          <a:noFill/>
          <a:ln w="28575">
            <a:solidFill>
              <a:schemeClr val="tx1"/>
            </a:solidFill>
            <a:round/>
          </a:ln>
          <a:effectLst/>
        </p:spPr>
        <p:txBody>
          <a:bodyPr/>
          <a:lstStyle/>
          <a:p>
            <a:endParaRPr lang="zh-CN" altLang="en-US"/>
          </a:p>
        </p:txBody>
      </p:sp>
      <p:sp>
        <p:nvSpPr>
          <p:cNvPr id="393256" name="Line 40"/>
          <p:cNvSpPr>
            <a:spLocks noChangeShapeType="1"/>
          </p:cNvSpPr>
          <p:nvPr/>
        </p:nvSpPr>
        <p:spPr bwMode="auto">
          <a:xfrm>
            <a:off x="7631745" y="2009026"/>
            <a:ext cx="0" cy="431800"/>
          </a:xfrm>
          <a:prstGeom prst="line">
            <a:avLst/>
          </a:prstGeom>
          <a:noFill/>
          <a:ln w="28575">
            <a:solidFill>
              <a:schemeClr val="tx1"/>
            </a:solidFill>
            <a:round/>
          </a:ln>
          <a:effectLst/>
        </p:spPr>
        <p:txBody>
          <a:bodyPr/>
          <a:lstStyle/>
          <a:p>
            <a:endParaRPr lang="zh-CN" altLang="en-US"/>
          </a:p>
        </p:txBody>
      </p:sp>
      <p:sp>
        <p:nvSpPr>
          <p:cNvPr id="393257" name="Rectangle 41"/>
          <p:cNvSpPr>
            <a:spLocks noChangeArrowheads="1"/>
          </p:cNvSpPr>
          <p:nvPr/>
        </p:nvSpPr>
        <p:spPr bwMode="auto">
          <a:xfrm>
            <a:off x="6264909" y="3087691"/>
            <a:ext cx="2231528" cy="707886"/>
          </a:xfrm>
          <a:prstGeom prst="rect">
            <a:avLst/>
          </a:prstGeom>
          <a:solidFill>
            <a:srgbClr val="FFFF00"/>
          </a:solidFill>
          <a:ln w="9525" algn="ctr">
            <a:noFill/>
            <a:miter lim="800000"/>
          </a:ln>
          <a:effectLst/>
        </p:spPr>
        <p:txBody>
          <a:bodyPr wrap="square">
            <a:spAutoFit/>
          </a:bodyPr>
          <a:lstStyle/>
          <a:p>
            <a:r>
              <a:rPr lang="zh-CN" altLang="en-US" sz="2000" dirty="0">
                <a:solidFill>
                  <a:srgbClr val="0000FF"/>
                </a:solidFill>
              </a:rPr>
              <a:t>数据终端准备好：</a:t>
            </a:r>
            <a:endParaRPr lang="zh-CN" altLang="en-US" sz="2000" dirty="0">
              <a:solidFill>
                <a:srgbClr val="0000FF"/>
              </a:solidFill>
            </a:endParaRPr>
          </a:p>
          <a:p>
            <a:r>
              <a:rPr lang="en-US" altLang="zh-CN" sz="2000" dirty="0">
                <a:solidFill>
                  <a:srgbClr val="0000FF"/>
                </a:solidFill>
              </a:rPr>
              <a:t>1</a:t>
            </a:r>
            <a:r>
              <a:rPr lang="zh-CN" altLang="en-US" sz="2000" dirty="0">
                <a:solidFill>
                  <a:srgbClr val="0000FF"/>
                </a:solidFill>
              </a:rPr>
              <a:t>－使</a:t>
            </a:r>
            <a:r>
              <a:rPr lang="en-US" altLang="zh-CN" sz="2000" dirty="0">
                <a:solidFill>
                  <a:srgbClr val="0000FF"/>
                </a:solidFill>
              </a:rPr>
              <a:t>DTR</a:t>
            </a:r>
            <a:r>
              <a:rPr lang="zh-CN" altLang="en-US" sz="2000" dirty="0">
                <a:solidFill>
                  <a:srgbClr val="0000FF"/>
                </a:solidFill>
              </a:rPr>
              <a:t>＝</a:t>
            </a:r>
            <a:r>
              <a:rPr lang="en-US" altLang="zh-CN" sz="2000" dirty="0">
                <a:solidFill>
                  <a:srgbClr val="0000FF"/>
                </a:solidFill>
              </a:rPr>
              <a:t>0</a:t>
            </a:r>
            <a:endParaRPr lang="en-US" altLang="zh-CN" sz="2000" dirty="0">
              <a:solidFill>
                <a:srgbClr val="0000FF"/>
              </a:solidFill>
            </a:endParaRPr>
          </a:p>
        </p:txBody>
      </p:sp>
      <p:sp>
        <p:nvSpPr>
          <p:cNvPr id="393258" name="Line 42"/>
          <p:cNvSpPr>
            <a:spLocks noChangeShapeType="1"/>
          </p:cNvSpPr>
          <p:nvPr/>
        </p:nvSpPr>
        <p:spPr bwMode="auto">
          <a:xfrm>
            <a:off x="5544183" y="2025042"/>
            <a:ext cx="720725" cy="0"/>
          </a:xfrm>
          <a:prstGeom prst="line">
            <a:avLst/>
          </a:prstGeom>
          <a:noFill/>
          <a:ln w="28575">
            <a:solidFill>
              <a:schemeClr val="tx1"/>
            </a:solidFill>
            <a:round/>
          </a:ln>
          <a:effectLst/>
        </p:spPr>
        <p:txBody>
          <a:bodyPr/>
          <a:lstStyle/>
          <a:p>
            <a:endParaRPr lang="zh-CN" altLang="en-US"/>
          </a:p>
        </p:txBody>
      </p:sp>
      <p:sp>
        <p:nvSpPr>
          <p:cNvPr id="393259" name="Line 43"/>
          <p:cNvSpPr>
            <a:spLocks noChangeShapeType="1"/>
          </p:cNvSpPr>
          <p:nvPr/>
        </p:nvSpPr>
        <p:spPr bwMode="auto">
          <a:xfrm>
            <a:off x="4680583" y="2025042"/>
            <a:ext cx="720725" cy="0"/>
          </a:xfrm>
          <a:prstGeom prst="line">
            <a:avLst/>
          </a:prstGeom>
          <a:noFill/>
          <a:ln w="28575">
            <a:solidFill>
              <a:schemeClr val="tx1"/>
            </a:solidFill>
            <a:round/>
          </a:ln>
          <a:effectLst/>
        </p:spPr>
        <p:txBody>
          <a:bodyPr/>
          <a:lstStyle/>
          <a:p>
            <a:endParaRPr lang="zh-CN" altLang="en-US"/>
          </a:p>
        </p:txBody>
      </p:sp>
      <p:sp>
        <p:nvSpPr>
          <p:cNvPr id="393261" name="Line 45"/>
          <p:cNvSpPr>
            <a:spLocks noChangeShapeType="1"/>
          </p:cNvSpPr>
          <p:nvPr/>
        </p:nvSpPr>
        <p:spPr bwMode="auto">
          <a:xfrm flipH="1">
            <a:off x="5039358" y="2009026"/>
            <a:ext cx="0" cy="2736850"/>
          </a:xfrm>
          <a:prstGeom prst="line">
            <a:avLst/>
          </a:prstGeom>
          <a:noFill/>
          <a:ln w="28575">
            <a:solidFill>
              <a:schemeClr val="tx1"/>
            </a:solidFill>
            <a:round/>
          </a:ln>
          <a:effectLst/>
        </p:spPr>
        <p:txBody>
          <a:bodyPr/>
          <a:lstStyle/>
          <a:p>
            <a:endParaRPr lang="zh-CN" altLang="en-US"/>
          </a:p>
        </p:txBody>
      </p:sp>
      <p:sp>
        <p:nvSpPr>
          <p:cNvPr id="393262" name="Rectangle 46"/>
          <p:cNvSpPr>
            <a:spLocks noChangeArrowheads="1"/>
          </p:cNvSpPr>
          <p:nvPr/>
        </p:nvSpPr>
        <p:spPr bwMode="auto">
          <a:xfrm>
            <a:off x="368533" y="5642075"/>
            <a:ext cx="3024188" cy="707886"/>
          </a:xfrm>
          <a:prstGeom prst="rect">
            <a:avLst/>
          </a:prstGeom>
          <a:solidFill>
            <a:srgbClr val="FFFF00"/>
          </a:solidFill>
          <a:ln w="9525" algn="ctr">
            <a:noFill/>
            <a:miter lim="800000"/>
          </a:ln>
          <a:effectLst/>
        </p:spPr>
        <p:txBody>
          <a:bodyPr>
            <a:spAutoFit/>
          </a:bodyPr>
          <a:lstStyle/>
          <a:p>
            <a:r>
              <a:rPr lang="zh-CN" altLang="en-US" sz="2000" b="1" dirty="0">
                <a:solidFill>
                  <a:srgbClr val="800000"/>
                </a:solidFill>
              </a:rPr>
              <a:t>请求发送：</a:t>
            </a:r>
            <a:endParaRPr lang="zh-CN" altLang="en-US" sz="2000" b="1" dirty="0">
              <a:solidFill>
                <a:srgbClr val="800000"/>
              </a:solidFill>
            </a:endParaRPr>
          </a:p>
          <a:p>
            <a:r>
              <a:rPr lang="en-US" altLang="zh-CN" sz="2000" b="1" dirty="0">
                <a:solidFill>
                  <a:srgbClr val="800000"/>
                </a:solidFill>
              </a:rPr>
              <a:t>1</a:t>
            </a:r>
            <a:r>
              <a:rPr lang="zh-CN" altLang="en-US" sz="2000" b="1" dirty="0">
                <a:solidFill>
                  <a:srgbClr val="800000"/>
                </a:solidFill>
              </a:rPr>
              <a:t>－使</a:t>
            </a:r>
            <a:r>
              <a:rPr lang="en-US" altLang="zh-CN" sz="2000" b="1" dirty="0">
                <a:solidFill>
                  <a:srgbClr val="800000"/>
                </a:solidFill>
              </a:rPr>
              <a:t>RTS</a:t>
            </a:r>
            <a:r>
              <a:rPr lang="zh-CN" altLang="en-US" sz="2000" b="1" dirty="0">
                <a:solidFill>
                  <a:srgbClr val="800000"/>
                </a:solidFill>
              </a:rPr>
              <a:t>输出低电平</a:t>
            </a:r>
            <a:endParaRPr lang="zh-CN" altLang="en-US" sz="2000" b="1" dirty="0">
              <a:solidFill>
                <a:srgbClr val="800000"/>
              </a:solidFill>
            </a:endParaRPr>
          </a:p>
        </p:txBody>
      </p:sp>
      <p:sp>
        <p:nvSpPr>
          <p:cNvPr id="393263" name="Line 47"/>
          <p:cNvSpPr>
            <a:spLocks noChangeShapeType="1"/>
          </p:cNvSpPr>
          <p:nvPr/>
        </p:nvSpPr>
        <p:spPr bwMode="auto">
          <a:xfrm>
            <a:off x="2088195" y="2025042"/>
            <a:ext cx="720725" cy="0"/>
          </a:xfrm>
          <a:prstGeom prst="line">
            <a:avLst/>
          </a:prstGeom>
          <a:noFill/>
          <a:ln w="28575">
            <a:solidFill>
              <a:schemeClr val="tx1"/>
            </a:solidFill>
            <a:round/>
          </a:ln>
          <a:effectLst/>
        </p:spPr>
        <p:txBody>
          <a:bodyPr/>
          <a:lstStyle/>
          <a:p>
            <a:endParaRPr lang="zh-CN" altLang="en-US"/>
          </a:p>
        </p:txBody>
      </p:sp>
      <p:sp>
        <p:nvSpPr>
          <p:cNvPr id="393264" name="Line 48"/>
          <p:cNvSpPr>
            <a:spLocks noChangeShapeType="1"/>
          </p:cNvSpPr>
          <p:nvPr/>
        </p:nvSpPr>
        <p:spPr bwMode="auto">
          <a:xfrm>
            <a:off x="1223008" y="2025042"/>
            <a:ext cx="720725" cy="0"/>
          </a:xfrm>
          <a:prstGeom prst="line">
            <a:avLst/>
          </a:prstGeom>
          <a:noFill/>
          <a:ln w="28575">
            <a:solidFill>
              <a:schemeClr val="tx1"/>
            </a:solidFill>
            <a:round/>
          </a:ln>
          <a:effectLst/>
        </p:spPr>
        <p:txBody>
          <a:bodyPr/>
          <a:lstStyle/>
          <a:p>
            <a:endParaRPr lang="zh-CN" altLang="en-US"/>
          </a:p>
        </p:txBody>
      </p:sp>
      <p:sp>
        <p:nvSpPr>
          <p:cNvPr id="393265" name="Rectangle 49"/>
          <p:cNvSpPr>
            <a:spLocks noChangeArrowheads="1"/>
          </p:cNvSpPr>
          <p:nvPr/>
        </p:nvSpPr>
        <p:spPr bwMode="auto">
          <a:xfrm>
            <a:off x="368533" y="5114543"/>
            <a:ext cx="2376489" cy="400110"/>
          </a:xfrm>
          <a:prstGeom prst="rect">
            <a:avLst/>
          </a:prstGeom>
          <a:solidFill>
            <a:srgbClr val="FFFF00"/>
          </a:solidFill>
          <a:ln w="9525" algn="ctr">
            <a:noFill/>
            <a:miter lim="800000"/>
          </a:ln>
          <a:effectLst/>
        </p:spPr>
        <p:txBody>
          <a:bodyPr wrap="square">
            <a:spAutoFit/>
          </a:bodyPr>
          <a:lstStyle/>
          <a:p>
            <a:r>
              <a:rPr lang="en-US" altLang="zh-CN" sz="2000" dirty="0">
                <a:solidFill>
                  <a:srgbClr val="0000FF"/>
                </a:solidFill>
              </a:rPr>
              <a:t>1</a:t>
            </a:r>
            <a:r>
              <a:rPr lang="zh-CN" altLang="en-US" sz="2000" dirty="0">
                <a:solidFill>
                  <a:srgbClr val="0000FF"/>
                </a:solidFill>
              </a:rPr>
              <a:t>－进行内部复位</a:t>
            </a:r>
            <a:endParaRPr lang="en-US" altLang="zh-CN" sz="2000" dirty="0">
              <a:solidFill>
                <a:srgbClr val="0000FF"/>
              </a:solidFill>
            </a:endParaRPr>
          </a:p>
        </p:txBody>
      </p:sp>
      <p:sp>
        <p:nvSpPr>
          <p:cNvPr id="393266" name="Line 50"/>
          <p:cNvSpPr>
            <a:spLocks noChangeShapeType="1"/>
          </p:cNvSpPr>
          <p:nvPr/>
        </p:nvSpPr>
        <p:spPr bwMode="auto">
          <a:xfrm flipH="1">
            <a:off x="2375533" y="2009026"/>
            <a:ext cx="0" cy="3095625"/>
          </a:xfrm>
          <a:prstGeom prst="line">
            <a:avLst/>
          </a:prstGeom>
          <a:noFill/>
          <a:ln w="28575">
            <a:solidFill>
              <a:schemeClr val="tx1"/>
            </a:solidFill>
            <a:round/>
          </a:ln>
          <a:effectLst/>
        </p:spPr>
        <p:txBody>
          <a:bodyPr/>
          <a:lstStyle/>
          <a:p>
            <a:endParaRPr lang="zh-CN" altLang="en-US"/>
          </a:p>
        </p:txBody>
      </p:sp>
      <p:sp>
        <p:nvSpPr>
          <p:cNvPr id="393267" name="Rectangle 51"/>
          <p:cNvSpPr>
            <a:spLocks noChangeArrowheads="1"/>
          </p:cNvSpPr>
          <p:nvPr/>
        </p:nvSpPr>
        <p:spPr bwMode="auto">
          <a:xfrm>
            <a:off x="359409" y="4221088"/>
            <a:ext cx="1368276" cy="707886"/>
          </a:xfrm>
          <a:prstGeom prst="rect">
            <a:avLst/>
          </a:prstGeom>
          <a:solidFill>
            <a:srgbClr val="FFFF00"/>
          </a:solidFill>
          <a:ln w="9525" algn="ctr">
            <a:noFill/>
            <a:miter lim="800000"/>
          </a:ln>
          <a:effectLst/>
        </p:spPr>
        <p:txBody>
          <a:bodyPr wrap="square">
            <a:spAutoFit/>
          </a:bodyPr>
          <a:lstStyle/>
          <a:p>
            <a:r>
              <a:rPr lang="en-US" altLang="zh-CN" sz="2000" dirty="0">
                <a:solidFill>
                  <a:srgbClr val="0000FF"/>
                </a:solidFill>
              </a:rPr>
              <a:t>1</a:t>
            </a:r>
            <a:r>
              <a:rPr lang="zh-CN" altLang="en-US" sz="2000" dirty="0">
                <a:solidFill>
                  <a:srgbClr val="0000FF"/>
                </a:solidFill>
              </a:rPr>
              <a:t>－启动搜索同步字</a:t>
            </a:r>
            <a:endParaRPr lang="zh-CN" altLang="en-US" sz="2000" dirty="0">
              <a:solidFill>
                <a:srgbClr val="0000FF"/>
              </a:solidFill>
            </a:endParaRPr>
          </a:p>
        </p:txBody>
      </p:sp>
      <p:sp>
        <p:nvSpPr>
          <p:cNvPr id="393269" name="Line 53"/>
          <p:cNvSpPr>
            <a:spLocks noChangeShapeType="1"/>
          </p:cNvSpPr>
          <p:nvPr/>
        </p:nvSpPr>
        <p:spPr bwMode="auto">
          <a:xfrm>
            <a:off x="7056276" y="3456293"/>
            <a:ext cx="431800" cy="0"/>
          </a:xfrm>
          <a:prstGeom prst="line">
            <a:avLst/>
          </a:prstGeom>
          <a:noFill/>
          <a:ln w="28575">
            <a:solidFill>
              <a:srgbClr val="800000"/>
            </a:solidFill>
            <a:round/>
          </a:ln>
          <a:effectLst/>
        </p:spPr>
        <p:txBody>
          <a:bodyPr/>
          <a:lstStyle/>
          <a:p>
            <a:endParaRPr lang="zh-CN" altLang="en-US"/>
          </a:p>
        </p:txBody>
      </p:sp>
      <p:sp>
        <p:nvSpPr>
          <p:cNvPr id="393270" name="Line 54"/>
          <p:cNvSpPr>
            <a:spLocks noChangeShapeType="1"/>
          </p:cNvSpPr>
          <p:nvPr/>
        </p:nvSpPr>
        <p:spPr bwMode="auto">
          <a:xfrm>
            <a:off x="1080133" y="5999693"/>
            <a:ext cx="431800" cy="0"/>
          </a:xfrm>
          <a:prstGeom prst="line">
            <a:avLst/>
          </a:prstGeom>
          <a:noFill/>
          <a:ln w="28575">
            <a:solidFill>
              <a:srgbClr val="800000"/>
            </a:solidFill>
            <a:round/>
          </a:ln>
          <a:effectLst/>
        </p:spPr>
        <p:txBody>
          <a:bodyPr/>
          <a:lstStyle/>
          <a:p>
            <a:endParaRPr lang="zh-CN" altLang="en-US"/>
          </a:p>
        </p:txBody>
      </p:sp>
      <p:sp>
        <p:nvSpPr>
          <p:cNvPr id="32" name="Rectangle 4"/>
          <p:cNvSpPr>
            <a:spLocks noChangeArrowheads="1"/>
          </p:cNvSpPr>
          <p:nvPr/>
        </p:nvSpPr>
        <p:spPr bwMode="auto">
          <a:xfrm>
            <a:off x="467544" y="368660"/>
            <a:ext cx="7848600" cy="492443"/>
          </a:xfrm>
          <a:prstGeom prst="rect">
            <a:avLst/>
          </a:prstGeom>
          <a:noFill/>
          <a:ln w="9525" algn="ctr">
            <a:noFill/>
            <a:miter lim="800000"/>
          </a:ln>
          <a:effectLst/>
        </p:spPr>
        <p:txBody>
          <a:bodyPr>
            <a:spAutoFit/>
          </a:bodyPr>
          <a:lstStyle/>
          <a:p>
            <a:r>
              <a:rPr lang="zh-CN" altLang="en-US" sz="2600" kern="0" dirty="0">
                <a:solidFill>
                  <a:schemeClr val="tx2"/>
                </a:solidFill>
                <a:effectLst>
                  <a:outerShdw blurRad="38100" dist="38100" dir="2700000" algn="tl">
                    <a:srgbClr val="C0C0C0"/>
                  </a:outerShdw>
                </a:effectLst>
                <a:latin typeface="+mj-lt"/>
                <a:cs typeface="+mj-cs"/>
              </a:rPr>
              <a:t>可编程串行通信接口</a:t>
            </a:r>
            <a:r>
              <a:rPr lang="en-US" altLang="zh-CN" sz="2600" kern="0" dirty="0">
                <a:solidFill>
                  <a:schemeClr val="tx2"/>
                </a:solidFill>
                <a:effectLst>
                  <a:outerShdw blurRad="38100" dist="38100" dir="2700000" algn="tl">
                    <a:srgbClr val="C0C0C0"/>
                  </a:outerShdw>
                </a:effectLst>
                <a:latin typeface="+mj-lt"/>
                <a:cs typeface="+mj-cs"/>
              </a:rPr>
              <a:t>8251A</a:t>
            </a:r>
            <a:endParaRPr lang="en-US" altLang="zh-CN" sz="2600" kern="0" dirty="0">
              <a:solidFill>
                <a:schemeClr val="tx2"/>
              </a:solidFill>
              <a:effectLst>
                <a:outerShdw blurRad="38100" dist="38100" dir="2700000" algn="tl">
                  <a:srgbClr val="C0C0C0"/>
                </a:outerShdw>
              </a:effectLst>
              <a:latin typeface="+mj-lt"/>
              <a:cs typeface="+mj-cs"/>
            </a:endParaRPr>
          </a:p>
        </p:txBody>
      </p:sp>
      <p:sp>
        <p:nvSpPr>
          <p:cNvPr id="393260" name="Rectangle 44"/>
          <p:cNvSpPr>
            <a:spLocks noChangeArrowheads="1"/>
          </p:cNvSpPr>
          <p:nvPr/>
        </p:nvSpPr>
        <p:spPr bwMode="auto">
          <a:xfrm>
            <a:off x="4752020" y="4600578"/>
            <a:ext cx="1728788" cy="707886"/>
          </a:xfrm>
          <a:prstGeom prst="rect">
            <a:avLst/>
          </a:prstGeom>
          <a:solidFill>
            <a:srgbClr val="FFFF00"/>
          </a:solidFill>
          <a:ln w="9525" algn="ctr">
            <a:noFill/>
            <a:miter lim="800000"/>
          </a:ln>
          <a:effectLst/>
        </p:spPr>
        <p:txBody>
          <a:bodyPr wrap="square">
            <a:spAutoFit/>
          </a:bodyPr>
          <a:lstStyle/>
          <a:p>
            <a:r>
              <a:rPr lang="en-US" altLang="zh-CN" sz="2000" dirty="0">
                <a:solidFill>
                  <a:srgbClr val="0000FF"/>
                </a:solidFill>
              </a:rPr>
              <a:t>1</a:t>
            </a:r>
            <a:r>
              <a:rPr lang="zh-CN" altLang="en-US" sz="2000" dirty="0">
                <a:solidFill>
                  <a:srgbClr val="0000FF"/>
                </a:solidFill>
              </a:rPr>
              <a:t>－使</a:t>
            </a:r>
            <a:r>
              <a:rPr lang="en-US" altLang="zh-CN" sz="2000" dirty="0" err="1">
                <a:solidFill>
                  <a:srgbClr val="0000FF"/>
                </a:solidFill>
              </a:rPr>
              <a:t>TxD</a:t>
            </a:r>
            <a:r>
              <a:rPr lang="en-US" altLang="zh-CN" sz="2000" dirty="0">
                <a:solidFill>
                  <a:srgbClr val="0000FF"/>
                </a:solidFill>
              </a:rPr>
              <a:t>=0</a:t>
            </a:r>
            <a:endParaRPr lang="en-US" altLang="zh-CN" sz="2000" dirty="0">
              <a:solidFill>
                <a:srgbClr val="0000FF"/>
              </a:solidFill>
            </a:endParaRPr>
          </a:p>
          <a:p>
            <a:r>
              <a:rPr lang="en-US" altLang="zh-CN" sz="2000" dirty="0">
                <a:solidFill>
                  <a:srgbClr val="0000FF"/>
                </a:solidFill>
              </a:rPr>
              <a:t>0</a:t>
            </a:r>
            <a:r>
              <a:rPr lang="zh-CN" altLang="en-US" sz="2000" dirty="0">
                <a:solidFill>
                  <a:srgbClr val="0000FF"/>
                </a:solidFill>
              </a:rPr>
              <a:t>－正常</a:t>
            </a:r>
            <a:endParaRPr lang="zh-CN" altLang="en-US" sz="2000" dirty="0">
              <a:solidFill>
                <a:srgbClr val="0000FF"/>
              </a:solidFill>
            </a:endParaRPr>
          </a:p>
        </p:txBody>
      </p:sp>
      <p:sp>
        <p:nvSpPr>
          <p:cNvPr id="393240" name="Rectangle 24"/>
          <p:cNvSpPr>
            <a:spLocks noChangeArrowheads="1"/>
          </p:cNvSpPr>
          <p:nvPr/>
        </p:nvSpPr>
        <p:spPr bwMode="auto">
          <a:xfrm>
            <a:off x="6623683" y="2324103"/>
            <a:ext cx="2088777" cy="707886"/>
          </a:xfrm>
          <a:prstGeom prst="rect">
            <a:avLst/>
          </a:prstGeom>
          <a:solidFill>
            <a:srgbClr val="FFFF00"/>
          </a:solidFill>
          <a:ln w="9525" algn="ctr">
            <a:noFill/>
            <a:miter lim="800000"/>
          </a:ln>
          <a:effectLst/>
        </p:spPr>
        <p:txBody>
          <a:bodyPr wrap="square">
            <a:spAutoFit/>
          </a:bodyPr>
          <a:lstStyle/>
          <a:p>
            <a:r>
              <a:rPr lang="zh-CN" altLang="en-US" sz="2000" b="1" dirty="0">
                <a:solidFill>
                  <a:srgbClr val="0000FF"/>
                </a:solidFill>
              </a:rPr>
              <a:t>发送允许：</a:t>
            </a:r>
            <a:endParaRPr lang="zh-CN" altLang="en-US" sz="2000" b="1" dirty="0">
              <a:solidFill>
                <a:srgbClr val="0000FF"/>
              </a:solidFill>
            </a:endParaRPr>
          </a:p>
          <a:p>
            <a:r>
              <a:rPr lang="en-US" altLang="zh-CN" sz="2000" b="1" dirty="0">
                <a:solidFill>
                  <a:srgbClr val="0000FF"/>
                </a:solidFill>
              </a:rPr>
              <a:t>1</a:t>
            </a:r>
            <a:r>
              <a:rPr lang="zh-CN" altLang="en-US" sz="2000" b="1" dirty="0">
                <a:solidFill>
                  <a:srgbClr val="0000FF"/>
                </a:solidFill>
              </a:rPr>
              <a:t>－允许 </a:t>
            </a:r>
            <a:r>
              <a:rPr lang="en-US" altLang="zh-CN" sz="2000" b="1" dirty="0">
                <a:solidFill>
                  <a:srgbClr val="0000FF"/>
                </a:solidFill>
              </a:rPr>
              <a:t>0</a:t>
            </a:r>
            <a:r>
              <a:rPr lang="zh-CN" altLang="en-US" sz="2000" b="1" dirty="0">
                <a:solidFill>
                  <a:srgbClr val="0000FF"/>
                </a:solidFill>
              </a:rPr>
              <a:t>－屏蔽</a:t>
            </a:r>
            <a:endParaRPr lang="zh-CN" altLang="en-US" sz="2000" b="1" dirty="0">
              <a:solidFill>
                <a:srgbClr val="0000FF"/>
              </a:solidFill>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2861" name="Group 61"/>
          <p:cNvGraphicFramePr>
            <a:graphicFrameLocks noGrp="1"/>
          </p:cNvGraphicFramePr>
          <p:nvPr/>
        </p:nvGraphicFramePr>
        <p:xfrm>
          <a:off x="576263" y="1531640"/>
          <a:ext cx="7516812" cy="457200"/>
        </p:xfrm>
        <a:graphic>
          <a:graphicData uri="http://schemas.openxmlformats.org/drawingml/2006/table">
            <a:tbl>
              <a:tblPr/>
              <a:tblGrid>
                <a:gridCol w="827087"/>
                <a:gridCol w="1152525"/>
                <a:gridCol w="846138"/>
                <a:gridCol w="846137"/>
                <a:gridCol w="846138"/>
                <a:gridCol w="846137"/>
                <a:gridCol w="1076325"/>
                <a:gridCol w="1076325"/>
              </a:tblGrid>
              <a:tr h="433388">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rPr>
                        <a:t>DSR</a:t>
                      </a:r>
                      <a:endPar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rPr>
                        <a:t>SYNDET</a:t>
                      </a:r>
                      <a:endPar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rPr>
                        <a:t>FE</a:t>
                      </a:r>
                      <a:endPar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rPr>
                        <a:t>OE</a:t>
                      </a:r>
                      <a:endPar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rPr>
                        <a:t>PE</a:t>
                      </a:r>
                      <a:endPar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rPr>
                        <a:t>TxE</a:t>
                      </a:r>
                      <a:endPar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rPr>
                        <a:t>RxRDY</a:t>
                      </a:r>
                      <a:endPar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400" b="1" i="0" u="none" strike="noStrike" cap="none" normalizeH="0" baseline="0" dirty="0" err="1">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rPr>
                        <a:t>TxRDY</a:t>
                      </a:r>
                      <a:endParaRPr kumimoji="0" lang="en-US" altLang="zh-CN" sz="2400" b="1" i="0" u="none" strike="noStrike" cap="none" normalizeH="0" baseline="0" dirty="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32822" name="Rectangle 22"/>
          <p:cNvSpPr>
            <a:spLocks noChangeArrowheads="1"/>
          </p:cNvSpPr>
          <p:nvPr/>
        </p:nvSpPr>
        <p:spPr bwMode="auto">
          <a:xfrm>
            <a:off x="539750" y="980728"/>
            <a:ext cx="7920038" cy="457200"/>
          </a:xfrm>
          <a:prstGeom prst="rect">
            <a:avLst/>
          </a:prstGeom>
          <a:noFill/>
          <a:ln w="9525" algn="ctr">
            <a:noFill/>
            <a:miter lim="800000"/>
          </a:ln>
          <a:effectLst/>
        </p:spPr>
        <p:txBody>
          <a:bodyPr>
            <a:spAutoFit/>
          </a:bodyPr>
          <a:lstStyle/>
          <a:p>
            <a:r>
              <a:rPr lang="en-US" altLang="zh-CN" dirty="0">
                <a:solidFill>
                  <a:srgbClr val="0000FF"/>
                </a:solidFill>
              </a:rPr>
              <a:t>8251A</a:t>
            </a:r>
            <a:r>
              <a:rPr lang="zh-CN" altLang="en-US" dirty="0">
                <a:solidFill>
                  <a:srgbClr val="0000FF"/>
                </a:solidFill>
              </a:rPr>
              <a:t>状态寄存器</a:t>
            </a:r>
            <a:r>
              <a:rPr lang="en-US" altLang="zh-CN" dirty="0"/>
              <a:t>(</a:t>
            </a:r>
            <a:r>
              <a:rPr lang="zh-CN" altLang="en-US" dirty="0"/>
              <a:t>反映</a:t>
            </a:r>
            <a:r>
              <a:rPr lang="zh-CN" altLang="en-US" dirty="0">
                <a:solidFill>
                  <a:srgbClr val="0000FF"/>
                </a:solidFill>
              </a:rPr>
              <a:t>接口线</a:t>
            </a:r>
            <a:r>
              <a:rPr lang="zh-CN" altLang="en-US" dirty="0"/>
              <a:t>和</a:t>
            </a:r>
            <a:r>
              <a:rPr lang="zh-CN" altLang="en-US" dirty="0">
                <a:solidFill>
                  <a:srgbClr val="0000FF"/>
                </a:solidFill>
              </a:rPr>
              <a:t>通信状态</a:t>
            </a:r>
            <a:r>
              <a:rPr lang="zh-CN" altLang="en-US" dirty="0"/>
              <a:t>，控制口读取</a:t>
            </a:r>
            <a:r>
              <a:rPr lang="en-US" altLang="zh-CN" dirty="0"/>
              <a:t>)</a:t>
            </a:r>
            <a:endParaRPr lang="en-US" altLang="zh-CN" dirty="0"/>
          </a:p>
        </p:txBody>
      </p:sp>
      <p:sp>
        <p:nvSpPr>
          <p:cNvPr id="332824" name="Line 24"/>
          <p:cNvSpPr>
            <a:spLocks noChangeShapeType="1"/>
          </p:cNvSpPr>
          <p:nvPr/>
        </p:nvSpPr>
        <p:spPr bwMode="auto">
          <a:xfrm>
            <a:off x="6227763" y="2024722"/>
            <a:ext cx="0" cy="1150938"/>
          </a:xfrm>
          <a:prstGeom prst="line">
            <a:avLst/>
          </a:prstGeom>
          <a:noFill/>
          <a:ln w="28575">
            <a:solidFill>
              <a:schemeClr val="tx1"/>
            </a:solidFill>
            <a:round/>
          </a:ln>
          <a:effectLst/>
        </p:spPr>
        <p:txBody>
          <a:bodyPr/>
          <a:lstStyle/>
          <a:p>
            <a:endParaRPr lang="zh-CN" altLang="en-US"/>
          </a:p>
        </p:txBody>
      </p:sp>
      <p:sp>
        <p:nvSpPr>
          <p:cNvPr id="332827" name="Line 27"/>
          <p:cNvSpPr>
            <a:spLocks noChangeShapeType="1"/>
          </p:cNvSpPr>
          <p:nvPr/>
        </p:nvSpPr>
        <p:spPr bwMode="auto">
          <a:xfrm>
            <a:off x="3419475" y="2024722"/>
            <a:ext cx="720725" cy="0"/>
          </a:xfrm>
          <a:prstGeom prst="line">
            <a:avLst/>
          </a:prstGeom>
          <a:noFill/>
          <a:ln w="28575">
            <a:solidFill>
              <a:schemeClr val="tx1"/>
            </a:solidFill>
            <a:round/>
          </a:ln>
          <a:effectLst/>
        </p:spPr>
        <p:txBody>
          <a:bodyPr/>
          <a:lstStyle/>
          <a:p>
            <a:endParaRPr lang="zh-CN" altLang="en-US"/>
          </a:p>
        </p:txBody>
      </p:sp>
      <p:sp>
        <p:nvSpPr>
          <p:cNvPr id="332828" name="Line 28"/>
          <p:cNvSpPr>
            <a:spLocks noChangeShapeType="1"/>
          </p:cNvSpPr>
          <p:nvPr/>
        </p:nvSpPr>
        <p:spPr bwMode="auto">
          <a:xfrm flipH="1">
            <a:off x="3779838" y="2024722"/>
            <a:ext cx="0" cy="2806700"/>
          </a:xfrm>
          <a:prstGeom prst="line">
            <a:avLst/>
          </a:prstGeom>
          <a:noFill/>
          <a:ln w="28575">
            <a:solidFill>
              <a:schemeClr val="tx1"/>
            </a:solidFill>
            <a:round/>
          </a:ln>
          <a:effectLst/>
        </p:spPr>
        <p:txBody>
          <a:bodyPr/>
          <a:lstStyle/>
          <a:p>
            <a:endParaRPr lang="zh-CN" altLang="en-US"/>
          </a:p>
        </p:txBody>
      </p:sp>
      <p:sp>
        <p:nvSpPr>
          <p:cNvPr id="332829" name="Line 29"/>
          <p:cNvSpPr>
            <a:spLocks noChangeShapeType="1"/>
          </p:cNvSpPr>
          <p:nvPr/>
        </p:nvSpPr>
        <p:spPr bwMode="auto">
          <a:xfrm>
            <a:off x="2627313" y="2023135"/>
            <a:ext cx="649287" cy="1587"/>
          </a:xfrm>
          <a:prstGeom prst="line">
            <a:avLst/>
          </a:prstGeom>
          <a:noFill/>
          <a:ln w="28575">
            <a:solidFill>
              <a:schemeClr val="tx1"/>
            </a:solidFill>
            <a:round/>
          </a:ln>
          <a:effectLst/>
        </p:spPr>
        <p:txBody>
          <a:bodyPr/>
          <a:lstStyle/>
          <a:p>
            <a:endParaRPr lang="zh-CN" altLang="en-US"/>
          </a:p>
        </p:txBody>
      </p:sp>
      <p:sp>
        <p:nvSpPr>
          <p:cNvPr id="332830" name="Line 30"/>
          <p:cNvSpPr>
            <a:spLocks noChangeShapeType="1"/>
          </p:cNvSpPr>
          <p:nvPr/>
        </p:nvSpPr>
        <p:spPr bwMode="auto">
          <a:xfrm flipH="1">
            <a:off x="2916238" y="2024722"/>
            <a:ext cx="0" cy="3311525"/>
          </a:xfrm>
          <a:prstGeom prst="line">
            <a:avLst/>
          </a:prstGeom>
          <a:noFill/>
          <a:ln w="28575">
            <a:solidFill>
              <a:schemeClr val="tx1"/>
            </a:solidFill>
            <a:round/>
          </a:ln>
          <a:effectLst/>
        </p:spPr>
        <p:txBody>
          <a:bodyPr/>
          <a:lstStyle/>
          <a:p>
            <a:endParaRPr lang="zh-CN" altLang="en-US"/>
          </a:p>
        </p:txBody>
      </p:sp>
      <p:sp>
        <p:nvSpPr>
          <p:cNvPr id="332832" name="Line 32"/>
          <p:cNvSpPr>
            <a:spLocks noChangeShapeType="1"/>
          </p:cNvSpPr>
          <p:nvPr/>
        </p:nvSpPr>
        <p:spPr bwMode="auto">
          <a:xfrm flipH="1">
            <a:off x="971550" y="2023135"/>
            <a:ext cx="0" cy="4465637"/>
          </a:xfrm>
          <a:prstGeom prst="line">
            <a:avLst/>
          </a:prstGeom>
          <a:noFill/>
          <a:ln w="28575">
            <a:solidFill>
              <a:schemeClr val="tx1"/>
            </a:solidFill>
            <a:round/>
          </a:ln>
          <a:effectLst/>
        </p:spPr>
        <p:txBody>
          <a:bodyPr/>
          <a:lstStyle/>
          <a:p>
            <a:endParaRPr lang="zh-CN" altLang="en-US"/>
          </a:p>
        </p:txBody>
      </p:sp>
      <p:sp>
        <p:nvSpPr>
          <p:cNvPr id="332833" name="Line 33"/>
          <p:cNvSpPr>
            <a:spLocks noChangeShapeType="1"/>
          </p:cNvSpPr>
          <p:nvPr/>
        </p:nvSpPr>
        <p:spPr bwMode="auto">
          <a:xfrm>
            <a:off x="7092950" y="2023135"/>
            <a:ext cx="935038" cy="1587"/>
          </a:xfrm>
          <a:prstGeom prst="line">
            <a:avLst/>
          </a:prstGeom>
          <a:noFill/>
          <a:ln w="28575">
            <a:solidFill>
              <a:schemeClr val="tx1"/>
            </a:solidFill>
            <a:round/>
          </a:ln>
          <a:effectLst/>
        </p:spPr>
        <p:txBody>
          <a:bodyPr/>
          <a:lstStyle/>
          <a:p>
            <a:endParaRPr lang="zh-CN" altLang="en-US"/>
          </a:p>
        </p:txBody>
      </p:sp>
      <p:sp>
        <p:nvSpPr>
          <p:cNvPr id="332834" name="Line 34"/>
          <p:cNvSpPr>
            <a:spLocks noChangeShapeType="1"/>
          </p:cNvSpPr>
          <p:nvPr/>
        </p:nvSpPr>
        <p:spPr bwMode="auto">
          <a:xfrm>
            <a:off x="6011863" y="2023135"/>
            <a:ext cx="936625" cy="0"/>
          </a:xfrm>
          <a:prstGeom prst="line">
            <a:avLst/>
          </a:prstGeom>
          <a:noFill/>
          <a:ln w="28575">
            <a:solidFill>
              <a:schemeClr val="tx1"/>
            </a:solidFill>
            <a:round/>
          </a:ln>
          <a:effectLst/>
        </p:spPr>
        <p:txBody>
          <a:bodyPr/>
          <a:lstStyle/>
          <a:p>
            <a:endParaRPr lang="zh-CN" altLang="en-US"/>
          </a:p>
        </p:txBody>
      </p:sp>
      <p:sp>
        <p:nvSpPr>
          <p:cNvPr id="332835" name="Line 35"/>
          <p:cNvSpPr>
            <a:spLocks noChangeShapeType="1"/>
          </p:cNvSpPr>
          <p:nvPr/>
        </p:nvSpPr>
        <p:spPr bwMode="auto">
          <a:xfrm>
            <a:off x="7524750" y="2024722"/>
            <a:ext cx="0" cy="430213"/>
          </a:xfrm>
          <a:prstGeom prst="line">
            <a:avLst/>
          </a:prstGeom>
          <a:noFill/>
          <a:ln w="28575">
            <a:solidFill>
              <a:schemeClr val="tx1"/>
            </a:solidFill>
            <a:round/>
          </a:ln>
          <a:effectLst/>
        </p:spPr>
        <p:txBody>
          <a:bodyPr/>
          <a:lstStyle/>
          <a:p>
            <a:endParaRPr lang="zh-CN" altLang="en-US"/>
          </a:p>
        </p:txBody>
      </p:sp>
      <p:sp>
        <p:nvSpPr>
          <p:cNvPr id="332836" name="Rectangle 36"/>
          <p:cNvSpPr>
            <a:spLocks noChangeArrowheads="1"/>
          </p:cNvSpPr>
          <p:nvPr/>
        </p:nvSpPr>
        <p:spPr bwMode="auto">
          <a:xfrm>
            <a:off x="5689600" y="2992886"/>
            <a:ext cx="2338388" cy="400110"/>
          </a:xfrm>
          <a:prstGeom prst="rect">
            <a:avLst/>
          </a:prstGeom>
          <a:solidFill>
            <a:srgbClr val="FFFF00"/>
          </a:solidFill>
          <a:ln w="9525" algn="ctr">
            <a:noFill/>
            <a:miter lim="800000"/>
          </a:ln>
          <a:effectLst/>
        </p:spPr>
        <p:txBody>
          <a:bodyPr>
            <a:spAutoFit/>
          </a:bodyPr>
          <a:lstStyle/>
          <a:p>
            <a:r>
              <a:rPr lang="en-US" altLang="zh-CN" sz="2000" dirty="0"/>
              <a:t>1</a:t>
            </a:r>
            <a:r>
              <a:rPr lang="zh-CN" altLang="en-US" sz="2000" dirty="0"/>
              <a:t>－</a:t>
            </a:r>
            <a:r>
              <a:rPr lang="en-US" altLang="zh-CN" sz="2000" dirty="0"/>
              <a:t>CPU</a:t>
            </a:r>
            <a:r>
              <a:rPr lang="zh-CN" altLang="en-US" sz="2000" dirty="0"/>
              <a:t>可读数据</a:t>
            </a:r>
            <a:endParaRPr lang="zh-CN" altLang="en-US" sz="2000" dirty="0"/>
          </a:p>
        </p:txBody>
      </p:sp>
      <p:sp>
        <p:nvSpPr>
          <p:cNvPr id="332837" name="Line 37"/>
          <p:cNvSpPr>
            <a:spLocks noChangeShapeType="1"/>
          </p:cNvSpPr>
          <p:nvPr/>
        </p:nvSpPr>
        <p:spPr bwMode="auto">
          <a:xfrm>
            <a:off x="5148263" y="2023135"/>
            <a:ext cx="720725" cy="0"/>
          </a:xfrm>
          <a:prstGeom prst="line">
            <a:avLst/>
          </a:prstGeom>
          <a:noFill/>
          <a:ln w="28575">
            <a:solidFill>
              <a:schemeClr val="tx1"/>
            </a:solidFill>
            <a:round/>
          </a:ln>
          <a:effectLst/>
        </p:spPr>
        <p:txBody>
          <a:bodyPr/>
          <a:lstStyle/>
          <a:p>
            <a:endParaRPr lang="zh-CN" altLang="en-US"/>
          </a:p>
        </p:txBody>
      </p:sp>
      <p:sp>
        <p:nvSpPr>
          <p:cNvPr id="332838" name="Line 38"/>
          <p:cNvSpPr>
            <a:spLocks noChangeShapeType="1"/>
          </p:cNvSpPr>
          <p:nvPr/>
        </p:nvSpPr>
        <p:spPr bwMode="auto">
          <a:xfrm>
            <a:off x="4283075" y="2024722"/>
            <a:ext cx="720725" cy="0"/>
          </a:xfrm>
          <a:prstGeom prst="line">
            <a:avLst/>
          </a:prstGeom>
          <a:noFill/>
          <a:ln w="28575">
            <a:solidFill>
              <a:schemeClr val="tx1"/>
            </a:solidFill>
            <a:round/>
          </a:ln>
          <a:effectLst/>
        </p:spPr>
        <p:txBody>
          <a:bodyPr/>
          <a:lstStyle/>
          <a:p>
            <a:endParaRPr lang="zh-CN" altLang="en-US"/>
          </a:p>
        </p:txBody>
      </p:sp>
      <p:sp>
        <p:nvSpPr>
          <p:cNvPr id="332839" name="Rectangle 39"/>
          <p:cNvSpPr>
            <a:spLocks noChangeArrowheads="1"/>
          </p:cNvSpPr>
          <p:nvPr/>
        </p:nvSpPr>
        <p:spPr bwMode="auto">
          <a:xfrm>
            <a:off x="3492500" y="4546750"/>
            <a:ext cx="1655763" cy="400110"/>
          </a:xfrm>
          <a:prstGeom prst="rect">
            <a:avLst/>
          </a:prstGeom>
          <a:solidFill>
            <a:srgbClr val="FFFF00"/>
          </a:solidFill>
          <a:ln w="9525" algn="ctr">
            <a:noFill/>
            <a:miter lim="800000"/>
          </a:ln>
          <a:effectLst/>
        </p:spPr>
        <p:txBody>
          <a:bodyPr wrap="square">
            <a:spAutoFit/>
          </a:bodyPr>
          <a:lstStyle/>
          <a:p>
            <a:r>
              <a:rPr lang="en-US" altLang="zh-CN" sz="2000" dirty="0"/>
              <a:t>1</a:t>
            </a:r>
            <a:r>
              <a:rPr lang="zh-CN" altLang="en-US" sz="2000" dirty="0"/>
              <a:t>－溢出错误</a:t>
            </a:r>
            <a:endParaRPr lang="zh-CN" altLang="en-US" sz="2000" dirty="0"/>
          </a:p>
        </p:txBody>
      </p:sp>
      <p:sp>
        <p:nvSpPr>
          <p:cNvPr id="332840" name="Line 40"/>
          <p:cNvSpPr>
            <a:spLocks noChangeShapeType="1"/>
          </p:cNvSpPr>
          <p:nvPr/>
        </p:nvSpPr>
        <p:spPr bwMode="auto">
          <a:xfrm>
            <a:off x="4641850" y="2024722"/>
            <a:ext cx="1588" cy="2230438"/>
          </a:xfrm>
          <a:prstGeom prst="line">
            <a:avLst/>
          </a:prstGeom>
          <a:noFill/>
          <a:ln w="28575">
            <a:solidFill>
              <a:schemeClr val="tx1"/>
            </a:solidFill>
            <a:round/>
          </a:ln>
          <a:effectLst/>
        </p:spPr>
        <p:txBody>
          <a:bodyPr/>
          <a:lstStyle/>
          <a:p>
            <a:endParaRPr lang="zh-CN" altLang="en-US"/>
          </a:p>
        </p:txBody>
      </p:sp>
      <p:sp>
        <p:nvSpPr>
          <p:cNvPr id="332842" name="Line 42"/>
          <p:cNvSpPr>
            <a:spLocks noChangeShapeType="1"/>
          </p:cNvSpPr>
          <p:nvPr/>
        </p:nvSpPr>
        <p:spPr bwMode="auto">
          <a:xfrm flipV="1">
            <a:off x="1512888" y="2023135"/>
            <a:ext cx="898525" cy="1587"/>
          </a:xfrm>
          <a:prstGeom prst="line">
            <a:avLst/>
          </a:prstGeom>
          <a:noFill/>
          <a:ln w="28575">
            <a:solidFill>
              <a:schemeClr val="tx1"/>
            </a:solidFill>
            <a:round/>
          </a:ln>
          <a:effectLst/>
        </p:spPr>
        <p:txBody>
          <a:bodyPr/>
          <a:lstStyle/>
          <a:p>
            <a:endParaRPr lang="zh-CN" altLang="en-US"/>
          </a:p>
        </p:txBody>
      </p:sp>
      <p:sp>
        <p:nvSpPr>
          <p:cNvPr id="332843" name="Line 43"/>
          <p:cNvSpPr>
            <a:spLocks noChangeShapeType="1"/>
          </p:cNvSpPr>
          <p:nvPr/>
        </p:nvSpPr>
        <p:spPr bwMode="auto">
          <a:xfrm>
            <a:off x="611188" y="2024722"/>
            <a:ext cx="720725" cy="0"/>
          </a:xfrm>
          <a:prstGeom prst="line">
            <a:avLst/>
          </a:prstGeom>
          <a:noFill/>
          <a:ln w="28575">
            <a:solidFill>
              <a:schemeClr val="tx1"/>
            </a:solidFill>
            <a:round/>
          </a:ln>
          <a:effectLst/>
        </p:spPr>
        <p:txBody>
          <a:bodyPr/>
          <a:lstStyle/>
          <a:p>
            <a:endParaRPr lang="zh-CN" altLang="en-US"/>
          </a:p>
        </p:txBody>
      </p:sp>
      <p:sp>
        <p:nvSpPr>
          <p:cNvPr id="332845" name="Line 45"/>
          <p:cNvSpPr>
            <a:spLocks noChangeShapeType="1"/>
          </p:cNvSpPr>
          <p:nvPr/>
        </p:nvSpPr>
        <p:spPr bwMode="auto">
          <a:xfrm flipH="1">
            <a:off x="1979613" y="2024722"/>
            <a:ext cx="0" cy="3887788"/>
          </a:xfrm>
          <a:prstGeom prst="line">
            <a:avLst/>
          </a:prstGeom>
          <a:noFill/>
          <a:ln w="28575">
            <a:solidFill>
              <a:schemeClr val="tx1"/>
            </a:solidFill>
            <a:round/>
          </a:ln>
          <a:effectLst/>
        </p:spPr>
        <p:txBody>
          <a:bodyPr/>
          <a:lstStyle/>
          <a:p>
            <a:endParaRPr lang="zh-CN" altLang="en-US"/>
          </a:p>
        </p:txBody>
      </p:sp>
      <p:sp>
        <p:nvSpPr>
          <p:cNvPr id="332863" name="Line 63"/>
          <p:cNvSpPr>
            <a:spLocks noChangeShapeType="1"/>
          </p:cNvSpPr>
          <p:nvPr/>
        </p:nvSpPr>
        <p:spPr bwMode="auto">
          <a:xfrm flipH="1">
            <a:off x="5435600" y="2023135"/>
            <a:ext cx="0" cy="1728787"/>
          </a:xfrm>
          <a:prstGeom prst="line">
            <a:avLst/>
          </a:prstGeom>
          <a:noFill/>
          <a:ln w="28575">
            <a:solidFill>
              <a:schemeClr val="tx1"/>
            </a:solidFill>
            <a:round/>
          </a:ln>
          <a:effectLst/>
        </p:spPr>
        <p:txBody>
          <a:bodyPr/>
          <a:lstStyle/>
          <a:p>
            <a:endParaRPr lang="zh-CN" altLang="en-US"/>
          </a:p>
        </p:txBody>
      </p:sp>
      <p:sp>
        <p:nvSpPr>
          <p:cNvPr id="332864" name="Rectangle 64"/>
          <p:cNvSpPr>
            <a:spLocks noChangeArrowheads="1"/>
          </p:cNvSpPr>
          <p:nvPr/>
        </p:nvSpPr>
        <p:spPr bwMode="auto">
          <a:xfrm>
            <a:off x="2627313" y="5065863"/>
            <a:ext cx="1872679" cy="400110"/>
          </a:xfrm>
          <a:prstGeom prst="rect">
            <a:avLst/>
          </a:prstGeom>
          <a:solidFill>
            <a:srgbClr val="FFFF00"/>
          </a:solidFill>
          <a:ln w="9525" algn="ctr">
            <a:noFill/>
            <a:miter lim="800000"/>
          </a:ln>
          <a:effectLst/>
        </p:spPr>
        <p:txBody>
          <a:bodyPr wrap="square">
            <a:spAutoFit/>
          </a:bodyPr>
          <a:lstStyle/>
          <a:p>
            <a:r>
              <a:rPr lang="en-US" altLang="zh-CN" sz="2000" dirty="0"/>
              <a:t>1</a:t>
            </a:r>
            <a:r>
              <a:rPr lang="zh-CN" altLang="en-US" sz="2000" dirty="0"/>
              <a:t>－帧格式错误</a:t>
            </a:r>
            <a:endParaRPr lang="zh-CN" altLang="en-US" sz="2000" dirty="0"/>
          </a:p>
        </p:txBody>
      </p:sp>
      <p:sp>
        <p:nvSpPr>
          <p:cNvPr id="332865" name="Rectangle 65"/>
          <p:cNvSpPr>
            <a:spLocks noChangeArrowheads="1"/>
          </p:cNvSpPr>
          <p:nvPr/>
        </p:nvSpPr>
        <p:spPr bwMode="auto">
          <a:xfrm>
            <a:off x="1619250" y="5613550"/>
            <a:ext cx="2268674" cy="400110"/>
          </a:xfrm>
          <a:prstGeom prst="rect">
            <a:avLst/>
          </a:prstGeom>
          <a:solidFill>
            <a:srgbClr val="FFFF00"/>
          </a:solidFill>
          <a:ln w="9525" algn="ctr">
            <a:noFill/>
            <a:miter lim="800000"/>
          </a:ln>
          <a:effectLst/>
        </p:spPr>
        <p:txBody>
          <a:bodyPr wrap="square">
            <a:spAutoFit/>
          </a:bodyPr>
          <a:lstStyle/>
          <a:p>
            <a:r>
              <a:rPr lang="en-US" altLang="zh-CN" sz="2000" dirty="0"/>
              <a:t>1</a:t>
            </a:r>
            <a:r>
              <a:rPr lang="zh-CN" altLang="en-US" sz="2000" dirty="0"/>
              <a:t>－找到同步字符</a:t>
            </a:r>
            <a:endParaRPr lang="zh-CN" altLang="en-US" sz="2000" dirty="0"/>
          </a:p>
        </p:txBody>
      </p:sp>
      <p:sp>
        <p:nvSpPr>
          <p:cNvPr id="332866" name="Rectangle 66"/>
          <p:cNvSpPr>
            <a:spLocks noChangeArrowheads="1"/>
          </p:cNvSpPr>
          <p:nvPr/>
        </p:nvSpPr>
        <p:spPr bwMode="auto">
          <a:xfrm>
            <a:off x="684213" y="6161238"/>
            <a:ext cx="2951162" cy="400110"/>
          </a:xfrm>
          <a:prstGeom prst="rect">
            <a:avLst/>
          </a:prstGeom>
          <a:solidFill>
            <a:srgbClr val="FFFF00"/>
          </a:solidFill>
          <a:ln w="9525" algn="ctr">
            <a:noFill/>
            <a:miter lim="800000"/>
          </a:ln>
          <a:effectLst/>
        </p:spPr>
        <p:txBody>
          <a:bodyPr>
            <a:spAutoFit/>
          </a:bodyPr>
          <a:lstStyle/>
          <a:p>
            <a:r>
              <a:rPr lang="en-US" altLang="zh-CN" sz="2000" b="1" dirty="0"/>
              <a:t>1</a:t>
            </a:r>
            <a:r>
              <a:rPr lang="zh-CN" altLang="en-US" sz="2000" b="1" dirty="0"/>
              <a:t>－</a:t>
            </a:r>
            <a:r>
              <a:rPr lang="en-US" altLang="zh-CN" sz="2000" b="1" dirty="0"/>
              <a:t>DSR</a:t>
            </a:r>
            <a:r>
              <a:rPr lang="zh-CN" altLang="en-US" sz="2000" b="1" dirty="0"/>
              <a:t>引脚为低电平</a:t>
            </a:r>
            <a:endParaRPr lang="zh-CN" altLang="en-US" sz="2000" b="1" dirty="0"/>
          </a:p>
        </p:txBody>
      </p:sp>
      <p:sp>
        <p:nvSpPr>
          <p:cNvPr id="332867" name="Line 67"/>
          <p:cNvSpPr>
            <a:spLocks noChangeShapeType="1"/>
          </p:cNvSpPr>
          <p:nvPr/>
        </p:nvSpPr>
        <p:spPr bwMode="auto">
          <a:xfrm>
            <a:off x="1258888" y="6243788"/>
            <a:ext cx="431800" cy="0"/>
          </a:xfrm>
          <a:prstGeom prst="line">
            <a:avLst/>
          </a:prstGeom>
          <a:noFill/>
          <a:ln w="28575">
            <a:solidFill>
              <a:schemeClr val="tx1"/>
            </a:solidFill>
            <a:round/>
          </a:ln>
          <a:effectLst/>
        </p:spPr>
        <p:txBody>
          <a:bodyPr/>
          <a:lstStyle/>
          <a:p>
            <a:endParaRPr lang="zh-CN" altLang="en-US"/>
          </a:p>
        </p:txBody>
      </p:sp>
      <p:sp>
        <p:nvSpPr>
          <p:cNvPr id="30" name="Rectangle 4"/>
          <p:cNvSpPr>
            <a:spLocks noChangeArrowheads="1"/>
          </p:cNvSpPr>
          <p:nvPr/>
        </p:nvSpPr>
        <p:spPr bwMode="auto">
          <a:xfrm>
            <a:off x="467544" y="368660"/>
            <a:ext cx="7848600" cy="492443"/>
          </a:xfrm>
          <a:prstGeom prst="rect">
            <a:avLst/>
          </a:prstGeom>
          <a:noFill/>
          <a:ln w="9525" algn="ctr">
            <a:noFill/>
            <a:miter lim="800000"/>
          </a:ln>
          <a:effectLst/>
        </p:spPr>
        <p:txBody>
          <a:bodyPr>
            <a:spAutoFit/>
          </a:bodyPr>
          <a:lstStyle/>
          <a:p>
            <a:r>
              <a:rPr lang="zh-CN" altLang="en-US" sz="2600" kern="0" dirty="0">
                <a:solidFill>
                  <a:schemeClr val="tx2"/>
                </a:solidFill>
                <a:effectLst>
                  <a:outerShdw blurRad="38100" dist="38100" dir="2700000" algn="tl">
                    <a:srgbClr val="C0C0C0"/>
                  </a:outerShdw>
                </a:effectLst>
                <a:latin typeface="+mj-lt"/>
                <a:cs typeface="+mj-cs"/>
              </a:rPr>
              <a:t>可编程串行通信接口</a:t>
            </a:r>
            <a:r>
              <a:rPr lang="en-US" altLang="zh-CN" sz="2600" kern="0" dirty="0">
                <a:solidFill>
                  <a:schemeClr val="tx2"/>
                </a:solidFill>
                <a:effectLst>
                  <a:outerShdw blurRad="38100" dist="38100" dir="2700000" algn="tl">
                    <a:srgbClr val="C0C0C0"/>
                  </a:outerShdw>
                </a:effectLst>
                <a:latin typeface="+mj-lt"/>
                <a:cs typeface="+mj-cs"/>
              </a:rPr>
              <a:t>8251A</a:t>
            </a:r>
            <a:endParaRPr lang="en-US" altLang="zh-CN" sz="2600" kern="0" dirty="0">
              <a:solidFill>
                <a:schemeClr val="tx2"/>
              </a:solidFill>
              <a:effectLst>
                <a:outerShdw blurRad="38100" dist="38100" dir="2700000" algn="tl">
                  <a:srgbClr val="C0C0C0"/>
                </a:outerShdw>
              </a:effectLst>
              <a:latin typeface="+mj-lt"/>
              <a:cs typeface="+mj-cs"/>
            </a:endParaRPr>
          </a:p>
        </p:txBody>
      </p:sp>
      <p:sp>
        <p:nvSpPr>
          <p:cNvPr id="332823" name="Rectangle 23"/>
          <p:cNvSpPr>
            <a:spLocks noChangeArrowheads="1"/>
          </p:cNvSpPr>
          <p:nvPr/>
        </p:nvSpPr>
        <p:spPr bwMode="auto">
          <a:xfrm>
            <a:off x="6588125" y="2168675"/>
            <a:ext cx="2412367" cy="707886"/>
          </a:xfrm>
          <a:prstGeom prst="rect">
            <a:avLst/>
          </a:prstGeom>
          <a:solidFill>
            <a:srgbClr val="FFFF00"/>
          </a:solidFill>
          <a:ln w="9525" algn="ctr">
            <a:noFill/>
            <a:miter lim="800000"/>
          </a:ln>
          <a:effectLst/>
        </p:spPr>
        <p:txBody>
          <a:bodyPr wrap="square">
            <a:spAutoFit/>
          </a:bodyPr>
          <a:lstStyle/>
          <a:p>
            <a:r>
              <a:rPr lang="en-US" altLang="zh-CN" sz="2000" dirty="0"/>
              <a:t>1</a:t>
            </a:r>
            <a:r>
              <a:rPr lang="zh-CN" altLang="en-US" sz="2000" dirty="0"/>
              <a:t>－数据缓冲区为空，</a:t>
            </a:r>
            <a:r>
              <a:rPr lang="en-US" altLang="zh-CN" sz="2000" dirty="0"/>
              <a:t>CPU</a:t>
            </a:r>
            <a:r>
              <a:rPr lang="zh-CN" altLang="en-US" sz="2000" dirty="0"/>
              <a:t>可送数据</a:t>
            </a:r>
            <a:endParaRPr lang="zh-CN" altLang="en-US" sz="2000" dirty="0"/>
          </a:p>
        </p:txBody>
      </p:sp>
      <p:sp>
        <p:nvSpPr>
          <p:cNvPr id="332862" name="Rectangle 62"/>
          <p:cNvSpPr>
            <a:spLocks noChangeArrowheads="1"/>
          </p:cNvSpPr>
          <p:nvPr/>
        </p:nvSpPr>
        <p:spPr bwMode="auto">
          <a:xfrm>
            <a:off x="5148263" y="3481538"/>
            <a:ext cx="2196045" cy="400110"/>
          </a:xfrm>
          <a:prstGeom prst="rect">
            <a:avLst/>
          </a:prstGeom>
          <a:solidFill>
            <a:srgbClr val="FFFF00"/>
          </a:solidFill>
          <a:ln w="9525" algn="ctr">
            <a:noFill/>
            <a:miter lim="800000"/>
          </a:ln>
          <a:effectLst/>
        </p:spPr>
        <p:txBody>
          <a:bodyPr wrap="square">
            <a:spAutoFit/>
          </a:bodyPr>
          <a:lstStyle/>
          <a:p>
            <a:r>
              <a:rPr lang="en-US" altLang="zh-CN" sz="2000" dirty="0"/>
              <a:t>1</a:t>
            </a:r>
            <a:r>
              <a:rPr lang="zh-CN" altLang="en-US" sz="2000" dirty="0"/>
              <a:t>－表示发送器空</a:t>
            </a:r>
            <a:endParaRPr lang="zh-CN" altLang="en-US" sz="2000" dirty="0"/>
          </a:p>
        </p:txBody>
      </p:sp>
      <p:sp>
        <p:nvSpPr>
          <p:cNvPr id="332826" name="Rectangle 26"/>
          <p:cNvSpPr>
            <a:spLocks noChangeArrowheads="1"/>
          </p:cNvSpPr>
          <p:nvPr/>
        </p:nvSpPr>
        <p:spPr bwMode="auto">
          <a:xfrm>
            <a:off x="4427538" y="4014938"/>
            <a:ext cx="2232694" cy="400110"/>
          </a:xfrm>
          <a:prstGeom prst="rect">
            <a:avLst/>
          </a:prstGeom>
          <a:solidFill>
            <a:srgbClr val="FFFF00"/>
          </a:solidFill>
          <a:ln w="9525" algn="ctr">
            <a:noFill/>
            <a:miter lim="800000"/>
          </a:ln>
          <a:effectLst/>
        </p:spPr>
        <p:txBody>
          <a:bodyPr wrap="square">
            <a:spAutoFit/>
          </a:bodyPr>
          <a:lstStyle/>
          <a:p>
            <a:r>
              <a:rPr lang="en-US" altLang="zh-CN" sz="2000" dirty="0"/>
              <a:t>1</a:t>
            </a:r>
            <a:r>
              <a:rPr lang="zh-CN" altLang="en-US" sz="2000" dirty="0"/>
              <a:t>－奇偶校验错误</a:t>
            </a:r>
            <a:endParaRPr lang="zh-CN" altLang="en-US" sz="2000" dirty="0"/>
          </a:p>
        </p:txBody>
      </p:sp>
      <p:sp>
        <p:nvSpPr>
          <p:cNvPr id="2" name="矩形 1"/>
          <p:cNvSpPr/>
          <p:nvPr/>
        </p:nvSpPr>
        <p:spPr>
          <a:xfrm>
            <a:off x="4571999" y="4985907"/>
            <a:ext cx="4572000" cy="1938992"/>
          </a:xfrm>
          <a:prstGeom prst="rect">
            <a:avLst/>
          </a:prstGeom>
        </p:spPr>
        <p:txBody>
          <a:bodyPr>
            <a:spAutoFit/>
          </a:bodyPr>
          <a:lstStyle/>
          <a:p>
            <a:r>
              <a:rPr lang="zh-CN" altLang="en-US" sz="2000" b="0" dirty="0"/>
              <a:t>注意：在编写接收程序时，一定要先检测这</a:t>
            </a:r>
            <a:r>
              <a:rPr lang="en-US" altLang="zh-CN" sz="2000" b="0" dirty="0"/>
              <a:t>PE</a:t>
            </a:r>
            <a:r>
              <a:rPr lang="zh-CN" altLang="en-US" sz="2000" b="0" dirty="0"/>
              <a:t>、</a:t>
            </a:r>
            <a:r>
              <a:rPr lang="en-US" altLang="zh-CN" sz="2000" b="0" dirty="0"/>
              <a:t>OE</a:t>
            </a:r>
            <a:r>
              <a:rPr lang="zh-CN" altLang="en-US" sz="2000" b="0" dirty="0"/>
              <a:t>、</a:t>
            </a:r>
            <a:r>
              <a:rPr lang="en-US" altLang="zh-CN" sz="2000" b="0" dirty="0"/>
              <a:t>FE</a:t>
            </a:r>
            <a:r>
              <a:rPr lang="zh-CN" altLang="en-US" sz="2000" b="0" dirty="0"/>
              <a:t>位的状态，确定接收数据没有错误后，再检查</a:t>
            </a:r>
            <a:r>
              <a:rPr lang="en-US" altLang="zh-CN" sz="2000" b="0" dirty="0" err="1"/>
              <a:t>RxRDY</a:t>
            </a:r>
            <a:r>
              <a:rPr lang="zh-CN" altLang="en-US" sz="2000" b="0" dirty="0"/>
              <a:t>是否准备好。若有错误，则应先进行出错处理。上述</a:t>
            </a:r>
            <a:r>
              <a:rPr lang="en-US" altLang="zh-CN" sz="2000" b="0" dirty="0"/>
              <a:t>3</a:t>
            </a:r>
            <a:r>
              <a:rPr lang="zh-CN" altLang="en-US" sz="2000" b="0" dirty="0"/>
              <a:t>个标志允许用操作控制字中的</a:t>
            </a:r>
            <a:r>
              <a:rPr lang="en-US" altLang="zh-CN" sz="2000" b="0" dirty="0"/>
              <a:t>ER</a:t>
            </a:r>
            <a:r>
              <a:rPr lang="zh-CN" altLang="en-US" sz="2000" b="0" dirty="0"/>
              <a:t>位复位。</a:t>
            </a:r>
            <a:endParaRPr lang="zh-CN" altLang="en-US" sz="2000" b="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4"/>
          <p:cNvSpPr>
            <a:spLocks noChangeArrowheads="1"/>
          </p:cNvSpPr>
          <p:nvPr/>
        </p:nvSpPr>
        <p:spPr bwMode="auto">
          <a:xfrm>
            <a:off x="467544" y="368660"/>
            <a:ext cx="7848600" cy="492443"/>
          </a:xfrm>
          <a:prstGeom prst="rect">
            <a:avLst/>
          </a:prstGeom>
          <a:noFill/>
          <a:ln w="9525" algn="ctr">
            <a:noFill/>
            <a:miter lim="800000"/>
          </a:ln>
          <a:effectLst/>
        </p:spPr>
        <p:txBody>
          <a:bodyPr>
            <a:spAutoFit/>
          </a:bodyPr>
          <a:lstStyle/>
          <a:p>
            <a:r>
              <a:rPr lang="zh-CN" altLang="en-US" sz="2600" kern="0" dirty="0">
                <a:solidFill>
                  <a:schemeClr val="tx2"/>
                </a:solidFill>
                <a:effectLst>
                  <a:outerShdw blurRad="38100" dist="38100" dir="2700000" algn="tl">
                    <a:srgbClr val="C0C0C0"/>
                  </a:outerShdw>
                </a:effectLst>
                <a:latin typeface="+mj-lt"/>
                <a:cs typeface="+mj-cs"/>
              </a:rPr>
              <a:t>可编程串行通信接口</a:t>
            </a:r>
            <a:r>
              <a:rPr lang="en-US" altLang="zh-CN" sz="2600" kern="0" dirty="0">
                <a:solidFill>
                  <a:schemeClr val="tx2"/>
                </a:solidFill>
                <a:effectLst>
                  <a:outerShdw blurRad="38100" dist="38100" dir="2700000" algn="tl">
                    <a:srgbClr val="C0C0C0"/>
                  </a:outerShdw>
                </a:effectLst>
                <a:latin typeface="+mj-lt"/>
                <a:cs typeface="+mj-cs"/>
              </a:rPr>
              <a:t>8251A</a:t>
            </a:r>
            <a:endParaRPr lang="en-US" altLang="zh-CN" sz="2600" kern="0" dirty="0">
              <a:solidFill>
                <a:schemeClr val="tx2"/>
              </a:solidFill>
              <a:effectLst>
                <a:outerShdw blurRad="38100" dist="38100" dir="2700000" algn="tl">
                  <a:srgbClr val="C0C0C0"/>
                </a:outerShdw>
              </a:effectLst>
              <a:latin typeface="+mj-lt"/>
              <a:cs typeface="+mj-cs"/>
            </a:endParaRPr>
          </a:p>
        </p:txBody>
      </p:sp>
      <p:sp>
        <p:nvSpPr>
          <p:cNvPr id="31" name="矩形 30"/>
          <p:cNvSpPr/>
          <p:nvPr/>
        </p:nvSpPr>
        <p:spPr>
          <a:xfrm>
            <a:off x="467544" y="1160748"/>
            <a:ext cx="8424936" cy="4892675"/>
          </a:xfrm>
          <a:prstGeom prst="rect">
            <a:avLst/>
          </a:prstGeom>
        </p:spPr>
        <p:txBody>
          <a:bodyPr wrap="square">
            <a:spAutoFit/>
          </a:bodyPr>
          <a:lstStyle/>
          <a:p>
            <a:pPr algn="just"/>
            <a:r>
              <a:rPr lang="zh-CN" altLang="en-US" sz="2400" dirty="0"/>
              <a:t>模式寄存器、操作寄存器、状态寄存器共用一个端口，</a:t>
            </a:r>
            <a:r>
              <a:rPr lang="en-US" altLang="zh-CN" sz="2400" dirty="0"/>
              <a:t>8251A </a:t>
            </a:r>
            <a:r>
              <a:rPr lang="zh-CN" altLang="en-US" sz="2400" dirty="0"/>
              <a:t>如何区分写入的是模式寄存器还是操作命令控制字？</a:t>
            </a:r>
            <a:r>
              <a:rPr lang="en-US" altLang="zh-CN" dirty="0">
                <a:sym typeface="+mn-ea"/>
              </a:rPr>
              <a:t>8251A </a:t>
            </a:r>
            <a:r>
              <a:rPr lang="zh-CN" altLang="en-US" dirty="0">
                <a:sym typeface="+mn-ea"/>
              </a:rPr>
              <a:t>内部</a:t>
            </a:r>
            <a:r>
              <a:rPr lang="zh-CN" altLang="en-US" sz="2400" dirty="0"/>
              <a:t>有一个选择逻辑/触发器：</a:t>
            </a:r>
            <a:endParaRPr lang="zh-CN" altLang="en-US" sz="2400" dirty="0"/>
          </a:p>
          <a:p>
            <a:pPr algn="just"/>
            <a:r>
              <a:rPr lang="zh-CN" altLang="en-US" sz="2400" dirty="0"/>
              <a:t>复位后：该标志处于“等待模式字”状态。此时第一次写控制端口，写入的是</a:t>
            </a:r>
            <a:r>
              <a:rPr lang="zh-CN" altLang="en-US" sz="2400" dirty="0">
                <a:solidFill>
                  <a:srgbClr val="FF0000"/>
                </a:solidFill>
              </a:rPr>
              <a:t>模式寄存器</a:t>
            </a:r>
            <a:r>
              <a:rPr lang="zh-CN" altLang="en-US" sz="2400" dirty="0"/>
              <a:t>；</a:t>
            </a:r>
            <a:endParaRPr lang="zh-CN" altLang="en-US" sz="2400" dirty="0"/>
          </a:p>
          <a:p>
            <a:pPr algn="just"/>
            <a:r>
              <a:rPr lang="zh-CN" altLang="en-US" sz="2400" dirty="0"/>
              <a:t>写完模式字后：该标志自动切换到“命令字”状态。以后每次写控制端口，写入的都是</a:t>
            </a:r>
            <a:r>
              <a:rPr lang="zh-CN" altLang="en-US" sz="2400" dirty="0">
                <a:solidFill>
                  <a:srgbClr val="FF0000"/>
                </a:solidFill>
              </a:rPr>
              <a:t>操作寄存器</a:t>
            </a:r>
            <a:r>
              <a:rPr lang="zh-CN" altLang="en-US" sz="2400" dirty="0"/>
              <a:t>；</a:t>
            </a:r>
            <a:endParaRPr lang="zh-CN" altLang="en-US" sz="2400" dirty="0"/>
          </a:p>
          <a:p>
            <a:pPr algn="just"/>
            <a:r>
              <a:rPr lang="zh-CN" altLang="en-US" sz="2400" dirty="0"/>
              <a:t>若要再次写模式字，必须先使 8251</a:t>
            </a:r>
            <a:r>
              <a:rPr lang="en-US" altLang="zh-CN" sz="2400" dirty="0"/>
              <a:t>A </a:t>
            </a:r>
            <a:r>
              <a:rPr lang="zh-CN" altLang="en-US" sz="2400" dirty="0"/>
              <a:t>复位，使该标志回到“等待模式字”状态。</a:t>
            </a:r>
            <a:endParaRPr lang="zh-CN" altLang="en-US" sz="2400" dirty="0"/>
          </a:p>
          <a:p>
            <a:endParaRPr lang="en-US" altLang="zh-CN" sz="2400" dirty="0"/>
          </a:p>
          <a:p>
            <a:r>
              <a:rPr lang="zh-CN" altLang="en-US" sz="2400" dirty="0"/>
              <a:t>复位方式有两种：</a:t>
            </a:r>
            <a:endParaRPr lang="zh-CN" altLang="en-US" sz="2400" dirty="0"/>
          </a:p>
          <a:p>
            <a:pPr indent="457200"/>
            <a:r>
              <a:rPr lang="zh-CN" altLang="en-US" sz="2400" dirty="0"/>
              <a:t>外部 </a:t>
            </a:r>
            <a:r>
              <a:rPr lang="en-US" altLang="zh-CN" sz="2400" dirty="0"/>
              <a:t>RESET </a:t>
            </a:r>
            <a:r>
              <a:rPr lang="zh-CN" altLang="en-US" sz="2400" dirty="0"/>
              <a:t>引脚有效；</a:t>
            </a:r>
            <a:endParaRPr lang="zh-CN" altLang="en-US" sz="2400" dirty="0"/>
          </a:p>
          <a:p>
            <a:pPr indent="457200"/>
            <a:r>
              <a:rPr lang="zh-CN" altLang="en-US" sz="2400" dirty="0"/>
              <a:t>写命令字时置 </a:t>
            </a:r>
            <a:r>
              <a:rPr lang="en-US" altLang="zh-CN" sz="2400" dirty="0"/>
              <a:t>IR </a:t>
            </a:r>
            <a:r>
              <a:rPr lang="zh-CN" altLang="en-US" sz="2400" dirty="0"/>
              <a:t>位，即内部复位位 </a:t>
            </a:r>
            <a:r>
              <a:rPr lang="en-US" altLang="zh-CN" sz="2400" dirty="0"/>
              <a:t>D6=1。</a:t>
            </a:r>
            <a:endParaRPr lang="en-US" altLang="zh-CN" sz="2400" dirty="0"/>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4"/>
          <p:cNvSpPr>
            <a:spLocks noChangeArrowheads="1"/>
          </p:cNvSpPr>
          <p:nvPr/>
        </p:nvSpPr>
        <p:spPr bwMode="auto">
          <a:xfrm>
            <a:off x="467544" y="368660"/>
            <a:ext cx="7848600" cy="492443"/>
          </a:xfrm>
          <a:prstGeom prst="rect">
            <a:avLst/>
          </a:prstGeom>
          <a:noFill/>
          <a:ln w="9525" algn="ctr">
            <a:noFill/>
            <a:miter lim="800000"/>
          </a:ln>
          <a:effectLst/>
        </p:spPr>
        <p:txBody>
          <a:bodyPr>
            <a:spAutoFit/>
          </a:bodyPr>
          <a:lstStyle/>
          <a:p>
            <a:r>
              <a:rPr lang="zh-CN" altLang="en-US" sz="2600" kern="0" dirty="0">
                <a:solidFill>
                  <a:schemeClr val="tx2"/>
                </a:solidFill>
                <a:effectLst>
                  <a:outerShdw blurRad="38100" dist="38100" dir="2700000" algn="tl">
                    <a:srgbClr val="C0C0C0"/>
                  </a:outerShdw>
                </a:effectLst>
                <a:latin typeface="+mj-lt"/>
                <a:cs typeface="+mj-cs"/>
              </a:rPr>
              <a:t>可编程串行通信接口</a:t>
            </a:r>
            <a:r>
              <a:rPr lang="en-US" altLang="zh-CN" sz="2600" kern="0" dirty="0">
                <a:solidFill>
                  <a:schemeClr val="tx2"/>
                </a:solidFill>
                <a:effectLst>
                  <a:outerShdw blurRad="38100" dist="38100" dir="2700000" algn="tl">
                    <a:srgbClr val="C0C0C0"/>
                  </a:outerShdw>
                </a:effectLst>
                <a:latin typeface="+mj-lt"/>
                <a:cs typeface="+mj-cs"/>
              </a:rPr>
              <a:t>8251A</a:t>
            </a:r>
            <a:endParaRPr lang="en-US" altLang="zh-CN" sz="2600" kern="0" dirty="0">
              <a:solidFill>
                <a:schemeClr val="tx2"/>
              </a:solidFill>
              <a:effectLst>
                <a:outerShdw blurRad="38100" dist="38100" dir="2700000" algn="tl">
                  <a:srgbClr val="C0C0C0"/>
                </a:outerShdw>
              </a:effectLst>
              <a:latin typeface="+mj-lt"/>
              <a:cs typeface="+mj-cs"/>
            </a:endParaRPr>
          </a:p>
        </p:txBody>
      </p:sp>
      <p:sp>
        <p:nvSpPr>
          <p:cNvPr id="31" name="矩形 30"/>
          <p:cNvSpPr/>
          <p:nvPr/>
        </p:nvSpPr>
        <p:spPr>
          <a:xfrm>
            <a:off x="467544" y="1160748"/>
            <a:ext cx="8424936" cy="2676525"/>
          </a:xfrm>
          <a:prstGeom prst="rect">
            <a:avLst/>
          </a:prstGeom>
        </p:spPr>
        <p:txBody>
          <a:bodyPr wrap="square">
            <a:spAutoFit/>
          </a:bodyPr>
          <a:lstStyle/>
          <a:p>
            <a:r>
              <a:rPr lang="en-US" altLang="zh-CN" sz="2400" b="0" dirty="0"/>
              <a:t>【</a:t>
            </a:r>
            <a:r>
              <a:rPr lang="zh-CN" altLang="en-US" sz="2400" b="0" dirty="0"/>
              <a:t>例</a:t>
            </a:r>
            <a:r>
              <a:rPr lang="en-US" altLang="zh-CN" sz="2400" b="0" dirty="0"/>
              <a:t>】</a:t>
            </a:r>
            <a:r>
              <a:rPr lang="zh-CN" altLang="en-US" sz="2400" b="0" dirty="0"/>
              <a:t>使</a:t>
            </a:r>
            <a:r>
              <a:rPr lang="en-US" altLang="zh-CN" sz="2400" b="0" dirty="0"/>
              <a:t>8251A</a:t>
            </a:r>
            <a:r>
              <a:rPr lang="zh-CN" altLang="en-US" sz="2400" b="0" dirty="0"/>
              <a:t>内部复位。假设</a:t>
            </a:r>
            <a:r>
              <a:rPr lang="en-US" altLang="zh-CN" sz="2400" b="0" dirty="0"/>
              <a:t>8251A</a:t>
            </a:r>
            <a:r>
              <a:rPr lang="zh-CN" altLang="en-US" sz="2400" b="0" dirty="0"/>
              <a:t>操作寄存器的端口地址为</a:t>
            </a:r>
            <a:r>
              <a:rPr lang="en-US" altLang="zh-CN" b="0" dirty="0"/>
              <a:t>309H</a:t>
            </a:r>
            <a:r>
              <a:rPr lang="zh-CN" altLang="en-US" b="0" dirty="0"/>
              <a:t>。</a:t>
            </a:r>
            <a:endParaRPr lang="en-US" altLang="zh-CN" b="0" dirty="0"/>
          </a:p>
          <a:p>
            <a:r>
              <a:rPr lang="en-US" altLang="zh-CN" sz="2400" b="0" dirty="0"/>
              <a:t>	MOV  DX</a:t>
            </a:r>
            <a:r>
              <a:rPr lang="zh-CN" altLang="en-US" sz="2400" b="0" dirty="0"/>
              <a:t>，</a:t>
            </a:r>
            <a:r>
              <a:rPr lang="en-US" altLang="zh-CN" sz="2400" b="0" dirty="0"/>
              <a:t>309H         </a:t>
            </a:r>
            <a:r>
              <a:rPr lang="zh-CN" altLang="en-US" sz="2400" b="0" dirty="0"/>
              <a:t>；</a:t>
            </a:r>
            <a:r>
              <a:rPr lang="en-US" altLang="zh-CN" sz="2400" b="0" dirty="0"/>
              <a:t>8251A</a:t>
            </a:r>
            <a:r>
              <a:rPr lang="zh-CN" altLang="en-US" sz="2400" b="0" dirty="0"/>
              <a:t>命令口</a:t>
            </a:r>
            <a:endParaRPr lang="zh-CN" altLang="en-US" sz="2400" b="0" dirty="0"/>
          </a:p>
          <a:p>
            <a:r>
              <a:rPr lang="en-US" altLang="zh-CN" sz="2400" b="0" dirty="0"/>
              <a:t>	MOV  AL</a:t>
            </a:r>
            <a:r>
              <a:rPr lang="zh-CN" altLang="en-US" sz="2400" b="0" dirty="0"/>
              <a:t>，</a:t>
            </a:r>
            <a:r>
              <a:rPr lang="en-US" altLang="zh-CN" sz="2400" b="0" dirty="0"/>
              <a:t>01000000B    </a:t>
            </a:r>
            <a:r>
              <a:rPr lang="zh-CN" altLang="en-US" sz="2400" b="0" dirty="0"/>
              <a:t>；置</a:t>
            </a:r>
            <a:r>
              <a:rPr lang="en-US" altLang="zh-CN" sz="2400" b="0" dirty="0"/>
              <a:t>D6</a:t>
            </a:r>
            <a:r>
              <a:rPr lang="zh-CN" altLang="en-US" sz="2400" b="0" dirty="0"/>
              <a:t>位为</a:t>
            </a:r>
            <a:r>
              <a:rPr lang="en-US" altLang="zh-CN" sz="2400" b="0" dirty="0"/>
              <a:t>1</a:t>
            </a:r>
            <a:r>
              <a:rPr lang="zh-CN" altLang="en-US" sz="2400" b="0" dirty="0"/>
              <a:t>，使内部复位</a:t>
            </a:r>
            <a:endParaRPr lang="zh-CN" altLang="en-US" sz="2400" b="0" dirty="0"/>
          </a:p>
          <a:p>
            <a:r>
              <a:rPr lang="en-US" altLang="zh-CN" sz="2400" b="0" dirty="0"/>
              <a:t>	OUT  DX</a:t>
            </a:r>
            <a:r>
              <a:rPr lang="zh-CN" altLang="en-US" sz="2400" b="0" dirty="0"/>
              <a:t>，</a:t>
            </a:r>
            <a:r>
              <a:rPr lang="en-US" altLang="zh-CN" sz="2400" b="0" dirty="0"/>
              <a:t>AL </a:t>
            </a:r>
            <a:endParaRPr lang="en-US" altLang="zh-CN" sz="2400" b="0" dirty="0"/>
          </a:p>
          <a:p>
            <a:r>
              <a:rPr lang="zh-CN" altLang="en-US" sz="2400" b="0" dirty="0"/>
              <a:t>注意：只要包含</a:t>
            </a:r>
            <a:r>
              <a:rPr lang="en-US" altLang="zh-CN" sz="2400" b="0" dirty="0"/>
              <a:t>D6</a:t>
            </a:r>
            <a:r>
              <a:rPr lang="zh-CN" altLang="en-US" sz="2400" b="0" dirty="0"/>
              <a:t>位为</a:t>
            </a:r>
            <a:r>
              <a:rPr lang="en-US" altLang="zh-CN" sz="2400" b="0" dirty="0"/>
              <a:t>1</a:t>
            </a:r>
            <a:r>
              <a:rPr lang="zh-CN" altLang="en-US" sz="2400" b="0" dirty="0"/>
              <a:t>的任何代码都能实现内部复位，如</a:t>
            </a:r>
            <a:r>
              <a:rPr lang="en-US" altLang="zh-CN" sz="2400" b="0" dirty="0"/>
              <a:t>FFH</a:t>
            </a:r>
            <a:r>
              <a:rPr lang="zh-CN" altLang="en-US" sz="2400" b="0" dirty="0"/>
              <a:t>，</a:t>
            </a:r>
            <a:r>
              <a:rPr lang="en-US" altLang="zh-CN" sz="2400" b="0" dirty="0"/>
              <a:t>C0H</a:t>
            </a:r>
            <a:r>
              <a:rPr lang="zh-CN" altLang="en-US" sz="2400" b="0" dirty="0"/>
              <a:t>，</a:t>
            </a:r>
            <a:r>
              <a:rPr lang="en-US" altLang="zh-CN" sz="2400" b="0" dirty="0"/>
              <a:t>50H</a:t>
            </a:r>
            <a:r>
              <a:rPr lang="zh-CN" altLang="en-US" sz="2400" b="0" dirty="0"/>
              <a:t>等。</a:t>
            </a:r>
            <a:endParaRPr lang="zh-CN" altLang="en-US" sz="2400" dirty="0"/>
          </a:p>
        </p:txBody>
      </p:sp>
      <p:sp>
        <p:nvSpPr>
          <p:cNvPr id="2" name="矩形 1"/>
          <p:cNvSpPr/>
          <p:nvPr/>
        </p:nvSpPr>
        <p:spPr>
          <a:xfrm>
            <a:off x="413569" y="3933490"/>
            <a:ext cx="8316924" cy="2676525"/>
          </a:xfrm>
          <a:prstGeom prst="rect">
            <a:avLst/>
          </a:prstGeom>
        </p:spPr>
        <p:txBody>
          <a:bodyPr wrap="square">
            <a:spAutoFit/>
          </a:bodyPr>
          <a:lstStyle/>
          <a:p>
            <a:r>
              <a:rPr lang="en-US" altLang="zh-CN" b="0" dirty="0"/>
              <a:t>【</a:t>
            </a:r>
            <a:r>
              <a:rPr lang="zh-CN" altLang="en-US" b="0" dirty="0"/>
              <a:t>例</a:t>
            </a:r>
            <a:r>
              <a:rPr lang="en-US" altLang="zh-CN" b="0" dirty="0"/>
              <a:t>】</a:t>
            </a:r>
            <a:r>
              <a:rPr lang="zh-CN" altLang="en-US" b="0" dirty="0"/>
              <a:t>设置异步通信时，允许接收，同时允许发送。</a:t>
            </a:r>
            <a:endParaRPr lang="zh-CN" altLang="en-US" b="0" dirty="0"/>
          </a:p>
          <a:p>
            <a:pPr marL="0" marR="0" lvl="0" indent="0" algn="l" defTabSz="914400" rtl="0" eaLnBrk="1" fontAlgn="base" latinLnBrk="0" hangingPunct="1">
              <a:lnSpc>
                <a:spcPct val="100000"/>
              </a:lnSpc>
              <a:spcBef>
                <a:spcPct val="0"/>
              </a:spcBef>
              <a:spcAft>
                <a:spcPct val="0"/>
              </a:spcAft>
              <a:buClr>
                <a:schemeClr val="tx2"/>
              </a:buClr>
              <a:buSzTx/>
              <a:buFontTx/>
              <a:buNone/>
            </a:pPr>
            <a:r>
              <a:rPr lang="en-US" altLang="zh-CN" b="0" dirty="0"/>
              <a:t>	</a:t>
            </a:r>
            <a:r>
              <a:rPr lang="en-US" altLang="zh-CN" b="0" dirty="0">
                <a:ln>
                  <a:noFill/>
                </a:ln>
                <a:effectLst/>
                <a:latin typeface="+mn-lt"/>
                <a:ea typeface="隶书" panose="02010509060101010101" pitchFamily="49" charset="-122"/>
                <a:sym typeface="+mn-ea"/>
              </a:rPr>
              <a:t>MOV DX, 309H </a:t>
            </a:r>
            <a:endParaRPr kumimoji="0" lang="en-US" altLang="zh-CN" b="0" i="0" u="none" strike="noStrike" cap="none" normalizeH="0" baseline="0" dirty="0">
              <a:ln>
                <a:noFill/>
              </a:ln>
              <a:solidFill>
                <a:schemeClr val="tx1"/>
              </a:solidFill>
              <a:effectLst/>
              <a:latin typeface="+mn-lt"/>
              <a:ea typeface="隶书" panose="02010509060101010101" pitchFamily="49" charset="-122"/>
            </a:endParaRPr>
          </a:p>
          <a:p>
            <a:pPr marL="457200" marR="0" lvl="1" indent="457200" algn="l" defTabSz="914400" rtl="0" eaLnBrk="1" fontAlgn="base" latinLnBrk="0" hangingPunct="1">
              <a:lnSpc>
                <a:spcPct val="100000"/>
              </a:lnSpc>
              <a:spcBef>
                <a:spcPct val="0"/>
              </a:spcBef>
              <a:spcAft>
                <a:spcPct val="0"/>
              </a:spcAft>
              <a:buClr>
                <a:schemeClr val="tx2"/>
              </a:buClr>
              <a:buSzTx/>
              <a:buFontTx/>
              <a:buNone/>
            </a:pPr>
            <a:r>
              <a:rPr lang="en-US" altLang="zh-CN" b="0" dirty="0">
                <a:ln>
                  <a:noFill/>
                </a:ln>
                <a:effectLst/>
                <a:latin typeface="+mn-lt"/>
                <a:ea typeface="隶书" panose="02010509060101010101" pitchFamily="49" charset="-122"/>
                <a:sym typeface="+mn-ea"/>
              </a:rPr>
              <a:t>MOV AL, 40H  ;</a:t>
            </a:r>
            <a:r>
              <a:rPr lang="zh-CN" altLang="en-US" b="0" dirty="0">
                <a:ln>
                  <a:noFill/>
                </a:ln>
                <a:effectLst/>
                <a:latin typeface="+mn-lt"/>
                <a:ea typeface="隶书" panose="02010509060101010101" pitchFamily="49" charset="-122"/>
                <a:sym typeface="+mn-ea"/>
              </a:rPr>
              <a:t>内部复位</a:t>
            </a:r>
            <a:endParaRPr kumimoji="0" lang="en-US" altLang="zh-CN" b="0" i="0" u="none" strike="noStrike" cap="none" normalizeH="0" baseline="0" dirty="0">
              <a:ln>
                <a:noFill/>
              </a:ln>
              <a:solidFill>
                <a:schemeClr val="tx1"/>
              </a:solidFill>
              <a:effectLst/>
              <a:latin typeface="+mn-lt"/>
              <a:ea typeface="隶书" panose="02010509060101010101" pitchFamily="49" charset="-122"/>
            </a:endParaRPr>
          </a:p>
          <a:p>
            <a:pPr marL="457200" marR="0" lvl="1" indent="457200" algn="l" defTabSz="914400" rtl="0" eaLnBrk="1" fontAlgn="base" latinLnBrk="0" hangingPunct="1">
              <a:lnSpc>
                <a:spcPct val="100000"/>
              </a:lnSpc>
              <a:spcBef>
                <a:spcPct val="0"/>
              </a:spcBef>
              <a:spcAft>
                <a:spcPct val="0"/>
              </a:spcAft>
              <a:buClr>
                <a:schemeClr val="tx2"/>
              </a:buClr>
              <a:buSzTx/>
              <a:buFontTx/>
              <a:buNone/>
            </a:pPr>
            <a:r>
              <a:rPr lang="en-US" altLang="zh-CN" b="0" dirty="0">
                <a:ln>
                  <a:noFill/>
                </a:ln>
                <a:effectLst/>
                <a:latin typeface="+mn-lt"/>
                <a:ea typeface="隶书" panose="02010509060101010101" pitchFamily="49" charset="-122"/>
                <a:sym typeface="+mn-ea"/>
              </a:rPr>
              <a:t>OUT DX, AL</a:t>
            </a:r>
            <a:endParaRPr kumimoji="0" lang="en-US" altLang="zh-CN" b="0" i="0" u="none" strike="noStrike" cap="none" normalizeH="0" baseline="0" dirty="0">
              <a:ln>
                <a:noFill/>
              </a:ln>
              <a:solidFill>
                <a:schemeClr val="tx1"/>
              </a:solidFill>
              <a:effectLst/>
              <a:latin typeface="+mn-lt"/>
              <a:ea typeface="隶书" panose="02010509060101010101" pitchFamily="49" charset="-122"/>
            </a:endParaRPr>
          </a:p>
          <a:p>
            <a:pPr marL="457200" lvl="1" indent="457200"/>
            <a:r>
              <a:rPr lang="en-US" altLang="zh-CN" b="0" dirty="0"/>
              <a:t>MOV  DX</a:t>
            </a:r>
            <a:r>
              <a:rPr lang="zh-CN" altLang="en-US" b="0" dirty="0"/>
              <a:t>，</a:t>
            </a:r>
            <a:r>
              <a:rPr lang="en-US" altLang="zh-CN" b="0" dirty="0"/>
              <a:t>309H        </a:t>
            </a:r>
            <a:r>
              <a:rPr lang="zh-CN" altLang="en-US" b="0" dirty="0"/>
              <a:t>；</a:t>
            </a:r>
            <a:r>
              <a:rPr lang="en-US" altLang="zh-CN" b="0" dirty="0"/>
              <a:t>8251A</a:t>
            </a:r>
            <a:r>
              <a:rPr lang="zh-CN" altLang="en-US" b="0" dirty="0"/>
              <a:t>命令口</a:t>
            </a:r>
            <a:endParaRPr lang="zh-CN" altLang="en-US" b="0" dirty="0"/>
          </a:p>
          <a:p>
            <a:r>
              <a:rPr lang="en-US" altLang="zh-CN" b="0" dirty="0"/>
              <a:t>	MOV  AL</a:t>
            </a:r>
            <a:r>
              <a:rPr lang="zh-CN" altLang="en-US" b="0" dirty="0"/>
              <a:t>，</a:t>
            </a:r>
            <a:r>
              <a:rPr lang="en-US" altLang="zh-CN" b="0" dirty="0"/>
              <a:t>00000101B   </a:t>
            </a:r>
            <a:r>
              <a:rPr lang="zh-CN" altLang="en-US" b="0" dirty="0"/>
              <a:t>；置</a:t>
            </a:r>
            <a:r>
              <a:rPr lang="en-US" altLang="zh-CN" b="0" dirty="0"/>
              <a:t>D2=1</a:t>
            </a:r>
            <a:r>
              <a:rPr lang="zh-CN" altLang="en-US" b="0" dirty="0"/>
              <a:t>，</a:t>
            </a:r>
            <a:r>
              <a:rPr lang="en-US" altLang="zh-CN" b="0" dirty="0"/>
              <a:t>D0=1</a:t>
            </a:r>
            <a:endParaRPr lang="zh-CN" altLang="en-US" b="0" dirty="0"/>
          </a:p>
          <a:p>
            <a:r>
              <a:rPr lang="en-US" altLang="zh-CN" b="0" dirty="0"/>
              <a:t>	OUT  DX</a:t>
            </a:r>
            <a:r>
              <a:rPr lang="zh-CN" altLang="en-US" b="0" dirty="0"/>
              <a:t>，</a:t>
            </a:r>
            <a:r>
              <a:rPr lang="en-US" altLang="zh-CN" b="0" dirty="0"/>
              <a:t>AL</a:t>
            </a:r>
            <a:endParaRPr lang="en-US" altLang="zh-CN" b="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4"/>
          <p:cNvSpPr>
            <a:spLocks noChangeArrowheads="1"/>
          </p:cNvSpPr>
          <p:nvPr/>
        </p:nvSpPr>
        <p:spPr bwMode="auto">
          <a:xfrm>
            <a:off x="467544" y="368660"/>
            <a:ext cx="7848600" cy="492443"/>
          </a:xfrm>
          <a:prstGeom prst="rect">
            <a:avLst/>
          </a:prstGeom>
          <a:noFill/>
          <a:ln w="9525" algn="ctr">
            <a:noFill/>
            <a:miter lim="800000"/>
          </a:ln>
          <a:effectLst/>
        </p:spPr>
        <p:txBody>
          <a:bodyPr>
            <a:spAutoFit/>
          </a:bodyPr>
          <a:lstStyle/>
          <a:p>
            <a:r>
              <a:rPr lang="zh-CN" altLang="en-US" sz="2600" kern="0" dirty="0">
                <a:solidFill>
                  <a:schemeClr val="tx2"/>
                </a:solidFill>
                <a:effectLst>
                  <a:outerShdw blurRad="38100" dist="38100" dir="2700000" algn="tl">
                    <a:srgbClr val="C0C0C0"/>
                  </a:outerShdw>
                </a:effectLst>
                <a:latin typeface="+mj-lt"/>
                <a:cs typeface="+mj-cs"/>
              </a:rPr>
              <a:t>可编程串行通信接口</a:t>
            </a:r>
            <a:r>
              <a:rPr lang="en-US" altLang="zh-CN" sz="2600" kern="0" dirty="0">
                <a:solidFill>
                  <a:schemeClr val="tx2"/>
                </a:solidFill>
                <a:effectLst>
                  <a:outerShdw blurRad="38100" dist="38100" dir="2700000" algn="tl">
                    <a:srgbClr val="C0C0C0"/>
                  </a:outerShdw>
                </a:effectLst>
                <a:latin typeface="+mj-lt"/>
                <a:cs typeface="+mj-cs"/>
              </a:rPr>
              <a:t>8251A</a:t>
            </a:r>
            <a:endParaRPr lang="en-US" altLang="zh-CN" sz="2600" kern="0" dirty="0">
              <a:solidFill>
                <a:schemeClr val="tx2"/>
              </a:solidFill>
              <a:effectLst>
                <a:outerShdw blurRad="38100" dist="38100" dir="2700000" algn="tl">
                  <a:srgbClr val="C0C0C0"/>
                </a:outerShdw>
              </a:effectLst>
              <a:latin typeface="+mj-lt"/>
              <a:cs typeface="+mj-cs"/>
            </a:endParaRPr>
          </a:p>
        </p:txBody>
      </p:sp>
      <p:sp>
        <p:nvSpPr>
          <p:cNvPr id="31" name="矩形 30"/>
          <p:cNvSpPr/>
          <p:nvPr/>
        </p:nvSpPr>
        <p:spPr>
          <a:xfrm>
            <a:off x="539552" y="1448780"/>
            <a:ext cx="7848872" cy="4524315"/>
          </a:xfrm>
          <a:prstGeom prst="rect">
            <a:avLst/>
          </a:prstGeom>
        </p:spPr>
        <p:txBody>
          <a:bodyPr wrap="square">
            <a:spAutoFit/>
          </a:bodyPr>
          <a:lstStyle/>
          <a:p>
            <a:pPr>
              <a:lnSpc>
                <a:spcPct val="150000"/>
              </a:lnSpc>
            </a:pPr>
            <a:r>
              <a:rPr lang="en-US" altLang="zh-CN" sz="2400" b="0" dirty="0"/>
              <a:t>【</a:t>
            </a:r>
            <a:r>
              <a:rPr lang="zh-CN" altLang="en-US" sz="2400" b="0" dirty="0"/>
              <a:t>例</a:t>
            </a:r>
            <a:r>
              <a:rPr lang="en-US" altLang="zh-CN" sz="2400" b="0" dirty="0"/>
              <a:t>】</a:t>
            </a:r>
            <a:r>
              <a:rPr lang="zh-CN" altLang="en-US" sz="2400" b="0" dirty="0"/>
              <a:t>串行通信时，在发送程序中，需查状态字的</a:t>
            </a:r>
            <a:r>
              <a:rPr lang="en-US" altLang="zh-CN" sz="2400" b="0" dirty="0"/>
              <a:t>D0</a:t>
            </a:r>
            <a:r>
              <a:rPr lang="zh-CN" altLang="en-US" sz="2400" b="0" dirty="0"/>
              <a:t>位是否置</a:t>
            </a:r>
            <a:r>
              <a:rPr lang="en-US" altLang="zh-CN" sz="2400" b="0" dirty="0"/>
              <a:t>1</a:t>
            </a:r>
            <a:r>
              <a:rPr lang="zh-CN" altLang="en-US" sz="2400" b="0" dirty="0"/>
              <a:t>，程序段为：</a:t>
            </a:r>
            <a:endParaRPr lang="en-US" altLang="zh-CN" sz="2400" b="0" dirty="0"/>
          </a:p>
          <a:p>
            <a:pPr>
              <a:lnSpc>
                <a:spcPct val="150000"/>
              </a:lnSpc>
            </a:pPr>
            <a:r>
              <a:rPr lang="en-US" altLang="zh-CN" sz="2400" b="0" dirty="0"/>
              <a:t>……</a:t>
            </a:r>
            <a:endParaRPr lang="zh-CN" altLang="en-US" sz="2400" b="0" dirty="0"/>
          </a:p>
          <a:p>
            <a:pPr>
              <a:lnSpc>
                <a:spcPct val="150000"/>
              </a:lnSpc>
            </a:pPr>
            <a:r>
              <a:rPr lang="en-US" altLang="zh-CN" sz="2400" b="0" dirty="0"/>
              <a:t>L</a:t>
            </a:r>
            <a:r>
              <a:rPr lang="zh-CN" altLang="en-US" sz="2400" b="0" dirty="0"/>
              <a:t>：</a:t>
            </a:r>
            <a:r>
              <a:rPr lang="en-US" altLang="zh-CN" sz="2400" b="0" dirty="0"/>
              <a:t>MOV  DX</a:t>
            </a:r>
            <a:r>
              <a:rPr lang="zh-CN" altLang="en-US" sz="2400" b="0" dirty="0"/>
              <a:t>，</a:t>
            </a:r>
            <a:r>
              <a:rPr lang="en-US" altLang="zh-CN" sz="2400" b="0" dirty="0"/>
              <a:t>309H         </a:t>
            </a:r>
            <a:r>
              <a:rPr lang="zh-CN" altLang="en-US" sz="2400" b="0" dirty="0"/>
              <a:t>；</a:t>
            </a:r>
            <a:r>
              <a:rPr lang="en-US" altLang="zh-CN" sz="2400" b="0" dirty="0"/>
              <a:t>8251</a:t>
            </a:r>
            <a:r>
              <a:rPr lang="zh-CN" altLang="en-US" sz="2400" b="0" dirty="0"/>
              <a:t>状态口</a:t>
            </a:r>
            <a:endParaRPr lang="zh-CN" altLang="en-US" sz="2400" b="0" dirty="0"/>
          </a:p>
          <a:p>
            <a:pPr>
              <a:lnSpc>
                <a:spcPct val="150000"/>
              </a:lnSpc>
            </a:pPr>
            <a:r>
              <a:rPr lang="en-US" altLang="zh-CN" sz="2400" b="0" dirty="0"/>
              <a:t>      IN        AL</a:t>
            </a:r>
            <a:r>
              <a:rPr lang="zh-CN" altLang="en-US" sz="2400" b="0" dirty="0"/>
              <a:t>，</a:t>
            </a:r>
            <a:r>
              <a:rPr lang="en-US" altLang="zh-CN" sz="2400" b="0" dirty="0"/>
              <a:t>DX</a:t>
            </a:r>
            <a:endParaRPr lang="en-US" altLang="zh-CN" sz="2400" b="0" dirty="0"/>
          </a:p>
          <a:p>
            <a:pPr>
              <a:lnSpc>
                <a:spcPct val="150000"/>
              </a:lnSpc>
            </a:pPr>
            <a:r>
              <a:rPr lang="en-US" altLang="zh-CN" sz="2400" b="0" dirty="0"/>
              <a:t>      AND   AL</a:t>
            </a:r>
            <a:r>
              <a:rPr lang="zh-CN" altLang="en-US" sz="2400" b="0" dirty="0"/>
              <a:t>，</a:t>
            </a:r>
            <a:r>
              <a:rPr lang="en-US" altLang="zh-CN" sz="2400" b="0" dirty="0"/>
              <a:t>00000001B     </a:t>
            </a:r>
            <a:r>
              <a:rPr lang="zh-CN" altLang="en-US" sz="2400" b="0" dirty="0"/>
              <a:t>；查看发送器是否就绪</a:t>
            </a:r>
            <a:endParaRPr lang="zh-CN" altLang="en-US" sz="2400" b="0" dirty="0"/>
          </a:p>
          <a:p>
            <a:pPr>
              <a:lnSpc>
                <a:spcPct val="150000"/>
              </a:lnSpc>
            </a:pPr>
            <a:r>
              <a:rPr lang="en-US" altLang="zh-CN" sz="2400" b="0" dirty="0"/>
              <a:t>      JZ       L                    </a:t>
            </a:r>
            <a:r>
              <a:rPr lang="zh-CN" altLang="en-US" sz="2400" b="0" dirty="0"/>
              <a:t>；未就绪，则等待</a:t>
            </a:r>
            <a:endParaRPr lang="en-US" altLang="zh-CN" sz="2400" b="0" dirty="0"/>
          </a:p>
          <a:p>
            <a:pPr>
              <a:lnSpc>
                <a:spcPct val="150000"/>
              </a:lnSpc>
            </a:pPr>
            <a:r>
              <a:rPr lang="en-US" altLang="zh-CN" b="0" dirty="0"/>
              <a:t>……</a:t>
            </a:r>
            <a:endParaRPr lang="zh-CN" altLang="en-US" sz="2400" b="0" dirty="0"/>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3" name="Rectangle 3"/>
          <p:cNvSpPr>
            <a:spLocks noChangeArrowheads="1"/>
          </p:cNvSpPr>
          <p:nvPr/>
        </p:nvSpPr>
        <p:spPr bwMode="auto">
          <a:xfrm>
            <a:off x="611187" y="1052736"/>
            <a:ext cx="7848600" cy="1418915"/>
          </a:xfrm>
          <a:prstGeom prst="rect">
            <a:avLst/>
          </a:prstGeom>
          <a:noFill/>
          <a:ln w="9525" algn="ctr">
            <a:noFill/>
            <a:miter lim="800000"/>
          </a:ln>
          <a:effectLst/>
        </p:spPr>
        <p:txBody>
          <a:bodyPr>
            <a:spAutoFit/>
          </a:bodyPr>
          <a:lstStyle/>
          <a:p>
            <a:pPr marL="457200" indent="-457200" algn="just">
              <a:lnSpc>
                <a:spcPct val="150000"/>
              </a:lnSpc>
              <a:buFont typeface="Wingdings" panose="05000000000000000000" pitchFamily="2" charset="2"/>
              <a:buChar char="Ø"/>
            </a:pPr>
            <a:r>
              <a:rPr lang="en-US" altLang="zh-CN" sz="2000" dirty="0">
                <a:solidFill>
                  <a:schemeClr val="tx2"/>
                </a:solidFill>
                <a:effectLst>
                  <a:outerShdw blurRad="38100" dist="38100" dir="2700000" algn="tl">
                    <a:srgbClr val="C0C0C0"/>
                  </a:outerShdw>
                </a:effectLst>
              </a:rPr>
              <a:t>8251A</a:t>
            </a:r>
            <a:r>
              <a:rPr lang="zh-CN" altLang="en-US" sz="2000" dirty="0">
                <a:solidFill>
                  <a:schemeClr val="tx2"/>
                </a:solidFill>
                <a:effectLst>
                  <a:outerShdw blurRad="38100" dist="38100" dir="2700000" algn="tl">
                    <a:srgbClr val="C0C0C0"/>
                  </a:outerShdw>
                </a:effectLst>
              </a:rPr>
              <a:t>初始化及工作编程</a:t>
            </a:r>
            <a:endParaRPr lang="zh-CN" altLang="en-US" sz="2000" dirty="0">
              <a:solidFill>
                <a:schemeClr val="tx2"/>
              </a:solidFill>
              <a:effectLst>
                <a:outerShdw blurRad="38100" dist="38100" dir="2700000" algn="tl">
                  <a:srgbClr val="C0C0C0"/>
                </a:outerShdw>
              </a:effectLst>
            </a:endParaRPr>
          </a:p>
          <a:p>
            <a:pPr algn="just">
              <a:lnSpc>
                <a:spcPct val="150000"/>
              </a:lnSpc>
            </a:pPr>
            <a:r>
              <a:rPr lang="zh-CN" altLang="en-US" sz="2000" dirty="0"/>
              <a:t>       </a:t>
            </a:r>
            <a:r>
              <a:rPr lang="en-US" altLang="zh-CN" sz="2000" dirty="0"/>
              <a:t>8251A</a:t>
            </a:r>
            <a:r>
              <a:rPr lang="zh-CN" altLang="en-US" sz="2000" dirty="0"/>
              <a:t>在工作之前需要通过初始化设置工作模式、联络信号的状态及启动工作等，在数据传输时需要查询状态正确后再传输。</a:t>
            </a:r>
            <a:endParaRPr lang="zh-CN" altLang="en-US" sz="2000" dirty="0"/>
          </a:p>
        </p:txBody>
      </p:sp>
      <p:sp>
        <p:nvSpPr>
          <p:cNvPr id="399364" name="Rectangle 4"/>
          <p:cNvSpPr>
            <a:spLocks noChangeArrowheads="1"/>
          </p:cNvSpPr>
          <p:nvPr/>
        </p:nvSpPr>
        <p:spPr bwMode="auto">
          <a:xfrm>
            <a:off x="682624" y="2744924"/>
            <a:ext cx="7705725" cy="3727239"/>
          </a:xfrm>
          <a:prstGeom prst="rect">
            <a:avLst/>
          </a:prstGeom>
          <a:noFill/>
          <a:ln w="9525" algn="ctr">
            <a:noFill/>
            <a:miter lim="800000"/>
          </a:ln>
          <a:effectLst/>
        </p:spPr>
        <p:txBody>
          <a:bodyPr>
            <a:spAutoFit/>
          </a:bodyPr>
          <a:lstStyle/>
          <a:p>
            <a:pPr marL="443230" indent="-443230" algn="just">
              <a:lnSpc>
                <a:spcPct val="150000"/>
              </a:lnSpc>
            </a:pPr>
            <a:r>
              <a:rPr lang="en-US" altLang="zh-CN" sz="2000" dirty="0">
                <a:solidFill>
                  <a:srgbClr val="0000FF"/>
                </a:solidFill>
              </a:rPr>
              <a:t>l</a:t>
            </a:r>
            <a:r>
              <a:rPr lang="zh-CN" altLang="en-US" sz="2000" dirty="0">
                <a:solidFill>
                  <a:srgbClr val="0000FF"/>
                </a:solidFill>
              </a:rPr>
              <a:t>、异步方式：</a:t>
            </a:r>
            <a:r>
              <a:rPr lang="zh-CN" altLang="en-US" sz="2000" dirty="0"/>
              <a:t>送模式控制字后，必须紧跟着进行操作命令字的设置，然后才可开始读状态字、测试状态，状态正确再传送数据。</a:t>
            </a:r>
            <a:endParaRPr lang="zh-CN" altLang="en-US" sz="2000" dirty="0"/>
          </a:p>
          <a:p>
            <a:pPr marL="443230" indent="-443230" algn="just">
              <a:lnSpc>
                <a:spcPct val="150000"/>
              </a:lnSpc>
            </a:pPr>
            <a:r>
              <a:rPr lang="en-US" altLang="zh-CN" sz="2000" dirty="0">
                <a:solidFill>
                  <a:srgbClr val="0000FF"/>
                </a:solidFill>
              </a:rPr>
              <a:t>2</a:t>
            </a:r>
            <a:r>
              <a:rPr lang="zh-CN" altLang="en-US" sz="2000" dirty="0">
                <a:solidFill>
                  <a:srgbClr val="0000FF"/>
                </a:solidFill>
              </a:rPr>
              <a:t>、同步方式：</a:t>
            </a:r>
            <a:r>
              <a:rPr lang="zh-CN" altLang="en-US" sz="2000" dirty="0"/>
              <a:t>送模式控制字后，应马上输出同步字符，在一个或两个同步字符之后，再设置操作命令字，然后再读状态字、测试状态，状态正确再传送数据。</a:t>
            </a:r>
            <a:endParaRPr lang="zh-CN" altLang="en-US" sz="2000" dirty="0"/>
          </a:p>
          <a:p>
            <a:pPr marL="443230" indent="-443230" algn="just">
              <a:lnSpc>
                <a:spcPct val="150000"/>
              </a:lnSpc>
            </a:pPr>
            <a:r>
              <a:rPr lang="en-US" altLang="zh-CN" sz="2000" dirty="0"/>
              <a:t>3</a:t>
            </a:r>
            <a:r>
              <a:rPr lang="zh-CN" altLang="en-US" sz="2000" dirty="0"/>
              <a:t>、在数据传送结束后，或不知</a:t>
            </a:r>
            <a:r>
              <a:rPr lang="en-US" altLang="zh-CN" sz="2000" dirty="0"/>
              <a:t>8251A</a:t>
            </a:r>
            <a:r>
              <a:rPr lang="zh-CN" altLang="en-US" sz="2000" dirty="0"/>
              <a:t>当前的工作状态，而需要</a:t>
            </a:r>
            <a:r>
              <a:rPr lang="zh-CN" altLang="en-US" sz="2000" dirty="0">
                <a:solidFill>
                  <a:srgbClr val="0000FF"/>
                </a:solidFill>
              </a:rPr>
              <a:t>改变工作模式</a:t>
            </a:r>
            <a:r>
              <a:rPr lang="zh-CN" altLang="en-US" sz="2000" dirty="0"/>
              <a:t>，必须用操作命令控制字将</a:t>
            </a:r>
            <a:r>
              <a:rPr lang="en-US" altLang="zh-CN" sz="2000" dirty="0"/>
              <a:t>IR</a:t>
            </a:r>
            <a:r>
              <a:rPr lang="zh-CN" altLang="en-US" sz="2000" dirty="0"/>
              <a:t>置</a:t>
            </a:r>
            <a:r>
              <a:rPr lang="zh-CN" altLang="en-US" sz="2000" dirty="0">
                <a:latin typeface="Arial" panose="020B0604020202020204"/>
              </a:rPr>
              <a:t>‘</a:t>
            </a:r>
            <a:r>
              <a:rPr lang="en-US" altLang="zh-CN" sz="2000" dirty="0"/>
              <a:t>1</a:t>
            </a:r>
            <a:r>
              <a:rPr lang="en-US" altLang="zh-CN" sz="2000" dirty="0">
                <a:latin typeface="Arial" panose="020B0604020202020204"/>
              </a:rPr>
              <a:t>’</a:t>
            </a:r>
            <a:r>
              <a:rPr lang="zh-CN" altLang="en-US" sz="2000" dirty="0"/>
              <a:t>，使</a:t>
            </a:r>
            <a:r>
              <a:rPr lang="en-US" altLang="zh-CN" sz="2000" dirty="0"/>
              <a:t>8251A</a:t>
            </a:r>
            <a:r>
              <a:rPr lang="zh-CN" altLang="en-US" sz="2000" dirty="0"/>
              <a:t>内部复位，之后</a:t>
            </a:r>
            <a:r>
              <a:rPr lang="en-US" altLang="zh-CN" sz="2000" dirty="0"/>
              <a:t>8251A</a:t>
            </a:r>
            <a:r>
              <a:rPr lang="zh-CN" altLang="en-US" sz="2000" dirty="0"/>
              <a:t>才可重新设立模式控制字，改变传送方式。</a:t>
            </a:r>
            <a:endParaRPr lang="zh-CN" altLang="en-US" sz="2000" dirty="0"/>
          </a:p>
        </p:txBody>
      </p:sp>
      <p:sp>
        <p:nvSpPr>
          <p:cNvPr id="4" name="Rectangle 4"/>
          <p:cNvSpPr>
            <a:spLocks noChangeArrowheads="1"/>
          </p:cNvSpPr>
          <p:nvPr/>
        </p:nvSpPr>
        <p:spPr bwMode="auto">
          <a:xfrm>
            <a:off x="467544" y="368660"/>
            <a:ext cx="7848600" cy="492443"/>
          </a:xfrm>
          <a:prstGeom prst="rect">
            <a:avLst/>
          </a:prstGeom>
          <a:noFill/>
          <a:ln w="9525" algn="ctr">
            <a:noFill/>
            <a:miter lim="800000"/>
          </a:ln>
          <a:effectLst/>
        </p:spPr>
        <p:txBody>
          <a:bodyPr>
            <a:spAutoFit/>
          </a:bodyPr>
          <a:lstStyle/>
          <a:p>
            <a:r>
              <a:rPr lang="zh-CN" altLang="en-US" sz="2600" kern="0" dirty="0">
                <a:solidFill>
                  <a:schemeClr val="tx2"/>
                </a:solidFill>
                <a:effectLst>
                  <a:outerShdw blurRad="38100" dist="38100" dir="2700000" algn="tl">
                    <a:srgbClr val="C0C0C0"/>
                  </a:outerShdw>
                </a:effectLst>
                <a:latin typeface="+mj-lt"/>
                <a:cs typeface="+mj-cs"/>
              </a:rPr>
              <a:t>可编程串行通信接口</a:t>
            </a:r>
            <a:r>
              <a:rPr lang="en-US" altLang="zh-CN" sz="2600" kern="0" dirty="0">
                <a:solidFill>
                  <a:schemeClr val="tx2"/>
                </a:solidFill>
                <a:effectLst>
                  <a:outerShdw blurRad="38100" dist="38100" dir="2700000" algn="tl">
                    <a:srgbClr val="C0C0C0"/>
                  </a:outerShdw>
                </a:effectLst>
                <a:latin typeface="+mj-lt"/>
                <a:cs typeface="+mj-cs"/>
              </a:rPr>
              <a:t>8251A</a:t>
            </a:r>
            <a:endParaRPr lang="en-US" altLang="zh-CN"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4" name="Rectangle 4"/>
          <p:cNvSpPr>
            <a:spLocks noChangeArrowheads="1"/>
          </p:cNvSpPr>
          <p:nvPr/>
        </p:nvSpPr>
        <p:spPr bwMode="auto">
          <a:xfrm>
            <a:off x="503548" y="944724"/>
            <a:ext cx="2663825" cy="457200"/>
          </a:xfrm>
          <a:prstGeom prst="rect">
            <a:avLst/>
          </a:prstGeom>
          <a:noFill/>
          <a:ln w="9525" algn="ctr">
            <a:noFill/>
            <a:miter lim="800000"/>
          </a:ln>
          <a:effectLst/>
        </p:spPr>
        <p:txBody>
          <a:bodyPr>
            <a:spAutoFit/>
          </a:bodyPr>
          <a:lstStyle/>
          <a:p>
            <a:r>
              <a:rPr lang="en-US" altLang="zh-CN" u="sng" dirty="0">
                <a:solidFill>
                  <a:srgbClr val="0000FF"/>
                </a:solidFill>
              </a:rPr>
              <a:t>8251A</a:t>
            </a:r>
            <a:r>
              <a:rPr lang="zh-CN" altLang="en-US" u="sng" dirty="0">
                <a:solidFill>
                  <a:srgbClr val="0000FF"/>
                </a:solidFill>
              </a:rPr>
              <a:t>编程流程图</a:t>
            </a:r>
            <a:endParaRPr lang="zh-CN" altLang="en-US" u="sng" dirty="0">
              <a:solidFill>
                <a:srgbClr val="0000FF"/>
              </a:solidFill>
            </a:endParaRPr>
          </a:p>
        </p:txBody>
      </p:sp>
      <p:sp>
        <p:nvSpPr>
          <p:cNvPr id="4" name="Rectangle 4"/>
          <p:cNvSpPr>
            <a:spLocks noChangeArrowheads="1"/>
          </p:cNvSpPr>
          <p:nvPr/>
        </p:nvSpPr>
        <p:spPr bwMode="auto">
          <a:xfrm>
            <a:off x="467544" y="368660"/>
            <a:ext cx="7848600" cy="492443"/>
          </a:xfrm>
          <a:prstGeom prst="rect">
            <a:avLst/>
          </a:prstGeom>
          <a:noFill/>
          <a:ln w="9525" algn="ctr">
            <a:noFill/>
            <a:miter lim="800000"/>
          </a:ln>
          <a:effectLst/>
        </p:spPr>
        <p:txBody>
          <a:bodyPr>
            <a:spAutoFit/>
          </a:bodyPr>
          <a:lstStyle/>
          <a:p>
            <a:r>
              <a:rPr lang="zh-CN" altLang="en-US" sz="2600" kern="0" dirty="0">
                <a:solidFill>
                  <a:schemeClr val="tx2"/>
                </a:solidFill>
                <a:effectLst>
                  <a:outerShdw blurRad="38100" dist="38100" dir="2700000" algn="tl">
                    <a:srgbClr val="C0C0C0"/>
                  </a:outerShdw>
                </a:effectLst>
                <a:latin typeface="+mj-lt"/>
                <a:cs typeface="+mj-cs"/>
              </a:rPr>
              <a:t>可编程串行通信接口</a:t>
            </a:r>
            <a:r>
              <a:rPr lang="en-US" altLang="zh-CN" sz="2600" kern="0" dirty="0">
                <a:solidFill>
                  <a:schemeClr val="tx2"/>
                </a:solidFill>
                <a:effectLst>
                  <a:outerShdw blurRad="38100" dist="38100" dir="2700000" algn="tl">
                    <a:srgbClr val="C0C0C0"/>
                  </a:outerShdw>
                </a:effectLst>
                <a:latin typeface="+mj-lt"/>
                <a:cs typeface="+mj-cs"/>
              </a:rPr>
              <a:t>8251A</a:t>
            </a:r>
            <a:endParaRPr lang="en-US" altLang="zh-CN" sz="2600" kern="0" dirty="0">
              <a:solidFill>
                <a:schemeClr val="tx2"/>
              </a:solidFill>
              <a:effectLst>
                <a:outerShdw blurRad="38100" dist="38100" dir="2700000" algn="tl">
                  <a:srgbClr val="C0C0C0"/>
                </a:outerShdw>
              </a:effectLst>
              <a:latin typeface="+mj-lt"/>
              <a:cs typeface="+mj-cs"/>
            </a:endParaRPr>
          </a:p>
        </p:txBody>
      </p:sp>
      <p:pic>
        <p:nvPicPr>
          <p:cNvPr id="2" name="图片 1"/>
          <p:cNvPicPr>
            <a:picLocks noChangeAspect="1"/>
          </p:cNvPicPr>
          <p:nvPr/>
        </p:nvPicPr>
        <p:blipFill>
          <a:blip r:embed="rId1"/>
          <a:stretch>
            <a:fillRect/>
          </a:stretch>
        </p:blipFill>
        <p:spPr>
          <a:xfrm>
            <a:off x="5004048" y="1052736"/>
            <a:ext cx="3850552" cy="5326930"/>
          </a:xfrm>
          <a:prstGeom prst="rect">
            <a:avLst/>
          </a:prstGeom>
        </p:spPr>
      </p:pic>
      <p:sp>
        <p:nvSpPr>
          <p:cNvPr id="3" name="矩形 2"/>
          <p:cNvSpPr/>
          <p:nvPr/>
        </p:nvSpPr>
        <p:spPr>
          <a:xfrm>
            <a:off x="467544" y="1485545"/>
            <a:ext cx="4259008" cy="4893647"/>
          </a:xfrm>
          <a:prstGeom prst="rect">
            <a:avLst/>
          </a:prstGeom>
        </p:spPr>
        <p:txBody>
          <a:bodyPr wrap="square">
            <a:spAutoFit/>
          </a:bodyPr>
          <a:lstStyle/>
          <a:p>
            <a:r>
              <a:rPr lang="zh-CN" altLang="en-US" dirty="0"/>
              <a:t>注意：</a:t>
            </a:r>
            <a:endParaRPr lang="en-US" altLang="zh-CN" dirty="0"/>
          </a:p>
          <a:p>
            <a:pPr algn="just"/>
            <a:r>
              <a:rPr lang="zh-CN" altLang="en-US" dirty="0"/>
              <a:t>    因为模式命令字和操作命令字都是送到同一命令端口，而没有其他标识来区分，所以在向</a:t>
            </a:r>
            <a:r>
              <a:rPr lang="en-US" altLang="zh-CN" dirty="0"/>
              <a:t>8251A</a:t>
            </a:r>
            <a:r>
              <a:rPr lang="zh-CN" altLang="en-US" dirty="0"/>
              <a:t>写入模式命令字和操作命令字时，需要按一定的顺序，这种顺序不能颠倒或改变。</a:t>
            </a:r>
            <a:endParaRPr lang="en-US" altLang="zh-CN" dirty="0"/>
          </a:p>
          <a:p>
            <a:pPr algn="just"/>
            <a:r>
              <a:rPr lang="en-US" altLang="zh-CN" dirty="0"/>
              <a:t>    </a:t>
            </a:r>
            <a:r>
              <a:rPr lang="zh-CN" altLang="en-US" dirty="0"/>
              <a:t>这种顺序是：</a:t>
            </a:r>
            <a:r>
              <a:rPr lang="zh-CN" altLang="en-US" dirty="0">
                <a:solidFill>
                  <a:srgbClr val="FF0000"/>
                </a:solidFill>
              </a:rPr>
              <a:t>复位</a:t>
            </a:r>
            <a:r>
              <a:rPr lang="zh-CN" altLang="en-US" dirty="0"/>
              <a:t>→模式命令字→操作命令字</a:t>
            </a:r>
            <a:r>
              <a:rPr lang="en-US" altLang="zh-CN" dirty="0"/>
              <a:t>1→</a:t>
            </a:r>
            <a:r>
              <a:rPr lang="zh-CN" altLang="en-US" dirty="0"/>
              <a:t>操作命令字</a:t>
            </a:r>
            <a:r>
              <a:rPr lang="en-US" altLang="zh-CN" dirty="0"/>
              <a:t>2…</a:t>
            </a:r>
            <a:endParaRPr lang="en-US" altLang="zh-CN" dirty="0"/>
          </a:p>
          <a:p>
            <a:pPr algn="just"/>
            <a:r>
              <a:rPr lang="en-US" altLang="zh-CN" dirty="0"/>
              <a:t>    8251A</a:t>
            </a:r>
            <a:r>
              <a:rPr lang="zh-CN" altLang="en-US" dirty="0"/>
              <a:t>初始化编程的操作过程可用流程图来描述，如右图所示。</a:t>
            </a:r>
            <a:endParaRPr lang="zh-CN" altLang="en-US" dirty="0"/>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2"/>
          <p:cNvSpPr>
            <a:spLocks noChangeArrowheads="1"/>
          </p:cNvSpPr>
          <p:nvPr/>
        </p:nvSpPr>
        <p:spPr bwMode="auto">
          <a:xfrm>
            <a:off x="646993" y="989437"/>
            <a:ext cx="7848600" cy="1015663"/>
          </a:xfrm>
          <a:prstGeom prst="rect">
            <a:avLst/>
          </a:prstGeom>
          <a:noFill/>
          <a:ln w="9525" algn="ctr">
            <a:noFill/>
            <a:miter lim="800000"/>
          </a:ln>
          <a:effectLst/>
        </p:spPr>
        <p:txBody>
          <a:bodyPr>
            <a:spAutoFit/>
          </a:bodyPr>
          <a:lstStyle/>
          <a:p>
            <a:r>
              <a:rPr lang="zh-CN" altLang="en-US" sz="2000" dirty="0"/>
              <a:t>例：异步模式下的初始化程序。设</a:t>
            </a:r>
            <a:r>
              <a:rPr lang="en-US" altLang="zh-CN" sz="2000" dirty="0"/>
              <a:t>8251A</a:t>
            </a:r>
            <a:r>
              <a:rPr lang="zh-CN" altLang="en-US" sz="2000" dirty="0"/>
              <a:t>控制和状态口地址为</a:t>
            </a:r>
            <a:r>
              <a:rPr lang="en-US" altLang="zh-CN" sz="2000" dirty="0"/>
              <a:t>53H</a:t>
            </a:r>
            <a:r>
              <a:rPr lang="zh-CN" altLang="en-US" sz="2000" dirty="0"/>
              <a:t>，工作在异步方式，</a:t>
            </a:r>
            <a:r>
              <a:rPr lang="en-US" altLang="zh-CN" sz="2000" dirty="0"/>
              <a:t>7</a:t>
            </a:r>
            <a:r>
              <a:rPr lang="zh-CN" altLang="en-US" sz="2000" dirty="0"/>
              <a:t>位数据，偶校验，</a:t>
            </a:r>
            <a:r>
              <a:rPr lang="en-US" altLang="zh-CN" sz="2000" dirty="0"/>
              <a:t>2</a:t>
            </a:r>
            <a:r>
              <a:rPr lang="zh-CN" altLang="en-US" sz="2000" dirty="0"/>
              <a:t>位停止位，波特率因子</a:t>
            </a:r>
            <a:r>
              <a:rPr lang="en-US" altLang="zh-CN" sz="2000" dirty="0"/>
              <a:t>=16</a:t>
            </a:r>
            <a:r>
              <a:rPr lang="zh-CN" altLang="en-US" sz="2000" dirty="0"/>
              <a:t>，请写出初始化程序段。</a:t>
            </a:r>
            <a:endParaRPr lang="zh-CN" altLang="en-US" sz="2000" dirty="0"/>
          </a:p>
        </p:txBody>
      </p:sp>
      <p:graphicFrame>
        <p:nvGraphicFramePr>
          <p:cNvPr id="403601" name="Group 145"/>
          <p:cNvGraphicFramePr>
            <a:graphicFrameLocks noGrp="1"/>
          </p:cNvGraphicFramePr>
          <p:nvPr/>
        </p:nvGraphicFramePr>
        <p:xfrm>
          <a:off x="827584" y="5517232"/>
          <a:ext cx="7560840" cy="882015"/>
        </p:xfrm>
        <a:graphic>
          <a:graphicData uri="http://schemas.openxmlformats.org/drawingml/2006/table">
            <a:tbl>
              <a:tblPr/>
              <a:tblGrid>
                <a:gridCol w="1609444"/>
                <a:gridCol w="1240557"/>
                <a:gridCol w="1237826"/>
                <a:gridCol w="1363519"/>
                <a:gridCol w="2109494"/>
              </a:tblGrid>
              <a:tr h="306388">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000" b="0" i="0" u="none" strike="noStrike" cap="none" normalizeH="0" baseline="0" dirty="0">
                          <a:ln>
                            <a:noFill/>
                          </a:ln>
                          <a:solidFill>
                            <a:schemeClr val="tx1"/>
                          </a:solidFill>
                          <a:effectLst/>
                          <a:latin typeface="+mn-lt"/>
                          <a:ea typeface="隶书" panose="02010509060101010101" pitchFamily="49" charset="-122"/>
                        </a:rPr>
                        <a:t>11</a:t>
                      </a:r>
                      <a:endParaRPr kumimoji="0" lang="en-US" altLang="zh-CN" sz="20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000" b="0" i="0" u="none" strike="noStrike" cap="none" normalizeH="0" baseline="0" dirty="0">
                          <a:ln>
                            <a:noFill/>
                          </a:ln>
                          <a:solidFill>
                            <a:schemeClr val="tx1"/>
                          </a:solidFill>
                          <a:effectLst/>
                          <a:latin typeface="+mn-lt"/>
                          <a:ea typeface="隶书" panose="02010509060101010101" pitchFamily="49" charset="-122"/>
                        </a:rPr>
                        <a:t>1</a:t>
                      </a:r>
                      <a:endParaRPr kumimoji="0" lang="en-US" altLang="zh-CN" sz="20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000" b="0" i="0" u="none" strike="noStrike" cap="none" normalizeH="0" baseline="0" dirty="0">
                          <a:ln>
                            <a:noFill/>
                          </a:ln>
                          <a:solidFill>
                            <a:schemeClr val="tx1"/>
                          </a:solidFill>
                          <a:effectLst/>
                          <a:latin typeface="+mn-lt"/>
                          <a:ea typeface="隶书" panose="02010509060101010101" pitchFamily="49" charset="-122"/>
                        </a:rPr>
                        <a:t>1</a:t>
                      </a:r>
                      <a:endParaRPr kumimoji="0" lang="en-US" altLang="zh-CN" sz="20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000" b="0" i="0" u="none" strike="noStrike" cap="none" normalizeH="0" baseline="0" dirty="0">
                          <a:ln>
                            <a:noFill/>
                          </a:ln>
                          <a:solidFill>
                            <a:schemeClr val="tx1"/>
                          </a:solidFill>
                          <a:effectLst/>
                          <a:latin typeface="+mn-lt"/>
                          <a:ea typeface="隶书" panose="02010509060101010101" pitchFamily="49" charset="-122"/>
                        </a:rPr>
                        <a:t>10</a:t>
                      </a:r>
                      <a:endParaRPr kumimoji="0" lang="en-US" altLang="zh-CN" sz="20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000" b="0" i="0" u="none" strike="noStrike" cap="none" normalizeH="0" baseline="0" dirty="0">
                          <a:ln>
                            <a:noFill/>
                          </a:ln>
                          <a:solidFill>
                            <a:schemeClr val="tx1"/>
                          </a:solidFill>
                          <a:effectLst/>
                          <a:latin typeface="+mn-lt"/>
                          <a:ea typeface="隶书" panose="02010509060101010101" pitchFamily="49" charset="-122"/>
                        </a:rPr>
                        <a:t>10</a:t>
                      </a:r>
                      <a:endParaRPr kumimoji="0" lang="en-US" altLang="zh-CN" sz="20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r>
              <a:tr h="485775">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en-US" altLang="zh-CN" sz="2000" b="0" i="0" u="none" strike="noStrike" cap="none" normalizeH="0" baseline="0">
                          <a:ln>
                            <a:noFill/>
                          </a:ln>
                          <a:solidFill>
                            <a:schemeClr val="tx1"/>
                          </a:solidFill>
                          <a:effectLst/>
                          <a:latin typeface="+mn-lt"/>
                          <a:ea typeface="隶书" panose="02010509060101010101" pitchFamily="49" charset="-122"/>
                        </a:rPr>
                        <a:t>2</a:t>
                      </a:r>
                      <a:r>
                        <a:rPr kumimoji="0" lang="zh-CN" altLang="en-US" sz="2000" b="0" i="0" u="none" strike="noStrike" cap="none" normalizeH="0" baseline="0">
                          <a:ln>
                            <a:noFill/>
                          </a:ln>
                          <a:solidFill>
                            <a:schemeClr val="tx1"/>
                          </a:solidFill>
                          <a:effectLst/>
                          <a:latin typeface="+mn-lt"/>
                          <a:ea typeface="隶书" panose="02010509060101010101" pitchFamily="49" charset="-122"/>
                        </a:rPr>
                        <a:t>位停止位</a:t>
                      </a:r>
                      <a:endParaRPr kumimoji="0" lang="zh-CN" altLang="en-US" sz="2000" b="0" i="0" u="none" strike="noStrike" cap="none" normalizeH="0" baseline="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zh-CN" altLang="en-US" sz="2000" b="0" i="0" u="none" strike="noStrike" cap="none" normalizeH="0" baseline="0">
                          <a:ln>
                            <a:noFill/>
                          </a:ln>
                          <a:solidFill>
                            <a:schemeClr val="tx1"/>
                          </a:solidFill>
                          <a:effectLst/>
                          <a:latin typeface="+mn-lt"/>
                          <a:ea typeface="隶书" panose="02010509060101010101" pitchFamily="49" charset="-122"/>
                        </a:rPr>
                        <a:t>偶校验</a:t>
                      </a:r>
                      <a:endParaRPr kumimoji="0" lang="zh-CN" altLang="en-US" sz="2000" b="0" i="0" u="none" strike="noStrike" cap="none" normalizeH="0" baseline="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zh-CN" altLang="en-US" sz="2000" b="0" i="0" u="none" strike="noStrike" cap="none" normalizeH="0" baseline="0" dirty="0">
                          <a:ln>
                            <a:noFill/>
                          </a:ln>
                          <a:solidFill>
                            <a:schemeClr val="tx1"/>
                          </a:solidFill>
                          <a:effectLst/>
                          <a:latin typeface="+mn-lt"/>
                          <a:ea typeface="隶书" panose="02010509060101010101" pitchFamily="49" charset="-122"/>
                        </a:rPr>
                        <a:t>有校验</a:t>
                      </a:r>
                      <a:endParaRPr kumimoji="0" lang="zh-CN" altLang="en-US" sz="20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en-US" altLang="zh-CN" sz="2000" b="0" i="0" u="none" strike="noStrike" cap="none" normalizeH="0" baseline="0" dirty="0">
                          <a:ln>
                            <a:noFill/>
                          </a:ln>
                          <a:solidFill>
                            <a:schemeClr val="tx1"/>
                          </a:solidFill>
                          <a:effectLst/>
                          <a:latin typeface="+mn-lt"/>
                          <a:ea typeface="隶书" panose="02010509060101010101" pitchFamily="49" charset="-122"/>
                        </a:rPr>
                        <a:t>7</a:t>
                      </a:r>
                      <a:r>
                        <a:rPr kumimoji="0" lang="zh-CN" altLang="en-US" sz="2000" b="0" i="0" u="none" strike="noStrike" cap="none" normalizeH="0" baseline="0" dirty="0">
                          <a:ln>
                            <a:noFill/>
                          </a:ln>
                          <a:solidFill>
                            <a:schemeClr val="tx1"/>
                          </a:solidFill>
                          <a:effectLst/>
                          <a:latin typeface="+mn-lt"/>
                          <a:ea typeface="隶书" panose="02010509060101010101" pitchFamily="49" charset="-122"/>
                        </a:rPr>
                        <a:t>位数据</a:t>
                      </a:r>
                      <a:endParaRPr kumimoji="0" lang="zh-CN" altLang="en-US" sz="20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zh-CN" altLang="en-US" sz="2000" b="0" i="0" u="none" strike="noStrike" cap="none" normalizeH="0" baseline="0" dirty="0">
                          <a:ln>
                            <a:noFill/>
                          </a:ln>
                          <a:solidFill>
                            <a:schemeClr val="tx1"/>
                          </a:solidFill>
                          <a:effectLst/>
                          <a:latin typeface="+mn-lt"/>
                          <a:ea typeface="隶书" panose="02010509060101010101" pitchFamily="49" charset="-122"/>
                        </a:rPr>
                        <a:t>波特率因子＝</a:t>
                      </a:r>
                      <a:r>
                        <a:rPr kumimoji="0" lang="en-US" altLang="zh-CN" sz="2000" b="0" i="0" u="none" strike="noStrike" cap="none" normalizeH="0" baseline="0" dirty="0">
                          <a:ln>
                            <a:noFill/>
                          </a:ln>
                          <a:solidFill>
                            <a:schemeClr val="tx1"/>
                          </a:solidFill>
                          <a:effectLst/>
                          <a:latin typeface="+mn-lt"/>
                          <a:ea typeface="隶书" panose="02010509060101010101" pitchFamily="49" charset="-122"/>
                        </a:rPr>
                        <a:t>16</a:t>
                      </a:r>
                      <a:endParaRPr kumimoji="0" lang="en-US" altLang="zh-CN" sz="20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r>
            </a:tbl>
          </a:graphicData>
        </a:graphic>
      </p:graphicFrame>
      <p:sp>
        <p:nvSpPr>
          <p:cNvPr id="11" name="Rectangle 4"/>
          <p:cNvSpPr>
            <a:spLocks noChangeArrowheads="1"/>
          </p:cNvSpPr>
          <p:nvPr/>
        </p:nvSpPr>
        <p:spPr bwMode="auto">
          <a:xfrm>
            <a:off x="467544" y="368660"/>
            <a:ext cx="7848600" cy="492443"/>
          </a:xfrm>
          <a:prstGeom prst="rect">
            <a:avLst/>
          </a:prstGeom>
          <a:noFill/>
          <a:ln w="9525" algn="ctr">
            <a:noFill/>
            <a:miter lim="800000"/>
          </a:ln>
          <a:effectLst/>
        </p:spPr>
        <p:txBody>
          <a:bodyPr>
            <a:spAutoFit/>
          </a:bodyPr>
          <a:lstStyle/>
          <a:p>
            <a:r>
              <a:rPr lang="zh-CN" altLang="en-US" sz="2600" kern="0" dirty="0">
                <a:solidFill>
                  <a:schemeClr val="tx2"/>
                </a:solidFill>
                <a:effectLst>
                  <a:outerShdw blurRad="38100" dist="38100" dir="2700000" algn="tl">
                    <a:srgbClr val="C0C0C0"/>
                  </a:outerShdw>
                </a:effectLst>
                <a:latin typeface="+mj-lt"/>
                <a:cs typeface="+mj-cs"/>
              </a:rPr>
              <a:t>可编程串行通信接口</a:t>
            </a:r>
            <a:r>
              <a:rPr lang="en-US" altLang="zh-CN" sz="2600" kern="0" dirty="0">
                <a:solidFill>
                  <a:schemeClr val="tx2"/>
                </a:solidFill>
                <a:effectLst>
                  <a:outerShdw blurRad="38100" dist="38100" dir="2700000" algn="tl">
                    <a:srgbClr val="C0C0C0"/>
                  </a:outerShdw>
                </a:effectLst>
                <a:latin typeface="+mj-lt"/>
                <a:cs typeface="+mj-cs"/>
              </a:rPr>
              <a:t>8251A</a:t>
            </a:r>
            <a:endParaRPr lang="en-US" altLang="zh-CN" sz="2600" kern="0" dirty="0">
              <a:solidFill>
                <a:schemeClr val="tx2"/>
              </a:solidFill>
              <a:effectLst>
                <a:outerShdw blurRad="38100" dist="38100" dir="2700000" algn="tl">
                  <a:srgbClr val="C0C0C0"/>
                </a:outerShdw>
              </a:effectLst>
              <a:latin typeface="+mj-lt"/>
              <a:cs typeface="+mj-cs"/>
            </a:endParaRPr>
          </a:p>
        </p:txBody>
      </p:sp>
      <p:pic>
        <p:nvPicPr>
          <p:cNvPr id="2" name="图片 1"/>
          <p:cNvPicPr>
            <a:picLocks noChangeAspect="1"/>
          </p:cNvPicPr>
          <p:nvPr/>
        </p:nvPicPr>
        <p:blipFill>
          <a:blip r:embed="rId1"/>
          <a:stretch>
            <a:fillRect/>
          </a:stretch>
        </p:blipFill>
        <p:spPr>
          <a:xfrm>
            <a:off x="3851920" y="2005101"/>
            <a:ext cx="4622026" cy="3014026"/>
          </a:xfrm>
          <a:prstGeom prst="rect">
            <a:avLst/>
          </a:prstGeom>
        </p:spPr>
      </p:pic>
      <p:sp>
        <p:nvSpPr>
          <p:cNvPr id="3" name="矩形 2"/>
          <p:cNvSpPr/>
          <p:nvPr/>
        </p:nvSpPr>
        <p:spPr>
          <a:xfrm>
            <a:off x="719572" y="4977172"/>
            <a:ext cx="2350323" cy="461665"/>
          </a:xfrm>
          <a:prstGeom prst="rect">
            <a:avLst/>
          </a:prstGeom>
        </p:spPr>
        <p:txBody>
          <a:bodyPr wrap="none">
            <a:spAutoFit/>
          </a:bodyPr>
          <a:lstStyle/>
          <a:p>
            <a:r>
              <a:rPr lang="zh-CN" altLang="en-US" dirty="0"/>
              <a:t>则</a:t>
            </a:r>
            <a:r>
              <a:rPr lang="zh-CN" altLang="en-US" dirty="0">
                <a:solidFill>
                  <a:srgbClr val="0000FF"/>
                </a:solidFill>
              </a:rPr>
              <a:t>模式控制字</a:t>
            </a:r>
            <a:r>
              <a:rPr lang="zh-CN" altLang="en-US" dirty="0"/>
              <a:t>：</a:t>
            </a:r>
            <a:endParaRPr lang="zh-CN" altLang="en-US" dirty="0"/>
          </a:p>
        </p:txBody>
      </p:sp>
      <p:sp>
        <p:nvSpPr>
          <p:cNvPr id="4" name="矩形 3"/>
          <p:cNvSpPr/>
          <p:nvPr/>
        </p:nvSpPr>
        <p:spPr>
          <a:xfrm>
            <a:off x="2771800" y="5002902"/>
            <a:ext cx="2288383" cy="461665"/>
          </a:xfrm>
          <a:prstGeom prst="rect">
            <a:avLst/>
          </a:prstGeom>
        </p:spPr>
        <p:txBody>
          <a:bodyPr wrap="none">
            <a:spAutoFit/>
          </a:bodyPr>
          <a:lstStyle/>
          <a:p>
            <a:r>
              <a:rPr lang="en-US" altLang="zh-CN" dirty="0">
                <a:solidFill>
                  <a:srgbClr val="FF0000"/>
                </a:solidFill>
              </a:rPr>
              <a:t>11111010~0FAH</a:t>
            </a:r>
            <a:endParaRPr lang="zh-CN" altLang="en-US" dirty="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0360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533" name="Rectangle 77"/>
          <p:cNvSpPr>
            <a:spLocks noChangeArrowheads="1"/>
          </p:cNvSpPr>
          <p:nvPr/>
        </p:nvSpPr>
        <p:spPr bwMode="auto">
          <a:xfrm>
            <a:off x="647564" y="1011395"/>
            <a:ext cx="8064500" cy="1015663"/>
          </a:xfrm>
          <a:prstGeom prst="rect">
            <a:avLst/>
          </a:prstGeom>
          <a:noFill/>
          <a:ln w="9525" algn="ctr">
            <a:noFill/>
            <a:miter lim="800000"/>
          </a:ln>
          <a:effectLst/>
        </p:spPr>
        <p:txBody>
          <a:bodyPr>
            <a:spAutoFit/>
          </a:bodyPr>
          <a:lstStyle/>
          <a:p>
            <a:r>
              <a:rPr lang="zh-CN" altLang="en-US" sz="2000" dirty="0"/>
              <a:t>可发送又可接收：应使发送请求</a:t>
            </a:r>
            <a:r>
              <a:rPr lang="en-US" altLang="zh-CN" sz="2000" dirty="0"/>
              <a:t>RTS</a:t>
            </a:r>
            <a:r>
              <a:rPr lang="zh-CN" altLang="en-US" sz="2000" dirty="0"/>
              <a:t>有效，出错标志复位，接收允许</a:t>
            </a:r>
            <a:r>
              <a:rPr lang="en-US" altLang="zh-CN" sz="2000" dirty="0" err="1"/>
              <a:t>RxE</a:t>
            </a:r>
            <a:r>
              <a:rPr lang="zh-CN" altLang="en-US" sz="2000" dirty="0"/>
              <a:t>有效，</a:t>
            </a:r>
            <a:r>
              <a:rPr lang="en-US" altLang="zh-CN" sz="2000" dirty="0"/>
              <a:t>DTR</a:t>
            </a:r>
            <a:r>
              <a:rPr lang="zh-CN" altLang="en-US" sz="2000" dirty="0"/>
              <a:t>有效，发送允许</a:t>
            </a:r>
            <a:r>
              <a:rPr lang="en-US" altLang="zh-CN" sz="2000" dirty="0" err="1"/>
              <a:t>TxE</a:t>
            </a:r>
            <a:r>
              <a:rPr lang="zh-CN" altLang="en-US" sz="2000" dirty="0"/>
              <a:t>有效。则</a:t>
            </a:r>
            <a:r>
              <a:rPr lang="zh-CN" altLang="en-US" sz="2000" dirty="0">
                <a:solidFill>
                  <a:srgbClr val="0000FF"/>
                </a:solidFill>
              </a:rPr>
              <a:t>操作命令字</a:t>
            </a:r>
            <a:r>
              <a:rPr lang="zh-CN" altLang="en-US" sz="2000" dirty="0"/>
              <a:t>：</a:t>
            </a:r>
            <a:endParaRPr lang="zh-CN" altLang="en-US" sz="2000" dirty="0"/>
          </a:p>
          <a:p>
            <a:endParaRPr lang="zh-CN" altLang="en-US" sz="2000" dirty="0"/>
          </a:p>
        </p:txBody>
      </p:sp>
      <p:graphicFrame>
        <p:nvGraphicFramePr>
          <p:cNvPr id="403665" name="Group 209"/>
          <p:cNvGraphicFramePr>
            <a:graphicFrameLocks noGrp="1"/>
          </p:cNvGraphicFramePr>
          <p:nvPr/>
        </p:nvGraphicFramePr>
        <p:xfrm>
          <a:off x="772934" y="1874955"/>
          <a:ext cx="7632578" cy="964154"/>
        </p:xfrm>
        <a:graphic>
          <a:graphicData uri="http://schemas.openxmlformats.org/drawingml/2006/table">
            <a:tbl>
              <a:tblPr/>
              <a:tblGrid>
                <a:gridCol w="1519505"/>
                <a:gridCol w="873296"/>
                <a:gridCol w="785967"/>
                <a:gridCol w="1222614"/>
                <a:gridCol w="1047955"/>
                <a:gridCol w="698637"/>
                <a:gridCol w="785967"/>
                <a:gridCol w="698637"/>
              </a:tblGrid>
              <a:tr h="199865">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en-US" altLang="zh-CN" sz="2000" b="0" i="0" u="none" strike="noStrike" cap="none" normalizeH="0" baseline="0" dirty="0">
                          <a:ln>
                            <a:noFill/>
                          </a:ln>
                          <a:solidFill>
                            <a:schemeClr val="tx1"/>
                          </a:solidFill>
                          <a:effectLst/>
                          <a:latin typeface="+mn-lt"/>
                          <a:ea typeface="隶书" panose="02010509060101010101" pitchFamily="49" charset="-122"/>
                        </a:rPr>
                        <a:t>0</a:t>
                      </a:r>
                      <a:endParaRPr kumimoji="0" lang="en-US" altLang="zh-CN" sz="20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en-US" altLang="zh-CN" sz="2000" b="0" i="0" u="none" strike="noStrike" cap="none" normalizeH="0" baseline="0" dirty="0">
                          <a:ln>
                            <a:noFill/>
                          </a:ln>
                          <a:solidFill>
                            <a:schemeClr val="tx1"/>
                          </a:solidFill>
                          <a:effectLst/>
                          <a:latin typeface="+mn-lt"/>
                          <a:ea typeface="隶书" panose="02010509060101010101" pitchFamily="49" charset="-122"/>
                        </a:rPr>
                        <a:t>0</a:t>
                      </a:r>
                      <a:endParaRPr kumimoji="0" lang="en-US" altLang="zh-CN" sz="20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en-US" altLang="zh-CN" sz="2000" b="0" i="0" u="none" strike="noStrike" cap="none" normalizeH="0" baseline="0" dirty="0">
                          <a:ln>
                            <a:noFill/>
                          </a:ln>
                          <a:solidFill>
                            <a:schemeClr val="tx1"/>
                          </a:solidFill>
                          <a:effectLst/>
                          <a:latin typeface="+mn-lt"/>
                          <a:ea typeface="隶书" panose="02010509060101010101" pitchFamily="49" charset="-122"/>
                        </a:rPr>
                        <a:t>1</a:t>
                      </a:r>
                      <a:endParaRPr kumimoji="0" lang="en-US" altLang="zh-CN" sz="20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en-US" altLang="zh-CN" sz="2000" b="0" i="0" u="none" strike="noStrike" cap="none" normalizeH="0" baseline="0">
                          <a:ln>
                            <a:noFill/>
                          </a:ln>
                          <a:solidFill>
                            <a:schemeClr val="tx1"/>
                          </a:solidFill>
                          <a:effectLst/>
                          <a:latin typeface="+mn-lt"/>
                          <a:ea typeface="隶书" panose="02010509060101010101" pitchFamily="49" charset="-122"/>
                        </a:rPr>
                        <a:t>1</a:t>
                      </a:r>
                      <a:endParaRPr kumimoji="0" lang="en-US" altLang="zh-CN" sz="2000" b="0" i="0" u="none" strike="noStrike" cap="none" normalizeH="0" baseline="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en-US" altLang="zh-CN" sz="2000" b="0" i="0" u="none" strike="noStrike" cap="none" normalizeH="0" baseline="0" dirty="0">
                          <a:ln>
                            <a:noFill/>
                          </a:ln>
                          <a:solidFill>
                            <a:schemeClr val="tx1"/>
                          </a:solidFill>
                          <a:effectLst/>
                          <a:latin typeface="+mn-lt"/>
                          <a:ea typeface="隶书" panose="02010509060101010101" pitchFamily="49" charset="-122"/>
                        </a:rPr>
                        <a:t>0</a:t>
                      </a:r>
                      <a:endParaRPr kumimoji="0" lang="en-US" altLang="zh-CN" sz="20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en-US" altLang="zh-CN" sz="2000" b="0" i="0" u="none" strike="noStrike" cap="none" normalizeH="0" baseline="0" dirty="0">
                          <a:ln>
                            <a:noFill/>
                          </a:ln>
                          <a:solidFill>
                            <a:schemeClr val="tx1"/>
                          </a:solidFill>
                          <a:effectLst/>
                          <a:latin typeface="+mn-lt"/>
                          <a:ea typeface="隶书" panose="02010509060101010101" pitchFamily="49" charset="-122"/>
                        </a:rPr>
                        <a:t>1</a:t>
                      </a:r>
                      <a:endParaRPr kumimoji="0" lang="en-US" altLang="zh-CN" sz="20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en-US" altLang="zh-CN" sz="2000" b="0" i="0" u="none" strike="noStrike" cap="none" normalizeH="0" baseline="0" dirty="0">
                          <a:ln>
                            <a:noFill/>
                          </a:ln>
                          <a:solidFill>
                            <a:schemeClr val="tx1"/>
                          </a:solidFill>
                          <a:effectLst/>
                          <a:latin typeface="+mn-lt"/>
                          <a:ea typeface="隶书" panose="02010509060101010101" pitchFamily="49" charset="-122"/>
                        </a:rPr>
                        <a:t>1</a:t>
                      </a:r>
                      <a:endParaRPr kumimoji="0" lang="en-US" altLang="zh-CN" sz="20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en-US" altLang="zh-CN" sz="2000" b="0" i="0" u="none" strike="noStrike" cap="none" normalizeH="0" baseline="0" dirty="0">
                          <a:ln>
                            <a:noFill/>
                          </a:ln>
                          <a:solidFill>
                            <a:schemeClr val="tx1"/>
                          </a:solidFill>
                          <a:effectLst/>
                          <a:latin typeface="+mn-lt"/>
                          <a:ea typeface="隶书" panose="02010509060101010101" pitchFamily="49" charset="-122"/>
                        </a:rPr>
                        <a:t>1</a:t>
                      </a:r>
                      <a:endParaRPr kumimoji="0" lang="en-US" altLang="zh-CN" sz="20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r>
              <a:tr h="628874">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zh-CN" altLang="en-US" sz="2000" b="0" i="0" u="none" strike="noStrike" cap="none" normalizeH="0" baseline="0" dirty="0">
                          <a:ln>
                            <a:noFill/>
                          </a:ln>
                          <a:solidFill>
                            <a:schemeClr val="tx1"/>
                          </a:solidFill>
                          <a:effectLst/>
                          <a:latin typeface="+mn-lt"/>
                          <a:ea typeface="隶书" panose="02010509060101010101" pitchFamily="49" charset="-122"/>
                        </a:rPr>
                        <a:t>不搜索同步字符</a:t>
                      </a:r>
                      <a:endParaRPr kumimoji="0" lang="zh-CN" altLang="en-US" sz="20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zh-CN" altLang="en-US" sz="2000" b="0" i="0" u="none" strike="noStrike" cap="none" normalizeH="0" baseline="0" dirty="0">
                          <a:ln>
                            <a:noFill/>
                          </a:ln>
                          <a:solidFill>
                            <a:schemeClr val="tx1"/>
                          </a:solidFill>
                          <a:effectLst/>
                          <a:latin typeface="+mn-lt"/>
                          <a:ea typeface="隶书" panose="02010509060101010101" pitchFamily="49" charset="-122"/>
                        </a:rPr>
                        <a:t>不复位</a:t>
                      </a:r>
                      <a:endParaRPr kumimoji="0" lang="zh-CN" altLang="en-US" sz="20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en-US" altLang="zh-CN" sz="2000" b="0" i="0" u="none" strike="noStrike" cap="none" normalizeH="0" baseline="0">
                          <a:ln>
                            <a:noFill/>
                          </a:ln>
                          <a:solidFill>
                            <a:schemeClr val="tx1"/>
                          </a:solidFill>
                          <a:effectLst/>
                          <a:latin typeface="+mn-lt"/>
                          <a:ea typeface="隶书" panose="02010509060101010101" pitchFamily="49" charset="-122"/>
                        </a:rPr>
                        <a:t>RTS</a:t>
                      </a:r>
                      <a:r>
                        <a:rPr kumimoji="0" lang="zh-CN" altLang="en-US" sz="2000" b="0" i="0" u="none" strike="noStrike" cap="none" normalizeH="0" baseline="0">
                          <a:ln>
                            <a:noFill/>
                          </a:ln>
                          <a:solidFill>
                            <a:schemeClr val="tx1"/>
                          </a:solidFill>
                          <a:effectLst/>
                          <a:latin typeface="+mn-lt"/>
                          <a:ea typeface="隶书" panose="02010509060101010101" pitchFamily="49" charset="-122"/>
                        </a:rPr>
                        <a:t>＝</a:t>
                      </a:r>
                      <a:r>
                        <a:rPr kumimoji="0" lang="en-US" altLang="zh-CN" sz="2000" b="0" i="0" u="none" strike="noStrike" cap="none" normalizeH="0" baseline="0">
                          <a:ln>
                            <a:noFill/>
                          </a:ln>
                          <a:solidFill>
                            <a:schemeClr val="tx1"/>
                          </a:solidFill>
                          <a:effectLst/>
                          <a:latin typeface="+mn-lt"/>
                          <a:ea typeface="隶书" panose="02010509060101010101" pitchFamily="49" charset="-122"/>
                        </a:rPr>
                        <a:t>0</a:t>
                      </a:r>
                      <a:endParaRPr kumimoji="0" lang="en-US" altLang="zh-CN" sz="2000" b="0" i="0" u="none" strike="noStrike" cap="none" normalizeH="0" baseline="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zh-CN" altLang="en-US" sz="2000" b="0" i="0" u="none" strike="noStrike" cap="none" normalizeH="0" baseline="0" dirty="0">
                          <a:ln>
                            <a:noFill/>
                          </a:ln>
                          <a:solidFill>
                            <a:schemeClr val="tx1"/>
                          </a:solidFill>
                          <a:effectLst/>
                          <a:latin typeface="+mn-lt"/>
                          <a:ea typeface="隶书" panose="02010509060101010101" pitchFamily="49" charset="-122"/>
                        </a:rPr>
                        <a:t>出错状态复位</a:t>
                      </a:r>
                      <a:endParaRPr kumimoji="0" lang="zh-CN" altLang="en-US" sz="20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zh-CN" altLang="en-US" sz="2000" b="0" i="0" u="none" strike="noStrike" cap="none" normalizeH="0" baseline="0" dirty="0">
                          <a:ln>
                            <a:noFill/>
                          </a:ln>
                          <a:solidFill>
                            <a:schemeClr val="tx1"/>
                          </a:solidFill>
                          <a:effectLst/>
                          <a:latin typeface="+mn-lt"/>
                          <a:ea typeface="隶书" panose="02010509060101010101" pitchFamily="49" charset="-122"/>
                        </a:rPr>
                        <a:t>正常工作</a:t>
                      </a:r>
                      <a:endParaRPr kumimoji="0" lang="zh-CN" altLang="en-US" sz="20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en-US" altLang="zh-CN" sz="2000" b="0" i="0" u="none" strike="noStrike" cap="none" normalizeH="0" baseline="0" dirty="0" err="1">
                          <a:ln>
                            <a:noFill/>
                          </a:ln>
                          <a:solidFill>
                            <a:schemeClr val="tx1"/>
                          </a:solidFill>
                          <a:effectLst/>
                          <a:latin typeface="+mn-lt"/>
                          <a:ea typeface="隶书" panose="02010509060101010101" pitchFamily="49" charset="-122"/>
                        </a:rPr>
                        <a:t>RxE</a:t>
                      </a:r>
                      <a:r>
                        <a:rPr kumimoji="0" lang="zh-CN" altLang="en-US" sz="2000" b="0" i="0" u="none" strike="noStrike" cap="none" normalizeH="0" baseline="0" dirty="0">
                          <a:ln>
                            <a:noFill/>
                          </a:ln>
                          <a:solidFill>
                            <a:schemeClr val="tx1"/>
                          </a:solidFill>
                          <a:effectLst/>
                          <a:latin typeface="+mn-lt"/>
                          <a:ea typeface="隶书" panose="02010509060101010101" pitchFamily="49" charset="-122"/>
                        </a:rPr>
                        <a:t>＝</a:t>
                      </a:r>
                      <a:r>
                        <a:rPr kumimoji="0" lang="en-US" altLang="zh-CN" sz="2000" b="0" i="0" u="none" strike="noStrike" cap="none" normalizeH="0" baseline="0" dirty="0">
                          <a:ln>
                            <a:noFill/>
                          </a:ln>
                          <a:solidFill>
                            <a:schemeClr val="tx1"/>
                          </a:solidFill>
                          <a:effectLst/>
                          <a:latin typeface="+mn-lt"/>
                          <a:ea typeface="隶书" panose="02010509060101010101" pitchFamily="49" charset="-122"/>
                        </a:rPr>
                        <a:t>1</a:t>
                      </a:r>
                      <a:endParaRPr kumimoji="0" lang="en-US" altLang="zh-CN" sz="20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en-US" altLang="zh-CN" sz="2000" b="0" i="0" u="none" strike="noStrike" cap="none" normalizeH="0" baseline="0">
                          <a:ln>
                            <a:noFill/>
                          </a:ln>
                          <a:solidFill>
                            <a:schemeClr val="tx1"/>
                          </a:solidFill>
                          <a:effectLst/>
                          <a:latin typeface="+mn-lt"/>
                          <a:ea typeface="隶书" panose="02010509060101010101" pitchFamily="49" charset="-122"/>
                        </a:rPr>
                        <a:t>DTR</a:t>
                      </a:r>
                      <a:r>
                        <a:rPr kumimoji="0" lang="zh-CN" altLang="en-US" sz="2000" b="0" i="0" u="none" strike="noStrike" cap="none" normalizeH="0" baseline="0">
                          <a:ln>
                            <a:noFill/>
                          </a:ln>
                          <a:solidFill>
                            <a:schemeClr val="tx1"/>
                          </a:solidFill>
                          <a:effectLst/>
                          <a:latin typeface="+mn-lt"/>
                          <a:ea typeface="隶书" panose="02010509060101010101" pitchFamily="49" charset="-122"/>
                        </a:rPr>
                        <a:t>＝</a:t>
                      </a:r>
                      <a:r>
                        <a:rPr kumimoji="0" lang="en-US" altLang="zh-CN" sz="2000" b="0" i="0" u="none" strike="noStrike" cap="none" normalizeH="0" baseline="0">
                          <a:ln>
                            <a:noFill/>
                          </a:ln>
                          <a:solidFill>
                            <a:schemeClr val="tx1"/>
                          </a:solidFill>
                          <a:effectLst/>
                          <a:latin typeface="+mn-lt"/>
                          <a:ea typeface="隶书" panose="02010509060101010101" pitchFamily="49" charset="-122"/>
                        </a:rPr>
                        <a:t>0</a:t>
                      </a:r>
                      <a:endParaRPr kumimoji="0" lang="en-US" altLang="zh-CN" sz="2000" b="0" i="0" u="none" strike="noStrike" cap="none" normalizeH="0" baseline="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en-US" altLang="zh-CN" sz="2000" b="0" i="0" u="none" strike="noStrike" cap="none" normalizeH="0" baseline="0" dirty="0" err="1">
                          <a:ln>
                            <a:noFill/>
                          </a:ln>
                          <a:solidFill>
                            <a:schemeClr val="tx1"/>
                          </a:solidFill>
                          <a:effectLst/>
                          <a:latin typeface="+mn-lt"/>
                          <a:ea typeface="隶书" panose="02010509060101010101" pitchFamily="49" charset="-122"/>
                        </a:rPr>
                        <a:t>TxE</a:t>
                      </a:r>
                      <a:r>
                        <a:rPr kumimoji="0" lang="zh-CN" altLang="en-US" sz="2000" b="0" i="0" u="none" strike="noStrike" cap="none" normalizeH="0" baseline="0" dirty="0">
                          <a:ln>
                            <a:noFill/>
                          </a:ln>
                          <a:solidFill>
                            <a:schemeClr val="tx1"/>
                          </a:solidFill>
                          <a:effectLst/>
                          <a:latin typeface="+mn-lt"/>
                          <a:ea typeface="隶书" panose="02010509060101010101" pitchFamily="49" charset="-122"/>
                        </a:rPr>
                        <a:t>＝</a:t>
                      </a:r>
                      <a:r>
                        <a:rPr kumimoji="0" lang="en-US" altLang="zh-CN" sz="2000" b="0" i="0" u="none" strike="noStrike" cap="none" normalizeH="0" baseline="0" dirty="0">
                          <a:ln>
                            <a:noFill/>
                          </a:ln>
                          <a:solidFill>
                            <a:schemeClr val="tx1"/>
                          </a:solidFill>
                          <a:effectLst/>
                          <a:latin typeface="+mn-lt"/>
                          <a:ea typeface="隶书" panose="02010509060101010101" pitchFamily="49" charset="-122"/>
                        </a:rPr>
                        <a:t>1</a:t>
                      </a:r>
                      <a:endParaRPr kumimoji="0" lang="en-US" altLang="zh-CN" sz="20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r>
            </a:tbl>
          </a:graphicData>
        </a:graphic>
      </p:graphicFrame>
      <p:sp>
        <p:nvSpPr>
          <p:cNvPr id="403666" name="Rectangle 210"/>
          <p:cNvSpPr>
            <a:spLocks noChangeArrowheads="1"/>
          </p:cNvSpPr>
          <p:nvPr/>
        </p:nvSpPr>
        <p:spPr bwMode="auto">
          <a:xfrm>
            <a:off x="5184068" y="4761148"/>
            <a:ext cx="3780420" cy="1323439"/>
          </a:xfrm>
          <a:prstGeom prst="rect">
            <a:avLst/>
          </a:prstGeom>
          <a:noFill/>
          <a:ln w="9525" algn="ctr">
            <a:noFill/>
            <a:miter lim="800000"/>
          </a:ln>
          <a:effectLst/>
        </p:spPr>
        <p:txBody>
          <a:bodyPr wrap="square">
            <a:spAutoFit/>
          </a:bodyPr>
          <a:lstStyle/>
          <a:p>
            <a:r>
              <a:rPr lang="en-US" altLang="zh-CN" sz="2000" b="0" dirty="0"/>
              <a:t>MOV AL, 0FAH</a:t>
            </a:r>
            <a:r>
              <a:rPr lang="zh-CN" altLang="en-US" sz="2000" b="0" dirty="0"/>
              <a:t>；送模式控制字</a:t>
            </a:r>
            <a:endParaRPr lang="zh-CN" altLang="en-US" sz="2000" b="0" dirty="0"/>
          </a:p>
          <a:p>
            <a:r>
              <a:rPr lang="en-US" altLang="zh-CN" sz="2000" b="0" dirty="0"/>
              <a:t>OUT 53H, AL</a:t>
            </a:r>
            <a:endParaRPr lang="en-US" altLang="zh-CN" sz="2000" b="0" dirty="0"/>
          </a:p>
          <a:p>
            <a:r>
              <a:rPr lang="en-US" altLang="zh-CN" sz="2000" b="0" dirty="0"/>
              <a:t>MOV AL, 37H</a:t>
            </a:r>
            <a:r>
              <a:rPr lang="zh-CN" altLang="en-US" sz="2000" b="0" dirty="0"/>
              <a:t>；送操作命令字           </a:t>
            </a:r>
            <a:endParaRPr lang="en-US" altLang="zh-CN" sz="2000" b="0" dirty="0"/>
          </a:p>
          <a:p>
            <a:r>
              <a:rPr lang="en-US" altLang="zh-CN" sz="2000" b="0" dirty="0"/>
              <a:t>OUT 53H, AL </a:t>
            </a:r>
            <a:endParaRPr lang="en-US" altLang="zh-CN" sz="2000" b="0" dirty="0"/>
          </a:p>
        </p:txBody>
      </p:sp>
      <p:sp>
        <p:nvSpPr>
          <p:cNvPr id="403668" name="Line 212"/>
          <p:cNvSpPr>
            <a:spLocks noChangeShapeType="1"/>
          </p:cNvSpPr>
          <p:nvPr/>
        </p:nvSpPr>
        <p:spPr bwMode="auto">
          <a:xfrm>
            <a:off x="7020272" y="2240868"/>
            <a:ext cx="431800" cy="0"/>
          </a:xfrm>
          <a:prstGeom prst="line">
            <a:avLst/>
          </a:prstGeom>
          <a:noFill/>
          <a:ln w="9525">
            <a:solidFill>
              <a:schemeClr val="tx1"/>
            </a:solidFill>
            <a:round/>
          </a:ln>
          <a:effectLst/>
        </p:spPr>
        <p:txBody>
          <a:bodyPr/>
          <a:lstStyle/>
          <a:p>
            <a:endParaRPr lang="zh-CN" altLang="en-US"/>
          </a:p>
        </p:txBody>
      </p:sp>
      <p:sp>
        <p:nvSpPr>
          <p:cNvPr id="11" name="Rectangle 4"/>
          <p:cNvSpPr>
            <a:spLocks noChangeArrowheads="1"/>
          </p:cNvSpPr>
          <p:nvPr/>
        </p:nvSpPr>
        <p:spPr bwMode="auto">
          <a:xfrm>
            <a:off x="467544" y="368660"/>
            <a:ext cx="7848600" cy="492443"/>
          </a:xfrm>
          <a:prstGeom prst="rect">
            <a:avLst/>
          </a:prstGeom>
          <a:noFill/>
          <a:ln w="9525" algn="ctr">
            <a:noFill/>
            <a:miter lim="800000"/>
          </a:ln>
          <a:effectLst/>
        </p:spPr>
        <p:txBody>
          <a:bodyPr>
            <a:spAutoFit/>
          </a:bodyPr>
          <a:lstStyle/>
          <a:p>
            <a:r>
              <a:rPr lang="zh-CN" altLang="en-US" sz="2600" kern="0" dirty="0">
                <a:solidFill>
                  <a:schemeClr val="tx2"/>
                </a:solidFill>
                <a:effectLst>
                  <a:outerShdw blurRad="38100" dist="38100" dir="2700000" algn="tl">
                    <a:srgbClr val="C0C0C0"/>
                  </a:outerShdw>
                </a:effectLst>
                <a:latin typeface="+mj-lt"/>
                <a:cs typeface="+mj-cs"/>
              </a:rPr>
              <a:t>可编程串行通信接口</a:t>
            </a:r>
            <a:r>
              <a:rPr lang="en-US" altLang="zh-CN" sz="2600" kern="0" dirty="0">
                <a:solidFill>
                  <a:schemeClr val="tx2"/>
                </a:solidFill>
                <a:effectLst>
                  <a:outerShdw blurRad="38100" dist="38100" dir="2700000" algn="tl">
                    <a:srgbClr val="C0C0C0"/>
                  </a:outerShdw>
                </a:effectLst>
                <a:latin typeface="+mj-lt"/>
                <a:cs typeface="+mj-cs"/>
              </a:rPr>
              <a:t>8251A</a:t>
            </a:r>
            <a:endParaRPr lang="en-US" altLang="zh-CN" sz="2600" kern="0" dirty="0">
              <a:solidFill>
                <a:schemeClr val="tx2"/>
              </a:solidFill>
              <a:effectLst>
                <a:outerShdw blurRad="38100" dist="38100" dir="2700000" algn="tl">
                  <a:srgbClr val="C0C0C0"/>
                </a:outerShdw>
              </a:effectLst>
              <a:latin typeface="+mj-lt"/>
              <a:cs typeface="+mj-cs"/>
            </a:endParaRPr>
          </a:p>
        </p:txBody>
      </p:sp>
      <p:pic>
        <p:nvPicPr>
          <p:cNvPr id="4" name="图片 3"/>
          <p:cNvPicPr>
            <a:picLocks noChangeAspect="1"/>
          </p:cNvPicPr>
          <p:nvPr/>
        </p:nvPicPr>
        <p:blipFill>
          <a:blip r:embed="rId1"/>
          <a:stretch>
            <a:fillRect/>
          </a:stretch>
        </p:blipFill>
        <p:spPr>
          <a:xfrm>
            <a:off x="310270" y="3176972"/>
            <a:ext cx="4697542" cy="3060340"/>
          </a:xfrm>
          <a:prstGeom prst="rect">
            <a:avLst/>
          </a:prstGeom>
        </p:spPr>
      </p:pic>
      <p:sp>
        <p:nvSpPr>
          <p:cNvPr id="15" name="Line 212"/>
          <p:cNvSpPr>
            <a:spLocks noChangeShapeType="1"/>
          </p:cNvSpPr>
          <p:nvPr/>
        </p:nvSpPr>
        <p:spPr bwMode="auto">
          <a:xfrm>
            <a:off x="3239852" y="2240868"/>
            <a:ext cx="431800" cy="0"/>
          </a:xfrm>
          <a:prstGeom prst="line">
            <a:avLst/>
          </a:prstGeom>
          <a:noFill/>
          <a:ln w="9525">
            <a:solidFill>
              <a:schemeClr val="tx1"/>
            </a:solidFill>
            <a:round/>
          </a:ln>
          <a:effec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366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366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036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666" grpId="0"/>
      <p:bldP spid="403668" grpId="0" animBg="1"/>
      <p:bldP spid="1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2"/>
          <p:cNvSpPr>
            <a:spLocks noChangeArrowheads="1"/>
          </p:cNvSpPr>
          <p:nvPr/>
        </p:nvSpPr>
        <p:spPr bwMode="auto">
          <a:xfrm>
            <a:off x="539750" y="944724"/>
            <a:ext cx="7848600" cy="1015663"/>
          </a:xfrm>
          <a:prstGeom prst="rect">
            <a:avLst/>
          </a:prstGeom>
          <a:noFill/>
          <a:ln w="9525" algn="ctr">
            <a:noFill/>
            <a:miter lim="800000"/>
          </a:ln>
          <a:effectLst/>
        </p:spPr>
        <p:txBody>
          <a:bodyPr>
            <a:spAutoFit/>
          </a:bodyPr>
          <a:lstStyle/>
          <a:p>
            <a:pPr algn="just"/>
            <a:r>
              <a:rPr lang="zh-CN" altLang="en-US" sz="2000" dirty="0"/>
              <a:t>例：同步模式下的初始化程序。设</a:t>
            </a:r>
            <a:r>
              <a:rPr lang="en-US" altLang="zh-CN" sz="2000" dirty="0"/>
              <a:t>8251A</a:t>
            </a:r>
            <a:r>
              <a:rPr lang="zh-CN" altLang="en-US" sz="2000" dirty="0"/>
              <a:t>控制和状态口地址为</a:t>
            </a:r>
            <a:r>
              <a:rPr lang="en-US" altLang="zh-CN" sz="2000" dirty="0"/>
              <a:t>53H</a:t>
            </a:r>
            <a:r>
              <a:rPr lang="zh-CN" altLang="en-US" sz="2000" dirty="0"/>
              <a:t>，内同步，</a:t>
            </a:r>
            <a:r>
              <a:rPr lang="en-US" altLang="zh-CN" sz="2000" dirty="0"/>
              <a:t>7</a:t>
            </a:r>
            <a:r>
              <a:rPr lang="zh-CN" altLang="en-US" sz="2000" dirty="0"/>
              <a:t>位数据，奇校验，</a:t>
            </a:r>
            <a:r>
              <a:rPr lang="en-US" altLang="zh-CN" sz="2000" dirty="0"/>
              <a:t>2</a:t>
            </a:r>
            <a:r>
              <a:rPr lang="zh-CN" altLang="en-US" sz="2000" dirty="0"/>
              <a:t>个同步字符为</a:t>
            </a:r>
            <a:r>
              <a:rPr lang="en-US" altLang="zh-CN" sz="2000" dirty="0"/>
              <a:t>16H</a:t>
            </a:r>
            <a:r>
              <a:rPr lang="zh-CN" altLang="en-US" sz="2000" dirty="0"/>
              <a:t>。</a:t>
            </a:r>
            <a:endParaRPr lang="en-US" altLang="zh-CN" sz="2000" dirty="0"/>
          </a:p>
          <a:p>
            <a:pPr algn="just"/>
            <a:r>
              <a:rPr lang="zh-CN" altLang="en-US" sz="2000" dirty="0"/>
              <a:t>则</a:t>
            </a:r>
            <a:r>
              <a:rPr lang="zh-CN" altLang="en-US" sz="2000" dirty="0">
                <a:solidFill>
                  <a:srgbClr val="0000FF"/>
                </a:solidFill>
              </a:rPr>
              <a:t>模式控制字：</a:t>
            </a:r>
            <a:endParaRPr lang="zh-CN" altLang="en-US" sz="2000" dirty="0">
              <a:solidFill>
                <a:srgbClr val="0000FF"/>
              </a:solidFill>
            </a:endParaRPr>
          </a:p>
        </p:txBody>
      </p:sp>
      <p:graphicFrame>
        <p:nvGraphicFramePr>
          <p:cNvPr id="402523" name="Group 91"/>
          <p:cNvGraphicFramePr>
            <a:graphicFrameLocks noGrp="1"/>
          </p:cNvGraphicFramePr>
          <p:nvPr/>
        </p:nvGraphicFramePr>
        <p:xfrm>
          <a:off x="575556" y="2024844"/>
          <a:ext cx="7812795" cy="851535"/>
        </p:xfrm>
        <a:graphic>
          <a:graphicData uri="http://schemas.openxmlformats.org/drawingml/2006/table">
            <a:tbl>
              <a:tblPr/>
              <a:tblGrid>
                <a:gridCol w="1604561"/>
                <a:gridCol w="1068920"/>
                <a:gridCol w="1071279"/>
                <a:gridCol w="1068923"/>
                <a:gridCol w="1177463"/>
                <a:gridCol w="1821649"/>
              </a:tblGrid>
              <a:tr h="295275">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1800" b="0" i="0" u="none" strike="noStrike" cap="none" normalizeH="0" baseline="0" dirty="0">
                          <a:ln>
                            <a:noFill/>
                          </a:ln>
                          <a:solidFill>
                            <a:schemeClr val="tx1"/>
                          </a:solidFill>
                          <a:effectLst/>
                          <a:latin typeface="+mn-lt"/>
                          <a:ea typeface="隶书" panose="02010509060101010101" pitchFamily="49" charset="-122"/>
                        </a:rPr>
                        <a:t>0</a:t>
                      </a:r>
                      <a:endParaRPr kumimoji="0" lang="en-US" altLang="zh-CN" sz="18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1800" b="0" i="0" u="none" strike="noStrike" cap="none" normalizeH="0" baseline="0">
                          <a:ln>
                            <a:noFill/>
                          </a:ln>
                          <a:solidFill>
                            <a:schemeClr val="tx1"/>
                          </a:solidFill>
                          <a:effectLst/>
                          <a:latin typeface="+mn-lt"/>
                          <a:ea typeface="隶书" panose="02010509060101010101" pitchFamily="49" charset="-122"/>
                        </a:rPr>
                        <a:t>0</a:t>
                      </a:r>
                      <a:endParaRPr kumimoji="0" lang="en-US" altLang="zh-CN" sz="1800" b="0" i="0" u="none" strike="noStrike" cap="none" normalizeH="0" baseline="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1800" b="0" i="0" u="none" strike="noStrike" cap="none" normalizeH="0" baseline="0" dirty="0">
                          <a:ln>
                            <a:noFill/>
                          </a:ln>
                          <a:solidFill>
                            <a:schemeClr val="tx1"/>
                          </a:solidFill>
                          <a:effectLst/>
                          <a:latin typeface="+mn-lt"/>
                          <a:ea typeface="隶书" panose="02010509060101010101" pitchFamily="49" charset="-122"/>
                        </a:rPr>
                        <a:t>0</a:t>
                      </a:r>
                      <a:endParaRPr kumimoji="0" lang="en-US" altLang="zh-CN" sz="18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1800" b="0" i="0" u="none" strike="noStrike" cap="none" normalizeH="0" baseline="0">
                          <a:ln>
                            <a:noFill/>
                          </a:ln>
                          <a:solidFill>
                            <a:schemeClr val="tx1"/>
                          </a:solidFill>
                          <a:effectLst/>
                          <a:latin typeface="+mn-lt"/>
                          <a:ea typeface="隶书" panose="02010509060101010101" pitchFamily="49" charset="-122"/>
                        </a:rPr>
                        <a:t>1</a:t>
                      </a:r>
                      <a:endParaRPr kumimoji="0" lang="en-US" altLang="zh-CN" sz="1800" b="0" i="0" u="none" strike="noStrike" cap="none" normalizeH="0" baseline="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1800" b="0" i="0" u="none" strike="noStrike" cap="none" normalizeH="0" baseline="0">
                          <a:ln>
                            <a:noFill/>
                          </a:ln>
                          <a:solidFill>
                            <a:schemeClr val="tx1"/>
                          </a:solidFill>
                          <a:effectLst/>
                          <a:latin typeface="+mn-lt"/>
                          <a:ea typeface="隶书" panose="02010509060101010101" pitchFamily="49" charset="-122"/>
                        </a:rPr>
                        <a:t>10</a:t>
                      </a:r>
                      <a:endParaRPr kumimoji="0" lang="en-US" altLang="zh-CN" sz="1800" b="0" i="0" u="none" strike="noStrike" cap="none" normalizeH="0" baseline="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1800" b="0" i="0" u="none" strike="noStrike" cap="none" normalizeH="0" baseline="0" dirty="0">
                          <a:ln>
                            <a:noFill/>
                          </a:ln>
                          <a:solidFill>
                            <a:schemeClr val="tx1"/>
                          </a:solidFill>
                          <a:effectLst/>
                          <a:latin typeface="+mn-lt"/>
                          <a:ea typeface="隶书" panose="02010509060101010101" pitchFamily="49" charset="-122"/>
                        </a:rPr>
                        <a:t>00</a:t>
                      </a:r>
                      <a:endParaRPr kumimoji="0" lang="en-US" altLang="zh-CN" sz="18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r>
              <a:tr h="485775">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en-US" altLang="zh-CN" sz="1800" b="0" i="0" u="none" strike="noStrike" cap="none" normalizeH="0" baseline="0" dirty="0">
                          <a:ln>
                            <a:noFill/>
                          </a:ln>
                          <a:solidFill>
                            <a:schemeClr val="tx1"/>
                          </a:solidFill>
                          <a:effectLst/>
                          <a:latin typeface="+mn-lt"/>
                          <a:ea typeface="隶书" panose="02010509060101010101" pitchFamily="49" charset="-122"/>
                        </a:rPr>
                        <a:t>2</a:t>
                      </a:r>
                      <a:r>
                        <a:rPr kumimoji="0" lang="zh-CN" altLang="en-US" sz="1800" b="0" i="0" u="none" strike="noStrike" cap="none" normalizeH="0" baseline="0" dirty="0">
                          <a:ln>
                            <a:noFill/>
                          </a:ln>
                          <a:solidFill>
                            <a:schemeClr val="tx1"/>
                          </a:solidFill>
                          <a:effectLst/>
                          <a:latin typeface="+mn-lt"/>
                          <a:ea typeface="隶书" panose="02010509060101010101" pitchFamily="49" charset="-122"/>
                        </a:rPr>
                        <a:t>个同步字符</a:t>
                      </a:r>
                      <a:endParaRPr kumimoji="0" lang="zh-CN" altLang="en-US" sz="18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zh-CN" altLang="en-US" sz="1800" b="0" i="0" u="none" strike="noStrike" cap="none" normalizeH="0" baseline="0">
                          <a:ln>
                            <a:noFill/>
                          </a:ln>
                          <a:solidFill>
                            <a:schemeClr val="tx1"/>
                          </a:solidFill>
                          <a:effectLst/>
                          <a:latin typeface="+mn-lt"/>
                          <a:ea typeface="隶书" panose="02010509060101010101" pitchFamily="49" charset="-122"/>
                        </a:rPr>
                        <a:t>内同步</a:t>
                      </a:r>
                      <a:endParaRPr kumimoji="0" lang="zh-CN" altLang="en-US" sz="1800" b="0" i="0" u="none" strike="noStrike" cap="none" normalizeH="0" baseline="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zh-CN" altLang="en-US" sz="1800" b="0" i="0" u="none" strike="noStrike" cap="none" normalizeH="0" baseline="0" dirty="0">
                          <a:ln>
                            <a:noFill/>
                          </a:ln>
                          <a:solidFill>
                            <a:schemeClr val="tx1"/>
                          </a:solidFill>
                          <a:effectLst/>
                          <a:latin typeface="+mn-lt"/>
                          <a:ea typeface="隶书" panose="02010509060101010101" pitchFamily="49" charset="-122"/>
                        </a:rPr>
                        <a:t>奇校验</a:t>
                      </a:r>
                      <a:endParaRPr kumimoji="0" lang="zh-CN" altLang="en-US" sz="18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zh-CN" altLang="en-US" sz="1800" b="0" i="0" u="none" strike="noStrike" cap="none" normalizeH="0" baseline="0">
                          <a:ln>
                            <a:noFill/>
                          </a:ln>
                          <a:solidFill>
                            <a:schemeClr val="tx1"/>
                          </a:solidFill>
                          <a:effectLst/>
                          <a:latin typeface="+mn-lt"/>
                          <a:ea typeface="隶书" panose="02010509060101010101" pitchFamily="49" charset="-122"/>
                        </a:rPr>
                        <a:t>有校验</a:t>
                      </a:r>
                      <a:endParaRPr kumimoji="0" lang="zh-CN" altLang="en-US" sz="1800" b="0" i="0" u="none" strike="noStrike" cap="none" normalizeH="0" baseline="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en-US" altLang="zh-CN" sz="1800" b="0" i="0" u="none" strike="noStrike" cap="none" normalizeH="0" baseline="0">
                          <a:ln>
                            <a:noFill/>
                          </a:ln>
                          <a:solidFill>
                            <a:schemeClr val="tx1"/>
                          </a:solidFill>
                          <a:effectLst/>
                          <a:latin typeface="+mn-lt"/>
                          <a:ea typeface="隶书" panose="02010509060101010101" pitchFamily="49" charset="-122"/>
                        </a:rPr>
                        <a:t>7</a:t>
                      </a:r>
                      <a:r>
                        <a:rPr kumimoji="0" lang="zh-CN" altLang="en-US" sz="1800" b="0" i="0" u="none" strike="noStrike" cap="none" normalizeH="0" baseline="0">
                          <a:ln>
                            <a:noFill/>
                          </a:ln>
                          <a:solidFill>
                            <a:schemeClr val="tx1"/>
                          </a:solidFill>
                          <a:effectLst/>
                          <a:latin typeface="+mn-lt"/>
                          <a:ea typeface="隶书" panose="02010509060101010101" pitchFamily="49" charset="-122"/>
                        </a:rPr>
                        <a:t>位数据</a:t>
                      </a:r>
                      <a:endParaRPr kumimoji="0" lang="zh-CN" altLang="en-US" sz="1800" b="0" i="0" u="none" strike="noStrike" cap="none" normalizeH="0" baseline="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zh-CN" altLang="en-US" sz="1800" b="0" i="0" u="none" strike="noStrike" cap="none" normalizeH="0" baseline="0" dirty="0">
                          <a:ln>
                            <a:noFill/>
                          </a:ln>
                          <a:solidFill>
                            <a:schemeClr val="tx1"/>
                          </a:solidFill>
                          <a:effectLst/>
                          <a:latin typeface="+mn-lt"/>
                          <a:ea typeface="隶书" panose="02010509060101010101" pitchFamily="49" charset="-122"/>
                        </a:rPr>
                        <a:t>同步模式</a:t>
                      </a:r>
                      <a:endParaRPr kumimoji="0" lang="zh-CN" altLang="en-US" sz="18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r>
            </a:tbl>
          </a:graphicData>
        </a:graphic>
      </p:graphicFrame>
      <p:sp>
        <p:nvSpPr>
          <p:cNvPr id="402464" name="Rectangle 32"/>
          <p:cNvSpPr>
            <a:spLocks noChangeArrowheads="1"/>
          </p:cNvSpPr>
          <p:nvPr/>
        </p:nvSpPr>
        <p:spPr bwMode="auto">
          <a:xfrm>
            <a:off x="831857" y="2960948"/>
            <a:ext cx="2174862" cy="400110"/>
          </a:xfrm>
          <a:prstGeom prst="rect">
            <a:avLst/>
          </a:prstGeom>
          <a:noFill/>
          <a:ln w="9525" algn="ctr">
            <a:noFill/>
            <a:miter lim="800000"/>
          </a:ln>
          <a:effectLst/>
        </p:spPr>
        <p:txBody>
          <a:bodyPr wrap="square">
            <a:spAutoFit/>
          </a:bodyPr>
          <a:lstStyle/>
          <a:p>
            <a:r>
              <a:rPr lang="zh-CN" altLang="en-US" sz="2000" dirty="0">
                <a:solidFill>
                  <a:srgbClr val="0000FF"/>
                </a:solidFill>
              </a:rPr>
              <a:t>操作命令字：</a:t>
            </a:r>
            <a:endParaRPr lang="zh-CN" altLang="en-US" sz="2000" dirty="0">
              <a:solidFill>
                <a:srgbClr val="0000FF"/>
              </a:solidFill>
            </a:endParaRPr>
          </a:p>
        </p:txBody>
      </p:sp>
      <p:graphicFrame>
        <p:nvGraphicFramePr>
          <p:cNvPr id="402465" name="Group 33"/>
          <p:cNvGraphicFramePr>
            <a:graphicFrameLocks noGrp="1"/>
          </p:cNvGraphicFramePr>
          <p:nvPr/>
        </p:nvGraphicFramePr>
        <p:xfrm>
          <a:off x="539751" y="3382956"/>
          <a:ext cx="7848600" cy="914400"/>
        </p:xfrm>
        <a:graphic>
          <a:graphicData uri="http://schemas.openxmlformats.org/drawingml/2006/table">
            <a:tbl>
              <a:tblPr/>
              <a:tblGrid>
                <a:gridCol w="1007913"/>
                <a:gridCol w="900100"/>
                <a:gridCol w="972108"/>
                <a:gridCol w="1116124"/>
                <a:gridCol w="792088"/>
                <a:gridCol w="1044116"/>
                <a:gridCol w="1008112"/>
                <a:gridCol w="1008039"/>
              </a:tblGrid>
              <a:tr h="180975">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en-US" altLang="zh-CN" sz="2400" b="0" i="0" u="none" strike="noStrike" cap="none" normalizeH="0" baseline="0" dirty="0">
                          <a:ln>
                            <a:noFill/>
                          </a:ln>
                          <a:solidFill>
                            <a:schemeClr val="tx1"/>
                          </a:solidFill>
                          <a:effectLst/>
                          <a:latin typeface="+mn-lt"/>
                          <a:ea typeface="隶书" panose="02010509060101010101" pitchFamily="49" charset="-122"/>
                        </a:rPr>
                        <a:t>1</a:t>
                      </a:r>
                      <a:endParaRPr kumimoji="0" lang="en-US" altLang="zh-CN" sz="24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en-US" altLang="zh-CN" sz="2400" b="0" i="0" u="none" strike="noStrike" cap="none" normalizeH="0" baseline="0">
                          <a:ln>
                            <a:noFill/>
                          </a:ln>
                          <a:solidFill>
                            <a:schemeClr val="tx1"/>
                          </a:solidFill>
                          <a:effectLst/>
                          <a:latin typeface="+mn-lt"/>
                          <a:ea typeface="隶书" panose="02010509060101010101" pitchFamily="49" charset="-122"/>
                        </a:rPr>
                        <a:t>0</a:t>
                      </a:r>
                      <a:endParaRPr kumimoji="0" lang="en-US" altLang="zh-CN" sz="2400" b="0" i="0" u="none" strike="noStrike" cap="none" normalizeH="0" baseline="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en-US" altLang="zh-CN" sz="2400" b="0" i="0" u="none" strike="noStrike" cap="none" normalizeH="0" baseline="0" dirty="0">
                          <a:ln>
                            <a:noFill/>
                          </a:ln>
                          <a:solidFill>
                            <a:schemeClr val="tx1"/>
                          </a:solidFill>
                          <a:effectLst/>
                          <a:latin typeface="+mn-lt"/>
                          <a:ea typeface="隶书" panose="02010509060101010101" pitchFamily="49" charset="-122"/>
                        </a:rPr>
                        <a:t>1</a:t>
                      </a:r>
                      <a:endParaRPr kumimoji="0" lang="en-US" altLang="zh-CN" sz="24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en-US" altLang="zh-CN" sz="2400" b="0" i="0" u="none" strike="noStrike" cap="none" normalizeH="0" baseline="0">
                          <a:ln>
                            <a:noFill/>
                          </a:ln>
                          <a:solidFill>
                            <a:schemeClr val="tx1"/>
                          </a:solidFill>
                          <a:effectLst/>
                          <a:latin typeface="+mn-lt"/>
                          <a:ea typeface="隶书" panose="02010509060101010101" pitchFamily="49" charset="-122"/>
                        </a:rPr>
                        <a:t>1</a:t>
                      </a:r>
                      <a:endParaRPr kumimoji="0" lang="en-US" altLang="zh-CN" sz="2400" b="0" i="0" u="none" strike="noStrike" cap="none" normalizeH="0" baseline="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en-US" altLang="zh-CN" sz="2400" b="0" i="0" u="none" strike="noStrike" cap="none" normalizeH="0" baseline="0" dirty="0">
                          <a:ln>
                            <a:noFill/>
                          </a:ln>
                          <a:solidFill>
                            <a:schemeClr val="tx1"/>
                          </a:solidFill>
                          <a:effectLst/>
                          <a:latin typeface="+mn-lt"/>
                          <a:ea typeface="隶书" panose="02010509060101010101" pitchFamily="49" charset="-122"/>
                        </a:rPr>
                        <a:t>0</a:t>
                      </a:r>
                      <a:endParaRPr kumimoji="0" lang="en-US" altLang="zh-CN" sz="24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en-US" altLang="zh-CN" sz="2400" b="0" i="0" u="none" strike="noStrike" cap="none" normalizeH="0" baseline="0">
                          <a:ln>
                            <a:noFill/>
                          </a:ln>
                          <a:solidFill>
                            <a:schemeClr val="tx1"/>
                          </a:solidFill>
                          <a:effectLst/>
                          <a:latin typeface="+mn-lt"/>
                          <a:ea typeface="隶书" panose="02010509060101010101" pitchFamily="49" charset="-122"/>
                        </a:rPr>
                        <a:t>1</a:t>
                      </a:r>
                      <a:endParaRPr kumimoji="0" lang="en-US" altLang="zh-CN" sz="2400" b="0" i="0" u="none" strike="noStrike" cap="none" normalizeH="0" baseline="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en-US" altLang="zh-CN" sz="2400" b="0" i="0" u="none" strike="noStrike" cap="none" normalizeH="0" baseline="0">
                          <a:ln>
                            <a:noFill/>
                          </a:ln>
                          <a:solidFill>
                            <a:schemeClr val="tx1"/>
                          </a:solidFill>
                          <a:effectLst/>
                          <a:latin typeface="+mn-lt"/>
                          <a:ea typeface="隶书" panose="02010509060101010101" pitchFamily="49" charset="-122"/>
                        </a:rPr>
                        <a:t>1</a:t>
                      </a:r>
                      <a:endParaRPr kumimoji="0" lang="en-US" altLang="zh-CN" sz="2400" b="0" i="0" u="none" strike="noStrike" cap="none" normalizeH="0" baseline="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en-US" altLang="zh-CN" sz="2400" b="0" i="0" u="none" strike="noStrike" cap="none" normalizeH="0" baseline="0">
                          <a:ln>
                            <a:noFill/>
                          </a:ln>
                          <a:solidFill>
                            <a:schemeClr val="tx1"/>
                          </a:solidFill>
                          <a:effectLst/>
                          <a:latin typeface="+mn-lt"/>
                          <a:ea typeface="隶书" panose="02010509060101010101" pitchFamily="49" charset="-122"/>
                        </a:rPr>
                        <a:t>1</a:t>
                      </a:r>
                      <a:endParaRPr kumimoji="0" lang="en-US" altLang="zh-CN" sz="2400" b="0" i="0" u="none" strike="noStrike" cap="none" normalizeH="0" baseline="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r>
              <a:tr h="488950">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zh-CN" altLang="en-US" sz="1800" b="0" i="0" u="none" strike="noStrike" cap="none" normalizeH="0" baseline="0" dirty="0">
                          <a:ln>
                            <a:noFill/>
                          </a:ln>
                          <a:solidFill>
                            <a:schemeClr val="tx1"/>
                          </a:solidFill>
                          <a:effectLst/>
                          <a:latin typeface="+mn-lt"/>
                          <a:ea typeface="隶书" panose="02010509060101010101" pitchFamily="49" charset="-122"/>
                        </a:rPr>
                        <a:t>同步字符搜索</a:t>
                      </a:r>
                      <a:endParaRPr kumimoji="0" lang="zh-CN" altLang="en-US" sz="18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zh-CN" altLang="en-US" sz="1800" b="0" i="0" u="none" strike="noStrike" cap="none" normalizeH="0" baseline="0" dirty="0">
                          <a:ln>
                            <a:noFill/>
                          </a:ln>
                          <a:solidFill>
                            <a:schemeClr val="tx1"/>
                          </a:solidFill>
                          <a:effectLst/>
                          <a:latin typeface="+mn-lt"/>
                          <a:ea typeface="隶书" panose="02010509060101010101" pitchFamily="49" charset="-122"/>
                        </a:rPr>
                        <a:t>不复位</a:t>
                      </a:r>
                      <a:endParaRPr kumimoji="0" lang="zh-CN" altLang="en-US" sz="18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en-US" altLang="zh-CN" sz="1800" b="0" i="0" u="none" strike="noStrike" cap="none" normalizeH="0" baseline="0" dirty="0">
                          <a:ln>
                            <a:noFill/>
                          </a:ln>
                          <a:solidFill>
                            <a:schemeClr val="tx1"/>
                          </a:solidFill>
                          <a:effectLst/>
                          <a:latin typeface="+mn-lt"/>
                          <a:ea typeface="隶书" panose="02010509060101010101" pitchFamily="49" charset="-122"/>
                        </a:rPr>
                        <a:t>RTS</a:t>
                      </a:r>
                      <a:r>
                        <a:rPr kumimoji="0" lang="zh-CN" altLang="en-US" sz="1800" b="0" i="0" u="none" strike="noStrike" cap="none" normalizeH="0" baseline="0" dirty="0">
                          <a:ln>
                            <a:noFill/>
                          </a:ln>
                          <a:solidFill>
                            <a:schemeClr val="tx1"/>
                          </a:solidFill>
                          <a:effectLst/>
                          <a:latin typeface="+mn-lt"/>
                          <a:ea typeface="隶书" panose="02010509060101010101" pitchFamily="49" charset="-122"/>
                        </a:rPr>
                        <a:t>＝</a:t>
                      </a:r>
                      <a:r>
                        <a:rPr kumimoji="0" lang="en-US" altLang="zh-CN" sz="1800" b="0" i="0" u="none" strike="noStrike" cap="none" normalizeH="0" baseline="0" dirty="0">
                          <a:ln>
                            <a:noFill/>
                          </a:ln>
                          <a:solidFill>
                            <a:schemeClr val="tx1"/>
                          </a:solidFill>
                          <a:effectLst/>
                          <a:latin typeface="+mn-lt"/>
                          <a:ea typeface="隶书" panose="02010509060101010101" pitchFamily="49" charset="-122"/>
                        </a:rPr>
                        <a:t>0</a:t>
                      </a:r>
                      <a:endParaRPr kumimoji="0" lang="en-US" altLang="zh-CN" sz="18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zh-CN" altLang="en-US" sz="1800" b="0" i="0" u="none" strike="noStrike" cap="none" normalizeH="0" baseline="0" dirty="0">
                          <a:ln>
                            <a:noFill/>
                          </a:ln>
                          <a:solidFill>
                            <a:schemeClr val="tx1"/>
                          </a:solidFill>
                          <a:effectLst/>
                          <a:latin typeface="+mn-lt"/>
                          <a:ea typeface="隶书" panose="02010509060101010101" pitchFamily="49" charset="-122"/>
                        </a:rPr>
                        <a:t>出错状态复位</a:t>
                      </a:r>
                      <a:endParaRPr kumimoji="0" lang="zh-CN" altLang="en-US" sz="18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zh-CN" altLang="en-US" sz="1800" b="0" i="0" u="none" strike="noStrike" cap="none" normalizeH="0" baseline="0" dirty="0">
                          <a:ln>
                            <a:noFill/>
                          </a:ln>
                          <a:solidFill>
                            <a:schemeClr val="tx1"/>
                          </a:solidFill>
                          <a:effectLst/>
                          <a:latin typeface="+mn-lt"/>
                          <a:ea typeface="隶书" panose="02010509060101010101" pitchFamily="49" charset="-122"/>
                        </a:rPr>
                        <a:t>正常工作</a:t>
                      </a:r>
                      <a:endParaRPr kumimoji="0" lang="zh-CN" altLang="en-US" sz="18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en-US" altLang="zh-CN" sz="1800" b="0" i="0" u="none" strike="noStrike" cap="none" normalizeH="0" baseline="0" dirty="0" err="1">
                          <a:ln>
                            <a:noFill/>
                          </a:ln>
                          <a:solidFill>
                            <a:schemeClr val="tx1"/>
                          </a:solidFill>
                          <a:effectLst/>
                          <a:latin typeface="+mn-lt"/>
                          <a:ea typeface="隶书" panose="02010509060101010101" pitchFamily="49" charset="-122"/>
                        </a:rPr>
                        <a:t>RxE</a:t>
                      </a:r>
                      <a:r>
                        <a:rPr kumimoji="0" lang="zh-CN" altLang="en-US" sz="1800" b="0" i="0" u="none" strike="noStrike" cap="none" normalizeH="0" baseline="0" dirty="0">
                          <a:ln>
                            <a:noFill/>
                          </a:ln>
                          <a:solidFill>
                            <a:schemeClr val="tx1"/>
                          </a:solidFill>
                          <a:effectLst/>
                          <a:latin typeface="+mn-lt"/>
                          <a:ea typeface="隶书" panose="02010509060101010101" pitchFamily="49" charset="-122"/>
                        </a:rPr>
                        <a:t>＝</a:t>
                      </a:r>
                      <a:r>
                        <a:rPr kumimoji="0" lang="en-US" altLang="zh-CN" sz="1800" b="0" i="0" u="none" strike="noStrike" cap="none" normalizeH="0" baseline="0" dirty="0">
                          <a:ln>
                            <a:noFill/>
                          </a:ln>
                          <a:solidFill>
                            <a:schemeClr val="tx1"/>
                          </a:solidFill>
                          <a:effectLst/>
                          <a:latin typeface="+mn-lt"/>
                          <a:ea typeface="隶书" panose="02010509060101010101" pitchFamily="49" charset="-122"/>
                        </a:rPr>
                        <a:t>1</a:t>
                      </a:r>
                      <a:endParaRPr kumimoji="0" lang="en-US" altLang="zh-CN" sz="18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en-US" altLang="zh-CN" sz="1800" b="0" i="0" u="none" strike="noStrike" cap="none" normalizeH="0" baseline="0" dirty="0">
                          <a:ln>
                            <a:noFill/>
                          </a:ln>
                          <a:solidFill>
                            <a:schemeClr val="tx1"/>
                          </a:solidFill>
                          <a:effectLst/>
                          <a:latin typeface="+mn-lt"/>
                          <a:ea typeface="隶书" panose="02010509060101010101" pitchFamily="49" charset="-122"/>
                        </a:rPr>
                        <a:t>DTR</a:t>
                      </a:r>
                      <a:r>
                        <a:rPr kumimoji="0" lang="zh-CN" altLang="en-US" sz="1800" b="0" i="0" u="none" strike="noStrike" cap="none" normalizeH="0" baseline="0" dirty="0">
                          <a:ln>
                            <a:noFill/>
                          </a:ln>
                          <a:solidFill>
                            <a:schemeClr val="tx1"/>
                          </a:solidFill>
                          <a:effectLst/>
                          <a:latin typeface="+mn-lt"/>
                          <a:ea typeface="隶书" panose="02010509060101010101" pitchFamily="49" charset="-122"/>
                        </a:rPr>
                        <a:t>＝</a:t>
                      </a:r>
                      <a:r>
                        <a:rPr kumimoji="0" lang="en-US" altLang="zh-CN" sz="1800" b="0" i="0" u="none" strike="noStrike" cap="none" normalizeH="0" baseline="0" dirty="0">
                          <a:ln>
                            <a:noFill/>
                          </a:ln>
                          <a:solidFill>
                            <a:schemeClr val="tx1"/>
                          </a:solidFill>
                          <a:effectLst/>
                          <a:latin typeface="+mn-lt"/>
                          <a:ea typeface="隶书" panose="02010509060101010101" pitchFamily="49" charset="-122"/>
                        </a:rPr>
                        <a:t>0</a:t>
                      </a:r>
                      <a:endParaRPr kumimoji="0" lang="en-US" altLang="zh-CN" sz="18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1" fontAlgn="base" latinLnBrk="0" hangingPunct="1">
                        <a:lnSpc>
                          <a:spcPct val="80000"/>
                        </a:lnSpc>
                        <a:spcBef>
                          <a:spcPct val="0"/>
                        </a:spcBef>
                        <a:spcAft>
                          <a:spcPct val="0"/>
                        </a:spcAft>
                        <a:buClr>
                          <a:schemeClr val="tx2"/>
                        </a:buClr>
                        <a:buSzTx/>
                        <a:buFontTx/>
                        <a:buNone/>
                      </a:pPr>
                      <a:r>
                        <a:rPr kumimoji="0" lang="en-US" altLang="zh-CN" sz="1800" b="0" i="0" u="none" strike="noStrike" cap="none" normalizeH="0" baseline="0" dirty="0" err="1">
                          <a:ln>
                            <a:noFill/>
                          </a:ln>
                          <a:solidFill>
                            <a:schemeClr val="tx1"/>
                          </a:solidFill>
                          <a:effectLst/>
                          <a:latin typeface="+mn-lt"/>
                          <a:ea typeface="隶书" panose="02010509060101010101" pitchFamily="49" charset="-122"/>
                        </a:rPr>
                        <a:t>TxE</a:t>
                      </a:r>
                      <a:r>
                        <a:rPr kumimoji="0" lang="zh-CN" altLang="en-US" sz="1800" b="0" i="0" u="none" strike="noStrike" cap="none" normalizeH="0" baseline="0" dirty="0">
                          <a:ln>
                            <a:noFill/>
                          </a:ln>
                          <a:solidFill>
                            <a:schemeClr val="tx1"/>
                          </a:solidFill>
                          <a:effectLst/>
                          <a:latin typeface="+mn-lt"/>
                          <a:ea typeface="隶书" panose="02010509060101010101" pitchFamily="49" charset="-122"/>
                        </a:rPr>
                        <a:t>＝</a:t>
                      </a:r>
                      <a:r>
                        <a:rPr kumimoji="0" lang="en-US" altLang="zh-CN" sz="1800" b="0" i="0" u="none" strike="noStrike" cap="none" normalizeH="0" baseline="0" dirty="0">
                          <a:ln>
                            <a:noFill/>
                          </a:ln>
                          <a:solidFill>
                            <a:schemeClr val="tx1"/>
                          </a:solidFill>
                          <a:effectLst/>
                          <a:latin typeface="+mn-lt"/>
                          <a:ea typeface="隶书" panose="02010509060101010101" pitchFamily="49" charset="-122"/>
                        </a:rPr>
                        <a:t>1</a:t>
                      </a:r>
                      <a:endParaRPr kumimoji="0" lang="en-US" altLang="zh-CN" sz="18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r>
            </a:tbl>
          </a:graphicData>
        </a:graphic>
      </p:graphicFrame>
      <p:sp>
        <p:nvSpPr>
          <p:cNvPr id="402506" name="Rectangle 74"/>
          <p:cNvSpPr>
            <a:spLocks noChangeArrowheads="1"/>
          </p:cNvSpPr>
          <p:nvPr/>
        </p:nvSpPr>
        <p:spPr bwMode="auto">
          <a:xfrm>
            <a:off x="2413517" y="4473116"/>
            <a:ext cx="3956654" cy="2246769"/>
          </a:xfrm>
          <a:prstGeom prst="rect">
            <a:avLst/>
          </a:prstGeom>
          <a:noFill/>
          <a:ln w="9525" algn="ctr">
            <a:noFill/>
            <a:miter lim="800000"/>
          </a:ln>
          <a:effectLst/>
        </p:spPr>
        <p:txBody>
          <a:bodyPr wrap="square">
            <a:spAutoFit/>
          </a:bodyPr>
          <a:lstStyle/>
          <a:p>
            <a:r>
              <a:rPr lang="en-US" altLang="zh-CN" sz="2000" b="0" dirty="0">
                <a:latin typeface="+mn-lt"/>
              </a:rPr>
              <a:t>MOV AL, 18H	</a:t>
            </a:r>
            <a:r>
              <a:rPr lang="zh-CN" altLang="en-US" sz="2000" b="0" dirty="0">
                <a:latin typeface="+mn-lt"/>
              </a:rPr>
              <a:t>；送模式控制字</a:t>
            </a:r>
            <a:endParaRPr lang="zh-CN" altLang="en-US" sz="2000" b="0" dirty="0">
              <a:latin typeface="+mn-lt"/>
            </a:endParaRPr>
          </a:p>
          <a:p>
            <a:r>
              <a:rPr lang="en-US" altLang="zh-CN" sz="2000" b="0" dirty="0">
                <a:latin typeface="+mn-lt"/>
              </a:rPr>
              <a:t>OUT 53H, AL                </a:t>
            </a:r>
            <a:endParaRPr lang="en-US" altLang="zh-CN" sz="2000" b="0" dirty="0">
              <a:latin typeface="+mn-lt"/>
            </a:endParaRPr>
          </a:p>
          <a:p>
            <a:r>
              <a:rPr lang="en-US" altLang="zh-CN" sz="2000" b="0" dirty="0">
                <a:latin typeface="+mn-lt"/>
              </a:rPr>
              <a:t>MOV AL,16H	</a:t>
            </a:r>
            <a:r>
              <a:rPr lang="zh-CN" altLang="en-US" sz="2000" b="0" dirty="0">
                <a:latin typeface="+mn-lt"/>
              </a:rPr>
              <a:t>；送同步字符    </a:t>
            </a:r>
            <a:endParaRPr lang="en-US" altLang="zh-CN" sz="2000" b="0" dirty="0">
              <a:latin typeface="+mn-lt"/>
            </a:endParaRPr>
          </a:p>
          <a:p>
            <a:r>
              <a:rPr lang="en-US" altLang="zh-CN" sz="2000" b="0" dirty="0">
                <a:latin typeface="+mn-lt"/>
              </a:rPr>
              <a:t>OUT 53H, AL</a:t>
            </a:r>
            <a:endParaRPr lang="en-US" altLang="zh-CN" sz="2000" b="0" dirty="0">
              <a:latin typeface="+mn-lt"/>
            </a:endParaRPr>
          </a:p>
          <a:p>
            <a:r>
              <a:rPr lang="en-US" altLang="zh-CN" sz="2000" b="0" dirty="0">
                <a:latin typeface="+mn-lt"/>
              </a:rPr>
              <a:t>OUT 53H, AL</a:t>
            </a:r>
            <a:endParaRPr lang="en-US" altLang="zh-CN" sz="2000" b="0" dirty="0">
              <a:latin typeface="+mn-lt"/>
            </a:endParaRPr>
          </a:p>
          <a:p>
            <a:r>
              <a:rPr lang="en-US" altLang="zh-CN" sz="2000" b="0" dirty="0"/>
              <a:t>MOV AL, B7H	</a:t>
            </a:r>
            <a:r>
              <a:rPr lang="zh-CN" altLang="en-US" sz="2000" b="0" dirty="0"/>
              <a:t>；送操作命令字</a:t>
            </a:r>
            <a:endParaRPr lang="en-US" altLang="zh-CN" sz="2000" b="0" dirty="0"/>
          </a:p>
          <a:p>
            <a:r>
              <a:rPr lang="en-US" altLang="zh-CN" sz="2000" b="0" dirty="0"/>
              <a:t>OUT 53H, AL</a:t>
            </a:r>
            <a:endParaRPr lang="en-US" altLang="zh-CN" sz="2000" b="0" dirty="0">
              <a:latin typeface="+mn-lt"/>
            </a:endParaRPr>
          </a:p>
        </p:txBody>
      </p:sp>
      <p:sp>
        <p:nvSpPr>
          <p:cNvPr id="402524" name="Line 92"/>
          <p:cNvSpPr>
            <a:spLocks noChangeShapeType="1"/>
          </p:cNvSpPr>
          <p:nvPr/>
        </p:nvSpPr>
        <p:spPr bwMode="auto">
          <a:xfrm>
            <a:off x="5400092" y="3815004"/>
            <a:ext cx="431800" cy="0"/>
          </a:xfrm>
          <a:prstGeom prst="line">
            <a:avLst/>
          </a:prstGeom>
          <a:noFill/>
          <a:ln w="9525">
            <a:solidFill>
              <a:schemeClr val="tx1"/>
            </a:solidFill>
            <a:round/>
          </a:ln>
          <a:effectLst/>
        </p:spPr>
        <p:txBody>
          <a:bodyPr/>
          <a:lstStyle/>
          <a:p>
            <a:endParaRPr lang="zh-CN" altLang="en-US"/>
          </a:p>
        </p:txBody>
      </p:sp>
      <p:sp>
        <p:nvSpPr>
          <p:cNvPr id="402525" name="Line 93"/>
          <p:cNvSpPr>
            <a:spLocks noChangeShapeType="1"/>
          </p:cNvSpPr>
          <p:nvPr/>
        </p:nvSpPr>
        <p:spPr bwMode="auto">
          <a:xfrm>
            <a:off x="2519772" y="3815004"/>
            <a:ext cx="431800" cy="0"/>
          </a:xfrm>
          <a:prstGeom prst="line">
            <a:avLst/>
          </a:prstGeom>
          <a:noFill/>
          <a:ln w="9525">
            <a:solidFill>
              <a:schemeClr val="tx1"/>
            </a:solidFill>
            <a:round/>
          </a:ln>
          <a:effectLst/>
        </p:spPr>
        <p:txBody>
          <a:bodyPr/>
          <a:lstStyle/>
          <a:p>
            <a:endParaRPr lang="zh-CN" altLang="en-US"/>
          </a:p>
        </p:txBody>
      </p:sp>
      <p:sp>
        <p:nvSpPr>
          <p:cNvPr id="11" name="Rectangle 4"/>
          <p:cNvSpPr>
            <a:spLocks noChangeArrowheads="1"/>
          </p:cNvSpPr>
          <p:nvPr/>
        </p:nvSpPr>
        <p:spPr bwMode="auto">
          <a:xfrm>
            <a:off x="467544" y="368660"/>
            <a:ext cx="7848600" cy="492443"/>
          </a:xfrm>
          <a:prstGeom prst="rect">
            <a:avLst/>
          </a:prstGeom>
          <a:noFill/>
          <a:ln w="9525" algn="ctr">
            <a:noFill/>
            <a:miter lim="800000"/>
          </a:ln>
          <a:effectLst/>
        </p:spPr>
        <p:txBody>
          <a:bodyPr>
            <a:spAutoFit/>
          </a:bodyPr>
          <a:lstStyle/>
          <a:p>
            <a:r>
              <a:rPr lang="zh-CN" altLang="en-US" sz="2600" kern="0" dirty="0">
                <a:solidFill>
                  <a:schemeClr val="tx2"/>
                </a:solidFill>
                <a:effectLst>
                  <a:outerShdw blurRad="38100" dist="38100" dir="2700000" algn="tl">
                    <a:srgbClr val="C0C0C0"/>
                  </a:outerShdw>
                </a:effectLst>
                <a:latin typeface="+mj-lt"/>
                <a:cs typeface="+mj-cs"/>
              </a:rPr>
              <a:t>可编程串行通信接口</a:t>
            </a:r>
            <a:r>
              <a:rPr lang="en-US" altLang="zh-CN" sz="2600" kern="0" dirty="0">
                <a:solidFill>
                  <a:schemeClr val="tx2"/>
                </a:solidFill>
                <a:effectLst>
                  <a:outerShdw blurRad="38100" dist="38100" dir="2700000" algn="tl">
                    <a:srgbClr val="C0C0C0"/>
                  </a:outerShdw>
                </a:effectLst>
                <a:latin typeface="+mj-lt"/>
                <a:cs typeface="+mj-cs"/>
              </a:rPr>
              <a:t>8251A</a:t>
            </a:r>
            <a:endParaRPr lang="en-US" altLang="zh-CN"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25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246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0246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0252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0252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025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2464" grpId="0"/>
      <p:bldP spid="402506" grpId="0"/>
      <p:bldP spid="402524" grpId="0" animBg="1"/>
      <p:bldP spid="40252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ChangeArrowheads="1"/>
          </p:cNvSpPr>
          <p:nvPr/>
        </p:nvSpPr>
        <p:spPr bwMode="auto">
          <a:xfrm>
            <a:off x="683568" y="1052736"/>
            <a:ext cx="7848600" cy="3970318"/>
          </a:xfrm>
          <a:prstGeom prst="rect">
            <a:avLst/>
          </a:prstGeom>
          <a:noFill/>
          <a:ln w="9525" algn="ctr">
            <a:noFill/>
            <a:miter lim="800000"/>
          </a:ln>
          <a:effectLst/>
        </p:spPr>
        <p:txBody>
          <a:bodyPr>
            <a:spAutoFit/>
          </a:bodyPr>
          <a:lstStyle/>
          <a:p>
            <a:pPr algn="just">
              <a:lnSpc>
                <a:spcPct val="150000"/>
              </a:lnSpc>
            </a:pPr>
            <a:r>
              <a:rPr lang="zh-CN" altLang="en-US" dirty="0"/>
              <a:t>例</a:t>
            </a:r>
            <a:r>
              <a:rPr lang="en-US" altLang="zh-CN" dirty="0"/>
              <a:t>3</a:t>
            </a:r>
            <a:r>
              <a:rPr lang="zh-CN" altLang="en-US" dirty="0"/>
              <a:t>：采用</a:t>
            </a:r>
            <a:r>
              <a:rPr lang="en-US" altLang="zh-CN" dirty="0"/>
              <a:t>8251A</a:t>
            </a:r>
            <a:r>
              <a:rPr lang="zh-CN" altLang="en-US" dirty="0"/>
              <a:t>实现两台微机按</a:t>
            </a:r>
            <a:r>
              <a:rPr lang="en-US" altLang="zh-CN" dirty="0"/>
              <a:t>RS232</a:t>
            </a:r>
            <a:r>
              <a:rPr lang="zh-CN" altLang="en-US" dirty="0"/>
              <a:t>标准进行串行接口通讯，</a:t>
            </a:r>
            <a:r>
              <a:rPr lang="en-US" altLang="zh-CN" dirty="0"/>
              <a:t>A</a:t>
            </a:r>
            <a:r>
              <a:rPr lang="zh-CN" altLang="en-US" dirty="0"/>
              <a:t>机发送，</a:t>
            </a:r>
            <a:r>
              <a:rPr lang="en-US" altLang="zh-CN" dirty="0"/>
              <a:t>B</a:t>
            </a:r>
            <a:r>
              <a:rPr lang="zh-CN" altLang="en-US" dirty="0"/>
              <a:t>机接收，要求：</a:t>
            </a:r>
            <a:endParaRPr lang="en-US" altLang="zh-CN" dirty="0"/>
          </a:p>
          <a:p>
            <a:pPr marL="342900" indent="-342900" algn="just">
              <a:lnSpc>
                <a:spcPct val="150000"/>
              </a:lnSpc>
              <a:buFont typeface="Wingdings" panose="05000000000000000000" pitchFamily="2" charset="2"/>
              <a:buChar char="u"/>
            </a:pPr>
            <a:r>
              <a:rPr lang="zh-CN" altLang="en-US" dirty="0"/>
              <a:t>把</a:t>
            </a:r>
            <a:r>
              <a:rPr lang="en-US" altLang="zh-CN" dirty="0"/>
              <a:t>A</a:t>
            </a:r>
            <a:r>
              <a:rPr lang="zh-CN" altLang="en-US" dirty="0"/>
              <a:t>机上的数据（其长度为</a:t>
            </a:r>
            <a:r>
              <a:rPr lang="en-US" altLang="zh-CN" dirty="0"/>
              <a:t>2DH)</a:t>
            </a:r>
            <a:r>
              <a:rPr lang="zh-CN" altLang="en-US" dirty="0"/>
              <a:t>传送到</a:t>
            </a:r>
            <a:r>
              <a:rPr lang="en-US" altLang="zh-CN" dirty="0"/>
              <a:t>B</a:t>
            </a:r>
            <a:r>
              <a:rPr lang="zh-CN" altLang="en-US" dirty="0"/>
              <a:t>机中去；</a:t>
            </a:r>
            <a:endParaRPr lang="en-US" altLang="zh-CN" dirty="0"/>
          </a:p>
          <a:p>
            <a:pPr marL="342900" indent="-342900" algn="just">
              <a:lnSpc>
                <a:spcPct val="150000"/>
              </a:lnSpc>
              <a:buFont typeface="Wingdings" panose="05000000000000000000" pitchFamily="2" charset="2"/>
              <a:buChar char="u"/>
            </a:pPr>
            <a:r>
              <a:rPr lang="zh-CN" altLang="en-US" dirty="0"/>
              <a:t>采用异步方式，字符长度为</a:t>
            </a:r>
            <a:r>
              <a:rPr lang="en-US" altLang="zh-CN" dirty="0"/>
              <a:t>8</a:t>
            </a:r>
            <a:r>
              <a:rPr lang="zh-CN" altLang="en-US" dirty="0"/>
              <a:t>位，</a:t>
            </a:r>
            <a:r>
              <a:rPr lang="en-US" altLang="zh-CN" dirty="0"/>
              <a:t>2</a:t>
            </a:r>
            <a:r>
              <a:rPr lang="zh-CN" altLang="en-US" dirty="0"/>
              <a:t>个停止位，波特率因子为</a:t>
            </a:r>
            <a:r>
              <a:rPr lang="en-US" altLang="zh-CN" dirty="0"/>
              <a:t>64</a:t>
            </a:r>
            <a:r>
              <a:rPr lang="zh-CN" altLang="en-US" dirty="0"/>
              <a:t>，无校验；</a:t>
            </a:r>
            <a:endParaRPr lang="en-US" altLang="zh-CN" dirty="0"/>
          </a:p>
          <a:p>
            <a:pPr marL="342900" indent="-342900" algn="just">
              <a:lnSpc>
                <a:spcPct val="150000"/>
              </a:lnSpc>
              <a:buFont typeface="Wingdings" panose="05000000000000000000" pitchFamily="2" charset="2"/>
              <a:buChar char="u"/>
            </a:pPr>
            <a:r>
              <a:rPr lang="en-US" altLang="zh-CN" dirty="0"/>
              <a:t>CPU</a:t>
            </a:r>
            <a:r>
              <a:rPr lang="zh-CN" altLang="en-US" dirty="0"/>
              <a:t>与</a:t>
            </a:r>
            <a:r>
              <a:rPr lang="en-US" altLang="zh-CN" dirty="0"/>
              <a:t>8251A</a:t>
            </a:r>
            <a:r>
              <a:rPr lang="zh-CN" altLang="en-US" dirty="0"/>
              <a:t>之间采用查询方式交换数据；</a:t>
            </a:r>
            <a:endParaRPr lang="zh-CN" altLang="en-US" dirty="0"/>
          </a:p>
          <a:p>
            <a:pPr marL="342900" indent="-342900" algn="just">
              <a:lnSpc>
                <a:spcPct val="150000"/>
              </a:lnSpc>
              <a:buFont typeface="Wingdings" panose="05000000000000000000" pitchFamily="2" charset="2"/>
              <a:buChar char="u"/>
            </a:pPr>
            <a:r>
              <a:rPr lang="zh-CN" altLang="en-US" dirty="0"/>
              <a:t>令端口地址：命令／状态口为</a:t>
            </a:r>
            <a:r>
              <a:rPr lang="en-US" altLang="zh-CN" dirty="0"/>
              <a:t>309H</a:t>
            </a:r>
            <a:r>
              <a:rPr lang="zh-CN" altLang="en-US" dirty="0"/>
              <a:t>，数据口为</a:t>
            </a:r>
            <a:r>
              <a:rPr lang="en-US" altLang="zh-CN" dirty="0"/>
              <a:t>308H</a:t>
            </a:r>
            <a:r>
              <a:rPr lang="zh-CN" altLang="en-US" dirty="0"/>
              <a:t>。</a:t>
            </a:r>
            <a:endParaRPr lang="zh-CN" altLang="en-US" dirty="0"/>
          </a:p>
        </p:txBody>
      </p:sp>
      <p:sp>
        <p:nvSpPr>
          <p:cNvPr id="5" name="Rectangle 4"/>
          <p:cNvSpPr>
            <a:spLocks noChangeArrowheads="1"/>
          </p:cNvSpPr>
          <p:nvPr/>
        </p:nvSpPr>
        <p:spPr bwMode="auto">
          <a:xfrm>
            <a:off x="467544" y="368660"/>
            <a:ext cx="7848600" cy="492443"/>
          </a:xfrm>
          <a:prstGeom prst="rect">
            <a:avLst/>
          </a:prstGeom>
          <a:noFill/>
          <a:ln w="9525" algn="ctr">
            <a:noFill/>
            <a:miter lim="800000"/>
          </a:ln>
          <a:effectLst/>
        </p:spPr>
        <p:txBody>
          <a:bodyPr>
            <a:spAutoFit/>
          </a:bodyPr>
          <a:lstStyle/>
          <a:p>
            <a:r>
              <a:rPr lang="zh-CN" altLang="en-US" sz="2600" kern="0" dirty="0">
                <a:solidFill>
                  <a:schemeClr val="tx2"/>
                </a:solidFill>
                <a:effectLst>
                  <a:outerShdw blurRad="38100" dist="38100" dir="2700000" algn="tl">
                    <a:srgbClr val="C0C0C0"/>
                  </a:outerShdw>
                </a:effectLst>
                <a:latin typeface="+mj-lt"/>
                <a:cs typeface="+mj-cs"/>
              </a:rPr>
              <a:t>可编程串行通信接口</a:t>
            </a:r>
            <a:r>
              <a:rPr lang="en-US" altLang="zh-CN" sz="2600" kern="0" dirty="0">
                <a:solidFill>
                  <a:schemeClr val="tx2"/>
                </a:solidFill>
                <a:effectLst>
                  <a:outerShdw blurRad="38100" dist="38100" dir="2700000" algn="tl">
                    <a:srgbClr val="C0C0C0"/>
                  </a:outerShdw>
                </a:effectLst>
                <a:latin typeface="+mj-lt"/>
                <a:cs typeface="+mj-cs"/>
              </a:rPr>
              <a:t>8251A</a:t>
            </a:r>
            <a:endParaRPr lang="en-US" altLang="zh-CN"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467544" y="368660"/>
            <a:ext cx="7848600" cy="492443"/>
          </a:xfrm>
          <a:prstGeom prst="rect">
            <a:avLst/>
          </a:prstGeom>
          <a:noFill/>
          <a:ln w="9525" algn="ctr">
            <a:noFill/>
            <a:miter lim="800000"/>
          </a:ln>
          <a:effectLst/>
        </p:spPr>
        <p:txBody>
          <a:bodyPr>
            <a:spAutoFit/>
          </a:bodyPr>
          <a:lstStyle/>
          <a:p>
            <a:r>
              <a:rPr lang="zh-CN" altLang="en-US" sz="2600" kern="0" dirty="0">
                <a:solidFill>
                  <a:schemeClr val="tx2"/>
                </a:solidFill>
                <a:effectLst>
                  <a:outerShdw blurRad="38100" dist="38100" dir="2700000" algn="tl">
                    <a:srgbClr val="C0C0C0"/>
                  </a:outerShdw>
                </a:effectLst>
                <a:latin typeface="+mj-lt"/>
                <a:cs typeface="+mj-cs"/>
              </a:rPr>
              <a:t>可编程串行通信接口</a:t>
            </a:r>
            <a:r>
              <a:rPr lang="en-US" altLang="zh-CN" sz="2600" kern="0" dirty="0">
                <a:solidFill>
                  <a:schemeClr val="tx2"/>
                </a:solidFill>
                <a:effectLst>
                  <a:outerShdw blurRad="38100" dist="38100" dir="2700000" algn="tl">
                    <a:srgbClr val="C0C0C0"/>
                  </a:outerShdw>
                </a:effectLst>
                <a:latin typeface="+mj-lt"/>
                <a:cs typeface="+mj-cs"/>
              </a:rPr>
              <a:t>8251A</a:t>
            </a:r>
            <a:endParaRPr lang="en-US" altLang="zh-CN" sz="2600" kern="0" dirty="0">
              <a:solidFill>
                <a:schemeClr val="tx2"/>
              </a:solidFill>
              <a:effectLst>
                <a:outerShdw blurRad="38100" dist="38100" dir="2700000" algn="tl">
                  <a:srgbClr val="C0C0C0"/>
                </a:outerShdw>
              </a:effectLst>
              <a:latin typeface="+mj-lt"/>
              <a:cs typeface="+mj-cs"/>
            </a:endParaRPr>
          </a:p>
        </p:txBody>
      </p:sp>
      <p:pic>
        <p:nvPicPr>
          <p:cNvPr id="2" name="图片 1"/>
          <p:cNvPicPr>
            <a:picLocks noChangeAspect="1"/>
          </p:cNvPicPr>
          <p:nvPr/>
        </p:nvPicPr>
        <p:blipFill>
          <a:blip r:embed="rId1"/>
          <a:stretch>
            <a:fillRect/>
          </a:stretch>
        </p:blipFill>
        <p:spPr>
          <a:xfrm>
            <a:off x="575556" y="1268760"/>
            <a:ext cx="7916573" cy="2952167"/>
          </a:xfrm>
          <a:prstGeom prst="rect">
            <a:avLst/>
          </a:prstGeom>
        </p:spPr>
      </p:pic>
      <p:sp>
        <p:nvSpPr>
          <p:cNvPr id="6" name="矩形 5"/>
          <p:cNvSpPr/>
          <p:nvPr/>
        </p:nvSpPr>
        <p:spPr>
          <a:xfrm>
            <a:off x="647564" y="4581128"/>
            <a:ext cx="7920880" cy="830997"/>
          </a:xfrm>
          <a:prstGeom prst="rect">
            <a:avLst/>
          </a:prstGeom>
        </p:spPr>
        <p:txBody>
          <a:bodyPr wrap="square">
            <a:spAutoFit/>
          </a:bodyPr>
          <a:lstStyle/>
          <a:p>
            <a:r>
              <a:rPr lang="zh-CN" altLang="en-US" dirty="0"/>
              <a:t>分析：采用查询方式，收／发程序中只需检查发／收准备好的状态位是否置位，在准备好时就发送或接收一个字节。</a:t>
            </a:r>
            <a:endParaRPr lang="zh-CN" altLang="en-US" dirty="0"/>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467544" y="368660"/>
            <a:ext cx="7848600" cy="492443"/>
          </a:xfrm>
          <a:prstGeom prst="rect">
            <a:avLst/>
          </a:prstGeom>
          <a:noFill/>
          <a:ln w="9525" algn="ctr">
            <a:noFill/>
            <a:miter lim="800000"/>
          </a:ln>
          <a:effectLst/>
        </p:spPr>
        <p:txBody>
          <a:bodyPr>
            <a:spAutoFit/>
          </a:bodyPr>
          <a:lstStyle/>
          <a:p>
            <a:r>
              <a:rPr lang="zh-CN" altLang="en-US" sz="2600" kern="0" dirty="0">
                <a:solidFill>
                  <a:schemeClr val="tx2"/>
                </a:solidFill>
                <a:effectLst>
                  <a:outerShdw blurRad="38100" dist="38100" dir="2700000" algn="tl">
                    <a:srgbClr val="C0C0C0"/>
                  </a:outerShdw>
                </a:effectLst>
                <a:latin typeface="+mj-lt"/>
                <a:cs typeface="+mj-cs"/>
              </a:rPr>
              <a:t>可编程串行通信接口</a:t>
            </a:r>
            <a:r>
              <a:rPr lang="en-US" altLang="zh-CN" sz="2600" kern="0" dirty="0">
                <a:solidFill>
                  <a:schemeClr val="tx2"/>
                </a:solidFill>
                <a:effectLst>
                  <a:outerShdw blurRad="38100" dist="38100" dir="2700000" algn="tl">
                    <a:srgbClr val="C0C0C0"/>
                  </a:outerShdw>
                </a:effectLst>
                <a:latin typeface="+mj-lt"/>
                <a:cs typeface="+mj-cs"/>
              </a:rPr>
              <a:t>8251A</a:t>
            </a:r>
            <a:endParaRPr lang="en-US" altLang="zh-CN" sz="2600" kern="0" dirty="0">
              <a:solidFill>
                <a:schemeClr val="tx2"/>
              </a:solidFill>
              <a:effectLst>
                <a:outerShdw blurRad="38100" dist="38100" dir="2700000" algn="tl">
                  <a:srgbClr val="C0C0C0"/>
                </a:outerShdw>
              </a:effectLst>
              <a:latin typeface="+mj-lt"/>
              <a:cs typeface="+mj-cs"/>
            </a:endParaRPr>
          </a:p>
        </p:txBody>
      </p:sp>
      <p:pic>
        <p:nvPicPr>
          <p:cNvPr id="6" name="图片 5"/>
          <p:cNvPicPr>
            <a:picLocks noChangeAspect="1"/>
          </p:cNvPicPr>
          <p:nvPr/>
        </p:nvPicPr>
        <p:blipFill>
          <a:blip r:embed="rId1"/>
          <a:stretch>
            <a:fillRect/>
          </a:stretch>
        </p:blipFill>
        <p:spPr>
          <a:xfrm>
            <a:off x="611560" y="1016732"/>
            <a:ext cx="4472199" cy="2916324"/>
          </a:xfrm>
          <a:prstGeom prst="rect">
            <a:avLst/>
          </a:prstGeom>
        </p:spPr>
      </p:pic>
      <p:pic>
        <p:nvPicPr>
          <p:cNvPr id="7" name="图片 6"/>
          <p:cNvPicPr>
            <a:picLocks noChangeAspect="1"/>
          </p:cNvPicPr>
          <p:nvPr/>
        </p:nvPicPr>
        <p:blipFill>
          <a:blip r:embed="rId2"/>
          <a:stretch>
            <a:fillRect/>
          </a:stretch>
        </p:blipFill>
        <p:spPr>
          <a:xfrm>
            <a:off x="539552" y="3998565"/>
            <a:ext cx="4392488" cy="2861604"/>
          </a:xfrm>
          <a:prstGeom prst="rect">
            <a:avLst/>
          </a:prstGeom>
        </p:spPr>
      </p:pic>
      <p:sp>
        <p:nvSpPr>
          <p:cNvPr id="2" name="矩形 1"/>
          <p:cNvSpPr/>
          <p:nvPr/>
        </p:nvSpPr>
        <p:spPr>
          <a:xfrm>
            <a:off x="5400092" y="1003392"/>
            <a:ext cx="3048523" cy="5170646"/>
          </a:xfrm>
          <a:prstGeom prst="rect">
            <a:avLst/>
          </a:prstGeom>
        </p:spPr>
        <p:txBody>
          <a:bodyPr wrap="square">
            <a:spAutoFit/>
          </a:bodyPr>
          <a:lstStyle/>
          <a:p>
            <a:pPr algn="just">
              <a:lnSpc>
                <a:spcPct val="150000"/>
              </a:lnSpc>
            </a:pPr>
            <a:r>
              <a:rPr lang="zh-CN" altLang="en-US" sz="2000" dirty="0"/>
              <a:t>发送端：</a:t>
            </a:r>
            <a:endParaRPr lang="en-US" altLang="zh-CN" sz="2000" dirty="0"/>
          </a:p>
          <a:p>
            <a:pPr marL="342900" indent="-342900" algn="just">
              <a:lnSpc>
                <a:spcPct val="150000"/>
              </a:lnSpc>
              <a:buFont typeface="Wingdings" panose="05000000000000000000" pitchFamily="2" charset="2"/>
              <a:buChar char="u"/>
            </a:pPr>
            <a:r>
              <a:rPr lang="zh-CN" altLang="en-US" sz="2000" dirty="0"/>
              <a:t>采用异步方式，字符长度为</a:t>
            </a:r>
            <a:r>
              <a:rPr lang="en-US" altLang="zh-CN" sz="2000" dirty="0"/>
              <a:t>8</a:t>
            </a:r>
            <a:r>
              <a:rPr lang="zh-CN" altLang="en-US" sz="2000" dirty="0"/>
              <a:t>位，</a:t>
            </a:r>
            <a:r>
              <a:rPr lang="en-US" altLang="zh-CN" sz="2000" dirty="0"/>
              <a:t>2</a:t>
            </a:r>
            <a:r>
              <a:rPr lang="zh-CN" altLang="en-US" sz="2000" dirty="0"/>
              <a:t>个停止位，波特率因子为</a:t>
            </a:r>
            <a:r>
              <a:rPr lang="en-US" altLang="zh-CN" sz="2000" dirty="0"/>
              <a:t>64</a:t>
            </a:r>
            <a:r>
              <a:rPr lang="zh-CN" altLang="en-US" sz="2000" dirty="0"/>
              <a:t>，无校验，波特率为</a:t>
            </a:r>
            <a:r>
              <a:rPr lang="en-US" altLang="zh-CN" sz="2000" dirty="0"/>
              <a:t>4800</a:t>
            </a:r>
            <a:r>
              <a:rPr lang="zh-CN" altLang="en-US" sz="2000" dirty="0"/>
              <a:t>；</a:t>
            </a:r>
            <a:endParaRPr lang="en-US" altLang="zh-CN" sz="2000" dirty="0"/>
          </a:p>
          <a:p>
            <a:pPr marL="342900" indent="-342900" algn="just">
              <a:lnSpc>
                <a:spcPct val="150000"/>
              </a:lnSpc>
              <a:buFont typeface="Wingdings" panose="05000000000000000000" pitchFamily="2" charset="2"/>
              <a:buChar char="u"/>
            </a:pPr>
            <a:r>
              <a:rPr lang="zh-CN" altLang="en-US" sz="2000" dirty="0"/>
              <a:t>模式字为：</a:t>
            </a:r>
            <a:endParaRPr lang="en-US" altLang="zh-CN" sz="2000" dirty="0"/>
          </a:p>
          <a:p>
            <a:pPr algn="just">
              <a:lnSpc>
                <a:spcPct val="150000"/>
              </a:lnSpc>
            </a:pPr>
            <a:r>
              <a:rPr lang="en-US" altLang="zh-CN" sz="2000" dirty="0"/>
              <a:t>	11001111</a:t>
            </a:r>
            <a:r>
              <a:rPr lang="zh-CN" altLang="en-US" sz="2000" dirty="0"/>
              <a:t>：</a:t>
            </a:r>
            <a:r>
              <a:rPr lang="en-US" altLang="zh-CN" sz="2000" dirty="0"/>
              <a:t>0CFH</a:t>
            </a:r>
            <a:endParaRPr lang="en-US" altLang="zh-CN" sz="2000" dirty="0"/>
          </a:p>
          <a:p>
            <a:pPr marL="342900" indent="-342900" algn="just">
              <a:lnSpc>
                <a:spcPct val="150000"/>
              </a:lnSpc>
              <a:buFont typeface="Wingdings" panose="05000000000000000000" pitchFamily="2" charset="2"/>
              <a:buChar char="u"/>
            </a:pPr>
            <a:r>
              <a:rPr lang="zh-CN" altLang="en-US" sz="2000" dirty="0"/>
              <a:t>操作控制字为：</a:t>
            </a:r>
            <a:endParaRPr lang="en-US" altLang="zh-CN" sz="2000" dirty="0"/>
          </a:p>
          <a:p>
            <a:pPr algn="just">
              <a:lnSpc>
                <a:spcPct val="150000"/>
              </a:lnSpc>
            </a:pPr>
            <a:r>
              <a:rPr lang="en-US" altLang="zh-CN" sz="2000" dirty="0"/>
              <a:t>	00110111</a:t>
            </a:r>
            <a:r>
              <a:rPr lang="zh-CN" altLang="en-US" sz="2000" dirty="0"/>
              <a:t>：</a:t>
            </a:r>
            <a:r>
              <a:rPr lang="en-US" altLang="zh-CN" sz="2000" dirty="0"/>
              <a:t>03FH</a:t>
            </a:r>
            <a:endParaRPr lang="en-US" altLang="zh-CN" sz="2000" dirty="0"/>
          </a:p>
          <a:p>
            <a:pPr algn="just">
              <a:lnSpc>
                <a:spcPct val="150000"/>
              </a:lnSpc>
            </a:pPr>
            <a:endParaRPr lang="en-US" altLang="zh-CN" sz="20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0659" name="Group 35"/>
          <p:cNvGraphicFramePr>
            <a:graphicFrameLocks noGrp="1"/>
          </p:cNvGraphicFramePr>
          <p:nvPr/>
        </p:nvGraphicFramePr>
        <p:xfrm>
          <a:off x="462748" y="980728"/>
          <a:ext cx="4037243" cy="4846320"/>
        </p:xfrm>
        <a:graphic>
          <a:graphicData uri="http://schemas.openxmlformats.org/drawingml/2006/table">
            <a:tbl>
              <a:tblPr/>
              <a:tblGrid>
                <a:gridCol w="4037243"/>
              </a:tblGrid>
              <a:tr h="4064000">
                <a:tc>
                  <a:txBody>
                    <a:bodyPr/>
                    <a:lstStyle/>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zh-CN" altLang="en-US" sz="2400" b="0" i="0" u="none" strike="noStrike" cap="none" normalizeH="0" baseline="0" dirty="0">
                          <a:ln>
                            <a:noFill/>
                          </a:ln>
                          <a:solidFill>
                            <a:schemeClr val="tx1"/>
                          </a:solidFill>
                          <a:effectLst/>
                          <a:latin typeface="+mn-lt"/>
                          <a:ea typeface="隶书" panose="02010509060101010101" pitchFamily="49" charset="-122"/>
                        </a:rPr>
                        <a:t>发送端程序：</a:t>
                      </a:r>
                      <a:endParaRPr kumimoji="0" lang="zh-CN" altLang="en-US" sz="24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en-US" altLang="zh-CN" sz="2400" b="0" i="0" u="none" strike="noStrike" cap="none" normalizeH="0" baseline="0" dirty="0">
                          <a:ln>
                            <a:noFill/>
                          </a:ln>
                          <a:solidFill>
                            <a:schemeClr val="tx1"/>
                          </a:solidFill>
                          <a:effectLst/>
                          <a:latin typeface="+mn-lt"/>
                          <a:ea typeface="隶书" panose="02010509060101010101" pitchFamily="49" charset="-122"/>
                        </a:rPr>
                        <a:t>MOV DX, 309H ;</a:t>
                      </a:r>
                      <a:r>
                        <a:rPr kumimoji="0" lang="zh-CN" altLang="en-US" sz="2400" b="0" i="0" u="none" strike="noStrike" cap="none" normalizeH="0" baseline="0" dirty="0">
                          <a:ln>
                            <a:noFill/>
                          </a:ln>
                          <a:solidFill>
                            <a:schemeClr val="tx1"/>
                          </a:solidFill>
                          <a:effectLst/>
                          <a:latin typeface="+mn-lt"/>
                          <a:ea typeface="隶书" panose="02010509060101010101" pitchFamily="49" charset="-122"/>
                        </a:rPr>
                        <a:t>控制口</a:t>
                      </a:r>
                      <a:endParaRPr kumimoji="0" lang="en-US" altLang="zh-CN" sz="24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en-US" altLang="zh-CN" sz="2400" b="0" i="0" u="none" strike="noStrike" cap="none" normalizeH="0" baseline="0" dirty="0">
                          <a:ln>
                            <a:noFill/>
                          </a:ln>
                          <a:solidFill>
                            <a:schemeClr val="tx1"/>
                          </a:solidFill>
                          <a:effectLst/>
                          <a:latin typeface="+mn-lt"/>
                          <a:ea typeface="隶书" panose="02010509060101010101" pitchFamily="49" charset="-122"/>
                        </a:rPr>
                        <a:t>MOV AL, 40H  ;</a:t>
                      </a:r>
                      <a:r>
                        <a:rPr kumimoji="0" lang="zh-CN" altLang="en-US" sz="2400" b="0" i="0" u="none" strike="noStrike" cap="none" normalizeH="0" baseline="0" dirty="0">
                          <a:ln>
                            <a:noFill/>
                          </a:ln>
                          <a:solidFill>
                            <a:schemeClr val="tx1"/>
                          </a:solidFill>
                          <a:effectLst/>
                          <a:latin typeface="+mn-lt"/>
                          <a:ea typeface="隶书" panose="02010509060101010101" pitchFamily="49" charset="-122"/>
                        </a:rPr>
                        <a:t>内部复位</a:t>
                      </a:r>
                      <a:endParaRPr kumimoji="0" lang="en-US" altLang="zh-CN" sz="24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en-US" altLang="zh-CN" sz="2400" b="0" i="0" u="none" strike="noStrike" cap="none" normalizeH="0" baseline="0" dirty="0">
                          <a:ln>
                            <a:noFill/>
                          </a:ln>
                          <a:solidFill>
                            <a:schemeClr val="tx1"/>
                          </a:solidFill>
                          <a:effectLst/>
                          <a:latin typeface="+mn-lt"/>
                          <a:ea typeface="隶书" panose="02010509060101010101" pitchFamily="49" charset="-122"/>
                        </a:rPr>
                        <a:t>OUT DX, AL</a:t>
                      </a:r>
                      <a:endParaRPr kumimoji="0" lang="en-US" altLang="zh-CN" sz="24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en-US" altLang="zh-CN" sz="2400" b="0" i="0" u="none" strike="noStrike" cap="none" normalizeH="0" baseline="0" dirty="0">
                          <a:ln>
                            <a:noFill/>
                          </a:ln>
                          <a:solidFill>
                            <a:schemeClr val="tx1"/>
                          </a:solidFill>
                          <a:effectLst/>
                          <a:latin typeface="+mn-lt"/>
                          <a:ea typeface="隶书" panose="02010509060101010101" pitchFamily="49" charset="-122"/>
                        </a:rPr>
                        <a:t>MOV AL, 0CFH</a:t>
                      </a:r>
                      <a:r>
                        <a:rPr kumimoji="0" lang="zh-CN" altLang="en-US" sz="2400" b="0" i="0" u="none" strike="noStrike" cap="none" normalizeH="0" baseline="0" dirty="0">
                          <a:ln>
                            <a:noFill/>
                          </a:ln>
                          <a:solidFill>
                            <a:schemeClr val="tx1"/>
                          </a:solidFill>
                          <a:effectLst/>
                          <a:latin typeface="+mn-lt"/>
                          <a:ea typeface="隶书" panose="02010509060101010101" pitchFamily="49" charset="-122"/>
                        </a:rPr>
                        <a:t>；模式字</a:t>
                      </a:r>
                      <a:endParaRPr kumimoji="0" lang="en-US" altLang="zh-CN" sz="24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en-US" altLang="zh-CN" sz="2400" b="0" i="0" u="none" strike="noStrike" cap="none" normalizeH="0" baseline="0" dirty="0">
                          <a:ln>
                            <a:noFill/>
                          </a:ln>
                          <a:solidFill>
                            <a:schemeClr val="tx1"/>
                          </a:solidFill>
                          <a:effectLst/>
                          <a:latin typeface="+mn-lt"/>
                          <a:ea typeface="隶书" panose="02010509060101010101" pitchFamily="49" charset="-122"/>
                        </a:rPr>
                        <a:t>OUT DX, AL</a:t>
                      </a:r>
                      <a:endParaRPr kumimoji="0" lang="en-US" altLang="zh-CN" sz="24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en-US" altLang="zh-CN" sz="2400" b="0" i="0" u="none" strike="noStrike" cap="none" normalizeH="0" baseline="0" dirty="0">
                          <a:ln>
                            <a:noFill/>
                          </a:ln>
                          <a:solidFill>
                            <a:schemeClr val="tx1"/>
                          </a:solidFill>
                          <a:effectLst/>
                          <a:latin typeface="+mn-lt"/>
                          <a:ea typeface="隶书" panose="02010509060101010101" pitchFamily="49" charset="-122"/>
                        </a:rPr>
                        <a:t>MOV AL, 37H </a:t>
                      </a:r>
                      <a:r>
                        <a:rPr kumimoji="0" lang="zh-CN" altLang="en-US" sz="2400" b="0" i="0" u="none" strike="noStrike" cap="none" normalizeH="0" baseline="0" dirty="0">
                          <a:ln>
                            <a:noFill/>
                          </a:ln>
                          <a:solidFill>
                            <a:schemeClr val="tx1"/>
                          </a:solidFill>
                          <a:effectLst/>
                          <a:latin typeface="+mn-lt"/>
                          <a:ea typeface="隶书" panose="02010509060101010101" pitchFamily="49" charset="-122"/>
                        </a:rPr>
                        <a:t>；操作控制字</a:t>
                      </a:r>
                      <a:endParaRPr kumimoji="0" lang="en-US" altLang="zh-CN" sz="24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defRPr/>
                      </a:pPr>
                      <a:r>
                        <a:rPr kumimoji="0" lang="en-US" altLang="zh-CN" sz="2400" b="0" i="0" u="none" strike="noStrike" cap="none" normalizeH="0" baseline="0" dirty="0">
                          <a:ln>
                            <a:noFill/>
                          </a:ln>
                          <a:solidFill>
                            <a:schemeClr val="tx1"/>
                          </a:solidFill>
                          <a:effectLst/>
                          <a:latin typeface="+mn-lt"/>
                          <a:ea typeface="隶书" panose="02010509060101010101" pitchFamily="49" charset="-122"/>
                        </a:rPr>
                        <a:t>OUT DX, AL</a:t>
                      </a:r>
                      <a:endParaRPr kumimoji="0" lang="en-US" altLang="zh-CN" sz="24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en-US" altLang="zh-CN" sz="2400" b="0" i="0" u="none" strike="noStrike" cap="none" normalizeH="0" baseline="0" dirty="0">
                          <a:ln>
                            <a:noFill/>
                          </a:ln>
                          <a:solidFill>
                            <a:schemeClr val="tx1"/>
                          </a:solidFill>
                          <a:effectLst/>
                          <a:latin typeface="+mn-lt"/>
                          <a:ea typeface="隶书" panose="02010509060101010101" pitchFamily="49" charset="-122"/>
                        </a:rPr>
                        <a:t>MOV CX, 2DH </a:t>
                      </a:r>
                      <a:r>
                        <a:rPr kumimoji="0" lang="zh-CN" altLang="en-US" sz="2400" b="0" i="0" u="none" strike="noStrike" cap="none" normalizeH="0" baseline="0" dirty="0">
                          <a:ln>
                            <a:noFill/>
                          </a:ln>
                          <a:solidFill>
                            <a:schemeClr val="tx1"/>
                          </a:solidFill>
                          <a:effectLst/>
                          <a:latin typeface="+mn-lt"/>
                          <a:ea typeface="隶书" panose="02010509060101010101" pitchFamily="49" charset="-122"/>
                        </a:rPr>
                        <a:t>；数据长度</a:t>
                      </a:r>
                      <a:endParaRPr kumimoji="0" lang="en-US" altLang="zh-CN" sz="24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en-US" altLang="zh-CN" sz="2400" b="0" i="0" u="none" strike="noStrike" cap="none" normalizeH="0" baseline="0" dirty="0">
                          <a:ln>
                            <a:noFill/>
                          </a:ln>
                          <a:solidFill>
                            <a:schemeClr val="tx1"/>
                          </a:solidFill>
                          <a:effectLst/>
                          <a:latin typeface="+mn-lt"/>
                          <a:ea typeface="隶书" panose="02010509060101010101" pitchFamily="49" charset="-122"/>
                        </a:rPr>
                        <a:t>MOV SI, OFFSET BUFFER1</a:t>
                      </a:r>
                      <a:endParaRPr kumimoji="0" lang="en-US" altLang="zh-CN" sz="24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en-US" altLang="zh-CN" sz="2400" b="0" i="0" u="none" strike="noStrike" cap="none" normalizeH="0" baseline="0" dirty="0">
                          <a:ln>
                            <a:noFill/>
                          </a:ln>
                          <a:solidFill>
                            <a:schemeClr val="tx1"/>
                          </a:solidFill>
                          <a:effectLst/>
                          <a:latin typeface="+mn-lt"/>
                          <a:ea typeface="隶书" panose="02010509060101010101" pitchFamily="49" charset="-122"/>
                        </a:rPr>
                        <a:t>L1: </a:t>
                      </a:r>
                      <a:endParaRPr kumimoji="0" lang="en-US" altLang="zh-CN" sz="24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en-US" altLang="zh-CN" sz="2400" b="0" i="0" u="none" strike="noStrike" cap="none" normalizeH="0" baseline="0" dirty="0">
                          <a:ln>
                            <a:noFill/>
                          </a:ln>
                          <a:solidFill>
                            <a:schemeClr val="tx1"/>
                          </a:solidFill>
                          <a:effectLst/>
                          <a:latin typeface="+mn-lt"/>
                          <a:ea typeface="隶书" panose="02010509060101010101" pitchFamily="49" charset="-122"/>
                        </a:rPr>
                        <a:t>MOV DX, 309H</a:t>
                      </a:r>
                      <a:endParaRPr kumimoji="0" lang="en-US" altLang="zh-CN" sz="24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en-US" altLang="zh-CN" sz="2400" b="0" i="0" u="none" strike="noStrike" cap="none" normalizeH="0" baseline="0" dirty="0">
                          <a:ln>
                            <a:noFill/>
                          </a:ln>
                          <a:solidFill>
                            <a:schemeClr val="tx1"/>
                          </a:solidFill>
                          <a:effectLst/>
                          <a:latin typeface="+mn-lt"/>
                          <a:ea typeface="隶书" panose="02010509060101010101" pitchFamily="49" charset="-122"/>
                        </a:rPr>
                        <a:t>IN AL, DX  </a:t>
                      </a:r>
                      <a:r>
                        <a:rPr kumimoji="0" lang="zh-CN" altLang="en-US" sz="2400" b="0" i="0" u="none" strike="noStrike" cap="none" normalizeH="0" baseline="0" dirty="0">
                          <a:ln>
                            <a:noFill/>
                          </a:ln>
                          <a:solidFill>
                            <a:schemeClr val="tx1"/>
                          </a:solidFill>
                          <a:effectLst/>
                          <a:latin typeface="+mn-lt"/>
                          <a:ea typeface="隶书" panose="02010509060101010101" pitchFamily="49" charset="-122"/>
                        </a:rPr>
                        <a:t>；读状态口</a:t>
                      </a:r>
                      <a:endParaRPr kumimoji="0" lang="en-US" altLang="zh-CN" sz="24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cap="flat">
                      <a:noFill/>
                    </a:lnL>
                    <a:lnR>
                      <a:noFill/>
                    </a:lnR>
                    <a:lnT cap="flat">
                      <a:noFill/>
                    </a:lnT>
                    <a:lnB cap="flat">
                      <a:noFill/>
                    </a:lnB>
                    <a:lnTlToBr>
                      <a:noFill/>
                    </a:lnTlToBr>
                    <a:lnBlToTr>
                      <a:noFill/>
                    </a:lnBlToTr>
                    <a:noFill/>
                  </a:tcPr>
                </a:tc>
              </a:tr>
            </a:tbl>
          </a:graphicData>
        </a:graphic>
      </p:graphicFrame>
      <p:sp>
        <p:nvSpPr>
          <p:cNvPr id="5" name="Rectangle 4"/>
          <p:cNvSpPr>
            <a:spLocks noChangeArrowheads="1"/>
          </p:cNvSpPr>
          <p:nvPr/>
        </p:nvSpPr>
        <p:spPr bwMode="auto">
          <a:xfrm>
            <a:off x="467544" y="368660"/>
            <a:ext cx="7848600" cy="492443"/>
          </a:xfrm>
          <a:prstGeom prst="rect">
            <a:avLst/>
          </a:prstGeom>
          <a:noFill/>
          <a:ln w="9525" algn="ctr">
            <a:noFill/>
            <a:miter lim="800000"/>
          </a:ln>
          <a:effectLst/>
        </p:spPr>
        <p:txBody>
          <a:bodyPr>
            <a:spAutoFit/>
          </a:bodyPr>
          <a:lstStyle/>
          <a:p>
            <a:r>
              <a:rPr lang="zh-CN" altLang="en-US" sz="2600" kern="0" dirty="0">
                <a:solidFill>
                  <a:schemeClr val="tx2"/>
                </a:solidFill>
                <a:effectLst>
                  <a:outerShdw blurRad="38100" dist="38100" dir="2700000" algn="tl">
                    <a:srgbClr val="C0C0C0"/>
                  </a:outerShdw>
                </a:effectLst>
                <a:latin typeface="+mj-lt"/>
                <a:cs typeface="+mj-cs"/>
              </a:rPr>
              <a:t>可编程串行通信接口</a:t>
            </a:r>
            <a:r>
              <a:rPr lang="en-US" altLang="zh-CN" sz="2600" kern="0" dirty="0">
                <a:solidFill>
                  <a:schemeClr val="tx2"/>
                </a:solidFill>
                <a:effectLst>
                  <a:outerShdw blurRad="38100" dist="38100" dir="2700000" algn="tl">
                    <a:srgbClr val="C0C0C0"/>
                  </a:outerShdw>
                </a:effectLst>
                <a:latin typeface="+mj-lt"/>
                <a:cs typeface="+mj-cs"/>
              </a:rPr>
              <a:t>8251A</a:t>
            </a:r>
            <a:endParaRPr lang="en-US" altLang="zh-CN" sz="2600" kern="0" dirty="0">
              <a:solidFill>
                <a:schemeClr val="tx2"/>
              </a:solidFill>
              <a:effectLst>
                <a:outerShdw blurRad="38100" dist="38100" dir="2700000" algn="tl">
                  <a:srgbClr val="C0C0C0"/>
                </a:outerShdw>
              </a:effectLst>
              <a:latin typeface="+mj-lt"/>
              <a:cs typeface="+mj-cs"/>
            </a:endParaRPr>
          </a:p>
        </p:txBody>
      </p:sp>
      <p:graphicFrame>
        <p:nvGraphicFramePr>
          <p:cNvPr id="6" name="Group 35"/>
          <p:cNvGraphicFramePr>
            <a:graphicFrameLocks noGrp="1"/>
          </p:cNvGraphicFramePr>
          <p:nvPr/>
        </p:nvGraphicFramePr>
        <p:xfrm>
          <a:off x="4608004" y="1304764"/>
          <a:ext cx="4392488" cy="4064000"/>
        </p:xfrm>
        <a:graphic>
          <a:graphicData uri="http://schemas.openxmlformats.org/drawingml/2006/table">
            <a:tbl>
              <a:tblPr/>
              <a:tblGrid>
                <a:gridCol w="4392488"/>
              </a:tblGrid>
              <a:tr h="4064000">
                <a:tc>
                  <a:txBody>
                    <a:bodyPr/>
                    <a:lstStyle/>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en-US" altLang="zh-CN" sz="2400" b="0" i="0" u="none" strike="noStrike" cap="none" normalizeH="0" baseline="0" dirty="0">
                          <a:ln>
                            <a:noFill/>
                          </a:ln>
                          <a:solidFill>
                            <a:schemeClr val="tx1"/>
                          </a:solidFill>
                          <a:effectLst/>
                          <a:latin typeface="+mn-lt"/>
                          <a:ea typeface="隶书" panose="02010509060101010101" pitchFamily="49" charset="-122"/>
                        </a:rPr>
                        <a:t>TEST AL, 01H;</a:t>
                      </a:r>
                      <a:r>
                        <a:rPr kumimoji="0" lang="zh-CN" altLang="en-US" sz="2400" b="0" i="0" u="none" strike="noStrike" cap="none" normalizeH="0" baseline="0" dirty="0">
                          <a:ln>
                            <a:noFill/>
                          </a:ln>
                          <a:solidFill>
                            <a:schemeClr val="tx1"/>
                          </a:solidFill>
                          <a:effectLst/>
                          <a:latin typeface="+mn-lt"/>
                          <a:ea typeface="隶书" panose="02010509060101010101" pitchFamily="49" charset="-122"/>
                        </a:rPr>
                        <a:t>检查状态口</a:t>
                      </a:r>
                      <a:r>
                        <a:rPr kumimoji="0" lang="en-US" altLang="zh-CN" sz="2400" b="0" i="0" u="none" strike="noStrike" cap="none" normalizeH="0" baseline="0" dirty="0">
                          <a:ln>
                            <a:noFill/>
                          </a:ln>
                          <a:solidFill>
                            <a:schemeClr val="tx1"/>
                          </a:solidFill>
                          <a:effectLst/>
                          <a:latin typeface="+mn-lt"/>
                          <a:ea typeface="隶书" panose="02010509060101010101" pitchFamily="49" charset="-122"/>
                        </a:rPr>
                        <a:t>D0</a:t>
                      </a:r>
                      <a:r>
                        <a:rPr kumimoji="0" lang="zh-CN" altLang="en-US" sz="2400" b="0" i="0" u="none" strike="noStrike" cap="none" normalizeH="0" baseline="0" dirty="0">
                          <a:ln>
                            <a:noFill/>
                          </a:ln>
                          <a:solidFill>
                            <a:schemeClr val="tx1"/>
                          </a:solidFill>
                          <a:effectLst/>
                          <a:latin typeface="+mn-lt"/>
                          <a:ea typeface="隶书" panose="02010509060101010101" pitchFamily="49" charset="-122"/>
                        </a:rPr>
                        <a:t>位</a:t>
                      </a:r>
                      <a:endParaRPr kumimoji="0" lang="en-US" altLang="zh-CN" sz="24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en-US" altLang="zh-CN" sz="2400" b="0" i="0" u="none" strike="noStrike" cap="none" normalizeH="0" baseline="0" dirty="0">
                          <a:ln>
                            <a:noFill/>
                          </a:ln>
                          <a:solidFill>
                            <a:schemeClr val="tx1"/>
                          </a:solidFill>
                          <a:effectLst/>
                          <a:latin typeface="+mn-lt"/>
                          <a:ea typeface="隶书" panose="02010509060101010101" pitchFamily="49" charset="-122"/>
                        </a:rPr>
                        <a:t>JZ L1  ;</a:t>
                      </a:r>
                      <a:r>
                        <a:rPr kumimoji="0" lang="zh-CN" altLang="en-US" sz="2400" b="0" i="0" u="none" strike="noStrike" cap="none" normalizeH="0" baseline="0" dirty="0">
                          <a:ln>
                            <a:noFill/>
                          </a:ln>
                          <a:solidFill>
                            <a:schemeClr val="tx1"/>
                          </a:solidFill>
                          <a:effectLst/>
                          <a:latin typeface="+mn-lt"/>
                          <a:ea typeface="隶书" panose="02010509060101010101" pitchFamily="49" charset="-122"/>
                        </a:rPr>
                        <a:t>发送未准备好，等待</a:t>
                      </a:r>
                      <a:endParaRPr kumimoji="0" lang="en-US" altLang="zh-CN" sz="24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en-US" altLang="zh-CN" sz="2400" b="0" i="0" u="none" strike="noStrike" cap="none" normalizeH="0" baseline="0" dirty="0">
                          <a:ln>
                            <a:noFill/>
                          </a:ln>
                          <a:solidFill>
                            <a:schemeClr val="tx1"/>
                          </a:solidFill>
                          <a:effectLst/>
                          <a:latin typeface="+mn-lt"/>
                          <a:ea typeface="隶书" panose="02010509060101010101" pitchFamily="49" charset="-122"/>
                        </a:rPr>
                        <a:t>MOV DX, 308H;</a:t>
                      </a:r>
                      <a:r>
                        <a:rPr kumimoji="0" lang="zh-CN" altLang="en-US" sz="2400" b="0" i="0" u="none" strike="noStrike" cap="none" normalizeH="0" baseline="0" dirty="0">
                          <a:ln>
                            <a:noFill/>
                          </a:ln>
                          <a:solidFill>
                            <a:schemeClr val="tx1"/>
                          </a:solidFill>
                          <a:effectLst/>
                          <a:latin typeface="+mn-lt"/>
                          <a:ea typeface="隶书" panose="02010509060101010101" pitchFamily="49" charset="-122"/>
                        </a:rPr>
                        <a:t>数据口</a:t>
                      </a:r>
                      <a:endParaRPr kumimoji="0" lang="en-US" altLang="zh-CN" sz="24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defRPr/>
                      </a:pPr>
                      <a:r>
                        <a:rPr kumimoji="0" lang="en-US" altLang="zh-CN" sz="2400" b="0" i="0" u="none" strike="noStrike" cap="none" normalizeH="0" baseline="0" dirty="0">
                          <a:ln>
                            <a:noFill/>
                          </a:ln>
                          <a:solidFill>
                            <a:schemeClr val="tx1"/>
                          </a:solidFill>
                          <a:effectLst/>
                          <a:latin typeface="+mn-lt"/>
                          <a:ea typeface="隶书" panose="02010509060101010101" pitchFamily="49" charset="-122"/>
                        </a:rPr>
                        <a:t>MOV AL, [SI]</a:t>
                      </a:r>
                      <a:endParaRPr kumimoji="0" lang="en-US" altLang="zh-CN" sz="24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en-US" altLang="zh-CN" sz="2400" b="0" i="0" u="none" strike="noStrike" cap="none" normalizeH="0" baseline="0" dirty="0">
                          <a:ln>
                            <a:noFill/>
                          </a:ln>
                          <a:solidFill>
                            <a:schemeClr val="tx1"/>
                          </a:solidFill>
                          <a:effectLst/>
                          <a:latin typeface="+mn-lt"/>
                          <a:ea typeface="隶书" panose="02010509060101010101" pitchFamily="49" charset="-122"/>
                        </a:rPr>
                        <a:t>OUT DX, AL ;</a:t>
                      </a:r>
                      <a:r>
                        <a:rPr kumimoji="0" lang="zh-CN" altLang="en-US" sz="2400" b="0" i="0" u="none" strike="noStrike" cap="none" normalizeH="0" baseline="0" dirty="0">
                          <a:ln>
                            <a:noFill/>
                          </a:ln>
                          <a:solidFill>
                            <a:schemeClr val="tx1"/>
                          </a:solidFill>
                          <a:effectLst/>
                          <a:latin typeface="+mn-lt"/>
                          <a:ea typeface="隶书" panose="02010509060101010101" pitchFamily="49" charset="-122"/>
                        </a:rPr>
                        <a:t>写数据</a:t>
                      </a:r>
                      <a:r>
                        <a:rPr kumimoji="0" lang="en-US" altLang="zh-CN" sz="2400" b="0" i="0" u="none" strike="noStrike" cap="none" normalizeH="0" baseline="0" dirty="0">
                          <a:ln>
                            <a:noFill/>
                          </a:ln>
                          <a:solidFill>
                            <a:schemeClr val="tx1"/>
                          </a:solidFill>
                          <a:effectLst/>
                          <a:latin typeface="+mn-lt"/>
                          <a:ea typeface="隶书" panose="02010509060101010101" pitchFamily="49" charset="-122"/>
                        </a:rPr>
                        <a:t> </a:t>
                      </a:r>
                      <a:endParaRPr kumimoji="0" lang="en-US" altLang="zh-CN" sz="24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en-US" altLang="zh-CN" sz="2400" b="0" i="0" u="none" strike="noStrike" cap="none" normalizeH="0" baseline="0" dirty="0">
                          <a:ln>
                            <a:noFill/>
                          </a:ln>
                          <a:solidFill>
                            <a:schemeClr val="tx1"/>
                          </a:solidFill>
                          <a:effectLst/>
                          <a:latin typeface="+mn-lt"/>
                          <a:ea typeface="隶书" panose="02010509060101010101" pitchFamily="49" charset="-122"/>
                        </a:rPr>
                        <a:t>INC SI</a:t>
                      </a:r>
                      <a:endParaRPr kumimoji="0" lang="en-US" altLang="zh-CN" sz="24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en-US" altLang="zh-CN" sz="2400" b="0" i="0" u="none" strike="noStrike" cap="none" normalizeH="0" baseline="0" dirty="0">
                          <a:ln>
                            <a:noFill/>
                          </a:ln>
                          <a:solidFill>
                            <a:schemeClr val="tx1"/>
                          </a:solidFill>
                          <a:effectLst/>
                          <a:latin typeface="+mn-lt"/>
                          <a:ea typeface="隶书" panose="02010509060101010101" pitchFamily="49" charset="-122"/>
                        </a:rPr>
                        <a:t>DEC CX</a:t>
                      </a:r>
                      <a:endParaRPr kumimoji="0" lang="en-US" altLang="zh-CN" sz="24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en-US" altLang="zh-CN" sz="2400" b="0" i="0" u="none" strike="noStrike" cap="none" normalizeH="0" baseline="0" dirty="0">
                          <a:ln>
                            <a:noFill/>
                          </a:ln>
                          <a:solidFill>
                            <a:schemeClr val="tx1"/>
                          </a:solidFill>
                          <a:effectLst/>
                          <a:latin typeface="+mn-lt"/>
                          <a:ea typeface="隶书" panose="02010509060101010101" pitchFamily="49" charset="-122"/>
                        </a:rPr>
                        <a:t>JNZ L1</a:t>
                      </a:r>
                      <a:endParaRPr kumimoji="0" lang="en-US" altLang="zh-CN" sz="24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en-US" altLang="zh-CN" sz="2400" b="0" i="0" u="none" strike="noStrike" cap="none" normalizeH="0" baseline="0" dirty="0">
                          <a:ln>
                            <a:noFill/>
                          </a:ln>
                          <a:solidFill>
                            <a:schemeClr val="tx1"/>
                          </a:solidFill>
                          <a:effectLst/>
                          <a:latin typeface="+mn-lt"/>
                          <a:ea typeface="隶书" panose="02010509060101010101" pitchFamily="49" charset="-122"/>
                        </a:rPr>
                        <a:t>……</a:t>
                      </a:r>
                      <a:endParaRPr kumimoji="0" lang="en-US" altLang="zh-CN" sz="24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cap="flat">
                      <a:noFill/>
                    </a:lnL>
                    <a:lnR>
                      <a:noFill/>
                    </a:lnR>
                    <a:lnT cap="flat">
                      <a:noFill/>
                    </a:lnT>
                    <a:lnB cap="flat">
                      <a:noFill/>
                    </a:lnB>
                    <a:lnTlToBr>
                      <a:noFill/>
                    </a:lnTlToBr>
                    <a:lnBlToTr>
                      <a:noFill/>
                    </a:lnBlToTr>
                    <a:noFill/>
                  </a:tcPr>
                </a:tc>
              </a:tr>
            </a:tbl>
          </a:graphicData>
        </a:graphic>
      </p:graphicFrame>
      <p:graphicFrame>
        <p:nvGraphicFramePr>
          <p:cNvPr id="8" name="Group 61"/>
          <p:cNvGraphicFramePr>
            <a:graphicFrameLocks noGrp="1"/>
          </p:cNvGraphicFramePr>
          <p:nvPr/>
        </p:nvGraphicFramePr>
        <p:xfrm>
          <a:off x="683568" y="5985284"/>
          <a:ext cx="7516812" cy="457200"/>
        </p:xfrm>
        <a:graphic>
          <a:graphicData uri="http://schemas.openxmlformats.org/drawingml/2006/table">
            <a:tbl>
              <a:tblPr/>
              <a:tblGrid>
                <a:gridCol w="827087"/>
                <a:gridCol w="1152525"/>
                <a:gridCol w="846138"/>
                <a:gridCol w="846137"/>
                <a:gridCol w="846138"/>
                <a:gridCol w="846137"/>
                <a:gridCol w="1076325"/>
                <a:gridCol w="1076325"/>
              </a:tblGrid>
              <a:tr h="433388">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400" b="1" i="0" u="none" strike="noStrike" cap="none" normalizeH="0" baseline="0" dirty="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rPr>
                        <a:t>DSR</a:t>
                      </a:r>
                      <a:endParaRPr kumimoji="0" lang="en-US" altLang="zh-CN" sz="2400" b="1" i="0" u="none" strike="noStrike" cap="none" normalizeH="0" baseline="0" dirty="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rPr>
                        <a:t>SYNDET</a:t>
                      </a:r>
                      <a:endPar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rPr>
                        <a:t>FE</a:t>
                      </a:r>
                      <a:endPar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rPr>
                        <a:t>OE</a:t>
                      </a:r>
                      <a:endPar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rPr>
                        <a:t>PE</a:t>
                      </a:r>
                      <a:endPar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rPr>
                        <a:t>TxE</a:t>
                      </a:r>
                      <a:endPar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400" b="1" i="0" u="none" strike="noStrike" cap="none" normalizeH="0" baseline="0" dirty="0" err="1">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rPr>
                        <a:t>RxRDY</a:t>
                      </a:r>
                      <a:endParaRPr kumimoji="0" lang="en-US" altLang="zh-CN" sz="2400" b="1" i="0" u="none" strike="noStrike" cap="none" normalizeH="0" baseline="0" dirty="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400" b="1" i="0" u="none" strike="noStrike" cap="none" normalizeH="0" baseline="0" dirty="0" err="1">
                          <a:ln>
                            <a:noFill/>
                          </a:ln>
                          <a:solidFill>
                            <a:srgbClr val="FF0000"/>
                          </a:solidFill>
                          <a:effectLst>
                            <a:outerShdw blurRad="38100" dist="38100" dir="2700000" algn="tl">
                              <a:srgbClr val="C0C0C0"/>
                            </a:outerShdw>
                          </a:effectLst>
                          <a:latin typeface="隶书" panose="02010509060101010101" pitchFamily="49" charset="-122"/>
                          <a:ea typeface="隶书" panose="02010509060101010101" pitchFamily="49" charset="-122"/>
                        </a:rPr>
                        <a:t>TxRDY</a:t>
                      </a:r>
                      <a:endParaRPr kumimoji="0" lang="en-US" altLang="zh-CN" sz="2400" b="1" i="0" u="none" strike="noStrike" cap="none" normalizeH="0" baseline="0" dirty="0">
                        <a:ln>
                          <a:noFill/>
                        </a:ln>
                        <a:solidFill>
                          <a:srgbClr val="FF0000"/>
                        </a:solidFill>
                        <a:effectLst>
                          <a:outerShdw blurRad="38100" dist="38100" dir="2700000" algn="tl">
                            <a:srgbClr val="C0C0C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467544" y="368660"/>
            <a:ext cx="7848600" cy="492443"/>
          </a:xfrm>
          <a:prstGeom prst="rect">
            <a:avLst/>
          </a:prstGeom>
          <a:noFill/>
          <a:ln w="9525" algn="ctr">
            <a:noFill/>
            <a:miter lim="800000"/>
          </a:ln>
          <a:effectLst/>
        </p:spPr>
        <p:txBody>
          <a:bodyPr>
            <a:spAutoFit/>
          </a:bodyPr>
          <a:lstStyle/>
          <a:p>
            <a:r>
              <a:rPr lang="zh-CN" altLang="en-US" sz="2600" kern="0" dirty="0">
                <a:solidFill>
                  <a:schemeClr val="tx2"/>
                </a:solidFill>
                <a:effectLst>
                  <a:outerShdw blurRad="38100" dist="38100" dir="2700000" algn="tl">
                    <a:srgbClr val="C0C0C0"/>
                  </a:outerShdw>
                </a:effectLst>
                <a:latin typeface="+mj-lt"/>
                <a:cs typeface="+mj-cs"/>
              </a:rPr>
              <a:t>可编程串行通信接口</a:t>
            </a:r>
            <a:r>
              <a:rPr lang="en-US" altLang="zh-CN" sz="2600" kern="0" dirty="0">
                <a:solidFill>
                  <a:schemeClr val="tx2"/>
                </a:solidFill>
                <a:effectLst>
                  <a:outerShdw blurRad="38100" dist="38100" dir="2700000" algn="tl">
                    <a:srgbClr val="C0C0C0"/>
                  </a:outerShdw>
                </a:effectLst>
                <a:latin typeface="+mj-lt"/>
                <a:cs typeface="+mj-cs"/>
              </a:rPr>
              <a:t>8251A</a:t>
            </a:r>
            <a:endParaRPr lang="en-US" altLang="zh-CN" sz="2600" kern="0" dirty="0">
              <a:solidFill>
                <a:schemeClr val="tx2"/>
              </a:solidFill>
              <a:effectLst>
                <a:outerShdw blurRad="38100" dist="38100" dir="2700000" algn="tl">
                  <a:srgbClr val="C0C0C0"/>
                </a:outerShdw>
              </a:effectLst>
              <a:latin typeface="+mj-lt"/>
              <a:cs typeface="+mj-cs"/>
            </a:endParaRPr>
          </a:p>
        </p:txBody>
      </p:sp>
      <p:pic>
        <p:nvPicPr>
          <p:cNvPr id="6" name="图片 5"/>
          <p:cNvPicPr>
            <a:picLocks noChangeAspect="1"/>
          </p:cNvPicPr>
          <p:nvPr/>
        </p:nvPicPr>
        <p:blipFill>
          <a:blip r:embed="rId1"/>
          <a:stretch>
            <a:fillRect/>
          </a:stretch>
        </p:blipFill>
        <p:spPr>
          <a:xfrm>
            <a:off x="611560" y="1016732"/>
            <a:ext cx="4472199" cy="2916324"/>
          </a:xfrm>
          <a:prstGeom prst="rect">
            <a:avLst/>
          </a:prstGeom>
        </p:spPr>
      </p:pic>
      <p:pic>
        <p:nvPicPr>
          <p:cNvPr id="7" name="图片 6"/>
          <p:cNvPicPr>
            <a:picLocks noChangeAspect="1"/>
          </p:cNvPicPr>
          <p:nvPr/>
        </p:nvPicPr>
        <p:blipFill>
          <a:blip r:embed="rId2"/>
          <a:stretch>
            <a:fillRect/>
          </a:stretch>
        </p:blipFill>
        <p:spPr>
          <a:xfrm>
            <a:off x="539552" y="3998565"/>
            <a:ext cx="4392488" cy="2861604"/>
          </a:xfrm>
          <a:prstGeom prst="rect">
            <a:avLst/>
          </a:prstGeom>
        </p:spPr>
      </p:pic>
      <p:sp>
        <p:nvSpPr>
          <p:cNvPr id="2" name="矩形 1"/>
          <p:cNvSpPr/>
          <p:nvPr/>
        </p:nvSpPr>
        <p:spPr>
          <a:xfrm>
            <a:off x="5400092" y="1003392"/>
            <a:ext cx="3048523" cy="4653646"/>
          </a:xfrm>
          <a:prstGeom prst="rect">
            <a:avLst/>
          </a:prstGeom>
        </p:spPr>
        <p:txBody>
          <a:bodyPr wrap="square">
            <a:spAutoFit/>
          </a:bodyPr>
          <a:lstStyle/>
          <a:p>
            <a:pPr algn="just">
              <a:lnSpc>
                <a:spcPct val="150000"/>
              </a:lnSpc>
            </a:pPr>
            <a:r>
              <a:rPr lang="zh-CN" altLang="en-US" sz="2000" dirty="0"/>
              <a:t>接收端：</a:t>
            </a:r>
            <a:endParaRPr lang="en-US" altLang="zh-CN" sz="2000" dirty="0"/>
          </a:p>
          <a:p>
            <a:pPr marL="342900" indent="-342900" algn="just">
              <a:lnSpc>
                <a:spcPct val="150000"/>
              </a:lnSpc>
              <a:buFont typeface="Wingdings" panose="05000000000000000000" pitchFamily="2" charset="2"/>
              <a:buChar char="u"/>
            </a:pPr>
            <a:r>
              <a:rPr lang="zh-CN" altLang="en-US" sz="2000" dirty="0"/>
              <a:t>采用异步方式，字符长度为</a:t>
            </a:r>
            <a:r>
              <a:rPr lang="en-US" altLang="zh-CN" sz="2000" dirty="0"/>
              <a:t>8</a:t>
            </a:r>
            <a:r>
              <a:rPr lang="zh-CN" altLang="en-US" sz="2000" dirty="0"/>
              <a:t>位，</a:t>
            </a:r>
            <a:r>
              <a:rPr lang="en-US" altLang="zh-CN" sz="2000" dirty="0"/>
              <a:t>2</a:t>
            </a:r>
            <a:r>
              <a:rPr lang="zh-CN" altLang="en-US" sz="2000" dirty="0"/>
              <a:t>个停止位，波特率因子为</a:t>
            </a:r>
            <a:r>
              <a:rPr lang="en-US" altLang="zh-CN" sz="2000" dirty="0"/>
              <a:t>64</a:t>
            </a:r>
            <a:r>
              <a:rPr lang="zh-CN" altLang="en-US" sz="2000" dirty="0"/>
              <a:t>，无校验；</a:t>
            </a:r>
            <a:endParaRPr lang="en-US" altLang="zh-CN" sz="2000" dirty="0"/>
          </a:p>
          <a:p>
            <a:pPr marL="342900" indent="-342900" algn="just">
              <a:lnSpc>
                <a:spcPct val="150000"/>
              </a:lnSpc>
              <a:buFont typeface="Wingdings" panose="05000000000000000000" pitchFamily="2" charset="2"/>
              <a:buChar char="u"/>
            </a:pPr>
            <a:r>
              <a:rPr lang="zh-CN" altLang="en-US" sz="2000" dirty="0"/>
              <a:t>模式字为：</a:t>
            </a:r>
            <a:endParaRPr lang="en-US" altLang="zh-CN" sz="2000" dirty="0"/>
          </a:p>
          <a:p>
            <a:pPr algn="just">
              <a:lnSpc>
                <a:spcPct val="150000"/>
              </a:lnSpc>
            </a:pPr>
            <a:r>
              <a:rPr lang="en-US" altLang="zh-CN" sz="2000" dirty="0"/>
              <a:t>	11001111</a:t>
            </a:r>
            <a:r>
              <a:rPr lang="zh-CN" altLang="en-US" sz="2000" dirty="0"/>
              <a:t>：</a:t>
            </a:r>
            <a:r>
              <a:rPr lang="en-US" altLang="zh-CN" sz="2000" dirty="0"/>
              <a:t>0CFH</a:t>
            </a:r>
            <a:endParaRPr lang="en-US" altLang="zh-CN" sz="2000" dirty="0"/>
          </a:p>
          <a:p>
            <a:pPr marL="342900" indent="-342900" algn="just">
              <a:lnSpc>
                <a:spcPct val="150000"/>
              </a:lnSpc>
              <a:buFont typeface="Wingdings" panose="05000000000000000000" pitchFamily="2" charset="2"/>
              <a:buChar char="u"/>
            </a:pPr>
            <a:r>
              <a:rPr lang="zh-CN" altLang="en-US" sz="2000" dirty="0"/>
              <a:t>操作控制字为：</a:t>
            </a:r>
            <a:endParaRPr lang="en-US" altLang="zh-CN" sz="2000" dirty="0"/>
          </a:p>
          <a:p>
            <a:pPr algn="just">
              <a:lnSpc>
                <a:spcPct val="150000"/>
              </a:lnSpc>
            </a:pPr>
            <a:r>
              <a:rPr lang="en-US" altLang="zh-CN" sz="2000" dirty="0"/>
              <a:t>	00010100</a:t>
            </a:r>
            <a:r>
              <a:rPr lang="zh-CN" altLang="en-US" sz="2000" dirty="0"/>
              <a:t>：</a:t>
            </a:r>
            <a:r>
              <a:rPr lang="en-US" altLang="zh-CN" sz="2000" dirty="0"/>
              <a:t>014H</a:t>
            </a:r>
            <a:endParaRPr lang="en-US" altLang="zh-CN" sz="2000" dirty="0"/>
          </a:p>
          <a:p>
            <a:pPr algn="just">
              <a:lnSpc>
                <a:spcPct val="150000"/>
              </a:lnSpc>
            </a:pPr>
            <a:endParaRPr lang="en-US" altLang="zh-CN" sz="20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467544" y="368660"/>
            <a:ext cx="7848600" cy="492443"/>
          </a:xfrm>
          <a:prstGeom prst="rect">
            <a:avLst/>
          </a:prstGeom>
          <a:noFill/>
          <a:ln w="9525" algn="ctr">
            <a:noFill/>
            <a:miter lim="800000"/>
          </a:ln>
          <a:effectLst/>
        </p:spPr>
        <p:txBody>
          <a:bodyPr>
            <a:spAutoFit/>
          </a:bodyPr>
          <a:lstStyle/>
          <a:p>
            <a:r>
              <a:rPr lang="zh-CN" altLang="en-US" sz="2600" kern="0" dirty="0">
                <a:solidFill>
                  <a:schemeClr val="tx2"/>
                </a:solidFill>
                <a:effectLst>
                  <a:outerShdw blurRad="38100" dist="38100" dir="2700000" algn="tl">
                    <a:srgbClr val="C0C0C0"/>
                  </a:outerShdw>
                </a:effectLst>
                <a:latin typeface="+mj-lt"/>
                <a:cs typeface="+mj-cs"/>
              </a:rPr>
              <a:t>可编程串行通信接口</a:t>
            </a:r>
            <a:r>
              <a:rPr lang="en-US" altLang="zh-CN" sz="2600" kern="0" dirty="0">
                <a:solidFill>
                  <a:schemeClr val="tx2"/>
                </a:solidFill>
                <a:effectLst>
                  <a:outerShdw blurRad="38100" dist="38100" dir="2700000" algn="tl">
                    <a:srgbClr val="C0C0C0"/>
                  </a:outerShdw>
                </a:effectLst>
                <a:latin typeface="+mj-lt"/>
                <a:cs typeface="+mj-cs"/>
              </a:rPr>
              <a:t>8251A</a:t>
            </a:r>
            <a:endParaRPr lang="en-US" altLang="zh-CN" sz="2600" kern="0" dirty="0">
              <a:solidFill>
                <a:schemeClr val="tx2"/>
              </a:solidFill>
              <a:effectLst>
                <a:outerShdw blurRad="38100" dist="38100" dir="2700000" algn="tl">
                  <a:srgbClr val="C0C0C0"/>
                </a:outerShdw>
              </a:effectLst>
              <a:latin typeface="+mj-lt"/>
              <a:cs typeface="+mj-cs"/>
            </a:endParaRPr>
          </a:p>
        </p:txBody>
      </p:sp>
      <p:graphicFrame>
        <p:nvGraphicFramePr>
          <p:cNvPr id="7" name="Group 35"/>
          <p:cNvGraphicFramePr>
            <a:graphicFrameLocks noGrp="1"/>
          </p:cNvGraphicFramePr>
          <p:nvPr/>
        </p:nvGraphicFramePr>
        <p:xfrm>
          <a:off x="539552" y="980728"/>
          <a:ext cx="3420380" cy="4663440"/>
        </p:xfrm>
        <a:graphic>
          <a:graphicData uri="http://schemas.openxmlformats.org/drawingml/2006/table">
            <a:tbl>
              <a:tblPr/>
              <a:tblGrid>
                <a:gridCol w="3420380"/>
              </a:tblGrid>
              <a:tr h="4064000">
                <a:tc>
                  <a:txBody>
                    <a:bodyPr/>
                    <a:lstStyle/>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zh-CN" altLang="en-US" sz="2000" b="0" i="0" u="none" strike="noStrike" cap="none" normalizeH="0" baseline="0" dirty="0">
                          <a:ln>
                            <a:noFill/>
                          </a:ln>
                          <a:solidFill>
                            <a:schemeClr val="tx1"/>
                          </a:solidFill>
                          <a:effectLst/>
                          <a:latin typeface="+mn-lt"/>
                          <a:ea typeface="隶书" panose="02010509060101010101" pitchFamily="49" charset="-122"/>
                        </a:rPr>
                        <a:t>接收端程序：</a:t>
                      </a:r>
                      <a:endParaRPr kumimoji="0" lang="zh-CN" altLang="en-US" sz="20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en-US" altLang="zh-CN" sz="2000" b="0" i="0" u="none" strike="noStrike" cap="none" normalizeH="0" baseline="0" dirty="0">
                          <a:ln>
                            <a:noFill/>
                          </a:ln>
                          <a:solidFill>
                            <a:schemeClr val="tx1"/>
                          </a:solidFill>
                          <a:effectLst/>
                          <a:latin typeface="+mn-lt"/>
                          <a:ea typeface="隶书" panose="02010509060101010101" pitchFamily="49" charset="-122"/>
                        </a:rPr>
                        <a:t>MOV DX, 309H ;</a:t>
                      </a:r>
                      <a:r>
                        <a:rPr kumimoji="0" lang="zh-CN" altLang="en-US" sz="2000" b="0" i="0" u="none" strike="noStrike" cap="none" normalizeH="0" baseline="0" dirty="0">
                          <a:ln>
                            <a:noFill/>
                          </a:ln>
                          <a:solidFill>
                            <a:schemeClr val="tx1"/>
                          </a:solidFill>
                          <a:effectLst/>
                          <a:latin typeface="+mn-lt"/>
                          <a:ea typeface="隶书" panose="02010509060101010101" pitchFamily="49" charset="-122"/>
                        </a:rPr>
                        <a:t>控制口</a:t>
                      </a:r>
                      <a:endParaRPr kumimoji="0" lang="en-US" altLang="zh-CN" sz="20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en-US" altLang="zh-CN" sz="2000" b="0" i="0" u="none" strike="noStrike" cap="none" normalizeH="0" baseline="0" dirty="0">
                          <a:ln>
                            <a:noFill/>
                          </a:ln>
                          <a:solidFill>
                            <a:schemeClr val="tx1"/>
                          </a:solidFill>
                          <a:effectLst/>
                          <a:latin typeface="+mn-lt"/>
                          <a:ea typeface="隶书" panose="02010509060101010101" pitchFamily="49" charset="-122"/>
                        </a:rPr>
                        <a:t>MOV AL, 40H ;</a:t>
                      </a:r>
                      <a:r>
                        <a:rPr kumimoji="0" lang="zh-CN" altLang="en-US" sz="2000" b="0" i="0" u="none" strike="noStrike" cap="none" normalizeH="0" baseline="0" dirty="0">
                          <a:ln>
                            <a:noFill/>
                          </a:ln>
                          <a:solidFill>
                            <a:schemeClr val="tx1"/>
                          </a:solidFill>
                          <a:effectLst/>
                          <a:latin typeface="+mn-lt"/>
                          <a:ea typeface="隶书" panose="02010509060101010101" pitchFamily="49" charset="-122"/>
                        </a:rPr>
                        <a:t>内部复位</a:t>
                      </a:r>
                      <a:endParaRPr kumimoji="0" lang="en-US" altLang="zh-CN" sz="20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en-US" altLang="zh-CN" sz="2000" b="0" i="0" u="none" strike="noStrike" cap="none" normalizeH="0" baseline="0" dirty="0">
                          <a:ln>
                            <a:noFill/>
                          </a:ln>
                          <a:solidFill>
                            <a:schemeClr val="tx1"/>
                          </a:solidFill>
                          <a:effectLst/>
                          <a:latin typeface="+mn-lt"/>
                          <a:ea typeface="隶书" panose="02010509060101010101" pitchFamily="49" charset="-122"/>
                        </a:rPr>
                        <a:t>OUT DX, AL</a:t>
                      </a:r>
                      <a:endParaRPr kumimoji="0" lang="en-US" altLang="zh-CN" sz="20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defRPr/>
                      </a:pPr>
                      <a:r>
                        <a:rPr kumimoji="0" lang="en-US" altLang="zh-CN" sz="2000" b="0" i="0" u="none" strike="noStrike" cap="none" normalizeH="0" baseline="0" dirty="0">
                          <a:ln>
                            <a:noFill/>
                          </a:ln>
                          <a:solidFill>
                            <a:schemeClr val="tx1"/>
                          </a:solidFill>
                          <a:effectLst/>
                          <a:latin typeface="+mn-lt"/>
                          <a:ea typeface="隶书" panose="02010509060101010101" pitchFamily="49" charset="-122"/>
                        </a:rPr>
                        <a:t>MOV AL, 0CFH ;</a:t>
                      </a:r>
                      <a:r>
                        <a:rPr kumimoji="0" lang="zh-CN" altLang="en-US" sz="2000" b="0" i="0" u="none" strike="noStrike" cap="none" normalizeH="0" baseline="0" dirty="0">
                          <a:ln>
                            <a:noFill/>
                          </a:ln>
                          <a:solidFill>
                            <a:schemeClr val="tx1"/>
                          </a:solidFill>
                          <a:effectLst/>
                          <a:latin typeface="+mn-lt"/>
                          <a:ea typeface="隶书" panose="02010509060101010101" pitchFamily="49" charset="-122"/>
                        </a:rPr>
                        <a:t>模式字</a:t>
                      </a:r>
                      <a:endParaRPr kumimoji="0" lang="en-US" altLang="zh-CN" sz="20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en-US" altLang="zh-CN" sz="2000" b="0" i="0" u="none" strike="noStrike" cap="none" normalizeH="0" baseline="0" dirty="0">
                          <a:ln>
                            <a:noFill/>
                          </a:ln>
                          <a:solidFill>
                            <a:schemeClr val="tx1"/>
                          </a:solidFill>
                          <a:effectLst/>
                          <a:latin typeface="+mn-lt"/>
                          <a:ea typeface="隶书" panose="02010509060101010101" pitchFamily="49" charset="-122"/>
                        </a:rPr>
                        <a:t>OUT DX, AL</a:t>
                      </a:r>
                      <a:endParaRPr kumimoji="0" lang="en-US" altLang="zh-CN" sz="20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en-US" altLang="zh-CN" sz="2000" b="0" i="0" u="none" strike="noStrike" cap="none" normalizeH="0" baseline="0" dirty="0">
                          <a:ln>
                            <a:noFill/>
                          </a:ln>
                          <a:solidFill>
                            <a:schemeClr val="tx1"/>
                          </a:solidFill>
                          <a:effectLst/>
                          <a:latin typeface="+mn-lt"/>
                          <a:ea typeface="隶书" panose="02010509060101010101" pitchFamily="49" charset="-122"/>
                        </a:rPr>
                        <a:t>MOV AL, 14H ;</a:t>
                      </a:r>
                      <a:r>
                        <a:rPr kumimoji="0" lang="zh-CN" altLang="en-US" sz="2000" b="0" i="0" u="none" strike="noStrike" cap="none" normalizeH="0" baseline="0" dirty="0">
                          <a:ln>
                            <a:noFill/>
                          </a:ln>
                          <a:solidFill>
                            <a:schemeClr val="tx1"/>
                          </a:solidFill>
                          <a:effectLst/>
                          <a:latin typeface="+mn-lt"/>
                          <a:ea typeface="隶书" panose="02010509060101010101" pitchFamily="49" charset="-122"/>
                        </a:rPr>
                        <a:t>操作控制字</a:t>
                      </a:r>
                      <a:endParaRPr kumimoji="0" lang="en-US" altLang="zh-CN" sz="20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defRPr/>
                      </a:pPr>
                      <a:r>
                        <a:rPr kumimoji="0" lang="en-US" altLang="zh-CN" sz="2000" b="0" i="0" u="none" strike="noStrike" cap="none" normalizeH="0" baseline="0" dirty="0">
                          <a:ln>
                            <a:noFill/>
                          </a:ln>
                          <a:solidFill>
                            <a:schemeClr val="tx1"/>
                          </a:solidFill>
                          <a:effectLst/>
                          <a:latin typeface="+mn-lt"/>
                          <a:ea typeface="隶书" panose="02010509060101010101" pitchFamily="49" charset="-122"/>
                        </a:rPr>
                        <a:t>OUT DX, AL</a:t>
                      </a:r>
                      <a:endParaRPr kumimoji="0" lang="en-US" altLang="zh-CN" sz="20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en-US" altLang="zh-CN" sz="2000" b="0" i="0" u="none" strike="noStrike" cap="none" normalizeH="0" baseline="0" dirty="0">
                          <a:ln>
                            <a:noFill/>
                          </a:ln>
                          <a:solidFill>
                            <a:schemeClr val="tx1"/>
                          </a:solidFill>
                          <a:effectLst/>
                          <a:latin typeface="+mn-lt"/>
                          <a:ea typeface="隶书" panose="02010509060101010101" pitchFamily="49" charset="-122"/>
                        </a:rPr>
                        <a:t>MOV CX, 2DH</a:t>
                      </a:r>
                      <a:endParaRPr kumimoji="0" lang="en-US" altLang="zh-CN" sz="20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en-US" altLang="zh-CN" sz="2000" b="0" i="0" u="none" strike="noStrike" cap="none" normalizeH="0" baseline="0" dirty="0">
                          <a:ln>
                            <a:noFill/>
                          </a:ln>
                          <a:solidFill>
                            <a:schemeClr val="tx1"/>
                          </a:solidFill>
                          <a:effectLst/>
                          <a:latin typeface="+mn-lt"/>
                          <a:ea typeface="隶书" panose="02010509060101010101" pitchFamily="49" charset="-122"/>
                        </a:rPr>
                        <a:t>MOV DI, OFFSET BUFFER2</a:t>
                      </a:r>
                      <a:endParaRPr kumimoji="0" lang="en-US" altLang="zh-CN" sz="20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en-US" altLang="zh-CN" sz="2000" b="0" i="0" u="none" strike="noStrike" cap="none" normalizeH="0" baseline="0" dirty="0">
                          <a:ln>
                            <a:noFill/>
                          </a:ln>
                          <a:solidFill>
                            <a:schemeClr val="tx1"/>
                          </a:solidFill>
                          <a:effectLst/>
                          <a:latin typeface="+mn-lt"/>
                          <a:ea typeface="隶书" panose="02010509060101010101" pitchFamily="49" charset="-122"/>
                        </a:rPr>
                        <a:t>L2: </a:t>
                      </a:r>
                      <a:endParaRPr kumimoji="0" lang="en-US" altLang="zh-CN" sz="20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en-US" altLang="zh-CN" sz="2000" b="0" i="0" u="none" strike="noStrike" cap="none" normalizeH="0" baseline="0" dirty="0">
                          <a:ln>
                            <a:noFill/>
                          </a:ln>
                          <a:solidFill>
                            <a:schemeClr val="tx1"/>
                          </a:solidFill>
                          <a:effectLst/>
                          <a:latin typeface="+mn-lt"/>
                          <a:ea typeface="隶书" panose="02010509060101010101" pitchFamily="49" charset="-122"/>
                        </a:rPr>
                        <a:t>MOV DX, 309H</a:t>
                      </a:r>
                      <a:endParaRPr kumimoji="0" lang="en-US" altLang="zh-CN" sz="20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en-US" altLang="zh-CN" sz="2000" b="0" i="0" u="none" strike="noStrike" cap="none" normalizeH="0" baseline="0" dirty="0">
                          <a:ln>
                            <a:noFill/>
                          </a:ln>
                          <a:solidFill>
                            <a:schemeClr val="tx1"/>
                          </a:solidFill>
                          <a:effectLst/>
                          <a:latin typeface="+mn-lt"/>
                          <a:ea typeface="隶书" panose="02010509060101010101" pitchFamily="49" charset="-122"/>
                        </a:rPr>
                        <a:t>IN AL, DX ;</a:t>
                      </a:r>
                      <a:r>
                        <a:rPr kumimoji="0" lang="zh-CN" altLang="en-US" sz="2000" b="0" i="0" u="none" strike="noStrike" cap="none" normalizeH="0" baseline="0" dirty="0">
                          <a:ln>
                            <a:noFill/>
                          </a:ln>
                          <a:solidFill>
                            <a:schemeClr val="tx1"/>
                          </a:solidFill>
                          <a:effectLst/>
                          <a:latin typeface="+mn-lt"/>
                          <a:ea typeface="隶书" panose="02010509060101010101" pitchFamily="49" charset="-122"/>
                        </a:rPr>
                        <a:t>读状态</a:t>
                      </a:r>
                      <a:endParaRPr kumimoji="0" lang="en-US" altLang="zh-CN" sz="20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en-US" altLang="zh-CN" sz="2000" b="0" i="0" u="none" strike="noStrike" cap="none" normalizeH="0" baseline="0" dirty="0">
                          <a:ln>
                            <a:noFill/>
                          </a:ln>
                          <a:solidFill>
                            <a:schemeClr val="tx1"/>
                          </a:solidFill>
                          <a:effectLst/>
                          <a:latin typeface="+mn-lt"/>
                          <a:ea typeface="隶书" panose="02010509060101010101" pitchFamily="49" charset="-122"/>
                        </a:rPr>
                        <a:t>TEST AL, 38H ;</a:t>
                      </a:r>
                      <a:r>
                        <a:rPr kumimoji="0" lang="zh-CN" altLang="en-US" sz="2000" b="0" i="0" u="none" strike="noStrike" cap="none" normalizeH="0" baseline="0" dirty="0">
                          <a:ln>
                            <a:noFill/>
                          </a:ln>
                          <a:solidFill>
                            <a:schemeClr val="tx1"/>
                          </a:solidFill>
                          <a:effectLst/>
                          <a:latin typeface="+mn-lt"/>
                          <a:ea typeface="隶书" panose="02010509060101010101" pitchFamily="49" charset="-122"/>
                        </a:rPr>
                        <a:t>查错误状态位</a:t>
                      </a:r>
                      <a:endParaRPr kumimoji="0" lang="en-US" altLang="zh-CN" sz="20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en-US" altLang="zh-CN" sz="2000" b="0" i="0" u="none" strike="noStrike" cap="none" normalizeH="0" baseline="0" dirty="0">
                          <a:ln>
                            <a:noFill/>
                          </a:ln>
                          <a:solidFill>
                            <a:schemeClr val="tx1"/>
                          </a:solidFill>
                          <a:effectLst/>
                          <a:latin typeface="+mn-lt"/>
                          <a:ea typeface="隶书" panose="02010509060101010101" pitchFamily="49" charset="-122"/>
                        </a:rPr>
                        <a:t>JNZ ERR</a:t>
                      </a:r>
                      <a:endParaRPr kumimoji="0" lang="en-US" altLang="zh-CN" sz="20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cap="flat">
                      <a:noFill/>
                    </a:lnL>
                    <a:lnR>
                      <a:noFill/>
                    </a:lnR>
                    <a:lnT cap="flat">
                      <a:noFill/>
                    </a:lnT>
                    <a:lnB cap="flat">
                      <a:noFill/>
                    </a:lnB>
                    <a:lnTlToBr>
                      <a:noFill/>
                    </a:lnTlToBr>
                    <a:lnBlToTr>
                      <a:noFill/>
                    </a:lnBlToTr>
                    <a:noFill/>
                  </a:tcPr>
                </a:tc>
              </a:tr>
            </a:tbl>
          </a:graphicData>
        </a:graphic>
      </p:graphicFrame>
      <p:graphicFrame>
        <p:nvGraphicFramePr>
          <p:cNvPr id="8" name="Group 35"/>
          <p:cNvGraphicFramePr>
            <a:graphicFrameLocks noGrp="1"/>
          </p:cNvGraphicFramePr>
          <p:nvPr/>
        </p:nvGraphicFramePr>
        <p:xfrm>
          <a:off x="4535996" y="1124744"/>
          <a:ext cx="3420380" cy="4064000"/>
        </p:xfrm>
        <a:graphic>
          <a:graphicData uri="http://schemas.openxmlformats.org/drawingml/2006/table">
            <a:tbl>
              <a:tblPr/>
              <a:tblGrid>
                <a:gridCol w="3420380"/>
              </a:tblGrid>
              <a:tr h="4064000">
                <a:tc>
                  <a:txBody>
                    <a:bodyPr/>
                    <a:lstStyle/>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en-US" altLang="zh-CN" sz="2000" b="0" i="0" u="none" strike="noStrike" cap="none" normalizeH="0" baseline="0" dirty="0">
                          <a:ln>
                            <a:noFill/>
                          </a:ln>
                          <a:solidFill>
                            <a:schemeClr val="tx1"/>
                          </a:solidFill>
                          <a:effectLst/>
                          <a:latin typeface="+mn-lt"/>
                          <a:ea typeface="隶书" panose="02010509060101010101" pitchFamily="49" charset="-122"/>
                        </a:rPr>
                        <a:t>AND AL, 02H</a:t>
                      </a:r>
                      <a:endParaRPr kumimoji="0" lang="en-US" altLang="zh-CN" sz="20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en-US" altLang="zh-CN" sz="2000" b="0" i="0" u="none" strike="noStrike" cap="none" normalizeH="0" baseline="0" dirty="0">
                          <a:ln>
                            <a:noFill/>
                          </a:ln>
                          <a:solidFill>
                            <a:schemeClr val="tx1"/>
                          </a:solidFill>
                          <a:effectLst/>
                          <a:latin typeface="+mn-lt"/>
                          <a:ea typeface="隶书" panose="02010509060101010101" pitchFamily="49" charset="-122"/>
                        </a:rPr>
                        <a:t>JZ L2 ;</a:t>
                      </a:r>
                      <a:r>
                        <a:rPr kumimoji="0" lang="zh-CN" altLang="en-US" sz="2000" b="0" i="0" u="none" strike="noStrike" cap="none" normalizeH="0" baseline="0" dirty="0">
                          <a:ln>
                            <a:noFill/>
                          </a:ln>
                          <a:solidFill>
                            <a:schemeClr val="tx1"/>
                          </a:solidFill>
                          <a:effectLst/>
                          <a:latin typeface="+mn-lt"/>
                          <a:ea typeface="隶书" panose="02010509060101010101" pitchFamily="49" charset="-122"/>
                        </a:rPr>
                        <a:t>接收未就绪</a:t>
                      </a:r>
                      <a:endParaRPr kumimoji="0" lang="en-US" altLang="zh-CN" sz="20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en-US" altLang="zh-CN" sz="2000" b="0" i="0" u="none" strike="noStrike" cap="none" normalizeH="0" baseline="0" dirty="0">
                          <a:ln>
                            <a:noFill/>
                          </a:ln>
                          <a:solidFill>
                            <a:schemeClr val="tx1"/>
                          </a:solidFill>
                          <a:effectLst/>
                          <a:latin typeface="+mn-lt"/>
                          <a:ea typeface="隶书" panose="02010509060101010101" pitchFamily="49" charset="-122"/>
                        </a:rPr>
                        <a:t>MOV DX, 308H</a:t>
                      </a:r>
                      <a:endParaRPr kumimoji="0" lang="en-US" altLang="zh-CN" sz="20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en-US" altLang="zh-CN" sz="2000" b="0" i="0" u="none" strike="noStrike" cap="none" normalizeH="0" baseline="0" dirty="0">
                          <a:ln>
                            <a:noFill/>
                          </a:ln>
                          <a:solidFill>
                            <a:schemeClr val="tx1"/>
                          </a:solidFill>
                          <a:effectLst/>
                          <a:latin typeface="+mn-lt"/>
                          <a:ea typeface="隶书" panose="02010509060101010101" pitchFamily="49" charset="-122"/>
                        </a:rPr>
                        <a:t>IN AL, DX</a:t>
                      </a:r>
                      <a:endParaRPr kumimoji="0" lang="en-US" altLang="zh-CN" sz="20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en-US" altLang="zh-CN" sz="2000" b="0" i="0" u="none" strike="noStrike" cap="none" normalizeH="0" baseline="0" dirty="0">
                          <a:ln>
                            <a:noFill/>
                          </a:ln>
                          <a:solidFill>
                            <a:schemeClr val="tx1"/>
                          </a:solidFill>
                          <a:effectLst/>
                          <a:latin typeface="+mn-lt"/>
                          <a:ea typeface="隶书" panose="02010509060101010101" pitchFamily="49" charset="-122"/>
                        </a:rPr>
                        <a:t>MOV [DI], AL</a:t>
                      </a:r>
                      <a:endParaRPr kumimoji="0" lang="en-US" altLang="zh-CN" sz="20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en-US" altLang="zh-CN" sz="2000" b="0" i="0" u="none" strike="noStrike" cap="none" normalizeH="0" baseline="0" dirty="0">
                          <a:ln>
                            <a:noFill/>
                          </a:ln>
                          <a:solidFill>
                            <a:schemeClr val="tx1"/>
                          </a:solidFill>
                          <a:effectLst/>
                          <a:latin typeface="+mn-lt"/>
                          <a:ea typeface="隶书" panose="02010509060101010101" pitchFamily="49" charset="-122"/>
                        </a:rPr>
                        <a:t>INC DI</a:t>
                      </a:r>
                      <a:endParaRPr kumimoji="0" lang="en-US" altLang="zh-CN" sz="20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defRPr/>
                      </a:pPr>
                      <a:r>
                        <a:rPr kumimoji="0" lang="en-US" altLang="zh-CN" sz="2000" b="0" i="0" u="none" strike="noStrike" cap="none" normalizeH="0" baseline="0" dirty="0">
                          <a:ln>
                            <a:noFill/>
                          </a:ln>
                          <a:solidFill>
                            <a:schemeClr val="tx1"/>
                          </a:solidFill>
                          <a:effectLst/>
                          <a:latin typeface="+mn-lt"/>
                          <a:ea typeface="隶书" panose="02010509060101010101" pitchFamily="49" charset="-122"/>
                        </a:rPr>
                        <a:t>LOOP L2</a:t>
                      </a:r>
                      <a:endParaRPr kumimoji="0" lang="en-US" altLang="zh-CN" sz="20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en-US" altLang="zh-CN" sz="2000" b="0" i="0" u="none" strike="noStrike" cap="none" normalizeH="0" baseline="0" dirty="0">
                          <a:ln>
                            <a:noFill/>
                          </a:ln>
                          <a:solidFill>
                            <a:schemeClr val="tx1"/>
                          </a:solidFill>
                          <a:effectLst/>
                          <a:latin typeface="+mn-lt"/>
                          <a:ea typeface="隶书" panose="02010509060101010101" pitchFamily="49" charset="-122"/>
                        </a:rPr>
                        <a:t>JMP STOP</a:t>
                      </a:r>
                      <a:endParaRPr kumimoji="0" lang="en-US" altLang="zh-CN" sz="20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pPr>
                      <a:endParaRPr kumimoji="0" lang="en-US" altLang="zh-CN" sz="20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en-US" altLang="zh-CN" sz="2000" b="0" i="0" u="none" strike="noStrike" cap="none" normalizeH="0" baseline="0" dirty="0">
                          <a:ln>
                            <a:noFill/>
                          </a:ln>
                          <a:solidFill>
                            <a:schemeClr val="tx1"/>
                          </a:solidFill>
                          <a:effectLst/>
                          <a:latin typeface="+mn-lt"/>
                          <a:ea typeface="隶书" panose="02010509060101010101" pitchFamily="49" charset="-122"/>
                        </a:rPr>
                        <a:t>ERR: ……</a:t>
                      </a:r>
                      <a:endParaRPr kumimoji="0" lang="en-US" altLang="zh-CN" sz="20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pPr>
                      <a:endParaRPr kumimoji="0" lang="en-US" altLang="zh-CN" sz="2000" b="0" i="0" u="none" strike="noStrike" cap="none" normalizeH="0" baseline="0" dirty="0">
                        <a:ln>
                          <a:noFill/>
                        </a:ln>
                        <a:solidFill>
                          <a:schemeClr val="tx1"/>
                        </a:solidFill>
                        <a:effectLst/>
                        <a:latin typeface="+mn-lt"/>
                        <a:ea typeface="隶书" panose="02010509060101010101" pitchFamily="49" charset="-122"/>
                      </a:endParaRPr>
                    </a:p>
                    <a:p>
                      <a:pPr marL="0" marR="0" lvl="0" indent="0" algn="l" defTabSz="914400" rtl="0" eaLnBrk="1" fontAlgn="base" latinLnBrk="0" hangingPunct="1">
                        <a:lnSpc>
                          <a:spcPct val="100000"/>
                        </a:lnSpc>
                        <a:spcBef>
                          <a:spcPct val="0"/>
                        </a:spcBef>
                        <a:spcAft>
                          <a:spcPct val="0"/>
                        </a:spcAft>
                        <a:buClr>
                          <a:schemeClr val="tx2"/>
                        </a:buClr>
                        <a:buSzTx/>
                        <a:buFontTx/>
                        <a:buNone/>
                      </a:pPr>
                      <a:r>
                        <a:rPr kumimoji="0" lang="en-US" altLang="zh-CN" sz="2000" b="0" i="0" u="none" strike="noStrike" cap="none" normalizeH="0" baseline="0" dirty="0">
                          <a:ln>
                            <a:noFill/>
                          </a:ln>
                          <a:solidFill>
                            <a:schemeClr val="tx1"/>
                          </a:solidFill>
                          <a:effectLst/>
                          <a:latin typeface="+mn-lt"/>
                          <a:ea typeface="隶书" panose="02010509060101010101" pitchFamily="49" charset="-122"/>
                        </a:rPr>
                        <a:t>STOP:……</a:t>
                      </a:r>
                      <a:endParaRPr kumimoji="0" lang="en-US" altLang="zh-CN" sz="2000" b="0" i="0" u="none" strike="noStrike" cap="none" normalizeH="0" baseline="0" dirty="0">
                        <a:ln>
                          <a:noFill/>
                        </a:ln>
                        <a:solidFill>
                          <a:schemeClr val="tx1"/>
                        </a:solidFill>
                        <a:effectLst/>
                        <a:latin typeface="+mn-lt"/>
                        <a:ea typeface="隶书" panose="02010509060101010101" pitchFamily="49" charset="-122"/>
                      </a:endParaRPr>
                    </a:p>
                  </a:txBody>
                  <a:tcPr horzOverflow="overflow">
                    <a:lnL cap="flat">
                      <a:noFill/>
                    </a:lnL>
                    <a:lnR>
                      <a:noFill/>
                    </a:lnR>
                    <a:lnT cap="flat">
                      <a:noFill/>
                    </a:lnT>
                    <a:lnB cap="flat">
                      <a:noFill/>
                    </a:lnB>
                    <a:lnTlToBr>
                      <a:noFill/>
                    </a:lnTlToBr>
                    <a:lnBlToTr>
                      <a:noFill/>
                    </a:lnBlToTr>
                    <a:noFill/>
                  </a:tcPr>
                </a:tc>
              </a:tr>
            </a:tbl>
          </a:graphicData>
        </a:graphic>
      </p:graphicFrame>
      <p:graphicFrame>
        <p:nvGraphicFramePr>
          <p:cNvPr id="9" name="Group 61"/>
          <p:cNvGraphicFramePr>
            <a:graphicFrameLocks noGrp="1"/>
          </p:cNvGraphicFramePr>
          <p:nvPr/>
        </p:nvGraphicFramePr>
        <p:xfrm>
          <a:off x="683568" y="5985284"/>
          <a:ext cx="7516812" cy="457200"/>
        </p:xfrm>
        <a:graphic>
          <a:graphicData uri="http://schemas.openxmlformats.org/drawingml/2006/table">
            <a:tbl>
              <a:tblPr/>
              <a:tblGrid>
                <a:gridCol w="827087"/>
                <a:gridCol w="1152525"/>
                <a:gridCol w="846138"/>
                <a:gridCol w="846137"/>
                <a:gridCol w="846138"/>
                <a:gridCol w="846137"/>
                <a:gridCol w="1076325"/>
                <a:gridCol w="1076325"/>
              </a:tblGrid>
              <a:tr h="433388">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400" b="1" i="0" u="none" strike="noStrike" cap="none" normalizeH="0" baseline="0" dirty="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rPr>
                        <a:t>DSR</a:t>
                      </a:r>
                      <a:endParaRPr kumimoji="0" lang="en-US" altLang="zh-CN" sz="2400" b="1" i="0" u="none" strike="noStrike" cap="none" normalizeH="0" baseline="0" dirty="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400" b="1" i="0" u="none" strike="noStrike" cap="none" normalizeH="0" baseline="0" dirty="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rPr>
                        <a:t>SYNDET</a:t>
                      </a:r>
                      <a:endParaRPr kumimoji="0" lang="en-US" altLang="zh-CN" sz="2400" b="1" i="0" u="none" strike="noStrike" cap="none" normalizeH="0" baseline="0" dirty="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400" b="1" i="0" u="none" strike="noStrike" cap="none" normalizeH="0" baseline="0" dirty="0">
                          <a:ln>
                            <a:noFill/>
                          </a:ln>
                          <a:solidFill>
                            <a:srgbClr val="FF0000"/>
                          </a:solidFill>
                          <a:effectLst>
                            <a:outerShdw blurRad="38100" dist="38100" dir="2700000" algn="tl">
                              <a:srgbClr val="C0C0C0"/>
                            </a:outerShdw>
                          </a:effectLst>
                          <a:latin typeface="隶书" panose="02010509060101010101" pitchFamily="49" charset="-122"/>
                          <a:ea typeface="隶书" panose="02010509060101010101" pitchFamily="49" charset="-122"/>
                        </a:rPr>
                        <a:t>FE</a:t>
                      </a:r>
                      <a:endParaRPr kumimoji="0" lang="en-US" altLang="zh-CN" sz="2400" b="1" i="0" u="none" strike="noStrike" cap="none" normalizeH="0" baseline="0" dirty="0">
                        <a:ln>
                          <a:noFill/>
                        </a:ln>
                        <a:solidFill>
                          <a:srgbClr val="FF0000"/>
                        </a:solidFill>
                        <a:effectLst>
                          <a:outerShdw blurRad="38100" dist="38100" dir="2700000" algn="tl">
                            <a:srgbClr val="C0C0C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400" b="1" i="0" u="none" strike="noStrike" cap="none" normalizeH="0" baseline="0" dirty="0">
                          <a:ln>
                            <a:noFill/>
                          </a:ln>
                          <a:solidFill>
                            <a:srgbClr val="FF0000"/>
                          </a:solidFill>
                          <a:effectLst>
                            <a:outerShdw blurRad="38100" dist="38100" dir="2700000" algn="tl">
                              <a:srgbClr val="C0C0C0"/>
                            </a:outerShdw>
                          </a:effectLst>
                          <a:latin typeface="隶书" panose="02010509060101010101" pitchFamily="49" charset="-122"/>
                          <a:ea typeface="隶书" panose="02010509060101010101" pitchFamily="49" charset="-122"/>
                        </a:rPr>
                        <a:t>OE</a:t>
                      </a:r>
                      <a:endParaRPr kumimoji="0" lang="en-US" altLang="zh-CN" sz="2400" b="1" i="0" u="none" strike="noStrike" cap="none" normalizeH="0" baseline="0" dirty="0">
                        <a:ln>
                          <a:noFill/>
                        </a:ln>
                        <a:solidFill>
                          <a:srgbClr val="FF0000"/>
                        </a:solidFill>
                        <a:effectLst>
                          <a:outerShdw blurRad="38100" dist="38100" dir="2700000" algn="tl">
                            <a:srgbClr val="C0C0C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400" b="1" i="0" u="none" strike="noStrike" cap="none" normalizeH="0" baseline="0" dirty="0">
                          <a:ln>
                            <a:noFill/>
                          </a:ln>
                          <a:solidFill>
                            <a:srgbClr val="FF0000"/>
                          </a:solidFill>
                          <a:effectLst>
                            <a:outerShdw blurRad="38100" dist="38100" dir="2700000" algn="tl">
                              <a:srgbClr val="C0C0C0"/>
                            </a:outerShdw>
                          </a:effectLst>
                          <a:latin typeface="隶书" panose="02010509060101010101" pitchFamily="49" charset="-122"/>
                          <a:ea typeface="隶书" panose="02010509060101010101" pitchFamily="49" charset="-122"/>
                        </a:rPr>
                        <a:t>PE</a:t>
                      </a:r>
                      <a:endParaRPr kumimoji="0" lang="en-US" altLang="zh-CN" sz="2400" b="1" i="0" u="none" strike="noStrike" cap="none" normalizeH="0" baseline="0" dirty="0">
                        <a:ln>
                          <a:noFill/>
                        </a:ln>
                        <a:solidFill>
                          <a:srgbClr val="FF0000"/>
                        </a:solidFill>
                        <a:effectLst>
                          <a:outerShdw blurRad="38100" dist="38100" dir="2700000" algn="tl">
                            <a:srgbClr val="C0C0C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rPr>
                        <a:t>TxE</a:t>
                      </a:r>
                      <a:endParaRPr kumimoji="0" lang="en-US" altLang="zh-CN" sz="2400" b="1" i="0" u="none" strike="noStrike" cap="none" normalizeH="0" baseline="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400" b="1" i="0" u="none" strike="noStrike" cap="none" normalizeH="0" baseline="0" dirty="0" err="1">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rPr>
                        <a:t>RxRDY</a:t>
                      </a:r>
                      <a:endParaRPr kumimoji="0" lang="en-US" altLang="zh-CN" sz="2400" b="1" i="0" u="none" strike="noStrike" cap="none" normalizeH="0" baseline="0" dirty="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pPr>
                      <a:r>
                        <a:rPr kumimoji="0" lang="en-US" altLang="zh-CN" sz="2400" b="1" i="0" u="none" strike="noStrike" cap="none" normalizeH="0" baseline="0" dirty="0" err="1">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rPr>
                        <a:t>TxRDY</a:t>
                      </a:r>
                      <a:endParaRPr kumimoji="0" lang="en-US" altLang="zh-CN" sz="2400" b="1" i="0" u="none" strike="noStrike" cap="none" normalizeH="0" baseline="0" dirty="0">
                        <a:ln>
                          <a:noFill/>
                        </a:ln>
                        <a:solidFill>
                          <a:schemeClr val="tx1"/>
                        </a:solidFill>
                        <a:effectLst>
                          <a:outerShdw blurRad="38100" dist="38100" dir="2700000" algn="tl">
                            <a:srgbClr val="C0C0C0"/>
                          </a:outerShdw>
                        </a:effectLst>
                        <a:latin typeface="隶书" panose="02010509060101010101" pitchFamily="49" charset="-122"/>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1" name="Rectangle 64"/>
          <p:cNvSpPr>
            <a:spLocks noChangeArrowheads="1"/>
          </p:cNvSpPr>
          <p:nvPr/>
        </p:nvSpPr>
        <p:spPr bwMode="auto">
          <a:xfrm>
            <a:off x="5292080" y="4797152"/>
            <a:ext cx="2916795" cy="1015663"/>
          </a:xfrm>
          <a:prstGeom prst="rect">
            <a:avLst/>
          </a:prstGeom>
          <a:solidFill>
            <a:srgbClr val="FFFF00"/>
          </a:solidFill>
          <a:ln w="9525" algn="ctr">
            <a:noFill/>
            <a:miter lim="800000"/>
          </a:ln>
          <a:effectLst/>
        </p:spPr>
        <p:txBody>
          <a:bodyPr wrap="square">
            <a:spAutoFit/>
          </a:bodyPr>
          <a:lstStyle/>
          <a:p>
            <a:r>
              <a:rPr lang="en-US" altLang="zh-CN" sz="2000" dirty="0"/>
              <a:t>PE</a:t>
            </a:r>
            <a:r>
              <a:rPr lang="zh-CN" altLang="en-US" sz="2000" dirty="0"/>
              <a:t>：帧格式错误</a:t>
            </a:r>
            <a:endParaRPr lang="en-US" altLang="zh-CN" sz="2000" dirty="0"/>
          </a:p>
          <a:p>
            <a:r>
              <a:rPr lang="en-US" altLang="zh-CN" sz="2000" dirty="0"/>
              <a:t>OE</a:t>
            </a:r>
            <a:r>
              <a:rPr lang="zh-CN" altLang="en-US" sz="2000" dirty="0"/>
              <a:t>：溢出错误</a:t>
            </a:r>
            <a:endParaRPr lang="en-US" altLang="zh-CN" sz="2000" dirty="0"/>
          </a:p>
          <a:p>
            <a:r>
              <a:rPr lang="en-US" altLang="zh-CN" sz="2000" dirty="0"/>
              <a:t>PE</a:t>
            </a:r>
            <a:r>
              <a:rPr lang="zh-CN" altLang="en-US" sz="2000" dirty="0"/>
              <a:t>：奇偶校验错误</a:t>
            </a:r>
            <a:endParaRPr lang="zh-CN" altLang="en-US" sz="20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第</a:t>
            </a:r>
            <a:r>
              <a:rPr lang="en-US" altLang="zh-CN" sz="2600" kern="0" dirty="0">
                <a:solidFill>
                  <a:schemeClr val="tx2"/>
                </a:solidFill>
                <a:effectLst>
                  <a:outerShdw blurRad="38100" dist="38100" dir="2700000" algn="tl">
                    <a:srgbClr val="C0C0C0"/>
                  </a:outerShdw>
                </a:effectLst>
                <a:latin typeface="+mj-lt"/>
                <a:cs typeface="+mj-cs"/>
              </a:rPr>
              <a:t>12</a:t>
            </a:r>
            <a:r>
              <a:rPr lang="zh-CN" altLang="en-US" sz="2600" kern="0" dirty="0">
                <a:solidFill>
                  <a:schemeClr val="tx2"/>
                </a:solidFill>
                <a:effectLst>
                  <a:outerShdw blurRad="38100" dist="38100" dir="2700000" algn="tl">
                    <a:srgbClr val="C0C0C0"/>
                  </a:outerShdw>
                </a:effectLst>
                <a:latin typeface="+mj-lt"/>
                <a:cs typeface="+mj-cs"/>
              </a:rPr>
              <a:t>讲：串并行接口</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3" name="文本框 2"/>
          <p:cNvSpPr txBox="1"/>
          <p:nvPr/>
        </p:nvSpPr>
        <p:spPr>
          <a:xfrm>
            <a:off x="1223626" y="1225104"/>
            <a:ext cx="6571615" cy="1274195"/>
          </a:xfrm>
          <a:prstGeom prst="rect">
            <a:avLst/>
          </a:prstGeom>
          <a:noFill/>
        </p:spPr>
        <p:txBody>
          <a:bodyPr wrap="square" rtlCol="0">
            <a:spAutoFit/>
          </a:bodyPr>
          <a:lstStyle/>
          <a:p>
            <a:pPr marL="342900" indent="-342900">
              <a:lnSpc>
                <a:spcPct val="160000"/>
              </a:lnSpc>
              <a:buClr>
                <a:srgbClr val="FF3300"/>
              </a:buClr>
              <a:buFont typeface="Wingdings" panose="05000000000000000000" charset="0"/>
              <a:buChar char=""/>
            </a:pPr>
            <a:r>
              <a:rPr lang="zh-CN" altLang="en-US" b="0" dirty="0">
                <a:latin typeface="+mn-lt"/>
                <a:sym typeface="+mn-ea"/>
              </a:rPr>
              <a:t>串行通信接口</a:t>
            </a:r>
            <a:endParaRPr lang="zh-CN" altLang="en-US" b="0" dirty="0">
              <a:latin typeface="+mn-lt"/>
              <a:sym typeface="+mn-ea"/>
            </a:endParaRPr>
          </a:p>
          <a:p>
            <a:pPr marL="342900" indent="-342900">
              <a:lnSpc>
                <a:spcPct val="160000"/>
              </a:lnSpc>
              <a:buClr>
                <a:srgbClr val="FF3300"/>
              </a:buClr>
              <a:buFont typeface="Wingdings" panose="05000000000000000000" charset="0"/>
              <a:buChar char=""/>
            </a:pPr>
            <a:r>
              <a:rPr lang="zh-CN" altLang="en-US" b="0" dirty="0">
                <a:solidFill>
                  <a:srgbClr val="FF0000"/>
                </a:solidFill>
                <a:latin typeface="+mn-lt"/>
                <a:sym typeface="+mn-ea"/>
              </a:rPr>
              <a:t>并行通信接口</a:t>
            </a:r>
            <a:endParaRPr lang="zh-CN" altLang="en-US" b="0" dirty="0">
              <a:solidFill>
                <a:srgbClr val="FF0000"/>
              </a:solidFill>
              <a:latin typeface="+mn-lt"/>
              <a:sym typeface="+mn-ea"/>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zh-CN" altLang="en-US" sz="2600" dirty="0">
                <a:ea typeface="宋体" panose="02010600030101010101" pitchFamily="2" charset="-122"/>
              </a:rPr>
              <a:t>并行数据传输方式</a:t>
            </a:r>
            <a:endParaRPr lang="zh-CN" altLang="en-US" sz="2600" dirty="0">
              <a:ea typeface="宋体" panose="02010600030101010101" pitchFamily="2" charset="-122"/>
            </a:endParaRPr>
          </a:p>
        </p:txBody>
      </p:sp>
      <p:sp>
        <p:nvSpPr>
          <p:cNvPr id="5123" name="Rectangle 3"/>
          <p:cNvSpPr>
            <a:spLocks noGrp="1" noChangeArrowheads="1"/>
          </p:cNvSpPr>
          <p:nvPr>
            <p:ph type="body" idx="1"/>
          </p:nvPr>
        </p:nvSpPr>
        <p:spPr>
          <a:xfrm>
            <a:off x="441902" y="896938"/>
            <a:ext cx="8399276" cy="5091112"/>
          </a:xfrm>
        </p:spPr>
        <p:txBody>
          <a:bodyPr/>
          <a:lstStyle/>
          <a:p>
            <a:pPr marL="0" indent="0" eaLnBrk="1" hangingPunct="1">
              <a:lnSpc>
                <a:spcPct val="150000"/>
              </a:lnSpc>
              <a:buNone/>
            </a:pPr>
            <a:r>
              <a:rPr lang="zh-CN" altLang="en-US" dirty="0"/>
              <a:t>并行通信：</a:t>
            </a:r>
            <a:endParaRPr lang="en-US" altLang="zh-CN" dirty="0"/>
          </a:p>
          <a:p>
            <a:pPr eaLnBrk="1" hangingPunct="1">
              <a:lnSpc>
                <a:spcPct val="150000"/>
              </a:lnSpc>
            </a:pPr>
            <a:r>
              <a:rPr lang="zh-CN" altLang="en-US" dirty="0"/>
              <a:t>以计算机的字长，通常是</a:t>
            </a:r>
            <a:r>
              <a:rPr lang="en-US" altLang="zh-CN" dirty="0"/>
              <a:t>8</a:t>
            </a:r>
            <a:r>
              <a:rPr lang="zh-CN" altLang="en-US" dirty="0"/>
              <a:t>位、</a:t>
            </a:r>
            <a:r>
              <a:rPr lang="en-US" altLang="zh-CN" dirty="0"/>
              <a:t>16</a:t>
            </a:r>
            <a:r>
              <a:rPr lang="zh-CN" altLang="en-US" dirty="0"/>
              <a:t>位或</a:t>
            </a:r>
            <a:r>
              <a:rPr lang="en-US" altLang="zh-CN" dirty="0"/>
              <a:t>32</a:t>
            </a:r>
            <a:r>
              <a:rPr lang="zh-CN" altLang="en-US" dirty="0"/>
              <a:t>位为传输单位，一次传送一个字长的数据</a:t>
            </a:r>
            <a:endParaRPr lang="zh-CN" altLang="en-US" dirty="0"/>
          </a:p>
          <a:p>
            <a:pPr eaLnBrk="1" hangingPunct="1">
              <a:lnSpc>
                <a:spcPct val="150000"/>
              </a:lnSpc>
            </a:pPr>
            <a:r>
              <a:rPr lang="zh-CN" altLang="en-US" dirty="0"/>
              <a:t>适合于外部设备与微机之间进行近距离、大量和快速的信息交换</a:t>
            </a:r>
            <a:endParaRPr lang="zh-CN" altLang="en-US" dirty="0"/>
          </a:p>
          <a:p>
            <a:pPr lvl="1" eaLnBrk="1" hangingPunct="1">
              <a:lnSpc>
                <a:spcPct val="150000"/>
              </a:lnSpc>
            </a:pPr>
            <a:r>
              <a:rPr lang="zh-CN" altLang="en-US" dirty="0"/>
              <a:t>例如：微机与并行接口打印机、磁盘驱动器</a:t>
            </a:r>
            <a:endParaRPr lang="zh-CN" altLang="en-US" dirty="0"/>
          </a:p>
          <a:p>
            <a:pPr eaLnBrk="1" hangingPunct="1">
              <a:lnSpc>
                <a:spcPct val="150000"/>
              </a:lnSpc>
            </a:pPr>
            <a:r>
              <a:rPr lang="zh-CN" altLang="en-US" dirty="0"/>
              <a:t>微机系统中最基本的信息交换方法</a:t>
            </a:r>
            <a:endParaRPr lang="zh-CN" altLang="en-US" dirty="0"/>
          </a:p>
          <a:p>
            <a:pPr lvl="1" eaLnBrk="1" hangingPunct="1">
              <a:lnSpc>
                <a:spcPct val="150000"/>
              </a:lnSpc>
            </a:pPr>
            <a:r>
              <a:rPr lang="zh-CN" altLang="en-US" dirty="0"/>
              <a:t>例如：系统板上各部件之间，接口电路板上各部件之间</a:t>
            </a:r>
            <a:endParaRPr lang="zh-CN" altLang="en-US" dirty="0"/>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2"/>
          <p:cNvSpPr>
            <a:spLocks noChangeArrowheads="1"/>
          </p:cNvSpPr>
          <p:nvPr/>
        </p:nvSpPr>
        <p:spPr bwMode="auto">
          <a:xfrm>
            <a:off x="467544" y="352092"/>
            <a:ext cx="7772400" cy="493085"/>
          </a:xfrm>
          <a:prstGeom prst="rect">
            <a:avLst/>
          </a:prstGeom>
          <a:noFill/>
          <a:ln w="9525">
            <a:noFill/>
            <a:miter lim="800000"/>
          </a:ln>
          <a:effectLst/>
        </p:spPr>
        <p:txBody>
          <a:bodyPr lIns="92075" tIns="46038" rIns="92075" bIns="46038">
            <a:spAutoFit/>
          </a:bodyPr>
          <a:lstStyle/>
          <a:p>
            <a:r>
              <a:rPr lang="zh-CN" altLang="en-US" sz="2600" kern="0" dirty="0">
                <a:solidFill>
                  <a:schemeClr val="tx2"/>
                </a:solidFill>
                <a:effectLst>
                  <a:outerShdw blurRad="38100" dist="38100" dir="2700000" algn="tl">
                    <a:srgbClr val="C0C0C0"/>
                  </a:outerShdw>
                </a:effectLst>
                <a:latin typeface="+mj-lt"/>
                <a:cs typeface="+mj-cs"/>
              </a:rPr>
              <a:t>并行通信接口芯片 </a:t>
            </a:r>
            <a:r>
              <a:rPr lang="en-US" altLang="zh-CN" sz="2600" kern="0" dirty="0">
                <a:solidFill>
                  <a:schemeClr val="tx2"/>
                </a:solidFill>
                <a:effectLst>
                  <a:outerShdw blurRad="38100" dist="38100" dir="2700000" algn="tl">
                    <a:srgbClr val="C0C0C0"/>
                  </a:outerShdw>
                </a:effectLst>
                <a:latin typeface="+mj-lt"/>
                <a:cs typeface="+mj-cs"/>
              </a:rPr>
              <a:t>8255A</a:t>
            </a:r>
            <a:endParaRPr lang="en-US" altLang="zh-CN" sz="2600" kern="0" dirty="0">
              <a:solidFill>
                <a:schemeClr val="tx2"/>
              </a:solidFill>
              <a:effectLst>
                <a:outerShdw blurRad="38100" dist="38100" dir="2700000" algn="tl">
                  <a:srgbClr val="C0C0C0"/>
                </a:outerShdw>
              </a:effectLst>
              <a:latin typeface="+mj-lt"/>
              <a:cs typeface="+mj-cs"/>
            </a:endParaRPr>
          </a:p>
        </p:txBody>
      </p:sp>
      <p:sp>
        <p:nvSpPr>
          <p:cNvPr id="282627" name="Rectangle 3"/>
          <p:cNvSpPr>
            <a:spLocks noChangeArrowheads="1"/>
          </p:cNvSpPr>
          <p:nvPr/>
        </p:nvSpPr>
        <p:spPr bwMode="auto">
          <a:xfrm>
            <a:off x="541634" y="1018214"/>
            <a:ext cx="8026810" cy="1631216"/>
          </a:xfrm>
          <a:prstGeom prst="rect">
            <a:avLst/>
          </a:prstGeom>
          <a:noFill/>
          <a:ln w="9525" algn="ctr">
            <a:noFill/>
            <a:miter lim="800000"/>
          </a:ln>
          <a:effectLst/>
        </p:spPr>
        <p:txBody>
          <a:bodyPr wrap="square">
            <a:spAutoFit/>
          </a:bodyPr>
          <a:lstStyle/>
          <a:p>
            <a:r>
              <a:rPr lang="en-US" altLang="zh-CN" sz="2000" dirty="0"/>
              <a:t>      8255A</a:t>
            </a:r>
            <a:r>
              <a:rPr lang="zh-CN" altLang="en-US" sz="2000" dirty="0"/>
              <a:t>为可编程的并行</a:t>
            </a:r>
            <a:r>
              <a:rPr lang="en-US" altLang="zh-CN" sz="2000" dirty="0"/>
              <a:t>I/O</a:t>
            </a:r>
            <a:r>
              <a:rPr lang="zh-CN" altLang="en-US" sz="2000" dirty="0"/>
              <a:t>接口芯片。具有三个</a:t>
            </a:r>
            <a:r>
              <a:rPr lang="en-US" altLang="zh-CN" sz="2000" dirty="0"/>
              <a:t>8</a:t>
            </a:r>
            <a:r>
              <a:rPr lang="zh-CN" altLang="en-US" sz="2000" dirty="0"/>
              <a:t>位端口</a:t>
            </a:r>
            <a:r>
              <a:rPr lang="en-US" altLang="zh-CN" sz="2000" dirty="0"/>
              <a:t>(A</a:t>
            </a:r>
            <a:r>
              <a:rPr lang="zh-CN" altLang="en-US" sz="2000" dirty="0"/>
              <a:t>口、</a:t>
            </a:r>
            <a:r>
              <a:rPr lang="en-US" altLang="zh-CN" sz="2000" dirty="0"/>
              <a:t>B</a:t>
            </a:r>
            <a:r>
              <a:rPr lang="zh-CN" altLang="en-US" sz="2000" dirty="0"/>
              <a:t>口、</a:t>
            </a:r>
            <a:r>
              <a:rPr lang="en-US" altLang="zh-CN" sz="2000" dirty="0"/>
              <a:t>C</a:t>
            </a:r>
            <a:r>
              <a:rPr lang="zh-CN" altLang="en-US" sz="2000" dirty="0"/>
              <a:t>口</a:t>
            </a:r>
            <a:r>
              <a:rPr lang="en-US" altLang="zh-CN" sz="2000" dirty="0"/>
              <a:t>)</a:t>
            </a:r>
            <a:r>
              <a:rPr lang="zh-CN" altLang="en-US" sz="2000" dirty="0"/>
              <a:t>，一个</a:t>
            </a:r>
            <a:r>
              <a:rPr lang="en-US" altLang="zh-CN" sz="2000" dirty="0"/>
              <a:t>8</a:t>
            </a:r>
            <a:r>
              <a:rPr lang="zh-CN" altLang="en-US" sz="2000" dirty="0"/>
              <a:t>位控制寄存器，共占用</a:t>
            </a:r>
            <a:r>
              <a:rPr lang="en-US" altLang="zh-CN" sz="2000" dirty="0"/>
              <a:t>4</a:t>
            </a:r>
            <a:r>
              <a:rPr lang="zh-CN" altLang="en-US" sz="2000" dirty="0"/>
              <a:t>个口地址。</a:t>
            </a:r>
            <a:r>
              <a:rPr lang="en-US" altLang="zh-CN" sz="2000" dirty="0"/>
              <a:t>8255A</a:t>
            </a:r>
            <a:r>
              <a:rPr lang="zh-CN" altLang="en-US" sz="2000" dirty="0"/>
              <a:t>为</a:t>
            </a:r>
            <a:r>
              <a:rPr lang="en-US" altLang="zh-CN" sz="2000" dirty="0"/>
              <a:t>+5V</a:t>
            </a:r>
            <a:r>
              <a:rPr lang="zh-CN" altLang="en-US" sz="2000" dirty="0"/>
              <a:t>供电，</a:t>
            </a:r>
            <a:r>
              <a:rPr lang="en-US" altLang="zh-CN" sz="2000" dirty="0"/>
              <a:t>40</a:t>
            </a:r>
            <a:r>
              <a:rPr lang="zh-CN" altLang="en-US" sz="2000" dirty="0"/>
              <a:t>个引脚。</a:t>
            </a:r>
            <a:endParaRPr lang="zh-CN" altLang="en-US" sz="2000" dirty="0"/>
          </a:p>
          <a:p>
            <a:endParaRPr lang="zh-CN" altLang="en-US" sz="2000" dirty="0"/>
          </a:p>
          <a:p>
            <a:pPr marL="457200" indent="-457200">
              <a:buFont typeface="Wingdings" panose="05000000000000000000" pitchFamily="2" charset="2"/>
              <a:buChar char="Ø"/>
            </a:pPr>
            <a:r>
              <a:rPr lang="en-US" altLang="zh-CN" sz="2000" dirty="0">
                <a:solidFill>
                  <a:schemeClr val="tx2"/>
                </a:solidFill>
                <a:effectLst>
                  <a:outerShdw blurRad="38100" dist="38100" dir="2700000" algn="tl">
                    <a:srgbClr val="C0C0C0"/>
                  </a:outerShdw>
                </a:effectLst>
              </a:rPr>
              <a:t>8255A</a:t>
            </a:r>
            <a:r>
              <a:rPr lang="zh-CN" altLang="en-US" sz="2000" dirty="0">
                <a:solidFill>
                  <a:schemeClr val="tx2"/>
                </a:solidFill>
                <a:effectLst>
                  <a:outerShdw blurRad="38100" dist="38100" dir="2700000" algn="tl">
                    <a:srgbClr val="C0C0C0"/>
                  </a:outerShdw>
                </a:effectLst>
              </a:rPr>
              <a:t>引脚与内部结构</a:t>
            </a:r>
            <a:endParaRPr lang="zh-CN" altLang="en-US" sz="2000" dirty="0">
              <a:solidFill>
                <a:schemeClr val="tx2"/>
              </a:solidFill>
              <a:effectLst>
                <a:outerShdw blurRad="38100" dist="38100" dir="2700000" algn="tl">
                  <a:srgbClr val="C0C0C0"/>
                </a:outerShdw>
              </a:effectLst>
            </a:endParaRPr>
          </a:p>
        </p:txBody>
      </p:sp>
      <p:pic>
        <p:nvPicPr>
          <p:cNvPr id="282628" name="Picture 4" descr="未命名"/>
          <p:cNvPicPr>
            <a:picLocks noChangeAspect="1" noChangeArrowheads="1"/>
          </p:cNvPicPr>
          <p:nvPr/>
        </p:nvPicPr>
        <p:blipFill>
          <a:blip r:embed="rId1">
            <a:clrChange>
              <a:clrFrom>
                <a:srgbClr val="FFFFFF"/>
              </a:clrFrom>
              <a:clrTo>
                <a:srgbClr val="FFFFFF">
                  <a:alpha val="0"/>
                </a:srgbClr>
              </a:clrTo>
            </a:clrChange>
          </a:blip>
          <a:srcRect/>
          <a:stretch>
            <a:fillRect/>
          </a:stretch>
        </p:blipFill>
        <p:spPr bwMode="auto">
          <a:xfrm>
            <a:off x="5176837" y="2168860"/>
            <a:ext cx="3135313" cy="4319588"/>
          </a:xfrm>
          <a:prstGeom prst="rect">
            <a:avLst/>
          </a:prstGeom>
          <a:noFill/>
          <a:scene3d>
            <a:camera prst="orthographicFront"/>
            <a:lightRig rig="threePt" dir="t">
              <a:rot lat="0" lon="0" rev="600000"/>
            </a:lightRig>
          </a:scene3d>
          <a:sp3d>
            <a:bevelB h="0"/>
          </a:sp3d>
        </p:spPr>
      </p:pic>
      <p:grpSp>
        <p:nvGrpSpPr>
          <p:cNvPr id="2" name="组合 1"/>
          <p:cNvGrpSpPr/>
          <p:nvPr/>
        </p:nvGrpSpPr>
        <p:grpSpPr>
          <a:xfrm>
            <a:off x="755576" y="3053413"/>
            <a:ext cx="3960813" cy="3308598"/>
            <a:chOff x="899592" y="3151154"/>
            <a:chExt cx="3960813" cy="3308598"/>
          </a:xfrm>
        </p:grpSpPr>
        <p:sp>
          <p:nvSpPr>
            <p:cNvPr id="282629" name="Rectangle 5"/>
            <p:cNvSpPr>
              <a:spLocks noChangeArrowheads="1"/>
            </p:cNvSpPr>
            <p:nvPr/>
          </p:nvSpPr>
          <p:spPr bwMode="auto">
            <a:xfrm>
              <a:off x="899592" y="3151154"/>
              <a:ext cx="3960813" cy="3308598"/>
            </a:xfrm>
            <a:prstGeom prst="rect">
              <a:avLst/>
            </a:prstGeom>
            <a:noFill/>
            <a:ln w="9525" algn="ctr">
              <a:noFill/>
              <a:miter lim="800000"/>
            </a:ln>
            <a:effectLst/>
          </p:spPr>
          <p:txBody>
            <a:bodyPr>
              <a:spAutoFit/>
            </a:bodyPr>
            <a:lstStyle/>
            <a:p>
              <a:pPr>
                <a:lnSpc>
                  <a:spcPct val="95000"/>
                </a:lnSpc>
              </a:pPr>
              <a:r>
                <a:rPr lang="zh-CN" altLang="en-US" sz="2000" dirty="0">
                  <a:solidFill>
                    <a:srgbClr val="0000FF"/>
                  </a:solidFill>
                </a:rPr>
                <a:t>与</a:t>
              </a:r>
              <a:r>
                <a:rPr lang="en-US" altLang="zh-CN" sz="2000" dirty="0">
                  <a:solidFill>
                    <a:srgbClr val="0000FF"/>
                  </a:solidFill>
                </a:rPr>
                <a:t>CPU</a:t>
              </a:r>
              <a:r>
                <a:rPr lang="zh-CN" altLang="en-US" sz="2000" dirty="0">
                  <a:solidFill>
                    <a:srgbClr val="0000FF"/>
                  </a:solidFill>
                </a:rPr>
                <a:t>连接的信号线</a:t>
              </a:r>
              <a:endParaRPr lang="zh-CN" altLang="en-US" sz="2000" dirty="0">
                <a:solidFill>
                  <a:srgbClr val="0000FF"/>
                </a:solidFill>
              </a:endParaRPr>
            </a:p>
            <a:p>
              <a:pPr>
                <a:lnSpc>
                  <a:spcPct val="95000"/>
                </a:lnSpc>
              </a:pPr>
              <a:r>
                <a:rPr lang="en-US" altLang="zh-CN" sz="2000" dirty="0"/>
                <a:t>D7</a:t>
              </a:r>
              <a:r>
                <a:rPr lang="zh-CN" altLang="en-US" sz="2000" dirty="0"/>
                <a:t>－</a:t>
              </a:r>
              <a:r>
                <a:rPr lang="en-US" altLang="zh-CN" sz="2000" dirty="0"/>
                <a:t>D0</a:t>
              </a:r>
              <a:r>
                <a:rPr lang="zh-CN" altLang="en-US" sz="2000" dirty="0"/>
                <a:t>：数据线，三态双向</a:t>
              </a:r>
              <a:endParaRPr lang="zh-CN" altLang="en-US" sz="2000" dirty="0"/>
            </a:p>
            <a:p>
              <a:pPr>
                <a:lnSpc>
                  <a:spcPct val="95000"/>
                </a:lnSpc>
              </a:pPr>
              <a:r>
                <a:rPr lang="en-US" altLang="zh-CN" sz="2000" dirty="0"/>
                <a:t>CS</a:t>
              </a:r>
              <a:r>
                <a:rPr lang="zh-CN" altLang="en-US" sz="2000" dirty="0"/>
                <a:t>：芯片选择信号</a:t>
              </a:r>
              <a:endParaRPr lang="zh-CN" altLang="en-US" sz="2000" dirty="0"/>
            </a:p>
            <a:p>
              <a:pPr>
                <a:lnSpc>
                  <a:spcPct val="95000"/>
                </a:lnSpc>
              </a:pPr>
              <a:r>
                <a:rPr lang="en-US" altLang="zh-CN" sz="2000" dirty="0"/>
                <a:t>RD/WR</a:t>
              </a:r>
              <a:r>
                <a:rPr lang="zh-CN" altLang="en-US" sz="2000" dirty="0"/>
                <a:t>：芯片读</a:t>
              </a:r>
              <a:r>
                <a:rPr lang="en-US" altLang="zh-CN" sz="2000" dirty="0"/>
                <a:t>/</a:t>
              </a:r>
              <a:r>
                <a:rPr lang="zh-CN" altLang="en-US" sz="2000" dirty="0"/>
                <a:t>写信号</a:t>
              </a:r>
              <a:endParaRPr lang="zh-CN" altLang="en-US" sz="2000" dirty="0"/>
            </a:p>
            <a:p>
              <a:pPr>
                <a:lnSpc>
                  <a:spcPct val="95000"/>
                </a:lnSpc>
              </a:pPr>
              <a:r>
                <a:rPr lang="en-US" altLang="zh-CN" sz="2000" dirty="0"/>
                <a:t>A1</a:t>
              </a:r>
              <a:r>
                <a:rPr lang="zh-CN" altLang="en-US" sz="2000" dirty="0"/>
                <a:t>，</a:t>
              </a:r>
              <a:r>
                <a:rPr lang="en-US" altLang="zh-CN" sz="2000" dirty="0"/>
                <a:t>A0</a:t>
              </a:r>
              <a:r>
                <a:rPr lang="zh-CN" altLang="en-US" sz="2000" dirty="0"/>
                <a:t>：端口选择信号</a:t>
              </a:r>
              <a:endParaRPr lang="zh-CN" altLang="en-US" sz="2000" dirty="0"/>
            </a:p>
            <a:p>
              <a:pPr>
                <a:lnSpc>
                  <a:spcPct val="95000"/>
                </a:lnSpc>
              </a:pPr>
              <a:r>
                <a:rPr lang="en-US" altLang="zh-CN" sz="2000" dirty="0"/>
                <a:t>RESET</a:t>
              </a:r>
              <a:r>
                <a:rPr lang="zh-CN" altLang="en-US" sz="2000" dirty="0"/>
                <a:t>：复位信号</a:t>
              </a:r>
              <a:endParaRPr lang="zh-CN" altLang="en-US" sz="2000" dirty="0"/>
            </a:p>
            <a:p>
              <a:pPr>
                <a:lnSpc>
                  <a:spcPct val="95000"/>
                </a:lnSpc>
              </a:pPr>
              <a:r>
                <a:rPr lang="zh-CN" altLang="en-US" sz="2000" dirty="0">
                  <a:solidFill>
                    <a:srgbClr val="0000FF"/>
                  </a:solidFill>
                </a:rPr>
                <a:t>与外设连接的信号线</a:t>
              </a:r>
              <a:endParaRPr lang="zh-CN" altLang="en-US" sz="2000" dirty="0">
                <a:solidFill>
                  <a:srgbClr val="0000FF"/>
                </a:solidFill>
              </a:endParaRPr>
            </a:p>
            <a:p>
              <a:pPr>
                <a:lnSpc>
                  <a:spcPct val="95000"/>
                </a:lnSpc>
              </a:pPr>
              <a:r>
                <a:rPr lang="en-US" altLang="zh-CN" sz="2000" dirty="0"/>
                <a:t>PA7- PA0: A</a:t>
              </a:r>
              <a:r>
                <a:rPr lang="zh-CN" altLang="en-US" sz="2000" dirty="0"/>
                <a:t>口数据信号</a:t>
              </a:r>
              <a:endParaRPr lang="zh-CN" altLang="en-US" sz="2000" dirty="0"/>
            </a:p>
            <a:p>
              <a:pPr>
                <a:lnSpc>
                  <a:spcPct val="95000"/>
                </a:lnSpc>
              </a:pPr>
              <a:r>
                <a:rPr lang="en-US" altLang="zh-CN" sz="2000" dirty="0"/>
                <a:t>PB7- PB0: B</a:t>
              </a:r>
              <a:r>
                <a:rPr lang="zh-CN" altLang="en-US" sz="2000" dirty="0"/>
                <a:t>口数据信号</a:t>
              </a:r>
              <a:endParaRPr lang="zh-CN" altLang="en-US" sz="2000" dirty="0"/>
            </a:p>
            <a:p>
              <a:pPr>
                <a:lnSpc>
                  <a:spcPct val="95000"/>
                </a:lnSpc>
              </a:pPr>
              <a:r>
                <a:rPr lang="en-US" altLang="zh-CN" sz="2000" dirty="0"/>
                <a:t>PC7- PCO: C</a:t>
              </a:r>
              <a:r>
                <a:rPr lang="zh-CN" altLang="en-US" sz="2000" dirty="0"/>
                <a:t>口数据信号（也可作为控制信号）</a:t>
              </a:r>
              <a:endParaRPr lang="zh-CN" altLang="en-US" sz="2000" dirty="0"/>
            </a:p>
          </p:txBody>
        </p:sp>
        <p:sp>
          <p:nvSpPr>
            <p:cNvPr id="282630" name="Line 6"/>
            <p:cNvSpPr>
              <a:spLocks noChangeShapeType="1"/>
            </p:cNvSpPr>
            <p:nvPr/>
          </p:nvSpPr>
          <p:spPr bwMode="auto">
            <a:xfrm>
              <a:off x="1007604" y="3803005"/>
              <a:ext cx="360362" cy="0"/>
            </a:xfrm>
            <a:prstGeom prst="line">
              <a:avLst/>
            </a:prstGeom>
            <a:noFill/>
            <a:ln w="9525">
              <a:solidFill>
                <a:schemeClr val="tx1"/>
              </a:solidFill>
              <a:round/>
            </a:ln>
            <a:effectLst/>
          </p:spPr>
          <p:txBody>
            <a:bodyPr/>
            <a:lstStyle/>
            <a:p>
              <a:endParaRPr lang="zh-CN" altLang="en-US"/>
            </a:p>
          </p:txBody>
        </p:sp>
        <p:sp>
          <p:nvSpPr>
            <p:cNvPr id="282631" name="Line 7"/>
            <p:cNvSpPr>
              <a:spLocks noChangeShapeType="1"/>
            </p:cNvSpPr>
            <p:nvPr/>
          </p:nvSpPr>
          <p:spPr bwMode="auto">
            <a:xfrm>
              <a:off x="971600" y="4077072"/>
              <a:ext cx="360362" cy="0"/>
            </a:xfrm>
            <a:prstGeom prst="line">
              <a:avLst/>
            </a:prstGeom>
            <a:noFill/>
            <a:ln w="9525">
              <a:solidFill>
                <a:schemeClr val="tx1"/>
              </a:solidFill>
              <a:round/>
            </a:ln>
            <a:effectLst/>
          </p:spPr>
          <p:txBody>
            <a:bodyPr/>
            <a:lstStyle/>
            <a:p>
              <a:endParaRPr lang="zh-CN" altLang="en-US"/>
            </a:p>
          </p:txBody>
        </p:sp>
        <p:sp>
          <p:nvSpPr>
            <p:cNvPr id="282632" name="Line 8"/>
            <p:cNvSpPr>
              <a:spLocks noChangeShapeType="1"/>
            </p:cNvSpPr>
            <p:nvPr/>
          </p:nvSpPr>
          <p:spPr bwMode="auto">
            <a:xfrm>
              <a:off x="1476425" y="4077072"/>
              <a:ext cx="360362" cy="0"/>
            </a:xfrm>
            <a:prstGeom prst="line">
              <a:avLst/>
            </a:prstGeom>
            <a:noFill/>
            <a:ln w="9525">
              <a:solidFill>
                <a:schemeClr val="tx1"/>
              </a:solidFill>
              <a:round/>
            </a:ln>
            <a:effectLst/>
          </p:spPr>
          <p:txBody>
            <a:bodyPr/>
            <a:lstStyle/>
            <a:p>
              <a:endParaRPr lang="zh-CN" altLang="en-US"/>
            </a:p>
          </p:txBody>
        </p:sp>
      </p:gr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02" name="Picture 2" descr="未命名"/>
          <p:cNvPicPr>
            <a:picLocks noChangeAspect="1" noChangeArrowheads="1"/>
          </p:cNvPicPr>
          <p:nvPr/>
        </p:nvPicPr>
        <p:blipFill>
          <a:blip r:embed="rId1">
            <a:clrChange>
              <a:clrFrom>
                <a:srgbClr val="FFFFFF"/>
              </a:clrFrom>
              <a:clrTo>
                <a:srgbClr val="FFFFFF">
                  <a:alpha val="0"/>
                </a:srgbClr>
              </a:clrTo>
            </a:clrChange>
          </a:blip>
          <a:srcRect/>
          <a:stretch>
            <a:fillRect/>
          </a:stretch>
        </p:blipFill>
        <p:spPr bwMode="auto">
          <a:xfrm>
            <a:off x="2698354" y="1124744"/>
            <a:ext cx="5940685" cy="3711273"/>
          </a:xfrm>
          <a:prstGeom prst="rect">
            <a:avLst/>
          </a:prstGeom>
          <a:noFill/>
        </p:spPr>
      </p:pic>
      <p:sp>
        <p:nvSpPr>
          <p:cNvPr id="358403" name="Rectangle 3"/>
          <p:cNvSpPr>
            <a:spLocks noChangeArrowheads="1"/>
          </p:cNvSpPr>
          <p:nvPr/>
        </p:nvSpPr>
        <p:spPr bwMode="auto">
          <a:xfrm>
            <a:off x="453725" y="1123008"/>
            <a:ext cx="2447925" cy="457200"/>
          </a:xfrm>
          <a:prstGeom prst="rect">
            <a:avLst/>
          </a:prstGeom>
          <a:noFill/>
          <a:ln w="9525" algn="ctr">
            <a:noFill/>
            <a:miter lim="800000"/>
          </a:ln>
          <a:effectLst/>
        </p:spPr>
        <p:txBody>
          <a:bodyPr>
            <a:spAutoFit/>
          </a:bodyPr>
          <a:lstStyle/>
          <a:p>
            <a:r>
              <a:rPr lang="en-US" altLang="zh-CN" b="1" u="sng" dirty="0">
                <a:solidFill>
                  <a:srgbClr val="0000FF"/>
                </a:solidFill>
                <a:effectLst>
                  <a:outerShdw blurRad="38100" dist="38100" dir="2700000" algn="tl">
                    <a:srgbClr val="C0C0C0"/>
                  </a:outerShdw>
                </a:effectLst>
              </a:rPr>
              <a:t>8255A</a:t>
            </a:r>
            <a:r>
              <a:rPr lang="zh-CN" altLang="en-US" b="1" u="sng" dirty="0">
                <a:solidFill>
                  <a:srgbClr val="0000FF"/>
                </a:solidFill>
                <a:effectLst>
                  <a:outerShdw blurRad="38100" dist="38100" dir="2700000" algn="tl">
                    <a:srgbClr val="C0C0C0"/>
                  </a:outerShdw>
                </a:effectLst>
              </a:rPr>
              <a:t>内部结构：</a:t>
            </a:r>
            <a:endParaRPr lang="zh-CN" altLang="en-US" b="1" u="sng" dirty="0">
              <a:solidFill>
                <a:srgbClr val="0000FF"/>
              </a:solidFill>
              <a:effectLst>
                <a:outerShdw blurRad="38100" dist="38100" dir="2700000" algn="tl">
                  <a:srgbClr val="C0C0C0"/>
                </a:outerShdw>
              </a:effectLst>
            </a:endParaRPr>
          </a:p>
        </p:txBody>
      </p:sp>
      <p:sp>
        <p:nvSpPr>
          <p:cNvPr id="358404" name="Rectangle 4"/>
          <p:cNvSpPr>
            <a:spLocks noChangeArrowheads="1"/>
          </p:cNvSpPr>
          <p:nvPr/>
        </p:nvSpPr>
        <p:spPr bwMode="auto">
          <a:xfrm>
            <a:off x="647564" y="4653136"/>
            <a:ext cx="7991475" cy="1938992"/>
          </a:xfrm>
          <a:prstGeom prst="rect">
            <a:avLst/>
          </a:prstGeom>
          <a:noFill/>
          <a:ln w="9525" algn="ctr">
            <a:noFill/>
            <a:miter lim="800000"/>
          </a:ln>
          <a:effectLst/>
        </p:spPr>
        <p:txBody>
          <a:bodyPr>
            <a:spAutoFit/>
          </a:bodyPr>
          <a:lstStyle/>
          <a:p>
            <a:r>
              <a:rPr lang="zh-CN" altLang="en-US" sz="2000" b="1" u="sng" dirty="0">
                <a:solidFill>
                  <a:srgbClr val="0000FF"/>
                </a:solidFill>
                <a:effectLst>
                  <a:outerShdw blurRad="38100" dist="38100" dir="2700000" algn="tl">
                    <a:srgbClr val="000000">
                      <a:alpha val="43137"/>
                    </a:srgbClr>
                  </a:outerShdw>
                </a:effectLst>
              </a:rPr>
              <a:t>端口</a:t>
            </a:r>
            <a:r>
              <a:rPr lang="en-US" altLang="zh-CN" sz="2000" b="1" u="sng" dirty="0">
                <a:solidFill>
                  <a:srgbClr val="0000FF"/>
                </a:solidFill>
                <a:effectLst>
                  <a:outerShdw blurRad="38100" dist="38100" dir="2700000" algn="tl">
                    <a:srgbClr val="000000">
                      <a:alpha val="43137"/>
                    </a:srgbClr>
                  </a:outerShdw>
                </a:effectLst>
              </a:rPr>
              <a:t>A</a:t>
            </a:r>
            <a:r>
              <a:rPr lang="zh-CN" altLang="en-US" sz="2000" b="1" u="sng" dirty="0">
                <a:solidFill>
                  <a:srgbClr val="0000FF"/>
                </a:solidFill>
                <a:effectLst>
                  <a:outerShdw blurRad="38100" dist="38100" dir="2700000" algn="tl">
                    <a:srgbClr val="000000">
                      <a:alpha val="43137"/>
                    </a:srgbClr>
                  </a:outerShdw>
                </a:effectLst>
              </a:rPr>
              <a:t>：</a:t>
            </a:r>
            <a:endParaRPr lang="zh-CN" altLang="en-US" sz="2000" b="1" u="sng" dirty="0">
              <a:solidFill>
                <a:srgbClr val="0000FF"/>
              </a:solidFill>
              <a:effectLst>
                <a:outerShdw blurRad="38100" dist="38100" dir="2700000" algn="tl">
                  <a:srgbClr val="000000">
                    <a:alpha val="43137"/>
                  </a:srgbClr>
                </a:outerShdw>
              </a:effectLst>
            </a:endParaRPr>
          </a:p>
          <a:p>
            <a:pPr indent="542925"/>
            <a:r>
              <a:rPr lang="zh-CN" altLang="en-US" sz="2000" dirty="0"/>
              <a:t>具有一个</a:t>
            </a:r>
            <a:r>
              <a:rPr lang="en-US" altLang="zh-CN" sz="2000" dirty="0"/>
              <a:t>8</a:t>
            </a:r>
            <a:r>
              <a:rPr lang="zh-CN" altLang="en-US" sz="2000" dirty="0"/>
              <a:t>位数据</a:t>
            </a:r>
            <a:r>
              <a:rPr lang="zh-CN" altLang="en-US" sz="2000" dirty="0">
                <a:solidFill>
                  <a:srgbClr val="0000FF"/>
                </a:solidFill>
              </a:rPr>
              <a:t>输入锁存器</a:t>
            </a:r>
            <a:r>
              <a:rPr lang="zh-CN" altLang="en-US" sz="2000" dirty="0"/>
              <a:t>和一个</a:t>
            </a:r>
            <a:r>
              <a:rPr lang="en-US" altLang="zh-CN" sz="2000" dirty="0"/>
              <a:t>8</a:t>
            </a:r>
            <a:r>
              <a:rPr lang="zh-CN" altLang="en-US" sz="2000" dirty="0"/>
              <a:t>位数据</a:t>
            </a:r>
            <a:r>
              <a:rPr lang="zh-CN" altLang="en-US" sz="2000" dirty="0">
                <a:solidFill>
                  <a:srgbClr val="0000FF"/>
                </a:solidFill>
              </a:rPr>
              <a:t>输出锁存器</a:t>
            </a:r>
            <a:r>
              <a:rPr lang="en-US" altLang="zh-CN" sz="2000" dirty="0">
                <a:solidFill>
                  <a:srgbClr val="0000FF"/>
                </a:solidFill>
              </a:rPr>
              <a:t>/</a:t>
            </a:r>
            <a:r>
              <a:rPr lang="zh-CN" altLang="en-US" sz="2000" dirty="0">
                <a:solidFill>
                  <a:srgbClr val="0000FF"/>
                </a:solidFill>
              </a:rPr>
              <a:t>缓冲器</a:t>
            </a:r>
            <a:r>
              <a:rPr lang="zh-CN" altLang="en-US" sz="2000" dirty="0"/>
              <a:t>，故数据输入</a:t>
            </a:r>
            <a:r>
              <a:rPr lang="en-US" altLang="zh-CN" sz="2000" dirty="0"/>
              <a:t>/</a:t>
            </a:r>
            <a:r>
              <a:rPr lang="zh-CN" altLang="en-US" sz="2000" dirty="0"/>
              <a:t>输出均锁存。</a:t>
            </a:r>
            <a:endParaRPr lang="zh-CN" altLang="en-US" sz="2000" dirty="0"/>
          </a:p>
          <a:p>
            <a:r>
              <a:rPr lang="zh-CN" altLang="en-US" sz="2000" b="1" u="sng" dirty="0">
                <a:solidFill>
                  <a:srgbClr val="0000FF"/>
                </a:solidFill>
                <a:effectLst>
                  <a:outerShdw blurRad="38100" dist="38100" dir="2700000" algn="tl">
                    <a:srgbClr val="000000">
                      <a:alpha val="43137"/>
                    </a:srgbClr>
                  </a:outerShdw>
                </a:effectLst>
              </a:rPr>
              <a:t>端口</a:t>
            </a:r>
            <a:r>
              <a:rPr lang="en-US" altLang="zh-CN" sz="2000" b="1" u="sng" dirty="0">
                <a:solidFill>
                  <a:srgbClr val="0000FF"/>
                </a:solidFill>
                <a:effectLst>
                  <a:outerShdw blurRad="38100" dist="38100" dir="2700000" algn="tl">
                    <a:srgbClr val="000000">
                      <a:alpha val="43137"/>
                    </a:srgbClr>
                  </a:outerShdw>
                </a:effectLst>
              </a:rPr>
              <a:t>B</a:t>
            </a:r>
            <a:r>
              <a:rPr lang="zh-CN" altLang="en-US" sz="2000" b="1" u="sng" dirty="0">
                <a:solidFill>
                  <a:srgbClr val="0000FF"/>
                </a:solidFill>
                <a:effectLst>
                  <a:outerShdw blurRad="38100" dist="38100" dir="2700000" algn="tl">
                    <a:srgbClr val="000000">
                      <a:alpha val="43137"/>
                    </a:srgbClr>
                  </a:outerShdw>
                </a:effectLst>
              </a:rPr>
              <a:t>、端口</a:t>
            </a:r>
            <a:r>
              <a:rPr lang="en-US" altLang="zh-CN" sz="2000" b="1" u="sng" dirty="0">
                <a:solidFill>
                  <a:srgbClr val="0000FF"/>
                </a:solidFill>
                <a:effectLst>
                  <a:outerShdw blurRad="38100" dist="38100" dir="2700000" algn="tl">
                    <a:srgbClr val="000000">
                      <a:alpha val="43137"/>
                    </a:srgbClr>
                  </a:outerShdw>
                </a:effectLst>
              </a:rPr>
              <a:t>C</a:t>
            </a:r>
            <a:r>
              <a:rPr lang="zh-CN" altLang="en-US" sz="2000" b="1" u="sng" dirty="0">
                <a:solidFill>
                  <a:srgbClr val="0000FF"/>
                </a:solidFill>
                <a:effectLst>
                  <a:outerShdw blurRad="38100" dist="38100" dir="2700000" algn="tl">
                    <a:srgbClr val="000000">
                      <a:alpha val="43137"/>
                    </a:srgbClr>
                  </a:outerShdw>
                </a:effectLst>
              </a:rPr>
              <a:t>：</a:t>
            </a:r>
            <a:endParaRPr lang="zh-CN" altLang="en-US" sz="2000" b="1" u="sng" dirty="0">
              <a:solidFill>
                <a:srgbClr val="0000FF"/>
              </a:solidFill>
              <a:effectLst>
                <a:outerShdw blurRad="38100" dist="38100" dir="2700000" algn="tl">
                  <a:srgbClr val="000000">
                    <a:alpha val="43137"/>
                  </a:srgbClr>
                </a:outerShdw>
              </a:effectLst>
            </a:endParaRPr>
          </a:p>
          <a:p>
            <a:pPr indent="542925"/>
            <a:r>
              <a:rPr lang="zh-CN" altLang="en-US" sz="2000" dirty="0"/>
              <a:t>具有一个</a:t>
            </a:r>
            <a:r>
              <a:rPr lang="en-US" altLang="zh-CN" sz="2000" dirty="0"/>
              <a:t>8</a:t>
            </a:r>
            <a:r>
              <a:rPr lang="zh-CN" altLang="en-US" sz="2000" dirty="0"/>
              <a:t>位数据</a:t>
            </a:r>
            <a:r>
              <a:rPr lang="zh-CN" altLang="en-US" sz="2000" dirty="0">
                <a:solidFill>
                  <a:srgbClr val="0000FF"/>
                </a:solidFill>
              </a:rPr>
              <a:t>输入缓冲器</a:t>
            </a:r>
            <a:r>
              <a:rPr lang="zh-CN" altLang="en-US" sz="2000" dirty="0"/>
              <a:t>和一个</a:t>
            </a:r>
            <a:r>
              <a:rPr lang="en-US" altLang="zh-CN" sz="2000" dirty="0"/>
              <a:t>8</a:t>
            </a:r>
            <a:r>
              <a:rPr lang="zh-CN" altLang="en-US" sz="2000" dirty="0"/>
              <a:t>位数据</a:t>
            </a:r>
            <a:r>
              <a:rPr lang="zh-CN" altLang="en-US" sz="2000" dirty="0">
                <a:solidFill>
                  <a:srgbClr val="0000FF"/>
                </a:solidFill>
              </a:rPr>
              <a:t>输出锁存器</a:t>
            </a:r>
            <a:r>
              <a:rPr lang="en-US" altLang="zh-CN" sz="2000" dirty="0">
                <a:solidFill>
                  <a:srgbClr val="0000FF"/>
                </a:solidFill>
              </a:rPr>
              <a:t>/</a:t>
            </a:r>
            <a:r>
              <a:rPr lang="zh-CN" altLang="en-US" sz="2000" dirty="0">
                <a:solidFill>
                  <a:srgbClr val="0000FF"/>
                </a:solidFill>
              </a:rPr>
              <a:t>缓冲器</a:t>
            </a:r>
            <a:r>
              <a:rPr lang="zh-CN" altLang="en-US" sz="2000" dirty="0"/>
              <a:t>，故有输出锁存，无输入锁存。</a:t>
            </a:r>
            <a:endParaRPr lang="zh-CN" altLang="en-US" sz="2000" dirty="0"/>
          </a:p>
        </p:txBody>
      </p:sp>
      <p:sp>
        <p:nvSpPr>
          <p:cNvPr id="5" name="Rectangle 2"/>
          <p:cNvSpPr>
            <a:spLocks noChangeArrowheads="1"/>
          </p:cNvSpPr>
          <p:nvPr/>
        </p:nvSpPr>
        <p:spPr bwMode="auto">
          <a:xfrm>
            <a:off x="467544" y="352092"/>
            <a:ext cx="7772400" cy="493085"/>
          </a:xfrm>
          <a:prstGeom prst="rect">
            <a:avLst/>
          </a:prstGeom>
          <a:noFill/>
          <a:ln w="9525">
            <a:noFill/>
            <a:miter lim="800000"/>
          </a:ln>
          <a:effectLst/>
        </p:spPr>
        <p:txBody>
          <a:bodyPr lIns="92075" tIns="46038" rIns="92075" bIns="46038">
            <a:spAutoFit/>
          </a:bodyPr>
          <a:lstStyle/>
          <a:p>
            <a:r>
              <a:rPr lang="zh-CN" altLang="en-US" sz="2600" kern="0" dirty="0">
                <a:solidFill>
                  <a:schemeClr val="tx2"/>
                </a:solidFill>
                <a:effectLst>
                  <a:outerShdw blurRad="38100" dist="38100" dir="2700000" algn="tl">
                    <a:srgbClr val="C0C0C0"/>
                  </a:outerShdw>
                </a:effectLst>
                <a:latin typeface="+mj-lt"/>
                <a:cs typeface="+mj-cs"/>
              </a:rPr>
              <a:t>并行通信接口芯片 </a:t>
            </a:r>
            <a:r>
              <a:rPr lang="en-US" altLang="zh-CN" sz="2600" kern="0" dirty="0">
                <a:solidFill>
                  <a:schemeClr val="tx2"/>
                </a:solidFill>
                <a:effectLst>
                  <a:outerShdw blurRad="38100" dist="38100" dir="2700000" algn="tl">
                    <a:srgbClr val="C0C0C0"/>
                  </a:outerShdw>
                </a:effectLst>
                <a:latin typeface="+mj-lt"/>
                <a:cs typeface="+mj-cs"/>
              </a:rPr>
              <a:t>8255A</a:t>
            </a:r>
            <a:endParaRPr lang="en-US" altLang="zh-CN"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7476" name="Group 100"/>
          <p:cNvGraphicFramePr>
            <a:graphicFrameLocks noGrp="1"/>
          </p:cNvGraphicFramePr>
          <p:nvPr/>
        </p:nvGraphicFramePr>
        <p:xfrm>
          <a:off x="647564" y="1448780"/>
          <a:ext cx="8062913" cy="5029200"/>
        </p:xfrm>
        <a:graphic>
          <a:graphicData uri="http://schemas.openxmlformats.org/drawingml/2006/table">
            <a:tbl>
              <a:tblPr/>
              <a:tblGrid>
                <a:gridCol w="1050925"/>
                <a:gridCol w="1050925"/>
                <a:gridCol w="1050925"/>
                <a:gridCol w="1050925"/>
                <a:gridCol w="1050925"/>
                <a:gridCol w="2808288"/>
              </a:tblGrid>
              <a:tr h="369888">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rPr>
                        <a:t>CS</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rPr>
                        <a:t>RD</a:t>
                      </a:r>
                      <a:endPar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rPr>
                        <a:t>WR</a:t>
                      </a:r>
                      <a:endPar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rPr>
                        <a:t>A1</a:t>
                      </a:r>
                      <a:endPar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rPr>
                        <a:t>A0</a:t>
                      </a:r>
                      <a:endPar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zh-CN" altLang="en-US"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rPr>
                        <a:t>端口选择及操作</a:t>
                      </a:r>
                      <a:endParaRPr kumimoji="0" lang="zh-CN" altLang="en-US"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8300">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rPr>
                        <a:t>0</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rPr>
                        <a:t>1</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rPr>
                        <a:t>0</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rPr>
                        <a:t>0</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rPr>
                        <a:t>0</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zh-CN" altLang="en-US"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rPr>
                        <a:t>数据送入端口</a:t>
                      </a:r>
                      <a:r>
                        <a:rPr kumimoji="0" lang="en-US" altLang="zh-CN"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rPr>
                        <a:t>A</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9888">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rPr>
                        <a:t>0</a:t>
                      </a:r>
                      <a:endPar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rPr>
                        <a:t>1</a:t>
                      </a:r>
                      <a:endPar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rPr>
                        <a:t>0</a:t>
                      </a:r>
                      <a:endPar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rPr>
                        <a:t>0</a:t>
                      </a:r>
                      <a:endPar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rPr>
                        <a:t>1</a:t>
                      </a:r>
                      <a:endPar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zh-CN" altLang="en-US"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rPr>
                        <a:t>数据送入端口</a:t>
                      </a:r>
                      <a:r>
                        <a:rPr kumimoji="0" lang="en-US" altLang="zh-CN"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rPr>
                        <a:t>B</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9888">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rPr>
                        <a:t>0</a:t>
                      </a:r>
                      <a:endPar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rPr>
                        <a:t>1</a:t>
                      </a:r>
                      <a:endPar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rPr>
                        <a:t>0</a:t>
                      </a:r>
                      <a:endPar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rPr>
                        <a:t>1</a:t>
                      </a:r>
                      <a:endPar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rPr>
                        <a:t>0</a:t>
                      </a:r>
                      <a:endPar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zh-CN" altLang="en-US"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rPr>
                        <a:t>数据送入端口</a:t>
                      </a:r>
                      <a:r>
                        <a:rPr kumimoji="0" lang="en-US" altLang="zh-CN"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rPr>
                        <a:t>C</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9888">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rPr>
                        <a:t>0</a:t>
                      </a:r>
                      <a:endParaRPr kumimoji="0" lang="en-US" altLang="zh-CN"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rPr>
                        <a:t>1</a:t>
                      </a:r>
                      <a:endParaRPr kumimoji="0" lang="en-US" altLang="zh-CN"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rPr>
                        <a:t>0</a:t>
                      </a:r>
                      <a:endParaRPr kumimoji="0" lang="en-US" altLang="zh-CN"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rPr>
                        <a:t>1</a:t>
                      </a:r>
                      <a:endParaRPr kumimoji="0" lang="en-US" altLang="zh-CN"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rPr>
                        <a:t>1</a:t>
                      </a:r>
                      <a:endParaRPr kumimoji="0" lang="en-US" altLang="zh-CN"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zh-CN" altLang="en-US"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rPr>
                        <a:t>写入控制字</a:t>
                      </a:r>
                      <a:endParaRPr kumimoji="0" lang="zh-CN" altLang="en-US"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8300">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rPr>
                        <a:t>0</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rPr>
                        <a:t>0</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rPr>
                        <a:t>1</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rPr>
                        <a:t>0</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rPr>
                        <a:t>0</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zh-CN" altLang="en-US"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rPr>
                        <a:t>数据从端口</a:t>
                      </a:r>
                      <a:r>
                        <a:rPr kumimoji="0" lang="en-US" altLang="zh-CN"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rPr>
                        <a:t>A</a:t>
                      </a:r>
                      <a:r>
                        <a:rPr kumimoji="0" lang="zh-CN" altLang="en-US"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rPr>
                        <a:t>送出</a:t>
                      </a:r>
                      <a:endParaRPr kumimoji="0" lang="zh-CN" altLang="en-US"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9888">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rPr>
                        <a:t>0</a:t>
                      </a:r>
                      <a:endPar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rPr>
                        <a:t>0</a:t>
                      </a:r>
                      <a:endPar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rPr>
                        <a:t>1</a:t>
                      </a:r>
                      <a:endPar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rPr>
                        <a:t>0</a:t>
                      </a:r>
                      <a:endPar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rPr>
                        <a:t>1</a:t>
                      </a:r>
                      <a:endPar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zh-CN" altLang="en-US"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rPr>
                        <a:t>数据从端口</a:t>
                      </a:r>
                      <a:r>
                        <a:rPr kumimoji="0" lang="en-US" altLang="zh-CN"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rPr>
                        <a:t>B</a:t>
                      </a:r>
                      <a:r>
                        <a:rPr kumimoji="0" lang="zh-CN" altLang="en-US"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rPr>
                        <a:t>送出</a:t>
                      </a:r>
                      <a:endParaRPr kumimoji="0" lang="zh-CN" altLang="en-US"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9888">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rPr>
                        <a:t>0</a:t>
                      </a:r>
                      <a:endPar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rPr>
                        <a:t>0</a:t>
                      </a:r>
                      <a:endPar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rPr>
                        <a:t>1</a:t>
                      </a:r>
                      <a:endPar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rPr>
                        <a:t>1</a:t>
                      </a:r>
                      <a:endPar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rPr>
                        <a:t>0</a:t>
                      </a:r>
                      <a:endParaRPr kumimoji="0" lang="en-US" altLang="zh-CN" sz="2400" b="0" i="0" u="none" strike="noStrike" cap="none" normalizeH="0" baseline="0">
                        <a:ln>
                          <a:noFill/>
                        </a:ln>
                        <a:solidFill>
                          <a:schemeClr val="tx1"/>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zh-CN" altLang="en-US"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rPr>
                        <a:t>数据从端口</a:t>
                      </a:r>
                      <a:r>
                        <a:rPr kumimoji="0" lang="en-US" altLang="zh-CN"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rPr>
                        <a:t>C</a:t>
                      </a:r>
                      <a:r>
                        <a:rPr kumimoji="0" lang="zh-CN" altLang="en-US"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rPr>
                        <a:t>送出</a:t>
                      </a:r>
                      <a:endParaRPr kumimoji="0" lang="zh-CN" altLang="en-US" sz="2400" b="0" i="0" u="none" strike="noStrike" cap="none" normalizeH="0" baseline="0" dirty="0">
                        <a:ln>
                          <a:noFill/>
                        </a:ln>
                        <a:solidFill>
                          <a:schemeClr val="tx1"/>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9888">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rPr>
                        <a:t>0</a:t>
                      </a:r>
                      <a:endParaRPr kumimoji="0" lang="en-US" altLang="zh-CN"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rPr>
                        <a:t>0</a:t>
                      </a:r>
                      <a:endParaRPr kumimoji="0" lang="en-US" altLang="zh-CN"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rPr>
                        <a:t>1</a:t>
                      </a:r>
                      <a:endParaRPr kumimoji="0" lang="en-US" altLang="zh-CN"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rPr>
                        <a:t>1</a:t>
                      </a:r>
                      <a:endParaRPr kumimoji="0" lang="en-US" altLang="zh-CN"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rPr>
                        <a:t>1</a:t>
                      </a:r>
                      <a:endParaRPr kumimoji="0" lang="en-US" altLang="zh-CN"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zh-CN" altLang="en-US"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rPr>
                        <a:t>无操作，输出三态</a:t>
                      </a:r>
                      <a:endParaRPr kumimoji="0" lang="zh-CN" altLang="en-US"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8300">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rPr>
                        <a:t>0</a:t>
                      </a:r>
                      <a:endParaRPr kumimoji="0" lang="en-US" altLang="zh-CN"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rPr>
                        <a:t>1</a:t>
                      </a:r>
                      <a:endParaRPr kumimoji="0" lang="en-US" altLang="zh-CN"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rPr>
                        <a:t>1</a:t>
                      </a:r>
                      <a:endParaRPr kumimoji="0" lang="en-US" altLang="zh-CN"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rPr>
                        <a:t>X</a:t>
                      </a:r>
                      <a:endParaRPr kumimoji="0" lang="en-US" altLang="zh-CN"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rPr>
                        <a:t>X</a:t>
                      </a:r>
                      <a:endParaRPr kumimoji="0" lang="en-US" altLang="zh-CN"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zh-CN" altLang="en-US"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rPr>
                        <a:t>无操作，输出三态</a:t>
                      </a:r>
                      <a:endParaRPr kumimoji="0" lang="zh-CN" altLang="en-US"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9888">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rPr>
                        <a:t>1</a:t>
                      </a:r>
                      <a:endParaRPr kumimoji="0" lang="en-US" altLang="zh-CN"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rPr>
                        <a:t>X</a:t>
                      </a:r>
                      <a:endParaRPr kumimoji="0" lang="en-US" altLang="zh-CN"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rPr>
                        <a:t>X</a:t>
                      </a:r>
                      <a:endParaRPr kumimoji="0" lang="en-US" altLang="zh-CN"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rPr>
                        <a:t>X</a:t>
                      </a:r>
                      <a:endParaRPr kumimoji="0" lang="en-US" altLang="zh-CN"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en-US" altLang="zh-CN"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rPr>
                        <a:t>X</a:t>
                      </a:r>
                      <a:endParaRPr kumimoji="0" lang="en-US" altLang="zh-CN" sz="2400" b="0" i="0" u="none" strike="noStrike" cap="none" normalizeH="0" baseline="0">
                        <a:ln>
                          <a:noFill/>
                        </a:ln>
                        <a:solidFill>
                          <a:srgbClr val="0000FF"/>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pPr>
                      <a:r>
                        <a:rPr kumimoji="0" lang="zh-CN" altLang="en-US" sz="2400" b="0" i="0" u="none" strike="noStrike" cap="none" normalizeH="0" baseline="0" dirty="0">
                          <a:ln>
                            <a:noFill/>
                          </a:ln>
                          <a:solidFill>
                            <a:srgbClr val="0000FF"/>
                          </a:solidFill>
                          <a:effectLst/>
                          <a:latin typeface="Times New Roman" panose="02020603050405020304" pitchFamily="18" charset="0"/>
                          <a:ea typeface="隶书" panose="02010509060101010101" pitchFamily="49" charset="-122"/>
                        </a:rPr>
                        <a:t>禁止，输出三态</a:t>
                      </a:r>
                      <a:endParaRPr kumimoji="0" lang="zh-CN" altLang="en-US" sz="2400" b="0" i="0" u="none" strike="noStrike" cap="none" normalizeH="0" baseline="0" dirty="0">
                        <a:ln>
                          <a:noFill/>
                        </a:ln>
                        <a:solidFill>
                          <a:srgbClr val="0000FF"/>
                        </a:solidFill>
                        <a:effectLst/>
                        <a:latin typeface="Times New Roman" panose="02020603050405020304" pitchFamily="18" charset="0"/>
                        <a:ea typeface="隶书" panose="020105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57465" name="Rectangle 89"/>
          <p:cNvSpPr>
            <a:spLocks noChangeArrowheads="1"/>
          </p:cNvSpPr>
          <p:nvPr/>
        </p:nvSpPr>
        <p:spPr bwMode="auto">
          <a:xfrm>
            <a:off x="503102" y="909092"/>
            <a:ext cx="3529012" cy="457200"/>
          </a:xfrm>
          <a:prstGeom prst="rect">
            <a:avLst/>
          </a:prstGeom>
          <a:noFill/>
          <a:ln w="9525" algn="ctr">
            <a:noFill/>
            <a:miter lim="800000"/>
          </a:ln>
          <a:effectLst/>
        </p:spPr>
        <p:txBody>
          <a:bodyPr>
            <a:spAutoFit/>
          </a:bodyPr>
          <a:lstStyle/>
          <a:p>
            <a:r>
              <a:rPr lang="en-US" altLang="zh-CN">
                <a:solidFill>
                  <a:srgbClr val="0000FF"/>
                </a:solidFill>
                <a:effectLst>
                  <a:outerShdw blurRad="38100" dist="38100" dir="2700000" algn="tl">
                    <a:srgbClr val="C0C0C0"/>
                  </a:outerShdw>
                </a:effectLst>
              </a:rPr>
              <a:t>8255A</a:t>
            </a:r>
            <a:r>
              <a:rPr lang="zh-CN" altLang="en-US">
                <a:solidFill>
                  <a:srgbClr val="0000FF"/>
                </a:solidFill>
                <a:effectLst>
                  <a:outerShdw blurRad="38100" dist="38100" dir="2700000" algn="tl">
                    <a:srgbClr val="C0C0C0"/>
                  </a:outerShdw>
                </a:effectLst>
              </a:rPr>
              <a:t>端口选择操作：</a:t>
            </a:r>
            <a:endParaRPr lang="zh-CN" altLang="en-US">
              <a:solidFill>
                <a:srgbClr val="0000FF"/>
              </a:solidFill>
              <a:effectLst>
                <a:outerShdw blurRad="38100" dist="38100" dir="2700000" algn="tl">
                  <a:srgbClr val="C0C0C0"/>
                </a:outerShdw>
              </a:effectLst>
            </a:endParaRPr>
          </a:p>
        </p:txBody>
      </p:sp>
      <p:sp>
        <p:nvSpPr>
          <p:cNvPr id="357477" name="Line 101"/>
          <p:cNvSpPr>
            <a:spLocks noChangeShapeType="1"/>
          </p:cNvSpPr>
          <p:nvPr/>
        </p:nvSpPr>
        <p:spPr bwMode="auto">
          <a:xfrm>
            <a:off x="1007927" y="1520788"/>
            <a:ext cx="358775" cy="0"/>
          </a:xfrm>
          <a:prstGeom prst="line">
            <a:avLst/>
          </a:prstGeom>
          <a:noFill/>
          <a:ln w="9525">
            <a:solidFill>
              <a:schemeClr val="tx1"/>
            </a:solidFill>
            <a:round/>
          </a:ln>
          <a:effectLst/>
        </p:spPr>
        <p:txBody>
          <a:bodyPr/>
          <a:lstStyle/>
          <a:p>
            <a:endParaRPr lang="zh-CN" altLang="en-US"/>
          </a:p>
        </p:txBody>
      </p:sp>
      <p:sp>
        <p:nvSpPr>
          <p:cNvPr id="357478" name="Line 102"/>
          <p:cNvSpPr>
            <a:spLocks noChangeShapeType="1"/>
          </p:cNvSpPr>
          <p:nvPr/>
        </p:nvSpPr>
        <p:spPr bwMode="auto">
          <a:xfrm>
            <a:off x="2017577" y="1520788"/>
            <a:ext cx="358775" cy="0"/>
          </a:xfrm>
          <a:prstGeom prst="line">
            <a:avLst/>
          </a:prstGeom>
          <a:noFill/>
          <a:ln w="9525">
            <a:solidFill>
              <a:schemeClr val="tx1"/>
            </a:solidFill>
            <a:round/>
          </a:ln>
          <a:effectLst/>
        </p:spPr>
        <p:txBody>
          <a:bodyPr/>
          <a:lstStyle/>
          <a:p>
            <a:endParaRPr lang="zh-CN" altLang="en-US"/>
          </a:p>
        </p:txBody>
      </p:sp>
      <p:sp>
        <p:nvSpPr>
          <p:cNvPr id="357479" name="Line 103"/>
          <p:cNvSpPr>
            <a:spLocks noChangeShapeType="1"/>
          </p:cNvSpPr>
          <p:nvPr/>
        </p:nvSpPr>
        <p:spPr bwMode="auto">
          <a:xfrm>
            <a:off x="3025639" y="1520788"/>
            <a:ext cx="358775" cy="0"/>
          </a:xfrm>
          <a:prstGeom prst="line">
            <a:avLst/>
          </a:prstGeom>
          <a:noFill/>
          <a:ln w="9525">
            <a:solidFill>
              <a:schemeClr val="tx1"/>
            </a:solidFill>
            <a:round/>
          </a:ln>
          <a:effectLst/>
        </p:spPr>
        <p:txBody>
          <a:bodyPr/>
          <a:lstStyle/>
          <a:p>
            <a:endParaRPr lang="zh-CN" altLang="en-US"/>
          </a:p>
        </p:txBody>
      </p:sp>
      <p:sp>
        <p:nvSpPr>
          <p:cNvPr id="7" name="Rectangle 2"/>
          <p:cNvSpPr>
            <a:spLocks noChangeArrowheads="1"/>
          </p:cNvSpPr>
          <p:nvPr/>
        </p:nvSpPr>
        <p:spPr bwMode="auto">
          <a:xfrm>
            <a:off x="467544" y="352092"/>
            <a:ext cx="7772400" cy="493085"/>
          </a:xfrm>
          <a:prstGeom prst="rect">
            <a:avLst/>
          </a:prstGeom>
          <a:noFill/>
          <a:ln w="9525">
            <a:noFill/>
            <a:miter lim="800000"/>
          </a:ln>
          <a:effectLst/>
        </p:spPr>
        <p:txBody>
          <a:bodyPr lIns="92075" tIns="46038" rIns="92075" bIns="46038">
            <a:spAutoFit/>
          </a:bodyPr>
          <a:lstStyle/>
          <a:p>
            <a:r>
              <a:rPr lang="zh-CN" altLang="en-US" sz="2600" kern="0" dirty="0">
                <a:solidFill>
                  <a:schemeClr val="tx2"/>
                </a:solidFill>
                <a:effectLst>
                  <a:outerShdw blurRad="38100" dist="38100" dir="2700000" algn="tl">
                    <a:srgbClr val="C0C0C0"/>
                  </a:outerShdw>
                </a:effectLst>
                <a:latin typeface="+mj-lt"/>
                <a:cs typeface="+mj-cs"/>
              </a:rPr>
              <a:t>并行通信接口芯片 </a:t>
            </a:r>
            <a:r>
              <a:rPr lang="en-US" altLang="zh-CN" sz="2600" kern="0" dirty="0">
                <a:solidFill>
                  <a:schemeClr val="tx2"/>
                </a:solidFill>
                <a:effectLst>
                  <a:outerShdw blurRad="38100" dist="38100" dir="2700000" algn="tl">
                    <a:srgbClr val="C0C0C0"/>
                  </a:outerShdw>
                </a:effectLst>
                <a:latin typeface="+mj-lt"/>
                <a:cs typeface="+mj-cs"/>
              </a:rPr>
              <a:t>8255A</a:t>
            </a:r>
            <a:endParaRPr lang="en-US" altLang="zh-CN"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ChangeArrowheads="1"/>
          </p:cNvSpPr>
          <p:nvPr/>
        </p:nvSpPr>
        <p:spPr bwMode="auto">
          <a:xfrm>
            <a:off x="539552" y="1016732"/>
            <a:ext cx="7993063" cy="5092700"/>
          </a:xfrm>
          <a:prstGeom prst="rect">
            <a:avLst/>
          </a:prstGeom>
          <a:noFill/>
          <a:ln w="9525">
            <a:noFill/>
            <a:miter lim="800000"/>
          </a:ln>
          <a:effectLst/>
        </p:spPr>
        <p:txBody>
          <a:bodyPr lIns="92075" tIns="46038" rIns="92075" bIns="46038">
            <a:spAutoFit/>
          </a:bodyPr>
          <a:lstStyle/>
          <a:p>
            <a:pPr>
              <a:lnSpc>
                <a:spcPct val="125000"/>
              </a:lnSpc>
              <a:spcBef>
                <a:spcPts val="1200"/>
              </a:spcBef>
            </a:pPr>
            <a:r>
              <a:rPr lang="en-US" altLang="zh-CN" sz="2000" dirty="0">
                <a:effectLst>
                  <a:outerShdw blurRad="38100" dist="38100" dir="2700000" algn="tl">
                    <a:srgbClr val="C0C0C0"/>
                  </a:outerShdw>
                </a:effectLst>
              </a:rPr>
              <a:t>8255A</a:t>
            </a:r>
            <a:r>
              <a:rPr lang="zh-CN" altLang="en-US" sz="2000" dirty="0">
                <a:effectLst>
                  <a:outerShdw blurRad="38100" dist="38100" dir="2700000" algn="tl">
                    <a:srgbClr val="C0C0C0"/>
                  </a:outerShdw>
                </a:effectLst>
              </a:rPr>
              <a:t>工作方式</a:t>
            </a:r>
            <a:br>
              <a:rPr lang="zh-CN" altLang="en-US" sz="2000" dirty="0">
                <a:effectLst>
                  <a:outerShdw blurRad="38100" dist="38100" dir="2700000" algn="tl">
                    <a:srgbClr val="C0C0C0"/>
                  </a:outerShdw>
                </a:effectLst>
                <a:latin typeface="宋体" panose="02010600030101010101" pitchFamily="2" charset="-122"/>
              </a:rPr>
            </a:br>
            <a:r>
              <a:rPr lang="zh-CN" altLang="en-US" sz="2000" dirty="0">
                <a:effectLst>
                  <a:outerShdw blurRad="38100" dist="38100" dir="2700000" algn="tl">
                    <a:srgbClr val="C0C0C0"/>
                  </a:outerShdw>
                </a:effectLst>
                <a:latin typeface="宋体" panose="02010600030101010101" pitchFamily="2" charset="-122"/>
              </a:rPr>
              <a:t>    </a:t>
            </a:r>
            <a:r>
              <a:rPr lang="en-US" altLang="zh-CN" sz="2000" dirty="0"/>
              <a:t>8255A</a:t>
            </a:r>
            <a:r>
              <a:rPr lang="zh-CN" altLang="en-US" sz="2000" dirty="0"/>
              <a:t>有三种工作方式，三个口可以同时以各自选择的工作方式工作。</a:t>
            </a:r>
            <a:r>
              <a:rPr lang="en-US" altLang="zh-CN" sz="2000" dirty="0"/>
              <a:t>8255A</a:t>
            </a:r>
            <a:r>
              <a:rPr lang="zh-CN" altLang="en-US" sz="2000" dirty="0"/>
              <a:t>各口在正常工作前必须进行初始化设置，以确定各口的工作方式：</a:t>
            </a:r>
            <a:br>
              <a:rPr lang="zh-CN" altLang="en-US" sz="2000" dirty="0"/>
            </a:br>
            <a:r>
              <a:rPr lang="zh-CN" altLang="en-US" sz="2000" dirty="0"/>
              <a:t>    </a:t>
            </a:r>
            <a:r>
              <a:rPr lang="zh-CN" altLang="en-US" sz="2000" dirty="0">
                <a:solidFill>
                  <a:srgbClr val="3333FF"/>
                </a:solidFill>
              </a:rPr>
              <a:t>方式</a:t>
            </a:r>
            <a:r>
              <a:rPr lang="en-US" altLang="zh-CN" sz="2000" dirty="0">
                <a:solidFill>
                  <a:srgbClr val="3333FF"/>
                </a:solidFill>
              </a:rPr>
              <a:t>0</a:t>
            </a:r>
            <a:r>
              <a:rPr lang="en-US" altLang="zh-CN" sz="2000" dirty="0">
                <a:latin typeface="宋体" panose="02010600030101010101" pitchFamily="2" charset="-122"/>
              </a:rPr>
              <a:t>——</a:t>
            </a:r>
            <a:r>
              <a:rPr lang="zh-CN" altLang="en-US" sz="2000" u="sng" dirty="0"/>
              <a:t>基本输入或输出方式</a:t>
            </a:r>
            <a:r>
              <a:rPr lang="zh-CN" altLang="en-US" sz="2000" dirty="0"/>
              <a:t>，为</a:t>
            </a:r>
            <a:r>
              <a:rPr lang="zh-CN" altLang="en-US" sz="2000" u="sng" dirty="0"/>
              <a:t>单向</a:t>
            </a:r>
            <a:r>
              <a:rPr lang="en-US" altLang="zh-CN" sz="2000" u="sng" dirty="0"/>
              <a:t>8</a:t>
            </a:r>
            <a:r>
              <a:rPr lang="zh-CN" altLang="en-US" sz="2000" u="sng" dirty="0"/>
              <a:t>位传输方式</a:t>
            </a:r>
            <a:r>
              <a:rPr lang="zh-CN" altLang="en-US" sz="2000" dirty="0"/>
              <a:t>。多适用于同步数据传输场合，</a:t>
            </a:r>
            <a:r>
              <a:rPr lang="zh-CN" altLang="en-US" sz="2000" u="sng" dirty="0"/>
              <a:t>无需握手信号</a:t>
            </a:r>
            <a:r>
              <a:rPr lang="zh-CN" altLang="en-US" sz="2000" dirty="0"/>
              <a:t>，可直接进行传输，也可用于查询方式，三个端口均可以工作在此方式。</a:t>
            </a:r>
            <a:br>
              <a:rPr lang="zh-CN" altLang="en-US" sz="2000" dirty="0"/>
            </a:br>
            <a:r>
              <a:rPr lang="zh-CN" altLang="en-US" sz="2000" dirty="0"/>
              <a:t>    </a:t>
            </a:r>
            <a:r>
              <a:rPr lang="zh-CN" altLang="en-US" sz="2000" dirty="0">
                <a:solidFill>
                  <a:srgbClr val="3333FF"/>
                </a:solidFill>
              </a:rPr>
              <a:t>方式</a:t>
            </a:r>
            <a:r>
              <a:rPr lang="en-US" altLang="zh-CN" sz="2000" dirty="0">
                <a:solidFill>
                  <a:srgbClr val="3333FF"/>
                </a:solidFill>
              </a:rPr>
              <a:t>1</a:t>
            </a:r>
            <a:r>
              <a:rPr lang="en-US" altLang="zh-CN" sz="2000" dirty="0">
                <a:latin typeface="宋体" panose="02010600030101010101" pitchFamily="2" charset="-122"/>
              </a:rPr>
              <a:t>——</a:t>
            </a:r>
            <a:r>
              <a:rPr lang="zh-CN" altLang="en-US" sz="2000" u="sng" dirty="0"/>
              <a:t>选通输入或输出方式</a:t>
            </a:r>
            <a:r>
              <a:rPr lang="zh-CN" altLang="en-US" sz="2000" dirty="0"/>
              <a:t>，为</a:t>
            </a:r>
            <a:r>
              <a:rPr lang="zh-CN" altLang="en-US" sz="2000" u="sng" dirty="0"/>
              <a:t>单向</a:t>
            </a:r>
            <a:r>
              <a:rPr lang="en-US" altLang="zh-CN" sz="2000" u="sng" dirty="0"/>
              <a:t>8</a:t>
            </a:r>
            <a:r>
              <a:rPr lang="zh-CN" altLang="en-US" sz="2000" u="sng" dirty="0"/>
              <a:t>位传输方式</a:t>
            </a:r>
            <a:r>
              <a:rPr lang="zh-CN" altLang="en-US" sz="2000" dirty="0"/>
              <a:t>。只有</a:t>
            </a:r>
            <a:r>
              <a:rPr lang="en-US" altLang="zh-CN" sz="2000" dirty="0"/>
              <a:t>A</a:t>
            </a:r>
            <a:r>
              <a:rPr lang="zh-CN" altLang="en-US" sz="2000" dirty="0"/>
              <a:t>口、</a:t>
            </a:r>
            <a:r>
              <a:rPr lang="en-US" altLang="zh-CN" sz="2000" dirty="0"/>
              <a:t>B</a:t>
            </a:r>
            <a:r>
              <a:rPr lang="zh-CN" altLang="en-US" sz="2000" dirty="0"/>
              <a:t>口可工作在方式</a:t>
            </a:r>
            <a:r>
              <a:rPr lang="en-US" altLang="zh-CN" sz="2000" dirty="0"/>
              <a:t>1</a:t>
            </a:r>
            <a:r>
              <a:rPr lang="zh-CN" altLang="en-US" sz="2000" dirty="0"/>
              <a:t>状态，此时</a:t>
            </a:r>
            <a:r>
              <a:rPr lang="en-US" altLang="zh-CN" sz="2000" dirty="0"/>
              <a:t>C</a:t>
            </a:r>
            <a:r>
              <a:rPr lang="zh-CN" altLang="en-US" sz="2000" dirty="0"/>
              <a:t>口某些线做为</a:t>
            </a:r>
            <a:r>
              <a:rPr lang="en-US" altLang="zh-CN" sz="2000" dirty="0"/>
              <a:t>A</a:t>
            </a:r>
            <a:r>
              <a:rPr lang="zh-CN" altLang="en-US" sz="2000" dirty="0"/>
              <a:t>口、</a:t>
            </a:r>
            <a:r>
              <a:rPr lang="en-US" altLang="zh-CN" sz="2000" dirty="0"/>
              <a:t>B</a:t>
            </a:r>
            <a:r>
              <a:rPr lang="zh-CN" altLang="en-US" sz="2000" dirty="0"/>
              <a:t>口的联路线，</a:t>
            </a:r>
            <a:r>
              <a:rPr lang="en-US" altLang="zh-CN" sz="2000" dirty="0"/>
              <a:t>C</a:t>
            </a:r>
            <a:r>
              <a:rPr lang="zh-CN" altLang="en-US" sz="2000" dirty="0"/>
              <a:t>口的其它线可以工作在方式</a:t>
            </a:r>
            <a:r>
              <a:rPr lang="en-US" altLang="zh-CN" sz="2000" dirty="0"/>
              <a:t>0</a:t>
            </a:r>
            <a:r>
              <a:rPr lang="zh-CN" altLang="en-US" sz="2000" dirty="0"/>
              <a:t>下。</a:t>
            </a:r>
            <a:br>
              <a:rPr lang="zh-CN" altLang="en-US" sz="2000" dirty="0"/>
            </a:br>
            <a:r>
              <a:rPr lang="zh-CN" altLang="en-US" sz="2000" dirty="0"/>
              <a:t>    </a:t>
            </a:r>
            <a:r>
              <a:rPr lang="zh-CN" altLang="en-US" sz="2000" dirty="0">
                <a:solidFill>
                  <a:srgbClr val="3333FF"/>
                </a:solidFill>
              </a:rPr>
              <a:t>方式</a:t>
            </a:r>
            <a:r>
              <a:rPr lang="en-US" altLang="zh-CN" sz="2000" dirty="0">
                <a:solidFill>
                  <a:srgbClr val="3333FF"/>
                </a:solidFill>
              </a:rPr>
              <a:t>2</a:t>
            </a:r>
            <a:r>
              <a:rPr lang="en-US" altLang="zh-CN" sz="2000" dirty="0">
                <a:latin typeface="宋体" panose="02010600030101010101" pitchFamily="2" charset="-122"/>
              </a:rPr>
              <a:t>——</a:t>
            </a:r>
            <a:r>
              <a:rPr lang="zh-CN" altLang="en-US" sz="2000" u="sng" dirty="0"/>
              <a:t>双向传输方式</a:t>
            </a:r>
            <a:r>
              <a:rPr lang="zh-CN" altLang="en-US" sz="2000" dirty="0"/>
              <a:t>，既可输入又可输出。只有</a:t>
            </a:r>
            <a:r>
              <a:rPr lang="en-US" altLang="zh-CN" sz="2000" dirty="0"/>
              <a:t>A </a:t>
            </a:r>
            <a:r>
              <a:rPr lang="zh-CN" altLang="en-US" sz="2000" dirty="0"/>
              <a:t>口可以采用方式</a:t>
            </a:r>
            <a:r>
              <a:rPr lang="en-US" altLang="zh-CN" sz="2000" dirty="0"/>
              <a:t>2</a:t>
            </a:r>
            <a:r>
              <a:rPr lang="zh-CN" altLang="en-US" sz="2000" dirty="0"/>
              <a:t>工作，此时</a:t>
            </a:r>
            <a:r>
              <a:rPr lang="en-US" altLang="zh-CN" sz="2000" dirty="0"/>
              <a:t>C</a:t>
            </a:r>
            <a:r>
              <a:rPr lang="zh-CN" altLang="en-US" sz="2000" dirty="0"/>
              <a:t>口中的</a:t>
            </a:r>
            <a:r>
              <a:rPr lang="en-US" altLang="zh-CN" sz="2000" dirty="0"/>
              <a:t>5</a:t>
            </a:r>
            <a:r>
              <a:rPr lang="zh-CN" altLang="en-US" sz="2000" dirty="0"/>
              <a:t>根线做为</a:t>
            </a:r>
            <a:r>
              <a:rPr lang="en-US" altLang="zh-CN" sz="2000" dirty="0"/>
              <a:t>A</a:t>
            </a:r>
            <a:r>
              <a:rPr lang="zh-CN" altLang="en-US" sz="2000" dirty="0"/>
              <a:t>口的握手线，其余的三条可以做为</a:t>
            </a:r>
            <a:r>
              <a:rPr lang="en-US" altLang="zh-CN" sz="2000" dirty="0"/>
              <a:t>B</a:t>
            </a:r>
            <a:r>
              <a:rPr lang="zh-CN" altLang="en-US" sz="2000" dirty="0"/>
              <a:t>口的握手线，或与</a:t>
            </a:r>
            <a:r>
              <a:rPr lang="en-US" altLang="zh-CN" sz="2000" dirty="0"/>
              <a:t>B</a:t>
            </a:r>
            <a:r>
              <a:rPr lang="zh-CN" altLang="en-US" sz="2000" dirty="0"/>
              <a:t>口一起工作在方式</a:t>
            </a:r>
            <a:r>
              <a:rPr lang="en-US" altLang="zh-CN" sz="2000" dirty="0"/>
              <a:t>0</a:t>
            </a:r>
            <a:r>
              <a:rPr lang="zh-CN" altLang="en-US" sz="2000" dirty="0"/>
              <a:t>状态。</a:t>
            </a:r>
            <a:endParaRPr lang="zh-CN" altLang="en-US" sz="2000" dirty="0"/>
          </a:p>
        </p:txBody>
      </p:sp>
      <p:sp>
        <p:nvSpPr>
          <p:cNvPr id="3" name="Rectangle 2"/>
          <p:cNvSpPr>
            <a:spLocks noChangeArrowheads="1"/>
          </p:cNvSpPr>
          <p:nvPr/>
        </p:nvSpPr>
        <p:spPr bwMode="auto">
          <a:xfrm>
            <a:off x="467544" y="352092"/>
            <a:ext cx="7772400" cy="493085"/>
          </a:xfrm>
          <a:prstGeom prst="rect">
            <a:avLst/>
          </a:prstGeom>
          <a:noFill/>
          <a:ln w="9525">
            <a:noFill/>
            <a:miter lim="800000"/>
          </a:ln>
          <a:effectLst/>
        </p:spPr>
        <p:txBody>
          <a:bodyPr lIns="92075" tIns="46038" rIns="92075" bIns="46038">
            <a:spAutoFit/>
          </a:bodyPr>
          <a:lstStyle/>
          <a:p>
            <a:r>
              <a:rPr lang="zh-CN" altLang="en-US" sz="2600" kern="0" dirty="0">
                <a:solidFill>
                  <a:schemeClr val="tx2"/>
                </a:solidFill>
                <a:effectLst>
                  <a:outerShdw blurRad="38100" dist="38100" dir="2700000" algn="tl">
                    <a:srgbClr val="C0C0C0"/>
                  </a:outerShdw>
                </a:effectLst>
                <a:latin typeface="+mj-lt"/>
                <a:cs typeface="+mj-cs"/>
              </a:rPr>
              <a:t>并行通信接口芯片 </a:t>
            </a:r>
            <a:r>
              <a:rPr lang="en-US" altLang="zh-CN" sz="2600" kern="0" dirty="0">
                <a:solidFill>
                  <a:schemeClr val="tx2"/>
                </a:solidFill>
                <a:effectLst>
                  <a:outerShdw blurRad="38100" dist="38100" dir="2700000" algn="tl">
                    <a:srgbClr val="C0C0C0"/>
                  </a:outerShdw>
                </a:effectLst>
                <a:latin typeface="+mj-lt"/>
                <a:cs typeface="+mj-cs"/>
              </a:rPr>
              <a:t>8255A</a:t>
            </a:r>
            <a:endParaRPr lang="en-US" altLang="zh-CN"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5" name="Rectangle 3"/>
          <p:cNvSpPr>
            <a:spLocks noChangeArrowheads="1"/>
          </p:cNvSpPr>
          <p:nvPr/>
        </p:nvSpPr>
        <p:spPr bwMode="auto">
          <a:xfrm>
            <a:off x="539552" y="1016732"/>
            <a:ext cx="8064896" cy="1323439"/>
          </a:xfrm>
          <a:prstGeom prst="rect">
            <a:avLst/>
          </a:prstGeom>
          <a:noFill/>
          <a:ln w="9525" algn="ctr">
            <a:noFill/>
            <a:miter lim="800000"/>
          </a:ln>
          <a:effectLst/>
        </p:spPr>
        <p:txBody>
          <a:bodyPr wrap="square">
            <a:spAutoFit/>
          </a:bodyPr>
          <a:lstStyle/>
          <a:p>
            <a:pPr algn="just"/>
            <a:r>
              <a:rPr lang="en-US" altLang="zh-CN" sz="2000" dirty="0"/>
              <a:t>    8255A</a:t>
            </a:r>
            <a:r>
              <a:rPr lang="zh-CN" altLang="en-US" sz="2000" dirty="0"/>
              <a:t>共有</a:t>
            </a:r>
            <a:r>
              <a:rPr lang="en-US" altLang="zh-CN" sz="2000" dirty="0"/>
              <a:t>2</a:t>
            </a:r>
            <a:r>
              <a:rPr lang="zh-CN" altLang="en-US" sz="2000" dirty="0"/>
              <a:t>个控制字</a:t>
            </a:r>
            <a:r>
              <a:rPr lang="en-US" altLang="zh-CN" sz="2000" dirty="0"/>
              <a:t>: </a:t>
            </a:r>
            <a:r>
              <a:rPr lang="zh-CN" altLang="en-US" sz="2000" dirty="0">
                <a:solidFill>
                  <a:srgbClr val="0000FF"/>
                </a:solidFill>
              </a:rPr>
              <a:t>方式选择控制字</a:t>
            </a:r>
            <a:r>
              <a:rPr lang="zh-CN" altLang="en-US" sz="2000" dirty="0"/>
              <a:t>和</a:t>
            </a:r>
            <a:r>
              <a:rPr lang="en-US" altLang="zh-CN" sz="2000" dirty="0">
                <a:solidFill>
                  <a:srgbClr val="0000FF"/>
                </a:solidFill>
              </a:rPr>
              <a:t>C</a:t>
            </a:r>
            <a:r>
              <a:rPr lang="zh-CN" altLang="en-US" sz="2000" dirty="0">
                <a:solidFill>
                  <a:srgbClr val="0000FF"/>
                </a:solidFill>
              </a:rPr>
              <a:t>口位控制字</a:t>
            </a:r>
            <a:r>
              <a:rPr lang="zh-CN" altLang="en-US" sz="2000" dirty="0"/>
              <a:t>。</a:t>
            </a:r>
            <a:r>
              <a:rPr lang="en-US" altLang="zh-CN" sz="2000" dirty="0"/>
              <a:t>2</a:t>
            </a:r>
            <a:r>
              <a:rPr lang="zh-CN" altLang="en-US" sz="2000" dirty="0"/>
              <a:t>个控制字均需要送入控制寄存器口地址中，其区别在于控制字中</a:t>
            </a:r>
            <a:r>
              <a:rPr lang="en-US" altLang="zh-CN" sz="2000" dirty="0"/>
              <a:t>D7</a:t>
            </a:r>
            <a:r>
              <a:rPr lang="zh-CN" altLang="en-US" sz="2000" dirty="0"/>
              <a:t>。当</a:t>
            </a:r>
            <a:r>
              <a:rPr lang="en-US" altLang="zh-CN" sz="2000" dirty="0"/>
              <a:t>D7=1</a:t>
            </a:r>
            <a:r>
              <a:rPr lang="zh-CN" altLang="en-US" sz="2000" dirty="0"/>
              <a:t>时，为方式选择控制字，</a:t>
            </a:r>
            <a:r>
              <a:rPr lang="en-US" altLang="zh-CN" sz="2000" dirty="0"/>
              <a:t>D7=0</a:t>
            </a:r>
            <a:r>
              <a:rPr lang="zh-CN" altLang="en-US" sz="2000" dirty="0"/>
              <a:t>时，为</a:t>
            </a:r>
            <a:r>
              <a:rPr lang="en-US" altLang="zh-CN" sz="2000" dirty="0"/>
              <a:t>C</a:t>
            </a:r>
            <a:r>
              <a:rPr lang="zh-CN" altLang="en-US" sz="2000" dirty="0"/>
              <a:t>口位控制字。</a:t>
            </a:r>
            <a:endParaRPr lang="zh-CN" altLang="en-US" sz="2000" dirty="0"/>
          </a:p>
          <a:p>
            <a:pPr algn="just"/>
            <a:r>
              <a:rPr lang="zh-CN" altLang="en-US" sz="2000" dirty="0"/>
              <a:t>    </a:t>
            </a:r>
            <a:r>
              <a:rPr lang="zh-CN" altLang="en-US" sz="2000" b="1" u="sng" dirty="0">
                <a:solidFill>
                  <a:srgbClr val="0000FF"/>
                </a:solidFill>
                <a:effectLst>
                  <a:outerShdw blurRad="38100" dist="38100" dir="2700000" algn="tl">
                    <a:srgbClr val="C0C0C0"/>
                  </a:outerShdw>
                </a:effectLst>
              </a:rPr>
              <a:t>方式选择控制字：</a:t>
            </a:r>
            <a:endParaRPr lang="zh-CN" altLang="en-US" sz="2000" b="1" u="sng" dirty="0">
              <a:solidFill>
                <a:srgbClr val="0000FF"/>
              </a:solidFill>
              <a:effectLst>
                <a:outerShdw blurRad="38100" dist="38100" dir="2700000" algn="tl">
                  <a:srgbClr val="C0C0C0"/>
                </a:outerShdw>
              </a:effectLst>
            </a:endParaRPr>
          </a:p>
        </p:txBody>
      </p:sp>
      <p:pic>
        <p:nvPicPr>
          <p:cNvPr id="356356" name="Picture 4" descr="未命名"/>
          <p:cNvPicPr>
            <a:picLocks noChangeAspect="1" noChangeArrowheads="1"/>
          </p:cNvPicPr>
          <p:nvPr/>
        </p:nvPicPr>
        <p:blipFill>
          <a:blip r:embed="rId1">
            <a:clrChange>
              <a:clrFrom>
                <a:srgbClr val="EEEEEE"/>
              </a:clrFrom>
              <a:clrTo>
                <a:srgbClr val="EEEEEE">
                  <a:alpha val="0"/>
                </a:srgbClr>
              </a:clrTo>
            </a:clrChange>
          </a:blip>
          <a:srcRect l="1004" t="1659"/>
          <a:stretch>
            <a:fillRect/>
          </a:stretch>
        </p:blipFill>
        <p:spPr bwMode="auto">
          <a:xfrm>
            <a:off x="1331640" y="2420888"/>
            <a:ext cx="6768752" cy="3983024"/>
          </a:xfrm>
          <a:prstGeom prst="rect">
            <a:avLst/>
          </a:prstGeom>
          <a:noFill/>
        </p:spPr>
      </p:pic>
      <p:sp>
        <p:nvSpPr>
          <p:cNvPr id="6" name="Rectangle 2"/>
          <p:cNvSpPr>
            <a:spLocks noChangeArrowheads="1"/>
          </p:cNvSpPr>
          <p:nvPr/>
        </p:nvSpPr>
        <p:spPr bwMode="auto">
          <a:xfrm>
            <a:off x="467544" y="352092"/>
            <a:ext cx="7772400" cy="493085"/>
          </a:xfrm>
          <a:prstGeom prst="rect">
            <a:avLst/>
          </a:prstGeom>
          <a:noFill/>
          <a:ln w="9525">
            <a:noFill/>
            <a:miter lim="800000"/>
          </a:ln>
          <a:effectLst/>
        </p:spPr>
        <p:txBody>
          <a:bodyPr lIns="92075" tIns="46038" rIns="92075" bIns="46038">
            <a:spAutoFit/>
          </a:bodyPr>
          <a:lstStyle/>
          <a:p>
            <a:r>
              <a:rPr lang="zh-CN" altLang="en-US" sz="2600" kern="0" dirty="0">
                <a:solidFill>
                  <a:schemeClr val="tx2"/>
                </a:solidFill>
                <a:effectLst>
                  <a:outerShdw blurRad="38100" dist="38100" dir="2700000" algn="tl">
                    <a:srgbClr val="C0C0C0"/>
                  </a:outerShdw>
                </a:effectLst>
                <a:latin typeface="+mj-lt"/>
                <a:cs typeface="+mj-cs"/>
              </a:rPr>
              <a:t>并行通信接口芯片 </a:t>
            </a:r>
            <a:r>
              <a:rPr lang="en-US" altLang="zh-CN" sz="2600" kern="0" dirty="0">
                <a:solidFill>
                  <a:schemeClr val="tx2"/>
                </a:solidFill>
                <a:effectLst>
                  <a:outerShdw blurRad="38100" dist="38100" dir="2700000" algn="tl">
                    <a:srgbClr val="C0C0C0"/>
                  </a:outerShdw>
                </a:effectLst>
                <a:latin typeface="+mj-lt"/>
                <a:cs typeface="+mj-cs"/>
              </a:rPr>
              <a:t>8255A</a:t>
            </a:r>
            <a:endParaRPr lang="en-US" altLang="zh-CN"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5331" name="Picture 3" descr="未命名"/>
          <p:cNvPicPr>
            <a:picLocks noChangeAspect="1" noChangeArrowheads="1"/>
          </p:cNvPicPr>
          <p:nvPr/>
        </p:nvPicPr>
        <p:blipFill>
          <a:blip r:embed="rId1">
            <a:clrChange>
              <a:clrFrom>
                <a:srgbClr val="EEEEEE"/>
              </a:clrFrom>
              <a:clrTo>
                <a:srgbClr val="EEEEEE">
                  <a:alpha val="0"/>
                </a:srgbClr>
              </a:clrTo>
            </a:clrChange>
          </a:blip>
          <a:srcRect/>
          <a:stretch>
            <a:fillRect/>
          </a:stretch>
        </p:blipFill>
        <p:spPr bwMode="auto">
          <a:xfrm>
            <a:off x="2555776" y="1700808"/>
            <a:ext cx="6121400" cy="4240212"/>
          </a:xfrm>
          <a:prstGeom prst="rect">
            <a:avLst/>
          </a:prstGeom>
          <a:noFill/>
        </p:spPr>
      </p:pic>
      <p:sp>
        <p:nvSpPr>
          <p:cNvPr id="355332" name="Rectangle 4"/>
          <p:cNvSpPr>
            <a:spLocks noChangeArrowheads="1"/>
          </p:cNvSpPr>
          <p:nvPr/>
        </p:nvSpPr>
        <p:spPr bwMode="auto">
          <a:xfrm>
            <a:off x="287524" y="1088740"/>
            <a:ext cx="7921625" cy="457200"/>
          </a:xfrm>
          <a:prstGeom prst="rect">
            <a:avLst/>
          </a:prstGeom>
          <a:noFill/>
          <a:ln w="9525" algn="ctr">
            <a:noFill/>
            <a:miter lim="800000"/>
          </a:ln>
          <a:effectLst/>
        </p:spPr>
        <p:txBody>
          <a:bodyPr>
            <a:spAutoFit/>
          </a:bodyPr>
          <a:lstStyle/>
          <a:p>
            <a:r>
              <a:rPr lang="en-US" altLang="zh-CN" dirty="0"/>
              <a:t>    </a:t>
            </a:r>
            <a:r>
              <a:rPr lang="en-US" altLang="zh-CN" b="1" u="sng" dirty="0">
                <a:solidFill>
                  <a:srgbClr val="0000FF"/>
                </a:solidFill>
                <a:effectLst>
                  <a:outerShdw blurRad="38100" dist="38100" dir="2700000" algn="tl">
                    <a:srgbClr val="C0C0C0"/>
                  </a:outerShdw>
                </a:effectLst>
              </a:rPr>
              <a:t>C</a:t>
            </a:r>
            <a:r>
              <a:rPr lang="zh-CN" altLang="en-US" b="1" u="sng" dirty="0">
                <a:solidFill>
                  <a:srgbClr val="0000FF"/>
                </a:solidFill>
                <a:effectLst>
                  <a:outerShdw blurRad="38100" dist="38100" dir="2700000" algn="tl">
                    <a:srgbClr val="C0C0C0"/>
                  </a:outerShdw>
                </a:effectLst>
              </a:rPr>
              <a:t>口位控制字：</a:t>
            </a:r>
            <a:endParaRPr lang="zh-CN" altLang="en-US" b="1" u="sng" dirty="0">
              <a:solidFill>
                <a:srgbClr val="0000FF"/>
              </a:solidFill>
              <a:effectLst>
                <a:outerShdw blurRad="38100" dist="38100" dir="2700000" algn="tl">
                  <a:srgbClr val="C0C0C0"/>
                </a:outerShdw>
              </a:effectLst>
            </a:endParaRPr>
          </a:p>
        </p:txBody>
      </p:sp>
      <p:sp>
        <p:nvSpPr>
          <p:cNvPr id="4" name="Rectangle 2"/>
          <p:cNvSpPr>
            <a:spLocks noChangeArrowheads="1"/>
          </p:cNvSpPr>
          <p:nvPr/>
        </p:nvSpPr>
        <p:spPr bwMode="auto">
          <a:xfrm>
            <a:off x="467544" y="352092"/>
            <a:ext cx="7772400" cy="493085"/>
          </a:xfrm>
          <a:prstGeom prst="rect">
            <a:avLst/>
          </a:prstGeom>
          <a:noFill/>
          <a:ln w="9525">
            <a:noFill/>
            <a:miter lim="800000"/>
          </a:ln>
          <a:effectLst/>
        </p:spPr>
        <p:txBody>
          <a:bodyPr lIns="92075" tIns="46038" rIns="92075" bIns="46038">
            <a:spAutoFit/>
          </a:bodyPr>
          <a:lstStyle/>
          <a:p>
            <a:r>
              <a:rPr lang="zh-CN" altLang="en-US" sz="2600" kern="0" dirty="0">
                <a:solidFill>
                  <a:schemeClr val="tx2"/>
                </a:solidFill>
                <a:effectLst>
                  <a:outerShdw blurRad="38100" dist="38100" dir="2700000" algn="tl">
                    <a:srgbClr val="C0C0C0"/>
                  </a:outerShdw>
                </a:effectLst>
                <a:latin typeface="+mj-lt"/>
                <a:cs typeface="+mj-cs"/>
              </a:rPr>
              <a:t>并行通信接口芯片 </a:t>
            </a:r>
            <a:r>
              <a:rPr lang="en-US" altLang="zh-CN" sz="2600" kern="0" dirty="0">
                <a:solidFill>
                  <a:schemeClr val="tx2"/>
                </a:solidFill>
                <a:effectLst>
                  <a:outerShdw blurRad="38100" dist="38100" dir="2700000" algn="tl">
                    <a:srgbClr val="C0C0C0"/>
                  </a:outerShdw>
                </a:effectLst>
                <a:latin typeface="+mj-lt"/>
                <a:cs typeface="+mj-cs"/>
              </a:rPr>
              <a:t>8255A</a:t>
            </a:r>
            <a:endParaRPr lang="en-US" altLang="zh-CN" sz="2600" kern="0" dirty="0">
              <a:solidFill>
                <a:schemeClr val="tx2"/>
              </a:solidFill>
              <a:effectLst>
                <a:outerShdw blurRad="38100" dist="38100" dir="2700000" algn="tl">
                  <a:srgbClr val="C0C0C0"/>
                </a:outerShdw>
              </a:effectLst>
              <a:latin typeface="+mj-lt"/>
              <a:cs typeface="+mj-cs"/>
            </a:endParaRPr>
          </a:p>
        </p:txBody>
      </p:sp>
      <p:sp>
        <p:nvSpPr>
          <p:cNvPr id="5" name="Rectangle 3"/>
          <p:cNvSpPr>
            <a:spLocks noChangeArrowheads="1"/>
          </p:cNvSpPr>
          <p:nvPr/>
        </p:nvSpPr>
        <p:spPr bwMode="auto">
          <a:xfrm>
            <a:off x="719572" y="4392699"/>
            <a:ext cx="3960440" cy="1880579"/>
          </a:xfrm>
          <a:prstGeom prst="rect">
            <a:avLst/>
          </a:prstGeom>
          <a:noFill/>
          <a:ln w="9525" algn="ctr">
            <a:noFill/>
            <a:miter lim="800000"/>
          </a:ln>
          <a:effectLst/>
        </p:spPr>
        <p:txBody>
          <a:bodyPr wrap="square">
            <a:spAutoFit/>
          </a:bodyPr>
          <a:lstStyle/>
          <a:p>
            <a:pPr algn="just">
              <a:lnSpc>
                <a:spcPct val="150000"/>
              </a:lnSpc>
            </a:pPr>
            <a:r>
              <a:rPr lang="en-US" altLang="zh-CN" sz="2000" dirty="0"/>
              <a:t>    </a:t>
            </a:r>
            <a:r>
              <a:rPr lang="zh-CN" altLang="en-US" sz="2000" dirty="0"/>
              <a:t>由于</a:t>
            </a:r>
            <a:r>
              <a:rPr lang="en-US" altLang="zh-CN" sz="2000" dirty="0"/>
              <a:t>C</a:t>
            </a:r>
            <a:r>
              <a:rPr lang="zh-CN" altLang="en-US" sz="2000" dirty="0"/>
              <a:t>口很多时候被用来配合</a:t>
            </a:r>
            <a:r>
              <a:rPr lang="en-US" altLang="zh-CN" sz="2000" dirty="0"/>
              <a:t>A</a:t>
            </a:r>
            <a:r>
              <a:rPr lang="zh-CN" altLang="en-US" sz="2000" dirty="0"/>
              <a:t>口和</a:t>
            </a:r>
            <a:r>
              <a:rPr lang="en-US" altLang="zh-CN" sz="2000" dirty="0"/>
              <a:t>B</a:t>
            </a:r>
            <a:r>
              <a:rPr lang="zh-CN" altLang="en-US" sz="2000" dirty="0"/>
              <a:t>口工作，作为他们的选通控制信号，因此经常需要对</a:t>
            </a:r>
            <a:r>
              <a:rPr lang="en-US" altLang="zh-CN" sz="2000" dirty="0"/>
              <a:t>C</a:t>
            </a:r>
            <a:r>
              <a:rPr lang="zh-CN" altLang="en-US" sz="2000" dirty="0"/>
              <a:t>口的某些位置</a:t>
            </a:r>
            <a:r>
              <a:rPr lang="en-US" altLang="zh-CN" sz="2000" dirty="0"/>
              <a:t>1</a:t>
            </a:r>
            <a:r>
              <a:rPr lang="zh-CN" altLang="en-US" sz="2000" dirty="0"/>
              <a:t>或</a:t>
            </a:r>
            <a:r>
              <a:rPr lang="en-US" altLang="zh-CN" sz="2000" dirty="0"/>
              <a:t>0</a:t>
            </a:r>
            <a:r>
              <a:rPr lang="zh-CN" altLang="en-US" sz="2000" dirty="0"/>
              <a:t>。</a:t>
            </a:r>
            <a:endParaRPr lang="zh-CN" altLang="en-US" sz="2000" b="1" u="sng" dirty="0">
              <a:solidFill>
                <a:srgbClr val="0000FF"/>
              </a:solidFill>
              <a:effectLst>
                <a:outerShdw blurRad="38100" dist="38100" dir="2700000" algn="tl">
                  <a:srgbClr val="C0C0C0"/>
                </a:outerShdw>
              </a:effectLst>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2"/>
          <p:cNvSpPr>
            <a:spLocks noChangeArrowheads="1"/>
          </p:cNvSpPr>
          <p:nvPr/>
        </p:nvSpPr>
        <p:spPr bwMode="auto">
          <a:xfrm>
            <a:off x="770717" y="997897"/>
            <a:ext cx="7921625" cy="457200"/>
          </a:xfrm>
          <a:prstGeom prst="rect">
            <a:avLst/>
          </a:prstGeom>
          <a:noFill/>
          <a:ln w="9525" algn="ctr">
            <a:noFill/>
            <a:miter lim="800000"/>
          </a:ln>
          <a:effectLst/>
        </p:spPr>
        <p:txBody>
          <a:bodyPr>
            <a:spAutoFit/>
          </a:bodyPr>
          <a:lstStyle/>
          <a:p>
            <a:r>
              <a:rPr lang="en-US" altLang="zh-CN" b="1" u="sng" dirty="0">
                <a:solidFill>
                  <a:srgbClr val="0000FF"/>
                </a:solidFill>
                <a:effectLst>
                  <a:outerShdw blurRad="38100" dist="38100" dir="2700000" algn="tl">
                    <a:srgbClr val="C0C0C0"/>
                  </a:outerShdw>
                </a:effectLst>
              </a:rPr>
              <a:t>8255A</a:t>
            </a:r>
            <a:r>
              <a:rPr lang="zh-CN" altLang="en-US" b="1" u="sng" dirty="0">
                <a:solidFill>
                  <a:srgbClr val="0000FF"/>
                </a:solidFill>
                <a:effectLst>
                  <a:outerShdw blurRad="38100" dist="38100" dir="2700000" algn="tl">
                    <a:srgbClr val="C0C0C0"/>
                  </a:outerShdw>
                </a:effectLst>
              </a:rPr>
              <a:t>应用实例：</a:t>
            </a:r>
            <a:endParaRPr lang="zh-CN" altLang="en-US" b="1" u="sng" dirty="0">
              <a:solidFill>
                <a:srgbClr val="0000FF"/>
              </a:solidFill>
              <a:effectLst>
                <a:outerShdw blurRad="38100" dist="38100" dir="2700000" algn="tl">
                  <a:srgbClr val="C0C0C0"/>
                </a:outerShdw>
              </a:effectLst>
            </a:endParaRPr>
          </a:p>
        </p:txBody>
      </p:sp>
      <p:sp>
        <p:nvSpPr>
          <p:cNvPr id="354307" name="Rectangle 3"/>
          <p:cNvSpPr>
            <a:spLocks noChangeArrowheads="1"/>
          </p:cNvSpPr>
          <p:nvPr/>
        </p:nvSpPr>
        <p:spPr bwMode="auto">
          <a:xfrm>
            <a:off x="683568" y="1452748"/>
            <a:ext cx="7745439" cy="1684244"/>
          </a:xfrm>
          <a:prstGeom prst="rect">
            <a:avLst/>
          </a:prstGeom>
          <a:noFill/>
          <a:ln w="9525" algn="ctr">
            <a:noFill/>
            <a:miter lim="800000"/>
          </a:ln>
          <a:effectLst/>
        </p:spPr>
        <p:txBody>
          <a:bodyPr wrap="square">
            <a:spAutoFit/>
          </a:bodyPr>
          <a:lstStyle/>
          <a:p>
            <a:pPr indent="542925">
              <a:lnSpc>
                <a:spcPct val="150000"/>
              </a:lnSpc>
            </a:pPr>
            <a:r>
              <a:rPr lang="zh-CN" altLang="en-US" dirty="0"/>
              <a:t>假设某</a:t>
            </a:r>
            <a:r>
              <a:rPr lang="en-US" altLang="zh-CN" dirty="0"/>
              <a:t>8255A</a:t>
            </a:r>
            <a:r>
              <a:rPr lang="zh-CN" altLang="en-US" dirty="0"/>
              <a:t>的芯片端口地址为</a:t>
            </a:r>
            <a:r>
              <a:rPr lang="en-US" altLang="zh-CN" dirty="0"/>
              <a:t>FF80H~FF83H</a:t>
            </a:r>
            <a:r>
              <a:rPr lang="zh-CN" altLang="en-US" dirty="0"/>
              <a:t>，</a:t>
            </a:r>
            <a:r>
              <a:rPr lang="en-US" altLang="zh-CN" dirty="0"/>
              <a:t>A</a:t>
            </a:r>
            <a:r>
              <a:rPr lang="zh-CN" altLang="en-US" dirty="0"/>
              <a:t>口工作在方式</a:t>
            </a:r>
            <a:r>
              <a:rPr lang="en-US" altLang="zh-CN" dirty="0"/>
              <a:t>0</a:t>
            </a:r>
            <a:r>
              <a:rPr lang="zh-CN" altLang="en-US" dirty="0"/>
              <a:t>，输出，</a:t>
            </a:r>
            <a:r>
              <a:rPr lang="en-US" altLang="zh-CN" dirty="0"/>
              <a:t>B</a:t>
            </a:r>
            <a:r>
              <a:rPr lang="zh-CN" altLang="en-US" dirty="0"/>
              <a:t>口工作在方式</a:t>
            </a:r>
            <a:r>
              <a:rPr lang="en-US" altLang="zh-CN" dirty="0"/>
              <a:t>1</a:t>
            </a:r>
            <a:r>
              <a:rPr lang="zh-CN" altLang="en-US" dirty="0"/>
              <a:t>，输入，请写出初始化的程序段。</a:t>
            </a:r>
            <a:endParaRPr lang="zh-CN" altLang="en-US" dirty="0"/>
          </a:p>
        </p:txBody>
      </p:sp>
      <p:sp>
        <p:nvSpPr>
          <p:cNvPr id="6" name="Rectangle 2"/>
          <p:cNvSpPr>
            <a:spLocks noChangeArrowheads="1"/>
          </p:cNvSpPr>
          <p:nvPr/>
        </p:nvSpPr>
        <p:spPr bwMode="auto">
          <a:xfrm>
            <a:off x="467544" y="352092"/>
            <a:ext cx="7772400" cy="493085"/>
          </a:xfrm>
          <a:prstGeom prst="rect">
            <a:avLst/>
          </a:prstGeom>
          <a:noFill/>
          <a:ln w="9525">
            <a:noFill/>
            <a:miter lim="800000"/>
          </a:ln>
          <a:effectLst/>
        </p:spPr>
        <p:txBody>
          <a:bodyPr lIns="92075" tIns="46038" rIns="92075" bIns="46038">
            <a:spAutoFit/>
          </a:bodyPr>
          <a:lstStyle/>
          <a:p>
            <a:r>
              <a:rPr lang="zh-CN" altLang="en-US" sz="2600" kern="0" dirty="0">
                <a:solidFill>
                  <a:schemeClr val="tx2"/>
                </a:solidFill>
                <a:effectLst>
                  <a:outerShdw blurRad="38100" dist="38100" dir="2700000" algn="tl">
                    <a:srgbClr val="C0C0C0"/>
                  </a:outerShdw>
                </a:effectLst>
                <a:latin typeface="+mj-lt"/>
                <a:cs typeface="+mj-cs"/>
              </a:rPr>
              <a:t>并行通信接口芯片 </a:t>
            </a:r>
            <a:r>
              <a:rPr lang="en-US" altLang="zh-CN" sz="2600" kern="0" dirty="0">
                <a:solidFill>
                  <a:schemeClr val="tx2"/>
                </a:solidFill>
                <a:effectLst>
                  <a:outerShdw blurRad="38100" dist="38100" dir="2700000" algn="tl">
                    <a:srgbClr val="C0C0C0"/>
                  </a:outerShdw>
                </a:effectLst>
                <a:latin typeface="+mj-lt"/>
                <a:cs typeface="+mj-cs"/>
              </a:rPr>
              <a:t>8255A</a:t>
            </a:r>
            <a:endParaRPr lang="en-US" altLang="zh-CN" sz="2600" kern="0" dirty="0">
              <a:solidFill>
                <a:schemeClr val="tx2"/>
              </a:solidFill>
              <a:effectLst>
                <a:outerShdw blurRad="38100" dist="38100" dir="2700000" algn="tl">
                  <a:srgbClr val="C0C0C0"/>
                </a:outerShdw>
              </a:effectLst>
              <a:latin typeface="+mj-lt"/>
              <a:cs typeface="+mj-cs"/>
            </a:endParaRPr>
          </a:p>
        </p:txBody>
      </p:sp>
      <p:pic>
        <p:nvPicPr>
          <p:cNvPr id="7" name="Picture 4" descr="未命名"/>
          <p:cNvPicPr>
            <a:picLocks noChangeAspect="1" noChangeArrowheads="1"/>
          </p:cNvPicPr>
          <p:nvPr/>
        </p:nvPicPr>
        <p:blipFill>
          <a:blip r:embed="rId1">
            <a:clrChange>
              <a:clrFrom>
                <a:srgbClr val="EEEEEE"/>
              </a:clrFrom>
              <a:clrTo>
                <a:srgbClr val="EEEEEE">
                  <a:alpha val="0"/>
                </a:srgbClr>
              </a:clrTo>
            </a:clrChange>
          </a:blip>
          <a:srcRect l="1004" t="1659"/>
          <a:stretch>
            <a:fillRect/>
          </a:stretch>
        </p:blipFill>
        <p:spPr bwMode="auto">
          <a:xfrm>
            <a:off x="467544" y="3789040"/>
            <a:ext cx="3960440" cy="2330493"/>
          </a:xfrm>
          <a:prstGeom prst="rect">
            <a:avLst/>
          </a:prstGeom>
          <a:noFill/>
        </p:spPr>
      </p:pic>
      <p:sp>
        <p:nvSpPr>
          <p:cNvPr id="2" name="矩形 1"/>
          <p:cNvSpPr/>
          <p:nvPr/>
        </p:nvSpPr>
        <p:spPr>
          <a:xfrm>
            <a:off x="4747037" y="4149080"/>
            <a:ext cx="3872720" cy="1200329"/>
          </a:xfrm>
          <a:prstGeom prst="rect">
            <a:avLst/>
          </a:prstGeom>
        </p:spPr>
        <p:txBody>
          <a:bodyPr wrap="square">
            <a:spAutoFit/>
          </a:bodyPr>
          <a:lstStyle/>
          <a:p>
            <a:r>
              <a:rPr lang="en-US" altLang="zh-CN" dirty="0"/>
              <a:t>MOV DX, 0FFB3H</a:t>
            </a:r>
            <a:endParaRPr lang="en-US" altLang="zh-CN" dirty="0"/>
          </a:p>
          <a:p>
            <a:r>
              <a:rPr lang="en-US" altLang="zh-CN" dirty="0"/>
              <a:t>MOV AL, 86H ;10000110B</a:t>
            </a:r>
            <a:endParaRPr lang="en-US" altLang="zh-CN" dirty="0"/>
          </a:p>
          <a:p>
            <a:r>
              <a:rPr lang="en-US" altLang="zh-CN" dirty="0"/>
              <a:t>OUT DX, AL</a:t>
            </a:r>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2"/>
          <p:cNvSpPr>
            <a:spLocks noChangeArrowheads="1"/>
          </p:cNvSpPr>
          <p:nvPr/>
        </p:nvSpPr>
        <p:spPr bwMode="auto">
          <a:xfrm>
            <a:off x="770717" y="997897"/>
            <a:ext cx="7921625" cy="457200"/>
          </a:xfrm>
          <a:prstGeom prst="rect">
            <a:avLst/>
          </a:prstGeom>
          <a:noFill/>
          <a:ln w="9525" algn="ctr">
            <a:noFill/>
            <a:miter lim="800000"/>
          </a:ln>
          <a:effectLst/>
        </p:spPr>
        <p:txBody>
          <a:bodyPr>
            <a:spAutoFit/>
          </a:bodyPr>
          <a:lstStyle/>
          <a:p>
            <a:r>
              <a:rPr lang="en-US" altLang="zh-CN" b="1" u="sng" dirty="0">
                <a:solidFill>
                  <a:srgbClr val="0000FF"/>
                </a:solidFill>
                <a:effectLst>
                  <a:outerShdw blurRad="38100" dist="38100" dir="2700000" algn="tl">
                    <a:srgbClr val="C0C0C0"/>
                  </a:outerShdw>
                </a:effectLst>
              </a:rPr>
              <a:t>8255A</a:t>
            </a:r>
            <a:r>
              <a:rPr lang="zh-CN" altLang="en-US" b="1" u="sng" dirty="0">
                <a:solidFill>
                  <a:srgbClr val="0000FF"/>
                </a:solidFill>
                <a:effectLst>
                  <a:outerShdw blurRad="38100" dist="38100" dir="2700000" algn="tl">
                    <a:srgbClr val="C0C0C0"/>
                  </a:outerShdw>
                </a:effectLst>
              </a:rPr>
              <a:t>应用实例：</a:t>
            </a:r>
            <a:endParaRPr lang="zh-CN" altLang="en-US" b="1" u="sng" dirty="0">
              <a:solidFill>
                <a:srgbClr val="0000FF"/>
              </a:solidFill>
              <a:effectLst>
                <a:outerShdw blurRad="38100" dist="38100" dir="2700000" algn="tl">
                  <a:srgbClr val="C0C0C0"/>
                </a:outerShdw>
              </a:effectLst>
            </a:endParaRPr>
          </a:p>
        </p:txBody>
      </p:sp>
      <p:sp>
        <p:nvSpPr>
          <p:cNvPr id="354307" name="Rectangle 3"/>
          <p:cNvSpPr>
            <a:spLocks noChangeArrowheads="1"/>
          </p:cNvSpPr>
          <p:nvPr/>
        </p:nvSpPr>
        <p:spPr bwMode="auto">
          <a:xfrm>
            <a:off x="683568" y="1452748"/>
            <a:ext cx="7745439" cy="1200329"/>
          </a:xfrm>
          <a:prstGeom prst="rect">
            <a:avLst/>
          </a:prstGeom>
          <a:noFill/>
          <a:ln w="9525" algn="ctr">
            <a:noFill/>
            <a:miter lim="800000"/>
          </a:ln>
          <a:effectLst/>
        </p:spPr>
        <p:txBody>
          <a:bodyPr wrap="square">
            <a:spAutoFit/>
          </a:bodyPr>
          <a:lstStyle/>
          <a:p>
            <a:pPr indent="542925">
              <a:lnSpc>
                <a:spcPct val="150000"/>
              </a:lnSpc>
            </a:pPr>
            <a:r>
              <a:rPr lang="zh-CN" altLang="en-US" dirty="0"/>
              <a:t>假设某</a:t>
            </a:r>
            <a:r>
              <a:rPr lang="en-US" altLang="zh-CN" dirty="0"/>
              <a:t>8255A</a:t>
            </a:r>
            <a:r>
              <a:rPr lang="zh-CN" altLang="en-US" dirty="0"/>
              <a:t>的芯片端口地址为</a:t>
            </a:r>
            <a:r>
              <a:rPr lang="en-US" altLang="zh-CN" dirty="0"/>
              <a:t>FF80H~FF83H</a:t>
            </a:r>
            <a:r>
              <a:rPr lang="zh-CN" altLang="en-US" dirty="0"/>
              <a:t>，要求对</a:t>
            </a:r>
            <a:r>
              <a:rPr lang="en-US" altLang="zh-CN" dirty="0"/>
              <a:t>C</a:t>
            </a:r>
            <a:r>
              <a:rPr lang="zh-CN" altLang="en-US" dirty="0"/>
              <a:t>口的</a:t>
            </a:r>
            <a:r>
              <a:rPr lang="en-US" altLang="zh-CN" dirty="0"/>
              <a:t>PC2</a:t>
            </a:r>
            <a:r>
              <a:rPr lang="zh-CN" altLang="en-US" dirty="0"/>
              <a:t>置</a:t>
            </a:r>
            <a:r>
              <a:rPr lang="en-US" altLang="zh-CN" dirty="0"/>
              <a:t>1</a:t>
            </a:r>
            <a:r>
              <a:rPr lang="zh-CN" altLang="en-US" dirty="0"/>
              <a:t>，</a:t>
            </a:r>
            <a:r>
              <a:rPr lang="en-US" altLang="zh-CN" dirty="0"/>
              <a:t>PC3</a:t>
            </a:r>
            <a:r>
              <a:rPr lang="zh-CN" altLang="en-US" dirty="0"/>
              <a:t>置</a:t>
            </a:r>
            <a:r>
              <a:rPr lang="en-US" altLang="zh-CN" dirty="0"/>
              <a:t>0</a:t>
            </a:r>
            <a:r>
              <a:rPr lang="zh-CN" altLang="en-US" dirty="0"/>
              <a:t>，请写出初始化的程序段。</a:t>
            </a:r>
            <a:endParaRPr lang="zh-CN" altLang="en-US" dirty="0"/>
          </a:p>
        </p:txBody>
      </p:sp>
      <p:sp>
        <p:nvSpPr>
          <p:cNvPr id="6" name="Rectangle 2"/>
          <p:cNvSpPr>
            <a:spLocks noChangeArrowheads="1"/>
          </p:cNvSpPr>
          <p:nvPr/>
        </p:nvSpPr>
        <p:spPr bwMode="auto">
          <a:xfrm>
            <a:off x="467544" y="352092"/>
            <a:ext cx="7772400" cy="493085"/>
          </a:xfrm>
          <a:prstGeom prst="rect">
            <a:avLst/>
          </a:prstGeom>
          <a:noFill/>
          <a:ln w="9525">
            <a:noFill/>
            <a:miter lim="800000"/>
          </a:ln>
          <a:effectLst/>
        </p:spPr>
        <p:txBody>
          <a:bodyPr lIns="92075" tIns="46038" rIns="92075" bIns="46038">
            <a:spAutoFit/>
          </a:bodyPr>
          <a:lstStyle/>
          <a:p>
            <a:r>
              <a:rPr lang="zh-CN" altLang="en-US" sz="2600" kern="0" dirty="0">
                <a:solidFill>
                  <a:schemeClr val="tx2"/>
                </a:solidFill>
                <a:effectLst>
                  <a:outerShdw blurRad="38100" dist="38100" dir="2700000" algn="tl">
                    <a:srgbClr val="C0C0C0"/>
                  </a:outerShdw>
                </a:effectLst>
                <a:latin typeface="+mj-lt"/>
                <a:cs typeface="+mj-cs"/>
              </a:rPr>
              <a:t>并行通信接口芯片 </a:t>
            </a:r>
            <a:r>
              <a:rPr lang="en-US" altLang="zh-CN" sz="2600" kern="0" dirty="0">
                <a:solidFill>
                  <a:schemeClr val="tx2"/>
                </a:solidFill>
                <a:effectLst>
                  <a:outerShdw blurRad="38100" dist="38100" dir="2700000" algn="tl">
                    <a:srgbClr val="C0C0C0"/>
                  </a:outerShdw>
                </a:effectLst>
                <a:latin typeface="+mj-lt"/>
                <a:cs typeface="+mj-cs"/>
              </a:rPr>
              <a:t>8255A</a:t>
            </a:r>
            <a:endParaRPr lang="en-US" altLang="zh-CN" sz="2600" kern="0" dirty="0">
              <a:solidFill>
                <a:schemeClr val="tx2"/>
              </a:solidFill>
              <a:effectLst>
                <a:outerShdw blurRad="38100" dist="38100" dir="2700000" algn="tl">
                  <a:srgbClr val="C0C0C0"/>
                </a:outerShdw>
              </a:effectLst>
              <a:latin typeface="+mj-lt"/>
              <a:cs typeface="+mj-cs"/>
            </a:endParaRPr>
          </a:p>
        </p:txBody>
      </p:sp>
      <p:sp>
        <p:nvSpPr>
          <p:cNvPr id="2" name="矩形 1"/>
          <p:cNvSpPr/>
          <p:nvPr/>
        </p:nvSpPr>
        <p:spPr>
          <a:xfrm>
            <a:off x="5076056" y="3645024"/>
            <a:ext cx="3872720" cy="2308324"/>
          </a:xfrm>
          <a:prstGeom prst="rect">
            <a:avLst/>
          </a:prstGeom>
        </p:spPr>
        <p:txBody>
          <a:bodyPr wrap="square">
            <a:spAutoFit/>
          </a:bodyPr>
          <a:lstStyle/>
          <a:p>
            <a:r>
              <a:rPr lang="en-US" altLang="zh-CN" dirty="0"/>
              <a:t>MOV DX, 0FFB3H</a:t>
            </a:r>
            <a:endParaRPr lang="en-US" altLang="zh-CN" dirty="0"/>
          </a:p>
          <a:p>
            <a:r>
              <a:rPr lang="en-US" altLang="zh-CN" dirty="0"/>
              <a:t>MOV AL, 5H ;00000101B</a:t>
            </a:r>
            <a:endParaRPr lang="en-US" altLang="zh-CN" dirty="0"/>
          </a:p>
          <a:p>
            <a:r>
              <a:rPr lang="en-US" altLang="zh-CN" dirty="0"/>
              <a:t>OUT DX, AL</a:t>
            </a:r>
            <a:endParaRPr lang="en-US" altLang="zh-CN" dirty="0"/>
          </a:p>
          <a:p>
            <a:r>
              <a:rPr lang="en-US" altLang="zh-CN" dirty="0"/>
              <a:t>MOV AL, 6H ;00000110B</a:t>
            </a:r>
            <a:endParaRPr lang="en-US" altLang="zh-CN" dirty="0"/>
          </a:p>
          <a:p>
            <a:r>
              <a:rPr lang="en-US" altLang="zh-CN" dirty="0"/>
              <a:t>OUT DX, AL</a:t>
            </a:r>
            <a:endParaRPr lang="en-US" altLang="zh-CN" dirty="0"/>
          </a:p>
          <a:p>
            <a:endParaRPr lang="en-US" altLang="zh-CN" dirty="0"/>
          </a:p>
        </p:txBody>
      </p:sp>
      <p:pic>
        <p:nvPicPr>
          <p:cNvPr id="8" name="Picture 3" descr="未命名"/>
          <p:cNvPicPr>
            <a:picLocks noChangeAspect="1" noChangeArrowheads="1"/>
          </p:cNvPicPr>
          <p:nvPr/>
        </p:nvPicPr>
        <p:blipFill>
          <a:blip r:embed="rId1">
            <a:clrChange>
              <a:clrFrom>
                <a:srgbClr val="EEEEEE"/>
              </a:clrFrom>
              <a:clrTo>
                <a:srgbClr val="EEEEEE">
                  <a:alpha val="0"/>
                </a:srgbClr>
              </a:clrTo>
            </a:clrChange>
          </a:blip>
          <a:srcRect/>
          <a:stretch>
            <a:fillRect/>
          </a:stretch>
        </p:blipFill>
        <p:spPr bwMode="auto">
          <a:xfrm>
            <a:off x="515045" y="3253991"/>
            <a:ext cx="4233372" cy="2932400"/>
          </a:xfrm>
          <a:prstGeom prst="rect">
            <a:avLst/>
          </a:prstGeom>
          <a:noFill/>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3568" y="3068960"/>
            <a:ext cx="7844815" cy="36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1"/>
          <p:cNvSpPr>
            <a:spLocks noChangeArrowheads="1"/>
          </p:cNvSpPr>
          <p:nvPr/>
        </p:nvSpPr>
        <p:spPr bwMode="auto">
          <a:xfrm>
            <a:off x="359532" y="1016732"/>
            <a:ext cx="8284461"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marL="0" marR="0" lvl="0" indent="268605" algn="l" defTabSz="914400" rtl="0" eaLnBrk="1" fontAlgn="base" latinLnBrk="0" hangingPunct="1">
              <a:lnSpc>
                <a:spcPct val="100000"/>
              </a:lnSpc>
              <a:spcBef>
                <a:spcPct val="0"/>
              </a:spcBef>
              <a:spcAft>
                <a:spcPct val="0"/>
              </a:spcAft>
              <a:buClrTx/>
              <a:buSzTx/>
              <a:buFontTx/>
              <a:buNone/>
            </a:pPr>
            <a:r>
              <a:rPr lang="zh-CN" altLang="zh-CN" dirty="0">
                <a:latin typeface="Times New Roman" panose="02020603050405020304" pitchFamily="18" charset="0"/>
                <a:cs typeface="+mn-cs"/>
              </a:rPr>
              <a:t>【例</a:t>
            </a:r>
            <a:r>
              <a:rPr lang="en-US" altLang="zh-CN" dirty="0">
                <a:latin typeface="Times New Roman" panose="02020603050405020304" pitchFamily="18" charset="0"/>
                <a:cs typeface="+mn-cs"/>
              </a:rPr>
              <a:t>】 </a:t>
            </a:r>
            <a:r>
              <a:rPr lang="zh-CN" altLang="en-US" dirty="0">
                <a:latin typeface="Times New Roman" panose="02020603050405020304" pitchFamily="18" charset="0"/>
                <a:cs typeface="+mn-cs"/>
              </a:rPr>
              <a:t>将</a:t>
            </a:r>
            <a:r>
              <a:rPr lang="en-US" altLang="zh-CN" dirty="0">
                <a:latin typeface="Times New Roman" panose="02020603050405020304" pitchFamily="18" charset="0"/>
                <a:cs typeface="+mn-cs"/>
              </a:rPr>
              <a:t>8255 A</a:t>
            </a:r>
            <a:r>
              <a:rPr lang="zh-CN" altLang="en-US" dirty="0">
                <a:latin typeface="Times New Roman" panose="02020603050405020304" pitchFamily="18" charset="0"/>
                <a:cs typeface="+mn-cs"/>
              </a:rPr>
              <a:t>的</a:t>
            </a:r>
            <a:r>
              <a:rPr lang="en-US" altLang="zh-CN" dirty="0">
                <a:latin typeface="Times New Roman" panose="02020603050405020304" pitchFamily="18" charset="0"/>
                <a:cs typeface="+mn-cs"/>
              </a:rPr>
              <a:t>A</a:t>
            </a:r>
            <a:r>
              <a:rPr lang="zh-CN" altLang="en-US" dirty="0">
                <a:latin typeface="Times New Roman" panose="02020603050405020304" pitchFamily="18" charset="0"/>
                <a:cs typeface="+mn-cs"/>
              </a:rPr>
              <a:t>端口的</a:t>
            </a:r>
            <a:r>
              <a:rPr lang="en-US" altLang="zh-CN" dirty="0">
                <a:latin typeface="Times New Roman" panose="02020603050405020304" pitchFamily="18" charset="0"/>
                <a:cs typeface="+mn-cs"/>
              </a:rPr>
              <a:t>8</a:t>
            </a:r>
            <a:r>
              <a:rPr lang="zh-CN" altLang="en-US" dirty="0">
                <a:latin typeface="Times New Roman" panose="02020603050405020304" pitchFamily="18" charset="0"/>
                <a:cs typeface="+mn-cs"/>
              </a:rPr>
              <a:t>根</a:t>
            </a:r>
            <a:r>
              <a:rPr lang="en-US" altLang="zh-CN" dirty="0">
                <a:latin typeface="Times New Roman" panose="02020603050405020304" pitchFamily="18" charset="0"/>
                <a:cs typeface="+mn-cs"/>
              </a:rPr>
              <a:t>I/O</a:t>
            </a:r>
            <a:r>
              <a:rPr lang="zh-CN" altLang="en-US" dirty="0">
                <a:latin typeface="Times New Roman" panose="02020603050405020304" pitchFamily="18" charset="0"/>
                <a:cs typeface="+mn-cs"/>
              </a:rPr>
              <a:t>线接</a:t>
            </a:r>
            <a:r>
              <a:rPr lang="en-US" altLang="zh-CN" dirty="0">
                <a:latin typeface="Times New Roman" panose="02020603050405020304" pitchFamily="18" charset="0"/>
                <a:cs typeface="+mn-cs"/>
              </a:rPr>
              <a:t>8</a:t>
            </a:r>
            <a:r>
              <a:rPr lang="zh-CN" altLang="en-US" dirty="0">
                <a:latin typeface="Times New Roman" panose="02020603050405020304" pitchFamily="18" charset="0"/>
                <a:cs typeface="+mn-cs"/>
              </a:rPr>
              <a:t>只发光二极管的正极</a:t>
            </a:r>
            <a:r>
              <a:rPr lang="en-US" altLang="zh-CN" dirty="0">
                <a:latin typeface="Times New Roman" panose="02020603050405020304" pitchFamily="18" charset="0"/>
                <a:cs typeface="+mn-cs"/>
              </a:rPr>
              <a:t>(</a:t>
            </a:r>
            <a:r>
              <a:rPr lang="zh-CN" altLang="en-US" dirty="0">
                <a:latin typeface="Times New Roman" panose="02020603050405020304" pitchFamily="18" charset="0"/>
                <a:cs typeface="+mn-cs"/>
              </a:rPr>
              <a:t>八个负极均接地</a:t>
            </a:r>
            <a:r>
              <a:rPr lang="en-US" altLang="zh-CN" dirty="0">
                <a:latin typeface="Times New Roman" panose="02020603050405020304" pitchFamily="18" charset="0"/>
                <a:cs typeface="+mn-cs"/>
              </a:rPr>
              <a:t>)</a:t>
            </a:r>
            <a:r>
              <a:rPr lang="zh-CN" altLang="en-US" dirty="0">
                <a:latin typeface="Times New Roman" panose="02020603050405020304" pitchFamily="18" charset="0"/>
                <a:cs typeface="+mn-cs"/>
              </a:rPr>
              <a:t>，编写使这</a:t>
            </a:r>
            <a:r>
              <a:rPr lang="en-US" altLang="zh-CN" dirty="0">
                <a:latin typeface="Times New Roman" panose="02020603050405020304" pitchFamily="18" charset="0"/>
                <a:cs typeface="+mn-cs"/>
              </a:rPr>
              <a:t>8</a:t>
            </a:r>
            <a:r>
              <a:rPr lang="zh-CN" altLang="en-US" dirty="0">
                <a:latin typeface="Times New Roman" panose="02020603050405020304" pitchFamily="18" charset="0"/>
                <a:cs typeface="+mn-cs"/>
              </a:rPr>
              <a:t>只发光二极管依次亮、灭的程序。设</a:t>
            </a:r>
            <a:r>
              <a:rPr lang="en-US" altLang="zh-CN" dirty="0">
                <a:latin typeface="Times New Roman" panose="02020603050405020304" pitchFamily="18" charset="0"/>
                <a:cs typeface="+mn-cs"/>
              </a:rPr>
              <a:t>8255A</a:t>
            </a:r>
            <a:r>
              <a:rPr lang="zh-CN" altLang="en-US" dirty="0">
                <a:latin typeface="Times New Roman" panose="02020603050405020304" pitchFamily="18" charset="0"/>
                <a:cs typeface="+mn-cs"/>
              </a:rPr>
              <a:t>的端口地址为</a:t>
            </a:r>
            <a:r>
              <a:rPr lang="en-US" altLang="zh-CN" dirty="0">
                <a:latin typeface="Times New Roman" panose="02020603050405020304" pitchFamily="18" charset="0"/>
                <a:cs typeface="+mn-cs"/>
              </a:rPr>
              <a:t>280H</a:t>
            </a:r>
            <a:r>
              <a:rPr lang="zh-CN" altLang="en-US" dirty="0">
                <a:latin typeface="Times New Roman" panose="02020603050405020304" pitchFamily="18" charset="0"/>
                <a:cs typeface="+mn-cs"/>
              </a:rPr>
              <a:t>～</a:t>
            </a:r>
            <a:r>
              <a:rPr lang="en-US" altLang="zh-CN" dirty="0">
                <a:latin typeface="Times New Roman" panose="02020603050405020304" pitchFamily="18" charset="0"/>
                <a:cs typeface="+mn-cs"/>
              </a:rPr>
              <a:t>283H</a:t>
            </a:r>
            <a:r>
              <a:rPr lang="zh-CN" altLang="en-US" dirty="0">
                <a:latin typeface="Times New Roman" panose="02020603050405020304" pitchFamily="18" charset="0"/>
                <a:cs typeface="+mn-cs"/>
              </a:rPr>
              <a:t>。</a:t>
            </a:r>
            <a:r>
              <a:rPr lang="en-US" altLang="zh-CN" dirty="0">
                <a:latin typeface="Times New Roman" panose="02020603050405020304" pitchFamily="18" charset="0"/>
                <a:cs typeface="+mn-cs"/>
              </a:rPr>
              <a:t>8255A</a:t>
            </a:r>
            <a:r>
              <a:rPr lang="zh-CN" altLang="en-US" dirty="0">
                <a:latin typeface="Times New Roman" panose="02020603050405020304" pitchFamily="18" charset="0"/>
                <a:cs typeface="+mn-cs"/>
              </a:rPr>
              <a:t>与</a:t>
            </a:r>
            <a:r>
              <a:rPr lang="en-US" altLang="zh-CN" dirty="0">
                <a:latin typeface="Times New Roman" panose="02020603050405020304" pitchFamily="18" charset="0"/>
                <a:cs typeface="+mn-cs"/>
              </a:rPr>
              <a:t>CPU</a:t>
            </a:r>
            <a:r>
              <a:rPr lang="zh-CN" altLang="en-US" dirty="0">
                <a:latin typeface="Times New Roman" panose="02020603050405020304" pitchFamily="18" charset="0"/>
                <a:cs typeface="+mn-cs"/>
              </a:rPr>
              <a:t>的连接及</a:t>
            </a:r>
            <a:r>
              <a:rPr lang="en-US" altLang="zh-CN" dirty="0">
                <a:latin typeface="Times New Roman" panose="02020603050405020304" pitchFamily="18" charset="0"/>
                <a:cs typeface="+mn-cs"/>
              </a:rPr>
              <a:t>8255A</a:t>
            </a:r>
            <a:r>
              <a:rPr lang="zh-CN" altLang="en-US" dirty="0">
                <a:latin typeface="Times New Roman" panose="02020603050405020304" pitchFamily="18" charset="0"/>
                <a:cs typeface="+mn-cs"/>
              </a:rPr>
              <a:t>与发光二极管的硬件连接图如图所示。</a:t>
            </a:r>
            <a:endParaRPr lang="zh-CN" altLang="en-US" dirty="0">
              <a:latin typeface="Times New Roman" panose="02020603050405020304" pitchFamily="18" charset="0"/>
              <a:cs typeface="+mn-cs"/>
            </a:endParaRPr>
          </a:p>
        </p:txBody>
      </p:sp>
      <p:sp>
        <p:nvSpPr>
          <p:cNvPr id="4" name="Rectangle 2"/>
          <p:cNvSpPr>
            <a:spLocks noChangeArrowheads="1"/>
          </p:cNvSpPr>
          <p:nvPr/>
        </p:nvSpPr>
        <p:spPr bwMode="auto">
          <a:xfrm>
            <a:off x="467544" y="352092"/>
            <a:ext cx="7772400" cy="493085"/>
          </a:xfrm>
          <a:prstGeom prst="rect">
            <a:avLst/>
          </a:prstGeom>
          <a:noFill/>
          <a:ln w="9525">
            <a:noFill/>
            <a:miter lim="800000"/>
          </a:ln>
          <a:effectLst/>
        </p:spPr>
        <p:txBody>
          <a:bodyPr lIns="92075" tIns="46038" rIns="92075" bIns="46038">
            <a:spAutoFit/>
          </a:bodyPr>
          <a:lstStyle/>
          <a:p>
            <a:r>
              <a:rPr lang="zh-CN" altLang="en-US" sz="2600" kern="0" dirty="0">
                <a:solidFill>
                  <a:schemeClr val="tx2"/>
                </a:solidFill>
                <a:effectLst>
                  <a:outerShdw blurRad="38100" dist="38100" dir="2700000" algn="tl">
                    <a:srgbClr val="C0C0C0"/>
                  </a:outerShdw>
                </a:effectLst>
                <a:latin typeface="+mj-lt"/>
                <a:cs typeface="+mj-cs"/>
              </a:rPr>
              <a:t>并行通信接口芯片 </a:t>
            </a:r>
            <a:r>
              <a:rPr lang="en-US" altLang="zh-CN" sz="2600" kern="0" dirty="0">
                <a:solidFill>
                  <a:schemeClr val="tx2"/>
                </a:solidFill>
                <a:effectLst>
                  <a:outerShdw blurRad="38100" dist="38100" dir="2700000" algn="tl">
                    <a:srgbClr val="C0C0C0"/>
                  </a:outerShdw>
                </a:effectLst>
                <a:latin typeface="+mj-lt"/>
                <a:cs typeface="+mj-cs"/>
              </a:rPr>
              <a:t>8255A</a:t>
            </a:r>
            <a:endParaRPr lang="en-US" altLang="zh-CN"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467544" y="352092"/>
            <a:ext cx="7772400" cy="493085"/>
          </a:xfrm>
          <a:prstGeom prst="rect">
            <a:avLst/>
          </a:prstGeom>
          <a:noFill/>
          <a:ln w="9525">
            <a:noFill/>
            <a:miter lim="800000"/>
          </a:ln>
          <a:effectLst/>
        </p:spPr>
        <p:txBody>
          <a:bodyPr lIns="92075" tIns="46038" rIns="92075" bIns="46038">
            <a:spAutoFit/>
          </a:bodyPr>
          <a:lstStyle/>
          <a:p>
            <a:r>
              <a:rPr lang="zh-CN" altLang="en-US" sz="2600" kern="0" dirty="0">
                <a:solidFill>
                  <a:schemeClr val="tx2"/>
                </a:solidFill>
                <a:effectLst>
                  <a:outerShdw blurRad="38100" dist="38100" dir="2700000" algn="tl">
                    <a:srgbClr val="C0C0C0"/>
                  </a:outerShdw>
                </a:effectLst>
                <a:latin typeface="+mj-lt"/>
                <a:cs typeface="+mj-cs"/>
              </a:rPr>
              <a:t>并行通信接口芯片 </a:t>
            </a:r>
            <a:r>
              <a:rPr lang="en-US" altLang="zh-CN" sz="2600" kern="0" dirty="0">
                <a:solidFill>
                  <a:schemeClr val="tx2"/>
                </a:solidFill>
                <a:effectLst>
                  <a:outerShdw blurRad="38100" dist="38100" dir="2700000" algn="tl">
                    <a:srgbClr val="C0C0C0"/>
                  </a:outerShdw>
                </a:effectLst>
                <a:latin typeface="+mj-lt"/>
                <a:cs typeface="+mj-cs"/>
              </a:rPr>
              <a:t>8255A</a:t>
            </a:r>
            <a:endParaRPr lang="en-US" altLang="zh-CN" sz="2600" kern="0" dirty="0">
              <a:solidFill>
                <a:schemeClr val="tx2"/>
              </a:solidFill>
              <a:effectLst>
                <a:outerShdw blurRad="38100" dist="38100" dir="2700000" algn="tl">
                  <a:srgbClr val="C0C0C0"/>
                </a:outerShdw>
              </a:effectLst>
              <a:latin typeface="+mj-lt"/>
              <a:cs typeface="+mj-cs"/>
            </a:endParaRPr>
          </a:p>
        </p:txBody>
      </p:sp>
      <p:sp>
        <p:nvSpPr>
          <p:cNvPr id="3" name="矩形 2"/>
          <p:cNvSpPr/>
          <p:nvPr/>
        </p:nvSpPr>
        <p:spPr>
          <a:xfrm>
            <a:off x="1655676" y="940272"/>
            <a:ext cx="6444716" cy="5909310"/>
          </a:xfrm>
          <a:prstGeom prst="rect">
            <a:avLst/>
          </a:prstGeom>
        </p:spPr>
        <p:txBody>
          <a:bodyPr wrap="square">
            <a:spAutoFit/>
          </a:bodyPr>
          <a:lstStyle/>
          <a:p>
            <a:r>
              <a:rPr lang="en-US" altLang="zh-CN" sz="1800" b="0" dirty="0"/>
              <a:t>CODE 	SEGMENT</a:t>
            </a:r>
            <a:endParaRPr lang="en-US" altLang="zh-CN" sz="1800" b="0" dirty="0"/>
          </a:p>
          <a:p>
            <a:r>
              <a:rPr lang="en-US" altLang="zh-CN" sz="1800" b="0" dirty="0"/>
              <a:t>ASSUME  CS</a:t>
            </a:r>
            <a:r>
              <a:rPr lang="zh-CN" altLang="en-US" sz="1800" b="0" dirty="0"/>
              <a:t>：</a:t>
            </a:r>
            <a:r>
              <a:rPr lang="en-US" altLang="zh-CN" sz="1800" b="0" dirty="0"/>
              <a:t>CODE</a:t>
            </a:r>
            <a:endParaRPr lang="en-US" altLang="zh-CN" sz="1800" b="0" dirty="0"/>
          </a:p>
          <a:p>
            <a:r>
              <a:rPr lang="en-US" altLang="zh-CN" sz="1800" b="0" dirty="0"/>
              <a:t>BEGIN</a:t>
            </a:r>
            <a:r>
              <a:rPr lang="zh-CN" altLang="en-US" sz="1800" b="0" dirty="0"/>
              <a:t>：</a:t>
            </a:r>
            <a:r>
              <a:rPr lang="en-US" altLang="zh-CN" sz="1800" b="0" dirty="0"/>
              <a:t>MOV  DX</a:t>
            </a:r>
            <a:r>
              <a:rPr lang="zh-CN" altLang="en-US" sz="1800" b="0" dirty="0"/>
              <a:t>，</a:t>
            </a:r>
            <a:r>
              <a:rPr lang="en-US" altLang="zh-CN" sz="1800" b="0" dirty="0"/>
              <a:t>283H   </a:t>
            </a:r>
            <a:r>
              <a:rPr lang="zh-CN" altLang="en-US" sz="1800" b="0" dirty="0"/>
              <a:t>；</a:t>
            </a:r>
            <a:r>
              <a:rPr lang="en-US" altLang="zh-CN" sz="1800" b="0" dirty="0"/>
              <a:t>8255A</a:t>
            </a:r>
            <a:r>
              <a:rPr lang="zh-CN" altLang="en-US" sz="1800" b="0" dirty="0"/>
              <a:t>的命令口</a:t>
            </a:r>
            <a:endParaRPr lang="zh-CN" altLang="en-US" sz="1800" b="0" dirty="0"/>
          </a:p>
          <a:p>
            <a:r>
              <a:rPr lang="en-US" altLang="zh-CN" sz="1800" b="0" dirty="0"/>
              <a:t>	MOV  AL</a:t>
            </a:r>
            <a:r>
              <a:rPr lang="zh-CN" altLang="en-US" sz="1800" b="0" dirty="0"/>
              <a:t>，</a:t>
            </a:r>
            <a:r>
              <a:rPr lang="en-US" altLang="zh-CN" sz="1800" b="0" dirty="0"/>
              <a:t>80H    </a:t>
            </a:r>
            <a:r>
              <a:rPr lang="zh-CN" altLang="en-US" sz="1800" b="0" dirty="0"/>
              <a:t>；方式控制字</a:t>
            </a:r>
            <a:endParaRPr lang="zh-CN" altLang="en-US" sz="1800" b="0" dirty="0"/>
          </a:p>
          <a:p>
            <a:r>
              <a:rPr lang="en-US" altLang="zh-CN" sz="1800" b="0" dirty="0"/>
              <a:t>	OUT  DX</a:t>
            </a:r>
            <a:r>
              <a:rPr lang="zh-CN" altLang="en-US" sz="1800" b="0" dirty="0"/>
              <a:t>，</a:t>
            </a:r>
            <a:r>
              <a:rPr lang="en-US" altLang="zh-CN" sz="1800" b="0" dirty="0"/>
              <a:t>AL     </a:t>
            </a:r>
            <a:r>
              <a:rPr lang="zh-CN" altLang="en-US" sz="1800" b="0" dirty="0"/>
              <a:t>；（</a:t>
            </a:r>
            <a:r>
              <a:rPr lang="en-US" altLang="zh-CN" sz="1800" b="0" dirty="0"/>
              <a:t>A</a:t>
            </a:r>
            <a:r>
              <a:rPr lang="zh-CN" altLang="en-US" sz="1800" b="0" dirty="0"/>
              <a:t>口方式</a:t>
            </a:r>
            <a:r>
              <a:rPr lang="en-US" altLang="zh-CN" sz="1800" b="0" dirty="0"/>
              <a:t>0</a:t>
            </a:r>
            <a:r>
              <a:rPr lang="zh-CN" altLang="en-US" sz="1800" b="0" dirty="0"/>
              <a:t>，输出）</a:t>
            </a:r>
            <a:endParaRPr lang="zh-CN" altLang="en-US" sz="1800" b="0" dirty="0"/>
          </a:p>
          <a:p>
            <a:r>
              <a:rPr lang="en-US" altLang="zh-CN" sz="1800" b="0" dirty="0"/>
              <a:t>	MOV  CX</a:t>
            </a:r>
            <a:r>
              <a:rPr lang="zh-CN" altLang="en-US" sz="1800" b="0" dirty="0"/>
              <a:t>，</a:t>
            </a:r>
            <a:r>
              <a:rPr lang="en-US" altLang="zh-CN" sz="1800" b="0" dirty="0"/>
              <a:t>8</a:t>
            </a:r>
            <a:endParaRPr lang="en-US" altLang="zh-CN" sz="1800" b="0" dirty="0"/>
          </a:p>
          <a:p>
            <a:r>
              <a:rPr lang="en-US" altLang="zh-CN" sz="1800" b="0" dirty="0"/>
              <a:t>	MOV  AL</a:t>
            </a:r>
            <a:r>
              <a:rPr lang="zh-CN" altLang="en-US" sz="1800" b="0" dirty="0"/>
              <a:t>，</a:t>
            </a:r>
            <a:r>
              <a:rPr lang="en-US" altLang="zh-CN" sz="1800" b="0" dirty="0"/>
              <a:t>1      </a:t>
            </a:r>
            <a:r>
              <a:rPr lang="zh-CN" altLang="en-US" sz="1800" b="0" dirty="0"/>
              <a:t>；</a:t>
            </a:r>
            <a:r>
              <a:rPr lang="en-US" altLang="zh-CN" sz="1800" b="0" dirty="0"/>
              <a:t>A</a:t>
            </a:r>
            <a:r>
              <a:rPr lang="zh-CN" altLang="en-US" sz="1800" b="0" dirty="0"/>
              <a:t>口的输出值</a:t>
            </a:r>
            <a:endParaRPr lang="zh-CN" altLang="en-US" sz="1800" b="0" dirty="0"/>
          </a:p>
          <a:p>
            <a:r>
              <a:rPr lang="en-US" altLang="zh-CN" sz="1800" b="0" dirty="0"/>
              <a:t>	MOV  DX</a:t>
            </a:r>
            <a:r>
              <a:rPr lang="zh-CN" altLang="en-US" sz="1800" b="0" dirty="0"/>
              <a:t>，</a:t>
            </a:r>
            <a:r>
              <a:rPr lang="en-US" altLang="zh-CN" sz="1800" b="0" dirty="0"/>
              <a:t>280H  </a:t>
            </a:r>
            <a:r>
              <a:rPr lang="zh-CN" altLang="en-US" sz="1800" b="0" dirty="0"/>
              <a:t>；</a:t>
            </a:r>
            <a:r>
              <a:rPr lang="en-US" altLang="zh-CN" sz="1800" b="0" dirty="0"/>
              <a:t>A</a:t>
            </a:r>
            <a:r>
              <a:rPr lang="zh-CN" altLang="en-US" sz="1800" b="0" dirty="0"/>
              <a:t>口地址</a:t>
            </a:r>
            <a:endParaRPr lang="zh-CN" altLang="en-US" sz="1800" b="0" dirty="0"/>
          </a:p>
          <a:p>
            <a:r>
              <a:rPr lang="en-US" altLang="zh-CN" sz="1800" b="0" dirty="0"/>
              <a:t>AGAIN</a:t>
            </a:r>
            <a:r>
              <a:rPr lang="zh-CN" altLang="en-US" sz="1800" b="0" dirty="0"/>
              <a:t>：</a:t>
            </a:r>
            <a:r>
              <a:rPr lang="en-US" altLang="zh-CN" sz="1800" b="0" dirty="0"/>
              <a:t>OUT  DX</a:t>
            </a:r>
            <a:r>
              <a:rPr lang="zh-CN" altLang="en-US" sz="1800" b="0" dirty="0"/>
              <a:t>，</a:t>
            </a:r>
            <a:r>
              <a:rPr lang="en-US" altLang="zh-CN" sz="1800" b="0" dirty="0"/>
              <a:t>AL     </a:t>
            </a:r>
            <a:r>
              <a:rPr lang="zh-CN" altLang="en-US" sz="1800" b="0" dirty="0"/>
              <a:t>；点亮一只发光二极管</a:t>
            </a:r>
            <a:endParaRPr lang="zh-CN" altLang="en-US" sz="1800" b="0" dirty="0"/>
          </a:p>
          <a:p>
            <a:r>
              <a:rPr lang="en-US" altLang="zh-CN" sz="1800" b="0" dirty="0"/>
              <a:t>	NOP               </a:t>
            </a:r>
            <a:r>
              <a:rPr lang="zh-CN" altLang="en-US" sz="1800" b="0" dirty="0"/>
              <a:t>；延时</a:t>
            </a:r>
            <a:endParaRPr lang="zh-CN" altLang="en-US" sz="1800" b="0" dirty="0"/>
          </a:p>
          <a:p>
            <a:r>
              <a:rPr lang="en-US" altLang="zh-CN" sz="1800" b="0" dirty="0"/>
              <a:t>	MOV  AH</a:t>
            </a:r>
            <a:r>
              <a:rPr lang="zh-CN" altLang="en-US" sz="1800" b="0" dirty="0"/>
              <a:t>，</a:t>
            </a:r>
            <a:r>
              <a:rPr lang="en-US" altLang="zh-CN" sz="1800" b="0" dirty="0"/>
              <a:t>AL</a:t>
            </a:r>
            <a:endParaRPr lang="en-US" altLang="zh-CN" sz="1800" b="0" dirty="0"/>
          </a:p>
          <a:p>
            <a:r>
              <a:rPr lang="en-US" altLang="zh-CN" sz="1800" b="0" dirty="0"/>
              <a:t>	MOV  AL</a:t>
            </a:r>
            <a:r>
              <a:rPr lang="zh-CN" altLang="en-US" sz="1800" b="0" dirty="0"/>
              <a:t>，</a:t>
            </a:r>
            <a:r>
              <a:rPr lang="en-US" altLang="zh-CN" sz="1800" b="0" dirty="0"/>
              <a:t>00H</a:t>
            </a:r>
            <a:endParaRPr lang="en-US" altLang="zh-CN" sz="1800" b="0" dirty="0"/>
          </a:p>
          <a:p>
            <a:r>
              <a:rPr lang="en-US" altLang="zh-CN" sz="1800" b="0" dirty="0"/>
              <a:t>	OUT  DX</a:t>
            </a:r>
            <a:r>
              <a:rPr lang="zh-CN" altLang="en-US" sz="1800" b="0" dirty="0"/>
              <a:t>，</a:t>
            </a:r>
            <a:r>
              <a:rPr lang="en-US" altLang="zh-CN" sz="1800" b="0" dirty="0"/>
              <a:t>AL     </a:t>
            </a:r>
            <a:r>
              <a:rPr lang="zh-CN" altLang="en-US" sz="1800" b="0" dirty="0"/>
              <a:t>；熄灭点亮的发光二极管</a:t>
            </a:r>
            <a:endParaRPr lang="zh-CN" altLang="en-US" sz="1800" b="0" dirty="0"/>
          </a:p>
          <a:p>
            <a:r>
              <a:rPr lang="en-US" altLang="zh-CN" sz="1800" b="0" dirty="0"/>
              <a:t>	MOV  AL</a:t>
            </a:r>
            <a:r>
              <a:rPr lang="zh-CN" altLang="en-US" sz="1800" b="0" dirty="0"/>
              <a:t>，</a:t>
            </a:r>
            <a:r>
              <a:rPr lang="en-US" altLang="zh-CN" sz="1800" b="0" dirty="0"/>
              <a:t>AH</a:t>
            </a:r>
            <a:endParaRPr lang="en-US" altLang="zh-CN" sz="1800" b="0" dirty="0"/>
          </a:p>
          <a:p>
            <a:r>
              <a:rPr lang="en-US" altLang="zh-CN" sz="1800" b="0" dirty="0"/>
              <a:t>	ROL   AL</a:t>
            </a:r>
            <a:r>
              <a:rPr lang="zh-CN" altLang="en-US" sz="1800" b="0" dirty="0"/>
              <a:t>，</a:t>
            </a:r>
            <a:r>
              <a:rPr lang="en-US" altLang="zh-CN" sz="1800" b="0" dirty="0"/>
              <a:t>1      </a:t>
            </a:r>
            <a:r>
              <a:rPr lang="zh-CN" altLang="en-US" sz="1800" b="0" dirty="0"/>
              <a:t>；改变</a:t>
            </a:r>
            <a:r>
              <a:rPr lang="en-US" altLang="zh-CN" sz="1800" b="0" dirty="0"/>
              <a:t>A</a:t>
            </a:r>
            <a:r>
              <a:rPr lang="zh-CN" altLang="en-US" sz="1800" b="0" dirty="0"/>
              <a:t>口的输出值</a:t>
            </a:r>
            <a:endParaRPr lang="zh-CN" altLang="en-US" sz="1800" b="0" dirty="0"/>
          </a:p>
          <a:p>
            <a:r>
              <a:rPr lang="en-US" altLang="zh-CN" sz="1800" b="0" dirty="0"/>
              <a:t>	DEC   CX</a:t>
            </a:r>
            <a:endParaRPr lang="en-US" altLang="zh-CN" sz="1800" b="0" dirty="0"/>
          </a:p>
          <a:p>
            <a:r>
              <a:rPr lang="en-US" altLang="zh-CN" sz="1800" b="0" dirty="0"/>
              <a:t>	JNZ  AGAIN</a:t>
            </a:r>
            <a:endParaRPr lang="en-US" altLang="zh-CN" sz="1800" b="0" dirty="0"/>
          </a:p>
          <a:p>
            <a:r>
              <a:rPr lang="en-US" altLang="zh-CN" sz="1800" b="0" dirty="0"/>
              <a:t>	MOV  AX</a:t>
            </a:r>
            <a:r>
              <a:rPr lang="zh-CN" altLang="en-US" sz="1800" b="0" dirty="0"/>
              <a:t>，</a:t>
            </a:r>
            <a:r>
              <a:rPr lang="en-US" altLang="zh-CN" sz="1800" b="0" dirty="0"/>
              <a:t>4C00H</a:t>
            </a:r>
            <a:endParaRPr lang="en-US" altLang="zh-CN" sz="1800" b="0" dirty="0"/>
          </a:p>
          <a:p>
            <a:r>
              <a:rPr lang="en-US" altLang="zh-CN" sz="1800" b="0" dirty="0"/>
              <a:t>	INT  21H</a:t>
            </a:r>
            <a:endParaRPr lang="en-US" altLang="zh-CN" sz="1800" b="0" dirty="0"/>
          </a:p>
          <a:p>
            <a:r>
              <a:rPr lang="en-US" altLang="zh-CN" sz="1800" b="0" dirty="0"/>
              <a:t>CODE	ENDS</a:t>
            </a:r>
            <a:endParaRPr lang="en-US" altLang="zh-CN" sz="1800" b="0" dirty="0"/>
          </a:p>
          <a:p>
            <a:r>
              <a:rPr lang="en-US" altLang="zh-CN" sz="1800" b="0" dirty="0"/>
              <a:t>END  BEGIN</a:t>
            </a:r>
            <a:endParaRPr lang="en-US" altLang="zh-CN" sz="1800" b="0" dirty="0"/>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31541" y="1016732"/>
            <a:ext cx="8352928" cy="5447645"/>
          </a:xfrm>
          <a:prstGeom prst="rect">
            <a:avLst/>
          </a:prstGeom>
          <a:noFill/>
        </p:spPr>
        <p:txBody>
          <a:bodyPr wrap="square" rtlCol="0">
            <a:spAutoFit/>
          </a:bodyPr>
          <a:lstStyle/>
          <a:p>
            <a:pPr>
              <a:lnSpc>
                <a:spcPct val="150000"/>
              </a:lnSpc>
            </a:pPr>
            <a:r>
              <a:rPr lang="zh-CN" altLang="en-US" sz="3600" dirty="0">
                <a:solidFill>
                  <a:srgbClr val="FF0000"/>
                </a:solidFill>
              </a:rPr>
              <a:t>课程结束！</a:t>
            </a:r>
            <a:endParaRPr lang="en-US" altLang="zh-CN" sz="3600" dirty="0">
              <a:solidFill>
                <a:srgbClr val="FF0000"/>
              </a:solidFill>
            </a:endParaRPr>
          </a:p>
          <a:p>
            <a:pPr>
              <a:lnSpc>
                <a:spcPct val="150000"/>
              </a:lnSpc>
            </a:pPr>
            <a:r>
              <a:rPr lang="zh-CN" altLang="en-US" sz="3600" dirty="0">
                <a:solidFill>
                  <a:srgbClr val="FF0000"/>
                </a:solidFill>
              </a:rPr>
              <a:t>预祝大家期末考试取得好成绩！</a:t>
            </a:r>
            <a:endParaRPr lang="en-US" altLang="zh-CN" sz="3600" dirty="0">
              <a:solidFill>
                <a:srgbClr val="FF0000"/>
              </a:solidFill>
            </a:endParaRPr>
          </a:p>
          <a:p>
            <a:pPr>
              <a:lnSpc>
                <a:spcPct val="150000"/>
              </a:lnSpc>
            </a:pPr>
            <a:r>
              <a:rPr lang="zh-CN" altLang="en-US" sz="3600" dirty="0">
                <a:solidFill>
                  <a:srgbClr val="FF0000"/>
                </a:solidFill>
              </a:rPr>
              <a:t>感谢大家的支持！</a:t>
            </a:r>
            <a:endParaRPr lang="en-US" altLang="zh-CN" sz="3600" dirty="0">
              <a:solidFill>
                <a:srgbClr val="FF0000"/>
              </a:solidFill>
            </a:endParaRPr>
          </a:p>
          <a:p>
            <a:pPr>
              <a:lnSpc>
                <a:spcPct val="150000"/>
              </a:lnSpc>
            </a:pPr>
            <a:endParaRPr lang="en-US" altLang="zh-CN" sz="3600" dirty="0">
              <a:solidFill>
                <a:srgbClr val="FF0000"/>
              </a:solidFill>
            </a:endParaRPr>
          </a:p>
          <a:p>
            <a:pPr>
              <a:lnSpc>
                <a:spcPct val="150000"/>
              </a:lnSpc>
            </a:pPr>
            <a:r>
              <a:rPr lang="zh-CN" altLang="en-US" sz="3600" dirty="0">
                <a:solidFill>
                  <a:srgbClr val="FF0000"/>
                </a:solidFill>
              </a:rPr>
              <a:t>对课程有任何意见或建议请发邮件：</a:t>
            </a:r>
            <a:endParaRPr lang="en-US" altLang="zh-CN" sz="3600" dirty="0">
              <a:solidFill>
                <a:srgbClr val="FF0000"/>
              </a:solidFill>
            </a:endParaRPr>
          </a:p>
          <a:p>
            <a:pPr>
              <a:lnSpc>
                <a:spcPct val="150000"/>
              </a:lnSpc>
            </a:pPr>
            <a:r>
              <a:rPr lang="en-US" altLang="zh-CN" sz="3600" dirty="0">
                <a:solidFill>
                  <a:srgbClr val="FF0000"/>
                </a:solidFill>
              </a:rPr>
              <a:t>luguangm@hit.edu.cn</a:t>
            </a:r>
            <a:endParaRPr lang="en-US" altLang="zh-CN" sz="3600" dirty="0">
              <a:solidFill>
                <a:srgbClr val="FF0000"/>
              </a:solidFill>
            </a:endParaRPr>
          </a:p>
          <a:p>
            <a:endParaRPr lang="zh-CN" altLang="en-US" dirty="0"/>
          </a:p>
        </p:txBody>
      </p:sp>
      <p:pic>
        <p:nvPicPr>
          <p:cNvPr id="3" name="图片 2" descr="4234cdb19843e6c69fc053e92f6485e3-1831"/>
          <p:cNvPicPr>
            <a:picLocks noChangeAspect="1"/>
          </p:cNvPicPr>
          <p:nvPr/>
        </p:nvPicPr>
        <p:blipFill>
          <a:blip r:embed="rId1"/>
          <a:stretch>
            <a:fillRect/>
          </a:stretch>
        </p:blipFill>
        <p:spPr>
          <a:xfrm>
            <a:off x="323215" y="3897630"/>
            <a:ext cx="8683625" cy="322580"/>
          </a:xfrm>
          <a:prstGeom prst="rect">
            <a:avLst/>
          </a:prstGeom>
        </p:spPr>
      </p:pic>
    </p:spTree>
  </p:cSld>
  <p:clrMapOvr>
    <a:masterClrMapping/>
  </p:clrMapOvr>
  <p:transition/>
</p:sld>
</file>

<file path=ppt/theme/theme1.xml><?xml version="1.0" encoding="utf-8"?>
<a:theme xmlns:a="http://schemas.openxmlformats.org/drawingml/2006/main" name="Level">
  <a:themeElements>
    <a:clrScheme name="Level 9">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FF0000"/>
      </a:hlink>
      <a:folHlink>
        <a:srgbClr val="996633"/>
      </a:folHlink>
    </a:clrScheme>
    <a:fontScheme name="Level">
      <a:majorFont>
        <a:latin typeface="Times New Roman"/>
        <a:ea typeface="隶书"/>
        <a:cs typeface=""/>
      </a:majorFont>
      <a:minorFont>
        <a:latin typeface="Times New Roman"/>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rgbClr val="66CCFF"/>
          </a:solidFill>
          <a:prstDash val="solid"/>
          <a:round/>
          <a:headEnd type="none" w="med" len="med"/>
          <a:tailEnd type="stealth" w="lg" len="lg"/>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rgbClr val="66CCFF"/>
          </a:solidFill>
          <a:prstDash val="solid"/>
          <a:round/>
          <a:headEnd type="none" w="med" len="med"/>
          <a:tailEnd type="stealth" w="lg" len="lg"/>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Level 9">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FF0000"/>
        </a:hlink>
        <a:folHlink>
          <a:srgbClr val="996633"/>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Level</Template>
  <TotalTime>0</TotalTime>
  <Words>10794</Words>
  <Application>WPS 演示</Application>
  <PresentationFormat>全屏显示(4:3)</PresentationFormat>
  <Paragraphs>973</Paragraphs>
  <Slides>59</Slides>
  <Notes>11</Notes>
  <HiddenSlides>1</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59</vt:i4>
      </vt:variant>
    </vt:vector>
  </HeadingPairs>
  <TitlesOfParts>
    <vt:vector size="79" baseType="lpstr">
      <vt:lpstr>Arial</vt:lpstr>
      <vt:lpstr>宋体</vt:lpstr>
      <vt:lpstr>Wingdings</vt:lpstr>
      <vt:lpstr>Times New Roman</vt:lpstr>
      <vt:lpstr>Verdana</vt:lpstr>
      <vt:lpstr>隶书</vt:lpstr>
      <vt:lpstr>楷体_GB2312</vt:lpstr>
      <vt:lpstr>新宋体</vt:lpstr>
      <vt:lpstr>-apple-system</vt:lpstr>
      <vt:lpstr>Segoe Print</vt:lpstr>
      <vt:lpstr>Wingdings 2</vt:lpstr>
      <vt:lpstr>Arial</vt:lpstr>
      <vt:lpstr>Wingdings</vt:lpstr>
      <vt:lpstr>黑体</vt:lpstr>
      <vt:lpstr>华文楷体</vt:lpstr>
      <vt:lpstr>微软雅黑</vt:lpstr>
      <vt:lpstr>Arial Unicode MS</vt:lpstr>
      <vt:lpstr>KSOF3FB35F8F</vt:lpstr>
      <vt:lpstr>KSOF3FA5480E</vt:lpstr>
      <vt:lpstr>Level</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并行数据传输方式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哈尔滨工业大学</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陈磊工作总结</dc:title>
  <dc:creator>陈磊</dc:creator>
  <cp:lastModifiedBy>卢光明</cp:lastModifiedBy>
  <cp:revision>1159</cp:revision>
  <cp:lastPrinted>2025-10-15T12:01:00Z</cp:lastPrinted>
  <dcterms:created xsi:type="dcterms:W3CDTF">2004-04-02T12:11:00Z</dcterms:created>
  <dcterms:modified xsi:type="dcterms:W3CDTF">2026-10-14T12:36:59Z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4</vt:r8>
  </property>
  <property fmtid="{D5CDD505-2E9C-101B-9397-08002B2CF9AE}" pid="3" name="KSOProductBuildVer">
    <vt:lpwstr>2052-12.1.0.28505</vt:lpwstr>
  </property>
  <property fmtid="{D5CDD505-2E9C-101B-9397-08002B2CF9AE}" pid="4" name="ICV">
    <vt:lpwstr>EC4F11C5B60B4B4C8AFB3445739517AE_12</vt:lpwstr>
  </property>
</Properties>
</file>