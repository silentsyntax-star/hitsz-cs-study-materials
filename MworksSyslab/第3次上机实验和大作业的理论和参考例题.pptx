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24"/>
  </p:notesMasterIdLst>
  <p:sldIdLst>
    <p:sldId id="679" r:id="rId2"/>
    <p:sldId id="2086" r:id="rId3"/>
    <p:sldId id="2112" r:id="rId4"/>
    <p:sldId id="2113" r:id="rId5"/>
    <p:sldId id="2122" r:id="rId6"/>
    <p:sldId id="2108" r:id="rId7"/>
    <p:sldId id="2226" r:id="rId8"/>
    <p:sldId id="2227" r:id="rId9"/>
    <p:sldId id="2114" r:id="rId10"/>
    <p:sldId id="2199" r:id="rId11"/>
    <p:sldId id="2119" r:id="rId12"/>
    <p:sldId id="801" r:id="rId13"/>
    <p:sldId id="2123" r:id="rId14"/>
    <p:sldId id="2124" r:id="rId15"/>
    <p:sldId id="2200" r:id="rId16"/>
    <p:sldId id="2125" r:id="rId17"/>
    <p:sldId id="2228" r:id="rId18"/>
    <p:sldId id="1366" r:id="rId19"/>
    <p:sldId id="2229" r:id="rId20"/>
    <p:sldId id="2232" r:id="rId21"/>
    <p:sldId id="2126" r:id="rId22"/>
    <p:sldId id="2233" r:id="rId23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DA04"/>
    <a:srgbClr val="003B76"/>
    <a:srgbClr val="6D629C"/>
    <a:srgbClr val="736303"/>
    <a:srgbClr val="3366FF"/>
    <a:srgbClr val="3399FF"/>
    <a:srgbClr val="66CCFF"/>
    <a:srgbClr val="33CCFF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9" autoAdjust="0"/>
    <p:restoredTop sz="84457" autoAdjust="0"/>
  </p:normalViewPr>
  <p:slideViewPr>
    <p:cSldViewPr snapToObjects="1">
      <p:cViewPr varScale="1">
        <p:scale>
          <a:sx n="73" d="100"/>
          <a:sy n="73" d="100"/>
        </p:scale>
        <p:origin x="1072" y="48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952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208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ylim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改变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轴的范围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259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pPr algn="l" latinLnBrk="1"/>
            <a:r>
              <a:rPr lang="en-US" altLang="zh-CN" b="1" i="0" dirty="0">
                <a:solidFill>
                  <a:srgbClr val="D57747"/>
                </a:solidFill>
                <a:effectLst/>
                <a:latin typeface="-apple-system"/>
              </a:rPr>
              <a:t>@.</a:t>
            </a:r>
            <a:r>
              <a:rPr lang="zh-CN" altLang="en-US" b="0" i="0" dirty="0">
                <a:solidFill>
                  <a:srgbClr val="8A8A8A"/>
                </a:solidFill>
                <a:effectLst/>
                <a:latin typeface="-apple-system"/>
              </a:rPr>
              <a:t>点调用，将表达式逐元素遍历调用</a:t>
            </a:r>
          </a:p>
          <a:p>
            <a:endParaRPr lang="en-US" altLang="zh-CN" dirty="0"/>
          </a:p>
          <a:p>
            <a:r>
              <a:rPr lang="en-US" altLang="zh-CN" dirty="0"/>
              <a:t>@.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 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expr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通常点调用和广播的多种写法可以等效替代，但是存在部分函数或表达不支持点调用或广播的情况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17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xx=38:0.01:39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174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每种函数命令的算法不一样，应用场合不用</a:t>
            </a:r>
            <a:endParaRPr lang="en-US" altLang="zh-CN" b="1" dirty="0"/>
          </a:p>
          <a:p>
            <a:r>
              <a:rPr lang="zh-CN" altLang="en-US" b="1" dirty="0"/>
              <a:t>如果</a:t>
            </a:r>
            <a:r>
              <a:rPr lang="en-US" altLang="zh-CN" b="1" dirty="0"/>
              <a:t>m=n, </a:t>
            </a:r>
            <a:r>
              <a:rPr lang="zh-CN" altLang="en-US" b="1" dirty="0"/>
              <a:t>方程有精确解</a:t>
            </a:r>
            <a:r>
              <a:rPr lang="en-US" altLang="zh-CN" b="1" dirty="0"/>
              <a:t>.</a:t>
            </a:r>
            <a:r>
              <a:rPr lang="zh-CN" altLang="en-US" b="1" dirty="0"/>
              <a:t>如果</a:t>
            </a:r>
            <a:r>
              <a:rPr lang="en-US" altLang="zh-CN" b="1" dirty="0"/>
              <a:t>m&gt;n, </a:t>
            </a:r>
            <a:r>
              <a:rPr lang="zh-CN" altLang="en-US" b="1" dirty="0"/>
              <a:t>方程没有精确解</a:t>
            </a:r>
            <a:r>
              <a:rPr lang="en-US" altLang="zh-CN" b="1" dirty="0"/>
              <a:t>, </a:t>
            </a:r>
            <a:r>
              <a:rPr lang="zh-CN" altLang="en-US" b="1" dirty="0"/>
              <a:t>但可以求最小二乘解</a:t>
            </a:r>
            <a:r>
              <a:rPr lang="en-US" altLang="zh-CN" b="1" dirty="0"/>
              <a:t>. A\B, </a:t>
            </a:r>
            <a:r>
              <a:rPr lang="en-US" altLang="zh-CN" b="1" dirty="0" err="1"/>
              <a:t>lsqminnorm</a:t>
            </a:r>
            <a:r>
              <a:rPr lang="en-US" altLang="zh-CN" b="1" dirty="0"/>
              <a:t>(A,B) </a:t>
            </a:r>
            <a:r>
              <a:rPr lang="zh-CN" altLang="en-US" b="1" dirty="0"/>
              <a:t>和</a:t>
            </a:r>
            <a:r>
              <a:rPr lang="en-US" altLang="zh-CN" b="1" dirty="0" err="1"/>
              <a:t>pinv</a:t>
            </a:r>
            <a:r>
              <a:rPr lang="en-US" altLang="zh-CN" b="1" dirty="0"/>
              <a:t>(A)*B</a:t>
            </a:r>
            <a:r>
              <a:rPr lang="zh-CN" altLang="en-US" b="1" dirty="0"/>
              <a:t>都可以用</a:t>
            </a:r>
            <a:r>
              <a:rPr lang="en-US" altLang="zh-CN" b="1" dirty="0"/>
              <a:t>.</a:t>
            </a:r>
            <a:r>
              <a:rPr lang="zh-CN" altLang="en-US" b="1" dirty="0"/>
              <a:t>如果</a:t>
            </a:r>
            <a:r>
              <a:rPr lang="en-US" altLang="zh-CN" b="1" dirty="0"/>
              <a:t>m&lt;n, A</a:t>
            </a:r>
            <a:r>
              <a:rPr lang="zh-CN" altLang="en-US" b="1" dirty="0"/>
              <a:t>低秩</a:t>
            </a:r>
            <a:r>
              <a:rPr lang="en-US" altLang="zh-CN" b="1" dirty="0"/>
              <a:t>, X</a:t>
            </a:r>
            <a:r>
              <a:rPr lang="zh-CN" altLang="en-US" b="1" dirty="0"/>
              <a:t>有无穷多解</a:t>
            </a:r>
            <a:r>
              <a:rPr lang="en-US" altLang="zh-CN" b="1" dirty="0"/>
              <a:t>, </a:t>
            </a:r>
            <a:r>
              <a:rPr lang="zh-CN" altLang="en-US" b="1" dirty="0"/>
              <a:t>这里注意用</a:t>
            </a:r>
            <a:r>
              <a:rPr lang="en-US" altLang="zh-CN" b="1" dirty="0"/>
              <a:t>A\B</a:t>
            </a:r>
            <a:r>
              <a:rPr lang="zh-CN" altLang="en-US" b="1" dirty="0"/>
              <a:t>求得的是令</a:t>
            </a:r>
            <a:r>
              <a:rPr lang="en-US" altLang="zh-CN" b="1" dirty="0"/>
              <a:t>norm(AX-B)</a:t>
            </a:r>
            <a:r>
              <a:rPr lang="zh-CN" altLang="en-US" b="1" dirty="0"/>
              <a:t>最小</a:t>
            </a:r>
            <a:r>
              <a:rPr lang="en-US" altLang="zh-CN" b="1" dirty="0"/>
              <a:t>, </a:t>
            </a:r>
            <a:r>
              <a:rPr lang="zh-CN" altLang="en-US" b="1" dirty="0"/>
              <a:t>而</a:t>
            </a:r>
            <a:r>
              <a:rPr lang="en-US" altLang="zh-CN" b="1" dirty="0" err="1"/>
              <a:t>lsqminnorm</a:t>
            </a:r>
            <a:r>
              <a:rPr lang="zh-CN" altLang="en-US" b="1" dirty="0"/>
              <a:t>和</a:t>
            </a:r>
            <a:r>
              <a:rPr lang="en-US" altLang="zh-CN" b="1" dirty="0" err="1"/>
              <a:t>pinv</a:t>
            </a:r>
            <a:r>
              <a:rPr lang="en-US" altLang="zh-CN" b="1" dirty="0"/>
              <a:t>(A)*B</a:t>
            </a:r>
            <a:r>
              <a:rPr lang="zh-CN" altLang="en-US" b="1" dirty="0"/>
              <a:t>不仅令</a:t>
            </a:r>
            <a:r>
              <a:rPr lang="en-US" altLang="zh-CN" b="1" dirty="0"/>
              <a:t>norm(AX-B), </a:t>
            </a:r>
            <a:r>
              <a:rPr lang="zh-CN" altLang="en-US" b="1" dirty="0"/>
              <a:t>也会令</a:t>
            </a:r>
            <a:r>
              <a:rPr lang="en-US" altLang="zh-CN" b="1" dirty="0"/>
              <a:t>norm(X)</a:t>
            </a:r>
            <a:r>
              <a:rPr lang="zh-CN" altLang="en-US" b="1" dirty="0"/>
              <a:t>最小</a:t>
            </a:r>
            <a:r>
              <a:rPr lang="en-US" altLang="zh-CN" b="1" dirty="0"/>
              <a:t>.</a:t>
            </a:r>
          </a:p>
          <a:p>
            <a:r>
              <a:rPr lang="en-US" altLang="zh-CN" b="1" dirty="0"/>
              <a:t>————————————————</a:t>
            </a:r>
          </a:p>
          <a:p>
            <a:r>
              <a:rPr lang="en-US" altLang="zh-CN" b="1" dirty="0"/>
              <a:t>                            </a:t>
            </a:r>
            <a:r>
              <a:rPr lang="zh-CN" altLang="en-US" b="1" dirty="0"/>
              <a:t>版权声明：本文为博主原创文章，遵循 </a:t>
            </a:r>
            <a:r>
              <a:rPr lang="en-US" altLang="zh-CN" b="1" dirty="0"/>
              <a:t>CC 4.0 BY-SA </a:t>
            </a:r>
            <a:r>
              <a:rPr lang="zh-CN" altLang="en-US" b="1" dirty="0"/>
              <a:t>版权协议，转载请附上原文出处链接和本声明。                        </a:t>
            </a:r>
          </a:p>
          <a:p>
            <a:r>
              <a:rPr lang="zh-CN" altLang="en-US" b="1" dirty="0"/>
              <a:t>原文链接：</a:t>
            </a:r>
            <a:r>
              <a:rPr lang="en-US" altLang="zh-CN" b="1" dirty="0"/>
              <a:t>https://blog.csdn.net/yq_forever/article/details/108043033.</a:t>
            </a:r>
          </a:p>
          <a:p>
            <a:r>
              <a:rPr lang="en-US" altLang="zh-CN" b="1" dirty="0"/>
              <a:t>————————————————</a:t>
            </a:r>
          </a:p>
          <a:p>
            <a:r>
              <a:rPr lang="en-US" altLang="zh-CN" b="1" dirty="0"/>
              <a:t>                            </a:t>
            </a:r>
            <a:r>
              <a:rPr lang="zh-CN" altLang="en-US" b="1" dirty="0"/>
              <a:t>版权声明：本文为博主原创文章，遵循 </a:t>
            </a:r>
            <a:r>
              <a:rPr lang="en-US" altLang="zh-CN" b="1" dirty="0"/>
              <a:t>CC 4.0 BY-SA </a:t>
            </a:r>
            <a:r>
              <a:rPr lang="zh-CN" altLang="en-US" b="1" dirty="0"/>
              <a:t>版权协议，转载请附上原文出处链接和本声明。                        </a:t>
            </a:r>
          </a:p>
          <a:p>
            <a:r>
              <a:rPr lang="zh-CN" altLang="en-US" b="1" dirty="0"/>
              <a:t>原文链接：</a:t>
            </a:r>
            <a:r>
              <a:rPr lang="en-US" altLang="zh-CN" b="1" dirty="0"/>
              <a:t>https://blog.csdn.net/yq_forever/article/details/108043033</a:t>
            </a:r>
          </a:p>
          <a:p>
            <a:endParaRPr lang="en-US" altLang="zh-CN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矩阵分解在求解线性方程组中非常重要。例如，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分解和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Cholesky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分解可以将原矩阵分解成更容易求解的形式，从而更稳定地求解矩阵的逆‌</a:t>
            </a:r>
            <a:endParaRPr lang="zh-CN" altLang="en-US" dirty="0"/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332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874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326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636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085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FF0000"/>
                </a:solidFill>
              </a:rPr>
              <a:t>julia</a:t>
            </a:r>
            <a:r>
              <a:rPr lang="en-US" altLang="zh-CN" dirty="0">
                <a:solidFill>
                  <a:srgbClr val="FF0000"/>
                </a:solidFill>
              </a:rPr>
              <a:t>&gt; t=[0 0.52 1.04 1.75 2.37 3.25 3.83]</a:t>
            </a:r>
          </a:p>
          <a:p>
            <a:r>
              <a:rPr lang="en-US" altLang="zh-CN" dirty="0" err="1">
                <a:solidFill>
                  <a:srgbClr val="FF0000"/>
                </a:solidFill>
              </a:rPr>
              <a:t>julia</a:t>
            </a:r>
            <a:r>
              <a:rPr lang="en-US" altLang="zh-CN" dirty="0">
                <a:solidFill>
                  <a:srgbClr val="FF0000"/>
                </a:solidFill>
              </a:rPr>
              <a:t>&gt; x=[0 32 55 96 108 118 120]</a:t>
            </a: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3.83</a:t>
            </a:r>
            <a:endParaRPr lang="en-US" altLang="zh-CN" dirty="0"/>
          </a:p>
          <a:p>
            <a:r>
              <a:rPr lang="zh-CN" altLang="en-US" dirty="0"/>
              <a:t>julia&gt; xi=interp1(t,x,ti)</a:t>
            </a:r>
          </a:p>
          <a:p>
            <a:r>
              <a:rPr lang="zh-CN" altLang="en-US" dirty="0"/>
              <a:t>ERROR: 插值数据维度不匹配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346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203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874288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B138-D962-4159-86D4-69744E72D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310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685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C858E-3DCE-4D01-A80F-DEA7F14DD0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32559"/>
            <a:ext cx="4040188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32559"/>
            <a:ext cx="4041775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2ED9D-B9E8-4415-A1AA-A51EE65F13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E395-C011-4FCA-B35B-9450E02C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2733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B4065-B1B7-4E06-9A01-41AE3A9EC0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D4F1-5252-4CE3-8F75-35C51027C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31486" y="802481"/>
            <a:ext cx="4856714" cy="2055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22D-DF1B-4BE4-9E38-6362FBF71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6700" y="250031"/>
            <a:ext cx="1981200" cy="19538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07586" y="250031"/>
            <a:ext cx="4856714" cy="19538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13E49-A68C-484C-9771-B00D1343D1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250031"/>
            <a:ext cx="7667625" cy="438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73100" y="802481"/>
            <a:ext cx="6515100" cy="566309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A134C-C122-4DE6-ABA6-CD4CFACFA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61" r:id="rId12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zhida.zhihu.com/search?content_id=240437128&amp;content_type=Article&amp;match_order=1&amp;q=%E6%AC%A0%E5%AE%9A%E6%96%B9%E7%A8%8B%E7%BB%84&amp;zhida_source=entit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C53CF-A584-4B67-B944-0D46DC50D54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>
                <a:solidFill>
                  <a:srgbClr val="002060"/>
                </a:solidFill>
              </a:rPr>
              <a:pPr>
                <a:defRPr/>
              </a:pPr>
              <a:t>2025/4/11</a:t>
            </a:fld>
            <a:endParaRPr lang="zh-CN" altLang="en-US" sz="1800">
              <a:solidFill>
                <a:srgbClr val="00206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8AFA89-A926-463F-9D62-0D5882BAE144}"/>
              </a:ext>
            </a:extLst>
          </p:cNvPr>
          <p:cNvSpPr txBox="1"/>
          <p:nvPr/>
        </p:nvSpPr>
        <p:spPr>
          <a:xfrm>
            <a:off x="813476" y="699042"/>
            <a:ext cx="78488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en-US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MWORKS </a:t>
            </a:r>
            <a:r>
              <a:rPr lang="en-US" altLang="zh-CN" sz="2800" b="1" kern="100" dirty="0" err="1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Syslab</a:t>
            </a:r>
            <a:r>
              <a:rPr lang="en-US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科学计算软件及其应用》</a:t>
            </a:r>
            <a:endParaRPr lang="zh-CN" altLang="zh-CN" sz="28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第</a:t>
            </a:r>
            <a:r>
              <a:rPr lang="zh-CN" altLang="en-US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次上机实验报告</a:t>
            </a:r>
            <a:r>
              <a:rPr lang="en-US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­</a:t>
            </a:r>
            <a:endParaRPr lang="zh-CN" altLang="zh-CN" sz="28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E161AC-E5B0-4F3B-8E67-2E8897A855E2}"/>
              </a:ext>
            </a:extLst>
          </p:cNvPr>
          <p:cNvSpPr txBox="1"/>
          <p:nvPr/>
        </p:nvSpPr>
        <p:spPr>
          <a:xfrm>
            <a:off x="408818" y="1578790"/>
            <a:ext cx="8064896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一、</a:t>
            </a:r>
            <a:r>
              <a:rPr lang="zh-CN" altLang="en-US" sz="2400" b="1" kern="1800" dirty="0">
                <a:solidFill>
                  <a:srgbClr val="002060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上机</a:t>
            </a:r>
            <a:r>
              <a:rPr lang="zh-CN" altLang="zh-CN" sz="2400" b="1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目的：</a:t>
            </a:r>
            <a:endParaRPr lang="zh-CN" altLang="zh-CN" sz="2400" kern="1800" dirty="0">
              <a:solidFill>
                <a:srgbClr val="00206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F55FAE-86B6-4DBF-92A0-463603470FEC}"/>
              </a:ext>
            </a:extLst>
          </p:cNvPr>
          <p:cNvSpPr txBox="1"/>
          <p:nvPr/>
        </p:nvSpPr>
        <p:spPr>
          <a:xfrm>
            <a:off x="408818" y="2189657"/>
            <a:ext cx="8658187" cy="22458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400" b="1" kern="180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pPr marL="342900" lvl="0" indent="-342900" algn="l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学会用</a:t>
            </a:r>
            <a:r>
              <a:rPr lang="en-US" altLang="zh-CN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TyCurveFitting.</a:t>
            </a:r>
            <a:r>
              <a:rPr lang="en-US" altLang="zh-CN" kern="1800" dirty="0" err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fit</a:t>
            </a:r>
            <a:r>
              <a:rPr lang="zh-CN" altLang="zh-CN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进行曲线拟合和</a:t>
            </a:r>
            <a:r>
              <a:rPr lang="en-US" altLang="zh-CN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TyCurveFitting.plotfit</a:t>
            </a:r>
            <a:r>
              <a:rPr lang="zh-CN" altLang="zh-CN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绘图</a:t>
            </a:r>
            <a:endParaRPr lang="zh-CN" altLang="zh-CN" kern="100" dirty="0">
              <a:solidFill>
                <a:srgbClr val="00206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学会用不同方法进行多项式插值</a:t>
            </a:r>
            <a:r>
              <a:rPr lang="en-US" altLang="zh-CN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interp1 </a:t>
            </a:r>
            <a:endParaRPr lang="zh-CN" altLang="zh-CN" kern="100" dirty="0">
              <a:solidFill>
                <a:srgbClr val="00206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kern="18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学会线性方程组的矩阵系数和列向量的建立和方程组求解</a:t>
            </a:r>
            <a:endParaRPr lang="zh-CN" altLang="zh-CN" kern="100" dirty="0">
              <a:solidFill>
                <a:srgbClr val="00206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97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CC7ED64-8E61-43A9-B9B8-6AFBBA6E2417}"/>
              </a:ext>
            </a:extLst>
          </p:cNvPr>
          <p:cNvSpPr txBox="1"/>
          <p:nvPr/>
        </p:nvSpPr>
        <p:spPr>
          <a:xfrm>
            <a:off x="34735" y="714425"/>
            <a:ext cx="768060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TyCurveFitting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.fit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将采样数据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按指定模型</a:t>
            </a:r>
            <a:r>
              <a:rPr lang="en-US" altLang="zh-CN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fitType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进行曲线拟合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4B7978-B251-4BE2-ABCA-514DE32966B4}"/>
              </a:ext>
            </a:extLst>
          </p:cNvPr>
          <p:cNvSpPr txBox="1"/>
          <p:nvPr/>
        </p:nvSpPr>
        <p:spPr>
          <a:xfrm>
            <a:off x="34735" y="1432871"/>
            <a:ext cx="8437101" cy="161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000"/>
              </a:lnSpc>
              <a:buFont typeface="+mj-ea"/>
              <a:buAutoNum type="circleNumDbPlain"/>
            </a:pPr>
            <a:r>
              <a:rPr lang="en-US" altLang="zh-CN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内置模型</a:t>
            </a:r>
            <a:r>
              <a:rPr lang="en-US" altLang="zh-CN" sz="1400" kern="1800" dirty="0" err="1">
                <a:solidFill>
                  <a:srgbClr val="0070C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fitType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或函数表达式用字符串表示</a:t>
            </a:r>
            <a:endParaRPr lang="en-US" altLang="zh-CN" sz="1400" kern="1800" dirty="0">
              <a:solidFill>
                <a:srgbClr val="003B76"/>
              </a:solidFill>
              <a:latin typeface="华文细黑" pitchFamily="2" charset="-122"/>
              <a:ea typeface="华文细黑" pitchFamily="2" charset="-122"/>
            </a:endParaRPr>
          </a:p>
          <a:p>
            <a:pPr marL="342900" indent="-342900">
              <a:lnSpc>
                <a:spcPts val="2000"/>
              </a:lnSpc>
              <a:buFont typeface="+mj-ea"/>
              <a:buAutoNum type="circleNumDbPlain"/>
            </a:pP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 指定模型类型名称构成：“内置类型</a:t>
            </a:r>
            <a:r>
              <a:rPr lang="en-US" altLang="zh-CN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+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模型阶数”，如“</a:t>
            </a:r>
            <a:r>
              <a:rPr lang="en-US" altLang="zh-CN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poly3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” 二次多项式拟合</a:t>
            </a:r>
          </a:p>
          <a:p>
            <a:pPr marL="342900" indent="-342900">
              <a:lnSpc>
                <a:spcPts val="2000"/>
              </a:lnSpc>
              <a:buFont typeface="+mj-ea"/>
              <a:buAutoNum type="circleNumDbPlain"/>
            </a:pP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也可指定数学函数如“</a:t>
            </a:r>
            <a:r>
              <a:rPr lang="en-US" altLang="zh-CN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exp” 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模型，也可用</a:t>
            </a:r>
            <a:r>
              <a:rPr lang="en-US" altLang="zh-CN" sz="1400" kern="1800" dirty="0" err="1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fittype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自定义拟合模型</a:t>
            </a:r>
          </a:p>
          <a:p>
            <a:pPr marL="342900" indent="-342900">
              <a:lnSpc>
                <a:spcPts val="2000"/>
              </a:lnSpc>
              <a:buFont typeface="+mj-ea"/>
              <a:buAutoNum type="circleNumDbPlain"/>
            </a:pPr>
            <a:r>
              <a:rPr lang="en-US" altLang="zh-CN" sz="1400" kern="1800" dirty="0" err="1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fittype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为两位数</a:t>
            </a:r>
            <a:r>
              <a:rPr lang="en-US" altLang="zh-CN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(XX)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次多项式模型，可以输入</a:t>
            </a:r>
            <a:r>
              <a:rPr lang="en-US" altLang="zh-CN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[“</a:t>
            </a:r>
            <a:r>
              <a:rPr lang="en-US" altLang="zh-CN" sz="1400" kern="1800" dirty="0" err="1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poly”,XX</a:t>
            </a:r>
            <a:r>
              <a:rPr lang="en-US" altLang="zh-CN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]	</a:t>
            </a:r>
          </a:p>
          <a:p>
            <a:pPr marL="342900" indent="-342900">
              <a:lnSpc>
                <a:spcPts val="2000"/>
              </a:lnSpc>
              <a:buFont typeface="+mj-ea"/>
              <a:buAutoNum type="circleNumDbPlain"/>
            </a:pP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拟合结果为</a:t>
            </a:r>
            <a:r>
              <a:rPr lang="en-US" altLang="zh-CN" sz="1400" kern="1800" dirty="0" err="1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fitobject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，为结构变量，结构变量的字段</a:t>
            </a:r>
            <a:r>
              <a:rPr lang="en-US" altLang="zh-CN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params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为拟合待定参数，字段</a:t>
            </a:r>
            <a:r>
              <a:rPr lang="en-US" altLang="zh-CN" sz="1400" kern="1800" dirty="0" err="1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s_data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为拟合度，</a:t>
            </a:r>
            <a:endParaRPr lang="en-US" altLang="zh-CN" sz="1400" kern="1800" dirty="0">
              <a:solidFill>
                <a:srgbClr val="003B76"/>
              </a:solidFill>
              <a:latin typeface="华文细黑" pitchFamily="2" charset="-122"/>
              <a:ea typeface="华文细黑" pitchFamily="2" charset="-122"/>
            </a:endParaRPr>
          </a:p>
          <a:p>
            <a:pPr marL="342900" indent="-342900">
              <a:lnSpc>
                <a:spcPts val="2000"/>
              </a:lnSpc>
              <a:buFont typeface="+mj-ea"/>
              <a:buAutoNum type="circleNumDbPlain"/>
            </a:pP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访问为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fitobject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字段名，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例如访问待定参数 </a:t>
            </a:r>
            <a:r>
              <a:rPr lang="en-US" altLang="zh-CN" sz="1400" b="1" kern="1800" dirty="0" err="1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fitobject.params</a:t>
            </a:r>
            <a:r>
              <a:rPr lang="en-US" altLang="zh-CN" sz="1400" b="1" kern="18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  </a:t>
            </a:r>
            <a:r>
              <a:rPr lang="zh-CN" altLang="en-US" sz="1400" kern="1800" dirty="0">
                <a:solidFill>
                  <a:srgbClr val="003B76"/>
                </a:solidFill>
                <a:latin typeface="华文细黑" pitchFamily="2" charset="-122"/>
                <a:ea typeface="华文细黑" pitchFamily="2" charset="-122"/>
              </a:rPr>
              <a:t>或访问拟合度</a:t>
            </a:r>
            <a:r>
              <a:rPr lang="en-US" altLang="zh-CN" sz="1400" b="1" kern="1800" dirty="0" err="1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fitobject.s_data</a:t>
            </a:r>
            <a:endParaRPr lang="zh-CN" altLang="en-US" sz="1400" b="1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  <p:pic>
        <p:nvPicPr>
          <p:cNvPr id="26" name="table">
            <a:extLst>
              <a:ext uri="{FF2B5EF4-FFF2-40B4-BE49-F238E27FC236}">
                <a16:creationId xmlns:a16="http://schemas.microsoft.com/office/drawing/2014/main" id="{8AE1573C-F03F-45B0-A5FA-EE9FA3DEAD5B}"/>
              </a:ext>
            </a:extLst>
          </p:cNvPr>
          <p:cNvPicPr/>
          <p:nvPr/>
        </p:nvPicPr>
        <p:blipFill rotWithShape="1">
          <a:blip r:embed="rId3"/>
          <a:srcRect b="26246"/>
          <a:stretch/>
        </p:blipFill>
        <p:spPr>
          <a:xfrm>
            <a:off x="7067268" y="1467623"/>
            <a:ext cx="1807178" cy="1054726"/>
          </a:xfrm>
          <a:prstGeom prst="rect">
            <a:avLst/>
          </a:prstGeom>
        </p:spPr>
      </p:pic>
      <p:sp>
        <p:nvSpPr>
          <p:cNvPr id="27" name="Text Box 3">
            <a:extLst>
              <a:ext uri="{FF2B5EF4-FFF2-40B4-BE49-F238E27FC236}">
                <a16:creationId xmlns:a16="http://schemas.microsoft.com/office/drawing/2014/main" id="{F43C9304-7DC9-4E0F-835F-1C9343F45B98}"/>
              </a:ext>
            </a:extLst>
          </p:cNvPr>
          <p:cNvSpPr txBox="1"/>
          <p:nvPr/>
        </p:nvSpPr>
        <p:spPr bwMode="auto">
          <a:xfrm>
            <a:off x="95973" y="1107070"/>
            <a:ext cx="5062874" cy="33723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dist" eaLnBrk="0" fontAlgn="base" hangingPunct="0"/>
            <a:r>
              <a:rPr lang="en-US" sz="1400" b="1" kern="1800" dirty="0" err="1">
                <a:solidFill>
                  <a:srgbClr val="FFFF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fitobject</a:t>
            </a:r>
            <a:r>
              <a:rPr lang="en-US" sz="1400" b="1" kern="1200" dirty="0">
                <a:solidFill>
                  <a:srgbClr val="FFFFFF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=</a:t>
            </a:r>
            <a:r>
              <a:rPr lang="en-US" sz="1400" b="1" kern="1800" dirty="0" err="1">
                <a:solidFill>
                  <a:srgbClr val="FFFF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TyCurveFitting</a:t>
            </a:r>
            <a:r>
              <a:rPr lang="en-US" sz="1400" b="1" kern="1800" dirty="0" err="1">
                <a:solidFill>
                  <a:srgbClr val="FFFFFF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sz="1400" b="1" kern="1200" dirty="0" err="1">
                <a:solidFill>
                  <a:srgbClr val="FFFFFF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fit</a:t>
            </a:r>
            <a:r>
              <a:rPr lang="en-US" sz="1400" b="1" kern="1200" dirty="0">
                <a:solidFill>
                  <a:srgbClr val="FFFFFF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(</a:t>
            </a:r>
            <a:r>
              <a:rPr lang="en-US" sz="1400" b="1" kern="1200" dirty="0" err="1">
                <a:solidFill>
                  <a:srgbClr val="FFFFFF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fitType,x,y</a:t>
            </a:r>
            <a:r>
              <a:rPr lang="en-US" sz="1400" b="1" kern="1200" dirty="0">
                <a:solidFill>
                  <a:srgbClr val="FFFFFF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)</a:t>
            </a:r>
            <a:r>
              <a:rPr lang="en-US" sz="1400" b="1" kern="1200" dirty="0">
                <a:solidFill>
                  <a:srgbClr val="FFFFFF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sz="1400" b="1" kern="1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06BA9708-DDB9-48A5-B999-F270943E3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9159" y="3063575"/>
            <a:ext cx="90851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333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拟合结果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fitobject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可视化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TyCurveFitting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plotfit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：将</a:t>
            </a:r>
            <a:r>
              <a:rPr kumimoji="0" lang="en-US" altLang="zh-CN" sz="16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fitobject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采样数据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画一起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809C6CBD-1293-4263-856D-B4ED633EA3FF}"/>
              </a:ext>
            </a:extLst>
          </p:cNvPr>
          <p:cNvSpPr txBox="1"/>
          <p:nvPr/>
        </p:nvSpPr>
        <p:spPr bwMode="auto">
          <a:xfrm>
            <a:off x="4630652" y="3421920"/>
            <a:ext cx="3226879" cy="353285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defPPr>
              <a:defRPr lang="zh-CN"/>
            </a:defPPr>
            <a:lvl1pPr algn="dist" eaLnBrk="0" hangingPunct="0">
              <a:defRPr sz="1400">
                <a:solidFill>
                  <a:srgbClr val="FFFFFF"/>
                </a:solidFill>
                <a:latin typeface="Arial Unicode MS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b="1" dirty="0" err="1"/>
              <a:t>plotfit</a:t>
            </a:r>
            <a:r>
              <a:rPr lang="en-US" b="1" dirty="0"/>
              <a:t>(</a:t>
            </a:r>
            <a:r>
              <a:rPr lang="en-US" b="1" kern="1800" dirty="0" err="1">
                <a:solidFill>
                  <a:srgbClr val="FFFF00"/>
                </a:solidFill>
                <a:latin typeface="+mn-lt"/>
                <a:ea typeface="等线" panose="02010600030101010101" pitchFamily="2" charset="-122"/>
              </a:rPr>
              <a:t>fitobject</a:t>
            </a:r>
            <a:r>
              <a:rPr lang="en-US" b="1" dirty="0" err="1"/>
              <a:t>,x,y,fmt</a:t>
            </a:r>
            <a:r>
              <a:rPr lang="en-US" b="1" dirty="0"/>
              <a:t>) 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4253285" y="3426554"/>
            <a:ext cx="334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rial Unicode MS"/>
                <a:ea typeface="source-code-pro"/>
                <a:cs typeface="Times New Roman" panose="02020603050405020304" pitchFamily="18" charset="0"/>
              </a:rPr>
              <a:t>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809C6CBD-1293-4263-856D-B4ED633EA3FF}"/>
              </a:ext>
            </a:extLst>
          </p:cNvPr>
          <p:cNvSpPr txBox="1"/>
          <p:nvPr/>
        </p:nvSpPr>
        <p:spPr bwMode="auto">
          <a:xfrm>
            <a:off x="81696" y="3427741"/>
            <a:ext cx="4163572" cy="33723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defPPr>
              <a:defRPr lang="zh-CN"/>
            </a:defPPr>
            <a:lvl1pPr algn="dist" eaLnBrk="0" hangingPunct="0">
              <a:defRPr b="1">
                <a:solidFill>
                  <a:srgbClr val="FFFFFF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kern="1800" dirty="0" err="1">
                <a:solidFill>
                  <a:srgbClr val="FFFF00"/>
                </a:solidFill>
                <a:ea typeface="等线" panose="02010600030101010101" pitchFamily="2" charset="-122"/>
              </a:rPr>
              <a:t>TyCurveFitting</a:t>
            </a:r>
            <a:r>
              <a:rPr lang="en-US" altLang="zh-CN" sz="1400" kern="1800" dirty="0" err="1">
                <a:ea typeface="等线" panose="02010600030101010101" pitchFamily="2" charset="-122"/>
              </a:rPr>
              <a:t>.</a:t>
            </a:r>
            <a:r>
              <a:rPr lang="en-US" sz="1400" dirty="0" err="1"/>
              <a:t>plotfit</a:t>
            </a:r>
            <a:r>
              <a:rPr lang="en-US" sz="1400" dirty="0"/>
              <a:t>(</a:t>
            </a:r>
            <a:r>
              <a:rPr lang="en-US" sz="1400" dirty="0" err="1"/>
              <a:t>fitobjec,x,y,fmt</a:t>
            </a:r>
            <a:r>
              <a:rPr lang="en-US" sz="1400" dirty="0"/>
              <a:t>) </a:t>
            </a:r>
            <a:endParaRPr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70D69DF-5A5B-4CD8-A930-7AD543282999}"/>
              </a:ext>
            </a:extLst>
          </p:cNvPr>
          <p:cNvSpPr txBox="1"/>
          <p:nvPr/>
        </p:nvSpPr>
        <p:spPr>
          <a:xfrm>
            <a:off x="7789459" y="3429474"/>
            <a:ext cx="14630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x,y,fmt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可缺省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en-US" sz="1400" dirty="0"/>
          </a:p>
        </p:txBody>
      </p:sp>
      <p:sp>
        <p:nvSpPr>
          <p:cNvPr id="29" name="Text Box 3">
            <a:extLst>
              <a:ext uri="{FF2B5EF4-FFF2-40B4-BE49-F238E27FC236}">
                <a16:creationId xmlns:a16="http://schemas.microsoft.com/office/drawing/2014/main" id="{1F71A41A-0745-4BD1-AC27-1E44E57B5645}"/>
              </a:ext>
            </a:extLst>
          </p:cNvPr>
          <p:cNvSpPr txBox="1"/>
          <p:nvPr/>
        </p:nvSpPr>
        <p:spPr bwMode="auto">
          <a:xfrm>
            <a:off x="5817309" y="1080513"/>
            <a:ext cx="3118658" cy="333185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defPPr>
              <a:defRPr lang="zh-CN"/>
            </a:defPPr>
            <a:lvl1pPr algn="dist" eaLnBrk="0" hangingPunct="0">
              <a:defRPr b="1">
                <a:solidFill>
                  <a:srgbClr val="FFFFFF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sz="1400" dirty="0" err="1"/>
              <a:t>fitobject</a:t>
            </a:r>
            <a:r>
              <a:rPr lang="en-US" sz="1400" dirty="0"/>
              <a:t>=fit(</a:t>
            </a:r>
            <a:r>
              <a:rPr lang="en-US" sz="1400" dirty="0" err="1"/>
              <a:t>fitType,x,y</a:t>
            </a:r>
            <a:r>
              <a:rPr lang="en-US" sz="1400" dirty="0"/>
              <a:t>) </a:t>
            </a:r>
            <a:endParaRPr lang="zh-CN" altLang="en-US" sz="14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8331EA-A755-44F9-A19E-3B999073AE90}"/>
              </a:ext>
            </a:extLst>
          </p:cNvPr>
          <p:cNvSpPr/>
          <p:nvPr/>
        </p:nvSpPr>
        <p:spPr>
          <a:xfrm>
            <a:off x="5158847" y="1083203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Arial Unicode MS"/>
                <a:ea typeface="source-code-pro"/>
                <a:cs typeface="Times New Roman" panose="02020603050405020304" pitchFamily="18" charset="0"/>
              </a:rPr>
              <a:t>或者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942EFE3-358B-4994-8A3A-B700D3816F46}"/>
              </a:ext>
            </a:extLst>
          </p:cNvPr>
          <p:cNvSpPr txBox="1"/>
          <p:nvPr/>
        </p:nvSpPr>
        <p:spPr>
          <a:xfrm>
            <a:off x="0" y="3842161"/>
            <a:ext cx="4681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buFont typeface="+mj-ea"/>
              <a:buNone/>
              <a:defRPr sz="1600" b="1">
                <a:solidFill>
                  <a:srgbClr val="00B0F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(3) </a:t>
            </a:r>
            <a:r>
              <a:rPr lang="zh-CN" altLang="en-US" dirty="0"/>
              <a:t>绘制数据范围内的置信区间图</a:t>
            </a:r>
          </a:p>
        </p:txBody>
      </p:sp>
      <p:sp>
        <p:nvSpPr>
          <p:cNvPr id="33" name="Text Box 3">
            <a:extLst>
              <a:ext uri="{FF2B5EF4-FFF2-40B4-BE49-F238E27FC236}">
                <a16:creationId xmlns:a16="http://schemas.microsoft.com/office/drawing/2014/main" id="{B244F745-24B2-4C55-AC33-8D5506D7BE30}"/>
              </a:ext>
            </a:extLst>
          </p:cNvPr>
          <p:cNvSpPr txBox="1"/>
          <p:nvPr/>
        </p:nvSpPr>
        <p:spPr bwMode="auto">
          <a:xfrm>
            <a:off x="3236927" y="3864134"/>
            <a:ext cx="2700744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defRPr kumimoji="0" sz="2000" b="0" i="0" u="none" strike="noStrike" kern="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 err="1"/>
              <a:t>plotfit</a:t>
            </a:r>
            <a:r>
              <a:rPr lang="en-US" altLang="zh-CN" sz="1400" dirty="0"/>
              <a:t>(</a:t>
            </a:r>
            <a:r>
              <a:rPr lang="zh-CN" altLang="zh-CN" sz="1400" dirty="0"/>
              <a:t>fitobject</a:t>
            </a:r>
            <a:r>
              <a:rPr lang="en-US" altLang="zh-CN" sz="1400" dirty="0"/>
              <a:t>,x</a:t>
            </a:r>
            <a:r>
              <a:rPr lang="zh-CN" altLang="en-US" sz="1400" dirty="0"/>
              <a:t>，</a:t>
            </a:r>
            <a:r>
              <a:rPr lang="en-US" altLang="zh-CN" sz="1400" dirty="0"/>
              <a:t>y</a:t>
            </a:r>
            <a:r>
              <a:rPr lang="zh-CN" altLang="en-US" sz="1400" dirty="0"/>
              <a:t>，</a:t>
            </a:r>
            <a:r>
              <a:rPr lang="zh-CN" altLang="zh-CN" sz="1400" dirty="0">
                <a:highlight>
                  <a:srgbClr val="FF0000"/>
                </a:highlight>
              </a:rPr>
              <a:t>“</a:t>
            </a:r>
            <a:r>
              <a:rPr lang="en-US" altLang="zh-CN" sz="1400" dirty="0" err="1">
                <a:highlight>
                  <a:srgbClr val="FF0000"/>
                </a:highlight>
              </a:rPr>
              <a:t>predfun</a:t>
            </a:r>
            <a:r>
              <a:rPr lang="zh-CN" altLang="zh-CN" sz="1400" dirty="0">
                <a:highlight>
                  <a:srgbClr val="FF0000"/>
                </a:highlight>
              </a:rPr>
              <a:t>"</a:t>
            </a:r>
            <a:r>
              <a:rPr lang="en-US" altLang="zh-CN" sz="1400" dirty="0">
                <a:highlight>
                  <a:srgbClr val="FF0000"/>
                </a:highlight>
              </a:rPr>
              <a:t>)</a:t>
            </a:r>
            <a:endParaRPr lang="zh-CN" altLang="zh-CN" sz="1400" dirty="0">
              <a:highlight>
                <a:srgbClr val="FF0000"/>
              </a:highlight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195185F-AB56-47A6-B293-6017023E94FF}"/>
              </a:ext>
            </a:extLst>
          </p:cNvPr>
          <p:cNvSpPr txBox="1"/>
          <p:nvPr/>
        </p:nvSpPr>
        <p:spPr>
          <a:xfrm>
            <a:off x="683568" y="1498"/>
            <a:ext cx="8352928" cy="5754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——1.fit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人口曲线拟合案例</a:t>
            </a:r>
            <a:endParaRPr lang="zh-CN" altLang="zh-CN" sz="24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88B3089-10FE-4316-B2DE-5EC2A7E347AF}"/>
              </a:ext>
            </a:extLst>
          </p:cNvPr>
          <p:cNvSpPr txBox="1"/>
          <p:nvPr/>
        </p:nvSpPr>
        <p:spPr>
          <a:xfrm>
            <a:off x="-6099" y="4231638"/>
            <a:ext cx="527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+mj-ea"/>
              <a:buAutoNum type="circleNumDbPlain" startAt="3"/>
              <a:defRPr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en-US" altLang="zh-CN" sz="1600" b="1" kern="1200" dirty="0">
                <a:solidFill>
                  <a:srgbClr val="00B0F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en-US" sz="1600" b="1" kern="1200" dirty="0">
                <a:solidFill>
                  <a:srgbClr val="00B0F0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绘制数据范围外                                  </a:t>
            </a:r>
            <a:r>
              <a:rPr lang="zh-CN" altLang="en-US" dirty="0"/>
              <a:t>置信区间图</a:t>
            </a:r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53A3F0D6-1E0E-4FAB-8973-45589B9D4BCA}"/>
              </a:ext>
            </a:extLst>
          </p:cNvPr>
          <p:cNvSpPr txBox="1"/>
          <p:nvPr/>
        </p:nvSpPr>
        <p:spPr bwMode="auto">
          <a:xfrm>
            <a:off x="1833566" y="4235699"/>
            <a:ext cx="1794947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defRPr kumimoji="0" sz="2000" b="0" i="0" u="none" strike="noStrike" kern="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 err="1">
                <a:highlight>
                  <a:srgbClr val="003B76"/>
                </a:highlight>
              </a:rPr>
              <a:t>xlim</a:t>
            </a:r>
            <a:r>
              <a:rPr lang="en-US" altLang="zh-CN" sz="1600" dirty="0">
                <a:highlight>
                  <a:srgbClr val="003B76"/>
                </a:highlight>
              </a:rPr>
              <a:t>([</a:t>
            </a:r>
            <a:r>
              <a:rPr lang="en-US" altLang="zh-CN" sz="1600" dirty="0" err="1">
                <a:highlight>
                  <a:srgbClr val="003B76"/>
                </a:highlight>
              </a:rPr>
              <a:t>xmin,xmax</a:t>
            </a:r>
            <a:r>
              <a:rPr lang="en-US" altLang="zh-CN" sz="1600" dirty="0">
                <a:highlight>
                  <a:srgbClr val="003B76"/>
                </a:highlight>
              </a:rPr>
              <a:t>])</a:t>
            </a:r>
            <a:endParaRPr lang="zh-CN" altLang="zh-CN" sz="1600" dirty="0">
              <a:highlight>
                <a:srgbClr val="003B76"/>
              </a:highlight>
            </a:endParaRP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DBF7EE7E-ACD8-4358-8248-D9E424FEEDD4}"/>
              </a:ext>
            </a:extLst>
          </p:cNvPr>
          <p:cNvSpPr txBox="1"/>
          <p:nvPr/>
        </p:nvSpPr>
        <p:spPr bwMode="auto">
          <a:xfrm>
            <a:off x="4950769" y="4231638"/>
            <a:ext cx="242586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defRPr kumimoji="0" sz="2000" b="0" i="0" u="none" strike="noStrike" kern="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 err="1"/>
              <a:t>plotfit</a:t>
            </a:r>
            <a:r>
              <a:rPr lang="en-US" altLang="zh-CN" sz="1600" dirty="0"/>
              <a:t>(</a:t>
            </a:r>
            <a:r>
              <a:rPr lang="zh-CN" altLang="zh-CN" sz="1600" dirty="0"/>
              <a:t>fitobject</a:t>
            </a:r>
            <a:r>
              <a:rPr lang="en-US" altLang="zh-CN" sz="1600" dirty="0"/>
              <a:t>,</a:t>
            </a:r>
            <a:r>
              <a:rPr lang="zh-CN" altLang="zh-CN" sz="1600" dirty="0">
                <a:highlight>
                  <a:srgbClr val="FF0000"/>
                </a:highlight>
              </a:rPr>
              <a:t>“</a:t>
            </a:r>
            <a:r>
              <a:rPr lang="en-US" altLang="zh-CN" sz="1600" dirty="0" err="1">
                <a:highlight>
                  <a:srgbClr val="FF0000"/>
                </a:highlight>
              </a:rPr>
              <a:t>predfun</a:t>
            </a:r>
            <a:r>
              <a:rPr lang="zh-CN" altLang="zh-CN" sz="1600" dirty="0">
                <a:highlight>
                  <a:srgbClr val="FF0000"/>
                </a:highlight>
              </a:rPr>
              <a:t>"</a:t>
            </a:r>
            <a:r>
              <a:rPr lang="en-US" altLang="zh-CN" sz="1600" dirty="0">
                <a:highlight>
                  <a:srgbClr val="FF0000"/>
                </a:highlight>
              </a:rPr>
              <a:t>)</a:t>
            </a:r>
            <a:endParaRPr lang="zh-CN" altLang="zh-CN" sz="1600" dirty="0">
              <a:highlight>
                <a:srgbClr val="FF0000"/>
              </a:highlight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4490A4E-F4BE-4F79-A5E6-D3E67B4973BB}"/>
              </a:ext>
            </a:extLst>
          </p:cNvPr>
          <p:cNvSpPr txBox="1"/>
          <p:nvPr/>
        </p:nvSpPr>
        <p:spPr>
          <a:xfrm>
            <a:off x="7367503" y="3802550"/>
            <a:ext cx="17764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需散点图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scatter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上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hold(“on”)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叠加置信区间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95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2" grpId="0"/>
      <p:bldP spid="15" grpId="0" animBg="1"/>
      <p:bldP spid="23" grpId="0"/>
      <p:bldP spid="32" grpId="0" animBg="1"/>
      <p:bldP spid="33" grpId="0" animBg="1"/>
      <p:bldP spid="19" grpId="0"/>
      <p:bldP spid="20" grpId="0" animBg="1"/>
      <p:bldP spid="21" grpId="0" animBg="1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724575D-48BF-4CA1-B7F4-4D6164D0B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4" y="699542"/>
            <a:ext cx="9037478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dist" eaLnBrk="0" hangingPunct="0"/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fit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根据美国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1900 ~1990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年每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年人口普查数据进行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exp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拟合，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plotfit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绘制拟合曲线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7" name="table">
            <a:extLst>
              <a:ext uri="{FF2B5EF4-FFF2-40B4-BE49-F238E27FC236}">
                <a16:creationId xmlns:a16="http://schemas.microsoft.com/office/drawing/2014/main" id="{F4A22296-1BF9-4B63-B240-670C42E8B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19" y="1046378"/>
            <a:ext cx="8569899" cy="58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93454" y="1486109"/>
            <a:ext cx="9289979" cy="3455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spcAft>
                <a:spcPts val="0"/>
              </a:spcAft>
            </a:pPr>
            <a:r>
              <a:rPr lang="en-US" altLang="zh-CN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fit</a:t>
            </a:r>
            <a:r>
              <a:rPr lang="zh-CN" altLang="zh-CN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拟合</a:t>
            </a:r>
            <a:r>
              <a:rPr lang="zh-CN" altLang="en-US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人口</a:t>
            </a:r>
            <a:r>
              <a:rPr lang="zh-CN" altLang="zh-CN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为</a:t>
            </a:r>
            <a:r>
              <a:rPr lang="zh-CN" altLang="en-US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指数</a:t>
            </a:r>
            <a:r>
              <a:rPr lang="en-US" altLang="zh-CN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exp</a:t>
            </a:r>
            <a:r>
              <a:rPr lang="zh-CN" altLang="en-US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形式</a:t>
            </a:r>
            <a:r>
              <a:rPr lang="zh-CN" altLang="zh-CN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，并</a:t>
            </a:r>
            <a:r>
              <a:rPr lang="en-US" altLang="zh-CN" sz="1600" b="1" kern="100" dirty="0" err="1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plotfit</a:t>
            </a:r>
            <a:r>
              <a:rPr lang="zh-CN" altLang="zh-CN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绘制拟合的</a:t>
            </a:r>
            <a:r>
              <a:rPr lang="zh-CN" altLang="en-US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人口</a:t>
            </a:r>
            <a:r>
              <a:rPr lang="zh-CN" altLang="zh-CN" sz="1600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曲线在散点图上</a:t>
            </a:r>
            <a:endParaRPr lang="zh-CN" altLang="zh-CN" sz="1600" kern="100" dirty="0">
              <a:solidFill>
                <a:srgbClr val="FF0000"/>
              </a:solidFill>
              <a:latin typeface="Calibri"/>
              <a:ea typeface="宋体"/>
              <a:cs typeface="Times New Roman"/>
            </a:endParaRPr>
          </a:p>
          <a:p>
            <a:pPr marL="342900" marR="266700" lvl="0" indent="-342900">
              <a:lnSpc>
                <a:spcPct val="125000"/>
              </a:lnSpc>
              <a:spcAft>
                <a:spcPts val="0"/>
              </a:spcAft>
              <a:buFont typeface="+mj-lt"/>
              <a:buAutoNum type="arabicParenR"/>
            </a:pP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分别建立时间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t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和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人口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向量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x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，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scatter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绘制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t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和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x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的散点图，用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hold 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的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on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模式叠加拟合曲线</a:t>
            </a:r>
            <a:endParaRPr lang="en-US" altLang="zh-CN" sz="1600" kern="100" dirty="0">
              <a:solidFill>
                <a:srgbClr val="0070C0"/>
              </a:solidFill>
              <a:latin typeface="Times New Roman"/>
              <a:ea typeface="宋体"/>
              <a:cs typeface="Times New Roman"/>
            </a:endParaRPr>
          </a:p>
          <a:p>
            <a:pPr marL="342900" marR="266700" lvl="0" indent="-342900">
              <a:lnSpc>
                <a:spcPct val="125000"/>
              </a:lnSpc>
              <a:spcAft>
                <a:spcPts val="0"/>
              </a:spcAft>
              <a:buFont typeface="+mj-lt"/>
              <a:buAutoNum type="arabicParenR"/>
            </a:pP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用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fit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的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” exp”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拟合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人口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x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与时间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t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关系式，并提供拟合结果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ffun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  </a:t>
            </a:r>
            <a:endParaRPr lang="zh-CN" altLang="zh-CN" sz="1600" kern="100" dirty="0">
              <a:latin typeface="Calibri"/>
              <a:ea typeface="宋体"/>
              <a:cs typeface="Times New Roman"/>
            </a:endParaRPr>
          </a:p>
          <a:p>
            <a:pPr marL="342900" marR="266700" lvl="0" indent="-342900" algn="just">
              <a:lnSpc>
                <a:spcPct val="125000"/>
              </a:lnSpc>
              <a:spcAft>
                <a:spcPts val="0"/>
              </a:spcAft>
              <a:buFont typeface="+mj-lt"/>
              <a:buAutoNum type="arabicParenR"/>
            </a:pP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根据拟合结果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ffun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 ,  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ffun.s_data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访问并提供拟合度，判断拟合好坏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 </a:t>
            </a:r>
            <a:endParaRPr lang="zh-CN" altLang="zh-CN" sz="1600" kern="100" dirty="0">
              <a:latin typeface="Calibri"/>
              <a:ea typeface="宋体"/>
              <a:cs typeface="Times New Roman"/>
            </a:endParaRPr>
          </a:p>
          <a:p>
            <a:pPr marL="342900" marR="266700" lvl="0" indent="-342900">
              <a:lnSpc>
                <a:spcPct val="125000"/>
              </a:lnSpc>
              <a:spcAft>
                <a:spcPts val="0"/>
              </a:spcAft>
              <a:buFont typeface="+mj-lt"/>
              <a:buAutoNum type="arabicParenR"/>
            </a:pP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用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plotfit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在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散点图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上叠加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【1900,2030】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人口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拟合曲线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 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及其置信区间</a:t>
            </a:r>
            <a:endParaRPr lang="zh-CN" altLang="zh-CN" sz="1600" kern="100" dirty="0">
              <a:solidFill>
                <a:srgbClr val="0070C0"/>
              </a:solidFill>
              <a:latin typeface="Calibri"/>
              <a:ea typeface="宋体"/>
              <a:cs typeface="Times New Roman"/>
            </a:endParaRPr>
          </a:p>
          <a:p>
            <a:pPr marL="342900" marR="266700" indent="-342900">
              <a:lnSpc>
                <a:spcPct val="125000"/>
              </a:lnSpc>
              <a:spcAft>
                <a:spcPts val="0"/>
              </a:spcAft>
              <a:buFont typeface="+mj-lt"/>
              <a:buAutoNum type="arabicParenR"/>
            </a:pP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用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xlabel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和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ylabel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标注横纵坐标根</a:t>
            </a:r>
            <a:endParaRPr lang="en-US" altLang="zh-CN" sz="1600" kern="100" dirty="0">
              <a:solidFill>
                <a:srgbClr val="0070C0"/>
              </a:solidFill>
              <a:latin typeface="Times New Roman"/>
              <a:ea typeface="宋体"/>
              <a:cs typeface="Times New Roman"/>
            </a:endParaRPr>
          </a:p>
          <a:p>
            <a:pPr marL="342900" marR="266700" indent="-342900">
              <a:lnSpc>
                <a:spcPct val="125000"/>
              </a:lnSpc>
              <a:spcAft>
                <a:spcPts val="0"/>
              </a:spcAft>
              <a:buFont typeface="+mj-lt"/>
              <a:buAutoNum type="arabicParenR"/>
            </a:pP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用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ffun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(t)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预测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t=2030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年的美国人口数</a:t>
            </a:r>
            <a:endParaRPr lang="en-US" altLang="zh-CN" sz="1600" kern="100" dirty="0">
              <a:solidFill>
                <a:srgbClr val="0070C0"/>
              </a:solidFill>
              <a:latin typeface="Times New Roman"/>
              <a:ea typeface="宋体"/>
              <a:cs typeface="Times New Roman"/>
            </a:endParaRPr>
          </a:p>
          <a:p>
            <a:pPr marL="342900" marR="266700" indent="-342900">
              <a:lnSpc>
                <a:spcPct val="125000"/>
              </a:lnSpc>
              <a:spcAft>
                <a:spcPts val="0"/>
              </a:spcAft>
              <a:buFont typeface="+mj-lt"/>
              <a:buAutoNum type="arabicParenR"/>
            </a:pP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根据拟合结果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ffun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 ,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访问待定参数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p=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ffun.params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,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用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println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打印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p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结果</a:t>
            </a:r>
            <a:endParaRPr lang="en-US" altLang="zh-CN" sz="1600" kern="100" dirty="0">
              <a:solidFill>
                <a:srgbClr val="0070C0"/>
              </a:solidFill>
              <a:latin typeface="Times New Roman"/>
              <a:ea typeface="宋体"/>
              <a:cs typeface="Times New Roman"/>
            </a:endParaRPr>
          </a:p>
          <a:p>
            <a:pPr marL="342900" marR="266700" indent="-342900">
              <a:lnSpc>
                <a:spcPct val="125000"/>
              </a:lnSpc>
              <a:spcAft>
                <a:spcPts val="0"/>
              </a:spcAft>
              <a:buFont typeface="+mj-lt"/>
              <a:buAutoNum type="arabicParenR"/>
            </a:pP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根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据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待定参数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p 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，列出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人口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x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与时间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t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的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函数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表达式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xx=f(t)  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，</a:t>
            </a:r>
            <a:endParaRPr lang="en-US" altLang="zh-CN" sz="1600" kern="100" dirty="0">
              <a:solidFill>
                <a:srgbClr val="0070C0"/>
              </a:solidFill>
              <a:latin typeface="Times New Roman"/>
              <a:ea typeface="宋体"/>
              <a:cs typeface="Times New Roman"/>
            </a:endParaRPr>
          </a:p>
          <a:p>
            <a:pPr marL="342900" marR="266700" indent="-342900">
              <a:lnSpc>
                <a:spcPct val="125000"/>
              </a:lnSpc>
              <a:spcAft>
                <a:spcPts val="0"/>
              </a:spcAft>
              <a:buFont typeface="+mj-lt"/>
              <a:buAutoNum type="arabicParenR"/>
            </a:pP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figure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打开新图窗，用</a:t>
            </a:r>
            <a:r>
              <a:rPr lang="en-US" altLang="zh-CN" sz="16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fplot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绘制函数</a:t>
            </a:r>
            <a:r>
              <a:rPr lang="zh-CN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表达式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xx=f(t)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在</a:t>
            </a:r>
            <a:r>
              <a:rPr lang="en-US" altLang="zh-CN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【1900,2030】</a:t>
            </a:r>
            <a:r>
              <a:rPr lang="zh-CN" altLang="en-US" sz="16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期间人口数量</a:t>
            </a:r>
            <a:endParaRPr lang="zh-CN" altLang="zh-CN" sz="1600" kern="100" dirty="0">
              <a:latin typeface="Calibri"/>
              <a:ea typeface="宋体"/>
              <a:cs typeface="Times New Roman"/>
            </a:endParaRPr>
          </a:p>
          <a:p>
            <a:pPr marL="342900" marR="266700" lvl="0" indent="-342900">
              <a:lnSpc>
                <a:spcPct val="125000"/>
              </a:lnSpc>
              <a:spcAft>
                <a:spcPts val="0"/>
              </a:spcAft>
              <a:buFont typeface="+mj-lt"/>
              <a:buAutoNum type="arabicParenR"/>
            </a:pPr>
            <a:endParaRPr lang="zh-CN" altLang="zh-CN" sz="1600" kern="100" dirty="0">
              <a:solidFill>
                <a:srgbClr val="0070C0"/>
              </a:solidFill>
              <a:latin typeface="Calibri"/>
              <a:ea typeface="宋体"/>
              <a:cs typeface="Times New Roman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35C630-C0D4-4E48-A223-68309FAE06B2}"/>
              </a:ext>
            </a:extLst>
          </p:cNvPr>
          <p:cNvSpPr txBox="1"/>
          <p:nvPr/>
        </p:nvSpPr>
        <p:spPr>
          <a:xfrm>
            <a:off x="8532440" y="1314003"/>
            <a:ext cx="735389" cy="28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百万人</a:t>
            </a:r>
            <a:endParaRPr lang="ko-KR" altLang="en-US" sz="1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7EEC2F-E1FD-4DF9-9BC2-8A951C8B2A2D}"/>
              </a:ext>
            </a:extLst>
          </p:cNvPr>
          <p:cNvSpPr txBox="1"/>
          <p:nvPr/>
        </p:nvSpPr>
        <p:spPr>
          <a:xfrm>
            <a:off x="8532439" y="1059582"/>
            <a:ext cx="735389" cy="28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ko-KR" altLang="en-US" sz="1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940CF8-69B2-41FB-AF88-93E6B1304D03}"/>
              </a:ext>
            </a:extLst>
          </p:cNvPr>
          <p:cNvSpPr txBox="1"/>
          <p:nvPr/>
        </p:nvSpPr>
        <p:spPr>
          <a:xfrm>
            <a:off x="683568" y="1498"/>
            <a:ext cx="8352928" cy="5754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——1.fit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人口曲线拟合案例</a:t>
            </a:r>
            <a:endParaRPr lang="zh-CN" altLang="zh-CN" sz="24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7495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">
            <a:extLst>
              <a:ext uri="{FF2B5EF4-FFF2-40B4-BE49-F238E27FC236}">
                <a16:creationId xmlns:a16="http://schemas.microsoft.com/office/drawing/2014/main" id="{4FCF0D7C-5CE3-4BA7-BB50-02C85B511165}"/>
              </a:ext>
            </a:extLst>
          </p:cNvPr>
          <p:cNvSpPr txBox="1"/>
          <p:nvPr/>
        </p:nvSpPr>
        <p:spPr>
          <a:xfrm>
            <a:off x="827110" y="-111"/>
            <a:ext cx="7489779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参考案例</a:t>
            </a:r>
            <a:r>
              <a:rPr lang="en-US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——1.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人口曲线拟合代码</a:t>
            </a:r>
            <a:endParaRPr lang="zh-CN" altLang="zh-CN" sz="2400" b="1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20E853-8263-4504-A96A-DB60A498AAB3}"/>
              </a:ext>
            </a:extLst>
          </p:cNvPr>
          <p:cNvSpPr txBox="1"/>
          <p:nvPr/>
        </p:nvSpPr>
        <p:spPr>
          <a:xfrm>
            <a:off x="323528" y="49481"/>
            <a:ext cx="8352928" cy="5754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——1.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人口曲线拟合案例代码</a:t>
            </a:r>
            <a:endParaRPr lang="zh-CN" altLang="zh-CN" sz="24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49F9D1-F38C-47DD-ADBC-83236ECEA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521" y="1566471"/>
            <a:ext cx="2164951" cy="16244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773C40-1E2E-46FC-9DE3-A195B92A3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605" y="3466462"/>
            <a:ext cx="2203149" cy="162440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CD59268-AD00-4D49-8C52-719A6A305887}"/>
              </a:ext>
            </a:extLst>
          </p:cNvPr>
          <p:cNvSpPr txBox="1"/>
          <p:nvPr/>
        </p:nvSpPr>
        <p:spPr>
          <a:xfrm>
            <a:off x="26224" y="654662"/>
            <a:ext cx="9020420" cy="44525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1900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1990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1900-1990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年步长为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轴年份数据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75.99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91.97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105.71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123.20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131.66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150.69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179.32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203.21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226.50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249.63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0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scatter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t,x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散点图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ffun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TyCurveFitting.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"exp"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t,x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#fit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拟合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x=a*exp(b*t)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曲线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r2=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ffun.s_data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访问拟合度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"r2=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$r2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xlim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1900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采样数据范围外预测范围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hold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</a:pP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TyCurveFitting.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plotfit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ffun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predfun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绘制数据范围外的置信区间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时间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t,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年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人口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x,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百万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y2030=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ffun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预测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2030</a:t>
            </a:r>
            <a:r>
              <a:rPr lang="zh-CN" alt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年人口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424.1553105960929</a:t>
            </a:r>
            <a:endParaRPr lang="zh-CN" alt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p=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ffun.params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结果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p=[81.3971, 0.0127]</a:t>
            </a:r>
          </a:p>
          <a:p>
            <a:pPr>
              <a:lnSpc>
                <a:spcPts val="20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"p=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$p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0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(t)=p[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]*t)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根据待定参数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建立人口关于时间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的函数表达式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yr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=f(t)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打开新图窗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1900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绘制人口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yr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关于时间的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yr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=f(t)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801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7952616-4E8A-4BB9-9E34-373AB3FD8A76}"/>
              </a:ext>
            </a:extLst>
          </p:cNvPr>
          <p:cNvSpPr txBox="1"/>
          <p:nvPr/>
        </p:nvSpPr>
        <p:spPr>
          <a:xfrm>
            <a:off x="193114" y="4305215"/>
            <a:ext cx="4669703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</a:rPr>
              <a:t>拟合超过</a:t>
            </a:r>
            <a:r>
              <a:rPr lang="en-US" altLang="zh-CN" sz="1600" dirty="0">
                <a:solidFill>
                  <a:srgbClr val="00B0F0"/>
                </a:solidFill>
              </a:rPr>
              <a:t>90%</a:t>
            </a:r>
            <a:r>
              <a:rPr lang="zh-CN" altLang="en-US" sz="1600" dirty="0">
                <a:solidFill>
                  <a:srgbClr val="00B0F0"/>
                </a:solidFill>
              </a:rPr>
              <a:t>，拟合效果不错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70447E-FAC5-48F1-85DB-C3AEF4678079}"/>
              </a:ext>
            </a:extLst>
          </p:cNvPr>
          <p:cNvSpPr txBox="1"/>
          <p:nvPr/>
        </p:nvSpPr>
        <p:spPr>
          <a:xfrm>
            <a:off x="179512" y="669008"/>
            <a:ext cx="5832648" cy="206210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</a:rPr>
              <a:t>julia&gt; ffun=fit("exp",t,x) #fit拟合</a:t>
            </a:r>
            <a:r>
              <a:rPr lang="en-US" altLang="zh-CN" sz="1600" dirty="0">
                <a:solidFill>
                  <a:srgbClr val="00B0F0"/>
                </a:solidFill>
              </a:rPr>
              <a:t>exp</a:t>
            </a:r>
            <a:endParaRPr lang="zh-CN" altLang="en-US" sz="1600" dirty="0">
              <a:solidFill>
                <a:srgbClr val="00B0F0"/>
              </a:solidFill>
            </a:endParaRPr>
          </a:p>
          <a:p>
            <a:r>
              <a:rPr lang="zh-CN" altLang="en-US" sz="1600" dirty="0"/>
              <a:t>General model exp:</a:t>
            </a:r>
          </a:p>
          <a:p>
            <a:r>
              <a:rPr lang="zh-CN" altLang="en-US" sz="1600" dirty="0"/>
              <a:t>y(a,b,x) = a*exp(b*x)</a:t>
            </a:r>
          </a:p>
          <a:p>
            <a:r>
              <a:rPr lang="zh-CN" altLang="en-US" sz="1600" dirty="0"/>
              <a:t>拟合参数与信赖区间（0.95）</a:t>
            </a:r>
          </a:p>
          <a:p>
            <a:r>
              <a:rPr lang="zh-CN" altLang="en-US" sz="1600" dirty="0"/>
              <a:t>a = 81.39708182920307   (76.98452734735633, 85.80963631104981)</a:t>
            </a:r>
          </a:p>
          <a:p>
            <a:r>
              <a:rPr lang="zh-CN" altLang="en-US" sz="1600" dirty="0"/>
              <a:t>b = 0.012698167099193589  (0.011907925055839453, 0.013488409142547725)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2FB4C09-620F-4E00-BB2E-DB4E0FF67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330" y="1983198"/>
            <a:ext cx="3507416" cy="258941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70132D8-CF00-46AC-88F0-377159111831}"/>
              </a:ext>
            </a:extLst>
          </p:cNvPr>
          <p:cNvSpPr txBox="1"/>
          <p:nvPr/>
        </p:nvSpPr>
        <p:spPr>
          <a:xfrm>
            <a:off x="5162088" y="3839107"/>
            <a:ext cx="3662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julia&gt; </a:t>
            </a:r>
            <a:r>
              <a:rPr lang="en-US" altLang="zh-CN" b="1" dirty="0" err="1">
                <a:solidFill>
                  <a:srgbClr val="FF0000"/>
                </a:solidFill>
              </a:rPr>
              <a:t>ylim</a:t>
            </a:r>
            <a:r>
              <a:rPr lang="en-US" altLang="zh-CN" b="1" dirty="0">
                <a:solidFill>
                  <a:srgbClr val="FF0000"/>
                </a:solidFill>
              </a:rPr>
              <a:t>([0,3])</a:t>
            </a:r>
            <a:r>
              <a:rPr lang="zh-CN" altLang="en-US" b="1" dirty="0">
                <a:solidFill>
                  <a:srgbClr val="FF0000"/>
                </a:solidFill>
              </a:rPr>
              <a:t>#改变y轴的范围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9D42CB-14B6-4E36-89F4-71F924AB1246}"/>
              </a:ext>
            </a:extLst>
          </p:cNvPr>
          <p:cNvSpPr txBox="1"/>
          <p:nvPr/>
        </p:nvSpPr>
        <p:spPr>
          <a:xfrm>
            <a:off x="5463631" y="1833741"/>
            <a:ext cx="301351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简写</a:t>
            </a:r>
            <a:r>
              <a:rPr lang="en-US" altLang="zh-CN" b="1" dirty="0">
                <a:solidFill>
                  <a:srgbClr val="FF0000"/>
                </a:solidFill>
              </a:rPr>
              <a:t>x=81.3970exp(0.0127t)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790CD4-243F-4F7C-A545-5F4D4D06C088}"/>
              </a:ext>
            </a:extLst>
          </p:cNvPr>
          <p:cNvSpPr txBox="1"/>
          <p:nvPr/>
        </p:nvSpPr>
        <p:spPr>
          <a:xfrm>
            <a:off x="3513654" y="675472"/>
            <a:ext cx="5561692" cy="4084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266700" lvl="0">
              <a:lnSpc>
                <a:spcPct val="125000"/>
              </a:lnSpc>
              <a:spcAft>
                <a:spcPts val="0"/>
              </a:spcAft>
            </a:pPr>
            <a:r>
              <a:rPr lang="zh-CN" altLang="zh-CN" sz="18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根据拟合结果</a:t>
            </a:r>
            <a:r>
              <a:rPr lang="en-US" altLang="zh-CN" sz="1800" kern="100" dirty="0" err="1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ffun</a:t>
            </a:r>
            <a:r>
              <a:rPr lang="zh-CN" altLang="zh-CN" sz="18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列出</a:t>
            </a:r>
            <a:r>
              <a:rPr lang="zh-CN" altLang="en-US" sz="18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人口</a:t>
            </a:r>
            <a:r>
              <a:rPr lang="en-US" altLang="zh-CN" sz="18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x</a:t>
            </a:r>
            <a:r>
              <a:rPr lang="zh-CN" altLang="zh-CN" sz="18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与时间</a:t>
            </a:r>
            <a:r>
              <a:rPr lang="en-US" altLang="zh-CN" sz="18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t</a:t>
            </a:r>
            <a:r>
              <a:rPr lang="zh-CN" altLang="zh-CN" sz="18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的具体表达式</a:t>
            </a:r>
            <a:r>
              <a:rPr lang="en-US" altLang="zh-CN" sz="1800" kern="100" dirty="0">
                <a:solidFill>
                  <a:srgbClr val="0070C0"/>
                </a:solidFill>
                <a:latin typeface="Times New Roman"/>
                <a:ea typeface="宋体"/>
                <a:cs typeface="Times New Roman"/>
              </a:rPr>
              <a:t>:  </a:t>
            </a:r>
            <a:endParaRPr lang="zh-CN" altLang="zh-CN" sz="1800" kern="100" dirty="0">
              <a:latin typeface="Calibri"/>
              <a:ea typeface="宋体"/>
              <a:cs typeface="Times New Roman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FE0799-F439-4E6E-97D8-F10F22AEF5A6}"/>
              </a:ext>
            </a:extLst>
          </p:cNvPr>
          <p:cNvSpPr txBox="1"/>
          <p:nvPr/>
        </p:nvSpPr>
        <p:spPr>
          <a:xfrm>
            <a:off x="141254" y="2639355"/>
            <a:ext cx="4623238" cy="1746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B0F0"/>
                </a:solidFill>
              </a:rPr>
              <a:t>julia&gt; </a:t>
            </a:r>
            <a:r>
              <a:rPr lang="en-US" altLang="zh-CN" sz="1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rf=</a:t>
            </a:r>
            <a:r>
              <a:rPr lang="en-US" altLang="zh-CN" sz="18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ffun.s_data</a:t>
            </a:r>
            <a:r>
              <a:rPr lang="en-US" altLang="zh-CN" sz="1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访问拟合度</a:t>
            </a:r>
            <a:endParaRPr lang="en-US" altLang="zh-CN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dirty="0"/>
              <a:t>rf=R方: 0.9950650220868635</a:t>
            </a:r>
          </a:p>
          <a:p>
            <a:r>
              <a:rPr lang="zh-CN" altLang="en-US" dirty="0"/>
              <a:t>SSE: 153.90962741652524</a:t>
            </a:r>
          </a:p>
          <a:p>
            <a:r>
              <a:rPr lang="zh-CN" altLang="en-US" dirty="0"/>
              <a:t>DFE: 8.0</a:t>
            </a:r>
          </a:p>
          <a:p>
            <a:r>
              <a:rPr lang="zh-CN" altLang="en-US" dirty="0"/>
              <a:t>调整R方: 0.9944481498477215</a:t>
            </a:r>
          </a:p>
          <a:p>
            <a:r>
              <a:rPr lang="zh-CN" altLang="en-US" dirty="0"/>
              <a:t>RMSE: 4.386194640809463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0A577F-1761-47FB-8768-19D8D0A68EC0}"/>
              </a:ext>
            </a:extLst>
          </p:cNvPr>
          <p:cNvSpPr txBox="1"/>
          <p:nvPr/>
        </p:nvSpPr>
        <p:spPr>
          <a:xfrm>
            <a:off x="2987824" y="1094178"/>
            <a:ext cx="6613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julia&gt; println(“</a:t>
            </a:r>
            <a:r>
              <a:rPr lang="en-US" altLang="zh-CN" dirty="0"/>
              <a:t>x</a:t>
            </a:r>
            <a:r>
              <a:rPr lang="zh-CN" altLang="en-US" dirty="0"/>
              <a:t>=",ffun.params[1],"exp(",ffun.params[2],"t)")</a:t>
            </a:r>
          </a:p>
          <a:p>
            <a:r>
              <a:rPr lang="en-US" altLang="zh-CN" dirty="0"/>
              <a:t>#</a:t>
            </a:r>
            <a:r>
              <a:rPr lang="zh-CN" altLang="en-US" dirty="0"/>
              <a:t>结果</a:t>
            </a:r>
            <a:r>
              <a:rPr lang="en-US" altLang="zh-CN" b="1" dirty="0">
                <a:solidFill>
                  <a:srgbClr val="FF0000"/>
                </a:solidFill>
              </a:rPr>
              <a:t>x</a:t>
            </a:r>
            <a:r>
              <a:rPr lang="zh-CN" altLang="en-US" b="1" dirty="0">
                <a:solidFill>
                  <a:srgbClr val="FF0000"/>
                </a:solidFill>
              </a:rPr>
              <a:t>=81.39708182920307exp(0.012698167099193589t)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9610A3-315F-4F1D-A14F-0D6374032040}"/>
              </a:ext>
            </a:extLst>
          </p:cNvPr>
          <p:cNvSpPr txBox="1"/>
          <p:nvPr/>
        </p:nvSpPr>
        <p:spPr>
          <a:xfrm>
            <a:off x="323528" y="49481"/>
            <a:ext cx="8352928" cy="5754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——1.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人口曲线拟合案例结果</a:t>
            </a:r>
            <a:endParaRPr lang="zh-CN" altLang="zh-CN" sz="24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6493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>
            <a:extLst>
              <a:ext uri="{FF2B5EF4-FFF2-40B4-BE49-F238E27FC236}">
                <a16:creationId xmlns:a16="http://schemas.microsoft.com/office/drawing/2014/main" id="{BF6B7147-AE23-420A-B437-F0CA2BC77ACD}"/>
              </a:ext>
            </a:extLst>
          </p:cNvPr>
          <p:cNvSpPr txBox="1"/>
          <p:nvPr/>
        </p:nvSpPr>
        <p:spPr bwMode="auto">
          <a:xfrm>
            <a:off x="289246" y="1284682"/>
            <a:ext cx="4650665" cy="373716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2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defRPr>
            </a:lvl1pPr>
          </a:lstStyle>
          <a:p>
            <a:pPr algn="dist"/>
            <a:r>
              <a:rPr lang="en-US" altLang="ko-KR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yi</a:t>
            </a:r>
            <a:r>
              <a:rPr lang="en-US" altLang="ko-KR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interp1(</a:t>
            </a:r>
            <a:r>
              <a:rPr lang="en-US" altLang="ko-KR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x,y,xi</a:t>
            </a:r>
            <a:r>
              <a:rPr lang="en-US" altLang="ko-KR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ko-KR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method</a:t>
            </a:r>
            <a:r>
              <a:rPr lang="en-US" altLang="ko-KR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ko-KR" altLang="en-US" sz="2000" dirty="0">
              <a:latin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F49A25-6F1E-4C04-840E-30B0360D9A90}"/>
              </a:ext>
            </a:extLst>
          </p:cNvPr>
          <p:cNvSpPr/>
          <p:nvPr/>
        </p:nvSpPr>
        <p:spPr>
          <a:xfrm>
            <a:off x="264275" y="785921"/>
            <a:ext cx="25718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21A4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内插调用格式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5741278-D45E-4260-930A-472C3CFC4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33"/>
            <a:ext cx="20840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2">
            <a:extLst>
              <a:ext uri="{FF2B5EF4-FFF2-40B4-BE49-F238E27FC236}">
                <a16:creationId xmlns:a16="http://schemas.microsoft.com/office/drawing/2014/main" id="{44DD80D1-E1C1-45C1-8FF6-CC4B0FA1F803}"/>
              </a:ext>
            </a:extLst>
          </p:cNvPr>
          <p:cNvSpPr txBox="1"/>
          <p:nvPr/>
        </p:nvSpPr>
        <p:spPr>
          <a:xfrm>
            <a:off x="560392" y="-17234"/>
            <a:ext cx="8332637" cy="5754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———2.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一维数据插值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interp1 </a:t>
            </a:r>
            <a:endParaRPr lang="zh-CN" altLang="zh-CN" sz="24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71CF74-CA6D-41F8-83DD-D51963BE07FD}"/>
              </a:ext>
            </a:extLst>
          </p:cNvPr>
          <p:cNvSpPr/>
          <p:nvPr/>
        </p:nvSpPr>
        <p:spPr>
          <a:xfrm>
            <a:off x="218581" y="1757049"/>
            <a:ext cx="8901349" cy="2383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p"/>
            </a:pPr>
            <a:r>
              <a:rPr lang="en-US" altLang="zh-CN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ko-KR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en-US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分别是</a:t>
            </a:r>
            <a:r>
              <a:rPr lang="en-US" altLang="ko-KR" sz="22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采样点和样本值</a:t>
            </a:r>
            <a:r>
              <a:rPr lang="en-US" altLang="ko-KR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分别是</a:t>
            </a:r>
            <a:r>
              <a:rPr lang="en-US" altLang="ko-KR" sz="2200" cap="none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200" cap="none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ko-KR" sz="2200" cap="none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en-US" sz="2200" cap="none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轴数据</a:t>
            </a:r>
            <a:r>
              <a:rPr lang="en-US" altLang="zh-CN" sz="2200" cap="none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200" b="1" cap="none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必须列向量，否则插值不匹配</a:t>
            </a:r>
            <a:r>
              <a:rPr lang="en-US" altLang="ko-KR" sz="2200" b="1" cap="none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lang="ko-KR" altLang="en-US" sz="2200" b="1" cap="none" dirty="0">
              <a:solidFill>
                <a:srgbClr val="FF0000"/>
              </a:solidFill>
              <a:latin typeface="微软雅黑 Light" panose="020B0502040204020203" pitchFamily="34" charset="-122"/>
            </a:endParaRPr>
          </a:p>
          <a:p>
            <a:pPr eaLnBrk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p"/>
            </a:pPr>
            <a:r>
              <a:rPr lang="en-US" altLang="ko-KR" sz="2200" cap="none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xi</a:t>
            </a:r>
            <a:r>
              <a:rPr lang="en-US" altLang="ko-KR" sz="22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是插值点</a:t>
            </a:r>
            <a:r>
              <a:rPr lang="en-US" altLang="ko-KR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可以</a:t>
            </a:r>
            <a:r>
              <a:rPr lang="en-US" altLang="ko-KR" sz="22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向量或标量</a:t>
            </a:r>
            <a:r>
              <a:rPr lang="en-US" altLang="ko-KR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en-US" altLang="ko-KR" sz="22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xi</a:t>
            </a:r>
            <a:r>
              <a:rPr lang="zh-CN" altLang="en-US" sz="22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超过范围为外插</a:t>
            </a:r>
            <a:r>
              <a:rPr lang="en-US" altLang="ko-KR" sz="2200" b="1" cap="none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200" cap="none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；</a:t>
            </a:r>
            <a:endParaRPr lang="en-US" altLang="zh-CN" sz="2200" cap="none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/>
              <a:buChar char="p"/>
            </a:pPr>
            <a:r>
              <a:rPr lang="en-US" altLang="zh-CN" sz="22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en-US" altLang="ko-KR" sz="22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i是插值结果,与</a:t>
            </a:r>
            <a:r>
              <a:rPr lang="en-US" altLang="zh-CN" sz="22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en-US" altLang="ko-KR" sz="22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i等长</a:t>
            </a:r>
            <a:r>
              <a:rPr lang="zh-CN" altLang="en-US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lang="en-US" altLang="ko-KR" sz="2200" dirty="0">
              <a:solidFill>
                <a:srgbClr val="00206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/>
              <a:buChar char="p"/>
            </a:pPr>
            <a:r>
              <a:rPr lang="en-US" altLang="zh-CN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Method</a:t>
            </a:r>
            <a:r>
              <a:rPr lang="zh-CN" altLang="en-US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插值方法，默认直线插值，可以忽略</a:t>
            </a:r>
            <a:r>
              <a:rPr lang="en-US" altLang="zh-CN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2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方法包括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'linear'</a:t>
            </a:r>
            <a:r>
              <a:rPr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'nearest'</a:t>
            </a:r>
            <a:r>
              <a:rPr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'</a:t>
            </a:r>
            <a:r>
              <a:rPr lang="en-US" altLang="zh-CN" sz="22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pchip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'</a:t>
            </a:r>
            <a:r>
              <a:rPr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、或 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'spline'</a:t>
            </a:r>
            <a:r>
              <a:rPr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ko-KR" altLang="en-US" sz="2200" cap="none" dirty="0">
              <a:solidFill>
                <a:srgbClr val="002060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56DDF5E7-7C60-4AE8-B5A7-4203F13E607A}"/>
              </a:ext>
            </a:extLst>
          </p:cNvPr>
          <p:cNvSpPr txBox="1"/>
          <p:nvPr/>
        </p:nvSpPr>
        <p:spPr bwMode="auto">
          <a:xfrm>
            <a:off x="289246" y="4156066"/>
            <a:ext cx="4650665" cy="373716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2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defRPr>
            </a:lvl1pPr>
          </a:lstStyle>
          <a:p>
            <a:pPr algn="dist"/>
            <a:r>
              <a:rPr lang="en-US" altLang="ko-KR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yi</a:t>
            </a:r>
            <a:r>
              <a:rPr lang="en-US" altLang="ko-KR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spline(</a:t>
            </a:r>
            <a:r>
              <a:rPr lang="en-US" altLang="ko-KR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x,y,xi</a:t>
            </a:r>
            <a:r>
              <a:rPr lang="en-US" altLang="ko-KR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ko-KR" altLang="en-US" sz="2000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239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5915" y="695105"/>
            <a:ext cx="8608995" cy="40434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x=[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38.075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38.125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38.175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38.225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38.275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38.325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38.375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38.425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38.475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38.525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38.575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38.625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38.675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38.725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38.775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38.825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38.875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38.925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38.975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39.025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   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y=[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267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318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487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3162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6207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8414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8156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5975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3473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1601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710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386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325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247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207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157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xx=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38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39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插值点</a:t>
            </a:r>
            <a:endParaRPr lang="zh-CN" alt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interp1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x,y,xx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插值结果</a:t>
            </a:r>
            <a:endParaRPr lang="zh-CN" alt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"-or"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线性插值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"$2\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theta$,deg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Intensity,cps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interp1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x,y,xx,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"nearest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"-or"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邻近插值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"$2\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theta$,deg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Intensity,cps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interp1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(x,y,xx,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pchip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"-or"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保形三次插值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"$2\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theta$,deg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Intensity,cps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interp1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x,y,xx,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"spline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"-or"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三次样条插值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raw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"$2\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theta$,deg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Intensity,cps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tightlayout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1" name="矩形 10"/>
          <p:cNvSpPr/>
          <p:nvPr/>
        </p:nvSpPr>
        <p:spPr>
          <a:xfrm>
            <a:off x="6830873" y="2734673"/>
            <a:ext cx="1800199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ko-KR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ko-KR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yi</a:t>
            </a:r>
            <a:r>
              <a:rPr lang="en-US" altLang="ko-KR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= spline(</a:t>
            </a:r>
            <a:r>
              <a:rPr lang="en-US" altLang="ko-KR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x,y,xi</a:t>
            </a:r>
            <a:r>
              <a:rPr lang="en-US" altLang="ko-KR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ko-KR" altLang="en-US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3"/>
          <p:cNvSpPr txBox="1"/>
          <p:nvPr/>
        </p:nvSpPr>
        <p:spPr bwMode="auto">
          <a:xfrm>
            <a:off x="6035628" y="2239925"/>
            <a:ext cx="2595444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2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ko-KR" sz="18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yi</a:t>
            </a:r>
            <a:r>
              <a:rPr lang="en-US" altLang="ko-KR" sz="1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= interp1(</a:t>
            </a:r>
            <a:r>
              <a:rPr lang="en-US" altLang="ko-KR" sz="18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x,y,xi</a:t>
            </a:r>
            <a:r>
              <a:rPr lang="en-US" altLang="ko-KR" sz="1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, </a:t>
            </a:r>
            <a:r>
              <a:rPr lang="en-US" altLang="ko-KR" sz="1800" dirty="0">
                <a:solidFill>
                  <a:srgbClr val="FFFF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method</a:t>
            </a:r>
            <a:r>
              <a:rPr lang="en-US" altLang="ko-KR" sz="1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ko-KR" altLang="en-US" sz="1800" dirty="0">
              <a:effectLst/>
              <a:latin typeface="华文楷体" panose="02010600040101010101" pitchFamily="2" charset="-122"/>
            </a:endParaRPr>
          </a:p>
        </p:txBody>
      </p:sp>
      <p:sp>
        <p:nvSpPr>
          <p:cNvPr id="13" name="矩形 2"/>
          <p:cNvSpPr/>
          <p:nvPr/>
        </p:nvSpPr>
        <p:spPr bwMode="auto">
          <a:xfrm>
            <a:off x="5119801" y="1447261"/>
            <a:ext cx="3601172" cy="58477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四种</a:t>
            </a:r>
            <a:r>
              <a:rPr lang="zh-CN" altLang="en-US" sz="1600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插值法不足缺失的</a:t>
            </a:r>
            <a:r>
              <a:rPr lang="en-US" altLang="zh-CN" sz="1600" b="1" cap="none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xrd</a:t>
            </a:r>
            <a:r>
              <a:rPr lang="zh-CN" altLang="en-US" sz="1600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曲线数据重建，并且绘制</a:t>
            </a:r>
            <a:r>
              <a:rPr lang="en-US" altLang="zh-CN" sz="1600" b="1" cap="none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xrd</a:t>
            </a:r>
            <a:r>
              <a:rPr lang="zh-CN" altLang="en-US" sz="1600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endParaRPr lang="ko-KR" altLang="en-US" sz="1600" b="1" cap="none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波形 13">
            <a:extLst>
              <a:ext uri="{FF2B5EF4-FFF2-40B4-BE49-F238E27FC236}">
                <a16:creationId xmlns:a16="http://schemas.microsoft.com/office/drawing/2014/main" id="{71220587-D6D9-4942-9FF8-ADE5B3BFB439}"/>
              </a:ext>
            </a:extLst>
          </p:cNvPr>
          <p:cNvSpPr/>
          <p:nvPr/>
        </p:nvSpPr>
        <p:spPr>
          <a:xfrm>
            <a:off x="4147694" y="1506745"/>
            <a:ext cx="972107" cy="321209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54-1.1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2">
            <a:extLst>
              <a:ext uri="{FF2B5EF4-FFF2-40B4-BE49-F238E27FC236}">
                <a16:creationId xmlns:a16="http://schemas.microsoft.com/office/drawing/2014/main" id="{B75E23AD-846D-416F-ACF1-3DEAC1B9670D}"/>
              </a:ext>
            </a:extLst>
          </p:cNvPr>
          <p:cNvSpPr txBox="1"/>
          <p:nvPr/>
        </p:nvSpPr>
        <p:spPr>
          <a:xfrm>
            <a:off x="560392" y="-17234"/>
            <a:ext cx="8332637" cy="5754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———2.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一维数据插值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interp1 </a:t>
            </a:r>
            <a:endParaRPr lang="zh-CN" altLang="zh-CN" sz="24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3526"/>
            <a:ext cx="9144000" cy="3534448"/>
          </a:xfrm>
          <a:prstGeom prst="rect">
            <a:avLst/>
          </a:prstGeom>
        </p:spPr>
      </p:pic>
      <p:sp>
        <p:nvSpPr>
          <p:cNvPr id="7" name="矩形 2"/>
          <p:cNvSpPr/>
          <p:nvPr/>
        </p:nvSpPr>
        <p:spPr bwMode="auto">
          <a:xfrm>
            <a:off x="694262" y="671104"/>
            <a:ext cx="8064896" cy="369332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algn="dist" eaLnBrk="0">
              <a:spcBef>
                <a:spcPts val="0"/>
              </a:spcBef>
              <a:spcAft>
                <a:spcPts val="0"/>
              </a:spcAft>
            </a:pPr>
            <a:r>
              <a:rPr lang="zh-CN" altLang="en-US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四种</a:t>
            </a:r>
            <a:r>
              <a:rPr lang="zh-CN" altLang="en-US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插值法不足缺失的</a:t>
            </a:r>
            <a:r>
              <a:rPr lang="en-US" altLang="zh-CN" b="1" cap="none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xrd</a:t>
            </a:r>
            <a:r>
              <a:rPr lang="zh-CN" altLang="en-US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曲线数据重建，并且绘制</a:t>
            </a:r>
            <a:r>
              <a:rPr lang="en-US" altLang="zh-CN" b="1" cap="none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xrd</a:t>
            </a:r>
            <a:r>
              <a:rPr lang="zh-CN" altLang="en-US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endParaRPr lang="ko-KR" altLang="en-US" b="1" cap="none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817F6ED4-9796-4729-A1DE-6BA4BF616ADD}"/>
              </a:ext>
            </a:extLst>
          </p:cNvPr>
          <p:cNvSpPr txBox="1"/>
          <p:nvPr/>
        </p:nvSpPr>
        <p:spPr>
          <a:xfrm>
            <a:off x="560392" y="-17234"/>
            <a:ext cx="8332637" cy="5754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———2.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一维数据插值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interp1 </a:t>
            </a:r>
            <a:endParaRPr lang="zh-CN" altLang="zh-CN" sz="24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8">
                <a:extLst>
                  <a:ext uri="{FF2B5EF4-FFF2-40B4-BE49-F238E27FC236}">
                    <a16:creationId xmlns:a16="http://schemas.microsoft.com/office/drawing/2014/main" id="{881AF36A-F56A-4801-918F-47A88BB98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508" y="835472"/>
                <a:ext cx="8856984" cy="378565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ts val="3200"/>
                  </a:lnSpc>
                  <a:defRPr/>
                </a:pP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(1)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方阵行列式 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det(A) </a:t>
                </a:r>
                <a:r>
                  <a:rPr lang="zh-CN" altLang="en-US" sz="22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200" b="1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det(A)</a:t>
                </a:r>
                <a14:m>
                  <m:oMath xmlns:m="http://schemas.openxmlformats.org/officeDocument/2006/math">
                    <m:r>
                      <a:rPr lang="en-US" altLang="zh-CN" sz="2200" b="1" i="1" dirty="0">
                        <a:solidFill>
                          <a:srgbClr val="002060"/>
                        </a:solidFill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n-US" altLang="zh-CN" sz="2200" b="1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 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为非奇异矩阵，</a:t>
                </a:r>
                <a:r>
                  <a:rPr lang="en-US" altLang="zh-CN" sz="22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det(A) </a:t>
                </a: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=0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为奇异矩阵</a:t>
                </a:r>
                <a:endParaRPr lang="en-US" altLang="zh-CN" sz="22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hangingPunct="0">
                  <a:lnSpc>
                    <a:spcPts val="3200"/>
                  </a:lnSpc>
                  <a:defRPr/>
                </a:pP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(2)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方阵逆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inv(A) 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，非奇异方阵才有逆矩阵</a:t>
                </a:r>
                <a:endParaRPr lang="en-US" altLang="zh-CN" sz="22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0" hangingPunct="0">
                  <a:lnSpc>
                    <a:spcPts val="3200"/>
                  </a:lnSpc>
                  <a:defRPr/>
                </a:pP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(3)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矩阵伪逆</a:t>
                </a: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en-US" altLang="zh-CN" sz="2200" dirty="0" err="1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pinv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 (A) 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，求奇异方阵和非方阵的伪逆矩阵</a:t>
                </a:r>
                <a:endParaRPr lang="en-US" altLang="zh-CN" sz="22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ts val="3200"/>
                  </a:lnSpc>
                  <a:defRPr/>
                </a:pP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(4)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矩阵的秩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rank (A)  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，通过</a:t>
                </a: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rank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判断方程组有唯一解、无穷解和无解</a:t>
                </a:r>
                <a:endParaRPr lang="en-US" altLang="zh-CN" sz="22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ts val="3200"/>
                  </a:lnSpc>
                  <a:defRPr/>
                </a:pP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(5)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</a:t>
                </a: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扰动敏感度</a:t>
                </a: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)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norm (</a:t>
                </a:r>
                <a:r>
                  <a:rPr lang="en-US" altLang="zh-CN" sz="2200" dirty="0" err="1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A,p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) </a:t>
                </a:r>
              </a:p>
              <a:p>
                <a:pPr>
                  <a:lnSpc>
                    <a:spcPts val="3200"/>
                  </a:lnSpc>
                  <a:defRPr/>
                </a:pP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(6)</a:t>
                </a: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条件数</a:t>
                </a: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</a:t>
                </a:r>
                <a:r>
                  <a:rPr lang="zh-CN" altLang="en-US" sz="2200" kern="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病态程度</a:t>
                </a:r>
                <a:r>
                  <a:rPr lang="en-US" altLang="zh-CN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)</a:t>
                </a:r>
                <a:r>
                  <a:rPr lang="en-US" altLang="zh-CN" sz="2200" dirty="0" err="1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cond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 (</a:t>
                </a:r>
                <a:r>
                  <a:rPr lang="en-US" altLang="zh-CN" sz="2200" dirty="0" err="1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A,p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) </a:t>
                </a:r>
              </a:p>
              <a:p>
                <a:pPr>
                  <a:lnSpc>
                    <a:spcPts val="3200"/>
                  </a:lnSpc>
                  <a:defRPr/>
                </a:pPr>
                <a:endParaRPr lang="en-US" altLang="zh-CN" sz="2200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ts val="3200"/>
                  </a:lnSpc>
                  <a:defRPr/>
                </a:pPr>
                <a:r>
                  <a:rPr lang="en-US" altLang="zh-CN" sz="2200" kern="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(7)</a:t>
                </a:r>
                <a:r>
                  <a:rPr lang="zh-CN" altLang="en-US" sz="2200" kern="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方阵特征值</a:t>
                </a:r>
                <a:r>
                  <a:rPr lang="en-US" altLang="zh-CN" sz="2200" dirty="0" err="1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eig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 </a:t>
                </a:r>
                <a:r>
                  <a:rPr lang="en-US" altLang="zh-CN" sz="2200" dirty="0" err="1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val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 (A) </a:t>
                </a:r>
              </a:p>
              <a:p>
                <a:pPr>
                  <a:lnSpc>
                    <a:spcPts val="3200"/>
                  </a:lnSpc>
                  <a:defRPr/>
                </a:pPr>
                <a:r>
                  <a:rPr lang="zh-CN" altLang="en-US" sz="2200" dirty="0">
                    <a:solidFill>
                      <a:srgbClr val="00206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特征向量</a:t>
                </a:r>
                <a:r>
                  <a:rPr lang="en-US" altLang="zh-CN" sz="2200" dirty="0" err="1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eigvecs</a:t>
                </a:r>
                <a:r>
                  <a:rPr lang="en-US" altLang="zh-CN" sz="2200" dirty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 (A) </a:t>
                </a:r>
              </a:p>
            </p:txBody>
          </p:sp>
        </mc:Choice>
        <mc:Fallback xmlns="">
          <p:sp>
            <p:nvSpPr>
              <p:cNvPr id="5" name="矩形 8">
                <a:extLst>
                  <a:ext uri="{FF2B5EF4-FFF2-40B4-BE49-F238E27FC236}">
                    <a16:creationId xmlns:a16="http://schemas.microsoft.com/office/drawing/2014/main" id="{881AF36A-F56A-4801-918F-47A88BB98F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508" y="835472"/>
                <a:ext cx="8856984" cy="3785652"/>
              </a:xfrm>
              <a:prstGeom prst="rect">
                <a:avLst/>
              </a:prstGeom>
              <a:blipFill>
                <a:blip r:embed="rId2"/>
                <a:stretch>
                  <a:fillRect l="-895" t="-161" r="-551" b="-177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3A8DFBCB-2CB3-47D7-AC87-15B3868CAB28}"/>
              </a:ext>
            </a:extLst>
          </p:cNvPr>
          <p:cNvSpPr txBox="1"/>
          <p:nvPr/>
        </p:nvSpPr>
        <p:spPr>
          <a:xfrm>
            <a:off x="4018037" y="2528243"/>
            <a:ext cx="2845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600" u="none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p-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范数类型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,1,2, inf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083B94-5B46-420D-AEBC-84E50D8FCE7F}"/>
              </a:ext>
            </a:extLst>
          </p:cNvPr>
          <p:cNvSpPr/>
          <p:nvPr/>
        </p:nvSpPr>
        <p:spPr>
          <a:xfrm>
            <a:off x="5965931" y="2861143"/>
            <a:ext cx="1751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P=1,2 or </a:t>
            </a:r>
            <a:r>
              <a:rPr lang="en-US" altLang="zh-CN" sz="24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nf</a:t>
            </a:r>
            <a:endParaRPr lang="zh-CN" altLang="en-US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4FB31DE-3D79-471B-924C-3B9AA7154C9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18037" y="2928353"/>
            <a:ext cx="1944216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 p-条件数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类型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F60F97-807A-42CC-9C55-96FF8395919D}"/>
              </a:ext>
            </a:extLst>
          </p:cNvPr>
          <p:cNvSpPr/>
          <p:nvPr/>
        </p:nvSpPr>
        <p:spPr>
          <a:xfrm>
            <a:off x="96227" y="3456439"/>
            <a:ext cx="9145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条件数越接近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，矩阵呈良态；值越大越病态（</a:t>
            </a:r>
            <a:r>
              <a:rPr lang="zh-CN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条件数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接近</a:t>
            </a:r>
            <a:r>
              <a:rPr lang="zh-CN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10^16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;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值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无穷大，矩阵奇异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2">
            <a:extLst>
              <a:ext uri="{FF2B5EF4-FFF2-40B4-BE49-F238E27FC236}">
                <a16:creationId xmlns:a16="http://schemas.microsoft.com/office/drawing/2014/main" id="{44DD80D1-E1C1-45C1-8FF6-CC4B0FA1F803}"/>
              </a:ext>
            </a:extLst>
          </p:cNvPr>
          <p:cNvSpPr txBox="1"/>
          <p:nvPr/>
        </p:nvSpPr>
        <p:spPr>
          <a:xfrm>
            <a:off x="504062" y="59938"/>
            <a:ext cx="8519045" cy="5754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———3.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矩阵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常用函数操作 </a:t>
            </a:r>
            <a:endParaRPr lang="zh-CN" altLang="zh-CN" sz="24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810FEC8E-711B-4521-B2A9-F8223426C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7859" y="3937827"/>
            <a:ext cx="3306389" cy="34432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构造向量：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用逗号分隔向量的元素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3EB50AA1-940F-4793-A44D-BE238ACEAF84}"/>
              </a:ext>
            </a:extLst>
          </p:cNvPr>
          <p:cNvSpPr txBox="1">
            <a:spLocks/>
          </p:cNvSpPr>
          <p:nvPr/>
        </p:nvSpPr>
        <p:spPr bwMode="auto">
          <a:xfrm>
            <a:off x="3497859" y="4274123"/>
            <a:ext cx="5256584" cy="34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8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en-US" sz="1600" kern="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构造矩阵</a:t>
            </a:r>
            <a:r>
              <a:rPr lang="en-US" altLang="zh-CN" sz="1600" kern="0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kern="0" dirty="0">
                <a:solidFill>
                  <a:schemeClr val="bg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同行元素用空格分隔，不同行元素用分号分隔</a:t>
            </a:r>
          </a:p>
        </p:txBody>
      </p:sp>
    </p:spTree>
    <p:extLst>
      <p:ext uri="{BB962C8B-B14F-4D97-AF65-F5344CB8AC3E}">
        <p14:creationId xmlns:p14="http://schemas.microsoft.com/office/powerpoint/2010/main" val="267345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4C92824-DFCF-418F-AB3B-48F302B6D4D1}"/>
              </a:ext>
            </a:extLst>
          </p:cNvPr>
          <p:cNvSpPr txBox="1"/>
          <p:nvPr/>
        </p:nvSpPr>
        <p:spPr>
          <a:xfrm>
            <a:off x="49341" y="670336"/>
            <a:ext cx="9094660" cy="14457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恰定方程组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rank(A)=rank([</a:t>
            </a:r>
            <a:r>
              <a:rPr lang="en-US" altLang="zh-CN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 b]</a:t>
            </a:r>
            <a:r>
              <a:rPr lang="en-US" altLang="zh-CN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)=n</a:t>
            </a:r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满秩，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未知量个数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方程个数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，非奇异矩阵，唯一解；</a:t>
            </a:r>
          </a:p>
          <a:p>
            <a:pPr>
              <a:lnSpc>
                <a:spcPts val="27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奇异矩阵方程组：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行列式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det(A)=0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线性方程组，用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pinv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lsqminnorm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ts val="27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欠定方程组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rank(A)=rank([A b])&lt;n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非满秩</a:t>
            </a:r>
            <a:r>
              <a:rPr lang="en-US" altLang="zh-CN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未知量个数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n&gt;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方程个数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m,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无穷多解，寻一个基本解</a:t>
            </a:r>
          </a:p>
          <a:p>
            <a:pPr>
              <a:lnSpc>
                <a:spcPts val="27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超定方程组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rank(A)&lt;rank([A b]),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未知量个数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n&lt;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方程个数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，不存在解析解，寻求最小二乘解；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8037512F-4024-4929-B688-D5A230D13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63" y="2933441"/>
            <a:ext cx="1530230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en-US" altLang="zh-CN" sz="1600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x=</a:t>
            </a:r>
            <a:r>
              <a:rPr lang="en-US" altLang="zh-CN" sz="1600" dirty="0" err="1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pinv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(A)*b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F81E0B-A7FF-413D-B70D-57BE62976D4D}"/>
              </a:ext>
            </a:extLst>
          </p:cNvPr>
          <p:cNvSpPr txBox="1"/>
          <p:nvPr/>
        </p:nvSpPr>
        <p:spPr>
          <a:xfrm>
            <a:off x="1635386" y="2931790"/>
            <a:ext cx="75086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伪逆乘法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,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基于奇异矩阵分解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最小二乘解，优先用于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奇异、适于欠定和超定方程组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BD297192-4744-48E8-90D3-C21EB3FF7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34" y="3353577"/>
            <a:ext cx="2248718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600" b="1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x=lsqminnorm(A,b)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D1B305-F456-4226-A205-7141C8E98227}"/>
              </a:ext>
            </a:extLst>
          </p:cNvPr>
          <p:cNvSpPr txBox="1"/>
          <p:nvPr/>
        </p:nvSpPr>
        <p:spPr>
          <a:xfrm>
            <a:off x="-7079" y="3686394"/>
            <a:ext cx="89324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 eaLnBrk="0" hangingPunct="0">
              <a:defRPr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norm(AX-b)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norm(X)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也最小</a:t>
            </a:r>
            <a:r>
              <a:rPr lang="zh-CN" altLang="en-US" sz="1600" b="0" dirty="0"/>
              <a:t>基于完全正交分解</a:t>
            </a:r>
            <a:r>
              <a:rPr lang="en-US" altLang="zh-CN" sz="1600" b="0" dirty="0"/>
              <a:t>,</a:t>
            </a:r>
            <a:r>
              <a:rPr lang="zh-CN" altLang="en-US" sz="1600" b="0" dirty="0"/>
              <a:t>效率高于</a:t>
            </a:r>
            <a:r>
              <a:rPr lang="en-US" altLang="zh-CN" sz="1600" b="0" dirty="0" err="1"/>
              <a:t>pinv</a:t>
            </a:r>
            <a:r>
              <a:rPr lang="zh-CN" altLang="en-US" sz="1600" b="0" dirty="0"/>
              <a:t>，</a:t>
            </a:r>
            <a:r>
              <a:rPr lang="zh-CN" altLang="en-US" sz="1600" b="0" dirty="0">
                <a:sym typeface="Arial" charset="0"/>
              </a:rPr>
              <a:t>也可奇异、和超定求解</a:t>
            </a:r>
            <a:endParaRPr lang="zh-CN" altLang="en-US" sz="1600" b="0" dirty="0"/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0A6E3903-D79D-4F9B-A067-0BB07CFF7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39" y="2509678"/>
            <a:ext cx="93059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en-US" altLang="zh-CN" sz="1600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x=A\b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69049AC-183C-4C62-B96E-5803F1350373}"/>
              </a:ext>
            </a:extLst>
          </p:cNvPr>
          <p:cNvSpPr txBox="1"/>
          <p:nvPr/>
        </p:nvSpPr>
        <p:spPr>
          <a:xfrm>
            <a:off x="969599" y="2509611"/>
            <a:ext cx="8327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左除法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适合解恰定方程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，速度和精度高于逆乘法；求非方阵</a:t>
            </a:r>
            <a:r>
              <a:rPr lang="pt-BR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A*x= B</a:t>
            </a:r>
            <a:r>
              <a:rPr lang="zh-CN" altLang="pt-BR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最小二乘解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，易出错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19615F-BAB2-439F-A24B-5E3794D55BBE}"/>
              </a:ext>
            </a:extLst>
          </p:cNvPr>
          <p:cNvSpPr txBox="1"/>
          <p:nvPr/>
        </p:nvSpPr>
        <p:spPr>
          <a:xfrm>
            <a:off x="2266857" y="3345289"/>
            <a:ext cx="71339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最小范数最小二乘解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优先用于欠定方程组</a:t>
            </a:r>
            <a:r>
              <a:rPr lang="zh-CN" altLang="en-US" sz="1600" dirty="0">
                <a:sym typeface="Arial" charset="0"/>
              </a:rPr>
              <a:t>，</a:t>
            </a:r>
            <a:endParaRPr lang="zh-CN" altLang="en-US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6D6B2CB2-DEA5-44A4-940B-83F176DF8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45" y="2097419"/>
            <a:ext cx="135941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eaLnBrk="0" hangingPunct="0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x=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inv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(A)*b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34D74C-44E5-4F9C-838F-B5A5FC15B76F}"/>
              </a:ext>
            </a:extLst>
          </p:cNvPr>
          <p:cNvSpPr txBox="1"/>
          <p:nvPr/>
        </p:nvSpPr>
        <p:spPr>
          <a:xfrm>
            <a:off x="1475656" y="2106757"/>
            <a:ext cx="7598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逆乘法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只求方阵的恰定方程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，基于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lu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分解的输入，求解速度和精度低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75B875-447A-4C6A-AAF9-03A21F28E8EB}"/>
              </a:ext>
            </a:extLst>
          </p:cNvPr>
          <p:cNvSpPr/>
          <p:nvPr/>
        </p:nvSpPr>
        <p:spPr>
          <a:xfrm>
            <a:off x="116245" y="4319275"/>
            <a:ext cx="1543123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R,P=rref([A b])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F35B82-1216-4B31-B2F9-8B89E763F8C9}"/>
              </a:ext>
            </a:extLst>
          </p:cNvPr>
          <p:cNvSpPr txBox="1"/>
          <p:nvPr/>
        </p:nvSpPr>
        <p:spPr>
          <a:xfrm>
            <a:off x="1647277" y="4296753"/>
            <a:ext cx="7334542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阶梯形矩阵</a:t>
            </a:r>
            <a:r>
              <a:rPr lang="en-US" altLang="zh-CN" sz="1600" b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Gauss-Jordan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消元法，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常用于欠定方程求任意解</a:t>
            </a: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88A8D9A0-6246-4E52-B597-1B7F4E1AD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99" y="3985802"/>
            <a:ext cx="1584082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4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linsolve</a:t>
            </a:r>
            <a:r>
              <a: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(A,b)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4E701B-37A9-4982-BD6B-091471CB0B27}"/>
              </a:ext>
            </a:extLst>
          </p:cNvPr>
          <p:cNvSpPr txBox="1"/>
          <p:nvPr/>
        </p:nvSpPr>
        <p:spPr>
          <a:xfrm>
            <a:off x="1628993" y="3955025"/>
            <a:ext cx="76684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线性方程组求解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,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基于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LU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和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QR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分解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适于方阵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,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未正确缩放或近奇异矩阵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易出错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charset="0"/>
            </a:endParaRPr>
          </a:p>
        </p:txBody>
      </p:sp>
      <p:sp>
        <p:nvSpPr>
          <p:cNvPr id="26" name="文本框 2">
            <a:extLst>
              <a:ext uri="{FF2B5EF4-FFF2-40B4-BE49-F238E27FC236}">
                <a16:creationId xmlns:a16="http://schemas.microsoft.com/office/drawing/2014/main" id="{FC238E37-E18A-4290-BC97-7C892B82EF78}"/>
              </a:ext>
            </a:extLst>
          </p:cNvPr>
          <p:cNvSpPr txBox="1"/>
          <p:nvPr/>
        </p:nvSpPr>
        <p:spPr>
          <a:xfrm>
            <a:off x="49342" y="59938"/>
            <a:ext cx="8973766" cy="5863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———4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、求解方程</a:t>
            </a:r>
            <a:r>
              <a:rPr lang="en-US" altLang="zh-CN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Ax=b</a:t>
            </a:r>
            <a:r>
              <a:rPr lang="zh-CN" altLang="en-US" sz="24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常用方法</a:t>
            </a:r>
            <a:endParaRPr lang="zh-CN" altLang="zh-CN" sz="24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087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  <p:bldP spid="15" grpId="0" animBg="1"/>
      <p:bldP spid="16" grpId="0"/>
      <p:bldP spid="23" grpId="0"/>
      <p:bldP spid="18" grpId="0" animBg="1"/>
      <p:bldP spid="24" grpId="0"/>
      <p:bldP spid="17" grpId="0" animBg="1"/>
      <p:bldP spid="19" grpId="0" animBg="1"/>
      <p:bldP spid="20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39C22E0E-234F-48EE-9B08-7AE8B2132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65" y="681774"/>
            <a:ext cx="8753890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175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7513" algn="l"/>
              </a:tabLs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大物实验“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PN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结正向压降与温度关系的研究与应用”中，流过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PN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结电流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0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一定时，正向压降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与温度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呈线性关系，求斜率和截距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4">
                <a:extLst>
                  <a:ext uri="{FF2B5EF4-FFF2-40B4-BE49-F238E27FC236}">
                    <a16:creationId xmlns:a16="http://schemas.microsoft.com/office/drawing/2014/main" id="{532D13CE-4DAD-463A-8C4E-95AF516185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4274269"/>
                  </p:ext>
                </p:extLst>
              </p:nvPr>
            </p:nvGraphicFramePr>
            <p:xfrm>
              <a:off x="252165" y="1369488"/>
              <a:ext cx="8821054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088">
                      <a:extLst>
                        <a:ext uri="{9D8B030D-6E8A-4147-A177-3AD203B41FA5}">
                          <a16:colId xmlns:a16="http://schemas.microsoft.com/office/drawing/2014/main" val="4050816141"/>
                        </a:ext>
                      </a:extLst>
                    </a:gridCol>
                    <a:gridCol w="751596">
                      <a:extLst>
                        <a:ext uri="{9D8B030D-6E8A-4147-A177-3AD203B41FA5}">
                          <a16:colId xmlns:a16="http://schemas.microsoft.com/office/drawing/2014/main" val="2865446167"/>
                        </a:ext>
                      </a:extLst>
                    </a:gridCol>
                    <a:gridCol w="862058">
                      <a:extLst>
                        <a:ext uri="{9D8B030D-6E8A-4147-A177-3AD203B41FA5}">
                          <a16:colId xmlns:a16="http://schemas.microsoft.com/office/drawing/2014/main" val="2106051835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4185051655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3025766040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4128649253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1679798562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2468032917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2303614858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3644430958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18245792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x(</a:t>
                          </a:r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温度</a:t>
                          </a:r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)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40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50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60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70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80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29627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600" b="1" i="1" kern="1200" smtClean="0">
                                  <a:solidFill>
                                    <a:schemeClr val="bg1"/>
                                  </a:solidFill>
                                  <a:highlight>
                                    <a:srgbClr val="003B76"/>
                                  </a:highlight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y</m:t>
                              </m:r>
                            </m:oMath>
                          </a14:m>
                          <a:r>
                            <a:rPr lang="en-US" altLang="zh-CN" sz="1600" b="1" kern="12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(</a:t>
                          </a:r>
                          <a:r>
                            <a:rPr lang="zh-CN" altLang="en-US" sz="1600" b="1" kern="12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压降</a:t>
                          </a:r>
                          <a:r>
                            <a:rPr lang="en-US" altLang="zh-CN" sz="1600" b="1" kern="12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+mn-cs"/>
                            </a:rPr>
                            <a:t>)</a:t>
                          </a:r>
                          <a:endParaRPr lang="zh-CN" altLang="en-US" sz="1600" b="1" kern="12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+mn-cs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0.3943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0.3809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0.3705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0.3587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0.3455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0.3331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0.3193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0.3049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0.2909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0.2771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66271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4">
                <a:extLst>
                  <a:ext uri="{FF2B5EF4-FFF2-40B4-BE49-F238E27FC236}">
                    <a16:creationId xmlns:a16="http://schemas.microsoft.com/office/drawing/2014/main" id="{532D13CE-4DAD-463A-8C4E-95AF516185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4274269"/>
                  </p:ext>
                </p:extLst>
              </p:nvPr>
            </p:nvGraphicFramePr>
            <p:xfrm>
              <a:off x="252165" y="1369488"/>
              <a:ext cx="8821054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088">
                      <a:extLst>
                        <a:ext uri="{9D8B030D-6E8A-4147-A177-3AD203B41FA5}">
                          <a16:colId xmlns:a16="http://schemas.microsoft.com/office/drawing/2014/main" val="4050816141"/>
                        </a:ext>
                      </a:extLst>
                    </a:gridCol>
                    <a:gridCol w="751596">
                      <a:extLst>
                        <a:ext uri="{9D8B030D-6E8A-4147-A177-3AD203B41FA5}">
                          <a16:colId xmlns:a16="http://schemas.microsoft.com/office/drawing/2014/main" val="2865446167"/>
                        </a:ext>
                      </a:extLst>
                    </a:gridCol>
                    <a:gridCol w="862058">
                      <a:extLst>
                        <a:ext uri="{9D8B030D-6E8A-4147-A177-3AD203B41FA5}">
                          <a16:colId xmlns:a16="http://schemas.microsoft.com/office/drawing/2014/main" val="2106051835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4185051655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3025766040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4128649253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1679798562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2468032917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2303614858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3644430958"/>
                        </a:ext>
                      </a:extLst>
                    </a:gridCol>
                    <a:gridCol w="801914">
                      <a:extLst>
                        <a:ext uri="{9D8B030D-6E8A-4147-A177-3AD203B41FA5}">
                          <a16:colId xmlns:a16="http://schemas.microsoft.com/office/drawing/2014/main" val="18245792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x(</a:t>
                          </a:r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温度</a:t>
                          </a:r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)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40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45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50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55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60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65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70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75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80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a:t>85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29627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69" t="-103279" r="-1016923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0.3943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0.3809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0.3705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0.3587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0.3455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0.3331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0.3193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0.3049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0.2909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CN" sz="1600" dirty="0">
                              <a:solidFill>
                                <a:schemeClr val="bg1"/>
                              </a:solidFill>
                              <a:highlight>
                                <a:srgbClr val="003B76"/>
                              </a:highlight>
                              <a:latin typeface="华文楷体" panose="02010600040101010101" pitchFamily="2" charset="-122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a:t>0.2771</a:t>
                          </a:r>
                          <a:endParaRPr lang="zh-CN" altLang="en-US" sz="1600" dirty="0">
                            <a:solidFill>
                              <a:schemeClr val="bg1"/>
                            </a:solidFill>
                            <a:highlight>
                              <a:srgbClr val="003B76"/>
                            </a:highlight>
                            <a:latin typeface="华文楷体" panose="02010600040101010101" pitchFamily="2" charset="-122"/>
                            <a:ea typeface="华文楷体" panose="02010600040101010101" pitchFamily="2" charset="-122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66271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237FFE0A-6D06-49CD-B22D-ADC95BE18F88}"/>
              </a:ext>
            </a:extLst>
          </p:cNvPr>
          <p:cNvSpPr/>
          <p:nvPr/>
        </p:nvSpPr>
        <p:spPr>
          <a:xfrm>
            <a:off x="252924" y="2111168"/>
            <a:ext cx="8825636" cy="25160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1</a:t>
            </a:r>
            <a:r>
              <a:rPr lang="zh-CN" altLang="en-US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、绘制散点图，判断是否是线性关系</a:t>
            </a:r>
            <a:endParaRPr lang="en-US" altLang="zh-CN" b="1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  <a:p>
            <a:pPr marL="342900" marR="266700" lvl="0" indent="-342900">
              <a:lnSpc>
                <a:spcPts val="2100"/>
              </a:lnSpc>
              <a:spcAft>
                <a:spcPts val="0"/>
              </a:spcAft>
              <a:buFont typeface="+mj-lt"/>
              <a:buAutoNum type="arabicParenR"/>
            </a:pPr>
            <a:r>
              <a:rPr lang="zh-CN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分别建立时间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t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和</a:t>
            </a:r>
            <a:r>
              <a:rPr lang="zh-CN" altLang="en-US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人口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x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的向量，</a:t>
            </a:r>
            <a:endParaRPr lang="en-US" altLang="zh-CN" kern="100" dirty="0">
              <a:solidFill>
                <a:srgbClr val="000000"/>
              </a:solidFill>
              <a:latin typeface="Times New Roman"/>
              <a:ea typeface="宋体"/>
              <a:cs typeface="Times New Roman"/>
            </a:endParaRPr>
          </a:p>
          <a:p>
            <a:pPr marL="342900" marR="266700" lvl="0" indent="-342900">
              <a:lnSpc>
                <a:spcPts val="2100"/>
              </a:lnSpc>
              <a:spcAft>
                <a:spcPts val="0"/>
              </a:spcAft>
              <a:buFont typeface="+mj-lt"/>
              <a:buAutoNum type="arabicParenR"/>
            </a:pPr>
            <a:r>
              <a:rPr lang="zh-CN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用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scatter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绘制</a:t>
            </a:r>
            <a:r>
              <a:rPr lang="zh-CN" altLang="en-US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人口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x-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时间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t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散点图</a:t>
            </a:r>
            <a:r>
              <a:rPr lang="zh-CN" altLang="en-US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，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用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xlabel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和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ylabel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标注横纵坐标轴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 </a:t>
            </a:r>
            <a:r>
              <a:rPr lang="zh-CN" altLang="en-US" kern="100" dirty="0">
                <a:solidFill>
                  <a:srgbClr val="000000"/>
                </a:solidFill>
                <a:latin typeface="Times New Roman"/>
                <a:ea typeface="宋体"/>
                <a:cs typeface="Times New Roman"/>
              </a:rPr>
              <a:t>，</a:t>
            </a:r>
            <a:endParaRPr lang="en-US" altLang="zh-CN" b="1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  <a:p>
            <a:pPr>
              <a:lnSpc>
                <a:spcPts val="2100"/>
              </a:lnSpc>
            </a:pPr>
            <a:r>
              <a:rPr lang="en-US" altLang="zh-CN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2</a:t>
            </a:r>
            <a:r>
              <a:rPr lang="zh-CN" altLang="en-US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、建立方程系数矩阵、常数向量和增广矩阵</a:t>
            </a:r>
            <a:endParaRPr lang="en-US" altLang="zh-CN" b="1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  <a:p>
            <a:pPr>
              <a:lnSpc>
                <a:spcPts val="2100"/>
              </a:lnSpc>
            </a:pPr>
            <a:r>
              <a:rPr lang="en-US" altLang="zh-CN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3</a:t>
            </a:r>
            <a:r>
              <a:rPr lang="zh-CN" altLang="en-US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、判断方程类型和矩阵函数分析</a:t>
            </a:r>
            <a:endParaRPr lang="en-US" altLang="zh-CN" b="1" kern="100" dirty="0">
              <a:solidFill>
                <a:srgbClr val="FF0000"/>
              </a:solidFill>
              <a:latin typeface="Times New Roman"/>
              <a:ea typeface="宋体"/>
              <a:cs typeface="Times New Roman"/>
            </a:endParaRPr>
          </a:p>
          <a:p>
            <a:pPr>
              <a:lnSpc>
                <a:spcPts val="2100"/>
              </a:lnSpc>
              <a:buFont typeface="+mj-ea"/>
              <a:buAutoNum type="circleNumDbPlain"/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rank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判断方程组的类型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lnSpc>
                <a:spcPts val="21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求方程组的行列式、条件数、逆、伪逆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100"/>
              </a:lnSpc>
            </a:pPr>
            <a:r>
              <a:rPr lang="en-US" altLang="zh-CN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4</a:t>
            </a:r>
            <a:r>
              <a:rPr lang="zh-CN" altLang="en-US" b="1" kern="1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分别采用左除法、伪逆乘法、</a:t>
            </a:r>
            <a:r>
              <a:rPr lang="zh-CN" altLang="zh-CN" dirty="0">
                <a:solidFill>
                  <a:srgbClr val="FF0000"/>
                </a:solidFill>
              </a:rPr>
              <a:t>lsqminnorm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b="1" dirty="0" err="1">
                <a:solidFill>
                  <a:srgbClr val="FF0000"/>
                </a:solidFill>
                <a:latin typeface="-apple-system"/>
              </a:rPr>
              <a:t>linsolve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</a:rPr>
              <a:t>求解线性方程组</a:t>
            </a:r>
            <a:endParaRPr lang="en-US" altLang="zh-CN" b="1" dirty="0">
              <a:solidFill>
                <a:srgbClr val="FF0000"/>
              </a:solidFill>
              <a:latin typeface="-apple-system"/>
            </a:endParaRPr>
          </a:p>
          <a:p>
            <a:pPr>
              <a:lnSpc>
                <a:spcPts val="2100"/>
              </a:lnSpc>
            </a:pPr>
            <a:r>
              <a:rPr lang="en-US" altLang="zh-CN" b="1" dirty="0">
                <a:solidFill>
                  <a:srgbClr val="FF0000"/>
                </a:solidFill>
                <a:latin typeface="-apple-system"/>
                <a:ea typeface="华文楷体" panose="02010600040101010101" pitchFamily="2" charset="-122"/>
              </a:rPr>
              <a:t>5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  <a:ea typeface="华文楷体" panose="02010600040101010101" pitchFamily="2" charset="-122"/>
              </a:rPr>
              <a:t>、</a:t>
            </a:r>
            <a:r>
              <a:rPr lang="en-US" altLang="zh-CN" b="1" dirty="0" err="1">
                <a:solidFill>
                  <a:srgbClr val="FF0000"/>
                </a:solidFill>
                <a:latin typeface="-apple-system"/>
                <a:ea typeface="华文楷体" panose="02010600040101010101" pitchFamily="2" charset="-122"/>
              </a:rPr>
              <a:t>prinln</a:t>
            </a:r>
            <a:r>
              <a:rPr lang="zh-CN" altLang="en-US" b="1" dirty="0">
                <a:solidFill>
                  <a:srgbClr val="FF0000"/>
                </a:solidFill>
                <a:latin typeface="-apple-system"/>
                <a:ea typeface="华文楷体" panose="02010600040101010101" pitchFamily="2" charset="-122"/>
              </a:rPr>
              <a:t>打印和提供方程根，并根据其写出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压降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y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与温度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x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的线性关系式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2">
            <a:extLst>
              <a:ext uri="{FF2B5EF4-FFF2-40B4-BE49-F238E27FC236}">
                <a16:creationId xmlns:a16="http://schemas.microsoft.com/office/drawing/2014/main" id="{15E88E96-FB99-435D-99F2-343E671D4FCA}"/>
              </a:ext>
            </a:extLst>
          </p:cNvPr>
          <p:cNvSpPr txBox="1"/>
          <p:nvPr/>
        </p:nvSpPr>
        <p:spPr>
          <a:xfrm>
            <a:off x="398894" y="37388"/>
            <a:ext cx="8460432" cy="5352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2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———4</a:t>
            </a:r>
            <a:r>
              <a:rPr lang="zh-CN" altLang="en-US" sz="22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、压降和温度方程求解案例</a:t>
            </a:r>
            <a:endParaRPr lang="zh-CN" altLang="zh-CN" sz="22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2777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8830BA5-DA91-4C93-B091-279934CDFE40}"/>
                  </a:ext>
                </a:extLst>
              </p:cNvPr>
              <p:cNvSpPr txBox="1"/>
              <p:nvPr/>
            </p:nvSpPr>
            <p:spPr>
              <a:xfrm>
                <a:off x="217787" y="1371128"/>
                <a:ext cx="3346101" cy="29826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eqArr>
                            <m:eqArr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0.3943=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40 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0.3809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=45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0.3705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50 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0.3587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55 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0.3455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  <m:t>60 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0.3331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65 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0.3193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b="0" i="0" dirty="0" smtClean="0">
                                  <a:solidFill>
                                    <a:srgbClr val="002060"/>
                                  </a:solidFill>
                                  <a:latin typeface="隶书" panose="02010509060101010101" pitchFamily="49" charset="-122"/>
                                  <a:ea typeface="隶书" panose="02010509060101010101" pitchFamily="49" charset="-122"/>
                                </a:rPr>
                                <m:t>70 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0.3049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75 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0.2909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80 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/>
                                <m:t>0.2771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85 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+1∗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8830BA5-DA91-4C93-B091-279934CDF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87" y="1371128"/>
                <a:ext cx="3346101" cy="29826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CD52160-F382-4CAE-B1EF-B423C150669E}"/>
              </a:ext>
            </a:extLst>
          </p:cNvPr>
          <p:cNvSpPr/>
          <p:nvPr/>
        </p:nvSpPr>
        <p:spPr bwMode="auto">
          <a:xfrm>
            <a:off x="2519769" y="1347614"/>
            <a:ext cx="266406" cy="2954619"/>
          </a:xfrm>
          <a:prstGeom prst="roundRect">
            <a:avLst/>
          </a:prstGeom>
          <a:noFill/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33F61D3-7CF4-4E45-B132-F9391EDC0627}"/>
              </a:ext>
            </a:extLst>
          </p:cNvPr>
          <p:cNvSpPr/>
          <p:nvPr/>
        </p:nvSpPr>
        <p:spPr bwMode="auto">
          <a:xfrm>
            <a:off x="409911" y="1351445"/>
            <a:ext cx="1053214" cy="2982676"/>
          </a:xfrm>
          <a:prstGeom prst="roundRect">
            <a:avLst/>
          </a:prstGeom>
          <a:noFill/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B8B350A-BBCE-4D6B-8A9F-DA34484AAF58}"/>
              </a:ext>
            </a:extLst>
          </p:cNvPr>
          <p:cNvSpPr/>
          <p:nvPr/>
        </p:nvSpPr>
        <p:spPr>
          <a:xfrm>
            <a:off x="877673" y="2547849"/>
            <a:ext cx="375459" cy="1097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  <a:spcBef>
                <a:spcPts val="500"/>
              </a:spcBef>
            </a:pPr>
            <a:r>
              <a:rPr lang="en-US" altLang="ko-K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y</a:t>
            </a:r>
          </a:p>
          <a:p>
            <a:pPr>
              <a:lnSpc>
                <a:spcPts val="4000"/>
              </a:lnSpc>
              <a:spcBef>
                <a:spcPts val="500"/>
              </a:spcBef>
            </a:pPr>
            <a:endParaRPr lang="en-US" altLang="ko-KR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521C47-6DA5-4539-82BA-9A366516F97D}"/>
              </a:ext>
            </a:extLst>
          </p:cNvPr>
          <p:cNvSpPr/>
          <p:nvPr/>
        </p:nvSpPr>
        <p:spPr>
          <a:xfrm>
            <a:off x="1683089" y="2501564"/>
            <a:ext cx="415498" cy="515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4000"/>
              </a:lnSpc>
              <a:spcBef>
                <a:spcPts val="500"/>
              </a:spcBef>
            </a:pPr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x1</a:t>
            </a:r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6EDF63E-7FF9-49E3-8AC6-E4F121EEB7D3}"/>
                  </a:ext>
                </a:extLst>
              </p:cNvPr>
              <p:cNvSpPr txBox="1"/>
              <p:nvPr/>
            </p:nvSpPr>
            <p:spPr>
              <a:xfrm>
                <a:off x="487023" y="708105"/>
                <a:ext cx="263778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400" b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altLang="zh-CN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zh-CN" altLang="en-US" sz="2400" b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6EDF63E-7FF9-49E3-8AC6-E4F121EEB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23" y="708105"/>
                <a:ext cx="2637783" cy="461665"/>
              </a:xfrm>
              <a:prstGeom prst="rect">
                <a:avLst/>
              </a:prstGeom>
              <a:blipFill>
                <a:blip r:embed="rId4"/>
                <a:stretch>
                  <a:fillRect l="-924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59088CA-885A-4153-B2D9-337594A63BC8}"/>
              </a:ext>
            </a:extLst>
          </p:cNvPr>
          <p:cNvSpPr/>
          <p:nvPr/>
        </p:nvSpPr>
        <p:spPr bwMode="auto">
          <a:xfrm>
            <a:off x="1683090" y="1364202"/>
            <a:ext cx="415498" cy="2969919"/>
          </a:xfrm>
          <a:prstGeom prst="roundRect">
            <a:avLst/>
          </a:prstGeom>
          <a:noFill/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6426C2-AD7F-4E3A-8919-517C0F6A1812}"/>
              </a:ext>
            </a:extLst>
          </p:cNvPr>
          <p:cNvSpPr/>
          <p:nvPr/>
        </p:nvSpPr>
        <p:spPr>
          <a:xfrm>
            <a:off x="2978805" y="722060"/>
            <a:ext cx="5822962" cy="498136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t">
            <a:noAutofit/>
          </a:bodyPr>
          <a:lstStyle/>
          <a:p>
            <a:pPr algn="dist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矩阵形式的方程：系数矩阵</a:t>
            </a:r>
            <a:r>
              <a:rPr lang="en-US" altLang="zh-CN" sz="2000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[x 1]*kb=y</a:t>
            </a:r>
            <a:r>
              <a:rPr lang="zh-CN" altLang="en-US" sz="2000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常数列向量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4E3D87-3958-403A-80DB-EA1606C998A7}"/>
              </a:ext>
            </a:extLst>
          </p:cNvPr>
          <p:cNvSpPr/>
          <p:nvPr/>
        </p:nvSpPr>
        <p:spPr>
          <a:xfrm>
            <a:off x="284600" y="987574"/>
            <a:ext cx="2782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个点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0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</a:t>
            </a:r>
            <a:r>
              <a:rPr lang="en-US" altLang="zh-CN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</a:t>
            </a:r>
            <a:r>
              <a:rPr lang="zh-CN" altLang="en-US" sz="20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个方程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97AAA80-2E92-4988-BA9A-2636EBC16F01}"/>
              </a:ext>
            </a:extLst>
          </p:cNvPr>
          <p:cNvSpPr/>
          <p:nvPr/>
        </p:nvSpPr>
        <p:spPr>
          <a:xfrm>
            <a:off x="3555114" y="1441335"/>
            <a:ext cx="5328592" cy="31804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2000" dirty="0"/>
              <a:t>x1=[40;45;50;55;60;65;70;75;80;85]; 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#</a:t>
            </a:r>
            <a:r>
              <a:rPr lang="zh-CN" altLang="en-US" sz="2000" dirty="0"/>
              <a:t>截距的系数</a:t>
            </a:r>
            <a:r>
              <a:rPr lang="en-US" altLang="zh-CN" sz="2000" dirty="0"/>
              <a:t>x2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x2=ones(10,1); 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#</a:t>
            </a:r>
            <a:r>
              <a:rPr lang="zh-CN" altLang="en-US" sz="2000" dirty="0"/>
              <a:t>方程的系数矩阵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a=[x1 x2];  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#</a:t>
            </a:r>
            <a:r>
              <a:rPr lang="zh-CN" altLang="en-US" sz="2000" dirty="0"/>
              <a:t>方程的常数列向量</a:t>
            </a:r>
            <a:r>
              <a:rPr lang="en-US" altLang="zh-CN" sz="2000" dirty="0"/>
              <a:t>y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b=[0.3943;0.3809;0.3705;0.3587;0.3455;0.3331;0.3193;0.3049;0.2909;0.2771];</a:t>
            </a:r>
          </a:p>
          <a:p>
            <a:pPr>
              <a:lnSpc>
                <a:spcPts val="2700"/>
              </a:lnSpc>
            </a:pPr>
            <a:r>
              <a:rPr lang="en-US" altLang="zh-CN" sz="2000" dirty="0"/>
              <a:t>ab=[a b]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9AD6C5-C489-4F6A-8819-ABD8D2688914}"/>
              </a:ext>
            </a:extLst>
          </p:cNvPr>
          <p:cNvSpPr/>
          <p:nvPr/>
        </p:nvSpPr>
        <p:spPr>
          <a:xfrm>
            <a:off x="3555114" y="1130711"/>
            <a:ext cx="3661418" cy="40011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anchor="t">
            <a:noAutofit/>
          </a:bodyPr>
          <a:lstStyle/>
          <a:p>
            <a:pPr algn="dist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n w="9525" cap="flat" cmpd="sng"/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建立方程组的系数矩阵</a:t>
            </a:r>
            <a:endParaRPr lang="en-US" altLang="ko-KR" sz="2000" b="1" dirty="0">
              <a:ln w="9525" cap="flat" cmpd="sng"/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B99416-6917-45EF-A7FA-4248759E9317}"/>
              </a:ext>
            </a:extLst>
          </p:cNvPr>
          <p:cNvSpPr/>
          <p:nvPr/>
        </p:nvSpPr>
        <p:spPr>
          <a:xfrm>
            <a:off x="2493830" y="2515198"/>
            <a:ext cx="415498" cy="515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4000"/>
              </a:lnSpc>
              <a:spcBef>
                <a:spcPts val="500"/>
              </a:spcBef>
            </a:pPr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x2</a:t>
            </a:r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8" name="文本框 2">
            <a:extLst>
              <a:ext uri="{FF2B5EF4-FFF2-40B4-BE49-F238E27FC236}">
                <a16:creationId xmlns:a16="http://schemas.microsoft.com/office/drawing/2014/main" id="{D5C44614-E5B6-4302-BDFC-40C9848E4129}"/>
              </a:ext>
            </a:extLst>
          </p:cNvPr>
          <p:cNvSpPr txBox="1"/>
          <p:nvPr/>
        </p:nvSpPr>
        <p:spPr>
          <a:xfrm>
            <a:off x="102420" y="79367"/>
            <a:ext cx="9053572" cy="5352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及案例</a:t>
            </a:r>
            <a:r>
              <a:rPr lang="en-US" altLang="zh-CN" sz="22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———4</a:t>
            </a:r>
            <a:r>
              <a:rPr lang="zh-CN" altLang="en-US" sz="22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、压降和温度方程系数和列向量</a:t>
            </a:r>
            <a:endParaRPr lang="zh-CN" altLang="zh-CN" sz="22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6CBF06F-E0F1-4CA8-A90D-9BF75B0C83F9}"/>
              </a:ext>
            </a:extLst>
          </p:cNvPr>
          <p:cNvSpPr txBox="1"/>
          <p:nvPr/>
        </p:nvSpPr>
        <p:spPr>
          <a:xfrm>
            <a:off x="-121002" y="4318925"/>
            <a:ext cx="4188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三次</a:t>
            </a:r>
            <a:r>
              <a:rPr lang="en-US" altLang="zh-CN" sz="16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p1*x^3+p2*x^2+ p3*x + p4*x^0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095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85B7C9C-7617-439B-A54C-70EB63970ED1}"/>
              </a:ext>
            </a:extLst>
          </p:cNvPr>
          <p:cNvSpPr/>
          <p:nvPr/>
        </p:nvSpPr>
        <p:spPr>
          <a:xfrm>
            <a:off x="683568" y="699542"/>
            <a:ext cx="3852337" cy="425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2200" kern="1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/>
              </a:rPr>
              <a:t>判断方程类型和矩阵函数分析</a:t>
            </a:r>
            <a:endParaRPr lang="en-US" altLang="zh-CN" sz="2200" kern="1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648517-2A96-4AFD-8E25-956292301BAB}"/>
              </a:ext>
            </a:extLst>
          </p:cNvPr>
          <p:cNvSpPr txBox="1"/>
          <p:nvPr/>
        </p:nvSpPr>
        <p:spPr>
          <a:xfrm>
            <a:off x="323528" y="2048631"/>
            <a:ext cx="80490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 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系数矩阵为非方阵、行列式不存在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  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系数矩阵为非方阵、 逆不存在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pinv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  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伪逆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 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条件数</a:t>
            </a:r>
            <a:endParaRPr lang="en-US" altLang="zh-CN" sz="20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#</a:t>
            </a:r>
            <a:r>
              <a:rPr lang="zh-CN" altLang="en-US" sz="2000" b="1" dirty="0">
                <a:solidFill>
                  <a:srgbClr val="FF0000"/>
                </a:solidFill>
              </a:rPr>
              <a:t>条件数结果</a:t>
            </a:r>
            <a:r>
              <a:rPr lang="en-US" altLang="zh-CN" sz="2000" b="1" dirty="0">
                <a:solidFill>
                  <a:srgbClr val="FF0000"/>
                </a:solidFill>
              </a:rPr>
              <a:t>286.42388378054625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F1F21E-7636-44EE-BB56-38A2D748F657}"/>
              </a:ext>
            </a:extLst>
          </p:cNvPr>
          <p:cNvSpPr txBox="1"/>
          <p:nvPr/>
        </p:nvSpPr>
        <p:spPr>
          <a:xfrm>
            <a:off x="201262" y="3759777"/>
            <a:ext cx="87141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zh-CN" altLang="en-US" dirty="0">
                <a:solidFill>
                  <a:srgbClr val="FF0000"/>
                </a:solidFill>
              </a:rPr>
              <a:t>伪逆结果2×10 Matrix{Float64}: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-0.0109091  -0.00848485  -0.00606061  …   0.00606061   0.00848485   0.0109091        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0.781818    0.630303     0.478788       -0.278788    -0.430303    -0.581818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CE4232-4553-47BC-8DBD-882BD610EB59}"/>
              </a:ext>
            </a:extLst>
          </p:cNvPr>
          <p:cNvSpPr txBox="1"/>
          <p:nvPr/>
        </p:nvSpPr>
        <p:spPr>
          <a:xfrm>
            <a:off x="335294" y="1146075"/>
            <a:ext cx="4628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rank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  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系数矩阵的秩结果为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rank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(ab)  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增广矩阵的秩结果为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因此判断为超定线性方程</a:t>
            </a:r>
            <a:endParaRPr lang="en-US" altLang="zh-CN" sz="1800" b="1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文本框 2">
            <a:extLst>
              <a:ext uri="{FF2B5EF4-FFF2-40B4-BE49-F238E27FC236}">
                <a16:creationId xmlns:a16="http://schemas.microsoft.com/office/drawing/2014/main" id="{DC5008E5-67E4-4561-AE4B-97E9CEC1B3B9}"/>
              </a:ext>
            </a:extLst>
          </p:cNvPr>
          <p:cNvSpPr txBox="1"/>
          <p:nvPr/>
        </p:nvSpPr>
        <p:spPr>
          <a:xfrm>
            <a:off x="323528" y="25016"/>
            <a:ext cx="8730044" cy="5352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和案例</a:t>
            </a:r>
            <a:r>
              <a:rPr lang="en-US" altLang="zh-CN" sz="22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———4</a:t>
            </a:r>
            <a:r>
              <a:rPr lang="zh-CN" altLang="en-US" sz="22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、压降和温度方程的函数操作</a:t>
            </a:r>
            <a:endParaRPr lang="zh-CN" altLang="zh-CN" sz="22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0137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045F44-2FBE-47A7-88D8-4B9615E816BC}"/>
              </a:ext>
            </a:extLst>
          </p:cNvPr>
          <p:cNvSpPr/>
          <p:nvPr/>
        </p:nvSpPr>
        <p:spPr>
          <a:xfrm>
            <a:off x="369597" y="771550"/>
            <a:ext cx="8087470" cy="4281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分别采左除法、伪逆乘法、</a:t>
            </a:r>
            <a:r>
              <a:rPr lang="zh-CN" altLang="zh-CN" sz="2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lsqminnorm</a:t>
            </a:r>
            <a:r>
              <a:rPr lang="zh-CN" altLang="en-US" sz="2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400" b="1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linsolve</a:t>
            </a:r>
            <a:r>
              <a:rPr lang="zh-CN" altLang="en-US" sz="24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求解方程组</a:t>
            </a:r>
            <a:endParaRPr lang="en-US" altLang="zh-CN" sz="2200" kern="1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40C92E-1B3A-4FED-AE1C-F96C42D38969}"/>
              </a:ext>
            </a:extLst>
          </p:cNvPr>
          <p:cNvSpPr txBox="1"/>
          <p:nvPr/>
        </p:nvSpPr>
        <p:spPr>
          <a:xfrm>
            <a:off x="323528" y="1051518"/>
            <a:ext cx="84873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xz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=a\b;</a:t>
            </a:r>
          </a:p>
          <a:p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xp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pinv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(a)*b;</a:t>
            </a:r>
          </a:p>
          <a:p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xi=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lsqminnorm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a,b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xl=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linsolve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a,b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左除法</a:t>
            </a:r>
            <a:r>
              <a:rPr lang="en-US" altLang="zh-CN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xz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altLang="zh-C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xz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伪逆法</a:t>
            </a:r>
            <a:r>
              <a:rPr lang="en-US" altLang="zh-CN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xp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altLang="zh-C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xp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最小二乘法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xi=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$xi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分解法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xl=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$xl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381A45-D5BE-4F95-A201-920DEBBE7C68}"/>
              </a:ext>
            </a:extLst>
          </p:cNvPr>
          <p:cNvSpPr txBox="1"/>
          <p:nvPr/>
        </p:nvSpPr>
        <p:spPr>
          <a:xfrm>
            <a:off x="323528" y="2929331"/>
            <a:ext cx="9001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结果：左除法xz=[-0.002598060606060608, 0.49989878787878794]伪逆法xp=[-0.0025980606060606076, 0.4998987878787884]最小二乘法xi=[-0.0025980606060606085, 0.4998987878787881]分解法xl=[-0.0025980606060606055; 0.4998987878787878;;]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C350DBE-05FC-4AF8-89EE-3AF4E448EA43}"/>
                  </a:ext>
                </a:extLst>
              </p:cNvPr>
              <p:cNvSpPr txBox="1"/>
              <p:nvPr/>
            </p:nvSpPr>
            <p:spPr>
              <a:xfrm>
                <a:off x="369597" y="4175826"/>
                <a:ext cx="57986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80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800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+1∗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0" lang="zh-CN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压降</a:t>
                </a:r>
                <a:r>
                  <a: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y</a:t>
                </a:r>
                <a:r>
                  <a:rPr kumimoji="0" lang="zh-CN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与温度</a:t>
                </a:r>
                <a:r>
                  <a: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x</a:t>
                </a:r>
                <a:r>
                  <a:rPr kumimoji="0" lang="zh-CN" altLang="en-US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的线性关系式：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C350DBE-05FC-4AF8-89EE-3AF4E448E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97" y="4175826"/>
                <a:ext cx="5798670" cy="369332"/>
              </a:xfrm>
              <a:prstGeom prst="rect">
                <a:avLst/>
              </a:prstGeom>
              <a:blipFill>
                <a:blip r:embed="rId3"/>
                <a:stretch>
                  <a:fillRect l="-946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5ACAF59-8180-424D-816E-628447648A77}"/>
                  </a:ext>
                </a:extLst>
              </p:cNvPr>
              <p:cNvSpPr txBox="1"/>
              <p:nvPr/>
            </p:nvSpPr>
            <p:spPr>
              <a:xfrm>
                <a:off x="5604251" y="4133251"/>
                <a:ext cx="2938999" cy="40011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000" dirty="0">
                          <a:solidFill>
                            <a:schemeClr val="bg1"/>
                          </a:solidFill>
                        </a:rPr>
                        <m:t>−0.0026</m:t>
                      </m:r>
                      <m:r>
                        <a:rPr lang="en-US" altLang="zh-CN" sz="2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CN" altLang="en-US" sz="2000" dirty="0">
                          <a:solidFill>
                            <a:schemeClr val="bg1"/>
                          </a:solidFill>
                        </a:rPr>
                        <m:t>0.4999</m:t>
                      </m:r>
                    </m:oMath>
                  </m:oMathPara>
                </a14:m>
                <a:endParaRPr lang="zh-CN" altLang="en-US" sz="2000" b="1" i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5ACAF59-8180-424D-816E-628447648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251" y="4133251"/>
                <a:ext cx="2938999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5393508A-9D70-49EA-B3A0-3B06266F73B5}"/>
              </a:ext>
            </a:extLst>
          </p:cNvPr>
          <p:cNvSpPr/>
          <p:nvPr/>
        </p:nvSpPr>
        <p:spPr>
          <a:xfrm>
            <a:off x="3096344" y="3868049"/>
            <a:ext cx="2150683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highlight>
                  <a:srgbClr val="003B76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s-ES" altLang="zh-CN" sz="1400" dirty="0">
                <a:solidFill>
                  <a:schemeClr val="bg1"/>
                </a:solidFill>
                <a:highlight>
                  <a:srgbClr val="003B76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 = -0.0026   </a:t>
            </a:r>
            <a:r>
              <a:rPr lang="en-US" altLang="zh-CN" sz="1400" dirty="0">
                <a:solidFill>
                  <a:schemeClr val="bg1"/>
                </a:solidFill>
                <a:highlight>
                  <a:srgbClr val="003B76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s-ES" altLang="zh-CN" sz="1400" dirty="0">
                <a:solidFill>
                  <a:schemeClr val="bg1"/>
                </a:solidFill>
                <a:highlight>
                  <a:srgbClr val="003B76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0.4999</a:t>
            </a:r>
            <a:endParaRPr lang="zh-CN" altLang="en-US" sz="1400" dirty="0">
              <a:solidFill>
                <a:schemeClr val="bg1"/>
              </a:solidFill>
              <a:highlight>
                <a:srgbClr val="003B76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C66A166F-971B-4279-8C31-5ACB1B13FF47}"/>
              </a:ext>
            </a:extLst>
          </p:cNvPr>
          <p:cNvSpPr txBox="1"/>
          <p:nvPr/>
        </p:nvSpPr>
        <p:spPr>
          <a:xfrm>
            <a:off x="323528" y="25016"/>
            <a:ext cx="8730044" cy="5352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和案例</a:t>
            </a:r>
            <a:r>
              <a:rPr lang="en-US" altLang="zh-CN" sz="22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———4</a:t>
            </a:r>
            <a:r>
              <a:rPr lang="zh-CN" altLang="en-US" sz="22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、压降和温度方程的求解</a:t>
            </a:r>
            <a:endParaRPr lang="zh-CN" altLang="zh-CN" sz="22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2274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E8D00EC-BB7B-43E1-B371-81740CB09B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98" t="11893" r="4601" b="6601"/>
          <a:stretch/>
        </p:blipFill>
        <p:spPr>
          <a:xfrm>
            <a:off x="4590973" y="1284547"/>
            <a:ext cx="4065139" cy="249768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2CE7E94-9B1A-4981-874F-4B751FFC1EDF}"/>
              </a:ext>
            </a:extLst>
          </p:cNvPr>
          <p:cNvSpPr/>
          <p:nvPr/>
        </p:nvSpPr>
        <p:spPr>
          <a:xfrm>
            <a:off x="5226308" y="1654891"/>
            <a:ext cx="36135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</a:t>
            </a:r>
            <a:r>
              <a:rPr lang="es-ES" altLang="zh-CN" sz="2000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kb = -0.0026    0.4999</a:t>
            </a:r>
            <a:endParaRPr lang="zh-CN" altLang="en-US" sz="2000" dirty="0">
              <a:solidFill>
                <a:srgbClr val="33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B6DEB4-A344-4F20-85DD-A7FCD89EDEF0}"/>
              </a:ext>
            </a:extLst>
          </p:cNvPr>
          <p:cNvSpPr/>
          <p:nvPr/>
        </p:nvSpPr>
        <p:spPr>
          <a:xfrm>
            <a:off x="487889" y="1284547"/>
            <a:ext cx="3580056" cy="2822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#</a:t>
            </a:r>
            <a:r>
              <a:rPr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显示根结果</a:t>
            </a:r>
            <a:endParaRPr lang="en-U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altLang="zh-CN" sz="2200" dirty="0" err="1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println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("</a:t>
            </a:r>
            <a:r>
              <a:rPr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根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kb=$kb") </a:t>
            </a:r>
          </a:p>
          <a:p>
            <a:pPr>
              <a:lnSpc>
                <a:spcPts val="3600"/>
              </a:lnSpc>
            </a:pP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#</a:t>
            </a:r>
            <a:r>
              <a:rPr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建立线性关系函数</a:t>
            </a:r>
            <a:endParaRPr lang="en-U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3600"/>
              </a:lnSpc>
            </a:pPr>
            <a:r>
              <a:rPr lang="en-US" altLang="zh-CN" sz="22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yy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(x)=kb[1]*</a:t>
            </a:r>
            <a:r>
              <a:rPr lang="en-US" altLang="zh-CN" sz="22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x+kb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[2]</a:t>
            </a:r>
          </a:p>
          <a:p>
            <a:pPr>
              <a:lnSpc>
                <a:spcPts val="3600"/>
              </a:lnSpc>
            </a:pP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#</a:t>
            </a:r>
            <a:r>
              <a:rPr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根据线性函数绘图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 </a:t>
            </a:r>
            <a:endParaRPr lang="en-U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3600"/>
              </a:lnSpc>
            </a:pPr>
            <a:r>
              <a:rPr lang="en-US" altLang="zh-CN" sz="22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fplot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en-US" altLang="zh-CN" sz="22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yy</a:t>
            </a:r>
            <a:r>
              <a:rPr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,[20,110]) </a:t>
            </a:r>
            <a:endParaRPr lang="es-E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2E4F5C-1B2F-4D53-8650-B3648A1D8F09}"/>
              </a:ext>
            </a:extLst>
          </p:cNvPr>
          <p:cNvSpPr/>
          <p:nvPr/>
        </p:nvSpPr>
        <p:spPr>
          <a:xfrm>
            <a:off x="487889" y="712039"/>
            <a:ext cx="3931315" cy="55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  <a:spcBef>
                <a:spcPts val="500"/>
              </a:spcBef>
            </a:pP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绘制拟合的直线</a:t>
            </a:r>
            <a:endParaRPr lang="es-E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4045F0F-BB2B-4AB2-800B-5AC62C6AF2F0}"/>
                  </a:ext>
                </a:extLst>
              </p:cNvPr>
              <p:cNvSpPr txBox="1"/>
              <p:nvPr/>
            </p:nvSpPr>
            <p:spPr>
              <a:xfrm>
                <a:off x="5148064" y="2220247"/>
                <a:ext cx="35031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33CCFF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m:rPr>
                          <m:nor/>
                        </m:rPr>
                        <a:rPr lang="en-US" altLang="zh-CN" sz="2400" b="1" i="0" smtClean="0">
                          <a:solidFill>
                            <a:srgbClr val="33CC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400" b="1" dirty="0">
                          <a:solidFill>
                            <a:srgbClr val="33CCFF"/>
                          </a:solidFill>
                        </a:rPr>
                        <m:t>−0.0026</m:t>
                      </m:r>
                      <m:r>
                        <a:rPr lang="en-US" altLang="zh-CN" sz="2400" b="1" i="1">
                          <a:solidFill>
                            <a:srgbClr val="33CCFF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b="1" i="1" smtClean="0">
                          <a:solidFill>
                            <a:srgbClr val="33CC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CN" altLang="en-US" sz="2400" b="1" dirty="0">
                          <a:solidFill>
                            <a:srgbClr val="33CCFF"/>
                          </a:solidFill>
                        </a:rPr>
                        <m:t>0.4999</m:t>
                      </m:r>
                    </m:oMath>
                  </m:oMathPara>
                </a14:m>
                <a:endParaRPr lang="zh-CN" altLang="en-US" sz="2400" b="1" i="1" dirty="0">
                  <a:solidFill>
                    <a:srgbClr val="33CCFF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4045F0F-BB2B-4AB2-800B-5AC62C6AF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2220247"/>
                <a:ext cx="3503167" cy="461665"/>
              </a:xfrm>
              <a:prstGeom prst="rect">
                <a:avLst/>
              </a:prstGeom>
              <a:blipFill>
                <a:blip r:embed="rId3"/>
                <a:stretch>
                  <a:fillRect l="-522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464D4C7A-E27C-4466-86EF-88D77DB27076}"/>
              </a:ext>
            </a:extLst>
          </p:cNvPr>
          <p:cNvSpPr txBox="1"/>
          <p:nvPr/>
        </p:nvSpPr>
        <p:spPr>
          <a:xfrm>
            <a:off x="1331640" y="4242898"/>
            <a:ext cx="5688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 eaLnBrk="0" fontAlgn="auto">
              <a:spcBef>
                <a:spcPts val="0"/>
              </a:spcBef>
              <a:spcAft>
                <a:spcPts val="0"/>
              </a:spcAft>
              <a:defRPr b="1">
                <a:ln w="9525" cap="flat" cmpd="sng"/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宋体" panose="02010600030101010101" pitchFamily="2" charset="-122"/>
              </a:defRPr>
            </a:lvl1pPr>
          </a:lstStyle>
          <a:p>
            <a:r>
              <a:rPr lang="zh-CN" altLang="en-US" dirty="0"/>
              <a:t>伪逆乘法（</a:t>
            </a:r>
            <a:r>
              <a:rPr lang="en-US" altLang="zh-CN" dirty="0" err="1"/>
              <a:t>pinv</a:t>
            </a:r>
            <a:r>
              <a:rPr lang="zh-CN" altLang="en-US" dirty="0"/>
              <a:t>）</a:t>
            </a:r>
            <a:r>
              <a:rPr lang="en-US" altLang="zh-CN" dirty="0"/>
              <a:t>‌ </a:t>
            </a:r>
            <a:r>
              <a:rPr lang="zh-CN" altLang="en-US" dirty="0"/>
              <a:t>或 ‌</a:t>
            </a:r>
            <a:r>
              <a:rPr lang="en-US" altLang="zh-CN" dirty="0" err="1"/>
              <a:t>lsqminnorm</a:t>
            </a:r>
            <a:r>
              <a:rPr lang="zh-CN" altLang="en-US" dirty="0"/>
              <a:t>更适合超定方程组</a:t>
            </a:r>
            <a:r>
              <a:rPr lang="en-US" altLang="zh-CN" dirty="0"/>
              <a:t>‌</a:t>
            </a:r>
            <a:endParaRPr lang="zh-CN" altLang="en-US" dirty="0"/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72E538AB-8326-4B4C-9FA9-5ABB2A1C1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4036045"/>
            <a:ext cx="877444" cy="530737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20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</a:p>
        </p:txBody>
      </p:sp>
      <p:sp>
        <p:nvSpPr>
          <p:cNvPr id="11" name="文本框 2">
            <a:extLst>
              <a:ext uri="{FF2B5EF4-FFF2-40B4-BE49-F238E27FC236}">
                <a16:creationId xmlns:a16="http://schemas.microsoft.com/office/drawing/2014/main" id="{CA246C05-7D0B-4122-BFEC-0A763C5EDCAD}"/>
              </a:ext>
            </a:extLst>
          </p:cNvPr>
          <p:cNvSpPr txBox="1"/>
          <p:nvPr/>
        </p:nvSpPr>
        <p:spPr>
          <a:xfrm>
            <a:off x="593856" y="41443"/>
            <a:ext cx="8514647" cy="5352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二、上机</a:t>
            </a:r>
            <a:r>
              <a:rPr lang="zh-CN" altLang="en-US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和大作业</a:t>
            </a:r>
            <a:r>
              <a:rPr lang="zh-CN" altLang="zh-CN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2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和案例</a:t>
            </a:r>
            <a:r>
              <a:rPr lang="en-US" altLang="zh-CN" sz="22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———4</a:t>
            </a:r>
            <a:r>
              <a:rPr lang="zh-CN" altLang="en-US" sz="2200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、压降和温度的结果可视化</a:t>
            </a:r>
            <a:endParaRPr lang="zh-CN" altLang="zh-CN" sz="2200" dirty="0">
              <a:solidFill>
                <a:srgbClr val="FF0000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5300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0E2035-768A-46F8-A6F3-AA3F6C5CF7B3}"/>
              </a:ext>
            </a:extLst>
          </p:cNvPr>
          <p:cNvSpPr txBox="1"/>
          <p:nvPr/>
        </p:nvSpPr>
        <p:spPr>
          <a:xfrm>
            <a:off x="1771377" y="57417"/>
            <a:ext cx="7041255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——</a:t>
            </a:r>
            <a:r>
              <a:rPr lang="en-US" altLang="zh-CN" sz="2400" b="1" kern="18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1.</a:t>
            </a:r>
            <a:r>
              <a:rPr lang="zh-CN" altLang="en-US" sz="24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体重和身高曲线拟合</a:t>
            </a:r>
            <a:endParaRPr lang="zh-CN" altLang="zh-CN" sz="24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55007B7-1765-4EAA-91DC-AFDDD3219B8E}"/>
              </a:ext>
            </a:extLst>
          </p:cNvPr>
          <p:cNvSpPr txBox="1"/>
          <p:nvPr/>
        </p:nvSpPr>
        <p:spPr>
          <a:xfrm>
            <a:off x="277502" y="2838280"/>
            <a:ext cx="88872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、采用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TyCurveFitting.fit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模型为“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exp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”拟合身高和体重的关系，其拟合结果为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</a:t>
            </a:r>
            <a:endParaRPr lang="zh-CN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、访问拟合度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f.s_data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，判断此指数模型拟合效果如何</a:t>
            </a:r>
          </a:p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、输入你身高，用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f(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身高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）预测你体重，是否和你实际体重相符或则误差很大</a:t>
            </a:r>
          </a:p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、用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scatter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绘制身高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和体重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的散点图，用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hold 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on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模式叠加拟合曲线</a:t>
            </a:r>
          </a:p>
          <a:p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、用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xlim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将预测范围调整为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[150,200] ,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再用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TyCurveFitting.plotfit</a:t>
            </a:r>
            <a:r>
              <a:rPr lang="zh-CN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在散点图上绘制拟合预测曲线及其置信区间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7D6C22B-D7E8-4D39-B5CF-E6F15FAF115C}"/>
              </a:ext>
            </a:extLst>
          </p:cNvPr>
          <p:cNvSpPr txBox="1"/>
          <p:nvPr/>
        </p:nvSpPr>
        <p:spPr>
          <a:xfrm>
            <a:off x="277502" y="1089775"/>
            <a:ext cx="7776864" cy="3668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抽检了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个人身高和体重的数据，如下表所示</a:t>
            </a:r>
            <a:r>
              <a:rPr lang="zh-CN" altLang="en-US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2FA12E-3032-41D8-A789-03EE8A3EDC0E}"/>
              </a:ext>
            </a:extLst>
          </p:cNvPr>
          <p:cNvSpPr txBox="1"/>
          <p:nvPr/>
        </p:nvSpPr>
        <p:spPr>
          <a:xfrm>
            <a:off x="277502" y="2490450"/>
            <a:ext cx="8530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zh-CN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体重关于身高遵循</a:t>
            </a:r>
            <a:r>
              <a:rPr lang="en-US" altLang="zh-CN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exp</a:t>
            </a:r>
            <a:r>
              <a:rPr lang="zh-CN" altLang="zh-CN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指数模型：</a:t>
            </a:r>
            <a:r>
              <a:rPr lang="en-US" altLang="zh-CN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y(</a:t>
            </a:r>
            <a:r>
              <a:rPr lang="en-US" altLang="zh-CN" b="1" kern="100" dirty="0" err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a,b,x</a:t>
            </a:r>
            <a:r>
              <a:rPr lang="en-US" altLang="zh-CN" b="1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= a*exp(b*x)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6F686A02-FEE4-4089-9B0D-2A21F3011AD3}"/>
              </a:ext>
            </a:extLst>
          </p:cNvPr>
          <p:cNvSpPr txBox="1"/>
          <p:nvPr/>
        </p:nvSpPr>
        <p:spPr bwMode="auto">
          <a:xfrm>
            <a:off x="395536" y="710866"/>
            <a:ext cx="5062874" cy="33723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dist" eaLnBrk="0" fontAlgn="base" hangingPunct="0"/>
            <a:r>
              <a:rPr lang="en-US" sz="1400" b="1" kern="1800" dirty="0" err="1">
                <a:solidFill>
                  <a:schemeClr val="bg1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fitobject</a:t>
            </a:r>
            <a:r>
              <a:rPr lang="en-US" sz="1400" b="1" kern="1200" dirty="0"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=</a:t>
            </a:r>
            <a:r>
              <a:rPr lang="en-US" sz="1400" b="1" kern="1800" dirty="0" err="1">
                <a:solidFill>
                  <a:schemeClr val="bg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TyCurveFitting.</a:t>
            </a:r>
            <a:r>
              <a:rPr lang="en-US" sz="1400" b="1" kern="1200" dirty="0" err="1"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fit</a:t>
            </a:r>
            <a:r>
              <a:rPr lang="en-US" sz="1400" b="1" kern="1200" dirty="0"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(</a:t>
            </a:r>
            <a:r>
              <a:rPr lang="en-US" sz="1400" b="1" kern="1200" dirty="0" err="1"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fitType,x,y</a:t>
            </a:r>
            <a:r>
              <a:rPr lang="en-US" sz="1400" b="1" kern="1200" dirty="0"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)</a:t>
            </a:r>
            <a:r>
              <a:rPr lang="en-US" sz="1400" b="1" kern="1200" dirty="0">
                <a:solidFill>
                  <a:schemeClr val="bg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sz="1400" b="1" kern="100" dirty="0">
              <a:solidFill>
                <a:schemeClr val="bg1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31C92994-D15A-4D84-82C2-628BB746EC8C}"/>
              </a:ext>
            </a:extLst>
          </p:cNvPr>
          <p:cNvSpPr txBox="1"/>
          <p:nvPr/>
        </p:nvSpPr>
        <p:spPr bwMode="auto">
          <a:xfrm>
            <a:off x="6156176" y="738538"/>
            <a:ext cx="2500023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defRPr kumimoji="0" sz="2000" b="0" i="0" u="none" strike="noStrike" kern="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 err="1"/>
              <a:t>plotfit</a:t>
            </a:r>
            <a:r>
              <a:rPr lang="en-US" altLang="zh-CN" sz="1600" dirty="0"/>
              <a:t>(</a:t>
            </a:r>
            <a:r>
              <a:rPr lang="zh-CN" altLang="zh-CN" sz="1600" dirty="0"/>
              <a:t>fitobject</a:t>
            </a:r>
            <a:r>
              <a:rPr lang="en-US" altLang="zh-CN" sz="1600" dirty="0"/>
              <a:t>,</a:t>
            </a:r>
            <a:r>
              <a:rPr lang="zh-CN" altLang="zh-CN" sz="1600" dirty="0">
                <a:highlight>
                  <a:srgbClr val="FF0000"/>
                </a:highlight>
              </a:rPr>
              <a:t>“</a:t>
            </a:r>
            <a:r>
              <a:rPr lang="en-US" altLang="zh-CN" sz="1600" dirty="0" err="1">
                <a:highlight>
                  <a:srgbClr val="FF0000"/>
                </a:highlight>
              </a:rPr>
              <a:t>predfun</a:t>
            </a:r>
            <a:r>
              <a:rPr lang="zh-CN" altLang="zh-CN" sz="1600" dirty="0">
                <a:highlight>
                  <a:srgbClr val="FF0000"/>
                </a:highlight>
              </a:rPr>
              <a:t>"</a:t>
            </a:r>
            <a:r>
              <a:rPr lang="en-US" altLang="zh-CN" sz="1600" dirty="0">
                <a:highlight>
                  <a:srgbClr val="FF0000"/>
                </a:highlight>
              </a:rPr>
              <a:t>)</a:t>
            </a:r>
            <a:endParaRPr lang="zh-CN" altLang="zh-CN" sz="1600" dirty="0">
              <a:highlight>
                <a:srgbClr val="FF0000"/>
              </a:highlight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E459823-4447-4706-9DAF-7B5C794CA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93042"/>
              </p:ext>
            </p:extLst>
          </p:nvPr>
        </p:nvGraphicFramePr>
        <p:xfrm>
          <a:off x="2243716" y="1402962"/>
          <a:ext cx="6757328" cy="4598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1994">
                  <a:extLst>
                    <a:ext uri="{9D8B030D-6E8A-4147-A177-3AD203B41FA5}">
                      <a16:colId xmlns:a16="http://schemas.microsoft.com/office/drawing/2014/main" val="2710501650"/>
                    </a:ext>
                  </a:extLst>
                </a:gridCol>
                <a:gridCol w="543579">
                  <a:extLst>
                    <a:ext uri="{9D8B030D-6E8A-4147-A177-3AD203B41FA5}">
                      <a16:colId xmlns:a16="http://schemas.microsoft.com/office/drawing/2014/main" val="1499405808"/>
                    </a:ext>
                  </a:extLst>
                </a:gridCol>
                <a:gridCol w="852787">
                  <a:extLst>
                    <a:ext uri="{9D8B030D-6E8A-4147-A177-3AD203B41FA5}">
                      <a16:colId xmlns:a16="http://schemas.microsoft.com/office/drawing/2014/main" val="4292282358"/>
                    </a:ext>
                  </a:extLst>
                </a:gridCol>
                <a:gridCol w="852787">
                  <a:extLst>
                    <a:ext uri="{9D8B030D-6E8A-4147-A177-3AD203B41FA5}">
                      <a16:colId xmlns:a16="http://schemas.microsoft.com/office/drawing/2014/main" val="840455062"/>
                    </a:ext>
                  </a:extLst>
                </a:gridCol>
                <a:gridCol w="852787">
                  <a:extLst>
                    <a:ext uri="{9D8B030D-6E8A-4147-A177-3AD203B41FA5}">
                      <a16:colId xmlns:a16="http://schemas.microsoft.com/office/drawing/2014/main" val="2974981431"/>
                    </a:ext>
                  </a:extLst>
                </a:gridCol>
                <a:gridCol w="852787">
                  <a:extLst>
                    <a:ext uri="{9D8B030D-6E8A-4147-A177-3AD203B41FA5}">
                      <a16:colId xmlns:a16="http://schemas.microsoft.com/office/drawing/2014/main" val="1001220680"/>
                    </a:ext>
                  </a:extLst>
                </a:gridCol>
                <a:gridCol w="852787">
                  <a:extLst>
                    <a:ext uri="{9D8B030D-6E8A-4147-A177-3AD203B41FA5}">
                      <a16:colId xmlns:a16="http://schemas.microsoft.com/office/drawing/2014/main" val="3339398718"/>
                    </a:ext>
                  </a:extLst>
                </a:gridCol>
                <a:gridCol w="787820">
                  <a:extLst>
                    <a:ext uri="{9D8B030D-6E8A-4147-A177-3AD203B41FA5}">
                      <a16:colId xmlns:a16="http://schemas.microsoft.com/office/drawing/2014/main" val="1944080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zh-CN" sz="1200" kern="100" dirty="0">
                          <a:effectLst/>
                        </a:rPr>
                        <a:t>身高</a:t>
                      </a:r>
                      <a:r>
                        <a:rPr lang="en-US" sz="1200" kern="100" dirty="0">
                          <a:effectLst/>
                        </a:rPr>
                        <a:t>x</a:t>
                      </a:r>
                      <a:r>
                        <a:rPr lang="zh-CN" sz="1200" kern="100" dirty="0">
                          <a:effectLst/>
                        </a:rPr>
                        <a:t>（</a:t>
                      </a:r>
                      <a:r>
                        <a:rPr lang="en-US" sz="1200" kern="100" dirty="0">
                          <a:effectLst/>
                        </a:rPr>
                        <a:t>cm</a:t>
                      </a:r>
                      <a:r>
                        <a:rPr lang="zh-CN" sz="1200" kern="100" dirty="0">
                          <a:effectLst/>
                        </a:rPr>
                        <a:t>）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167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169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172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175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178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180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182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4574675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zh-CN" sz="1200" kern="100">
                          <a:effectLst/>
                        </a:rPr>
                        <a:t>体重</a:t>
                      </a:r>
                      <a:r>
                        <a:rPr lang="en-US" sz="1200" kern="100">
                          <a:effectLst/>
                        </a:rPr>
                        <a:t>y</a:t>
                      </a:r>
                      <a:r>
                        <a:rPr lang="zh-CN" sz="1200" kern="100">
                          <a:effectLst/>
                        </a:rPr>
                        <a:t>（</a:t>
                      </a:r>
                      <a:r>
                        <a:rPr lang="en-US" sz="1200" kern="100">
                          <a:effectLst/>
                        </a:rPr>
                        <a:t>kg</a:t>
                      </a:r>
                      <a:r>
                        <a:rPr lang="zh-CN" sz="1200" kern="100">
                          <a:effectLst/>
                        </a:rPr>
                        <a:t>）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67.80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70.05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73.09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74.06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78.20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79.05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82.23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660188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FE6D73F-8F47-49EA-9539-EA3FC7214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997366"/>
              </p:ext>
            </p:extLst>
          </p:nvPr>
        </p:nvGraphicFramePr>
        <p:xfrm>
          <a:off x="2248822" y="1988239"/>
          <a:ext cx="6752221" cy="4598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1116">
                  <a:extLst>
                    <a:ext uri="{9D8B030D-6E8A-4147-A177-3AD203B41FA5}">
                      <a16:colId xmlns:a16="http://schemas.microsoft.com/office/drawing/2014/main" val="2551540331"/>
                    </a:ext>
                  </a:extLst>
                </a:gridCol>
                <a:gridCol w="543169">
                  <a:extLst>
                    <a:ext uri="{9D8B030D-6E8A-4147-A177-3AD203B41FA5}">
                      <a16:colId xmlns:a16="http://schemas.microsoft.com/office/drawing/2014/main" val="918116399"/>
                    </a:ext>
                  </a:extLst>
                </a:gridCol>
                <a:gridCol w="852142">
                  <a:extLst>
                    <a:ext uri="{9D8B030D-6E8A-4147-A177-3AD203B41FA5}">
                      <a16:colId xmlns:a16="http://schemas.microsoft.com/office/drawing/2014/main" val="640091749"/>
                    </a:ext>
                  </a:extLst>
                </a:gridCol>
                <a:gridCol w="852142">
                  <a:extLst>
                    <a:ext uri="{9D8B030D-6E8A-4147-A177-3AD203B41FA5}">
                      <a16:colId xmlns:a16="http://schemas.microsoft.com/office/drawing/2014/main" val="1466414896"/>
                    </a:ext>
                  </a:extLst>
                </a:gridCol>
                <a:gridCol w="852142">
                  <a:extLst>
                    <a:ext uri="{9D8B030D-6E8A-4147-A177-3AD203B41FA5}">
                      <a16:colId xmlns:a16="http://schemas.microsoft.com/office/drawing/2014/main" val="240650227"/>
                    </a:ext>
                  </a:extLst>
                </a:gridCol>
                <a:gridCol w="852142">
                  <a:extLst>
                    <a:ext uri="{9D8B030D-6E8A-4147-A177-3AD203B41FA5}">
                      <a16:colId xmlns:a16="http://schemas.microsoft.com/office/drawing/2014/main" val="1459383719"/>
                    </a:ext>
                  </a:extLst>
                </a:gridCol>
                <a:gridCol w="852142">
                  <a:extLst>
                    <a:ext uri="{9D8B030D-6E8A-4147-A177-3AD203B41FA5}">
                      <a16:colId xmlns:a16="http://schemas.microsoft.com/office/drawing/2014/main" val="2846785374"/>
                    </a:ext>
                  </a:extLst>
                </a:gridCol>
                <a:gridCol w="787226">
                  <a:extLst>
                    <a:ext uri="{9D8B030D-6E8A-4147-A177-3AD203B41FA5}">
                      <a16:colId xmlns:a16="http://schemas.microsoft.com/office/drawing/2014/main" val="2423197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zh-CN" sz="1200" kern="100">
                          <a:effectLst/>
                        </a:rPr>
                        <a:t>身高</a:t>
                      </a:r>
                      <a:r>
                        <a:rPr lang="en-US" sz="1200" kern="100">
                          <a:effectLst/>
                        </a:rPr>
                        <a:t>x</a:t>
                      </a:r>
                      <a:r>
                        <a:rPr lang="zh-CN" sz="1200" kern="100">
                          <a:effectLst/>
                        </a:rPr>
                        <a:t>（</a:t>
                      </a:r>
                      <a:r>
                        <a:rPr lang="en-US" sz="1200" kern="100">
                          <a:effectLst/>
                        </a:rPr>
                        <a:t>cm</a:t>
                      </a:r>
                      <a:r>
                        <a:rPr lang="zh-CN" sz="1200" kern="100">
                          <a:effectLst/>
                        </a:rPr>
                        <a:t>）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158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160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165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168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170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172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175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9939682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zh-CN" sz="1200" kern="100">
                          <a:effectLst/>
                        </a:rPr>
                        <a:t>体重</a:t>
                      </a:r>
                      <a:r>
                        <a:rPr lang="en-US" sz="1200" kern="100">
                          <a:effectLst/>
                        </a:rPr>
                        <a:t>y</a:t>
                      </a:r>
                      <a:r>
                        <a:rPr lang="zh-CN" sz="1200" kern="100">
                          <a:effectLst/>
                        </a:rPr>
                        <a:t>（</a:t>
                      </a:r>
                      <a:r>
                        <a:rPr lang="en-US" sz="1200" kern="100">
                          <a:effectLst/>
                        </a:rPr>
                        <a:t>kg</a:t>
                      </a:r>
                      <a:r>
                        <a:rPr lang="zh-CN" sz="1200" kern="100">
                          <a:effectLst/>
                        </a:rPr>
                        <a:t>）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48.50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51.20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54.00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58.80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61.90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>
                          <a:effectLst/>
                        </a:rPr>
                        <a:t>63.5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</a:pPr>
                      <a:r>
                        <a:rPr lang="en-US" sz="1200" kern="100" dirty="0">
                          <a:effectLst/>
                        </a:rPr>
                        <a:t>67.60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211873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11ED429-9B46-45AD-9326-2ECB71236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01" y="1507582"/>
            <a:ext cx="30604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男生身高和体重数据：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B55C18-B302-4855-91B9-22BFA3F09222}"/>
              </a:ext>
            </a:extLst>
          </p:cNvPr>
          <p:cNvSpPr txBox="1"/>
          <p:nvPr/>
        </p:nvSpPr>
        <p:spPr>
          <a:xfrm>
            <a:off x="281801" y="2015613"/>
            <a:ext cx="23408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女生身高和体重数据：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83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A17926A-6F56-45C5-B603-10D9179E9692}"/>
              </a:ext>
            </a:extLst>
          </p:cNvPr>
          <p:cNvSpPr txBox="1"/>
          <p:nvPr/>
        </p:nvSpPr>
        <p:spPr>
          <a:xfrm>
            <a:off x="843113" y="90468"/>
            <a:ext cx="7833343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——</a:t>
            </a:r>
            <a:r>
              <a:rPr lang="en-US" altLang="zh-CN" sz="24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2</a:t>
            </a:r>
            <a:r>
              <a:rPr lang="zh-CN" altLang="zh-CN" sz="24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、机翼下轮廓线的一维插值</a:t>
            </a:r>
            <a:endParaRPr lang="zh-CN" altLang="zh-CN" sz="24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C30C172-80C6-494B-96B5-D1F7F385D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42994"/>
              </p:ext>
            </p:extLst>
          </p:nvPr>
        </p:nvGraphicFramePr>
        <p:xfrm>
          <a:off x="215302" y="1225609"/>
          <a:ext cx="8749183" cy="548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9393">
                  <a:extLst>
                    <a:ext uri="{9D8B030D-6E8A-4147-A177-3AD203B41FA5}">
                      <a16:colId xmlns:a16="http://schemas.microsoft.com/office/drawing/2014/main" val="4054929094"/>
                    </a:ext>
                  </a:extLst>
                </a:gridCol>
                <a:gridCol w="439878">
                  <a:extLst>
                    <a:ext uri="{9D8B030D-6E8A-4147-A177-3AD203B41FA5}">
                      <a16:colId xmlns:a16="http://schemas.microsoft.com/office/drawing/2014/main" val="2820465208"/>
                    </a:ext>
                  </a:extLst>
                </a:gridCol>
                <a:gridCol w="868239">
                  <a:extLst>
                    <a:ext uri="{9D8B030D-6E8A-4147-A177-3AD203B41FA5}">
                      <a16:colId xmlns:a16="http://schemas.microsoft.com/office/drawing/2014/main" val="3745580194"/>
                    </a:ext>
                  </a:extLst>
                </a:gridCol>
                <a:gridCol w="868239">
                  <a:extLst>
                    <a:ext uri="{9D8B030D-6E8A-4147-A177-3AD203B41FA5}">
                      <a16:colId xmlns:a16="http://schemas.microsoft.com/office/drawing/2014/main" val="3811953959"/>
                    </a:ext>
                  </a:extLst>
                </a:gridCol>
                <a:gridCol w="868239">
                  <a:extLst>
                    <a:ext uri="{9D8B030D-6E8A-4147-A177-3AD203B41FA5}">
                      <a16:colId xmlns:a16="http://schemas.microsoft.com/office/drawing/2014/main" val="610014333"/>
                    </a:ext>
                  </a:extLst>
                </a:gridCol>
                <a:gridCol w="868239">
                  <a:extLst>
                    <a:ext uri="{9D8B030D-6E8A-4147-A177-3AD203B41FA5}">
                      <a16:colId xmlns:a16="http://schemas.microsoft.com/office/drawing/2014/main" val="1138410329"/>
                    </a:ext>
                  </a:extLst>
                </a:gridCol>
                <a:gridCol w="868239">
                  <a:extLst>
                    <a:ext uri="{9D8B030D-6E8A-4147-A177-3AD203B41FA5}">
                      <a16:colId xmlns:a16="http://schemas.microsoft.com/office/drawing/2014/main" val="364223733"/>
                    </a:ext>
                  </a:extLst>
                </a:gridCol>
                <a:gridCol w="868239">
                  <a:extLst>
                    <a:ext uri="{9D8B030D-6E8A-4147-A177-3AD203B41FA5}">
                      <a16:colId xmlns:a16="http://schemas.microsoft.com/office/drawing/2014/main" val="1832582723"/>
                    </a:ext>
                  </a:extLst>
                </a:gridCol>
                <a:gridCol w="787728">
                  <a:extLst>
                    <a:ext uri="{9D8B030D-6E8A-4147-A177-3AD203B41FA5}">
                      <a16:colId xmlns:a16="http://schemas.microsoft.com/office/drawing/2014/main" val="23263572"/>
                    </a:ext>
                  </a:extLst>
                </a:gridCol>
                <a:gridCol w="953359">
                  <a:extLst>
                    <a:ext uri="{9D8B030D-6E8A-4147-A177-3AD203B41FA5}">
                      <a16:colId xmlns:a16="http://schemas.microsoft.com/office/drawing/2014/main" val="812073320"/>
                    </a:ext>
                  </a:extLst>
                </a:gridCol>
                <a:gridCol w="869391">
                  <a:extLst>
                    <a:ext uri="{9D8B030D-6E8A-4147-A177-3AD203B41FA5}">
                      <a16:colId xmlns:a16="http://schemas.microsoft.com/office/drawing/2014/main" val="1949046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X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0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3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5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7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9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11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12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13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14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15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933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y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0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1.2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1.7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2.0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2.1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2.0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1.8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1.2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>
                          <a:effectLst/>
                        </a:rPr>
                        <a:t>1.0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>
                          <a:effectLst/>
                        </a:rPr>
                        <a:t>1.6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058248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EB98F31-2D99-4EA1-B78B-5619FF5FE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5" y="736779"/>
            <a:ext cx="7416824" cy="430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测取机翼下轮廓线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个数据点，如下表所示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5B7C0B-7AE2-4EA7-B251-4085845EED21}"/>
              </a:ext>
            </a:extLst>
          </p:cNvPr>
          <p:cNvSpPr txBox="1"/>
          <p:nvPr/>
        </p:nvSpPr>
        <p:spPr>
          <a:xfrm>
            <a:off x="57186" y="1779947"/>
            <a:ext cx="9036496" cy="284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x=[0,3,5,7,9,11,12,13,14,15];  y=[0,1.2,1.7,2.0,2.1,2.0,1.8,1.2,1.0,1.6]; 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3100"/>
              </a:lnSpc>
              <a:buFont typeface="+mj-lt"/>
              <a:buAutoNum type="arabicPeriod"/>
            </a:pP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轴的插值点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xi=0:0.5:15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3100"/>
              </a:lnSpc>
              <a:buFont typeface="+mj-lt"/>
              <a:buAutoNum type="arabicPeriod"/>
            </a:pP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用插值法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interp1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，默认分段线性插值 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linear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，预测机翼下轮廓线的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插值结果 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3100"/>
              </a:lnSpc>
              <a:buFont typeface="+mj-lt"/>
              <a:buAutoNum type="arabicPeriod"/>
            </a:pP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用插值法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interp1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次样条插值 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spline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预测机翼下轮廓线的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插值结果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3100"/>
              </a:lnSpc>
              <a:buFont typeface="+mj-lt"/>
              <a:buAutoNum type="arabicPeriod"/>
            </a:pP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plot 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绘制</a:t>
            </a: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x-y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散点图、线性插值和三次样条插值曲线，并用线基本属性</a:t>
            </a:r>
            <a:r>
              <a:rPr lang="en-US" altLang="zh-CN" sz="20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fmt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区别三个曲线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3100"/>
              </a:lnSpc>
              <a:buFont typeface="+mj-lt"/>
              <a:buAutoNum type="arabicPeriod"/>
            </a:pPr>
            <a:r>
              <a:rPr lang="en-US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legend</a:t>
            </a:r>
            <a:r>
              <a:rPr lang="zh-CN" altLang="zh-CN" sz="20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标注散点图、线性插值和三次样条插值的图例。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B4E53B4E-6C87-4533-84E7-879DE3D258B5}"/>
              </a:ext>
            </a:extLst>
          </p:cNvPr>
          <p:cNvSpPr txBox="1"/>
          <p:nvPr/>
        </p:nvSpPr>
        <p:spPr bwMode="auto">
          <a:xfrm>
            <a:off x="6368678" y="770149"/>
            <a:ext cx="2595444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2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ko-KR" sz="18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yi</a:t>
            </a:r>
            <a:r>
              <a:rPr lang="en-US" altLang="ko-KR" sz="1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= interp1(</a:t>
            </a:r>
            <a:r>
              <a:rPr lang="en-US" altLang="ko-KR" sz="18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x,y,xi</a:t>
            </a:r>
            <a:r>
              <a:rPr lang="en-US" altLang="ko-KR" sz="1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, </a:t>
            </a:r>
            <a:r>
              <a:rPr lang="en-US" altLang="ko-KR" sz="1800" dirty="0">
                <a:solidFill>
                  <a:srgbClr val="FFFF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method</a:t>
            </a:r>
            <a:r>
              <a:rPr lang="en-US" altLang="ko-KR" sz="1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ko-KR" altLang="en-US" sz="1800" dirty="0">
              <a:effectLst/>
              <a:latin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8FB59F-DE1D-4BB7-B689-0F899B497C8F}"/>
              </a:ext>
            </a:extLst>
          </p:cNvPr>
          <p:cNvSpPr/>
          <p:nvPr/>
        </p:nvSpPr>
        <p:spPr>
          <a:xfrm>
            <a:off x="4644008" y="3795886"/>
            <a:ext cx="4320114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plot(x1,y1,fmt,x2,y2,fmt,x3,y3,fmt)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FB43BE0-4297-46BA-A8EB-1848E583B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405" y="4235905"/>
            <a:ext cx="2448269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legend(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[“</a:t>
            </a:r>
            <a:r>
              <a:rPr lang="zh-CN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labels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”</a:t>
            </a:r>
            <a:r>
              <a:rPr lang="zh-CN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26730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E3F1A9C-A1D5-46A6-9BCD-948D32E71601}"/>
              </a:ext>
            </a:extLst>
          </p:cNvPr>
          <p:cNvSpPr/>
          <p:nvPr/>
        </p:nvSpPr>
        <p:spPr>
          <a:xfrm>
            <a:off x="5076056" y="738778"/>
            <a:ext cx="396723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线型、线颜色和标记符号属性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fmt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2FC34D7-9A13-433E-A22F-AAC5FD71E6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38" t="27743" r="20075" b="9402"/>
          <a:stretch/>
        </p:blipFill>
        <p:spPr>
          <a:xfrm>
            <a:off x="370490" y="1251332"/>
            <a:ext cx="8480664" cy="28483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793EB6E-B1AB-4A07-9103-B10FA1B45F5B}"/>
              </a:ext>
            </a:extLst>
          </p:cNvPr>
          <p:cNvSpPr/>
          <p:nvPr/>
        </p:nvSpPr>
        <p:spPr>
          <a:xfrm>
            <a:off x="611560" y="3091528"/>
            <a:ext cx="262472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fmt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设置数据点的线型和标记符号列表 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359FAC-460D-4367-B5BB-93E1BB86B523}"/>
              </a:ext>
            </a:extLst>
          </p:cNvPr>
          <p:cNvSpPr/>
          <p:nvPr/>
        </p:nvSpPr>
        <p:spPr>
          <a:xfrm>
            <a:off x="363354" y="769556"/>
            <a:ext cx="471270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plot(x1,y1,fmt,x2,y2,fmt,x3,y3,fmt) </a:t>
            </a:r>
          </a:p>
        </p:txBody>
      </p:sp>
      <p:sp>
        <p:nvSpPr>
          <p:cNvPr id="18" name="标注: 线形 17">
            <a:extLst>
              <a:ext uri="{FF2B5EF4-FFF2-40B4-BE49-F238E27FC236}">
                <a16:creationId xmlns:a16="http://schemas.microsoft.com/office/drawing/2014/main" id="{5950517E-D553-46E2-886F-16505905C214}"/>
              </a:ext>
            </a:extLst>
          </p:cNvPr>
          <p:cNvSpPr/>
          <p:nvPr/>
        </p:nvSpPr>
        <p:spPr>
          <a:xfrm>
            <a:off x="5907719" y="3597181"/>
            <a:ext cx="320465" cy="276999"/>
          </a:xfrm>
          <a:prstGeom prst="borderCallout1">
            <a:avLst>
              <a:gd name="adj1" fmla="val 18750"/>
              <a:gd name="adj2" fmla="val -8333"/>
              <a:gd name="adj3" fmla="val -23361"/>
              <a:gd name="adj4" fmla="val -124901"/>
            </a:avLst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8</a:t>
            </a:r>
            <a:endParaRPr lang="zh-CN" altLang="en-US" sz="1200" dirty="0">
              <a:solidFill>
                <a:srgbClr val="FFFF00"/>
              </a:solidFill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" name="标注: 线形 19">
            <a:extLst>
              <a:ext uri="{FF2B5EF4-FFF2-40B4-BE49-F238E27FC236}">
                <a16:creationId xmlns:a16="http://schemas.microsoft.com/office/drawing/2014/main" id="{0CF3AE7D-6053-4FFB-99AC-F0B59C7EB933}"/>
              </a:ext>
            </a:extLst>
          </p:cNvPr>
          <p:cNvSpPr/>
          <p:nvPr/>
        </p:nvSpPr>
        <p:spPr>
          <a:xfrm>
            <a:off x="8316416" y="1507352"/>
            <a:ext cx="320465" cy="276999"/>
          </a:xfrm>
          <a:prstGeom prst="borderCallout1">
            <a:avLst>
              <a:gd name="adj1" fmla="val 18750"/>
              <a:gd name="adj2" fmla="val -8333"/>
              <a:gd name="adj3" fmla="val -23361"/>
              <a:gd name="adj4" fmla="val -124901"/>
            </a:avLst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endParaRPr lang="zh-CN" altLang="en-US" sz="1200" dirty="0">
              <a:solidFill>
                <a:srgbClr val="FFFF00"/>
              </a:solidFill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2" name="标注: 线形 21">
            <a:extLst>
              <a:ext uri="{FF2B5EF4-FFF2-40B4-BE49-F238E27FC236}">
                <a16:creationId xmlns:a16="http://schemas.microsoft.com/office/drawing/2014/main" id="{3971C2A8-ACCD-4BF6-9AC9-E01DE5CAD9EB}"/>
              </a:ext>
            </a:extLst>
          </p:cNvPr>
          <p:cNvSpPr/>
          <p:nvPr/>
        </p:nvSpPr>
        <p:spPr>
          <a:xfrm>
            <a:off x="8301400" y="2114983"/>
            <a:ext cx="320465" cy="276999"/>
          </a:xfrm>
          <a:prstGeom prst="borderCallout1">
            <a:avLst>
              <a:gd name="adj1" fmla="val 18750"/>
              <a:gd name="adj2" fmla="val -8333"/>
              <a:gd name="adj3" fmla="val -23361"/>
              <a:gd name="adj4" fmla="val -124901"/>
            </a:avLst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6</a:t>
            </a:r>
            <a:endParaRPr lang="zh-CN" altLang="en-US" sz="1200" dirty="0">
              <a:solidFill>
                <a:srgbClr val="FFFF00"/>
              </a:solidFill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F43FE73D-A372-4504-8CB0-10327FE45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60" y="2504333"/>
            <a:ext cx="3240360" cy="495966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rgbClr val="FFFF00"/>
                </a:solidFill>
                <a:latin typeface="Menlo"/>
              </a:rPr>
              <a:t>线型和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Menlo"/>
              </a:rPr>
              <a:t>一样</a:t>
            </a:r>
            <a:endParaRPr lang="zh-CN" altLang="en-US" sz="1400" b="1" dirty="0">
              <a:solidFill>
                <a:srgbClr val="FFFF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3B7F22-56A8-47C6-8617-B2335127DC49}"/>
              </a:ext>
            </a:extLst>
          </p:cNvPr>
          <p:cNvSpPr/>
          <p:nvPr/>
        </p:nvSpPr>
        <p:spPr>
          <a:xfrm>
            <a:off x="11514" y="3951903"/>
            <a:ext cx="9103780" cy="6585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342900" indent="-342900" algn="dist" eaLnBrk="0" hangingPunct="0">
              <a:lnSpc>
                <a:spcPts val="2300"/>
              </a:lnSpc>
              <a:buClr>
                <a:srgbClr val="0070C0"/>
              </a:buClr>
              <a:buFont typeface="+mj-ea"/>
              <a:buAutoNum type="circleNumDbPlain" startAt="3"/>
            </a:pP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图例</a:t>
            </a: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legend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按绘制线条先后顺序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标注不同颜色线型</a:t>
            </a:r>
            <a:r>
              <a:rPr lang="en-US" altLang="zh-CN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,</a:t>
            </a:r>
            <a:r>
              <a:rPr lang="zh-CN" altLang="en-US" sz="1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即给每条曲线定义个标签</a:t>
            </a:r>
            <a:endParaRPr lang="en-US" altLang="zh-CN" sz="16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DCE7C212-CA1D-4D5C-A091-7456315A9AAF}"/>
              </a:ext>
            </a:extLst>
          </p:cNvPr>
          <p:cNvSpPr txBox="1">
            <a:spLocks/>
          </p:cNvSpPr>
          <p:nvPr/>
        </p:nvSpPr>
        <p:spPr bwMode="auto">
          <a:xfrm>
            <a:off x="345217" y="4251320"/>
            <a:ext cx="7899191" cy="455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1400"/>
              </a:lnSpc>
              <a:defRPr sz="1600" b="1" i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lang="en-US" altLang="zh-CN" dirty="0"/>
          </a:p>
          <a:p>
            <a:r>
              <a:rPr lang="zh-CN" altLang="en-US" dirty="0"/>
              <a:t>例如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legend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[“1.2%”,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3.6%”]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 </a:t>
            </a:r>
            <a:r>
              <a:rPr lang="zh-CN" altLang="en-US" dirty="0"/>
              <a:t>注意字符串数组一定用方括号</a:t>
            </a:r>
            <a:r>
              <a:rPr lang="en-US" altLang="zh-CN" dirty="0"/>
              <a:t>【】</a:t>
            </a:r>
            <a:r>
              <a:rPr lang="zh-CN" altLang="en-US" dirty="0"/>
              <a:t>括起来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C7CCE69-93A8-411D-9DD5-001203375743}"/>
              </a:ext>
            </a:extLst>
          </p:cNvPr>
          <p:cNvSpPr txBox="1"/>
          <p:nvPr/>
        </p:nvSpPr>
        <p:spPr>
          <a:xfrm>
            <a:off x="843113" y="61593"/>
            <a:ext cx="7833343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——</a:t>
            </a:r>
            <a:r>
              <a:rPr lang="en-US" altLang="zh-CN" sz="24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2</a:t>
            </a:r>
            <a:r>
              <a:rPr lang="zh-CN" altLang="zh-CN" sz="24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、机翼下轮廓线的一维插值</a:t>
            </a:r>
            <a:endParaRPr lang="zh-CN" altLang="zh-CN" sz="24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07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A8CE8D9-207E-4CA3-A467-402ECCC3032E}"/>
              </a:ext>
            </a:extLst>
          </p:cNvPr>
          <p:cNvSpPr txBox="1"/>
          <p:nvPr/>
        </p:nvSpPr>
        <p:spPr>
          <a:xfrm>
            <a:off x="843113" y="61593"/>
            <a:ext cx="8409407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——</a:t>
            </a:r>
            <a:r>
              <a:rPr lang="en-US" altLang="zh-CN" sz="24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3</a:t>
            </a:r>
            <a:r>
              <a:rPr lang="zh-CN" altLang="zh-CN" sz="24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、解超定线性方程组预测哪吒票房</a:t>
            </a:r>
            <a:endParaRPr lang="zh-CN" altLang="zh-CN" sz="24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78D7D4-347B-496D-9956-CD1ACD5EB289}"/>
              </a:ext>
            </a:extLst>
          </p:cNvPr>
          <p:cNvSpPr txBox="1"/>
          <p:nvPr/>
        </p:nvSpPr>
        <p:spPr>
          <a:xfrm>
            <a:off x="218376" y="915566"/>
            <a:ext cx="8602096" cy="3673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天的每天累积票房数</a:t>
            </a:r>
            <a:r>
              <a:rPr lang="en-US" altLang="zh-CN" sz="16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=[4.87, 9.67, 15.86, 23.17, 31.290000000000003, 39.72, 48.38, 54.870000000000005, 60.720000000000006, 66.13000000000001, 72.33000000000001, 79.94000000000001, 85.74000000000001, 90.56, 95.89, 99.49, 105.3, 113.17, 119.31, 121.24000000000001, 122.9, 124.17, 125.45, 127.73, 132.93, 136.44, 137.18, 137.79000000000002, 138.32000000000002, 138.81000000000003, 139.77610000000004, 142.12010000000004, 143.52910000000003, 143.81030000000004, 144.05680000000004, 144.28580000000005, 144.50880000000006, 145.07070000000007, 146.48920000000007, 147.24930000000006, 147.40510000000006, 147.54700000000005, 147.67900000000006, 147.79810000000006, 148.03710000000007] ;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采用三次多项式拟合累积票房数</a:t>
            </a:r>
            <a:r>
              <a:rPr lang="en-US" altLang="zh-CN" sz="16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关于时间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的关系式。其具体表达式如下：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ts val="2000"/>
              </a:lnSpc>
            </a:pPr>
            <a:r>
              <a:rPr lang="en-US" altLang="zh-CN" sz="16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(p1,p2,p3,p4,x) = p1*x^3 + p2*x^2 + p3*x + p4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其中因变量</a:t>
            </a:r>
            <a:r>
              <a:rPr lang="en-US" altLang="zh-CN" sz="16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是每天累积票房数（亿元），自变量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为时间（天），其范围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x=1:45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个待定参数为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p1,p2,p3,p4, 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即方程有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个待定未知数；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天票房，即列出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个超定方程，采用不同方法求解超定方程的未知数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p3</a:t>
            </a:r>
            <a:r>
              <a:rPr lang="zh-CN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p4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1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65AC26-2D90-4196-814E-0A7FAF1B44B7}"/>
              </a:ext>
            </a:extLst>
          </p:cNvPr>
          <p:cNvSpPr txBox="1"/>
          <p:nvPr/>
        </p:nvSpPr>
        <p:spPr>
          <a:xfrm>
            <a:off x="367296" y="33068"/>
            <a:ext cx="8409407" cy="5838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——</a:t>
            </a:r>
            <a:r>
              <a:rPr lang="en-US" altLang="zh-CN" sz="24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3</a:t>
            </a:r>
            <a:r>
              <a:rPr lang="zh-CN" altLang="zh-CN" sz="24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、解超定线性方程组预测哪吒票房</a:t>
            </a:r>
            <a:endParaRPr lang="zh-CN" altLang="zh-CN" sz="24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6FD5CB-3073-487B-9647-B4ED965C0FC2}"/>
              </a:ext>
            </a:extLst>
          </p:cNvPr>
          <p:cNvSpPr txBox="1"/>
          <p:nvPr/>
        </p:nvSpPr>
        <p:spPr>
          <a:xfrm>
            <a:off x="13530" y="771550"/>
            <a:ext cx="9144000" cy="42096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、绘制累积票房</a:t>
            </a:r>
            <a:r>
              <a:rPr lang="en-US" altLang="zh-CN" b="1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en-US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时间</a:t>
            </a:r>
            <a:r>
              <a:rPr lang="en-US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的散点图 </a:t>
            </a:r>
          </a:p>
          <a:p>
            <a:pPr marL="342900" lvl="0" indent="-342900" algn="l" fontAlgn="base" hangingPunct="0">
              <a:lnSpc>
                <a:spcPts val="23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冒号法建立时间向量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x=1:45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和每天累积票房数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数组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 fontAlgn="base" hangingPunct="0">
              <a:lnSpc>
                <a:spcPts val="23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scatter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绘制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累积票房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时间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的散点图</a:t>
            </a:r>
          </a:p>
          <a:p>
            <a:pPr marL="342900" lvl="0" indent="-342900" algn="l" fontAlgn="base" hangingPunct="0">
              <a:lnSpc>
                <a:spcPts val="23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xlabel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ylabel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标注每个子图的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轴和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轴的坐标分别为“时间，天”，“单日票房，亿元”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、建立超定方程并求解</a:t>
            </a:r>
            <a:r>
              <a:rPr lang="en-US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三次多项式自变量</a:t>
            </a:r>
            <a:r>
              <a:rPr lang="en-US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[x^3 x^2  x  x^0]  </a:t>
            </a: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点运算</a:t>
            </a:r>
            <a:r>
              <a:rPr lang="en-US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x=1:45</a:t>
            </a:r>
            <a:endParaRPr lang="zh-CN" altLang="zh-CN" b="1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23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首先根据三次多项式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p1*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x^3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+p2*</a:t>
            </a:r>
            <a:r>
              <a:rPr lang="en-US" altLang="zh-CN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x^</a:t>
            </a:r>
            <a:r>
              <a:rPr lang="en-US" altLang="zh-CN" b="1" kern="10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kern="10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+p3*</a:t>
            </a:r>
            <a:r>
              <a:rPr lang="en-US" altLang="zh-CN" b="1" kern="10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kern="10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+p4</a:t>
            </a:r>
            <a:r>
              <a:rPr lang="zh-CN" altLang="zh-CN" sz="1800" kern="10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列出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x=1:45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时超定方程组的系数矩阵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23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根据累积票房数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建立超定方程组的常数列向量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23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分别采用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lsqminnorm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pinv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和左除法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\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分别求三次多项式系数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p3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p4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，并且提供三种方法的相应结果</a:t>
            </a:r>
            <a:endParaRPr lang="zh-CN" altLang="zh-CN" sz="1400" b="1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ts val="2300"/>
              </a:lnSpc>
            </a:pP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、在散点图上叠加上累积票房数的函数图</a:t>
            </a:r>
            <a:endParaRPr lang="zh-CN" altLang="zh-CN" sz="1400" b="1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23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采用上面任何一个三次多项式系数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p3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结果，建立累积票房数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ycc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关于时间的函数简化形式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ycc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23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hold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采用“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on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”的模式在散点图上叠加新图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23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fplot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在时间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1,45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】天内绘制累积票房数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ycc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的函数图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C63B42-BBAE-4C2D-80E5-81710C06A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644" y="3144345"/>
            <a:ext cx="1308684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>
                <a:sym typeface="Arial" charset="0"/>
              </a:rPr>
              <a:t>x=pinv</a:t>
            </a:r>
            <a:r>
              <a:rPr lang="en-US" altLang="zh-CN" dirty="0">
                <a:sym typeface="Arial" charset="0"/>
              </a:rPr>
              <a:t>(A)*b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FAC31035-FED1-43B2-A398-222B0462D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928" y="3144345"/>
            <a:ext cx="2016224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sz="1400" dirty="0"/>
              <a:t>x=lsqminnorm(A,b) 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FFDA7E5F-F46C-476E-93E8-1053FA8F0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589" y="3144345"/>
            <a:ext cx="840034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Arial" charset="0"/>
              </a:rPr>
              <a:t>x=A\b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F9CE670A-934F-40CB-B057-83A48379C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650" y="4469219"/>
            <a:ext cx="2549830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/>
              <a:t>fplot</a:t>
            </a:r>
            <a:r>
              <a:rPr lang="en-US" altLang="zh-CN" dirty="0"/>
              <a:t>(</a:t>
            </a:r>
            <a:r>
              <a:rPr lang="en-US" altLang="zh-CN"/>
              <a:t>fun,[</a:t>
            </a:r>
            <a:r>
              <a:rPr lang="en-US" altLang="zh-CN" dirty="0" err="1"/>
              <a:t>xmin</a:t>
            </a:r>
            <a:r>
              <a:rPr lang="en-US" altLang="zh-CN" err="1"/>
              <a:t>,</a:t>
            </a:r>
            <a:r>
              <a:rPr lang="en-US" altLang="zh-CN"/>
              <a:t>xmax</a:t>
            </a:r>
            <a:r>
              <a:rPr lang="en-US" altLang="zh-CN" dirty="0"/>
              <a:t>])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63454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31848F37-2BF2-4D5C-B78F-01CBA94346BA}"/>
              </a:ext>
            </a:extLst>
          </p:cNvPr>
          <p:cNvSpPr txBox="1"/>
          <p:nvPr/>
        </p:nvSpPr>
        <p:spPr>
          <a:xfrm>
            <a:off x="1259632" y="0"/>
            <a:ext cx="8208912" cy="6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四</a:t>
            </a:r>
            <a:r>
              <a:rPr lang="zh-CN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zh-CN" altLang="en-US" sz="28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大作业</a:t>
            </a:r>
            <a:r>
              <a:rPr lang="zh-CN" altLang="en-US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——</a:t>
            </a:r>
            <a:r>
              <a:rPr lang="en-US" altLang="zh-CN" sz="2800" b="1" kern="18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1.</a:t>
            </a:r>
            <a:r>
              <a:rPr lang="zh-CN" altLang="en-US" sz="2800" b="1" kern="18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哪吒累积票房</a:t>
            </a:r>
            <a:r>
              <a:rPr lang="zh-CN" altLang="en-US" sz="28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曲线拟合</a:t>
            </a:r>
            <a:endParaRPr lang="zh-CN" altLang="zh-CN" sz="28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18889B-8D3A-42A7-99A8-26502C4389E4}"/>
              </a:ext>
            </a:extLst>
          </p:cNvPr>
          <p:cNvSpPr txBox="1"/>
          <p:nvPr/>
        </p:nvSpPr>
        <p:spPr>
          <a:xfrm>
            <a:off x="70992" y="699542"/>
            <a:ext cx="9073008" cy="42234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三、曲线拟合： 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(15</a:t>
            </a:r>
            <a:r>
              <a:rPr lang="zh-CN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分）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根据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t=1:45</a:t>
            </a:r>
            <a:r>
              <a:rPr lang="zh-CN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天《哪吒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》单日票房数据</a:t>
            </a:r>
            <a:r>
              <a:rPr lang="en-US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（亿元）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4.87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4.8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6.19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7.31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8.12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8.43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8.66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6.49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5.85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5.41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6.2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,7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.61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5.8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4.82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5.33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3.6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5.81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7.87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6.14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1.93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1.66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1.27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1.28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2.28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5.2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3.51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0.74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0.61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0.53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0.49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0.9661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2.344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1.409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0.2812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0.2465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0.229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0.223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0.5619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1.4185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0.7601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0.1558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0.1419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0.132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0.1191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0.239</a:t>
            </a:r>
            <a:r>
              <a:rPr lang="en-US" altLang="zh-CN" sz="1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zh-CN" altLang="zh-CN" sz="14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曲线拟合预测总票房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 fontAlgn="base" hangingPunct="0">
              <a:lnSpc>
                <a:spcPts val="22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建立时间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和单日票房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向量（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1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分）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ts val="22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根据单日票房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cumsum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求累计总票房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，无需提供结果（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1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分）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ts val="22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TyCurveFitting.fit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的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”poly3”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模型对总票房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-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时间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进行三次多项式拟合，拟合结果为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ycfun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(1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分）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ts val="22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调用函数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ycfun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预测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90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天哪吒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2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总票房，提供代码和预测结果（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2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分）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ts val="22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ycfun.s_data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访问拟合度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,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提供代码和结果，并判断拟合效果好坏（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3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分）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ts val="22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plotfit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绘制总票房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散点图和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ycfun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拟合曲线，提供代码和曲线（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2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分）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ts val="22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</a:rPr>
              <a:t>xlabel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和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ylabel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标注横纵坐标分别为时间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（天），总票房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（亿元）（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2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分）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ts val="22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根据拟合结果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ycfun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写出总票房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与时间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的具体函数表达式，即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(t)=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三次多项式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,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再用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fplot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绘制函数</a:t>
            </a:r>
            <a:r>
              <a:rPr lang="en-US" altLang="zh-CN" sz="14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(t)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从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1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到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90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天的累计总票房，提供代码和曲线（</a:t>
            </a:r>
            <a:r>
              <a:rPr lang="en-US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3</a:t>
            </a:r>
            <a:r>
              <a:rPr lang="zh-CN" altLang="zh-CN" sz="14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分）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3644A9BA-42D2-40D3-9E69-BB1AB6059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192" y="4603619"/>
            <a:ext cx="2549830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600" b="1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err="1"/>
              <a:t>fplot</a:t>
            </a:r>
            <a:r>
              <a:rPr lang="en-US" altLang="zh-CN" dirty="0"/>
              <a:t>(fun,[</a:t>
            </a:r>
            <a:r>
              <a:rPr lang="en-US" altLang="zh-CN" dirty="0" err="1"/>
              <a:t>xmin,xmax</a:t>
            </a:r>
            <a:r>
              <a:rPr lang="en-US" altLang="zh-CN" dirty="0"/>
              <a:t>])</a:t>
            </a:r>
            <a:endParaRPr lang="zh-CN" altLang="zh-CN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A778A14-4ABF-464B-AC88-18FEECCBFB1F}"/>
              </a:ext>
            </a:extLst>
          </p:cNvPr>
          <p:cNvSpPr txBox="1"/>
          <p:nvPr/>
        </p:nvSpPr>
        <p:spPr bwMode="auto">
          <a:xfrm>
            <a:off x="3851920" y="2095067"/>
            <a:ext cx="5062874" cy="33723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dist" eaLnBrk="0" fontAlgn="base" hangingPunct="0"/>
            <a:r>
              <a:rPr lang="en-US" sz="1400" b="1" kern="1800" dirty="0" err="1">
                <a:solidFill>
                  <a:schemeClr val="bg1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fitobject</a:t>
            </a:r>
            <a:r>
              <a:rPr lang="en-US" sz="1400" b="1" kern="1200" dirty="0"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=</a:t>
            </a:r>
            <a:r>
              <a:rPr lang="en-US" sz="1400" b="1" kern="1800" dirty="0" err="1">
                <a:solidFill>
                  <a:schemeClr val="bg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TyCurveFitting.</a:t>
            </a:r>
            <a:r>
              <a:rPr lang="en-US" sz="1400" b="1" kern="1200" dirty="0" err="1"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fit</a:t>
            </a:r>
            <a:r>
              <a:rPr lang="en-US" sz="1400" b="1" kern="1200" dirty="0"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(</a:t>
            </a:r>
            <a:r>
              <a:rPr lang="en-US" sz="1400" b="1" kern="1200" dirty="0" err="1"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fitType,x,y</a:t>
            </a:r>
            <a:r>
              <a:rPr lang="en-US" sz="1400" b="1" kern="1200" dirty="0"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rPr>
              <a:t>)</a:t>
            </a:r>
            <a:r>
              <a:rPr lang="en-US" sz="1400" b="1" kern="1200" dirty="0">
                <a:solidFill>
                  <a:schemeClr val="bg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sz="1400" b="1" kern="100" dirty="0">
              <a:solidFill>
                <a:schemeClr val="bg1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FFE54151-636A-4A23-8D80-5E5235F2BF98}"/>
              </a:ext>
            </a:extLst>
          </p:cNvPr>
          <p:cNvSpPr txBox="1"/>
          <p:nvPr/>
        </p:nvSpPr>
        <p:spPr bwMode="auto">
          <a:xfrm>
            <a:off x="6383357" y="2466088"/>
            <a:ext cx="2500023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defRPr kumimoji="0" sz="2000" b="0" i="0" u="none" strike="noStrike" kern="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source-code-pro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 err="1"/>
              <a:t>plotfit</a:t>
            </a:r>
            <a:r>
              <a:rPr lang="en-US" altLang="zh-CN" sz="1600" dirty="0"/>
              <a:t>(</a:t>
            </a:r>
            <a:r>
              <a:rPr lang="zh-CN" altLang="zh-CN" sz="1600" dirty="0"/>
              <a:t>fitobject</a:t>
            </a:r>
            <a:r>
              <a:rPr lang="en-US" altLang="zh-CN" sz="1600" dirty="0"/>
              <a:t>,</a:t>
            </a:r>
            <a:r>
              <a:rPr lang="zh-CN" altLang="zh-CN" sz="1600" dirty="0">
                <a:highlight>
                  <a:srgbClr val="FF0000"/>
                </a:highlight>
              </a:rPr>
              <a:t>“</a:t>
            </a:r>
            <a:r>
              <a:rPr lang="en-US" altLang="zh-CN" sz="1600" dirty="0" err="1">
                <a:highlight>
                  <a:srgbClr val="FF0000"/>
                </a:highlight>
              </a:rPr>
              <a:t>predfun</a:t>
            </a:r>
            <a:r>
              <a:rPr lang="zh-CN" altLang="zh-CN" sz="1600" dirty="0">
                <a:highlight>
                  <a:srgbClr val="FF0000"/>
                </a:highlight>
              </a:rPr>
              <a:t>"</a:t>
            </a:r>
            <a:r>
              <a:rPr lang="en-US" altLang="zh-CN" sz="1600" dirty="0">
                <a:highlight>
                  <a:srgbClr val="FF0000"/>
                </a:highlight>
              </a:rPr>
              <a:t>)</a:t>
            </a:r>
            <a:endParaRPr lang="zh-CN" altLang="zh-CN" sz="1600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21084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BCB9B3A-10DA-4660-8A3F-280B037B9755}"/>
              </a:ext>
            </a:extLst>
          </p:cNvPr>
          <p:cNvSpPr txBox="1"/>
          <p:nvPr/>
        </p:nvSpPr>
        <p:spPr>
          <a:xfrm>
            <a:off x="611560" y="699542"/>
            <a:ext cx="80648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四、线性代数：求解线性方程组（</a:t>
            </a:r>
            <a:r>
              <a:rPr lang="en-US" altLang="zh-CN" dirty="0"/>
              <a:t>8</a:t>
            </a:r>
            <a:r>
              <a:rPr lang="zh-CN" altLang="en-US" dirty="0"/>
              <a:t>分）</a:t>
            </a:r>
          </a:p>
          <a:p>
            <a:r>
              <a:rPr lang="zh-CN" altLang="en-US" dirty="0"/>
              <a:t>计算机图形学（颜色混合模型）</a:t>
            </a:r>
            <a:r>
              <a:rPr lang="en-US" altLang="zh-CN" dirty="0"/>
              <a:t>——</a:t>
            </a:r>
            <a:r>
              <a:rPr lang="zh-CN" altLang="en-US" dirty="0"/>
              <a:t>数组创建和索引</a:t>
            </a:r>
          </a:p>
          <a:p>
            <a:r>
              <a:rPr lang="zh-CN" altLang="en-US" dirty="0"/>
              <a:t>混合红</a:t>
            </a:r>
            <a:r>
              <a:rPr lang="en-US" altLang="zh-CN" dirty="0"/>
              <a:t>R</a:t>
            </a:r>
            <a:r>
              <a:rPr lang="zh-CN" altLang="en-US" dirty="0"/>
              <a:t>、绿</a:t>
            </a:r>
            <a:r>
              <a:rPr lang="en-US" altLang="zh-CN" dirty="0"/>
              <a:t>G</a:t>
            </a:r>
            <a:r>
              <a:rPr lang="zh-CN" altLang="en-US" dirty="0"/>
              <a:t>、蓝</a:t>
            </a:r>
            <a:r>
              <a:rPr lang="en-US" altLang="zh-CN" dirty="0"/>
              <a:t>B</a:t>
            </a:r>
            <a:r>
              <a:rPr lang="zh-CN" altLang="en-US" dirty="0"/>
              <a:t>光源，</a:t>
            </a:r>
            <a:r>
              <a:rPr lang="en-US" altLang="zh-CN" dirty="0"/>
              <a:t>RGB</a:t>
            </a:r>
            <a:r>
              <a:rPr lang="zh-CN" altLang="en-US" dirty="0"/>
              <a:t>模式是通过调整红、绿、蓝三种颜色的亮度值（通常范围为</a:t>
            </a:r>
            <a:r>
              <a:rPr lang="en-US" altLang="zh-CN" dirty="0"/>
              <a:t>0-255</a:t>
            </a:r>
            <a:r>
              <a:rPr lang="zh-CN" altLang="en-US" dirty="0"/>
              <a:t>）来显示不同的颜色， 各光源强度</a:t>
            </a:r>
            <a:r>
              <a:rPr lang="en-US" altLang="zh-CN" dirty="0" err="1"/>
              <a:t>r,g,b</a:t>
            </a:r>
            <a:r>
              <a:rPr lang="zh-CN" altLang="en-US" dirty="0"/>
              <a:t>为变量。</a:t>
            </a:r>
          </a:p>
          <a:p>
            <a:r>
              <a:rPr lang="zh-CN" altLang="en-US" dirty="0"/>
              <a:t>如生成颜色 </a:t>
            </a:r>
            <a:r>
              <a:rPr lang="en-US" altLang="zh-CN" dirty="0"/>
              <a:t>(120,160,200)</a:t>
            </a:r>
            <a:r>
              <a:rPr lang="zh-CN" altLang="en-US" dirty="0"/>
              <a:t>，建立各光源强度</a:t>
            </a:r>
            <a:r>
              <a:rPr lang="en-US" altLang="zh-CN" dirty="0" err="1"/>
              <a:t>r,g,b</a:t>
            </a:r>
            <a:r>
              <a:rPr lang="zh-CN" altLang="en-US" dirty="0"/>
              <a:t>为待解变量的方程组：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建立方程组系数矩阵</a:t>
            </a:r>
            <a:r>
              <a:rPr lang="en-US" altLang="zh-CN" dirty="0"/>
              <a:t>A</a:t>
            </a:r>
            <a:r>
              <a:rPr lang="zh-CN" altLang="en-US" dirty="0"/>
              <a:t>和列向量</a:t>
            </a:r>
            <a:r>
              <a:rPr lang="en-US" altLang="zh-CN" dirty="0"/>
              <a:t>b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分）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用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建立增广矩阵</a:t>
            </a:r>
            <a:r>
              <a:rPr lang="en-US" altLang="zh-CN" dirty="0"/>
              <a:t>ab=[A b]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分）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inv</a:t>
            </a:r>
            <a:r>
              <a:rPr lang="zh-CN" altLang="en-US" dirty="0"/>
              <a:t>计算矩阵逆，</a:t>
            </a:r>
            <a:r>
              <a:rPr lang="en-US" altLang="zh-CN" dirty="0" err="1"/>
              <a:t>println</a:t>
            </a:r>
            <a:r>
              <a:rPr lang="zh-CN" altLang="en-US" dirty="0"/>
              <a:t>打印</a:t>
            </a:r>
            <a:r>
              <a:rPr lang="en-US" altLang="zh-CN" dirty="0"/>
              <a:t>,</a:t>
            </a:r>
            <a:r>
              <a:rPr lang="zh-CN" altLang="en-US" dirty="0"/>
              <a:t>并提供结果（</a:t>
            </a:r>
            <a:r>
              <a:rPr lang="en-US" altLang="zh-CN" dirty="0"/>
              <a:t>2</a:t>
            </a:r>
            <a:r>
              <a:rPr lang="zh-CN" altLang="en-US" dirty="0"/>
              <a:t>分）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用</a:t>
            </a:r>
            <a:r>
              <a:rPr lang="en-US" altLang="zh-CN" dirty="0"/>
              <a:t>inv</a:t>
            </a:r>
            <a:r>
              <a:rPr lang="zh-CN" altLang="en-US" dirty="0"/>
              <a:t>逆乘法求根，</a:t>
            </a:r>
            <a:r>
              <a:rPr lang="en-US" altLang="zh-CN" dirty="0" err="1"/>
              <a:t>println</a:t>
            </a:r>
            <a:r>
              <a:rPr lang="zh-CN" altLang="en-US" dirty="0"/>
              <a:t>打印</a:t>
            </a:r>
            <a:r>
              <a:rPr lang="en-US" altLang="zh-CN" dirty="0"/>
              <a:t>,</a:t>
            </a:r>
            <a:r>
              <a:rPr lang="zh-CN" altLang="en-US" dirty="0"/>
              <a:t>并提供结果（</a:t>
            </a:r>
            <a:r>
              <a:rPr lang="en-US" altLang="zh-CN" dirty="0"/>
              <a:t>2</a:t>
            </a:r>
            <a:r>
              <a:rPr lang="zh-CN" altLang="en-US" dirty="0"/>
              <a:t>分）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除法求根，</a:t>
            </a:r>
            <a:r>
              <a:rPr lang="en-US" altLang="zh-CN" dirty="0" err="1"/>
              <a:t>println</a:t>
            </a:r>
            <a:r>
              <a:rPr lang="zh-CN" altLang="en-US" dirty="0"/>
              <a:t>打印</a:t>
            </a:r>
            <a:r>
              <a:rPr lang="en-US" altLang="zh-CN" dirty="0"/>
              <a:t>,</a:t>
            </a:r>
            <a:r>
              <a:rPr lang="zh-CN" altLang="en-US" dirty="0"/>
              <a:t>并提供结果（</a:t>
            </a:r>
            <a:r>
              <a:rPr lang="en-US" altLang="zh-CN" dirty="0"/>
              <a:t>2</a:t>
            </a:r>
            <a:r>
              <a:rPr lang="zh-CN" altLang="en-US" dirty="0"/>
              <a:t>分）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0DF5E8-0F84-4581-B31B-0F24ADE23355}"/>
              </a:ext>
            </a:extLst>
          </p:cNvPr>
          <p:cNvSpPr txBox="1"/>
          <p:nvPr/>
        </p:nvSpPr>
        <p:spPr>
          <a:xfrm>
            <a:off x="760783" y="2211710"/>
            <a:ext cx="46249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1.0r+0.5g+0.2b=120</a:t>
            </a:r>
          </a:p>
          <a:p>
            <a:r>
              <a:rPr lang="en-US" altLang="zh-CN" dirty="0"/>
              <a:t>0.3r+1.0g+0.4b=160</a:t>
            </a:r>
          </a:p>
          <a:p>
            <a:r>
              <a:rPr lang="en-US" altLang="zh-CN" dirty="0"/>
              <a:t>0.1r+0.4g+1.0b=200</a:t>
            </a:r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08EED8D9-C078-4D54-8244-D80252FC268C}"/>
              </a:ext>
            </a:extLst>
          </p:cNvPr>
          <p:cNvSpPr/>
          <p:nvPr/>
        </p:nvSpPr>
        <p:spPr bwMode="auto">
          <a:xfrm>
            <a:off x="667774" y="2211710"/>
            <a:ext cx="155448" cy="91440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84094D-0DAC-4951-B616-32C0A547BBD0}"/>
              </a:ext>
            </a:extLst>
          </p:cNvPr>
          <p:cNvSpPr txBox="1"/>
          <p:nvPr/>
        </p:nvSpPr>
        <p:spPr>
          <a:xfrm>
            <a:off x="1259632" y="0"/>
            <a:ext cx="8208912" cy="6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四</a:t>
            </a:r>
            <a:r>
              <a:rPr lang="zh-CN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</a:t>
            </a:r>
            <a:r>
              <a:rPr lang="zh-CN" altLang="en-US" sz="28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大作业</a:t>
            </a:r>
            <a:r>
              <a:rPr lang="zh-CN" altLang="en-US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——</a:t>
            </a:r>
            <a:r>
              <a:rPr lang="en-US" altLang="zh-CN" sz="28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2.</a:t>
            </a:r>
            <a:r>
              <a:rPr lang="zh-CN" altLang="en-US" sz="2800" b="1" kern="1800" dirty="0">
                <a:solidFill>
                  <a:srgbClr val="FF0000"/>
                </a:solidFill>
                <a:latin typeface="等线" panose="02010600030101010101" pitchFamily="2" charset="-122"/>
                <a:ea typeface="黑体" panose="02010609060101010101" pitchFamily="49" charset="-122"/>
              </a:rPr>
              <a:t>计算机图形学</a:t>
            </a:r>
            <a:endParaRPr lang="zh-CN" altLang="zh-CN" sz="2800" b="1" kern="1800" dirty="0">
              <a:solidFill>
                <a:srgbClr val="FF0000"/>
              </a:solidFill>
              <a:latin typeface="等线" panose="02010600030101010101" pitchFamily="2" charset="-122"/>
              <a:ea typeface="黑体" panose="02010609060101010101" pitchFamily="49" charset="-122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32B07D6F-17C7-4250-97A9-8C71D9F1B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3918" y="2732019"/>
            <a:ext cx="930599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2000" b="1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x=A\b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ACE88EAA-13FB-4AF7-9393-F65728F44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0324" y="2319760"/>
            <a:ext cx="135941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eaLnBrk="0" hangingPunct="0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x=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inv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Arial" charset="0"/>
              </a:rPr>
              <a:t>(A)*b</a:t>
            </a:r>
          </a:p>
        </p:txBody>
      </p:sp>
    </p:spTree>
    <p:extLst>
      <p:ext uri="{BB962C8B-B14F-4D97-AF65-F5344CB8AC3E}">
        <p14:creationId xmlns:p14="http://schemas.microsoft.com/office/powerpoint/2010/main" val="1118659490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14077</TotalTime>
  <Pages>154</Pages>
  <Words>4645</Words>
  <Characters>0</Characters>
  <Application>Microsoft Office PowerPoint</Application>
  <DocSecurity>0</DocSecurity>
  <PresentationFormat>全屏显示(16:9)</PresentationFormat>
  <Lines>0</Lines>
  <Paragraphs>415</Paragraphs>
  <Slides>22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0" baseType="lpstr">
      <vt:lpstr>-apple-system</vt:lpstr>
      <vt:lpstr>Arial Unicode MS</vt:lpstr>
      <vt:lpstr>Menlo</vt:lpstr>
      <vt:lpstr>等线</vt:lpstr>
      <vt:lpstr>华文楷体</vt:lpstr>
      <vt:lpstr>华文细黑</vt:lpstr>
      <vt:lpstr>隶书</vt:lpstr>
      <vt:lpstr>宋体</vt:lpstr>
      <vt:lpstr>微软雅黑</vt:lpstr>
      <vt:lpstr>微软雅黑 Light</vt:lpstr>
      <vt:lpstr>Arial</vt:lpstr>
      <vt:lpstr>Calibri</vt:lpstr>
      <vt:lpstr>Cambria Math</vt:lpstr>
      <vt:lpstr>Consolas</vt:lpstr>
      <vt:lpstr>Helvetica</vt:lpstr>
      <vt:lpstr>Times New Roman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790</cp:revision>
  <dcterms:modified xsi:type="dcterms:W3CDTF">2025-04-11T09:25:51Z</dcterms:modified>
</cp:coreProperties>
</file>