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22"/>
  </p:notesMasterIdLst>
  <p:sldIdLst>
    <p:sldId id="679" r:id="rId2"/>
    <p:sldId id="2107" r:id="rId3"/>
    <p:sldId id="10116" r:id="rId4"/>
    <p:sldId id="1944" r:id="rId5"/>
    <p:sldId id="1392" r:id="rId6"/>
    <p:sldId id="1938" r:id="rId7"/>
    <p:sldId id="2110" r:id="rId8"/>
    <p:sldId id="2131" r:id="rId9"/>
    <p:sldId id="10124" r:id="rId10"/>
    <p:sldId id="2132" r:id="rId11"/>
    <p:sldId id="1929" r:id="rId12"/>
    <p:sldId id="10134" r:id="rId13"/>
    <p:sldId id="293" r:id="rId14"/>
    <p:sldId id="2130" r:id="rId15"/>
    <p:sldId id="10117" r:id="rId16"/>
    <p:sldId id="10118" r:id="rId17"/>
    <p:sldId id="1388" r:id="rId18"/>
    <p:sldId id="1324" r:id="rId19"/>
    <p:sldId id="10121" r:id="rId20"/>
    <p:sldId id="10122" r:id="rId21"/>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6"/>
    <a:srgbClr val="6D629C"/>
    <a:srgbClr val="736303"/>
    <a:srgbClr val="3366FF"/>
    <a:srgbClr val="3399FF"/>
    <a:srgbClr val="66CCFF"/>
    <a:srgbClr val="F0DA04"/>
    <a:srgbClr val="33CCFF"/>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7" autoAdjust="0"/>
    <p:restoredTop sz="93673" autoAdjust="0"/>
  </p:normalViewPr>
  <p:slideViewPr>
    <p:cSldViewPr snapToObjects="1">
      <p:cViewPr varScale="1">
        <p:scale>
          <a:sx n="81" d="100"/>
          <a:sy n="81" d="100"/>
        </p:scale>
        <p:origin x="852" y="56"/>
      </p:cViewPr>
      <p:guideLst>
        <p:guide orient="horz" pos="4201"/>
        <p:guide pos="2879"/>
        <p:guide orient="horz" pos="3151"/>
      </p:guideLst>
    </p:cSldViewPr>
  </p:slideViewPr>
  <p:notesTextViewPr>
    <p:cViewPr>
      <p:scale>
        <a:sx n="300" d="100"/>
        <a:sy n="300" d="100"/>
      </p:scale>
      <p:origin x="0" y="0"/>
    </p:cViewPr>
  </p:notesTextViewPr>
  <p:sorterViewPr>
    <p:cViewPr>
      <p:scale>
        <a:sx n="100" d="100"/>
        <a:sy n="100" d="100"/>
      </p:scale>
      <p:origin x="0" y="0"/>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2025/3/28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a:t>
            </a:fld>
            <a:endParaRPr lang="zh-CN" altLang="en-US"/>
          </a:p>
        </p:txBody>
      </p:sp>
    </p:spTree>
    <p:extLst>
      <p:ext uri="{BB962C8B-B14F-4D97-AF65-F5344CB8AC3E}">
        <p14:creationId xmlns:p14="http://schemas.microsoft.com/office/powerpoint/2010/main" val="4201314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err="1">
                <a:latin typeface="华文楷体" panose="02010600040101010101" pitchFamily="2" charset="-122"/>
                <a:ea typeface="华文楷体" panose="02010600040101010101" pitchFamily="2" charset="-122"/>
              </a:rPr>
              <a:t>tightlayout</a:t>
            </a:r>
            <a:r>
              <a:rPr lang="en-US" altLang="zh-CN" sz="1200" dirty="0">
                <a:latin typeface="华文楷体" panose="02010600040101010101" pitchFamily="2" charset="-122"/>
                <a:ea typeface="华文楷体" panose="02010600040101010101" pitchFamily="2" charset="-122"/>
              </a:rPr>
              <a:t>(); #</a:t>
            </a:r>
            <a:r>
              <a:rPr lang="zh-CN" altLang="en-US" sz="1200" dirty="0">
                <a:latin typeface="华文楷体" panose="02010600040101010101" pitchFamily="2" charset="-122"/>
                <a:ea typeface="华文楷体" panose="02010600040101010101" pitchFamily="2" charset="-122"/>
              </a:rPr>
              <a:t>紧凑布局防止题目和曲线重叠</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a:t>
            </a:fld>
            <a:endParaRPr lang="zh-CN" altLang="en-US"/>
          </a:p>
        </p:txBody>
      </p:sp>
    </p:spTree>
    <p:extLst>
      <p:ext uri="{BB962C8B-B14F-4D97-AF65-F5344CB8AC3E}">
        <p14:creationId xmlns:p14="http://schemas.microsoft.com/office/powerpoint/2010/main" val="2435357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284422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8</a:t>
            </a:fld>
            <a:endParaRPr lang="zh-CN" altLang="en-US"/>
          </a:p>
        </p:txBody>
      </p:sp>
    </p:spTree>
    <p:extLst>
      <p:ext uri="{BB962C8B-B14F-4D97-AF65-F5344CB8AC3E}">
        <p14:creationId xmlns:p14="http://schemas.microsoft.com/office/powerpoint/2010/main" val="3146490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5D6C57C-11B0-4678-9FF0-70B7A8551F59}" type="slidenum">
              <a:rPr lang="zh-CN" altLang="en-US" smtClean="0"/>
              <a:t>11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fld id="{1E94F464-755E-4269-8EA0-2FA601E56F5B}" type="slidenum">
              <a:rPr lang="zh-CN" altLang="en-US" smtClean="0">
                <a:latin typeface="Calibri" panose="020F0502020204030204" charset="0"/>
              </a:rPr>
              <a:t>13</a:t>
            </a:fld>
            <a:endParaRPr lang="zh-CN" altLang="en-US">
              <a:latin typeface="Calibri" panose="020F0502020204030204" charset="0"/>
            </a:endParaRPr>
          </a:p>
        </p:txBody>
      </p:sp>
      <p:sp>
        <p:nvSpPr>
          <p:cNvPr id="97283"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97284"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en-US" sz="1000" i="1"/>
              <a:t>33</a:t>
            </a:r>
          </a:p>
        </p:txBody>
      </p:sp>
      <p:sp>
        <p:nvSpPr>
          <p:cNvPr id="97285"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97286"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97287" name="Rectangle 6"/>
          <p:cNvSpPr>
            <a:spLocks noGrp="1" noChangeArrowheads="1"/>
          </p:cNvSpPr>
          <p:nvPr>
            <p:ph type="body" idx="4294967295"/>
          </p:nvPr>
        </p:nvSpPr>
        <p:spPr bwMode="auto">
          <a:xfrm>
            <a:off x="914400" y="3276600"/>
            <a:ext cx="5029200" cy="518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numCol="1" anchor="t" anchorCtr="0" compatLnSpc="1"/>
          <a:lstStyle/>
          <a:p>
            <a:endParaRPr lang="zh-CN" altLang="en-US"/>
          </a:p>
        </p:txBody>
      </p:sp>
      <p:sp>
        <p:nvSpPr>
          <p:cNvPr id="97288" name="Rectangle 7"/>
          <p:cNvSpPr>
            <a:spLocks noGrp="1" noRot="1" noChangeAspect="1" noChangeArrowheads="1" noTextEdit="1"/>
          </p:cNvSpPr>
          <p:nvPr>
            <p:ph type="sldImg" idx="4294967295"/>
          </p:nvPr>
        </p:nvSpPr>
        <p:spPr bwMode="auto">
          <a:xfrm>
            <a:off x="1409700" y="692150"/>
            <a:ext cx="4038600" cy="2273300"/>
          </a:xfrm>
          <a:ln>
            <a:solidFill>
              <a:schemeClr val="tx1"/>
            </a:solidFill>
            <a:miter lim="800000"/>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17</a:t>
            </a:fld>
            <a:endParaRPr lang="zh-CN" altLang="en-US"/>
          </a:p>
        </p:txBody>
      </p:sp>
    </p:spTree>
    <p:extLst>
      <p:ext uri="{BB962C8B-B14F-4D97-AF65-F5344CB8AC3E}">
        <p14:creationId xmlns:p14="http://schemas.microsoft.com/office/powerpoint/2010/main" val="3151094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t = </a:t>
            </a:r>
            <a:r>
              <a:rPr lang="en-US" altLang="zh-CN" b="0" dirty="0">
                <a:solidFill>
                  <a:srgbClr val="098658"/>
                </a:solidFill>
                <a:effectLst/>
                <a:latin typeface="Consolas" panose="020B0609020204030204" pitchFamily="49" charset="0"/>
              </a:rPr>
              <a:t>2008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2017</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生成时间的行向量</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g = [</a:t>
            </a:r>
            <a:r>
              <a:rPr lang="en-US" altLang="zh-CN" b="0" dirty="0">
                <a:solidFill>
                  <a:srgbClr val="098658"/>
                </a:solidFill>
                <a:effectLst/>
                <a:latin typeface="Consolas" panose="020B0609020204030204" pitchFamily="49" charset="0"/>
              </a:rPr>
              <a:t>4.598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5.110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6.101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7.573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8.561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9.607</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10.482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11.065</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11.191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12.238</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0" dirty="0" err="1">
                <a:solidFill>
                  <a:srgbClr val="795E26"/>
                </a:solidFill>
                <a:effectLst/>
                <a:latin typeface="Consolas" panose="020B0609020204030204" pitchFamily="49" charset="0"/>
              </a:rPr>
              <a:t>plt_update</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更新</a:t>
            </a:r>
            <a:endParaRPr lang="zh-CN" altLang="en-US"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2095203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8F1CB138-D962-4159-86D4-69744E72DFCB}"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82AC858E-3DCE-4D01-A80F-DEA7F14DD0EB}"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59E2ED9D-B9E8-4415-A1AA-A51EE65F134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148DE395-C011-4FCA-B35B-9450E02CE85B}"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E6FB4065-B1B7-4E06-9A01-41AE3A9EC04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428D4F1-5252-4CE3-8F75-35C51027C8D7}"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7EE522D-DF1B-4BE4-9E38-6362FBF71D06}"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3F913E49-A68C-484C-9771-B00D1343D1B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53CA134C-C122-4DE6-ABA6-CD4CFACFA38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4"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58AFA89-A926-463F-9D62-0D5882BAE144}"/>
              </a:ext>
            </a:extLst>
          </p:cNvPr>
          <p:cNvSpPr txBox="1"/>
          <p:nvPr/>
        </p:nvSpPr>
        <p:spPr>
          <a:xfrm>
            <a:off x="751201" y="740342"/>
            <a:ext cx="7848872" cy="1088439"/>
          </a:xfrm>
          <a:prstGeom prst="rect">
            <a:avLst/>
          </a:prstGeom>
          <a:noFill/>
        </p:spPr>
        <p:txBody>
          <a:bodyPr wrap="square">
            <a:spAutoFit/>
          </a:bodyPr>
          <a:lstStyle/>
          <a:p>
            <a:pPr algn="ctr">
              <a:lnSpc>
                <a:spcPts val="4100"/>
              </a:lnSpc>
            </a:pPr>
            <a:r>
              <a:rPr lang="zh-CN" altLang="zh-CN" sz="2400" b="1" kern="100" dirty="0">
                <a:solidFill>
                  <a:srgbClr val="003B76"/>
                </a:solidFill>
                <a:effectLst/>
                <a:latin typeface="等线" panose="02010600030101010101" pitchFamily="2" charset="-122"/>
                <a:ea typeface="黑体" panose="02010609060101010101" pitchFamily="49" charset="-122"/>
                <a:cs typeface="Times New Roman" panose="02020603050405020304" pitchFamily="18" charset="0"/>
              </a:rPr>
              <a:t>《</a:t>
            </a:r>
            <a:r>
              <a:rPr lang="en-US" altLang="zh-CN" sz="2400" b="1" kern="100" dirty="0">
                <a:solidFill>
                  <a:srgbClr val="003B76"/>
                </a:solidFill>
                <a:effectLst/>
                <a:latin typeface="等线" panose="02010600030101010101" pitchFamily="2" charset="-122"/>
                <a:ea typeface="黑体" panose="02010609060101010101" pitchFamily="49" charset="-122"/>
                <a:cs typeface="Times New Roman" panose="02020603050405020304" pitchFamily="18" charset="0"/>
              </a:rPr>
              <a:t>MWORKS </a:t>
            </a:r>
            <a:r>
              <a:rPr lang="en-US" altLang="zh-CN" sz="2400" b="1" kern="100" dirty="0" err="1">
                <a:solidFill>
                  <a:srgbClr val="003B76"/>
                </a:solidFill>
                <a:effectLst/>
                <a:latin typeface="等线" panose="02010600030101010101" pitchFamily="2" charset="-122"/>
                <a:ea typeface="黑体" panose="02010609060101010101" pitchFamily="49" charset="-122"/>
                <a:cs typeface="Times New Roman" panose="02020603050405020304" pitchFamily="18" charset="0"/>
              </a:rPr>
              <a:t>Syslab</a:t>
            </a:r>
            <a:r>
              <a:rPr lang="en-US" altLang="zh-CN" sz="2400" b="1" kern="100" dirty="0">
                <a:solidFill>
                  <a:srgbClr val="003B76"/>
                </a:solidFill>
                <a:effectLst/>
                <a:latin typeface="等线" panose="02010600030101010101" pitchFamily="2" charset="-122"/>
                <a:ea typeface="黑体" panose="02010609060101010101" pitchFamily="49" charset="-122"/>
                <a:cs typeface="Times New Roman" panose="02020603050405020304" pitchFamily="18" charset="0"/>
              </a:rPr>
              <a:t> </a:t>
            </a:r>
            <a:r>
              <a:rPr lang="zh-CN" altLang="zh-CN" sz="2400" b="1" kern="100" dirty="0">
                <a:solidFill>
                  <a:srgbClr val="003B76"/>
                </a:solidFill>
                <a:effectLst/>
                <a:latin typeface="等线" panose="02010600030101010101" pitchFamily="2" charset="-122"/>
                <a:ea typeface="黑体" panose="02010609060101010101" pitchFamily="49" charset="-122"/>
                <a:cs typeface="Times New Roman" panose="02020603050405020304" pitchFamily="18" charset="0"/>
              </a:rPr>
              <a:t>科学计算软件及其应用》</a:t>
            </a:r>
            <a:endParaRPr lang="zh-CN" altLang="zh-CN" sz="2400" kern="100" dirty="0">
              <a:solidFill>
                <a:srgbClr val="003B76"/>
              </a:solidFill>
              <a:effectLst/>
              <a:latin typeface="等线" panose="02010600030101010101" pitchFamily="2" charset="-122"/>
              <a:ea typeface="等线" panose="02010600030101010101" pitchFamily="2" charset="-122"/>
              <a:cs typeface="Times New Roman" panose="02020603050405020304" pitchFamily="18" charset="0"/>
            </a:endParaRPr>
          </a:p>
          <a:p>
            <a:pPr algn="ctr">
              <a:lnSpc>
                <a:spcPts val="4100"/>
              </a:lnSpc>
            </a:pPr>
            <a:r>
              <a:rPr lang="zh-CN" altLang="zh-CN"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第</a:t>
            </a:r>
            <a:r>
              <a:rPr lang="zh-CN" altLang="en-US"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二</a:t>
            </a:r>
            <a:r>
              <a:rPr lang="zh-CN" altLang="zh-CN"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次上机实验报告</a:t>
            </a:r>
            <a:r>
              <a:rPr lang="en-US" altLang="zh-CN"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a:t>
            </a:r>
            <a:endParaRPr lang="zh-CN" altLang="zh-CN" sz="2400" kern="100" dirty="0">
              <a:solidFill>
                <a:srgbClr val="003B76"/>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F2E161AC-E5B0-4F3B-8E67-2E8897A855E2}"/>
              </a:ext>
            </a:extLst>
          </p:cNvPr>
          <p:cNvSpPr txBox="1"/>
          <p:nvPr/>
        </p:nvSpPr>
        <p:spPr>
          <a:xfrm>
            <a:off x="107206" y="1852350"/>
            <a:ext cx="8064896" cy="583814"/>
          </a:xfrm>
          <a:prstGeom prst="rect">
            <a:avLst/>
          </a:prstGeom>
          <a:noFill/>
        </p:spPr>
        <p:txBody>
          <a:bodyPr wrap="square">
            <a:spAutoFit/>
          </a:bodyPr>
          <a:lstStyle/>
          <a:p>
            <a:pPr algn="just">
              <a:lnSpc>
                <a:spcPct val="150000"/>
              </a:lnSpc>
            </a:pPr>
            <a:r>
              <a:rPr lang="zh-CN" altLang="en-US"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一、上机</a:t>
            </a:r>
            <a:r>
              <a:rPr lang="zh-CN" altLang="zh-CN"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目的：</a:t>
            </a:r>
            <a:r>
              <a:rPr lang="zh-CN" altLang="en-US" sz="2400" b="1" kern="1800" dirty="0">
                <a:solidFill>
                  <a:srgbClr val="003B76"/>
                </a:solidFill>
                <a:effectLst/>
                <a:latin typeface="等线" panose="02010600030101010101" pitchFamily="2" charset="-122"/>
                <a:ea typeface="黑体" panose="02010609060101010101" pitchFamily="49" charset="-122"/>
                <a:cs typeface="宋体" panose="02010600030101010101" pitchFamily="2" charset="-122"/>
              </a:rPr>
              <a:t>三维绘图和概率统计分析</a:t>
            </a:r>
            <a:endParaRPr lang="zh-CN" altLang="zh-CN" sz="2400" kern="1800" dirty="0">
              <a:solidFill>
                <a:srgbClr val="003B76"/>
              </a:solidFill>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02C68702-83AE-418E-9850-5ADCBC37A1A3}"/>
              </a:ext>
            </a:extLst>
          </p:cNvPr>
          <p:cNvSpPr txBox="1"/>
          <p:nvPr/>
        </p:nvSpPr>
        <p:spPr>
          <a:xfrm>
            <a:off x="107206" y="2283718"/>
            <a:ext cx="9001000" cy="2217210"/>
          </a:xfrm>
          <a:prstGeom prst="rect">
            <a:avLst/>
          </a:prstGeom>
          <a:noFill/>
        </p:spPr>
        <p:txBody>
          <a:bodyPr wrap="square">
            <a:spAutoFit/>
          </a:bodyPr>
          <a:lstStyle>
            <a:defPPr>
              <a:defRPr lang="zh-CN"/>
            </a:defPPr>
            <a:lvl1pPr marL="457200" indent="-457200" algn="just">
              <a:lnSpc>
                <a:spcPct val="150000"/>
              </a:lnSpc>
              <a:buFont typeface="+mj-lt"/>
              <a:buAutoNum type="arabicPeriod"/>
              <a:defRPr sz="2400" b="0" kern="1800">
                <a:solidFill>
                  <a:srgbClr val="003B76"/>
                </a:solidFill>
                <a:effectLst/>
                <a:latin typeface="等线" panose="02010600030101010101" pitchFamily="2" charset="-122"/>
                <a:ea typeface="黑体" panose="02010609060101010101" pitchFamily="49" charset="-122"/>
                <a:cs typeface="宋体" panose="02010600030101010101" pitchFamily="2" charset="-122"/>
              </a:defRPr>
            </a:lvl1pPr>
          </a:lstStyle>
          <a:p>
            <a:pPr>
              <a:lnSpc>
                <a:spcPts val="4300"/>
              </a:lnSpc>
            </a:pPr>
            <a:r>
              <a:rPr lang="zh-CN" altLang="en-US" sz="1800" dirty="0"/>
              <a:t>学会</a:t>
            </a:r>
            <a:r>
              <a:rPr lang="en-US" altLang="zh-CN" sz="1800" dirty="0"/>
              <a:t>figure</a:t>
            </a:r>
            <a:r>
              <a:rPr lang="zh-CN" altLang="en-US" sz="1800" dirty="0"/>
              <a:t>创建新图窗，</a:t>
            </a:r>
            <a:r>
              <a:rPr lang="en-US" altLang="zh-CN" sz="1800" dirty="0"/>
              <a:t>subplot</a:t>
            </a:r>
            <a:r>
              <a:rPr lang="zh-CN" altLang="en-US" sz="1800" dirty="0"/>
              <a:t>创建多子图</a:t>
            </a:r>
            <a:endParaRPr lang="en-US" altLang="zh-CN" sz="1800" dirty="0"/>
          </a:p>
          <a:p>
            <a:pPr>
              <a:lnSpc>
                <a:spcPts val="4300"/>
              </a:lnSpc>
            </a:pPr>
            <a:r>
              <a:rPr lang="zh-CN" altLang="en-US" sz="1800" dirty="0"/>
              <a:t>学会</a:t>
            </a:r>
            <a:r>
              <a:rPr lang="en-US" altLang="zh-CN" sz="1800" dirty="0"/>
              <a:t>mesh</a:t>
            </a:r>
            <a:r>
              <a:rPr lang="zh-CN" altLang="en-US" sz="1800" dirty="0"/>
              <a:t>、</a:t>
            </a:r>
            <a:r>
              <a:rPr lang="en-US" altLang="zh-CN" sz="1800" dirty="0"/>
              <a:t>surf</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contour</a:t>
            </a:r>
            <a:r>
              <a:rPr lang="zh-CN" altLang="en-US" sz="1800" dirty="0"/>
              <a:t>绘制离散网格图、曲面图和等高线</a:t>
            </a:r>
            <a:r>
              <a:rPr lang="en-US" altLang="zh-CN" sz="1800" dirty="0"/>
              <a:t> </a:t>
            </a:r>
          </a:p>
          <a:p>
            <a:pPr>
              <a:lnSpc>
                <a:spcPts val="4300"/>
              </a:lnSpc>
            </a:pPr>
            <a:r>
              <a:rPr lang="zh-CN" altLang="en-US" sz="1800" dirty="0"/>
              <a:t>学会</a:t>
            </a:r>
            <a:r>
              <a:rPr lang="en-US" altLang="zh-CN" sz="1800" dirty="0"/>
              <a:t>shading</a:t>
            </a:r>
            <a:r>
              <a:rPr lang="zh-CN" altLang="en-US" sz="1800" dirty="0"/>
              <a:t>着色、</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colormap</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设置</a:t>
            </a:r>
            <a:r>
              <a:rPr lang="zh-CN" altLang="en-US" sz="1800" dirty="0"/>
              <a:t>曲面</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颜色</a:t>
            </a:r>
            <a:r>
              <a:rPr lang="zh-CN" altLang="en-US" sz="1800" kern="100" dirty="0">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err="1">
                <a:latin typeface="Calibri" panose="020F0502020204030204" pitchFamily="34" charset="0"/>
                <a:ea typeface="宋体" panose="02010600030101010101" pitchFamily="2" charset="-122"/>
                <a:cs typeface="Times New Roman" panose="02020603050405020304" pitchFamily="18" charset="0"/>
              </a:rPr>
              <a:t>colorbar</a:t>
            </a:r>
            <a:r>
              <a:rPr lang="zh-CN" altLang="zh-CN" sz="1800" kern="100" dirty="0">
                <a:latin typeface="Calibri" panose="020F0502020204030204" pitchFamily="34" charset="0"/>
                <a:ea typeface="宋体" panose="02010600030101010101" pitchFamily="2" charset="-122"/>
                <a:cs typeface="Times New Roman" panose="02020603050405020304" pitchFamily="18" charset="0"/>
              </a:rPr>
              <a:t>标注颜色条</a:t>
            </a:r>
            <a:r>
              <a:rPr lang="zh-CN" altLang="en-US" sz="1800" dirty="0"/>
              <a:t>，</a:t>
            </a:r>
            <a:r>
              <a:rPr lang="en-US" altLang="zh-CN" sz="1800" dirty="0"/>
              <a:t>axis</a:t>
            </a:r>
            <a:r>
              <a:rPr lang="zh-CN" altLang="en-US" sz="1800" dirty="0"/>
              <a:t>开关坐标轴</a:t>
            </a:r>
            <a:endParaRPr lang="en-US" altLang="zh-CN" sz="1800" dirty="0"/>
          </a:p>
          <a:p>
            <a:pPr>
              <a:lnSpc>
                <a:spcPts val="4300"/>
              </a:lnSpc>
            </a:pPr>
            <a:r>
              <a:rPr lang="zh-CN" altLang="en-US" sz="1800" dirty="0"/>
              <a:t>学会数据统计分析、数据正态拟合和计算概率密度 </a:t>
            </a:r>
          </a:p>
        </p:txBody>
      </p:sp>
    </p:spTree>
    <p:extLst>
      <p:ext uri="{BB962C8B-B14F-4D97-AF65-F5344CB8AC3E}">
        <p14:creationId xmlns:p14="http://schemas.microsoft.com/office/powerpoint/2010/main" val="76097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94E62D-691F-429F-9CCF-5F86C89E4220}"/>
              </a:ext>
            </a:extLst>
          </p:cNvPr>
          <p:cNvSpPr txBox="1"/>
          <p:nvPr/>
        </p:nvSpPr>
        <p:spPr>
          <a:xfrm>
            <a:off x="19280" y="33666"/>
            <a:ext cx="7941991" cy="575479"/>
          </a:xfrm>
          <a:prstGeom prst="rect">
            <a:avLst/>
          </a:prstGeom>
          <a:solidFill>
            <a:schemeClr val="bg1"/>
          </a:solidFill>
        </p:spPr>
        <p:txBody>
          <a:bodyPr wrap="square">
            <a:spAutoFit/>
          </a:bodyPr>
          <a:lstStyle/>
          <a:p>
            <a:pPr algn="just">
              <a:lnSpc>
                <a:spcPct val="150000"/>
              </a:lnSpc>
            </a:pPr>
            <a:r>
              <a:rPr lang="zh-CN" altLang="en-US" sz="2400" b="1" dirty="0">
                <a:solidFill>
                  <a:srgbClr val="0070C0"/>
                </a:solidFill>
                <a:latin typeface="黑体" panose="02010609060101010101" pitchFamily="49" charset="-122"/>
                <a:ea typeface="黑体" panose="02010609060101010101" pitchFamily="49" charset="-122"/>
              </a:rPr>
              <a:t>二、</a:t>
            </a:r>
            <a:r>
              <a:rPr lang="zh-CN" altLang="zh-CN" sz="2400" b="1" dirty="0">
                <a:solidFill>
                  <a:srgbClr val="0070C0"/>
                </a:solidFill>
                <a:latin typeface="黑体" panose="02010609060101010101" pitchFamily="49" charset="-122"/>
                <a:ea typeface="黑体" panose="02010609060101010101" pitchFamily="49" charset="-122"/>
              </a:rPr>
              <a:t>上机</a:t>
            </a:r>
            <a:r>
              <a:rPr lang="zh-CN" altLang="en-US" sz="2400" b="1" dirty="0">
                <a:solidFill>
                  <a:srgbClr val="0070C0"/>
                </a:solidFill>
                <a:latin typeface="黑体" panose="02010609060101010101" pitchFamily="49" charset="-122"/>
                <a:ea typeface="黑体" panose="02010609060101010101" pitchFamily="49" charset="-122"/>
              </a:rPr>
              <a:t>练习</a:t>
            </a:r>
            <a:r>
              <a:rPr lang="zh-CN" altLang="zh-CN" sz="2400" b="1" dirty="0">
                <a:solidFill>
                  <a:srgbClr val="0070C0"/>
                </a:solidFill>
                <a:latin typeface="黑体" panose="02010609060101010101" pitchFamily="49" charset="-122"/>
                <a:ea typeface="黑体" panose="02010609060101010101" pitchFamily="49" charset="-122"/>
              </a:rPr>
              <a:t>理论</a:t>
            </a:r>
            <a:r>
              <a:rPr lang="en-US" altLang="zh-CN" sz="2400" dirty="0">
                <a:solidFill>
                  <a:srgbClr val="FF0000"/>
                </a:solidFill>
                <a:latin typeface="华文细黑" pitchFamily="2" charset="-122"/>
                <a:ea typeface="华文细黑" pitchFamily="2" charset="-122"/>
              </a:rPr>
              <a:t>——1.</a:t>
            </a:r>
            <a:r>
              <a:rPr lang="zh-CN" altLang="en-US" sz="2400" dirty="0">
                <a:solidFill>
                  <a:srgbClr val="FF0000"/>
                </a:solidFill>
                <a:latin typeface="华文细黑" pitchFamily="2" charset="-122"/>
                <a:ea typeface="华文细黑" pitchFamily="2" charset="-122"/>
              </a:rPr>
              <a:t> 图窗和坐标调整</a:t>
            </a:r>
            <a:endParaRPr lang="zh-CN" altLang="zh-CN" sz="2400" dirty="0">
              <a:solidFill>
                <a:srgbClr val="FF0000"/>
              </a:solidFill>
              <a:latin typeface="华文细黑" pitchFamily="2" charset="-122"/>
              <a:ea typeface="华文细黑" pitchFamily="2" charset="-122"/>
            </a:endParaRPr>
          </a:p>
        </p:txBody>
      </p:sp>
      <p:sp>
        <p:nvSpPr>
          <p:cNvPr id="5" name="矩形 14">
            <a:extLst>
              <a:ext uri="{FF2B5EF4-FFF2-40B4-BE49-F238E27FC236}">
                <a16:creationId xmlns:a16="http://schemas.microsoft.com/office/drawing/2014/main" id="{32758CCF-BB1F-4D4E-AD69-C5B0AD37D203}"/>
              </a:ext>
            </a:extLst>
          </p:cNvPr>
          <p:cNvSpPr>
            <a:spLocks noChangeArrowheads="1"/>
          </p:cNvSpPr>
          <p:nvPr/>
        </p:nvSpPr>
        <p:spPr bwMode="auto">
          <a:xfrm>
            <a:off x="504146" y="3266489"/>
            <a:ext cx="3002234"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a:solidFill>
                  <a:srgbClr val="FFFFFF"/>
                </a:solidFill>
                <a:latin typeface="微软雅黑" panose="020B0503020204020204" pitchFamily="34" charset="-122"/>
                <a:ea typeface="微软雅黑" panose="020B0503020204020204" pitchFamily="34" charset="-122"/>
              </a:rPr>
              <a:t>axis([</a:t>
            </a:r>
            <a:r>
              <a:rPr lang="en-US" altLang="zh-CN" sz="1600" kern="0" dirty="0" err="1">
                <a:solidFill>
                  <a:srgbClr val="FFFFFF"/>
                </a:solidFill>
                <a:latin typeface="微软雅黑" panose="020B0503020204020204" pitchFamily="34" charset="-122"/>
                <a:ea typeface="微软雅黑" panose="020B0503020204020204" pitchFamily="34" charset="-122"/>
              </a:rPr>
              <a:t>xmin</a:t>
            </a:r>
            <a:r>
              <a:rPr lang="en-US" altLang="zh-CN" sz="1600" kern="0" dirty="0">
                <a:solidFill>
                  <a:srgbClr val="FFFFFF"/>
                </a:solidFill>
                <a:latin typeface="微软雅黑" panose="020B0503020204020204" pitchFamily="34" charset="-122"/>
                <a:ea typeface="微软雅黑" panose="020B0503020204020204" pitchFamily="34" charset="-122"/>
              </a:rPr>
              <a:t> </a:t>
            </a:r>
            <a:r>
              <a:rPr lang="en-US" altLang="zh-CN" sz="1600" kern="0" dirty="0" err="1">
                <a:solidFill>
                  <a:srgbClr val="FFFFFF"/>
                </a:solidFill>
                <a:latin typeface="微软雅黑" panose="020B0503020204020204" pitchFamily="34" charset="-122"/>
                <a:ea typeface="微软雅黑" panose="020B0503020204020204" pitchFamily="34" charset="-122"/>
              </a:rPr>
              <a:t>xmax</a:t>
            </a:r>
            <a:r>
              <a:rPr lang="en-US" altLang="zh-CN" sz="1600" kern="0" dirty="0">
                <a:solidFill>
                  <a:srgbClr val="FFFFFF"/>
                </a:solidFill>
                <a:latin typeface="微软雅黑" panose="020B0503020204020204" pitchFamily="34" charset="-122"/>
                <a:ea typeface="微软雅黑" panose="020B0503020204020204" pitchFamily="34" charset="-122"/>
              </a:rPr>
              <a:t> </a:t>
            </a:r>
            <a:r>
              <a:rPr lang="en-US" altLang="zh-CN" sz="1600" kern="0" dirty="0" err="1">
                <a:solidFill>
                  <a:srgbClr val="FFFFFF"/>
                </a:solidFill>
                <a:latin typeface="微软雅黑" panose="020B0503020204020204" pitchFamily="34" charset="-122"/>
                <a:ea typeface="微软雅黑" panose="020B0503020204020204" pitchFamily="34" charset="-122"/>
              </a:rPr>
              <a:t>ymin</a:t>
            </a:r>
            <a:r>
              <a:rPr lang="en-US" altLang="zh-CN" sz="1600" kern="0" dirty="0">
                <a:solidFill>
                  <a:srgbClr val="FFFFFF"/>
                </a:solidFill>
                <a:latin typeface="微软雅黑" panose="020B0503020204020204" pitchFamily="34" charset="-122"/>
                <a:ea typeface="微软雅黑" panose="020B0503020204020204" pitchFamily="34" charset="-122"/>
              </a:rPr>
              <a:t> </a:t>
            </a:r>
            <a:r>
              <a:rPr lang="en-US" altLang="zh-CN" sz="1600" kern="0" dirty="0" err="1">
                <a:solidFill>
                  <a:srgbClr val="FFFFFF"/>
                </a:solidFill>
                <a:latin typeface="微软雅黑" panose="020B0503020204020204" pitchFamily="34" charset="-122"/>
                <a:ea typeface="微软雅黑" panose="020B0503020204020204" pitchFamily="34" charset="-122"/>
              </a:rPr>
              <a:t>ymax</a:t>
            </a:r>
            <a:r>
              <a:rPr lang="en-US" altLang="zh-CN" sz="1600" kern="0" dirty="0">
                <a:solidFill>
                  <a:srgbClr val="FFFFFF"/>
                </a:solidFill>
                <a:latin typeface="微软雅黑" panose="020B0503020204020204" pitchFamily="34" charset="-122"/>
                <a:ea typeface="微软雅黑" panose="020B0503020204020204" pitchFamily="34" charset="-122"/>
              </a:rPr>
              <a:t>])</a:t>
            </a:r>
          </a:p>
        </p:txBody>
      </p:sp>
      <p:sp>
        <p:nvSpPr>
          <p:cNvPr id="6" name="矩形 22">
            <a:extLst>
              <a:ext uri="{FF2B5EF4-FFF2-40B4-BE49-F238E27FC236}">
                <a16:creationId xmlns:a16="http://schemas.microsoft.com/office/drawing/2014/main" id="{211329D2-CF07-4DB2-A78D-E593BCA2348F}"/>
              </a:ext>
            </a:extLst>
          </p:cNvPr>
          <p:cNvSpPr>
            <a:spLocks noChangeArrowheads="1"/>
          </p:cNvSpPr>
          <p:nvPr/>
        </p:nvSpPr>
        <p:spPr bwMode="auto">
          <a:xfrm>
            <a:off x="547149" y="4161709"/>
            <a:ext cx="1910716"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err="1">
                <a:solidFill>
                  <a:srgbClr val="FFFFFF"/>
                </a:solidFill>
                <a:latin typeface="微软雅黑" panose="020B0503020204020204" pitchFamily="34" charset="-122"/>
                <a:ea typeface="微软雅黑" panose="020B0503020204020204" pitchFamily="34" charset="-122"/>
              </a:rPr>
              <a:t>xlim</a:t>
            </a:r>
            <a:r>
              <a:rPr lang="en-US" altLang="zh-CN" sz="1600" kern="0" dirty="0">
                <a:solidFill>
                  <a:srgbClr val="FFFFFF"/>
                </a:solidFill>
                <a:latin typeface="微软雅黑" panose="020B0503020204020204" pitchFamily="34" charset="-122"/>
                <a:ea typeface="微软雅黑" panose="020B0503020204020204" pitchFamily="34" charset="-122"/>
              </a:rPr>
              <a:t>([</a:t>
            </a:r>
            <a:r>
              <a:rPr lang="en-US" altLang="zh-CN" sz="1600" kern="0" dirty="0" err="1">
                <a:solidFill>
                  <a:srgbClr val="FFFFFF"/>
                </a:solidFill>
                <a:latin typeface="微软雅黑" panose="020B0503020204020204" pitchFamily="34" charset="-122"/>
                <a:ea typeface="微软雅黑" panose="020B0503020204020204" pitchFamily="34" charset="-122"/>
              </a:rPr>
              <a:t>xmin,xmax</a:t>
            </a:r>
            <a:r>
              <a:rPr lang="en-US" altLang="zh-CN" sz="1600" kern="0" dirty="0">
                <a:solidFill>
                  <a:srgbClr val="FFFFFF"/>
                </a:solidFill>
                <a:latin typeface="微软雅黑" panose="020B0503020204020204" pitchFamily="34" charset="-122"/>
                <a:ea typeface="微软雅黑" panose="020B0503020204020204" pitchFamily="34" charset="-122"/>
              </a:rPr>
              <a:t>]) </a:t>
            </a:r>
          </a:p>
        </p:txBody>
      </p:sp>
      <p:sp>
        <p:nvSpPr>
          <p:cNvPr id="7" name="内容占位符 3">
            <a:extLst>
              <a:ext uri="{FF2B5EF4-FFF2-40B4-BE49-F238E27FC236}">
                <a16:creationId xmlns:a16="http://schemas.microsoft.com/office/drawing/2014/main" id="{F63880AD-983D-414D-BD7F-4914D1EAEDE7}"/>
              </a:ext>
            </a:extLst>
          </p:cNvPr>
          <p:cNvSpPr txBox="1">
            <a:spLocks noChangeArrowheads="1"/>
          </p:cNvSpPr>
          <p:nvPr/>
        </p:nvSpPr>
        <p:spPr bwMode="auto">
          <a:xfrm>
            <a:off x="5070663" y="4157990"/>
            <a:ext cx="3578175" cy="37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marR="0" lvl="0" indent="0" defTabSz="914400" eaLnBrk="0" latinLnBrk="0" hangingPunct="0">
              <a:lnSpc>
                <a:spcPct val="100000"/>
              </a:lnSpc>
              <a:buClrTx/>
              <a:buSzTx/>
              <a:buFontTx/>
              <a:buNone/>
              <a:tabLst/>
              <a:defRPr kumimoji="0" sz="2000" b="0" i="0" u="none" strike="noStrike" cap="none" normalizeH="0" baseline="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defRPr>
            </a:lvl1pPr>
          </a:lstStyle>
          <a:p>
            <a:r>
              <a:rPr lang="pt-BR" altLang="zh-CN" dirty="0"/>
              <a:t>xlim([-3,0])  #</a:t>
            </a:r>
            <a:r>
              <a:rPr lang="en-US" altLang="zh-CN" dirty="0"/>
              <a:t>x</a:t>
            </a:r>
            <a:r>
              <a:rPr lang="zh-CN" altLang="en-US" dirty="0"/>
              <a:t>坐标轴</a:t>
            </a:r>
            <a:r>
              <a:rPr lang="en-US" altLang="zh-CN" dirty="0"/>
              <a:t>-3</a:t>
            </a:r>
            <a:r>
              <a:rPr lang="zh-CN" altLang="pt-BR" dirty="0"/>
              <a:t>和</a:t>
            </a:r>
            <a:r>
              <a:rPr lang="en-US" altLang="zh-CN" dirty="0"/>
              <a:t>0</a:t>
            </a:r>
            <a:r>
              <a:rPr lang="zh-CN" altLang="pt-BR" dirty="0"/>
              <a:t>之间</a:t>
            </a:r>
          </a:p>
          <a:p>
            <a:endParaRPr lang="zh-CN" altLang="pt-BR" dirty="0"/>
          </a:p>
        </p:txBody>
      </p:sp>
      <p:sp>
        <p:nvSpPr>
          <p:cNvPr id="8" name="Text Box 4">
            <a:extLst>
              <a:ext uri="{FF2B5EF4-FFF2-40B4-BE49-F238E27FC236}">
                <a16:creationId xmlns:a16="http://schemas.microsoft.com/office/drawing/2014/main" id="{987BF0B1-5928-4FF3-A904-9D868660E575}"/>
              </a:ext>
            </a:extLst>
          </p:cNvPr>
          <p:cNvSpPr txBox="1">
            <a:spLocks noChangeArrowheads="1"/>
          </p:cNvSpPr>
          <p:nvPr/>
        </p:nvSpPr>
        <p:spPr bwMode="auto">
          <a:xfrm>
            <a:off x="3506380" y="3275429"/>
            <a:ext cx="482455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zh-CN"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axis([-2 2 -2 2]) </a:t>
            </a:r>
            <a:r>
              <a:rPr kumimoji="0" lang="en-US" altLang="zh-CN"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en-US"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设置</a:t>
            </a:r>
            <a:r>
              <a:rPr kumimoji="0" lang="en-US" altLang="zh-CN"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x</a:t>
            </a:r>
            <a:r>
              <a:rPr kumimoji="0" lang="zh-CN" altLang="en-US"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和</a:t>
            </a:r>
            <a:r>
              <a:rPr kumimoji="0" lang="en-US" altLang="zh-CN"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y</a:t>
            </a:r>
            <a:r>
              <a:rPr kumimoji="0" lang="zh-CN" altLang="en-US"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都在</a:t>
            </a:r>
            <a:r>
              <a:rPr kumimoji="0" lang="en-US" altLang="zh-CN"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[-2,2]</a:t>
            </a:r>
            <a:r>
              <a:rPr kumimoji="0" lang="zh-CN" altLang="en-US" sz="20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之间</a:t>
            </a:r>
            <a:endParaRPr kumimoji="0" lang="zh-CN"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10" name="Rectangle 12">
            <a:extLst>
              <a:ext uri="{FF2B5EF4-FFF2-40B4-BE49-F238E27FC236}">
                <a16:creationId xmlns:a16="http://schemas.microsoft.com/office/drawing/2014/main" id="{E76D5242-74DE-4352-981C-0D6B81AD3637}"/>
              </a:ext>
            </a:extLst>
          </p:cNvPr>
          <p:cNvSpPr>
            <a:spLocks noChangeArrowheads="1"/>
          </p:cNvSpPr>
          <p:nvPr/>
        </p:nvSpPr>
        <p:spPr bwMode="auto">
          <a:xfrm>
            <a:off x="-36156" y="3741463"/>
            <a:ext cx="4391952" cy="369332"/>
          </a:xfrm>
          <a:prstGeom prst="rect">
            <a:avLst/>
          </a:prstGeom>
          <a:noFill/>
        </p:spPr>
        <p:txBody>
          <a:bodyPr wrap="square">
            <a:spAutoFit/>
          </a:bodyPr>
          <a:lstStyle/>
          <a:p>
            <a:pPr marL="457200" indent="-457200" eaLnBrk="0" hangingPunct="0">
              <a:buFont typeface="+mj-ea"/>
              <a:buAutoNum type="circleNumDbPlain" startAt="6"/>
            </a:pPr>
            <a:r>
              <a:rPr lang="zh-CN" altLang="en-US" kern="0" dirty="0">
                <a:solidFill>
                  <a:srgbClr val="0070C0"/>
                </a:solidFill>
                <a:latin typeface="微软雅黑" panose="020B0503020204020204" pitchFamily="34" charset="-122"/>
                <a:ea typeface="微软雅黑" panose="020B0503020204020204" pitchFamily="34" charset="-122"/>
              </a:rPr>
              <a:t>单坐标轴范围，</a:t>
            </a:r>
            <a:r>
              <a:rPr lang="en-US" altLang="zh-CN" kern="0" dirty="0">
                <a:solidFill>
                  <a:srgbClr val="0070C0"/>
                </a:solidFill>
                <a:latin typeface="微软雅黑" panose="020B0503020204020204" pitchFamily="34" charset="-122"/>
                <a:ea typeface="微软雅黑" panose="020B0503020204020204" pitchFamily="34" charset="-122"/>
              </a:rPr>
              <a:t>2</a:t>
            </a:r>
            <a:r>
              <a:rPr lang="zh-CN" altLang="en-US" kern="0" dirty="0">
                <a:solidFill>
                  <a:srgbClr val="0070C0"/>
                </a:solidFill>
                <a:latin typeface="微软雅黑" panose="020B0503020204020204" pitchFamily="34" charset="-122"/>
                <a:ea typeface="微软雅黑" panose="020B0503020204020204" pitchFamily="34" charset="-122"/>
              </a:rPr>
              <a:t>个元素的向量形式</a:t>
            </a:r>
          </a:p>
        </p:txBody>
      </p:sp>
      <p:sp>
        <p:nvSpPr>
          <p:cNvPr id="11" name="Rectangle 15">
            <a:extLst>
              <a:ext uri="{FF2B5EF4-FFF2-40B4-BE49-F238E27FC236}">
                <a16:creationId xmlns:a16="http://schemas.microsoft.com/office/drawing/2014/main" id="{9A65A2B9-4B5D-4574-9037-4D4AE8A86B89}"/>
              </a:ext>
            </a:extLst>
          </p:cNvPr>
          <p:cNvSpPr>
            <a:spLocks noChangeArrowheads="1"/>
          </p:cNvSpPr>
          <p:nvPr/>
        </p:nvSpPr>
        <p:spPr bwMode="auto">
          <a:xfrm>
            <a:off x="491283" y="3857688"/>
            <a:ext cx="1709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sz="2000"/>
          </a:p>
        </p:txBody>
      </p:sp>
      <p:sp>
        <p:nvSpPr>
          <p:cNvPr id="12" name="文本框 11">
            <a:extLst>
              <a:ext uri="{FF2B5EF4-FFF2-40B4-BE49-F238E27FC236}">
                <a16:creationId xmlns:a16="http://schemas.microsoft.com/office/drawing/2014/main" id="{574E690E-E839-4FA1-BEC8-3EE5055DD7D3}"/>
              </a:ext>
            </a:extLst>
          </p:cNvPr>
          <p:cNvSpPr txBox="1"/>
          <p:nvPr/>
        </p:nvSpPr>
        <p:spPr>
          <a:xfrm>
            <a:off x="-36512" y="2807395"/>
            <a:ext cx="3002234" cy="400110"/>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mj-ea"/>
              <a:buAutoNum type="circleNumDbPlain" startAt="5"/>
              <a:tabLst/>
              <a:defRPr/>
            </a:pPr>
            <a:r>
              <a:rPr lang="zh-CN" altLang="en-US" b="1" kern="0" dirty="0">
                <a:solidFill>
                  <a:srgbClr val="0070C0"/>
                </a:solidFill>
                <a:latin typeface="黑体" panose="02010609060101010101" pitchFamily="49" charset="-122"/>
                <a:ea typeface="黑体" panose="02010609060101010101" pitchFamily="49" charset="-122"/>
              </a:rPr>
              <a:t>设置坐标轴范围</a:t>
            </a:r>
            <a:r>
              <a:rPr lang="en-US" altLang="zh-CN" b="1" kern="0" dirty="0">
                <a:solidFill>
                  <a:srgbClr val="0070C0"/>
                </a:solidFill>
                <a:latin typeface="黑体" panose="02010609060101010101" pitchFamily="49" charset="-122"/>
                <a:ea typeface="黑体" panose="02010609060101010101" pitchFamily="49" charset="-122"/>
              </a:rPr>
              <a:t>axis</a:t>
            </a:r>
            <a:r>
              <a:rPr kumimoji="0" lang="zh-CN" altLang="en-US" sz="2000" b="1" i="0" u="none" strike="noStrike" kern="1200" cap="none" spc="0" normalizeH="0" baseline="0" noProof="0" dirty="0">
                <a:ln>
                  <a:noFill/>
                </a:ln>
                <a:solidFill>
                  <a:srgbClr val="0070C0"/>
                </a:solidFill>
                <a:effectLst/>
                <a:uLnTx/>
                <a:uFillTx/>
                <a:latin typeface="黑体" panose="02010609060101010101" pitchFamily="49" charset="-122"/>
                <a:ea typeface="黑体" panose="02010609060101010101" pitchFamily="49" charset="-122"/>
                <a:cs typeface="宋体" panose="02010600030101010101" pitchFamily="2" charset="-122"/>
              </a:rPr>
              <a:t>：</a:t>
            </a:r>
            <a:endPar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
        <p:nvSpPr>
          <p:cNvPr id="13" name="矩形 22">
            <a:extLst>
              <a:ext uri="{FF2B5EF4-FFF2-40B4-BE49-F238E27FC236}">
                <a16:creationId xmlns:a16="http://schemas.microsoft.com/office/drawing/2014/main" id="{0FAD74D1-EE46-4F39-863D-B1CBE0A4CBC3}"/>
              </a:ext>
            </a:extLst>
          </p:cNvPr>
          <p:cNvSpPr>
            <a:spLocks noChangeArrowheads="1"/>
          </p:cNvSpPr>
          <p:nvPr/>
        </p:nvSpPr>
        <p:spPr bwMode="auto">
          <a:xfrm>
            <a:off x="2965722" y="4146768"/>
            <a:ext cx="1870921"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err="1">
                <a:solidFill>
                  <a:srgbClr val="FFFFFF"/>
                </a:solidFill>
                <a:latin typeface="微软雅黑" panose="020B0503020204020204" pitchFamily="34" charset="-122"/>
                <a:ea typeface="微软雅黑" panose="020B0503020204020204" pitchFamily="34" charset="-122"/>
              </a:rPr>
              <a:t>ylim</a:t>
            </a:r>
            <a:r>
              <a:rPr lang="en-US" altLang="zh-CN" sz="1600" kern="0" dirty="0">
                <a:solidFill>
                  <a:srgbClr val="FFFFFF"/>
                </a:solidFill>
                <a:latin typeface="微软雅黑" panose="020B0503020204020204" pitchFamily="34" charset="-122"/>
                <a:ea typeface="微软雅黑" panose="020B0503020204020204" pitchFamily="34" charset="-122"/>
              </a:rPr>
              <a:t>([</a:t>
            </a:r>
            <a:r>
              <a:rPr lang="en-US" altLang="zh-CN" sz="1600" kern="0" dirty="0" err="1">
                <a:solidFill>
                  <a:srgbClr val="FFFFFF"/>
                </a:solidFill>
                <a:latin typeface="微软雅黑" panose="020B0503020204020204" pitchFamily="34" charset="-122"/>
                <a:ea typeface="微软雅黑" panose="020B0503020204020204" pitchFamily="34" charset="-122"/>
              </a:rPr>
              <a:t>xmin,xmax</a:t>
            </a:r>
            <a:r>
              <a:rPr lang="en-US" altLang="zh-CN" sz="1600" kern="0" dirty="0">
                <a:solidFill>
                  <a:srgbClr val="FFFFFF"/>
                </a:solidFill>
                <a:latin typeface="微软雅黑" panose="020B0503020204020204" pitchFamily="34" charset="-122"/>
                <a:ea typeface="微软雅黑" panose="020B0503020204020204" pitchFamily="34" charset="-122"/>
              </a:rPr>
              <a:t>]) </a:t>
            </a:r>
          </a:p>
        </p:txBody>
      </p:sp>
      <p:sp>
        <p:nvSpPr>
          <p:cNvPr id="14" name="文本框 13">
            <a:extLst>
              <a:ext uri="{FF2B5EF4-FFF2-40B4-BE49-F238E27FC236}">
                <a16:creationId xmlns:a16="http://schemas.microsoft.com/office/drawing/2014/main" id="{B952F5B1-8571-4DC3-84DA-A21ECA02E5E8}"/>
              </a:ext>
            </a:extLst>
          </p:cNvPr>
          <p:cNvSpPr txBox="1"/>
          <p:nvPr/>
        </p:nvSpPr>
        <p:spPr>
          <a:xfrm>
            <a:off x="2558976" y="4134549"/>
            <a:ext cx="632893" cy="369332"/>
          </a:xfrm>
          <a:prstGeom prst="rect">
            <a:avLst/>
          </a:prstGeom>
          <a:noFill/>
        </p:spPr>
        <p:txBody>
          <a:bodyPr wrap="square">
            <a:spAutoFit/>
          </a:bodyPr>
          <a:lstStyle/>
          <a:p>
            <a:r>
              <a:rPr kumimoji="0" lang="zh-CN" altLang="en-US" sz="1800" b="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或</a:t>
            </a:r>
            <a:endParaRPr lang="zh-CN" altLang="en-US" dirty="0"/>
          </a:p>
        </p:txBody>
      </p:sp>
      <p:sp>
        <p:nvSpPr>
          <p:cNvPr id="9" name="Rectangle 10">
            <a:extLst>
              <a:ext uri="{FF2B5EF4-FFF2-40B4-BE49-F238E27FC236}">
                <a16:creationId xmlns:a16="http://schemas.microsoft.com/office/drawing/2014/main" id="{054F4F9C-B78B-4E1F-81EF-C30D6778CD79}"/>
              </a:ext>
            </a:extLst>
          </p:cNvPr>
          <p:cNvSpPr>
            <a:spLocks noChangeArrowheads="1"/>
          </p:cNvSpPr>
          <p:nvPr/>
        </p:nvSpPr>
        <p:spPr bwMode="auto">
          <a:xfrm>
            <a:off x="2872855" y="2829514"/>
            <a:ext cx="5405647" cy="368499"/>
          </a:xfrm>
          <a:prstGeom prst="rect">
            <a:avLst/>
          </a:prstGeom>
          <a:noFill/>
        </p:spPr>
        <p:txBody>
          <a:bodyPr wrap="square">
            <a:spAutoFit/>
          </a:bodyPr>
          <a:lstStyle/>
          <a:p>
            <a:pPr>
              <a:lnSpc>
                <a:spcPts val="2300"/>
              </a:lnSpc>
            </a:pPr>
            <a:r>
              <a:rPr lang="zh-CN" altLang="zh-CN" sz="1700" kern="0" dirty="0">
                <a:solidFill>
                  <a:srgbClr val="0070C0"/>
                </a:solidFill>
                <a:latin typeface="微软雅黑" panose="020B0503020204020204" pitchFamily="34" charset="-122"/>
                <a:ea typeface="微软雅黑" panose="020B0503020204020204" pitchFamily="34" charset="-122"/>
              </a:rPr>
              <a:t>设置二维</a:t>
            </a:r>
            <a:r>
              <a:rPr lang="en-US" altLang="zh-CN" sz="1700" kern="0" dirty="0">
                <a:solidFill>
                  <a:srgbClr val="0070C0"/>
                </a:solidFill>
                <a:latin typeface="微软雅黑" panose="020B0503020204020204" pitchFamily="34" charset="-122"/>
                <a:ea typeface="微软雅黑" panose="020B0503020204020204" pitchFamily="34" charset="-122"/>
              </a:rPr>
              <a:t>x</a:t>
            </a:r>
            <a:r>
              <a:rPr lang="zh-CN" altLang="en-US" sz="1700" kern="0" dirty="0">
                <a:solidFill>
                  <a:srgbClr val="0070C0"/>
                </a:solidFill>
                <a:latin typeface="微软雅黑" panose="020B0503020204020204" pitchFamily="34" charset="-122"/>
                <a:ea typeface="微软雅黑" panose="020B0503020204020204" pitchFamily="34" charset="-122"/>
              </a:rPr>
              <a:t>轴和</a:t>
            </a:r>
            <a:r>
              <a:rPr lang="en-US" altLang="zh-CN" sz="1700" kern="0" dirty="0">
                <a:solidFill>
                  <a:srgbClr val="0070C0"/>
                </a:solidFill>
                <a:latin typeface="微软雅黑" panose="020B0503020204020204" pitchFamily="34" charset="-122"/>
                <a:ea typeface="微软雅黑" panose="020B0503020204020204" pitchFamily="34" charset="-122"/>
              </a:rPr>
              <a:t>y</a:t>
            </a:r>
            <a:r>
              <a:rPr lang="zh-CN" altLang="en-US" sz="1700" kern="0" dirty="0">
                <a:solidFill>
                  <a:srgbClr val="0070C0"/>
                </a:solidFill>
                <a:latin typeface="微软雅黑" panose="020B0503020204020204" pitchFamily="34" charset="-122"/>
                <a:ea typeface="微软雅黑" panose="020B0503020204020204" pitchFamily="34" charset="-122"/>
              </a:rPr>
              <a:t>轴的坐标范围，</a:t>
            </a:r>
            <a:r>
              <a:rPr lang="en-US" altLang="zh-CN" sz="1700" kern="0" dirty="0">
                <a:solidFill>
                  <a:srgbClr val="0070C0"/>
                </a:solidFill>
                <a:latin typeface="微软雅黑" panose="020B0503020204020204" pitchFamily="34" charset="-122"/>
                <a:ea typeface="微软雅黑" panose="020B0503020204020204" pitchFamily="34" charset="-122"/>
              </a:rPr>
              <a:t>4</a:t>
            </a:r>
            <a:r>
              <a:rPr lang="zh-CN" altLang="en-US" sz="1700" kern="0" dirty="0">
                <a:solidFill>
                  <a:srgbClr val="0070C0"/>
                </a:solidFill>
                <a:latin typeface="微软雅黑" panose="020B0503020204020204" pitchFamily="34" charset="-122"/>
                <a:ea typeface="微软雅黑" panose="020B0503020204020204" pitchFamily="34" charset="-122"/>
              </a:rPr>
              <a:t>个元素的向量形式</a:t>
            </a:r>
          </a:p>
        </p:txBody>
      </p:sp>
      <p:sp>
        <p:nvSpPr>
          <p:cNvPr id="24" name="矩形 23">
            <a:extLst>
              <a:ext uri="{FF2B5EF4-FFF2-40B4-BE49-F238E27FC236}">
                <a16:creationId xmlns:a16="http://schemas.microsoft.com/office/drawing/2014/main" id="{20896334-9125-4FA0-8CCF-1697F58BF11C}"/>
              </a:ext>
            </a:extLst>
          </p:cNvPr>
          <p:cNvSpPr/>
          <p:nvPr/>
        </p:nvSpPr>
        <p:spPr>
          <a:xfrm>
            <a:off x="1771487" y="1330094"/>
            <a:ext cx="1504369" cy="354521"/>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marR="0" lvl="0" indent="-342900" defTabSz="0" rtl="0" eaLnBrk="1" fontAlgn="base" latinLnBrk="0" hangingPunct="1">
              <a:lnSpc>
                <a:spcPct val="125000"/>
              </a:lnSpc>
              <a:spcBef>
                <a:spcPct val="20000"/>
              </a:spcBef>
              <a:spcAft>
                <a:spcPct val="0"/>
              </a:spcAft>
              <a:buClrTx/>
              <a:buSzTx/>
              <a:buFontTx/>
              <a:buNone/>
              <a:tabLst/>
              <a:defRPr/>
            </a:pPr>
            <a:r>
              <a:rPr kumimoji="0" lang="en-US" altLang="zh-CN" sz="15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subplot(</a:t>
            </a:r>
            <a:r>
              <a:rPr kumimoji="0" lang="en-US" altLang="zh-CN" sz="1500" b="0" i="0" u="none" strike="noStrike" kern="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m,n,p</a:t>
            </a:r>
            <a:r>
              <a:rPr kumimoji="0" lang="en-US" altLang="zh-CN" sz="15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p>
        </p:txBody>
      </p:sp>
      <p:sp>
        <p:nvSpPr>
          <p:cNvPr id="25" name="文本框 24">
            <a:extLst>
              <a:ext uri="{FF2B5EF4-FFF2-40B4-BE49-F238E27FC236}">
                <a16:creationId xmlns:a16="http://schemas.microsoft.com/office/drawing/2014/main" id="{73CE90D3-B221-4464-BDE4-1205A48C645D}"/>
              </a:ext>
            </a:extLst>
          </p:cNvPr>
          <p:cNvSpPr txBox="1"/>
          <p:nvPr/>
        </p:nvSpPr>
        <p:spPr>
          <a:xfrm>
            <a:off x="3275857" y="1302805"/>
            <a:ext cx="5976664" cy="363689"/>
          </a:xfrm>
          <a:prstGeom prst="rect">
            <a:avLst/>
          </a:prstGeom>
          <a:noFill/>
        </p:spPr>
        <p:txBody>
          <a:bodyPr wrap="square">
            <a:spAutoFit/>
          </a:bodyPr>
          <a:lstStyle/>
          <a:p>
            <a:pPr marL="0" marR="0" lvl="0" indent="0" algn="l" defTabSz="914400" rtl="0" eaLnBrk="1" fontAlgn="base" latinLnBrk="0" hangingPunct="1">
              <a:lnSpc>
                <a:spcPts val="2300"/>
              </a:lnSpc>
              <a:spcBef>
                <a:spcPct val="0"/>
              </a:spcBef>
              <a:spcAft>
                <a:spcPct val="0"/>
              </a:spcAft>
              <a:buClrTx/>
              <a:buSzTx/>
              <a:buFontTx/>
              <a:buNone/>
              <a:tabLst/>
              <a:defRPr/>
            </a:pPr>
            <a:r>
              <a:rPr lang="en-US" altLang="zh-CN" sz="1700" b="1" dirty="0">
                <a:solidFill>
                  <a:srgbClr val="0070C0"/>
                </a:solidFill>
                <a:latin typeface="黑体" panose="02010609060101010101" pitchFamily="49" charset="-122"/>
                <a:ea typeface="黑体" panose="02010609060101010101" pitchFamily="49" charset="-122"/>
                <a:sym typeface="Arial" panose="020B0604020202020204" pitchFamily="34" charset="0"/>
              </a:rPr>
              <a:t>m*n</a:t>
            </a:r>
            <a:r>
              <a:rPr lang="zh-CN" altLang="en-US" sz="1700" b="1" dirty="0">
                <a:solidFill>
                  <a:srgbClr val="0070C0"/>
                </a:solidFill>
                <a:latin typeface="黑体" panose="02010609060101010101" pitchFamily="49" charset="-122"/>
                <a:ea typeface="黑体" panose="02010609060101010101" pitchFamily="49" charset="-122"/>
                <a:sym typeface="Arial" panose="020B0604020202020204" pitchFamily="34" charset="0"/>
              </a:rPr>
              <a:t>网格中在</a:t>
            </a:r>
            <a:r>
              <a:rPr lang="en-US" altLang="zh-CN" sz="1700" b="1" dirty="0">
                <a:solidFill>
                  <a:srgbClr val="0070C0"/>
                </a:solidFill>
                <a:latin typeface="黑体" panose="02010609060101010101" pitchFamily="49" charset="-122"/>
                <a:ea typeface="黑体" panose="02010609060101010101" pitchFamily="49" charset="-122"/>
              </a:rPr>
              <a:t>p</a:t>
            </a:r>
            <a:r>
              <a:rPr lang="zh-CN" altLang="en-US" sz="1700" b="1" dirty="0">
                <a:solidFill>
                  <a:srgbClr val="0070C0"/>
                </a:solidFill>
                <a:latin typeface="黑体" panose="02010609060101010101" pitchFamily="49" charset="-122"/>
                <a:ea typeface="黑体" panose="02010609060101010101" pitchFamily="49" charset="-122"/>
              </a:rPr>
              <a:t> 指定子图位置创建坐标区</a:t>
            </a:r>
            <a:r>
              <a:rPr lang="en-US" altLang="zh-CN" sz="1700" b="1" dirty="0">
                <a:solidFill>
                  <a:srgbClr val="0070C0"/>
                </a:solidFill>
                <a:latin typeface="黑体" panose="02010609060101010101" pitchFamily="49" charset="-122"/>
                <a:ea typeface="黑体" panose="02010609060101010101" pitchFamily="49" charset="-122"/>
              </a:rPr>
              <a:t>,</a:t>
            </a:r>
            <a:r>
              <a:rPr lang="zh-CN" altLang="en-US" sz="1700" b="1" dirty="0">
                <a:solidFill>
                  <a:srgbClr val="0070C0"/>
                </a:solidFill>
                <a:latin typeface="黑体" panose="02010609060101010101" pitchFamily="49" charset="-122"/>
                <a:ea typeface="黑体" panose="02010609060101010101" pitchFamily="49" charset="-122"/>
              </a:rPr>
              <a:t>用于绘图</a:t>
            </a:r>
            <a:endParaRPr lang="en-US" altLang="zh-CN" sz="1700" b="1" dirty="0">
              <a:solidFill>
                <a:srgbClr val="0070C0"/>
              </a:solidFill>
              <a:latin typeface="黑体" panose="02010609060101010101" pitchFamily="49" charset="-122"/>
              <a:ea typeface="黑体" panose="02010609060101010101" pitchFamily="49" charset="-122"/>
            </a:endParaRPr>
          </a:p>
        </p:txBody>
      </p:sp>
      <p:sp>
        <p:nvSpPr>
          <p:cNvPr id="29" name="文本框 28">
            <a:extLst>
              <a:ext uri="{FF2B5EF4-FFF2-40B4-BE49-F238E27FC236}">
                <a16:creationId xmlns:a16="http://schemas.microsoft.com/office/drawing/2014/main" id="{C1CEFF4C-78C7-44D9-99BC-557595BDB1C1}"/>
              </a:ext>
            </a:extLst>
          </p:cNvPr>
          <p:cNvSpPr txBox="1"/>
          <p:nvPr/>
        </p:nvSpPr>
        <p:spPr>
          <a:xfrm>
            <a:off x="-10642" y="1857318"/>
            <a:ext cx="2468507" cy="352469"/>
          </a:xfrm>
          <a:prstGeom prst="rect">
            <a:avLst/>
          </a:prstGeom>
          <a:noFill/>
        </p:spPr>
        <p:txBody>
          <a:bodyPr wrap="square">
            <a:spAutoFit/>
          </a:bodyPr>
          <a:lstStyle/>
          <a:p>
            <a:pPr marL="457200" indent="-457200" eaLnBrk="0" hangingPunct="0">
              <a:lnSpc>
                <a:spcPts val="2300"/>
              </a:lnSpc>
              <a:buFont typeface="+mj-ea"/>
              <a:buAutoNum type="circleNumDbPlain" startAt="3"/>
            </a:pPr>
            <a:r>
              <a:rPr lang="zh-CN" altLang="en-US" b="1" dirty="0">
                <a:solidFill>
                  <a:srgbClr val="0070C0"/>
                </a:solidFill>
                <a:latin typeface="黑体" panose="02010609060101010101" pitchFamily="49" charset="-122"/>
                <a:ea typeface="黑体" panose="02010609060101010101" pitchFamily="49" charset="-122"/>
                <a:cs typeface="宋体" panose="02010600030101010101" pitchFamily="2" charset="-122"/>
              </a:rPr>
              <a:t>紧凑布局多子图</a:t>
            </a:r>
          </a:p>
        </p:txBody>
      </p:sp>
      <p:sp>
        <p:nvSpPr>
          <p:cNvPr id="30" name="Rectangle 12">
            <a:extLst>
              <a:ext uri="{FF2B5EF4-FFF2-40B4-BE49-F238E27FC236}">
                <a16:creationId xmlns:a16="http://schemas.microsoft.com/office/drawing/2014/main" id="{3A8D342C-EAC8-4A53-B582-2A461E4F28C5}"/>
              </a:ext>
            </a:extLst>
          </p:cNvPr>
          <p:cNvSpPr>
            <a:spLocks noChangeArrowheads="1"/>
          </p:cNvSpPr>
          <p:nvPr/>
        </p:nvSpPr>
        <p:spPr bwMode="auto">
          <a:xfrm>
            <a:off x="-10642" y="1302185"/>
            <a:ext cx="18105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hangingPunct="0">
              <a:buFont typeface="+mj-ea"/>
              <a:buAutoNum type="circleNumDbPlain" startAt="2"/>
            </a:pPr>
            <a:r>
              <a:rPr lang="zh-CN" altLang="en-US" b="1" dirty="0">
                <a:solidFill>
                  <a:srgbClr val="0070C0"/>
                </a:solidFill>
                <a:latin typeface="黑体" panose="02010609060101010101" pitchFamily="49" charset="-122"/>
                <a:ea typeface="黑体" panose="02010609060101010101" pitchFamily="49" charset="-122"/>
                <a:cs typeface="宋体" panose="02010600030101010101" pitchFamily="2" charset="-122"/>
              </a:rPr>
              <a:t>创建多子图</a:t>
            </a:r>
          </a:p>
        </p:txBody>
      </p:sp>
      <p:sp>
        <p:nvSpPr>
          <p:cNvPr id="31" name="矩形 30">
            <a:extLst>
              <a:ext uri="{FF2B5EF4-FFF2-40B4-BE49-F238E27FC236}">
                <a16:creationId xmlns:a16="http://schemas.microsoft.com/office/drawing/2014/main" id="{295DE880-06AD-4781-BA50-8CE78B8CD738}"/>
              </a:ext>
            </a:extLst>
          </p:cNvPr>
          <p:cNvSpPr/>
          <p:nvPr/>
        </p:nvSpPr>
        <p:spPr>
          <a:xfrm>
            <a:off x="2326495" y="1825552"/>
            <a:ext cx="1404774"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err="1">
                <a:solidFill>
                  <a:srgbClr val="FFFFFF"/>
                </a:solidFill>
                <a:latin typeface="微软雅黑" panose="020B0503020204020204" pitchFamily="34" charset="-122"/>
                <a:ea typeface="微软雅黑" panose="020B0503020204020204" pitchFamily="34" charset="-122"/>
              </a:rPr>
              <a:t>tightlayout</a:t>
            </a:r>
            <a:r>
              <a:rPr lang="en-US" altLang="zh-CN" sz="1600" kern="0" dirty="0">
                <a:solidFill>
                  <a:srgbClr val="FFFFFF"/>
                </a:solidFill>
                <a:latin typeface="微软雅黑" panose="020B0503020204020204" pitchFamily="34" charset="-122"/>
                <a:ea typeface="微软雅黑" panose="020B0503020204020204" pitchFamily="34" charset="-122"/>
              </a:rPr>
              <a:t>( )</a:t>
            </a:r>
            <a:endParaRPr lang="en-US" altLang="zh-CN" sz="1600" kern="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矩形 33">
            <a:extLst>
              <a:ext uri="{FF2B5EF4-FFF2-40B4-BE49-F238E27FC236}">
                <a16:creationId xmlns:a16="http://schemas.microsoft.com/office/drawing/2014/main" id="{D65D645A-5150-41DC-8937-D67C6386402F}"/>
              </a:ext>
            </a:extLst>
          </p:cNvPr>
          <p:cNvSpPr/>
          <p:nvPr/>
        </p:nvSpPr>
        <p:spPr>
          <a:xfrm>
            <a:off x="3089238" y="713152"/>
            <a:ext cx="2751984" cy="36933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eaLnBrk="0" hangingPunct="0"/>
            <a:r>
              <a:rPr lang="zh-CN" altLang="en-US" b="1" dirty="0">
                <a:solidFill>
                  <a:srgbClr val="0070C0"/>
                </a:solidFill>
                <a:latin typeface="黑体" panose="02010609060101010101" pitchFamily="49" charset="-122"/>
                <a:ea typeface="黑体" panose="02010609060101010101" pitchFamily="49" charset="-122"/>
              </a:rPr>
              <a:t>创建编号为</a:t>
            </a:r>
            <a:r>
              <a:rPr lang="en-US" altLang="zh-CN" b="1" dirty="0">
                <a:solidFill>
                  <a:srgbClr val="0070C0"/>
                </a:solidFill>
                <a:latin typeface="黑体" panose="02010609060101010101" pitchFamily="49" charset="-122"/>
                <a:ea typeface="黑体" panose="02010609060101010101" pitchFamily="49" charset="-122"/>
              </a:rPr>
              <a:t>n</a:t>
            </a:r>
            <a:r>
              <a:rPr lang="zh-CN" altLang="en-US" b="1" dirty="0">
                <a:solidFill>
                  <a:srgbClr val="0070C0"/>
                </a:solidFill>
                <a:latin typeface="黑体" panose="02010609060101010101" pitchFamily="49" charset="-122"/>
                <a:ea typeface="黑体" panose="02010609060101010101" pitchFamily="49" charset="-122"/>
              </a:rPr>
              <a:t>的图形窗口</a:t>
            </a:r>
          </a:p>
        </p:txBody>
      </p:sp>
      <p:sp>
        <p:nvSpPr>
          <p:cNvPr id="36" name="矩形 35">
            <a:extLst>
              <a:ext uri="{FF2B5EF4-FFF2-40B4-BE49-F238E27FC236}">
                <a16:creationId xmlns:a16="http://schemas.microsoft.com/office/drawing/2014/main" id="{9F149863-23D9-4F5D-B72E-DF493DFD14AE}"/>
              </a:ext>
            </a:extLst>
          </p:cNvPr>
          <p:cNvSpPr/>
          <p:nvPr/>
        </p:nvSpPr>
        <p:spPr>
          <a:xfrm>
            <a:off x="16198" y="708333"/>
            <a:ext cx="1959995" cy="40011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indent="-457200" eaLnBrk="0" hangingPunct="0">
              <a:buFont typeface="+mj-ea"/>
              <a:buAutoNum type="circleNumDbPlain"/>
            </a:pPr>
            <a:r>
              <a:rPr lang="zh-CN" altLang="en-US" b="1" dirty="0">
                <a:solidFill>
                  <a:srgbClr val="0070C0"/>
                </a:solidFill>
                <a:latin typeface="黑体" panose="02010609060101010101" pitchFamily="49" charset="-122"/>
                <a:ea typeface="黑体" panose="02010609060101010101" pitchFamily="49" charset="-122"/>
              </a:rPr>
              <a:t>建新图窗口</a:t>
            </a:r>
          </a:p>
        </p:txBody>
      </p:sp>
      <p:sp>
        <p:nvSpPr>
          <p:cNvPr id="37" name="文本框 36">
            <a:extLst>
              <a:ext uri="{FF2B5EF4-FFF2-40B4-BE49-F238E27FC236}">
                <a16:creationId xmlns:a16="http://schemas.microsoft.com/office/drawing/2014/main" id="{30B5D616-7D92-41D6-8991-0288B662963F}"/>
              </a:ext>
            </a:extLst>
          </p:cNvPr>
          <p:cNvSpPr txBox="1"/>
          <p:nvPr/>
        </p:nvSpPr>
        <p:spPr>
          <a:xfrm>
            <a:off x="3851739" y="1814895"/>
            <a:ext cx="3008012" cy="375744"/>
          </a:xfrm>
          <a:prstGeom prst="rect">
            <a:avLst/>
          </a:prstGeom>
          <a:noFill/>
        </p:spPr>
        <p:txBody>
          <a:bodyPr wrap="square">
            <a:spAutoFit/>
          </a:bodyPr>
          <a:lstStyle/>
          <a:p>
            <a:pPr marL="0" marR="0" lvl="0" indent="0" algn="l" defTabSz="914400" rtl="0" eaLnBrk="1" fontAlgn="base" latinLnBrk="0" hangingPunct="1">
              <a:lnSpc>
                <a:spcPts val="2300"/>
              </a:lnSpc>
              <a:spcBef>
                <a:spcPct val="0"/>
              </a:spcBef>
              <a:spcAft>
                <a:spcPct val="0"/>
              </a:spcAft>
              <a:buClrTx/>
              <a:buSzTx/>
              <a:buFontTx/>
              <a:buNone/>
              <a:tabLst/>
              <a:defRPr/>
            </a:pPr>
            <a:r>
              <a:rPr kumimoji="0" lang="zh-CN" altLang="en-US" sz="170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防止题目坐标标注与图相交</a:t>
            </a:r>
            <a:endParaRPr kumimoji="0" lang="en-US" altLang="zh-CN" sz="1700" i="0" u="none" strike="noStrike" kern="1200" cap="none" spc="0" normalizeH="0" baseline="0" noProof="0" dirty="0">
              <a:ln>
                <a:noFill/>
              </a:ln>
              <a:solidFill>
                <a:srgbClr val="0070C0"/>
              </a:solidFill>
              <a:effectLst/>
              <a:uLnTx/>
              <a:uFillTx/>
              <a:latin typeface="华文楷体" panose="02010600040101010101" pitchFamily="2" charset="-122"/>
              <a:ea typeface="华文楷体" panose="02010600040101010101" pitchFamily="2" charset="-122"/>
              <a:cs typeface="+mn-cs"/>
            </a:endParaRPr>
          </a:p>
        </p:txBody>
      </p:sp>
      <p:sp>
        <p:nvSpPr>
          <p:cNvPr id="27" name="Rectangle 12">
            <a:extLst>
              <a:ext uri="{FF2B5EF4-FFF2-40B4-BE49-F238E27FC236}">
                <a16:creationId xmlns:a16="http://schemas.microsoft.com/office/drawing/2014/main" id="{BFB987AE-9E37-427D-8BFB-51D8A317A076}"/>
              </a:ext>
            </a:extLst>
          </p:cNvPr>
          <p:cNvSpPr>
            <a:spLocks noChangeArrowheads="1"/>
          </p:cNvSpPr>
          <p:nvPr/>
        </p:nvSpPr>
        <p:spPr bwMode="auto">
          <a:xfrm>
            <a:off x="-36512" y="2350919"/>
            <a:ext cx="4064069" cy="352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hangingPunct="0">
              <a:lnSpc>
                <a:spcPts val="2300"/>
              </a:lnSpc>
              <a:buFont typeface="+mj-ea"/>
              <a:buAutoNum type="circleNumDbPlain" startAt="4"/>
            </a:pPr>
            <a:r>
              <a:rPr lang="zh-CN" altLang="en-US" b="1" dirty="0">
                <a:solidFill>
                  <a:srgbClr val="0070C0"/>
                </a:solidFill>
                <a:latin typeface="黑体" panose="02010609060101010101" pitchFamily="49" charset="-122"/>
                <a:ea typeface="黑体" panose="02010609060101010101" pitchFamily="49" charset="-122"/>
                <a:cs typeface="宋体" panose="02010600030101010101" pitchFamily="2" charset="-122"/>
              </a:rPr>
              <a:t>打开（显示）坐标轴线和标签 </a:t>
            </a:r>
          </a:p>
        </p:txBody>
      </p:sp>
      <p:sp>
        <p:nvSpPr>
          <p:cNvPr id="28" name="矩形 22">
            <a:extLst>
              <a:ext uri="{FF2B5EF4-FFF2-40B4-BE49-F238E27FC236}">
                <a16:creationId xmlns:a16="http://schemas.microsoft.com/office/drawing/2014/main" id="{1462ABB5-26B4-4972-A12F-C390F55DCEA6}"/>
              </a:ext>
            </a:extLst>
          </p:cNvPr>
          <p:cNvSpPr>
            <a:spLocks noChangeArrowheads="1"/>
          </p:cNvSpPr>
          <p:nvPr/>
        </p:nvSpPr>
        <p:spPr bwMode="auto">
          <a:xfrm>
            <a:off x="3696058" y="2315342"/>
            <a:ext cx="1140585"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err="1">
                <a:solidFill>
                  <a:srgbClr val="FFFFFF"/>
                </a:solidFill>
                <a:latin typeface="微软雅黑" panose="020B0503020204020204" pitchFamily="34" charset="-122"/>
                <a:ea typeface="微软雅黑" panose="020B0503020204020204" pitchFamily="34" charset="-122"/>
              </a:rPr>
              <a:t>asix</a:t>
            </a:r>
            <a:r>
              <a:rPr lang="en-US" altLang="zh-CN" sz="1600" kern="0" dirty="0">
                <a:solidFill>
                  <a:srgbClr val="FFFFFF"/>
                </a:solidFill>
                <a:latin typeface="微软雅黑" panose="020B0503020204020204" pitchFamily="34" charset="-122"/>
                <a:ea typeface="微软雅黑" panose="020B0503020204020204" pitchFamily="34" charset="-122"/>
              </a:rPr>
              <a:t> ("on")</a:t>
            </a:r>
          </a:p>
        </p:txBody>
      </p:sp>
      <p:sp>
        <p:nvSpPr>
          <p:cNvPr id="32" name="矩形 22">
            <a:extLst>
              <a:ext uri="{FF2B5EF4-FFF2-40B4-BE49-F238E27FC236}">
                <a16:creationId xmlns:a16="http://schemas.microsoft.com/office/drawing/2014/main" id="{0EC0D510-CD5E-4AE1-986E-B37ADFEE2B7F}"/>
              </a:ext>
            </a:extLst>
          </p:cNvPr>
          <p:cNvSpPr>
            <a:spLocks noChangeArrowheads="1"/>
          </p:cNvSpPr>
          <p:nvPr/>
        </p:nvSpPr>
        <p:spPr bwMode="auto">
          <a:xfrm>
            <a:off x="7884368" y="2324064"/>
            <a:ext cx="1140585" cy="372025"/>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kern="0" dirty="0">
                <a:solidFill>
                  <a:srgbClr val="FFFFFF"/>
                </a:solidFill>
                <a:latin typeface="微软雅黑" panose="020B0503020204020204" pitchFamily="34" charset="-122"/>
                <a:ea typeface="微软雅黑" panose="020B0503020204020204" pitchFamily="34" charset="-122"/>
              </a:rPr>
              <a:t>axis("off")</a:t>
            </a:r>
          </a:p>
        </p:txBody>
      </p:sp>
      <p:sp>
        <p:nvSpPr>
          <p:cNvPr id="38" name="文本框 37">
            <a:extLst>
              <a:ext uri="{FF2B5EF4-FFF2-40B4-BE49-F238E27FC236}">
                <a16:creationId xmlns:a16="http://schemas.microsoft.com/office/drawing/2014/main" id="{15859B57-EE8F-43B3-9285-8B636B374ED3}"/>
              </a:ext>
            </a:extLst>
          </p:cNvPr>
          <p:cNvSpPr txBox="1"/>
          <p:nvPr/>
        </p:nvSpPr>
        <p:spPr>
          <a:xfrm>
            <a:off x="4947084" y="2324064"/>
            <a:ext cx="3002234" cy="353943"/>
          </a:xfrm>
          <a:prstGeom prst="rect">
            <a:avLst/>
          </a:prstGeom>
          <a:noFill/>
        </p:spPr>
        <p:txBody>
          <a:bodyPr wrap="square">
            <a:spAutoFit/>
          </a:bodyPr>
          <a:lstStyle/>
          <a:p>
            <a:r>
              <a:rPr lang="zh-CN" altLang="en-US" sz="1700" kern="0" dirty="0">
                <a:solidFill>
                  <a:srgbClr val="0070C0"/>
                </a:solidFill>
                <a:latin typeface="微软雅黑" panose="020B0503020204020204" pitchFamily="34" charset="-122"/>
                <a:ea typeface="微软雅黑" panose="020B0503020204020204" pitchFamily="34" charset="-122"/>
              </a:rPr>
              <a:t>关闭</a:t>
            </a:r>
            <a:r>
              <a:rPr lang="en-US" altLang="zh-CN" sz="1700" kern="0" dirty="0">
                <a:solidFill>
                  <a:srgbClr val="0070C0"/>
                </a:solidFill>
                <a:latin typeface="微软雅黑" panose="020B0503020204020204" pitchFamily="34" charset="-122"/>
                <a:ea typeface="微软雅黑" panose="020B0503020204020204" pitchFamily="34" charset="-122"/>
              </a:rPr>
              <a:t>(</a:t>
            </a:r>
            <a:r>
              <a:rPr lang="zh-CN" altLang="en-US" sz="1700" kern="0" dirty="0">
                <a:solidFill>
                  <a:srgbClr val="0070C0"/>
                </a:solidFill>
                <a:latin typeface="微软雅黑" panose="020B0503020204020204" pitchFamily="34" charset="-122"/>
                <a:ea typeface="微软雅黑" panose="020B0503020204020204" pitchFamily="34" charset="-122"/>
              </a:rPr>
              <a:t>不显示</a:t>
            </a:r>
            <a:r>
              <a:rPr lang="en-US" altLang="zh-CN" sz="1700" kern="0" dirty="0">
                <a:solidFill>
                  <a:srgbClr val="0070C0"/>
                </a:solidFill>
                <a:latin typeface="微软雅黑" panose="020B0503020204020204" pitchFamily="34" charset="-122"/>
                <a:ea typeface="微软雅黑" panose="020B0503020204020204" pitchFamily="34" charset="-122"/>
              </a:rPr>
              <a:t>)</a:t>
            </a:r>
            <a:r>
              <a:rPr lang="zh-CN" altLang="en-US" sz="1700" b="1" dirty="0">
                <a:solidFill>
                  <a:srgbClr val="0070C0"/>
                </a:solidFill>
                <a:latin typeface="黑体" panose="02010609060101010101" pitchFamily="49" charset="-122"/>
                <a:ea typeface="黑体" panose="02010609060101010101" pitchFamily="49" charset="-122"/>
                <a:cs typeface="宋体" panose="02010600030101010101" pitchFamily="2" charset="-122"/>
              </a:rPr>
              <a:t>坐标轴线和标签 </a:t>
            </a:r>
            <a:endParaRPr lang="zh-CN" altLang="en-US" sz="1700" kern="0" dirty="0">
              <a:solidFill>
                <a:srgbClr val="0070C0"/>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B08BAA4D-D29A-4DAE-88E7-77C1544A007A}"/>
              </a:ext>
            </a:extLst>
          </p:cNvPr>
          <p:cNvSpPr/>
          <p:nvPr/>
        </p:nvSpPr>
        <p:spPr>
          <a:xfrm>
            <a:off x="5723947" y="697200"/>
            <a:ext cx="949733" cy="353943"/>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algn="just" defTabSz="0">
              <a:spcBef>
                <a:spcPts val="0"/>
              </a:spcBef>
            </a:pPr>
            <a:r>
              <a:rPr lang="en-US" altLang="zh-CN" sz="17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sym typeface="Arial" panose="020B0604020202020204" pitchFamily="34" charset="0"/>
              </a:rPr>
              <a:t>figure(n)</a:t>
            </a:r>
          </a:p>
        </p:txBody>
      </p:sp>
      <p:sp>
        <p:nvSpPr>
          <p:cNvPr id="35" name="矩形 34">
            <a:extLst>
              <a:ext uri="{FF2B5EF4-FFF2-40B4-BE49-F238E27FC236}">
                <a16:creationId xmlns:a16="http://schemas.microsoft.com/office/drawing/2014/main" id="{72F3E7F6-02DC-4AE4-97F2-4C7263888784}"/>
              </a:ext>
            </a:extLst>
          </p:cNvPr>
          <p:cNvSpPr/>
          <p:nvPr/>
        </p:nvSpPr>
        <p:spPr>
          <a:xfrm>
            <a:off x="1800159" y="759247"/>
            <a:ext cx="899633" cy="353943"/>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algn="just" defTabSz="0">
              <a:spcBef>
                <a:spcPts val="0"/>
              </a:spcBef>
            </a:pPr>
            <a:r>
              <a:rPr lang="en-US" altLang="zh-CN" sz="17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sym typeface="Arial" panose="020B0604020202020204" pitchFamily="34" charset="0"/>
              </a:rPr>
              <a:t>figure(  )</a:t>
            </a:r>
          </a:p>
        </p:txBody>
      </p:sp>
      <p:pic>
        <p:nvPicPr>
          <p:cNvPr id="39" name="图片 38">
            <a:extLst>
              <a:ext uri="{FF2B5EF4-FFF2-40B4-BE49-F238E27FC236}">
                <a16:creationId xmlns:a16="http://schemas.microsoft.com/office/drawing/2014/main" id="{49C49F8E-7156-4825-98D6-A99D7C068DDD}"/>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35914" t="30396" r="39364" b="43117"/>
          <a:stretch>
            <a:fillRect/>
          </a:stretch>
        </p:blipFill>
        <p:spPr>
          <a:xfrm>
            <a:off x="7571082" y="2894530"/>
            <a:ext cx="1767156" cy="1065019"/>
          </a:xfrm>
          <a:prstGeom prst="rect">
            <a:avLst/>
          </a:prstGeom>
          <a:ln>
            <a:noFill/>
          </a:ln>
        </p:spPr>
      </p:pic>
      <p:pic>
        <p:nvPicPr>
          <p:cNvPr id="16" name="图片 15">
            <a:extLst>
              <a:ext uri="{FF2B5EF4-FFF2-40B4-BE49-F238E27FC236}">
                <a16:creationId xmlns:a16="http://schemas.microsoft.com/office/drawing/2014/main" id="{E5A48BE0-55CB-4893-B43B-FB29701D9BB7}"/>
              </a:ext>
            </a:extLst>
          </p:cNvPr>
          <p:cNvPicPr>
            <a:picLocks noChangeAspect="1"/>
          </p:cNvPicPr>
          <p:nvPr/>
        </p:nvPicPr>
        <p:blipFill>
          <a:blip r:embed="rId5"/>
          <a:stretch>
            <a:fillRect/>
          </a:stretch>
        </p:blipFill>
        <p:spPr>
          <a:xfrm>
            <a:off x="7150445" y="69942"/>
            <a:ext cx="1849717" cy="1185966"/>
          </a:xfrm>
          <a:prstGeom prst="rect">
            <a:avLst/>
          </a:prstGeom>
        </p:spPr>
      </p:pic>
    </p:spTree>
    <p:extLst>
      <p:ext uri="{BB962C8B-B14F-4D97-AF65-F5344CB8AC3E}">
        <p14:creationId xmlns:p14="http://schemas.microsoft.com/office/powerpoint/2010/main" val="296014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0" grpId="0" animBg="1"/>
      <p:bldP spid="12" grpId="0" animBg="1"/>
      <p:bldP spid="13" grpId="0" animBg="1"/>
      <p:bldP spid="14" grpId="0"/>
      <p:bldP spid="9" grpId="0"/>
      <p:bldP spid="24" grpId="0" animBg="1"/>
      <p:bldP spid="25" grpId="0"/>
      <p:bldP spid="29" grpId="0"/>
      <p:bldP spid="30" grpId="0"/>
      <p:bldP spid="31" grpId="0" animBg="1"/>
      <p:bldP spid="34" grpId="0" animBg="1"/>
      <p:bldP spid="37" grpId="0"/>
      <p:bldP spid="27" grpId="0"/>
      <p:bldP spid="28" grpId="0" animBg="1"/>
      <p:bldP spid="32" grpId="0" animBg="1"/>
      <p:bldP spid="38" grpId="0"/>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FC952859-421B-4EBC-B847-F8284FC91D0D}"/>
              </a:ext>
            </a:extLst>
          </p:cNvPr>
          <p:cNvPicPr>
            <a:picLocks noChangeAspect="1"/>
          </p:cNvPicPr>
          <p:nvPr/>
        </p:nvPicPr>
        <p:blipFill rotWithShape="1">
          <a:blip r:embed="rId3"/>
          <a:srcRect b="5125"/>
          <a:stretch/>
        </p:blipFill>
        <p:spPr>
          <a:xfrm>
            <a:off x="4760956" y="1501951"/>
            <a:ext cx="3932023" cy="3063661"/>
          </a:xfrm>
          <a:prstGeom prst="rect">
            <a:avLst/>
          </a:prstGeom>
        </p:spPr>
      </p:pic>
      <p:sp>
        <p:nvSpPr>
          <p:cNvPr id="23" name="矩形 22">
            <a:extLst>
              <a:ext uri="{FF2B5EF4-FFF2-40B4-BE49-F238E27FC236}">
                <a16:creationId xmlns:a16="http://schemas.microsoft.com/office/drawing/2014/main" id="{0BC1AEA5-50C8-4AE1-9A69-C76CDD20DB50}"/>
              </a:ext>
            </a:extLst>
          </p:cNvPr>
          <p:cNvSpPr/>
          <p:nvPr/>
        </p:nvSpPr>
        <p:spPr>
          <a:xfrm>
            <a:off x="5437098" y="3880233"/>
            <a:ext cx="265392"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3</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8E89D86C-FA94-413D-9BDE-2D6F82C255D9}"/>
              </a:ext>
            </a:extLst>
          </p:cNvPr>
          <p:cNvSpPr/>
          <p:nvPr/>
        </p:nvSpPr>
        <p:spPr>
          <a:xfrm>
            <a:off x="7452320" y="3939902"/>
            <a:ext cx="265264" cy="276999"/>
          </a:xfrm>
          <a:prstGeom prst="rect">
            <a:avLst/>
          </a:prstGeom>
          <a:solidFill>
            <a:srgbClr val="FFC000">
              <a:alpha val="57000"/>
            </a:srgbClr>
          </a:solidFill>
        </p:spPr>
        <p:txBody>
          <a:bodyPr wrap="square">
            <a:spAutoFit/>
          </a:bodyPr>
          <a:lstStyle/>
          <a:p>
            <a:r>
              <a:rPr lang="en-US" altLang="zh-CN" sz="1200" dirty="0">
                <a:solidFill>
                  <a:srgbClr val="FFFF00"/>
                </a:solidFill>
                <a:highlight>
                  <a:srgbClr val="FF0000"/>
                </a:highlight>
                <a:latin typeface="Times New Roman" panose="02020603050405020304" pitchFamily="18" charset="0"/>
                <a:cs typeface="Times New Roman" panose="02020603050405020304" pitchFamily="18" charset="0"/>
              </a:rPr>
              <a:t>4</a:t>
            </a:r>
            <a:endParaRPr lang="zh-CN" altLang="en-US" sz="12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5D812A24-10F7-4F94-9AFF-9841810EE8AF}"/>
              </a:ext>
            </a:extLst>
          </p:cNvPr>
          <p:cNvSpPr/>
          <p:nvPr/>
        </p:nvSpPr>
        <p:spPr>
          <a:xfrm>
            <a:off x="5391422" y="2358027"/>
            <a:ext cx="265264"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1</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A66DBB26-FB74-4890-855D-82079796FADC}"/>
              </a:ext>
            </a:extLst>
          </p:cNvPr>
          <p:cNvSpPr/>
          <p:nvPr/>
        </p:nvSpPr>
        <p:spPr>
          <a:xfrm>
            <a:off x="7270927" y="2452395"/>
            <a:ext cx="265264"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2</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16" name="Rectangle 2">
            <a:extLst>
              <a:ext uri="{FF2B5EF4-FFF2-40B4-BE49-F238E27FC236}">
                <a16:creationId xmlns:a16="http://schemas.microsoft.com/office/drawing/2014/main" id="{E0F2BC89-045E-B8EF-0526-C866719ED1FB}"/>
              </a:ext>
            </a:extLst>
          </p:cNvPr>
          <p:cNvSpPr txBox="1">
            <a:spLocks noChangeArrowheads="1"/>
          </p:cNvSpPr>
          <p:nvPr/>
        </p:nvSpPr>
        <p:spPr bwMode="auto">
          <a:xfrm>
            <a:off x="2699792" y="712611"/>
            <a:ext cx="6192688" cy="376770"/>
          </a:xfrm>
          <a:prstGeom prst="rect">
            <a:avLst/>
          </a:prstGeom>
          <a:solidFill>
            <a:schemeClr val="bg1"/>
          </a:solidFill>
          <a:ln>
            <a:noFill/>
          </a:ln>
        </p:spPr>
        <p:txBody>
          <a:bodyPr wrap="square">
            <a:spAutoFit/>
          </a:bodyPr>
          <a:lstStyle>
            <a:defPPr>
              <a:defRPr lang="zh-CN"/>
            </a:defPPr>
            <a:lvl1pPr>
              <a:defRPr sz="2400">
                <a:solidFill>
                  <a:srgbClr val="002060"/>
                </a:solidFill>
                <a:latin typeface="Microsoft YaHei" panose="020B0503020204020204" pitchFamily="34" charset="-122"/>
                <a:ea typeface="Microsoft YaHei" panose="020B0503020204020204" pitchFamily="34" charset="-122"/>
              </a:defRPr>
            </a:lvl1pPr>
            <a:lvl2pPr algn="ctr" eaLnBrk="0" hangingPunct="0">
              <a:defRPr sz="4400">
                <a:solidFill>
                  <a:schemeClr val="tx2"/>
                </a:solidFill>
                <a:ea typeface="楷体_GB2312" pitchFamily="49" charset="-122"/>
              </a:defRPr>
            </a:lvl2pPr>
            <a:lvl3pPr algn="ctr" eaLnBrk="0" hangingPunct="0">
              <a:defRPr sz="4400">
                <a:solidFill>
                  <a:schemeClr val="tx2"/>
                </a:solidFill>
                <a:ea typeface="楷体_GB2312" pitchFamily="49" charset="-122"/>
              </a:defRPr>
            </a:lvl3pPr>
            <a:lvl4pPr algn="ctr" eaLnBrk="0" hangingPunct="0">
              <a:defRPr sz="4400">
                <a:solidFill>
                  <a:schemeClr val="tx2"/>
                </a:solidFill>
                <a:ea typeface="楷体_GB2312" pitchFamily="49" charset="-122"/>
              </a:defRPr>
            </a:lvl4pPr>
            <a:lvl5pPr algn="ctr" eaLnBrk="0" hangingPunct="0">
              <a:defRPr sz="4400">
                <a:solidFill>
                  <a:schemeClr val="tx2"/>
                </a:solidFill>
                <a:ea typeface="楷体_GB2312" pitchFamily="49" charset="-122"/>
              </a:defRPr>
            </a:lvl5pPr>
            <a:lvl6pPr marL="457200" algn="ctr" fontAlgn="base">
              <a:spcBef>
                <a:spcPct val="0"/>
              </a:spcBef>
              <a:spcAft>
                <a:spcPct val="0"/>
              </a:spcAft>
              <a:defRPr sz="4400">
                <a:solidFill>
                  <a:schemeClr val="tx2"/>
                </a:solidFill>
                <a:ea typeface="楷体_GB2312" pitchFamily="49" charset="-122"/>
              </a:defRPr>
            </a:lvl6pPr>
            <a:lvl7pPr marL="914400" algn="ctr" fontAlgn="base">
              <a:spcBef>
                <a:spcPct val="0"/>
              </a:spcBef>
              <a:spcAft>
                <a:spcPct val="0"/>
              </a:spcAft>
              <a:defRPr sz="4400">
                <a:solidFill>
                  <a:schemeClr val="tx2"/>
                </a:solidFill>
                <a:ea typeface="楷体_GB2312" pitchFamily="49" charset="-122"/>
              </a:defRPr>
            </a:lvl7pPr>
            <a:lvl8pPr marL="1371600" algn="ctr" fontAlgn="base">
              <a:spcBef>
                <a:spcPct val="0"/>
              </a:spcBef>
              <a:spcAft>
                <a:spcPct val="0"/>
              </a:spcAft>
              <a:defRPr sz="4400">
                <a:solidFill>
                  <a:schemeClr val="tx2"/>
                </a:solidFill>
                <a:ea typeface="楷体_GB2312" pitchFamily="49" charset="-122"/>
              </a:defRPr>
            </a:lvl8pPr>
            <a:lvl9pPr marL="1828800" algn="ctr" fontAlgn="base">
              <a:spcBef>
                <a:spcPct val="0"/>
              </a:spcBef>
              <a:spcAft>
                <a:spcPct val="0"/>
              </a:spcAft>
              <a:defRPr sz="4400">
                <a:solidFill>
                  <a:schemeClr val="tx2"/>
                </a:solidFill>
                <a:ea typeface="楷体_GB2312" pitchFamily="49" charset="-122"/>
              </a:defRPr>
            </a:lvl9pPr>
          </a:lstStyle>
          <a:p>
            <a:pPr algn="dist"/>
            <a:r>
              <a:rPr lang="en-US" altLang="zh-CN" sz="1800" b="1" dirty="0">
                <a:solidFill>
                  <a:srgbClr val="0070C0"/>
                </a:solidFill>
                <a:latin typeface="微软雅黑" panose="020B0503020204020204" pitchFamily="34" charset="-122"/>
                <a:ea typeface="微软雅黑" panose="020B0503020204020204" pitchFamily="34" charset="-122"/>
              </a:rPr>
              <a:t>subplot</a:t>
            </a:r>
            <a:r>
              <a:rPr lang="zh-CN" altLang="en-US" sz="1800" b="1" dirty="0">
                <a:solidFill>
                  <a:srgbClr val="0070C0"/>
                </a:solidFill>
                <a:latin typeface="微软雅黑" panose="020B0503020204020204" pitchFamily="34" charset="-122"/>
                <a:ea typeface="微软雅黑" panose="020B0503020204020204" pitchFamily="34" charset="-122"/>
              </a:rPr>
              <a:t>在同一窗口创建不同坐标子区域，用于绘图</a:t>
            </a:r>
            <a:endParaRPr lang="en-US" altLang="zh-CN" sz="1800" b="1" dirty="0">
              <a:solidFill>
                <a:srgbClr val="0070C0"/>
              </a:solidFill>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FA56B340-AE1A-5174-C549-AEE237CB613A}"/>
              </a:ext>
            </a:extLst>
          </p:cNvPr>
          <p:cNvSpPr txBox="1">
            <a:spLocks noChangeArrowheads="1"/>
          </p:cNvSpPr>
          <p:nvPr/>
        </p:nvSpPr>
        <p:spPr bwMode="auto">
          <a:xfrm>
            <a:off x="108004" y="1172077"/>
            <a:ext cx="4718812" cy="3744584"/>
          </a:xfrm>
          <a:prstGeom prst="rect">
            <a:avLst/>
          </a:prstGeom>
          <a:noFill/>
          <a:ln w="9525">
            <a:noFill/>
            <a:miter lim="800000"/>
          </a:ln>
        </p:spPr>
        <p:txBody>
          <a:bodyPr vert="horz" wrap="square" lIns="91440" tIns="45720" rIns="91440" bIns="45720" numCol="1" anchor="ctr"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457200" indent="-457200" eaLnBrk="1" hangingPunct="1">
              <a:lnSpc>
                <a:spcPts val="2900"/>
              </a:lnSpc>
              <a:spcBef>
                <a:spcPct val="0"/>
              </a:spcBef>
              <a:buFont typeface="+mj-ea"/>
              <a:buAutoNum type="circleNumDbPlain"/>
            </a:pPr>
            <a:r>
              <a:rPr lang="zh-CN" altLang="zh-CN" sz="1600" b="1" kern="0" dirty="0">
                <a:solidFill>
                  <a:srgbClr val="0070C0"/>
                </a:solidFill>
                <a:latin typeface="微软雅黑 Light" panose="020B0502040204020203" pitchFamily="34" charset="-122"/>
                <a:ea typeface="微软雅黑 Light" panose="020B0502040204020203" pitchFamily="34" charset="-122"/>
                <a:cs typeface="+mj-cs"/>
              </a:rPr>
              <a:t>将图窗划分为 m×n 网格</a:t>
            </a:r>
            <a:r>
              <a:rPr lang="zh-CN" altLang="en-US" sz="1600" b="1" kern="0" dirty="0">
                <a:solidFill>
                  <a:srgbClr val="0070C0"/>
                </a:solidFill>
                <a:latin typeface="微软雅黑 Light" panose="020B0502040204020203" pitchFamily="34" charset="-122"/>
                <a:ea typeface="微软雅黑 Light" panose="020B0502040204020203" pitchFamily="34" charset="-122"/>
                <a:cs typeface="+mj-cs"/>
              </a:rPr>
              <a:t>，</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eaLnBrk="1" hangingPunct="1">
              <a:lnSpc>
                <a:spcPts val="2900"/>
              </a:lnSpc>
              <a:spcBef>
                <a:spcPct val="0"/>
              </a:spcBef>
              <a:buFont typeface="+mj-ea"/>
              <a:buAutoNum type="circleNumDbPlain"/>
            </a:pPr>
            <a:r>
              <a:rPr lang="zh-CN" altLang="en-US" sz="1600" b="1" dirty="0">
                <a:solidFill>
                  <a:srgbClr val="0070C0"/>
                </a:solidFill>
                <a:latin typeface="微软雅黑 Light" panose="020B0502040204020203" pitchFamily="34" charset="-122"/>
                <a:ea typeface="微软雅黑 Light" panose="020B0502040204020203" pitchFamily="34" charset="-122"/>
              </a:rPr>
              <a:t> 按行列号对子图位置进行编号</a:t>
            </a:r>
            <a:r>
              <a:rPr lang="en-US" altLang="zh-CN" sz="1600" b="1" dirty="0">
                <a:solidFill>
                  <a:srgbClr val="0070C0"/>
                </a:solidFill>
                <a:latin typeface="微软雅黑 Light" panose="020B0502040204020203" pitchFamily="34" charset="-122"/>
                <a:ea typeface="微软雅黑 Light" panose="020B0502040204020203" pitchFamily="34" charset="-122"/>
              </a:rPr>
              <a:t>,</a:t>
            </a:r>
            <a:r>
              <a:rPr lang="zh-CN" altLang="en-US" sz="1600" b="1" kern="0" dirty="0">
                <a:solidFill>
                  <a:srgbClr val="0070C0"/>
                </a:solidFill>
                <a:latin typeface="微软雅黑 Light" panose="020B0502040204020203" pitchFamily="34" charset="-122"/>
                <a:ea typeface="微软雅黑 Light" panose="020B0502040204020203" pitchFamily="34" charset="-122"/>
              </a:rPr>
              <a:t>其顺序</a:t>
            </a:r>
            <a:r>
              <a:rPr lang="en-US" altLang="zh-CN" sz="1600" b="1" kern="0" dirty="0">
                <a:solidFill>
                  <a:srgbClr val="0070C0"/>
                </a:solidFill>
                <a:latin typeface="微软雅黑 Light" panose="020B0502040204020203" pitchFamily="34" charset="-122"/>
                <a:ea typeface="微软雅黑 Light" panose="020B0502040204020203" pitchFamily="34" charset="-122"/>
                <a:cs typeface="+mj-cs"/>
              </a:rPr>
              <a:t>:</a:t>
            </a:r>
            <a:r>
              <a:rPr lang="zh-CN" altLang="en-US" sz="1600" b="1" dirty="0">
                <a:solidFill>
                  <a:srgbClr val="0070C0"/>
                </a:solidFill>
                <a:latin typeface="微软雅黑 Light" panose="020B0502040204020203" pitchFamily="34" charset="-122"/>
                <a:ea typeface="微软雅黑 Light" panose="020B0502040204020203" pitchFamily="34" charset="-122"/>
              </a:rPr>
              <a:t>第一个子图是第一行的第一列，第二个子图是第一行的第二列，依此类推。</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eaLnBrk="1" hangingPunct="1">
              <a:lnSpc>
                <a:spcPts val="2900"/>
              </a:lnSpc>
              <a:spcBef>
                <a:spcPct val="0"/>
              </a:spcBef>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P</a:t>
            </a:r>
            <a:r>
              <a:rPr lang="zh-CN" altLang="en-US" sz="1600" b="1" dirty="0">
                <a:solidFill>
                  <a:srgbClr val="0070C0"/>
                </a:solidFill>
                <a:latin typeface="微软雅黑 Light" panose="020B0502040204020203" pitchFamily="34" charset="-122"/>
                <a:ea typeface="微软雅黑 Light" panose="020B0502040204020203" pitchFamily="34" charset="-122"/>
              </a:rPr>
              <a:t>为子图位置序号，在 </a:t>
            </a:r>
            <a:r>
              <a:rPr lang="en-US" altLang="zh-CN" sz="1600" b="1" dirty="0">
                <a:solidFill>
                  <a:srgbClr val="0070C0"/>
                </a:solidFill>
                <a:latin typeface="微软雅黑 Light" panose="020B0502040204020203" pitchFamily="34" charset="-122"/>
                <a:ea typeface="微软雅黑 Light" panose="020B0502040204020203" pitchFamily="34" charset="-122"/>
              </a:rPr>
              <a:t>p</a:t>
            </a:r>
            <a:r>
              <a:rPr lang="zh-CN" altLang="en-US" sz="1600" b="1" dirty="0">
                <a:solidFill>
                  <a:srgbClr val="0070C0"/>
                </a:solidFill>
                <a:latin typeface="微软雅黑 Light" panose="020B0502040204020203" pitchFamily="34" charset="-122"/>
                <a:ea typeface="微软雅黑 Light" panose="020B0502040204020203" pitchFamily="34" charset="-122"/>
              </a:rPr>
              <a:t> 指定子图位置创建坐标区</a:t>
            </a:r>
            <a:r>
              <a:rPr lang="en-US" altLang="zh-CN" sz="1600" b="1" dirty="0">
                <a:solidFill>
                  <a:srgbClr val="0070C0"/>
                </a:solidFill>
                <a:latin typeface="微软雅黑 Light" panose="020B0502040204020203" pitchFamily="34" charset="-122"/>
                <a:ea typeface="微软雅黑 Light" panose="020B0502040204020203" pitchFamily="34" charset="-122"/>
              </a:rPr>
              <a:t>,</a:t>
            </a:r>
            <a:r>
              <a:rPr lang="zh-CN" altLang="en-US" sz="1600" b="1" dirty="0">
                <a:solidFill>
                  <a:srgbClr val="0070C0"/>
                </a:solidFill>
                <a:latin typeface="微软雅黑 Light" panose="020B0502040204020203" pitchFamily="34" charset="-122"/>
                <a:ea typeface="微软雅黑 Light" panose="020B0502040204020203" pitchFamily="34" charset="-122"/>
              </a:rPr>
              <a:t>并且在</a:t>
            </a:r>
            <a:r>
              <a:rPr lang="en-US" altLang="zh-CN" sz="1600" b="1" dirty="0">
                <a:solidFill>
                  <a:srgbClr val="0070C0"/>
                </a:solidFill>
                <a:latin typeface="微软雅黑 Light" panose="020B0502040204020203" pitchFamily="34" charset="-122"/>
                <a:ea typeface="微软雅黑 Light" panose="020B0502040204020203" pitchFamily="34" charset="-122"/>
              </a:rPr>
              <a:t>p</a:t>
            </a:r>
            <a:r>
              <a:rPr lang="zh-CN" altLang="en-US" sz="1600" b="1" dirty="0">
                <a:solidFill>
                  <a:srgbClr val="0070C0"/>
                </a:solidFill>
                <a:latin typeface="微软雅黑 Light" panose="020B0502040204020203" pitchFamily="34" charset="-122"/>
                <a:ea typeface="微软雅黑 Light" panose="020B0502040204020203" pitchFamily="34" charset="-122"/>
              </a:rPr>
              <a:t>指定坐标区域内调用绘图函数进行子图绘制</a:t>
            </a:r>
            <a:r>
              <a:rPr lang="en-US" altLang="zh-CN" sz="1600" b="1" dirty="0">
                <a:solidFill>
                  <a:srgbClr val="0070C0"/>
                </a:solidFill>
                <a:latin typeface="微软雅黑 Light" panose="020B0502040204020203" pitchFamily="34" charset="-122"/>
                <a:ea typeface="微软雅黑 Light" panose="020B0502040204020203" pitchFamily="34" charset="-122"/>
              </a:rPr>
              <a:t>;</a:t>
            </a:r>
          </a:p>
          <a:p>
            <a:pPr marL="457200" indent="-457200" eaLnBrk="1" hangingPunct="1">
              <a:lnSpc>
                <a:spcPts val="2900"/>
              </a:lnSpc>
              <a:spcBef>
                <a:spcPct val="0"/>
              </a:spcBef>
              <a:buFont typeface="+mj-ea"/>
              <a:buAutoNum type="circleNumDbPlain"/>
            </a:pPr>
            <a:r>
              <a:rPr lang="zh-CN" altLang="en-US" sz="1600" b="1" dirty="0">
                <a:solidFill>
                  <a:srgbClr val="0070C0"/>
                </a:solidFill>
                <a:latin typeface="微软雅黑 Light" panose="020B0502040204020203" pitchFamily="34" charset="-122"/>
                <a:ea typeface="微软雅黑 Light" panose="020B0502040204020203" pitchFamily="34" charset="-122"/>
              </a:rPr>
              <a:t>创建子图可占据网格多行或多列坐标区 </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eaLnBrk="1" hangingPunct="1">
              <a:lnSpc>
                <a:spcPts val="2900"/>
              </a:lnSpc>
              <a:spcBef>
                <a:spcPct val="0"/>
              </a:spcBef>
              <a:buFont typeface="+mj-ea"/>
              <a:buAutoNum type="circleNumDbPlain"/>
            </a:pPr>
            <a:r>
              <a:rPr lang="zh-CN" altLang="en-US" sz="1600" b="1" dirty="0">
                <a:solidFill>
                  <a:srgbClr val="0070C0"/>
                </a:solidFill>
                <a:latin typeface="微软雅黑 Light" panose="020B0502040204020203" pitchFamily="34" charset="-122"/>
                <a:ea typeface="微软雅黑 Light" panose="020B0502040204020203" pitchFamily="34" charset="-122"/>
              </a:rPr>
              <a:t>紧凑布局</a:t>
            </a:r>
            <a:r>
              <a:rPr lang="en-US" altLang="zh-CN" sz="1600" b="1" dirty="0" err="1">
                <a:solidFill>
                  <a:srgbClr val="FF0000"/>
                </a:solidFill>
                <a:latin typeface="微软雅黑" panose="020B0503020204020204" pitchFamily="34" charset="-122"/>
                <a:ea typeface="微软雅黑" panose="020B0503020204020204" pitchFamily="34" charset="-122"/>
              </a:rPr>
              <a:t>tightlayout</a:t>
            </a:r>
            <a:r>
              <a:rPr lang="en-US" altLang="zh-CN" sz="1600" b="1" dirty="0">
                <a:solidFill>
                  <a:srgbClr val="FF0000"/>
                </a:solidFill>
                <a:latin typeface="微软雅黑" panose="020B0503020204020204" pitchFamily="34" charset="-122"/>
                <a:ea typeface="微软雅黑" panose="020B0503020204020204" pitchFamily="34" charset="-122"/>
              </a:rPr>
              <a:t>() </a:t>
            </a:r>
            <a:r>
              <a:rPr lang="zh-CN" altLang="en-US" sz="1600" b="1" dirty="0">
                <a:solidFill>
                  <a:srgbClr val="0070C0"/>
                </a:solidFill>
                <a:latin typeface="微软雅黑 Light" panose="020B0502040204020203" pitchFamily="34" charset="-122"/>
                <a:ea typeface="微软雅黑 Light" panose="020B0502040204020203" pitchFamily="34" charset="-122"/>
              </a:rPr>
              <a:t>防止题目和曲线重叠</a:t>
            </a:r>
          </a:p>
          <a:p>
            <a:pPr marL="457200" indent="-457200" eaLnBrk="1" hangingPunct="1">
              <a:lnSpc>
                <a:spcPts val="2300"/>
              </a:lnSpc>
              <a:spcBef>
                <a:spcPct val="0"/>
              </a:spcBef>
              <a:buFont typeface="+mj-ea"/>
              <a:buAutoNum type="circleNumDbPlain"/>
            </a:pPr>
            <a:endParaRPr lang="en-US" altLang="zh-CN" sz="2000" dirty="0">
              <a:solidFill>
                <a:srgbClr val="0070C0"/>
              </a:solidFill>
              <a:latin typeface="华文楷体" panose="02010600040101010101" pitchFamily="2" charset="-122"/>
              <a:ea typeface="华文楷体" panose="02010600040101010101" pitchFamily="2" charset="-122"/>
            </a:endParaRPr>
          </a:p>
        </p:txBody>
      </p:sp>
      <p:sp>
        <p:nvSpPr>
          <p:cNvPr id="13" name="Rectangle 2">
            <a:extLst>
              <a:ext uri="{FF2B5EF4-FFF2-40B4-BE49-F238E27FC236}">
                <a16:creationId xmlns:a16="http://schemas.microsoft.com/office/drawing/2014/main" id="{3376F8C9-86F7-550B-AC3C-4819627FEB7A}"/>
              </a:ext>
            </a:extLst>
          </p:cNvPr>
          <p:cNvSpPr txBox="1">
            <a:spLocks noChangeArrowheads="1"/>
          </p:cNvSpPr>
          <p:nvPr/>
        </p:nvSpPr>
        <p:spPr bwMode="auto">
          <a:xfrm>
            <a:off x="6277500" y="1153076"/>
            <a:ext cx="2691560" cy="338554"/>
          </a:xfrm>
          <a:prstGeom prst="rect">
            <a:avLst/>
          </a:prstGeom>
          <a:noFill/>
        </p:spPr>
        <p:txBody>
          <a:bodyPr wrap="square">
            <a:spAutoFit/>
          </a:bodyPr>
          <a:lstStyle>
            <a:defPPr>
              <a:defRPr lang="zh-CN"/>
            </a:defPPr>
            <a:lvl1pPr>
              <a:defRPr sz="1800" b="1">
                <a:solidFill>
                  <a:srgbClr val="FF0000"/>
                </a:solidFill>
                <a:latin typeface="微软雅黑" panose="020B0503020204020204" pitchFamily="34" charset="-122"/>
                <a:ea typeface="微软雅黑" panose="020B0503020204020204" pitchFamily="34" charset="-122"/>
              </a:defRPr>
            </a:lvl1pPr>
            <a:lvl2pPr algn="ctr" eaLnBrk="0" hangingPunct="0">
              <a:defRPr sz="4400">
                <a:solidFill>
                  <a:schemeClr val="tx2"/>
                </a:solidFill>
                <a:ea typeface="楷体_GB2312" pitchFamily="49" charset="-122"/>
              </a:defRPr>
            </a:lvl2pPr>
            <a:lvl3pPr algn="ctr" eaLnBrk="0" hangingPunct="0">
              <a:defRPr sz="4400">
                <a:solidFill>
                  <a:schemeClr val="tx2"/>
                </a:solidFill>
                <a:ea typeface="楷体_GB2312" pitchFamily="49" charset="-122"/>
              </a:defRPr>
            </a:lvl3pPr>
            <a:lvl4pPr algn="ctr" eaLnBrk="0" hangingPunct="0">
              <a:defRPr sz="4400">
                <a:solidFill>
                  <a:schemeClr val="tx2"/>
                </a:solidFill>
                <a:ea typeface="楷体_GB2312" pitchFamily="49" charset="-122"/>
              </a:defRPr>
            </a:lvl4pPr>
            <a:lvl5pPr algn="ctr" eaLnBrk="0" hangingPunct="0">
              <a:defRPr sz="4400">
                <a:solidFill>
                  <a:schemeClr val="tx2"/>
                </a:solidFill>
                <a:ea typeface="楷体_GB2312" pitchFamily="49" charset="-122"/>
              </a:defRPr>
            </a:lvl5pPr>
            <a:lvl6pPr marL="457200" algn="ctr" fontAlgn="base">
              <a:spcBef>
                <a:spcPct val="0"/>
              </a:spcBef>
              <a:spcAft>
                <a:spcPct val="0"/>
              </a:spcAft>
              <a:defRPr sz="4400">
                <a:solidFill>
                  <a:schemeClr val="tx2"/>
                </a:solidFill>
                <a:ea typeface="楷体_GB2312" pitchFamily="49" charset="-122"/>
              </a:defRPr>
            </a:lvl6pPr>
            <a:lvl7pPr marL="914400" algn="ctr" fontAlgn="base">
              <a:spcBef>
                <a:spcPct val="0"/>
              </a:spcBef>
              <a:spcAft>
                <a:spcPct val="0"/>
              </a:spcAft>
              <a:defRPr sz="4400">
                <a:solidFill>
                  <a:schemeClr val="tx2"/>
                </a:solidFill>
                <a:ea typeface="楷体_GB2312" pitchFamily="49" charset="-122"/>
              </a:defRPr>
            </a:lvl7pPr>
            <a:lvl8pPr marL="1371600" algn="ctr" fontAlgn="base">
              <a:spcBef>
                <a:spcPct val="0"/>
              </a:spcBef>
              <a:spcAft>
                <a:spcPct val="0"/>
              </a:spcAft>
              <a:defRPr sz="4400">
                <a:solidFill>
                  <a:schemeClr val="tx2"/>
                </a:solidFill>
                <a:ea typeface="楷体_GB2312" pitchFamily="49" charset="-122"/>
              </a:defRPr>
            </a:lvl8pPr>
            <a:lvl9pPr marL="1828800" algn="ctr" fontAlgn="base">
              <a:spcBef>
                <a:spcPct val="0"/>
              </a:spcBef>
              <a:spcAft>
                <a:spcPct val="0"/>
              </a:spcAft>
              <a:defRPr sz="4400">
                <a:solidFill>
                  <a:schemeClr val="tx2"/>
                </a:solidFill>
                <a:ea typeface="楷体_GB2312" pitchFamily="49" charset="-122"/>
              </a:defRPr>
            </a:lvl9pPr>
          </a:lstStyle>
          <a:p>
            <a:r>
              <a:rPr lang="en-US" altLang="zh-CN" sz="1600" b="0" dirty="0"/>
              <a:t>2</a:t>
            </a:r>
            <a:r>
              <a:rPr lang="zh-CN" altLang="en-US" sz="1600" b="0" dirty="0"/>
              <a:t>行</a:t>
            </a:r>
            <a:r>
              <a:rPr lang="en-US" altLang="zh-CN" sz="1600" b="0" dirty="0"/>
              <a:t>2</a:t>
            </a:r>
            <a:r>
              <a:rPr lang="zh-CN" altLang="en-US" sz="1600" b="0" dirty="0"/>
              <a:t>列共</a:t>
            </a:r>
            <a:r>
              <a:rPr lang="en-US" altLang="zh-CN" sz="1600" b="0" dirty="0"/>
              <a:t>4</a:t>
            </a:r>
            <a:r>
              <a:rPr lang="zh-CN" altLang="en-US" sz="1600" b="0" dirty="0"/>
              <a:t>个子图位置序号</a:t>
            </a:r>
            <a:endParaRPr lang="en-US" altLang="zh-CN" sz="1600" b="0" dirty="0"/>
          </a:p>
        </p:txBody>
      </p:sp>
      <p:sp>
        <p:nvSpPr>
          <p:cNvPr id="14" name="矩形 13">
            <a:extLst>
              <a:ext uri="{FF2B5EF4-FFF2-40B4-BE49-F238E27FC236}">
                <a16:creationId xmlns:a16="http://schemas.microsoft.com/office/drawing/2014/main" id="{653F37E8-4A57-60A9-7F08-F3EC31D2B488}"/>
              </a:ext>
            </a:extLst>
          </p:cNvPr>
          <p:cNvSpPr/>
          <p:nvPr/>
        </p:nvSpPr>
        <p:spPr>
          <a:xfrm>
            <a:off x="206007" y="738546"/>
            <a:ext cx="2375180"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indent="-342900" algn="just" defTabSz="0">
              <a:spcBef>
                <a:spcPts val="0"/>
              </a:spcBef>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ax=subplot(</a:t>
            </a:r>
            <a:r>
              <a:rPr lang="en-US" altLang="zh-CN"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m,n,p</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p>
        </p:txBody>
      </p:sp>
      <p:sp>
        <p:nvSpPr>
          <p:cNvPr id="17" name="文本框 16">
            <a:extLst>
              <a:ext uri="{FF2B5EF4-FFF2-40B4-BE49-F238E27FC236}">
                <a16:creationId xmlns:a16="http://schemas.microsoft.com/office/drawing/2014/main" id="{AF49D0FF-D106-4079-9F2E-47CFCF40F971}"/>
              </a:ext>
            </a:extLst>
          </p:cNvPr>
          <p:cNvSpPr txBox="1"/>
          <p:nvPr/>
        </p:nvSpPr>
        <p:spPr>
          <a:xfrm>
            <a:off x="4561454" y="1650446"/>
            <a:ext cx="1800200" cy="338554"/>
          </a:xfrm>
          <a:prstGeom prst="rect">
            <a:avLst/>
          </a:prstGeom>
          <a:noFill/>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subplot(2,2,1)</a:t>
            </a:r>
            <a:endParaRPr lang="zh-CN" altLang="en-US" sz="1600" dirty="0">
              <a:solidFill>
                <a:srgbClr val="00B0F0"/>
              </a:solidFill>
            </a:endParaRPr>
          </a:p>
        </p:txBody>
      </p:sp>
      <p:sp>
        <p:nvSpPr>
          <p:cNvPr id="18" name="文本框 17">
            <a:extLst>
              <a:ext uri="{FF2B5EF4-FFF2-40B4-BE49-F238E27FC236}">
                <a16:creationId xmlns:a16="http://schemas.microsoft.com/office/drawing/2014/main" id="{1BA54B5A-B393-46B4-B043-BF5C24ECF756}"/>
              </a:ext>
            </a:extLst>
          </p:cNvPr>
          <p:cNvSpPr txBox="1"/>
          <p:nvPr/>
        </p:nvSpPr>
        <p:spPr>
          <a:xfrm>
            <a:off x="7092280" y="1657132"/>
            <a:ext cx="1800200" cy="338554"/>
          </a:xfrm>
          <a:prstGeom prst="rect">
            <a:avLst/>
          </a:prstGeom>
          <a:noFill/>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subplot(2,2,2)</a:t>
            </a:r>
            <a:endParaRPr lang="zh-CN" altLang="en-US" sz="1600" dirty="0">
              <a:solidFill>
                <a:srgbClr val="00B0F0"/>
              </a:solidFill>
            </a:endParaRPr>
          </a:p>
        </p:txBody>
      </p:sp>
      <p:sp>
        <p:nvSpPr>
          <p:cNvPr id="19" name="文本框 18">
            <a:extLst>
              <a:ext uri="{FF2B5EF4-FFF2-40B4-BE49-F238E27FC236}">
                <a16:creationId xmlns:a16="http://schemas.microsoft.com/office/drawing/2014/main" id="{EEB2DFD5-1B19-4D82-B82D-85BDCA6D2194}"/>
              </a:ext>
            </a:extLst>
          </p:cNvPr>
          <p:cNvSpPr txBox="1"/>
          <p:nvPr/>
        </p:nvSpPr>
        <p:spPr>
          <a:xfrm>
            <a:off x="4699866" y="2875092"/>
            <a:ext cx="1800200" cy="338554"/>
          </a:xfrm>
          <a:prstGeom prst="rect">
            <a:avLst/>
          </a:prstGeom>
          <a:noFill/>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subplot(2,2,3)</a:t>
            </a:r>
            <a:endParaRPr lang="zh-CN" altLang="en-US" sz="1600" dirty="0">
              <a:solidFill>
                <a:srgbClr val="00B0F0"/>
              </a:solidFill>
            </a:endParaRPr>
          </a:p>
        </p:txBody>
      </p:sp>
      <p:sp>
        <p:nvSpPr>
          <p:cNvPr id="20" name="文本框 19">
            <a:extLst>
              <a:ext uri="{FF2B5EF4-FFF2-40B4-BE49-F238E27FC236}">
                <a16:creationId xmlns:a16="http://schemas.microsoft.com/office/drawing/2014/main" id="{A0BCEC34-2CFF-416B-85EA-390FF9594657}"/>
              </a:ext>
            </a:extLst>
          </p:cNvPr>
          <p:cNvSpPr txBox="1"/>
          <p:nvPr/>
        </p:nvSpPr>
        <p:spPr>
          <a:xfrm>
            <a:off x="7191552" y="2886004"/>
            <a:ext cx="1800200" cy="338554"/>
          </a:xfrm>
          <a:prstGeom prst="rect">
            <a:avLst/>
          </a:prstGeom>
          <a:noFill/>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subplot(2,2,4)</a:t>
            </a:r>
            <a:endParaRPr lang="zh-CN" altLang="en-US" sz="1600" dirty="0">
              <a:solidFill>
                <a:srgbClr val="00B0F0"/>
              </a:solidFill>
            </a:endParaRPr>
          </a:p>
        </p:txBody>
      </p:sp>
      <p:sp>
        <p:nvSpPr>
          <p:cNvPr id="21" name="文本框 20">
            <a:extLst>
              <a:ext uri="{FF2B5EF4-FFF2-40B4-BE49-F238E27FC236}">
                <a16:creationId xmlns:a16="http://schemas.microsoft.com/office/drawing/2014/main" id="{45975445-9847-4F24-AA84-239D73B0DCFF}"/>
              </a:ext>
            </a:extLst>
          </p:cNvPr>
          <p:cNvSpPr txBox="1"/>
          <p:nvPr/>
        </p:nvSpPr>
        <p:spPr>
          <a:xfrm>
            <a:off x="4528437" y="1147293"/>
            <a:ext cx="1800200" cy="338554"/>
          </a:xfrm>
          <a:prstGeom prst="rect">
            <a:avLst/>
          </a:prstGeom>
          <a:noFill/>
        </p:spPr>
        <p:txBody>
          <a:bodyPr wrap="square">
            <a:spAutoFit/>
          </a:bodyPr>
          <a:lstStyle>
            <a:defPPr>
              <a:defRPr lang="zh-CN"/>
            </a:defPPr>
            <a:lvl1pPr>
              <a:defRPr sz="1600" b="1">
                <a:solidFill>
                  <a:srgbClr val="FF0000"/>
                </a:solidFill>
                <a:latin typeface="微软雅黑" panose="020B0503020204020204" pitchFamily="34" charset="-122"/>
                <a:ea typeface="微软雅黑" panose="020B0503020204020204" pitchFamily="34" charset="-122"/>
              </a:defRPr>
            </a:lvl1pPr>
            <a:lvl2pPr algn="ctr" eaLnBrk="0" hangingPunct="0">
              <a:defRPr sz="4400">
                <a:solidFill>
                  <a:schemeClr val="tx2"/>
                </a:solidFill>
                <a:ea typeface="楷体_GB2312" pitchFamily="49" charset="-122"/>
              </a:defRPr>
            </a:lvl2pPr>
            <a:lvl3pPr algn="ctr" eaLnBrk="0" hangingPunct="0">
              <a:defRPr sz="4400">
                <a:solidFill>
                  <a:schemeClr val="tx2"/>
                </a:solidFill>
                <a:ea typeface="楷体_GB2312" pitchFamily="49" charset="-122"/>
              </a:defRPr>
            </a:lvl3pPr>
            <a:lvl4pPr algn="ctr" eaLnBrk="0" hangingPunct="0">
              <a:defRPr sz="4400">
                <a:solidFill>
                  <a:schemeClr val="tx2"/>
                </a:solidFill>
                <a:ea typeface="楷体_GB2312" pitchFamily="49" charset="-122"/>
              </a:defRPr>
            </a:lvl4pPr>
            <a:lvl5pPr algn="ctr" eaLnBrk="0" hangingPunct="0">
              <a:defRPr sz="4400">
                <a:solidFill>
                  <a:schemeClr val="tx2"/>
                </a:solidFill>
                <a:ea typeface="楷体_GB2312" pitchFamily="49" charset="-122"/>
              </a:defRPr>
            </a:lvl5pPr>
            <a:lvl6pPr marL="457200" algn="ctr" fontAlgn="base">
              <a:spcBef>
                <a:spcPct val="0"/>
              </a:spcBef>
              <a:spcAft>
                <a:spcPct val="0"/>
              </a:spcAft>
              <a:defRPr sz="4400">
                <a:solidFill>
                  <a:schemeClr val="tx2"/>
                </a:solidFill>
                <a:ea typeface="楷体_GB2312" pitchFamily="49" charset="-122"/>
              </a:defRPr>
            </a:lvl6pPr>
            <a:lvl7pPr marL="914400" algn="ctr" fontAlgn="base">
              <a:spcBef>
                <a:spcPct val="0"/>
              </a:spcBef>
              <a:spcAft>
                <a:spcPct val="0"/>
              </a:spcAft>
              <a:defRPr sz="4400">
                <a:solidFill>
                  <a:schemeClr val="tx2"/>
                </a:solidFill>
                <a:ea typeface="楷体_GB2312" pitchFamily="49" charset="-122"/>
              </a:defRPr>
            </a:lvl7pPr>
            <a:lvl8pPr marL="1371600" algn="ctr" fontAlgn="base">
              <a:spcBef>
                <a:spcPct val="0"/>
              </a:spcBef>
              <a:spcAft>
                <a:spcPct val="0"/>
              </a:spcAft>
              <a:defRPr sz="4400">
                <a:solidFill>
                  <a:schemeClr val="tx2"/>
                </a:solidFill>
                <a:ea typeface="楷体_GB2312" pitchFamily="49" charset="-122"/>
              </a:defRPr>
            </a:lvl8pPr>
            <a:lvl9pPr marL="1828800" algn="ctr" fontAlgn="base">
              <a:spcBef>
                <a:spcPct val="0"/>
              </a:spcBef>
              <a:spcAft>
                <a:spcPct val="0"/>
              </a:spcAft>
              <a:defRPr sz="4400">
                <a:solidFill>
                  <a:schemeClr val="tx2"/>
                </a:solidFill>
                <a:ea typeface="楷体_GB2312" pitchFamily="49" charset="-122"/>
              </a:defRPr>
            </a:lvl9pPr>
          </a:lstStyle>
          <a:p>
            <a:r>
              <a:rPr lang="en-US" altLang="zh-CN" b="0" dirty="0">
                <a:sym typeface="Arial" panose="020B0604020202020204" pitchFamily="34" charset="0"/>
              </a:rPr>
              <a:t>subplot(2,2,x)</a:t>
            </a:r>
            <a:endParaRPr lang="zh-CN" altLang="en-US" b="0" dirty="0"/>
          </a:p>
        </p:txBody>
      </p:sp>
      <p:sp>
        <p:nvSpPr>
          <p:cNvPr id="34" name="文本框 33">
            <a:extLst>
              <a:ext uri="{FF2B5EF4-FFF2-40B4-BE49-F238E27FC236}">
                <a16:creationId xmlns:a16="http://schemas.microsoft.com/office/drawing/2014/main" id="{A941B334-3775-41D7-AF46-AF37F273EE62}"/>
              </a:ext>
            </a:extLst>
          </p:cNvPr>
          <p:cNvSpPr txBox="1"/>
          <p:nvPr/>
        </p:nvSpPr>
        <p:spPr>
          <a:xfrm>
            <a:off x="179693" y="49224"/>
            <a:ext cx="7941991" cy="575479"/>
          </a:xfrm>
          <a:prstGeom prst="rect">
            <a:avLst/>
          </a:prstGeom>
          <a:solidFill>
            <a:schemeClr val="bg1"/>
          </a:solidFill>
        </p:spPr>
        <p:txBody>
          <a:bodyPr wrap="square">
            <a:spAutoFit/>
          </a:bodyPr>
          <a:lstStyle/>
          <a:p>
            <a:pPr algn="just">
              <a:lnSpc>
                <a:spcPct val="150000"/>
              </a:lnSpc>
            </a:pPr>
            <a:r>
              <a:rPr lang="zh-CN" altLang="en-US" sz="2400" b="1" dirty="0">
                <a:solidFill>
                  <a:srgbClr val="0070C0"/>
                </a:solidFill>
                <a:latin typeface="黑体" panose="02010609060101010101" pitchFamily="49" charset="-122"/>
                <a:ea typeface="黑体" panose="02010609060101010101" pitchFamily="49" charset="-122"/>
              </a:rPr>
              <a:t>二、</a:t>
            </a:r>
            <a:r>
              <a:rPr lang="zh-CN" altLang="zh-CN" sz="2400" b="1" dirty="0">
                <a:solidFill>
                  <a:srgbClr val="0070C0"/>
                </a:solidFill>
                <a:latin typeface="黑体" panose="02010609060101010101" pitchFamily="49" charset="-122"/>
                <a:ea typeface="黑体" panose="02010609060101010101" pitchFamily="49" charset="-122"/>
              </a:rPr>
              <a:t>上机</a:t>
            </a:r>
            <a:r>
              <a:rPr lang="zh-CN" altLang="en-US" sz="2400" b="1" dirty="0">
                <a:solidFill>
                  <a:srgbClr val="0070C0"/>
                </a:solidFill>
                <a:latin typeface="黑体" panose="02010609060101010101" pitchFamily="49" charset="-122"/>
                <a:ea typeface="黑体" panose="02010609060101010101" pitchFamily="49" charset="-122"/>
              </a:rPr>
              <a:t>练习</a:t>
            </a:r>
            <a:r>
              <a:rPr lang="zh-CN" altLang="zh-CN" sz="2400" b="1" dirty="0">
                <a:solidFill>
                  <a:srgbClr val="0070C0"/>
                </a:solidFill>
                <a:latin typeface="黑体" panose="02010609060101010101" pitchFamily="49" charset="-122"/>
                <a:ea typeface="黑体" panose="02010609060101010101" pitchFamily="49" charset="-122"/>
              </a:rPr>
              <a:t>理论</a:t>
            </a:r>
            <a:r>
              <a:rPr lang="en-US" altLang="zh-CN" sz="2400" dirty="0">
                <a:solidFill>
                  <a:srgbClr val="FF0000"/>
                </a:solidFill>
                <a:latin typeface="华文细黑" pitchFamily="2" charset="-122"/>
                <a:ea typeface="华文细黑" pitchFamily="2" charset="-122"/>
              </a:rPr>
              <a:t>——1.</a:t>
            </a:r>
            <a:r>
              <a:rPr lang="zh-CN" altLang="en-US" sz="2400" dirty="0">
                <a:solidFill>
                  <a:srgbClr val="FF0000"/>
                </a:solidFill>
                <a:latin typeface="华文细黑" pitchFamily="2" charset="-122"/>
                <a:ea typeface="华文细黑" pitchFamily="2" charset="-122"/>
              </a:rPr>
              <a:t> 图窗和坐标调整</a:t>
            </a:r>
            <a:endParaRPr lang="zh-CN" altLang="zh-CN" sz="2400" dirty="0">
              <a:solidFill>
                <a:srgbClr val="FF0000"/>
              </a:solidFill>
              <a:latin typeface="华文细黑" pitchFamily="2" charset="-122"/>
              <a:ea typeface="华文细黑" pitchFamily="2" charset="-122"/>
            </a:endParaRPr>
          </a:p>
        </p:txBody>
      </p:sp>
    </p:spTree>
    <p:extLst>
      <p:ext uri="{BB962C8B-B14F-4D97-AF65-F5344CB8AC3E}">
        <p14:creationId xmlns:p14="http://schemas.microsoft.com/office/powerpoint/2010/main" val="1235143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23EE8EEC-0577-49B1-A944-8D5C768BAA3C}"/>
              </a:ext>
            </a:extLst>
          </p:cNvPr>
          <p:cNvSpPr/>
          <p:nvPr/>
        </p:nvSpPr>
        <p:spPr>
          <a:xfrm>
            <a:off x="98752" y="691009"/>
            <a:ext cx="1685077" cy="353943"/>
          </a:xfrm>
          <a:prstGeom prst="rect">
            <a:avLst/>
          </a:prstGeom>
          <a:solidFill>
            <a:schemeClr val="bg1"/>
          </a:solidFill>
        </p:spPr>
        <p:txBody>
          <a:bodyPr wrap="square">
            <a:spAutoFit/>
          </a:bodyPr>
          <a:lstStyle/>
          <a:p>
            <a:pPr marL="342900" indent="-342900">
              <a:buFont typeface="+mj-ea"/>
              <a:buAutoNum type="circleNumDbPlain"/>
            </a:pPr>
            <a:r>
              <a:rPr lang="zh-CN" altLang="en-US" sz="1700" b="1" dirty="0">
                <a:solidFill>
                  <a:srgbClr val="0070C0"/>
                </a:solidFill>
                <a:latin typeface="微软雅黑" panose="020B0503020204020204" pitchFamily="34" charset="-122"/>
                <a:ea typeface="微软雅黑" panose="020B0503020204020204" pitchFamily="34" charset="-122"/>
              </a:rPr>
              <a:t>三维曲线图</a:t>
            </a:r>
          </a:p>
        </p:txBody>
      </p:sp>
      <p:sp>
        <p:nvSpPr>
          <p:cNvPr id="6" name="矩形 5">
            <a:extLst>
              <a:ext uri="{FF2B5EF4-FFF2-40B4-BE49-F238E27FC236}">
                <a16:creationId xmlns:a16="http://schemas.microsoft.com/office/drawing/2014/main" id="{01A6C7FC-559B-4580-A700-06AE3B2D94F7}"/>
              </a:ext>
            </a:extLst>
          </p:cNvPr>
          <p:cNvSpPr/>
          <p:nvPr/>
        </p:nvSpPr>
        <p:spPr>
          <a:xfrm>
            <a:off x="57543" y="2660366"/>
            <a:ext cx="1249507" cy="353943"/>
          </a:xfrm>
          <a:prstGeom prst="rect">
            <a:avLst/>
          </a:prstGeom>
          <a:solidFill>
            <a:schemeClr val="bg1"/>
          </a:solidFill>
        </p:spPr>
        <p:txBody>
          <a:bodyPr wrap="square">
            <a:spAutoFit/>
          </a:bodyPr>
          <a:lstStyle/>
          <a:p>
            <a:pPr marL="342900" indent="-342900">
              <a:buFont typeface="+mj-ea"/>
              <a:buAutoNum type="circleNumDbPlain" startAt="3"/>
            </a:pPr>
            <a:r>
              <a:rPr lang="zh-CN" altLang="en-US" sz="1700" b="1" dirty="0">
                <a:solidFill>
                  <a:srgbClr val="0070C0"/>
                </a:solidFill>
                <a:latin typeface="微软雅黑" panose="020B0503020204020204" pitchFamily="34" charset="-122"/>
                <a:ea typeface="微软雅黑" panose="020B0503020204020204" pitchFamily="34" charset="-122"/>
              </a:rPr>
              <a:t>网格图</a:t>
            </a:r>
            <a:endParaRPr lang="en-US" altLang="zh-CN" sz="1700" b="1" dirty="0">
              <a:solidFill>
                <a:srgbClr val="0070C0"/>
              </a:solidFill>
              <a:latin typeface="微软雅黑" panose="020B0503020204020204" pitchFamily="34" charset="-122"/>
              <a:ea typeface="微软雅黑" panose="020B0503020204020204" pitchFamily="34" charset="-122"/>
            </a:endParaRPr>
          </a:p>
        </p:txBody>
      </p:sp>
      <p:sp>
        <p:nvSpPr>
          <p:cNvPr id="7" name="Text Box 20">
            <a:extLst>
              <a:ext uri="{FF2B5EF4-FFF2-40B4-BE49-F238E27FC236}">
                <a16:creationId xmlns:a16="http://schemas.microsoft.com/office/drawing/2014/main" id="{3D3B81F3-25B6-4D5A-A84A-142868998178}"/>
              </a:ext>
            </a:extLst>
          </p:cNvPr>
          <p:cNvSpPr txBox="1">
            <a:spLocks noChangeArrowheads="1"/>
          </p:cNvSpPr>
          <p:nvPr/>
        </p:nvSpPr>
        <p:spPr bwMode="auto">
          <a:xfrm>
            <a:off x="3871198" y="729923"/>
            <a:ext cx="1485158"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1600" b="1">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400" dirty="0">
                <a:effectLst/>
              </a:rPr>
              <a:t>plot3(</a:t>
            </a:r>
            <a:r>
              <a:rPr lang="en-US" altLang="zh-CN" sz="1400" dirty="0" err="1">
                <a:effectLst/>
              </a:rPr>
              <a:t>x,y,z</a:t>
            </a:r>
            <a:r>
              <a:rPr lang="en-US" altLang="zh-CN" sz="1400" dirty="0">
                <a:effectLst/>
              </a:rPr>
              <a:t>)</a:t>
            </a:r>
          </a:p>
        </p:txBody>
      </p:sp>
      <p:sp>
        <p:nvSpPr>
          <p:cNvPr id="8" name="矩形 7">
            <a:extLst>
              <a:ext uri="{FF2B5EF4-FFF2-40B4-BE49-F238E27FC236}">
                <a16:creationId xmlns:a16="http://schemas.microsoft.com/office/drawing/2014/main" id="{C5E21C10-ED48-46C7-B5CB-72AE47710509}"/>
              </a:ext>
            </a:extLst>
          </p:cNvPr>
          <p:cNvSpPr/>
          <p:nvPr/>
        </p:nvSpPr>
        <p:spPr>
          <a:xfrm>
            <a:off x="1811851" y="716345"/>
            <a:ext cx="2031325" cy="338554"/>
          </a:xfrm>
          <a:prstGeom prst="rect">
            <a:avLst/>
          </a:prstGeom>
          <a:ln>
            <a:noFill/>
          </a:ln>
        </p:spPr>
        <p:txBody>
          <a:bodyPr wrap="none">
            <a:spAutoFit/>
          </a:bodyPr>
          <a:lstStyle/>
          <a:p>
            <a:r>
              <a:rPr lang="zh-CN" altLang="en-US" sz="1600" dirty="0">
                <a:solidFill>
                  <a:srgbClr val="00B0F0"/>
                </a:solidFill>
                <a:latin typeface="微软雅黑 Light" panose="020B0502040204020203" pitchFamily="34" charset="-122"/>
                <a:ea typeface="微软雅黑 Light" panose="020B0502040204020203" pitchFamily="34" charset="-122"/>
              </a:rPr>
              <a:t>单条曲线，参数方程</a:t>
            </a:r>
          </a:p>
        </p:txBody>
      </p:sp>
      <p:sp>
        <p:nvSpPr>
          <p:cNvPr id="9" name="矩形 8">
            <a:extLst>
              <a:ext uri="{FF2B5EF4-FFF2-40B4-BE49-F238E27FC236}">
                <a16:creationId xmlns:a16="http://schemas.microsoft.com/office/drawing/2014/main" id="{3A86E859-8D66-49F7-91C3-807A6D0BB597}"/>
              </a:ext>
            </a:extLst>
          </p:cNvPr>
          <p:cNvSpPr/>
          <p:nvPr/>
        </p:nvSpPr>
        <p:spPr>
          <a:xfrm>
            <a:off x="3843176" y="1112835"/>
            <a:ext cx="3955139"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plot3(x1,y1,z1,</a:t>
            </a:r>
            <a:r>
              <a:rPr lang="zh-CN" altLang="en-US" sz="1400" b="1" dirty="0">
                <a:solidFill>
                  <a:schemeClr val="bg1"/>
                </a:solidFill>
                <a:latin typeface="隶书" panose="02010509060101010101" pitchFamily="49" charset="-122"/>
                <a:ea typeface="隶书" panose="02010509060101010101" pitchFamily="49" charset="-122"/>
                <a:sym typeface="Arial" panose="020B0604020202020204" pitchFamily="34" charset="0"/>
              </a:rPr>
              <a:t>选项</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a:t>
            </a:r>
            <a:r>
              <a:rPr lang="en-US" altLang="zh-CN" sz="1400" b="1" dirty="0" err="1">
                <a:solidFill>
                  <a:schemeClr val="bg1"/>
                </a:solidFill>
                <a:latin typeface="隶书" panose="02010509060101010101" pitchFamily="49" charset="-122"/>
                <a:ea typeface="隶书" panose="02010509060101010101" pitchFamily="49" charset="-122"/>
                <a:sym typeface="Arial" panose="020B0604020202020204" pitchFamily="34" charset="0"/>
              </a:rPr>
              <a:t>xn,yn,zn</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a:t>
            </a:r>
            <a:r>
              <a:rPr lang="zh-CN" altLang="en-US" sz="1400" b="1" dirty="0">
                <a:solidFill>
                  <a:schemeClr val="bg1"/>
                </a:solidFill>
                <a:latin typeface="隶书" panose="02010509060101010101" pitchFamily="49" charset="-122"/>
                <a:ea typeface="隶书" panose="02010509060101010101" pitchFamily="49" charset="-122"/>
                <a:sym typeface="Arial" panose="020B0604020202020204" pitchFamily="34" charset="0"/>
              </a:rPr>
              <a:t>选项</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n) </a:t>
            </a:r>
          </a:p>
        </p:txBody>
      </p:sp>
      <p:sp>
        <p:nvSpPr>
          <p:cNvPr id="10" name="矩形 9">
            <a:extLst>
              <a:ext uri="{FF2B5EF4-FFF2-40B4-BE49-F238E27FC236}">
                <a16:creationId xmlns:a16="http://schemas.microsoft.com/office/drawing/2014/main" id="{9C5869A0-5EE3-4AE3-BF41-1BC5A20AE448}"/>
              </a:ext>
            </a:extLst>
          </p:cNvPr>
          <p:cNvSpPr/>
          <p:nvPr/>
        </p:nvSpPr>
        <p:spPr>
          <a:xfrm>
            <a:off x="55140" y="1844442"/>
            <a:ext cx="1454244" cy="353943"/>
          </a:xfrm>
          <a:prstGeom prst="rect">
            <a:avLst/>
          </a:prstGeom>
          <a:solidFill>
            <a:schemeClr val="bg1"/>
          </a:solidFill>
        </p:spPr>
        <p:txBody>
          <a:bodyPr wrap="square">
            <a:spAutoFit/>
          </a:bodyPr>
          <a:lstStyle/>
          <a:p>
            <a:pPr marL="342900" indent="-342900">
              <a:buFont typeface="+mj-ea"/>
              <a:buAutoNum type="circleNumDbPlain" startAt="2"/>
            </a:pPr>
            <a:r>
              <a:rPr lang="zh-CN" altLang="en-US" sz="17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网格矩阵</a:t>
            </a:r>
            <a:endParaRPr lang="zh-CN" altLang="en-US" sz="1700" b="1" dirty="0">
              <a:solidFill>
                <a:srgbClr val="0070C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C06AA61-7D6C-4FF8-B61D-2EC7D584E6DE}"/>
              </a:ext>
            </a:extLst>
          </p:cNvPr>
          <p:cNvSpPr/>
          <p:nvPr/>
        </p:nvSpPr>
        <p:spPr>
          <a:xfrm>
            <a:off x="4191831" y="1838739"/>
            <a:ext cx="2074410"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X,Y=meshgrid2(</a:t>
            </a:r>
            <a:r>
              <a:rPr lang="en-US" altLang="zh-CN" sz="1400" b="1" dirty="0" err="1">
                <a:solidFill>
                  <a:schemeClr val="bg1"/>
                </a:solidFill>
                <a:latin typeface="隶书" panose="02010509060101010101" pitchFamily="49" charset="-122"/>
                <a:ea typeface="隶书" panose="02010509060101010101" pitchFamily="49" charset="-122"/>
                <a:sym typeface="Arial" panose="020B0604020202020204" pitchFamily="34" charset="0"/>
              </a:rPr>
              <a:t>x,y</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a:t>
            </a:r>
          </a:p>
        </p:txBody>
      </p:sp>
      <p:sp>
        <p:nvSpPr>
          <p:cNvPr id="12" name="AutoShape 6">
            <a:extLst>
              <a:ext uri="{FF2B5EF4-FFF2-40B4-BE49-F238E27FC236}">
                <a16:creationId xmlns:a16="http://schemas.microsoft.com/office/drawing/2014/main" id="{AD963913-DCAE-411B-9AE4-1A708452A429}"/>
              </a:ext>
            </a:extLst>
          </p:cNvPr>
          <p:cNvSpPr>
            <a:spLocks noChangeArrowheads="1"/>
          </p:cNvSpPr>
          <p:nvPr/>
        </p:nvSpPr>
        <p:spPr bwMode="auto">
          <a:xfrm>
            <a:off x="7087782" y="1806875"/>
            <a:ext cx="1952342" cy="308378"/>
          </a:xfrm>
          <a:prstGeom prst="roundRect">
            <a:avLst>
              <a:gd name="adj" fmla="val 12449"/>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rPr>
              <a:t>X,Y= meshgrid2(x)</a:t>
            </a:r>
          </a:p>
        </p:txBody>
      </p:sp>
      <p:sp>
        <p:nvSpPr>
          <p:cNvPr id="13" name="矩形 12">
            <a:extLst>
              <a:ext uri="{FF2B5EF4-FFF2-40B4-BE49-F238E27FC236}">
                <a16:creationId xmlns:a16="http://schemas.microsoft.com/office/drawing/2014/main" id="{6B14FD42-2CCC-40D5-8A3E-5C62F198B413}"/>
              </a:ext>
            </a:extLst>
          </p:cNvPr>
          <p:cNvSpPr/>
          <p:nvPr/>
        </p:nvSpPr>
        <p:spPr>
          <a:xfrm>
            <a:off x="1322594" y="2720015"/>
            <a:ext cx="1351501"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mesh(X,Y,Z)</a:t>
            </a:r>
          </a:p>
        </p:txBody>
      </p:sp>
      <p:sp>
        <p:nvSpPr>
          <p:cNvPr id="17" name="矩形 16">
            <a:extLst>
              <a:ext uri="{FF2B5EF4-FFF2-40B4-BE49-F238E27FC236}">
                <a16:creationId xmlns:a16="http://schemas.microsoft.com/office/drawing/2014/main" id="{06EF986D-2579-4E25-81C6-38DDA41818E1}"/>
              </a:ext>
            </a:extLst>
          </p:cNvPr>
          <p:cNvSpPr/>
          <p:nvPr/>
        </p:nvSpPr>
        <p:spPr>
          <a:xfrm>
            <a:off x="1434840" y="1847711"/>
            <a:ext cx="2785349" cy="307777"/>
          </a:xfrm>
          <a:prstGeom prst="rect">
            <a:avLst/>
          </a:prstGeom>
        </p:spPr>
        <p:txBody>
          <a:bodyPr wrap="square">
            <a:spAutoFit/>
          </a:bodyPr>
          <a:lstStyle/>
          <a:p>
            <a:pPr eaLnBrk="0" hangingPunct="0">
              <a:defRPr/>
            </a:pPr>
            <a:r>
              <a:rPr lang="zh-CN" altLang="en-US"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线性向量</a:t>
            </a:r>
            <a:r>
              <a:rPr lang="en-US" altLang="zh-CN"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x</a:t>
            </a:r>
            <a:r>
              <a:rPr lang="zh-CN" altLang="en-US"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和</a:t>
            </a:r>
            <a:r>
              <a:rPr lang="en-US" altLang="zh-CN"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y</a:t>
            </a:r>
            <a:r>
              <a:rPr lang="zh-CN" altLang="en-US"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生成</a:t>
            </a:r>
            <a:r>
              <a:rPr lang="en-US" altLang="zh-CN"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X</a:t>
            </a:r>
            <a:r>
              <a:rPr lang="zh-CN" altLang="en-US"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和</a:t>
            </a:r>
            <a:r>
              <a:rPr lang="en-US" altLang="zh-CN"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Y</a:t>
            </a:r>
            <a:r>
              <a:rPr lang="zh-CN" altLang="en-US"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rPr>
              <a:t>网格矩阵</a:t>
            </a:r>
            <a:endParaRPr lang="en-US" altLang="zh-CN" sz="1400" b="1" dirty="0">
              <a:solidFill>
                <a:srgbClr val="00B0F0"/>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18" name="矩形 17">
            <a:extLst>
              <a:ext uri="{FF2B5EF4-FFF2-40B4-BE49-F238E27FC236}">
                <a16:creationId xmlns:a16="http://schemas.microsoft.com/office/drawing/2014/main" id="{702623E5-56E3-4192-8C00-EF562852C685}"/>
              </a:ext>
            </a:extLst>
          </p:cNvPr>
          <p:cNvSpPr/>
          <p:nvPr/>
        </p:nvSpPr>
        <p:spPr>
          <a:xfrm>
            <a:off x="6266241" y="1809112"/>
            <a:ext cx="1083473" cy="276999"/>
          </a:xfrm>
          <a:prstGeom prst="rect">
            <a:avLst/>
          </a:prstGeom>
        </p:spPr>
        <p:txBody>
          <a:bodyPr wrap="square">
            <a:spAutoFit/>
          </a:bodyPr>
          <a:lstStyle/>
          <a:p>
            <a:pPr eaLnBrk="0" hangingPunct="0"/>
            <a:r>
              <a:rPr lang="zh-CN" altLang="en-US" sz="12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当</a:t>
            </a:r>
            <a:r>
              <a:rPr lang="en-US" altLang="zh-CN" sz="12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x=y</a:t>
            </a:r>
            <a:r>
              <a:rPr lang="zh-CN" altLang="en-US" sz="12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时</a:t>
            </a:r>
            <a:endParaRPr lang="en-US" altLang="zh-CN" sz="12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9587AF8B-3811-4C05-B3DE-CE3C552F0DBD}"/>
              </a:ext>
            </a:extLst>
          </p:cNvPr>
          <p:cNvSpPr/>
          <p:nvPr/>
        </p:nvSpPr>
        <p:spPr>
          <a:xfrm>
            <a:off x="2708647" y="2674822"/>
            <a:ext cx="2557778" cy="353943"/>
          </a:xfrm>
          <a:prstGeom prst="rect">
            <a:avLst/>
          </a:prstGeom>
          <a:solidFill>
            <a:schemeClr val="bg1"/>
          </a:solidFill>
        </p:spPr>
        <p:txBody>
          <a:bodyPr wrap="square">
            <a:spAutoFit/>
          </a:bodyPr>
          <a:lstStyle/>
          <a:p>
            <a:pPr marL="342900" indent="-342900">
              <a:buFont typeface="+mj-ea"/>
              <a:buAutoNum type="circleNumDbPlain" startAt="4"/>
            </a:pPr>
            <a:r>
              <a:rPr lang="zh-CN" altLang="en-US" sz="1700" b="1" dirty="0">
                <a:solidFill>
                  <a:srgbClr val="0070C0"/>
                </a:solidFill>
                <a:latin typeface="微软雅黑" panose="020B0503020204020204" pitchFamily="34" charset="-122"/>
                <a:ea typeface="微软雅黑" panose="020B0503020204020204" pitchFamily="34" charset="-122"/>
              </a:rPr>
              <a:t>带等高线的网格图</a:t>
            </a:r>
            <a:r>
              <a:rPr lang="en-US" altLang="zh-CN" sz="1700" b="1" dirty="0">
                <a:solidFill>
                  <a:srgbClr val="0070C0"/>
                </a:solidFill>
                <a:latin typeface="微软雅黑" panose="020B0503020204020204" pitchFamily="34" charset="-122"/>
                <a:ea typeface="微软雅黑" panose="020B0503020204020204" pitchFamily="34" charset="-122"/>
              </a:rPr>
              <a:t> </a:t>
            </a:r>
            <a:endParaRPr lang="zh-CN" altLang="en-US" sz="1700" b="1" dirty="0">
              <a:solidFill>
                <a:srgbClr val="0070C0"/>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DBC8BEF8-E4B8-48D7-A49F-AC9D27EA2615}"/>
              </a:ext>
            </a:extLst>
          </p:cNvPr>
          <p:cNvSpPr/>
          <p:nvPr/>
        </p:nvSpPr>
        <p:spPr>
          <a:xfrm>
            <a:off x="45410" y="3754274"/>
            <a:ext cx="2079390" cy="353943"/>
          </a:xfrm>
          <a:prstGeom prst="rect">
            <a:avLst/>
          </a:prstGeom>
          <a:solidFill>
            <a:schemeClr val="bg1"/>
          </a:solidFill>
        </p:spPr>
        <p:txBody>
          <a:bodyPr wrap="square">
            <a:spAutoFit/>
          </a:bodyPr>
          <a:lstStyle/>
          <a:p>
            <a:pPr marL="342900" indent="-342900">
              <a:buFont typeface="+mj-ea"/>
              <a:buAutoNum type="circleNumDbPlain" startAt="7"/>
            </a:pPr>
            <a:r>
              <a:rPr lang="zh-CN" altLang="en-US" sz="1700" b="1" dirty="0">
                <a:solidFill>
                  <a:srgbClr val="0070C0"/>
                </a:solidFill>
                <a:latin typeface="微软雅黑" panose="020B0503020204020204" pitchFamily="34" charset="-122"/>
                <a:ea typeface="微软雅黑" panose="020B0503020204020204" pitchFamily="34" charset="-122"/>
              </a:rPr>
              <a:t>二维等高线</a:t>
            </a:r>
            <a:r>
              <a:rPr lang="en-US" altLang="zh-CN" sz="1700" b="1" dirty="0">
                <a:solidFill>
                  <a:srgbClr val="0070C0"/>
                </a:solidFill>
                <a:latin typeface="微软雅黑" panose="020B0503020204020204" pitchFamily="34" charset="-122"/>
                <a:ea typeface="微软雅黑" panose="020B0503020204020204" pitchFamily="34" charset="-122"/>
              </a:rPr>
              <a:t>co</a:t>
            </a:r>
            <a:endParaRPr lang="zh-CN" altLang="en-US" sz="1700" b="1" dirty="0">
              <a:solidFill>
                <a:srgbClr val="0070C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4A75E646-4EC0-468E-8845-0C4C369C8D3E}"/>
              </a:ext>
            </a:extLst>
          </p:cNvPr>
          <p:cNvSpPr/>
          <p:nvPr/>
        </p:nvSpPr>
        <p:spPr>
          <a:xfrm>
            <a:off x="6615241" y="3713144"/>
            <a:ext cx="1330654" cy="338554"/>
          </a:xfrm>
          <a:prstGeom prst="rect">
            <a:avLst/>
          </a:prstGeom>
          <a:solidFill>
            <a:schemeClr val="bg1"/>
          </a:solid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等高线标识</a:t>
            </a:r>
          </a:p>
        </p:txBody>
      </p:sp>
      <p:sp>
        <p:nvSpPr>
          <p:cNvPr id="22" name="矩形 21">
            <a:extLst>
              <a:ext uri="{FF2B5EF4-FFF2-40B4-BE49-F238E27FC236}">
                <a16:creationId xmlns:a16="http://schemas.microsoft.com/office/drawing/2014/main" id="{F53C75C6-64E5-4171-B896-6688AE02FD2A}"/>
              </a:ext>
            </a:extLst>
          </p:cNvPr>
          <p:cNvSpPr/>
          <p:nvPr/>
        </p:nvSpPr>
        <p:spPr>
          <a:xfrm>
            <a:off x="52646" y="3205511"/>
            <a:ext cx="1419670" cy="353943"/>
          </a:xfrm>
          <a:prstGeom prst="rect">
            <a:avLst/>
          </a:prstGeom>
          <a:solidFill>
            <a:schemeClr val="bg1"/>
          </a:solidFill>
        </p:spPr>
        <p:txBody>
          <a:bodyPr wrap="square">
            <a:spAutoFit/>
          </a:bodyPr>
          <a:lstStyle/>
          <a:p>
            <a:pPr marL="342900" indent="-342900">
              <a:buFont typeface="+mj-ea"/>
              <a:buAutoNum type="circleNumDbPlain" startAt="5"/>
            </a:pPr>
            <a:r>
              <a:rPr lang="zh-CN" altLang="en-US" sz="1700" b="1" dirty="0">
                <a:solidFill>
                  <a:srgbClr val="0070C0"/>
                </a:solidFill>
                <a:latin typeface="微软雅黑" panose="020B0503020204020204" pitchFamily="34" charset="-122"/>
                <a:ea typeface="微软雅黑" panose="020B0503020204020204" pitchFamily="34" charset="-122"/>
              </a:rPr>
              <a:t>曲面图</a:t>
            </a:r>
            <a:r>
              <a:rPr lang="en-US" altLang="zh-CN" sz="1700" b="1" dirty="0">
                <a:solidFill>
                  <a:srgbClr val="0070C0"/>
                </a:solidFill>
                <a:latin typeface="微软雅黑" panose="020B0503020204020204" pitchFamily="34" charset="-122"/>
                <a:ea typeface="微软雅黑" panose="020B0503020204020204" pitchFamily="34" charset="-122"/>
              </a:rPr>
              <a:t>h</a:t>
            </a:r>
            <a:endParaRPr lang="zh-CN" altLang="en-US" sz="1700" b="1" dirty="0">
              <a:solidFill>
                <a:srgbClr val="0070C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0A83D9DD-7637-4828-9F04-B8BA03165195}"/>
              </a:ext>
            </a:extLst>
          </p:cNvPr>
          <p:cNvSpPr/>
          <p:nvPr/>
        </p:nvSpPr>
        <p:spPr>
          <a:xfrm>
            <a:off x="1316843" y="3233211"/>
            <a:ext cx="1322906"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rPr>
              <a:t>h=surf(</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X,Y,Z</a:t>
            </a:r>
            <a:r>
              <a:rPr lang="en-US" altLang="zh-CN" sz="1400" b="1" dirty="0">
                <a:solidFill>
                  <a:schemeClr val="bg1"/>
                </a:solidFill>
                <a:latin typeface="隶书" panose="02010509060101010101" pitchFamily="49" charset="-122"/>
                <a:ea typeface="隶书" panose="02010509060101010101" pitchFamily="49" charset="-122"/>
              </a:rPr>
              <a:t>)</a:t>
            </a:r>
          </a:p>
        </p:txBody>
      </p:sp>
      <p:sp>
        <p:nvSpPr>
          <p:cNvPr id="24" name="矩形 23">
            <a:extLst>
              <a:ext uri="{FF2B5EF4-FFF2-40B4-BE49-F238E27FC236}">
                <a16:creationId xmlns:a16="http://schemas.microsoft.com/office/drawing/2014/main" id="{940397DD-77FB-4893-BCB6-D904488202ED}"/>
              </a:ext>
            </a:extLst>
          </p:cNvPr>
          <p:cNvSpPr/>
          <p:nvPr/>
        </p:nvSpPr>
        <p:spPr>
          <a:xfrm>
            <a:off x="119437" y="1100004"/>
            <a:ext cx="1685077" cy="369332"/>
          </a:xfrm>
          <a:prstGeom prst="rect">
            <a:avLst/>
          </a:prstGeom>
        </p:spPr>
        <p:txBody>
          <a:bodyPr wrap="none">
            <a:spAutoFit/>
          </a:bodyPr>
          <a:lstStyle/>
          <a:p>
            <a:r>
              <a:rPr lang="en-US" altLang="zh-CN" dirty="0">
                <a:solidFill>
                  <a:srgbClr val="FF0000"/>
                </a:solidFill>
                <a:latin typeface="隶书" panose="02010509060101010101" pitchFamily="49" charset="-122"/>
                <a:ea typeface="隶书" panose="02010509060101010101" pitchFamily="49" charset="-122"/>
              </a:rPr>
              <a:t>x</a:t>
            </a:r>
            <a:r>
              <a:rPr lang="zh-CN" altLang="en-US" dirty="0">
                <a:solidFill>
                  <a:srgbClr val="FF0000"/>
                </a:solidFill>
                <a:latin typeface="隶书" panose="02010509060101010101" pitchFamily="49" charset="-122"/>
                <a:ea typeface="隶书" panose="02010509060101010101" pitchFamily="49" charset="-122"/>
              </a:rPr>
              <a:t>、</a:t>
            </a:r>
            <a:r>
              <a:rPr lang="en-US" altLang="zh-CN" dirty="0">
                <a:solidFill>
                  <a:srgbClr val="FF0000"/>
                </a:solidFill>
                <a:latin typeface="隶书" panose="02010509060101010101" pitchFamily="49" charset="-122"/>
                <a:ea typeface="隶书" panose="02010509060101010101" pitchFamily="49" charset="-122"/>
              </a:rPr>
              <a:t>y</a:t>
            </a:r>
            <a:r>
              <a:rPr lang="zh-CN" altLang="en-US" dirty="0">
                <a:solidFill>
                  <a:srgbClr val="FF0000"/>
                </a:solidFill>
                <a:latin typeface="隶书" panose="02010509060101010101" pitchFamily="49" charset="-122"/>
                <a:ea typeface="隶书" panose="02010509060101010101" pitchFamily="49" charset="-122"/>
              </a:rPr>
              <a:t>和</a:t>
            </a:r>
            <a:r>
              <a:rPr lang="en-US" altLang="zh-CN" dirty="0">
                <a:solidFill>
                  <a:srgbClr val="FF0000"/>
                </a:solidFill>
                <a:latin typeface="隶书" panose="02010509060101010101" pitchFamily="49" charset="-122"/>
                <a:ea typeface="隶书" panose="02010509060101010101" pitchFamily="49" charset="-122"/>
              </a:rPr>
              <a:t>z</a:t>
            </a:r>
            <a:r>
              <a:rPr lang="zh-CN" altLang="en-US" dirty="0">
                <a:solidFill>
                  <a:srgbClr val="FF0000"/>
                </a:solidFill>
                <a:latin typeface="隶书" panose="02010509060101010101" pitchFamily="49" charset="-122"/>
                <a:ea typeface="隶书" panose="02010509060101010101" pitchFamily="49" charset="-122"/>
              </a:rPr>
              <a:t>轴数据</a:t>
            </a:r>
          </a:p>
        </p:txBody>
      </p:sp>
      <p:sp>
        <p:nvSpPr>
          <p:cNvPr id="25" name="矩形 24">
            <a:extLst>
              <a:ext uri="{FF2B5EF4-FFF2-40B4-BE49-F238E27FC236}">
                <a16:creationId xmlns:a16="http://schemas.microsoft.com/office/drawing/2014/main" id="{53A72134-7AF5-4C86-BB17-8EEE82FB2B37}"/>
              </a:ext>
            </a:extLst>
          </p:cNvPr>
          <p:cNvSpPr/>
          <p:nvPr/>
        </p:nvSpPr>
        <p:spPr>
          <a:xfrm>
            <a:off x="140122" y="1361471"/>
            <a:ext cx="9003877" cy="418191"/>
          </a:xfrm>
          <a:prstGeom prst="rect">
            <a:avLst/>
          </a:prstGeom>
          <a:noFill/>
        </p:spPr>
        <p:txBody>
          <a:bodyPr wrap="square">
            <a:spAutoFit/>
          </a:bodyPr>
          <a:lstStyle/>
          <a:p>
            <a:pPr algn="dist" eaLnBrk="0" hangingPunct="0">
              <a:lnSpc>
                <a:spcPct val="150000"/>
              </a:lnSpc>
              <a:defRPr/>
            </a:pPr>
            <a:r>
              <a:rPr lang="en-US" altLang="zh-CN"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mesh\surf\contour</a:t>
            </a:r>
            <a:r>
              <a:rPr lang="zh-CN" altLang="en-US"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等绘制三维图形的输入参数为</a:t>
            </a:r>
            <a:r>
              <a:rPr lang="en-US" altLang="zh-CN"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X</a:t>
            </a:r>
            <a:r>
              <a:rPr lang="zh-CN" altLang="en-US"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Z</a:t>
            </a:r>
            <a:r>
              <a:rPr lang="zh-CN" altLang="en-US"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网格矩阵</a:t>
            </a:r>
            <a:endParaRPr lang="en-US" altLang="zh-CN" sz="16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a:extLst>
              <a:ext uri="{FF2B5EF4-FFF2-40B4-BE49-F238E27FC236}">
                <a16:creationId xmlns:a16="http://schemas.microsoft.com/office/drawing/2014/main" id="{EE629BDA-BD67-4DB3-83CF-C990E1B57452}"/>
              </a:ext>
            </a:extLst>
          </p:cNvPr>
          <p:cNvSpPr/>
          <p:nvPr/>
        </p:nvSpPr>
        <p:spPr>
          <a:xfrm>
            <a:off x="1783829" y="1102979"/>
            <a:ext cx="2031325" cy="338554"/>
          </a:xfrm>
          <a:prstGeom prst="rect">
            <a:avLst/>
          </a:prstGeom>
          <a:ln>
            <a:noFill/>
          </a:ln>
        </p:spPr>
        <p:txBody>
          <a:bodyPr wrap="none">
            <a:spAutoFit/>
          </a:bodyPr>
          <a:lstStyle/>
          <a:p>
            <a:r>
              <a:rPr lang="zh-CN" altLang="en-US" sz="1600" dirty="0">
                <a:solidFill>
                  <a:srgbClr val="00B0F0"/>
                </a:solidFill>
                <a:latin typeface="微软雅黑 Light" panose="020B0502040204020203" pitchFamily="34" charset="-122"/>
                <a:ea typeface="微软雅黑 Light" panose="020B0502040204020203" pitchFamily="34" charset="-122"/>
              </a:rPr>
              <a:t>多条曲线，参数方程</a:t>
            </a:r>
          </a:p>
        </p:txBody>
      </p:sp>
      <p:sp>
        <p:nvSpPr>
          <p:cNvPr id="28" name="文本框 27">
            <a:extLst>
              <a:ext uri="{FF2B5EF4-FFF2-40B4-BE49-F238E27FC236}">
                <a16:creationId xmlns:a16="http://schemas.microsoft.com/office/drawing/2014/main" id="{9436FA17-B067-40D7-B1BA-5AE344869944}"/>
              </a:ext>
            </a:extLst>
          </p:cNvPr>
          <p:cNvSpPr txBox="1"/>
          <p:nvPr/>
        </p:nvSpPr>
        <p:spPr>
          <a:xfrm>
            <a:off x="4369204" y="3713108"/>
            <a:ext cx="2324385" cy="338554"/>
          </a:xfrm>
          <a:prstGeom prst="rect">
            <a:avLst/>
          </a:prstGeom>
          <a:noFill/>
        </p:spPr>
        <p:txBody>
          <a:bodyPr wrap="square">
            <a:spAutoFit/>
          </a:bodyPr>
          <a:lstStyle/>
          <a:p>
            <a:r>
              <a:rPr lang="en-US" altLang="zh-CN" sz="1600" dirty="0">
                <a:solidFill>
                  <a:srgbClr val="002060"/>
                </a:solidFill>
                <a:latin typeface="华文楷体" panose="02010600040101010101" pitchFamily="2" charset="-122"/>
                <a:ea typeface="华文楷体" panose="02010600040101010101" pitchFamily="2" charset="-122"/>
              </a:rPr>
              <a:t>levels</a:t>
            </a:r>
            <a:r>
              <a:rPr lang="zh-CN" altLang="en-US" sz="1600" dirty="0">
                <a:solidFill>
                  <a:srgbClr val="002060"/>
                </a:solidFill>
                <a:latin typeface="华文楷体" panose="02010600040101010101" pitchFamily="2" charset="-122"/>
                <a:ea typeface="华文楷体" panose="02010600040101010101" pitchFamily="2" charset="-122"/>
              </a:rPr>
              <a:t>为等高线数量</a:t>
            </a:r>
            <a:r>
              <a:rPr lang="en-US" altLang="zh-CN" sz="1600" dirty="0">
                <a:solidFill>
                  <a:srgbClr val="002060"/>
                </a:solidFill>
                <a:latin typeface="华文楷体" panose="02010600040101010101" pitchFamily="2" charset="-122"/>
                <a:ea typeface="华文楷体" panose="02010600040101010101" pitchFamily="2" charset="-122"/>
              </a:rPr>
              <a:t>,</a:t>
            </a:r>
            <a:r>
              <a:rPr lang="zh-CN" altLang="en-US" sz="1600" dirty="0">
                <a:solidFill>
                  <a:srgbClr val="002060"/>
                </a:solidFill>
                <a:latin typeface="华文楷体" panose="02010600040101010101" pitchFamily="2" charset="-122"/>
                <a:ea typeface="华文楷体" panose="02010600040101010101" pitchFamily="2" charset="-122"/>
              </a:rPr>
              <a:t>省略</a:t>
            </a:r>
            <a:endParaRPr lang="zh-CN" altLang="en-US" sz="1600" dirty="0"/>
          </a:p>
        </p:txBody>
      </p:sp>
      <p:sp>
        <p:nvSpPr>
          <p:cNvPr id="31" name="矩形 30">
            <a:extLst>
              <a:ext uri="{FF2B5EF4-FFF2-40B4-BE49-F238E27FC236}">
                <a16:creationId xmlns:a16="http://schemas.microsoft.com/office/drawing/2014/main" id="{8169A4A3-784C-4402-9A2B-DE54C602D591}"/>
              </a:ext>
            </a:extLst>
          </p:cNvPr>
          <p:cNvSpPr/>
          <p:nvPr/>
        </p:nvSpPr>
        <p:spPr>
          <a:xfrm>
            <a:off x="35496" y="4245227"/>
            <a:ext cx="1915909" cy="353943"/>
          </a:xfrm>
          <a:prstGeom prst="rect">
            <a:avLst/>
          </a:prstGeom>
          <a:solidFill>
            <a:schemeClr val="bg1"/>
          </a:solidFill>
        </p:spPr>
        <p:txBody>
          <a:bodyPr wrap="square">
            <a:spAutoFit/>
          </a:bodyPr>
          <a:lstStyle/>
          <a:p>
            <a:pPr marL="342900" indent="-342900">
              <a:buFont typeface="+mj-ea"/>
              <a:buAutoNum type="circleNumDbPlain" startAt="8"/>
            </a:pPr>
            <a:r>
              <a:rPr lang="zh-CN" altLang="en-US" sz="1700" b="1" dirty="0">
                <a:solidFill>
                  <a:srgbClr val="0070C0"/>
                </a:solidFill>
                <a:latin typeface="微软雅黑" panose="020B0503020204020204" pitchFamily="34" charset="-122"/>
                <a:ea typeface="微软雅黑" panose="020B0503020204020204" pitchFamily="34" charset="-122"/>
              </a:rPr>
              <a:t>三维等高线</a:t>
            </a:r>
          </a:p>
        </p:txBody>
      </p:sp>
      <p:sp>
        <p:nvSpPr>
          <p:cNvPr id="14" name="矩形 13">
            <a:extLst>
              <a:ext uri="{FF2B5EF4-FFF2-40B4-BE49-F238E27FC236}">
                <a16:creationId xmlns:a16="http://schemas.microsoft.com/office/drawing/2014/main" id="{A0966114-64A6-4EF1-9761-4F4D5EC60C49}"/>
              </a:ext>
            </a:extLst>
          </p:cNvPr>
          <p:cNvSpPr/>
          <p:nvPr/>
        </p:nvSpPr>
        <p:spPr>
          <a:xfrm>
            <a:off x="5165845" y="2706801"/>
            <a:ext cx="1350371"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err="1">
                <a:solidFill>
                  <a:schemeClr val="bg1"/>
                </a:solidFill>
                <a:latin typeface="隶书" panose="02010509060101010101" pitchFamily="49" charset="-122"/>
                <a:ea typeface="隶书" panose="02010509060101010101" pitchFamily="49" charset="-122"/>
              </a:rPr>
              <a:t>meshc</a:t>
            </a:r>
            <a:r>
              <a:rPr lang="en-US" altLang="zh-CN" sz="1400" b="1" dirty="0">
                <a:solidFill>
                  <a:schemeClr val="bg1"/>
                </a:solidFill>
                <a:latin typeface="隶书" panose="02010509060101010101" pitchFamily="49" charset="-122"/>
                <a:ea typeface="隶书" panose="02010509060101010101" pitchFamily="49" charset="-122"/>
              </a:rPr>
              <a:t>(</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X,Y,Z</a:t>
            </a:r>
            <a:r>
              <a:rPr lang="en-US" altLang="zh-CN" sz="1400" b="1" dirty="0">
                <a:solidFill>
                  <a:schemeClr val="bg1"/>
                </a:solidFill>
                <a:latin typeface="隶书" panose="02010509060101010101" pitchFamily="49" charset="-122"/>
                <a:ea typeface="隶书" panose="02010509060101010101" pitchFamily="49" charset="-122"/>
              </a:rPr>
              <a:t>)</a:t>
            </a:r>
          </a:p>
        </p:txBody>
      </p:sp>
      <p:pic>
        <p:nvPicPr>
          <p:cNvPr id="3" name="图片 2">
            <a:extLst>
              <a:ext uri="{FF2B5EF4-FFF2-40B4-BE49-F238E27FC236}">
                <a16:creationId xmlns:a16="http://schemas.microsoft.com/office/drawing/2014/main" id="{C771B84A-CB2F-4841-8F3F-272B932C952F}"/>
              </a:ext>
            </a:extLst>
          </p:cNvPr>
          <p:cNvPicPr>
            <a:picLocks noChangeAspect="1"/>
          </p:cNvPicPr>
          <p:nvPr/>
        </p:nvPicPr>
        <p:blipFill rotWithShape="1">
          <a:blip r:embed="rId3"/>
          <a:srcRect t="16265"/>
          <a:stretch/>
        </p:blipFill>
        <p:spPr>
          <a:xfrm>
            <a:off x="7084154" y="2350668"/>
            <a:ext cx="1952342" cy="1296912"/>
          </a:xfrm>
          <a:prstGeom prst="rect">
            <a:avLst/>
          </a:prstGeom>
        </p:spPr>
      </p:pic>
      <p:sp>
        <p:nvSpPr>
          <p:cNvPr id="49" name="文本框 48">
            <a:extLst>
              <a:ext uri="{FF2B5EF4-FFF2-40B4-BE49-F238E27FC236}">
                <a16:creationId xmlns:a16="http://schemas.microsoft.com/office/drawing/2014/main" id="{DEDEB3CB-1B1E-4621-AD72-7F833826758E}"/>
              </a:ext>
            </a:extLst>
          </p:cNvPr>
          <p:cNvSpPr txBox="1"/>
          <p:nvPr/>
        </p:nvSpPr>
        <p:spPr>
          <a:xfrm>
            <a:off x="1434840" y="2210144"/>
            <a:ext cx="2744701" cy="338554"/>
          </a:xfrm>
          <a:prstGeom prst="rect">
            <a:avLst/>
          </a:prstGeom>
          <a:noFill/>
        </p:spPr>
        <p:txBody>
          <a:bodyPr wrap="square">
            <a:spAutoFit/>
          </a:bodyPr>
          <a:lstStyle/>
          <a:p>
            <a:r>
              <a:rPr lang="zh-CN" altLang="en-US" sz="1600" b="1" dirty="0">
                <a:solidFill>
                  <a:srgbClr val="FF0000"/>
                </a:solidFill>
                <a:latin typeface="微软雅黑 Light" panose="020B0502040204020203" pitchFamily="34" charset="-122"/>
                <a:ea typeface="微软雅黑 Light" panose="020B0502040204020203" pitchFamily="34" charset="-122"/>
                <a:sym typeface="+mn-ea"/>
              </a:rPr>
              <a:t>点运算</a:t>
            </a:r>
            <a:r>
              <a:rPr lang="zh-CN" altLang="en-US" sz="1600" b="1" dirty="0">
                <a:solidFill>
                  <a:srgbClr val="00B0F0"/>
                </a:solidFill>
                <a:latin typeface="微软雅黑 Light" panose="020B0502040204020203" pitchFamily="34" charset="-122"/>
                <a:ea typeface="微软雅黑 Light" panose="020B0502040204020203" pitchFamily="34" charset="-122"/>
                <a:sym typeface="+mn-ea"/>
              </a:rPr>
              <a:t>计算高度</a:t>
            </a:r>
            <a:r>
              <a:rPr lang="en-US" altLang="zh-CN" sz="1600" b="1" dirty="0">
                <a:solidFill>
                  <a:srgbClr val="00B0F0"/>
                </a:solidFill>
                <a:latin typeface="微软雅黑 Light" panose="020B0502040204020203" pitchFamily="34" charset="-122"/>
                <a:ea typeface="微软雅黑 Light" panose="020B0502040204020203" pitchFamily="34" charset="-122"/>
                <a:sym typeface="+mn-ea"/>
              </a:rPr>
              <a:t>Z</a:t>
            </a:r>
            <a:r>
              <a:rPr lang="zh-CN" altLang="en-US" sz="1600" b="1" dirty="0">
                <a:solidFill>
                  <a:srgbClr val="00B0F0"/>
                </a:solidFill>
                <a:latin typeface="微软雅黑 Light" panose="020B0502040204020203" pitchFamily="34" charset="-122"/>
                <a:ea typeface="微软雅黑 Light" panose="020B0502040204020203" pitchFamily="34" charset="-122"/>
                <a:sym typeface="+mn-ea"/>
              </a:rPr>
              <a:t>网格矩阵：</a:t>
            </a:r>
            <a:endParaRPr lang="zh-CN" altLang="en-US" sz="1600" dirty="0">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E647276F-C1E0-4954-8D0D-3415C0CB1DDC}"/>
              </a:ext>
            </a:extLst>
          </p:cNvPr>
          <p:cNvSpPr txBox="1"/>
          <p:nvPr/>
        </p:nvSpPr>
        <p:spPr>
          <a:xfrm>
            <a:off x="4051085" y="2221681"/>
            <a:ext cx="1167198"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1600" b="1">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400" dirty="0">
                <a:effectLst/>
                <a:sym typeface="+mn-ea"/>
              </a:rPr>
              <a:t>Z=f.(X,Y)</a:t>
            </a:r>
            <a:endParaRPr lang="zh-CN" altLang="en-US" sz="1400" dirty="0">
              <a:effectLst/>
            </a:endParaRPr>
          </a:p>
        </p:txBody>
      </p:sp>
      <p:sp>
        <p:nvSpPr>
          <p:cNvPr id="29" name="Rectangle 2">
            <a:extLst>
              <a:ext uri="{FF2B5EF4-FFF2-40B4-BE49-F238E27FC236}">
                <a16:creationId xmlns:a16="http://schemas.microsoft.com/office/drawing/2014/main" id="{70895C9F-40E1-4844-8511-035EF3715D00}"/>
              </a:ext>
            </a:extLst>
          </p:cNvPr>
          <p:cNvSpPr>
            <a:spLocks noChangeArrowheads="1"/>
          </p:cNvSpPr>
          <p:nvPr/>
        </p:nvSpPr>
        <p:spPr bwMode="auto">
          <a:xfrm>
            <a:off x="1718702" y="4245919"/>
            <a:ext cx="2277234"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rPr>
              <a:t>contour3</a:t>
            </a:r>
            <a:r>
              <a:rPr lang="zh-CN" altLang="zh-CN" sz="1400" b="1" dirty="0">
                <a:solidFill>
                  <a:schemeClr val="bg1"/>
                </a:solidFill>
                <a:latin typeface="隶书" panose="02010509060101010101" pitchFamily="49" charset="-122"/>
                <a:ea typeface="隶书" panose="02010509060101010101" pitchFamily="49" charset="-122"/>
              </a:rPr>
              <a:t>(</a:t>
            </a:r>
            <a:r>
              <a:rPr lang="en-US" altLang="zh-CN" sz="1400" b="1" dirty="0">
                <a:solidFill>
                  <a:schemeClr val="bg1"/>
                </a:solidFill>
                <a:latin typeface="隶书" panose="02010509060101010101" pitchFamily="49" charset="-122"/>
                <a:ea typeface="隶书" panose="02010509060101010101" pitchFamily="49" charset="-122"/>
              </a:rPr>
              <a:t>X,Y,Z</a:t>
            </a:r>
            <a:r>
              <a:rPr lang="zh-CN" altLang="zh-CN" sz="1400" b="1" dirty="0">
                <a:solidFill>
                  <a:schemeClr val="bg1"/>
                </a:solidFill>
                <a:latin typeface="隶书" panose="02010509060101010101" pitchFamily="49" charset="-122"/>
                <a:ea typeface="隶书" panose="02010509060101010101" pitchFamily="49" charset="-122"/>
              </a:rPr>
              <a:t>) </a:t>
            </a:r>
          </a:p>
        </p:txBody>
      </p:sp>
      <p:sp>
        <p:nvSpPr>
          <p:cNvPr id="55" name="文本框 54">
            <a:extLst>
              <a:ext uri="{FF2B5EF4-FFF2-40B4-BE49-F238E27FC236}">
                <a16:creationId xmlns:a16="http://schemas.microsoft.com/office/drawing/2014/main" id="{AD412044-7B02-4919-AFBD-873BFB384A86}"/>
              </a:ext>
            </a:extLst>
          </p:cNvPr>
          <p:cNvSpPr txBox="1"/>
          <p:nvPr/>
        </p:nvSpPr>
        <p:spPr>
          <a:xfrm>
            <a:off x="7463287" y="3106426"/>
            <a:ext cx="1201332" cy="276999"/>
          </a:xfrm>
          <a:prstGeom prst="rect">
            <a:avLst/>
          </a:prstGeom>
          <a:solidFill>
            <a:srgbClr val="FF0000">
              <a:alpha val="54000"/>
            </a:srgbClr>
          </a:solidFill>
        </p:spPr>
        <p:txBody>
          <a:bodyPr wrap="square">
            <a:spAutoFit/>
          </a:bodyPr>
          <a:lstStyle/>
          <a:p>
            <a:pPr algn="dist"/>
            <a:r>
              <a:rPr lang="en-US" altLang="zh-CN" sz="1200" b="1"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X</a:t>
            </a:r>
            <a:r>
              <a:rPr lang="zh-CN" altLang="en-US" sz="1200" b="1"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和</a:t>
            </a:r>
            <a:r>
              <a:rPr lang="en-US" altLang="zh-CN" sz="1200" b="1" dirty="0" err="1">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Yy</a:t>
            </a:r>
            <a:r>
              <a:rPr lang="zh-CN" altLang="en-US" sz="1200" b="1"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网格矩阵</a:t>
            </a:r>
            <a:endParaRPr lang="zh-CN" altLang="en-US" sz="1200" dirty="0">
              <a:solidFill>
                <a:schemeClr val="bg1"/>
              </a:solidFill>
            </a:endParaRPr>
          </a:p>
        </p:txBody>
      </p:sp>
      <p:sp>
        <p:nvSpPr>
          <p:cNvPr id="56" name="文本框 55">
            <a:extLst>
              <a:ext uri="{FF2B5EF4-FFF2-40B4-BE49-F238E27FC236}">
                <a16:creationId xmlns:a16="http://schemas.microsoft.com/office/drawing/2014/main" id="{15C2B6A1-3155-4F22-B08D-CEFC675A0A81}"/>
              </a:ext>
            </a:extLst>
          </p:cNvPr>
          <p:cNvSpPr txBox="1"/>
          <p:nvPr/>
        </p:nvSpPr>
        <p:spPr>
          <a:xfrm>
            <a:off x="7454687" y="2316407"/>
            <a:ext cx="1201332" cy="276999"/>
          </a:xfrm>
          <a:prstGeom prst="rect">
            <a:avLst/>
          </a:prstGeom>
          <a:solidFill>
            <a:srgbClr val="0070C0">
              <a:alpha val="54000"/>
            </a:srgbClr>
          </a:solidFill>
        </p:spPr>
        <p:txBody>
          <a:bodyPr wrap="square">
            <a:spAutoFit/>
          </a:bodyPr>
          <a:lstStyle/>
          <a:p>
            <a:pPr algn="dist"/>
            <a:r>
              <a:rPr lang="en-US" altLang="zh-CN" sz="1200" b="1"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Z</a:t>
            </a:r>
            <a:r>
              <a:rPr lang="zh-CN" altLang="en-US" sz="1200" b="1"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高度网格矩阵</a:t>
            </a:r>
            <a:endParaRPr lang="zh-CN" altLang="en-US" sz="1200" dirty="0">
              <a:solidFill>
                <a:schemeClr val="bg1"/>
              </a:solidFill>
            </a:endParaRPr>
          </a:p>
        </p:txBody>
      </p:sp>
      <p:sp>
        <p:nvSpPr>
          <p:cNvPr id="57" name="矩形 56">
            <a:extLst>
              <a:ext uri="{FF2B5EF4-FFF2-40B4-BE49-F238E27FC236}">
                <a16:creationId xmlns:a16="http://schemas.microsoft.com/office/drawing/2014/main" id="{864B70AE-6129-477F-B6A0-9FD41ACCC9ED}"/>
              </a:ext>
            </a:extLst>
          </p:cNvPr>
          <p:cNvSpPr/>
          <p:nvPr/>
        </p:nvSpPr>
        <p:spPr>
          <a:xfrm>
            <a:off x="2766218" y="3165888"/>
            <a:ext cx="2557778" cy="353943"/>
          </a:xfrm>
          <a:prstGeom prst="rect">
            <a:avLst/>
          </a:prstGeom>
          <a:solidFill>
            <a:schemeClr val="bg1"/>
          </a:solidFill>
        </p:spPr>
        <p:txBody>
          <a:bodyPr wrap="square">
            <a:spAutoFit/>
          </a:bodyPr>
          <a:lstStyle/>
          <a:p>
            <a:pPr marL="342900" indent="-342900">
              <a:buFont typeface="+mj-ea"/>
              <a:buAutoNum type="circleNumDbPlain" startAt="6"/>
            </a:pPr>
            <a:r>
              <a:rPr lang="zh-CN" altLang="en-US" sz="1700" b="1" dirty="0">
                <a:solidFill>
                  <a:srgbClr val="0070C0"/>
                </a:solidFill>
                <a:latin typeface="微软雅黑" panose="020B0503020204020204" pitchFamily="34" charset="-122"/>
                <a:ea typeface="微软雅黑" panose="020B0503020204020204" pitchFamily="34" charset="-122"/>
              </a:rPr>
              <a:t>带等高线的曲面图</a:t>
            </a:r>
            <a:r>
              <a:rPr lang="en-US" altLang="zh-CN" sz="1700" b="1" dirty="0">
                <a:solidFill>
                  <a:srgbClr val="0070C0"/>
                </a:solidFill>
                <a:latin typeface="微软雅黑" panose="020B0503020204020204" pitchFamily="34" charset="-122"/>
                <a:ea typeface="微软雅黑" panose="020B0503020204020204" pitchFamily="34" charset="-122"/>
              </a:rPr>
              <a:t>h </a:t>
            </a:r>
            <a:endParaRPr lang="zh-CN" altLang="en-US" sz="1700" b="1" dirty="0">
              <a:solidFill>
                <a:srgbClr val="0070C0"/>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43F8C635-81F4-45EC-938D-1F6DD8C2E501}"/>
              </a:ext>
            </a:extLst>
          </p:cNvPr>
          <p:cNvSpPr/>
          <p:nvPr/>
        </p:nvSpPr>
        <p:spPr>
          <a:xfrm>
            <a:off x="5139853" y="3189167"/>
            <a:ext cx="1553736"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rPr>
              <a:t>h=</a:t>
            </a:r>
            <a:r>
              <a:rPr lang="en-US" altLang="zh-CN" sz="1400" b="1" dirty="0" err="1">
                <a:solidFill>
                  <a:schemeClr val="bg1"/>
                </a:solidFill>
                <a:latin typeface="隶书" panose="02010509060101010101" pitchFamily="49" charset="-122"/>
                <a:ea typeface="隶书" panose="02010509060101010101" pitchFamily="49" charset="-122"/>
              </a:rPr>
              <a:t>surfc</a:t>
            </a:r>
            <a:r>
              <a:rPr lang="en-US" altLang="zh-CN" sz="1400" b="1" dirty="0">
                <a:solidFill>
                  <a:schemeClr val="bg1"/>
                </a:solidFill>
                <a:latin typeface="隶书" panose="02010509060101010101" pitchFamily="49" charset="-122"/>
                <a:ea typeface="隶书" panose="02010509060101010101" pitchFamily="49" charset="-122"/>
              </a:rPr>
              <a:t>(</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X,Y,Z</a:t>
            </a:r>
            <a:r>
              <a:rPr lang="en-US" altLang="zh-CN" sz="1400" b="1" dirty="0">
                <a:solidFill>
                  <a:schemeClr val="bg1"/>
                </a:solidFill>
                <a:latin typeface="隶书" panose="02010509060101010101" pitchFamily="49" charset="-122"/>
                <a:ea typeface="隶书" panose="02010509060101010101" pitchFamily="49" charset="-122"/>
              </a:rPr>
              <a:t>)</a:t>
            </a:r>
          </a:p>
        </p:txBody>
      </p:sp>
      <p:sp>
        <p:nvSpPr>
          <p:cNvPr id="15" name="矩形 14">
            <a:extLst>
              <a:ext uri="{FF2B5EF4-FFF2-40B4-BE49-F238E27FC236}">
                <a16:creationId xmlns:a16="http://schemas.microsoft.com/office/drawing/2014/main" id="{9DECAB2D-07C7-4EF3-99D0-823E809CE96F}"/>
              </a:ext>
            </a:extLst>
          </p:cNvPr>
          <p:cNvSpPr/>
          <p:nvPr/>
        </p:nvSpPr>
        <p:spPr>
          <a:xfrm>
            <a:off x="1905423" y="3765430"/>
            <a:ext cx="2557777"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latin typeface="隶书" panose="02010509060101010101" pitchFamily="49" charset="-122"/>
                <a:ea typeface="隶书" panose="02010509060101010101" pitchFamily="49" charset="-122"/>
              </a:rPr>
              <a:t>Co=contour(</a:t>
            </a:r>
            <a:r>
              <a:rPr lang="en-US" altLang="zh-CN" sz="1400" b="1" dirty="0" err="1">
                <a:solidFill>
                  <a:schemeClr val="bg1"/>
                </a:solidFill>
                <a:latin typeface="隶书" panose="02010509060101010101" pitchFamily="49" charset="-122"/>
                <a:ea typeface="隶书" panose="02010509060101010101" pitchFamily="49" charset="-122"/>
                <a:sym typeface="Arial" panose="020B0604020202020204" pitchFamily="34" charset="0"/>
              </a:rPr>
              <a:t>X,Y,Z</a:t>
            </a:r>
            <a:r>
              <a:rPr lang="en-US" altLang="zh-CN" sz="1400" b="1" dirty="0" err="1">
                <a:solidFill>
                  <a:schemeClr val="bg1"/>
                </a:solidFill>
                <a:latin typeface="隶书" panose="02010509060101010101" pitchFamily="49" charset="-122"/>
                <a:ea typeface="隶书" panose="02010509060101010101" pitchFamily="49" charset="-122"/>
              </a:rPr>
              <a:t>,levels</a:t>
            </a:r>
            <a:r>
              <a:rPr lang="en-US" altLang="zh-CN" sz="1400" b="1" dirty="0">
                <a:solidFill>
                  <a:schemeClr val="bg1"/>
                </a:solidFill>
                <a:latin typeface="隶书" panose="02010509060101010101" pitchFamily="49" charset="-122"/>
                <a:ea typeface="隶书" panose="02010509060101010101" pitchFamily="49" charset="-122"/>
              </a:rPr>
              <a:t>)</a:t>
            </a:r>
          </a:p>
        </p:txBody>
      </p:sp>
      <p:sp>
        <p:nvSpPr>
          <p:cNvPr id="16" name="矩形 15">
            <a:extLst>
              <a:ext uri="{FF2B5EF4-FFF2-40B4-BE49-F238E27FC236}">
                <a16:creationId xmlns:a16="http://schemas.microsoft.com/office/drawing/2014/main" id="{B63DE004-7EAA-4BB1-BF31-E1C037766762}"/>
              </a:ext>
            </a:extLst>
          </p:cNvPr>
          <p:cNvSpPr/>
          <p:nvPr/>
        </p:nvSpPr>
        <p:spPr>
          <a:xfrm>
            <a:off x="7866074" y="3769095"/>
            <a:ext cx="1170422"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4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mn-ea"/>
              </a:rPr>
              <a:t>clabel(Co) </a:t>
            </a:r>
          </a:p>
        </p:txBody>
      </p:sp>
      <p:sp>
        <p:nvSpPr>
          <p:cNvPr id="35" name="文本框 34">
            <a:extLst>
              <a:ext uri="{FF2B5EF4-FFF2-40B4-BE49-F238E27FC236}">
                <a16:creationId xmlns:a16="http://schemas.microsoft.com/office/drawing/2014/main" id="{C522C21B-4F24-442F-A06D-E128316BFD29}"/>
              </a:ext>
            </a:extLst>
          </p:cNvPr>
          <p:cNvSpPr txBox="1"/>
          <p:nvPr/>
        </p:nvSpPr>
        <p:spPr>
          <a:xfrm>
            <a:off x="179693" y="49224"/>
            <a:ext cx="7941991" cy="575479"/>
          </a:xfrm>
          <a:prstGeom prst="rect">
            <a:avLst/>
          </a:prstGeom>
          <a:solidFill>
            <a:schemeClr val="bg1"/>
          </a:solidFill>
        </p:spPr>
        <p:txBody>
          <a:bodyPr wrap="square">
            <a:spAutoFit/>
          </a:bodyPr>
          <a:lstStyle/>
          <a:p>
            <a:pPr algn="just">
              <a:lnSpc>
                <a:spcPct val="150000"/>
              </a:lnSpc>
            </a:pPr>
            <a:r>
              <a:rPr lang="zh-CN" altLang="en-US" sz="2400" b="1" dirty="0">
                <a:solidFill>
                  <a:srgbClr val="0070C0"/>
                </a:solidFill>
                <a:latin typeface="黑体" panose="02010609060101010101" pitchFamily="49" charset="-122"/>
                <a:ea typeface="黑体" panose="02010609060101010101" pitchFamily="49" charset="-122"/>
              </a:rPr>
              <a:t>二、</a:t>
            </a:r>
            <a:r>
              <a:rPr lang="zh-CN" altLang="zh-CN" sz="2400" b="1" dirty="0">
                <a:solidFill>
                  <a:srgbClr val="0070C0"/>
                </a:solidFill>
                <a:latin typeface="黑体" panose="02010609060101010101" pitchFamily="49" charset="-122"/>
                <a:ea typeface="黑体" panose="02010609060101010101" pitchFamily="49" charset="-122"/>
              </a:rPr>
              <a:t>上机</a:t>
            </a:r>
            <a:r>
              <a:rPr lang="zh-CN" altLang="en-US" sz="2400" b="1" dirty="0">
                <a:solidFill>
                  <a:srgbClr val="0070C0"/>
                </a:solidFill>
                <a:latin typeface="黑体" panose="02010609060101010101" pitchFamily="49" charset="-122"/>
                <a:ea typeface="黑体" panose="02010609060101010101" pitchFamily="49" charset="-122"/>
              </a:rPr>
              <a:t>练习</a:t>
            </a:r>
            <a:r>
              <a:rPr lang="zh-CN" altLang="zh-CN" sz="2400" b="1" dirty="0">
                <a:solidFill>
                  <a:srgbClr val="0070C0"/>
                </a:solidFill>
                <a:latin typeface="黑体" panose="02010609060101010101" pitchFamily="49" charset="-122"/>
                <a:ea typeface="黑体" panose="02010609060101010101" pitchFamily="49" charset="-122"/>
              </a:rPr>
              <a:t>理论</a:t>
            </a:r>
            <a:r>
              <a:rPr lang="en-US" altLang="zh-CN" sz="2400" dirty="0">
                <a:solidFill>
                  <a:srgbClr val="FF0000"/>
                </a:solidFill>
                <a:latin typeface="华文细黑" pitchFamily="2" charset="-122"/>
                <a:ea typeface="华文细黑" pitchFamily="2" charset="-122"/>
              </a:rPr>
              <a:t>——2.</a:t>
            </a:r>
            <a:r>
              <a:rPr lang="zh-CN" altLang="zh-CN" sz="2400" dirty="0">
                <a:solidFill>
                  <a:srgbClr val="FF0000"/>
                </a:solidFill>
                <a:latin typeface="华文细黑" pitchFamily="2" charset="-122"/>
                <a:ea typeface="华文细黑" pitchFamily="2" charset="-122"/>
              </a:rPr>
              <a:t>绘离散数据三维图</a:t>
            </a:r>
          </a:p>
        </p:txBody>
      </p:sp>
      <p:sp>
        <p:nvSpPr>
          <p:cNvPr id="36" name="AutoShape 13">
            <a:extLst>
              <a:ext uri="{FF2B5EF4-FFF2-40B4-BE49-F238E27FC236}">
                <a16:creationId xmlns:a16="http://schemas.microsoft.com/office/drawing/2014/main" id="{1975784E-309A-4613-8940-23B2155BFA8D}"/>
              </a:ext>
            </a:extLst>
          </p:cNvPr>
          <p:cNvSpPr>
            <a:spLocks noChangeArrowheads="1"/>
          </p:cNvSpPr>
          <p:nvPr/>
        </p:nvSpPr>
        <p:spPr bwMode="auto">
          <a:xfrm>
            <a:off x="4582009" y="4161254"/>
            <a:ext cx="1006892" cy="40011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b="1" dirty="0">
                <a:solidFill>
                  <a:srgbClr val="FFFF00"/>
                </a:solidFill>
              </a:rPr>
              <a:t>注意</a:t>
            </a:r>
          </a:p>
        </p:txBody>
      </p:sp>
      <p:sp>
        <p:nvSpPr>
          <p:cNvPr id="37" name="文本框 36">
            <a:extLst>
              <a:ext uri="{FF2B5EF4-FFF2-40B4-BE49-F238E27FC236}">
                <a16:creationId xmlns:a16="http://schemas.microsoft.com/office/drawing/2014/main" id="{AB454A30-F670-4873-81A0-637D924FD656}"/>
              </a:ext>
            </a:extLst>
          </p:cNvPr>
          <p:cNvSpPr txBox="1"/>
          <p:nvPr/>
        </p:nvSpPr>
        <p:spPr>
          <a:xfrm>
            <a:off x="5509090" y="4186110"/>
            <a:ext cx="3531034" cy="353943"/>
          </a:xfrm>
          <a:prstGeom prst="rect">
            <a:avLst/>
          </a:prstGeom>
          <a:noFill/>
        </p:spPr>
        <p:txBody>
          <a:bodyPr wrap="square">
            <a:spAutoFit/>
          </a:bodyPr>
          <a:lstStyle/>
          <a:p>
            <a:pPr algn="dist"/>
            <a:r>
              <a:rPr lang="zh-CN" altLang="en-US" sz="17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计算</a:t>
            </a:r>
            <a:r>
              <a:rPr lang="en-US" altLang="zh-CN" sz="17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Z</a:t>
            </a:r>
            <a:r>
              <a:rPr lang="zh-CN" altLang="en-US" sz="1700" b="1"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的网格矩阵一定用点运算</a:t>
            </a:r>
            <a:endParaRPr lang="zh-CN" altLang="en-US" sz="1700" dirty="0"/>
          </a:p>
        </p:txBody>
      </p:sp>
      <p:sp>
        <p:nvSpPr>
          <p:cNvPr id="38" name="文本框 37">
            <a:extLst>
              <a:ext uri="{FF2B5EF4-FFF2-40B4-BE49-F238E27FC236}">
                <a16:creationId xmlns:a16="http://schemas.microsoft.com/office/drawing/2014/main" id="{050E495E-4331-487A-9E95-4857F5C547A7}"/>
              </a:ext>
            </a:extLst>
          </p:cNvPr>
          <p:cNvSpPr txBox="1"/>
          <p:nvPr/>
        </p:nvSpPr>
        <p:spPr>
          <a:xfrm>
            <a:off x="5682642" y="2222966"/>
            <a:ext cx="1167198"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1600" b="1">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400" dirty="0">
                <a:effectLst/>
                <a:sym typeface="+mn-ea"/>
              </a:rPr>
              <a:t>Z=@. f(X,Y)</a:t>
            </a:r>
            <a:endParaRPr lang="zh-CN" altLang="en-US" sz="1400" dirty="0">
              <a:effectLst/>
            </a:endParaRPr>
          </a:p>
        </p:txBody>
      </p:sp>
      <p:sp>
        <p:nvSpPr>
          <p:cNvPr id="40" name="文本框 39">
            <a:extLst>
              <a:ext uri="{FF2B5EF4-FFF2-40B4-BE49-F238E27FC236}">
                <a16:creationId xmlns:a16="http://schemas.microsoft.com/office/drawing/2014/main" id="{B331CB0C-3F1C-4856-A37F-F00C1B74005A}"/>
              </a:ext>
            </a:extLst>
          </p:cNvPr>
          <p:cNvSpPr txBox="1"/>
          <p:nvPr/>
        </p:nvSpPr>
        <p:spPr>
          <a:xfrm>
            <a:off x="5292080" y="2227476"/>
            <a:ext cx="354724" cy="338554"/>
          </a:xfrm>
          <a:prstGeom prst="rect">
            <a:avLst/>
          </a:prstGeom>
          <a:noFill/>
        </p:spPr>
        <p:txBody>
          <a:bodyPr wrap="square">
            <a:spAutoFit/>
          </a:bodyPr>
          <a:lstStyle/>
          <a:p>
            <a:r>
              <a:rPr lang="zh-CN" altLang="en-US" sz="1600" b="1" dirty="0">
                <a:solidFill>
                  <a:srgbClr val="FF0000"/>
                </a:solidFill>
                <a:latin typeface="微软雅黑 Light" panose="020B0502040204020203" pitchFamily="34" charset="-122"/>
                <a:ea typeface="微软雅黑 Light" panose="020B0502040204020203" pitchFamily="34" charset="-122"/>
                <a:sym typeface="+mn-ea"/>
              </a:rPr>
              <a:t>或</a:t>
            </a:r>
            <a:endParaRPr lang="zh-CN" altLang="en-US" sz="1600" dirty="0"/>
          </a:p>
        </p:txBody>
      </p:sp>
      <p:pic>
        <p:nvPicPr>
          <p:cNvPr id="41" name="图片 40">
            <a:extLst>
              <a:ext uri="{FF2B5EF4-FFF2-40B4-BE49-F238E27FC236}">
                <a16:creationId xmlns:a16="http://schemas.microsoft.com/office/drawing/2014/main" id="{3973BEED-509A-4680-A519-9C968170F904}"/>
              </a:ext>
            </a:extLst>
          </p:cNvPr>
          <p:cNvPicPr>
            <a:picLocks noChangeAspect="1"/>
          </p:cNvPicPr>
          <p:nvPr/>
        </p:nvPicPr>
        <p:blipFill>
          <a:blip r:embed="rId4"/>
          <a:stretch>
            <a:fillRect/>
          </a:stretch>
        </p:blipFill>
        <p:spPr>
          <a:xfrm>
            <a:off x="7982326" y="214506"/>
            <a:ext cx="1161674" cy="871256"/>
          </a:xfrm>
          <a:prstGeom prst="rect">
            <a:avLst/>
          </a:prstGeom>
        </p:spPr>
      </p:pic>
      <p:pic>
        <p:nvPicPr>
          <p:cNvPr id="4" name="图片 3">
            <a:extLst>
              <a:ext uri="{FF2B5EF4-FFF2-40B4-BE49-F238E27FC236}">
                <a16:creationId xmlns:a16="http://schemas.microsoft.com/office/drawing/2014/main" id="{409E38F8-FBBA-44BA-9D70-8B67A945634D}"/>
              </a:ext>
            </a:extLst>
          </p:cNvPr>
          <p:cNvPicPr>
            <a:picLocks noChangeAspect="1"/>
          </p:cNvPicPr>
          <p:nvPr/>
        </p:nvPicPr>
        <p:blipFill>
          <a:blip r:embed="rId5"/>
          <a:stretch>
            <a:fillRect/>
          </a:stretch>
        </p:blipFill>
        <p:spPr>
          <a:xfrm>
            <a:off x="6293167" y="173724"/>
            <a:ext cx="1589230" cy="931237"/>
          </a:xfrm>
          <a:prstGeom prst="rect">
            <a:avLst/>
          </a:prstGeom>
        </p:spPr>
      </p:pic>
    </p:spTree>
    <p:extLst>
      <p:ext uri="{BB962C8B-B14F-4D97-AF65-F5344CB8AC3E}">
        <p14:creationId xmlns:p14="http://schemas.microsoft.com/office/powerpoint/2010/main" val="250372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animBg="1"/>
      <p:bldP spid="12" grpId="0" animBg="1"/>
      <p:bldP spid="13" grpId="0" animBg="1"/>
      <p:bldP spid="17" grpId="0"/>
      <p:bldP spid="18" grpId="0"/>
      <p:bldP spid="19" grpId="0" animBg="1"/>
      <p:bldP spid="20" grpId="0" animBg="1"/>
      <p:bldP spid="21" grpId="0" animBg="1"/>
      <p:bldP spid="22" grpId="0" animBg="1"/>
      <p:bldP spid="23" grpId="0" animBg="1"/>
      <p:bldP spid="24" grpId="0"/>
      <p:bldP spid="25" grpId="0"/>
      <p:bldP spid="27" grpId="0"/>
      <p:bldP spid="28" grpId="0"/>
      <p:bldP spid="31" grpId="0" animBg="1"/>
      <p:bldP spid="14" grpId="0" animBg="1"/>
      <p:bldP spid="49" grpId="0"/>
      <p:bldP spid="53" grpId="0" animBg="1"/>
      <p:bldP spid="29" grpId="0" animBg="1"/>
      <p:bldP spid="55" grpId="0" animBg="1"/>
      <p:bldP spid="56" grpId="0" animBg="1"/>
      <p:bldP spid="57" grpId="0" animBg="1"/>
      <p:bldP spid="58" grpId="0" animBg="1"/>
      <p:bldP spid="15" grpId="0" animBg="1"/>
      <p:bldP spid="16" grpId="0" animBg="1"/>
      <p:bldP spid="36" grpId="0" animBg="1"/>
      <p:bldP spid="37" grpId="0"/>
      <p:bldP spid="38" grpId="0" animBg="1"/>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1980092" y="2041485"/>
            <a:ext cx="1687744"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spAutoFit/>
          </a:bodyPr>
          <a:lstStyle/>
          <a:p>
            <a:r>
              <a:rPr lang="zh-CN" altLang="zh-CN" sz="1400" b="1" dirty="0">
                <a:solidFill>
                  <a:schemeClr val="bg1"/>
                </a:solidFill>
              </a:rPr>
              <a:t>colormap(</a:t>
            </a:r>
            <a:r>
              <a:rPr lang="en-US" altLang="zh-CN" sz="1400" b="1" dirty="0">
                <a:solidFill>
                  <a:schemeClr val="bg1"/>
                </a:solidFill>
              </a:rPr>
              <a:t>h</a:t>
            </a:r>
            <a:r>
              <a:rPr lang="zh-CN" altLang="zh-CN" sz="1400" b="1" dirty="0">
                <a:solidFill>
                  <a:schemeClr val="bg1"/>
                </a:solidFill>
              </a:rPr>
              <a:t>,map) </a:t>
            </a:r>
          </a:p>
        </p:txBody>
      </p:sp>
      <p:sp>
        <p:nvSpPr>
          <p:cNvPr id="8" name="文本框 7"/>
          <p:cNvSpPr txBox="1"/>
          <p:nvPr/>
        </p:nvSpPr>
        <p:spPr>
          <a:xfrm>
            <a:off x="63805" y="2026097"/>
            <a:ext cx="2019855" cy="338554"/>
          </a:xfrm>
          <a:prstGeom prst="rect">
            <a:avLst/>
          </a:prstGeom>
          <a:noFill/>
        </p:spPr>
        <p:txBody>
          <a:bodyPr wrap="square">
            <a:spAutoFit/>
          </a:bodyPr>
          <a:lstStyle/>
          <a:p>
            <a:pPr marL="342900" indent="-342900">
              <a:buFont typeface="+mj-ea"/>
              <a:buAutoNum type="circleNumDbPlain" startAt="2"/>
            </a:pPr>
            <a:r>
              <a:rPr lang="zh-CN" altLang="en-US" sz="1600" b="1" dirty="0">
                <a:solidFill>
                  <a:srgbClr val="0070C0"/>
                </a:solidFill>
                <a:latin typeface="微软雅黑" panose="020B0503020204020204" pitchFamily="34" charset="-122"/>
                <a:ea typeface="微软雅黑" panose="020B0503020204020204" pitchFamily="34" charset="-122"/>
              </a:rPr>
              <a:t>设置当前颜色图</a:t>
            </a:r>
          </a:p>
        </p:txBody>
      </p:sp>
      <p:sp>
        <p:nvSpPr>
          <p:cNvPr id="9" name="文本框 8"/>
          <p:cNvSpPr txBox="1"/>
          <p:nvPr/>
        </p:nvSpPr>
        <p:spPr>
          <a:xfrm>
            <a:off x="3684931" y="1999130"/>
            <a:ext cx="5346993" cy="338554"/>
          </a:xfrm>
          <a:prstGeom prst="rect">
            <a:avLst/>
          </a:prstGeom>
          <a:noFill/>
        </p:spPr>
        <p:txBody>
          <a:bodyPr wrap="square">
            <a:spAutoFit/>
          </a:bodyPr>
          <a:lstStyle/>
          <a:p>
            <a:r>
              <a:rPr lang="zh-CN" altLang="en-US" sz="1600" b="0" i="0" dirty="0">
                <a:solidFill>
                  <a:srgbClr val="00B0F0"/>
                </a:solidFill>
                <a:effectLst/>
                <a:latin typeface="微软雅黑" panose="020B0503020204020204" pitchFamily="34" charset="-122"/>
                <a:ea typeface="微软雅黑" panose="020B0503020204020204" pitchFamily="34" charset="-122"/>
              </a:rPr>
              <a:t>将</a:t>
            </a:r>
            <a:r>
              <a:rPr lang="zh-CN" altLang="en-US" sz="1600" dirty="0">
                <a:solidFill>
                  <a:srgbClr val="00B0F0"/>
                </a:solidFill>
                <a:latin typeface="微软雅黑" panose="020B0503020204020204" pitchFamily="34" charset="-122"/>
                <a:ea typeface="微软雅黑" panose="020B0503020204020204" pitchFamily="34" charset="-122"/>
              </a:rPr>
              <a:t>句柄为</a:t>
            </a:r>
            <a:r>
              <a:rPr lang="en-US" altLang="zh-CN" sz="1600" dirty="0">
                <a:solidFill>
                  <a:srgbClr val="00B0F0"/>
                </a:solidFill>
                <a:latin typeface="微软雅黑" panose="020B0503020204020204" pitchFamily="34" charset="-122"/>
                <a:ea typeface="微软雅黑" panose="020B0503020204020204" pitchFamily="34" charset="-122"/>
              </a:rPr>
              <a:t>h</a:t>
            </a:r>
            <a:r>
              <a:rPr lang="zh-CN" altLang="en-US" sz="1600" dirty="0">
                <a:solidFill>
                  <a:srgbClr val="00B0F0"/>
                </a:solidFill>
                <a:latin typeface="微软雅黑" panose="020B0503020204020204" pitchFamily="34" charset="-122"/>
                <a:ea typeface="微软雅黑" panose="020B0503020204020204" pitchFamily="34" charset="-122"/>
              </a:rPr>
              <a:t>的曲面采用</a:t>
            </a:r>
            <a:r>
              <a:rPr lang="en-US" altLang="zh-CN" sz="1600" b="0" i="0" dirty="0">
                <a:solidFill>
                  <a:srgbClr val="00B0F0"/>
                </a:solidFill>
                <a:effectLst/>
                <a:latin typeface="微软雅黑" panose="020B0503020204020204" pitchFamily="34" charset="-122"/>
                <a:ea typeface="微软雅黑" panose="020B0503020204020204" pitchFamily="34" charset="-122"/>
              </a:rPr>
              <a:t>colormap</a:t>
            </a:r>
            <a:r>
              <a:rPr lang="zh-CN" altLang="en-US" sz="1600" b="0" i="0" dirty="0">
                <a:solidFill>
                  <a:srgbClr val="00B0F0"/>
                </a:solidFill>
                <a:effectLst/>
                <a:latin typeface="微软雅黑" panose="020B0503020204020204" pitchFamily="34" charset="-122"/>
                <a:ea typeface="微软雅黑" panose="020B0503020204020204" pitchFamily="34" charset="-122"/>
              </a:rPr>
              <a:t>指定颜色图</a:t>
            </a:r>
            <a:r>
              <a:rPr lang="en-US" altLang="zh-CN" sz="1600" b="0" i="0" dirty="0">
                <a:solidFill>
                  <a:srgbClr val="00B0F0"/>
                </a:solidFill>
                <a:effectLst/>
                <a:latin typeface="微软雅黑" panose="020B0503020204020204" pitchFamily="34" charset="-122"/>
                <a:ea typeface="微软雅黑" panose="020B0503020204020204" pitchFamily="34" charset="-122"/>
              </a:rPr>
              <a:t>map</a:t>
            </a:r>
            <a:r>
              <a:rPr lang="zh-CN" altLang="en-US" sz="1600" b="0" i="0" dirty="0">
                <a:solidFill>
                  <a:srgbClr val="00B0F0"/>
                </a:solidFill>
                <a:effectLst/>
                <a:latin typeface="微软雅黑" panose="020B0503020204020204" pitchFamily="34" charset="-122"/>
                <a:ea typeface="微软雅黑" panose="020B0503020204020204" pitchFamily="34" charset="-122"/>
              </a:rPr>
              <a:t>着色</a:t>
            </a:r>
            <a:endParaRPr lang="zh-CN" altLang="en-US" sz="1600" dirty="0">
              <a:solidFill>
                <a:srgbClr val="00B0F0"/>
              </a:solidFill>
            </a:endParaRPr>
          </a:p>
        </p:txBody>
      </p:sp>
      <p:pic>
        <p:nvPicPr>
          <p:cNvPr id="10" name="图片 9"/>
          <p:cNvPicPr>
            <a:picLocks noChangeAspect="1"/>
          </p:cNvPicPr>
          <p:nvPr/>
        </p:nvPicPr>
        <p:blipFill rotWithShape="1">
          <a:blip r:embed="rId3"/>
          <a:srcRect l="9034" t="20600" r="8264" b="15955"/>
          <a:stretch>
            <a:fillRect/>
          </a:stretch>
        </p:blipFill>
        <p:spPr>
          <a:xfrm>
            <a:off x="447758" y="2467698"/>
            <a:ext cx="8548670" cy="1706113"/>
          </a:xfrm>
          <a:prstGeom prst="rect">
            <a:avLst/>
          </a:prstGeom>
          <a:ln>
            <a:solidFill>
              <a:schemeClr val="bg1">
                <a:lumMod val="50000"/>
              </a:schemeClr>
            </a:solidFill>
          </a:ln>
        </p:spPr>
      </p:pic>
      <p:sp>
        <p:nvSpPr>
          <p:cNvPr id="11" name="文本框 10"/>
          <p:cNvSpPr txBox="1"/>
          <p:nvPr/>
        </p:nvSpPr>
        <p:spPr>
          <a:xfrm>
            <a:off x="35496" y="4276858"/>
            <a:ext cx="2163871" cy="338554"/>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pPr marL="342900" indent="-342900">
              <a:buFont typeface="+mj-ea"/>
              <a:buAutoNum type="circleNumDbPlain" startAt="3"/>
            </a:pPr>
            <a:r>
              <a:rPr lang="zh-CN" altLang="en-US" sz="1600" dirty="0"/>
              <a:t>显示色阶的颜色栏</a:t>
            </a:r>
          </a:p>
        </p:txBody>
      </p:sp>
      <p:sp>
        <p:nvSpPr>
          <p:cNvPr id="12" name="文本框 11"/>
          <p:cNvSpPr txBox="1"/>
          <p:nvPr/>
        </p:nvSpPr>
        <p:spPr>
          <a:xfrm>
            <a:off x="3667835" y="4276858"/>
            <a:ext cx="3816425" cy="307777"/>
          </a:xfrm>
          <a:prstGeom prst="rect">
            <a:avLst/>
          </a:prstGeom>
          <a:solidFill>
            <a:schemeClr val="bg1"/>
          </a:solidFill>
        </p:spPr>
        <p:txBody>
          <a:bodyPr wrap="square">
            <a:spAutoFit/>
          </a:bodyPr>
          <a:lstStyle/>
          <a:p>
            <a:pPr algn="dist"/>
            <a:r>
              <a:rPr lang="zh-CN" altLang="en-US" sz="1400" dirty="0">
                <a:solidFill>
                  <a:srgbClr val="00B0F0"/>
                </a:solidFill>
                <a:latin typeface="微软雅黑" panose="020B0503020204020204" pitchFamily="34" charset="-122"/>
                <a:ea typeface="微软雅黑" panose="020B0503020204020204" pitchFamily="34" charset="-122"/>
              </a:rPr>
              <a:t>在句柄为</a:t>
            </a:r>
            <a:r>
              <a:rPr lang="en-US" altLang="zh-CN" sz="1400" dirty="0">
                <a:solidFill>
                  <a:srgbClr val="00B0F0"/>
                </a:solidFill>
                <a:latin typeface="微软雅黑" panose="020B0503020204020204" pitchFamily="34" charset="-122"/>
                <a:ea typeface="微软雅黑" panose="020B0503020204020204" pitchFamily="34" charset="-122"/>
              </a:rPr>
              <a:t>h</a:t>
            </a:r>
            <a:r>
              <a:rPr lang="zh-CN" altLang="en-US" sz="1400" dirty="0">
                <a:solidFill>
                  <a:srgbClr val="00B0F0"/>
                </a:solidFill>
                <a:latin typeface="微软雅黑" panose="020B0503020204020204" pitchFamily="34" charset="-122"/>
                <a:ea typeface="微软雅黑" panose="020B0503020204020204" pitchFamily="34" charset="-122"/>
              </a:rPr>
              <a:t>的曲面中添加指示色阶的颜色栏</a:t>
            </a:r>
          </a:p>
        </p:txBody>
      </p:sp>
      <p:sp>
        <p:nvSpPr>
          <p:cNvPr id="13" name="Rectangle 3"/>
          <p:cNvSpPr>
            <a:spLocks noChangeArrowheads="1"/>
          </p:cNvSpPr>
          <p:nvPr/>
        </p:nvSpPr>
        <p:spPr bwMode="auto">
          <a:xfrm>
            <a:off x="2256838" y="4267009"/>
            <a:ext cx="1353525"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spAutoFit/>
          </a:bodyPr>
          <a:lstStyle/>
          <a:p>
            <a:r>
              <a:rPr lang="en-US" altLang="zh-CN" sz="1400" b="1" dirty="0">
                <a:solidFill>
                  <a:schemeClr val="bg1"/>
                </a:solidFill>
              </a:rPr>
              <a:t>c</a:t>
            </a:r>
            <a:r>
              <a:rPr lang="zh-CN" altLang="zh-CN" sz="1400" b="1" dirty="0">
                <a:solidFill>
                  <a:schemeClr val="bg1"/>
                </a:solidFill>
              </a:rPr>
              <a:t>olor</a:t>
            </a:r>
            <a:r>
              <a:rPr lang="en-US" altLang="zh-CN" sz="1400" b="1" dirty="0">
                <a:solidFill>
                  <a:schemeClr val="bg1"/>
                </a:solidFill>
              </a:rPr>
              <a:t>bar</a:t>
            </a:r>
            <a:r>
              <a:rPr lang="zh-CN" altLang="en-US" sz="1400" b="1" dirty="0">
                <a:solidFill>
                  <a:schemeClr val="bg1"/>
                </a:solidFill>
              </a:rPr>
              <a:t>（</a:t>
            </a:r>
            <a:r>
              <a:rPr lang="en-US" altLang="zh-CN" sz="1400" b="1" dirty="0">
                <a:solidFill>
                  <a:schemeClr val="bg1"/>
                </a:solidFill>
              </a:rPr>
              <a:t>h</a:t>
            </a:r>
            <a:r>
              <a:rPr lang="zh-CN" altLang="en-US" sz="1400" b="1" dirty="0">
                <a:solidFill>
                  <a:schemeClr val="bg1"/>
                </a:solidFill>
              </a:rPr>
              <a:t>）</a:t>
            </a:r>
            <a:endParaRPr lang="zh-CN" altLang="zh-CN" sz="1400" b="1" dirty="0">
              <a:solidFill>
                <a:schemeClr val="bg1"/>
              </a:solidFill>
            </a:endParaRPr>
          </a:p>
        </p:txBody>
      </p:sp>
      <p:sp>
        <p:nvSpPr>
          <p:cNvPr id="14" name="矩形: 圆角 13"/>
          <p:cNvSpPr/>
          <p:nvPr/>
        </p:nvSpPr>
        <p:spPr>
          <a:xfrm>
            <a:off x="8132332" y="3075806"/>
            <a:ext cx="722806" cy="60129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TextBox 4">
            <a:extLst>
              <a:ext uri="{FF2B5EF4-FFF2-40B4-BE49-F238E27FC236}">
                <a16:creationId xmlns:a16="http://schemas.microsoft.com/office/drawing/2014/main" id="{558EFED1-005B-4CD2-AEB2-994415ABCBD8}"/>
              </a:ext>
            </a:extLst>
          </p:cNvPr>
          <p:cNvSpPr txBox="1"/>
          <p:nvPr/>
        </p:nvSpPr>
        <p:spPr>
          <a:xfrm>
            <a:off x="447759" y="1059526"/>
            <a:ext cx="2451904"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spAutoFit/>
          </a:bodyPr>
          <a:lstStyle>
            <a:defPPr>
              <a:defRPr lang="zh-CN"/>
            </a:defPPr>
            <a:lvl1pPr>
              <a:defRPr sz="1400" b="1">
                <a:solidFill>
                  <a:schemeClr val="bg1"/>
                </a:solidFill>
              </a:defRPr>
            </a:lvl1pPr>
          </a:lstStyle>
          <a:p>
            <a:r>
              <a:rPr lang="en-US" altLang="zh-CN" dirty="0"/>
              <a:t>shading(</a:t>
            </a:r>
            <a:r>
              <a:rPr lang="en-US" altLang="zh-CN" dirty="0" err="1"/>
              <a:t>h,"faceted</a:t>
            </a:r>
            <a:r>
              <a:rPr lang="en-US" altLang="zh-CN" dirty="0"/>
              <a:t>") (</a:t>
            </a:r>
            <a:r>
              <a:rPr lang="zh-CN" altLang="en-US" dirty="0"/>
              <a:t>默认</a:t>
            </a:r>
            <a:r>
              <a:rPr lang="en-US" altLang="zh-CN" dirty="0"/>
              <a:t>)</a:t>
            </a:r>
          </a:p>
        </p:txBody>
      </p:sp>
      <p:sp>
        <p:nvSpPr>
          <p:cNvPr id="16" name="矩形 15">
            <a:extLst>
              <a:ext uri="{FF2B5EF4-FFF2-40B4-BE49-F238E27FC236}">
                <a16:creationId xmlns:a16="http://schemas.microsoft.com/office/drawing/2014/main" id="{CE355F7B-7536-4D48-91D3-CBA319717277}"/>
              </a:ext>
            </a:extLst>
          </p:cNvPr>
          <p:cNvSpPr/>
          <p:nvPr/>
        </p:nvSpPr>
        <p:spPr>
          <a:xfrm>
            <a:off x="2960090" y="807945"/>
            <a:ext cx="5040560" cy="584775"/>
          </a:xfrm>
          <a:prstGeom prst="rect">
            <a:avLst/>
          </a:prstGeom>
          <a:noFill/>
        </p:spPr>
        <p:txBody>
          <a:bodyPr wrap="square">
            <a:spAutoFit/>
          </a:bodyPr>
          <a:lstStyle/>
          <a:p>
            <a:pPr marL="285750" indent="-285750">
              <a:buFont typeface="Wingdings" panose="05000000000000000000" pitchFamily="2" charset="2"/>
              <a:buChar char="p"/>
            </a:pPr>
            <a:r>
              <a:rPr lang="zh-CN" altLang="en-US" sz="16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将每片网格用其高度对应颜色进着色</a:t>
            </a:r>
            <a:r>
              <a:rPr lang="en-US" altLang="zh-CN" sz="16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a:t>
            </a:r>
          </a:p>
          <a:p>
            <a:pPr marL="285750" indent="-285750">
              <a:buFont typeface="Wingdings" panose="05000000000000000000" pitchFamily="2" charset="2"/>
              <a:buChar char="p"/>
            </a:pPr>
            <a:r>
              <a:rPr lang="zh-CN" altLang="en-US" sz="16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网格仍保留黑色线</a:t>
            </a:r>
            <a:r>
              <a:rPr lang="en-US" altLang="zh-CN" sz="16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a:t>
            </a:r>
          </a:p>
        </p:txBody>
      </p:sp>
      <p:sp>
        <p:nvSpPr>
          <p:cNvPr id="17" name="Rectangle 3">
            <a:extLst>
              <a:ext uri="{FF2B5EF4-FFF2-40B4-BE49-F238E27FC236}">
                <a16:creationId xmlns:a16="http://schemas.microsoft.com/office/drawing/2014/main" id="{70AD0999-448D-4CAB-960B-532618DDB089}"/>
              </a:ext>
            </a:extLst>
          </p:cNvPr>
          <p:cNvSpPr txBox="1">
            <a:spLocks noChangeArrowheads="1"/>
          </p:cNvSpPr>
          <p:nvPr/>
        </p:nvSpPr>
        <p:spPr bwMode="auto">
          <a:xfrm>
            <a:off x="2224305" y="1414355"/>
            <a:ext cx="5907482" cy="584775"/>
          </a:xfrm>
          <a:prstGeom prst="rect">
            <a:avLst/>
          </a:prstGeom>
          <a:noFill/>
        </p:spPr>
        <p:txBody>
          <a:bodyPr wrap="square">
            <a:spAutoFit/>
          </a:bodyPr>
          <a:lstStyle>
            <a:defPPr>
              <a:defRPr lang="zh-CN"/>
            </a:defPPr>
            <a:lvl1pPr marL="285750" indent="-285750">
              <a:buFont typeface="Wingdings" panose="05000000000000000000" pitchFamily="2" charset="2"/>
              <a:buChar char="p"/>
              <a:defRPr sz="1600">
                <a:solidFill>
                  <a:srgbClr val="00B0F0"/>
                </a:solidFill>
                <a:latin typeface="微软雅黑" panose="020B0503020204020204" pitchFamily="34" charset="-122"/>
                <a:ea typeface="微软雅黑" panose="020B0503020204020204" pitchFamily="34" charset="-122"/>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r>
              <a:rPr lang="zh-CN" altLang="en-US" dirty="0"/>
              <a:t> 将每片网格用同颜色着色</a:t>
            </a:r>
            <a:r>
              <a:rPr lang="en-US" altLang="zh-CN" dirty="0"/>
              <a:t>;</a:t>
            </a:r>
          </a:p>
          <a:p>
            <a:r>
              <a:rPr lang="zh-CN" altLang="en-US" dirty="0"/>
              <a:t> 网格线也用相应的颜色，图形表面更加平滑光滑 </a:t>
            </a:r>
          </a:p>
        </p:txBody>
      </p:sp>
      <p:sp>
        <p:nvSpPr>
          <p:cNvPr id="18" name="TextBox 7">
            <a:extLst>
              <a:ext uri="{FF2B5EF4-FFF2-40B4-BE49-F238E27FC236}">
                <a16:creationId xmlns:a16="http://schemas.microsoft.com/office/drawing/2014/main" id="{6B16BD86-B1EE-4637-BAA7-D90780075116}"/>
              </a:ext>
            </a:extLst>
          </p:cNvPr>
          <p:cNvSpPr txBox="1"/>
          <p:nvPr/>
        </p:nvSpPr>
        <p:spPr>
          <a:xfrm>
            <a:off x="447759" y="1588306"/>
            <a:ext cx="1668626"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spAutoFit/>
          </a:bodyPr>
          <a:lstStyle>
            <a:defPPr>
              <a:defRPr lang="zh-CN"/>
            </a:defPPr>
            <a:lvl1pPr>
              <a:defRPr sz="1400" b="1">
                <a:solidFill>
                  <a:schemeClr val="bg1"/>
                </a:solidFill>
              </a:defRPr>
            </a:lvl1pPr>
          </a:lstStyle>
          <a:p>
            <a:r>
              <a:rPr lang="en-US" altLang="zh-CN" dirty="0"/>
              <a:t>shading(</a:t>
            </a:r>
            <a:r>
              <a:rPr lang="en-US" altLang="zh-CN" dirty="0" err="1"/>
              <a:t>h,"flat</a:t>
            </a:r>
            <a:r>
              <a:rPr lang="en-US" altLang="zh-CN" dirty="0"/>
              <a:t>")</a:t>
            </a:r>
          </a:p>
        </p:txBody>
      </p:sp>
      <p:sp>
        <p:nvSpPr>
          <p:cNvPr id="19" name="文本框 18">
            <a:extLst>
              <a:ext uri="{FF2B5EF4-FFF2-40B4-BE49-F238E27FC236}">
                <a16:creationId xmlns:a16="http://schemas.microsoft.com/office/drawing/2014/main" id="{3BE1B9A3-718C-4DCB-9B39-36A54495139F}"/>
              </a:ext>
            </a:extLst>
          </p:cNvPr>
          <p:cNvSpPr txBox="1"/>
          <p:nvPr/>
        </p:nvSpPr>
        <p:spPr>
          <a:xfrm>
            <a:off x="92663" y="680076"/>
            <a:ext cx="2451904" cy="338554"/>
          </a:xfrm>
          <a:prstGeom prst="rect">
            <a:avLst/>
          </a:prstGeom>
          <a:solidFill>
            <a:schemeClr val="bg1"/>
          </a:solidFill>
        </p:spPr>
        <p:txBody>
          <a:bodyPr wrap="square">
            <a:spAutoFit/>
          </a:bodyPr>
          <a:lstStyle/>
          <a:p>
            <a:pPr marL="342900" indent="-342900">
              <a:buFont typeface="+mj-ea"/>
              <a:buAutoNum type="circleNumDbPlain"/>
            </a:pPr>
            <a:r>
              <a:rPr lang="zh-CN" altLang="en-US" sz="1600" b="1" dirty="0">
                <a:solidFill>
                  <a:srgbClr val="0070C0"/>
                </a:solidFill>
                <a:latin typeface="微软雅黑" panose="020B0503020204020204" pitchFamily="34" charset="-122"/>
                <a:ea typeface="微软雅黑" panose="020B0503020204020204" pitchFamily="34" charset="-122"/>
              </a:rPr>
              <a:t>设置颜色着色方式</a:t>
            </a:r>
          </a:p>
        </p:txBody>
      </p:sp>
      <p:sp>
        <p:nvSpPr>
          <p:cNvPr id="22" name="文本框 21">
            <a:extLst>
              <a:ext uri="{FF2B5EF4-FFF2-40B4-BE49-F238E27FC236}">
                <a16:creationId xmlns:a16="http://schemas.microsoft.com/office/drawing/2014/main" id="{B1D908EF-AD11-4BDD-B270-0480B6B99097}"/>
              </a:ext>
            </a:extLst>
          </p:cNvPr>
          <p:cNvSpPr txBox="1"/>
          <p:nvPr/>
        </p:nvSpPr>
        <p:spPr>
          <a:xfrm>
            <a:off x="1677" y="64331"/>
            <a:ext cx="7941991" cy="575479"/>
          </a:xfrm>
          <a:prstGeom prst="rect">
            <a:avLst/>
          </a:prstGeom>
          <a:solidFill>
            <a:schemeClr val="bg1"/>
          </a:solidFill>
        </p:spPr>
        <p:txBody>
          <a:bodyPr wrap="square">
            <a:spAutoFit/>
          </a:bodyPr>
          <a:lstStyle/>
          <a:p>
            <a:pPr algn="just">
              <a:lnSpc>
                <a:spcPct val="150000"/>
              </a:lnSpc>
            </a:pPr>
            <a:r>
              <a:rPr lang="zh-CN" altLang="en-US" sz="2400" b="1" dirty="0">
                <a:solidFill>
                  <a:srgbClr val="0070C0"/>
                </a:solidFill>
                <a:latin typeface="黑体" panose="02010609060101010101" pitchFamily="49" charset="-122"/>
                <a:ea typeface="黑体" panose="02010609060101010101" pitchFamily="49" charset="-122"/>
              </a:rPr>
              <a:t>二、</a:t>
            </a:r>
            <a:r>
              <a:rPr lang="zh-CN" altLang="zh-CN" sz="2400" b="1" dirty="0">
                <a:solidFill>
                  <a:srgbClr val="0070C0"/>
                </a:solidFill>
                <a:latin typeface="黑体" panose="02010609060101010101" pitchFamily="49" charset="-122"/>
                <a:ea typeface="黑体" panose="02010609060101010101" pitchFamily="49" charset="-122"/>
              </a:rPr>
              <a:t>上机</a:t>
            </a:r>
            <a:r>
              <a:rPr lang="zh-CN" altLang="en-US" sz="2400" b="1" dirty="0">
                <a:solidFill>
                  <a:srgbClr val="0070C0"/>
                </a:solidFill>
                <a:latin typeface="黑体" panose="02010609060101010101" pitchFamily="49" charset="-122"/>
                <a:ea typeface="黑体" panose="02010609060101010101" pitchFamily="49" charset="-122"/>
              </a:rPr>
              <a:t>练习</a:t>
            </a:r>
            <a:r>
              <a:rPr lang="zh-CN" altLang="zh-CN" sz="2400" b="1" dirty="0">
                <a:solidFill>
                  <a:srgbClr val="0070C0"/>
                </a:solidFill>
                <a:latin typeface="黑体" panose="02010609060101010101" pitchFamily="49" charset="-122"/>
                <a:ea typeface="黑体" panose="02010609060101010101" pitchFamily="49" charset="-122"/>
              </a:rPr>
              <a:t>理论</a:t>
            </a:r>
            <a:r>
              <a:rPr lang="en-US" altLang="zh-CN" sz="2400" dirty="0">
                <a:solidFill>
                  <a:srgbClr val="FF0000"/>
                </a:solidFill>
                <a:latin typeface="华文细黑" pitchFamily="2" charset="-122"/>
                <a:ea typeface="华文细黑" pitchFamily="2" charset="-122"/>
              </a:rPr>
              <a:t>——3.</a:t>
            </a:r>
            <a:r>
              <a:rPr lang="zh-CN" altLang="en-US" sz="2400" dirty="0">
                <a:solidFill>
                  <a:srgbClr val="FF0000"/>
                </a:solidFill>
                <a:latin typeface="华文细黑" pitchFamily="2" charset="-122"/>
                <a:ea typeface="华文细黑" pitchFamily="2" charset="-122"/>
                <a:cs typeface="+mn-cs"/>
              </a:rPr>
              <a:t>三维曲面图修饰</a:t>
            </a:r>
            <a:endParaRPr lang="zh-CN" altLang="zh-CN" sz="2400" dirty="0">
              <a:solidFill>
                <a:srgbClr val="FF0000"/>
              </a:solidFill>
              <a:latin typeface="华文细黑" pitchFamily="2" charset="-122"/>
              <a:ea typeface="华文细黑" pitchFamily="2" charset="-122"/>
            </a:endParaRPr>
          </a:p>
        </p:txBody>
      </p:sp>
      <p:pic>
        <p:nvPicPr>
          <p:cNvPr id="23" name="图片 22">
            <a:extLst>
              <a:ext uri="{FF2B5EF4-FFF2-40B4-BE49-F238E27FC236}">
                <a16:creationId xmlns:a16="http://schemas.microsoft.com/office/drawing/2014/main" id="{1EDA9C7D-7548-4933-8813-C4CCC09F8CDB}"/>
              </a:ext>
            </a:extLst>
          </p:cNvPr>
          <p:cNvPicPr>
            <a:picLocks noChangeAspect="1"/>
          </p:cNvPicPr>
          <p:nvPr/>
        </p:nvPicPr>
        <p:blipFill>
          <a:blip r:embed="rId4"/>
          <a:stretch>
            <a:fillRect/>
          </a:stretch>
        </p:blipFill>
        <p:spPr>
          <a:xfrm>
            <a:off x="7400243" y="1006271"/>
            <a:ext cx="1790654" cy="1342991"/>
          </a:xfrm>
          <a:prstGeom prst="rect">
            <a:avLst/>
          </a:prstGeom>
        </p:spPr>
      </p:pic>
      <p:pic>
        <p:nvPicPr>
          <p:cNvPr id="24" name="图片 23">
            <a:extLst>
              <a:ext uri="{FF2B5EF4-FFF2-40B4-BE49-F238E27FC236}">
                <a16:creationId xmlns:a16="http://schemas.microsoft.com/office/drawing/2014/main" id="{3E487723-6EB0-406B-A70A-B8FB3077210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6084550" y="632940"/>
            <a:ext cx="1801855" cy="1351391"/>
          </a:xfrm>
          <a:prstGeom prst="rect">
            <a:avLst/>
          </a:prstGeom>
        </p:spPr>
      </p:pic>
      <p:sp>
        <p:nvSpPr>
          <p:cNvPr id="25" name="AutoShape 13">
            <a:extLst>
              <a:ext uri="{FF2B5EF4-FFF2-40B4-BE49-F238E27FC236}">
                <a16:creationId xmlns:a16="http://schemas.microsoft.com/office/drawing/2014/main" id="{254E014B-1E81-4F4B-BD54-28637C9068C1}"/>
              </a:ext>
            </a:extLst>
          </p:cNvPr>
          <p:cNvSpPr>
            <a:spLocks noChangeArrowheads="1"/>
          </p:cNvSpPr>
          <p:nvPr/>
        </p:nvSpPr>
        <p:spPr bwMode="auto">
          <a:xfrm>
            <a:off x="5871400" y="135292"/>
            <a:ext cx="1006892" cy="40011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b="1" dirty="0">
                <a:solidFill>
                  <a:srgbClr val="FFFF00"/>
                </a:solidFill>
              </a:rPr>
              <a:t>注意</a:t>
            </a:r>
          </a:p>
        </p:txBody>
      </p:sp>
      <p:sp>
        <p:nvSpPr>
          <p:cNvPr id="26" name="文本框 25">
            <a:extLst>
              <a:ext uri="{FF2B5EF4-FFF2-40B4-BE49-F238E27FC236}">
                <a16:creationId xmlns:a16="http://schemas.microsoft.com/office/drawing/2014/main" id="{D3E62C7D-E29A-42F8-8375-02CB33C7533D}"/>
              </a:ext>
            </a:extLst>
          </p:cNvPr>
          <p:cNvSpPr txBox="1"/>
          <p:nvPr/>
        </p:nvSpPr>
        <p:spPr>
          <a:xfrm>
            <a:off x="6782893" y="93971"/>
            <a:ext cx="2456506" cy="646331"/>
          </a:xfrm>
          <a:prstGeom prst="rect">
            <a:avLst/>
          </a:prstGeom>
          <a:noFill/>
        </p:spPr>
        <p:txBody>
          <a:bodyPr wrap="square">
            <a:spAutoFit/>
          </a:bodyPr>
          <a:lstStyle/>
          <a:p>
            <a:r>
              <a:rPr lang="en-US" altLang="zh-CN" b="1" i="0" dirty="0">
                <a:solidFill>
                  <a:srgbClr val="FF0000"/>
                </a:solidFill>
                <a:effectLst/>
                <a:latin typeface="Menlo"/>
              </a:rPr>
              <a:t>M</a:t>
            </a:r>
            <a:r>
              <a:rPr lang="zh-CN" altLang="en-US" b="1" i="0" dirty="0">
                <a:solidFill>
                  <a:srgbClr val="FF0000"/>
                </a:solidFill>
                <a:effectLst/>
                <a:latin typeface="Menlo"/>
              </a:rPr>
              <a:t>语言</a:t>
            </a:r>
            <a:r>
              <a:rPr lang="en-US" altLang="zh-CN" b="1" dirty="0">
                <a:solidFill>
                  <a:srgbClr val="FF0000"/>
                </a:solidFill>
                <a:latin typeface="Menlo"/>
              </a:rPr>
              <a:t>shading faceted,</a:t>
            </a:r>
          </a:p>
          <a:p>
            <a:r>
              <a:rPr lang="en-US" altLang="zh-CN" b="1" dirty="0">
                <a:solidFill>
                  <a:srgbClr val="FF0000"/>
                </a:solidFill>
                <a:latin typeface="Menlo"/>
              </a:rPr>
              <a:t>shading flat</a:t>
            </a:r>
            <a:endParaRPr lang="zh-CN" altLang="en-US" b="1" dirty="0">
              <a:solidFill>
                <a:srgbClr val="FF0000"/>
              </a:solidFill>
            </a:endParaRPr>
          </a:p>
        </p:txBody>
      </p:sp>
      <p:pic>
        <p:nvPicPr>
          <p:cNvPr id="27" name="图片 26">
            <a:extLst>
              <a:ext uri="{FF2B5EF4-FFF2-40B4-BE49-F238E27FC236}">
                <a16:creationId xmlns:a16="http://schemas.microsoft.com/office/drawing/2014/main" id="{838F5B22-D6C1-4D72-B84E-711E90302D46}"/>
              </a:ext>
            </a:extLst>
          </p:cNvPr>
          <p:cNvPicPr>
            <a:picLocks noChangeAspect="1"/>
          </p:cNvPicPr>
          <p:nvPr/>
        </p:nvPicPr>
        <p:blipFill rotWithShape="1">
          <a:blip r:embed="rId7"/>
          <a:srcRect l="50587" t="9930" r="2373" b="52138"/>
          <a:stretch/>
        </p:blipFill>
        <p:spPr>
          <a:xfrm>
            <a:off x="7879254" y="3777857"/>
            <a:ext cx="952078" cy="7365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animBg="1"/>
      <p:bldP spid="13" grpId="0" animBg="1"/>
      <p:bldP spid="14" grpId="0" animBg="1"/>
      <p:bldP spid="15" grpId="0" animBg="1"/>
      <p:bldP spid="16" grpId="1"/>
      <p:bldP spid="17" grpId="0" build="p"/>
      <p:bldP spid="17" grpId="1"/>
      <p:bldP spid="18" grpId="0" animBg="1"/>
      <p:bldP spid="18" grpId="1" animBg="1"/>
      <p:bldP spid="25" grpId="0" animBg="1"/>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3BB8090-7BE4-4FE9-A2A4-D1D86A8EE95D}"/>
              </a:ext>
            </a:extLst>
          </p:cNvPr>
          <p:cNvSpPr txBox="1">
            <a:spLocks noChangeArrowheads="1"/>
          </p:cNvSpPr>
          <p:nvPr/>
        </p:nvSpPr>
        <p:spPr bwMode="auto">
          <a:xfrm>
            <a:off x="2123728" y="49075"/>
            <a:ext cx="7157269" cy="581132"/>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defRPr/>
            </a:pPr>
            <a:r>
              <a:rPr lang="en-US" altLang="zh-CN" sz="2200" dirty="0">
                <a:solidFill>
                  <a:srgbClr val="FF0000"/>
                </a:solidFill>
                <a:latin typeface="华文楷体" panose="02010600040101010101" pitchFamily="2" charset="-122"/>
                <a:ea typeface="华文楷体" panose="02010600040101010101" pitchFamily="2" charset="-122"/>
              </a:rPr>
              <a:t>1.</a:t>
            </a:r>
            <a:r>
              <a:rPr lang="zh-CN" altLang="en-US" sz="2200" dirty="0">
                <a:solidFill>
                  <a:srgbClr val="FF0000"/>
                </a:solidFill>
                <a:latin typeface="华文楷体" panose="02010600040101010101" pitchFamily="2" charset="-122"/>
                <a:ea typeface="华文楷体" panose="02010600040101010101" pitchFamily="2" charset="-122"/>
              </a:rPr>
              <a:t>绘制</a:t>
            </a:r>
            <a:r>
              <a:rPr lang="en-US" altLang="zh-CN" sz="2200" dirty="0">
                <a:solidFill>
                  <a:srgbClr val="FF0000"/>
                </a:solidFill>
                <a:latin typeface="华文楷体" panose="02010600040101010101" pitchFamily="2" charset="-122"/>
                <a:ea typeface="华文楷体" panose="02010600040101010101" pitchFamily="2" charset="-122"/>
              </a:rPr>
              <a:t>z=x^2-y^2-1</a:t>
            </a:r>
            <a:r>
              <a:rPr lang="zh-CN" altLang="en-US" sz="2200" dirty="0">
                <a:solidFill>
                  <a:srgbClr val="FF0000"/>
                </a:solidFill>
                <a:latin typeface="华文楷体" panose="02010600040101010101" pitchFamily="2" charset="-122"/>
                <a:ea typeface="华文楷体" panose="02010600040101010101" pitchFamily="2" charset="-122"/>
              </a:rPr>
              <a:t>网格图</a:t>
            </a:r>
            <a:r>
              <a:rPr lang="en-US" altLang="zh-CN" sz="2200" dirty="0">
                <a:solidFill>
                  <a:srgbClr val="FF0000"/>
                </a:solidFill>
                <a:latin typeface="华文楷体" panose="02010600040101010101" pitchFamily="2" charset="-122"/>
                <a:ea typeface="华文楷体" panose="02010600040101010101" pitchFamily="2" charset="-122"/>
              </a:rPr>
              <a:t>,</a:t>
            </a:r>
            <a:r>
              <a:rPr lang="zh-CN" altLang="en-US" sz="2200" dirty="0">
                <a:solidFill>
                  <a:srgbClr val="FF0000"/>
                </a:solidFill>
                <a:latin typeface="华文楷体" panose="02010600040101010101" pitchFamily="2" charset="-122"/>
                <a:ea typeface="华文楷体" panose="02010600040101010101" pitchFamily="2" charset="-122"/>
              </a:rPr>
              <a:t>曲面</a:t>
            </a:r>
            <a:r>
              <a:rPr kumimoji="0" lang="zh-CN" altLang="en-US" sz="22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j-cs"/>
                <a:sym typeface="Arial" panose="020B0604020202020204" pitchFamily="34" charset="0"/>
              </a:rPr>
              <a:t>图</a:t>
            </a:r>
            <a:r>
              <a:rPr lang="en-US" altLang="zh-CN" sz="2200" dirty="0">
                <a:solidFill>
                  <a:srgbClr val="FF0000"/>
                </a:solidFill>
                <a:latin typeface="华文楷体" panose="02010600040101010101" pitchFamily="2" charset="-122"/>
                <a:ea typeface="华文楷体" panose="02010600040101010101" pitchFamily="2" charset="-122"/>
              </a:rPr>
              <a:t>,</a:t>
            </a:r>
            <a:r>
              <a:rPr kumimoji="0" lang="zh-CN" altLang="en-US" sz="22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j-cs"/>
                <a:sym typeface="Arial" panose="020B0604020202020204" pitchFamily="34" charset="0"/>
              </a:rPr>
              <a:t>等高线</a:t>
            </a:r>
            <a:r>
              <a:rPr lang="zh-CN" altLang="en-US" sz="2200" dirty="0">
                <a:solidFill>
                  <a:srgbClr val="FF0000"/>
                </a:solidFill>
                <a:latin typeface="华文楷体" panose="02010600040101010101" pitchFamily="2" charset="-122"/>
                <a:ea typeface="华文楷体" panose="02010600040101010101" pitchFamily="2" charset="-122"/>
              </a:rPr>
              <a:t>和线图</a:t>
            </a:r>
            <a:r>
              <a:rPr lang="en-US" altLang="zh-CN" sz="2200" dirty="0">
                <a:solidFill>
                  <a:srgbClr val="FF0000"/>
                </a:solidFill>
                <a:latin typeface="华文楷体" panose="02010600040101010101" pitchFamily="2" charset="-122"/>
                <a:ea typeface="华文楷体" panose="02010600040101010101" pitchFamily="2" charset="-122"/>
              </a:rPr>
              <a:t>,</a:t>
            </a:r>
            <a:r>
              <a:rPr lang="en-US" altLang="zh-CN" sz="2200" dirty="0" err="1">
                <a:solidFill>
                  <a:srgbClr val="FF0000"/>
                </a:solidFill>
                <a:latin typeface="华文楷体" panose="02010600040101010101" pitchFamily="2" charset="-122"/>
                <a:ea typeface="华文楷体" panose="02010600040101010101" pitchFamily="2" charset="-122"/>
              </a:rPr>
              <a:t>x,y</a:t>
            </a:r>
            <a:r>
              <a:rPr lang="zh-CN" altLang="en-US" sz="2200" dirty="0">
                <a:solidFill>
                  <a:srgbClr val="FF0000"/>
                </a:solidFill>
                <a:latin typeface="华文楷体" panose="02010600040101010101" pitchFamily="2" charset="-122"/>
                <a:ea typeface="华文楷体" panose="02010600040101010101" pitchFamily="2" charset="-122"/>
              </a:rPr>
              <a:t>∈</a:t>
            </a:r>
            <a:r>
              <a:rPr lang="en-US" altLang="zh-CN" sz="2200" dirty="0">
                <a:solidFill>
                  <a:srgbClr val="FF0000"/>
                </a:solidFill>
                <a:latin typeface="华文楷体" panose="02010600040101010101" pitchFamily="2" charset="-122"/>
                <a:ea typeface="华文楷体" panose="02010600040101010101" pitchFamily="2" charset="-122"/>
              </a:rPr>
              <a:t>[-3,3]</a:t>
            </a:r>
            <a:endParaRPr kumimoji="0" lang="zh-CN" altLang="en-US" sz="2200" b="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隶书" panose="02010509060101010101" charset="-122"/>
              <a:sym typeface="Arial" panose="020B0604020202020204" pitchFamily="34" charset="0"/>
            </a:endParaRPr>
          </a:p>
        </p:txBody>
      </p:sp>
      <p:sp>
        <p:nvSpPr>
          <p:cNvPr id="14" name="文本框 13">
            <a:extLst>
              <a:ext uri="{FF2B5EF4-FFF2-40B4-BE49-F238E27FC236}">
                <a16:creationId xmlns:a16="http://schemas.microsoft.com/office/drawing/2014/main" id="{4FE98A3D-59BF-4BF4-9496-6C9B92DC3D6C}"/>
              </a:ext>
            </a:extLst>
          </p:cNvPr>
          <p:cNvSpPr txBox="1"/>
          <p:nvPr/>
        </p:nvSpPr>
        <p:spPr>
          <a:xfrm>
            <a:off x="-10373" y="75232"/>
            <a:ext cx="2308069" cy="494944"/>
          </a:xfrm>
          <a:prstGeom prst="rect">
            <a:avLst/>
          </a:prstGeom>
          <a:solidFill>
            <a:schemeClr val="bg1"/>
          </a:solidFill>
        </p:spPr>
        <p:txBody>
          <a:bodyPr wrap="square">
            <a:spAutoFit/>
          </a:bodyPr>
          <a:lstStyle/>
          <a:p>
            <a:pPr>
              <a:lnSpc>
                <a:spcPct val="150000"/>
              </a:lnSpc>
            </a:pPr>
            <a:r>
              <a:rPr lang="zh-CN" altLang="en-US" sz="2000" b="1" kern="1800" dirty="0">
                <a:solidFill>
                  <a:schemeClr val="bg1"/>
                </a:solidFill>
                <a:highlight>
                  <a:srgbClr val="FF0000"/>
                </a:highlight>
                <a:latin typeface="等线" panose="02010600030101010101" pitchFamily="2" charset="-122"/>
                <a:ea typeface="黑体" panose="02010609060101010101" pitchFamily="49" charset="-122"/>
              </a:rPr>
              <a:t>离散数据</a:t>
            </a:r>
            <a:r>
              <a:rPr lang="zh-CN" altLang="en-US" sz="2000" b="1" kern="1800" dirty="0">
                <a:solidFill>
                  <a:schemeClr val="bg1"/>
                </a:solidFill>
                <a:effectLst/>
                <a:highlight>
                  <a:srgbClr val="FF0000"/>
                </a:highlight>
                <a:latin typeface="等线" panose="02010600030101010101" pitchFamily="2" charset="-122"/>
                <a:ea typeface="黑体" panose="02010609060101010101" pitchFamily="49" charset="-122"/>
                <a:cs typeface="宋体" panose="02010600030101010101" pitchFamily="2" charset="-122"/>
              </a:rPr>
              <a:t>绘图案例</a:t>
            </a:r>
            <a:endParaRPr lang="zh-CN" altLang="zh-CN" sz="2000" dirty="0">
              <a:solidFill>
                <a:schemeClr val="bg1"/>
              </a:solidFill>
              <a:highlight>
                <a:srgbClr val="FF0000"/>
              </a:highlight>
              <a:latin typeface="华文细黑" pitchFamily="2" charset="-122"/>
              <a:ea typeface="华文细黑" pitchFamily="2" charset="-122"/>
            </a:endParaRPr>
          </a:p>
        </p:txBody>
      </p:sp>
      <p:sp>
        <p:nvSpPr>
          <p:cNvPr id="7" name="文本框 6">
            <a:extLst>
              <a:ext uri="{FF2B5EF4-FFF2-40B4-BE49-F238E27FC236}">
                <a16:creationId xmlns:a16="http://schemas.microsoft.com/office/drawing/2014/main" id="{34149AA4-551E-4830-B9A3-B7C8D3808AAF}"/>
              </a:ext>
            </a:extLst>
          </p:cNvPr>
          <p:cNvSpPr txBox="1"/>
          <p:nvPr/>
        </p:nvSpPr>
        <p:spPr>
          <a:xfrm>
            <a:off x="1836" y="677490"/>
            <a:ext cx="9059983" cy="4524315"/>
          </a:xfrm>
          <a:prstGeom prst="rect">
            <a:avLst/>
          </a:prstGeom>
          <a:solidFill>
            <a:schemeClr val="bg1"/>
          </a:solidFill>
        </p:spPr>
        <p:txBody>
          <a:bodyPr wrap="square">
            <a:spAutoFit/>
          </a:bodyPr>
          <a:lstStyle/>
          <a:p>
            <a:r>
              <a:rPr lang="en-US" altLang="zh-CN" sz="1600" b="0" dirty="0">
                <a:solidFill>
                  <a:srgbClr val="000000"/>
                </a:solidFill>
                <a:effectLst/>
                <a:latin typeface="Consolas" panose="020B0609020204030204" pitchFamily="49" charset="0"/>
              </a:rPr>
              <a:t>xx=</a:t>
            </a:r>
            <a:r>
              <a:rPr lang="en-US" altLang="zh-CN" sz="1600" b="0" dirty="0" err="1">
                <a:solidFill>
                  <a:srgbClr val="795E26"/>
                </a:solidFill>
                <a:effectLst/>
                <a:latin typeface="Consolas" panose="020B0609020204030204" pitchFamily="49" charset="0"/>
              </a:rPr>
              <a:t>LinRange</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#x</a:t>
            </a:r>
            <a:r>
              <a:rPr lang="zh-CN" altLang="en-US" sz="1600" b="0" dirty="0">
                <a:solidFill>
                  <a:srgbClr val="008000"/>
                </a:solidFill>
                <a:effectLst/>
                <a:latin typeface="Consolas" panose="020B0609020204030204" pitchFamily="49" charset="0"/>
              </a:rPr>
              <a:t>和</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轴都离散成线性等分向量</a:t>
            </a:r>
            <a:endParaRPr lang="zh-CN" altLang="en-US" sz="1600" b="0" dirty="0">
              <a:solidFill>
                <a:srgbClr val="000000"/>
              </a:solidFill>
              <a:effectLst/>
              <a:latin typeface="Consolas" panose="020B0609020204030204" pitchFamily="49" charset="0"/>
            </a:endParaRPr>
          </a:p>
          <a:p>
            <a:r>
              <a:rPr lang="en-US" altLang="zh-CN" sz="1600" b="0" dirty="0">
                <a:solidFill>
                  <a:srgbClr val="000000"/>
                </a:solidFill>
                <a:effectLst/>
                <a:latin typeface="Consolas" panose="020B0609020204030204" pitchFamily="49" charset="0"/>
              </a:rPr>
              <a:t>x, y=</a:t>
            </a:r>
            <a:r>
              <a:rPr lang="en-US" altLang="zh-CN" sz="1600" b="0" dirty="0">
                <a:solidFill>
                  <a:srgbClr val="795E26"/>
                </a:solidFill>
                <a:effectLst/>
                <a:latin typeface="Consolas" panose="020B0609020204030204" pitchFamily="49" charset="0"/>
              </a:rPr>
              <a:t>meshgrid2</a:t>
            </a:r>
            <a:r>
              <a:rPr lang="en-US" altLang="zh-CN" sz="1600" b="0" dirty="0">
                <a:solidFill>
                  <a:srgbClr val="000000"/>
                </a:solidFill>
                <a:effectLst/>
                <a:latin typeface="Consolas" panose="020B0609020204030204" pitchFamily="49" charset="0"/>
              </a:rPr>
              <a:t>(xx); </a:t>
            </a:r>
            <a:r>
              <a:rPr lang="en-US" altLang="zh-CN" sz="1600" b="0" dirty="0">
                <a:solidFill>
                  <a:srgbClr val="008000"/>
                </a:solidFill>
                <a:effectLst/>
                <a:latin typeface="Consolas" panose="020B0609020204030204" pitchFamily="49" charset="0"/>
              </a:rPr>
              <a:t>#x</a:t>
            </a:r>
            <a:r>
              <a:rPr lang="zh-CN" altLang="en-US" sz="1600" b="0" dirty="0">
                <a:solidFill>
                  <a:srgbClr val="008000"/>
                </a:solidFill>
                <a:effectLst/>
                <a:latin typeface="Consolas" panose="020B0609020204030204" pitchFamily="49" charset="0"/>
              </a:rPr>
              <a:t>和</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网格矩阵</a:t>
            </a:r>
            <a:endParaRPr lang="zh-CN" altLang="en-US" sz="1600" b="0" dirty="0">
              <a:solidFill>
                <a:srgbClr val="000000"/>
              </a:solidFill>
              <a:effectLst/>
              <a:latin typeface="Consolas" panose="020B0609020204030204" pitchFamily="49" charset="0"/>
            </a:endParaRPr>
          </a:p>
          <a:p>
            <a:r>
              <a:rPr lang="en-US" altLang="zh-CN" sz="1600" b="0" dirty="0">
                <a:solidFill>
                  <a:srgbClr val="000000"/>
                </a:solidFill>
                <a:effectLst/>
                <a:latin typeface="Consolas" panose="020B0609020204030204" pitchFamily="49" charset="0"/>
              </a:rPr>
              <a:t>z=</a:t>
            </a:r>
            <a:r>
              <a:rPr lang="en-US" altLang="zh-CN" sz="1600" b="0" dirty="0">
                <a:solidFill>
                  <a:srgbClr val="795E26"/>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建立</a:t>
            </a:r>
            <a:r>
              <a:rPr lang="en-US" altLang="zh-CN" sz="1600" b="0" dirty="0" err="1">
                <a:solidFill>
                  <a:srgbClr val="008000"/>
                </a:solidFill>
                <a:effectLst/>
                <a:latin typeface="Consolas" panose="020B0609020204030204" pitchFamily="49" charset="0"/>
              </a:rPr>
              <a:t>zz</a:t>
            </a:r>
            <a:r>
              <a:rPr lang="en-US" altLang="zh-CN" sz="1600" b="0" dirty="0">
                <a:solidFill>
                  <a:srgbClr val="008000"/>
                </a:solidFill>
                <a:effectLst/>
                <a:latin typeface="Consolas" panose="020B0609020204030204" pitchFamily="49" charset="0"/>
              </a:rPr>
              <a:t> (</a:t>
            </a:r>
            <a:r>
              <a:rPr lang="en-US" altLang="zh-CN" sz="1600" b="0" dirty="0" err="1">
                <a:solidFill>
                  <a:srgbClr val="008000"/>
                </a:solidFill>
                <a:effectLst/>
                <a:latin typeface="Consolas" panose="020B0609020204030204" pitchFamily="49" charset="0"/>
              </a:rPr>
              <a:t>x,y</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简化函数</a:t>
            </a:r>
            <a:endParaRPr lang="zh-CN" altLang="en-US" sz="1600" b="0" dirty="0">
              <a:solidFill>
                <a:srgbClr val="000000"/>
              </a:solidFill>
              <a:effectLst/>
              <a:latin typeface="Consolas" panose="020B0609020204030204" pitchFamily="49" charset="0"/>
            </a:endParaRPr>
          </a:p>
          <a:p>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创建</a:t>
            </a:r>
            <a:r>
              <a:rPr lang="en-US" altLang="zh-CN" sz="1600" b="0" dirty="0">
                <a:solidFill>
                  <a:srgbClr val="008000"/>
                </a:solidFill>
                <a:effectLst/>
                <a:latin typeface="Consolas" panose="020B0609020204030204" pitchFamily="49" charset="0"/>
              </a:rPr>
              <a:t>2</a:t>
            </a:r>
            <a:r>
              <a:rPr lang="zh-CN" altLang="en-US" sz="1600" b="0" dirty="0">
                <a:solidFill>
                  <a:srgbClr val="008000"/>
                </a:solidFill>
                <a:effectLst/>
                <a:latin typeface="Consolas" panose="020B0609020204030204" pitchFamily="49" charset="0"/>
              </a:rPr>
              <a:t>行</a:t>
            </a:r>
            <a:r>
              <a:rPr lang="en-US" altLang="zh-CN" sz="1600" b="0" dirty="0">
                <a:solidFill>
                  <a:srgbClr val="008000"/>
                </a:solidFill>
                <a:effectLst/>
                <a:latin typeface="Consolas" panose="020B0609020204030204" pitchFamily="49" charset="0"/>
              </a:rPr>
              <a:t>3</a:t>
            </a:r>
            <a:r>
              <a:rPr lang="zh-CN" altLang="en-US" sz="1600" b="0" dirty="0">
                <a:solidFill>
                  <a:srgbClr val="008000"/>
                </a:solidFill>
                <a:effectLst/>
                <a:latin typeface="Consolas" panose="020B0609020204030204" pitchFamily="49" charset="0"/>
              </a:rPr>
              <a:t>列网格的第</a:t>
            </a:r>
            <a:r>
              <a:rPr lang="en-US" altLang="zh-CN" sz="1600" b="0" dirty="0">
                <a:solidFill>
                  <a:srgbClr val="008000"/>
                </a:solidFill>
                <a:effectLst/>
                <a:latin typeface="Consolas" panose="020B0609020204030204" pitchFamily="49" charset="0"/>
              </a:rPr>
              <a:t>1</a:t>
            </a:r>
            <a:r>
              <a:rPr lang="zh-CN" altLang="en-US" sz="1600" b="0" dirty="0">
                <a:solidFill>
                  <a:srgbClr val="008000"/>
                </a:solidFill>
                <a:effectLst/>
                <a:latin typeface="Consolas" panose="020B0609020204030204" pitchFamily="49" charset="0"/>
              </a:rPr>
              <a:t>子图来绘制网格图</a:t>
            </a:r>
            <a:endParaRPr lang="zh-CN" altLang="en-US" sz="1600" b="0" dirty="0">
              <a:solidFill>
                <a:srgbClr val="000000"/>
              </a:solidFill>
              <a:effectLst/>
              <a:latin typeface="Consolas" panose="020B0609020204030204" pitchFamily="49" charset="0"/>
            </a:endParaRPr>
          </a:p>
          <a:p>
            <a:r>
              <a:rPr lang="en-US" altLang="zh-CN" sz="1600" b="0" dirty="0">
                <a:solidFill>
                  <a:srgbClr val="795E26"/>
                </a:solidFill>
                <a:effectLst/>
                <a:latin typeface="Consolas" panose="020B0609020204030204" pitchFamily="49" charset="0"/>
              </a:rPr>
              <a:t>mesh</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x,y,z</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根据</a:t>
            </a:r>
            <a:r>
              <a:rPr lang="en-US" altLang="zh-CN" sz="1600" b="0" dirty="0">
                <a:solidFill>
                  <a:srgbClr val="008000"/>
                </a:solidFill>
                <a:effectLst/>
                <a:latin typeface="Consolas" panose="020B0609020204030204" pitchFamily="49" charset="0"/>
              </a:rPr>
              <a:t>x</a:t>
            </a:r>
            <a:r>
              <a:rPr lang="zh-CN" altLang="en-US" sz="1600" b="0" dirty="0">
                <a:solidFill>
                  <a:srgbClr val="008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和</a:t>
            </a:r>
            <a:r>
              <a:rPr lang="en-US" altLang="zh-CN" sz="1600" b="0" dirty="0" err="1">
                <a:solidFill>
                  <a:srgbClr val="008000"/>
                </a:solidFill>
                <a:effectLst/>
                <a:latin typeface="Consolas" panose="020B0609020204030204" pitchFamily="49" charset="0"/>
              </a:rPr>
              <a:t>zz</a:t>
            </a:r>
            <a:r>
              <a:rPr lang="zh-CN" altLang="en-US" sz="1600" b="0" dirty="0">
                <a:solidFill>
                  <a:srgbClr val="008000"/>
                </a:solidFill>
                <a:effectLst/>
                <a:latin typeface="Consolas" panose="020B0609020204030204" pitchFamily="49" charset="0"/>
              </a:rPr>
              <a:t>的网格矩阵绘制网格图</a:t>
            </a:r>
            <a:endParaRPr lang="zh-CN" altLang="en-US" sz="1600" b="0" dirty="0">
              <a:solidFill>
                <a:srgbClr val="000000"/>
              </a:solidFill>
              <a:effectLst/>
              <a:latin typeface="Consolas" panose="020B0609020204030204" pitchFamily="49" charset="0"/>
            </a:endParaRPr>
          </a:p>
          <a:p>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网格图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创建</a:t>
            </a:r>
            <a:r>
              <a:rPr lang="en-US" altLang="zh-CN" sz="1600" b="0" dirty="0">
                <a:solidFill>
                  <a:srgbClr val="008000"/>
                </a:solidFill>
                <a:effectLst/>
                <a:latin typeface="Consolas" panose="020B0609020204030204" pitchFamily="49" charset="0"/>
              </a:rPr>
              <a:t>2</a:t>
            </a:r>
            <a:r>
              <a:rPr lang="zh-CN" altLang="en-US" sz="1600" b="0" dirty="0">
                <a:solidFill>
                  <a:srgbClr val="008000"/>
                </a:solidFill>
                <a:effectLst/>
                <a:latin typeface="Consolas" panose="020B0609020204030204" pitchFamily="49" charset="0"/>
              </a:rPr>
              <a:t>行</a:t>
            </a:r>
            <a:r>
              <a:rPr lang="en-US" altLang="zh-CN" sz="1600" b="0" dirty="0">
                <a:solidFill>
                  <a:srgbClr val="008000"/>
                </a:solidFill>
                <a:effectLst/>
                <a:latin typeface="Consolas" panose="020B0609020204030204" pitchFamily="49" charset="0"/>
              </a:rPr>
              <a:t>3</a:t>
            </a:r>
            <a:r>
              <a:rPr lang="zh-CN" altLang="en-US" sz="1600" b="0" dirty="0">
                <a:solidFill>
                  <a:srgbClr val="008000"/>
                </a:solidFill>
                <a:effectLst/>
                <a:latin typeface="Consolas" panose="020B0609020204030204" pitchFamily="49" charset="0"/>
              </a:rPr>
              <a:t>列网格的第</a:t>
            </a:r>
            <a:r>
              <a:rPr lang="en-US" altLang="zh-CN" sz="1600" b="0" dirty="0">
                <a:solidFill>
                  <a:srgbClr val="008000"/>
                </a:solidFill>
                <a:effectLst/>
                <a:latin typeface="Consolas" panose="020B0609020204030204" pitchFamily="49" charset="0"/>
              </a:rPr>
              <a:t>2</a:t>
            </a:r>
            <a:r>
              <a:rPr lang="zh-CN" altLang="en-US" sz="1600" b="0" dirty="0">
                <a:solidFill>
                  <a:srgbClr val="008000"/>
                </a:solidFill>
                <a:effectLst/>
                <a:latin typeface="Consolas" panose="020B0609020204030204" pitchFamily="49" charset="0"/>
              </a:rPr>
              <a:t>子图来绘制等高线曲面</a:t>
            </a:r>
            <a:endParaRPr lang="zh-CN" altLang="en-US" sz="1600" b="0" dirty="0">
              <a:solidFill>
                <a:srgbClr val="000000"/>
              </a:solidFill>
              <a:effectLst/>
              <a:latin typeface="Consolas" panose="020B0609020204030204" pitchFamily="49" charset="0"/>
            </a:endParaRPr>
          </a:p>
          <a:p>
            <a:r>
              <a:rPr lang="en-US" altLang="zh-CN" sz="1600" b="0" dirty="0">
                <a:solidFill>
                  <a:srgbClr val="000000"/>
                </a:solidFill>
                <a:effectLst/>
                <a:latin typeface="Consolas" panose="020B0609020204030204" pitchFamily="49" charset="0"/>
              </a:rPr>
              <a:t>s=</a:t>
            </a:r>
            <a:r>
              <a:rPr lang="en-US" altLang="zh-CN" sz="1600" b="0" dirty="0">
                <a:solidFill>
                  <a:srgbClr val="795E26"/>
                </a:solidFill>
                <a:effectLst/>
                <a:latin typeface="Consolas" panose="020B0609020204030204" pitchFamily="49" charset="0"/>
              </a:rPr>
              <a:t>surf</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x,y,z</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绘制句柄为</a:t>
            </a:r>
            <a:r>
              <a:rPr lang="en-US" altLang="zh-CN" sz="1600" b="0" dirty="0">
                <a:solidFill>
                  <a:srgbClr val="008000"/>
                </a:solidFill>
                <a:effectLst/>
                <a:latin typeface="Consolas" panose="020B0609020204030204" pitchFamily="49" charset="0"/>
              </a:rPr>
              <a:t>s</a:t>
            </a:r>
            <a:r>
              <a:rPr lang="zh-CN" altLang="en-US" sz="1600" b="0" dirty="0">
                <a:solidFill>
                  <a:srgbClr val="008000"/>
                </a:solidFill>
                <a:effectLst/>
                <a:latin typeface="Consolas" panose="020B0609020204030204" pitchFamily="49" charset="0"/>
              </a:rPr>
              <a:t>曲面图 </a:t>
            </a:r>
            <a:endParaRPr lang="zh-CN" altLang="en-US" sz="1600" b="0" dirty="0">
              <a:solidFill>
                <a:srgbClr val="000000"/>
              </a:solidFill>
              <a:effectLst/>
              <a:latin typeface="Consolas" panose="020B0609020204030204" pitchFamily="49" charset="0"/>
            </a:endParaRPr>
          </a:p>
          <a:p>
            <a:r>
              <a:rPr lang="en-US" altLang="zh-CN" sz="1600" b="1" dirty="0">
                <a:solidFill>
                  <a:srgbClr val="FF0000"/>
                </a:solidFill>
                <a:effectLst/>
                <a:latin typeface="Consolas" panose="020B0609020204030204" pitchFamily="49" charset="0"/>
              </a:rPr>
              <a:t>shading(</a:t>
            </a:r>
            <a:r>
              <a:rPr lang="en-US" altLang="zh-CN" sz="1600" b="1" dirty="0" err="1">
                <a:solidFill>
                  <a:srgbClr val="FF0000"/>
                </a:solidFill>
                <a:effectLst/>
                <a:latin typeface="Consolas" panose="020B0609020204030204" pitchFamily="49" charset="0"/>
              </a:rPr>
              <a:t>s,"flat</a:t>
            </a:r>
            <a:r>
              <a:rPr lang="en-US" altLang="zh-CN" sz="1600" b="1" dirty="0">
                <a:solidFill>
                  <a:srgbClr val="FF0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对</a:t>
            </a:r>
            <a:r>
              <a:rPr lang="en-US" altLang="zh-CN" sz="1600" b="0" dirty="0">
                <a:solidFill>
                  <a:srgbClr val="008000"/>
                </a:solidFill>
                <a:effectLst/>
                <a:latin typeface="Consolas" panose="020B0609020204030204" pitchFamily="49" charset="0"/>
              </a:rPr>
              <a:t>s</a:t>
            </a:r>
            <a:r>
              <a:rPr lang="zh-CN" altLang="en-US" sz="1600" b="0" dirty="0">
                <a:solidFill>
                  <a:srgbClr val="008000"/>
                </a:solidFill>
                <a:effectLst/>
                <a:latin typeface="Consolas" panose="020B0609020204030204" pitchFamily="49" charset="0"/>
              </a:rPr>
              <a:t>曲面图进行光滑着色对</a:t>
            </a:r>
            <a:r>
              <a:rPr lang="en-US" altLang="zh-CN" sz="1600" b="0" dirty="0">
                <a:solidFill>
                  <a:srgbClr val="008000"/>
                </a:solidFill>
                <a:effectLst/>
                <a:latin typeface="Consolas" panose="020B0609020204030204" pitchFamily="49" charset="0"/>
              </a:rPr>
              <a:t>s</a:t>
            </a:r>
            <a:r>
              <a:rPr lang="zh-CN" altLang="en-US" sz="1600" b="0" dirty="0">
                <a:solidFill>
                  <a:srgbClr val="008000"/>
                </a:solidFill>
                <a:effectLst/>
                <a:latin typeface="Consolas" panose="020B0609020204030204" pitchFamily="49" charset="0"/>
              </a:rPr>
              <a:t>曲面图进行光滑着色 </a:t>
            </a:r>
            <a:endParaRPr lang="zh-CN" altLang="en-US" sz="1600" b="0" dirty="0">
              <a:solidFill>
                <a:srgbClr val="000000"/>
              </a:solidFill>
              <a:effectLst/>
              <a:latin typeface="Consolas" panose="020B0609020204030204" pitchFamily="49" charset="0"/>
            </a:endParaRPr>
          </a:p>
          <a:p>
            <a:r>
              <a:rPr lang="en-US" altLang="zh-CN" sz="1600" b="1" dirty="0">
                <a:solidFill>
                  <a:srgbClr val="FF0000"/>
                </a:solidFill>
                <a:latin typeface="Consolas" panose="020B0609020204030204" pitchFamily="49" charset="0"/>
              </a:rPr>
              <a:t>axis("off") </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不显示坐标轴线和标签 </a:t>
            </a:r>
            <a:endParaRPr lang="en-US" altLang="zh-CN" sz="1600" b="0" dirty="0">
              <a:solidFill>
                <a:srgbClr val="008000"/>
              </a:solidFill>
              <a:effectLst/>
              <a:latin typeface="Consolas" panose="020B0609020204030204" pitchFamily="49" charset="0"/>
            </a:endParaRPr>
          </a:p>
          <a:p>
            <a:r>
              <a:rPr lang="en-US" altLang="zh-CN" sz="1600" b="0" dirty="0">
                <a:solidFill>
                  <a:srgbClr val="795E26"/>
                </a:solidFill>
                <a:effectLst/>
                <a:latin typeface="Consolas" panose="020B0609020204030204" pitchFamily="49" charset="0"/>
              </a:rPr>
              <a:t>colormap</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s,</a:t>
            </a:r>
            <a:r>
              <a:rPr lang="en-US" altLang="zh-CN" sz="1600" b="1" dirty="0" err="1">
                <a:solidFill>
                  <a:srgbClr val="FF0000"/>
                </a:solidFill>
                <a:effectLst/>
                <a:latin typeface="Consolas" panose="020B0609020204030204" pitchFamily="49" charset="0"/>
              </a:rPr>
              <a:t>"</a:t>
            </a:r>
            <a:r>
              <a:rPr lang="en-US" altLang="zh-CN" sz="1600" b="0" dirty="0" err="1">
                <a:solidFill>
                  <a:srgbClr val="A31515"/>
                </a:solidFill>
                <a:effectLst/>
                <a:latin typeface="Consolas" panose="020B0609020204030204" pitchFamily="49" charset="0"/>
              </a:rPr>
              <a:t>hot</a:t>
            </a:r>
            <a:r>
              <a:rPr lang="en-US" altLang="zh-CN" sz="1600" b="1" dirty="0">
                <a:solidFill>
                  <a:srgbClr val="FF0000"/>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做成火红色</a:t>
            </a:r>
            <a:endParaRPr lang="en-US" altLang="zh-CN" sz="1600" b="0" dirty="0">
              <a:solidFill>
                <a:srgbClr val="000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colorbar</a:t>
            </a:r>
            <a:r>
              <a:rPr lang="en-US" altLang="zh-CN" sz="1600" b="0" dirty="0">
                <a:solidFill>
                  <a:srgbClr val="000000"/>
                </a:solidFill>
                <a:effectLst/>
                <a:latin typeface="Consolas" panose="020B0609020204030204" pitchFamily="49" charset="0"/>
              </a:rPr>
              <a:t>(s) </a:t>
            </a:r>
            <a:r>
              <a:rPr lang="en-US" altLang="zh-CN" sz="1600" b="1" dirty="0">
                <a:solidFill>
                  <a:srgbClr val="FF0000"/>
                </a:solidFill>
                <a:effectLst/>
                <a:latin typeface="Consolas" panose="020B0609020204030204" pitchFamily="49" charset="0"/>
              </a:rPr>
              <a:t>#</a:t>
            </a:r>
            <a:r>
              <a:rPr lang="zh-CN" altLang="en-US" sz="1600" b="1" dirty="0">
                <a:solidFill>
                  <a:srgbClr val="FF0000"/>
                </a:solidFill>
                <a:effectLst/>
                <a:latin typeface="Consolas" panose="020B0609020204030204" pitchFamily="49" charset="0"/>
              </a:rPr>
              <a:t>标注颜色条</a:t>
            </a:r>
            <a:endParaRPr lang="en-US" altLang="zh-CN" sz="1600" b="0" dirty="0">
              <a:solidFill>
                <a:srgbClr val="000000"/>
              </a:solidFill>
              <a:effectLst/>
              <a:latin typeface="Consolas" panose="020B0609020204030204" pitchFamily="49" charset="0"/>
            </a:endParaRPr>
          </a:p>
          <a:p>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光滑着色曲面</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p>
          <a:p>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);c=</a:t>
            </a:r>
            <a:r>
              <a:rPr lang="en-US" altLang="zh-CN" sz="1600" b="0" dirty="0">
                <a:solidFill>
                  <a:srgbClr val="795E26"/>
                </a:solidFill>
                <a:effectLst/>
                <a:latin typeface="Consolas" panose="020B0609020204030204" pitchFamily="49" charset="0"/>
              </a:rPr>
              <a:t>contour</a:t>
            </a:r>
            <a:r>
              <a:rPr lang="en-US" altLang="zh-CN" sz="1600" b="0" dirty="0">
                <a:solidFill>
                  <a:srgbClr val="000000"/>
                </a:solidFill>
                <a:effectLst/>
                <a:latin typeface="Consolas" panose="020B0609020204030204" pitchFamily="49" charset="0"/>
              </a:rPr>
              <a:t>(x,y,z,</a:t>
            </a:r>
            <a:r>
              <a:rPr lang="en-US" altLang="zh-CN" sz="1600" b="0" dirty="0">
                <a:solidFill>
                  <a:srgbClr val="098658"/>
                </a:solidFill>
                <a:effectLst/>
                <a:latin typeface="Consolas" panose="020B0609020204030204" pitchFamily="49" charset="0"/>
              </a:rPr>
              <a:t>30</a:t>
            </a:r>
            <a:r>
              <a:rPr lang="en-US" altLang="zh-CN" sz="1600" b="0" dirty="0">
                <a:solidFill>
                  <a:srgbClr val="000000"/>
                </a:solidFill>
                <a:effectLst/>
                <a:latin typeface="Consolas" panose="020B0609020204030204" pitchFamily="49" charset="0"/>
              </a:rPr>
              <a:t>);</a:t>
            </a:r>
          </a:p>
          <a:p>
            <a:r>
              <a:rPr lang="en-US" altLang="zh-CN" sz="1600" b="0" dirty="0" err="1">
                <a:solidFill>
                  <a:srgbClr val="795E26"/>
                </a:solidFill>
                <a:effectLst/>
                <a:latin typeface="Consolas" panose="020B0609020204030204" pitchFamily="49" charset="0"/>
              </a:rPr>
              <a:t>clabel</a:t>
            </a:r>
            <a:r>
              <a:rPr lang="en-US" altLang="zh-CN" sz="1600" b="0" dirty="0">
                <a:solidFill>
                  <a:srgbClr val="000000"/>
                </a:solidFill>
                <a:effectLst/>
                <a:latin typeface="Consolas" panose="020B0609020204030204" pitchFamily="49" charset="0"/>
              </a:rPr>
              <a:t>(c);</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水平投影带标签等高线</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p>
          <a:p>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plot3</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x,y,z</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"-or"</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三维线图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p>
          <a:p>
            <a:r>
              <a:rPr lang="en-US" altLang="zh-CN" sz="1600" b="0" dirty="0">
                <a:solidFill>
                  <a:srgbClr val="795E26"/>
                </a:solidFill>
                <a:effectLst/>
                <a:latin typeface="Consolas" panose="020B0609020204030204" pitchFamily="49" charset="0"/>
              </a:rPr>
              <a:t>axis</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 ; </a:t>
            </a:r>
          </a:p>
          <a:p>
            <a:r>
              <a:rPr lang="en-US" altLang="zh-CN" sz="1600" b="0" dirty="0" err="1">
                <a:solidFill>
                  <a:srgbClr val="795E26"/>
                </a:solidFill>
                <a:effectLst/>
                <a:latin typeface="Consolas" panose="020B0609020204030204" pitchFamily="49" charset="0"/>
              </a:rPr>
              <a:t>tightlayout</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防止题目和曲线重叠</a:t>
            </a:r>
            <a:endParaRPr lang="zh-CN" altLang="en-US" sz="1600" b="0" dirty="0">
              <a:solidFill>
                <a:srgbClr val="000000"/>
              </a:solidFill>
              <a:effectLst/>
              <a:latin typeface="Consolas" panose="020B0609020204030204" pitchFamily="49" charset="0"/>
            </a:endParaRPr>
          </a:p>
        </p:txBody>
      </p:sp>
      <p:pic>
        <p:nvPicPr>
          <p:cNvPr id="3" name="图片 2">
            <a:extLst>
              <a:ext uri="{FF2B5EF4-FFF2-40B4-BE49-F238E27FC236}">
                <a16:creationId xmlns:a16="http://schemas.microsoft.com/office/drawing/2014/main" id="{2A4AC488-5732-4319-85C2-E1F25BFAC68B}"/>
              </a:ext>
            </a:extLst>
          </p:cNvPr>
          <p:cNvPicPr>
            <a:picLocks noChangeAspect="1"/>
          </p:cNvPicPr>
          <p:nvPr/>
        </p:nvPicPr>
        <p:blipFill>
          <a:blip r:embed="rId2"/>
          <a:stretch>
            <a:fillRect/>
          </a:stretch>
        </p:blipFill>
        <p:spPr>
          <a:xfrm>
            <a:off x="5076056" y="987574"/>
            <a:ext cx="3985764" cy="3823994"/>
          </a:xfrm>
          <a:prstGeom prst="rect">
            <a:avLst/>
          </a:prstGeom>
        </p:spPr>
      </p:pic>
      <p:sp>
        <p:nvSpPr>
          <p:cNvPr id="15" name="矩形 14">
            <a:extLst>
              <a:ext uri="{FF2B5EF4-FFF2-40B4-BE49-F238E27FC236}">
                <a16:creationId xmlns:a16="http://schemas.microsoft.com/office/drawing/2014/main" id="{9519205E-1148-40FA-B272-980F7F1A7B4E}"/>
              </a:ext>
            </a:extLst>
          </p:cNvPr>
          <p:cNvSpPr/>
          <p:nvPr/>
        </p:nvSpPr>
        <p:spPr>
          <a:xfrm>
            <a:off x="5342322" y="3045737"/>
            <a:ext cx="265392"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3</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92FE7FF6-4063-4DA9-9E0F-5DDE1ECCDD68}"/>
              </a:ext>
            </a:extLst>
          </p:cNvPr>
          <p:cNvSpPr/>
          <p:nvPr/>
        </p:nvSpPr>
        <p:spPr>
          <a:xfrm>
            <a:off x="7380312" y="3302863"/>
            <a:ext cx="265264" cy="276999"/>
          </a:xfrm>
          <a:prstGeom prst="rect">
            <a:avLst/>
          </a:prstGeom>
          <a:solidFill>
            <a:srgbClr val="FFC000">
              <a:alpha val="57000"/>
            </a:srgbClr>
          </a:solidFill>
        </p:spPr>
        <p:txBody>
          <a:bodyPr wrap="square">
            <a:spAutoFit/>
          </a:bodyPr>
          <a:lstStyle/>
          <a:p>
            <a:r>
              <a:rPr lang="en-US" altLang="zh-CN" sz="1200" dirty="0">
                <a:solidFill>
                  <a:srgbClr val="FFFF00"/>
                </a:solidFill>
                <a:highlight>
                  <a:srgbClr val="FF0000"/>
                </a:highlight>
                <a:latin typeface="Times New Roman" panose="02020603050405020304" pitchFamily="18" charset="0"/>
                <a:cs typeface="Times New Roman" panose="02020603050405020304" pitchFamily="18" charset="0"/>
              </a:rPr>
              <a:t>4</a:t>
            </a:r>
            <a:endParaRPr lang="zh-CN" altLang="en-US" sz="12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1AF2C64A-9CF6-47ED-B9A3-33AC3098E903}"/>
              </a:ext>
            </a:extLst>
          </p:cNvPr>
          <p:cNvSpPr/>
          <p:nvPr/>
        </p:nvSpPr>
        <p:spPr>
          <a:xfrm>
            <a:off x="5296646" y="1523531"/>
            <a:ext cx="265264"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1</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1DA9AB4D-0485-4623-95E7-A4FAEC143654}"/>
              </a:ext>
            </a:extLst>
          </p:cNvPr>
          <p:cNvSpPr/>
          <p:nvPr/>
        </p:nvSpPr>
        <p:spPr>
          <a:xfrm>
            <a:off x="7176151" y="1617899"/>
            <a:ext cx="265264" cy="307777"/>
          </a:xfrm>
          <a:prstGeom prst="rect">
            <a:avLst/>
          </a:prstGeom>
          <a:solidFill>
            <a:srgbClr val="FFC000">
              <a:alpha val="57000"/>
            </a:srgbClr>
          </a:solidFill>
        </p:spPr>
        <p:txBody>
          <a:bodyPr wrap="square">
            <a:spAutoFit/>
          </a:bodyPr>
          <a:lstStyle/>
          <a:p>
            <a:r>
              <a:rPr lang="en-US" altLang="zh-CN" sz="1400" dirty="0">
                <a:solidFill>
                  <a:srgbClr val="FFFF00"/>
                </a:solidFill>
                <a:highlight>
                  <a:srgbClr val="FF0000"/>
                </a:highlight>
                <a:latin typeface="Times New Roman" panose="02020603050405020304" pitchFamily="18" charset="0"/>
                <a:cs typeface="Times New Roman" panose="02020603050405020304" pitchFamily="18" charset="0"/>
              </a:rPr>
              <a:t>2</a:t>
            </a:r>
            <a:endParaRPr lang="zh-CN" altLang="en-US" sz="1400" dirty="0">
              <a:solidFill>
                <a:srgbClr val="FFFF00"/>
              </a:solidFill>
              <a:highlight>
                <a:srgbClr val="FF00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8558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E29C4D3-E718-4ED4-8C6F-53A63D4DF143}"/>
              </a:ext>
            </a:extLst>
          </p:cNvPr>
          <p:cNvSpPr txBox="1"/>
          <p:nvPr/>
        </p:nvSpPr>
        <p:spPr>
          <a:xfrm>
            <a:off x="38432" y="690656"/>
            <a:ext cx="6646394" cy="4455066"/>
          </a:xfrm>
          <a:prstGeom prst="rect">
            <a:avLst/>
          </a:prstGeom>
          <a:solidFill>
            <a:schemeClr val="bg1"/>
          </a:solidFill>
        </p:spPr>
        <p:txBody>
          <a:bodyPr wrap="square">
            <a:spAutoFit/>
          </a:bodyPr>
          <a:lstStyle/>
          <a:p>
            <a:r>
              <a:rPr lang="en-US" altLang="zh-CN" b="0" dirty="0" err="1">
                <a:solidFill>
                  <a:srgbClr val="008000"/>
                </a:solidFill>
                <a:effectLst/>
                <a:latin typeface="Consolas" panose="020B0609020204030204" pitchFamily="49" charset="0"/>
              </a:rPr>
              <a:t>fff</a:t>
            </a:r>
            <a:r>
              <a:rPr lang="en-US" altLang="zh-CN" b="0" dirty="0">
                <a:solidFill>
                  <a:srgbClr val="008000"/>
                </a:solidFill>
                <a:effectLst/>
                <a:latin typeface="Consolas" panose="020B0609020204030204" pitchFamily="49" charset="0"/>
              </a:rPr>
              <a:t>(</a:t>
            </a:r>
            <a:r>
              <a:rPr lang="en-US" altLang="zh-CN" b="0" dirty="0" err="1">
                <a:solidFill>
                  <a:srgbClr val="008000"/>
                </a:solidFill>
                <a:effectLst/>
                <a:latin typeface="Consolas" panose="020B0609020204030204" pitchFamily="49" charset="0"/>
              </a:rPr>
              <a:t>x,y</a:t>
            </a:r>
            <a:r>
              <a:rPr lang="en-US" altLang="zh-CN" b="0" dirty="0">
                <a:solidFill>
                  <a:srgbClr val="008000"/>
                </a:solidFill>
                <a:effectLst/>
                <a:latin typeface="Consolas" panose="020B0609020204030204" pitchFamily="49" charset="0"/>
              </a:rPr>
              <a:t>)=</a:t>
            </a:r>
            <a:r>
              <a:rPr lang="en-US" altLang="zh-CN" dirty="0">
                <a:solidFill>
                  <a:srgbClr val="002060"/>
                </a:solidFill>
                <a:latin typeface="华文楷体" panose="02010600040101010101" pitchFamily="2" charset="-122"/>
                <a:ea typeface="华文楷体" panose="02010600040101010101" pitchFamily="2" charset="-122"/>
              </a:rPr>
              <a:t> x^2-y^2-1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或</a:t>
            </a:r>
            <a:r>
              <a:rPr lang="zh-CN" altLang="en-US" b="0" dirty="0">
                <a:solidFill>
                  <a:srgbClr val="000000"/>
                </a:solidFill>
                <a:effectLst/>
                <a:latin typeface="Consolas" panose="020B0609020204030204" pitchFamily="49" charset="0"/>
              </a:rPr>
              <a:t>匿名函数</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)-&gt;</a:t>
            </a:r>
            <a:r>
              <a:rPr lang="en-US" altLang="zh-CN" dirty="0">
                <a:solidFill>
                  <a:srgbClr val="002060"/>
                </a:solidFill>
                <a:latin typeface="华文楷体" panose="02010600040101010101" pitchFamily="2" charset="-122"/>
                <a:ea typeface="华文楷体" panose="02010600040101010101" pitchFamily="2" charset="-122"/>
              </a:rPr>
              <a:t>x^2-y^2-1</a:t>
            </a:r>
            <a:r>
              <a:rPr lang="en-US" altLang="zh-CN" b="0" dirty="0">
                <a:solidFill>
                  <a:srgbClr val="000000"/>
                </a:solidFill>
                <a:effectLst/>
                <a:latin typeface="Consolas" panose="020B0609020204030204" pitchFamily="49" charset="0"/>
              </a:rPr>
              <a:t>;</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创建第</a:t>
            </a:r>
            <a:r>
              <a:rPr lang="en-US" altLang="zh-CN" b="0" dirty="0">
                <a:solidFill>
                  <a:srgbClr val="008000"/>
                </a:solidFill>
                <a:effectLst/>
                <a:latin typeface="Consolas" panose="020B0609020204030204" pitchFamily="49" charset="0"/>
              </a:rPr>
              <a:t>1</a:t>
            </a:r>
            <a:r>
              <a:rPr lang="zh-CN" altLang="en-US" b="0" dirty="0">
                <a:solidFill>
                  <a:srgbClr val="008000"/>
                </a:solidFill>
                <a:effectLst/>
                <a:latin typeface="Consolas" panose="020B0609020204030204" pitchFamily="49" charset="0"/>
              </a:rPr>
              <a:t>个图形窗口 </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fmesh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第一个图绘制网格图</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网格图</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创建第</a:t>
            </a:r>
            <a:r>
              <a:rPr lang="en-US" altLang="zh-CN" b="0" dirty="0">
                <a:solidFill>
                  <a:srgbClr val="008000"/>
                </a:solidFill>
                <a:effectLst/>
                <a:latin typeface="Consolas" panose="020B0609020204030204" pitchFamily="49" charset="0"/>
              </a:rPr>
              <a:t>2</a:t>
            </a:r>
            <a:r>
              <a:rPr lang="zh-CN" altLang="en-US" b="0" dirty="0">
                <a:solidFill>
                  <a:srgbClr val="008000"/>
                </a:solidFill>
                <a:effectLst/>
                <a:latin typeface="Consolas" panose="020B0609020204030204" pitchFamily="49" charset="0"/>
              </a:rPr>
              <a:t>个图形窗口</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f3=</a:t>
            </a:r>
            <a:r>
              <a:rPr lang="en-US" altLang="zh-CN" b="0" dirty="0" err="1">
                <a:solidFill>
                  <a:srgbClr val="795E26"/>
                </a:solidFill>
                <a:effectLst/>
                <a:latin typeface="Consolas" panose="020B0609020204030204" pitchFamily="49" charset="0"/>
              </a:rPr>
              <a:t>fsurf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fff</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曲面</a:t>
            </a:r>
            <a:endParaRPr lang="zh-CN" altLang="en-US" b="0" dirty="0">
              <a:solidFill>
                <a:srgbClr val="000000"/>
              </a:solidFill>
              <a:effectLst/>
              <a:latin typeface="Consolas" panose="020B0609020204030204" pitchFamily="49" charset="0"/>
            </a:endParaRPr>
          </a:p>
          <a:p>
            <a:r>
              <a:rPr lang="en-US" altLang="zh-CN" b="1" dirty="0" err="1">
                <a:solidFill>
                  <a:srgbClr val="FF0000"/>
                </a:solidFill>
                <a:effectLst/>
                <a:latin typeface="Consolas" panose="020B0609020204030204" pitchFamily="49" charset="0"/>
              </a:rPr>
              <a:t>colorbar</a:t>
            </a:r>
            <a:r>
              <a:rPr lang="en-US" altLang="zh-CN" b="1" dirty="0">
                <a:solidFill>
                  <a:srgbClr val="FF0000"/>
                </a:solidFill>
                <a:effectLst/>
                <a:latin typeface="Consolas" panose="020B0609020204030204" pitchFamily="49" charset="0"/>
              </a:rPr>
              <a:t>(f3)#</a:t>
            </a:r>
            <a:r>
              <a:rPr lang="zh-CN" altLang="en-US" b="1" dirty="0">
                <a:solidFill>
                  <a:srgbClr val="FF0000"/>
                </a:solidFill>
                <a:effectLst/>
                <a:latin typeface="Consolas" panose="020B0609020204030204" pitchFamily="49" charset="0"/>
              </a:rPr>
              <a:t>带颜色条</a:t>
            </a:r>
          </a:p>
          <a:p>
            <a:r>
              <a:rPr lang="en-US" altLang="zh-CN" b="1" dirty="0">
                <a:solidFill>
                  <a:srgbClr val="FF0000"/>
                </a:solidFill>
                <a:latin typeface="Consolas" panose="020B0609020204030204" pitchFamily="49" charset="0"/>
              </a:rPr>
              <a:t>colormap(f3,"hot")</a:t>
            </a:r>
            <a:r>
              <a:rPr lang="en-US" altLang="zh-CN" b="0" dirty="0">
                <a:solidFill>
                  <a:srgbClr val="795E26"/>
                </a:solidFill>
                <a:effectLst/>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颜色图采用</a:t>
            </a:r>
            <a:r>
              <a:rPr lang="en-US" altLang="zh-CN" dirty="0">
                <a:solidFill>
                  <a:srgbClr val="008000"/>
                </a:solidFill>
                <a:latin typeface="Consolas" panose="020B0609020204030204" pitchFamily="49" charset="0"/>
              </a:rPr>
              <a:t>hot</a:t>
            </a:r>
          </a:p>
          <a:p>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带颜色条的火热曲面图</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endParaRPr lang="en-US" altLang="zh-CN" dirty="0">
              <a:solidFill>
                <a:srgbClr val="008000"/>
              </a:solidFill>
              <a:latin typeface="Consolas" panose="020B0609020204030204" pitchFamily="49" charset="0"/>
            </a:endParaRPr>
          </a:p>
          <a:p>
            <a:pPr>
              <a:lnSpc>
                <a:spcPct val="125000"/>
              </a:lnSpc>
            </a:pPr>
            <a:r>
              <a:rPr lang="en-US" altLang="zh-CN" dirty="0">
                <a:solidFill>
                  <a:srgbClr val="000000"/>
                </a:solidFill>
                <a:latin typeface="Consolas" panose="020B0609020204030204" pitchFamily="49" charset="0"/>
              </a:rPr>
              <a:t>figure(3)  #</a:t>
            </a:r>
            <a:r>
              <a:rPr lang="zh-CN" altLang="zh-CN" dirty="0">
                <a:solidFill>
                  <a:srgbClr val="000000"/>
                </a:solidFill>
                <a:latin typeface="Consolas" panose="020B0609020204030204" pitchFamily="49" charset="0"/>
              </a:rPr>
              <a:t>创建第</a:t>
            </a:r>
            <a:r>
              <a:rPr lang="en-US" altLang="zh-CN" dirty="0">
                <a:solidFill>
                  <a:srgbClr val="000000"/>
                </a:solidFill>
                <a:latin typeface="Consolas" panose="020B0609020204030204" pitchFamily="49" charset="0"/>
              </a:rPr>
              <a:t>3</a:t>
            </a:r>
            <a:r>
              <a:rPr lang="zh-CN" altLang="zh-CN" dirty="0">
                <a:solidFill>
                  <a:srgbClr val="000000"/>
                </a:solidFill>
                <a:latin typeface="Consolas" panose="020B0609020204030204" pitchFamily="49" charset="0"/>
              </a:rPr>
              <a:t>个图形窗口</a:t>
            </a:r>
          </a:p>
          <a:p>
            <a:pPr>
              <a:lnSpc>
                <a:spcPct val="125000"/>
              </a:lnSpc>
            </a:pPr>
            <a:r>
              <a:rPr lang="en-US" altLang="zh-CN" dirty="0" err="1">
                <a:solidFill>
                  <a:srgbClr val="000000"/>
                </a:solidFill>
                <a:latin typeface="Consolas" panose="020B0609020204030204" pitchFamily="49" charset="0"/>
              </a:rPr>
              <a:t>fcontour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fff</a:t>
            </a:r>
            <a:r>
              <a:rPr lang="en-US" altLang="zh-CN" dirty="0">
                <a:solidFill>
                  <a:srgbClr val="000000"/>
                </a:solidFill>
                <a:latin typeface="Consolas" panose="020B0609020204030204" pitchFamily="49" charset="0"/>
              </a:rPr>
              <a:t>,[-4,4],filled=true)</a:t>
            </a:r>
          </a:p>
          <a:p>
            <a:pPr>
              <a:lnSpc>
                <a:spcPct val="125000"/>
              </a:lnSpc>
            </a:pPr>
            <a:r>
              <a:rPr lang="en-US" altLang="zh-CN" dirty="0">
                <a:solidFill>
                  <a:schemeClr val="bg1"/>
                </a:solidFill>
                <a:highlight>
                  <a:srgbClr val="FF0000"/>
                </a:highlight>
                <a:latin typeface="Consolas" panose="020B0609020204030204" pitchFamily="49" charset="0"/>
              </a:rPr>
              <a:t>title("</a:t>
            </a:r>
            <a:r>
              <a:rPr lang="zh-CN" altLang="en-US" dirty="0">
                <a:solidFill>
                  <a:schemeClr val="bg1"/>
                </a:solidFill>
                <a:highlight>
                  <a:srgbClr val="FF0000"/>
                </a:highlight>
                <a:latin typeface="Consolas" panose="020B0609020204030204" pitchFamily="49" charset="0"/>
              </a:rPr>
              <a:t>填充等高线</a:t>
            </a:r>
            <a:r>
              <a:rPr lang="en-US" altLang="zh-CN" dirty="0">
                <a:solidFill>
                  <a:schemeClr val="bg1"/>
                </a:solidFill>
                <a:highlight>
                  <a:srgbClr val="FF0000"/>
                </a:highlight>
                <a:latin typeface="Consolas" panose="020B0609020204030204" pitchFamily="49" charset="0"/>
              </a:rPr>
              <a:t>") </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fimplicit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fff</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zh-CN" altLang="en-US" b="0" dirty="0">
                <a:solidFill>
                  <a:srgbClr val="000000"/>
                </a:solidFill>
                <a:effectLst/>
                <a:latin typeface="Consolas" panose="020B0609020204030204" pitchFamily="49" charset="0"/>
              </a:rPr>
              <a:t>绘制</a:t>
            </a:r>
            <a:r>
              <a:rPr lang="en-US" altLang="zh-CN" dirty="0">
                <a:solidFill>
                  <a:srgbClr val="002060"/>
                </a:solidFill>
                <a:latin typeface="华文楷体" panose="02010600040101010101" pitchFamily="2" charset="-122"/>
                <a:ea typeface="华文楷体" panose="02010600040101010101" pitchFamily="2" charset="-122"/>
              </a:rPr>
              <a:t>x^2-y^2-1=0</a:t>
            </a:r>
            <a:r>
              <a:rPr lang="zh-CN" altLang="en-US" b="0" dirty="0">
                <a:solidFill>
                  <a:srgbClr val="098658"/>
                </a:solidFill>
                <a:effectLst/>
                <a:latin typeface="Consolas" panose="020B0609020204030204" pitchFamily="49" charset="0"/>
              </a:rPr>
              <a:t>曲线</a:t>
            </a:r>
            <a:endParaRPr lang="en-US" altLang="zh-CN"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隐函数图</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p>
        </p:txBody>
      </p:sp>
      <p:sp>
        <p:nvSpPr>
          <p:cNvPr id="6" name="矩形 5">
            <a:extLst>
              <a:ext uri="{FF2B5EF4-FFF2-40B4-BE49-F238E27FC236}">
                <a16:creationId xmlns:a16="http://schemas.microsoft.com/office/drawing/2014/main" id="{859E61F6-3502-47B5-92F1-E796B0268E83}"/>
              </a:ext>
            </a:extLst>
          </p:cNvPr>
          <p:cNvSpPr/>
          <p:nvPr/>
        </p:nvSpPr>
        <p:spPr>
          <a:xfrm>
            <a:off x="5585888" y="756862"/>
            <a:ext cx="954679" cy="380297"/>
          </a:xfrm>
          <a:prstGeom prst="rect">
            <a:avLst/>
          </a:prstGeom>
          <a:solidFill>
            <a:srgbClr val="0070C0"/>
          </a:solidFill>
          <a:scene3d>
            <a:camera prst="orthographicFront"/>
            <a:lightRig rig="threePt" dir="t"/>
          </a:scene3d>
          <a:sp3d>
            <a:bevelT prst="angle"/>
          </a:sp3d>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defTabSz="0">
              <a:lnSpc>
                <a:spcPct val="125000"/>
              </a:lnSpc>
              <a:spcBef>
                <a:spcPct val="20000"/>
              </a:spcBef>
            </a:pPr>
            <a:r>
              <a:rPr lang="en-US" altLang="zh-CN"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sym typeface="Arial" panose="020B0604020202020204" pitchFamily="34" charset="0"/>
              </a:rPr>
              <a:t>figure(n)</a:t>
            </a:r>
          </a:p>
        </p:txBody>
      </p:sp>
      <p:sp>
        <p:nvSpPr>
          <p:cNvPr id="9" name="矩形 8">
            <a:extLst>
              <a:ext uri="{FF2B5EF4-FFF2-40B4-BE49-F238E27FC236}">
                <a16:creationId xmlns:a16="http://schemas.microsoft.com/office/drawing/2014/main" id="{C85C9682-BF9D-4F11-AF00-7C839E389E20}"/>
              </a:ext>
            </a:extLst>
          </p:cNvPr>
          <p:cNvSpPr/>
          <p:nvPr/>
        </p:nvSpPr>
        <p:spPr>
          <a:xfrm>
            <a:off x="6529333" y="751376"/>
            <a:ext cx="2363147" cy="362407"/>
          </a:xfrm>
          <a:prstGeom prst="rect">
            <a:avLst/>
          </a:prstGeom>
          <a:noFill/>
        </p:spPr>
        <p:txBody>
          <a:bodyPr wrap="square">
            <a:spAutoFit/>
          </a:bodyPr>
          <a:lstStyle/>
          <a:p>
            <a:pPr>
              <a:lnSpc>
                <a:spcPts val="2300"/>
              </a:lnSpc>
            </a:pPr>
            <a:r>
              <a:rPr lang="zh-CN" altLang="en-US" sz="1600" kern="0" dirty="0">
                <a:solidFill>
                  <a:srgbClr val="0070C0"/>
                </a:solidFill>
                <a:latin typeface="微软雅黑" panose="020B0503020204020204" pitchFamily="34" charset="-122"/>
                <a:ea typeface="微软雅黑" panose="020B0503020204020204" pitchFamily="34" charset="-122"/>
              </a:rPr>
              <a:t>创建编号为</a:t>
            </a:r>
            <a:r>
              <a:rPr lang="en-US" altLang="zh-CN" sz="1600" kern="0" dirty="0">
                <a:solidFill>
                  <a:srgbClr val="0070C0"/>
                </a:solidFill>
                <a:latin typeface="微软雅黑" panose="020B0503020204020204" pitchFamily="34" charset="-122"/>
                <a:ea typeface="微软雅黑" panose="020B0503020204020204" pitchFamily="34" charset="-122"/>
              </a:rPr>
              <a:t>n</a:t>
            </a:r>
            <a:r>
              <a:rPr lang="zh-CN" altLang="en-US" sz="1600" kern="0" dirty="0">
                <a:solidFill>
                  <a:srgbClr val="0070C0"/>
                </a:solidFill>
                <a:latin typeface="微软雅黑" panose="020B0503020204020204" pitchFamily="34" charset="-122"/>
                <a:ea typeface="微软雅黑" panose="020B0503020204020204" pitchFamily="34" charset="-122"/>
              </a:rPr>
              <a:t>的图形窗口</a:t>
            </a:r>
          </a:p>
        </p:txBody>
      </p:sp>
      <p:sp>
        <p:nvSpPr>
          <p:cNvPr id="12" name="Rectangle 2">
            <a:extLst>
              <a:ext uri="{FF2B5EF4-FFF2-40B4-BE49-F238E27FC236}">
                <a16:creationId xmlns:a16="http://schemas.microsoft.com/office/drawing/2014/main" id="{4CE0210C-7A91-4B6E-A0A0-3AE22C6B0ED3}"/>
              </a:ext>
            </a:extLst>
          </p:cNvPr>
          <p:cNvSpPr txBox="1">
            <a:spLocks noChangeArrowheads="1"/>
          </p:cNvSpPr>
          <p:nvPr/>
        </p:nvSpPr>
        <p:spPr bwMode="auto">
          <a:xfrm>
            <a:off x="6274866" y="4486141"/>
            <a:ext cx="2717729" cy="657359"/>
          </a:xfrm>
          <a:prstGeom prst="rect">
            <a:avLst/>
          </a:prstGeom>
          <a:solidFill>
            <a:schemeClr val="bg1"/>
          </a:solidFill>
        </p:spPr>
        <p:txBody>
          <a:bodyPr wrap="square">
            <a:spAutoFit/>
          </a:bodyPr>
          <a:lstStyle>
            <a:defPPr>
              <a:defRPr lang="zh-CN"/>
            </a:defPPr>
            <a:lvl1pPr>
              <a:lnSpc>
                <a:spcPts val="2300"/>
              </a:lnSpc>
              <a:defRPr sz="1600" kern="0">
                <a:solidFill>
                  <a:srgbClr val="0070C0"/>
                </a:solidFill>
                <a:latin typeface="微软雅黑" panose="020B0503020204020204" pitchFamily="34" charset="-122"/>
                <a:ea typeface="微软雅黑" panose="020B0503020204020204" pitchFamily="34" charset="-122"/>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endParaRPr lang="en-US" altLang="zh-CN" dirty="0">
              <a:sym typeface="Arial" panose="020B0604020202020204" pitchFamily="34" charset="0"/>
            </a:endParaRPr>
          </a:p>
          <a:p>
            <a:r>
              <a:rPr lang="en-US" altLang="zh-CN" dirty="0" err="1">
                <a:sym typeface="Arial" panose="020B0604020202020204" pitchFamily="34" charset="0"/>
              </a:rPr>
              <a:t>fiuger</a:t>
            </a:r>
            <a:r>
              <a:rPr lang="zh-CN" altLang="en-US" dirty="0">
                <a:sym typeface="Arial" panose="020B0604020202020204" pitchFamily="34" charset="0"/>
              </a:rPr>
              <a:t>创建四个图形窗口</a:t>
            </a:r>
          </a:p>
        </p:txBody>
      </p:sp>
      <p:pic>
        <p:nvPicPr>
          <p:cNvPr id="18" name="图片 17">
            <a:extLst>
              <a:ext uri="{FF2B5EF4-FFF2-40B4-BE49-F238E27FC236}">
                <a16:creationId xmlns:a16="http://schemas.microsoft.com/office/drawing/2014/main" id="{571E0CBB-3788-4A30-99C2-0BD05402A08C}"/>
              </a:ext>
            </a:extLst>
          </p:cNvPr>
          <p:cNvPicPr>
            <a:picLocks noChangeAspect="1"/>
          </p:cNvPicPr>
          <p:nvPr/>
        </p:nvPicPr>
        <p:blipFill>
          <a:blip r:embed="rId2"/>
          <a:stretch>
            <a:fillRect/>
          </a:stretch>
        </p:blipFill>
        <p:spPr>
          <a:xfrm>
            <a:off x="5254911" y="1583526"/>
            <a:ext cx="3737684" cy="1612959"/>
          </a:xfrm>
          <a:prstGeom prst="rect">
            <a:avLst/>
          </a:prstGeom>
        </p:spPr>
      </p:pic>
      <p:pic>
        <p:nvPicPr>
          <p:cNvPr id="20" name="图片 19">
            <a:extLst>
              <a:ext uri="{FF2B5EF4-FFF2-40B4-BE49-F238E27FC236}">
                <a16:creationId xmlns:a16="http://schemas.microsoft.com/office/drawing/2014/main" id="{4028ECA7-8755-4E4A-9A4F-EB1C11228E08}"/>
              </a:ext>
            </a:extLst>
          </p:cNvPr>
          <p:cNvPicPr>
            <a:picLocks noChangeAspect="1"/>
          </p:cNvPicPr>
          <p:nvPr/>
        </p:nvPicPr>
        <p:blipFill>
          <a:blip r:embed="rId3"/>
          <a:stretch>
            <a:fillRect/>
          </a:stretch>
        </p:blipFill>
        <p:spPr>
          <a:xfrm>
            <a:off x="5154796" y="3196485"/>
            <a:ext cx="3737684" cy="1638572"/>
          </a:xfrm>
          <a:prstGeom prst="rect">
            <a:avLst/>
          </a:prstGeom>
        </p:spPr>
      </p:pic>
      <p:sp>
        <p:nvSpPr>
          <p:cNvPr id="13" name="文本框 12">
            <a:extLst>
              <a:ext uri="{FF2B5EF4-FFF2-40B4-BE49-F238E27FC236}">
                <a16:creationId xmlns:a16="http://schemas.microsoft.com/office/drawing/2014/main" id="{88FB34BE-96A8-4332-99B4-9903937DBF1E}"/>
              </a:ext>
            </a:extLst>
          </p:cNvPr>
          <p:cNvSpPr txBox="1"/>
          <p:nvPr/>
        </p:nvSpPr>
        <p:spPr>
          <a:xfrm>
            <a:off x="0" y="157322"/>
            <a:ext cx="1987491" cy="501932"/>
          </a:xfrm>
          <a:prstGeom prst="rect">
            <a:avLst/>
          </a:prstGeom>
          <a:solidFill>
            <a:schemeClr val="bg1"/>
          </a:solidFill>
        </p:spPr>
        <p:txBody>
          <a:bodyPr wrap="square">
            <a:spAutoFit/>
          </a:bodyPr>
          <a:lstStyle/>
          <a:p>
            <a:pPr>
              <a:lnSpc>
                <a:spcPct val="150000"/>
              </a:lnSpc>
            </a:pPr>
            <a:r>
              <a:rPr lang="zh-CN" altLang="en-US" sz="2000" b="1" kern="1800" dirty="0">
                <a:solidFill>
                  <a:schemeClr val="bg1"/>
                </a:solidFill>
                <a:highlight>
                  <a:srgbClr val="FF0000"/>
                </a:highlight>
                <a:latin typeface="等线" panose="02010600030101010101" pitchFamily="2" charset="-122"/>
                <a:ea typeface="黑体" panose="02010609060101010101" pitchFamily="49" charset="-122"/>
              </a:rPr>
              <a:t>函数图参考案例</a:t>
            </a:r>
            <a:endParaRPr lang="zh-CN" altLang="zh-CN" sz="2000" b="1" kern="1800" dirty="0">
              <a:solidFill>
                <a:schemeClr val="bg1"/>
              </a:solidFill>
              <a:highlight>
                <a:srgbClr val="FF0000"/>
              </a:highlight>
              <a:latin typeface="等线" panose="02010600030101010101" pitchFamily="2" charset="-122"/>
              <a:ea typeface="黑体" panose="02010609060101010101" pitchFamily="49" charset="-122"/>
            </a:endParaRPr>
          </a:p>
        </p:txBody>
      </p:sp>
      <p:sp>
        <p:nvSpPr>
          <p:cNvPr id="8" name="Rectangle 2">
            <a:extLst>
              <a:ext uri="{FF2B5EF4-FFF2-40B4-BE49-F238E27FC236}">
                <a16:creationId xmlns:a16="http://schemas.microsoft.com/office/drawing/2014/main" id="{EB3E4C90-5A8D-4585-9FFA-3EC9A0A3E7EC}"/>
              </a:ext>
            </a:extLst>
          </p:cNvPr>
          <p:cNvSpPr txBox="1">
            <a:spLocks noChangeArrowheads="1"/>
          </p:cNvSpPr>
          <p:nvPr/>
        </p:nvSpPr>
        <p:spPr bwMode="auto">
          <a:xfrm>
            <a:off x="1901652" y="123909"/>
            <a:ext cx="7337428" cy="624724"/>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000" b="1" kern="0" dirty="0">
                <a:solidFill>
                  <a:srgbClr val="FF0000"/>
                </a:solidFill>
                <a:latin typeface="华文楷体" panose="02010600040101010101" pitchFamily="2" charset="-122"/>
                <a:ea typeface="华文楷体" panose="02010600040101010101" pitchFamily="2" charset="-122"/>
                <a:cs typeface="隶书" panose="02010509060101010101" charset="-122"/>
              </a:rPr>
              <a:t>2</a:t>
            </a:r>
            <a:r>
              <a:rPr lang="zh-CN" altLang="en-US" sz="2000" b="1" kern="0" dirty="0">
                <a:solidFill>
                  <a:srgbClr val="FF0000"/>
                </a:solidFill>
                <a:latin typeface="华文楷体" panose="02010600040101010101" pitchFamily="2" charset="-122"/>
                <a:ea typeface="华文楷体" panose="02010600040101010101" pitchFamily="2" charset="-122"/>
                <a:cs typeface="隶书" panose="02010509060101010101" charset="-122"/>
              </a:rPr>
              <a:t>、函数法绘制</a:t>
            </a:r>
            <a:r>
              <a:rPr kumimoji="0" lang="en-US" altLang="zh-CN" sz="2000" b="1"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隶书" panose="02010509060101010101" charset="-122"/>
                <a:sym typeface="Arial" panose="020B0604020202020204" pitchFamily="34" charset="0"/>
              </a:rPr>
              <a:t>z=</a:t>
            </a:r>
            <a:r>
              <a:rPr lang="en-US" altLang="zh-CN" sz="2000" b="1" dirty="0">
                <a:solidFill>
                  <a:srgbClr val="FF0000"/>
                </a:solidFill>
                <a:latin typeface="华文楷体" panose="02010600040101010101" pitchFamily="2" charset="-122"/>
                <a:ea typeface="华文楷体" panose="02010600040101010101" pitchFamily="2" charset="-122"/>
              </a:rPr>
              <a:t> x^2-y^2-1</a:t>
            </a:r>
            <a:r>
              <a:rPr kumimoji="0" lang="zh-CN" altLang="en-US" sz="20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j-cs"/>
                <a:sym typeface="Arial" panose="020B0604020202020204" pitchFamily="34" charset="0"/>
              </a:rPr>
              <a:t>网格图、曲面图、等高线和隐函数图</a:t>
            </a:r>
            <a:endParaRPr kumimoji="0" lang="zh-CN" altLang="en-US" sz="2000" b="1"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隶书" panose="02010509060101010101" charset="-122"/>
              <a:sym typeface="Arial" panose="020B0604020202020204" pitchFamily="34" charset="0"/>
            </a:endParaRPr>
          </a:p>
        </p:txBody>
      </p:sp>
    </p:spTree>
    <p:extLst>
      <p:ext uri="{BB962C8B-B14F-4D97-AF65-F5344CB8AC3E}">
        <p14:creationId xmlns:p14="http://schemas.microsoft.com/office/powerpoint/2010/main" val="651057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EB6DFE35-47BD-4567-B794-048C34845A77}"/>
              </a:ext>
            </a:extLst>
          </p:cNvPr>
          <p:cNvSpPr txBox="1"/>
          <p:nvPr/>
        </p:nvSpPr>
        <p:spPr>
          <a:xfrm>
            <a:off x="4351370" y="1101473"/>
            <a:ext cx="4727477" cy="307777"/>
          </a:xfrm>
          <a:prstGeom prst="rect">
            <a:avLst/>
          </a:prstGeom>
          <a:solidFill>
            <a:schemeClr val="bg1"/>
          </a:solidFill>
        </p:spPr>
        <p:txBody>
          <a:bodyPr wrap="square">
            <a:spAutoFit/>
          </a:bodyPr>
          <a:lstStyle/>
          <a:p>
            <a:r>
              <a:rPr lang="zh-CN" altLang="en-US" sz="1400" dirty="0">
                <a:solidFill>
                  <a:srgbClr val="0070C0"/>
                </a:solidFill>
                <a:latin typeface="微软雅黑" panose="020B0503020204020204" pitchFamily="34" charset="-122"/>
                <a:ea typeface="微软雅黑" panose="020B0503020204020204" pitchFamily="34" charset="-122"/>
              </a:rPr>
              <a:t>边界</a:t>
            </a:r>
            <a:r>
              <a:rPr lang="en-US" altLang="zh-CN" sz="1400" b="1"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bounds </a:t>
            </a:r>
            <a:r>
              <a:rPr lang="zh-CN" altLang="en-US" sz="1400" dirty="0">
                <a:solidFill>
                  <a:srgbClr val="0070C0"/>
                </a:solidFill>
                <a:latin typeface="微软雅黑" panose="020B0503020204020204" pitchFamily="34" charset="-122"/>
                <a:ea typeface="微软雅黑" panose="020B0503020204020204" pitchFamily="34" charset="-122"/>
              </a:rPr>
              <a:t>：数组中的最小值 </a:t>
            </a:r>
            <a:r>
              <a:rPr lang="en-US" altLang="zh-CN" sz="1400" dirty="0" err="1">
                <a:solidFill>
                  <a:srgbClr val="0070C0"/>
                </a:solidFill>
                <a:latin typeface="微软雅黑" panose="020B0503020204020204" pitchFamily="34" charset="-122"/>
                <a:ea typeface="微软雅黑" panose="020B0503020204020204" pitchFamily="34" charset="-122"/>
              </a:rPr>
              <a:t>minA</a:t>
            </a:r>
            <a:r>
              <a:rPr lang="en-US" altLang="zh-CN" sz="1400" dirty="0">
                <a:solidFill>
                  <a:srgbClr val="0070C0"/>
                </a:solidFill>
                <a:latin typeface="微软雅黑" panose="020B0503020204020204" pitchFamily="34" charset="-122"/>
                <a:ea typeface="微软雅黑" panose="020B0503020204020204" pitchFamily="34" charset="-122"/>
              </a:rPr>
              <a:t> </a:t>
            </a:r>
            <a:r>
              <a:rPr lang="zh-CN" altLang="en-US" sz="1400" dirty="0">
                <a:solidFill>
                  <a:srgbClr val="0070C0"/>
                </a:solidFill>
                <a:latin typeface="微软雅黑" panose="020B0503020204020204" pitchFamily="34" charset="-122"/>
                <a:ea typeface="微软雅黑" panose="020B0503020204020204" pitchFamily="34" charset="-122"/>
              </a:rPr>
              <a:t>和最大值 </a:t>
            </a:r>
            <a:r>
              <a:rPr lang="en-US" altLang="zh-CN" sz="1400" dirty="0" err="1">
                <a:solidFill>
                  <a:srgbClr val="0070C0"/>
                </a:solidFill>
                <a:latin typeface="微软雅黑" panose="020B0503020204020204" pitchFamily="34" charset="-122"/>
                <a:ea typeface="微软雅黑" panose="020B0503020204020204" pitchFamily="34" charset="-122"/>
              </a:rPr>
              <a:t>maxA</a:t>
            </a:r>
            <a:endParaRPr lang="zh-CN" altLang="en-US" sz="1400" dirty="0">
              <a:solidFill>
                <a:srgbClr val="0070C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52BD444-8D13-4EB0-9B0A-493EA1C7E5DF}"/>
              </a:ext>
            </a:extLst>
          </p:cNvPr>
          <p:cNvSpPr/>
          <p:nvPr/>
        </p:nvSpPr>
        <p:spPr>
          <a:xfrm>
            <a:off x="35496" y="807859"/>
            <a:ext cx="8975453" cy="338554"/>
          </a:xfrm>
          <a:prstGeom prst="rect">
            <a:avLst/>
          </a:prstGeom>
          <a:solidFill>
            <a:schemeClr val="bg1"/>
          </a:solidFill>
        </p:spPr>
        <p:txBody>
          <a:bodyPr wrap="square">
            <a:spAutoFit/>
          </a:bodyPr>
          <a:lstStyle/>
          <a:p>
            <a:r>
              <a:rPr lang="en-US" altLang="zh-CN" sz="1600" b="1" dirty="0">
                <a:solidFill>
                  <a:srgbClr val="0070C0"/>
                </a:solidFill>
                <a:latin typeface="微软雅黑" panose="020B0503020204020204" pitchFamily="34" charset="-122"/>
                <a:ea typeface="微软雅黑" panose="020B0503020204020204" pitchFamily="34" charset="-122"/>
              </a:rPr>
              <a:t>1) </a:t>
            </a:r>
            <a:r>
              <a:rPr lang="zh-CN" altLang="en-US" sz="1600" b="1" dirty="0">
                <a:solidFill>
                  <a:srgbClr val="0070C0"/>
                </a:solidFill>
                <a:latin typeface="微软雅黑" panose="020B0503020204020204" pitchFamily="34" charset="-122"/>
                <a:ea typeface="微软雅黑" panose="020B0503020204020204" pitchFamily="34" charset="-122"/>
              </a:rPr>
              <a:t>描述统计分析</a:t>
            </a:r>
            <a:r>
              <a:rPr lang="en-US" altLang="zh-CN" sz="1600" b="1" dirty="0">
                <a:solidFill>
                  <a:srgbClr val="0070C0"/>
                </a:solidFill>
                <a:latin typeface="微软雅黑" panose="020B0503020204020204" pitchFamily="34" charset="-122"/>
                <a:ea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对样本数据</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采用少量统计量表征样本特征，作频数直方图，初步整理和直观描述</a:t>
            </a:r>
            <a:endParaRPr lang="en-US" altLang="zh-CN" sz="1600" b="1" dirty="0">
              <a:solidFill>
                <a:srgbClr val="0070C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3E3AAED1-C292-49E7-8B34-14110AE73A13}"/>
              </a:ext>
            </a:extLst>
          </p:cNvPr>
          <p:cNvSpPr/>
          <p:nvPr/>
        </p:nvSpPr>
        <p:spPr>
          <a:xfrm>
            <a:off x="103394" y="1123030"/>
            <a:ext cx="3343035" cy="1391535"/>
          </a:xfrm>
          <a:prstGeom prst="rect">
            <a:avLst/>
          </a:prstGeom>
          <a:solidFill>
            <a:schemeClr val="bg1"/>
          </a:solidFill>
        </p:spPr>
        <p:txBody>
          <a:bodyPr wrap="square">
            <a:spAutoFit/>
          </a:bodyPr>
          <a:lstStyle/>
          <a:p>
            <a:pPr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 样本数据</a:t>
            </a:r>
            <a:r>
              <a:rPr lang="en-US" altLang="zh-CN" sz="1600" dirty="0">
                <a:solidFill>
                  <a:srgbClr val="0070C0"/>
                </a:solidFill>
                <a:latin typeface="微软雅黑" panose="020B0503020204020204" pitchFamily="34" charset="-122"/>
                <a:ea typeface="微软雅黑" panose="020B0503020204020204" pitchFamily="34" charset="-122"/>
              </a:rPr>
              <a:t>x</a:t>
            </a:r>
            <a:r>
              <a:rPr lang="zh-CN" altLang="en-US" sz="1600" dirty="0">
                <a:solidFill>
                  <a:srgbClr val="0070C0"/>
                </a:solidFill>
                <a:latin typeface="微软雅黑" panose="020B0503020204020204" pitchFamily="34" charset="-122"/>
                <a:ea typeface="微软雅黑" panose="020B0503020204020204" pitchFamily="34" charset="-122"/>
              </a:rPr>
              <a:t>统计量计算</a:t>
            </a:r>
            <a:endParaRPr lang="en-US" altLang="zh-CN" sz="1600" dirty="0">
              <a:solidFill>
                <a:srgbClr val="0070C0"/>
              </a:solidFill>
              <a:latin typeface="微软雅黑" panose="020B0503020204020204" pitchFamily="34" charset="-122"/>
              <a:ea typeface="微软雅黑" panose="020B0503020204020204" pitchFamily="34" charset="-122"/>
            </a:endParaRPr>
          </a:p>
          <a:p>
            <a:pPr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 经验累积分布图</a:t>
            </a:r>
            <a:r>
              <a:rPr lang="en-US" altLang="ko-KR"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cdfplot</a:t>
            </a:r>
            <a:endParaRPr lang="en-US" altLang="ko-KR" sz="1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 频数直方图</a:t>
            </a:r>
            <a:r>
              <a:rPr lang="en-US" altLang="zh-CN" sz="1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histogram</a:t>
            </a:r>
            <a:endParaRPr lang="en-US" altLang="ko-KR" sz="1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 正态曲线拟合</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histfit</a:t>
            </a:r>
            <a:endParaRPr lang="en-US" altLang="zh-CN" sz="1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F6A64ADD-B211-4E5F-988C-C9C3DE0C4F6D}"/>
              </a:ext>
            </a:extLst>
          </p:cNvPr>
          <p:cNvSpPr/>
          <p:nvPr/>
        </p:nvSpPr>
        <p:spPr>
          <a:xfrm>
            <a:off x="2546628" y="1167909"/>
            <a:ext cx="1737340"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400" kern="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mean,std,median</a:t>
            </a:r>
            <a:r>
              <a:rPr lang="zh-CN" altLang="en-US"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 name="矩形 9">
            <a:extLst>
              <a:ext uri="{FF2B5EF4-FFF2-40B4-BE49-F238E27FC236}">
                <a16:creationId xmlns:a16="http://schemas.microsoft.com/office/drawing/2014/main" id="{96744964-87D6-4682-9E00-70FBD3C8E51D}"/>
              </a:ext>
            </a:extLst>
          </p:cNvPr>
          <p:cNvSpPr/>
          <p:nvPr/>
        </p:nvSpPr>
        <p:spPr>
          <a:xfrm>
            <a:off x="2623127" y="1866693"/>
            <a:ext cx="1435670"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histogram(</a:t>
            </a:r>
            <a:r>
              <a:rPr lang="en-US" altLang="zh-CN" sz="1400" kern="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x,k</a:t>
            </a:r>
            <a:r>
              <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1" name="矩形 10">
            <a:extLst>
              <a:ext uri="{FF2B5EF4-FFF2-40B4-BE49-F238E27FC236}">
                <a16:creationId xmlns:a16="http://schemas.microsoft.com/office/drawing/2014/main" id="{286FB309-FB9A-43BF-A485-D04CC7896ABB}"/>
              </a:ext>
            </a:extLst>
          </p:cNvPr>
          <p:cNvSpPr/>
          <p:nvPr/>
        </p:nvSpPr>
        <p:spPr>
          <a:xfrm>
            <a:off x="79526" y="2970448"/>
            <a:ext cx="3978543" cy="730777"/>
          </a:xfrm>
          <a:prstGeom prst="rect">
            <a:avLst/>
          </a:prstGeom>
          <a:noFill/>
        </p:spPr>
        <p:txBody>
          <a:bodyPr wrap="square">
            <a:spAutoFit/>
          </a:bodyPr>
          <a:lstStyle/>
          <a:p>
            <a:pPr marL="342900" indent="-342900"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正态性检验</a:t>
            </a:r>
            <a:endParaRPr lang="en-US" altLang="zh-CN" sz="1600" dirty="0">
              <a:solidFill>
                <a:srgbClr val="0070C0"/>
              </a:solidFill>
              <a:latin typeface="微软雅黑" panose="020B0503020204020204" pitchFamily="34" charset="-122"/>
              <a:ea typeface="微软雅黑" panose="020B0503020204020204" pitchFamily="34" charset="-122"/>
            </a:endParaRPr>
          </a:p>
          <a:p>
            <a:pPr marL="342900" indent="-342900" latinLnBrk="1">
              <a:lnSpc>
                <a:spcPts val="26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正态总体均值和标准差参数估计</a:t>
            </a:r>
            <a:endParaRPr lang="en-US" altLang="zh-CN" dirty="0">
              <a:solidFill>
                <a:srgbClr val="00206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0A27284-4BDE-4A6A-B1EC-8C269CCFB1C3}"/>
              </a:ext>
            </a:extLst>
          </p:cNvPr>
          <p:cNvSpPr/>
          <p:nvPr/>
        </p:nvSpPr>
        <p:spPr>
          <a:xfrm>
            <a:off x="2317909" y="2209000"/>
            <a:ext cx="1053994"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400" kern="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histfit</a:t>
            </a:r>
            <a:r>
              <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x,k</a:t>
            </a:r>
            <a:r>
              <a:rPr lang="en-US" altLang="zh-CN" sz="1400"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15" name="文本框 67588">
            <a:extLst>
              <a:ext uri="{FF2B5EF4-FFF2-40B4-BE49-F238E27FC236}">
                <a16:creationId xmlns:a16="http://schemas.microsoft.com/office/drawing/2014/main" id="{6B871A1E-952F-42F7-AA0D-9E4D61DA4B43}"/>
              </a:ext>
            </a:extLst>
          </p:cNvPr>
          <p:cNvSpPr txBox="1">
            <a:spLocks noChangeArrowheads="1"/>
          </p:cNvSpPr>
          <p:nvPr/>
        </p:nvSpPr>
        <p:spPr bwMode="auto">
          <a:xfrm>
            <a:off x="3525096" y="3330932"/>
            <a:ext cx="5065610"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641" indent="-177641">
              <a:lnSpc>
                <a:spcPct val="90000"/>
              </a:lnSpc>
              <a:defRPr sz="15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ko-KR" altLang="en-US" dirty="0"/>
              <a:t>mu,sigma,muci,sigmaci</a:t>
            </a:r>
            <a:r>
              <a:rPr lang="en-US" altLang="zh-CN" dirty="0"/>
              <a:t>=</a:t>
            </a:r>
            <a:r>
              <a:rPr lang="en-US" altLang="zh-CN" sz="1600" b="1" kern="100" dirty="0">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 </a:t>
            </a:r>
            <a:r>
              <a:rPr lang="en-US" altLang="zh-CN" sz="1600" b="1" kern="100" dirty="0" err="1">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TyStatistics.normfit</a:t>
            </a:r>
            <a:r>
              <a:rPr lang="ko-KR" altLang="en-US" dirty="0"/>
              <a:t>( </a:t>
            </a:r>
            <a:r>
              <a:rPr lang="en-US" altLang="ko-KR" dirty="0"/>
              <a:t>x</a:t>
            </a:r>
            <a:r>
              <a:rPr lang="zh-CN" altLang="en-US" dirty="0"/>
              <a:t>，</a:t>
            </a:r>
            <a:r>
              <a:rPr lang="ko-KR" altLang="en-US" dirty="0"/>
              <a:t>alpha) </a:t>
            </a:r>
          </a:p>
        </p:txBody>
      </p:sp>
      <p:sp>
        <p:nvSpPr>
          <p:cNvPr id="16" name="矩形 15">
            <a:extLst>
              <a:ext uri="{FF2B5EF4-FFF2-40B4-BE49-F238E27FC236}">
                <a16:creationId xmlns:a16="http://schemas.microsoft.com/office/drawing/2014/main" id="{C52CC714-2661-4113-AF6D-517D2EA04CF7}"/>
              </a:ext>
            </a:extLst>
          </p:cNvPr>
          <p:cNvSpPr/>
          <p:nvPr/>
        </p:nvSpPr>
        <p:spPr>
          <a:xfrm>
            <a:off x="1693778" y="3002979"/>
            <a:ext cx="1173431"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600" kern="0" dirty="0" err="1">
                <a:solidFill>
                  <a:schemeClr val="bg1"/>
                </a:solidFill>
                <a:latin typeface="Times New Roman" panose="02020603050405020304" pitchFamily="18" charset="0"/>
                <a:ea typeface="隶书" panose="02010509060101010101" pitchFamily="49" charset="-122"/>
                <a:cs typeface="Times New Roman" panose="02020603050405020304" pitchFamily="18" charset="0"/>
              </a:rPr>
              <a:t>normplot</a:t>
            </a:r>
            <a:r>
              <a:rPr lang="en-US" altLang="zh-CN" sz="1600"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(x)</a:t>
            </a:r>
            <a:endParaRPr lang="en-US" altLang="zh-CN" sz="1600"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sym typeface="+mn-ea"/>
            </a:endParaRPr>
          </a:p>
        </p:txBody>
      </p:sp>
      <p:sp>
        <p:nvSpPr>
          <p:cNvPr id="17" name="矩形 16">
            <a:extLst>
              <a:ext uri="{FF2B5EF4-FFF2-40B4-BE49-F238E27FC236}">
                <a16:creationId xmlns:a16="http://schemas.microsoft.com/office/drawing/2014/main" id="{BDC3B9F8-9A86-4D1A-BC77-DA74F5CF596A}"/>
              </a:ext>
            </a:extLst>
          </p:cNvPr>
          <p:cNvSpPr/>
          <p:nvPr/>
        </p:nvSpPr>
        <p:spPr>
          <a:xfrm>
            <a:off x="4037921" y="1836877"/>
            <a:ext cx="5024923" cy="338554"/>
          </a:xfrm>
          <a:prstGeom prst="rect">
            <a:avLst/>
          </a:prstGeom>
          <a:noFill/>
        </p:spPr>
        <p:txBody>
          <a:bodyPr wrap="square" rtlCol="0" anchor="t">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对样本数据</a:t>
            </a:r>
            <a:r>
              <a:rPr lang="en-US" altLang="zh-CN" sz="1600" dirty="0">
                <a:solidFill>
                  <a:srgbClr val="0070C0"/>
                </a:solidFill>
                <a:latin typeface="微软雅黑" panose="020B0503020204020204" pitchFamily="34" charset="-122"/>
                <a:ea typeface="微软雅黑" panose="020B0503020204020204" pitchFamily="34" charset="-122"/>
              </a:rPr>
              <a:t>x</a:t>
            </a:r>
            <a:r>
              <a:rPr lang="zh-CN" altLang="en-US" sz="1600" dirty="0">
                <a:solidFill>
                  <a:srgbClr val="0070C0"/>
                </a:solidFill>
                <a:latin typeface="微软雅黑" panose="020B0503020204020204" pitchFamily="34" charset="-122"/>
                <a:ea typeface="微软雅黑" panose="020B0503020204020204" pitchFamily="34" charset="-122"/>
              </a:rPr>
              <a:t>划分</a:t>
            </a:r>
            <a:r>
              <a:rPr lang="en-US" altLang="zh-CN" sz="1600" dirty="0">
                <a:solidFill>
                  <a:srgbClr val="0070C0"/>
                </a:solidFill>
                <a:latin typeface="微软雅黑" panose="020B0503020204020204" pitchFamily="34" charset="-122"/>
                <a:ea typeface="微软雅黑" panose="020B0503020204020204" pitchFamily="34" charset="-122"/>
              </a:rPr>
              <a:t>k</a:t>
            </a:r>
            <a:r>
              <a:rPr lang="zh-CN" altLang="en-US" sz="1600" dirty="0">
                <a:solidFill>
                  <a:srgbClr val="0070C0"/>
                </a:solidFill>
                <a:latin typeface="微软雅黑" panose="020B0503020204020204" pitchFamily="34" charset="-122"/>
                <a:ea typeface="微软雅黑" panose="020B0503020204020204" pitchFamily="34" charset="-122"/>
              </a:rPr>
              <a:t>个区间</a:t>
            </a:r>
            <a:r>
              <a:rPr lang="en-US" altLang="zh-CN" sz="1600" dirty="0">
                <a:solidFill>
                  <a:srgbClr val="0070C0"/>
                </a:solidFill>
                <a:latin typeface="微软雅黑" panose="020B0503020204020204" pitchFamily="34" charset="-122"/>
                <a:ea typeface="微软雅黑" panose="020B0503020204020204" pitchFamily="34" charset="-122"/>
              </a:rPr>
              <a:t> (k</a:t>
            </a:r>
            <a:r>
              <a:rPr lang="zh-CN" altLang="en-US" sz="1600" dirty="0">
                <a:solidFill>
                  <a:srgbClr val="0070C0"/>
                </a:solidFill>
                <a:latin typeface="微软雅黑" panose="020B0503020204020204" pitchFamily="34" charset="-122"/>
                <a:ea typeface="微软雅黑" panose="020B0503020204020204" pitchFamily="34" charset="-122"/>
              </a:rPr>
              <a:t>个直条</a:t>
            </a:r>
            <a:r>
              <a:rPr lang="en-US" altLang="zh-CN" sz="1600" dirty="0">
                <a:solidFill>
                  <a:srgbClr val="0070C0"/>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 每区间样品数量</a:t>
            </a:r>
          </a:p>
        </p:txBody>
      </p:sp>
      <p:sp>
        <p:nvSpPr>
          <p:cNvPr id="18" name="矩形 17">
            <a:extLst>
              <a:ext uri="{FF2B5EF4-FFF2-40B4-BE49-F238E27FC236}">
                <a16:creationId xmlns:a16="http://schemas.microsoft.com/office/drawing/2014/main" id="{86EB2D9C-1DBB-4FC2-87B4-B9A110E710F0}"/>
              </a:ext>
            </a:extLst>
          </p:cNvPr>
          <p:cNvSpPr/>
          <p:nvPr/>
        </p:nvSpPr>
        <p:spPr>
          <a:xfrm>
            <a:off x="2920709" y="2974048"/>
            <a:ext cx="6172628" cy="338554"/>
          </a:xfrm>
          <a:prstGeom prst="rect">
            <a:avLst/>
          </a:prstGeom>
        </p:spPr>
        <p:txBody>
          <a:bodyPr wrap="square">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绘制正态概率图，样本数据离散分布概率直线上，表明正态分布</a:t>
            </a:r>
          </a:p>
        </p:txBody>
      </p:sp>
      <p:sp>
        <p:nvSpPr>
          <p:cNvPr id="19" name="矩形 18">
            <a:extLst>
              <a:ext uri="{FF2B5EF4-FFF2-40B4-BE49-F238E27FC236}">
                <a16:creationId xmlns:a16="http://schemas.microsoft.com/office/drawing/2014/main" id="{61EE7875-EBF1-491B-AE92-936BCB2AE405}"/>
              </a:ext>
            </a:extLst>
          </p:cNvPr>
          <p:cNvSpPr/>
          <p:nvPr/>
        </p:nvSpPr>
        <p:spPr>
          <a:xfrm>
            <a:off x="3332256" y="2199041"/>
            <a:ext cx="4793611" cy="338554"/>
          </a:xfrm>
          <a:prstGeom prst="rect">
            <a:avLst/>
          </a:prstGeom>
        </p:spPr>
        <p:txBody>
          <a:bodyPr wrap="square">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带正态概率密度曲线直方图，和</a:t>
            </a:r>
            <a:r>
              <a:rPr lang="en-US" altLang="zh-CN" sz="1600" dirty="0">
                <a:solidFill>
                  <a:srgbClr val="0070C0"/>
                </a:solidFill>
                <a:latin typeface="微软雅黑" panose="020B0503020204020204" pitchFamily="34" charset="-122"/>
                <a:ea typeface="微软雅黑" panose="020B0503020204020204" pitchFamily="34" charset="-122"/>
              </a:rPr>
              <a:t>histogram</a:t>
            </a:r>
            <a:r>
              <a:rPr lang="zh-CN" altLang="en-US" sz="1600" dirty="0">
                <a:solidFill>
                  <a:srgbClr val="0070C0"/>
                </a:solidFill>
                <a:latin typeface="微软雅黑" panose="020B0503020204020204" pitchFamily="34" charset="-122"/>
                <a:ea typeface="微软雅黑" panose="020B0503020204020204" pitchFamily="34" charset="-122"/>
              </a:rPr>
              <a:t>一样</a:t>
            </a:r>
          </a:p>
        </p:txBody>
      </p:sp>
      <p:sp>
        <p:nvSpPr>
          <p:cNvPr id="21" name="文本框 55300">
            <a:extLst>
              <a:ext uri="{FF2B5EF4-FFF2-40B4-BE49-F238E27FC236}">
                <a16:creationId xmlns:a16="http://schemas.microsoft.com/office/drawing/2014/main" id="{DA407846-AFCE-4A3F-A96B-0078EE7B5D6B}"/>
              </a:ext>
            </a:extLst>
          </p:cNvPr>
          <p:cNvSpPr txBox="1">
            <a:spLocks noChangeArrowheads="1"/>
          </p:cNvSpPr>
          <p:nvPr/>
        </p:nvSpPr>
        <p:spPr bwMode="auto">
          <a:xfrm>
            <a:off x="2713935" y="1507400"/>
            <a:ext cx="1704901"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400" b="0" dirty="0">
                <a:effectLst/>
                <a:latin typeface="微软雅黑" panose="020B0503020204020204" pitchFamily="34" charset="-122"/>
                <a:ea typeface="微软雅黑" panose="020B0503020204020204" pitchFamily="34" charset="-122"/>
                <a:sym typeface="+mn-ea"/>
              </a:rPr>
              <a:t>h</a:t>
            </a:r>
            <a:r>
              <a:rPr lang="ko-KR" altLang="en-US" sz="1400" b="0" dirty="0">
                <a:effectLst/>
                <a:latin typeface="微软雅黑" panose="020B0503020204020204" pitchFamily="34" charset="-122"/>
                <a:sym typeface="+mn-ea"/>
              </a:rPr>
              <a:t>,</a:t>
            </a:r>
            <a:r>
              <a:rPr lang="en-US" altLang="ko-KR" sz="1400" b="0" dirty="0">
                <a:effectLst/>
                <a:latin typeface="微软雅黑" panose="020B0503020204020204" pitchFamily="34" charset="-122"/>
                <a:ea typeface="微软雅黑" panose="020B0503020204020204" pitchFamily="34" charset="-122"/>
                <a:sym typeface="+mn-ea"/>
              </a:rPr>
              <a:t>stats</a:t>
            </a:r>
            <a:r>
              <a:rPr lang="ko-KR" altLang="en-US" sz="1400" b="0" dirty="0">
                <a:effectLst/>
                <a:latin typeface="微软雅黑" panose="020B0503020204020204" pitchFamily="34" charset="-122"/>
                <a:sym typeface="+mn-ea"/>
              </a:rPr>
              <a:t>=</a:t>
            </a:r>
            <a:r>
              <a:rPr lang="en-US" altLang="ko-KR" sz="1400" b="0" dirty="0" err="1">
                <a:effectLst/>
                <a:latin typeface="微软雅黑" panose="020B0503020204020204" pitchFamily="34" charset="-122"/>
                <a:ea typeface="微软雅黑" panose="020B0503020204020204" pitchFamily="34" charset="-122"/>
                <a:sym typeface="+mn-ea"/>
              </a:rPr>
              <a:t>cdfplot</a:t>
            </a:r>
            <a:r>
              <a:rPr lang="ko-KR" altLang="en-US" sz="1400" b="0" dirty="0">
                <a:effectLst/>
                <a:latin typeface="微软雅黑" panose="020B0503020204020204" pitchFamily="34" charset="-122"/>
                <a:sym typeface="+mn-ea"/>
              </a:rPr>
              <a:t>(x)</a:t>
            </a:r>
          </a:p>
        </p:txBody>
      </p:sp>
      <p:sp>
        <p:nvSpPr>
          <p:cNvPr id="22" name="矩形 21">
            <a:extLst>
              <a:ext uri="{FF2B5EF4-FFF2-40B4-BE49-F238E27FC236}">
                <a16:creationId xmlns:a16="http://schemas.microsoft.com/office/drawing/2014/main" id="{33BBE42A-7512-4FE2-90E5-65A59CB303FE}"/>
              </a:ext>
            </a:extLst>
          </p:cNvPr>
          <p:cNvSpPr/>
          <p:nvPr/>
        </p:nvSpPr>
        <p:spPr>
          <a:xfrm>
            <a:off x="4440036" y="1498323"/>
            <a:ext cx="4642851" cy="338554"/>
          </a:xfrm>
          <a:prstGeom prst="rect">
            <a:avLst/>
          </a:prstGeom>
          <a:noFill/>
        </p:spPr>
        <p:txBody>
          <a:bodyPr wrap="square" rtlCol="0" anchor="t">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样本数据</a:t>
            </a:r>
            <a:r>
              <a:rPr lang="en-US" altLang="zh-CN" sz="1600" dirty="0">
                <a:solidFill>
                  <a:srgbClr val="0070C0"/>
                </a:solidFill>
                <a:latin typeface="微软雅黑" panose="020B0503020204020204" pitchFamily="34" charset="-122"/>
                <a:ea typeface="微软雅黑" panose="020B0503020204020204" pitchFamily="34" charset="-122"/>
              </a:rPr>
              <a:t>x</a:t>
            </a:r>
            <a:r>
              <a:rPr lang="zh-CN" altLang="en-US" sz="1600" dirty="0">
                <a:solidFill>
                  <a:srgbClr val="0070C0"/>
                </a:solidFill>
                <a:latin typeface="微软雅黑" panose="020B0503020204020204" pitchFamily="34" charset="-122"/>
                <a:ea typeface="微软雅黑" panose="020B0503020204020204" pitchFamily="34" charset="-122"/>
              </a:rPr>
              <a:t>， </a:t>
            </a:r>
            <a:r>
              <a:rPr lang="en-US" altLang="zh-CN" sz="1600" dirty="0">
                <a:solidFill>
                  <a:srgbClr val="0070C0"/>
                </a:solidFill>
                <a:latin typeface="微软雅黑" panose="020B0503020204020204" pitchFamily="34" charset="-122"/>
                <a:ea typeface="微软雅黑" panose="020B0503020204020204" pitchFamily="34" charset="-122"/>
              </a:rPr>
              <a:t>h</a:t>
            </a:r>
            <a:r>
              <a:rPr lang="zh-CN" altLang="en-US" sz="1600" dirty="0">
                <a:solidFill>
                  <a:srgbClr val="0070C0"/>
                </a:solidFill>
                <a:latin typeface="微软雅黑" panose="020B0503020204020204" pitchFamily="34" charset="-122"/>
                <a:ea typeface="微软雅黑" panose="020B0503020204020204" pitchFamily="34" charset="-122"/>
              </a:rPr>
              <a:t>经验累积概率的句柄，</a:t>
            </a:r>
            <a:r>
              <a:rPr lang="en-US" altLang="zh-CN" sz="1600" dirty="0">
                <a:solidFill>
                  <a:srgbClr val="0070C0"/>
                </a:solidFill>
                <a:latin typeface="微软雅黑" panose="020B0503020204020204" pitchFamily="34" charset="-122"/>
                <a:ea typeface="微软雅黑" panose="020B0503020204020204" pitchFamily="34" charset="-122"/>
              </a:rPr>
              <a:t>stats</a:t>
            </a:r>
            <a:r>
              <a:rPr lang="zh-CN" altLang="en-US" sz="1600" dirty="0">
                <a:solidFill>
                  <a:srgbClr val="0070C0"/>
                </a:solidFill>
                <a:latin typeface="微软雅黑" panose="020B0503020204020204" pitchFamily="34" charset="-122"/>
                <a:ea typeface="微软雅黑" panose="020B0503020204020204" pitchFamily="34" charset="-122"/>
              </a:rPr>
              <a:t>统计量</a:t>
            </a:r>
          </a:p>
        </p:txBody>
      </p:sp>
      <p:sp>
        <p:nvSpPr>
          <p:cNvPr id="23" name="矩形 22">
            <a:extLst>
              <a:ext uri="{FF2B5EF4-FFF2-40B4-BE49-F238E27FC236}">
                <a16:creationId xmlns:a16="http://schemas.microsoft.com/office/drawing/2014/main" id="{DB3112BD-1EA0-4B60-B72C-E5464B6299DB}"/>
              </a:ext>
            </a:extLst>
          </p:cNvPr>
          <p:cNvSpPr/>
          <p:nvPr/>
        </p:nvSpPr>
        <p:spPr>
          <a:xfrm>
            <a:off x="421470" y="3653587"/>
            <a:ext cx="8138214" cy="949619"/>
          </a:xfrm>
          <a:prstGeom prst="rect">
            <a:avLst/>
          </a:prstGeom>
          <a:solidFill>
            <a:schemeClr val="bg1"/>
          </a:solidFill>
        </p:spPr>
        <p:txBody>
          <a:bodyPr wrap="square">
            <a:spAutoFit/>
          </a:bodyPr>
          <a:lstStyle/>
          <a:p>
            <a:pPr>
              <a:lnSpc>
                <a:spcPts val="2300"/>
              </a:lnSpc>
              <a:buSzPct val="100000"/>
              <a:buFont typeface="Wingdings" panose="05000000000000000000" pitchFamily="2" charset="2"/>
              <a:buChar char="p"/>
              <a:defRPr/>
            </a:pPr>
            <a:r>
              <a:rPr lang="zh-CN" altLang="en-US" sz="1600" dirty="0">
                <a:solidFill>
                  <a:srgbClr val="0070C0"/>
                </a:solidFill>
                <a:latin typeface="微软雅黑" panose="020B0503020204020204" pitchFamily="34" charset="-122"/>
              </a:rPr>
              <a:t> 显著性水平</a:t>
            </a:r>
            <a:r>
              <a:rPr lang="en-US" altLang="zh-CN" sz="1600" dirty="0">
                <a:solidFill>
                  <a:srgbClr val="0070C0"/>
                </a:solidFill>
                <a:latin typeface="微软雅黑" panose="020B0503020204020204" pitchFamily="34" charset="-122"/>
              </a:rPr>
              <a:t>,</a:t>
            </a:r>
            <a:r>
              <a:rPr lang="ko-KR" altLang="en-US" sz="1600" noProof="1">
                <a:solidFill>
                  <a:srgbClr val="0070C0"/>
                </a:solidFill>
                <a:latin typeface="微软雅黑" panose="020B0503020204020204" pitchFamily="34" charset="-122"/>
                <a:sym typeface="+mn-ea"/>
              </a:rPr>
              <a:t> 在[0,1]之间， 缺省为0.05，</a:t>
            </a:r>
            <a:r>
              <a:rPr lang="zh-CN" altLang="ko-KR" sz="1600" noProof="1">
                <a:solidFill>
                  <a:srgbClr val="0070C0"/>
                </a:solidFill>
                <a:latin typeface="微软雅黑" panose="020B0503020204020204" pitchFamily="34" charset="-122"/>
                <a:sym typeface="+mn-ea"/>
              </a:rPr>
              <a:t>决定</a:t>
            </a:r>
            <a:r>
              <a:rPr lang="ko-KR" altLang="en-US" sz="1600" noProof="1">
                <a:solidFill>
                  <a:srgbClr val="0070C0"/>
                </a:solidFill>
                <a:latin typeface="微软雅黑" panose="020B0503020204020204" pitchFamily="34" charset="-122"/>
                <a:sym typeface="+mn-ea"/>
              </a:rPr>
              <a:t>置信区间宽度</a:t>
            </a:r>
            <a:endParaRPr lang="en-US" altLang="ko-KR" sz="1600" noProof="1">
              <a:solidFill>
                <a:srgbClr val="0070C0"/>
              </a:solidFill>
              <a:latin typeface="微软雅黑" panose="020B0503020204020204" pitchFamily="34" charset="-122"/>
              <a:sym typeface="+mn-ea"/>
            </a:endParaRPr>
          </a:p>
          <a:p>
            <a:pPr>
              <a:lnSpc>
                <a:spcPts val="2300"/>
              </a:lnSpc>
              <a:buSzPct val="100000"/>
              <a:buFont typeface="Wingdings" panose="05000000000000000000" pitchFamily="2" charset="2"/>
              <a:buChar char="p"/>
              <a:defRPr/>
            </a:pPr>
            <a:r>
              <a:rPr lang="en-US" altLang="ko-KR" sz="1600" noProof="1">
                <a:solidFill>
                  <a:srgbClr val="0070C0"/>
                </a:solidFill>
                <a:latin typeface="微软雅黑" panose="020B0503020204020204" pitchFamily="34" charset="-122"/>
                <a:sym typeface="+mn-ea"/>
              </a:rPr>
              <a:t> </a:t>
            </a:r>
            <a:r>
              <a:rPr lang="ko-KR" altLang="en-US" sz="1600" noProof="1">
                <a:solidFill>
                  <a:srgbClr val="0070C0"/>
                </a:solidFill>
                <a:latin typeface="微软雅黑" panose="020B0503020204020204" pitchFamily="34" charset="-122"/>
                <a:sym typeface="+mn-ea"/>
              </a:rPr>
              <a:t>mu,sigma</a:t>
            </a:r>
            <a:r>
              <a:rPr lang="zh-CN" altLang="en-US" sz="1600" noProof="1">
                <a:solidFill>
                  <a:srgbClr val="0070C0"/>
                </a:solidFill>
                <a:latin typeface="微软雅黑" panose="020B0503020204020204" pitchFamily="34" charset="-122"/>
                <a:ea typeface="微软雅黑" panose="020B0503020204020204" pitchFamily="34" charset="-122"/>
                <a:sym typeface="+mn-ea"/>
              </a:rPr>
              <a:t>分别为</a:t>
            </a:r>
            <a:r>
              <a:rPr lang="ko-KR" altLang="en-US" sz="1600" noProof="1">
                <a:solidFill>
                  <a:srgbClr val="0070C0"/>
                </a:solidFill>
                <a:latin typeface="微软雅黑" panose="020B0503020204020204" pitchFamily="34" charset="-122"/>
                <a:sym typeface="+mn-ea"/>
              </a:rPr>
              <a:t>正态分布的参数μ和σ估计值，点估计结果</a:t>
            </a:r>
            <a:endParaRPr lang="en-US" altLang="ko-KR" sz="1600" noProof="1">
              <a:solidFill>
                <a:srgbClr val="0070C0"/>
              </a:solidFill>
              <a:latin typeface="微软雅黑" panose="020B0503020204020204" pitchFamily="34" charset="-122"/>
              <a:sym typeface="+mn-ea"/>
            </a:endParaRPr>
          </a:p>
          <a:p>
            <a:pPr>
              <a:lnSpc>
                <a:spcPts val="2300"/>
              </a:lnSpc>
              <a:buSzPct val="100000"/>
              <a:buFont typeface="Wingdings" panose="05000000000000000000" pitchFamily="2" charset="2"/>
              <a:buChar char="p"/>
              <a:defRPr/>
            </a:pPr>
            <a:r>
              <a:rPr lang="en-US" altLang="ko-KR" sz="1600" noProof="1">
                <a:solidFill>
                  <a:srgbClr val="0070C0"/>
                </a:solidFill>
                <a:latin typeface="微软雅黑" panose="020B0503020204020204" pitchFamily="34" charset="-122"/>
                <a:sym typeface="+mn-ea"/>
              </a:rPr>
              <a:t> </a:t>
            </a:r>
            <a:r>
              <a:rPr lang="ko-KR" altLang="en-US" sz="1600" noProof="1">
                <a:solidFill>
                  <a:srgbClr val="0070C0"/>
                </a:solidFill>
                <a:latin typeface="微软雅黑" panose="020B0503020204020204" pitchFamily="34" charset="-122"/>
                <a:sym typeface="+mn-ea"/>
              </a:rPr>
              <a:t>muci,sigmaci分别为μ和σ的置信区间,区间估计结果</a:t>
            </a:r>
            <a:r>
              <a:rPr lang="zh-CN" altLang="en-US" sz="1600" dirty="0">
                <a:solidFill>
                  <a:srgbClr val="0070C0"/>
                </a:solidFill>
                <a:latin typeface="微软雅黑" panose="020B0503020204020204" pitchFamily="34" charset="-122"/>
              </a:rPr>
              <a:t>  </a:t>
            </a:r>
            <a:endParaRPr lang="en-US" altLang="ko-KR" sz="1600" noProof="1">
              <a:solidFill>
                <a:srgbClr val="0070C0"/>
              </a:solidFill>
              <a:latin typeface="微软雅黑" panose="020B0503020204020204" pitchFamily="34" charset="-122"/>
              <a:sym typeface="+mn-ea"/>
            </a:endParaRPr>
          </a:p>
        </p:txBody>
      </p:sp>
      <p:sp>
        <p:nvSpPr>
          <p:cNvPr id="28" name="矩形 27">
            <a:extLst>
              <a:ext uri="{FF2B5EF4-FFF2-40B4-BE49-F238E27FC236}">
                <a16:creationId xmlns:a16="http://schemas.microsoft.com/office/drawing/2014/main" id="{705D6519-6E84-4798-8A82-D5F73CF7E5FE}"/>
              </a:ext>
            </a:extLst>
          </p:cNvPr>
          <p:cNvSpPr/>
          <p:nvPr/>
        </p:nvSpPr>
        <p:spPr>
          <a:xfrm>
            <a:off x="46310" y="2614024"/>
            <a:ext cx="8856982" cy="338554"/>
          </a:xfrm>
          <a:prstGeom prst="rect">
            <a:avLst/>
          </a:prstGeom>
          <a:solidFill>
            <a:schemeClr val="bg1"/>
          </a:solidFill>
        </p:spPr>
        <p:txBody>
          <a:bodyPr wrap="square">
            <a:spAutoFit/>
          </a:bodyPr>
          <a:lstStyle/>
          <a:p>
            <a:r>
              <a:rPr lang="en-US" altLang="zh-CN" sz="1600" b="1" dirty="0">
                <a:solidFill>
                  <a:srgbClr val="0070C0"/>
                </a:solidFill>
                <a:latin typeface="微软雅黑" panose="020B0503020204020204" pitchFamily="34" charset="-122"/>
                <a:ea typeface="微软雅黑" panose="020B0503020204020204" pitchFamily="34" charset="-122"/>
              </a:rPr>
              <a:t>2</a:t>
            </a:r>
            <a:r>
              <a:rPr lang="zh-CN" altLang="en-US" sz="1600" b="1" dirty="0">
                <a:solidFill>
                  <a:srgbClr val="0070C0"/>
                </a:solidFill>
                <a:latin typeface="微软雅黑" panose="020B0503020204020204" pitchFamily="34" charset="-122"/>
                <a:ea typeface="微软雅黑" panose="020B0503020204020204" pitchFamily="34" charset="-122"/>
              </a:rPr>
              <a:t>）推断统计分析</a:t>
            </a:r>
            <a:r>
              <a:rPr lang="en-US" altLang="zh-CN" sz="1600" b="1" dirty="0">
                <a:solidFill>
                  <a:srgbClr val="0070C0"/>
                </a:solidFill>
                <a:latin typeface="微软雅黑" panose="020B0503020204020204" pitchFamily="34" charset="-122"/>
                <a:ea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通过样本分布假设</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normplot</a:t>
            </a:r>
            <a:r>
              <a:rPr lang="zh-CN" altLang="en-US" sz="1600" b="1" dirty="0">
                <a:solidFill>
                  <a:srgbClr val="0070C0"/>
                </a:solidFill>
                <a:latin typeface="微软雅黑" panose="020B0503020204020204" pitchFamily="34" charset="-122"/>
                <a:ea typeface="微软雅黑" panose="020B0503020204020204" pitchFamily="34" charset="-122"/>
              </a:rPr>
              <a:t>和参数估计</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normfit</a:t>
            </a:r>
            <a:r>
              <a:rPr lang="zh-CN" altLang="en-US" sz="1600" b="1" dirty="0">
                <a:solidFill>
                  <a:srgbClr val="0070C0"/>
                </a:solidFill>
                <a:latin typeface="微软雅黑" panose="020B0503020204020204" pitchFamily="34" charset="-122"/>
                <a:ea typeface="微软雅黑" panose="020B0503020204020204" pitchFamily="34" charset="-122"/>
              </a:rPr>
              <a:t>推断到总体的参数</a:t>
            </a:r>
            <a:endParaRPr lang="en-US" altLang="zh-CN" sz="1600" b="1" dirty="0">
              <a:solidFill>
                <a:srgbClr val="0070C0"/>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6A6B2A19-771F-4C21-9EFC-6C88FC0E3EC7}"/>
              </a:ext>
            </a:extLst>
          </p:cNvPr>
          <p:cNvSpPr txBox="1"/>
          <p:nvPr/>
        </p:nvSpPr>
        <p:spPr>
          <a:xfrm>
            <a:off x="160682" y="232956"/>
            <a:ext cx="8659790" cy="430887"/>
          </a:xfrm>
          <a:prstGeom prst="rect">
            <a:avLst/>
          </a:prstGeom>
          <a:solidFill>
            <a:schemeClr val="bg1"/>
          </a:solidFill>
        </p:spPr>
        <p:txBody>
          <a:bodyPr wrap="square">
            <a:spAutoFit/>
          </a:bodyPr>
          <a:lstStyle/>
          <a:p>
            <a:pPr algn="just"/>
            <a:r>
              <a:rPr lang="zh-CN" altLang="en-US" sz="2200" b="1" dirty="0">
                <a:solidFill>
                  <a:srgbClr val="0070C0"/>
                </a:solidFill>
                <a:latin typeface="黑体" panose="02010609060101010101" pitchFamily="49" charset="-122"/>
                <a:ea typeface="黑体" panose="02010609060101010101" pitchFamily="49" charset="-122"/>
              </a:rPr>
              <a:t>二、</a:t>
            </a:r>
            <a:r>
              <a:rPr lang="zh-CN" altLang="zh-CN" sz="2200" b="1" dirty="0">
                <a:solidFill>
                  <a:srgbClr val="0070C0"/>
                </a:solidFill>
                <a:latin typeface="黑体" panose="02010609060101010101" pitchFamily="49" charset="-122"/>
                <a:ea typeface="黑体" panose="02010609060101010101" pitchFamily="49" charset="-122"/>
              </a:rPr>
              <a:t>上机</a:t>
            </a:r>
            <a:r>
              <a:rPr lang="zh-CN" altLang="en-US" sz="2200" b="1" dirty="0">
                <a:solidFill>
                  <a:srgbClr val="0070C0"/>
                </a:solidFill>
                <a:latin typeface="黑体" panose="02010609060101010101" pitchFamily="49" charset="-122"/>
                <a:ea typeface="黑体" panose="02010609060101010101" pitchFamily="49" charset="-122"/>
              </a:rPr>
              <a:t>练习</a:t>
            </a:r>
            <a:r>
              <a:rPr lang="zh-CN" altLang="zh-CN" sz="2200" b="1" dirty="0">
                <a:solidFill>
                  <a:srgbClr val="0070C0"/>
                </a:solidFill>
                <a:latin typeface="黑体" panose="02010609060101010101" pitchFamily="49" charset="-122"/>
                <a:ea typeface="黑体" panose="02010609060101010101" pitchFamily="49" charset="-122"/>
              </a:rPr>
              <a:t>理论</a:t>
            </a:r>
            <a:r>
              <a:rPr lang="en-US" altLang="zh-CN" sz="2200" dirty="0">
                <a:solidFill>
                  <a:srgbClr val="FF0000"/>
                </a:solidFill>
                <a:latin typeface="华文细黑" pitchFamily="2" charset="-122"/>
                <a:ea typeface="华文细黑" pitchFamily="2" charset="-122"/>
              </a:rPr>
              <a:t>——4</a:t>
            </a:r>
            <a:r>
              <a:rPr lang="zh-CN" altLang="en-US" sz="2200" dirty="0">
                <a:solidFill>
                  <a:srgbClr val="FF0000"/>
                </a:solidFill>
                <a:latin typeface="华文细黑" pitchFamily="2" charset="-122"/>
                <a:ea typeface="华文细黑" pitchFamily="2" charset="-122"/>
              </a:rPr>
              <a:t>、概率统计分析</a:t>
            </a:r>
            <a:endParaRPr lang="zh-CN" altLang="zh-CN" sz="2200" dirty="0">
              <a:solidFill>
                <a:srgbClr val="FF0000"/>
              </a:solidFill>
              <a:latin typeface="华文细黑" pitchFamily="2" charset="-122"/>
              <a:ea typeface="华文细黑" pitchFamily="2" charset="-122"/>
            </a:endParaRPr>
          </a:p>
        </p:txBody>
      </p:sp>
      <p:pic>
        <p:nvPicPr>
          <p:cNvPr id="24" name="图片 23">
            <a:extLst>
              <a:ext uri="{FF2B5EF4-FFF2-40B4-BE49-F238E27FC236}">
                <a16:creationId xmlns:a16="http://schemas.microsoft.com/office/drawing/2014/main" id="{BC151E6E-D908-4CF8-ADA0-88D82AB23674}"/>
              </a:ext>
            </a:extLst>
          </p:cNvPr>
          <p:cNvPicPr>
            <a:picLocks noChangeAspect="1"/>
          </p:cNvPicPr>
          <p:nvPr/>
        </p:nvPicPr>
        <p:blipFill rotWithShape="1">
          <a:blip r:embed="rId3"/>
          <a:srcRect l="6072" t="1" r="4727" b="3997"/>
          <a:stretch/>
        </p:blipFill>
        <p:spPr>
          <a:xfrm>
            <a:off x="7749724" y="2192468"/>
            <a:ext cx="1261225" cy="755748"/>
          </a:xfrm>
          <a:prstGeom prst="rect">
            <a:avLst/>
          </a:prstGeom>
          <a:solidFill>
            <a:schemeClr val="bg1"/>
          </a:solidFill>
        </p:spPr>
      </p:pic>
      <p:sp>
        <p:nvSpPr>
          <p:cNvPr id="20" name="文本框 1">
            <a:extLst>
              <a:ext uri="{FF2B5EF4-FFF2-40B4-BE49-F238E27FC236}">
                <a16:creationId xmlns:a16="http://schemas.microsoft.com/office/drawing/2014/main" id="{73BEF237-0ABA-40B0-B9A9-800BAFC44957}"/>
              </a:ext>
            </a:extLst>
          </p:cNvPr>
          <p:cNvSpPr txBox="1">
            <a:spLocks noChangeArrowheads="1"/>
          </p:cNvSpPr>
          <p:nvPr/>
        </p:nvSpPr>
        <p:spPr bwMode="auto">
          <a:xfrm>
            <a:off x="6998656" y="4286252"/>
            <a:ext cx="1620180"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641" indent="-177641">
              <a:lnSpc>
                <a:spcPct val="90000"/>
              </a:lnSpc>
              <a:defRPr sz="1600" kern="0">
                <a:solidFill>
                  <a:schemeClr val="bg1"/>
                </a:solidFill>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ko-KR" altLang="en-US" dirty="0"/>
              <a:t>X</a:t>
            </a:r>
            <a:r>
              <a:rPr lang="en-US" altLang="ko-KR" dirty="0"/>
              <a:t>~</a:t>
            </a:r>
            <a:r>
              <a:rPr lang="ko-KR" altLang="en-US" dirty="0"/>
              <a:t>N(μ</a:t>
            </a:r>
            <a:r>
              <a:rPr lang="en-US" altLang="ko-KR" dirty="0"/>
              <a:t>,</a:t>
            </a:r>
            <a:r>
              <a:rPr lang="ko-KR" altLang="en-US" dirty="0"/>
              <a:t>σ</a:t>
            </a:r>
            <a:r>
              <a:rPr lang="ko-KR" altLang="en-US" baseline="30000" dirty="0"/>
              <a:t>2</a:t>
            </a:r>
            <a:r>
              <a:rPr lang="ko-KR" altLang="en-US" dirty="0"/>
              <a:t>)</a:t>
            </a:r>
            <a:endParaRPr lang="zh-CN" altLang="en-US" dirty="0"/>
          </a:p>
        </p:txBody>
      </p:sp>
      <p:sp>
        <p:nvSpPr>
          <p:cNvPr id="25" name="文本框 24">
            <a:extLst>
              <a:ext uri="{FF2B5EF4-FFF2-40B4-BE49-F238E27FC236}">
                <a16:creationId xmlns:a16="http://schemas.microsoft.com/office/drawing/2014/main" id="{72FE080D-976D-4290-88D7-90EF8DC80AC9}"/>
              </a:ext>
            </a:extLst>
          </p:cNvPr>
          <p:cNvSpPr txBox="1"/>
          <p:nvPr/>
        </p:nvSpPr>
        <p:spPr>
          <a:xfrm>
            <a:off x="6809078" y="3688693"/>
            <a:ext cx="2284260" cy="584775"/>
          </a:xfrm>
          <a:prstGeom prst="rect">
            <a:avLst/>
          </a:prstGeom>
          <a:noFill/>
        </p:spPr>
        <p:txBody>
          <a:bodyPr wrap="square">
            <a:spAutoFit/>
          </a:bodyPr>
          <a:lstStyle/>
          <a:p>
            <a:r>
              <a:rPr lang="zh-CN" altLang="en-US" sz="1600" dirty="0">
                <a:solidFill>
                  <a:srgbClr val="FF0000"/>
                </a:solidFill>
              </a:rPr>
              <a:t>随机</a:t>
            </a:r>
            <a:r>
              <a:rPr lang="zh-CN" altLang="ko-KR" sz="1600" dirty="0">
                <a:solidFill>
                  <a:srgbClr val="FF0000"/>
                </a:solidFill>
              </a:rPr>
              <a:t>变量</a:t>
            </a:r>
            <a:r>
              <a:rPr lang="en-US" altLang="zh-CN" sz="1600" dirty="0">
                <a:solidFill>
                  <a:srgbClr val="FF0000"/>
                </a:solidFill>
              </a:rPr>
              <a:t>x</a:t>
            </a:r>
            <a:r>
              <a:rPr lang="ko-KR" altLang="en-US" sz="1600" dirty="0">
                <a:solidFill>
                  <a:srgbClr val="FF0000"/>
                </a:solidFill>
              </a:rPr>
              <a:t>服从</a:t>
            </a:r>
            <a:r>
              <a:rPr lang="zh-CN" altLang="en-US" sz="1600" dirty="0">
                <a:solidFill>
                  <a:srgbClr val="FF0000"/>
                </a:solidFill>
              </a:rPr>
              <a:t>均</a:t>
            </a:r>
            <a:r>
              <a:rPr lang="ko-KR" altLang="en-US" sz="1600" dirty="0">
                <a:solidFill>
                  <a:srgbClr val="FF0000"/>
                </a:solidFill>
              </a:rPr>
              <a:t>值 μ和</a:t>
            </a:r>
            <a:r>
              <a:rPr lang="zh-CN" altLang="en-US" sz="1600" dirty="0">
                <a:solidFill>
                  <a:srgbClr val="FF0000"/>
                </a:solidFill>
              </a:rPr>
              <a:t>标准差</a:t>
            </a:r>
            <a:r>
              <a:rPr lang="ko-KR" altLang="en-US" sz="1600" dirty="0">
                <a:solidFill>
                  <a:srgbClr val="FF0000"/>
                </a:solidFill>
              </a:rPr>
              <a:t>σ</a:t>
            </a:r>
            <a:r>
              <a:rPr lang="ko-KR" altLang="en-US" sz="1600" b="1" dirty="0">
                <a:solidFill>
                  <a:srgbClr val="FF0000"/>
                </a:solidFill>
              </a:rPr>
              <a:t>正态分布</a:t>
            </a:r>
            <a:r>
              <a:rPr lang="ko-KR" altLang="en-US" sz="1600" dirty="0">
                <a:solidFill>
                  <a:srgbClr val="FF0000"/>
                </a:solidFill>
                <a:ea typeface="宋体" panose="02010600030101010101" pitchFamily="2" charset="-122"/>
              </a:rPr>
              <a:t> </a:t>
            </a:r>
            <a:endParaRPr lang="zh-CN" altLang="en-US" sz="1600" dirty="0">
              <a:solidFill>
                <a:srgbClr val="FF0000"/>
              </a:solidFill>
            </a:endParaRPr>
          </a:p>
        </p:txBody>
      </p:sp>
    </p:spTree>
    <p:extLst>
      <p:ext uri="{BB962C8B-B14F-4D97-AF65-F5344CB8AC3E}">
        <p14:creationId xmlns:p14="http://schemas.microsoft.com/office/powerpoint/2010/main" val="132363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9" grpId="0" animBg="1"/>
      <p:bldP spid="10" grpId="0" animBg="1"/>
      <p:bldP spid="13" grpId="0" animBg="1"/>
      <p:bldP spid="15" grpId="0" animBg="1"/>
      <p:bldP spid="16" grpId="0" animBg="1"/>
      <p:bldP spid="17" grpId="0"/>
      <p:bldP spid="18" grpId="0"/>
      <p:bldP spid="19" grpId="0"/>
      <p:bldP spid="21" grpId="0" animBg="1"/>
      <p:bldP spid="22"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67A6989-2A29-419F-A20E-2CF4CD4DD5D4}"/>
              </a:ext>
            </a:extLst>
          </p:cNvPr>
          <p:cNvSpPr/>
          <p:nvPr/>
        </p:nvSpPr>
        <p:spPr>
          <a:xfrm>
            <a:off x="170942" y="3228880"/>
            <a:ext cx="8856982" cy="338554"/>
          </a:xfrm>
          <a:prstGeom prst="rect">
            <a:avLst/>
          </a:prstGeom>
          <a:solidFill>
            <a:schemeClr val="bg1"/>
          </a:solidFill>
        </p:spPr>
        <p:txBody>
          <a:bodyPr wrap="square">
            <a:spAutoFit/>
          </a:bodyPr>
          <a:lstStyle/>
          <a:p>
            <a:r>
              <a:rPr lang="en-US" altLang="zh-CN" sz="1600" b="1" dirty="0">
                <a:solidFill>
                  <a:srgbClr val="0070C0"/>
                </a:solidFill>
                <a:latin typeface="微软雅黑" panose="020B0503020204020204" pitchFamily="34" charset="-122"/>
                <a:ea typeface="微软雅黑" panose="020B0503020204020204" pitchFamily="34" charset="-122"/>
              </a:rPr>
              <a:t>3</a:t>
            </a:r>
            <a:r>
              <a:rPr lang="zh-CN" altLang="en-US" sz="1600" b="1" dirty="0">
                <a:solidFill>
                  <a:srgbClr val="0070C0"/>
                </a:solidFill>
                <a:latin typeface="微软雅黑" panose="020B0503020204020204" pitchFamily="34" charset="-122"/>
                <a:ea typeface="微软雅黑" panose="020B0503020204020204" pitchFamily="34" charset="-122"/>
              </a:rPr>
              <a:t>）随机变量服从</a:t>
            </a:r>
            <a:r>
              <a:rPr lang="ko-KR" altLang="en-US" sz="1600" b="1" dirty="0">
                <a:solidFill>
                  <a:srgbClr val="FF0000"/>
                </a:solidFill>
                <a:latin typeface="微软雅黑" panose="020B0503020204020204" pitchFamily="34" charset="-122"/>
              </a:rPr>
              <a:t>N(μ</a:t>
            </a:r>
            <a:r>
              <a:rPr lang="en-US" altLang="ko-KR" sz="1600" b="1" dirty="0">
                <a:solidFill>
                  <a:srgbClr val="FF0000"/>
                </a:solidFill>
                <a:latin typeface="微软雅黑" panose="020B0503020204020204" pitchFamily="34" charset="-122"/>
                <a:ea typeface="微软雅黑" panose="020B0503020204020204" pitchFamily="34" charset="-122"/>
              </a:rPr>
              <a:t>,</a:t>
            </a:r>
            <a:r>
              <a:rPr lang="ko-KR" altLang="en-US" sz="1600" b="1" dirty="0">
                <a:solidFill>
                  <a:srgbClr val="FF0000"/>
                </a:solidFill>
                <a:latin typeface="微软雅黑" panose="020B0503020204020204" pitchFamily="34" charset="-122"/>
              </a:rPr>
              <a:t>σ</a:t>
            </a:r>
            <a:r>
              <a:rPr lang="ko-KR" altLang="en-US" sz="1600" b="1" baseline="30000" dirty="0">
                <a:solidFill>
                  <a:srgbClr val="FF0000"/>
                </a:solidFill>
                <a:latin typeface="微软雅黑" panose="020B0503020204020204" pitchFamily="34" charset="-122"/>
              </a:rPr>
              <a:t>2</a:t>
            </a:r>
            <a:r>
              <a:rPr lang="ko-KR" altLang="en-US" sz="1600" b="1" dirty="0">
                <a:solidFill>
                  <a:srgbClr val="FF0000"/>
                </a:solidFill>
                <a:latin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正态分布的概率计算</a:t>
            </a:r>
            <a:endParaRPr lang="en-US" altLang="zh-CN" sz="1600" b="1"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50D828C-1FFC-4849-8F56-05B37E79F76C}"/>
              </a:ext>
            </a:extLst>
          </p:cNvPr>
          <p:cNvSpPr/>
          <p:nvPr/>
        </p:nvSpPr>
        <p:spPr>
          <a:xfrm>
            <a:off x="2369547" y="3818888"/>
            <a:ext cx="184731" cy="276999"/>
          </a:xfrm>
          <a:prstGeom prst="rect">
            <a:avLst/>
          </a:prstGeom>
          <a:solidFill>
            <a:schemeClr val="bg1"/>
          </a:solidFill>
        </p:spPr>
        <p:txBody>
          <a:bodyPr wrap="none">
            <a:spAutoFit/>
          </a:bodyPr>
          <a:lstStyle/>
          <a:p>
            <a:pPr algn="just" defTabSz="0">
              <a:spcBef>
                <a:spcPct val="20000"/>
              </a:spcBef>
            </a:pPr>
            <a:endParaRPr lang="zh-CN" altLang="en-US" sz="1200" dirty="0">
              <a:solidFill>
                <a:srgbClr val="00206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26136E5-B19C-462D-9E76-3478C1E4B308}"/>
              </a:ext>
            </a:extLst>
          </p:cNvPr>
          <p:cNvSpPr/>
          <p:nvPr/>
        </p:nvSpPr>
        <p:spPr>
          <a:xfrm>
            <a:off x="166035" y="3601456"/>
            <a:ext cx="8892480" cy="929485"/>
          </a:xfrm>
          <a:prstGeom prst="rect">
            <a:avLst/>
          </a:prstGeom>
          <a:solidFill>
            <a:schemeClr val="bg1"/>
          </a:solidFill>
        </p:spPr>
        <p:txBody>
          <a:bodyPr wrap="square">
            <a:spAutoFit/>
          </a:bodyPr>
          <a:lstStyle/>
          <a:p>
            <a:pPr marL="228600" indent="-228600" algn="just" defTabSz="0">
              <a:spcBef>
                <a:spcPct val="20000"/>
              </a:spcBef>
              <a:buFont typeface="+mj-ea"/>
              <a:buAutoNum type="circleNumDbPlain"/>
            </a:pPr>
            <a:r>
              <a:rPr lang="ko-KR" altLang="en-US" sz="1600" b="1" dirty="0">
                <a:solidFill>
                  <a:srgbClr val="0070C0"/>
                </a:solidFill>
                <a:latin typeface="微软雅黑" panose="020B0503020204020204" pitchFamily="34" charset="-122"/>
              </a:rPr>
              <a:t> 概率密度</a:t>
            </a:r>
            <a:r>
              <a:rPr lang="en-US" altLang="zh-CN" sz="1600" b="1" dirty="0" err="1">
                <a:solidFill>
                  <a:srgbClr val="0070C0"/>
                </a:solidFill>
                <a:latin typeface="微软雅黑" panose="020B0503020204020204" pitchFamily="34" charset="-122"/>
              </a:rPr>
              <a:t>normpdf</a:t>
            </a:r>
            <a:r>
              <a:rPr lang="en-US" altLang="zh-CN" sz="1600" b="1" dirty="0">
                <a:solidFill>
                  <a:srgbClr val="0070C0"/>
                </a:solidFill>
                <a:latin typeface="微软雅黑" panose="020B0503020204020204" pitchFamily="34" charset="-122"/>
              </a:rPr>
              <a:t>:</a:t>
            </a:r>
            <a:r>
              <a:rPr lang="zh-CN" altLang="en-US" sz="1600" b="1" dirty="0">
                <a:solidFill>
                  <a:srgbClr val="0070C0"/>
                </a:solidFill>
                <a:latin typeface="微软雅黑" panose="020B0503020204020204" pitchFamily="34" charset="-122"/>
                <a:sym typeface="+mn-ea"/>
              </a:rPr>
              <a:t>求随机变量</a:t>
            </a:r>
            <a:r>
              <a:rPr lang="en-US" altLang="zh-CN" sz="1600" b="1" dirty="0">
                <a:solidFill>
                  <a:srgbClr val="0070C0"/>
                </a:solidFill>
                <a:latin typeface="微软雅黑" panose="020B0503020204020204" pitchFamily="34" charset="-122"/>
                <a:sym typeface="+mn-ea"/>
              </a:rPr>
              <a:t>x</a:t>
            </a:r>
            <a:r>
              <a:rPr lang="zh-CN" altLang="en-US" sz="1600" b="1" dirty="0">
                <a:solidFill>
                  <a:srgbClr val="0070C0"/>
                </a:solidFill>
                <a:latin typeface="微软雅黑" panose="020B0503020204020204" pitchFamily="34" charset="-122"/>
                <a:sym typeface="+mn-ea"/>
              </a:rPr>
              <a:t>出现概率</a:t>
            </a:r>
            <a:r>
              <a:rPr lang="en-US" altLang="zh-CN" sz="1600" b="1" dirty="0">
                <a:solidFill>
                  <a:srgbClr val="0070C0"/>
                </a:solidFill>
                <a:latin typeface="微软雅黑" panose="020B0503020204020204" pitchFamily="34" charset="-122"/>
                <a:sym typeface="+mn-ea"/>
              </a:rPr>
              <a:t>P      </a:t>
            </a:r>
            <a:r>
              <a:rPr lang="en-US" altLang="zh-CN" sz="1600" b="1" dirty="0">
                <a:solidFill>
                  <a:srgbClr val="0070C0"/>
                </a:solidFill>
                <a:latin typeface="微软雅黑" panose="020B0503020204020204" pitchFamily="34" charset="-122"/>
                <a:sym typeface="Arial" panose="020B0604020202020204" pitchFamily="34" charset="0"/>
              </a:rPr>
              <a:t>P=</a:t>
            </a:r>
            <a:r>
              <a:rPr lang="en-US" altLang="zh-CN" sz="1600" b="1" dirty="0" err="1">
                <a:solidFill>
                  <a:srgbClr val="0070C0"/>
                </a:solidFill>
                <a:latin typeface="微软雅黑" panose="020B0503020204020204" pitchFamily="34" charset="-122"/>
                <a:sym typeface="Arial" panose="020B0604020202020204" pitchFamily="34" charset="0"/>
              </a:rPr>
              <a:t>normpdf</a:t>
            </a:r>
            <a:r>
              <a:rPr lang="en-US" altLang="zh-CN" sz="1600" b="1" dirty="0">
                <a:solidFill>
                  <a:srgbClr val="FF0000"/>
                </a:solidFill>
                <a:highlight>
                  <a:srgbClr val="FFFF00"/>
                </a:highlight>
                <a:latin typeface="微软雅黑" panose="020B0503020204020204" pitchFamily="34" charset="-122"/>
                <a:sym typeface="Arial" panose="020B0604020202020204" pitchFamily="34" charset="0"/>
              </a:rPr>
              <a:t>.</a:t>
            </a:r>
            <a:r>
              <a:rPr lang="en-US" altLang="zh-CN" sz="1600" b="1" dirty="0">
                <a:solidFill>
                  <a:srgbClr val="0070C0"/>
                </a:solidFill>
                <a:latin typeface="微软雅黑" panose="020B0503020204020204" pitchFamily="34" charset="-122"/>
                <a:sym typeface="Arial" panose="020B0604020202020204" pitchFamily="34" charset="0"/>
              </a:rPr>
              <a:t>(</a:t>
            </a:r>
            <a:r>
              <a:rPr lang="en-US" altLang="zh-CN" sz="1600" b="1" dirty="0" err="1">
                <a:solidFill>
                  <a:srgbClr val="0070C0"/>
                </a:solidFill>
                <a:latin typeface="微软雅黑" panose="020B0503020204020204" pitchFamily="34" charset="-122"/>
                <a:sym typeface="Arial" panose="020B0604020202020204" pitchFamily="34" charset="0"/>
              </a:rPr>
              <a:t>x,mu,sigma</a:t>
            </a:r>
            <a:r>
              <a:rPr lang="en-US" altLang="zh-CN" sz="1600" b="1" dirty="0">
                <a:solidFill>
                  <a:srgbClr val="0070C0"/>
                </a:solidFill>
                <a:latin typeface="微软雅黑" panose="020B0503020204020204" pitchFamily="34" charset="-122"/>
                <a:sym typeface="Arial" panose="020B0604020202020204" pitchFamily="34" charset="0"/>
              </a:rPr>
              <a:t>)</a:t>
            </a:r>
            <a:endParaRPr lang="en-US" altLang="zh-CN" sz="1600" b="1" dirty="0">
              <a:solidFill>
                <a:srgbClr val="0070C0"/>
              </a:solidFill>
              <a:latin typeface="微软雅黑" panose="020B0503020204020204" pitchFamily="34" charset="-122"/>
              <a:sym typeface="+mn-ea"/>
            </a:endParaRPr>
          </a:p>
          <a:p>
            <a:pPr marL="228600" indent="-228600" defTabSz="0">
              <a:spcBef>
                <a:spcPct val="20000"/>
              </a:spcBef>
              <a:buFont typeface="+mj-ea"/>
              <a:buAutoNum type="circleNumDbPlain"/>
            </a:pPr>
            <a:r>
              <a:rPr lang="zh-CN" altLang="en-US" sz="1600" b="1" dirty="0">
                <a:solidFill>
                  <a:srgbClr val="0070C0"/>
                </a:solidFill>
                <a:latin typeface="微软雅黑" panose="020B0503020204020204" pitchFamily="34" charset="-122"/>
              </a:rPr>
              <a:t> 累积</a:t>
            </a:r>
            <a:r>
              <a:rPr lang="ko-KR" altLang="en-US" sz="1600" b="1" dirty="0">
                <a:solidFill>
                  <a:srgbClr val="0070C0"/>
                </a:solidFill>
                <a:latin typeface="微软雅黑" panose="020B0503020204020204" pitchFamily="34" charset="-122"/>
              </a:rPr>
              <a:t>概率 </a:t>
            </a:r>
            <a:r>
              <a:rPr lang="en-US" altLang="ko-KR" sz="1600" b="1" dirty="0" err="1">
                <a:solidFill>
                  <a:srgbClr val="0070C0"/>
                </a:solidFill>
                <a:latin typeface="微软雅黑" panose="020B0503020204020204" pitchFamily="34" charset="-122"/>
              </a:rPr>
              <a:t>norm</a:t>
            </a:r>
            <a:r>
              <a:rPr lang="en-US" altLang="zh-CN" sz="1600" b="1" dirty="0" err="1">
                <a:solidFill>
                  <a:srgbClr val="0070C0"/>
                </a:solidFill>
                <a:latin typeface="微软雅黑" panose="020B0503020204020204" pitchFamily="34" charset="-122"/>
                <a:sym typeface="Arial" panose="020B0604020202020204" pitchFamily="34" charset="0"/>
              </a:rPr>
              <a:t>cdf</a:t>
            </a:r>
            <a:r>
              <a:rPr lang="en-US" altLang="zh-CN" sz="1600" b="1" dirty="0">
                <a:solidFill>
                  <a:srgbClr val="0070C0"/>
                </a:solidFill>
                <a:latin typeface="微软雅黑" panose="020B0503020204020204" pitchFamily="34" charset="-122"/>
                <a:sym typeface="Arial" panose="020B0604020202020204" pitchFamily="34" charset="0"/>
              </a:rPr>
              <a:t>:</a:t>
            </a:r>
            <a:r>
              <a:rPr lang="zh-CN" altLang="en-US" sz="1600" b="1" dirty="0">
                <a:solidFill>
                  <a:srgbClr val="0070C0"/>
                </a:solidFill>
                <a:latin typeface="微软雅黑" panose="020B0503020204020204" pitchFamily="34" charset="-122"/>
                <a:sym typeface="+mn-ea"/>
              </a:rPr>
              <a:t>求</a:t>
            </a:r>
            <a:r>
              <a:rPr lang="zh-CN" altLang="en-US" sz="1600" b="1" dirty="0">
                <a:solidFill>
                  <a:srgbClr val="0070C0"/>
                </a:solidFill>
                <a:latin typeface="微软雅黑" panose="020B0503020204020204" pitchFamily="34" charset="-122"/>
              </a:rPr>
              <a:t>随机变量不大于</a:t>
            </a:r>
            <a:r>
              <a:rPr lang="en-US" altLang="ko-KR" sz="1600" b="1" dirty="0">
                <a:solidFill>
                  <a:srgbClr val="0070C0"/>
                </a:solidFill>
                <a:latin typeface="微软雅黑" panose="020B0503020204020204" pitchFamily="34" charset="-122"/>
              </a:rPr>
              <a:t>x</a:t>
            </a:r>
            <a:r>
              <a:rPr lang="zh-CN" altLang="en-US" sz="1600" b="1" dirty="0">
                <a:solidFill>
                  <a:srgbClr val="0070C0"/>
                </a:solidFill>
                <a:latin typeface="微软雅黑" panose="020B0503020204020204" pitchFamily="34" charset="-122"/>
              </a:rPr>
              <a:t>的总概率</a:t>
            </a:r>
            <a:r>
              <a:rPr lang="en-US" altLang="zh-CN" sz="1600" b="1" dirty="0">
                <a:solidFill>
                  <a:srgbClr val="0070C0"/>
                </a:solidFill>
                <a:latin typeface="微软雅黑" panose="020B0503020204020204" pitchFamily="34" charset="-122"/>
              </a:rPr>
              <a:t>Np     </a:t>
            </a:r>
            <a:r>
              <a:rPr lang="en-US" altLang="zh-CN" sz="1600" b="1" dirty="0">
                <a:solidFill>
                  <a:srgbClr val="0070C0"/>
                </a:solidFill>
                <a:latin typeface="微软雅黑" panose="020B0503020204020204" pitchFamily="34" charset="-122"/>
                <a:sym typeface="Arial" panose="020B0604020202020204" pitchFamily="34" charset="0"/>
              </a:rPr>
              <a:t>Np=</a:t>
            </a:r>
            <a:r>
              <a:rPr lang="en-US" altLang="zh-CN" sz="1600" b="1" dirty="0" err="1">
                <a:solidFill>
                  <a:srgbClr val="0070C0"/>
                </a:solidFill>
                <a:latin typeface="微软雅黑" panose="020B0503020204020204" pitchFamily="34" charset="-122"/>
                <a:sym typeface="Arial" panose="020B0604020202020204" pitchFamily="34" charset="0"/>
              </a:rPr>
              <a:t>normcdf</a:t>
            </a:r>
            <a:r>
              <a:rPr lang="en-US" altLang="zh-CN" sz="1600" b="1" dirty="0">
                <a:solidFill>
                  <a:srgbClr val="FF0000"/>
                </a:solidFill>
                <a:highlight>
                  <a:srgbClr val="FFFF00"/>
                </a:highlight>
                <a:latin typeface="微软雅黑" panose="020B0503020204020204" pitchFamily="34" charset="-122"/>
                <a:sym typeface="Arial" panose="020B0604020202020204" pitchFamily="34" charset="0"/>
              </a:rPr>
              <a:t>.</a:t>
            </a:r>
            <a:r>
              <a:rPr lang="en-US" altLang="zh-CN" sz="1600" b="1" dirty="0">
                <a:solidFill>
                  <a:srgbClr val="0070C0"/>
                </a:solidFill>
                <a:latin typeface="微软雅黑" panose="020B0503020204020204" pitchFamily="34" charset="-122"/>
                <a:sym typeface="Arial" panose="020B0604020202020204" pitchFamily="34" charset="0"/>
              </a:rPr>
              <a:t>(</a:t>
            </a:r>
            <a:r>
              <a:rPr lang="en-US" altLang="zh-CN" sz="1600" b="1" dirty="0" err="1">
                <a:solidFill>
                  <a:srgbClr val="0070C0"/>
                </a:solidFill>
                <a:latin typeface="微软雅黑" panose="020B0503020204020204" pitchFamily="34" charset="-122"/>
                <a:sym typeface="Arial" panose="020B0604020202020204" pitchFamily="34" charset="0"/>
              </a:rPr>
              <a:t>x,mu,sigma</a:t>
            </a:r>
            <a:r>
              <a:rPr lang="en-US" altLang="zh-CN" sz="1600" b="1" dirty="0">
                <a:solidFill>
                  <a:srgbClr val="0070C0"/>
                </a:solidFill>
                <a:latin typeface="微软雅黑" panose="020B0503020204020204" pitchFamily="34" charset="-122"/>
                <a:sym typeface="Arial" panose="020B0604020202020204" pitchFamily="34" charset="0"/>
              </a:rPr>
              <a:t>)</a:t>
            </a:r>
            <a:endParaRPr lang="en-US" altLang="zh-CN" sz="1600" b="1" dirty="0">
              <a:solidFill>
                <a:srgbClr val="0070C0"/>
              </a:solidFill>
              <a:latin typeface="微软雅黑" panose="020B0503020204020204" pitchFamily="34" charset="-122"/>
            </a:endParaRPr>
          </a:p>
          <a:p>
            <a:pPr marL="228600" indent="-228600" algn="just" defTabSz="0">
              <a:spcBef>
                <a:spcPct val="20000"/>
              </a:spcBef>
              <a:buFont typeface="+mj-ea"/>
              <a:buAutoNum type="circleNumDbPlain"/>
            </a:pPr>
            <a:r>
              <a:rPr lang="en-US" altLang="zh-CN" sz="1600" b="1" dirty="0">
                <a:solidFill>
                  <a:srgbClr val="0070C0"/>
                </a:solidFill>
                <a:latin typeface="微软雅黑" panose="020B0503020204020204" pitchFamily="34" charset="-122"/>
                <a:sym typeface="Arial" panose="020B0604020202020204" pitchFamily="34" charset="0"/>
              </a:rPr>
              <a:t> </a:t>
            </a:r>
            <a:r>
              <a:rPr lang="zh-CN" altLang="zh-CN" sz="1600" b="1" dirty="0">
                <a:solidFill>
                  <a:srgbClr val="0070C0"/>
                </a:solidFill>
                <a:latin typeface="微软雅黑" panose="020B0503020204020204" pitchFamily="34" charset="-122"/>
                <a:sym typeface="Arial" panose="020B0604020202020204" pitchFamily="34" charset="0"/>
              </a:rPr>
              <a:t>逆累积分布函数</a:t>
            </a:r>
            <a:r>
              <a:rPr lang="en-US" altLang="zh-CN" sz="1600" b="1" dirty="0" err="1">
                <a:solidFill>
                  <a:srgbClr val="0070C0"/>
                </a:solidFill>
                <a:latin typeface="微软雅黑" panose="020B0503020204020204" pitchFamily="34" charset="-122"/>
                <a:sym typeface="Arial" panose="020B0604020202020204" pitchFamily="34" charset="0"/>
              </a:rPr>
              <a:t>norminv</a:t>
            </a:r>
            <a:r>
              <a:rPr lang="en-US" altLang="zh-CN" sz="1600" b="1" dirty="0">
                <a:solidFill>
                  <a:srgbClr val="0070C0"/>
                </a:solidFill>
                <a:latin typeface="微软雅黑" panose="020B0503020204020204" pitchFamily="34" charset="-122"/>
                <a:sym typeface="Arial" panose="020B0604020202020204" pitchFamily="34" charset="0"/>
              </a:rPr>
              <a:t>:</a:t>
            </a:r>
            <a:r>
              <a:rPr lang="zh-CN" altLang="en-US" sz="1600" b="1" dirty="0">
                <a:solidFill>
                  <a:srgbClr val="0070C0"/>
                </a:solidFill>
                <a:latin typeface="微软雅黑" panose="020B0503020204020204" pitchFamily="34" charset="-122"/>
                <a:sym typeface="+mn-ea"/>
              </a:rPr>
              <a:t>求</a:t>
            </a:r>
            <a:r>
              <a:rPr lang="zh-CN" altLang="zh-CN" sz="1600" b="1" dirty="0">
                <a:solidFill>
                  <a:srgbClr val="0070C0"/>
                </a:solidFill>
                <a:latin typeface="微软雅黑" panose="020B0503020204020204" pitchFamily="34" charset="-122"/>
                <a:sym typeface="Arial" panose="020B0604020202020204" pitchFamily="34" charset="0"/>
              </a:rPr>
              <a:t>累积</a:t>
            </a:r>
            <a:r>
              <a:rPr lang="zh-CN" altLang="en-US" sz="1600" b="1" dirty="0">
                <a:solidFill>
                  <a:srgbClr val="0070C0"/>
                </a:solidFill>
                <a:latin typeface="微软雅黑" panose="020B0503020204020204" pitchFamily="34" charset="-122"/>
                <a:sym typeface="Arial" panose="020B0604020202020204" pitchFamily="34" charset="0"/>
              </a:rPr>
              <a:t>概率</a:t>
            </a:r>
            <a:r>
              <a:rPr lang="zh-CN" altLang="zh-CN" sz="1600" b="1" dirty="0">
                <a:solidFill>
                  <a:srgbClr val="0070C0"/>
                </a:solidFill>
                <a:latin typeface="微软雅黑" panose="020B0503020204020204" pitchFamily="34" charset="-122"/>
                <a:sym typeface="Arial" panose="020B0604020202020204" pitchFamily="34" charset="0"/>
              </a:rPr>
              <a:t>函数</a:t>
            </a:r>
            <a:r>
              <a:rPr lang="en-US" altLang="zh-CN" sz="1600" b="1" dirty="0" err="1">
                <a:solidFill>
                  <a:srgbClr val="0070C0"/>
                </a:solidFill>
                <a:latin typeface="微软雅黑" panose="020B0503020204020204" pitchFamily="34" charset="-122"/>
                <a:sym typeface="Arial" panose="020B0604020202020204" pitchFamily="34" charset="0"/>
              </a:rPr>
              <a:t>cdf</a:t>
            </a:r>
            <a:r>
              <a:rPr lang="zh-CN" altLang="en-US" sz="1600" b="1" dirty="0">
                <a:solidFill>
                  <a:srgbClr val="0070C0"/>
                </a:solidFill>
                <a:latin typeface="微软雅黑" panose="020B0503020204020204" pitchFamily="34" charset="-122"/>
                <a:sym typeface="Arial" panose="020B0604020202020204" pitchFamily="34" charset="0"/>
              </a:rPr>
              <a:t>的逆函数    </a:t>
            </a:r>
            <a:r>
              <a:rPr lang="en-US" altLang="zh-CN" sz="1600" b="1" dirty="0">
                <a:solidFill>
                  <a:srgbClr val="0070C0"/>
                </a:solidFill>
                <a:latin typeface="微软雅黑" panose="020B0503020204020204" pitchFamily="34" charset="-122"/>
                <a:sym typeface="Arial" panose="020B0604020202020204" pitchFamily="34" charset="0"/>
              </a:rPr>
              <a:t>X=</a:t>
            </a:r>
            <a:r>
              <a:rPr lang="en-US" altLang="zh-CN" sz="1600" b="1" dirty="0" err="1">
                <a:solidFill>
                  <a:srgbClr val="0070C0"/>
                </a:solidFill>
                <a:latin typeface="微软雅黑" panose="020B0503020204020204" pitchFamily="34" charset="-122"/>
                <a:sym typeface="Arial" panose="020B0604020202020204" pitchFamily="34" charset="0"/>
              </a:rPr>
              <a:t>norminv</a:t>
            </a:r>
            <a:r>
              <a:rPr lang="en-US" altLang="zh-CN" sz="1600" b="1" dirty="0">
                <a:solidFill>
                  <a:srgbClr val="0070C0"/>
                </a:solidFill>
                <a:latin typeface="微软雅黑" panose="020B0503020204020204" pitchFamily="34" charset="-122"/>
                <a:sym typeface="Arial" panose="020B0604020202020204" pitchFamily="34" charset="0"/>
              </a:rPr>
              <a:t>(Np, </a:t>
            </a:r>
            <a:r>
              <a:rPr lang="en-US" altLang="zh-CN" sz="1600" b="1" dirty="0" err="1">
                <a:solidFill>
                  <a:srgbClr val="0070C0"/>
                </a:solidFill>
                <a:latin typeface="微软雅黑" panose="020B0503020204020204" pitchFamily="34" charset="-122"/>
                <a:sym typeface="Arial" panose="020B0604020202020204" pitchFamily="34" charset="0"/>
              </a:rPr>
              <a:t>mu,sigma</a:t>
            </a:r>
            <a:r>
              <a:rPr lang="en-US" altLang="zh-CN" sz="1600" b="1" dirty="0">
                <a:solidFill>
                  <a:srgbClr val="0070C0"/>
                </a:solidFill>
                <a:latin typeface="微软雅黑" panose="020B0503020204020204" pitchFamily="34" charset="-122"/>
                <a:sym typeface="Arial" panose="020B0604020202020204" pitchFamily="34" charset="0"/>
              </a:rPr>
              <a:t>)</a:t>
            </a:r>
            <a:endParaRPr lang="zh-CN" altLang="zh-CN" sz="1600" b="1" dirty="0">
              <a:solidFill>
                <a:srgbClr val="0070C0"/>
              </a:solidFill>
              <a:latin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8CA67376-01C2-4F13-AAAE-4C00F591D169}"/>
              </a:ext>
            </a:extLst>
          </p:cNvPr>
          <p:cNvSpPr txBox="1"/>
          <p:nvPr/>
        </p:nvSpPr>
        <p:spPr>
          <a:xfrm>
            <a:off x="160682" y="232956"/>
            <a:ext cx="8925129" cy="430887"/>
          </a:xfrm>
          <a:prstGeom prst="rect">
            <a:avLst/>
          </a:prstGeom>
          <a:solidFill>
            <a:schemeClr val="bg1"/>
          </a:solidFill>
        </p:spPr>
        <p:txBody>
          <a:bodyPr wrap="square">
            <a:spAutoFit/>
          </a:bodyPr>
          <a:lstStyle/>
          <a:p>
            <a:pPr algn="just"/>
            <a:r>
              <a:rPr lang="zh-CN" altLang="en-US" sz="2200" b="1" dirty="0">
                <a:solidFill>
                  <a:srgbClr val="0070C0"/>
                </a:solidFill>
                <a:latin typeface="黑体" panose="02010609060101010101" pitchFamily="49" charset="-122"/>
                <a:ea typeface="黑体" panose="02010609060101010101" pitchFamily="49" charset="-122"/>
              </a:rPr>
              <a:t>二、</a:t>
            </a:r>
            <a:r>
              <a:rPr lang="zh-CN" altLang="zh-CN" sz="2200" b="1" dirty="0">
                <a:solidFill>
                  <a:srgbClr val="0070C0"/>
                </a:solidFill>
                <a:latin typeface="黑体" panose="02010609060101010101" pitchFamily="49" charset="-122"/>
                <a:ea typeface="黑体" panose="02010609060101010101" pitchFamily="49" charset="-122"/>
              </a:rPr>
              <a:t>上机</a:t>
            </a:r>
            <a:r>
              <a:rPr lang="zh-CN" altLang="en-US" sz="2200" b="1" dirty="0">
                <a:solidFill>
                  <a:srgbClr val="0070C0"/>
                </a:solidFill>
                <a:latin typeface="黑体" panose="02010609060101010101" pitchFamily="49" charset="-122"/>
                <a:ea typeface="黑体" panose="02010609060101010101" pitchFamily="49" charset="-122"/>
              </a:rPr>
              <a:t>练习</a:t>
            </a:r>
            <a:r>
              <a:rPr lang="zh-CN" altLang="zh-CN" sz="2200" b="1" dirty="0">
                <a:solidFill>
                  <a:srgbClr val="0070C0"/>
                </a:solidFill>
                <a:latin typeface="黑体" panose="02010609060101010101" pitchFamily="49" charset="-122"/>
                <a:ea typeface="黑体" panose="02010609060101010101" pitchFamily="49" charset="-122"/>
              </a:rPr>
              <a:t>理论</a:t>
            </a:r>
            <a:r>
              <a:rPr lang="en-US" altLang="zh-CN" sz="2200" dirty="0">
                <a:solidFill>
                  <a:srgbClr val="FF0000"/>
                </a:solidFill>
                <a:latin typeface="华文细黑" pitchFamily="2" charset="-122"/>
                <a:ea typeface="华文细黑" pitchFamily="2" charset="-122"/>
              </a:rPr>
              <a:t>——4</a:t>
            </a:r>
            <a:r>
              <a:rPr lang="zh-CN" altLang="en-US" sz="2200" dirty="0">
                <a:solidFill>
                  <a:srgbClr val="FF0000"/>
                </a:solidFill>
                <a:latin typeface="华文细黑" pitchFamily="2" charset="-122"/>
                <a:ea typeface="华文细黑" pitchFamily="2" charset="-122"/>
              </a:rPr>
              <a:t>、概率统计分析</a:t>
            </a:r>
            <a:endParaRPr lang="zh-CN" altLang="zh-CN" sz="2200" dirty="0">
              <a:solidFill>
                <a:srgbClr val="FF0000"/>
              </a:solidFill>
              <a:latin typeface="华文细黑" pitchFamily="2" charset="-122"/>
              <a:ea typeface="华文细黑" pitchFamily="2" charset="-122"/>
            </a:endParaRPr>
          </a:p>
        </p:txBody>
      </p:sp>
      <p:pic>
        <p:nvPicPr>
          <p:cNvPr id="8" name="图片 7">
            <a:extLst>
              <a:ext uri="{FF2B5EF4-FFF2-40B4-BE49-F238E27FC236}">
                <a16:creationId xmlns:a16="http://schemas.microsoft.com/office/drawing/2014/main" id="{31CCA176-6CA8-4101-984A-3B9CB77651DC}"/>
              </a:ext>
            </a:extLst>
          </p:cNvPr>
          <p:cNvPicPr>
            <a:picLocks noChangeAspect="1"/>
          </p:cNvPicPr>
          <p:nvPr/>
        </p:nvPicPr>
        <p:blipFill>
          <a:blip r:embed="rId2"/>
          <a:stretch>
            <a:fillRect/>
          </a:stretch>
        </p:blipFill>
        <p:spPr>
          <a:xfrm>
            <a:off x="0" y="1563639"/>
            <a:ext cx="9144000" cy="1602764"/>
          </a:xfrm>
          <a:prstGeom prst="rect">
            <a:avLst/>
          </a:prstGeom>
          <a:ln>
            <a:solidFill>
              <a:schemeClr val="bg1">
                <a:lumMod val="50000"/>
              </a:schemeClr>
            </a:solidFill>
          </a:ln>
        </p:spPr>
      </p:pic>
      <p:sp>
        <p:nvSpPr>
          <p:cNvPr id="9" name="矩形 8">
            <a:extLst>
              <a:ext uri="{FF2B5EF4-FFF2-40B4-BE49-F238E27FC236}">
                <a16:creationId xmlns:a16="http://schemas.microsoft.com/office/drawing/2014/main" id="{F237B192-4C7F-4F2F-BD69-BEF59E4BF02D}"/>
              </a:ext>
            </a:extLst>
          </p:cNvPr>
          <p:cNvSpPr/>
          <p:nvPr/>
        </p:nvSpPr>
        <p:spPr>
          <a:xfrm>
            <a:off x="61355" y="755580"/>
            <a:ext cx="1415772" cy="461665"/>
          </a:xfrm>
          <a:prstGeom prst="rect">
            <a:avLst/>
          </a:prstGeom>
          <a:solidFill>
            <a:schemeClr val="bg1"/>
          </a:solidFill>
          <a:ln>
            <a:noFill/>
          </a:ln>
        </p:spPr>
        <p:txBody>
          <a:bodyPr wrap="none">
            <a:spAutoFit/>
          </a:bodyPr>
          <a:lstStyle/>
          <a:p>
            <a:r>
              <a:rPr lang="zh-CN" altLang="en-US" sz="2400" b="1" noProof="1">
                <a:solidFill>
                  <a:srgbClr val="0070C0"/>
                </a:solidFill>
                <a:latin typeface="微软雅黑" panose="020B0503020204020204" pitchFamily="34" charset="-122"/>
                <a:ea typeface="微软雅黑" panose="020B0503020204020204" pitchFamily="34" charset="-122"/>
                <a:sym typeface="+mn-ea"/>
              </a:rPr>
              <a:t>统计量：</a:t>
            </a:r>
            <a:endParaRPr lang="ko-KR" altLang="en-US" sz="2400" b="1" noProof="1">
              <a:solidFill>
                <a:srgbClr val="0070C0"/>
              </a:solidFill>
              <a:latin typeface="微软雅黑" panose="020B0503020204020204" pitchFamily="34" charset="-122"/>
              <a:sym typeface="+mn-ea"/>
            </a:endParaRPr>
          </a:p>
        </p:txBody>
      </p:sp>
      <p:sp>
        <p:nvSpPr>
          <p:cNvPr id="10" name="文本框 9">
            <a:extLst>
              <a:ext uri="{FF2B5EF4-FFF2-40B4-BE49-F238E27FC236}">
                <a16:creationId xmlns:a16="http://schemas.microsoft.com/office/drawing/2014/main" id="{DF154CE6-856A-4118-A58E-21CA6BF4C68D}"/>
              </a:ext>
            </a:extLst>
          </p:cNvPr>
          <p:cNvSpPr txBox="1"/>
          <p:nvPr/>
        </p:nvSpPr>
        <p:spPr>
          <a:xfrm>
            <a:off x="1442512" y="757749"/>
            <a:ext cx="7616003" cy="727763"/>
          </a:xfrm>
          <a:prstGeom prst="rect">
            <a:avLst/>
          </a:prstGeom>
          <a:noFill/>
        </p:spPr>
        <p:txBody>
          <a:bodyPr wrap="square">
            <a:spAutoFit/>
          </a:bodyPr>
          <a:lstStyle/>
          <a:p>
            <a:pPr>
              <a:lnSpc>
                <a:spcPts val="2600"/>
              </a:lnSpc>
              <a:spcBef>
                <a:spcPts val="450"/>
              </a:spcBef>
            </a:pPr>
            <a:r>
              <a:rPr lang="zh-CN" altLang="en-US" sz="1600" dirty="0">
                <a:solidFill>
                  <a:srgbClr val="0070C0"/>
                </a:solidFill>
                <a:latin typeface="微软雅黑" panose="020B0503020204020204" pitchFamily="34" charset="-122"/>
                <a:ea typeface="微软雅黑" panose="020B0503020204020204" pitchFamily="34" charset="-122"/>
              </a:rPr>
              <a:t>由样本数据计算推导出来的统计参数，</a:t>
            </a:r>
            <a:r>
              <a:rPr lang="zh-CN" altLang="en-US" sz="1600" b="1" dirty="0">
                <a:solidFill>
                  <a:srgbClr val="FF0000"/>
                </a:solidFill>
                <a:latin typeface="黑体" panose="02010609060101010101" pitchFamily="49" charset="-122"/>
                <a:ea typeface="黑体" panose="02010609060101010101" pitchFamily="49" charset="-122"/>
              </a:rPr>
              <a:t>用</a:t>
            </a:r>
            <a:r>
              <a:rPr lang="zh-CN" altLang="zh-CN" sz="1600" b="1" dirty="0">
                <a:solidFill>
                  <a:srgbClr val="FF0000"/>
                </a:solidFill>
                <a:latin typeface="黑体" panose="02010609060101010101" pitchFamily="49" charset="-122"/>
                <a:ea typeface="黑体" panose="02010609060101010101" pitchFamily="49" charset="-122"/>
              </a:rPr>
              <a:t>少量统计量</a:t>
            </a:r>
            <a:r>
              <a:rPr lang="zh-CN" altLang="en-US" sz="1600" b="1" dirty="0">
                <a:solidFill>
                  <a:srgbClr val="FF0000"/>
                </a:solidFill>
                <a:latin typeface="黑体" panose="02010609060101010101" pitchFamily="49" charset="-122"/>
                <a:ea typeface="黑体" panose="02010609060101010101" pitchFamily="49" charset="-122"/>
              </a:rPr>
              <a:t>实现对</a:t>
            </a:r>
            <a:r>
              <a:rPr lang="zh-CN" altLang="zh-CN" sz="1600" b="1" dirty="0">
                <a:solidFill>
                  <a:srgbClr val="FF0000"/>
                </a:solidFill>
                <a:latin typeface="黑体" panose="02010609060101010101" pitchFamily="49" charset="-122"/>
                <a:ea typeface="黑体" panose="02010609060101010101" pitchFamily="49" charset="-122"/>
              </a:rPr>
              <a:t>大量原始数据</a:t>
            </a:r>
            <a:r>
              <a:rPr lang="zh-CN" altLang="en-US" sz="1600" b="1" dirty="0">
                <a:solidFill>
                  <a:srgbClr val="FF0000"/>
                </a:solidFill>
                <a:latin typeface="黑体" panose="02010609060101010101" pitchFamily="49" charset="-122"/>
                <a:ea typeface="黑体" panose="02010609060101010101" pitchFamily="49" charset="-122"/>
              </a:rPr>
              <a:t>的</a:t>
            </a:r>
            <a:r>
              <a:rPr lang="zh-CN" altLang="zh-CN" sz="1600" b="1" dirty="0">
                <a:solidFill>
                  <a:srgbClr val="FF0000"/>
                </a:solidFill>
                <a:latin typeface="黑体" panose="02010609060101010101" pitchFamily="49" charset="-122"/>
                <a:ea typeface="黑体" panose="02010609060101010101" pitchFamily="49" charset="-122"/>
              </a:rPr>
              <a:t>概括</a:t>
            </a:r>
            <a:r>
              <a:rPr lang="zh-CN" altLang="en-US" sz="1600" b="1" dirty="0">
                <a:solidFill>
                  <a:srgbClr val="FF0000"/>
                </a:solidFill>
                <a:latin typeface="黑体" panose="02010609060101010101" pitchFamily="49" charset="-122"/>
                <a:ea typeface="黑体" panose="02010609060101010101" pitchFamily="49" charset="-122"/>
              </a:rPr>
              <a:t>总结</a:t>
            </a:r>
            <a:r>
              <a:rPr lang="en-US" altLang="zh-CN" sz="1600" b="1" dirty="0">
                <a:solidFill>
                  <a:srgbClr val="FF0000"/>
                </a:solidFill>
                <a:latin typeface="黑体" panose="02010609060101010101" pitchFamily="49" charset="-122"/>
                <a:ea typeface="黑体" panose="02010609060101010101" pitchFamily="49" charset="-122"/>
              </a:rPr>
              <a:t>,</a:t>
            </a:r>
            <a:r>
              <a:rPr lang="zh-CN" altLang="en-US" sz="1600" dirty="0">
                <a:solidFill>
                  <a:srgbClr val="0070C0"/>
                </a:solidFill>
                <a:latin typeface="微软雅黑" panose="020B0503020204020204" pitchFamily="34" charset="-122"/>
                <a:ea typeface="微软雅黑" panose="020B0503020204020204" pitchFamily="34" charset="-122"/>
              </a:rPr>
              <a:t>是概括描述原始数据特性的最佳参数</a:t>
            </a:r>
            <a:r>
              <a:rPr lang="zh-CN" altLang="en-US" dirty="0">
                <a:solidFill>
                  <a:srgbClr val="0070C0"/>
                </a:solidFill>
                <a:latin typeface="微软雅黑" panose="020B0503020204020204" pitchFamily="34" charset="-122"/>
                <a:ea typeface="微软雅黑" panose="020B0503020204020204" pitchFamily="34" charset="-122"/>
              </a:rPr>
              <a:t>。</a:t>
            </a:r>
          </a:p>
        </p:txBody>
      </p:sp>
      <p:sp>
        <p:nvSpPr>
          <p:cNvPr id="15" name="文本框 14">
            <a:extLst>
              <a:ext uri="{FF2B5EF4-FFF2-40B4-BE49-F238E27FC236}">
                <a16:creationId xmlns:a16="http://schemas.microsoft.com/office/drawing/2014/main" id="{B8AC08A4-9251-45AE-AB39-B14F8C7BBAFE}"/>
              </a:ext>
            </a:extLst>
          </p:cNvPr>
          <p:cNvSpPr txBox="1"/>
          <p:nvPr/>
        </p:nvSpPr>
        <p:spPr>
          <a:xfrm>
            <a:off x="5593857" y="1079667"/>
            <a:ext cx="2808312" cy="369332"/>
          </a:xfrm>
          <a:prstGeom prst="rect">
            <a:avLst/>
          </a:prstGeom>
          <a:noFill/>
        </p:spPr>
        <p:txBody>
          <a:bodyPr wrap="square">
            <a:spAutoFit/>
          </a:bodyPr>
          <a:lstStyle/>
          <a:p>
            <a:r>
              <a:rPr lang="en-US" altLang="zh-CN" sz="1800" dirty="0" err="1">
                <a:solidFill>
                  <a:srgbClr val="FF0000"/>
                </a:solidFill>
                <a:latin typeface="Consolas" panose="020B0609020204030204" pitchFamily="49" charset="0"/>
              </a:rPr>
              <a:t>xmin,xmax</a:t>
            </a:r>
            <a:r>
              <a:rPr lang="en-US" altLang="zh-CN" sz="1800" dirty="0">
                <a:solidFill>
                  <a:srgbClr val="FF0000"/>
                </a:solidFill>
                <a:latin typeface="Consolas" panose="020B0609020204030204" pitchFamily="49" charset="0"/>
              </a:rPr>
              <a:t>=bounds(x) </a:t>
            </a:r>
            <a:endParaRPr lang="zh-CN" altLang="en-US" dirty="0"/>
          </a:p>
        </p:txBody>
      </p:sp>
      <p:sp>
        <p:nvSpPr>
          <p:cNvPr id="11" name="文本框 1">
            <a:extLst>
              <a:ext uri="{FF2B5EF4-FFF2-40B4-BE49-F238E27FC236}">
                <a16:creationId xmlns:a16="http://schemas.microsoft.com/office/drawing/2014/main" id="{3146F612-6673-4DDD-9947-0BB8D1D85083}"/>
              </a:ext>
            </a:extLst>
          </p:cNvPr>
          <p:cNvSpPr txBox="1">
            <a:spLocks noChangeArrowheads="1"/>
          </p:cNvSpPr>
          <p:nvPr/>
        </p:nvSpPr>
        <p:spPr bwMode="auto">
          <a:xfrm>
            <a:off x="7352878" y="3258327"/>
            <a:ext cx="1620180"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641" indent="-177641">
              <a:lnSpc>
                <a:spcPct val="90000"/>
              </a:lnSpc>
              <a:defRPr sz="1600" kern="0">
                <a:solidFill>
                  <a:schemeClr val="bg1"/>
                </a:solidFill>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ko-KR" altLang="en-US" dirty="0"/>
              <a:t>X</a:t>
            </a:r>
            <a:r>
              <a:rPr lang="en-US" altLang="ko-KR" dirty="0"/>
              <a:t>~</a:t>
            </a:r>
            <a:r>
              <a:rPr lang="ko-KR" altLang="en-US" dirty="0"/>
              <a:t>N(μ</a:t>
            </a:r>
            <a:r>
              <a:rPr lang="en-US" altLang="ko-KR" dirty="0"/>
              <a:t>,</a:t>
            </a:r>
            <a:r>
              <a:rPr lang="ko-KR" altLang="en-US" dirty="0"/>
              <a:t>σ</a:t>
            </a:r>
            <a:r>
              <a:rPr lang="ko-KR" altLang="en-US" baseline="30000" dirty="0"/>
              <a:t>2</a:t>
            </a:r>
            <a:r>
              <a:rPr lang="ko-KR" altLang="en-US" dirty="0"/>
              <a:t>)</a:t>
            </a:r>
            <a:endParaRPr lang="zh-CN" altLang="en-US" dirty="0"/>
          </a:p>
        </p:txBody>
      </p:sp>
    </p:spTree>
    <p:extLst>
      <p:ext uri="{BB962C8B-B14F-4D97-AF65-F5344CB8AC3E}">
        <p14:creationId xmlns:p14="http://schemas.microsoft.com/office/powerpoint/2010/main" val="88163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3D021BB2-A983-4E33-B835-43409B245B85}"/>
              </a:ext>
            </a:extLst>
          </p:cNvPr>
          <p:cNvGraphicFramePr>
            <a:graphicFrameLocks noGrp="1"/>
          </p:cNvGraphicFramePr>
          <p:nvPr/>
        </p:nvGraphicFramePr>
        <p:xfrm>
          <a:off x="362592" y="725561"/>
          <a:ext cx="8655283" cy="2710763"/>
        </p:xfrm>
        <a:graphic>
          <a:graphicData uri="http://schemas.openxmlformats.org/drawingml/2006/table">
            <a:tbl>
              <a:tblPr/>
              <a:tblGrid>
                <a:gridCol w="1072353">
                  <a:extLst>
                    <a:ext uri="{9D8B030D-6E8A-4147-A177-3AD203B41FA5}">
                      <a16:colId xmlns:a16="http://schemas.microsoft.com/office/drawing/2014/main" val="20000"/>
                    </a:ext>
                  </a:extLst>
                </a:gridCol>
                <a:gridCol w="1072353">
                  <a:extLst>
                    <a:ext uri="{9D8B030D-6E8A-4147-A177-3AD203B41FA5}">
                      <a16:colId xmlns:a16="http://schemas.microsoft.com/office/drawing/2014/main" val="20001"/>
                    </a:ext>
                  </a:extLst>
                </a:gridCol>
                <a:gridCol w="1068694">
                  <a:extLst>
                    <a:ext uri="{9D8B030D-6E8A-4147-A177-3AD203B41FA5}">
                      <a16:colId xmlns:a16="http://schemas.microsoft.com/office/drawing/2014/main" val="20002"/>
                    </a:ext>
                  </a:extLst>
                </a:gridCol>
                <a:gridCol w="1072353">
                  <a:extLst>
                    <a:ext uri="{9D8B030D-6E8A-4147-A177-3AD203B41FA5}">
                      <a16:colId xmlns:a16="http://schemas.microsoft.com/office/drawing/2014/main" val="20003"/>
                    </a:ext>
                  </a:extLst>
                </a:gridCol>
                <a:gridCol w="1072353">
                  <a:extLst>
                    <a:ext uri="{9D8B030D-6E8A-4147-A177-3AD203B41FA5}">
                      <a16:colId xmlns:a16="http://schemas.microsoft.com/office/drawing/2014/main" val="20004"/>
                    </a:ext>
                  </a:extLst>
                </a:gridCol>
                <a:gridCol w="1072353">
                  <a:extLst>
                    <a:ext uri="{9D8B030D-6E8A-4147-A177-3AD203B41FA5}">
                      <a16:colId xmlns:a16="http://schemas.microsoft.com/office/drawing/2014/main" val="20005"/>
                    </a:ext>
                  </a:extLst>
                </a:gridCol>
                <a:gridCol w="1147625">
                  <a:extLst>
                    <a:ext uri="{9D8B030D-6E8A-4147-A177-3AD203B41FA5}">
                      <a16:colId xmlns:a16="http://schemas.microsoft.com/office/drawing/2014/main" val="20006"/>
                    </a:ext>
                  </a:extLst>
                </a:gridCol>
                <a:gridCol w="1077199">
                  <a:extLst>
                    <a:ext uri="{9D8B030D-6E8A-4147-A177-3AD203B41FA5}">
                      <a16:colId xmlns:a16="http://schemas.microsoft.com/office/drawing/2014/main" val="20007"/>
                    </a:ext>
                  </a:extLst>
                </a:gridCol>
              </a:tblGrid>
              <a:tr h="35412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日期</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a:ln>
                            <a:noFill/>
                          </a:ln>
                          <a:solidFill>
                            <a:schemeClr val="bg1"/>
                          </a:solidFill>
                          <a:effectLst/>
                          <a:latin typeface="宋体" panose="02010600030101010101" pitchFamily="2" charset="-122"/>
                          <a:ea typeface="宋体" panose="02010600030101010101" pitchFamily="2" charset="-122"/>
                        </a:rPr>
                        <a:t>收盘价</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a:ln>
                            <a:noFill/>
                          </a:ln>
                          <a:solidFill>
                            <a:schemeClr val="bg1"/>
                          </a:solidFill>
                          <a:effectLst/>
                          <a:latin typeface="宋体" panose="02010600030101010101" pitchFamily="2" charset="-122"/>
                          <a:ea typeface="宋体" panose="02010600030101010101" pitchFamily="2" charset="-122"/>
                        </a:rPr>
                        <a:t>日期</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a:ln>
                            <a:noFill/>
                          </a:ln>
                          <a:solidFill>
                            <a:schemeClr val="bg1"/>
                          </a:solidFill>
                          <a:effectLst/>
                          <a:latin typeface="宋体" panose="02010600030101010101" pitchFamily="2" charset="-122"/>
                          <a:ea typeface="宋体" panose="02010600030101010101" pitchFamily="2" charset="-122"/>
                        </a:rPr>
                        <a:t>收盘价</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日期</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a:ln>
                            <a:noFill/>
                          </a:ln>
                          <a:solidFill>
                            <a:schemeClr val="bg1"/>
                          </a:solidFill>
                          <a:effectLst/>
                          <a:latin typeface="宋体" panose="02010600030101010101" pitchFamily="2" charset="-122"/>
                          <a:ea typeface="宋体" panose="02010600030101010101" pitchFamily="2" charset="-122"/>
                        </a:rPr>
                        <a:t>收盘价</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日期</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800" b="1" i="0" u="none" strike="noStrike" cap="none" normalizeH="0" baseline="0">
                          <a:ln>
                            <a:noFill/>
                          </a:ln>
                          <a:solidFill>
                            <a:schemeClr val="bg1"/>
                          </a:solidFill>
                          <a:effectLst/>
                          <a:latin typeface="宋体" panose="02010600030101010101" pitchFamily="2" charset="-122"/>
                          <a:ea typeface="宋体" panose="02010600030101010101" pitchFamily="2" charset="-122"/>
                        </a:rPr>
                        <a:t>收盘价</a:t>
                      </a: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0"/>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8.28</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9.69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10.02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9.87</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1"/>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8.78</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2-18</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9.12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10.28</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3-20</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9.71</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2"/>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9.35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9.04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10.04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3-23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10.11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3"/>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9.22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2-20</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9.15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9.62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3-24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9.97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4"/>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9.49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9.52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3-10</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9.69</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3-25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9.79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5"/>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9.56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8.91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9.46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3-26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10.39</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6"/>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2-10</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9.46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2-25</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9.20</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9.23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3-27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10.39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7"/>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9.56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8.82</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9.16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3-30</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10.50</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8"/>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2-12</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9.29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2-27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9.23</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9.51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3-31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10.69</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09"/>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9.57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9.19</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3-17</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9.78</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10"/>
                  </a:ext>
                </a:extLst>
              </a:tr>
              <a:tr h="21424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2-16</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10.03</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3-4</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9.25</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rPr>
                        <a:t>3-18</a:t>
                      </a: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800" b="0" i="0" u="none" strike="noStrike" cap="none" normalizeH="0" baseline="0">
                          <a:ln>
                            <a:noFill/>
                          </a:ln>
                          <a:solidFill>
                            <a:schemeClr val="bg1"/>
                          </a:solidFill>
                          <a:effectLst/>
                          <a:latin typeface="Calibri" panose="020F0502020204030204" pitchFamily="34" charset="0"/>
                          <a:ea typeface="宋体" panose="02010600030101010101" pitchFamily="2" charset="-122"/>
                        </a:rPr>
                        <a:t>9.71</a:t>
                      </a: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800" b="0" i="0" u="none" strike="noStrike" cap="none" normalizeH="0" baseline="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800" b="0" i="0" u="none" strike="noStrike" cap="none" normalizeH="0" baseline="0" dirty="0">
                        <a:ln>
                          <a:noFill/>
                        </a:ln>
                        <a:solidFill>
                          <a:schemeClr val="bg1"/>
                        </a:solidFill>
                        <a:effectLst/>
                        <a:latin typeface="Calibri" panose="020F0502020204030204" pitchFamily="34" charset="0"/>
                        <a:ea typeface="宋体" panose="02010600030101010101" pitchFamily="2" charset="-122"/>
                      </a:endParaRPr>
                    </a:p>
                  </a:txBody>
                  <a:tcPr marL="91599" marR="91599" marT="34256" marB="34256"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gradFill rotWithShape="0">
                      <a:gsLst>
                        <a:gs pos="0">
                          <a:srgbClr val="4780C5"/>
                        </a:gs>
                        <a:gs pos="50000">
                          <a:srgbClr val="3A6BA5"/>
                        </a:gs>
                        <a:gs pos="100000">
                          <a:srgbClr val="254872"/>
                        </a:gs>
                      </a:gsLst>
                      <a:lin ang="2700000"/>
                    </a:gradFill>
                  </a:tcPr>
                </a:tc>
                <a:extLst>
                  <a:ext uri="{0D108BD9-81ED-4DB2-BD59-A6C34878D82A}">
                    <a16:rowId xmlns:a16="http://schemas.microsoft.com/office/drawing/2014/main" val="10011"/>
                  </a:ext>
                </a:extLst>
              </a:tr>
            </a:tbl>
          </a:graphicData>
        </a:graphic>
      </p:graphicFrame>
      <p:sp>
        <p:nvSpPr>
          <p:cNvPr id="5" name="矩形 4">
            <a:extLst>
              <a:ext uri="{FF2B5EF4-FFF2-40B4-BE49-F238E27FC236}">
                <a16:creationId xmlns:a16="http://schemas.microsoft.com/office/drawing/2014/main" id="{484BDC2B-5466-456E-86B0-FA6D03433518}"/>
              </a:ext>
            </a:extLst>
          </p:cNvPr>
          <p:cNvSpPr/>
          <p:nvPr/>
        </p:nvSpPr>
        <p:spPr>
          <a:xfrm>
            <a:off x="346582" y="3770172"/>
            <a:ext cx="8671294" cy="840358"/>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p:spPr>
        <p:txBody>
          <a:bodyPr wrap="square">
            <a:spAutoFit/>
          </a:bodyPr>
          <a:lstStyle/>
          <a:p>
            <a:pPr marL="342900" indent="-342900">
              <a:lnSpc>
                <a:spcPts val="2000"/>
              </a:lnSpc>
              <a:buFont typeface="+mj-ea"/>
              <a:buAutoNum type="circleNumDbPlain"/>
            </a:pPr>
            <a:r>
              <a:rPr lang="zh-CN" altLang="en-US" sz="1400" dirty="0">
                <a:solidFill>
                  <a:schemeClr val="bg1"/>
                </a:solidFill>
                <a:latin typeface="微软雅黑" panose="020B0503020204020204" pitchFamily="34" charset="-122"/>
                <a:ea typeface="微软雅黑" panose="020B0503020204020204" pitchFamily="34" charset="-122"/>
              </a:rPr>
              <a:t>少量统计量表征样本特征，作频数直方图，初步整理和直观描述</a:t>
            </a:r>
            <a:endParaRPr lang="en-US" altLang="zh-CN" sz="1400" dirty="0">
              <a:solidFill>
                <a:schemeClr val="bg1"/>
              </a:solidFill>
              <a:latin typeface="微软雅黑" panose="020B0503020204020204" pitchFamily="34" charset="-122"/>
              <a:ea typeface="微软雅黑" panose="020B0503020204020204" pitchFamily="34" charset="-122"/>
            </a:endParaRPr>
          </a:p>
          <a:p>
            <a:pPr marL="342900" indent="-342900">
              <a:lnSpc>
                <a:spcPts val="2000"/>
              </a:lnSpc>
              <a:buFont typeface="+mj-ea"/>
              <a:buAutoNum type="circleNumDbPlain"/>
            </a:pPr>
            <a:r>
              <a:rPr lang="zh-CN" altLang="en-US" sz="1400" dirty="0">
                <a:solidFill>
                  <a:schemeClr val="bg1"/>
                </a:solidFill>
                <a:latin typeface="微软雅黑" panose="020B0503020204020204" pitchFamily="34" charset="-122"/>
                <a:ea typeface="微软雅黑" panose="020B0503020204020204" pitchFamily="34" charset="-122"/>
              </a:rPr>
              <a:t>通过样本分布假设</a:t>
            </a:r>
            <a:r>
              <a:rPr lang="en-US" altLang="zh-CN" sz="14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normplot</a:t>
            </a:r>
            <a:r>
              <a:rPr lang="zh-CN" altLang="en-US" sz="1400" dirty="0">
                <a:solidFill>
                  <a:schemeClr val="bg1"/>
                </a:solidFill>
                <a:latin typeface="微软雅黑" panose="020B0503020204020204" pitchFamily="34" charset="-122"/>
                <a:ea typeface="微软雅黑" panose="020B0503020204020204" pitchFamily="34" charset="-122"/>
              </a:rPr>
              <a:t>和参数估计</a:t>
            </a:r>
            <a:r>
              <a:rPr lang="en-US" altLang="zh-CN" sz="1400" kern="0" dirty="0" err="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normfit</a:t>
            </a:r>
            <a:r>
              <a:rPr lang="zh-CN" altLang="en-US" sz="1400" dirty="0">
                <a:solidFill>
                  <a:schemeClr val="bg1"/>
                </a:solidFill>
                <a:latin typeface="微软雅黑" panose="020B0503020204020204" pitchFamily="34" charset="-122"/>
                <a:ea typeface="微软雅黑" panose="020B0503020204020204" pitchFamily="34" charset="-122"/>
              </a:rPr>
              <a:t>推断总体均值和方差</a:t>
            </a:r>
            <a:r>
              <a:rPr lang="en-US" altLang="zh-CN" sz="1400" dirty="0">
                <a:solidFill>
                  <a:schemeClr val="bg1"/>
                </a:solidFill>
                <a:latin typeface="微软雅黑" panose="020B0503020204020204" pitchFamily="34" charset="-122"/>
                <a:ea typeface="微软雅黑" panose="020B0503020204020204" pitchFamily="34" charset="-122"/>
              </a:rPr>
              <a:t>,</a:t>
            </a:r>
          </a:p>
          <a:p>
            <a:pPr marL="342900" indent="-342900">
              <a:lnSpc>
                <a:spcPts val="2000"/>
              </a:lnSpc>
              <a:buFont typeface="+mj-ea"/>
              <a:buAutoNum type="circleNumDbPlain"/>
            </a:pPr>
            <a:r>
              <a:rPr lang="zh-CN" altLang="en-US" sz="1400" dirty="0">
                <a:solidFill>
                  <a:schemeClr val="bg1"/>
                </a:solidFill>
                <a:latin typeface="微软雅黑" panose="020B0503020204020204" pitchFamily="34" charset="-122"/>
                <a:ea typeface="微软雅黑" panose="020B0503020204020204" pitchFamily="34" charset="-122"/>
              </a:rPr>
              <a:t>根据拟合总体均值和方差，分别用</a:t>
            </a:r>
            <a:r>
              <a:rPr lang="en-US" altLang="zh-CN" sz="1400" dirty="0" err="1">
                <a:solidFill>
                  <a:schemeClr val="bg1"/>
                </a:solidFill>
                <a:latin typeface="微软雅黑" panose="020B0503020204020204" pitchFamily="34" charset="-122"/>
                <a:ea typeface="微软雅黑" panose="020B0503020204020204" pitchFamily="34" charset="-122"/>
              </a:rPr>
              <a:t>normpdf</a:t>
            </a:r>
            <a:r>
              <a:rPr lang="zh-CN" altLang="en-US" sz="1400" dirty="0">
                <a:solidFill>
                  <a:schemeClr val="bg1"/>
                </a:solidFill>
                <a:latin typeface="微软雅黑" panose="020B0503020204020204" pitchFamily="34" charset="-122"/>
                <a:ea typeface="微软雅黑" panose="020B0503020204020204" pitchFamily="34" charset="-122"/>
              </a:rPr>
              <a:t>和</a:t>
            </a:r>
            <a:r>
              <a:rPr lang="en-US" altLang="zh-CN" sz="1400" dirty="0" err="1">
                <a:solidFill>
                  <a:schemeClr val="bg1"/>
                </a:solidFill>
                <a:latin typeface="微软雅黑" panose="020B0503020204020204" pitchFamily="34" charset="-122"/>
                <a:ea typeface="微软雅黑" panose="020B0503020204020204" pitchFamily="34" charset="-122"/>
              </a:rPr>
              <a:t>normcdp</a:t>
            </a:r>
            <a:r>
              <a:rPr lang="zh-CN" altLang="en-US" sz="1400" dirty="0">
                <a:solidFill>
                  <a:schemeClr val="bg1"/>
                </a:solidFill>
                <a:latin typeface="微软雅黑" panose="020B0503020204020204" pitchFamily="34" charset="-122"/>
                <a:ea typeface="微软雅黑" panose="020B0503020204020204" pitchFamily="34" charset="-122"/>
              </a:rPr>
              <a:t>计算概率密度和累计概率，绘制面积图和阶梯图</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7" name="文本框 1">
            <a:extLst>
              <a:ext uri="{FF2B5EF4-FFF2-40B4-BE49-F238E27FC236}">
                <a16:creationId xmlns:a16="http://schemas.microsoft.com/office/drawing/2014/main" id="{947A4C22-72CC-4EE0-B103-4A1F95529841}"/>
              </a:ext>
            </a:extLst>
          </p:cNvPr>
          <p:cNvSpPr txBox="1">
            <a:spLocks noChangeArrowheads="1"/>
          </p:cNvSpPr>
          <p:nvPr/>
        </p:nvSpPr>
        <p:spPr bwMode="auto">
          <a:xfrm>
            <a:off x="258330" y="3439340"/>
            <a:ext cx="8850173" cy="369332"/>
          </a:xfrm>
          <a:prstGeom prst="rect">
            <a:avLst/>
          </a:prstGeom>
          <a:noFill/>
          <a:ln>
            <a:noFill/>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dist">
              <a:spcBef>
                <a:spcPct val="0"/>
              </a:spcBef>
              <a:buNone/>
            </a:pPr>
            <a:r>
              <a:rPr lang="zh-CN" altLang="en-US" sz="1800" b="1"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rPr>
              <a:t>如何通过数据统计分析确定股票服从概率正态分布，</a:t>
            </a:r>
            <a:r>
              <a:rPr lang="en-US" altLang="zh-CN" sz="1800" b="1"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rPr>
              <a:t>x</a:t>
            </a:r>
            <a:r>
              <a:rPr lang="ko-KR" altLang="en-US" sz="1800" b="1" dirty="0">
                <a:solidFill>
                  <a:schemeClr val="bg1"/>
                </a:solidFill>
                <a:highlight>
                  <a:srgbClr val="FF0000"/>
                </a:highlight>
                <a:latin typeface="楷体" panose="02010609060101010101" pitchFamily="49" charset="-122"/>
                <a:ea typeface="Malgun Gothic" panose="020B0503020000020004" pitchFamily="34" charset="-127"/>
                <a:cs typeface="Aharoni" panose="02010803020104030203" pitchFamily="2" charset="-79"/>
              </a:rPr>
              <a:t>～N(</a:t>
            </a:r>
            <a:r>
              <a:rPr lang="pl-PL" altLang="zh-CN" sz="1800" b="1" kern="0"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sym typeface="Arial" panose="020B0604020202020204" pitchFamily="34" charset="0"/>
              </a:rPr>
              <a:t>9.5626</a:t>
            </a:r>
            <a:r>
              <a:rPr lang="en-US" altLang="zh-CN" sz="1800" b="1" kern="0"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sym typeface="Arial" panose="020B0604020202020204" pitchFamily="34" charset="0"/>
              </a:rPr>
              <a:t>,</a:t>
            </a:r>
            <a:r>
              <a:rPr lang="pl-PL" altLang="zh-CN" sz="1800" b="1" kern="0"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sym typeface="Arial" panose="020B0604020202020204" pitchFamily="34" charset="0"/>
              </a:rPr>
              <a:t>0.5017 </a:t>
            </a:r>
            <a:r>
              <a:rPr lang="ko-KR" altLang="en-US" sz="1800" b="1" baseline="30000" dirty="0">
                <a:solidFill>
                  <a:schemeClr val="bg1"/>
                </a:solidFill>
                <a:highlight>
                  <a:srgbClr val="FF0000"/>
                </a:highlight>
                <a:latin typeface="楷体" panose="02010609060101010101" pitchFamily="49" charset="-122"/>
                <a:ea typeface="Malgun Gothic" panose="020B0503020000020004" pitchFamily="34" charset="-127"/>
                <a:cs typeface="Aharoni" panose="02010803020104030203" pitchFamily="2" charset="-79"/>
              </a:rPr>
              <a:t>2</a:t>
            </a:r>
            <a:r>
              <a:rPr lang="ko-KR" altLang="en-US" sz="1800" b="1" dirty="0">
                <a:solidFill>
                  <a:schemeClr val="bg1"/>
                </a:solidFill>
                <a:highlight>
                  <a:srgbClr val="FF0000"/>
                </a:highlight>
                <a:latin typeface="楷体" panose="02010609060101010101" pitchFamily="49" charset="-122"/>
                <a:ea typeface="Malgun Gothic" panose="020B0503020000020004" pitchFamily="34" charset="-127"/>
                <a:cs typeface="Aharoni" panose="02010803020104030203" pitchFamily="2" charset="-79"/>
              </a:rPr>
              <a:t>)</a:t>
            </a:r>
            <a:endParaRPr lang="en-US" altLang="zh-CN" sz="1800" b="1" dirty="0">
              <a:solidFill>
                <a:schemeClr val="bg1"/>
              </a:solidFill>
              <a:highlight>
                <a:srgbClr val="FF0000"/>
              </a:highlight>
              <a:latin typeface="楷体" panose="02010609060101010101" pitchFamily="49" charset="-122"/>
              <a:ea typeface="楷体" panose="02010609060101010101" pitchFamily="49" charset="-122"/>
              <a:cs typeface="Aharoni" panose="02010803020104030203" pitchFamily="2" charset="-79"/>
            </a:endParaRPr>
          </a:p>
        </p:txBody>
      </p:sp>
      <p:sp>
        <p:nvSpPr>
          <p:cNvPr id="8" name="矩形 7">
            <a:extLst>
              <a:ext uri="{FF2B5EF4-FFF2-40B4-BE49-F238E27FC236}">
                <a16:creationId xmlns:a16="http://schemas.microsoft.com/office/drawing/2014/main" id="{535EA18E-5158-48A9-82E1-39C226B956AC}"/>
              </a:ext>
            </a:extLst>
          </p:cNvPr>
          <p:cNvSpPr/>
          <p:nvPr/>
        </p:nvSpPr>
        <p:spPr>
          <a:xfrm>
            <a:off x="428081" y="2114013"/>
            <a:ext cx="8186857" cy="461665"/>
          </a:xfrm>
          <a:prstGeom prst="rect">
            <a:avLst/>
          </a:prstGeom>
          <a:noFill/>
        </p:spPr>
        <p:txBody>
          <a:bodyPr wrap="none">
            <a:spAutoFit/>
          </a:bodyPr>
          <a:lstStyle/>
          <a:p>
            <a:pPr latinLnBrk="1"/>
            <a:r>
              <a:rPr lang="zh-CN" altLang="en-US" sz="2400" dirty="0">
                <a:solidFill>
                  <a:srgbClr val="FFFF00"/>
                </a:solidFill>
                <a:latin typeface="隶书" panose="02010509060101010101" pitchFamily="49" charset="-122"/>
                <a:ea typeface="隶书" panose="02010509060101010101" pitchFamily="49" charset="-122"/>
              </a:rPr>
              <a:t>某银行</a:t>
            </a:r>
            <a:r>
              <a:rPr lang="en-US" altLang="ko-KR" sz="2400" dirty="0">
                <a:solidFill>
                  <a:srgbClr val="FFFF00"/>
                </a:solidFill>
                <a:latin typeface="隶书" panose="02010509060101010101" pitchFamily="49" charset="-122"/>
                <a:ea typeface="隶书" panose="02010509060101010101" pitchFamily="49" charset="-122"/>
              </a:rPr>
              <a:t>2009</a:t>
            </a:r>
            <a:r>
              <a:rPr lang="zh-CN" altLang="en-US" sz="2400" dirty="0">
                <a:solidFill>
                  <a:srgbClr val="FFFF00"/>
                </a:solidFill>
                <a:latin typeface="隶书" panose="02010509060101010101" pitchFamily="49" charset="-122"/>
                <a:ea typeface="隶书" panose="02010509060101010101" pitchFamily="49" charset="-122"/>
              </a:rPr>
              <a:t>年</a:t>
            </a:r>
            <a:r>
              <a:rPr lang="en-US" altLang="ko-KR" sz="2400" dirty="0">
                <a:solidFill>
                  <a:srgbClr val="FFFF00"/>
                </a:solidFill>
                <a:latin typeface="隶书" panose="02010509060101010101" pitchFamily="49" charset="-122"/>
                <a:ea typeface="隶书" panose="02010509060101010101" pitchFamily="49" charset="-122"/>
              </a:rPr>
              <a:t>42</a:t>
            </a:r>
            <a:r>
              <a:rPr lang="zh-CN" altLang="en-US" sz="2400" dirty="0">
                <a:solidFill>
                  <a:srgbClr val="FFFF00"/>
                </a:solidFill>
                <a:latin typeface="隶书" panose="02010509060101010101" pitchFamily="49" charset="-122"/>
                <a:ea typeface="隶书" panose="02010509060101010101" pitchFamily="49" charset="-122"/>
              </a:rPr>
              <a:t>天交易日某支股票收盘价采样数据如表所示</a:t>
            </a:r>
          </a:p>
        </p:txBody>
      </p:sp>
      <p:sp>
        <p:nvSpPr>
          <p:cNvPr id="10" name="波形 9">
            <a:extLst>
              <a:ext uri="{FF2B5EF4-FFF2-40B4-BE49-F238E27FC236}">
                <a16:creationId xmlns:a16="http://schemas.microsoft.com/office/drawing/2014/main" id="{A0E5739E-A300-4B21-B761-EFF47BCF54AF}"/>
              </a:ext>
            </a:extLst>
          </p:cNvPr>
          <p:cNvSpPr/>
          <p:nvPr/>
        </p:nvSpPr>
        <p:spPr>
          <a:xfrm>
            <a:off x="7358359" y="166126"/>
            <a:ext cx="1512168"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概率统计案例</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1F993DC2-E9AC-43C9-9409-61BE7EAB48F9}"/>
              </a:ext>
            </a:extLst>
          </p:cNvPr>
          <p:cNvSpPr/>
          <p:nvPr/>
        </p:nvSpPr>
        <p:spPr>
          <a:xfrm>
            <a:off x="2587478" y="130791"/>
            <a:ext cx="4770881" cy="584775"/>
          </a:xfrm>
          <a:prstGeom prst="rect">
            <a:avLst/>
          </a:prstGeom>
          <a:noFill/>
        </p:spPr>
        <p:txBody>
          <a:bodyPr/>
          <a:lstStyle/>
          <a:p>
            <a:pPr eaLnBrk="0" hangingPunct="0"/>
            <a:r>
              <a:rPr lang="en-US" altLang="zh-CN" sz="2000" b="1" kern="0" dirty="0">
                <a:solidFill>
                  <a:srgbClr val="0070C0"/>
                </a:solidFill>
                <a:latin typeface="微软雅黑" panose="020B0503020204020204" pitchFamily="34" charset="-122"/>
                <a:ea typeface="微软雅黑" panose="020B0503020204020204" pitchFamily="34" charset="-122"/>
                <a:cs typeface="+mj-cs"/>
              </a:rPr>
              <a:t>3</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、股票收盘价数据的概率统计分析案例</a:t>
            </a:r>
            <a:endParaRPr lang="en-US" altLang="zh-CN" sz="2000" b="1" kern="0" dirty="0">
              <a:solidFill>
                <a:srgbClr val="0070C0"/>
              </a:solidFill>
              <a:latin typeface="微软雅黑" panose="020B0503020204020204" pitchFamily="34" charset="-122"/>
              <a:ea typeface="微软雅黑" panose="020B0503020204020204" pitchFamily="34" charset="-122"/>
              <a:cs typeface="+mj-cs"/>
            </a:endParaRPr>
          </a:p>
        </p:txBody>
      </p:sp>
      <p:sp>
        <p:nvSpPr>
          <p:cNvPr id="12" name="文本框 11">
            <a:extLst>
              <a:ext uri="{FF2B5EF4-FFF2-40B4-BE49-F238E27FC236}">
                <a16:creationId xmlns:a16="http://schemas.microsoft.com/office/drawing/2014/main" id="{2263A595-AB9B-4F9B-BB6A-722C82AD8FFA}"/>
              </a:ext>
            </a:extLst>
          </p:cNvPr>
          <p:cNvSpPr txBox="1"/>
          <p:nvPr/>
        </p:nvSpPr>
        <p:spPr>
          <a:xfrm>
            <a:off x="326200" y="-383"/>
            <a:ext cx="2304255" cy="501932"/>
          </a:xfrm>
          <a:prstGeom prst="rect">
            <a:avLst/>
          </a:prstGeom>
          <a:solidFill>
            <a:schemeClr val="bg1"/>
          </a:solidFill>
        </p:spPr>
        <p:txBody>
          <a:bodyPr wrap="square">
            <a:spAutoFit/>
          </a:bodyPr>
          <a:lstStyle>
            <a:defPPr>
              <a:defRPr lang="zh-CN"/>
            </a:defPPr>
            <a:lvl1pPr algn="just">
              <a:lnSpc>
                <a:spcPct val="150000"/>
              </a:lnSpc>
              <a:defRPr sz="2000" b="1" kern="1800">
                <a:solidFill>
                  <a:schemeClr val="bg1"/>
                </a:solidFill>
                <a:highlight>
                  <a:srgbClr val="003B76"/>
                </a:highlight>
                <a:latin typeface="等线" panose="02010600030101010101" pitchFamily="2" charset="-122"/>
                <a:ea typeface="黑体" panose="02010609060101010101" pitchFamily="49" charset="-122"/>
              </a:defRPr>
            </a:lvl1pPr>
          </a:lstStyle>
          <a:p>
            <a:r>
              <a:rPr lang="zh-CN" altLang="en-US" dirty="0"/>
              <a:t>概率理论及其案例</a:t>
            </a:r>
            <a:endParaRPr lang="zh-CN" altLang="zh-CN" dirty="0"/>
          </a:p>
        </p:txBody>
      </p:sp>
    </p:spTree>
    <p:extLst>
      <p:ext uri="{BB962C8B-B14F-4D97-AF65-F5344CB8AC3E}">
        <p14:creationId xmlns:p14="http://schemas.microsoft.com/office/powerpoint/2010/main" val="72066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187" y="1392374"/>
            <a:ext cx="4779301" cy="3057247"/>
          </a:xfrm>
          <a:prstGeom prst="rect">
            <a:avLst/>
          </a:prstGeom>
          <a:solidFill>
            <a:schemeClr val="bg1"/>
          </a:solidFill>
          <a:ln>
            <a:noFill/>
          </a:ln>
        </p:spPr>
        <p:txBody>
          <a:bodyPr wrap="square">
            <a:spAutoFit/>
          </a:bodyPr>
          <a:lstStyle/>
          <a:p>
            <a:pPr eaLnBrk="0" hangingPunct="0"/>
            <a:r>
              <a:rPr lang="en-US" altLang="zh-CN" sz="1400" dirty="0">
                <a:solidFill>
                  <a:srgbClr val="000000"/>
                </a:solidFill>
                <a:latin typeface="Calibri" panose="020F0502020204030204" charset="0"/>
                <a:ea typeface="Malgun Gothic" panose="020B0503020000020004" pitchFamily="34" charset="-127"/>
              </a:rPr>
              <a:t>#</a:t>
            </a:r>
            <a:r>
              <a:rPr lang="zh-CN" altLang="en-US" sz="1400" b="1" dirty="0">
                <a:solidFill>
                  <a:srgbClr val="C00000"/>
                </a:solidFill>
                <a:latin typeface="Calibri" panose="020F0502020204030204" charset="0"/>
                <a:ea typeface="Malgun Gothic" panose="020B0503020000020004" pitchFamily="34" charset="-127"/>
              </a:rPr>
              <a:t>股票收盘价</a:t>
            </a:r>
            <a:endParaRPr lang="en-US" altLang="zh-CN" sz="1400" b="1" dirty="0">
              <a:solidFill>
                <a:srgbClr val="C00000"/>
              </a:solidFill>
              <a:latin typeface="Calibri" panose="020F0502020204030204" charset="0"/>
              <a:ea typeface="Malgun Gothic" panose="020B0503020000020004" pitchFamily="34" charset="-127"/>
            </a:endParaRPr>
          </a:p>
          <a:p>
            <a:pPr eaLnBrk="0" hangingPunct="0">
              <a:lnSpc>
                <a:spcPts val="2000"/>
              </a:lnSpc>
            </a:pPr>
            <a:r>
              <a:rPr lang="ko-KR" altLang="en-US" sz="1400" dirty="0">
                <a:solidFill>
                  <a:srgbClr val="000000"/>
                </a:solidFill>
                <a:latin typeface="Calibri" panose="020F0502020204030204" pitchFamily="34" charset="0"/>
                <a:ea typeface="Malgun Gothic" panose="020B0503020000020004" pitchFamily="34" charset="-127"/>
              </a:rPr>
              <a:t>x=[8.28,8.78,9.35,9.22,9.49,9.56,9.46,9.56,9.29,9.57,10.03,9.69,9.12,9.04,9.15,9.52,8.91,9.2,8.82,9.23,9.19,9.25,10.02,10.28,10.04,9.62,9.69,9.46,9.23,9.16,9.51,9.78,9.71,9.87,9.71,10.11,9.97,9.79,10.39,10.39,10.5,10.69]; </a:t>
            </a:r>
            <a:r>
              <a:rPr lang="en-US" altLang="zh-CN" sz="1400" dirty="0">
                <a:solidFill>
                  <a:srgbClr val="000000"/>
                </a:solidFill>
                <a:latin typeface="Calibri" panose="020F0502020204030204" pitchFamily="34" charset="0"/>
                <a:ea typeface="Malgun Gothic" panose="020B0503020000020004" pitchFamily="34" charset="-127"/>
              </a:rPr>
              <a:t>#</a:t>
            </a:r>
            <a:r>
              <a:rPr lang="zh-CN" altLang="en-US" sz="1400" b="1" dirty="0">
                <a:solidFill>
                  <a:srgbClr val="C00000"/>
                </a:solidFill>
                <a:latin typeface="Calibri" panose="020F0502020204030204" pitchFamily="34" charset="0"/>
                <a:ea typeface="Malgun Gothic" panose="020B0503020000020004" pitchFamily="34" charset="-127"/>
              </a:rPr>
              <a:t>股票收盘价</a:t>
            </a:r>
            <a:endParaRPr lang="en-US" altLang="ko-KR" sz="1400" dirty="0">
              <a:solidFill>
                <a:srgbClr val="000000"/>
              </a:solidFill>
              <a:latin typeface="Calibri" panose="020F0502020204030204" pitchFamily="34" charset="0"/>
              <a:ea typeface="Malgun Gothic" panose="020B0503020000020004" pitchFamily="34" charset="-127"/>
            </a:endParaRPr>
          </a:p>
          <a:p>
            <a:pPr eaLnBrk="0" hangingPunct="0">
              <a:lnSpc>
                <a:spcPts val="2000"/>
              </a:lnSpc>
            </a:pPr>
            <a:r>
              <a:rPr lang="en-US" altLang="zh-CN" sz="1400" dirty="0">
                <a:solidFill>
                  <a:srgbClr val="FF0000"/>
                </a:solidFill>
              </a:rPr>
              <a:t>xmin,xmax=bounds(x) </a:t>
            </a:r>
            <a:r>
              <a:rPr lang="sv-SE" altLang="zh-CN" sz="1400" dirty="0">
                <a:solidFill>
                  <a:srgbClr val="00B0F0"/>
                </a:solidFill>
              </a:rPr>
              <a:t>#</a:t>
            </a:r>
            <a:r>
              <a:rPr lang="zh-CN" altLang="en-US" sz="1400" dirty="0">
                <a:solidFill>
                  <a:srgbClr val="00B0F0"/>
                </a:solidFill>
              </a:rPr>
              <a:t>最小和最大值结果</a:t>
            </a:r>
            <a:r>
              <a:rPr lang="en-US" altLang="zh-CN" sz="1400" dirty="0">
                <a:solidFill>
                  <a:srgbClr val="002060"/>
                </a:solidFill>
              </a:rPr>
              <a:t>(8.28, 10.69)</a:t>
            </a:r>
          </a:p>
          <a:p>
            <a:pPr eaLnBrk="0" hangingPunct="0">
              <a:lnSpc>
                <a:spcPts val="2000"/>
              </a:lnSpc>
            </a:pPr>
            <a:r>
              <a:rPr lang="sv-SE" altLang="zh-CN" sz="1400" dirty="0">
                <a:solidFill>
                  <a:srgbClr val="002060"/>
                </a:solidFill>
              </a:rPr>
              <a:t>Mi=ty_minimum(x)  </a:t>
            </a:r>
            <a:r>
              <a:rPr lang="sv-SE" altLang="zh-CN" sz="1400" dirty="0">
                <a:solidFill>
                  <a:srgbClr val="00B0F0"/>
                </a:solidFill>
              </a:rPr>
              <a:t>#</a:t>
            </a:r>
            <a:r>
              <a:rPr lang="zh-CN" altLang="en-US" sz="1400" dirty="0">
                <a:solidFill>
                  <a:srgbClr val="00B0F0"/>
                </a:solidFill>
              </a:rPr>
              <a:t>结果</a:t>
            </a:r>
            <a:r>
              <a:rPr lang="sv-SE" altLang="zh-CN" sz="1400" dirty="0">
                <a:solidFill>
                  <a:srgbClr val="00B0F0"/>
                </a:solidFill>
              </a:rPr>
              <a:t>8.2800</a:t>
            </a:r>
          </a:p>
          <a:p>
            <a:pPr>
              <a:lnSpc>
                <a:spcPts val="2000"/>
              </a:lnSpc>
            </a:pPr>
            <a:r>
              <a:rPr lang="en-US" altLang="zh-CN" sz="1400" dirty="0">
                <a:solidFill>
                  <a:srgbClr val="002060"/>
                </a:solidFill>
              </a:rPr>
              <a:t>M = </a:t>
            </a:r>
            <a:r>
              <a:rPr lang="en-US" altLang="zh-CN" sz="1400" dirty="0" err="1">
                <a:solidFill>
                  <a:srgbClr val="002060"/>
                </a:solidFill>
              </a:rPr>
              <a:t>ty_maximum</a:t>
            </a:r>
            <a:r>
              <a:rPr lang="en-US" altLang="zh-CN" sz="1400" dirty="0">
                <a:solidFill>
                  <a:srgbClr val="002060"/>
                </a:solidFill>
              </a:rPr>
              <a:t>(x)  </a:t>
            </a:r>
            <a:r>
              <a:rPr lang="sv-SE" altLang="zh-CN" sz="1400" dirty="0">
                <a:solidFill>
                  <a:srgbClr val="00B0F0"/>
                </a:solidFill>
              </a:rPr>
              <a:t>#</a:t>
            </a:r>
            <a:r>
              <a:rPr lang="zh-CN" altLang="en-US" sz="1400" dirty="0">
                <a:solidFill>
                  <a:srgbClr val="00B0F0"/>
                </a:solidFill>
              </a:rPr>
              <a:t>结果</a:t>
            </a:r>
            <a:r>
              <a:rPr lang="sv-SE" altLang="zh-CN" sz="1400" dirty="0">
                <a:solidFill>
                  <a:srgbClr val="00B0F0"/>
                </a:solidFill>
              </a:rPr>
              <a:t>10.6900</a:t>
            </a:r>
          </a:p>
          <a:p>
            <a:pPr>
              <a:lnSpc>
                <a:spcPts val="2000"/>
              </a:lnSpc>
            </a:pPr>
            <a:r>
              <a:rPr lang="sv-SE" altLang="zh-CN" sz="1400" dirty="0">
                <a:solidFill>
                  <a:srgbClr val="002060"/>
                </a:solidFill>
              </a:rPr>
              <a:t>mean(x)  </a:t>
            </a:r>
            <a:r>
              <a:rPr lang="sv-SE" altLang="zh-CN" sz="1400" dirty="0">
                <a:solidFill>
                  <a:srgbClr val="00B0F0"/>
                </a:solidFill>
              </a:rPr>
              <a:t>#</a:t>
            </a:r>
            <a:r>
              <a:rPr lang="zh-CN" altLang="en-US" sz="1400" dirty="0">
                <a:solidFill>
                  <a:srgbClr val="00B0F0"/>
                </a:solidFill>
              </a:rPr>
              <a:t>结果</a:t>
            </a:r>
            <a:r>
              <a:rPr lang="sv-SE" altLang="zh-CN" sz="1400" dirty="0">
                <a:solidFill>
                  <a:srgbClr val="00B0F0"/>
                </a:solidFill>
              </a:rPr>
              <a:t>9.5626</a:t>
            </a:r>
          </a:p>
          <a:p>
            <a:pPr>
              <a:lnSpc>
                <a:spcPts val="2000"/>
              </a:lnSpc>
            </a:pPr>
            <a:r>
              <a:rPr lang="sv-SE" altLang="zh-CN" sz="1400" dirty="0">
                <a:solidFill>
                  <a:srgbClr val="002060"/>
                </a:solidFill>
              </a:rPr>
              <a:t>std(x)  </a:t>
            </a:r>
            <a:r>
              <a:rPr lang="sv-SE" altLang="zh-CN" sz="1400" dirty="0">
                <a:solidFill>
                  <a:srgbClr val="00B0F0"/>
                </a:solidFill>
              </a:rPr>
              <a:t>#</a:t>
            </a:r>
            <a:r>
              <a:rPr lang="zh-CN" altLang="en-US" sz="1400" dirty="0">
                <a:solidFill>
                  <a:srgbClr val="00B0F0"/>
                </a:solidFill>
              </a:rPr>
              <a:t>结果</a:t>
            </a:r>
            <a:r>
              <a:rPr lang="sv-SE" altLang="zh-CN" sz="1400" dirty="0">
                <a:solidFill>
                  <a:srgbClr val="00B0F0"/>
                </a:solidFill>
              </a:rPr>
              <a:t>0.5017</a:t>
            </a:r>
          </a:p>
          <a:p>
            <a:pPr>
              <a:lnSpc>
                <a:spcPts val="2000"/>
              </a:lnSpc>
            </a:pPr>
            <a:r>
              <a:rPr lang="sv-SE" altLang="zh-CN" sz="1400" dirty="0">
                <a:solidFill>
                  <a:srgbClr val="002060"/>
                </a:solidFill>
              </a:rPr>
              <a:t>median(x)  </a:t>
            </a:r>
            <a:r>
              <a:rPr lang="sv-SE" altLang="zh-CN" sz="1400" dirty="0">
                <a:solidFill>
                  <a:srgbClr val="00B0F0"/>
                </a:solidFill>
              </a:rPr>
              <a:t>#</a:t>
            </a:r>
            <a:r>
              <a:rPr lang="zh-CN" altLang="en-US" sz="1400" dirty="0">
                <a:solidFill>
                  <a:srgbClr val="00B0F0"/>
                </a:solidFill>
              </a:rPr>
              <a:t>结果</a:t>
            </a:r>
            <a:r>
              <a:rPr lang="sv-SE" altLang="zh-CN" sz="1400" dirty="0">
                <a:solidFill>
                  <a:srgbClr val="00B0F0"/>
                </a:solidFill>
              </a:rPr>
              <a:t>9.5400</a:t>
            </a:r>
            <a:endParaRPr lang="zh-CN" altLang="en-US" sz="1400" dirty="0">
              <a:solidFill>
                <a:srgbClr val="00B0F0"/>
              </a:solidFill>
            </a:endParaRPr>
          </a:p>
          <a:p>
            <a:pPr eaLnBrk="0" hangingPunct="0"/>
            <a:endParaRPr lang="ko-KR" altLang="en-US" sz="1200" b="1" dirty="0">
              <a:solidFill>
                <a:srgbClr val="C00000"/>
              </a:solidFill>
              <a:latin typeface="Calibri" panose="020F0502020204030204" charset="0"/>
              <a:ea typeface="Malgun Gothic" panose="020B0503020000020004" pitchFamily="34" charset="-127"/>
            </a:endParaRPr>
          </a:p>
        </p:txBody>
      </p:sp>
      <p:sp>
        <p:nvSpPr>
          <p:cNvPr id="5" name="矩形 4"/>
          <p:cNvSpPr/>
          <p:nvPr/>
        </p:nvSpPr>
        <p:spPr>
          <a:xfrm>
            <a:off x="629321" y="679349"/>
            <a:ext cx="7255047" cy="369332"/>
          </a:xfrm>
          <a:prstGeom prst="rect">
            <a:avLst/>
          </a:prstGeom>
          <a:noFill/>
        </p:spPr>
        <p:txBody>
          <a:bodyPr wrap="square">
            <a:spAutoFit/>
          </a:bodyPr>
          <a:lstStyle/>
          <a:p>
            <a:pPr marL="457200" indent="-457200" latinLnBrk="1">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统计量计算</a:t>
            </a:r>
            <a:r>
              <a:rPr lang="en-US" altLang="zh-CN" b="1" dirty="0">
                <a:solidFill>
                  <a:srgbClr val="0070C0"/>
                </a:solidFill>
                <a:latin typeface="微软雅黑" panose="020B0503020204020204" pitchFamily="34" charset="-122"/>
                <a:ea typeface="微软雅黑" panose="020B0503020204020204" pitchFamily="34" charset="-122"/>
              </a:rPr>
              <a:t>(</a:t>
            </a:r>
            <a:r>
              <a:rPr lang="zh-CN" altLang="en-US" b="1" dirty="0">
                <a:solidFill>
                  <a:srgbClr val="0070C0"/>
                </a:solidFill>
                <a:latin typeface="微软雅黑" panose="020B0503020204020204" pitchFamily="34" charset="-122"/>
                <a:ea typeface="微软雅黑" panose="020B0503020204020204" pitchFamily="34" charset="-122"/>
              </a:rPr>
              <a:t>均值</a:t>
            </a:r>
            <a:r>
              <a:rPr lang="en-US" altLang="zh-CN" b="1" dirty="0">
                <a:solidFill>
                  <a:srgbClr val="0070C0"/>
                </a:solidFill>
                <a:latin typeface="微软雅黑" panose="020B0503020204020204" pitchFamily="34" charset="-122"/>
                <a:ea typeface="微软雅黑" panose="020B0503020204020204" pitchFamily="34" charset="-122"/>
              </a:rPr>
              <a:t>mean</a:t>
            </a:r>
            <a:r>
              <a:rPr lang="zh-CN" altLang="en-US" b="1" dirty="0">
                <a:solidFill>
                  <a:srgbClr val="0070C0"/>
                </a:solidFill>
                <a:latin typeface="微软雅黑" panose="020B0503020204020204" pitchFamily="34" charset="-122"/>
                <a:ea typeface="微软雅黑" panose="020B0503020204020204" pitchFamily="34" charset="-122"/>
              </a:rPr>
              <a:t>、方差</a:t>
            </a:r>
            <a:r>
              <a:rPr lang="en-US" altLang="zh-CN" b="1" dirty="0" err="1">
                <a:solidFill>
                  <a:srgbClr val="0070C0"/>
                </a:solidFill>
                <a:latin typeface="微软雅黑" panose="020B0503020204020204" pitchFamily="34" charset="-122"/>
                <a:ea typeface="微软雅黑" panose="020B0503020204020204" pitchFamily="34" charset="-122"/>
              </a:rPr>
              <a:t>var</a:t>
            </a:r>
            <a:r>
              <a:rPr lang="zh-CN" altLang="en-US" b="1" dirty="0">
                <a:solidFill>
                  <a:srgbClr val="0070C0"/>
                </a:solidFill>
                <a:latin typeface="微软雅黑" panose="020B0503020204020204" pitchFamily="34" charset="-122"/>
                <a:ea typeface="微软雅黑" panose="020B0503020204020204" pitchFamily="34" charset="-122"/>
              </a:rPr>
              <a:t>、标准差</a:t>
            </a:r>
            <a:r>
              <a:rPr lang="en-US" altLang="zh-CN" b="1" dirty="0" err="1">
                <a:solidFill>
                  <a:srgbClr val="0070C0"/>
                </a:solidFill>
                <a:latin typeface="微软雅黑" panose="020B0503020204020204" pitchFamily="34" charset="-122"/>
                <a:ea typeface="微软雅黑" panose="020B0503020204020204" pitchFamily="34" charset="-122"/>
              </a:rPr>
              <a:t>std</a:t>
            </a:r>
            <a:r>
              <a:rPr lang="zh-CN" altLang="en-US" b="1" dirty="0">
                <a:solidFill>
                  <a:srgbClr val="0070C0"/>
                </a:solidFill>
                <a:latin typeface="微软雅黑" panose="020B0503020204020204" pitchFamily="34" charset="-122"/>
                <a:ea typeface="微软雅黑" panose="020B0503020204020204" pitchFamily="34" charset="-122"/>
              </a:rPr>
              <a:t>、最大值、最小值</a:t>
            </a:r>
            <a:r>
              <a:rPr lang="en-US" altLang="zh-CN" b="1" dirty="0">
                <a:solidFill>
                  <a:srgbClr val="0070C0"/>
                </a:solidFill>
                <a:latin typeface="微软雅黑" panose="020B0503020204020204" pitchFamily="34" charset="-122"/>
                <a:ea typeface="微软雅黑" panose="020B0503020204020204" pitchFamily="34" charset="-122"/>
              </a:rPr>
              <a:t>)</a:t>
            </a:r>
          </a:p>
        </p:txBody>
      </p:sp>
      <p:sp>
        <p:nvSpPr>
          <p:cNvPr id="7" name="矩形 6"/>
          <p:cNvSpPr/>
          <p:nvPr/>
        </p:nvSpPr>
        <p:spPr>
          <a:xfrm>
            <a:off x="83062" y="1033394"/>
            <a:ext cx="9060937" cy="373628"/>
          </a:xfrm>
          <a:prstGeom prst="rect">
            <a:avLst/>
          </a:prstGeom>
          <a:solidFill>
            <a:srgbClr val="FFC000"/>
          </a:solidFill>
          <a:ln>
            <a:solidFill>
              <a:schemeClr val="accent3"/>
            </a:solidFill>
          </a:ln>
        </p:spPr>
        <p:txBody>
          <a:bodyPr wrap="square">
            <a:spAutoFit/>
          </a:bodyPr>
          <a:lstStyle/>
          <a:p>
            <a:pPr>
              <a:lnSpc>
                <a:spcPct val="150000"/>
              </a:lnSpc>
            </a:pPr>
            <a:r>
              <a:rPr lang="zh-CN" altLang="en-US" sz="1400" dirty="0">
                <a:solidFill>
                  <a:srgbClr val="002060"/>
                </a:solidFill>
              </a:rPr>
              <a:t>均值</a:t>
            </a:r>
            <a:r>
              <a:rPr lang="en-US" altLang="zh-CN" sz="1400" dirty="0">
                <a:solidFill>
                  <a:srgbClr val="002060"/>
                </a:solidFill>
              </a:rPr>
              <a:t>mean</a:t>
            </a:r>
            <a:r>
              <a:rPr lang="zh-CN" altLang="en-US" sz="1400" dirty="0">
                <a:solidFill>
                  <a:srgbClr val="002060"/>
                </a:solidFill>
              </a:rPr>
              <a:t>、标准差</a:t>
            </a:r>
            <a:r>
              <a:rPr lang="en-US" altLang="zh-CN" sz="1400" dirty="0">
                <a:solidFill>
                  <a:srgbClr val="002060"/>
                </a:solidFill>
              </a:rPr>
              <a:t>std</a:t>
            </a:r>
            <a:r>
              <a:rPr lang="zh-CN" altLang="en-US" sz="1400" dirty="0">
                <a:solidFill>
                  <a:srgbClr val="002060"/>
                </a:solidFill>
              </a:rPr>
              <a:t>、</a:t>
            </a:r>
            <a:r>
              <a:rPr lang="en-US" altLang="zh-CN" sz="1400" dirty="0">
                <a:solidFill>
                  <a:srgbClr val="002060"/>
                </a:solidFill>
              </a:rPr>
              <a:t> </a:t>
            </a:r>
            <a:r>
              <a:rPr lang="zh-CN" altLang="en-US" sz="1400" dirty="0">
                <a:solidFill>
                  <a:srgbClr val="002060"/>
                </a:solidFill>
              </a:rPr>
              <a:t>最大值</a:t>
            </a:r>
            <a:r>
              <a:rPr lang="en-US" altLang="zh-CN" sz="1400" dirty="0" err="1">
                <a:solidFill>
                  <a:srgbClr val="002060"/>
                </a:solidFill>
              </a:rPr>
              <a:t>ty_maximum</a:t>
            </a:r>
            <a:r>
              <a:rPr lang="en-US" altLang="zh-CN" sz="1400" dirty="0">
                <a:solidFill>
                  <a:srgbClr val="002060"/>
                </a:solidFill>
              </a:rPr>
              <a:t>(x) </a:t>
            </a:r>
            <a:r>
              <a:rPr lang="zh-CN" altLang="en-US" sz="1400" dirty="0">
                <a:solidFill>
                  <a:srgbClr val="002060"/>
                </a:solidFill>
              </a:rPr>
              <a:t>、最小值</a:t>
            </a:r>
            <a:r>
              <a:rPr lang="sv-SE" altLang="zh-CN" sz="1400" dirty="0">
                <a:solidFill>
                  <a:srgbClr val="002060"/>
                </a:solidFill>
              </a:rPr>
              <a:t>ty_minimum </a:t>
            </a:r>
            <a:r>
              <a:rPr lang="zh-CN" altLang="en-US" sz="1400" dirty="0">
                <a:solidFill>
                  <a:srgbClr val="002060"/>
                </a:solidFill>
              </a:rPr>
              <a:t>、中位数</a:t>
            </a:r>
            <a:r>
              <a:rPr lang="en-US" altLang="zh-CN" sz="1400" dirty="0">
                <a:solidFill>
                  <a:srgbClr val="002060"/>
                </a:solidFill>
              </a:rPr>
              <a:t>median</a:t>
            </a:r>
            <a:r>
              <a:rPr lang="zh-CN" altLang="en-US" sz="1400" dirty="0">
                <a:solidFill>
                  <a:srgbClr val="002060"/>
                </a:solidFill>
              </a:rPr>
              <a:t>也可以</a:t>
            </a:r>
            <a:r>
              <a:rPr lang="en-US" altLang="zh-CN" sz="1400" dirty="0" err="1">
                <a:solidFill>
                  <a:srgbClr val="002060"/>
                </a:solidFill>
              </a:rPr>
              <a:t>cdfplot</a:t>
            </a:r>
            <a:r>
              <a:rPr lang="zh-CN" altLang="en-US" sz="1400" dirty="0">
                <a:solidFill>
                  <a:srgbClr val="002060"/>
                </a:solidFill>
              </a:rPr>
              <a:t>中</a:t>
            </a:r>
            <a:r>
              <a:rPr lang="en-US" altLang="zh-CN" sz="1400" dirty="0">
                <a:solidFill>
                  <a:srgbClr val="002060"/>
                </a:solidFill>
              </a:rPr>
              <a:t>stats</a:t>
            </a:r>
            <a:r>
              <a:rPr lang="zh-CN" altLang="en-US" sz="1400" dirty="0">
                <a:solidFill>
                  <a:srgbClr val="002060"/>
                </a:solidFill>
              </a:rPr>
              <a:t>获得</a:t>
            </a:r>
          </a:p>
        </p:txBody>
      </p:sp>
      <p:sp>
        <p:nvSpPr>
          <p:cNvPr id="9" name="文本框 55300"/>
          <p:cNvSpPr txBox="1">
            <a:spLocks noChangeArrowheads="1"/>
          </p:cNvSpPr>
          <p:nvPr/>
        </p:nvSpPr>
        <p:spPr bwMode="auto">
          <a:xfrm>
            <a:off x="5536205" y="1786039"/>
            <a:ext cx="1575173" cy="27930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350" dirty="0">
                <a:sym typeface="+mn-ea"/>
              </a:rPr>
              <a:t>h</a:t>
            </a:r>
            <a:r>
              <a:rPr lang="ko-KR" altLang="en-US" sz="1350" dirty="0">
                <a:sym typeface="+mn-ea"/>
              </a:rPr>
              <a:t>,</a:t>
            </a:r>
            <a:r>
              <a:rPr lang="en-US" altLang="ko-KR" sz="1350" dirty="0">
                <a:sym typeface="+mn-ea"/>
              </a:rPr>
              <a:t>stats</a:t>
            </a:r>
            <a:r>
              <a:rPr lang="ko-KR" altLang="en-US" sz="1350" dirty="0">
                <a:sym typeface="+mn-ea"/>
              </a:rPr>
              <a:t>=</a:t>
            </a:r>
            <a:r>
              <a:rPr lang="en-US" altLang="ko-KR" sz="1350" dirty="0" err="1">
                <a:sym typeface="+mn-ea"/>
              </a:rPr>
              <a:t>cdfplot</a:t>
            </a:r>
            <a:r>
              <a:rPr lang="ko-KR" altLang="en-US" sz="1350" dirty="0">
                <a:sym typeface="+mn-ea"/>
              </a:rPr>
              <a:t>(x)</a:t>
            </a:r>
          </a:p>
        </p:txBody>
      </p:sp>
      <p:sp>
        <p:nvSpPr>
          <p:cNvPr id="10" name="矩形 9"/>
          <p:cNvSpPr/>
          <p:nvPr/>
        </p:nvSpPr>
        <p:spPr>
          <a:xfrm>
            <a:off x="5184013" y="1402207"/>
            <a:ext cx="3132403" cy="369332"/>
          </a:xfrm>
          <a:prstGeom prst="rect">
            <a:avLst/>
          </a:prstGeom>
          <a:noFill/>
        </p:spPr>
        <p:txBody>
          <a:bodyPr wrap="square">
            <a:spAutoFit/>
          </a:bodyPr>
          <a:lstStyle/>
          <a:p>
            <a:pPr marL="457200" indent="-457200" latinLnBrk="1">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经验累积分布图</a:t>
            </a:r>
            <a:r>
              <a:rPr lang="en-US" altLang="ko-KR" b="1" dirty="0" err="1">
                <a:solidFill>
                  <a:srgbClr val="0070C0"/>
                </a:solidFill>
                <a:latin typeface="微软雅黑" panose="020B0503020204020204" pitchFamily="34" charset="-122"/>
                <a:ea typeface="微软雅黑" panose="020B0503020204020204" pitchFamily="34" charset="-122"/>
                <a:sym typeface="+mn-ea"/>
              </a:rPr>
              <a:t>cdfplot</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11" name="矩形 10"/>
          <p:cNvSpPr/>
          <p:nvPr/>
        </p:nvSpPr>
        <p:spPr>
          <a:xfrm>
            <a:off x="7111378" y="1720249"/>
            <a:ext cx="2069134" cy="338554"/>
          </a:xfrm>
          <a:prstGeom prst="rect">
            <a:avLst/>
          </a:prstGeom>
          <a:solidFill>
            <a:schemeClr val="bg1"/>
          </a:solidFill>
          <a:ln>
            <a:noFill/>
            <a:prstDash val="sysDash"/>
          </a:ln>
        </p:spPr>
        <p:txBody>
          <a:bodyPr wrap="square">
            <a:spAutoFit/>
          </a:bodyPr>
          <a:lstStyle/>
          <a:p>
            <a:r>
              <a:rPr lang="en-US" altLang="zh-CN" sz="1600" dirty="0">
                <a:solidFill>
                  <a:srgbClr val="0070C0"/>
                </a:solidFill>
                <a:latin typeface="华文仿宋" panose="02010600040101010101" pitchFamily="2" charset="-122"/>
                <a:ea typeface="华文仿宋" panose="02010600040101010101" pitchFamily="2" charset="-122"/>
              </a:rPr>
              <a:t>h</a:t>
            </a:r>
            <a:r>
              <a:rPr lang="zh-CN" altLang="en-US" sz="1600" dirty="0">
                <a:solidFill>
                  <a:srgbClr val="0070C0"/>
                </a:solidFill>
                <a:latin typeface="华文仿宋" panose="02010600040101010101" pitchFamily="2" charset="-122"/>
                <a:ea typeface="华文仿宋" panose="02010600040101010101" pitchFamily="2" charset="-122"/>
              </a:rPr>
              <a:t>线句柄，</a:t>
            </a:r>
            <a:r>
              <a:rPr lang="en-US" altLang="zh-CN" sz="1600" dirty="0">
                <a:solidFill>
                  <a:srgbClr val="0070C0"/>
                </a:solidFill>
                <a:latin typeface="华文仿宋" panose="02010600040101010101" pitchFamily="2" charset="-122"/>
                <a:ea typeface="华文仿宋" panose="02010600040101010101" pitchFamily="2" charset="-122"/>
              </a:rPr>
              <a:t>stats</a:t>
            </a:r>
            <a:r>
              <a:rPr lang="zh-CN" altLang="en-US" sz="1600" dirty="0">
                <a:solidFill>
                  <a:srgbClr val="0070C0"/>
                </a:solidFill>
                <a:latin typeface="华文仿宋" panose="02010600040101010101" pitchFamily="2" charset="-122"/>
                <a:ea typeface="华文仿宋" panose="02010600040101010101" pitchFamily="2" charset="-122"/>
              </a:rPr>
              <a:t>统计量</a:t>
            </a:r>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2476" y="3015010"/>
            <a:ext cx="2551524" cy="1608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5536206" y="2030823"/>
            <a:ext cx="3644306" cy="1446550"/>
          </a:xfrm>
          <a:prstGeom prst="rect">
            <a:avLst/>
          </a:prstGeom>
          <a:noFill/>
          <a:ln>
            <a:solidFill>
              <a:schemeClr val="tx2"/>
            </a:solidFill>
          </a:ln>
        </p:spPr>
        <p:txBody>
          <a:bodyPr wrap="square">
            <a:spAutoFit/>
          </a:bodyPr>
          <a:lstStyle/>
          <a:p>
            <a:r>
              <a:rPr lang="en-US" altLang="zh-CN" sz="1100" dirty="0" err="1">
                <a:solidFill>
                  <a:srgbClr val="002060"/>
                </a:solidFill>
                <a:latin typeface="隶书" panose="02010509060101010101" pitchFamily="49" charset="-122"/>
                <a:ea typeface="隶书" panose="02010509060101010101" pitchFamily="49" charset="-122"/>
              </a:rPr>
              <a:t>h,stats</a:t>
            </a:r>
            <a:r>
              <a:rPr lang="en-US" altLang="zh-CN" sz="1100" dirty="0">
                <a:solidFill>
                  <a:srgbClr val="002060"/>
                </a:solidFill>
                <a:latin typeface="隶书" panose="02010509060101010101" pitchFamily="49" charset="-122"/>
                <a:ea typeface="隶书" panose="02010509060101010101" pitchFamily="49" charset="-122"/>
              </a:rPr>
              <a:t>=</a:t>
            </a:r>
            <a:r>
              <a:rPr lang="en-US" altLang="zh-CN" sz="1100" dirty="0" err="1">
                <a:solidFill>
                  <a:srgbClr val="002060"/>
                </a:solidFill>
                <a:latin typeface="隶书" panose="02010509060101010101" pitchFamily="49" charset="-122"/>
                <a:ea typeface="隶书" panose="02010509060101010101" pitchFamily="49" charset="-122"/>
              </a:rPr>
              <a:t>cdfplot</a:t>
            </a:r>
            <a:r>
              <a:rPr lang="en-US" altLang="zh-CN" sz="1100" dirty="0">
                <a:solidFill>
                  <a:srgbClr val="002060"/>
                </a:solidFill>
                <a:latin typeface="隶书" panose="02010509060101010101" pitchFamily="49" charset="-122"/>
                <a:ea typeface="隶书" panose="02010509060101010101" pitchFamily="49" charset="-122"/>
              </a:rPr>
              <a:t>(x)</a:t>
            </a:r>
          </a:p>
          <a:p>
            <a:r>
              <a:rPr lang="en-US" altLang="zh-CN" sz="1100" dirty="0" err="1">
                <a:solidFill>
                  <a:srgbClr val="002060"/>
                </a:solidFill>
                <a:latin typeface="隶书" panose="02010509060101010101" pitchFamily="49" charset="-122"/>
                <a:ea typeface="隶书" panose="02010509060101010101" pitchFamily="49" charset="-122"/>
              </a:rPr>
              <a:t>println</a:t>
            </a:r>
            <a:r>
              <a:rPr lang="en-US" altLang="zh-CN" sz="1100" dirty="0">
                <a:solidFill>
                  <a:srgbClr val="002060"/>
                </a:solidFill>
                <a:latin typeface="隶书" panose="02010509060101010101" pitchFamily="49" charset="-122"/>
                <a:ea typeface="隶书" panose="02010509060101010101" pitchFamily="49" charset="-122"/>
              </a:rPr>
              <a:t>("s=$s")</a:t>
            </a:r>
          </a:p>
          <a:p>
            <a:r>
              <a:rPr lang="en-US" altLang="zh-CN" sz="1100" dirty="0">
                <a:solidFill>
                  <a:srgbClr val="002060"/>
                </a:solidFill>
                <a:latin typeface="隶书" panose="02010509060101010101" pitchFamily="49" charset="-122"/>
                <a:ea typeface="隶书" panose="02010509060101010101" pitchFamily="49" charset="-122"/>
              </a:rPr>
              <a:t>#</a:t>
            </a:r>
            <a:r>
              <a:rPr lang="zh-CN" altLang="en-US" sz="1100" dirty="0">
                <a:solidFill>
                  <a:srgbClr val="002060"/>
                </a:solidFill>
                <a:latin typeface="隶书" panose="02010509060101010101" pitchFamily="49" charset="-122"/>
                <a:ea typeface="隶书" panose="02010509060101010101" pitchFamily="49" charset="-122"/>
              </a:rPr>
              <a:t>结果</a:t>
            </a:r>
            <a:r>
              <a:rPr lang="en-US" altLang="zh-CN" sz="1100" dirty="0">
                <a:solidFill>
                  <a:srgbClr val="002060"/>
                </a:solidFill>
                <a:latin typeface="隶书" panose="02010509060101010101" pitchFamily="49" charset="-122"/>
                <a:ea typeface="隶书" panose="02010509060101010101" pitchFamily="49" charset="-122"/>
              </a:rPr>
              <a:t>s=</a:t>
            </a:r>
            <a:r>
              <a:rPr lang="en-US" altLang="zh-CN" sz="1100" dirty="0" err="1">
                <a:solidFill>
                  <a:srgbClr val="002060"/>
                </a:solidFill>
                <a:latin typeface="隶书" panose="02010509060101010101" pitchFamily="49" charset="-122"/>
                <a:ea typeface="隶书" panose="02010509060101010101" pitchFamily="49" charset="-122"/>
              </a:rPr>
              <a:t>TyStatisticsPlot</a:t>
            </a:r>
            <a:r>
              <a:rPr lang="en-US" altLang="zh-CN" sz="1100" dirty="0">
                <a:solidFill>
                  <a:srgbClr val="002060"/>
                </a:solidFill>
                <a:latin typeface="隶书" panose="02010509060101010101" pitchFamily="49" charset="-122"/>
                <a:ea typeface="隶书" panose="02010509060101010101" pitchFamily="49" charset="-122"/>
              </a:rPr>
              <a:t>.__Internal__.</a:t>
            </a:r>
            <a:r>
              <a:rPr lang="en-US" altLang="zh-CN" sz="1100" dirty="0" err="1">
                <a:solidFill>
                  <a:srgbClr val="002060"/>
                </a:solidFill>
                <a:latin typeface="隶书" panose="02010509060101010101" pitchFamily="49" charset="-122"/>
                <a:ea typeface="隶书" panose="02010509060101010101" pitchFamily="49" charset="-122"/>
              </a:rPr>
              <a:t>Plot.stats</a:t>
            </a:r>
            <a:endParaRPr lang="en-US" altLang="zh-CN" sz="1100" dirty="0">
              <a:solidFill>
                <a:srgbClr val="002060"/>
              </a:solidFill>
              <a:latin typeface="隶书" panose="02010509060101010101" pitchFamily="49" charset="-122"/>
              <a:ea typeface="隶书" panose="02010509060101010101" pitchFamily="49" charset="-122"/>
            </a:endParaRPr>
          </a:p>
          <a:p>
            <a:r>
              <a:rPr lang="en-US" altLang="zh-CN" sz="1100" dirty="0">
                <a:solidFill>
                  <a:srgbClr val="002060"/>
                </a:solidFill>
                <a:latin typeface="隶书" panose="02010509060101010101" pitchFamily="49" charset="-122"/>
                <a:ea typeface="隶书" panose="02010509060101010101" pitchFamily="49" charset="-122"/>
              </a:rPr>
              <a:t>  min: Float64 8.28</a:t>
            </a:r>
          </a:p>
          <a:p>
            <a:r>
              <a:rPr lang="en-US" altLang="zh-CN" sz="1100" dirty="0">
                <a:solidFill>
                  <a:srgbClr val="002060"/>
                </a:solidFill>
                <a:latin typeface="隶书" panose="02010509060101010101" pitchFamily="49" charset="-122"/>
                <a:ea typeface="隶书" panose="02010509060101010101" pitchFamily="49" charset="-122"/>
              </a:rPr>
              <a:t>  max: Float64 10.69</a:t>
            </a:r>
          </a:p>
          <a:p>
            <a:r>
              <a:rPr lang="en-US" altLang="zh-CN" sz="1100" dirty="0">
                <a:solidFill>
                  <a:srgbClr val="002060"/>
                </a:solidFill>
                <a:latin typeface="隶书" panose="02010509060101010101" pitchFamily="49" charset="-122"/>
                <a:ea typeface="隶书" panose="02010509060101010101" pitchFamily="49" charset="-122"/>
              </a:rPr>
              <a:t>  mean: Float64 9.562619047619048</a:t>
            </a:r>
          </a:p>
          <a:p>
            <a:r>
              <a:rPr lang="en-US" altLang="zh-CN" sz="1100" dirty="0">
                <a:solidFill>
                  <a:srgbClr val="002060"/>
                </a:solidFill>
                <a:latin typeface="隶书" panose="02010509060101010101" pitchFamily="49" charset="-122"/>
                <a:ea typeface="隶书" panose="02010509060101010101" pitchFamily="49" charset="-122"/>
              </a:rPr>
              <a:t>  median: Float64 9.54</a:t>
            </a:r>
          </a:p>
          <a:p>
            <a:r>
              <a:rPr lang="en-US" altLang="zh-CN" sz="1100" dirty="0">
                <a:solidFill>
                  <a:srgbClr val="002060"/>
                </a:solidFill>
                <a:latin typeface="隶书" panose="02010509060101010101" pitchFamily="49" charset="-122"/>
                <a:ea typeface="隶书" panose="02010509060101010101" pitchFamily="49" charset="-122"/>
              </a:rPr>
              <a:t>  std: Float64 0.5017241469456489</a:t>
            </a:r>
            <a:endParaRPr lang="zh-CN" altLang="en-US" sz="1100" dirty="0">
              <a:solidFill>
                <a:srgbClr val="002060"/>
              </a:solidFill>
              <a:latin typeface="隶书" panose="02010509060101010101" pitchFamily="49" charset="-122"/>
              <a:ea typeface="隶书" panose="02010509060101010101" pitchFamily="49" charset="-122"/>
            </a:endParaRPr>
          </a:p>
        </p:txBody>
      </p:sp>
      <p:pic>
        <p:nvPicPr>
          <p:cNvPr id="3" name="图片 2">
            <a:extLst>
              <a:ext uri="{FF2B5EF4-FFF2-40B4-BE49-F238E27FC236}">
                <a16:creationId xmlns:a16="http://schemas.microsoft.com/office/drawing/2014/main" id="{558B16A9-B7E9-4BC6-9A7C-CA4F3643F830}"/>
              </a:ext>
            </a:extLst>
          </p:cNvPr>
          <p:cNvPicPr>
            <a:picLocks noChangeAspect="1"/>
          </p:cNvPicPr>
          <p:nvPr/>
        </p:nvPicPr>
        <p:blipFill>
          <a:blip r:embed="rId4"/>
          <a:stretch>
            <a:fillRect/>
          </a:stretch>
        </p:blipFill>
        <p:spPr>
          <a:xfrm>
            <a:off x="2917445" y="3078155"/>
            <a:ext cx="3457510" cy="1655584"/>
          </a:xfrm>
          <a:prstGeom prst="rect">
            <a:avLst/>
          </a:prstGeom>
        </p:spPr>
      </p:pic>
      <p:sp>
        <p:nvSpPr>
          <p:cNvPr id="21" name="波形 20">
            <a:extLst>
              <a:ext uri="{FF2B5EF4-FFF2-40B4-BE49-F238E27FC236}">
                <a16:creationId xmlns:a16="http://schemas.microsoft.com/office/drawing/2014/main" id="{886E46A5-663E-4548-BC38-7E32992986B3}"/>
              </a:ext>
            </a:extLst>
          </p:cNvPr>
          <p:cNvSpPr/>
          <p:nvPr/>
        </p:nvSpPr>
        <p:spPr>
          <a:xfrm>
            <a:off x="7358359" y="166126"/>
            <a:ext cx="1512168"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概率统计案例</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780526C2-D7F7-4C20-8E0B-71070D613C7B}"/>
              </a:ext>
            </a:extLst>
          </p:cNvPr>
          <p:cNvSpPr/>
          <p:nvPr/>
        </p:nvSpPr>
        <p:spPr>
          <a:xfrm>
            <a:off x="2587478" y="130791"/>
            <a:ext cx="4770881" cy="584775"/>
          </a:xfrm>
          <a:prstGeom prst="rect">
            <a:avLst/>
          </a:prstGeom>
          <a:noFill/>
        </p:spPr>
        <p:txBody>
          <a:bodyPr/>
          <a:lstStyle/>
          <a:p>
            <a:pPr eaLnBrk="0" hangingPunct="0"/>
            <a:r>
              <a:rPr lang="en-US" altLang="zh-CN" sz="2000" b="1" kern="0" dirty="0">
                <a:solidFill>
                  <a:srgbClr val="0070C0"/>
                </a:solidFill>
                <a:latin typeface="微软雅黑" panose="020B0503020204020204" pitchFamily="34" charset="-122"/>
                <a:ea typeface="微软雅黑" panose="020B0503020204020204" pitchFamily="34" charset="-122"/>
                <a:cs typeface="+mj-cs"/>
              </a:rPr>
              <a:t>3</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、股票收盘价数据的概率统计分析案例</a:t>
            </a:r>
            <a:endParaRPr lang="en-US" altLang="zh-CN" sz="2000" b="1" kern="0" dirty="0">
              <a:solidFill>
                <a:srgbClr val="0070C0"/>
              </a:solidFill>
              <a:latin typeface="微软雅黑" panose="020B0503020204020204" pitchFamily="34" charset="-122"/>
              <a:ea typeface="微软雅黑" panose="020B0503020204020204" pitchFamily="34" charset="-122"/>
              <a:cs typeface="+mj-cs"/>
            </a:endParaRPr>
          </a:p>
        </p:txBody>
      </p:sp>
      <p:sp>
        <p:nvSpPr>
          <p:cNvPr id="14" name="文本框 13">
            <a:extLst>
              <a:ext uri="{FF2B5EF4-FFF2-40B4-BE49-F238E27FC236}">
                <a16:creationId xmlns:a16="http://schemas.microsoft.com/office/drawing/2014/main" id="{178FD0C2-A520-464D-B7E1-3F21F1BBE03C}"/>
              </a:ext>
            </a:extLst>
          </p:cNvPr>
          <p:cNvSpPr txBox="1"/>
          <p:nvPr/>
        </p:nvSpPr>
        <p:spPr>
          <a:xfrm>
            <a:off x="326200" y="-383"/>
            <a:ext cx="2304255" cy="501932"/>
          </a:xfrm>
          <a:prstGeom prst="rect">
            <a:avLst/>
          </a:prstGeom>
          <a:solidFill>
            <a:schemeClr val="bg1"/>
          </a:solidFill>
        </p:spPr>
        <p:txBody>
          <a:bodyPr wrap="square">
            <a:spAutoFit/>
          </a:bodyPr>
          <a:lstStyle>
            <a:defPPr>
              <a:defRPr lang="zh-CN"/>
            </a:defPPr>
            <a:lvl1pPr algn="just">
              <a:lnSpc>
                <a:spcPct val="150000"/>
              </a:lnSpc>
              <a:defRPr sz="2000" b="1" kern="1800">
                <a:solidFill>
                  <a:schemeClr val="bg1"/>
                </a:solidFill>
                <a:highlight>
                  <a:srgbClr val="003B76"/>
                </a:highlight>
                <a:latin typeface="等线" panose="02010600030101010101" pitchFamily="2" charset="-122"/>
                <a:ea typeface="黑体" panose="02010609060101010101" pitchFamily="49" charset="-122"/>
              </a:defRPr>
            </a:lvl1pPr>
          </a:lstStyle>
          <a:p>
            <a:r>
              <a:rPr lang="zh-CN" altLang="en-US" dirty="0"/>
              <a:t>概率理论及其案例</a:t>
            </a:r>
            <a:endParaRPr lang="zh-CN"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a:extLst>
              <a:ext uri="{FF2B5EF4-FFF2-40B4-BE49-F238E27FC236}">
                <a16:creationId xmlns:a16="http://schemas.microsoft.com/office/drawing/2014/main" id="{9BA0DBCC-311A-4ADE-8B03-CADF1032FB4E}"/>
              </a:ext>
            </a:extLst>
          </p:cNvPr>
          <p:cNvSpPr>
            <a:spLocks noChangeArrowheads="1"/>
          </p:cNvSpPr>
          <p:nvPr/>
        </p:nvSpPr>
        <p:spPr bwMode="auto">
          <a:xfrm>
            <a:off x="107504" y="677743"/>
            <a:ext cx="2828595" cy="369332"/>
          </a:xfrm>
          <a:prstGeom prst="rect">
            <a:avLst/>
          </a:prstGeom>
          <a:solidFill>
            <a:schemeClr val="bg1"/>
          </a:solidFill>
        </p:spPr>
        <p:txBody>
          <a:bodyPr wrap="none">
            <a:spAutoFit/>
          </a:bodyPr>
          <a:lstStyle/>
          <a:p>
            <a:pPr latinLnBrk="1">
              <a:buFont typeface="+mj-ea"/>
              <a:buAutoNum type="circleNumDbPlain" startAt="3"/>
            </a:pPr>
            <a:r>
              <a:rPr lang="zh-CN" altLang="en-US" b="1" dirty="0">
                <a:solidFill>
                  <a:srgbClr val="0070C0"/>
                </a:solidFill>
                <a:latin typeface="微软雅黑" panose="020B0503020204020204" pitchFamily="34" charset="-122"/>
                <a:ea typeface="微软雅黑" panose="020B0503020204020204" pitchFamily="34" charset="-122"/>
              </a:rPr>
              <a:t> 频数直方图</a:t>
            </a:r>
            <a:r>
              <a:rPr lang="en-US" altLang="ko-KR" b="1" dirty="0">
                <a:solidFill>
                  <a:srgbClr val="FF0000"/>
                </a:solidFill>
                <a:latin typeface="微软雅黑" panose="020B0503020204020204" pitchFamily="34" charset="-122"/>
                <a:ea typeface="微软雅黑" panose="020B0503020204020204" pitchFamily="34" charset="-122"/>
              </a:rPr>
              <a:t>histogram</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C2CE5821-AC8C-41E2-A8B6-249B88CF0151}"/>
              </a:ext>
            </a:extLst>
          </p:cNvPr>
          <p:cNvSpPr/>
          <p:nvPr/>
        </p:nvSpPr>
        <p:spPr>
          <a:xfrm>
            <a:off x="3071491" y="697820"/>
            <a:ext cx="2252540" cy="338554"/>
          </a:xfrm>
          <a:prstGeom prst="rect">
            <a:avLst/>
          </a:prstGeom>
          <a:solidFill>
            <a:schemeClr val="bg1"/>
          </a:solidFill>
        </p:spPr>
        <p:txBody>
          <a:bodyPr wrap="none">
            <a:spAutoFit/>
          </a:bodyPr>
          <a:lstStyle/>
          <a:p>
            <a:r>
              <a:rPr lang="zh-CN" altLang="en-US" sz="1600" b="1" dirty="0">
                <a:solidFill>
                  <a:srgbClr val="C00000"/>
                </a:solidFill>
                <a:latin typeface="黑体" panose="02010609060101010101" pitchFamily="49" charset="-122"/>
                <a:ea typeface="黑体" panose="02010609060101010101" pitchFamily="49" charset="-122"/>
              </a:rPr>
              <a:t>获得统计数据直观描述</a:t>
            </a:r>
            <a:endParaRPr lang="en-US" altLang="zh-CN" sz="1600" b="1" dirty="0">
              <a:solidFill>
                <a:srgbClr val="C00000"/>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117028EF-93E2-4AE7-ABEF-1B9EDA4D7DC4}"/>
              </a:ext>
            </a:extLst>
          </p:cNvPr>
          <p:cNvSpPr/>
          <p:nvPr/>
        </p:nvSpPr>
        <p:spPr>
          <a:xfrm>
            <a:off x="213587" y="1066621"/>
            <a:ext cx="1274577"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ko-KR" altLang="en-US" sz="14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sym typeface="+mn-ea"/>
              </a:rPr>
              <a:t>hist</a:t>
            </a:r>
            <a:r>
              <a:rPr lang="en-US" altLang="ko-KR" sz="1400" b="1" kern="0" dirty="0" err="1">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sym typeface="+mn-ea"/>
              </a:rPr>
              <a:t>ogram</a:t>
            </a:r>
            <a:r>
              <a:rPr lang="ko-KR" altLang="en-US" sz="14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sym typeface="+mn-ea"/>
              </a:rPr>
              <a:t>(x,</a:t>
            </a:r>
            <a:r>
              <a:rPr lang="en-US" altLang="ko-KR" sz="14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sym typeface="+mn-ea"/>
              </a:rPr>
              <a:t>k</a:t>
            </a:r>
            <a:r>
              <a:rPr lang="ko-KR" altLang="en-US" sz="14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sym typeface="+mn-ea"/>
              </a:rPr>
              <a:t>)</a:t>
            </a:r>
          </a:p>
        </p:txBody>
      </p:sp>
      <p:sp>
        <p:nvSpPr>
          <p:cNvPr id="10" name="矩形 9">
            <a:extLst>
              <a:ext uri="{FF2B5EF4-FFF2-40B4-BE49-F238E27FC236}">
                <a16:creationId xmlns:a16="http://schemas.microsoft.com/office/drawing/2014/main" id="{A806F453-4C5B-4ACF-A8DC-3EE27B8F7C8F}"/>
              </a:ext>
            </a:extLst>
          </p:cNvPr>
          <p:cNvSpPr/>
          <p:nvPr/>
        </p:nvSpPr>
        <p:spPr>
          <a:xfrm>
            <a:off x="1498418" y="1058818"/>
            <a:ext cx="2753046" cy="307777"/>
          </a:xfrm>
          <a:prstGeom prst="rect">
            <a:avLst/>
          </a:prstGeom>
          <a:noFill/>
        </p:spPr>
        <p:txBody>
          <a:bodyPr wrap="square" rtlCol="0" anchor="t">
            <a:spAutoFit/>
          </a:bodyPr>
          <a:lstStyle/>
          <a:p>
            <a:r>
              <a:rPr lang="zh-CN" altLang="en-US" sz="1400" dirty="0">
                <a:solidFill>
                  <a:srgbClr val="0070C0"/>
                </a:solidFill>
                <a:latin typeface="华文楷体" panose="02010600040101010101" pitchFamily="2" charset="-122"/>
                <a:ea typeface="华文楷体" panose="02010600040101010101" pitchFamily="2" charset="-122"/>
              </a:rPr>
              <a:t>样本数据</a:t>
            </a:r>
            <a:r>
              <a:rPr lang="en-US" altLang="zh-CN" sz="1400" dirty="0">
                <a:solidFill>
                  <a:srgbClr val="0070C0"/>
                </a:solidFill>
                <a:latin typeface="华文楷体" panose="02010600040101010101" pitchFamily="2" charset="-122"/>
                <a:ea typeface="华文楷体" panose="02010600040101010101" pitchFamily="2" charset="-122"/>
              </a:rPr>
              <a:t>x</a:t>
            </a:r>
            <a:r>
              <a:rPr lang="zh-CN" altLang="en-US" sz="1400" dirty="0">
                <a:solidFill>
                  <a:srgbClr val="0070C0"/>
                </a:solidFill>
                <a:latin typeface="华文楷体" panose="02010600040101010101" pitchFamily="2" charset="-122"/>
                <a:ea typeface="华文楷体" panose="02010600040101010101" pitchFamily="2" charset="-122"/>
              </a:rPr>
              <a:t>在选定区间出现次数</a:t>
            </a:r>
            <a:r>
              <a:rPr lang="en-US" altLang="zh-CN" sz="1400" dirty="0">
                <a:solidFill>
                  <a:srgbClr val="0070C0"/>
                </a:solidFill>
                <a:latin typeface="华文楷体" panose="02010600040101010101" pitchFamily="2" charset="-122"/>
                <a:ea typeface="华文楷体" panose="02010600040101010101" pitchFamily="2" charset="-122"/>
              </a:rPr>
              <a:t>,</a:t>
            </a:r>
            <a:endParaRPr lang="zh-CN" altLang="en-US" sz="1400" dirty="0">
              <a:solidFill>
                <a:srgbClr val="0070C0"/>
              </a:solidFill>
              <a:latin typeface="华文楷体" panose="02010600040101010101" pitchFamily="2" charset="-122"/>
              <a:ea typeface="华文楷体" panose="02010600040101010101" pitchFamily="2" charset="-122"/>
            </a:endParaRPr>
          </a:p>
        </p:txBody>
      </p:sp>
      <p:sp>
        <p:nvSpPr>
          <p:cNvPr id="11" name="文本框 10">
            <a:extLst>
              <a:ext uri="{FF2B5EF4-FFF2-40B4-BE49-F238E27FC236}">
                <a16:creationId xmlns:a16="http://schemas.microsoft.com/office/drawing/2014/main" id="{0B47B644-2762-49A2-B76B-8E62A9FD59C0}"/>
              </a:ext>
            </a:extLst>
          </p:cNvPr>
          <p:cNvSpPr txBox="1"/>
          <p:nvPr/>
        </p:nvSpPr>
        <p:spPr>
          <a:xfrm>
            <a:off x="4068418" y="1045076"/>
            <a:ext cx="4248472" cy="307777"/>
          </a:xfrm>
          <a:prstGeom prst="rect">
            <a:avLst/>
          </a:prstGeom>
          <a:noFill/>
        </p:spPr>
        <p:txBody>
          <a:bodyPr wrap="square" rtlCol="0" anchor="t">
            <a:spAutoFit/>
          </a:bodyPr>
          <a:lstStyle>
            <a:defPPr>
              <a:defRPr lang="zh-CN"/>
            </a:defPPr>
            <a:lvl1pPr>
              <a:defRPr sz="1400">
                <a:solidFill>
                  <a:srgbClr val="0070C0"/>
                </a:solidFill>
                <a:latin typeface="华文楷体" panose="02010600040101010101" pitchFamily="2" charset="-122"/>
                <a:ea typeface="华文楷体" panose="02010600040101010101" pitchFamily="2" charset="-122"/>
              </a:defRPr>
            </a:lvl1pPr>
          </a:lstStyle>
          <a:p>
            <a:r>
              <a:rPr lang="en-US" altLang="zh-CN" dirty="0"/>
              <a:t>n</a:t>
            </a:r>
            <a:r>
              <a:rPr lang="ko-KR" altLang="en-US" dirty="0"/>
              <a:t>是x</a:t>
            </a:r>
            <a:r>
              <a:rPr lang="zh-CN" altLang="en-US" dirty="0"/>
              <a:t>范围</a:t>
            </a:r>
            <a:r>
              <a:rPr lang="ko-KR" altLang="en-US" dirty="0"/>
              <a:t>等分</a:t>
            </a:r>
            <a:r>
              <a:rPr lang="zh-CN" altLang="en-US" dirty="0"/>
              <a:t>数</a:t>
            </a:r>
            <a:r>
              <a:rPr lang="en-US" altLang="ko-KR" dirty="0"/>
              <a:t>,</a:t>
            </a:r>
            <a:r>
              <a:rPr lang="zh-CN" altLang="en-US" dirty="0"/>
              <a:t>即直条的个数，缺省自动划分区间</a:t>
            </a:r>
            <a:endParaRPr lang="ko-KR" altLang="en-US" dirty="0"/>
          </a:p>
        </p:txBody>
      </p:sp>
      <p:pic>
        <p:nvPicPr>
          <p:cNvPr id="12" name="图片 11">
            <a:extLst>
              <a:ext uri="{FF2B5EF4-FFF2-40B4-BE49-F238E27FC236}">
                <a16:creationId xmlns:a16="http://schemas.microsoft.com/office/drawing/2014/main" id="{3F6A81D2-447F-4968-A15B-6380E2E468BA}"/>
              </a:ext>
            </a:extLst>
          </p:cNvPr>
          <p:cNvPicPr>
            <a:picLocks noChangeAspect="1"/>
          </p:cNvPicPr>
          <p:nvPr/>
        </p:nvPicPr>
        <p:blipFill rotWithShape="1">
          <a:blip r:embed="rId2"/>
          <a:srcRect l="9051" t="10074" r="5771" b="9401"/>
          <a:stretch/>
        </p:blipFill>
        <p:spPr>
          <a:xfrm>
            <a:off x="2374923" y="1791573"/>
            <a:ext cx="2285326" cy="1704700"/>
          </a:xfrm>
          <a:prstGeom prst="rect">
            <a:avLst/>
          </a:prstGeom>
        </p:spPr>
      </p:pic>
      <p:pic>
        <p:nvPicPr>
          <p:cNvPr id="13" name="图片 12">
            <a:extLst>
              <a:ext uri="{FF2B5EF4-FFF2-40B4-BE49-F238E27FC236}">
                <a16:creationId xmlns:a16="http://schemas.microsoft.com/office/drawing/2014/main" id="{A8274F4F-4C16-4DA6-9D34-661091C1F4EA}"/>
              </a:ext>
            </a:extLst>
          </p:cNvPr>
          <p:cNvPicPr>
            <a:picLocks noChangeAspect="1"/>
          </p:cNvPicPr>
          <p:nvPr/>
        </p:nvPicPr>
        <p:blipFill rotWithShape="1">
          <a:blip r:embed="rId3"/>
          <a:srcRect l="9051" t="11994" r="5770" b="7551"/>
          <a:stretch/>
        </p:blipFill>
        <p:spPr>
          <a:xfrm>
            <a:off x="21686" y="1848138"/>
            <a:ext cx="2285326" cy="1725127"/>
          </a:xfrm>
          <a:prstGeom prst="rect">
            <a:avLst/>
          </a:prstGeom>
        </p:spPr>
      </p:pic>
      <p:sp>
        <p:nvSpPr>
          <p:cNvPr id="14" name="矩形 13">
            <a:extLst>
              <a:ext uri="{FF2B5EF4-FFF2-40B4-BE49-F238E27FC236}">
                <a16:creationId xmlns:a16="http://schemas.microsoft.com/office/drawing/2014/main" id="{001A9669-B7BD-4C1F-85A3-322A96C9A6F5}"/>
              </a:ext>
            </a:extLst>
          </p:cNvPr>
          <p:cNvSpPr/>
          <p:nvPr/>
        </p:nvSpPr>
        <p:spPr>
          <a:xfrm>
            <a:off x="3124295" y="2038594"/>
            <a:ext cx="1206099" cy="3160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eaLnBrk="0" hangingPunct="0">
              <a:lnSpc>
                <a:spcPct val="110000"/>
              </a:lnSpc>
            </a:pPr>
            <a:r>
              <a:rPr lang="en-US" altLang="ko-KR" sz="1400" dirty="0">
                <a:solidFill>
                  <a:srgbClr val="FF0000"/>
                </a:solidFill>
                <a:latin typeface="Calibri" panose="020F0502020204030204" charset="0"/>
                <a:ea typeface="Malgun Gothic" panose="020B0503020000020004" pitchFamily="34" charset="-127"/>
              </a:rPr>
              <a:t> </a:t>
            </a:r>
            <a:r>
              <a:rPr lang="ko-KR" altLang="en-US" sz="1400" dirty="0">
                <a:solidFill>
                  <a:srgbClr val="FF0000"/>
                </a:solidFill>
                <a:latin typeface="Calibri" panose="020F0502020204030204" charset="0"/>
                <a:ea typeface="Malgun Gothic" panose="020B0503020000020004" pitchFamily="34" charset="-127"/>
              </a:rPr>
              <a:t>hist</a:t>
            </a:r>
            <a:r>
              <a:rPr lang="en-US" altLang="ko-KR" sz="1400" dirty="0" err="1">
                <a:solidFill>
                  <a:srgbClr val="FF0000"/>
                </a:solidFill>
                <a:latin typeface="Calibri" panose="020F0502020204030204" charset="0"/>
                <a:ea typeface="Malgun Gothic" panose="020B0503020000020004" pitchFamily="34" charset="-127"/>
              </a:rPr>
              <a:t>ogram</a:t>
            </a:r>
            <a:r>
              <a:rPr lang="ko-KR" altLang="en-US" sz="1400" dirty="0">
                <a:solidFill>
                  <a:srgbClr val="FF0000"/>
                </a:solidFill>
                <a:latin typeface="Calibri" panose="020F0502020204030204" charset="0"/>
                <a:ea typeface="Malgun Gothic" panose="020B0503020000020004" pitchFamily="34" charset="-127"/>
              </a:rPr>
              <a:t>(x) </a:t>
            </a:r>
            <a:endParaRPr lang="zh-CN" altLang="en-US" sz="1400" dirty="0">
              <a:solidFill>
                <a:srgbClr val="FF0000"/>
              </a:solidFill>
              <a:latin typeface="Calibri" panose="020F0502020204030204" charset="0"/>
              <a:ea typeface="Malgun Gothic" panose="020B0503020000020004" pitchFamily="34" charset="-127"/>
            </a:endParaRPr>
          </a:p>
        </p:txBody>
      </p:sp>
      <p:sp>
        <p:nvSpPr>
          <p:cNvPr id="15" name="矩形 14">
            <a:extLst>
              <a:ext uri="{FF2B5EF4-FFF2-40B4-BE49-F238E27FC236}">
                <a16:creationId xmlns:a16="http://schemas.microsoft.com/office/drawing/2014/main" id="{C8174820-3E40-43E4-AC68-BF85FDCFEBEC}"/>
              </a:ext>
            </a:extLst>
          </p:cNvPr>
          <p:cNvSpPr/>
          <p:nvPr/>
        </p:nvSpPr>
        <p:spPr>
          <a:xfrm>
            <a:off x="323528" y="2399532"/>
            <a:ext cx="2800767" cy="276999"/>
          </a:xfrm>
          <a:prstGeom prst="rect">
            <a:avLst/>
          </a:prstGeom>
        </p:spPr>
        <p:txBody>
          <a:bodyPr wrap="none">
            <a:spAutoFit/>
          </a:bodyPr>
          <a:lstStyle/>
          <a:p>
            <a:pPr>
              <a:spcBef>
                <a:spcPts val="450"/>
              </a:spcBef>
            </a:pPr>
            <a:r>
              <a:rPr lang="ko-KR" altLang="en-US" sz="1200" dirty="0">
                <a:solidFill>
                  <a:srgbClr val="000000"/>
                </a:solidFill>
                <a:latin typeface="宋体" panose="02010600030101010101" pitchFamily="2" charset="-122"/>
              </a:rPr>
              <a:t>随机变量</a:t>
            </a:r>
            <a:r>
              <a:rPr lang="zh-CN" altLang="en-US" sz="1200" dirty="0">
                <a:solidFill>
                  <a:srgbClr val="000000"/>
                </a:solidFill>
                <a:latin typeface="宋体" panose="02010600030101010101" pitchFamily="2" charset="-122"/>
              </a:rPr>
              <a:t>正态</a:t>
            </a:r>
            <a:r>
              <a:rPr lang="ko-KR" altLang="en-US" sz="1200" dirty="0">
                <a:solidFill>
                  <a:srgbClr val="000000"/>
                </a:solidFill>
                <a:latin typeface="宋体" panose="02010600030101010101" pitchFamily="2" charset="-122"/>
              </a:rPr>
              <a:t>分布特征（峰值对称性）</a:t>
            </a:r>
          </a:p>
        </p:txBody>
      </p:sp>
      <p:sp>
        <p:nvSpPr>
          <p:cNvPr id="17" name="内容占位符 2">
            <a:extLst>
              <a:ext uri="{FF2B5EF4-FFF2-40B4-BE49-F238E27FC236}">
                <a16:creationId xmlns:a16="http://schemas.microsoft.com/office/drawing/2014/main" id="{5492DE2A-9831-44E8-A934-5063F6D4B70B}"/>
              </a:ext>
            </a:extLst>
          </p:cNvPr>
          <p:cNvSpPr>
            <a:spLocks noGrp="1"/>
          </p:cNvSpPr>
          <p:nvPr>
            <p:ph idx="1"/>
          </p:nvPr>
        </p:nvSpPr>
        <p:spPr>
          <a:xfrm>
            <a:off x="156978" y="2047941"/>
            <a:ext cx="1619641" cy="319511"/>
          </a:xfrm>
        </p:spPr>
        <p:txBody>
          <a:bodyPr/>
          <a:lstStyle/>
          <a:p>
            <a:pPr marL="0" indent="0">
              <a:buNone/>
            </a:pPr>
            <a:r>
              <a:rPr lang="en-US" altLang="ko-KR" sz="1400" b="1" dirty="0">
                <a:solidFill>
                  <a:srgbClr val="FF0000"/>
                </a:solidFill>
                <a:effectLst>
                  <a:outerShdw blurRad="38100" dist="38100" dir="2700000" algn="tl">
                    <a:srgbClr val="000000">
                      <a:alpha val="43137"/>
                    </a:srgbClr>
                  </a:outerShdw>
                </a:effectLst>
                <a:latin typeface="Calibri" panose="020F0502020204030204" charset="0"/>
                <a:ea typeface="Malgun Gothic" panose="020B0503020000020004" pitchFamily="34" charset="-127"/>
              </a:rPr>
              <a:t>  </a:t>
            </a:r>
            <a:r>
              <a:rPr lang="ko-KR" altLang="en-US" sz="1400" dirty="0">
                <a:solidFill>
                  <a:srgbClr val="FF0000"/>
                </a:solidFill>
                <a:latin typeface="Calibri" panose="020F0502020204030204" charset="0"/>
                <a:ea typeface="Malgun Gothic" panose="020B0503020000020004" pitchFamily="34" charset="-127"/>
              </a:rPr>
              <a:t>hist</a:t>
            </a:r>
            <a:r>
              <a:rPr lang="en-US" altLang="ko-KR" sz="1400" dirty="0" err="1">
                <a:solidFill>
                  <a:srgbClr val="FF0000"/>
                </a:solidFill>
                <a:latin typeface="Calibri" panose="020F0502020204030204" charset="0"/>
                <a:ea typeface="Malgun Gothic" panose="020B0503020000020004" pitchFamily="34" charset="-127"/>
              </a:rPr>
              <a:t>ogram</a:t>
            </a:r>
            <a:r>
              <a:rPr lang="ko-KR" altLang="en-US" sz="1400" dirty="0">
                <a:solidFill>
                  <a:srgbClr val="FF0000"/>
                </a:solidFill>
                <a:latin typeface="Calibri" panose="020F0502020204030204" charset="0"/>
                <a:ea typeface="Malgun Gothic" panose="020B0503020000020004" pitchFamily="34" charset="-127"/>
              </a:rPr>
              <a:t>(x,7) </a:t>
            </a:r>
            <a:endParaRPr lang="zh-CN" altLang="en-US" sz="1400" dirty="0">
              <a:solidFill>
                <a:srgbClr val="FF0000"/>
              </a:solidFill>
            </a:endParaRPr>
          </a:p>
        </p:txBody>
      </p:sp>
      <p:pic>
        <p:nvPicPr>
          <p:cNvPr id="18" name="图片 17">
            <a:extLst>
              <a:ext uri="{FF2B5EF4-FFF2-40B4-BE49-F238E27FC236}">
                <a16:creationId xmlns:a16="http://schemas.microsoft.com/office/drawing/2014/main" id="{D1BF790C-7455-41CB-B7F7-22B7593A7BF5}"/>
              </a:ext>
            </a:extLst>
          </p:cNvPr>
          <p:cNvPicPr>
            <a:picLocks noChangeAspect="1"/>
          </p:cNvPicPr>
          <p:nvPr/>
        </p:nvPicPr>
        <p:blipFill rotWithShape="1">
          <a:blip r:embed="rId4"/>
          <a:srcRect l="6072" t="1" r="4727" b="3997"/>
          <a:stretch/>
        </p:blipFill>
        <p:spPr>
          <a:xfrm>
            <a:off x="4626660" y="1798365"/>
            <a:ext cx="2325664" cy="1691116"/>
          </a:xfrm>
          <a:prstGeom prst="rect">
            <a:avLst/>
          </a:prstGeom>
          <a:solidFill>
            <a:schemeClr val="bg1"/>
          </a:solidFill>
        </p:spPr>
      </p:pic>
      <p:sp>
        <p:nvSpPr>
          <p:cNvPr id="19" name="矩形 18">
            <a:extLst>
              <a:ext uri="{FF2B5EF4-FFF2-40B4-BE49-F238E27FC236}">
                <a16:creationId xmlns:a16="http://schemas.microsoft.com/office/drawing/2014/main" id="{42914025-9F69-4752-BCC6-114112CCB014}"/>
              </a:ext>
            </a:extLst>
          </p:cNvPr>
          <p:cNvSpPr/>
          <p:nvPr/>
        </p:nvSpPr>
        <p:spPr>
          <a:xfrm>
            <a:off x="4155173" y="1427005"/>
            <a:ext cx="4435830" cy="338554"/>
          </a:xfrm>
          <a:prstGeom prst="rect">
            <a:avLst/>
          </a:prstGeom>
          <a:noFill/>
        </p:spPr>
        <p:txBody>
          <a:bodyPr wrap="none">
            <a:spAutoFit/>
          </a:bodyPr>
          <a:lstStyle/>
          <a:p>
            <a:pPr latinLnBrk="1"/>
            <a:r>
              <a:rPr lang="zh-CN" altLang="en-US" sz="1600" dirty="0">
                <a:solidFill>
                  <a:srgbClr val="0070C0"/>
                </a:solidFill>
                <a:latin typeface="华文楷体" panose="02010600040101010101" pitchFamily="2" charset="-122"/>
                <a:ea typeface="华文楷体" panose="02010600040101010101" pitchFamily="2" charset="-122"/>
              </a:rPr>
              <a:t>有正态分布曲线的直方图</a:t>
            </a:r>
            <a:r>
              <a:rPr lang="en-US" altLang="zh-CN" sz="1600" dirty="0">
                <a:solidFill>
                  <a:srgbClr val="0070C0"/>
                </a:solidFill>
                <a:latin typeface="华文楷体" panose="02010600040101010101" pitchFamily="2" charset="-122"/>
                <a:ea typeface="华文楷体" panose="02010600040101010101" pitchFamily="2" charset="-122"/>
              </a:rPr>
              <a:t>,</a:t>
            </a:r>
            <a:r>
              <a:rPr lang="zh-CN" altLang="en-US" sz="1600" dirty="0">
                <a:solidFill>
                  <a:srgbClr val="0070C0"/>
                </a:solidFill>
                <a:latin typeface="华文楷体" panose="02010600040101010101" pitchFamily="2" charset="-122"/>
                <a:ea typeface="华文楷体" panose="02010600040101010101" pitchFamily="2" charset="-122"/>
              </a:rPr>
              <a:t>操作和</a:t>
            </a:r>
            <a:r>
              <a:rPr lang="en-US" altLang="ko-KR" sz="1600" dirty="0">
                <a:solidFill>
                  <a:srgbClr val="FF0000"/>
                </a:solidFill>
                <a:latin typeface="华文楷体" panose="02010600040101010101" pitchFamily="2" charset="-122"/>
                <a:ea typeface="华文楷体" panose="02010600040101010101" pitchFamily="2" charset="-122"/>
              </a:rPr>
              <a:t>histogram</a:t>
            </a:r>
            <a:r>
              <a:rPr lang="zh-CN" altLang="en-US" sz="1600" dirty="0">
                <a:solidFill>
                  <a:srgbClr val="FF0000"/>
                </a:solidFill>
                <a:latin typeface="华文楷体" panose="02010600040101010101" pitchFamily="2" charset="-122"/>
                <a:ea typeface="华文楷体" panose="02010600040101010101" pitchFamily="2" charset="-122"/>
              </a:rPr>
              <a:t>一样</a:t>
            </a:r>
            <a:endParaRPr lang="zh-CN" altLang="en-US" sz="1600" dirty="0">
              <a:solidFill>
                <a:srgbClr val="0070C0"/>
              </a:solidFill>
              <a:latin typeface="华文楷体" panose="02010600040101010101" pitchFamily="2" charset="-122"/>
              <a:ea typeface="华文楷体" panose="02010600040101010101" pitchFamily="2" charset="-122"/>
            </a:endParaRPr>
          </a:p>
        </p:txBody>
      </p:sp>
      <p:sp>
        <p:nvSpPr>
          <p:cNvPr id="20" name="矩形 19">
            <a:extLst>
              <a:ext uri="{FF2B5EF4-FFF2-40B4-BE49-F238E27FC236}">
                <a16:creationId xmlns:a16="http://schemas.microsoft.com/office/drawing/2014/main" id="{71B34A67-EF58-4559-955A-90A24ADBE5CE}"/>
              </a:ext>
            </a:extLst>
          </p:cNvPr>
          <p:cNvSpPr/>
          <p:nvPr/>
        </p:nvSpPr>
        <p:spPr>
          <a:xfrm>
            <a:off x="85983" y="1482953"/>
            <a:ext cx="2555508" cy="369332"/>
          </a:xfrm>
          <a:prstGeom prst="rect">
            <a:avLst/>
          </a:prstGeom>
          <a:solidFill>
            <a:schemeClr val="bg1"/>
          </a:solidFill>
        </p:spPr>
        <p:txBody>
          <a:bodyPr wrap="none">
            <a:spAutoFit/>
          </a:bodyPr>
          <a:lstStyle/>
          <a:p>
            <a:pPr latinLnBrk="1">
              <a:buFont typeface="+mj-ea"/>
              <a:buAutoNum type="circleNumDbPlain" startAt="4"/>
            </a:pPr>
            <a:r>
              <a:rPr lang="zh-CN" altLang="en-US" b="1" dirty="0">
                <a:solidFill>
                  <a:srgbClr val="0070C0"/>
                </a:solidFill>
                <a:latin typeface="微软雅黑" panose="020B0503020204020204" pitchFamily="34" charset="-122"/>
                <a:ea typeface="微软雅黑" panose="020B0503020204020204" pitchFamily="34" charset="-122"/>
              </a:rPr>
              <a:t> 正态曲线拟合</a:t>
            </a:r>
            <a:r>
              <a:rPr lang="en-US" altLang="zh-CN" b="1" dirty="0" err="1">
                <a:solidFill>
                  <a:srgbClr val="FF0000"/>
                </a:solidFill>
                <a:latin typeface="微软雅黑" panose="020B0503020204020204" pitchFamily="34" charset="-122"/>
                <a:ea typeface="微软雅黑" panose="020B0503020204020204" pitchFamily="34" charset="-122"/>
              </a:rPr>
              <a:t>histfit</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986EB66D-0ED7-4BD0-A81E-AE9FB89DD313}"/>
              </a:ext>
            </a:extLst>
          </p:cNvPr>
          <p:cNvSpPr/>
          <p:nvPr/>
        </p:nvSpPr>
        <p:spPr>
          <a:xfrm>
            <a:off x="2705788" y="1498068"/>
            <a:ext cx="1053517"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600" b="1" kern="0" dirty="0" err="1">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histfit</a:t>
            </a:r>
            <a:r>
              <a:rPr lang="en-US" altLang="zh-CN" sz="16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a:t>
            </a:r>
            <a:r>
              <a:rPr lang="en-US" altLang="zh-CN" sz="1600" b="1" kern="0" dirty="0" err="1">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x,n</a:t>
            </a:r>
            <a:r>
              <a:rPr lang="en-US" altLang="zh-CN" sz="16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 </a:t>
            </a:r>
          </a:p>
        </p:txBody>
      </p:sp>
      <p:sp>
        <p:nvSpPr>
          <p:cNvPr id="22" name="矩形 21">
            <a:extLst>
              <a:ext uri="{FF2B5EF4-FFF2-40B4-BE49-F238E27FC236}">
                <a16:creationId xmlns:a16="http://schemas.microsoft.com/office/drawing/2014/main" id="{5C632135-1760-40E8-967A-EC3C78662041}"/>
              </a:ext>
            </a:extLst>
          </p:cNvPr>
          <p:cNvSpPr/>
          <p:nvPr/>
        </p:nvSpPr>
        <p:spPr>
          <a:xfrm>
            <a:off x="5975575" y="2036521"/>
            <a:ext cx="795026" cy="3174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eaLnBrk="0" hangingPunct="0">
              <a:lnSpc>
                <a:spcPct val="110000"/>
              </a:lnSpc>
            </a:pPr>
            <a:r>
              <a:rPr lang="zh-CN" altLang="en-US" sz="1400" dirty="0">
                <a:solidFill>
                  <a:srgbClr val="FF0000"/>
                </a:solidFill>
                <a:latin typeface="Calibri" panose="020F0502020204030204" charset="0"/>
                <a:ea typeface="Malgun Gothic" panose="020B0503020000020004" pitchFamily="34" charset="-127"/>
              </a:rPr>
              <a:t>histfit(x)</a:t>
            </a:r>
          </a:p>
        </p:txBody>
      </p:sp>
      <p:sp>
        <p:nvSpPr>
          <p:cNvPr id="23" name="矩形 22">
            <a:extLst>
              <a:ext uri="{FF2B5EF4-FFF2-40B4-BE49-F238E27FC236}">
                <a16:creationId xmlns:a16="http://schemas.microsoft.com/office/drawing/2014/main" id="{4B12C968-4E12-4AB5-83E2-1F4505BB7ED5}"/>
              </a:ext>
            </a:extLst>
          </p:cNvPr>
          <p:cNvSpPr/>
          <p:nvPr/>
        </p:nvSpPr>
        <p:spPr>
          <a:xfrm>
            <a:off x="9064" y="3638813"/>
            <a:ext cx="3400867" cy="369332"/>
          </a:xfrm>
          <a:prstGeom prst="rect">
            <a:avLst/>
          </a:prstGeom>
        </p:spPr>
        <p:txBody>
          <a:bodyPr wrap="none">
            <a:spAutoFit/>
          </a:bodyPr>
          <a:lstStyle/>
          <a:p>
            <a:pPr latinLnBrk="1">
              <a:buFont typeface="+mj-ea"/>
              <a:buAutoNum type="circleNumDbPlain" startAt="5"/>
            </a:pPr>
            <a:r>
              <a:rPr lang="zh-CN" altLang="en-US" b="1" dirty="0">
                <a:solidFill>
                  <a:srgbClr val="0070C0"/>
                </a:solidFill>
                <a:latin typeface="微软雅黑" panose="020B0503020204020204" pitchFamily="34" charset="-122"/>
                <a:ea typeface="微软雅黑" panose="020B0503020204020204" pitchFamily="34" charset="-122"/>
              </a:rPr>
              <a:t> 样本</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正态性检验</a:t>
            </a:r>
            <a:r>
              <a:rPr lang="en-US" altLang="zh-CN" b="1" dirty="0" err="1">
                <a:solidFill>
                  <a:srgbClr val="FF0000"/>
                </a:solidFill>
                <a:latin typeface="微软雅黑" panose="020B0503020204020204" pitchFamily="34" charset="-122"/>
                <a:ea typeface="微软雅黑" panose="020B0503020204020204" pitchFamily="34" charset="-122"/>
              </a:rPr>
              <a:t>normplot</a:t>
            </a:r>
            <a:r>
              <a:rPr lang="zh-CN" altLang="en-US" b="1" dirty="0">
                <a:solidFill>
                  <a:srgbClr val="FF0000"/>
                </a:solidFill>
                <a:latin typeface="微软雅黑" panose="020B0503020204020204" pitchFamily="34" charset="-122"/>
                <a:ea typeface="微软雅黑" panose="020B0503020204020204" pitchFamily="34" charset="-122"/>
              </a:rPr>
              <a:t> </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E1C7F06C-F0AC-4258-8134-0AF0CB1AAA68}"/>
              </a:ext>
            </a:extLst>
          </p:cNvPr>
          <p:cNvSpPr/>
          <p:nvPr/>
        </p:nvSpPr>
        <p:spPr>
          <a:xfrm>
            <a:off x="1776619" y="4112072"/>
            <a:ext cx="1294872"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641" indent="-177641">
              <a:lnSpc>
                <a:spcPct val="90000"/>
              </a:lnSpc>
            </a:pPr>
            <a:r>
              <a:rPr lang="en-US" altLang="zh-CN" sz="16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normplot</a:t>
            </a:r>
            <a:r>
              <a:rPr lang="en-US" altLang="zh-CN" sz="16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a:t>
            </a:r>
            <a:r>
              <a:rPr lang="en-US" altLang="zh-CN" sz="16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rPr>
              <a:t>x)</a:t>
            </a:r>
            <a:endParaRPr lang="ko-KR" altLang="en-US" sz="1600" b="1" kern="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endParaRPr>
          </a:p>
        </p:txBody>
      </p:sp>
      <p:sp>
        <p:nvSpPr>
          <p:cNvPr id="25" name="矩形 24">
            <a:extLst>
              <a:ext uri="{FF2B5EF4-FFF2-40B4-BE49-F238E27FC236}">
                <a16:creationId xmlns:a16="http://schemas.microsoft.com/office/drawing/2014/main" id="{556525F0-C560-4EB9-9C73-A014ACE30FC1}"/>
              </a:ext>
            </a:extLst>
          </p:cNvPr>
          <p:cNvSpPr/>
          <p:nvPr/>
        </p:nvSpPr>
        <p:spPr>
          <a:xfrm>
            <a:off x="91768" y="4057932"/>
            <a:ext cx="1723549" cy="400110"/>
          </a:xfrm>
          <a:prstGeom prst="rect">
            <a:avLst/>
          </a:prstGeom>
          <a:noFill/>
          <a:ln>
            <a:noFill/>
          </a:ln>
        </p:spPr>
        <p:txBody>
          <a:bodyPr wrap="none">
            <a:spAutoFit/>
          </a:bodyPr>
          <a:lstStyle/>
          <a:p>
            <a:r>
              <a:rPr lang="zh-CN" altLang="en-US" sz="2000" dirty="0">
                <a:solidFill>
                  <a:srgbClr val="002060"/>
                </a:solidFill>
                <a:latin typeface="华文楷体" panose="02010600040101010101" pitchFamily="2" charset="-122"/>
                <a:ea typeface="华文楷体" panose="02010600040101010101" pitchFamily="2" charset="-122"/>
              </a:rPr>
              <a:t>正态概率图形</a:t>
            </a:r>
          </a:p>
        </p:txBody>
      </p:sp>
      <p:pic>
        <p:nvPicPr>
          <p:cNvPr id="26" name="Picture 2">
            <a:extLst>
              <a:ext uri="{FF2B5EF4-FFF2-40B4-BE49-F238E27FC236}">
                <a16:creationId xmlns:a16="http://schemas.microsoft.com/office/drawing/2014/main" id="{6E451FED-DFA0-4EFE-B163-A9E14D0D49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52324" y="1908284"/>
            <a:ext cx="2152880" cy="15082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矩形 27">
            <a:extLst>
              <a:ext uri="{FF2B5EF4-FFF2-40B4-BE49-F238E27FC236}">
                <a16:creationId xmlns:a16="http://schemas.microsoft.com/office/drawing/2014/main" id="{F640EEB7-46B3-4564-B577-87491010BC5D}"/>
              </a:ext>
            </a:extLst>
          </p:cNvPr>
          <p:cNvSpPr/>
          <p:nvPr/>
        </p:nvSpPr>
        <p:spPr>
          <a:xfrm>
            <a:off x="7895582" y="2787774"/>
            <a:ext cx="1058303" cy="3160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eaLnBrk="0" hangingPunct="0">
              <a:lnSpc>
                <a:spcPct val="110000"/>
              </a:lnSpc>
            </a:pPr>
            <a:r>
              <a:rPr lang="en-US" altLang="zh-CN" sz="1400" dirty="0" err="1">
                <a:solidFill>
                  <a:srgbClr val="FF0000"/>
                </a:solidFill>
                <a:latin typeface="Calibri" panose="020F0502020204030204" charset="0"/>
                <a:ea typeface="Malgun Gothic" panose="020B0503020000020004" pitchFamily="34" charset="-127"/>
              </a:rPr>
              <a:t>normplot</a:t>
            </a:r>
            <a:r>
              <a:rPr lang="en-US" altLang="zh-CN" sz="1400" dirty="0">
                <a:solidFill>
                  <a:srgbClr val="FF0000"/>
                </a:solidFill>
                <a:latin typeface="Calibri" panose="020F0502020204030204" charset="0"/>
                <a:ea typeface="Malgun Gothic" panose="020B0503020000020004" pitchFamily="34" charset="-127"/>
              </a:rPr>
              <a:t>(x)</a:t>
            </a:r>
            <a:endParaRPr lang="zh-CN" altLang="en-US" sz="1400" dirty="0">
              <a:solidFill>
                <a:srgbClr val="FF0000"/>
              </a:solidFill>
              <a:latin typeface="Calibri" panose="020F0502020204030204" charset="0"/>
              <a:ea typeface="Malgun Gothic" panose="020B0503020000020004" pitchFamily="34" charset="-127"/>
            </a:endParaRPr>
          </a:p>
        </p:txBody>
      </p:sp>
      <p:sp>
        <p:nvSpPr>
          <p:cNvPr id="30" name="文本框 29">
            <a:extLst>
              <a:ext uri="{FF2B5EF4-FFF2-40B4-BE49-F238E27FC236}">
                <a16:creationId xmlns:a16="http://schemas.microsoft.com/office/drawing/2014/main" id="{AED8ACA0-7399-4573-8430-A8B39A66FF48}"/>
              </a:ext>
            </a:extLst>
          </p:cNvPr>
          <p:cNvSpPr txBox="1"/>
          <p:nvPr/>
        </p:nvSpPr>
        <p:spPr>
          <a:xfrm>
            <a:off x="7241332" y="2145074"/>
            <a:ext cx="1435123" cy="307777"/>
          </a:xfrm>
          <a:prstGeom prst="rect">
            <a:avLst/>
          </a:prstGeom>
          <a:noFill/>
        </p:spPr>
        <p:txBody>
          <a:bodyPr wrap="square">
            <a:spAutoFit/>
          </a:bodyPr>
          <a:lstStyle/>
          <a:p>
            <a:r>
              <a:rPr lang="zh-CN" altLang="en-US" sz="1400" b="1" dirty="0">
                <a:solidFill>
                  <a:srgbClr val="FF0000"/>
                </a:solidFill>
                <a:latin typeface="华文楷体" panose="02010600040101010101" pitchFamily="2" charset="-122"/>
                <a:ea typeface="华文楷体" panose="02010600040101010101" pitchFamily="2" charset="-122"/>
              </a:rPr>
              <a:t>为正态分布</a:t>
            </a:r>
            <a:endParaRPr lang="zh-CN" altLang="en-US" sz="1400" dirty="0"/>
          </a:p>
        </p:txBody>
      </p:sp>
      <p:sp>
        <p:nvSpPr>
          <p:cNvPr id="31" name="波形 30">
            <a:extLst>
              <a:ext uri="{FF2B5EF4-FFF2-40B4-BE49-F238E27FC236}">
                <a16:creationId xmlns:a16="http://schemas.microsoft.com/office/drawing/2014/main" id="{A41A1F2E-0CB6-4BB6-A37B-1E8ADEF3EF98}"/>
              </a:ext>
            </a:extLst>
          </p:cNvPr>
          <p:cNvSpPr/>
          <p:nvPr/>
        </p:nvSpPr>
        <p:spPr>
          <a:xfrm>
            <a:off x="7005749" y="250583"/>
            <a:ext cx="1810429"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概率统计案例</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223B9A4E-4F53-410C-B90F-99A70803DB22}"/>
              </a:ext>
            </a:extLst>
          </p:cNvPr>
          <p:cNvSpPr/>
          <p:nvPr/>
        </p:nvSpPr>
        <p:spPr>
          <a:xfrm>
            <a:off x="2641491" y="193800"/>
            <a:ext cx="4501200" cy="584775"/>
          </a:xfrm>
          <a:prstGeom prst="rect">
            <a:avLst/>
          </a:prstGeom>
          <a:noFill/>
        </p:spPr>
        <p:txBody>
          <a:bodyPr/>
          <a:lstStyle/>
          <a:p>
            <a:pPr eaLnBrk="0" hangingPunct="0"/>
            <a:r>
              <a:rPr lang="zh-CN" altLang="en-US" sz="2000" b="1" kern="0" dirty="0">
                <a:solidFill>
                  <a:srgbClr val="0070C0"/>
                </a:solidFill>
                <a:latin typeface="微软雅黑" panose="020B0503020204020204" pitchFamily="34" charset="-122"/>
                <a:ea typeface="微软雅黑" panose="020B0503020204020204" pitchFamily="34" charset="-122"/>
                <a:cs typeface="+mj-cs"/>
              </a:rPr>
              <a:t>股票收盘价数据的概率统计分析案例</a:t>
            </a:r>
            <a:endParaRPr lang="en-US" altLang="zh-CN" sz="2000" b="1" kern="0" dirty="0">
              <a:solidFill>
                <a:srgbClr val="0070C0"/>
              </a:solidFill>
              <a:latin typeface="微软雅黑" panose="020B0503020204020204" pitchFamily="34" charset="-122"/>
              <a:ea typeface="微软雅黑" panose="020B0503020204020204" pitchFamily="34" charset="-122"/>
              <a:cs typeface="+mj-cs"/>
            </a:endParaRPr>
          </a:p>
        </p:txBody>
      </p:sp>
      <p:sp>
        <p:nvSpPr>
          <p:cNvPr id="6" name="形状 209924">
            <a:extLst>
              <a:ext uri="{FF2B5EF4-FFF2-40B4-BE49-F238E27FC236}">
                <a16:creationId xmlns:a16="http://schemas.microsoft.com/office/drawing/2014/main" id="{CBD94585-0651-4D54-8EE8-FE866B693A32}"/>
              </a:ext>
            </a:extLst>
          </p:cNvPr>
          <p:cNvSpPr/>
          <p:nvPr/>
        </p:nvSpPr>
        <p:spPr>
          <a:xfrm rot="339760">
            <a:off x="6006905" y="3733471"/>
            <a:ext cx="3289196" cy="847618"/>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endParaRPr lang="en-US" altLang="zh-CN" sz="1999" b="1" dirty="0">
              <a:solidFill>
                <a:srgbClr val="FFFF00"/>
              </a:solidFill>
              <a:latin typeface="黑体" panose="02010609060101010101" pitchFamily="49" charset="-122"/>
              <a:ea typeface="黑体" panose="02010609060101010101" pitchFamily="49" charset="-122"/>
              <a:sym typeface="+mn-ea"/>
            </a:endParaRPr>
          </a:p>
          <a:p>
            <a:r>
              <a:rPr lang="zh-CN" altLang="en-US" sz="1500" b="1" dirty="0">
                <a:solidFill>
                  <a:srgbClr val="FFFF00"/>
                </a:solidFill>
                <a:latin typeface="微软雅黑" panose="020B0503020204020204" pitchFamily="34" charset="-122"/>
                <a:ea typeface="微软雅黑" panose="020B0503020204020204" pitchFamily="34" charset="-122"/>
                <a:sym typeface="+mn-ea"/>
              </a:rPr>
              <a:t>数据可视化</a:t>
            </a:r>
            <a:endParaRPr lang="en-US" altLang="zh-CN" sz="1500" b="1" dirty="0">
              <a:solidFill>
                <a:srgbClr val="FFFF00"/>
              </a:solidFill>
              <a:latin typeface="微软雅黑" panose="020B0503020204020204" pitchFamily="34" charset="-122"/>
              <a:ea typeface="微软雅黑" panose="020B0503020204020204" pitchFamily="34" charset="-122"/>
              <a:sym typeface="+mn-ea"/>
            </a:endParaRPr>
          </a:p>
          <a:p>
            <a:r>
              <a:rPr lang="zh-CN" altLang="en-US" sz="1500" b="1" dirty="0">
                <a:solidFill>
                  <a:srgbClr val="FFFF00"/>
                </a:solidFill>
                <a:latin typeface="微软雅黑" panose="020B0503020204020204" pitchFamily="34" charset="-122"/>
                <a:ea typeface="微软雅黑" panose="020B0503020204020204" pitchFamily="34" charset="-122"/>
              </a:rPr>
              <a:t>最常用方法</a:t>
            </a:r>
          </a:p>
          <a:p>
            <a:endParaRPr lang="en-US" altLang="zh-CN" sz="1999" b="1" dirty="0">
              <a:solidFill>
                <a:srgbClr val="FFFF00"/>
              </a:solidFill>
              <a:latin typeface="黑体" panose="02010609060101010101" pitchFamily="49" charset="-122"/>
              <a:ea typeface="黑体" panose="02010609060101010101" pitchFamily="49" charset="-122"/>
              <a:sym typeface="+mn-ea"/>
            </a:endParaRPr>
          </a:p>
        </p:txBody>
      </p:sp>
      <p:sp>
        <p:nvSpPr>
          <p:cNvPr id="33" name="矩形 32">
            <a:extLst>
              <a:ext uri="{FF2B5EF4-FFF2-40B4-BE49-F238E27FC236}">
                <a16:creationId xmlns:a16="http://schemas.microsoft.com/office/drawing/2014/main" id="{6466DE1A-CB01-4960-BC5C-50905CDB68C2}"/>
              </a:ext>
            </a:extLst>
          </p:cNvPr>
          <p:cNvSpPr/>
          <p:nvPr/>
        </p:nvSpPr>
        <p:spPr>
          <a:xfrm>
            <a:off x="3368098" y="3642679"/>
            <a:ext cx="2488815" cy="830997"/>
          </a:xfrm>
          <a:prstGeom prst="rect">
            <a:avLst/>
          </a:prstGeom>
        </p:spPr>
        <p:txBody>
          <a:bodyPr wrap="square">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绘制正态概率图，如果样本数据离散分布概率直线上，表明样本正态分布</a:t>
            </a:r>
          </a:p>
        </p:txBody>
      </p:sp>
      <p:sp>
        <p:nvSpPr>
          <p:cNvPr id="34" name="文本框 33">
            <a:extLst>
              <a:ext uri="{FF2B5EF4-FFF2-40B4-BE49-F238E27FC236}">
                <a16:creationId xmlns:a16="http://schemas.microsoft.com/office/drawing/2014/main" id="{DA5584D9-8089-4FDF-ADDB-B9E55E06741E}"/>
              </a:ext>
            </a:extLst>
          </p:cNvPr>
          <p:cNvSpPr txBox="1"/>
          <p:nvPr/>
        </p:nvSpPr>
        <p:spPr>
          <a:xfrm>
            <a:off x="156978" y="84074"/>
            <a:ext cx="2304255" cy="501932"/>
          </a:xfrm>
          <a:prstGeom prst="rect">
            <a:avLst/>
          </a:prstGeom>
          <a:solidFill>
            <a:schemeClr val="bg1"/>
          </a:solidFill>
        </p:spPr>
        <p:txBody>
          <a:bodyPr wrap="square">
            <a:spAutoFit/>
          </a:bodyPr>
          <a:lstStyle>
            <a:defPPr>
              <a:defRPr lang="zh-CN"/>
            </a:defPPr>
            <a:lvl1pPr algn="just">
              <a:lnSpc>
                <a:spcPct val="150000"/>
              </a:lnSpc>
              <a:defRPr sz="2000" b="1" kern="1800">
                <a:solidFill>
                  <a:schemeClr val="bg1"/>
                </a:solidFill>
                <a:highlight>
                  <a:srgbClr val="003B76"/>
                </a:highlight>
                <a:latin typeface="等线" panose="02010600030101010101" pitchFamily="2" charset="-122"/>
                <a:ea typeface="黑体" panose="02010609060101010101" pitchFamily="49" charset="-122"/>
              </a:defRPr>
            </a:lvl1pPr>
          </a:lstStyle>
          <a:p>
            <a:r>
              <a:rPr lang="zh-CN" altLang="en-US" dirty="0"/>
              <a:t>概率理论及其案例</a:t>
            </a:r>
            <a:endParaRPr lang="zh-CN" altLang="zh-CN" dirty="0"/>
          </a:p>
        </p:txBody>
      </p:sp>
    </p:spTree>
    <p:extLst>
      <p:ext uri="{BB962C8B-B14F-4D97-AF65-F5344CB8AC3E}">
        <p14:creationId xmlns:p14="http://schemas.microsoft.com/office/powerpoint/2010/main" val="1263646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52130" y="707927"/>
            <a:ext cx="5655665" cy="338554"/>
          </a:xfrm>
          <a:prstGeom prst="rect">
            <a:avLst/>
          </a:prstGeom>
          <a:solidFill>
            <a:schemeClr val="bg1"/>
          </a:solidFill>
        </p:spPr>
        <p:txBody>
          <a:bodyPr wrap="square">
            <a:spAutoFit/>
          </a:bodyPr>
          <a:lstStyle/>
          <a:p>
            <a:pPr latinLnBrk="1">
              <a:buFont typeface="+mj-ea"/>
              <a:buAutoNum type="circleNumDbPlain" startAt="6"/>
            </a:pPr>
            <a:r>
              <a:rPr lang="zh-CN" altLang="en-US" sz="1600" b="1" dirty="0">
                <a:solidFill>
                  <a:srgbClr val="0070C0"/>
                </a:solidFill>
                <a:latin typeface="微软雅黑" panose="020B0503020204020204" pitchFamily="34" charset="-122"/>
                <a:ea typeface="微软雅黑" panose="020B0503020204020204" pitchFamily="34" charset="-122"/>
              </a:rPr>
              <a:t>样本</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的总体正态参数估</a:t>
            </a:r>
            <a:r>
              <a:rPr lang="zh-CN" altLang="en-US" sz="1600" dirty="0">
                <a:solidFill>
                  <a:schemeClr val="bg1"/>
                </a:solidFill>
                <a:highlight>
                  <a:srgbClr val="FF0000"/>
                </a:highlight>
                <a:latin typeface="隶书" panose="02010509060101010101" pitchFamily="49" charset="-122"/>
                <a:ea typeface="隶书" panose="02010509060101010101" pitchFamily="49" charset="-122"/>
              </a:rPr>
              <a:t> </a:t>
            </a:r>
          </a:p>
        </p:txBody>
      </p:sp>
      <p:sp>
        <p:nvSpPr>
          <p:cNvPr id="13" name="矩形 12">
            <a:extLst>
              <a:ext uri="{FF2B5EF4-FFF2-40B4-BE49-F238E27FC236}">
                <a16:creationId xmlns:a16="http://schemas.microsoft.com/office/drawing/2014/main" id="{1A99EBDB-5DC2-434E-85BC-9BFEA8CCCB74}"/>
              </a:ext>
            </a:extLst>
          </p:cNvPr>
          <p:cNvSpPr/>
          <p:nvPr/>
        </p:nvSpPr>
        <p:spPr>
          <a:xfrm>
            <a:off x="201336" y="2000686"/>
            <a:ext cx="8587055" cy="2599879"/>
          </a:xfrm>
          <a:prstGeom prst="rect">
            <a:avLst/>
          </a:prstGeom>
          <a:solidFill>
            <a:schemeClr val="bg1"/>
          </a:solidFill>
          <a:ln>
            <a:solidFill>
              <a:schemeClr val="bg1">
                <a:lumMod val="50000"/>
              </a:schemeClr>
            </a:solidFill>
          </a:ln>
          <a:effectLst>
            <a:outerShdw blurRad="63500" sx="102000" sy="102000" algn="ctr" rotWithShape="0">
              <a:prstClr val="black">
                <a:alpha val="40000"/>
              </a:prstClr>
            </a:outerShdw>
          </a:effectLst>
        </p:spPr>
        <p:txBody>
          <a:bodyPr wrap="square">
            <a:spAutoFit/>
          </a:bodyPr>
          <a:lstStyle/>
          <a:p>
            <a:pPr>
              <a:lnSpc>
                <a:spcPts val="2200"/>
              </a:lnSpc>
            </a:pPr>
            <a:r>
              <a:rPr lang="zh-CN" altLang="en-US" noProof="1">
                <a:solidFill>
                  <a:srgbClr val="FF0000"/>
                </a:solidFill>
                <a:latin typeface="华文楷体" panose="02010600040101010101" pitchFamily="2" charset="-122"/>
                <a:ea typeface="华文楷体" panose="02010600040101010101" pitchFamily="2" charset="-122"/>
                <a:sym typeface="+mn-ea"/>
              </a:rPr>
              <a:t>对正态分布股票总体参数进行点估计和区间估计，求股票均值</a:t>
            </a:r>
            <a:r>
              <a:rPr lang="pl-PL" altLang="zh-CN" dirty="0">
                <a:solidFill>
                  <a:srgbClr val="002060"/>
                </a:solidFill>
              </a:rPr>
              <a:t>mu</a:t>
            </a:r>
            <a:r>
              <a:rPr lang="zh-CN" altLang="en-US" noProof="1">
                <a:solidFill>
                  <a:srgbClr val="FF0000"/>
                </a:solidFill>
                <a:latin typeface="华文楷体" panose="02010600040101010101" pitchFamily="2" charset="-122"/>
                <a:ea typeface="华文楷体" panose="02010600040101010101" pitchFamily="2" charset="-122"/>
                <a:sym typeface="+mn-ea"/>
              </a:rPr>
              <a:t>和标准差</a:t>
            </a:r>
            <a:r>
              <a:rPr lang="pl-PL" altLang="zh-CN" dirty="0">
                <a:solidFill>
                  <a:srgbClr val="002060"/>
                </a:solidFill>
              </a:rPr>
              <a:t>sigma</a:t>
            </a:r>
            <a:endParaRPr lang="ko-KR" altLang="en-US" noProof="1">
              <a:solidFill>
                <a:srgbClr val="FF0000"/>
              </a:solidFill>
              <a:latin typeface="华文楷体" panose="02010600040101010101" pitchFamily="2" charset="-122"/>
              <a:sym typeface="+mn-ea"/>
            </a:endParaRPr>
          </a:p>
          <a:p>
            <a:pPr>
              <a:lnSpc>
                <a:spcPts val="2200"/>
              </a:lnSpc>
            </a:pPr>
            <a:r>
              <a:rPr lang="pl-PL" altLang="zh-CN" sz="1600" b="1" dirty="0">
                <a:solidFill>
                  <a:srgbClr val="0070C0"/>
                </a:solidFill>
                <a:latin typeface="微软雅黑" panose="020B0503020204020204" pitchFamily="34" charset="-122"/>
                <a:ea typeface="微软雅黑" panose="020B0503020204020204" pitchFamily="34" charset="-122"/>
              </a:rPr>
              <a:t>mu,sigma,muci,sigmaci = </a:t>
            </a:r>
            <a:r>
              <a:rPr lang="en-US" altLang="zh-CN" sz="1600" b="1" kern="100" dirty="0" err="1">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TyStatistics</a:t>
            </a:r>
            <a:r>
              <a:rPr lang="en-US" altLang="zh-CN" sz="1600" b="1" kern="100" dirty="0">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 </a:t>
            </a:r>
            <a:r>
              <a:rPr lang="pl-PL" altLang="zh-CN" sz="1600" b="1" dirty="0">
                <a:solidFill>
                  <a:srgbClr val="0070C0"/>
                </a:solidFill>
                <a:latin typeface="微软雅黑" panose="020B0503020204020204" pitchFamily="34" charset="-122"/>
                <a:ea typeface="微软雅黑" panose="020B0503020204020204" pitchFamily="34" charset="-122"/>
              </a:rPr>
              <a:t>normfit(x)</a:t>
            </a:r>
            <a:endParaRPr lang="en-US" altLang="zh-CN" sz="1600" b="1" dirty="0">
              <a:solidFill>
                <a:srgbClr val="0070C0"/>
              </a:solidFill>
              <a:latin typeface="微软雅黑" panose="020B0503020204020204" pitchFamily="34" charset="-122"/>
              <a:ea typeface="微软雅黑" panose="020B0503020204020204" pitchFamily="34" charset="-122"/>
            </a:endParaRPr>
          </a:p>
          <a:p>
            <a:pPr>
              <a:lnSpc>
                <a:spcPts val="2200"/>
              </a:lnSpc>
            </a:pPr>
            <a:r>
              <a:rPr lang="en-US" altLang="zh-CN" sz="1600" b="1" dirty="0" err="1">
                <a:solidFill>
                  <a:srgbClr val="0070C0"/>
                </a:solidFill>
                <a:latin typeface="微软雅黑" panose="020B0503020204020204" pitchFamily="34" charset="-122"/>
                <a:ea typeface="微软雅黑" panose="020B0503020204020204" pitchFamily="34" charset="-122"/>
              </a:rPr>
              <a:t>println</a:t>
            </a:r>
            <a:r>
              <a:rPr lang="en-US" altLang="zh-CN" sz="1600" b="1" dirty="0">
                <a:solidFill>
                  <a:srgbClr val="0070C0"/>
                </a:solidFill>
                <a:latin typeface="微软雅黑" panose="020B0503020204020204" pitchFamily="34" charset="-122"/>
                <a:ea typeface="微软雅黑" panose="020B0503020204020204" pitchFamily="34" charset="-122"/>
              </a:rPr>
              <a:t>("mu=$</a:t>
            </a:r>
            <a:r>
              <a:rPr lang="en-US" altLang="zh-CN" sz="1600" b="1" dirty="0" err="1">
                <a:solidFill>
                  <a:srgbClr val="0070C0"/>
                </a:solidFill>
                <a:latin typeface="微软雅黑" panose="020B0503020204020204" pitchFamily="34" charset="-122"/>
                <a:ea typeface="微软雅黑" panose="020B0503020204020204" pitchFamily="34" charset="-122"/>
              </a:rPr>
              <a:t>mu,sigma</a:t>
            </a:r>
            <a:r>
              <a:rPr lang="en-US" altLang="zh-CN" sz="1600" b="1" dirty="0">
                <a:solidFill>
                  <a:srgbClr val="0070C0"/>
                </a:solidFill>
                <a:latin typeface="微软雅黑" panose="020B0503020204020204" pitchFamily="34" charset="-122"/>
                <a:ea typeface="微软雅黑" panose="020B0503020204020204" pitchFamily="34" charset="-122"/>
              </a:rPr>
              <a:t>=$</a:t>
            </a:r>
            <a:r>
              <a:rPr lang="en-US" altLang="zh-CN" sz="1600" b="1" dirty="0" err="1">
                <a:solidFill>
                  <a:srgbClr val="0070C0"/>
                </a:solidFill>
                <a:latin typeface="微软雅黑" panose="020B0503020204020204" pitchFamily="34" charset="-122"/>
                <a:ea typeface="微软雅黑" panose="020B0503020204020204" pitchFamily="34" charset="-122"/>
              </a:rPr>
              <a:t>sigma,muci</a:t>
            </a:r>
            <a:r>
              <a:rPr lang="en-US" altLang="zh-CN" sz="1600" b="1" dirty="0">
                <a:solidFill>
                  <a:srgbClr val="0070C0"/>
                </a:solidFill>
                <a:latin typeface="微软雅黑" panose="020B0503020204020204" pitchFamily="34" charset="-122"/>
                <a:ea typeface="微软雅黑" panose="020B0503020204020204" pitchFamily="34" charset="-122"/>
              </a:rPr>
              <a:t>=$</a:t>
            </a:r>
            <a:r>
              <a:rPr lang="en-US" altLang="zh-CN" sz="1600" b="1" dirty="0" err="1">
                <a:solidFill>
                  <a:srgbClr val="0070C0"/>
                </a:solidFill>
                <a:latin typeface="微软雅黑" panose="020B0503020204020204" pitchFamily="34" charset="-122"/>
                <a:ea typeface="微软雅黑" panose="020B0503020204020204" pitchFamily="34" charset="-122"/>
              </a:rPr>
              <a:t>muci,sigmaci</a:t>
            </a:r>
            <a:r>
              <a:rPr lang="en-US" altLang="zh-CN" sz="1600" b="1" dirty="0">
                <a:solidFill>
                  <a:srgbClr val="0070C0"/>
                </a:solidFill>
                <a:latin typeface="微软雅黑" panose="020B0503020204020204" pitchFamily="34" charset="-122"/>
                <a:ea typeface="微软雅黑" panose="020B0503020204020204" pitchFamily="34" charset="-122"/>
              </a:rPr>
              <a:t>=$</a:t>
            </a:r>
            <a:r>
              <a:rPr lang="en-US" altLang="zh-CN" sz="1600" b="1" dirty="0" err="1">
                <a:solidFill>
                  <a:srgbClr val="0070C0"/>
                </a:solidFill>
                <a:latin typeface="微软雅黑" panose="020B0503020204020204" pitchFamily="34" charset="-122"/>
                <a:ea typeface="微软雅黑" panose="020B0503020204020204" pitchFamily="34" charset="-122"/>
              </a:rPr>
              <a:t>sigmaci</a:t>
            </a:r>
            <a:r>
              <a:rPr lang="en-US" altLang="zh-CN" sz="1600" b="1" dirty="0">
                <a:solidFill>
                  <a:srgbClr val="0070C0"/>
                </a:solidFill>
                <a:latin typeface="微软雅黑" panose="020B0503020204020204" pitchFamily="34" charset="-122"/>
                <a:ea typeface="微软雅黑" panose="020B0503020204020204" pitchFamily="34" charset="-122"/>
              </a:rPr>
              <a:t>")</a:t>
            </a:r>
            <a:endParaRPr lang="zh-CN" altLang="zh-CN" sz="1600" b="1" dirty="0">
              <a:solidFill>
                <a:srgbClr val="0070C0"/>
              </a:solidFill>
              <a:latin typeface="微软雅黑" panose="020B0503020204020204" pitchFamily="34" charset="-122"/>
              <a:ea typeface="微软雅黑" panose="020B0503020204020204" pitchFamily="34" charset="-122"/>
            </a:endParaRPr>
          </a:p>
          <a:p>
            <a:pPr>
              <a:lnSpc>
                <a:spcPts val="2200"/>
              </a:lnSpc>
            </a:pPr>
            <a:r>
              <a:rPr lang="zh-CN" altLang="en-US" sz="1400" b="1" dirty="0">
                <a:solidFill>
                  <a:srgbClr val="FF0000"/>
                </a:solidFill>
              </a:rPr>
              <a:t>参数估计结果</a:t>
            </a:r>
            <a:r>
              <a:rPr lang="zh-CN" altLang="en-US" sz="1400" dirty="0"/>
              <a:t>mu=9.562619047619048,sigma=0.5017241469456489,muci=[9.406270797045558; 9.718967298192538;;],sigmaci=[0.4128211585331511; 0.6397813717861921;;]</a:t>
            </a:r>
            <a:endParaRPr lang="en-US" altLang="zh-CN" sz="1400" dirty="0">
              <a:solidFill>
                <a:srgbClr val="0070C0"/>
              </a:solidFill>
            </a:endParaRPr>
          </a:p>
          <a:p>
            <a:pPr>
              <a:lnSpc>
                <a:spcPts val="2200"/>
              </a:lnSpc>
            </a:pPr>
            <a:r>
              <a:rPr lang="en-US" altLang="zh-CN" sz="1400" dirty="0">
                <a:solidFill>
                  <a:srgbClr val="0070C0"/>
                </a:solidFill>
              </a:rPr>
              <a:t>#</a:t>
            </a:r>
            <a:r>
              <a:rPr lang="ko-KR" altLang="en-US" sz="1400" b="1" noProof="1">
                <a:solidFill>
                  <a:srgbClr val="0070C0"/>
                </a:solidFill>
                <a:latin typeface="宋体" panose="02010600030101010101" pitchFamily="2" charset="-122"/>
                <a:sym typeface="+mn-ea"/>
              </a:rPr>
              <a:t>点估计</a:t>
            </a:r>
            <a:r>
              <a:rPr lang="zh-CN" altLang="en-US" sz="1400" b="1" noProof="1">
                <a:solidFill>
                  <a:srgbClr val="0070C0"/>
                </a:solidFill>
                <a:latin typeface="宋体" panose="02010600030101010101" pitchFamily="2" charset="-122"/>
                <a:sym typeface="+mn-ea"/>
              </a:rPr>
              <a:t>均值</a:t>
            </a:r>
            <a:r>
              <a:rPr lang="ko-KR" altLang="en-US" sz="1400" b="1" noProof="1">
                <a:solidFill>
                  <a:srgbClr val="0070C0"/>
                </a:solidFill>
                <a:latin typeface="宋体" panose="02010600030101010101" pitchFamily="2" charset="-122"/>
                <a:sym typeface="+mn-ea"/>
              </a:rPr>
              <a:t>结果  </a:t>
            </a:r>
            <a:r>
              <a:rPr lang="pl-PL" altLang="zh-CN" sz="1400" dirty="0">
                <a:solidFill>
                  <a:srgbClr val="0070C0"/>
                </a:solidFill>
              </a:rPr>
              <a:t>mu =   9.562619047619048</a:t>
            </a:r>
            <a:r>
              <a:rPr lang="en-US" altLang="zh-CN" sz="1400" dirty="0">
                <a:solidFill>
                  <a:srgbClr val="0070C0"/>
                </a:solidFill>
              </a:rPr>
              <a:t>  </a:t>
            </a:r>
          </a:p>
          <a:p>
            <a:pPr>
              <a:lnSpc>
                <a:spcPts val="2200"/>
              </a:lnSpc>
            </a:pPr>
            <a:r>
              <a:rPr lang="en-US" altLang="zh-CN" sz="1400" dirty="0">
                <a:solidFill>
                  <a:srgbClr val="0070C0"/>
                </a:solidFill>
              </a:rPr>
              <a:t>#</a:t>
            </a:r>
            <a:r>
              <a:rPr lang="ko-KR" altLang="en-US" sz="1400" b="1" noProof="1">
                <a:solidFill>
                  <a:srgbClr val="0070C0"/>
                </a:solidFill>
                <a:latin typeface="宋体" panose="02010600030101010101" pitchFamily="2" charset="-122"/>
                <a:sym typeface="+mn-ea"/>
              </a:rPr>
              <a:t>点估计</a:t>
            </a:r>
            <a:r>
              <a:rPr lang="zh-CN" altLang="en-US" sz="1400" b="1" noProof="1">
                <a:solidFill>
                  <a:srgbClr val="0070C0"/>
                </a:solidFill>
                <a:latin typeface="宋体" panose="02010600030101010101" pitchFamily="2" charset="-122"/>
                <a:sym typeface="+mn-ea"/>
              </a:rPr>
              <a:t>标准方差</a:t>
            </a:r>
            <a:r>
              <a:rPr lang="ko-KR" altLang="en-US" sz="1400" b="1" noProof="1">
                <a:solidFill>
                  <a:srgbClr val="0070C0"/>
                </a:solidFill>
                <a:latin typeface="宋体" panose="02010600030101010101" pitchFamily="2" charset="-122"/>
                <a:sym typeface="+mn-ea"/>
              </a:rPr>
              <a:t>结果 </a:t>
            </a:r>
            <a:r>
              <a:rPr lang="pl-PL" altLang="zh-CN" sz="1400" dirty="0">
                <a:solidFill>
                  <a:srgbClr val="0070C0"/>
                </a:solidFill>
              </a:rPr>
              <a:t>sigma =   0.501724146945649</a:t>
            </a:r>
            <a:endParaRPr lang="ko-KR" altLang="en-US" sz="1400" b="1" noProof="1">
              <a:solidFill>
                <a:srgbClr val="0070C0"/>
              </a:solidFill>
              <a:latin typeface="宋体" panose="02010600030101010101" pitchFamily="2" charset="-122"/>
              <a:sym typeface="+mn-ea"/>
            </a:endParaRPr>
          </a:p>
          <a:p>
            <a:pPr>
              <a:lnSpc>
                <a:spcPts val="2200"/>
              </a:lnSpc>
            </a:pPr>
            <a:r>
              <a:rPr lang="en-US" altLang="zh-CN" sz="1400" dirty="0">
                <a:solidFill>
                  <a:srgbClr val="0070C0"/>
                </a:solidFill>
              </a:rPr>
              <a:t># </a:t>
            </a:r>
            <a:r>
              <a:rPr lang="ko-KR" altLang="en-US" sz="1400" b="1" noProof="1">
                <a:solidFill>
                  <a:srgbClr val="0070C0"/>
                </a:solidFill>
                <a:latin typeface="宋体" panose="02010600030101010101" pitchFamily="2" charset="-122"/>
                <a:sym typeface="+mn-ea"/>
              </a:rPr>
              <a:t>区间估计</a:t>
            </a:r>
            <a:r>
              <a:rPr lang="zh-CN" altLang="en-US" sz="1400" b="1" noProof="1">
                <a:solidFill>
                  <a:srgbClr val="0070C0"/>
                </a:solidFill>
                <a:latin typeface="宋体" panose="02010600030101010101" pitchFamily="2" charset="-122"/>
                <a:sym typeface="+mn-ea"/>
              </a:rPr>
              <a:t>均值</a:t>
            </a:r>
            <a:r>
              <a:rPr lang="ko-KR" altLang="en-US" sz="1400" b="1" noProof="1">
                <a:solidFill>
                  <a:srgbClr val="0070C0"/>
                </a:solidFill>
                <a:latin typeface="宋体" panose="02010600030101010101" pitchFamily="2" charset="-122"/>
                <a:sym typeface="+mn-ea"/>
              </a:rPr>
              <a:t>结果 </a:t>
            </a:r>
            <a:r>
              <a:rPr lang="pl-PL" altLang="zh-CN" sz="1400" dirty="0">
                <a:solidFill>
                  <a:srgbClr val="0070C0"/>
                </a:solidFill>
              </a:rPr>
              <a:t>muci =   9.406270797045558</a:t>
            </a:r>
            <a:r>
              <a:rPr lang="en-US" altLang="zh-CN" sz="1400" dirty="0">
                <a:solidFill>
                  <a:srgbClr val="0070C0"/>
                </a:solidFill>
              </a:rPr>
              <a:t>    </a:t>
            </a:r>
            <a:r>
              <a:rPr lang="pl-PL" altLang="zh-CN" sz="1400" dirty="0">
                <a:solidFill>
                  <a:srgbClr val="0070C0"/>
                </a:solidFill>
              </a:rPr>
              <a:t> 9.718967298192538</a:t>
            </a:r>
            <a:endParaRPr lang="en-US" altLang="zh-CN" sz="1400" dirty="0">
              <a:solidFill>
                <a:srgbClr val="0070C0"/>
              </a:solidFill>
            </a:endParaRPr>
          </a:p>
          <a:p>
            <a:pPr>
              <a:lnSpc>
                <a:spcPts val="2200"/>
              </a:lnSpc>
            </a:pPr>
            <a:r>
              <a:rPr lang="en-US" altLang="zh-CN" sz="1400" dirty="0">
                <a:solidFill>
                  <a:srgbClr val="0070C0"/>
                </a:solidFill>
              </a:rPr>
              <a:t># </a:t>
            </a:r>
            <a:r>
              <a:rPr lang="ko-KR" altLang="en-US" sz="1400" b="1" noProof="1">
                <a:solidFill>
                  <a:srgbClr val="0070C0"/>
                </a:solidFill>
                <a:latin typeface="宋体" panose="02010600030101010101" pitchFamily="2" charset="-122"/>
                <a:sym typeface="+mn-ea"/>
              </a:rPr>
              <a:t>区间估计</a:t>
            </a:r>
            <a:r>
              <a:rPr lang="zh-CN" altLang="en-US" sz="1400" b="1" noProof="1">
                <a:solidFill>
                  <a:srgbClr val="0070C0"/>
                </a:solidFill>
                <a:latin typeface="宋体" panose="02010600030101010101" pitchFamily="2" charset="-122"/>
                <a:sym typeface="+mn-ea"/>
              </a:rPr>
              <a:t>标准方差</a:t>
            </a:r>
            <a:r>
              <a:rPr lang="ko-KR" altLang="en-US" sz="1400" b="1" noProof="1">
                <a:solidFill>
                  <a:srgbClr val="0070C0"/>
                </a:solidFill>
                <a:latin typeface="宋体" panose="02010600030101010101" pitchFamily="2" charset="-122"/>
                <a:sym typeface="+mn-ea"/>
              </a:rPr>
              <a:t>结果   </a:t>
            </a:r>
            <a:r>
              <a:rPr lang="pl-PL" altLang="zh-CN" sz="1400" dirty="0">
                <a:solidFill>
                  <a:srgbClr val="0070C0"/>
                </a:solidFill>
              </a:rPr>
              <a:t>sigmaci =   0.412821158533151</a:t>
            </a:r>
            <a:r>
              <a:rPr lang="en-US" altLang="zh-CN" sz="1400" dirty="0">
                <a:solidFill>
                  <a:srgbClr val="0070C0"/>
                </a:solidFill>
              </a:rPr>
              <a:t>       </a:t>
            </a:r>
            <a:r>
              <a:rPr lang="pl-PL" altLang="zh-CN" sz="1400" dirty="0">
                <a:solidFill>
                  <a:srgbClr val="0070C0"/>
                </a:solidFill>
              </a:rPr>
              <a:t> 0.639781371786192</a:t>
            </a:r>
            <a:endParaRPr lang="en-US" altLang="zh-CN" sz="1400" dirty="0">
              <a:solidFill>
                <a:srgbClr val="0070C0"/>
              </a:solidFill>
            </a:endParaRPr>
          </a:p>
        </p:txBody>
      </p:sp>
      <p:sp>
        <p:nvSpPr>
          <p:cNvPr id="18" name="文本框 67588">
            <a:extLst>
              <a:ext uri="{FF2B5EF4-FFF2-40B4-BE49-F238E27FC236}">
                <a16:creationId xmlns:a16="http://schemas.microsoft.com/office/drawing/2014/main" id="{028FB50B-B383-487D-B234-FC2394C924B1}"/>
              </a:ext>
            </a:extLst>
          </p:cNvPr>
          <p:cNvSpPr txBox="1">
            <a:spLocks noChangeArrowheads="1"/>
          </p:cNvSpPr>
          <p:nvPr/>
        </p:nvSpPr>
        <p:spPr bwMode="auto">
          <a:xfrm>
            <a:off x="2843808" y="740487"/>
            <a:ext cx="5944583" cy="3416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641" indent="-177641">
              <a:lnSpc>
                <a:spcPct val="90000"/>
              </a:lnSpc>
              <a:defRPr sz="15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ko-KR" altLang="en-US" sz="1800" dirty="0"/>
              <a:t>mu,sigma,muci,sigmaci</a:t>
            </a:r>
            <a:r>
              <a:rPr lang="en-US" altLang="zh-CN" sz="1800" dirty="0"/>
              <a:t>=</a:t>
            </a:r>
            <a:r>
              <a:rPr lang="en-US" altLang="zh-CN" sz="1800" b="1" kern="100" dirty="0">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 </a:t>
            </a:r>
            <a:r>
              <a:rPr lang="en-US" altLang="zh-CN" sz="1800" b="1" kern="100" dirty="0" err="1">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TyStatistics</a:t>
            </a:r>
            <a:r>
              <a:rPr lang="en-US" altLang="zh-CN" sz="1800" b="1" kern="100" dirty="0">
                <a:solidFill>
                  <a:srgbClr val="FF0000"/>
                </a:solidFill>
                <a:highlight>
                  <a:srgbClr val="FFFF00"/>
                </a:highlight>
                <a:latin typeface="等线" panose="02010600030101010101" pitchFamily="2" charset="-122"/>
                <a:ea typeface="等线" panose="02010600030101010101" pitchFamily="2" charset="-122"/>
                <a:cs typeface="Times New Roman" panose="02020603050405020304" pitchFamily="18" charset="0"/>
              </a:rPr>
              <a:t>. </a:t>
            </a:r>
            <a:r>
              <a:rPr lang="ko-KR" altLang="en-US" sz="1800" dirty="0"/>
              <a:t>normfit(data</a:t>
            </a:r>
            <a:r>
              <a:rPr lang="en-US" altLang="ko-KR" sz="1800" dirty="0"/>
              <a:t>,</a:t>
            </a:r>
            <a:r>
              <a:rPr lang="ko-KR" altLang="en-US" sz="1800" dirty="0"/>
              <a:t>alpha) </a:t>
            </a:r>
          </a:p>
        </p:txBody>
      </p:sp>
      <p:sp>
        <p:nvSpPr>
          <p:cNvPr id="19" name="矩形 18">
            <a:extLst>
              <a:ext uri="{FF2B5EF4-FFF2-40B4-BE49-F238E27FC236}">
                <a16:creationId xmlns:a16="http://schemas.microsoft.com/office/drawing/2014/main" id="{DE0598E3-2150-4ECF-BD09-0DBB322EA361}"/>
              </a:ext>
            </a:extLst>
          </p:cNvPr>
          <p:cNvSpPr/>
          <p:nvPr/>
        </p:nvSpPr>
        <p:spPr>
          <a:xfrm>
            <a:off x="127785" y="1048774"/>
            <a:ext cx="7528051" cy="949619"/>
          </a:xfrm>
          <a:prstGeom prst="rect">
            <a:avLst/>
          </a:prstGeom>
          <a:noFill/>
        </p:spPr>
        <p:txBody>
          <a:bodyPr wrap="square">
            <a:spAutoFit/>
          </a:bodyPr>
          <a:lstStyle/>
          <a:p>
            <a:pPr>
              <a:lnSpc>
                <a:spcPts val="2300"/>
              </a:lnSpc>
              <a:buSzPct val="100000"/>
              <a:buFont typeface="Wingdings" panose="05000000000000000000" pitchFamily="2" charset="2"/>
              <a:buChar char="p"/>
              <a:defRPr/>
            </a:pPr>
            <a:r>
              <a:rPr lang="ko-KR" altLang="en-US" sz="1600" noProof="1">
                <a:solidFill>
                  <a:srgbClr val="0070C0"/>
                </a:solidFill>
                <a:latin typeface="微软雅黑" panose="020B0503020204020204" pitchFamily="34" charset="-122"/>
                <a:sym typeface="+mn-ea"/>
              </a:rPr>
              <a:t>  mu,sigma</a:t>
            </a:r>
            <a:r>
              <a:rPr lang="zh-CN" altLang="en-US" sz="1600" noProof="1">
                <a:solidFill>
                  <a:srgbClr val="0070C0"/>
                </a:solidFill>
                <a:latin typeface="微软雅黑" panose="020B0503020204020204" pitchFamily="34" charset="-122"/>
                <a:ea typeface="微软雅黑" panose="020B0503020204020204" pitchFamily="34" charset="-122"/>
                <a:sym typeface="+mn-ea"/>
              </a:rPr>
              <a:t>分别为</a:t>
            </a:r>
            <a:r>
              <a:rPr lang="ko-KR" altLang="en-US" sz="1600" noProof="1">
                <a:solidFill>
                  <a:srgbClr val="0070C0"/>
                </a:solidFill>
                <a:latin typeface="微软雅黑" panose="020B0503020204020204" pitchFamily="34" charset="-122"/>
                <a:sym typeface="+mn-ea"/>
              </a:rPr>
              <a:t>正态分布的参数μ和σ估计值，点估计结果</a:t>
            </a:r>
            <a:endParaRPr lang="en-US" altLang="ko-KR" sz="1600" noProof="1">
              <a:solidFill>
                <a:srgbClr val="0070C0"/>
              </a:solidFill>
              <a:latin typeface="微软雅黑" panose="020B0503020204020204" pitchFamily="34" charset="-122"/>
              <a:sym typeface="+mn-ea"/>
            </a:endParaRPr>
          </a:p>
          <a:p>
            <a:pPr>
              <a:lnSpc>
                <a:spcPts val="2300"/>
              </a:lnSpc>
              <a:buSzPct val="100000"/>
              <a:buFont typeface="Wingdings" panose="05000000000000000000" pitchFamily="2" charset="2"/>
              <a:buChar char="p"/>
              <a:defRPr/>
            </a:pPr>
            <a:r>
              <a:rPr lang="en-US" altLang="ko-KR" sz="1600" noProof="1">
                <a:solidFill>
                  <a:srgbClr val="0070C0"/>
                </a:solidFill>
                <a:latin typeface="微软雅黑" panose="020B0503020204020204" pitchFamily="34" charset="-122"/>
                <a:sym typeface="+mn-ea"/>
              </a:rPr>
              <a:t>  </a:t>
            </a:r>
            <a:r>
              <a:rPr lang="ko-KR" altLang="en-US" sz="1600" noProof="1">
                <a:solidFill>
                  <a:srgbClr val="0070C0"/>
                </a:solidFill>
                <a:latin typeface="微软雅黑" panose="020B0503020204020204" pitchFamily="34" charset="-122"/>
                <a:sym typeface="+mn-ea"/>
              </a:rPr>
              <a:t>muci,sigmaci分别为μ和σ的置信区间,区间估计结果</a:t>
            </a:r>
            <a:endParaRPr lang="en-US" altLang="ko-KR" sz="1600" noProof="1">
              <a:solidFill>
                <a:srgbClr val="0070C0"/>
              </a:solidFill>
              <a:latin typeface="微软雅黑" panose="020B0503020204020204" pitchFamily="34" charset="-122"/>
              <a:sym typeface="+mn-ea"/>
            </a:endParaRPr>
          </a:p>
          <a:p>
            <a:pPr>
              <a:lnSpc>
                <a:spcPts val="2300"/>
              </a:lnSpc>
              <a:buSzPct val="100000"/>
              <a:buFont typeface="Wingdings" panose="05000000000000000000" pitchFamily="2" charset="2"/>
              <a:buChar char="p"/>
              <a:defRPr/>
            </a:pPr>
            <a:r>
              <a:rPr lang="zh-CN" altLang="en-US" sz="1600" dirty="0">
                <a:solidFill>
                  <a:srgbClr val="0070C0"/>
                </a:solidFill>
                <a:latin typeface="微软雅黑" panose="020B0503020204020204" pitchFamily="34" charset="-122"/>
                <a:ea typeface="微软雅黑" panose="020B0503020204020204" pitchFamily="34" charset="-122"/>
              </a:rPr>
              <a:t>  显著性水平</a:t>
            </a:r>
            <a:r>
              <a:rPr lang="en-US" altLang="zh-CN" sz="1600" dirty="0">
                <a:solidFill>
                  <a:srgbClr val="0070C0"/>
                </a:solidFill>
                <a:latin typeface="微软雅黑" panose="020B0503020204020204" pitchFamily="34" charset="-122"/>
                <a:ea typeface="微软雅黑" panose="020B0503020204020204" pitchFamily="34" charset="-122"/>
              </a:rPr>
              <a:t>,</a:t>
            </a:r>
            <a:r>
              <a:rPr lang="ko-KR" altLang="en-US" sz="1600" noProof="1">
                <a:solidFill>
                  <a:srgbClr val="0070C0"/>
                </a:solidFill>
                <a:latin typeface="微软雅黑" panose="020B0503020204020204" pitchFamily="34" charset="-122"/>
                <a:sym typeface="+mn-ea"/>
              </a:rPr>
              <a:t> 在[0,1]之间， 缺省为0.05，</a:t>
            </a:r>
            <a:r>
              <a:rPr lang="zh-CN" altLang="ko-KR" sz="1600" noProof="1">
                <a:solidFill>
                  <a:srgbClr val="0070C0"/>
                </a:solidFill>
                <a:latin typeface="微软雅黑" panose="020B0503020204020204" pitchFamily="34" charset="-122"/>
                <a:ea typeface="微软雅黑" panose="020B0503020204020204" pitchFamily="34" charset="-122"/>
                <a:sym typeface="+mn-ea"/>
              </a:rPr>
              <a:t>决定</a:t>
            </a:r>
            <a:r>
              <a:rPr lang="ko-KR" altLang="en-US" sz="1600" noProof="1">
                <a:solidFill>
                  <a:srgbClr val="0070C0"/>
                </a:solidFill>
                <a:latin typeface="微软雅黑" panose="020B0503020204020204" pitchFamily="34" charset="-122"/>
                <a:sym typeface="+mn-ea"/>
              </a:rPr>
              <a:t>置信区间宽度</a:t>
            </a:r>
            <a:endParaRPr lang="en-US" altLang="ko-KR" sz="1600" noProof="1">
              <a:solidFill>
                <a:srgbClr val="0070C0"/>
              </a:solidFill>
              <a:latin typeface="微软雅黑" panose="020B0503020204020204" pitchFamily="34" charset="-122"/>
              <a:sym typeface="+mn-ea"/>
            </a:endParaRPr>
          </a:p>
        </p:txBody>
      </p:sp>
      <p:sp>
        <p:nvSpPr>
          <p:cNvPr id="20" name="文本框 1">
            <a:extLst>
              <a:ext uri="{FF2B5EF4-FFF2-40B4-BE49-F238E27FC236}">
                <a16:creationId xmlns:a16="http://schemas.microsoft.com/office/drawing/2014/main" id="{FB9C976C-4009-447B-8400-622E074DD5DF}"/>
              </a:ext>
            </a:extLst>
          </p:cNvPr>
          <p:cNvSpPr txBox="1">
            <a:spLocks noChangeArrowheads="1"/>
          </p:cNvSpPr>
          <p:nvPr/>
        </p:nvSpPr>
        <p:spPr bwMode="auto">
          <a:xfrm>
            <a:off x="6948274" y="4099559"/>
            <a:ext cx="1871025" cy="276999"/>
          </a:xfrm>
          <a:prstGeom prst="rect">
            <a:avLst/>
          </a:prstGeom>
          <a:solidFill>
            <a:srgbClr val="FFFF00"/>
          </a:solidFill>
          <a:ln>
            <a:noFill/>
          </a:ln>
          <a:scene3d>
            <a:camera prst="orthographicFront"/>
            <a:lightRig rig="threePt" dir="t"/>
          </a:scene3d>
          <a:sp3d>
            <a:bevelT prst="angle"/>
          </a:sp3d>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spcBef>
                <a:spcPct val="0"/>
              </a:spcBef>
              <a:buNone/>
            </a:pPr>
            <a:r>
              <a:rPr lang="zh-CN" altLang="en-US" sz="1200" b="1" i="1" dirty="0">
                <a:solidFill>
                  <a:srgbClr val="FF0000"/>
                </a:solidFill>
                <a:latin typeface="+mj-lt"/>
                <a:ea typeface="Malgun Gothic" panose="020B0503020000020004" pitchFamily="34" charset="-127"/>
              </a:rPr>
              <a:t>则</a:t>
            </a:r>
            <a:r>
              <a:rPr lang="en-US" altLang="zh-CN" sz="1200" b="1" i="1" dirty="0">
                <a:solidFill>
                  <a:srgbClr val="FF0000"/>
                </a:solidFill>
                <a:latin typeface="+mj-lt"/>
                <a:ea typeface="Malgun Gothic" panose="020B0503020000020004" pitchFamily="34" charset="-127"/>
              </a:rPr>
              <a:t>x</a:t>
            </a:r>
            <a:r>
              <a:rPr lang="ko-KR" altLang="en-US" sz="1200" b="1" dirty="0">
                <a:solidFill>
                  <a:srgbClr val="FF0000"/>
                </a:solidFill>
                <a:latin typeface="+mj-lt"/>
                <a:ea typeface="Malgun Gothic" panose="020B0503020000020004" pitchFamily="34" charset="-127"/>
              </a:rPr>
              <a:t>～N(</a:t>
            </a:r>
            <a:r>
              <a:rPr lang="pl-PL" altLang="zh-CN" sz="1200" kern="0" dirty="0">
                <a:solidFill>
                  <a:srgbClr val="FF0000"/>
                </a:solidFill>
                <a:latin typeface="+mj-lt"/>
                <a:ea typeface="隶书" panose="02010509060101010101" pitchFamily="49" charset="-122"/>
                <a:sym typeface="Arial" panose="020B0604020202020204" pitchFamily="34" charset="0"/>
              </a:rPr>
              <a:t>9.5626</a:t>
            </a:r>
            <a:r>
              <a:rPr lang="en-US" altLang="zh-CN" sz="1200" kern="0" dirty="0">
                <a:solidFill>
                  <a:srgbClr val="FF0000"/>
                </a:solidFill>
                <a:latin typeface="+mj-lt"/>
                <a:ea typeface="隶书" panose="02010509060101010101" pitchFamily="49" charset="-122"/>
                <a:sym typeface="Arial" panose="020B0604020202020204" pitchFamily="34" charset="0"/>
              </a:rPr>
              <a:t>,</a:t>
            </a:r>
            <a:r>
              <a:rPr lang="pl-PL" altLang="zh-CN" sz="1200" kern="0" dirty="0">
                <a:solidFill>
                  <a:srgbClr val="FF0000"/>
                </a:solidFill>
                <a:latin typeface="+mj-lt"/>
                <a:ea typeface="隶书" panose="02010509060101010101" pitchFamily="49" charset="-122"/>
                <a:sym typeface="Arial" panose="020B0604020202020204" pitchFamily="34" charset="0"/>
              </a:rPr>
              <a:t>0.5017 </a:t>
            </a:r>
            <a:r>
              <a:rPr lang="ko-KR" altLang="en-US" sz="1200" b="1" baseline="30000" dirty="0">
                <a:solidFill>
                  <a:srgbClr val="FF0000"/>
                </a:solidFill>
                <a:latin typeface="+mj-lt"/>
                <a:ea typeface="Malgun Gothic" panose="020B0503020000020004" pitchFamily="34" charset="-127"/>
              </a:rPr>
              <a:t>2</a:t>
            </a:r>
            <a:r>
              <a:rPr lang="ko-KR" altLang="en-US" sz="1200" b="1" dirty="0">
                <a:solidFill>
                  <a:srgbClr val="FF0000"/>
                </a:solidFill>
                <a:latin typeface="+mj-lt"/>
                <a:ea typeface="Malgun Gothic" panose="020B0503020000020004" pitchFamily="34" charset="-127"/>
              </a:rPr>
              <a:t>)</a:t>
            </a:r>
            <a:endParaRPr lang="zh-CN" altLang="en-US" sz="1200" b="1" dirty="0">
              <a:solidFill>
                <a:srgbClr val="FF0000"/>
              </a:solidFill>
              <a:latin typeface="+mj-lt"/>
            </a:endParaRPr>
          </a:p>
        </p:txBody>
      </p:sp>
      <p:sp>
        <p:nvSpPr>
          <p:cNvPr id="27" name="波形 26">
            <a:extLst>
              <a:ext uri="{FF2B5EF4-FFF2-40B4-BE49-F238E27FC236}">
                <a16:creationId xmlns:a16="http://schemas.microsoft.com/office/drawing/2014/main" id="{C5463834-6C5C-49BD-9596-46E920807620}"/>
              </a:ext>
            </a:extLst>
          </p:cNvPr>
          <p:cNvSpPr/>
          <p:nvPr/>
        </p:nvSpPr>
        <p:spPr>
          <a:xfrm>
            <a:off x="6878606" y="250583"/>
            <a:ext cx="1810429"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概率统计案例</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598BCC95-CDDB-4CA6-8EF5-B667BB5E3701}"/>
              </a:ext>
            </a:extLst>
          </p:cNvPr>
          <p:cNvSpPr/>
          <p:nvPr/>
        </p:nvSpPr>
        <p:spPr>
          <a:xfrm>
            <a:off x="1985307" y="186004"/>
            <a:ext cx="4770881" cy="584775"/>
          </a:xfrm>
          <a:prstGeom prst="rect">
            <a:avLst/>
          </a:prstGeom>
          <a:noFill/>
        </p:spPr>
        <p:txBody>
          <a:bodyPr/>
          <a:lstStyle/>
          <a:p>
            <a:pPr eaLnBrk="0" hangingPunct="0"/>
            <a:r>
              <a:rPr lang="en-US" altLang="zh-CN" sz="2000" b="1" kern="0" dirty="0">
                <a:solidFill>
                  <a:srgbClr val="0070C0"/>
                </a:solidFill>
                <a:latin typeface="微软雅黑" panose="020B0503020204020204" pitchFamily="34" charset="-122"/>
                <a:ea typeface="微软雅黑" panose="020B0503020204020204" pitchFamily="34" charset="-122"/>
                <a:cs typeface="+mj-cs"/>
              </a:rPr>
              <a:t>3</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、股票收盘价数据的概率统计分析案例</a:t>
            </a:r>
            <a:endParaRPr lang="en-US" altLang="zh-CN" sz="2000" b="1" kern="0" dirty="0">
              <a:solidFill>
                <a:srgbClr val="0070C0"/>
              </a:solidFill>
              <a:latin typeface="微软雅黑" panose="020B0503020204020204" pitchFamily="34" charset="-122"/>
              <a:ea typeface="微软雅黑" panose="020B0503020204020204" pitchFamily="34" charset="-122"/>
              <a:cs typeface="+mj-cs"/>
            </a:endParaRPr>
          </a:p>
        </p:txBody>
      </p:sp>
      <p:sp>
        <p:nvSpPr>
          <p:cNvPr id="10" name="文本框 9">
            <a:extLst>
              <a:ext uri="{FF2B5EF4-FFF2-40B4-BE49-F238E27FC236}">
                <a16:creationId xmlns:a16="http://schemas.microsoft.com/office/drawing/2014/main" id="{922859EB-AC2C-4FBC-9175-627BF6579B50}"/>
              </a:ext>
            </a:extLst>
          </p:cNvPr>
          <p:cNvSpPr txBox="1"/>
          <p:nvPr/>
        </p:nvSpPr>
        <p:spPr>
          <a:xfrm>
            <a:off x="201336" y="60017"/>
            <a:ext cx="2304255" cy="501932"/>
          </a:xfrm>
          <a:prstGeom prst="rect">
            <a:avLst/>
          </a:prstGeom>
          <a:solidFill>
            <a:schemeClr val="bg1"/>
          </a:solidFill>
        </p:spPr>
        <p:txBody>
          <a:bodyPr wrap="square">
            <a:spAutoFit/>
          </a:bodyPr>
          <a:lstStyle>
            <a:defPPr>
              <a:defRPr lang="zh-CN"/>
            </a:defPPr>
            <a:lvl1pPr algn="just">
              <a:lnSpc>
                <a:spcPct val="150000"/>
              </a:lnSpc>
              <a:defRPr sz="2000" b="1" kern="1800">
                <a:solidFill>
                  <a:schemeClr val="bg1"/>
                </a:solidFill>
                <a:highlight>
                  <a:srgbClr val="003B76"/>
                </a:highlight>
                <a:latin typeface="等线" panose="02010600030101010101" pitchFamily="2" charset="-122"/>
                <a:ea typeface="黑体" panose="02010609060101010101" pitchFamily="49" charset="-122"/>
              </a:defRPr>
            </a:lvl1pPr>
          </a:lstStyle>
          <a:p>
            <a:r>
              <a:rPr lang="zh-CN" altLang="en-US" dirty="0"/>
              <a:t>概率理论及其案例</a:t>
            </a:r>
            <a:endParaRPr lang="zh-CN" altLang="zh-CN" dirty="0"/>
          </a:p>
        </p:txBody>
      </p:sp>
    </p:spTree>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B985504-DE5A-438C-A862-AAE9A2C8C265}"/>
              </a:ext>
            </a:extLst>
          </p:cNvPr>
          <p:cNvSpPr/>
          <p:nvPr/>
        </p:nvSpPr>
        <p:spPr>
          <a:xfrm>
            <a:off x="124706" y="2679302"/>
            <a:ext cx="4753162" cy="1911229"/>
          </a:xfrm>
          <a:prstGeom prst="rect">
            <a:avLst/>
          </a:prstGeom>
          <a:solidFill>
            <a:schemeClr val="bg1"/>
          </a:solidFill>
        </p:spPr>
        <p:txBody>
          <a:bodyPr wrap="square">
            <a:spAutoFit/>
          </a:bodyPr>
          <a:lstStyle/>
          <a:p>
            <a:pPr algn="l">
              <a:lnSpc>
                <a:spcPts val="2400"/>
              </a:lnSpc>
            </a:pPr>
            <a:r>
              <a:rPr lang="en-US" altLang="zh-CN" sz="1600" dirty="0">
                <a:solidFill>
                  <a:srgbClr val="FF0000"/>
                </a:solidFill>
                <a:latin typeface="Consolas" panose="020B0609020204030204" pitchFamily="49" charset="0"/>
              </a:rPr>
              <a:t>xmin,xmax=bounds(x) </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股票最小值和最大值</a:t>
            </a:r>
            <a:endParaRPr lang="zh-CN" altLang="zh-CN" sz="1600" dirty="0">
              <a:solidFill>
                <a:srgbClr val="000000"/>
              </a:solidFill>
              <a:latin typeface="Consolas" panose="020B0609020204030204" pitchFamily="49" charset="0"/>
            </a:endParaRPr>
          </a:p>
          <a:p>
            <a:pPr algn="l">
              <a:lnSpc>
                <a:spcPts val="2400"/>
              </a:lnSpc>
            </a:pPr>
            <a:r>
              <a:rPr lang="en-US" altLang="zh-CN" sz="1600" dirty="0" err="1">
                <a:solidFill>
                  <a:srgbClr val="000000"/>
                </a:solidFill>
                <a:latin typeface="Consolas" panose="020B0609020204030204" pitchFamily="49" charset="0"/>
              </a:rPr>
              <a:t>println</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xmin</a:t>
            </a:r>
            <a:r>
              <a:rPr lang="en-US" altLang="zh-CN" sz="1600" dirty="0">
                <a:solidFill>
                  <a:srgbClr val="000000"/>
                </a:solidFill>
                <a:latin typeface="Consolas" panose="020B0609020204030204" pitchFamily="49" charset="0"/>
              </a:rPr>
              <a:t>=$xmin,xmax=$</a:t>
            </a:r>
            <a:r>
              <a:rPr lang="en-US" altLang="zh-CN" sz="1600" dirty="0" err="1">
                <a:solidFill>
                  <a:srgbClr val="000000"/>
                </a:solidFill>
                <a:latin typeface="Consolas" panose="020B0609020204030204" pitchFamily="49" charset="0"/>
              </a:rPr>
              <a:t>xmax</a:t>
            </a:r>
            <a:r>
              <a:rPr lang="en-US" altLang="zh-CN" sz="1600" dirty="0">
                <a:solidFill>
                  <a:srgbClr val="000000"/>
                </a:solidFill>
                <a:latin typeface="Consolas" panose="020B0609020204030204" pitchFamily="49" charset="0"/>
              </a:rPr>
              <a:t>") </a:t>
            </a:r>
            <a:endParaRPr lang="zh-CN" altLang="zh-CN" sz="1600" dirty="0">
              <a:solidFill>
                <a:srgbClr val="000000"/>
              </a:solidFill>
              <a:latin typeface="Consolas" panose="020B0609020204030204" pitchFamily="49" charset="0"/>
            </a:endParaRPr>
          </a:p>
          <a:p>
            <a:pPr algn="l">
              <a:lnSpc>
                <a:spcPts val="2400"/>
              </a:lnSpc>
            </a:pPr>
            <a:r>
              <a:rPr lang="en-US" altLang="zh-CN" sz="1600" dirty="0">
                <a:solidFill>
                  <a:srgbClr val="FF0000"/>
                </a:solidFill>
                <a:latin typeface="Consolas" panose="020B0609020204030204" pitchFamily="49" charset="0"/>
              </a:rPr>
              <a:t>xx=</a:t>
            </a:r>
            <a:r>
              <a:rPr lang="en-US" altLang="zh-CN" sz="1600" dirty="0" err="1">
                <a:solidFill>
                  <a:srgbClr val="FF0000"/>
                </a:solidFill>
                <a:latin typeface="Consolas" panose="020B0609020204030204" pitchFamily="49" charset="0"/>
              </a:rPr>
              <a:t>LinRange</a:t>
            </a:r>
            <a:r>
              <a:rPr lang="en-US" altLang="zh-CN" sz="1600" dirty="0">
                <a:solidFill>
                  <a:srgbClr val="FF0000"/>
                </a:solidFill>
                <a:latin typeface="Consolas" panose="020B0609020204030204" pitchFamily="49" charset="0"/>
              </a:rPr>
              <a:t>(xmin,xmax,30); </a:t>
            </a:r>
            <a:endParaRPr lang="zh-CN" altLang="zh-CN" sz="1600" dirty="0">
              <a:solidFill>
                <a:srgbClr val="FF0000"/>
              </a:solidFill>
              <a:latin typeface="Consolas" panose="020B0609020204030204" pitchFamily="49" charset="0"/>
            </a:endParaRPr>
          </a:p>
          <a:p>
            <a:pPr>
              <a:lnSpc>
                <a:spcPts val="2400"/>
              </a:lnSpc>
            </a:pPr>
            <a:r>
              <a:rPr lang="en-US" altLang="zh-CN" sz="1600" dirty="0" err="1">
                <a:solidFill>
                  <a:srgbClr val="000000"/>
                </a:solidFill>
                <a:latin typeface="Consolas" panose="020B0609020204030204" pitchFamily="49" charset="0"/>
              </a:rPr>
              <a:t>yy</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normpdf</a:t>
            </a:r>
            <a:r>
              <a:rPr lang="en-US" altLang="zh-CN" sz="1600" dirty="0">
                <a:solidFill>
                  <a:srgbClr val="FF0000"/>
                </a:solidFill>
                <a:highlight>
                  <a:srgbClr val="FFFF00"/>
                </a:highlight>
                <a:latin typeface="Consolas" panose="020B0609020204030204" pitchFamily="49" charset="0"/>
              </a:rPr>
              <a:t>.</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xx,mu,sigma</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点运算算概率密度</a:t>
            </a:r>
          </a:p>
          <a:p>
            <a:pPr>
              <a:lnSpc>
                <a:spcPts val="2400"/>
              </a:lnSpc>
            </a:pPr>
            <a:r>
              <a:rPr lang="en-US" altLang="zh-CN" sz="1600" dirty="0">
                <a:solidFill>
                  <a:srgbClr val="FF0000"/>
                </a:solidFill>
                <a:latin typeface="Consolas" panose="020B0609020204030204" pitchFamily="49" charset="0"/>
              </a:rPr>
              <a:t>area(</a:t>
            </a:r>
            <a:r>
              <a:rPr lang="en-US" altLang="zh-CN" sz="1600" dirty="0" err="1">
                <a:solidFill>
                  <a:srgbClr val="FF0000"/>
                </a:solidFill>
                <a:latin typeface="Consolas" panose="020B0609020204030204" pitchFamily="49" charset="0"/>
              </a:rPr>
              <a:t>xx,yy</a:t>
            </a:r>
            <a:r>
              <a:rPr lang="en-US" altLang="zh-CN" sz="1600" dirty="0">
                <a:solidFill>
                  <a:srgbClr val="FF0000"/>
                </a:solidFill>
                <a:latin typeface="Consolas" panose="020B0609020204030204" pitchFamily="49" charset="0"/>
              </a:rPr>
              <a:t>); #</a:t>
            </a:r>
            <a:r>
              <a:rPr lang="zh-CN" altLang="en-US" sz="1600" dirty="0">
                <a:solidFill>
                  <a:srgbClr val="FF0000"/>
                </a:solidFill>
                <a:latin typeface="Consolas" panose="020B0609020204030204" pitchFamily="49" charset="0"/>
              </a:rPr>
              <a:t>绘制正态分布概率</a:t>
            </a:r>
          </a:p>
          <a:p>
            <a:pPr>
              <a:lnSpc>
                <a:spcPts val="2400"/>
              </a:lnSpc>
            </a:pPr>
            <a:r>
              <a:rPr lang="en-US" altLang="zh-CN" sz="1600" dirty="0" err="1">
                <a:solidFill>
                  <a:srgbClr val="000000"/>
                </a:solidFill>
                <a:latin typeface="Consolas" panose="020B0609020204030204" pitchFamily="49" charset="0"/>
              </a:rPr>
              <a:t>xlabel</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股票收盘价，元</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ylabel</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概率</a:t>
            </a:r>
            <a:r>
              <a:rPr lang="en-US" altLang="zh-CN" sz="1600" dirty="0">
                <a:solidFill>
                  <a:srgbClr val="000000"/>
                </a:solidFill>
                <a:latin typeface="Consolas" panose="020B0609020204030204" pitchFamily="49" charset="0"/>
              </a:rPr>
              <a:t>");</a:t>
            </a:r>
          </a:p>
        </p:txBody>
      </p:sp>
      <p:sp>
        <p:nvSpPr>
          <p:cNvPr id="10" name="矩形 9">
            <a:extLst>
              <a:ext uri="{FF2B5EF4-FFF2-40B4-BE49-F238E27FC236}">
                <a16:creationId xmlns:a16="http://schemas.microsoft.com/office/drawing/2014/main" id="{F6D20380-3386-482D-827D-7C0E55E88696}"/>
              </a:ext>
            </a:extLst>
          </p:cNvPr>
          <p:cNvSpPr/>
          <p:nvPr/>
        </p:nvSpPr>
        <p:spPr>
          <a:xfrm>
            <a:off x="5049649" y="2173584"/>
            <a:ext cx="3798588" cy="338554"/>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绘制整个区域股票</a:t>
            </a:r>
            <a:r>
              <a:rPr lang="zh-CN" altLang="en-US" sz="1600" b="1" dirty="0">
                <a:solidFill>
                  <a:srgbClr val="FF0000"/>
                </a:solidFill>
                <a:latin typeface="微软雅黑" panose="020B0503020204020204" pitchFamily="34" charset="-122"/>
                <a:ea typeface="微软雅黑" panose="020B0503020204020204" pitchFamily="34" charset="-122"/>
              </a:rPr>
              <a:t>累积概率阶梯</a:t>
            </a:r>
            <a:r>
              <a:rPr lang="zh-CN" altLang="en-US"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曲线</a:t>
            </a:r>
            <a:endParaRPr lang="en-US" altLang="zh-CN"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a:extLst>
              <a:ext uri="{FF2B5EF4-FFF2-40B4-BE49-F238E27FC236}">
                <a16:creationId xmlns:a16="http://schemas.microsoft.com/office/drawing/2014/main" id="{DFB81D66-56C3-480A-936D-C7F0F18CB8E3}"/>
              </a:ext>
            </a:extLst>
          </p:cNvPr>
          <p:cNvSpPr/>
          <p:nvPr/>
        </p:nvSpPr>
        <p:spPr>
          <a:xfrm>
            <a:off x="154907" y="2440753"/>
            <a:ext cx="3913037" cy="338554"/>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绘制整个区域的</a:t>
            </a:r>
            <a:r>
              <a:rPr lang="zh-CN" altLang="en-US" sz="1600" b="1" dirty="0">
                <a:solidFill>
                  <a:srgbClr val="FF0000"/>
                </a:solidFill>
                <a:latin typeface="微软雅黑" panose="020B0503020204020204" pitchFamily="34" charset="-122"/>
                <a:ea typeface="微软雅黑" panose="020B0503020204020204" pitchFamily="34" charset="-122"/>
              </a:rPr>
              <a:t>股票</a:t>
            </a:r>
            <a:r>
              <a:rPr lang="zh-CN" altLang="en-US"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正态概率分布曲线</a:t>
            </a:r>
            <a:endParaRPr lang="en-US" altLang="zh-CN" sz="16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5197205E-F2B3-48B6-9987-A845A4882894}"/>
              </a:ext>
            </a:extLst>
          </p:cNvPr>
          <p:cNvSpPr txBox="1"/>
          <p:nvPr/>
        </p:nvSpPr>
        <p:spPr>
          <a:xfrm>
            <a:off x="5052397" y="2463788"/>
            <a:ext cx="3913037" cy="1077218"/>
          </a:xfrm>
          <a:prstGeom prst="rect">
            <a:avLst/>
          </a:prstGeom>
          <a:solidFill>
            <a:schemeClr val="bg1"/>
          </a:solidFill>
        </p:spPr>
        <p:txBody>
          <a:bodyPr wrap="square">
            <a:spAutoFit/>
          </a:bodyPr>
          <a:lstStyle/>
          <a:p>
            <a:r>
              <a:rPr lang="en-US" altLang="zh-CN" sz="1600" dirty="0" err="1">
                <a:solidFill>
                  <a:srgbClr val="000000"/>
                </a:solidFill>
                <a:latin typeface="Consolas" panose="020B0609020204030204" pitchFamily="49" charset="0"/>
              </a:rPr>
              <a:t>yy</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normcdf</a:t>
            </a:r>
            <a:r>
              <a:rPr lang="en-US" altLang="zh-CN" sz="1600" dirty="0">
                <a:solidFill>
                  <a:srgbClr val="000000"/>
                </a:solidFill>
                <a:latin typeface="Consolas" panose="020B0609020204030204" pitchFamily="49" charset="0"/>
              </a:rPr>
              <a:t>.(xx,9.5626,0.5017);</a:t>
            </a:r>
            <a:endParaRPr lang="zh-CN" altLang="en-US" sz="1600" dirty="0">
              <a:solidFill>
                <a:srgbClr val="000000"/>
              </a:solidFill>
              <a:latin typeface="Consolas" panose="020B0609020204030204" pitchFamily="49" charset="0"/>
            </a:endParaRPr>
          </a:p>
          <a:p>
            <a:r>
              <a:rPr lang="en-US" altLang="zh-CN" sz="1600" dirty="0">
                <a:solidFill>
                  <a:srgbClr val="000000"/>
                </a:solidFill>
                <a:latin typeface="Consolas" panose="020B0609020204030204" pitchFamily="49" charset="0"/>
              </a:rPr>
              <a:t>stairs(</a:t>
            </a:r>
            <a:r>
              <a:rPr lang="en-US" altLang="zh-CN" sz="1600" dirty="0" err="1">
                <a:solidFill>
                  <a:srgbClr val="000000"/>
                </a:solidFill>
                <a:latin typeface="Consolas" panose="020B0609020204030204" pitchFamily="49" charset="0"/>
              </a:rPr>
              <a:t>xx,yy</a:t>
            </a:r>
            <a:r>
              <a:rPr lang="en-US" altLang="zh-CN" sz="1600" dirty="0">
                <a:solidFill>
                  <a:srgbClr val="000000"/>
                </a:solidFill>
                <a:latin typeface="Consolas" panose="020B0609020204030204" pitchFamily="49" charset="0"/>
              </a:rPr>
              <a:t>); #</a:t>
            </a:r>
            <a:r>
              <a:rPr lang="zh-CN" altLang="en-US" sz="1600" dirty="0">
                <a:solidFill>
                  <a:srgbClr val="000000"/>
                </a:solidFill>
                <a:latin typeface="Consolas" panose="020B0609020204030204" pitchFamily="49" charset="0"/>
              </a:rPr>
              <a:t>绘制正态分布概率</a:t>
            </a:r>
          </a:p>
          <a:p>
            <a:r>
              <a:rPr lang="en-US" altLang="zh-CN" sz="1600" dirty="0" err="1">
                <a:solidFill>
                  <a:srgbClr val="000000"/>
                </a:solidFill>
                <a:latin typeface="Consolas" panose="020B0609020204030204" pitchFamily="49" charset="0"/>
              </a:rPr>
              <a:t>xlabel</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股票收盘价，元</a:t>
            </a:r>
            <a:r>
              <a:rPr lang="en-US" altLang="zh-CN" sz="1600" dirty="0">
                <a:solidFill>
                  <a:srgbClr val="000000"/>
                </a:solidFill>
                <a:latin typeface="Consolas" panose="020B0609020204030204" pitchFamily="49" charset="0"/>
              </a:rPr>
              <a:t>");</a:t>
            </a:r>
          </a:p>
          <a:p>
            <a:r>
              <a:rPr lang="en-US" altLang="zh-CN" sz="1600" dirty="0" err="1">
                <a:solidFill>
                  <a:srgbClr val="000000"/>
                </a:solidFill>
                <a:latin typeface="Consolas" panose="020B0609020204030204" pitchFamily="49" charset="0"/>
              </a:rPr>
              <a:t>ylabel</a:t>
            </a:r>
            <a:r>
              <a:rPr lang="en-US" altLang="zh-CN" sz="1600" dirty="0">
                <a:solidFill>
                  <a:srgbClr val="000000"/>
                </a:solidFill>
                <a:latin typeface="Consolas" panose="020B0609020204030204" pitchFamily="49" charset="0"/>
              </a:rPr>
              <a:t>("</a:t>
            </a:r>
            <a:r>
              <a:rPr lang="zh-CN" altLang="en-US" sz="1600" dirty="0">
                <a:solidFill>
                  <a:srgbClr val="000000"/>
                </a:solidFill>
                <a:latin typeface="Consolas" panose="020B0609020204030204" pitchFamily="49" charset="0"/>
              </a:rPr>
              <a:t>累积概率</a:t>
            </a:r>
            <a:r>
              <a:rPr lang="en-US" altLang="zh-CN" sz="1600" dirty="0">
                <a:solidFill>
                  <a:srgbClr val="000000"/>
                </a:solidFill>
                <a:latin typeface="Consolas" panose="020B0609020204030204" pitchFamily="49" charset="0"/>
              </a:rPr>
              <a:t>");</a:t>
            </a:r>
          </a:p>
        </p:txBody>
      </p:sp>
      <p:pic>
        <p:nvPicPr>
          <p:cNvPr id="3" name="图片 2">
            <a:extLst>
              <a:ext uri="{FF2B5EF4-FFF2-40B4-BE49-F238E27FC236}">
                <a16:creationId xmlns:a16="http://schemas.microsoft.com/office/drawing/2014/main" id="{D0E20C2B-8BFF-4780-A2C5-33D1872AA31B}"/>
              </a:ext>
            </a:extLst>
          </p:cNvPr>
          <p:cNvPicPr>
            <a:picLocks noChangeAspect="1"/>
          </p:cNvPicPr>
          <p:nvPr/>
        </p:nvPicPr>
        <p:blipFill>
          <a:blip r:embed="rId2"/>
          <a:stretch>
            <a:fillRect/>
          </a:stretch>
        </p:blipFill>
        <p:spPr>
          <a:xfrm>
            <a:off x="5061084" y="3492358"/>
            <a:ext cx="1540235" cy="1163999"/>
          </a:xfrm>
          <a:prstGeom prst="rect">
            <a:avLst/>
          </a:prstGeom>
        </p:spPr>
      </p:pic>
      <p:pic>
        <p:nvPicPr>
          <p:cNvPr id="22" name="图片 21">
            <a:extLst>
              <a:ext uri="{FF2B5EF4-FFF2-40B4-BE49-F238E27FC236}">
                <a16:creationId xmlns:a16="http://schemas.microsoft.com/office/drawing/2014/main" id="{711C45F5-421D-4C45-B695-C245D3BCAB55}"/>
              </a:ext>
            </a:extLst>
          </p:cNvPr>
          <p:cNvPicPr>
            <a:picLocks noChangeAspect="1"/>
          </p:cNvPicPr>
          <p:nvPr/>
        </p:nvPicPr>
        <p:blipFill>
          <a:blip r:embed="rId3"/>
          <a:stretch>
            <a:fillRect/>
          </a:stretch>
        </p:blipFill>
        <p:spPr>
          <a:xfrm>
            <a:off x="7358486" y="3369232"/>
            <a:ext cx="1615635" cy="1221299"/>
          </a:xfrm>
          <a:prstGeom prst="rect">
            <a:avLst/>
          </a:prstGeom>
        </p:spPr>
      </p:pic>
      <p:sp>
        <p:nvSpPr>
          <p:cNvPr id="21" name="文本框 20">
            <a:extLst>
              <a:ext uri="{FF2B5EF4-FFF2-40B4-BE49-F238E27FC236}">
                <a16:creationId xmlns:a16="http://schemas.microsoft.com/office/drawing/2014/main" id="{E4F739DD-8F6D-4C27-8E95-47E5290F9622}"/>
              </a:ext>
            </a:extLst>
          </p:cNvPr>
          <p:cNvSpPr txBox="1"/>
          <p:nvPr/>
        </p:nvSpPr>
        <p:spPr>
          <a:xfrm>
            <a:off x="-39715" y="717999"/>
            <a:ext cx="9077723" cy="605294"/>
          </a:xfrm>
          <a:prstGeom prst="rect">
            <a:avLst/>
          </a:prstGeom>
          <a:solidFill>
            <a:schemeClr val="bg1"/>
          </a:solidFill>
        </p:spPr>
        <p:txBody>
          <a:bodyPr wrap="square">
            <a:spAutoFit/>
          </a:bodyPr>
          <a:lstStyle/>
          <a:p>
            <a:pPr marL="342900" indent="-342900">
              <a:lnSpc>
                <a:spcPts val="2000"/>
              </a:lnSpc>
              <a:buFont typeface="+mj-ea"/>
              <a:buAutoNum type="circleNumDbPlain" startAt="7"/>
            </a:pPr>
            <a:r>
              <a:rPr lang="zh-CN" altLang="en-US" sz="1600" dirty="0">
                <a:solidFill>
                  <a:srgbClr val="0070C0"/>
                </a:solidFill>
                <a:latin typeface="微软雅黑" panose="020B0503020204020204" pitchFamily="34" charset="-122"/>
                <a:ea typeface="微软雅黑" panose="020B0503020204020204" pitchFamily="34" charset="-122"/>
              </a:rPr>
              <a:t>根据拟合总体均值</a:t>
            </a:r>
            <a:r>
              <a:rPr lang="en-US" altLang="zh-CN" sz="1600" dirty="0">
                <a:solidFill>
                  <a:srgbClr val="0070C0"/>
                </a:solidFill>
                <a:latin typeface="微软雅黑" panose="020B0503020204020204" pitchFamily="34" charset="-122"/>
                <a:ea typeface="微软雅黑" panose="020B0503020204020204" pitchFamily="34" charset="-122"/>
              </a:rPr>
              <a:t>mu</a:t>
            </a:r>
            <a:r>
              <a:rPr lang="zh-CN" altLang="en-US" sz="1600" dirty="0">
                <a:solidFill>
                  <a:srgbClr val="0070C0"/>
                </a:solidFill>
                <a:latin typeface="微软雅黑" panose="020B0503020204020204" pitchFamily="34" charset="-122"/>
                <a:ea typeface="微软雅黑" panose="020B0503020204020204" pitchFamily="34" charset="-122"/>
              </a:rPr>
              <a:t>和方差</a:t>
            </a:r>
            <a:r>
              <a:rPr lang="en-US" altLang="zh-CN" sz="1600" dirty="0">
                <a:solidFill>
                  <a:srgbClr val="0070C0"/>
                </a:solidFill>
                <a:latin typeface="微软雅黑" panose="020B0503020204020204" pitchFamily="34" charset="-122"/>
                <a:ea typeface="微软雅黑" panose="020B0503020204020204" pitchFamily="34" charset="-122"/>
              </a:rPr>
              <a:t>sigma</a:t>
            </a:r>
            <a:r>
              <a:rPr lang="zh-CN" altLang="en-US" sz="1600" dirty="0">
                <a:solidFill>
                  <a:srgbClr val="0070C0"/>
                </a:solidFill>
                <a:latin typeface="微软雅黑" panose="020B0503020204020204" pitchFamily="34" charset="-122"/>
                <a:ea typeface="微软雅黑" panose="020B0503020204020204" pitchFamily="34" charset="-122"/>
              </a:rPr>
              <a:t>，分别用</a:t>
            </a:r>
            <a:r>
              <a:rPr lang="en-US" altLang="zh-CN" sz="1600" dirty="0" err="1">
                <a:solidFill>
                  <a:srgbClr val="0070C0"/>
                </a:solidFill>
                <a:latin typeface="微软雅黑" panose="020B0503020204020204" pitchFamily="34" charset="-122"/>
                <a:ea typeface="微软雅黑" panose="020B0503020204020204" pitchFamily="34" charset="-122"/>
              </a:rPr>
              <a:t>normpdf</a:t>
            </a:r>
            <a:r>
              <a:rPr lang="zh-CN" altLang="en-US" sz="1600" dirty="0">
                <a:solidFill>
                  <a:srgbClr val="0070C0"/>
                </a:solidFill>
                <a:latin typeface="微软雅黑" panose="020B0503020204020204" pitchFamily="34" charset="-122"/>
                <a:ea typeface="微软雅黑" panose="020B0503020204020204" pitchFamily="34" charset="-122"/>
              </a:rPr>
              <a:t>和</a:t>
            </a:r>
            <a:r>
              <a:rPr lang="en-US" altLang="zh-CN" sz="1600" dirty="0" err="1">
                <a:solidFill>
                  <a:srgbClr val="0070C0"/>
                </a:solidFill>
                <a:latin typeface="微软雅黑" panose="020B0503020204020204" pitchFamily="34" charset="-122"/>
                <a:ea typeface="微软雅黑" panose="020B0503020204020204" pitchFamily="34" charset="-122"/>
              </a:rPr>
              <a:t>normcdp</a:t>
            </a:r>
            <a:r>
              <a:rPr lang="zh-CN" altLang="en-US" sz="1600" dirty="0">
                <a:solidFill>
                  <a:srgbClr val="0070C0"/>
                </a:solidFill>
                <a:latin typeface="微软雅黑" panose="020B0503020204020204" pitchFamily="34" charset="-122"/>
                <a:ea typeface="微软雅黑" panose="020B0503020204020204" pitchFamily="34" charset="-122"/>
              </a:rPr>
              <a:t>计算概率密度和累计概率，用</a:t>
            </a:r>
            <a:r>
              <a:rPr lang="en-US" altLang="zh-CN" sz="1600" dirty="0">
                <a:solidFill>
                  <a:srgbClr val="0070C0"/>
                </a:solidFill>
                <a:latin typeface="微软雅黑" panose="020B0503020204020204" pitchFamily="34" charset="-122"/>
                <a:ea typeface="微软雅黑" panose="020B0503020204020204" pitchFamily="34" charset="-122"/>
              </a:rPr>
              <a:t>area</a:t>
            </a:r>
            <a:r>
              <a:rPr lang="zh-CN" altLang="en-US" sz="1600" dirty="0">
                <a:solidFill>
                  <a:srgbClr val="0070C0"/>
                </a:solidFill>
                <a:latin typeface="微软雅黑" panose="020B0503020204020204" pitchFamily="34" charset="-122"/>
                <a:ea typeface="微软雅黑" panose="020B0503020204020204" pitchFamily="34" charset="-122"/>
              </a:rPr>
              <a:t>绘制概率密度的面积图，用</a:t>
            </a:r>
            <a:r>
              <a:rPr lang="en-US" altLang="zh-CN" sz="1600" dirty="0">
                <a:solidFill>
                  <a:srgbClr val="0070C0"/>
                </a:solidFill>
                <a:latin typeface="微软雅黑" panose="020B0503020204020204" pitchFamily="34" charset="-122"/>
                <a:ea typeface="微软雅黑" panose="020B0503020204020204" pitchFamily="34" charset="-122"/>
              </a:rPr>
              <a:t>stairs</a:t>
            </a:r>
            <a:r>
              <a:rPr lang="zh-CN" altLang="en-US" sz="1600" dirty="0">
                <a:solidFill>
                  <a:srgbClr val="0070C0"/>
                </a:solidFill>
                <a:latin typeface="微软雅黑" panose="020B0503020204020204" pitchFamily="34" charset="-122"/>
                <a:ea typeface="微软雅黑" panose="020B0503020204020204" pitchFamily="34" charset="-122"/>
              </a:rPr>
              <a:t>绘累积概率阶梯图</a:t>
            </a:r>
            <a:endParaRPr lang="en-US" altLang="zh-CN" sz="1600" dirty="0">
              <a:solidFill>
                <a:srgbClr val="0070C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F15C74DA-B62D-4DBF-B52B-21BCAACE0CC0}"/>
              </a:ext>
            </a:extLst>
          </p:cNvPr>
          <p:cNvSpPr/>
          <p:nvPr/>
        </p:nvSpPr>
        <p:spPr>
          <a:xfrm>
            <a:off x="194142" y="1238325"/>
            <a:ext cx="8856982" cy="338554"/>
          </a:xfrm>
          <a:prstGeom prst="rect">
            <a:avLst/>
          </a:prstGeom>
          <a:solidFill>
            <a:schemeClr val="bg1"/>
          </a:solid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随机变量服从</a:t>
            </a:r>
            <a:r>
              <a:rPr lang="ko-KR" altLang="en-US" sz="1600" b="1" dirty="0">
                <a:solidFill>
                  <a:srgbClr val="FF0000"/>
                </a:solidFill>
                <a:latin typeface="微软雅黑" panose="020B0503020204020204" pitchFamily="34" charset="-122"/>
              </a:rPr>
              <a:t>N(μ</a:t>
            </a:r>
            <a:r>
              <a:rPr lang="en-US" altLang="ko-KR" sz="1600" b="1" dirty="0">
                <a:solidFill>
                  <a:srgbClr val="FF0000"/>
                </a:solidFill>
                <a:latin typeface="微软雅黑" panose="020B0503020204020204" pitchFamily="34" charset="-122"/>
                <a:ea typeface="微软雅黑" panose="020B0503020204020204" pitchFamily="34" charset="-122"/>
              </a:rPr>
              <a:t>,</a:t>
            </a:r>
            <a:r>
              <a:rPr lang="ko-KR" altLang="en-US" sz="1600" b="1" dirty="0">
                <a:solidFill>
                  <a:srgbClr val="FF0000"/>
                </a:solidFill>
                <a:latin typeface="微软雅黑" panose="020B0503020204020204" pitchFamily="34" charset="-122"/>
              </a:rPr>
              <a:t>σ</a:t>
            </a:r>
            <a:r>
              <a:rPr lang="ko-KR" altLang="en-US" sz="1600" b="1" baseline="30000" dirty="0">
                <a:solidFill>
                  <a:srgbClr val="FF0000"/>
                </a:solidFill>
                <a:latin typeface="微软雅黑" panose="020B0503020204020204" pitchFamily="34" charset="-122"/>
              </a:rPr>
              <a:t>2</a:t>
            </a:r>
            <a:r>
              <a:rPr lang="ko-KR" altLang="en-US" sz="1600" b="1" dirty="0">
                <a:solidFill>
                  <a:srgbClr val="FF0000"/>
                </a:solidFill>
                <a:latin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正态分布的概率计算</a:t>
            </a:r>
            <a:endParaRPr lang="en-US" altLang="zh-CN" sz="1600" b="1" dirty="0">
              <a:solidFill>
                <a:srgbClr val="FF0000"/>
              </a:solidFill>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4F60013-B189-402F-960E-40284B7CB208}"/>
              </a:ext>
            </a:extLst>
          </p:cNvPr>
          <p:cNvSpPr/>
          <p:nvPr/>
        </p:nvSpPr>
        <p:spPr>
          <a:xfrm>
            <a:off x="2316556" y="1828333"/>
            <a:ext cx="184731" cy="276999"/>
          </a:xfrm>
          <a:prstGeom prst="rect">
            <a:avLst/>
          </a:prstGeom>
          <a:solidFill>
            <a:schemeClr val="bg1"/>
          </a:solidFill>
        </p:spPr>
        <p:txBody>
          <a:bodyPr wrap="none">
            <a:spAutoFit/>
          </a:bodyPr>
          <a:lstStyle/>
          <a:p>
            <a:pPr algn="just" defTabSz="0">
              <a:spcBef>
                <a:spcPct val="20000"/>
              </a:spcBef>
            </a:pPr>
            <a:endParaRPr lang="zh-CN" altLang="en-US" sz="1200" dirty="0">
              <a:solidFill>
                <a:srgbClr val="002060"/>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88921632-B184-4964-8789-28B58844E2A3}"/>
              </a:ext>
            </a:extLst>
          </p:cNvPr>
          <p:cNvSpPr/>
          <p:nvPr/>
        </p:nvSpPr>
        <p:spPr>
          <a:xfrm>
            <a:off x="211850" y="1527724"/>
            <a:ext cx="4837799" cy="929485"/>
          </a:xfrm>
          <a:prstGeom prst="rect">
            <a:avLst/>
          </a:prstGeom>
          <a:solidFill>
            <a:schemeClr val="bg1"/>
          </a:solidFill>
        </p:spPr>
        <p:txBody>
          <a:bodyPr wrap="none">
            <a:spAutoFit/>
          </a:bodyPr>
          <a:lstStyle/>
          <a:p>
            <a:pPr marL="285750" indent="-285750" algn="just" defTabSz="0">
              <a:spcBef>
                <a:spcPct val="20000"/>
              </a:spcBef>
              <a:buFont typeface="Wingdings" panose="05000000000000000000" pitchFamily="2" charset="2"/>
              <a:buChar char="p"/>
            </a:pPr>
            <a:r>
              <a:rPr lang="ko-KR" altLang="en-US" sz="1600" b="1" dirty="0">
                <a:solidFill>
                  <a:srgbClr val="0070C0"/>
                </a:solidFill>
                <a:latin typeface="微软雅黑" panose="020B0503020204020204" pitchFamily="34" charset="-122"/>
              </a:rPr>
              <a:t>概率密度</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normpdf</a:t>
            </a:r>
            <a:r>
              <a:rPr lang="en-US" altLang="zh-CN" sz="1600" b="1"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sym typeface="+mn-ea"/>
              </a:rPr>
              <a:t>求随机变量</a:t>
            </a:r>
            <a:r>
              <a:rPr lang="en-US" altLang="zh-CN" sz="1400" dirty="0">
                <a:solidFill>
                  <a:srgbClr val="0070C0"/>
                </a:solidFill>
                <a:latin typeface="微软雅黑" panose="020B0503020204020204" pitchFamily="34" charset="-122"/>
                <a:ea typeface="微软雅黑" panose="020B0503020204020204" pitchFamily="34" charset="-122"/>
                <a:sym typeface="+mn-ea"/>
              </a:rPr>
              <a:t>x</a:t>
            </a:r>
            <a:r>
              <a:rPr lang="zh-CN" altLang="en-US" sz="1400" dirty="0">
                <a:solidFill>
                  <a:srgbClr val="0070C0"/>
                </a:solidFill>
                <a:latin typeface="微软雅黑" panose="020B0503020204020204" pitchFamily="34" charset="-122"/>
                <a:ea typeface="微软雅黑" panose="020B0503020204020204" pitchFamily="34" charset="-122"/>
                <a:sym typeface="+mn-ea"/>
              </a:rPr>
              <a:t>出现概率</a:t>
            </a:r>
            <a:r>
              <a:rPr lang="en-US" altLang="zh-CN" sz="1400" dirty="0">
                <a:solidFill>
                  <a:srgbClr val="0070C0"/>
                </a:solidFill>
                <a:latin typeface="微软雅黑" panose="020B0503020204020204" pitchFamily="34" charset="-122"/>
                <a:ea typeface="微软雅黑" panose="020B0503020204020204" pitchFamily="34" charset="-122"/>
                <a:sym typeface="+mn-ea"/>
              </a:rPr>
              <a:t>P</a:t>
            </a:r>
          </a:p>
          <a:p>
            <a:pPr marL="285750" indent="-285750" algn="just" defTabSz="0">
              <a:spcBef>
                <a:spcPct val="20000"/>
              </a:spcBef>
              <a:buFont typeface="Wingdings" panose="05000000000000000000" pitchFamily="2" charset="2"/>
              <a:buChar char="p"/>
            </a:pPr>
            <a:r>
              <a:rPr lang="zh-CN" altLang="en-US" sz="1600" b="1" dirty="0">
                <a:solidFill>
                  <a:srgbClr val="0070C0"/>
                </a:solidFill>
                <a:latin typeface="微软雅黑" panose="020B0503020204020204" pitchFamily="34" charset="-122"/>
              </a:rPr>
              <a:t>累积</a:t>
            </a:r>
            <a:r>
              <a:rPr lang="ko-KR" altLang="en-US" sz="1600" b="1" dirty="0">
                <a:solidFill>
                  <a:srgbClr val="0070C0"/>
                </a:solidFill>
                <a:latin typeface="微软雅黑" panose="020B0503020204020204" pitchFamily="34" charset="-122"/>
              </a:rPr>
              <a:t>概率 </a:t>
            </a:r>
            <a:r>
              <a:rPr lang="en-US" altLang="ko-KR"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norm</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rial" panose="020B0604020202020204" pitchFamily="34" charset="0"/>
              </a:rPr>
              <a:t>cdf</a:t>
            </a:r>
            <a:r>
              <a:rPr lang="en-US" altLang="zh-CN" sz="1600" b="1" dirty="0">
                <a:solidFill>
                  <a:srgbClr val="0070C0"/>
                </a:solidFill>
                <a:latin typeface="微软雅黑" panose="020B0503020204020204" pitchFamily="34" charset="-122"/>
                <a:sym typeface="Arial" panose="020B0604020202020204" pitchFamily="34" charset="0"/>
              </a:rPr>
              <a:t>:</a:t>
            </a:r>
            <a:r>
              <a:rPr lang="zh-CN" altLang="en-US" sz="1400" dirty="0">
                <a:solidFill>
                  <a:srgbClr val="0070C0"/>
                </a:solidFill>
                <a:latin typeface="微软雅黑" panose="020B0503020204020204" pitchFamily="34" charset="-122"/>
                <a:ea typeface="微软雅黑" panose="020B0503020204020204" pitchFamily="34" charset="-122"/>
                <a:sym typeface="+mn-ea"/>
              </a:rPr>
              <a:t>求</a:t>
            </a:r>
            <a:r>
              <a:rPr lang="zh-CN" altLang="en-US" sz="1400" dirty="0">
                <a:solidFill>
                  <a:srgbClr val="0070C0"/>
                </a:solidFill>
                <a:latin typeface="微软雅黑" panose="020B0503020204020204" pitchFamily="34" charset="-122"/>
                <a:ea typeface="微软雅黑" panose="020B0503020204020204" pitchFamily="34" charset="-122"/>
              </a:rPr>
              <a:t>随机变量不大于</a:t>
            </a:r>
            <a:r>
              <a:rPr lang="en-US" altLang="ko-KR" sz="1400" dirty="0">
                <a:solidFill>
                  <a:srgbClr val="0070C0"/>
                </a:solidFill>
                <a:latin typeface="微软雅黑" panose="020B0503020204020204" pitchFamily="34" charset="-122"/>
                <a:ea typeface="微软雅黑" panose="020B0503020204020204" pitchFamily="34" charset="-122"/>
              </a:rPr>
              <a:t>x</a:t>
            </a:r>
            <a:r>
              <a:rPr lang="zh-CN" altLang="en-US" sz="1400" dirty="0">
                <a:solidFill>
                  <a:srgbClr val="0070C0"/>
                </a:solidFill>
                <a:latin typeface="微软雅黑" panose="020B0503020204020204" pitchFamily="34" charset="-122"/>
                <a:ea typeface="微软雅黑" panose="020B0503020204020204" pitchFamily="34" charset="-122"/>
              </a:rPr>
              <a:t>的总概率</a:t>
            </a:r>
            <a:r>
              <a:rPr lang="en-US" altLang="zh-CN" sz="1400" dirty="0">
                <a:solidFill>
                  <a:srgbClr val="0070C0"/>
                </a:solidFill>
                <a:latin typeface="微软雅黑" panose="020B0503020204020204" pitchFamily="34" charset="-122"/>
                <a:ea typeface="微软雅黑" panose="020B0503020204020204" pitchFamily="34" charset="-122"/>
              </a:rPr>
              <a:t>Np</a:t>
            </a:r>
          </a:p>
          <a:p>
            <a:pPr marL="285750" indent="-285750" algn="just" defTabSz="0">
              <a:spcBef>
                <a:spcPct val="20000"/>
              </a:spcBef>
              <a:buFont typeface="Wingdings" panose="05000000000000000000" pitchFamily="2" charset="2"/>
              <a:buChar char="p"/>
            </a:pPr>
            <a:r>
              <a:rPr lang="zh-CN" altLang="zh-CN"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逆累积分布函数</a:t>
            </a:r>
            <a:r>
              <a:rPr lang="en-US" altLang="zh-CN" sz="1600" dirty="0" err="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rial" panose="020B0604020202020204" pitchFamily="34" charset="0"/>
              </a:rPr>
              <a:t>norminv</a:t>
            </a:r>
            <a:r>
              <a:rPr lang="en-US" altLang="zh-CN" sz="1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1400" dirty="0">
                <a:solidFill>
                  <a:srgbClr val="0070C0"/>
                </a:solidFill>
                <a:latin typeface="微软雅黑" panose="020B0503020204020204" pitchFamily="34" charset="-122"/>
                <a:ea typeface="微软雅黑" panose="020B0503020204020204" pitchFamily="34" charset="-122"/>
                <a:sym typeface="+mn-ea"/>
              </a:rPr>
              <a:t>求</a:t>
            </a:r>
            <a:r>
              <a:rPr lang="zh-CN" altLang="zh-CN"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累积</a:t>
            </a:r>
            <a:r>
              <a:rPr lang="zh-CN" altLang="en-US"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概率</a:t>
            </a:r>
            <a:r>
              <a:rPr lang="zh-CN" altLang="zh-CN"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函数</a:t>
            </a:r>
            <a:r>
              <a:rPr lang="en-US" altLang="zh-CN" sz="1400" dirty="0" err="1">
                <a:solidFill>
                  <a:srgbClr val="0070C0"/>
                </a:solidFill>
                <a:latin typeface="微软雅黑" panose="020B0503020204020204" pitchFamily="34" charset="-122"/>
                <a:ea typeface="微软雅黑" panose="020B0503020204020204" pitchFamily="34" charset="-122"/>
                <a:sym typeface="Arial" panose="020B0604020202020204" pitchFamily="34" charset="0"/>
              </a:rPr>
              <a:t>cdf</a:t>
            </a:r>
            <a:r>
              <a:rPr lang="zh-CN" altLang="en-US"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的逆函数</a:t>
            </a:r>
            <a:endParaRPr lang="zh-CN" altLang="zh-CN" sz="1400" dirty="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a:extLst>
              <a:ext uri="{FF2B5EF4-FFF2-40B4-BE49-F238E27FC236}">
                <a16:creationId xmlns:a16="http://schemas.microsoft.com/office/drawing/2014/main" id="{280B3A89-822E-4FE3-9CC5-F4A53AFCADF1}"/>
              </a:ext>
            </a:extLst>
          </p:cNvPr>
          <p:cNvSpPr/>
          <p:nvPr/>
        </p:nvSpPr>
        <p:spPr>
          <a:xfrm>
            <a:off x="5035601" y="1275606"/>
            <a:ext cx="4009701" cy="861774"/>
          </a:xfrm>
          <a:prstGeom prst="rect">
            <a:avLst/>
          </a:prstGeom>
          <a:solidFill>
            <a:srgbClr val="0070C0"/>
          </a:solidFill>
          <a:ln w="28575" cap="flat" cmpd="sng">
            <a:solidFill>
              <a:srgbClr val="FFFF00">
                <a:alpha val="100000"/>
              </a:srgbClr>
            </a:solidFill>
            <a:prstDash val="solid"/>
          </a:ln>
          <a:effectLst>
            <a:outerShdw blurRad="149987" dist="250190" dir="8460000" algn="ctr">
              <a:srgbClr val="000000">
                <a:alpha val="27843"/>
              </a:srgbClr>
            </a:outerShdw>
          </a:effectLst>
          <a:scene3d>
            <a:camera prst="orthographicFront"/>
            <a:lightRig rig="contrasting" dir="t">
              <a:rot lat="0" lon="0" rev="1500000"/>
            </a:lightRig>
          </a:scene3d>
          <a:sp3d prstMaterial="metal">
            <a:bevelT w="88900" h="88900"/>
          </a:sp3d>
        </p:spPr>
        <p:txBody>
          <a:bodyPr vert="horz" wrap="square" lIns="121920" tIns="60960" rIns="121920" bIns="60960" numCol="1" anchor="t">
            <a:spAutoFit/>
          </a:bodyPr>
          <a:lstStyle/>
          <a:p>
            <a:pPr defTabSz="1219200" eaLnBrk="0" hangingPunct="0">
              <a:spcBef>
                <a:spcPts val="0"/>
              </a:spcBef>
              <a:spcAft>
                <a:spcPts val="0"/>
              </a:spcAft>
            </a:pP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P=</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normpdf</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x,mu,sigma</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a:t>
            </a:r>
          </a:p>
          <a:p>
            <a:pPr defTabSz="1219200" eaLnBrk="0" hangingPunct="0">
              <a:spcBef>
                <a:spcPts val="0"/>
              </a:spcBef>
              <a:spcAft>
                <a:spcPts val="0"/>
              </a:spcAft>
            </a:pP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Np=</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normcdf</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x,mu,sigma</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 </a:t>
            </a:r>
            <a:endParaRPr lang="zh-CN"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a:p>
            <a:pPr defTabSz="1219200" eaLnBrk="0" hangingPunct="0">
              <a:spcBef>
                <a:spcPts val="0"/>
              </a:spcBef>
              <a:spcAft>
                <a:spcPts val="0"/>
              </a:spcAft>
            </a:pP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X=</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norminv</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(Np, </a:t>
            </a:r>
            <a:r>
              <a:rPr lang="en-US" altLang="zh-CN" sz="1600" b="1" dirty="0" err="1">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mu,sigma</a:t>
            </a:r>
            <a:r>
              <a:rPr lang="en-US"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rPr>
              <a:t>) </a:t>
            </a:r>
            <a:endParaRPr lang="zh-CN" altLang="zh-CN" sz="1600" b="1" dirty="0">
              <a:solidFill>
                <a:srgbClr val="FFFF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28" name="Rectangle 3">
            <a:extLst>
              <a:ext uri="{FF2B5EF4-FFF2-40B4-BE49-F238E27FC236}">
                <a16:creationId xmlns:a16="http://schemas.microsoft.com/office/drawing/2014/main" id="{E07C7CC1-6882-47F7-901F-2FC6E57E57B9}"/>
              </a:ext>
            </a:extLst>
          </p:cNvPr>
          <p:cNvSpPr>
            <a:spLocks noChangeArrowheads="1"/>
          </p:cNvSpPr>
          <p:nvPr/>
        </p:nvSpPr>
        <p:spPr bwMode="auto">
          <a:xfrm>
            <a:off x="7437814" y="1408199"/>
            <a:ext cx="1736096" cy="669414"/>
          </a:xfrm>
          <a:prstGeom prst="rect">
            <a:avLst/>
          </a:prstGeom>
          <a:noFill/>
        </p:spPr>
        <p:txBody>
          <a:bodyPr wrap="square" rtlCol="0">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ts val="1500"/>
              </a:lnSpc>
              <a:spcBef>
                <a:spcPts val="0"/>
              </a:spcBef>
              <a:buNone/>
            </a:pPr>
            <a:r>
              <a:rPr lang="en-US" altLang="ko-KR" sz="1600" dirty="0">
                <a:solidFill>
                  <a:schemeClr val="bg1"/>
                </a:solidFill>
                <a:latin typeface="隶书" panose="02010509060101010101" pitchFamily="49" charset="-122"/>
                <a:ea typeface="隶书" panose="02010509060101010101" pitchFamily="49" charset="-122"/>
              </a:rPr>
              <a:t>x</a:t>
            </a:r>
            <a:r>
              <a:rPr lang="zh-CN" altLang="en-US" sz="1600" dirty="0">
                <a:solidFill>
                  <a:schemeClr val="bg1"/>
                </a:solidFill>
                <a:latin typeface="隶书" panose="02010509060101010101" pitchFamily="49" charset="-122"/>
                <a:ea typeface="隶书" panose="02010509060101010101" pitchFamily="49" charset="-122"/>
              </a:rPr>
              <a:t>为随机变量</a:t>
            </a:r>
            <a:r>
              <a:rPr lang="en-US" altLang="zh-CN" sz="1600" dirty="0">
                <a:solidFill>
                  <a:schemeClr val="bg1"/>
                </a:solidFill>
                <a:latin typeface="隶书" panose="02010509060101010101" pitchFamily="49" charset="-122"/>
                <a:ea typeface="隶书" panose="02010509060101010101" pitchFamily="49" charset="-122"/>
              </a:rPr>
              <a:t>;</a:t>
            </a:r>
          </a:p>
          <a:p>
            <a:pPr marL="0" indent="0">
              <a:lnSpc>
                <a:spcPts val="1500"/>
              </a:lnSpc>
              <a:spcBef>
                <a:spcPts val="0"/>
              </a:spcBef>
              <a:buNone/>
            </a:pPr>
            <a:r>
              <a:rPr lang="en-US" altLang="ko-KR" sz="1600" dirty="0">
                <a:solidFill>
                  <a:schemeClr val="bg1"/>
                </a:solidFill>
                <a:latin typeface="隶书" panose="02010509060101010101" pitchFamily="49" charset="-122"/>
                <a:ea typeface="隶书" panose="02010509060101010101" pitchFamily="49" charset="-122"/>
              </a:rPr>
              <a:t>mu</a:t>
            </a:r>
            <a:r>
              <a:rPr lang="zh-CN" altLang="en-US" sz="1600" dirty="0">
                <a:solidFill>
                  <a:schemeClr val="bg1"/>
                </a:solidFill>
                <a:latin typeface="隶书" panose="02010509060101010101" pitchFamily="49" charset="-122"/>
                <a:ea typeface="隶书" panose="02010509060101010101" pitchFamily="49" charset="-122"/>
              </a:rPr>
              <a:t>为期望值</a:t>
            </a:r>
            <a:r>
              <a:rPr lang="ko-KR" altLang="en-US" sz="1600" dirty="0">
                <a:solidFill>
                  <a:schemeClr val="bg1"/>
                </a:solidFill>
                <a:latin typeface="隶书" panose="02010509060101010101" pitchFamily="49" charset="-122"/>
                <a:sym typeface="+mn-ea"/>
              </a:rPr>
              <a:t>μ</a:t>
            </a:r>
            <a:r>
              <a:rPr lang="en-US" altLang="ko-KR" sz="1600" dirty="0">
                <a:solidFill>
                  <a:schemeClr val="bg1"/>
                </a:solidFill>
                <a:latin typeface="隶书" panose="02010509060101010101" pitchFamily="49" charset="-122"/>
                <a:ea typeface="隶书" panose="02010509060101010101" pitchFamily="49" charset="-122"/>
                <a:sym typeface="+mn-ea"/>
              </a:rPr>
              <a:t>;</a:t>
            </a:r>
          </a:p>
          <a:p>
            <a:pPr marL="0" indent="0">
              <a:lnSpc>
                <a:spcPts val="1500"/>
              </a:lnSpc>
              <a:spcBef>
                <a:spcPts val="0"/>
              </a:spcBef>
              <a:buNone/>
            </a:pPr>
            <a:r>
              <a:rPr lang="en-US" altLang="ko-KR" sz="1600" dirty="0">
                <a:solidFill>
                  <a:schemeClr val="bg1"/>
                </a:solidFill>
                <a:latin typeface="隶书" panose="02010509060101010101" pitchFamily="49" charset="-122"/>
                <a:ea typeface="隶书" panose="02010509060101010101" pitchFamily="49" charset="-122"/>
              </a:rPr>
              <a:t>sigma</a:t>
            </a:r>
            <a:r>
              <a:rPr lang="zh-CN" altLang="en-US" sz="1600" dirty="0">
                <a:solidFill>
                  <a:schemeClr val="bg1"/>
                </a:solidFill>
                <a:latin typeface="隶书" panose="02010509060101010101" pitchFamily="49" charset="-122"/>
                <a:ea typeface="隶书" panose="02010509060101010101" pitchFamily="49" charset="-122"/>
              </a:rPr>
              <a:t>为标准方差</a:t>
            </a:r>
            <a:r>
              <a:rPr lang="ko-KR" altLang="en-US" sz="1600" dirty="0">
                <a:solidFill>
                  <a:schemeClr val="bg1"/>
                </a:solidFill>
                <a:latin typeface="隶书" panose="02010509060101010101" pitchFamily="49" charset="-122"/>
                <a:sym typeface="+mn-ea"/>
              </a:rPr>
              <a:t> </a:t>
            </a:r>
            <a:endParaRPr lang="en-US" altLang="ko-KR" sz="1600" dirty="0">
              <a:solidFill>
                <a:schemeClr val="bg1"/>
              </a:solidFill>
              <a:latin typeface="隶书" panose="02010509060101010101" pitchFamily="49" charset="-122"/>
              <a:ea typeface="隶书" panose="02010509060101010101" pitchFamily="49" charset="-122"/>
              <a:sym typeface="+mn-ea"/>
            </a:endParaRPr>
          </a:p>
        </p:txBody>
      </p:sp>
      <p:sp>
        <p:nvSpPr>
          <p:cNvPr id="30" name="波形 29">
            <a:extLst>
              <a:ext uri="{FF2B5EF4-FFF2-40B4-BE49-F238E27FC236}">
                <a16:creationId xmlns:a16="http://schemas.microsoft.com/office/drawing/2014/main" id="{B28DDF3A-2EAC-4905-8C89-82B1C67CF882}"/>
              </a:ext>
            </a:extLst>
          </p:cNvPr>
          <p:cNvSpPr/>
          <p:nvPr/>
        </p:nvSpPr>
        <p:spPr>
          <a:xfrm>
            <a:off x="7154059" y="243371"/>
            <a:ext cx="1810429"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概率统计案例</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458390C0-5DD0-45AD-BAB3-C28DF5277A7E}"/>
              </a:ext>
            </a:extLst>
          </p:cNvPr>
          <p:cNvSpPr/>
          <p:nvPr/>
        </p:nvSpPr>
        <p:spPr>
          <a:xfrm>
            <a:off x="2517675" y="202054"/>
            <a:ext cx="4770881" cy="584775"/>
          </a:xfrm>
          <a:prstGeom prst="rect">
            <a:avLst/>
          </a:prstGeom>
          <a:noFill/>
        </p:spPr>
        <p:txBody>
          <a:bodyPr/>
          <a:lstStyle/>
          <a:p>
            <a:pPr eaLnBrk="0" hangingPunct="0"/>
            <a:r>
              <a:rPr lang="en-US" altLang="zh-CN" sz="2000" b="1" kern="0" dirty="0">
                <a:solidFill>
                  <a:srgbClr val="0070C0"/>
                </a:solidFill>
                <a:latin typeface="微软雅黑" panose="020B0503020204020204" pitchFamily="34" charset="-122"/>
                <a:ea typeface="微软雅黑" panose="020B0503020204020204" pitchFamily="34" charset="-122"/>
                <a:cs typeface="+mj-cs"/>
              </a:rPr>
              <a:t>3</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、股票收盘价数据的概率统计分析案例</a:t>
            </a:r>
            <a:endParaRPr lang="en-US" altLang="zh-CN" sz="2000" b="1" kern="0" dirty="0">
              <a:solidFill>
                <a:srgbClr val="0070C0"/>
              </a:solidFill>
              <a:latin typeface="微软雅黑" panose="020B0503020204020204" pitchFamily="34" charset="-122"/>
              <a:ea typeface="微软雅黑" panose="020B0503020204020204" pitchFamily="34" charset="-122"/>
              <a:cs typeface="+mj-cs"/>
            </a:endParaRPr>
          </a:p>
        </p:txBody>
      </p:sp>
      <p:sp>
        <p:nvSpPr>
          <p:cNvPr id="17" name="文本框 16">
            <a:extLst>
              <a:ext uri="{FF2B5EF4-FFF2-40B4-BE49-F238E27FC236}">
                <a16:creationId xmlns:a16="http://schemas.microsoft.com/office/drawing/2014/main" id="{61E9C7A0-DEA5-41EE-A9E3-4C7FAB1BD6C9}"/>
              </a:ext>
            </a:extLst>
          </p:cNvPr>
          <p:cNvSpPr txBox="1"/>
          <p:nvPr/>
        </p:nvSpPr>
        <p:spPr>
          <a:xfrm>
            <a:off x="326200" y="84074"/>
            <a:ext cx="2304255" cy="501932"/>
          </a:xfrm>
          <a:prstGeom prst="rect">
            <a:avLst/>
          </a:prstGeom>
          <a:solidFill>
            <a:schemeClr val="bg1"/>
          </a:solidFill>
        </p:spPr>
        <p:txBody>
          <a:bodyPr wrap="square">
            <a:spAutoFit/>
          </a:bodyPr>
          <a:lstStyle>
            <a:defPPr>
              <a:defRPr lang="zh-CN"/>
            </a:defPPr>
            <a:lvl1pPr algn="just">
              <a:lnSpc>
                <a:spcPct val="150000"/>
              </a:lnSpc>
              <a:defRPr sz="2000" b="1" kern="1800">
                <a:solidFill>
                  <a:schemeClr val="bg1"/>
                </a:solidFill>
                <a:highlight>
                  <a:srgbClr val="003B76"/>
                </a:highlight>
                <a:latin typeface="等线" panose="02010600030101010101" pitchFamily="2" charset="-122"/>
                <a:ea typeface="黑体" panose="02010609060101010101" pitchFamily="49" charset="-122"/>
              </a:defRPr>
            </a:lvl1pPr>
          </a:lstStyle>
          <a:p>
            <a:r>
              <a:rPr lang="zh-CN" altLang="en-US" dirty="0"/>
              <a:t>概率理论及其案例</a:t>
            </a:r>
            <a:endParaRPr lang="zh-CN" altLang="zh-CN" dirty="0"/>
          </a:p>
        </p:txBody>
      </p:sp>
    </p:spTree>
    <p:extLst>
      <p:ext uri="{BB962C8B-B14F-4D97-AF65-F5344CB8AC3E}">
        <p14:creationId xmlns:p14="http://schemas.microsoft.com/office/powerpoint/2010/main" val="3147339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4DBE28B-0035-494F-A92E-05E77F532D5F}"/>
              </a:ext>
            </a:extLst>
          </p:cNvPr>
          <p:cNvSpPr txBox="1"/>
          <p:nvPr/>
        </p:nvSpPr>
        <p:spPr>
          <a:xfrm>
            <a:off x="54395" y="52602"/>
            <a:ext cx="7941991" cy="542906"/>
          </a:xfrm>
          <a:prstGeom prst="rect">
            <a:avLst/>
          </a:prstGeom>
          <a:solidFill>
            <a:schemeClr val="bg1"/>
          </a:solidFill>
        </p:spPr>
        <p:txBody>
          <a:bodyPr wrap="square">
            <a:spAutoFit/>
          </a:bodyPr>
          <a:lstStyle/>
          <a:p>
            <a:pPr algn="just">
              <a:lnSpc>
                <a:spcPct val="150000"/>
              </a:lnSpc>
            </a:pPr>
            <a:r>
              <a:rPr lang="zh-CN" altLang="zh-CN" sz="22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三、上机实验内容</a:t>
            </a:r>
            <a:r>
              <a:rPr lang="en-US" altLang="zh-CN" sz="22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kumimoji="0" lang="en-US" altLang="zh-CN" sz="22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宋体" panose="02010600030101010101" pitchFamily="2" charset="-122"/>
              </a:rPr>
              <a:t>1</a:t>
            </a:r>
            <a:r>
              <a:rPr kumimoji="0" lang="zh-CN" altLang="en-US" sz="22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宋体" panose="02010600030101010101" pitchFamily="2" charset="-122"/>
              </a:rPr>
              <a:t>、三维绘图</a:t>
            </a:r>
            <a:r>
              <a:rPr kumimoji="0" lang="en-US" altLang="zh-CN" sz="22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宋体" panose="02010600030101010101" pitchFamily="2" charset="-122"/>
              </a:rPr>
              <a:t>-</a:t>
            </a:r>
            <a:r>
              <a:rPr kumimoji="0" lang="en-US" altLang="zh-CN" sz="2200" b="1" i="0" u="none" strike="noStrike" cap="none" normalizeH="0" baseline="0" dirty="0">
                <a:ln>
                  <a:noFill/>
                </a:ln>
                <a:solidFill>
                  <a:srgbClr val="002060"/>
                </a:solidFill>
                <a:effectLst/>
                <a:latin typeface="等线" panose="02010600030101010101" pitchFamily="2" charset="-122"/>
                <a:ea typeface="PingFang SC"/>
                <a:cs typeface="Arial" panose="020B0604020202020204" pitchFamily="34" charset="0"/>
              </a:rPr>
              <a:t>‌</a:t>
            </a:r>
            <a:r>
              <a:rPr kumimoji="0" lang="zh-CN" altLang="en-US" sz="22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宋体" panose="02010600030101010101" pitchFamily="2" charset="-122"/>
              </a:rPr>
              <a:t>杨氏双缝干涉</a:t>
            </a:r>
            <a:endParaRPr lang="zh-CN" altLang="zh-CN" sz="2200" dirty="0">
              <a:solidFill>
                <a:srgbClr val="002060"/>
              </a:solidFill>
              <a:latin typeface="华文细黑" pitchFamily="2" charset="-122"/>
              <a:ea typeface="华文细黑" pitchFamily="2" charset="-122"/>
            </a:endParaRPr>
          </a:p>
        </p:txBody>
      </p:sp>
      <p:sp>
        <p:nvSpPr>
          <p:cNvPr id="5" name="Rectangle 4">
            <a:extLst>
              <a:ext uri="{FF2B5EF4-FFF2-40B4-BE49-F238E27FC236}">
                <a16:creationId xmlns:a16="http://schemas.microsoft.com/office/drawing/2014/main" id="{1BBB5198-9946-4143-B90B-5CD713974399}"/>
              </a:ext>
            </a:extLst>
          </p:cNvPr>
          <p:cNvSpPr>
            <a:spLocks noChangeArrowheads="1"/>
          </p:cNvSpPr>
          <p:nvPr/>
        </p:nvSpPr>
        <p:spPr bwMode="auto">
          <a:xfrm>
            <a:off x="755576" y="867103"/>
            <a:ext cx="74888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9" name="Rectangle 6">
            <a:extLst>
              <a:ext uri="{FF2B5EF4-FFF2-40B4-BE49-F238E27FC236}">
                <a16:creationId xmlns:a16="http://schemas.microsoft.com/office/drawing/2014/main" id="{D4ED4748-0B60-4909-9D2E-60F074C755D6}"/>
              </a:ext>
            </a:extLst>
          </p:cNvPr>
          <p:cNvSpPr>
            <a:spLocks noChangeArrowheads="1"/>
          </p:cNvSpPr>
          <p:nvPr/>
        </p:nvSpPr>
        <p:spPr bwMode="auto">
          <a:xfrm>
            <a:off x="138543" y="727002"/>
            <a:ext cx="5683351"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zh-CN" altLang="en-US"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光强公式</a:t>
            </a:r>
            <a:r>
              <a:rPr kumimoji="0" lang="zh-CN" altLang="en-US" sz="1600" b="0" i="0" u="none" strike="noStrike" cap="none" normalizeH="0" baseline="0" dirty="0">
                <a:ln>
                  <a:noFill/>
                </a:ln>
                <a:solidFill>
                  <a:srgbClr val="000000"/>
                </a:solidFill>
                <a:effectLst/>
                <a:latin typeface="Times New Roman" panose="02020603050405020304" pitchFamily="18" charset="0"/>
                <a:ea typeface="PingFang SC"/>
                <a:cs typeface="Times New Roman" panose="02020603050405020304" pitchFamily="18" charset="0"/>
              </a:rPr>
              <a:t>‌</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I=4 I</a:t>
            </a:r>
            <a:r>
              <a:rPr kumimoji="0" lang="en-US" altLang="zh-CN" sz="16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*cos</a:t>
            </a:r>
            <a:r>
              <a:rPr kumimoji="0" lang="en-US" altLang="zh-CN" sz="1600" b="0"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1600" b="0" i="0" u="none" strike="noStrike" cap="none" normalizeH="0" baseline="0" dirty="0">
                <a:ln>
                  <a:noFill/>
                </a:ln>
                <a:solidFill>
                  <a:srgbClr val="000000"/>
                </a:solidFill>
                <a:effectLst/>
                <a:latin typeface="Times New Roman" panose="02020603050405020304" pitchFamily="18" charset="0"/>
                <a:ea typeface="KaTeX_Size3"/>
                <a:cs typeface="Times New Roman" panose="02020603050405020304" pitchFamily="18" charset="0"/>
              </a:rPr>
              <a:t>(</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π</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r</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r</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λ</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a:ln>
                  <a:noFill/>
                </a:ln>
                <a:solidFill>
                  <a:srgbClr val="000000"/>
                </a:solidFill>
                <a:effectLst/>
                <a:latin typeface="Times New Roman" panose="02020603050405020304" pitchFamily="18" charset="0"/>
                <a:ea typeface="KaTeX_Size3"/>
                <a:cs typeface="Times New Roman" panose="02020603050405020304" pitchFamily="18" charset="0"/>
              </a:rPr>
              <a:t>)       </a:t>
            </a:r>
            <a:r>
              <a:rPr lang="en-US" altLang="zh-CN" sz="1600" b="1" kern="0" dirty="0">
                <a:solidFill>
                  <a:srgbClr val="FF0000"/>
                </a:solidFill>
                <a:latin typeface="宋体" panose="02010600030101010101" pitchFamily="2" charset="-122"/>
                <a:ea typeface="等线" panose="02010600030101010101" pitchFamily="2" charset="-122"/>
                <a:cs typeface="宋体" panose="02010600030101010101" pitchFamily="2" charset="-122"/>
              </a:rPr>
              <a:t>x</a:t>
            </a:r>
            <a:r>
              <a:rPr lang="zh-CN" altLang="zh-CN" sz="1600" b="1" kern="0" dirty="0">
                <a:solidFill>
                  <a:srgbClr val="FF0000"/>
                </a:solidFill>
                <a:latin typeface="等线" panose="02010600030101010101" pitchFamily="2" charset="-122"/>
                <a:ea typeface="宋体" panose="02010600030101010101" pitchFamily="2" charset="-122"/>
                <a:cs typeface="宋体" panose="02010600030101010101" pitchFamily="2" charset="-122"/>
              </a:rPr>
              <a:t>和</a:t>
            </a:r>
            <a:r>
              <a:rPr lang="en-US" altLang="zh-CN" sz="1600" b="1" kern="0" dirty="0">
                <a:solidFill>
                  <a:srgbClr val="FF0000"/>
                </a:solidFill>
                <a:latin typeface="等线" panose="02010600030101010101" pitchFamily="2" charset="-122"/>
                <a:ea typeface="宋体" panose="02010600030101010101" pitchFamily="2" charset="-122"/>
                <a:cs typeface="宋体" panose="02010600030101010101" pitchFamily="2" charset="-122"/>
              </a:rPr>
              <a:t>y</a:t>
            </a:r>
            <a:r>
              <a:rPr lang="zh-CN" altLang="en-US" sz="1600" b="1" kern="0" dirty="0">
                <a:solidFill>
                  <a:srgbClr val="FF0000"/>
                </a:solidFill>
                <a:latin typeface="等线" panose="02010600030101010101" pitchFamily="2" charset="-122"/>
                <a:ea typeface="宋体" panose="02010600030101010101" pitchFamily="2" charset="-122"/>
                <a:cs typeface="宋体" panose="02010600030101010101" pitchFamily="2" charset="-122"/>
              </a:rPr>
              <a:t>∈</a:t>
            </a:r>
            <a:r>
              <a:rPr lang="en-US" altLang="zh-CN" sz="1600" b="1" kern="0" dirty="0">
                <a:solidFill>
                  <a:srgbClr val="FF0000"/>
                </a:solidFill>
                <a:latin typeface="等线" panose="02010600030101010101" pitchFamily="2" charset="-122"/>
                <a:ea typeface="宋体" panose="02010600030101010101" pitchFamily="2" charset="-122"/>
                <a:cs typeface="宋体" panose="02010600030101010101" pitchFamily="2" charset="-122"/>
              </a:rPr>
              <a:t>[-5e-3,5e-3]. </a:t>
            </a:r>
            <a:endParaRPr kumimoji="0" lang="en-US" altLang="zh-CN"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lvl="0"/>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单缝光强</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16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=1;</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入射光波长</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λ=</a:t>
            </a:r>
            <a:r>
              <a:rPr lang="en-US" altLang="zh-CN" sz="1600" kern="0" dirty="0">
                <a:solidFill>
                  <a:srgbClr val="000000"/>
                </a:solidFill>
                <a:latin typeface="宋体" panose="02010600030101010101" pitchFamily="2" charset="-122"/>
                <a:ea typeface="等线" panose="02010600030101010101" pitchFamily="2" charset="-122"/>
                <a:cs typeface="宋体" panose="02010600030101010101" pitchFamily="2" charset="-122"/>
              </a:rPr>
              <a:t>500e-9</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；双缝间距</a:t>
            </a:r>
            <a:r>
              <a:rPr kumimoji="0" lang="zh-CN" altLang="en-US" sz="1600" b="0" i="0" u="none" strike="noStrike" cap="none" normalizeH="0" baseline="0" dirty="0">
                <a:ln>
                  <a:noFill/>
                </a:ln>
                <a:solidFill>
                  <a:srgbClr val="000000"/>
                </a:solidFill>
                <a:effectLst/>
                <a:latin typeface="Times New Roman" panose="02020603050405020304" pitchFamily="18" charset="0"/>
                <a:ea typeface="PingFang SC"/>
                <a:cs typeface="Times New Roman" panose="02020603050405020304" pitchFamily="18" charset="0"/>
              </a:rPr>
              <a:t> </a:t>
            </a:r>
            <a:r>
              <a:rPr kumimoji="0" lang="en-US" altLang="zh-CN" sz="1600" b="0" i="0" u="none" strike="noStrike" cap="none" normalizeH="0" baseline="0" dirty="0">
                <a:ln>
                  <a:noFill/>
                </a:ln>
                <a:solidFill>
                  <a:srgbClr val="000000"/>
                </a:solidFill>
                <a:effectLst/>
                <a:latin typeface="Times New Roman" panose="02020603050405020304" pitchFamily="18" charset="0"/>
                <a:ea typeface="PingFang SC"/>
                <a:cs typeface="Times New Roman" panose="02020603050405020304" pitchFamily="18" charset="0"/>
              </a:rPr>
              <a:t>d</a:t>
            </a:r>
            <a:r>
              <a:rPr lang="en-US" altLang="zh-CN" sz="1600" kern="0" dirty="0">
                <a:solidFill>
                  <a:srgbClr val="000000"/>
                </a:solidFill>
                <a:latin typeface="宋体" panose="02010600030101010101" pitchFamily="2" charset="-122"/>
                <a:ea typeface="等线" panose="02010600030101010101" pitchFamily="2" charset="-122"/>
                <a:cs typeface="宋体" panose="02010600030101010101" pitchFamily="2" charset="-122"/>
              </a:rPr>
              <a:t>=0.2e-3; </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r>
              <a:rPr lang="zh-CN" altLang="zh-CN" sz="1600" kern="0" dirty="0">
                <a:solidFill>
                  <a:srgbClr val="000000"/>
                </a:solidFill>
                <a:effectLst/>
                <a:latin typeface="PingFang SC"/>
                <a:ea typeface="宋体" panose="02010600030101010101" pitchFamily="2" charset="-122"/>
                <a:cs typeface="Arial" panose="020B0604020202020204" pitchFamily="34" charset="0"/>
              </a:rPr>
              <a:t>屏幕距离</a:t>
            </a:r>
            <a:r>
              <a:rPr lang="en-US" altLang="zh-CN" sz="1600" kern="0" dirty="0">
                <a:solidFill>
                  <a:srgbClr val="000000"/>
                </a:solidFill>
                <a:effectLst/>
                <a:latin typeface="PingFang SC"/>
                <a:ea typeface="宋体" panose="02010600030101010101" pitchFamily="2" charset="-122"/>
                <a:cs typeface="Arial" panose="020B0604020202020204" pitchFamily="34" charset="0"/>
              </a:rPr>
              <a:t> </a:t>
            </a:r>
            <a:r>
              <a:rPr lang="en-US" altLang="zh-CN" sz="1600" kern="0" dirty="0">
                <a:solidFill>
                  <a:srgbClr val="000000"/>
                </a:solidFill>
                <a:latin typeface="宋体" panose="02010600030101010101" pitchFamily="2" charset="-122"/>
                <a:ea typeface="等线" panose="02010600030101010101" pitchFamily="2" charset="-122"/>
                <a:cs typeface="宋体" panose="02010600030101010101" pitchFamily="2" charset="-122"/>
              </a:rPr>
              <a:t>r0=1; </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双缝到屏幕点</a:t>
            </a:r>
            <a:r>
              <a:rPr kumimoji="0" lang="en-US" altLang="zh-CN" sz="1600" b="0" i="0" u="none" strike="noStrike" cap="none" normalizeH="0" baseline="0" dirty="0">
                <a:ln>
                  <a:noFill/>
                </a:ln>
                <a:solidFill>
                  <a:srgbClr val="000000"/>
                </a:solidFill>
                <a:effectLst/>
                <a:latin typeface="Times New Roman" panose="02020603050405020304" pitchFamily="18" charset="0"/>
                <a:ea typeface="PingFang SC"/>
                <a:cs typeface="Times New Roman" panose="02020603050405020304" pitchFamily="18" charset="0"/>
              </a:rPr>
              <a:t>P</a:t>
            </a: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的距离</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r</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0" i="1" u="none" strike="noStrike" cap="none" normalizeH="0" baseline="0" dirty="0">
                <a:ln>
                  <a:noFill/>
                </a:ln>
                <a:solidFill>
                  <a:srgbClr val="000000"/>
                </a:solidFill>
                <a:effectLst/>
                <a:latin typeface="Times New Roman" panose="02020603050405020304" pitchFamily="18" charset="0"/>
                <a:ea typeface="KaTeX_Math"/>
                <a:cs typeface="Times New Roman" panose="02020603050405020304" pitchFamily="18" charset="0"/>
              </a:rPr>
              <a:t>r</a:t>
            </a: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zh-CN" sz="16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r1 = sqrt((y - d/2)^2 + r0^2);</a:t>
            </a:r>
            <a:endPar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lvl="0"/>
            <a:r>
              <a:rPr kumimoji="0" lang="en-US"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r2 = sqrt((y + d/2)^2 + r0^2);</a:t>
            </a:r>
            <a:r>
              <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10" name="图片 9">
            <a:extLst>
              <a:ext uri="{FF2B5EF4-FFF2-40B4-BE49-F238E27FC236}">
                <a16:creationId xmlns:a16="http://schemas.microsoft.com/office/drawing/2014/main" id="{70B36AED-580A-4992-A01F-FB8E1FD13E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5778" y="744511"/>
            <a:ext cx="2963364" cy="1507594"/>
          </a:xfrm>
          <a:prstGeom prst="rect">
            <a:avLst/>
          </a:prstGeom>
        </p:spPr>
      </p:pic>
      <p:grpSp>
        <p:nvGrpSpPr>
          <p:cNvPr id="11" name="组合 10">
            <a:extLst>
              <a:ext uri="{FF2B5EF4-FFF2-40B4-BE49-F238E27FC236}">
                <a16:creationId xmlns:a16="http://schemas.microsoft.com/office/drawing/2014/main" id="{9A76FD3E-E53C-431A-B676-FAA50480EDF8}"/>
              </a:ext>
            </a:extLst>
          </p:cNvPr>
          <p:cNvGrpSpPr/>
          <p:nvPr/>
        </p:nvGrpSpPr>
        <p:grpSpPr>
          <a:xfrm>
            <a:off x="5885523" y="2355726"/>
            <a:ext cx="2934949" cy="1507594"/>
            <a:chOff x="5076056" y="934092"/>
            <a:chExt cx="3768352" cy="2091089"/>
          </a:xfrm>
        </p:grpSpPr>
        <p:pic>
          <p:nvPicPr>
            <p:cNvPr id="12" name="图片 11" descr="在双缝干涉中，（1)当发生下列变化时，干涉条纹将如何变化？（a)屏幕移近;（b)缝距变小;（c)波长变长。（2)若用一透明薄片（n＞1)盖住 ...">
              <a:extLst>
                <a:ext uri="{FF2B5EF4-FFF2-40B4-BE49-F238E27FC236}">
                  <a16:creationId xmlns:a16="http://schemas.microsoft.com/office/drawing/2014/main" id="{97BE5053-FBA8-48A7-82C2-228BCA70602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076056" y="934092"/>
              <a:ext cx="3768352" cy="2091089"/>
            </a:xfrm>
            <a:prstGeom prst="rect">
              <a:avLst/>
            </a:prstGeom>
            <a:noFill/>
            <a:ln>
              <a:noFill/>
            </a:ln>
          </p:spPr>
        </p:pic>
        <p:sp>
          <p:nvSpPr>
            <p:cNvPr id="13" name="文本框 12">
              <a:extLst>
                <a:ext uri="{FF2B5EF4-FFF2-40B4-BE49-F238E27FC236}">
                  <a16:creationId xmlns:a16="http://schemas.microsoft.com/office/drawing/2014/main" id="{81D785E7-B2D1-40EA-B9BE-0182CD02B5C4}"/>
                </a:ext>
              </a:extLst>
            </p:cNvPr>
            <p:cNvSpPr txBox="1"/>
            <p:nvPr/>
          </p:nvSpPr>
          <p:spPr>
            <a:xfrm>
              <a:off x="6012160" y="2023393"/>
              <a:ext cx="360040" cy="369332"/>
            </a:xfrm>
            <a:prstGeom prst="rect">
              <a:avLst/>
            </a:prstGeom>
            <a:noFill/>
          </p:spPr>
          <p:txBody>
            <a:bodyPr wrap="square">
              <a:spAutoFit/>
            </a:bodyPr>
            <a:lstStyle/>
            <a:p>
              <a:r>
                <a:rPr lang="en-US" altLang="zh-CN" sz="1800" b="1" kern="100" dirty="0">
                  <a:solidFill>
                    <a:srgbClr val="FF0000"/>
                  </a:solidFill>
                  <a:effectLst/>
                  <a:latin typeface="Calibri" panose="020F0502020204030204" pitchFamily="34" charset="0"/>
                  <a:ea typeface="微软雅黑" panose="020B0503020204020204" pitchFamily="34" charset="-122"/>
                  <a:cs typeface="Times New Roman" panose="02020603050405020304" pitchFamily="18" charset="0"/>
                </a:rPr>
                <a:t>d</a:t>
              </a:r>
              <a:endParaRPr lang="zh-CN" altLang="en-US" dirty="0">
                <a:solidFill>
                  <a:srgbClr val="FF0000"/>
                </a:solidFill>
              </a:endParaRPr>
            </a:p>
          </p:txBody>
        </p:sp>
      </p:grpSp>
      <p:sp>
        <p:nvSpPr>
          <p:cNvPr id="20" name="文本框 19">
            <a:extLst>
              <a:ext uri="{FF2B5EF4-FFF2-40B4-BE49-F238E27FC236}">
                <a16:creationId xmlns:a16="http://schemas.microsoft.com/office/drawing/2014/main" id="{CD9FA395-5AA2-4DB3-8E40-1AC81BCCCB37}"/>
              </a:ext>
            </a:extLst>
          </p:cNvPr>
          <p:cNvSpPr txBox="1"/>
          <p:nvPr/>
        </p:nvSpPr>
        <p:spPr>
          <a:xfrm>
            <a:off x="33496" y="2050725"/>
            <a:ext cx="8642960" cy="2528256"/>
          </a:xfrm>
          <a:prstGeom prst="rect">
            <a:avLst/>
          </a:prstGeom>
          <a:noFill/>
        </p:spPr>
        <p:txBody>
          <a:bodyPr wrap="square">
            <a:spAutoFit/>
          </a:bodyPr>
          <a:lstStyle/>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用冒号法建立</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y</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向量，其步长为</a:t>
            </a:r>
            <a:r>
              <a:rPr lang="en-US" altLang="zh-CN" sz="1600" kern="0" dirty="0">
                <a:solidFill>
                  <a:srgbClr val="000000"/>
                </a:solidFill>
                <a:effectLst/>
                <a:latin typeface="宋体" panose="02010600030101010101" pitchFamily="2" charset="-122"/>
                <a:ea typeface="等线" panose="02010600030101010101" pitchFamily="2" charset="-122"/>
                <a:cs typeface="宋体" panose="02010600030101010101" pitchFamily="2" charset="-122"/>
              </a:rPr>
              <a:t>1e-5</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然后用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meshgrid2</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生成</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y</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网格矩阵；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然后根据光强公式计算</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I</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函数表达式，用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计算出网格矩阵；</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subplot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建立</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3</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个子图</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第一个子图</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mesh</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绘制网格图，用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axis</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的</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off</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模式关闭坐标轴</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第二个子图</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surf</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绘制句柄为</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曲面图，再用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shading</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的</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flat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模式对</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曲面图着色，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第三个子图</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contour</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绘制句柄为</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c</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二维等高线</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 </a:t>
            </a:r>
            <a:r>
              <a:rPr lang="en-US" altLang="zh-CN" sz="1600" b="1" kern="0" dirty="0">
                <a:solidFill>
                  <a:srgbClr val="FF0000"/>
                </a:solidFill>
                <a:effectLst/>
                <a:latin typeface="等线" panose="02010600030101010101" pitchFamily="2" charset="-122"/>
                <a:ea typeface="宋体" panose="02010600030101010101" pitchFamily="2" charset="-122"/>
                <a:cs typeface="Arial" panose="020B0604020202020204" pitchFamily="34" charset="0"/>
              </a:rPr>
              <a:t>colormap</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设置高线等颜色为</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gray</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l">
              <a:lnSpc>
                <a:spcPts val="24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tightlayout</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 #</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防止题目和曲线重叠</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3CA5A779-AC29-40DB-BECE-CB2AF61556D6}"/>
              </a:ext>
            </a:extLst>
          </p:cNvPr>
          <p:cNvSpPr txBox="1"/>
          <p:nvPr/>
        </p:nvSpPr>
        <p:spPr>
          <a:xfrm>
            <a:off x="6516216" y="1312801"/>
            <a:ext cx="283571" cy="369332"/>
          </a:xfrm>
          <a:prstGeom prst="rect">
            <a:avLst/>
          </a:prstGeom>
          <a:noFill/>
        </p:spPr>
        <p:txBody>
          <a:bodyPr wrap="square">
            <a:spAutoFit/>
          </a:bodyPr>
          <a:lstStyle/>
          <a:p>
            <a:r>
              <a:rPr lang="en-US" altLang="zh-CN" sz="1800" b="1" kern="0" dirty="0">
                <a:solidFill>
                  <a:srgbClr val="FFFF00"/>
                </a:solidFill>
                <a:effectLst/>
                <a:latin typeface="等线" panose="02010600030101010101" pitchFamily="2" charset="-122"/>
                <a:ea typeface="宋体" panose="02010600030101010101" pitchFamily="2" charset="-122"/>
                <a:cs typeface="Arial" panose="020B0604020202020204" pitchFamily="34" charset="0"/>
              </a:rPr>
              <a:t>d</a:t>
            </a:r>
            <a:endParaRPr lang="zh-CN" altLang="en-US" dirty="0">
              <a:solidFill>
                <a:srgbClr val="FFFF00"/>
              </a:solidFill>
            </a:endParaRPr>
          </a:p>
        </p:txBody>
      </p:sp>
      <p:sp>
        <p:nvSpPr>
          <p:cNvPr id="15" name="矩形 14">
            <a:extLst>
              <a:ext uri="{FF2B5EF4-FFF2-40B4-BE49-F238E27FC236}">
                <a16:creationId xmlns:a16="http://schemas.microsoft.com/office/drawing/2014/main" id="{2B83B278-260A-4901-A66D-EC9C44D5F6DE}"/>
              </a:ext>
            </a:extLst>
          </p:cNvPr>
          <p:cNvSpPr/>
          <p:nvPr/>
        </p:nvSpPr>
        <p:spPr>
          <a:xfrm>
            <a:off x="6745374" y="103482"/>
            <a:ext cx="1869351" cy="2862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zh-CN" altLang="en-US" sz="1400" b="1" dirty="0">
                <a:solidFill>
                  <a:schemeClr val="bg1"/>
                </a:solidFill>
                <a:latin typeface="隶书" panose="02010509060101010101" pitchFamily="49" charset="-122"/>
                <a:ea typeface="隶书" panose="02010509060101010101" pitchFamily="49" charset="-122"/>
                <a:sym typeface="Arial" panose="020B0604020202020204" pitchFamily="34" charset="0"/>
              </a:rPr>
              <a:t>三维绘图函数</a:t>
            </a:r>
            <a:r>
              <a:rPr lang="en-US" altLang="zh-CN" sz="1400" b="1" dirty="0">
                <a:solidFill>
                  <a:schemeClr val="bg1"/>
                </a:solidFill>
                <a:latin typeface="隶书" panose="02010509060101010101" pitchFamily="49" charset="-122"/>
                <a:ea typeface="隶书" panose="02010509060101010101" pitchFamily="49" charset="-122"/>
                <a:sym typeface="Arial" panose="020B0604020202020204" pitchFamily="34" charset="0"/>
              </a:rPr>
              <a:t>(X,Y,Z)</a:t>
            </a:r>
          </a:p>
        </p:txBody>
      </p:sp>
      <p:sp>
        <p:nvSpPr>
          <p:cNvPr id="16" name="文本框 15">
            <a:extLst>
              <a:ext uri="{FF2B5EF4-FFF2-40B4-BE49-F238E27FC236}">
                <a16:creationId xmlns:a16="http://schemas.microsoft.com/office/drawing/2014/main" id="{B3B9D5FC-1070-4BC1-8221-ADECFDBB2F7E}"/>
              </a:ext>
            </a:extLst>
          </p:cNvPr>
          <p:cNvSpPr txBox="1"/>
          <p:nvPr/>
        </p:nvSpPr>
        <p:spPr>
          <a:xfrm>
            <a:off x="6833550" y="353532"/>
            <a:ext cx="1682240" cy="307777"/>
          </a:xfrm>
          <a:prstGeom prst="rect">
            <a:avLst/>
          </a:prstGeom>
          <a:noFill/>
        </p:spPr>
        <p:txBody>
          <a:bodyPr wrap="square">
            <a:spAutoFit/>
          </a:bodyPr>
          <a:lstStyle/>
          <a:p>
            <a:r>
              <a:rPr lang="en-US" altLang="zh-CN" sz="1400" dirty="0">
                <a:solidFill>
                  <a:srgbClr val="000000"/>
                </a:solidFill>
                <a:latin typeface="隶书" panose="02010509060101010101" pitchFamily="49" charset="-122"/>
                <a:ea typeface="隶书" panose="02010509060101010101" pitchFamily="49" charset="-122"/>
              </a:rPr>
              <a:t>x</a:t>
            </a:r>
            <a:r>
              <a:rPr lang="zh-CN" altLang="en-US" sz="1400" dirty="0">
                <a:solidFill>
                  <a:srgbClr val="000000"/>
                </a:solidFill>
                <a:latin typeface="隶书" panose="02010509060101010101" pitchFamily="49" charset="-122"/>
                <a:ea typeface="隶书" panose="02010509060101010101" pitchFamily="49" charset="-122"/>
              </a:rPr>
              <a:t>、</a:t>
            </a:r>
            <a:r>
              <a:rPr lang="en-US" altLang="zh-CN" sz="1400" dirty="0">
                <a:solidFill>
                  <a:srgbClr val="000000"/>
                </a:solidFill>
                <a:latin typeface="隶书" panose="02010509060101010101" pitchFamily="49" charset="-122"/>
                <a:ea typeface="隶书" panose="02010509060101010101" pitchFamily="49" charset="-122"/>
              </a:rPr>
              <a:t>y</a:t>
            </a:r>
            <a:r>
              <a:rPr lang="zh-CN" altLang="en-US" sz="1400" dirty="0">
                <a:solidFill>
                  <a:srgbClr val="000000"/>
                </a:solidFill>
                <a:latin typeface="隶书" panose="02010509060101010101" pitchFamily="49" charset="-122"/>
                <a:ea typeface="隶书" panose="02010509060101010101" pitchFamily="49" charset="-122"/>
              </a:rPr>
              <a:t>和</a:t>
            </a:r>
            <a:r>
              <a:rPr lang="en-US" altLang="zh-CN" sz="1400" dirty="0">
                <a:solidFill>
                  <a:srgbClr val="000000"/>
                </a:solidFill>
                <a:latin typeface="隶书" panose="02010509060101010101" pitchFamily="49" charset="-122"/>
                <a:ea typeface="隶书" panose="02010509060101010101" pitchFamily="49" charset="-122"/>
              </a:rPr>
              <a:t>z</a:t>
            </a:r>
            <a:r>
              <a:rPr lang="zh-CN" altLang="en-US" sz="1400" dirty="0">
                <a:solidFill>
                  <a:srgbClr val="000000"/>
                </a:solidFill>
                <a:latin typeface="隶书" panose="02010509060101010101" pitchFamily="49" charset="-122"/>
                <a:ea typeface="隶书" panose="02010509060101010101" pitchFamily="49" charset="-122"/>
              </a:rPr>
              <a:t>网格矩阵</a:t>
            </a:r>
            <a:endParaRPr lang="en-US" altLang="zh-CN" sz="1400" dirty="0">
              <a:solidFill>
                <a:srgbClr val="000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85918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38DDAFF-FB7E-4EA7-936C-F66C93CF489E}"/>
              </a:ext>
            </a:extLst>
          </p:cNvPr>
          <p:cNvSpPr txBox="1"/>
          <p:nvPr/>
        </p:nvSpPr>
        <p:spPr>
          <a:xfrm>
            <a:off x="214051" y="65411"/>
            <a:ext cx="8678429" cy="583814"/>
          </a:xfrm>
          <a:prstGeom prst="rect">
            <a:avLst/>
          </a:prstGeom>
          <a:solidFill>
            <a:schemeClr val="bg1"/>
          </a:solidFill>
        </p:spPr>
        <p:txBody>
          <a:bodyPr wrap="square">
            <a:spAutoFit/>
          </a:bodyPr>
          <a:lstStyle/>
          <a:p>
            <a:pPr algn="just">
              <a:lnSpc>
                <a:spcPct val="150000"/>
              </a:lnSpc>
            </a:pPr>
            <a:r>
              <a:rPr lang="zh-CN"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三、上机实验内容</a:t>
            </a:r>
            <a:r>
              <a:rPr lang="en-US"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2</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I</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Q</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智商测试分数</a:t>
            </a:r>
            <a:r>
              <a:rPr lang="zh-CN" altLang="zh-CN" sz="2400" b="1" kern="1800" dirty="0">
                <a:solidFill>
                  <a:srgbClr val="002060"/>
                </a:solidFill>
                <a:effectLst/>
                <a:latin typeface="等线" panose="02010600030101010101" pitchFamily="2" charset="-122"/>
                <a:ea typeface="MS Mincho" panose="02020609040205080304" pitchFamily="49" charset="-128"/>
                <a:cs typeface="MS Mincho" panose="02020609040205080304" pitchFamily="49" charset="-128"/>
              </a:rPr>
              <a:t>‌</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的概率统计分析</a:t>
            </a:r>
            <a:endParaRPr lang="zh-CN" altLang="zh-CN" sz="2400" dirty="0">
              <a:solidFill>
                <a:srgbClr val="002060"/>
              </a:solidFill>
              <a:latin typeface="华文细黑" pitchFamily="2" charset="-122"/>
              <a:ea typeface="华文细黑" pitchFamily="2" charset="-122"/>
            </a:endParaRPr>
          </a:p>
        </p:txBody>
      </p:sp>
      <p:sp>
        <p:nvSpPr>
          <p:cNvPr id="6" name="文本框 5">
            <a:extLst>
              <a:ext uri="{FF2B5EF4-FFF2-40B4-BE49-F238E27FC236}">
                <a16:creationId xmlns:a16="http://schemas.microsoft.com/office/drawing/2014/main" id="{B528E924-F6CD-45B2-AFCB-0993BA37F25F}"/>
              </a:ext>
            </a:extLst>
          </p:cNvPr>
          <p:cNvSpPr txBox="1"/>
          <p:nvPr/>
        </p:nvSpPr>
        <p:spPr>
          <a:xfrm>
            <a:off x="107504" y="674375"/>
            <a:ext cx="9036496" cy="3961341"/>
          </a:xfrm>
          <a:prstGeom prst="rect">
            <a:avLst/>
          </a:prstGeom>
          <a:solidFill>
            <a:schemeClr val="bg1"/>
          </a:solidFill>
        </p:spPr>
        <p:txBody>
          <a:bodyPr wrap="square">
            <a:spAutoFit/>
          </a:bodyPr>
          <a:lstStyle/>
          <a:p>
            <a:pPr marL="228600" algn="l">
              <a:lnSpc>
                <a:spcPts val="1900"/>
              </a:lnSpc>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测试了</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100</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个人</a:t>
            </a:r>
            <a:r>
              <a:rPr lang="en-US" altLang="zh-CN" sz="1600" b="1" kern="0" dirty="0">
                <a:solidFill>
                  <a:srgbClr val="000000"/>
                </a:solidFill>
                <a:effectLst/>
                <a:latin typeface="宋体" panose="02010600030101010101" pitchFamily="2" charset="-122"/>
                <a:ea typeface="等线" panose="02010600030101010101" pitchFamily="2" charset="-122"/>
                <a:cs typeface="Times New Roman" panose="02020603050405020304" pitchFamily="18" charset="0"/>
              </a:rPr>
              <a:t>I</a:t>
            </a:r>
            <a:r>
              <a:rPr lang="en-US" altLang="zh-CN" sz="1600" kern="0" dirty="0">
                <a:solidFill>
                  <a:srgbClr val="000000"/>
                </a:solidFill>
                <a:effectLst/>
                <a:latin typeface="宋体" panose="02010600030101010101" pitchFamily="2" charset="-122"/>
                <a:ea typeface="等线" panose="02010600030101010101" pitchFamily="2" charset="-122"/>
                <a:cs typeface="Arial" panose="020B0604020202020204" pitchFamily="34" charset="0"/>
              </a:rPr>
              <a:t>Q</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智商，其值如下：</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algn="l">
              <a:lnSpc>
                <a:spcPts val="1900"/>
              </a:lnSpc>
            </a:pPr>
            <a:r>
              <a:rPr lang="en-US" altLang="zh-CN" sz="1600" kern="0" dirty="0">
                <a:solidFill>
                  <a:srgbClr val="000000"/>
                </a:solidFill>
                <a:effectLst/>
                <a:latin typeface="宋体" panose="02010600030101010101" pitchFamily="2" charset="-122"/>
                <a:ea typeface="等线" panose="02010600030101010101" pitchFamily="2" charset="-122"/>
                <a:cs typeface="Arial" panose="020B0604020202020204" pitchFamily="34" charset="0"/>
              </a:rPr>
              <a:t>xi=[86 95 122 92 76 100 105 116 101 103 123 92 117 114 108 97 98 118 89 86 85 93 112 98 125 91 107 94 60 84 103 96 104 72 101 88 84 82 94 82 123 105 99 90 130 114 88 82 105 97 116 116 112 109 99 67 95 98 98 103 93 82 103 101 111 87 86 123 97 126 115 90 78 70 114 74 113 113 76 76 137 95 109 116 86 85 109 119 125 119 92 113 128 73 102 120 78 79 99 108]</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en-US" altLang="zh-CN" sz="1600" kern="0" dirty="0">
                <a:solidFill>
                  <a:srgbClr val="000000"/>
                </a:solidFill>
                <a:effectLst/>
                <a:latin typeface="宋体" panose="02010600030101010101" pitchFamily="2" charset="-122"/>
                <a:ea typeface="等线" panose="02010600030101010101" pitchFamily="2" charset="-122"/>
                <a:cs typeface="Arial" panose="020B0604020202020204" pitchFamily="34" charset="0"/>
              </a:rPr>
              <a:t>figure</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打开第一个图窗，</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hisfit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IQ</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智商直方图，</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xlabel</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ylabel</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分别标注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轴和</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y</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轴的坐标分别为</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“IQ</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智商</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数量</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en-US" altLang="zh-CN" sz="1600" kern="0" dirty="0">
                <a:solidFill>
                  <a:srgbClr val="000000"/>
                </a:solidFill>
                <a:effectLst/>
                <a:latin typeface="宋体" panose="02010600030101010101" pitchFamily="2" charset="-122"/>
                <a:ea typeface="等线" panose="02010600030101010101" pitchFamily="2" charset="-122"/>
                <a:cs typeface="Arial" panose="020B0604020202020204" pitchFamily="34" charset="0"/>
              </a:rPr>
              <a:t>figure</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打开第</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2</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个图窗，用</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normplot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绘制正态概率图，判断人类智商是不是正态分布</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根据</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100</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人样本数据，用</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TyStatistics.normfit</a:t>
            </a:r>
            <a:r>
              <a:rPr lang="zh-CN" altLang="en-US"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点估计和区间估计</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计算人类</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IQ</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智商的均值</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m</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和标准差</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s</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bounds</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求人工智能</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xi</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最大值</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xmax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和最小值</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xmin</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LinRange</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xmin</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 </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xmax</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生成</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50</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个元素构成的线性等分向量</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xx</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用</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normpdf</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的点运算求线性等分向量</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的概率密度</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lnSpc>
                <a:spcPts val="2100"/>
              </a:lnSpc>
              <a:buFont typeface="+mj-lt"/>
              <a:buAutoNum type="arabicParenR"/>
              <a:tabLst>
                <a:tab pos="457200" algn="l"/>
              </a:tabLst>
            </a:pPr>
            <a:r>
              <a:rPr lang="en-US" altLang="zh-CN" sz="1600" kern="0" dirty="0">
                <a:solidFill>
                  <a:srgbClr val="000000"/>
                </a:solidFill>
                <a:effectLst/>
                <a:latin typeface="宋体" panose="02010600030101010101" pitchFamily="2" charset="-122"/>
                <a:ea typeface="等线" panose="02010600030101010101" pitchFamily="2" charset="-122"/>
                <a:cs typeface="Arial" panose="020B0604020202020204" pitchFamily="34" charset="0"/>
              </a:rPr>
              <a:t>figure</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打开第</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3</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个图窗，</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area</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绘制向量</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的概率密度的面积图，</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xlabel</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和</a:t>
            </a:r>
            <a:r>
              <a:rPr lang="en-US" altLang="zh-CN" sz="1600" kern="0" dirty="0" err="1">
                <a:solidFill>
                  <a:srgbClr val="000000"/>
                </a:solidFill>
                <a:effectLst/>
                <a:latin typeface="等线" panose="02010600030101010101" pitchFamily="2" charset="-122"/>
                <a:ea typeface="宋体" panose="02010600030101010101" pitchFamily="2" charset="-122"/>
                <a:cs typeface="Arial" panose="020B0604020202020204" pitchFamily="34" charset="0"/>
              </a:rPr>
              <a:t>ylabel</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分别标注</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x</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轴和</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y</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轴的坐标分别为“</a:t>
            </a:r>
            <a:r>
              <a:rPr lang="en-US"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IQ</a:t>
            </a:r>
            <a:r>
              <a:rPr lang="zh-CN" altLang="zh-CN" sz="1600" kern="0" dirty="0">
                <a:solidFill>
                  <a:srgbClr val="000000"/>
                </a:solidFill>
                <a:effectLst/>
                <a:latin typeface="等线" panose="02010600030101010101" pitchFamily="2" charset="-122"/>
                <a:ea typeface="宋体" panose="02010600030101010101" pitchFamily="2" charset="-122"/>
                <a:cs typeface="Arial" panose="020B0604020202020204" pitchFamily="34" charset="0"/>
              </a:rPr>
              <a:t>智商”和“概率密度”</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2894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D695B90-C798-C202-A861-E4F6070CB6E9}"/>
              </a:ext>
            </a:extLst>
          </p:cNvPr>
          <p:cNvSpPr/>
          <p:nvPr/>
        </p:nvSpPr>
        <p:spPr>
          <a:xfrm>
            <a:off x="82882" y="1712792"/>
            <a:ext cx="8889788" cy="2946576"/>
          </a:xfrm>
          <a:prstGeom prst="rect">
            <a:avLst/>
          </a:prstGeom>
          <a:noFill/>
          <a:ln>
            <a:solidFill>
              <a:schemeClr val="tx2"/>
            </a:solidFill>
            <a:prstDash val="sysDash"/>
          </a:ln>
        </p:spPr>
        <p:txBody>
          <a:bodyPr wrap="square">
            <a:spAutoFit/>
          </a:bodyPr>
          <a:lstStyle/>
          <a:p>
            <a:pPr defTabSz="0">
              <a:lnSpc>
                <a:spcPts val="2800"/>
              </a:lnSpc>
              <a:spcBef>
                <a:spcPts val="0"/>
              </a:spcBef>
              <a:defRPr/>
            </a:pPr>
            <a:endParaRPr lang="en-US" altLang="zh-CN" sz="2000" dirty="0">
              <a:solidFill>
                <a:srgbClr val="002060"/>
              </a:solidFill>
              <a:latin typeface="华文楷体" panose="02010600040101010101" pitchFamily="2" charset="-122"/>
              <a:ea typeface="华文楷体" panose="02010600040101010101" pitchFamily="2" charset="-122"/>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rPr>
              <a:t>折线图：</a:t>
            </a:r>
            <a:r>
              <a:rPr lang="zh-CN" altLang="en-US" dirty="0">
                <a:solidFill>
                  <a:srgbClr val="002060"/>
                </a:solidFill>
                <a:latin typeface="华文楷体" panose="02010600040101010101" pitchFamily="2" charset="-122"/>
                <a:ea typeface="华文楷体" panose="02010600040101010101" pitchFamily="2" charset="-122"/>
              </a:rPr>
              <a:t>相邻两点标记符连接成线</a:t>
            </a:r>
            <a:endParaRPr lang="en-US" altLang="zh-CN" b="1" kern="0" dirty="0">
              <a:solidFill>
                <a:srgbClr val="0070C0"/>
              </a:solidFill>
              <a:latin typeface="华文楷体" panose="02010600040101010101" pitchFamily="2" charset="-122"/>
              <a:ea typeface="华文楷体" panose="02010600040101010101" pitchFamily="2" charset="-122"/>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散点图：</a:t>
            </a:r>
            <a:r>
              <a:rPr lang="en-US" altLang="zh-CN"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 </a:t>
            </a:r>
            <a:r>
              <a:rPr lang="zh-CN" altLang="en-US"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数据点无需连线</a:t>
            </a:r>
            <a:endParaRPr lang="en-US" altLang="zh-CN" b="1" kern="0" dirty="0">
              <a:solidFill>
                <a:srgbClr val="0070C0"/>
              </a:solidFill>
              <a:latin typeface="华文楷体" panose="02010600040101010101" pitchFamily="2" charset="-122"/>
              <a:ea typeface="华文楷体" panose="02010600040101010101" pitchFamily="2" charset="-122"/>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rPr>
              <a:t>面积图：</a:t>
            </a:r>
            <a:r>
              <a:rPr lang="zh-CN" altLang="en-US" kern="0" dirty="0">
                <a:solidFill>
                  <a:srgbClr val="002060"/>
                </a:solidFill>
                <a:latin typeface="华文楷体" panose="02010600040101010101" pitchFamily="2" charset="-122"/>
                <a:ea typeface="华文楷体" panose="02010600040101010101" pitchFamily="2" charset="-122"/>
              </a:rPr>
              <a:t>颜色填曲线和</a:t>
            </a:r>
            <a:r>
              <a:rPr lang="en-US" altLang="zh-CN" kern="0" dirty="0">
                <a:solidFill>
                  <a:srgbClr val="002060"/>
                </a:solidFill>
                <a:latin typeface="华文楷体" panose="02010600040101010101" pitchFamily="2" charset="-122"/>
                <a:ea typeface="华文楷体" panose="02010600040101010101" pitchFamily="2" charset="-122"/>
              </a:rPr>
              <a:t>x</a:t>
            </a:r>
            <a:r>
              <a:rPr lang="zh-CN" altLang="en-US" kern="0" dirty="0">
                <a:solidFill>
                  <a:srgbClr val="002060"/>
                </a:solidFill>
                <a:latin typeface="华文楷体" panose="02010600040101010101" pitchFamily="2" charset="-122"/>
                <a:ea typeface="华文楷体" panose="02010600040101010101" pitchFamily="2" charset="-122"/>
              </a:rPr>
              <a:t>轴间区域</a:t>
            </a:r>
            <a:endParaRPr lang="en-US" altLang="zh-CN" kern="0" dirty="0">
              <a:solidFill>
                <a:srgbClr val="002060"/>
              </a:solidFill>
              <a:latin typeface="华文楷体" panose="02010600040101010101" pitchFamily="2" charset="-122"/>
              <a:ea typeface="华文楷体" panose="02010600040101010101" pitchFamily="2" charset="-122"/>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条形图：</a:t>
            </a:r>
            <a:r>
              <a:rPr lang="zh-CN" altLang="en-US"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宽度相同的条形高度表示数据</a:t>
            </a:r>
            <a:endParaRPr lang="en-US" altLang="zh-CN"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rPr>
              <a:t>针状图</a:t>
            </a:r>
            <a:r>
              <a:rPr lang="zh-CN" altLang="en-US"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 </a:t>
            </a:r>
            <a:r>
              <a:rPr lang="en-US" altLang="zh-CN" b="1" kern="0" dirty="0">
                <a:solidFill>
                  <a:srgbClr val="0070C0"/>
                </a:solidFill>
                <a:latin typeface="华文楷体" panose="02010600040101010101" pitchFamily="2" charset="-122"/>
                <a:ea typeface="华文楷体" panose="02010600040101010101" pitchFamily="2" charset="-122"/>
              </a:rPr>
              <a:t>(</a:t>
            </a:r>
            <a:r>
              <a:rPr lang="zh-CN" altLang="en-US"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杆图</a:t>
            </a:r>
            <a:r>
              <a:rPr lang="en-US" altLang="zh-CN" kern="0" dirty="0">
                <a:solidFill>
                  <a:srgbClr val="00206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数据</a:t>
            </a:r>
            <a:r>
              <a:rPr lang="zh-CN" altLang="en-US"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用火柴杆高度表示</a:t>
            </a:r>
            <a:endParaRPr lang="en-US" altLang="zh-CN"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a:p>
            <a:pPr defTabSz="0">
              <a:lnSpc>
                <a:spcPts val="2800"/>
              </a:lnSpc>
              <a:spcBef>
                <a:spcPts val="0"/>
              </a:spcBef>
              <a:defRPr/>
            </a:pPr>
            <a:r>
              <a:rPr lang="zh-CN" altLang="en-US"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阶梯图：</a:t>
            </a:r>
            <a:r>
              <a:rPr lang="zh-CN" altLang="en-US" kern="0" dirty="0">
                <a:solidFill>
                  <a:srgbClr val="002060"/>
                </a:solidFill>
                <a:latin typeface="华文楷体" panose="02010600040101010101" pitchFamily="2" charset="-122"/>
                <a:ea typeface="华文楷体" panose="02010600040101010101" pitchFamily="2" charset="-122"/>
              </a:rPr>
              <a:t>水平线和垂直线连接两数据点</a:t>
            </a:r>
            <a:endParaRPr lang="en-US" altLang="zh-CN"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a:p>
            <a:pPr defTabSz="0">
              <a:lnSpc>
                <a:spcPts val="2800"/>
              </a:lnSpc>
              <a:spcBef>
                <a:spcPts val="0"/>
              </a:spcBef>
              <a:defRPr/>
            </a:pPr>
            <a:r>
              <a:rPr lang="zh-CN" altLang="en-US"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句柄</a:t>
            </a:r>
            <a:r>
              <a:rPr lang="en-US" altLang="zh-CN"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h,</a:t>
            </a:r>
            <a:r>
              <a:rPr lang="zh-CN" altLang="en-US"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坐标区</a:t>
            </a:r>
            <a:r>
              <a:rPr lang="en-US" altLang="zh-CN"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ax</a:t>
            </a:r>
            <a:r>
              <a:rPr lang="zh-CN" altLang="en-US"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和属性名</a:t>
            </a:r>
            <a:r>
              <a:rPr lang="en-US" altLang="zh-CN"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Key</a:t>
            </a:r>
            <a:r>
              <a:rPr lang="zh-CN" altLang="en-US"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和属性值</a:t>
            </a:r>
            <a:r>
              <a:rPr lang="en-US" altLang="zh-CN"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Value</a:t>
            </a:r>
            <a:r>
              <a:rPr lang="zh-CN" altLang="en-US"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rPr>
              <a:t>可以缺省</a:t>
            </a:r>
            <a:endParaRPr lang="en-US" altLang="zh-CN" sz="2000" b="1" kern="0" dirty="0">
              <a:solidFill>
                <a:srgbClr val="00B0F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5" name="矩形 4">
            <a:extLst>
              <a:ext uri="{FF2B5EF4-FFF2-40B4-BE49-F238E27FC236}">
                <a16:creationId xmlns:a16="http://schemas.microsoft.com/office/drawing/2014/main" id="{B967DF3C-7578-6A32-3E48-7B57777B3FCC}"/>
              </a:ext>
            </a:extLst>
          </p:cNvPr>
          <p:cNvSpPr/>
          <p:nvPr/>
        </p:nvSpPr>
        <p:spPr>
          <a:xfrm>
            <a:off x="89172" y="677885"/>
            <a:ext cx="8971946" cy="830997"/>
          </a:xfrm>
          <a:prstGeom prst="rect">
            <a:avLst/>
          </a:prstGeom>
          <a:solidFill>
            <a:schemeClr val="bg1"/>
          </a:solidFill>
        </p:spPr>
        <p:txBody>
          <a:bodyPr wrap="square">
            <a:spAutoFit/>
          </a:bodyPr>
          <a:lstStyle/>
          <a:p>
            <a:r>
              <a:rPr lang="en-US" altLang="zh-CN" b="1" dirty="0">
                <a:solidFill>
                  <a:srgbClr val="0070C0"/>
                </a:solidFill>
                <a:latin typeface="华文楷体" panose="02010600040101010101" pitchFamily="2" charset="-122"/>
                <a:ea typeface="华文楷体" panose="02010600040101010101" pitchFamily="2" charset="-122"/>
              </a:rPr>
              <a:t>William </a:t>
            </a:r>
            <a:r>
              <a:rPr lang="en-US" altLang="zh-CN" b="1" dirty="0" err="1">
                <a:solidFill>
                  <a:srgbClr val="0070C0"/>
                </a:solidFill>
                <a:latin typeface="华文楷体" panose="02010600040101010101" pitchFamily="2" charset="-122"/>
                <a:ea typeface="华文楷体" panose="02010600040101010101" pitchFamily="2" charset="-122"/>
              </a:rPr>
              <a:t>Playfair</a:t>
            </a:r>
            <a:r>
              <a:rPr lang="zh-CN" altLang="en-US" dirty="0">
                <a:solidFill>
                  <a:srgbClr val="0070C0"/>
                </a:solidFill>
                <a:latin typeface="华文楷体" panose="02010600040101010101" pitchFamily="2" charset="-122"/>
                <a:ea typeface="华文楷体" panose="02010600040101010101" pitchFamily="2" charset="-122"/>
              </a:rPr>
              <a:t>，苏格兰工程师和政治经济学家，他发明了</a:t>
            </a:r>
            <a:r>
              <a:rPr lang="zh-CN" altLang="en-US" sz="2400" dirty="0">
                <a:solidFill>
                  <a:srgbClr val="0070C0"/>
                </a:solidFill>
                <a:latin typeface="华文楷体" panose="02010600040101010101" pitchFamily="2" charset="-122"/>
                <a:ea typeface="华文楷体" panose="02010600040101010101" pitchFamily="2" charset="-122"/>
              </a:rPr>
              <a:t>折线图、面积图、条形图、饼图</a:t>
            </a:r>
            <a:r>
              <a:rPr lang="zh-CN" altLang="en-US" dirty="0">
                <a:solidFill>
                  <a:srgbClr val="0070C0"/>
                </a:solidFill>
                <a:latin typeface="华文楷体" panose="02010600040101010101" pitchFamily="2" charset="-122"/>
                <a:ea typeface="华文楷体" panose="02010600040101010101" pitchFamily="2" charset="-122"/>
              </a:rPr>
              <a:t>等，是图形化统计方法的创始人。</a:t>
            </a:r>
          </a:p>
        </p:txBody>
      </p:sp>
      <p:sp>
        <p:nvSpPr>
          <p:cNvPr id="7" name="矩形 6">
            <a:extLst>
              <a:ext uri="{FF2B5EF4-FFF2-40B4-BE49-F238E27FC236}">
                <a16:creationId xmlns:a16="http://schemas.microsoft.com/office/drawing/2014/main" id="{8471B772-0BC5-86F1-0B3B-E347BECDBCAC}"/>
              </a:ext>
            </a:extLst>
          </p:cNvPr>
          <p:cNvSpPr/>
          <p:nvPr/>
        </p:nvSpPr>
        <p:spPr>
          <a:xfrm>
            <a:off x="5141798" y="1053894"/>
            <a:ext cx="3830872" cy="787523"/>
          </a:xfrm>
          <a:prstGeom prst="rect">
            <a:avLst/>
          </a:prstGeom>
          <a:ln>
            <a:noFill/>
            <a:prstDash val="sysDash"/>
          </a:ln>
        </p:spPr>
        <p:txBody>
          <a:bodyPr wrap="square">
            <a:spAutoFit/>
          </a:bodyPr>
          <a:lstStyle/>
          <a:p>
            <a:pPr lvl="0" defTabSz="0">
              <a:lnSpc>
                <a:spcPct val="150000"/>
              </a:lnSpc>
              <a:spcBef>
                <a:spcPts val="0"/>
              </a:spcBef>
            </a:pP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输入参数和</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plot</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一样，</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x</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是</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x</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轴数据</a:t>
            </a:r>
          </a:p>
        </p:txBody>
      </p:sp>
      <p:sp>
        <p:nvSpPr>
          <p:cNvPr id="22" name="矩形 21">
            <a:extLst>
              <a:ext uri="{FF2B5EF4-FFF2-40B4-BE49-F238E27FC236}">
                <a16:creationId xmlns:a16="http://schemas.microsoft.com/office/drawing/2014/main" id="{78F7E022-9FA9-4428-A1DC-FFA40F79196E}"/>
              </a:ext>
            </a:extLst>
          </p:cNvPr>
          <p:cNvSpPr/>
          <p:nvPr/>
        </p:nvSpPr>
        <p:spPr>
          <a:xfrm>
            <a:off x="5004048" y="2068888"/>
            <a:ext cx="3320549"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plot</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3" name="矩形 22">
            <a:extLst>
              <a:ext uri="{FF2B5EF4-FFF2-40B4-BE49-F238E27FC236}">
                <a16:creationId xmlns:a16="http://schemas.microsoft.com/office/drawing/2014/main" id="{2BFDD88A-741D-466D-8AE1-1C82799B81A8}"/>
              </a:ext>
            </a:extLst>
          </p:cNvPr>
          <p:cNvSpPr/>
          <p:nvPr/>
        </p:nvSpPr>
        <p:spPr>
          <a:xfrm>
            <a:off x="5042557" y="2413828"/>
            <a:ext cx="3453371"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scatter</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4" name="矩形 23">
            <a:extLst>
              <a:ext uri="{FF2B5EF4-FFF2-40B4-BE49-F238E27FC236}">
                <a16:creationId xmlns:a16="http://schemas.microsoft.com/office/drawing/2014/main" id="{77D60453-767B-4AAB-BA34-99BDD5170D2D}"/>
              </a:ext>
            </a:extLst>
          </p:cNvPr>
          <p:cNvSpPr/>
          <p:nvPr/>
        </p:nvSpPr>
        <p:spPr>
          <a:xfrm>
            <a:off x="5042557" y="2783549"/>
            <a:ext cx="3453371"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area</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5" name="矩形 24">
            <a:extLst>
              <a:ext uri="{FF2B5EF4-FFF2-40B4-BE49-F238E27FC236}">
                <a16:creationId xmlns:a16="http://schemas.microsoft.com/office/drawing/2014/main" id="{28B67A54-022A-4821-82AE-B0B209674662}"/>
              </a:ext>
            </a:extLst>
          </p:cNvPr>
          <p:cNvSpPr/>
          <p:nvPr/>
        </p:nvSpPr>
        <p:spPr>
          <a:xfrm>
            <a:off x="5042557" y="3189082"/>
            <a:ext cx="3453371"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bar</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6" name="矩形 25">
            <a:extLst>
              <a:ext uri="{FF2B5EF4-FFF2-40B4-BE49-F238E27FC236}">
                <a16:creationId xmlns:a16="http://schemas.microsoft.com/office/drawing/2014/main" id="{97B8E068-7E8E-4378-8DE6-C500C7DB0799}"/>
              </a:ext>
            </a:extLst>
          </p:cNvPr>
          <p:cNvSpPr/>
          <p:nvPr/>
        </p:nvSpPr>
        <p:spPr>
          <a:xfrm>
            <a:off x="5031296" y="3568035"/>
            <a:ext cx="3235686"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stem</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7" name="矩形 26">
            <a:extLst>
              <a:ext uri="{FF2B5EF4-FFF2-40B4-BE49-F238E27FC236}">
                <a16:creationId xmlns:a16="http://schemas.microsoft.com/office/drawing/2014/main" id="{6EA910A9-92D1-4639-A48C-D5EE5B7632F8}"/>
              </a:ext>
            </a:extLst>
          </p:cNvPr>
          <p:cNvSpPr/>
          <p:nvPr/>
        </p:nvSpPr>
        <p:spPr>
          <a:xfrm>
            <a:off x="5004048" y="3966985"/>
            <a:ext cx="3453371" cy="338554"/>
          </a:xfrm>
          <a:prstGeom prst="rect">
            <a:avLst/>
          </a:prstGeom>
          <a:noFill/>
          <a:ln w="38100">
            <a:noFill/>
          </a:ln>
          <a:scene3d>
            <a:camera prst="orthographicFront"/>
            <a:lightRig rig="threePt" dir="t"/>
          </a:scene3d>
          <a:sp3d>
            <a:bevelT prst="angle"/>
          </a:sp3d>
        </p:spPr>
        <p:txBody>
          <a:bodyPr wrap="square">
            <a:spAutoFit/>
          </a:bodyPr>
          <a:lstStyle/>
          <a:p>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stairs</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16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16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16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 </a:t>
            </a:r>
          </a:p>
        </p:txBody>
      </p:sp>
      <p:sp>
        <p:nvSpPr>
          <p:cNvPr id="13" name="矩形 12">
            <a:extLst>
              <a:ext uri="{FF2B5EF4-FFF2-40B4-BE49-F238E27FC236}">
                <a16:creationId xmlns:a16="http://schemas.microsoft.com/office/drawing/2014/main" id="{DFEC8432-17F2-4E56-B1EE-7BB43F7393F3}"/>
              </a:ext>
            </a:extLst>
          </p:cNvPr>
          <p:cNvSpPr/>
          <p:nvPr/>
        </p:nvSpPr>
        <p:spPr>
          <a:xfrm>
            <a:off x="4123095" y="2084939"/>
            <a:ext cx="1224136"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plot(</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4" name="矩形 13">
            <a:extLst>
              <a:ext uri="{FF2B5EF4-FFF2-40B4-BE49-F238E27FC236}">
                <a16:creationId xmlns:a16="http://schemas.microsoft.com/office/drawing/2014/main" id="{E511CE8F-1FB9-49F1-A9E3-DEABDDF0503A}"/>
              </a:ext>
            </a:extLst>
          </p:cNvPr>
          <p:cNvSpPr/>
          <p:nvPr/>
        </p:nvSpPr>
        <p:spPr>
          <a:xfrm>
            <a:off x="4123671" y="2464514"/>
            <a:ext cx="1224136"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scatter(</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5" name="矩形 14">
            <a:extLst>
              <a:ext uri="{FF2B5EF4-FFF2-40B4-BE49-F238E27FC236}">
                <a16:creationId xmlns:a16="http://schemas.microsoft.com/office/drawing/2014/main" id="{BE7AE729-C8E7-4042-A575-D91CEF210F7E}"/>
              </a:ext>
            </a:extLst>
          </p:cNvPr>
          <p:cNvSpPr/>
          <p:nvPr/>
        </p:nvSpPr>
        <p:spPr>
          <a:xfrm>
            <a:off x="4136372" y="2826798"/>
            <a:ext cx="1224136"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area(</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6" name="矩形 15">
            <a:extLst>
              <a:ext uri="{FF2B5EF4-FFF2-40B4-BE49-F238E27FC236}">
                <a16:creationId xmlns:a16="http://schemas.microsoft.com/office/drawing/2014/main" id="{E3E86A80-2179-4138-8ED7-AB6F27199ADC}"/>
              </a:ext>
            </a:extLst>
          </p:cNvPr>
          <p:cNvSpPr/>
          <p:nvPr/>
        </p:nvSpPr>
        <p:spPr>
          <a:xfrm>
            <a:off x="4136372" y="3208067"/>
            <a:ext cx="1027303"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bar(</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7" name="矩形 16">
            <a:extLst>
              <a:ext uri="{FF2B5EF4-FFF2-40B4-BE49-F238E27FC236}">
                <a16:creationId xmlns:a16="http://schemas.microsoft.com/office/drawing/2014/main" id="{B30CFC78-29E6-4590-A760-1FA0BF2DBE37}"/>
              </a:ext>
            </a:extLst>
          </p:cNvPr>
          <p:cNvSpPr/>
          <p:nvPr/>
        </p:nvSpPr>
        <p:spPr>
          <a:xfrm>
            <a:off x="4145252" y="3558276"/>
            <a:ext cx="1224136"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stem(</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8" name="矩形 17">
            <a:extLst>
              <a:ext uri="{FF2B5EF4-FFF2-40B4-BE49-F238E27FC236}">
                <a16:creationId xmlns:a16="http://schemas.microsoft.com/office/drawing/2014/main" id="{5BE5C045-D19F-468F-939A-AE386A11C2B5}"/>
              </a:ext>
            </a:extLst>
          </p:cNvPr>
          <p:cNvSpPr/>
          <p:nvPr/>
        </p:nvSpPr>
        <p:spPr>
          <a:xfrm>
            <a:off x="4146293" y="3929733"/>
            <a:ext cx="1027303" cy="338554"/>
          </a:xfrm>
          <a:prstGeom prst="rect">
            <a:avLst/>
          </a:prstGeom>
          <a:noFill/>
          <a:ln w="38100">
            <a:noFill/>
          </a:ln>
          <a:scene3d>
            <a:camera prst="orthographicFront"/>
            <a:lightRig rig="threePt" dir="t"/>
          </a:scene3d>
          <a:sp3d>
            <a:bevelT prst="angle"/>
          </a:sp3d>
        </p:spPr>
        <p:txBody>
          <a:bodyPr wrap="square">
            <a:spAutoFit/>
          </a:bodyPr>
          <a:lstStyle/>
          <a:p>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stairs(</a:t>
            </a:r>
            <a:r>
              <a:rPr lang="en-US" altLang="zh-CN" sz="16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9" name="矩形 18">
            <a:extLst>
              <a:ext uri="{FF2B5EF4-FFF2-40B4-BE49-F238E27FC236}">
                <a16:creationId xmlns:a16="http://schemas.microsoft.com/office/drawing/2014/main" id="{ED1CE97E-5231-465D-A780-31457E7E0303}"/>
              </a:ext>
            </a:extLst>
          </p:cNvPr>
          <p:cNvSpPr/>
          <p:nvPr/>
        </p:nvSpPr>
        <p:spPr>
          <a:xfrm>
            <a:off x="89171" y="1489908"/>
            <a:ext cx="8932773" cy="327053"/>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p>
            <a:pPr algn="dist" defTabSz="0" eaLnBrk="1" latinLnBrk="0" hangingPunct="1">
              <a:lnSpc>
                <a:spcPts val="1800"/>
              </a:lnSpc>
              <a:spcBef>
                <a:spcPts val="0"/>
              </a:spcBef>
            </a:pPr>
            <a:r>
              <a:rPr lang="zh-CN" altLang="en-US" sz="1600" dirty="0">
                <a:solidFill>
                  <a:schemeClr val="bg1"/>
                </a:solidFill>
                <a:latin typeface="华文楷体" panose="02010600040101010101" pitchFamily="2" charset="-122"/>
                <a:ea typeface="华文楷体" panose="02010600040101010101" pitchFamily="2" charset="-122"/>
              </a:rPr>
              <a:t>同一组数据可用不同方式可视化，如折线图散点图、折线图、面积图、条形图、针状图和阶梯图</a:t>
            </a:r>
            <a:endParaRPr lang="en-US" altLang="zh-CN" sz="1600" dirty="0">
              <a:solidFill>
                <a:schemeClr val="bg1"/>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21" name="文本框 20">
            <a:extLst>
              <a:ext uri="{FF2B5EF4-FFF2-40B4-BE49-F238E27FC236}">
                <a16:creationId xmlns:a16="http://schemas.microsoft.com/office/drawing/2014/main" id="{0570FCED-F485-485B-8999-745DECB08FA3}"/>
              </a:ext>
            </a:extLst>
          </p:cNvPr>
          <p:cNvSpPr txBox="1"/>
          <p:nvPr/>
        </p:nvSpPr>
        <p:spPr>
          <a:xfrm>
            <a:off x="82881" y="1837631"/>
            <a:ext cx="2544903" cy="369332"/>
          </a:xfrm>
          <a:prstGeom prst="rect">
            <a:avLst/>
          </a:prstGeom>
          <a:noFill/>
        </p:spPr>
        <p:txBody>
          <a:bodyPr wrap="square">
            <a:spAutoFit/>
          </a:bodyPr>
          <a:lstStyle/>
          <a:p>
            <a:r>
              <a:rPr lang="zh-CN" altLang="en-US" b="1" kern="0" dirty="0">
                <a:solidFill>
                  <a:srgbClr val="0070C0"/>
                </a:solidFill>
                <a:latin typeface="黑体" panose="02010609060101010101" pitchFamily="49" charset="-122"/>
                <a:ea typeface="黑体" panose="02010609060101010101" pitchFamily="49" charset="-122"/>
              </a:rPr>
              <a:t>常见数据统计绘图命令</a:t>
            </a:r>
          </a:p>
        </p:txBody>
      </p:sp>
      <p:sp>
        <p:nvSpPr>
          <p:cNvPr id="28" name="文本框 27">
            <a:extLst>
              <a:ext uri="{FF2B5EF4-FFF2-40B4-BE49-F238E27FC236}">
                <a16:creationId xmlns:a16="http://schemas.microsoft.com/office/drawing/2014/main" id="{065C3793-1786-4EAE-BCA3-F1B69241866D}"/>
              </a:ext>
            </a:extLst>
          </p:cNvPr>
          <p:cNvSpPr txBox="1"/>
          <p:nvPr/>
        </p:nvSpPr>
        <p:spPr>
          <a:xfrm>
            <a:off x="4067944" y="1777183"/>
            <a:ext cx="1184003" cy="369332"/>
          </a:xfrm>
          <a:prstGeom prst="rect">
            <a:avLst/>
          </a:prstGeom>
          <a:noFill/>
        </p:spPr>
        <p:txBody>
          <a:bodyPr wrap="square">
            <a:spAutoFit/>
          </a:bodyPr>
          <a:lstStyle/>
          <a:p>
            <a:r>
              <a:rPr lang="zh-CN" altLang="en-US" b="1" kern="0" dirty="0">
                <a:solidFill>
                  <a:srgbClr val="0070C0"/>
                </a:solidFill>
                <a:latin typeface="黑体" panose="02010609060101010101" pitchFamily="49" charset="-122"/>
                <a:ea typeface="黑体" panose="02010609060101010101" pitchFamily="49" charset="-122"/>
              </a:rPr>
              <a:t>简化形式</a:t>
            </a:r>
          </a:p>
        </p:txBody>
      </p:sp>
      <p:sp>
        <p:nvSpPr>
          <p:cNvPr id="29" name="文本框 28">
            <a:extLst>
              <a:ext uri="{FF2B5EF4-FFF2-40B4-BE49-F238E27FC236}">
                <a16:creationId xmlns:a16="http://schemas.microsoft.com/office/drawing/2014/main" id="{31FBD71D-7161-4E1B-9C85-774F4B392F2E}"/>
              </a:ext>
            </a:extLst>
          </p:cNvPr>
          <p:cNvSpPr txBox="1"/>
          <p:nvPr/>
        </p:nvSpPr>
        <p:spPr>
          <a:xfrm>
            <a:off x="5358126" y="1772667"/>
            <a:ext cx="1184003" cy="369332"/>
          </a:xfrm>
          <a:prstGeom prst="rect">
            <a:avLst/>
          </a:prstGeom>
          <a:noFill/>
        </p:spPr>
        <p:txBody>
          <a:bodyPr wrap="square">
            <a:spAutoFit/>
          </a:bodyPr>
          <a:lstStyle/>
          <a:p>
            <a:r>
              <a:rPr lang="zh-CN" altLang="en-US" sz="1800" b="1" kern="0" dirty="0">
                <a:solidFill>
                  <a:srgbClr val="0070C0"/>
                </a:solidFill>
                <a:latin typeface="黑体" panose="02010609060101010101" pitchFamily="49" charset="-122"/>
                <a:ea typeface="黑体" panose="02010609060101010101" pitchFamily="49" charset="-122"/>
              </a:rPr>
              <a:t>完整形式</a:t>
            </a:r>
            <a:endParaRPr lang="zh-CN" altLang="en-US" b="1" dirty="0">
              <a:latin typeface="黑体" panose="02010609060101010101" pitchFamily="49" charset="-122"/>
              <a:ea typeface="黑体" panose="02010609060101010101" pitchFamily="49" charset="-122"/>
            </a:endParaRPr>
          </a:p>
        </p:txBody>
      </p:sp>
      <p:pic>
        <p:nvPicPr>
          <p:cNvPr id="30" name="图片 29">
            <a:extLst>
              <a:ext uri="{FF2B5EF4-FFF2-40B4-BE49-F238E27FC236}">
                <a16:creationId xmlns:a16="http://schemas.microsoft.com/office/drawing/2014/main" id="{5E58F6D4-078C-406F-9E67-03F250F720E0}"/>
              </a:ext>
            </a:extLst>
          </p:cNvPr>
          <p:cNvPicPr>
            <a:picLocks noChangeAspect="1"/>
          </p:cNvPicPr>
          <p:nvPr/>
        </p:nvPicPr>
        <p:blipFill rotWithShape="1">
          <a:blip r:embed="rId3"/>
          <a:srcRect l="9073" t="24373" r="84957" b="66959"/>
          <a:stretch/>
        </p:blipFill>
        <p:spPr>
          <a:xfrm>
            <a:off x="8154982" y="2481273"/>
            <a:ext cx="902708" cy="541051"/>
          </a:xfrm>
          <a:prstGeom prst="rect">
            <a:avLst/>
          </a:prstGeom>
        </p:spPr>
      </p:pic>
      <p:pic>
        <p:nvPicPr>
          <p:cNvPr id="31" name="图片 30">
            <a:extLst>
              <a:ext uri="{FF2B5EF4-FFF2-40B4-BE49-F238E27FC236}">
                <a16:creationId xmlns:a16="http://schemas.microsoft.com/office/drawing/2014/main" id="{3F2366BE-48F2-4788-9022-703B67C890FA}"/>
              </a:ext>
            </a:extLst>
          </p:cNvPr>
          <p:cNvPicPr>
            <a:picLocks noChangeAspect="1"/>
          </p:cNvPicPr>
          <p:nvPr/>
        </p:nvPicPr>
        <p:blipFill rotWithShape="1">
          <a:blip r:embed="rId3"/>
          <a:srcRect l="9073" t="51842" r="84738" b="36623"/>
          <a:stretch/>
        </p:blipFill>
        <p:spPr>
          <a:xfrm>
            <a:off x="8164700" y="2968354"/>
            <a:ext cx="935861" cy="621649"/>
          </a:xfrm>
          <a:prstGeom prst="rect">
            <a:avLst/>
          </a:prstGeom>
        </p:spPr>
      </p:pic>
      <p:pic>
        <p:nvPicPr>
          <p:cNvPr id="32" name="图片 31">
            <a:extLst>
              <a:ext uri="{FF2B5EF4-FFF2-40B4-BE49-F238E27FC236}">
                <a16:creationId xmlns:a16="http://schemas.microsoft.com/office/drawing/2014/main" id="{6CB1EAEB-B818-458C-B532-4950DE9743AC}"/>
              </a:ext>
            </a:extLst>
          </p:cNvPr>
          <p:cNvPicPr>
            <a:picLocks noChangeAspect="1"/>
          </p:cNvPicPr>
          <p:nvPr/>
        </p:nvPicPr>
        <p:blipFill rotWithShape="1">
          <a:blip r:embed="rId3"/>
          <a:srcRect l="17630" t="33557" r="76628" b="56829"/>
          <a:stretch/>
        </p:blipFill>
        <p:spPr>
          <a:xfrm>
            <a:off x="8224168" y="3490431"/>
            <a:ext cx="858450" cy="585801"/>
          </a:xfrm>
          <a:prstGeom prst="rect">
            <a:avLst/>
          </a:prstGeom>
        </p:spPr>
      </p:pic>
      <p:pic>
        <p:nvPicPr>
          <p:cNvPr id="33" name="图片 32">
            <a:extLst>
              <a:ext uri="{FF2B5EF4-FFF2-40B4-BE49-F238E27FC236}">
                <a16:creationId xmlns:a16="http://schemas.microsoft.com/office/drawing/2014/main" id="{19FE02A4-2709-4D6F-8177-BCF4F94E2EA9}"/>
              </a:ext>
            </a:extLst>
          </p:cNvPr>
          <p:cNvPicPr>
            <a:picLocks noChangeAspect="1"/>
          </p:cNvPicPr>
          <p:nvPr/>
        </p:nvPicPr>
        <p:blipFill rotWithShape="1">
          <a:blip r:embed="rId3"/>
          <a:srcRect l="17630" t="23700" r="76686" b="66268"/>
          <a:stretch/>
        </p:blipFill>
        <p:spPr>
          <a:xfrm>
            <a:off x="8224168" y="4115478"/>
            <a:ext cx="877342" cy="523220"/>
          </a:xfrm>
          <a:prstGeom prst="rect">
            <a:avLst/>
          </a:prstGeom>
        </p:spPr>
      </p:pic>
      <p:pic>
        <p:nvPicPr>
          <p:cNvPr id="34" name="图片 33">
            <a:extLst>
              <a:ext uri="{FF2B5EF4-FFF2-40B4-BE49-F238E27FC236}">
                <a16:creationId xmlns:a16="http://schemas.microsoft.com/office/drawing/2014/main" id="{FE1E0F4C-BDA0-4301-88C3-AAC1769C37E3}"/>
              </a:ext>
            </a:extLst>
          </p:cNvPr>
          <p:cNvPicPr>
            <a:picLocks noChangeAspect="1"/>
          </p:cNvPicPr>
          <p:nvPr/>
        </p:nvPicPr>
        <p:blipFill rotWithShape="1">
          <a:blip r:embed="rId3"/>
          <a:srcRect l="17630" t="52057" r="76628" b="38053"/>
          <a:stretch/>
        </p:blipFill>
        <p:spPr>
          <a:xfrm>
            <a:off x="8191778" y="1901494"/>
            <a:ext cx="833128" cy="584897"/>
          </a:xfrm>
          <a:prstGeom prst="rect">
            <a:avLst/>
          </a:prstGeom>
        </p:spPr>
      </p:pic>
      <p:sp>
        <p:nvSpPr>
          <p:cNvPr id="35" name="文本框 34">
            <a:extLst>
              <a:ext uri="{FF2B5EF4-FFF2-40B4-BE49-F238E27FC236}">
                <a16:creationId xmlns:a16="http://schemas.microsoft.com/office/drawing/2014/main" id="{23B8638C-D02D-4DAF-9DCA-C9FA1689637F}"/>
              </a:ext>
            </a:extLst>
          </p:cNvPr>
          <p:cNvSpPr txBox="1"/>
          <p:nvPr/>
        </p:nvSpPr>
        <p:spPr>
          <a:xfrm>
            <a:off x="214051" y="65411"/>
            <a:ext cx="8678429" cy="583814"/>
          </a:xfrm>
          <a:prstGeom prst="rect">
            <a:avLst/>
          </a:prstGeom>
          <a:solidFill>
            <a:schemeClr val="bg1"/>
          </a:solidFill>
        </p:spPr>
        <p:txBody>
          <a:bodyPr wrap="square">
            <a:spAutoFit/>
          </a:bodyPr>
          <a:lstStyle/>
          <a:p>
            <a:pPr algn="just">
              <a:lnSpc>
                <a:spcPct val="150000"/>
              </a:lnSpc>
            </a:pPr>
            <a:r>
              <a:rPr lang="zh-CN" altLang="en-US" sz="2400" b="1" kern="1800" dirty="0">
                <a:solidFill>
                  <a:srgbClr val="0070C0"/>
                </a:solidFill>
                <a:latin typeface="等线" panose="02010600030101010101" pitchFamily="2" charset="-122"/>
                <a:ea typeface="黑体" panose="02010609060101010101" pitchFamily="49" charset="-122"/>
                <a:cs typeface="宋体" panose="02010600030101010101" pitchFamily="2" charset="-122"/>
              </a:rPr>
              <a:t>四</a:t>
            </a:r>
            <a:r>
              <a:rPr lang="zh-CN"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大作业理论</a:t>
            </a:r>
            <a:r>
              <a:rPr lang="en-US"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1</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数据统计图</a:t>
            </a:r>
            <a:endParaRPr lang="zh-CN" altLang="zh-CN" sz="2400" dirty="0">
              <a:solidFill>
                <a:srgbClr val="002060"/>
              </a:solidFill>
              <a:latin typeface="华文细黑" pitchFamily="2" charset="-122"/>
              <a:ea typeface="华文细黑" pitchFamily="2" charset="-122"/>
            </a:endParaRPr>
          </a:p>
        </p:txBody>
      </p:sp>
    </p:spTree>
    <p:extLst>
      <p:ext uri="{BB962C8B-B14F-4D97-AF65-F5344CB8AC3E}">
        <p14:creationId xmlns:p14="http://schemas.microsoft.com/office/powerpoint/2010/main" val="3216156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6969CE90-9538-442E-ABC9-9C6CFEB1FB20}"/>
              </a:ext>
            </a:extLst>
          </p:cNvPr>
          <p:cNvSpPr txBox="1"/>
          <p:nvPr/>
        </p:nvSpPr>
        <p:spPr>
          <a:xfrm>
            <a:off x="82917" y="1040720"/>
            <a:ext cx="9001948" cy="3580467"/>
          </a:xfrm>
          <a:prstGeom prst="rect">
            <a:avLst/>
          </a:prstGeom>
          <a:solidFill>
            <a:schemeClr val="bg1"/>
          </a:solidFill>
        </p:spPr>
        <p:txBody>
          <a:bodyPr wrap="square">
            <a:spAutoFit/>
          </a:bodyPr>
          <a:lstStyle/>
          <a:p>
            <a:pPr>
              <a:lnSpc>
                <a:spcPts val="1600"/>
              </a:lnSpc>
            </a:pPr>
            <a:r>
              <a:rPr lang="en-US" altLang="zh-CN" sz="1600" b="0" dirty="0">
                <a:solidFill>
                  <a:srgbClr val="000000"/>
                </a:solidFill>
                <a:effectLst/>
                <a:latin typeface="Consolas" panose="020B0609020204030204" pitchFamily="49" charset="0"/>
              </a:rPr>
              <a:t>t=</a:t>
            </a:r>
            <a:r>
              <a:rPr lang="en-US" altLang="zh-CN" sz="1600" b="0" dirty="0">
                <a:solidFill>
                  <a:srgbClr val="098658"/>
                </a:solidFill>
                <a:effectLst/>
                <a:latin typeface="Consolas" panose="020B0609020204030204" pitchFamily="49" charset="0"/>
              </a:rPr>
              <a:t>2008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2017</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生成时间的行向量</a:t>
            </a:r>
            <a:endParaRPr lang="zh-CN" altLang="en-US"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g=[</a:t>
            </a:r>
            <a:r>
              <a:rPr lang="en-US" altLang="zh-CN" sz="1600" b="0" dirty="0">
                <a:solidFill>
                  <a:srgbClr val="098658"/>
                </a:solidFill>
                <a:effectLst/>
                <a:latin typeface="Consolas" panose="020B0609020204030204" pitchFamily="49" charset="0"/>
              </a:rPr>
              <a:t>4.598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5.110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6.101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7.573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8.561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9.607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10.482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11.065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11.191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12.238</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#3</a:t>
            </a:r>
            <a:r>
              <a:rPr lang="zh-CN" altLang="en-US" sz="1600" b="0" dirty="0">
                <a:solidFill>
                  <a:srgbClr val="008000"/>
                </a:solidFill>
                <a:effectLst/>
                <a:latin typeface="Consolas" panose="020B0609020204030204" pitchFamily="49" charset="0"/>
              </a:rPr>
              <a:t>行</a:t>
            </a:r>
            <a:r>
              <a:rPr lang="en-US" altLang="zh-CN" sz="1600" b="0" dirty="0">
                <a:solidFill>
                  <a:srgbClr val="008000"/>
                </a:solidFill>
                <a:effectLst/>
                <a:latin typeface="Consolas" panose="020B0609020204030204" pitchFamily="49" charset="0"/>
              </a:rPr>
              <a:t>1</a:t>
            </a:r>
            <a:r>
              <a:rPr lang="zh-CN" altLang="en-US" sz="1600" b="0" dirty="0">
                <a:solidFill>
                  <a:srgbClr val="008000"/>
                </a:solidFill>
                <a:effectLst/>
                <a:latin typeface="Consolas" panose="020B0609020204030204" pitchFamily="49" charset="0"/>
              </a:rPr>
              <a:t>整列为第一图（占</a:t>
            </a:r>
            <a:r>
              <a:rPr lang="en-US" altLang="zh-CN" sz="1600" b="0" dirty="0">
                <a:solidFill>
                  <a:srgbClr val="008000"/>
                </a:solidFill>
                <a:effectLst/>
                <a:latin typeface="Consolas" panose="020B0609020204030204" pitchFamily="49" charset="0"/>
              </a:rPr>
              <a:t>2</a:t>
            </a:r>
            <a:r>
              <a:rPr lang="zh-CN" altLang="en-US" sz="1600" b="0" dirty="0">
                <a:solidFill>
                  <a:srgbClr val="008000"/>
                </a:solidFill>
                <a:effectLst/>
                <a:latin typeface="Consolas" panose="020B0609020204030204" pitchFamily="49" charset="0"/>
              </a:rPr>
              <a:t>个位置）</a:t>
            </a:r>
            <a:endParaRPr lang="zh-CN" altLang="en-US" sz="1600" b="0" dirty="0">
              <a:solidFill>
                <a:srgbClr val="000000"/>
              </a:solidFill>
              <a:effectLst/>
              <a:latin typeface="Consolas" panose="020B0609020204030204" pitchFamily="49" charset="0"/>
            </a:endParaRPr>
          </a:p>
          <a:p>
            <a:pPr>
              <a:lnSpc>
                <a:spcPts val="1600"/>
              </a:lnSpc>
            </a:pPr>
            <a:r>
              <a:rPr lang="en-US" altLang="zh-CN" sz="1600" b="0" dirty="0">
                <a:solidFill>
                  <a:srgbClr val="795E26"/>
                </a:solidFill>
                <a:effectLst/>
                <a:latin typeface="Consolas" panose="020B0609020204030204" pitchFamily="49" charset="0"/>
              </a:rPr>
              <a:t>plot</a:t>
            </a:r>
            <a:r>
              <a:rPr lang="en-US" altLang="zh-CN" sz="1600" b="0" dirty="0">
                <a:solidFill>
                  <a:srgbClr val="000000"/>
                </a:solidFill>
                <a:effectLst/>
                <a:latin typeface="Consolas" panose="020B0609020204030204" pitchFamily="49" charset="0"/>
              </a:rPr>
              <a:t>(t, g, </a:t>
            </a:r>
            <a:r>
              <a:rPr lang="en-US" altLang="zh-CN" sz="1600" b="0" dirty="0">
                <a:solidFill>
                  <a:srgbClr val="A31515"/>
                </a:solidFill>
                <a:effectLst/>
                <a:latin typeface="Consolas" panose="020B0609020204030204" pitchFamily="49" charset="0"/>
              </a:rPr>
              <a:t>"-*c"</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hold</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"on"</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叠加图</a:t>
            </a:r>
            <a:endParaRPr lang="zh-CN" altLang="en-US" sz="1600" b="0" dirty="0">
              <a:solidFill>
                <a:srgbClr val="000000"/>
              </a:solidFill>
              <a:effectLst/>
              <a:latin typeface="Consolas" panose="020B0609020204030204" pitchFamily="49" charset="0"/>
            </a:endParaRPr>
          </a:p>
          <a:p>
            <a:pPr>
              <a:lnSpc>
                <a:spcPts val="1600"/>
              </a:lnSpc>
            </a:pPr>
            <a:r>
              <a:rPr lang="en-US" altLang="zh-CN" sz="1600" b="0" dirty="0">
                <a:solidFill>
                  <a:srgbClr val="795E26"/>
                </a:solidFill>
                <a:effectLst/>
                <a:latin typeface="Consolas" panose="020B0609020204030204" pitchFamily="49" charset="0"/>
              </a:rPr>
              <a:t>stairs</a:t>
            </a:r>
            <a:r>
              <a:rPr lang="en-US" altLang="zh-CN" sz="1600" b="0" dirty="0">
                <a:solidFill>
                  <a:srgbClr val="000000"/>
                </a:solidFill>
                <a:effectLst/>
                <a:latin typeface="Consolas" panose="020B0609020204030204" pitchFamily="49" charset="0"/>
              </a:rPr>
              <a:t>(t, g, color=</a:t>
            </a:r>
            <a:r>
              <a:rPr lang="en-US" altLang="zh-CN" sz="1600" b="0" dirty="0">
                <a:solidFill>
                  <a:srgbClr val="A31515"/>
                </a:solidFill>
                <a:effectLst/>
                <a:latin typeface="Consolas" panose="020B0609020204030204" pitchFamily="49" charset="0"/>
              </a:rPr>
              <a:t>"r"</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时间</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年</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"GDP,</a:t>
            </a:r>
            <a:r>
              <a:rPr lang="zh-CN" altLang="en-US" sz="1600" b="0" dirty="0">
                <a:solidFill>
                  <a:srgbClr val="A31515"/>
                </a:solidFill>
                <a:effectLst/>
                <a:latin typeface="Consolas" panose="020B0609020204030204" pitchFamily="49" charset="0"/>
              </a:rPr>
              <a:t>亿元</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折线图和阶梯图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scatter</a:t>
            </a:r>
            <a:r>
              <a:rPr lang="en-US" altLang="zh-CN" sz="1600" b="0" dirty="0">
                <a:solidFill>
                  <a:srgbClr val="000000"/>
                </a:solidFill>
                <a:effectLst/>
                <a:latin typeface="Consolas" panose="020B0609020204030204" pitchFamily="49" charset="0"/>
              </a:rPr>
              <a:t>(t, g, </a:t>
            </a:r>
            <a:r>
              <a:rPr lang="en-US" altLang="zh-CN" sz="1600" b="0" dirty="0" err="1">
                <a:solidFill>
                  <a:srgbClr val="000000"/>
                </a:solidFill>
                <a:effectLst/>
                <a:latin typeface="Consolas" panose="020B0609020204030204" pitchFamily="49" charset="0"/>
              </a:rPr>
              <a:t>markerfacecolor</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"r"</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散点图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stem</a:t>
            </a:r>
            <a:r>
              <a:rPr lang="en-US" altLang="zh-CN" sz="1600" b="0" dirty="0">
                <a:solidFill>
                  <a:srgbClr val="000000"/>
                </a:solidFill>
                <a:effectLst/>
                <a:latin typeface="Consolas" panose="020B0609020204030204" pitchFamily="49" charset="0"/>
              </a:rPr>
              <a:t>(t, g, </a:t>
            </a:r>
            <a:r>
              <a:rPr lang="en-US" altLang="zh-CN" sz="1600" b="0" dirty="0" err="1">
                <a:solidFill>
                  <a:srgbClr val="000000"/>
                </a:solidFill>
                <a:effectLst/>
                <a:latin typeface="Consolas" panose="020B0609020204030204" pitchFamily="49" charset="0"/>
              </a:rPr>
              <a:t>markerfacecolor</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"b"</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针状图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area</a:t>
            </a:r>
            <a:r>
              <a:rPr lang="en-US" altLang="zh-CN" sz="1600" b="0" dirty="0">
                <a:solidFill>
                  <a:srgbClr val="000000"/>
                </a:solidFill>
                <a:effectLst/>
                <a:latin typeface="Consolas" panose="020B0609020204030204" pitchFamily="49" charset="0"/>
              </a:rPr>
              <a:t>(t, g, color=</a:t>
            </a:r>
            <a:r>
              <a:rPr lang="en-US" altLang="zh-CN" sz="1600" b="0" dirty="0">
                <a:solidFill>
                  <a:srgbClr val="A31515"/>
                </a:solidFill>
                <a:effectLst/>
                <a:latin typeface="Consolas" panose="020B0609020204030204" pitchFamily="49" charset="0"/>
              </a:rPr>
              <a:t>"g"</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面积图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subplot</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795E26"/>
                </a:solidFill>
                <a:effectLst/>
                <a:latin typeface="Consolas" panose="020B0609020204030204" pitchFamily="49" charset="0"/>
              </a:rPr>
              <a:t>bar</a:t>
            </a:r>
            <a:r>
              <a:rPr lang="en-US" altLang="zh-CN" sz="1600" b="0" dirty="0">
                <a:solidFill>
                  <a:srgbClr val="000000"/>
                </a:solidFill>
                <a:effectLst/>
                <a:latin typeface="Consolas" panose="020B0609020204030204" pitchFamily="49" charset="0"/>
              </a:rPr>
              <a:t>(t, g, color=</a:t>
            </a:r>
            <a:r>
              <a:rPr lang="en-US" altLang="zh-CN" sz="1600" b="0" dirty="0">
                <a:solidFill>
                  <a:srgbClr val="A31515"/>
                </a:solidFill>
                <a:effectLst/>
                <a:latin typeface="Consolas" panose="020B0609020204030204" pitchFamily="49" charset="0"/>
              </a:rPr>
              <a:t>"y"</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title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条形图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err="1">
                <a:solidFill>
                  <a:srgbClr val="795E26"/>
                </a:solidFill>
                <a:effectLst/>
                <a:latin typeface="Consolas" panose="020B0609020204030204" pitchFamily="49" charset="0"/>
              </a:rPr>
              <a:t>tightlayout</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紧凑布局</a:t>
            </a:r>
            <a:r>
              <a:rPr lang="zh-CN" altLang="en-US" sz="1600" dirty="0">
                <a:solidFill>
                  <a:srgbClr val="008000"/>
                </a:solidFill>
                <a:latin typeface="Consolas" panose="020B0609020204030204" pitchFamily="49" charset="0"/>
              </a:rPr>
              <a:t>防止题目和曲线重叠</a:t>
            </a:r>
            <a:endParaRPr lang="zh-CN" altLang="en-US" sz="1600" b="0" dirty="0">
              <a:solidFill>
                <a:srgbClr val="000000"/>
              </a:solidFill>
              <a:effectLst/>
              <a:latin typeface="Consolas" panose="020B0609020204030204" pitchFamily="49" charset="0"/>
            </a:endParaRPr>
          </a:p>
        </p:txBody>
      </p:sp>
      <p:sp>
        <p:nvSpPr>
          <p:cNvPr id="7" name="矩形 6">
            <a:extLst>
              <a:ext uri="{FF2B5EF4-FFF2-40B4-BE49-F238E27FC236}">
                <a16:creationId xmlns:a16="http://schemas.microsoft.com/office/drawing/2014/main" id="{55B1F774-5683-D654-DAF8-BDA2526E1322}"/>
              </a:ext>
            </a:extLst>
          </p:cNvPr>
          <p:cNvSpPr/>
          <p:nvPr/>
        </p:nvSpPr>
        <p:spPr>
          <a:xfrm>
            <a:off x="444638" y="693203"/>
            <a:ext cx="8582812" cy="323165"/>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p>
            <a:pPr algn="r" defTabSz="0" eaLnBrk="1" latinLnBrk="0" hangingPunct="1">
              <a:lnSpc>
                <a:spcPts val="1800"/>
              </a:lnSpc>
              <a:spcBef>
                <a:spcPts val="0"/>
              </a:spcBef>
            </a:pPr>
            <a:r>
              <a:rPr lang="zh-CN" altLang="en-US" sz="1600" dirty="0">
                <a:solidFill>
                  <a:schemeClr val="bg1"/>
                </a:solidFill>
                <a:latin typeface="华文楷体" panose="02010600040101010101" pitchFamily="2" charset="-122"/>
                <a:ea typeface="华文楷体" panose="02010600040101010101" pitchFamily="2" charset="-122"/>
              </a:rPr>
              <a:t>绘制</a:t>
            </a:r>
            <a:r>
              <a:rPr lang="en-US" altLang="zh-CN" sz="1600" dirty="0">
                <a:solidFill>
                  <a:schemeClr val="bg1"/>
                </a:solidFill>
                <a:latin typeface="华文楷体" panose="02010600040101010101" pitchFamily="2" charset="-122"/>
                <a:ea typeface="华文楷体" panose="02010600040101010101" pitchFamily="2" charset="-122"/>
              </a:rPr>
              <a:t>2008</a:t>
            </a:r>
            <a:r>
              <a:rPr lang="zh-CN" altLang="en-US" sz="1600" dirty="0">
                <a:solidFill>
                  <a:schemeClr val="bg1"/>
                </a:solidFill>
                <a:latin typeface="华文楷体" panose="02010600040101010101" pitchFamily="2" charset="-122"/>
                <a:ea typeface="华文楷体" panose="02010600040101010101" pitchFamily="2" charset="-122"/>
              </a:rPr>
              <a:t>年</a:t>
            </a:r>
            <a:r>
              <a:rPr lang="en-US" altLang="zh-CN" sz="1600" dirty="0">
                <a:solidFill>
                  <a:schemeClr val="bg1"/>
                </a:solidFill>
                <a:latin typeface="华文楷体" panose="02010600040101010101" pitchFamily="2" charset="-122"/>
                <a:ea typeface="华文楷体" panose="02010600040101010101" pitchFamily="2" charset="-122"/>
              </a:rPr>
              <a:t>-2017</a:t>
            </a:r>
            <a:r>
              <a:rPr lang="zh-CN" altLang="en-US" sz="1600" dirty="0">
                <a:solidFill>
                  <a:schemeClr val="bg1"/>
                </a:solidFill>
                <a:latin typeface="华文楷体" panose="02010600040101010101" pitchFamily="2" charset="-122"/>
                <a:ea typeface="华文楷体" panose="02010600040101010101" pitchFamily="2" charset="-122"/>
              </a:rPr>
              <a:t>年中国</a:t>
            </a:r>
            <a:r>
              <a:rPr lang="en-US" altLang="zh-CN" sz="1600" dirty="0">
                <a:solidFill>
                  <a:schemeClr val="bg1"/>
                </a:solidFill>
                <a:latin typeface="华文楷体" panose="02010600040101010101" pitchFamily="2" charset="-122"/>
                <a:ea typeface="华文楷体" panose="02010600040101010101" pitchFamily="2" charset="-122"/>
              </a:rPr>
              <a:t>GDP</a:t>
            </a:r>
            <a:r>
              <a:rPr lang="zh-CN" altLang="en-US" sz="1600" dirty="0">
                <a:solidFill>
                  <a:schemeClr val="bg1"/>
                </a:solidFill>
                <a:latin typeface="华文楷体" panose="02010600040101010101" pitchFamily="2" charset="-122"/>
                <a:ea typeface="华文楷体" panose="02010600040101010101" pitchFamily="2" charset="-122"/>
              </a:rPr>
              <a:t>的散点图、折线图、面积图、条形图、针状图和阶梯图</a:t>
            </a:r>
            <a:endParaRPr lang="en-US" altLang="zh-CN" sz="1600" dirty="0">
              <a:solidFill>
                <a:schemeClr val="bg1"/>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10" name="波形 9">
            <a:extLst>
              <a:ext uri="{FF2B5EF4-FFF2-40B4-BE49-F238E27FC236}">
                <a16:creationId xmlns:a16="http://schemas.microsoft.com/office/drawing/2014/main" id="{CD3D9B76-EC68-4550-80C5-80DF34020FFA}"/>
              </a:ext>
            </a:extLst>
          </p:cNvPr>
          <p:cNvSpPr/>
          <p:nvPr/>
        </p:nvSpPr>
        <p:spPr>
          <a:xfrm>
            <a:off x="194857" y="705297"/>
            <a:ext cx="683940" cy="33542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例3-10</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16853B66-022A-4CC8-A3AE-EB76A8C48125}"/>
              </a:ext>
            </a:extLst>
          </p:cNvPr>
          <p:cNvPicPr>
            <a:picLocks noChangeAspect="1"/>
          </p:cNvPicPr>
          <p:nvPr/>
        </p:nvPicPr>
        <p:blipFill rotWithShape="1">
          <a:blip r:embed="rId3"/>
          <a:srcRect t="12384" r="388" b="9401"/>
          <a:stretch/>
        </p:blipFill>
        <p:spPr>
          <a:xfrm>
            <a:off x="5547252" y="1707654"/>
            <a:ext cx="2588635" cy="2908590"/>
          </a:xfrm>
          <a:prstGeom prst="rect">
            <a:avLst/>
          </a:prstGeom>
        </p:spPr>
      </p:pic>
      <p:pic>
        <p:nvPicPr>
          <p:cNvPr id="2" name="Picture 2" descr="http://5b0988e595225.cdn.sohucs.com/images/20180712/9a46cefa7315405f9cf3cfe9876de54c.png">
            <a:extLst>
              <a:ext uri="{FF2B5EF4-FFF2-40B4-BE49-F238E27FC236}">
                <a16:creationId xmlns:a16="http://schemas.microsoft.com/office/drawing/2014/main" id="{DD453163-17AE-E1D4-0783-7FE7D45751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302" t="10027" r="41613"/>
          <a:stretch/>
        </p:blipFill>
        <p:spPr bwMode="auto">
          <a:xfrm>
            <a:off x="8515949" y="1635647"/>
            <a:ext cx="380061" cy="2807910"/>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3" name="Picture 2" descr="http://5b0988e595225.cdn.sohucs.com/images/20180712/9a46cefa7315405f9cf3cfe9876de54c.png">
            <a:extLst>
              <a:ext uri="{FF2B5EF4-FFF2-40B4-BE49-F238E27FC236}">
                <a16:creationId xmlns:a16="http://schemas.microsoft.com/office/drawing/2014/main" id="{DA954F06-FB1E-B521-3F8E-1FA603FFDA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027" r="88200"/>
          <a:stretch/>
        </p:blipFill>
        <p:spPr bwMode="auto">
          <a:xfrm>
            <a:off x="8135887" y="1635647"/>
            <a:ext cx="380061" cy="2807910"/>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A0733D48-16B6-4291-8EC7-6942FB2268AB}"/>
              </a:ext>
            </a:extLst>
          </p:cNvPr>
          <p:cNvSpPr txBox="1"/>
          <p:nvPr/>
        </p:nvSpPr>
        <p:spPr>
          <a:xfrm>
            <a:off x="214051" y="65411"/>
            <a:ext cx="8678429" cy="583814"/>
          </a:xfrm>
          <a:prstGeom prst="rect">
            <a:avLst/>
          </a:prstGeom>
          <a:solidFill>
            <a:schemeClr val="bg1"/>
          </a:solidFill>
        </p:spPr>
        <p:txBody>
          <a:bodyPr wrap="square">
            <a:spAutoFit/>
          </a:bodyPr>
          <a:lstStyle/>
          <a:p>
            <a:pPr algn="just">
              <a:lnSpc>
                <a:spcPct val="150000"/>
              </a:lnSpc>
            </a:pP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四</a:t>
            </a:r>
            <a:r>
              <a:rPr lang="zh-CN"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大作业案例</a:t>
            </a:r>
            <a:r>
              <a:rPr lang="en-US"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1</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数据统计图</a:t>
            </a:r>
            <a:endParaRPr lang="zh-CN" altLang="zh-CN" sz="2400" dirty="0">
              <a:solidFill>
                <a:srgbClr val="002060"/>
              </a:solidFill>
              <a:latin typeface="华文细黑" pitchFamily="2" charset="-122"/>
              <a:ea typeface="华文细黑" pitchFamily="2" charset="-122"/>
            </a:endParaRPr>
          </a:p>
        </p:txBody>
      </p:sp>
    </p:spTree>
    <p:extLst>
      <p:ext uri="{BB962C8B-B14F-4D97-AF65-F5344CB8AC3E}">
        <p14:creationId xmlns:p14="http://schemas.microsoft.com/office/powerpoint/2010/main" val="1960542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DD4A579-E3E1-44B5-BE4E-02EA1AE7E58F}"/>
              </a:ext>
            </a:extLst>
          </p:cNvPr>
          <p:cNvSpPr txBox="1"/>
          <p:nvPr/>
        </p:nvSpPr>
        <p:spPr>
          <a:xfrm>
            <a:off x="611560" y="18114"/>
            <a:ext cx="8318389" cy="583814"/>
          </a:xfrm>
          <a:prstGeom prst="rect">
            <a:avLst/>
          </a:prstGeom>
          <a:solidFill>
            <a:schemeClr val="bg1"/>
          </a:solidFill>
        </p:spPr>
        <p:txBody>
          <a:bodyPr wrap="square">
            <a:spAutoFit/>
          </a:bodyPr>
          <a:lstStyle/>
          <a:p>
            <a:pPr algn="just">
              <a:lnSpc>
                <a:spcPct val="150000"/>
              </a:lnSpc>
            </a:pP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四</a:t>
            </a:r>
            <a:r>
              <a:rPr lang="zh-CN"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大作业内容</a:t>
            </a:r>
            <a:r>
              <a:rPr lang="en-US"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1</a:t>
            </a:r>
            <a:r>
              <a:rPr lang="zh-CN" altLang="zh-CN"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2060"/>
                </a:solidFill>
                <a:effectLst/>
                <a:latin typeface="等线" panose="02010600030101010101" pitchFamily="2" charset="-122"/>
                <a:ea typeface="黑体" panose="02010609060101010101" pitchFamily="49" charset="-122"/>
                <a:cs typeface="宋体" panose="02010600030101010101" pitchFamily="2" charset="-122"/>
              </a:rPr>
              <a:t>数据统计图</a:t>
            </a:r>
            <a:endParaRPr lang="zh-CN" altLang="zh-CN" sz="2400" dirty="0">
              <a:solidFill>
                <a:srgbClr val="002060"/>
              </a:solidFill>
              <a:latin typeface="华文细黑" pitchFamily="2" charset="-122"/>
              <a:ea typeface="华文细黑" pitchFamily="2" charset="-122"/>
            </a:endParaRPr>
          </a:p>
        </p:txBody>
      </p:sp>
      <p:sp>
        <p:nvSpPr>
          <p:cNvPr id="5" name="文本框 4">
            <a:extLst>
              <a:ext uri="{FF2B5EF4-FFF2-40B4-BE49-F238E27FC236}">
                <a16:creationId xmlns:a16="http://schemas.microsoft.com/office/drawing/2014/main" id="{E8FD7B4D-19E0-4147-93FB-AD1B075FD56B}"/>
              </a:ext>
            </a:extLst>
          </p:cNvPr>
          <p:cNvSpPr txBox="1"/>
          <p:nvPr/>
        </p:nvSpPr>
        <p:spPr>
          <a:xfrm>
            <a:off x="611560" y="649225"/>
            <a:ext cx="8318389" cy="3999043"/>
          </a:xfrm>
          <a:prstGeom prst="rect">
            <a:avLst/>
          </a:prstGeom>
          <a:noFill/>
        </p:spPr>
        <p:txBody>
          <a:bodyPr wrap="square">
            <a:spAutoFit/>
          </a:bodyPr>
          <a:lstStyle/>
          <a:p>
            <a:pPr algn="l">
              <a:lnSpc>
                <a:spcPct val="125000"/>
              </a:lnSpc>
            </a:pPr>
            <a:r>
              <a:rPr lang="zh-CN" altLang="zh-CN" sz="1400" b="1" kern="100" dirty="0">
                <a:effectLst/>
                <a:latin typeface="Calibri" panose="020F0502020204030204" pitchFamily="34" charset="0"/>
                <a:ea typeface="黑体" panose="02010609060101010101" pitchFamily="49" charset="-122"/>
                <a:cs typeface="Times New Roman" panose="02020603050405020304" pitchFamily="18" charset="0"/>
              </a:rPr>
              <a:t>一、二维绘图：需提供代码和所绘图形（</a:t>
            </a:r>
            <a:r>
              <a:rPr lang="en-US" altLang="zh-CN" sz="1400" b="1" kern="100" dirty="0">
                <a:effectLst/>
                <a:latin typeface="Calibri" panose="020F0502020204030204" pitchFamily="34" charset="0"/>
                <a:ea typeface="黑体" panose="02010609060101010101" pitchFamily="49" charset="-122"/>
                <a:cs typeface="Times New Roman" panose="02020603050405020304" pitchFamily="18" charset="0"/>
              </a:rPr>
              <a:t>14</a:t>
            </a:r>
            <a:r>
              <a:rPr lang="zh-CN" altLang="zh-CN" sz="1400" b="1" kern="100" dirty="0">
                <a:effectLst/>
                <a:latin typeface="Calibri" panose="020F0502020204030204" pitchFamily="34" charset="0"/>
                <a:ea typeface="黑体" panose="02010609060101010101" pitchFamily="49" charset="-122"/>
                <a:cs typeface="Times New Roman" panose="02020603050405020304" pitchFamily="18" charset="0"/>
              </a:rPr>
              <a:t>分）</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lnSpc>
                <a:spcPct val="125000"/>
              </a:lnSpc>
            </a:pPr>
            <a:r>
              <a:rPr lang="zh-CN"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根据</a:t>
            </a:r>
            <a:r>
              <a:rPr lang="en-US"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45</a:t>
            </a:r>
            <a:r>
              <a:rPr lang="zh-CN"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天《哪吒</a:t>
            </a:r>
            <a:r>
              <a:rPr lang="en-US"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2</a:t>
            </a:r>
            <a:r>
              <a:rPr lang="zh-CN"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》单日票房数据</a:t>
            </a:r>
            <a:r>
              <a:rPr lang="en-US"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y</a:t>
            </a:r>
            <a:r>
              <a:rPr lang="zh-CN"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（亿元） </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4.87</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7.31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8.12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8.43</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8.66</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6.49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5.85</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5.41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5.33</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3.6</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7.87</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6.14</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1.93</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1.66</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1.27</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1.28</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2.28</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3.51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0.74</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0.61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0.53</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0.49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0.9661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2.344</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1.409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0.2812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0.2465</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0.229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0.223</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0.5619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1.4185</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0.7601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0.1558</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0.1419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0.132</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0.1191</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0.239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b="1" kern="100" dirty="0">
                <a:effectLst/>
                <a:latin typeface="黑体" panose="02010609060101010101" pitchFamily="49" charset="-122"/>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lnSpc>
                <a:spcPct val="125000"/>
              </a:lnSpc>
            </a:pPr>
            <a:r>
              <a:rPr lang="zh-CN" altLang="zh-CN" sz="1400" kern="100" dirty="0">
                <a:effectLst/>
                <a:latin typeface="Calibri" panose="020F0502020204030204" pitchFamily="34" charset="0"/>
                <a:ea typeface="微软雅黑" panose="020B0503020204020204" pitchFamily="34" charset="-122"/>
                <a:cs typeface="Times New Roman" panose="02020603050405020304" pitchFamily="18" charset="0"/>
              </a:rPr>
              <a:t>分别绘制折线图、杆图、条形图和阶梯图。</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采用冒号法建立步长为</a:t>
            </a:r>
            <a:r>
              <a:rPr lang="en-US" altLang="zh-CN" sz="1400" kern="100" dirty="0">
                <a:solidFill>
                  <a:srgbClr val="002060"/>
                </a:solidFill>
                <a:effectLst/>
                <a:latin typeface="Times New Roman" panose="02020603050405020304" pitchFamily="18" charset="0"/>
                <a:ea typeface="等线" panose="02010600030101010101" pitchFamily="2" charset="-122"/>
              </a:rPr>
              <a:t>1</a:t>
            </a:r>
            <a:r>
              <a:rPr lang="zh-CN" altLang="zh-CN" sz="1400" kern="100" dirty="0">
                <a:solidFill>
                  <a:srgbClr val="002060"/>
                </a:solidFill>
                <a:effectLst/>
                <a:latin typeface="Times New Roman" panose="02020603050405020304" pitchFamily="18" charset="0"/>
                <a:ea typeface="等线" panose="02010600030101010101" pitchFamily="2" charset="-122"/>
              </a:rPr>
              <a:t>的时间向量</a:t>
            </a:r>
            <a:r>
              <a:rPr lang="en-US" altLang="zh-CN" sz="1400" kern="100" dirty="0">
                <a:solidFill>
                  <a:srgbClr val="002060"/>
                </a:solidFill>
                <a:effectLst/>
                <a:latin typeface="Times New Roman" panose="02020603050405020304" pitchFamily="18" charset="0"/>
                <a:ea typeface="等线" panose="02010600030101010101" pitchFamily="2" charset="-122"/>
              </a:rPr>
              <a:t>t</a:t>
            </a:r>
            <a:r>
              <a:rPr lang="zh-CN" altLang="zh-CN" sz="1400" kern="100" dirty="0">
                <a:solidFill>
                  <a:srgbClr val="002060"/>
                </a:solidFill>
                <a:effectLst/>
                <a:latin typeface="Times New Roman" panose="02020603050405020304" pitchFamily="18" charset="0"/>
                <a:ea typeface="等线" panose="02010600030101010101" pitchFamily="2" charset="-122"/>
              </a:rPr>
              <a:t>和每日票房</a:t>
            </a:r>
            <a:r>
              <a:rPr lang="en-US" altLang="zh-CN" sz="1400" kern="100" dirty="0">
                <a:solidFill>
                  <a:srgbClr val="002060"/>
                </a:solidFill>
                <a:effectLst/>
                <a:latin typeface="Times New Roman" panose="02020603050405020304" pitchFamily="18" charset="0"/>
                <a:ea typeface="等线" panose="02010600030101010101" pitchFamily="2" charset="-122"/>
              </a:rPr>
              <a:t>y</a:t>
            </a:r>
            <a:r>
              <a:rPr lang="zh-CN" altLang="zh-CN" sz="1400" kern="100" dirty="0">
                <a:solidFill>
                  <a:srgbClr val="002060"/>
                </a:solidFill>
                <a:effectLst/>
                <a:latin typeface="Times New Roman" panose="02020603050405020304" pitchFamily="18" charset="0"/>
                <a:ea typeface="等线" panose="02010600030101010101" pitchFamily="2" charset="-122"/>
              </a:rPr>
              <a:t>的数组（</a:t>
            </a:r>
            <a:r>
              <a:rPr lang="en-US" altLang="zh-CN" sz="1400" kern="100" dirty="0">
                <a:solidFill>
                  <a:srgbClr val="002060"/>
                </a:solidFill>
                <a:effectLst/>
                <a:latin typeface="Times New Roman" panose="02020603050405020304" pitchFamily="18" charset="0"/>
                <a:ea typeface="等线" panose="02010600030101010101" pitchFamily="2" charset="-122"/>
              </a:rPr>
              <a:t>2</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a:solidFill>
                  <a:srgbClr val="002060"/>
                </a:solidFill>
                <a:effectLst/>
                <a:latin typeface="Times New Roman" panose="02020603050405020304" pitchFamily="18" charset="0"/>
                <a:ea typeface="等线" panose="02010600030101010101" pitchFamily="2" charset="-122"/>
              </a:rPr>
              <a:t>subplot</a:t>
            </a:r>
            <a:r>
              <a:rPr lang="zh-CN" altLang="zh-CN" sz="1400" kern="100" dirty="0">
                <a:solidFill>
                  <a:srgbClr val="002060"/>
                </a:solidFill>
                <a:effectLst/>
                <a:latin typeface="Times New Roman" panose="02020603050405020304" pitchFamily="18" charset="0"/>
                <a:ea typeface="等线" panose="02010600030101010101" pitchFamily="2" charset="-122"/>
              </a:rPr>
              <a:t>分别创建四个子图，每个</a:t>
            </a:r>
            <a:r>
              <a:rPr lang="en-US" altLang="zh-CN" sz="1400" kern="100" dirty="0">
                <a:solidFill>
                  <a:srgbClr val="002060"/>
                </a:solidFill>
                <a:effectLst/>
                <a:latin typeface="Times New Roman" panose="02020603050405020304" pitchFamily="18" charset="0"/>
                <a:ea typeface="等线" panose="02010600030101010101" pitchFamily="2" charset="-122"/>
              </a:rPr>
              <a:t>subplot</a:t>
            </a:r>
            <a:r>
              <a:rPr lang="zh-CN" altLang="zh-CN" sz="1400" kern="100" dirty="0">
                <a:solidFill>
                  <a:srgbClr val="002060"/>
                </a:solidFill>
                <a:effectLst/>
                <a:latin typeface="Times New Roman" panose="02020603050405020304" pitchFamily="18" charset="0"/>
                <a:ea typeface="等线" panose="02010600030101010101" pitchFamily="2" charset="-122"/>
              </a:rPr>
              <a:t>命令为</a:t>
            </a:r>
            <a:r>
              <a:rPr lang="en-US" altLang="zh-CN" sz="1400" kern="100" dirty="0">
                <a:solidFill>
                  <a:srgbClr val="002060"/>
                </a:solidFill>
                <a:effectLst/>
                <a:latin typeface="Times New Roman" panose="02020603050405020304" pitchFamily="18" charset="0"/>
                <a:ea typeface="等线" panose="02010600030101010101" pitchFamily="2" charset="-122"/>
              </a:rPr>
              <a:t>0.5</a:t>
            </a:r>
            <a:r>
              <a:rPr lang="zh-CN" altLang="zh-CN" sz="1400" kern="100" dirty="0">
                <a:solidFill>
                  <a:srgbClr val="002060"/>
                </a:solidFill>
                <a:effectLst/>
                <a:latin typeface="Times New Roman" panose="02020603050405020304" pitchFamily="18" charset="0"/>
                <a:ea typeface="等线" panose="02010600030101010101" pitchFamily="2" charset="-122"/>
              </a:rPr>
              <a:t>分 （</a:t>
            </a:r>
            <a:r>
              <a:rPr lang="en-US" altLang="zh-CN" sz="1400" kern="100" dirty="0">
                <a:solidFill>
                  <a:srgbClr val="002060"/>
                </a:solidFill>
                <a:effectLst/>
                <a:latin typeface="Times New Roman" panose="02020603050405020304" pitchFamily="18" charset="0"/>
                <a:ea typeface="等线" panose="02010600030101010101" pitchFamily="2" charset="-122"/>
              </a:rPr>
              <a:t>2</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err="1">
                <a:solidFill>
                  <a:srgbClr val="002060"/>
                </a:solidFill>
                <a:effectLst/>
                <a:latin typeface="Times New Roman" panose="02020603050405020304" pitchFamily="18" charset="0"/>
                <a:ea typeface="等线" panose="02010600030101010101" pitchFamily="2" charset="-122"/>
              </a:rPr>
              <a:t>xlabel</a:t>
            </a:r>
            <a:r>
              <a:rPr lang="zh-CN" altLang="zh-CN" sz="1400" kern="100" dirty="0">
                <a:solidFill>
                  <a:srgbClr val="002060"/>
                </a:solidFill>
                <a:effectLst/>
                <a:latin typeface="Times New Roman" panose="02020603050405020304" pitchFamily="18" charset="0"/>
                <a:ea typeface="等线" panose="02010600030101010101" pitchFamily="2" charset="-122"/>
              </a:rPr>
              <a:t>和</a:t>
            </a:r>
            <a:r>
              <a:rPr lang="en-US" altLang="zh-CN" sz="1400" kern="100" dirty="0" err="1">
                <a:solidFill>
                  <a:srgbClr val="002060"/>
                </a:solidFill>
                <a:effectLst/>
                <a:latin typeface="Times New Roman" panose="02020603050405020304" pitchFamily="18" charset="0"/>
                <a:ea typeface="等线" panose="02010600030101010101" pitchFamily="2" charset="-122"/>
              </a:rPr>
              <a:t>ylabel</a:t>
            </a:r>
            <a:r>
              <a:rPr lang="zh-CN" altLang="zh-CN" sz="1400" kern="100" dirty="0">
                <a:solidFill>
                  <a:srgbClr val="002060"/>
                </a:solidFill>
                <a:effectLst/>
                <a:latin typeface="Times New Roman" panose="02020603050405020304" pitchFamily="18" charset="0"/>
                <a:ea typeface="等线" panose="02010600030101010101" pitchFamily="2" charset="-122"/>
              </a:rPr>
              <a:t>标注每个子图的</a:t>
            </a:r>
            <a:r>
              <a:rPr lang="en-US" altLang="zh-CN" sz="1400" kern="100" dirty="0">
                <a:solidFill>
                  <a:srgbClr val="002060"/>
                </a:solidFill>
                <a:effectLst/>
                <a:latin typeface="Times New Roman" panose="02020603050405020304" pitchFamily="18" charset="0"/>
                <a:ea typeface="等线" panose="02010600030101010101" pitchFamily="2" charset="-122"/>
              </a:rPr>
              <a:t>x</a:t>
            </a:r>
            <a:r>
              <a:rPr lang="zh-CN" altLang="zh-CN" sz="1400" kern="100" dirty="0">
                <a:solidFill>
                  <a:srgbClr val="002060"/>
                </a:solidFill>
                <a:effectLst/>
                <a:latin typeface="Times New Roman" panose="02020603050405020304" pitchFamily="18" charset="0"/>
                <a:ea typeface="等线" panose="02010600030101010101" pitchFamily="2" charset="-122"/>
              </a:rPr>
              <a:t>轴和</a:t>
            </a:r>
            <a:r>
              <a:rPr lang="en-US" altLang="zh-CN" sz="1400" kern="100" dirty="0">
                <a:solidFill>
                  <a:srgbClr val="002060"/>
                </a:solidFill>
                <a:effectLst/>
                <a:latin typeface="Times New Roman" panose="02020603050405020304" pitchFamily="18" charset="0"/>
                <a:ea typeface="等线" panose="02010600030101010101" pitchFamily="2" charset="-122"/>
              </a:rPr>
              <a:t>y</a:t>
            </a:r>
            <a:r>
              <a:rPr lang="zh-CN" altLang="zh-CN" sz="1400" kern="100" dirty="0">
                <a:solidFill>
                  <a:srgbClr val="002060"/>
                </a:solidFill>
                <a:effectLst/>
                <a:latin typeface="Times New Roman" panose="02020603050405020304" pitchFamily="18" charset="0"/>
                <a:ea typeface="等线" panose="02010600030101010101" pitchFamily="2" charset="-122"/>
              </a:rPr>
              <a:t>轴的坐标分别为“时间，天”，“单日票房，亿元” （</a:t>
            </a:r>
            <a:r>
              <a:rPr lang="en-US" altLang="zh-CN" sz="1400" kern="100" dirty="0">
                <a:solidFill>
                  <a:srgbClr val="002060"/>
                </a:solidFill>
                <a:effectLst/>
                <a:latin typeface="Times New Roman" panose="02020603050405020304" pitchFamily="18" charset="0"/>
                <a:ea typeface="等线" panose="02010600030101010101" pitchFamily="2" charset="-122"/>
              </a:rPr>
              <a:t>2</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a:solidFill>
                  <a:srgbClr val="002060"/>
                </a:solidFill>
                <a:effectLst/>
                <a:latin typeface="Times New Roman" panose="02020603050405020304" pitchFamily="18" charset="0"/>
                <a:ea typeface="等线" panose="02010600030101010101" pitchFamily="2" charset="-122"/>
              </a:rPr>
              <a:t>plot</a:t>
            </a:r>
            <a:r>
              <a:rPr lang="zh-CN" altLang="zh-CN" sz="1400" kern="100" dirty="0">
                <a:solidFill>
                  <a:srgbClr val="002060"/>
                </a:solidFill>
                <a:effectLst/>
                <a:latin typeface="Times New Roman" panose="02020603050405020304" pitchFamily="18" charset="0"/>
                <a:ea typeface="等线" panose="02010600030101010101" pitchFamily="2" charset="-122"/>
              </a:rPr>
              <a:t>绘制第一个子图——折线图，要求设置线型、颜色和标记符基本属性</a:t>
            </a:r>
            <a:r>
              <a:rPr lang="en-US" altLang="zh-CN" sz="1400" kern="100" dirty="0" err="1">
                <a:solidFill>
                  <a:srgbClr val="002060"/>
                </a:solidFill>
                <a:effectLst/>
                <a:latin typeface="Times New Roman" panose="02020603050405020304" pitchFamily="18" charset="0"/>
                <a:ea typeface="等线" panose="02010600030101010101" pitchFamily="2" charset="-122"/>
              </a:rPr>
              <a:t>fmt</a:t>
            </a:r>
            <a:r>
              <a:rPr lang="zh-CN" altLang="zh-CN" sz="1400" kern="100" dirty="0">
                <a:solidFill>
                  <a:srgbClr val="002060"/>
                </a:solidFill>
                <a:effectLst/>
                <a:latin typeface="Times New Roman" panose="02020603050405020304" pitchFamily="18" charset="0"/>
                <a:ea typeface="等线" panose="02010600030101010101" pitchFamily="2" charset="-122"/>
              </a:rPr>
              <a:t>：（</a:t>
            </a:r>
            <a:r>
              <a:rPr lang="en-US" altLang="zh-CN" sz="1400" kern="100" dirty="0">
                <a:solidFill>
                  <a:srgbClr val="002060"/>
                </a:solidFill>
                <a:effectLst/>
                <a:latin typeface="Times New Roman" panose="02020603050405020304" pitchFamily="18" charset="0"/>
                <a:ea typeface="等线" panose="02010600030101010101" pitchFamily="2" charset="-122"/>
              </a:rPr>
              <a:t>2</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a:solidFill>
                  <a:srgbClr val="002060"/>
                </a:solidFill>
                <a:effectLst/>
                <a:latin typeface="Times New Roman" panose="02020603050405020304" pitchFamily="18" charset="0"/>
                <a:ea typeface="等线" panose="02010600030101010101" pitchFamily="2" charset="-122"/>
              </a:rPr>
              <a:t>stem</a:t>
            </a:r>
            <a:r>
              <a:rPr lang="zh-CN" altLang="zh-CN" sz="1400" kern="100" dirty="0">
                <a:solidFill>
                  <a:srgbClr val="002060"/>
                </a:solidFill>
                <a:effectLst/>
                <a:latin typeface="Times New Roman" panose="02020603050405020304" pitchFamily="18" charset="0"/>
                <a:ea typeface="等线" panose="02010600030101010101" pitchFamily="2" charset="-122"/>
              </a:rPr>
              <a:t>绘制第二个子图——杆图 （</a:t>
            </a:r>
            <a:r>
              <a:rPr lang="en-US" altLang="zh-CN" sz="1400" kern="100" dirty="0">
                <a:solidFill>
                  <a:srgbClr val="002060"/>
                </a:solidFill>
                <a:effectLst/>
                <a:latin typeface="Times New Roman" panose="02020603050405020304" pitchFamily="18" charset="0"/>
                <a:ea typeface="等线" panose="02010600030101010101" pitchFamily="2" charset="-122"/>
              </a:rPr>
              <a:t>1</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a:solidFill>
                  <a:srgbClr val="002060"/>
                </a:solidFill>
                <a:effectLst/>
                <a:latin typeface="Times New Roman" panose="02020603050405020304" pitchFamily="18" charset="0"/>
                <a:ea typeface="等线" panose="02010600030101010101" pitchFamily="2" charset="-122"/>
              </a:rPr>
              <a:t>bar</a:t>
            </a:r>
            <a:r>
              <a:rPr lang="zh-CN" altLang="zh-CN" sz="1400" kern="100" dirty="0">
                <a:solidFill>
                  <a:srgbClr val="002060"/>
                </a:solidFill>
                <a:effectLst/>
                <a:latin typeface="Times New Roman" panose="02020603050405020304" pitchFamily="18" charset="0"/>
                <a:ea typeface="等线" panose="02010600030101010101" pitchFamily="2" charset="-122"/>
              </a:rPr>
              <a:t>绘制第三个子图——条形图（</a:t>
            </a:r>
            <a:r>
              <a:rPr lang="en-US" altLang="zh-CN" sz="1400" kern="100" dirty="0">
                <a:solidFill>
                  <a:srgbClr val="002060"/>
                </a:solidFill>
                <a:effectLst/>
                <a:latin typeface="Times New Roman" panose="02020603050405020304" pitchFamily="18" charset="0"/>
                <a:ea typeface="等线" panose="02010600030101010101" pitchFamily="2" charset="-122"/>
              </a:rPr>
              <a:t>1</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a:solidFill>
                  <a:srgbClr val="002060"/>
                </a:solidFill>
                <a:effectLst/>
                <a:latin typeface="Times New Roman" panose="02020603050405020304" pitchFamily="18" charset="0"/>
                <a:ea typeface="等线" panose="02010600030101010101" pitchFamily="2" charset="-122"/>
              </a:rPr>
              <a:t>stairs</a:t>
            </a:r>
            <a:r>
              <a:rPr lang="zh-CN" altLang="zh-CN" sz="1400" kern="100" dirty="0">
                <a:solidFill>
                  <a:srgbClr val="002060"/>
                </a:solidFill>
                <a:effectLst/>
                <a:latin typeface="Times New Roman" panose="02020603050405020304" pitchFamily="18" charset="0"/>
                <a:ea typeface="等线" panose="02010600030101010101" pitchFamily="2" charset="-122"/>
              </a:rPr>
              <a:t>绘制第三个子图——阶梯图（</a:t>
            </a:r>
            <a:r>
              <a:rPr lang="en-US" altLang="zh-CN" sz="1400" kern="100" dirty="0">
                <a:solidFill>
                  <a:srgbClr val="002060"/>
                </a:solidFill>
                <a:effectLst/>
                <a:latin typeface="Times New Roman" panose="02020603050405020304" pitchFamily="18" charset="0"/>
                <a:ea typeface="等线" panose="02010600030101010101" pitchFamily="2" charset="-122"/>
              </a:rPr>
              <a:t>1</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用</a:t>
            </a:r>
            <a:r>
              <a:rPr lang="en-US" altLang="zh-CN" sz="1400" kern="100" dirty="0" err="1">
                <a:solidFill>
                  <a:srgbClr val="002060"/>
                </a:solidFill>
                <a:effectLst/>
                <a:latin typeface="Times New Roman" panose="02020603050405020304" pitchFamily="18" charset="0"/>
                <a:ea typeface="等线" panose="02010600030101010101" pitchFamily="2" charset="-122"/>
              </a:rPr>
              <a:t>tightlayout</a:t>
            </a:r>
            <a:r>
              <a:rPr lang="en-US" altLang="zh-CN" sz="1400" kern="100" dirty="0">
                <a:solidFill>
                  <a:srgbClr val="002060"/>
                </a:solidFill>
                <a:effectLst/>
                <a:latin typeface="Times New Roman" panose="02020603050405020304" pitchFamily="18" charset="0"/>
                <a:ea typeface="等线" panose="02010600030101010101" pitchFamily="2" charset="-122"/>
              </a:rPr>
              <a:t>()</a:t>
            </a:r>
            <a:r>
              <a:rPr lang="zh-CN" altLang="zh-CN" sz="1400" kern="100" dirty="0">
                <a:solidFill>
                  <a:srgbClr val="002060"/>
                </a:solidFill>
                <a:effectLst/>
                <a:latin typeface="Times New Roman" panose="02020603050405020304" pitchFamily="18" charset="0"/>
                <a:ea typeface="等线" panose="02010600030101010101" pitchFamily="2" charset="-122"/>
              </a:rPr>
              <a:t>防止题目和曲线重叠（</a:t>
            </a:r>
            <a:r>
              <a:rPr lang="en-US" altLang="zh-CN" sz="1400" kern="100" dirty="0">
                <a:solidFill>
                  <a:srgbClr val="002060"/>
                </a:solidFill>
                <a:effectLst/>
                <a:latin typeface="Times New Roman" panose="02020603050405020304" pitchFamily="18" charset="0"/>
                <a:ea typeface="等线" panose="02010600030101010101" pitchFamily="2" charset="-122"/>
              </a:rPr>
              <a:t>1</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000"/>
              </a:lnSpc>
              <a:buFont typeface="+mj-lt"/>
              <a:buAutoNum type="arabicParenR"/>
              <a:tabLst>
                <a:tab pos="269875" algn="l"/>
              </a:tabLst>
            </a:pPr>
            <a:r>
              <a:rPr lang="zh-CN" altLang="zh-CN" sz="1400" kern="100" dirty="0">
                <a:solidFill>
                  <a:srgbClr val="002060"/>
                </a:solidFill>
                <a:effectLst/>
                <a:latin typeface="Times New Roman" panose="02020603050405020304" pitchFamily="18" charset="0"/>
                <a:ea typeface="等线" panose="02010600030101010101" pitchFamily="2" charset="-122"/>
              </a:rPr>
              <a:t>最后提供由四个子图构成总图，每个子图</a:t>
            </a:r>
            <a:r>
              <a:rPr lang="en-US" altLang="zh-CN" sz="1400" kern="100" dirty="0">
                <a:solidFill>
                  <a:srgbClr val="002060"/>
                </a:solidFill>
                <a:effectLst/>
                <a:latin typeface="Times New Roman" panose="02020603050405020304" pitchFamily="18" charset="0"/>
                <a:ea typeface="等线" panose="02010600030101010101" pitchFamily="2" charset="-122"/>
              </a:rPr>
              <a:t>0.5</a:t>
            </a:r>
            <a:r>
              <a:rPr lang="zh-CN" altLang="zh-CN" sz="1400" kern="100" dirty="0">
                <a:solidFill>
                  <a:srgbClr val="002060"/>
                </a:solidFill>
                <a:effectLst/>
                <a:latin typeface="Times New Roman" panose="02020603050405020304" pitchFamily="18" charset="0"/>
                <a:ea typeface="等线" panose="02010600030101010101" pitchFamily="2" charset="-122"/>
              </a:rPr>
              <a:t>分（</a:t>
            </a:r>
            <a:r>
              <a:rPr lang="en-US" altLang="zh-CN" sz="1400" kern="100" dirty="0">
                <a:solidFill>
                  <a:srgbClr val="002060"/>
                </a:solidFill>
                <a:effectLst/>
                <a:latin typeface="Times New Roman" panose="02020603050405020304" pitchFamily="18" charset="0"/>
                <a:ea typeface="等线" panose="02010600030101010101" pitchFamily="2" charset="-122"/>
              </a:rPr>
              <a:t>2</a:t>
            </a:r>
            <a:r>
              <a:rPr lang="zh-CN" altLang="zh-CN" sz="14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973106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9EBA9F2-1288-42FD-A9D5-38CB189CEED5}"/>
              </a:ext>
            </a:extLst>
          </p:cNvPr>
          <p:cNvSpPr txBox="1"/>
          <p:nvPr/>
        </p:nvSpPr>
        <p:spPr>
          <a:xfrm>
            <a:off x="44340" y="1347614"/>
            <a:ext cx="8952843" cy="3278205"/>
          </a:xfrm>
          <a:prstGeom prst="rect">
            <a:avLst/>
          </a:prstGeom>
          <a:solidFill>
            <a:schemeClr val="bg1"/>
          </a:solidFill>
        </p:spPr>
        <p:txBody>
          <a:bodyPr wrap="square">
            <a:spAutoFit/>
          </a:bodyPr>
          <a:lstStyle/>
          <a:p>
            <a:pPr algn="l">
              <a:lnSpc>
                <a:spcPts val="2500"/>
              </a:lnSpc>
            </a:pPr>
            <a:endParaRPr lang="en-US" altLang="zh-CN" kern="100" dirty="0">
              <a:latin typeface="Calibri" panose="020F0502020204030204" pitchFamily="34" charset="0"/>
              <a:ea typeface="微软雅黑" panose="020B0503020204020204" pitchFamily="34" charset="-122"/>
              <a:cs typeface="Times New Roman" panose="02020603050405020304" pitchFamily="18" charset="0"/>
            </a:endParaRPr>
          </a:p>
          <a:p>
            <a:pPr algn="l">
              <a:lnSpc>
                <a:spcPts val="2500"/>
              </a:lnSpc>
            </a:pPr>
            <a:endParaRPr lang="en-US" altLang="zh-CN" sz="14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l">
              <a:lnSpc>
                <a:spcPts val="2500"/>
              </a:lnSpc>
            </a:pPr>
            <a:endParaRPr lang="en-US" altLang="zh-CN" sz="1400" kern="100" dirty="0">
              <a:latin typeface="Calibri" panose="020F0502020204030204" pitchFamily="34" charset="0"/>
              <a:ea typeface="微软雅黑" panose="020B0503020204020204" pitchFamily="34" charset="-122"/>
              <a:cs typeface="Times New Roman" panose="02020603050405020304" pitchFamily="18" charset="0"/>
            </a:endParaRPr>
          </a:p>
          <a:p>
            <a:pPr algn="l">
              <a:lnSpc>
                <a:spcPts val="2500"/>
              </a:lnSpc>
            </a:pP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创建单日票房数组</a:t>
            </a:r>
            <a:r>
              <a:rPr lang="en-US" altLang="zh-CN" sz="1800" kern="100" dirty="0">
                <a:solidFill>
                  <a:srgbClr val="002060"/>
                </a:solidFill>
                <a:effectLst/>
                <a:latin typeface="Times New Roman" panose="02020603050405020304" pitchFamily="18" charset="0"/>
                <a:ea typeface="等线" panose="02010600030101010101" pitchFamily="2" charset="-122"/>
              </a:rPr>
              <a:t>y</a:t>
            </a:r>
            <a:r>
              <a:rPr lang="zh-CN" altLang="zh-CN" sz="1800" kern="100" dirty="0">
                <a:solidFill>
                  <a:srgbClr val="002060"/>
                </a:solidFill>
                <a:effectLst/>
                <a:latin typeface="Times New Roman" panose="02020603050405020304" pitchFamily="18" charset="0"/>
                <a:ea typeface="等线" panose="02010600030101010101" pitchFamily="2" charset="-122"/>
              </a:rPr>
              <a:t>（</a:t>
            </a:r>
            <a:r>
              <a:rPr lang="en-US" altLang="zh-CN" sz="1800" kern="100" dirty="0">
                <a:solidFill>
                  <a:srgbClr val="002060"/>
                </a:solidFill>
                <a:effectLst/>
                <a:latin typeface="Times New Roman" panose="02020603050405020304" pitchFamily="18" charset="0"/>
                <a:ea typeface="等线" panose="02010600030101010101" pitchFamily="2" charset="-122"/>
              </a:rPr>
              <a:t>1</a:t>
            </a:r>
            <a:r>
              <a:rPr lang="zh-CN" altLang="zh-CN" sz="18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用</a:t>
            </a:r>
            <a:r>
              <a:rPr lang="en-US" altLang="zh-CN" sz="1800" kern="100" dirty="0" err="1">
                <a:solidFill>
                  <a:srgbClr val="002060"/>
                </a:solidFill>
                <a:effectLst/>
                <a:latin typeface="Times New Roman" panose="02020603050405020304" pitchFamily="18" charset="0"/>
                <a:ea typeface="等线" panose="02010600030101010101" pitchFamily="2" charset="-122"/>
              </a:rPr>
              <a:t>mena</a:t>
            </a:r>
            <a:r>
              <a:rPr lang="zh-CN" altLang="zh-CN" sz="1800" kern="100" dirty="0">
                <a:solidFill>
                  <a:srgbClr val="002060"/>
                </a:solidFill>
                <a:effectLst/>
                <a:latin typeface="Times New Roman" panose="02020603050405020304" pitchFamily="18" charset="0"/>
                <a:ea typeface="等线" panose="02010600030101010101" pitchFamily="2" charset="-122"/>
              </a:rPr>
              <a:t>求均值、用</a:t>
            </a:r>
            <a:r>
              <a:rPr lang="en-US" altLang="zh-CN" sz="1800" kern="100" dirty="0">
                <a:solidFill>
                  <a:srgbClr val="002060"/>
                </a:solidFill>
                <a:effectLst/>
                <a:latin typeface="Times New Roman" panose="02020603050405020304" pitchFamily="18" charset="0"/>
                <a:ea typeface="等线" panose="02010600030101010101" pitchFamily="2" charset="-122"/>
              </a:rPr>
              <a:t>median</a:t>
            </a:r>
            <a:r>
              <a:rPr lang="zh-CN" altLang="zh-CN" sz="1800" kern="100" dirty="0">
                <a:solidFill>
                  <a:srgbClr val="002060"/>
                </a:solidFill>
                <a:effectLst/>
                <a:latin typeface="Times New Roman" panose="02020603050405020304" pitchFamily="18" charset="0"/>
                <a:ea typeface="等线" panose="02010600030101010101" pitchFamily="2" charset="-122"/>
              </a:rPr>
              <a:t>求中位数，提供代码和计算结果（</a:t>
            </a:r>
            <a:r>
              <a:rPr lang="en-US" altLang="zh-CN" sz="1800" kern="100" dirty="0">
                <a:solidFill>
                  <a:srgbClr val="002060"/>
                </a:solidFill>
                <a:effectLst/>
                <a:latin typeface="Times New Roman" panose="02020603050405020304" pitchFamily="18" charset="0"/>
                <a:ea typeface="等线" panose="02010600030101010101" pitchFamily="2" charset="-122"/>
              </a:rPr>
              <a:t>3</a:t>
            </a:r>
            <a:r>
              <a:rPr lang="zh-CN" altLang="zh-CN" sz="18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用</a:t>
            </a:r>
            <a:r>
              <a:rPr lang="en-US" altLang="zh-CN" sz="1800" kern="100" dirty="0">
                <a:solidFill>
                  <a:srgbClr val="002060"/>
                </a:solidFill>
                <a:effectLst/>
                <a:latin typeface="Times New Roman" panose="02020603050405020304" pitchFamily="18" charset="0"/>
                <a:ea typeface="等线" panose="02010600030101010101" pitchFamily="2" charset="-122"/>
              </a:rPr>
              <a:t>mode</a:t>
            </a:r>
            <a:r>
              <a:rPr lang="zh-CN" altLang="zh-CN" sz="1800" kern="100" dirty="0">
                <a:solidFill>
                  <a:srgbClr val="002060"/>
                </a:solidFill>
                <a:effectLst/>
                <a:latin typeface="Times New Roman" panose="02020603050405020304" pitchFamily="18" charset="0"/>
                <a:ea typeface="等线" panose="02010600030101010101" pitchFamily="2" charset="-122"/>
              </a:rPr>
              <a:t>求众数，用</a:t>
            </a:r>
            <a:r>
              <a:rPr lang="en-US" altLang="zh-CN" sz="1800" kern="100" dirty="0">
                <a:solidFill>
                  <a:srgbClr val="002060"/>
                </a:solidFill>
                <a:effectLst/>
                <a:latin typeface="Times New Roman" panose="02020603050405020304" pitchFamily="18" charset="0"/>
                <a:ea typeface="等线" panose="02010600030101010101" pitchFamily="2" charset="-122"/>
              </a:rPr>
              <a:t>sum</a:t>
            </a:r>
            <a:r>
              <a:rPr lang="zh-CN" altLang="zh-CN" sz="1800" kern="100" dirty="0">
                <a:solidFill>
                  <a:srgbClr val="002060"/>
                </a:solidFill>
                <a:effectLst/>
                <a:latin typeface="Times New Roman" panose="02020603050405020304" pitchFamily="18" charset="0"/>
                <a:ea typeface="等线" panose="02010600030101010101" pitchFamily="2" charset="-122"/>
              </a:rPr>
              <a:t>求总票房，提供代码和计算结果（</a:t>
            </a:r>
            <a:r>
              <a:rPr lang="en-US" altLang="zh-CN" sz="1800" kern="100" dirty="0">
                <a:solidFill>
                  <a:srgbClr val="002060"/>
                </a:solidFill>
                <a:effectLst/>
                <a:latin typeface="Times New Roman" panose="02020603050405020304" pitchFamily="18" charset="0"/>
                <a:ea typeface="等线" panose="02010600030101010101" pitchFamily="2" charset="-122"/>
              </a:rPr>
              <a:t>3</a:t>
            </a:r>
            <a:r>
              <a:rPr lang="zh-CN" altLang="zh-CN" sz="18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用</a:t>
            </a:r>
            <a:r>
              <a:rPr lang="en-US" altLang="zh-CN" sz="1800" kern="100" dirty="0" err="1">
                <a:solidFill>
                  <a:srgbClr val="002060"/>
                </a:solidFill>
                <a:effectLst/>
                <a:latin typeface="Times New Roman" panose="02020603050405020304" pitchFamily="18" charset="0"/>
                <a:ea typeface="等线" panose="02010600030101010101" pitchFamily="2" charset="-122"/>
              </a:rPr>
              <a:t>cdfplot</a:t>
            </a:r>
            <a:r>
              <a:rPr lang="zh-CN" altLang="zh-CN" sz="1800" kern="100" dirty="0">
                <a:solidFill>
                  <a:srgbClr val="002060"/>
                </a:solidFill>
                <a:effectLst/>
                <a:latin typeface="Times New Roman" panose="02020603050405020304" pitchFamily="18" charset="0"/>
                <a:ea typeface="等线" panose="02010600030101010101" pitchFamily="2" charset="-122"/>
              </a:rPr>
              <a:t>绘制票房数组</a:t>
            </a:r>
            <a:r>
              <a:rPr lang="en-US" altLang="zh-CN" sz="1800" kern="100" dirty="0">
                <a:solidFill>
                  <a:srgbClr val="002060"/>
                </a:solidFill>
                <a:effectLst/>
                <a:latin typeface="Times New Roman" panose="02020603050405020304" pitchFamily="18" charset="0"/>
                <a:ea typeface="等线" panose="02010600030101010101" pitchFamily="2" charset="-122"/>
              </a:rPr>
              <a:t>y</a:t>
            </a:r>
            <a:r>
              <a:rPr lang="zh-CN" altLang="zh-CN" sz="1800" kern="100" dirty="0">
                <a:solidFill>
                  <a:srgbClr val="002060"/>
                </a:solidFill>
                <a:effectLst/>
                <a:latin typeface="Times New Roman" panose="02020603050405020304" pitchFamily="18" charset="0"/>
                <a:ea typeface="等线" panose="02010600030101010101" pitchFamily="2" charset="-122"/>
              </a:rPr>
              <a:t>经验累计概率，需要提供代码和曲线（</a:t>
            </a:r>
            <a:r>
              <a:rPr lang="en-US" altLang="zh-CN" sz="1800" kern="100" dirty="0">
                <a:solidFill>
                  <a:srgbClr val="002060"/>
                </a:solidFill>
                <a:effectLst/>
                <a:latin typeface="Times New Roman" panose="02020603050405020304" pitchFamily="18" charset="0"/>
                <a:ea typeface="等线" panose="02010600030101010101" pitchFamily="2" charset="-122"/>
              </a:rPr>
              <a:t>2</a:t>
            </a:r>
            <a:r>
              <a:rPr lang="zh-CN" altLang="zh-CN" sz="1800" kern="100" dirty="0">
                <a:solidFill>
                  <a:srgbClr val="002060"/>
                </a:solidFill>
                <a:effectLst/>
                <a:latin typeface="Times New Roman" panose="02020603050405020304" pitchFamily="18" charset="0"/>
                <a:ea typeface="等线" panose="02010600030101010101" pitchFamily="2" charset="-122"/>
              </a:rPr>
              <a:t>分） </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用</a:t>
            </a:r>
            <a:r>
              <a:rPr lang="en-US" altLang="zh-CN" sz="1800" kern="100" dirty="0">
                <a:solidFill>
                  <a:srgbClr val="002060"/>
                </a:solidFill>
                <a:effectLst/>
                <a:latin typeface="Times New Roman" panose="02020603050405020304" pitchFamily="18" charset="0"/>
                <a:ea typeface="等线" panose="02010600030101010101" pitchFamily="2" charset="-122"/>
              </a:rPr>
              <a:t>histogram</a:t>
            </a:r>
            <a:r>
              <a:rPr lang="zh-CN" altLang="zh-CN" sz="1800" kern="100" dirty="0">
                <a:solidFill>
                  <a:srgbClr val="002060"/>
                </a:solidFill>
                <a:effectLst/>
                <a:latin typeface="Times New Roman" panose="02020603050405020304" pitchFamily="18" charset="0"/>
                <a:ea typeface="等线" panose="02010600030101010101" pitchFamily="2" charset="-122"/>
              </a:rPr>
              <a:t>绘制单日票房</a:t>
            </a:r>
            <a:r>
              <a:rPr lang="en-US" altLang="zh-CN" sz="1800" kern="100" dirty="0">
                <a:solidFill>
                  <a:srgbClr val="002060"/>
                </a:solidFill>
                <a:effectLst/>
                <a:latin typeface="Times New Roman" panose="02020603050405020304" pitchFamily="18" charset="0"/>
                <a:ea typeface="等线" panose="02010600030101010101" pitchFamily="2" charset="-122"/>
              </a:rPr>
              <a:t>y</a:t>
            </a:r>
            <a:r>
              <a:rPr lang="zh-CN" altLang="zh-CN" sz="1800" kern="100" dirty="0">
                <a:solidFill>
                  <a:srgbClr val="002060"/>
                </a:solidFill>
                <a:effectLst/>
                <a:latin typeface="Times New Roman" panose="02020603050405020304" pitchFamily="18" charset="0"/>
                <a:ea typeface="等线" panose="02010600030101010101" pitchFamily="2" charset="-122"/>
              </a:rPr>
              <a:t>频数直方图，要求条数</a:t>
            </a:r>
            <a:r>
              <a:rPr lang="en-US" altLang="zh-CN" sz="1800" kern="100" dirty="0">
                <a:solidFill>
                  <a:srgbClr val="002060"/>
                </a:solidFill>
                <a:effectLst/>
                <a:latin typeface="Times New Roman" panose="02020603050405020304" pitchFamily="18" charset="0"/>
                <a:ea typeface="等线" panose="02010600030101010101" pitchFamily="2" charset="-122"/>
              </a:rPr>
              <a:t>bin</a:t>
            </a:r>
            <a:r>
              <a:rPr lang="zh-CN" altLang="zh-CN" sz="1800" kern="100" dirty="0">
                <a:solidFill>
                  <a:srgbClr val="002060"/>
                </a:solidFill>
                <a:effectLst/>
                <a:latin typeface="Times New Roman" panose="02020603050405020304" pitchFamily="18" charset="0"/>
                <a:ea typeface="等线" panose="02010600030101010101" pitchFamily="2" charset="-122"/>
              </a:rPr>
              <a:t>为</a:t>
            </a:r>
            <a:r>
              <a:rPr lang="en-US" altLang="zh-CN" sz="1800" kern="100" dirty="0">
                <a:solidFill>
                  <a:srgbClr val="002060"/>
                </a:solidFill>
                <a:effectLst/>
                <a:latin typeface="Times New Roman" panose="02020603050405020304" pitchFamily="18" charset="0"/>
                <a:ea typeface="等线" panose="02010600030101010101" pitchFamily="2" charset="-122"/>
              </a:rPr>
              <a:t>7</a:t>
            </a:r>
            <a:r>
              <a:rPr lang="zh-CN" altLang="zh-CN" sz="1800" kern="100" dirty="0">
                <a:solidFill>
                  <a:srgbClr val="002060"/>
                </a:solidFill>
                <a:effectLst/>
                <a:latin typeface="Times New Roman" panose="02020603050405020304" pitchFamily="18" charset="0"/>
                <a:ea typeface="等线" panose="02010600030101010101" pitchFamily="2" charset="-122"/>
              </a:rPr>
              <a:t>，提供代码和曲线（</a:t>
            </a:r>
            <a:r>
              <a:rPr lang="en-US" altLang="zh-CN" sz="1800" kern="100" dirty="0">
                <a:solidFill>
                  <a:srgbClr val="002060"/>
                </a:solidFill>
                <a:effectLst/>
                <a:latin typeface="Times New Roman" panose="02020603050405020304" pitchFamily="18" charset="0"/>
                <a:ea typeface="等线" panose="02010600030101010101" pitchFamily="2" charset="-122"/>
              </a:rPr>
              <a:t>2</a:t>
            </a:r>
            <a:r>
              <a:rPr lang="zh-CN" altLang="zh-CN" sz="18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Times New Roman" panose="02020603050405020304" pitchFamily="18" charset="0"/>
              <a:ea typeface="宋体" panose="02010600030101010101" pitchFamily="2" charset="-122"/>
            </a:endParaRPr>
          </a:p>
          <a:p>
            <a:pPr marL="342900" lvl="0" indent="-342900" algn="l" fontAlgn="base" hangingPunct="0">
              <a:lnSpc>
                <a:spcPts val="2500"/>
              </a:lnSpc>
              <a:buFont typeface="+mj-lt"/>
              <a:buAutoNum type="arabicParenR"/>
              <a:tabLst>
                <a:tab pos="269875" algn="l"/>
              </a:tabLst>
            </a:pPr>
            <a:r>
              <a:rPr lang="zh-CN" altLang="zh-CN" sz="1800" kern="100" dirty="0">
                <a:solidFill>
                  <a:srgbClr val="002060"/>
                </a:solidFill>
                <a:effectLst/>
                <a:latin typeface="Times New Roman" panose="02020603050405020304" pitchFamily="18" charset="0"/>
                <a:ea typeface="等线" panose="02010600030101010101" pitchFamily="2" charset="-122"/>
              </a:rPr>
              <a:t>用</a:t>
            </a:r>
            <a:r>
              <a:rPr lang="en-US" altLang="zh-CN" sz="1800" kern="100" dirty="0" err="1">
                <a:solidFill>
                  <a:srgbClr val="002060"/>
                </a:solidFill>
                <a:effectLst/>
                <a:latin typeface="Times New Roman" panose="02020603050405020304" pitchFamily="18" charset="0"/>
                <a:ea typeface="等线" panose="02010600030101010101" pitchFamily="2" charset="-122"/>
              </a:rPr>
              <a:t>xlabel</a:t>
            </a:r>
            <a:r>
              <a:rPr lang="zh-CN" altLang="zh-CN" sz="1800" kern="100" dirty="0">
                <a:solidFill>
                  <a:srgbClr val="002060"/>
                </a:solidFill>
                <a:effectLst/>
                <a:latin typeface="Times New Roman" panose="02020603050405020304" pitchFamily="18" charset="0"/>
                <a:ea typeface="等线" panose="02010600030101010101" pitchFamily="2" charset="-122"/>
              </a:rPr>
              <a:t>和</a:t>
            </a:r>
            <a:r>
              <a:rPr lang="en-US" altLang="zh-CN" sz="1800" kern="100" dirty="0" err="1">
                <a:solidFill>
                  <a:srgbClr val="002060"/>
                </a:solidFill>
                <a:effectLst/>
                <a:latin typeface="Times New Roman" panose="02020603050405020304" pitchFamily="18" charset="0"/>
                <a:ea typeface="等线" panose="02010600030101010101" pitchFamily="2" charset="-122"/>
              </a:rPr>
              <a:t>ylabel</a:t>
            </a:r>
            <a:r>
              <a:rPr lang="zh-CN" altLang="zh-CN" sz="1800" kern="100" dirty="0">
                <a:solidFill>
                  <a:srgbClr val="002060"/>
                </a:solidFill>
                <a:effectLst/>
                <a:latin typeface="Times New Roman" panose="02020603050405020304" pitchFamily="18" charset="0"/>
                <a:ea typeface="等线" panose="02010600030101010101" pitchFamily="2" charset="-122"/>
              </a:rPr>
              <a:t>标注频数直方图的</a:t>
            </a:r>
            <a:r>
              <a:rPr lang="en-US" altLang="zh-CN" sz="1800" kern="100" dirty="0">
                <a:solidFill>
                  <a:srgbClr val="002060"/>
                </a:solidFill>
                <a:effectLst/>
                <a:latin typeface="Times New Roman" panose="02020603050405020304" pitchFamily="18" charset="0"/>
                <a:ea typeface="等线" panose="02010600030101010101" pitchFamily="2" charset="-122"/>
              </a:rPr>
              <a:t>x</a:t>
            </a:r>
            <a:r>
              <a:rPr lang="zh-CN" altLang="zh-CN" sz="1800" kern="100" dirty="0">
                <a:solidFill>
                  <a:srgbClr val="002060"/>
                </a:solidFill>
                <a:effectLst/>
                <a:latin typeface="Times New Roman" panose="02020603050405020304" pitchFamily="18" charset="0"/>
                <a:ea typeface="等线" panose="02010600030101010101" pitchFamily="2" charset="-122"/>
              </a:rPr>
              <a:t>轴和</a:t>
            </a:r>
            <a:r>
              <a:rPr lang="en-US" altLang="zh-CN" sz="1800" kern="100" dirty="0">
                <a:solidFill>
                  <a:srgbClr val="002060"/>
                </a:solidFill>
                <a:effectLst/>
                <a:latin typeface="Times New Roman" panose="02020603050405020304" pitchFamily="18" charset="0"/>
                <a:ea typeface="等线" panose="02010600030101010101" pitchFamily="2" charset="-122"/>
              </a:rPr>
              <a:t>y</a:t>
            </a:r>
            <a:r>
              <a:rPr lang="zh-CN" altLang="zh-CN" sz="1800" kern="100" dirty="0">
                <a:solidFill>
                  <a:srgbClr val="002060"/>
                </a:solidFill>
                <a:effectLst/>
                <a:latin typeface="Times New Roman" panose="02020603050405020304" pitchFamily="18" charset="0"/>
                <a:ea typeface="等线" panose="02010600030101010101" pitchFamily="2" charset="-122"/>
              </a:rPr>
              <a:t>轴标签分别为每日票房和频数（</a:t>
            </a:r>
            <a:r>
              <a:rPr lang="en-US" altLang="zh-CN" sz="1800" kern="100" dirty="0">
                <a:solidFill>
                  <a:srgbClr val="002060"/>
                </a:solidFill>
                <a:effectLst/>
                <a:latin typeface="Times New Roman" panose="02020603050405020304" pitchFamily="18" charset="0"/>
                <a:ea typeface="等线" panose="02010600030101010101" pitchFamily="2" charset="-122"/>
              </a:rPr>
              <a:t>2</a:t>
            </a:r>
            <a:r>
              <a:rPr lang="zh-CN" altLang="zh-CN" sz="1800" kern="100" dirty="0">
                <a:solidFill>
                  <a:srgbClr val="002060"/>
                </a:solidFill>
                <a:effectLst/>
                <a:latin typeface="Times New Roman" panose="02020603050405020304" pitchFamily="18" charset="0"/>
                <a:ea typeface="等线" panose="02010600030101010101" pitchFamily="2" charset="-122"/>
              </a:rPr>
              <a:t>分）</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4FAADE63-1372-4916-818D-03F99AC50E06}"/>
              </a:ext>
            </a:extLst>
          </p:cNvPr>
          <p:cNvSpPr txBox="1"/>
          <p:nvPr/>
        </p:nvSpPr>
        <p:spPr>
          <a:xfrm>
            <a:off x="214051" y="65411"/>
            <a:ext cx="8678429" cy="583814"/>
          </a:xfrm>
          <a:prstGeom prst="rect">
            <a:avLst/>
          </a:prstGeom>
          <a:solidFill>
            <a:schemeClr val="bg1"/>
          </a:solidFill>
        </p:spPr>
        <p:txBody>
          <a:bodyPr wrap="square">
            <a:spAutoFit/>
          </a:bodyPr>
          <a:lstStyle/>
          <a:p>
            <a:pPr algn="just">
              <a:lnSpc>
                <a:spcPct val="150000"/>
              </a:lnSpc>
            </a:pP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四</a:t>
            </a:r>
            <a:r>
              <a:rPr lang="zh-CN"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zh-CN" altLang="en-US"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大作业内容</a:t>
            </a:r>
            <a:r>
              <a:rPr lang="en-US" altLang="zh-CN" sz="2400" b="1" kern="1800" dirty="0">
                <a:solidFill>
                  <a:srgbClr val="0070C0"/>
                </a:solidFill>
                <a:effectLst/>
                <a:latin typeface="等线" panose="02010600030101010101" pitchFamily="2" charset="-122"/>
                <a:ea typeface="黑体" panose="02010609060101010101" pitchFamily="49" charset="-122"/>
                <a:cs typeface="宋体" panose="02010600030101010101" pitchFamily="2" charset="-122"/>
              </a:rPr>
              <a:t>——</a:t>
            </a:r>
            <a:r>
              <a:rPr lang="en-US" altLang="zh-CN" sz="2400" b="1" kern="1800" dirty="0">
                <a:solidFill>
                  <a:srgbClr val="002060"/>
                </a:solidFill>
                <a:effectLst/>
                <a:latin typeface="黑体" panose="02010609060101010101" pitchFamily="49" charset="-122"/>
                <a:ea typeface="等线" panose="02010600030101010101" pitchFamily="2" charset="-122"/>
                <a:cs typeface="宋体" panose="02010600030101010101" pitchFamily="2" charset="-122"/>
              </a:rPr>
              <a:t>2.</a:t>
            </a:r>
            <a:r>
              <a:rPr lang="zh-CN" altLang="zh-CN" sz="2400" b="1" kern="100" dirty="0">
                <a:effectLst/>
                <a:latin typeface="Calibri" panose="020F0502020204030204" pitchFamily="34" charset="0"/>
                <a:ea typeface="黑体" panose="02010609060101010101" pitchFamily="49" charset="-122"/>
                <a:cs typeface="Times New Roman" panose="02020603050405020304" pitchFamily="18" charset="0"/>
              </a:rPr>
              <a:t>概率统计： </a:t>
            </a:r>
            <a:r>
              <a:rPr lang="en-US" altLang="zh-CN" sz="2400" b="1" kern="100" dirty="0">
                <a:effectLst/>
                <a:latin typeface="Calibri" panose="020F0502020204030204" pitchFamily="34" charset="0"/>
                <a:ea typeface="黑体" panose="02010609060101010101" pitchFamily="49" charset="-122"/>
                <a:cs typeface="Times New Roman" panose="02020603050405020304" pitchFamily="18" charset="0"/>
              </a:rPr>
              <a:t>(13</a:t>
            </a:r>
            <a:r>
              <a:rPr lang="zh-CN" altLang="zh-CN" sz="2400" b="1" kern="100" dirty="0">
                <a:effectLst/>
                <a:latin typeface="Calibri" panose="020F0502020204030204" pitchFamily="34" charset="0"/>
                <a:ea typeface="黑体" panose="02010609060101010101" pitchFamily="49" charset="-122"/>
                <a:cs typeface="Times New Roman" panose="02020603050405020304" pitchFamily="18" charset="0"/>
              </a:rPr>
              <a:t>分）</a:t>
            </a:r>
            <a:endParaRPr lang="zh-CN" altLang="zh-CN" sz="2400" dirty="0">
              <a:solidFill>
                <a:srgbClr val="002060"/>
              </a:solidFill>
              <a:latin typeface="华文细黑" pitchFamily="2" charset="-122"/>
              <a:ea typeface="华文细黑" pitchFamily="2" charset="-122"/>
            </a:endParaRPr>
          </a:p>
        </p:txBody>
      </p:sp>
      <p:pic>
        <p:nvPicPr>
          <p:cNvPr id="6" name="图片 5">
            <a:extLst>
              <a:ext uri="{FF2B5EF4-FFF2-40B4-BE49-F238E27FC236}">
                <a16:creationId xmlns:a16="http://schemas.microsoft.com/office/drawing/2014/main" id="{B348C32A-9207-4657-BAA3-7109DC5E2149}"/>
              </a:ext>
            </a:extLst>
          </p:cNvPr>
          <p:cNvPicPr>
            <a:picLocks noChangeAspect="1"/>
          </p:cNvPicPr>
          <p:nvPr/>
        </p:nvPicPr>
        <p:blipFill>
          <a:blip r:embed="rId2"/>
          <a:stretch>
            <a:fillRect/>
          </a:stretch>
        </p:blipFill>
        <p:spPr>
          <a:xfrm>
            <a:off x="5796136" y="711701"/>
            <a:ext cx="2987824" cy="1944216"/>
          </a:xfrm>
          <a:prstGeom prst="rect">
            <a:avLst/>
          </a:prstGeom>
        </p:spPr>
      </p:pic>
      <p:sp>
        <p:nvSpPr>
          <p:cNvPr id="10" name="文本框 9">
            <a:extLst>
              <a:ext uri="{FF2B5EF4-FFF2-40B4-BE49-F238E27FC236}">
                <a16:creationId xmlns:a16="http://schemas.microsoft.com/office/drawing/2014/main" id="{5ED942C8-02F0-4B73-A4FE-09007DBC3CE0}"/>
              </a:ext>
            </a:extLst>
          </p:cNvPr>
          <p:cNvSpPr txBox="1"/>
          <p:nvPr/>
        </p:nvSpPr>
        <p:spPr>
          <a:xfrm>
            <a:off x="31762" y="1192134"/>
            <a:ext cx="5898613" cy="1363387"/>
          </a:xfrm>
          <a:prstGeom prst="rect">
            <a:avLst/>
          </a:prstGeom>
          <a:noFill/>
        </p:spPr>
        <p:txBody>
          <a:bodyPr wrap="square">
            <a:spAutoFit/>
          </a:bodyPr>
          <a:lstStyle/>
          <a:p>
            <a:pPr algn="l">
              <a:lnSpc>
                <a:spcPts val="2000"/>
              </a:lnSpc>
            </a:pP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4.87</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7.31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8.12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8.43</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8.66</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6.49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5.85</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5.41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4.82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5.33</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3.6</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5.81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7.87</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6.14</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1.93</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1.66</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1.27</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1.28</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2.28</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3.51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0.74</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0.61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0.53</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0.49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0.9661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2.344</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1.409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0.2812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0.2465</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0.229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0.223</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0.5619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1.4185</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0.7601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0.1558</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0.1419</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0.132</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0.1191</a:t>
            </a:r>
            <a:r>
              <a:rPr lang="en-US" altLang="zh-CN" sz="16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0.239</a:t>
            </a:r>
            <a:r>
              <a:rPr lang="en-US" altLang="zh-CN" sz="14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0D231EA7-50B7-4472-9EF2-624AC78EC1D4}"/>
              </a:ext>
            </a:extLst>
          </p:cNvPr>
          <p:cNvSpPr txBox="1"/>
          <p:nvPr/>
        </p:nvSpPr>
        <p:spPr>
          <a:xfrm>
            <a:off x="95578" y="724472"/>
            <a:ext cx="5148064" cy="392415"/>
          </a:xfrm>
          <a:prstGeom prst="rect">
            <a:avLst/>
          </a:prstGeom>
          <a:solidFill>
            <a:schemeClr val="bg1"/>
          </a:solidFill>
        </p:spPr>
        <p:txBody>
          <a:bodyPr wrap="square">
            <a:spAutoFit/>
          </a:bodyPr>
          <a:lstStyle/>
          <a:p>
            <a:pPr algn="l">
              <a:lnSpc>
                <a:spcPts val="2500"/>
              </a:lnSpc>
            </a:pPr>
            <a:r>
              <a:rPr lang="zh-CN"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根据提供</a:t>
            </a:r>
            <a:r>
              <a:rPr lang="en-US"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45</a:t>
            </a:r>
            <a:r>
              <a:rPr lang="zh-CN"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天时间的《哪吒</a:t>
            </a:r>
            <a:r>
              <a:rPr lang="en-US"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2</a:t>
            </a:r>
            <a:r>
              <a:rPr lang="zh-CN"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》的单日票房数据</a:t>
            </a:r>
            <a:r>
              <a:rPr lang="en-US" altLang="zh-CN" sz="1800" kern="100" dirty="0">
                <a:effectLst/>
                <a:latin typeface="微软雅黑" panose="020B0503020204020204" pitchFamily="34" charset="-122"/>
                <a:ea typeface="宋体" panose="02010600030101010101" pitchFamily="2" charset="-122"/>
                <a:cs typeface="Times New Roman" panose="02020603050405020304" pitchFamily="18" charset="0"/>
              </a:rPr>
              <a:t>y</a:t>
            </a:r>
            <a:r>
              <a:rPr lang="zh-CN" altLang="zh-CN" sz="1800"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en-US" altLang="zh-CN" sz="1800" kern="100" dirty="0">
              <a:effectLst/>
              <a:latin typeface="Calibri" panose="020F0502020204030204" pitchFamily="34"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11337198"/>
      </p:ext>
    </p:extLst>
  </p:cSld>
  <p:clrMapOvr>
    <a:masterClrMapping/>
  </p:clrMapOvr>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10667</TotalTime>
  <Pages>154</Pages>
  <Words>4124</Words>
  <Characters>0</Characters>
  <Application>Microsoft Office PowerPoint</Application>
  <DocSecurity>0</DocSecurity>
  <PresentationFormat>全屏显示(16:9)</PresentationFormat>
  <Lines>0</Lines>
  <Paragraphs>488</Paragraphs>
  <Slides>20</Slides>
  <Notes>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20</vt:i4>
      </vt:variant>
    </vt:vector>
  </HeadingPairs>
  <TitlesOfParts>
    <vt:vector size="39" baseType="lpstr">
      <vt:lpstr>Menlo</vt:lpstr>
      <vt:lpstr>PingFang SC</vt:lpstr>
      <vt:lpstr>等线</vt:lpstr>
      <vt:lpstr>黑体</vt:lpstr>
      <vt:lpstr>华文仿宋</vt:lpstr>
      <vt:lpstr>华文楷体</vt:lpstr>
      <vt:lpstr>华文细黑</vt:lpstr>
      <vt:lpstr>楷体</vt:lpstr>
      <vt:lpstr>隶书</vt:lpstr>
      <vt:lpstr>宋体</vt:lpstr>
      <vt:lpstr>微软雅黑</vt:lpstr>
      <vt:lpstr>微软雅黑 Light</vt:lpstr>
      <vt:lpstr>Arial</vt:lpstr>
      <vt:lpstr>Calibri</vt:lpstr>
      <vt:lpstr>Consolas</vt:lpstr>
      <vt:lpstr>Helvetica</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849</cp:revision>
  <dcterms:modified xsi:type="dcterms:W3CDTF">2025-03-28T07:26:05Z</dcterms:modified>
</cp:coreProperties>
</file>