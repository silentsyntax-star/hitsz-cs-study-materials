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75" r:id="rId1"/>
  </p:sldMasterIdLst>
  <p:notesMasterIdLst>
    <p:notesMasterId r:id="rId61"/>
  </p:notesMasterIdLst>
  <p:sldIdLst>
    <p:sldId id="1351" r:id="rId2"/>
    <p:sldId id="10108" r:id="rId3"/>
    <p:sldId id="1234" r:id="rId4"/>
    <p:sldId id="1236" r:id="rId5"/>
    <p:sldId id="10090" r:id="rId6"/>
    <p:sldId id="1242" r:id="rId7"/>
    <p:sldId id="10105" r:id="rId8"/>
    <p:sldId id="1338" r:id="rId9"/>
    <p:sldId id="2206" r:id="rId10"/>
    <p:sldId id="10112" r:id="rId11"/>
    <p:sldId id="1246" r:id="rId12"/>
    <p:sldId id="1305" r:id="rId13"/>
    <p:sldId id="10092" r:id="rId14"/>
    <p:sldId id="10086" r:id="rId15"/>
    <p:sldId id="10093" r:id="rId16"/>
    <p:sldId id="10099" r:id="rId17"/>
    <p:sldId id="1250" r:id="rId18"/>
    <p:sldId id="1304" r:id="rId19"/>
    <p:sldId id="1254" r:id="rId20"/>
    <p:sldId id="10110" r:id="rId21"/>
    <p:sldId id="1306" r:id="rId22"/>
    <p:sldId id="1307" r:id="rId23"/>
    <p:sldId id="1309" r:id="rId24"/>
    <p:sldId id="1311" r:id="rId25"/>
    <p:sldId id="774" r:id="rId26"/>
    <p:sldId id="1312" r:id="rId27"/>
    <p:sldId id="1315" r:id="rId28"/>
    <p:sldId id="1365" r:id="rId29"/>
    <p:sldId id="1367" r:id="rId30"/>
    <p:sldId id="10109" r:id="rId31"/>
    <p:sldId id="1369" r:id="rId32"/>
    <p:sldId id="1332" r:id="rId33"/>
    <p:sldId id="10107" r:id="rId34"/>
    <p:sldId id="262" r:id="rId35"/>
    <p:sldId id="10094" r:id="rId36"/>
    <p:sldId id="1329" r:id="rId37"/>
    <p:sldId id="1327" r:id="rId38"/>
    <p:sldId id="1374" r:id="rId39"/>
    <p:sldId id="1336" r:id="rId40"/>
    <p:sldId id="1328" r:id="rId41"/>
    <p:sldId id="811" r:id="rId42"/>
    <p:sldId id="1321" r:id="rId43"/>
    <p:sldId id="1322" r:id="rId44"/>
    <p:sldId id="809" r:id="rId45"/>
    <p:sldId id="10087" r:id="rId46"/>
    <p:sldId id="10098" r:id="rId47"/>
    <p:sldId id="10088" r:id="rId48"/>
    <p:sldId id="10100" r:id="rId49"/>
    <p:sldId id="10104" r:id="rId50"/>
    <p:sldId id="10103" r:id="rId51"/>
    <p:sldId id="10095" r:id="rId52"/>
    <p:sldId id="1326" r:id="rId53"/>
    <p:sldId id="682" r:id="rId54"/>
    <p:sldId id="683" r:id="rId55"/>
    <p:sldId id="684" r:id="rId56"/>
    <p:sldId id="1323" r:id="rId57"/>
    <p:sldId id="1314" r:id="rId58"/>
    <p:sldId id="1368" r:id="rId59"/>
    <p:sldId id="10102" r:id="rId60"/>
  </p:sldIdLst>
  <p:sldSz cx="9144000" cy="5143500" type="screen16x9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4201" userDrawn="1">
          <p15:clr>
            <a:srgbClr val="A4A3A4"/>
          </p15:clr>
        </p15:guide>
        <p15:guide id="4" pos="2879">
          <p15:clr>
            <a:srgbClr val="A4A3A4"/>
          </p15:clr>
        </p15:guide>
        <p15:guide id="5" orient="horz" pos="315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  <p15:guide id="3" orient="horz" pos="4200">
          <p15:clr>
            <a:srgbClr val="A4A3A4"/>
          </p15:clr>
        </p15:guide>
        <p15:guide id="4" pos="287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99FF"/>
    <a:srgbClr val="003B76"/>
    <a:srgbClr val="736303"/>
    <a:srgbClr val="3366FF"/>
    <a:srgbClr val="FF9966"/>
    <a:srgbClr val="FF9999"/>
    <a:srgbClr val="FF99FF"/>
    <a:srgbClr val="33CCFF"/>
    <a:srgbClr val="009999"/>
    <a:srgbClr val="F0DA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E171933-4619-4E11-9A3F-F7608DF75F80}" styleName="中度样式 1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71" autoAdjust="0"/>
    <p:restoredTop sz="93260" autoAdjust="0"/>
  </p:normalViewPr>
  <p:slideViewPr>
    <p:cSldViewPr snapToObjects="1">
      <p:cViewPr varScale="1">
        <p:scale>
          <a:sx n="81" d="100"/>
          <a:sy n="81" d="100"/>
        </p:scale>
        <p:origin x="1172" y="52"/>
      </p:cViewPr>
      <p:guideLst>
        <p:guide orient="horz" pos="4201"/>
        <p:guide pos="2879"/>
        <p:guide orient="horz" pos="3151"/>
      </p:guideLst>
    </p:cSldViewPr>
  </p:slideViewPr>
  <p:outlineViewPr>
    <p:cViewPr>
      <p:scale>
        <a:sx n="33" d="100"/>
        <a:sy n="33" d="100"/>
      </p:scale>
      <p:origin x="0" y="-5740"/>
    </p:cViewPr>
  </p:outlineViewPr>
  <p:notesTextViewPr>
    <p:cViewPr>
      <p:scale>
        <a:sx n="300" d="100"/>
        <a:sy n="300" d="100"/>
      </p:scale>
      <p:origin x="0" y="0"/>
    </p:cViewPr>
  </p:notesTextViewPr>
  <p:sorterViewPr>
    <p:cViewPr>
      <p:scale>
        <a:sx n="100" d="100"/>
        <a:sy n="100" d="100"/>
      </p:scale>
      <p:origin x="0" y="-26472"/>
    </p:cViewPr>
  </p:sorterViewPr>
  <p:notesViewPr>
    <p:cSldViewPr snapToObjects="1">
      <p:cViewPr varScale="1">
        <p:scale>
          <a:sx n="47" d="100"/>
          <a:sy n="47" d="100"/>
        </p:scale>
        <p:origin x="2694" y="60"/>
      </p:cViewPr>
      <p:guideLst>
        <p:guide orient="horz" pos="2880"/>
        <p:guide pos="2160"/>
        <p:guide orient="horz" pos="4200"/>
        <p:guide pos="287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F4DA7F0C-A8F0-4487-826C-000FF0B66B21}" type="datetimeFigureOut">
              <a:rPr lang="zh-CN" altLang="en-US"/>
              <a:pPr>
                <a:defRPr/>
              </a:pPr>
              <a:t>2025/3/11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B6C58412-F58B-4DA5-9529-CC0CDE19399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51653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cn.julialang.org/JuliaZH.jl/latest/manual/control-flow/#man-loops" TargetMode="External"/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92480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，加分号窗口不再显示结果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96805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i="0" dirty="0">
                <a:solidFill>
                  <a:srgbClr val="404040"/>
                </a:solidFill>
                <a:effectLst/>
                <a:latin typeface="Inter"/>
              </a:rPr>
              <a:t>y </a:t>
            </a:r>
            <a:r>
              <a:rPr lang="zh-CN" altLang="en-US" b="1" i="0" dirty="0">
                <a:solidFill>
                  <a:srgbClr val="404040"/>
                </a:solidFill>
                <a:effectLst/>
                <a:latin typeface="Inter"/>
              </a:rPr>
              <a:t>是 </a:t>
            </a:r>
            <a:r>
              <a:rPr lang="en-US" altLang="zh-CN" b="1" i="0" dirty="0">
                <a:solidFill>
                  <a:srgbClr val="404040"/>
                </a:solidFill>
                <a:effectLst/>
                <a:latin typeface="Inter"/>
              </a:rPr>
              <a:t>f x </a:t>
            </a:r>
            <a:r>
              <a:rPr lang="zh-CN" altLang="en-US" b="1" i="0" dirty="0">
                <a:solidFill>
                  <a:srgbClr val="404040"/>
                </a:solidFill>
                <a:effectLst/>
                <a:latin typeface="Inter"/>
              </a:rPr>
              <a:t>的函数</a:t>
            </a:r>
            <a:r>
              <a:rPr lang="en-US" altLang="zh-CN" b="1" i="0" dirty="0">
                <a:solidFill>
                  <a:srgbClr val="404040"/>
                </a:solidFill>
                <a:effectLst/>
                <a:latin typeface="Inter"/>
              </a:rPr>
              <a:t>,</a:t>
            </a:r>
            <a:r>
              <a:rPr lang="zh-CN" altLang="en-US" b="0" dirty="0">
                <a:solidFill>
                  <a:srgbClr val="404040"/>
                </a:solidFill>
                <a:effectLst/>
                <a:latin typeface="KaTeX_Main"/>
              </a:rPr>
              <a:t> </a:t>
            </a:r>
            <a:r>
              <a:rPr lang="en-US" altLang="zh-CN" b="0" dirty="0">
                <a:solidFill>
                  <a:srgbClr val="404040"/>
                </a:solidFill>
                <a:effectLst/>
                <a:latin typeface="KaTeX_Main"/>
              </a:rPr>
              <a:t>f</a:t>
            </a:r>
            <a:r>
              <a:rPr lang="en-US" altLang="zh-CN" b="0" i="1" dirty="0">
                <a:solidFill>
                  <a:srgbClr val="404040"/>
                </a:solidFill>
                <a:effectLst/>
                <a:latin typeface="KaTeX_Math"/>
              </a:rPr>
              <a:t>f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Inter"/>
              </a:rPr>
              <a:t> 表示函数（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Inter"/>
              </a:rPr>
              <a:t>function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Inter"/>
              </a:rPr>
              <a:t>），</a:t>
            </a:r>
            <a:r>
              <a:rPr lang="en-US" altLang="zh-CN" b="0" dirty="0">
                <a:solidFill>
                  <a:srgbClr val="404040"/>
                </a:solidFill>
                <a:effectLst/>
                <a:latin typeface="KaTeX_Main"/>
              </a:rPr>
              <a:t>x</a:t>
            </a:r>
            <a:r>
              <a:rPr lang="en-US" altLang="zh-CN" b="0" i="1" dirty="0">
                <a:solidFill>
                  <a:srgbClr val="404040"/>
                </a:solidFill>
                <a:effectLst/>
                <a:latin typeface="KaTeX_Math"/>
              </a:rPr>
              <a:t>x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Inter"/>
              </a:rPr>
              <a:t> 是自变量（输入），</a:t>
            </a:r>
            <a:r>
              <a:rPr lang="en-US" altLang="zh-CN" b="0" dirty="0" err="1">
                <a:solidFill>
                  <a:srgbClr val="404040"/>
                </a:solidFill>
                <a:effectLst/>
                <a:latin typeface="KaTeX_Main"/>
              </a:rPr>
              <a:t>y</a:t>
            </a:r>
            <a:r>
              <a:rPr lang="en-US" altLang="zh-CN" b="0" i="1" dirty="0" err="1">
                <a:solidFill>
                  <a:srgbClr val="404040"/>
                </a:solidFill>
                <a:effectLst/>
                <a:latin typeface="KaTeX_Math"/>
              </a:rPr>
              <a:t>y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Inter"/>
              </a:rPr>
              <a:t> 是因变量（输出）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ABDBC71-F63D-4713-93C7-B4FAFE5C14C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48087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00726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直接把“</a:t>
            </a:r>
            <a:r>
              <a:rPr lang="en-US" altLang="zh-CN" sz="1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f(</a:t>
            </a:r>
            <a:r>
              <a:rPr lang="zh-CN" altLang="en-US" sz="1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自变量</a:t>
            </a:r>
            <a:r>
              <a:rPr lang="en-US" altLang="zh-CN" sz="1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x)=</a:t>
            </a:r>
            <a:r>
              <a:rPr lang="zh-CN" altLang="en-US" sz="1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表达式”作为</a:t>
            </a:r>
            <a:r>
              <a:rPr lang="en-US" altLang="zh-CN" sz="1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syslab</a:t>
            </a:r>
            <a:r>
              <a:rPr lang="zh-CN" altLang="en-US" sz="1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函数表达式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52481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定义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y=f(x)=x^2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为函数文件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求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x=2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时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值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US" altLang="zh-CN" dirty="0"/>
          </a:p>
          <a:p>
            <a:r>
              <a:rPr lang="zh-CN" altLang="en-US" dirty="0"/>
              <a:t>两种方式加载函数，一种是</a:t>
            </a:r>
            <a:r>
              <a:rPr lang="en-US" altLang="zh-CN" dirty="0"/>
              <a:t>using</a:t>
            </a:r>
            <a:r>
              <a:rPr lang="zh-CN" altLang="en-US" dirty="0"/>
              <a:t>，一种是</a:t>
            </a:r>
            <a:r>
              <a:rPr lang="en-US" altLang="zh-CN" dirty="0"/>
              <a:t>include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48574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调用函数会</a:t>
            </a:r>
            <a:r>
              <a:rPr lang="en-US" altLang="ko-KR" sz="1200" dirty="0" err="1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开辟临时工作</a:t>
            </a:r>
            <a:r>
              <a:rPr lang="zh-CN" altLang="en-US" sz="12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区，函数中所有变量都在此空间，</a:t>
            </a:r>
            <a:r>
              <a:rPr lang="en-US" altLang="ko-KR" sz="1200" dirty="0" err="1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运行完毕</a:t>
            </a:r>
            <a:r>
              <a:rPr lang="en-US" altLang="ko-KR" sz="12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 </a:t>
            </a:r>
            <a:r>
              <a:rPr lang="en-US" altLang="ko-KR" sz="1200" dirty="0" err="1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清除</a:t>
            </a:r>
            <a:r>
              <a:rPr lang="zh-CN" altLang="en-US" sz="12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所有变量并</a:t>
            </a:r>
            <a:r>
              <a:rPr lang="en-US" altLang="ko-KR" sz="1200" dirty="0" err="1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关闭空间</a:t>
            </a:r>
            <a:r>
              <a:rPr lang="zh-CN" altLang="en-US" sz="12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，所以在外部全局工作区，无法访问</a:t>
            </a:r>
            <a:r>
              <a:rPr lang="zh-CN" altLang="en-US" sz="14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和调用函数局部变量</a:t>
            </a:r>
            <a:endParaRPr lang="en-US" altLang="ko-KR" sz="1400" dirty="0">
              <a:solidFill>
                <a:srgbClr val="FF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86451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Julia</a:t>
            </a:r>
            <a:r>
              <a:rPr lang="zh-CN" altLang="en-US" sz="12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用</a:t>
            </a:r>
            <a:r>
              <a:rPr lang="en-US" altLang="zh-CN" sz="12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::</a:t>
            </a:r>
            <a:r>
              <a:rPr lang="zh-CN" altLang="en-US" sz="12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只能定义函数文件中局部变量</a:t>
            </a:r>
            <a:r>
              <a:rPr lang="zh-CN" altLang="en-US" sz="1200" dirty="0"/>
              <a:t>和函数的</a:t>
            </a:r>
            <a:r>
              <a:rPr lang="zh-CN" altLang="en-US" sz="12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类型，不支持声明全局变量的类型</a:t>
            </a:r>
            <a:endParaRPr lang="zh-CN" altLang="en-US" sz="1200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39549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95681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单箭头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93339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altLang="zh-CN" dirty="0"/>
              <a:t>sprr=(r)-&gt;(s=pi*r*r, p=2*pi*r)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41530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11773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 err="1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顺序结构</a:t>
            </a:r>
            <a:r>
              <a:rPr lang="en-US" altLang="ko-KR" sz="12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 </a:t>
            </a:r>
            <a:r>
              <a:rPr lang="en-US" altLang="ko-KR" sz="1200" dirty="0" err="1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按命令行</a:t>
            </a:r>
            <a:r>
              <a:rPr lang="zh-CN" altLang="en-US" sz="12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先后</a:t>
            </a:r>
            <a:r>
              <a:rPr lang="en-US" altLang="ko-KR" sz="1200" dirty="0" err="1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顺序</a:t>
            </a:r>
            <a:r>
              <a:rPr lang="zh-CN" altLang="en-US" sz="12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依次执</a:t>
            </a:r>
            <a:r>
              <a:rPr lang="en-US" altLang="ko-KR" sz="1200" dirty="0" err="1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行文件的命令</a:t>
            </a:r>
            <a:r>
              <a:rPr lang="en-US" altLang="ko-KR" sz="12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,</a:t>
            </a:r>
            <a:r>
              <a:rPr lang="zh-CN" altLang="en-US" sz="12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单支语句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dirty="0">
              <a:solidFill>
                <a:srgbClr val="00206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endParaRPr lang="en-US" altLang="zh-CN" sz="1200" b="0" dirty="0">
              <a:solidFill>
                <a:srgbClr val="2C3E50"/>
              </a:solidFill>
              <a:latin typeface="华文楷体" panose="02010600040101010101" pitchFamily="2" charset="-122"/>
              <a:ea typeface="华文楷体" panose="02010600040101010101" pitchFamily="2" charset="-122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zh-CN" altLang="zh-CN" sz="1200" b="0" dirty="0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重复执行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15305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cap="none" dirty="0">
                <a:ln w="9525" cap="flat" cmpd="sng"/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已经搜索完</a:t>
            </a:r>
            <a:r>
              <a:rPr lang="en-US" altLang="ko-KR" sz="1200" b="0" cap="none" dirty="0">
                <a:ln w="9525" cap="flat" cmpd="sng"/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x&lt;=0</a:t>
            </a:r>
            <a:r>
              <a:rPr lang="zh-CN" altLang="en-US" sz="1200" b="0" cap="none" dirty="0">
                <a:ln w="9525" cap="flat" cmpd="sng"/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范围的</a:t>
            </a:r>
            <a:r>
              <a:rPr lang="en-US" altLang="zh-CN" sz="1200" b="0" cap="none" dirty="0">
                <a:ln w="9525" cap="flat" cmpd="sng"/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x,</a:t>
            </a:r>
            <a:r>
              <a:rPr lang="zh-CN" altLang="en-US" sz="1200" b="0" cap="none" dirty="0">
                <a:ln w="9525" cap="flat" cmpd="sng"/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将继续向上搜索</a:t>
            </a:r>
            <a:r>
              <a:rPr lang="en-US" altLang="zh-CN" sz="1200" b="0" cap="none" dirty="0">
                <a:ln w="9525" cap="flat" cmpd="sng"/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zh-CN" altLang="en-US" sz="1200" b="0" cap="none" dirty="0">
                <a:ln w="9525" cap="flat" cmpd="sng"/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大于</a:t>
            </a:r>
            <a:r>
              <a:rPr lang="en-US" altLang="zh-CN" sz="1200" b="0" cap="none" dirty="0">
                <a:ln w="9525" cap="flat" cmpd="sng"/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0</a:t>
            </a:r>
            <a:endParaRPr lang="ko-KR" altLang="en-US" sz="1200" b="0" cap="none" dirty="0">
              <a:ln w="9525" cap="flat" cmpd="sng"/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ABDBC71-F63D-4713-93C7-B4FAFE5C14CF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99448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x==3 ? "t" : "f"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93615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i="0" dirty="0">
                <a:solidFill>
                  <a:srgbClr val="00206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∈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属于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860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53606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062629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k in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或者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k=0:60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ii=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ii=ii+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^k;  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或者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ii += 2^k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复合赋值运算符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#println("ii=$ii")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91274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课堂练习</a:t>
            </a:r>
            <a:r>
              <a:rPr lang="nn-NO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sum([2^k for k=0:60])</a:t>
            </a:r>
            <a:endParaRPr lang="nn-NO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US" altLang="zh-CN" dirty="0"/>
          </a:p>
          <a:p>
            <a:r>
              <a:rPr lang="zh-CN" altLang="en-US" sz="1200" dirty="0"/>
              <a:t>julia&gt; sum([2^k for k in 0:60])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906254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采用循环语句，通过投币次数</a:t>
            </a:r>
            <a:r>
              <a:rPr lang="en-US" altLang="zh-CN" dirty="0"/>
              <a:t>sum</a:t>
            </a:r>
            <a:r>
              <a:rPr lang="zh-CN" altLang="en-US" dirty="0"/>
              <a:t>累计可以确定</a:t>
            </a:r>
            <a:r>
              <a:rPr lang="en-US" altLang="ko-KR" sz="1200" b="1" cap="none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投币次数累计值</a:t>
            </a:r>
            <a:r>
              <a:rPr lang="zh-CN" altLang="en-US" sz="1200" b="1" cap="none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行向量</a:t>
            </a:r>
            <a:r>
              <a:rPr lang="en-US" altLang="ko-KR" sz="1200" b="0" cap="none" dirty="0">
                <a:solidFill>
                  <a:srgbClr val="0070C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b(</a:t>
            </a:r>
            <a:r>
              <a:rPr lang="en-US" altLang="ko-KR" sz="1200" b="0" cap="none" dirty="0" err="1">
                <a:solidFill>
                  <a:srgbClr val="0070C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i</a:t>
            </a:r>
            <a:r>
              <a:rPr lang="en-US" altLang="ko-KR" sz="1200" b="0" cap="none" dirty="0">
                <a:solidFill>
                  <a:srgbClr val="0070C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)=sum</a:t>
            </a:r>
            <a:r>
              <a:rPr lang="zh-CN" altLang="en-US" sz="1200" b="0" cap="none" dirty="0">
                <a:solidFill>
                  <a:srgbClr val="0070C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；</a:t>
            </a:r>
            <a:endParaRPr lang="en-US" altLang="zh-CN" sz="1200" b="0" cap="none" dirty="0">
              <a:solidFill>
                <a:srgbClr val="0070C0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cap="none" dirty="0">
                <a:solidFill>
                  <a:srgbClr val="0070C0"/>
                </a:solidFill>
                <a:latin typeface="Arial" panose="020B0604020202020204" pitchFamily="34" charset="0"/>
              </a:rPr>
              <a:t>采用条件语句可以</a:t>
            </a:r>
            <a:r>
              <a:rPr lang="zh-CN" altLang="en-US" dirty="0"/>
              <a:t>通过投币正面次数</a:t>
            </a:r>
            <a:r>
              <a:rPr lang="en-US" altLang="zh-CN" dirty="0"/>
              <a:t>k1</a:t>
            </a:r>
            <a:r>
              <a:rPr lang="zh-CN" altLang="en-US" dirty="0"/>
              <a:t>累计可以确定</a:t>
            </a:r>
            <a:r>
              <a:rPr lang="en-US" altLang="ko-KR" sz="1200" b="1" cap="none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投币</a:t>
            </a:r>
            <a:r>
              <a:rPr lang="zh-CN" altLang="en-US" sz="1200" b="1" cap="none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正面</a:t>
            </a:r>
            <a:r>
              <a:rPr lang="en-US" altLang="ko-KR" sz="1200" b="1" cap="none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次数累计值</a:t>
            </a:r>
            <a:r>
              <a:rPr lang="zh-CN" altLang="en-US" sz="1200" b="1" cap="none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行向量</a:t>
            </a:r>
            <a:r>
              <a:rPr lang="en-US" altLang="zh-CN" sz="1200" b="0" cap="none" dirty="0">
                <a:solidFill>
                  <a:srgbClr val="0070C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a</a:t>
            </a:r>
            <a:r>
              <a:rPr lang="en-US" altLang="ko-KR" sz="1200" b="0" cap="none" dirty="0">
                <a:solidFill>
                  <a:srgbClr val="0070C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(</a:t>
            </a:r>
            <a:r>
              <a:rPr lang="en-US" altLang="ko-KR" sz="1200" b="0" cap="none" dirty="0" err="1">
                <a:solidFill>
                  <a:srgbClr val="0070C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i</a:t>
            </a:r>
            <a:r>
              <a:rPr lang="en-US" altLang="ko-KR" sz="1200" b="0" cap="none" dirty="0">
                <a:solidFill>
                  <a:srgbClr val="0070C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)=k1</a:t>
            </a:r>
            <a:r>
              <a:rPr lang="zh-CN" altLang="en-US" sz="1200" b="0" cap="none" dirty="0">
                <a:solidFill>
                  <a:srgbClr val="0070C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；</a:t>
            </a:r>
            <a:endParaRPr lang="en-US" altLang="zh-CN" sz="1200" b="0" cap="none" dirty="0">
              <a:solidFill>
                <a:srgbClr val="0070C0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67153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979347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使用逻辑运算符 </a:t>
            </a:r>
            <a:r>
              <a:rPr lang="en-US" altLang="zh-CN" sz="1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&amp; </a:t>
            </a:r>
            <a:r>
              <a:rPr lang="zh-CN" altLang="en-US" sz="1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和 </a:t>
            </a:r>
            <a:r>
              <a:rPr lang="en-US" altLang="zh-CN" sz="1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| </a:t>
            </a:r>
            <a:r>
              <a:rPr lang="zh-CN" altLang="en-US" sz="1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创建条件复合表达式。</a:t>
            </a:r>
            <a:r>
              <a:rPr lang="en-US" altLang="zh-CN" sz="1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Julia</a:t>
            </a:r>
            <a:r>
              <a:rPr lang="zh-CN" altLang="en-US" sz="1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按照运算符优先级规则从左至右计算复合表达式 </a:t>
            </a:r>
            <a:endParaRPr lang="en-US" altLang="zh-CN" sz="12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523956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N+1</a:t>
            </a:r>
            <a:r>
              <a:rPr lang="zh-CN" altLang="en-US" dirty="0"/>
              <a:t>增加了一次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078398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异常处理</a:t>
            </a:r>
            <a:r>
              <a:rPr lang="zh-CN" altLang="en-US" b="0" i="0" dirty="0">
                <a:solidFill>
                  <a:srgbClr val="71777D"/>
                </a:solidFill>
                <a:effectLst/>
                <a:latin typeface="Arial" panose="020B0604020202020204" pitchFamily="34" charset="0"/>
              </a:rPr>
              <a:t> 当程序发生意外情况时，</a:t>
            </a:r>
            <a:endParaRPr lang="en-US" altLang="zh-CN" b="0" i="0" dirty="0">
              <a:solidFill>
                <a:srgbClr val="71777D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程序错误被统称为异常</a:t>
            </a:r>
            <a:endParaRPr lang="en-US" altLang="zh-CN" b="0" i="0" dirty="0">
              <a:solidFill>
                <a:srgbClr val="333333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错误的报告与处理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553366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570057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865161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aseline="30000" dirty="0">
                <a:solidFill>
                  <a:srgbClr val="444444"/>
                </a:solidFill>
                <a:effectLst/>
                <a:latin typeface="B5HGFXCNKI"/>
              </a:rPr>
              <a:t>I1</a:t>
            </a:r>
            <a:r>
              <a:rPr lang="zh-CN" altLang="en-US" baseline="30000" dirty="0">
                <a:solidFill>
                  <a:srgbClr val="444444"/>
                </a:solidFill>
                <a:effectLst/>
                <a:latin typeface="B5HGFXCNKI"/>
              </a:rPr>
              <a:t>和</a:t>
            </a:r>
            <a:r>
              <a:rPr lang="en-US" altLang="zh-CN" baseline="30000" dirty="0">
                <a:solidFill>
                  <a:srgbClr val="444444"/>
                </a:solidFill>
                <a:effectLst/>
                <a:latin typeface="B5HGFXCNKI"/>
              </a:rPr>
              <a:t>I2</a:t>
            </a:r>
            <a:r>
              <a:rPr lang="zh-CN" altLang="en-US" baseline="30000" dirty="0">
                <a:solidFill>
                  <a:srgbClr val="444444"/>
                </a:solidFill>
                <a:effectLst/>
                <a:latin typeface="B4å®ä½"/>
              </a:rPr>
              <a:t>和占别是两列光波到达</a:t>
            </a:r>
            <a:r>
              <a:rPr lang="en-US" altLang="zh-CN" baseline="30000" dirty="0">
                <a:solidFill>
                  <a:srgbClr val="444444"/>
                </a:solidFill>
                <a:effectLst/>
                <a:latin typeface="B4å®ä½"/>
              </a:rPr>
              <a:t>p</a:t>
            </a:r>
            <a:r>
              <a:rPr lang="zh-CN" altLang="en-US" baseline="30000" dirty="0">
                <a:solidFill>
                  <a:srgbClr val="444444"/>
                </a:solidFill>
                <a:effectLst/>
                <a:latin typeface="B4å®ä½"/>
              </a:rPr>
              <a:t>点时的光强，</a:t>
            </a:r>
            <a:r>
              <a:rPr lang="zh-CN" altLang="en-US" baseline="30000" dirty="0">
                <a:solidFill>
                  <a:srgbClr val="444444"/>
                </a:solidFill>
                <a:effectLst/>
                <a:latin typeface="EditControl"/>
              </a:rPr>
              <a:t> </a:t>
            </a:r>
            <a:r>
              <a:rPr lang="zh-CN" altLang="en-US" baseline="30000" dirty="0">
                <a:solidFill>
                  <a:srgbClr val="444444"/>
                </a:solidFill>
                <a:effectLst/>
                <a:latin typeface="B4å®ä½"/>
              </a:rPr>
              <a:t>它们之</a:t>
            </a:r>
            <a:r>
              <a:rPr lang="zh-CN" altLang="en-US" baseline="30000" dirty="0">
                <a:solidFill>
                  <a:srgbClr val="444444"/>
                </a:solidFill>
                <a:effectLst/>
                <a:latin typeface="EditControl"/>
              </a:rPr>
              <a:t> </a:t>
            </a:r>
            <a:r>
              <a:rPr lang="zh-CN" altLang="en-US" baseline="30000" dirty="0">
                <a:solidFill>
                  <a:srgbClr val="444444"/>
                </a:solidFill>
                <a:effectLst/>
                <a:latin typeface="B4å®ä½"/>
              </a:rPr>
              <a:t>间的位相差</a:t>
            </a:r>
            <a:r>
              <a:rPr lang="zh-CN" altLang="en-US" baseline="30000" dirty="0">
                <a:solidFill>
                  <a:srgbClr val="444444"/>
                </a:solidFill>
                <a:effectLst/>
                <a:latin typeface="B5HGFXCNKI"/>
              </a:rPr>
              <a:t> </a:t>
            </a:r>
            <a:endParaRPr lang="en-US" altLang="zh-CN" dirty="0">
              <a:solidFill>
                <a:srgbClr val="000000"/>
              </a:solidFill>
              <a:effectLst/>
              <a:latin typeface="GBK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srgbClr val="000000"/>
                </a:solidFill>
                <a:effectLst/>
                <a:latin typeface="GBK"/>
              </a:rPr>
              <a:t>牛顿环的干涉计算公式，其中</a:t>
            </a:r>
            <a:r>
              <a:rPr lang="zh-CN" altLang="en-US" dirty="0">
                <a:solidFill>
                  <a:srgbClr val="000000"/>
                </a:solidFill>
                <a:effectLst/>
                <a:latin typeface="EditControl"/>
              </a:rPr>
              <a:t> </a:t>
            </a:r>
            <a:r>
              <a:rPr lang="zh-CN" altLang="en-US" dirty="0">
                <a:solidFill>
                  <a:srgbClr val="000000"/>
                </a:solidFill>
                <a:effectLst/>
                <a:latin typeface="EBXZFWB1u7"/>
              </a:rPr>
              <a:t>Ｒ</a:t>
            </a:r>
            <a:r>
              <a:rPr lang="zh-CN" altLang="en-US" dirty="0">
                <a:solidFill>
                  <a:srgbClr val="000000"/>
                </a:solidFill>
                <a:effectLst/>
                <a:latin typeface="EditControl"/>
              </a:rPr>
              <a:t> </a:t>
            </a:r>
            <a:r>
              <a:rPr lang="zh-CN" altLang="en-US" dirty="0">
                <a:solidFill>
                  <a:srgbClr val="000000"/>
                </a:solidFill>
                <a:effectLst/>
                <a:latin typeface="GBK"/>
              </a:rPr>
              <a:t>为平凸透镜的半径，</a:t>
            </a:r>
            <a:r>
              <a:rPr lang="en-US" altLang="zh-CN" dirty="0">
                <a:solidFill>
                  <a:srgbClr val="000000"/>
                </a:solidFill>
                <a:effectLst/>
                <a:latin typeface="EBXZFWB1u7"/>
              </a:rPr>
              <a:t>x</a:t>
            </a:r>
            <a:r>
              <a:rPr lang="zh-CN" altLang="en-US" dirty="0">
                <a:solidFill>
                  <a:srgbClr val="000000"/>
                </a:solidFill>
                <a:effectLst/>
                <a:latin typeface="HTJ0ZFWB1t2"/>
              </a:rPr>
              <a:t>、</a:t>
            </a:r>
            <a:r>
              <a:rPr lang="en-US" altLang="zh-CN" dirty="0">
                <a:solidFill>
                  <a:srgbClr val="000000"/>
                </a:solidFill>
                <a:effectLst/>
                <a:latin typeface="EBXZFWB1u7"/>
              </a:rPr>
              <a:t>y</a:t>
            </a:r>
            <a:r>
              <a:rPr lang="zh-CN" altLang="en-US" dirty="0">
                <a:solidFill>
                  <a:srgbClr val="000000"/>
                </a:solidFill>
                <a:effectLst/>
                <a:latin typeface="EditControl"/>
              </a:rPr>
              <a:t> </a:t>
            </a:r>
            <a:r>
              <a:rPr lang="zh-CN" altLang="en-US" dirty="0">
                <a:solidFill>
                  <a:srgbClr val="000000"/>
                </a:solidFill>
                <a:effectLst/>
                <a:latin typeface="GBK"/>
              </a:rPr>
              <a:t>为衍射图样的位置坐标，这种方法称为</a:t>
            </a:r>
            <a:r>
              <a:rPr lang="zh-CN" altLang="en-US" dirty="0">
                <a:solidFill>
                  <a:srgbClr val="000000"/>
                </a:solidFill>
                <a:effectLst/>
                <a:latin typeface="EditControl"/>
              </a:rPr>
              <a:t> </a:t>
            </a:r>
            <a:r>
              <a:rPr lang="zh-CN" altLang="en-US" dirty="0">
                <a:solidFill>
                  <a:srgbClr val="000000"/>
                </a:solidFill>
                <a:effectLst/>
                <a:latin typeface="GBK"/>
              </a:rPr>
              <a:t>原始法，式</a:t>
            </a:r>
            <a:r>
              <a:rPr lang="en-US" altLang="zh-CN" dirty="0">
                <a:solidFill>
                  <a:srgbClr val="000000"/>
                </a:solidFill>
                <a:effectLst/>
                <a:latin typeface="GBK"/>
              </a:rPr>
              <a:t>(</a:t>
            </a:r>
            <a:r>
              <a:rPr lang="zh-CN" altLang="en-US" dirty="0">
                <a:solidFill>
                  <a:srgbClr val="000000"/>
                </a:solidFill>
                <a:effectLst/>
                <a:latin typeface="EditControl"/>
              </a:rPr>
              <a:t> </a:t>
            </a:r>
            <a:r>
              <a:rPr lang="en-US" altLang="zh-CN" dirty="0">
                <a:solidFill>
                  <a:srgbClr val="000000"/>
                </a:solidFill>
                <a:effectLst/>
                <a:latin typeface="EBZZFWB1t3"/>
              </a:rPr>
              <a:t>2</a:t>
            </a:r>
            <a:r>
              <a:rPr lang="en-US" altLang="zh-CN" dirty="0">
                <a:solidFill>
                  <a:srgbClr val="000000"/>
                </a:solidFill>
                <a:effectLst/>
                <a:latin typeface="GBK"/>
              </a:rPr>
              <a:t>)</a:t>
            </a:r>
            <a:r>
              <a:rPr lang="zh-CN" altLang="en-US" dirty="0">
                <a:solidFill>
                  <a:srgbClr val="000000"/>
                </a:solidFill>
                <a:effectLst/>
                <a:latin typeface="EditControl"/>
              </a:rPr>
              <a:t> </a:t>
            </a:r>
            <a:r>
              <a:rPr lang="zh-CN" altLang="en-US" dirty="0">
                <a:solidFill>
                  <a:srgbClr val="000000"/>
                </a:solidFill>
                <a:effectLst/>
                <a:latin typeface="GBK"/>
              </a:rPr>
              <a:t>给出的计算牛顿环干涉图样的方法称为近似法</a:t>
            </a:r>
            <a:r>
              <a:rPr lang="zh-CN" altLang="en-US" dirty="0">
                <a:solidFill>
                  <a:srgbClr val="000000"/>
                </a:solidFill>
                <a:effectLst/>
                <a:latin typeface="HTJ0ZFWB1t2"/>
              </a:rPr>
              <a:t>。</a:t>
            </a:r>
            <a:r>
              <a:rPr lang="zh-CN" altLang="en-US" dirty="0">
                <a:solidFill>
                  <a:srgbClr val="000000"/>
                </a:solidFill>
                <a:effectLst/>
                <a:latin typeface="GBK"/>
              </a:rPr>
              <a:t>由式</a:t>
            </a:r>
            <a:r>
              <a:rPr lang="en-US" altLang="zh-CN" dirty="0">
                <a:solidFill>
                  <a:srgbClr val="000000"/>
                </a:solidFill>
                <a:effectLst/>
                <a:latin typeface="GBK"/>
              </a:rPr>
              <a:t>(</a:t>
            </a:r>
            <a:r>
              <a:rPr lang="zh-CN" altLang="en-US" dirty="0">
                <a:solidFill>
                  <a:srgbClr val="000000"/>
                </a:solidFill>
                <a:effectLst/>
                <a:latin typeface="EditControl"/>
              </a:rPr>
              <a:t> </a:t>
            </a:r>
            <a:r>
              <a:rPr lang="en-US" altLang="zh-CN" dirty="0">
                <a:solidFill>
                  <a:srgbClr val="000000"/>
                </a:solidFill>
                <a:effectLst/>
                <a:latin typeface="EBZZFWB1t3"/>
              </a:rPr>
              <a:t>1</a:t>
            </a:r>
            <a:r>
              <a:rPr lang="en-US" altLang="zh-CN" dirty="0">
                <a:solidFill>
                  <a:srgbClr val="000000"/>
                </a:solidFill>
                <a:effectLst/>
                <a:latin typeface="GBK"/>
              </a:rPr>
              <a:t>)</a:t>
            </a:r>
            <a:r>
              <a:rPr lang="zh-CN" altLang="en-US" dirty="0">
                <a:solidFill>
                  <a:srgbClr val="000000"/>
                </a:solidFill>
                <a:effectLst/>
                <a:latin typeface="EditControl"/>
              </a:rPr>
              <a:t> </a:t>
            </a:r>
            <a:r>
              <a:rPr lang="zh-CN" altLang="en-US" dirty="0">
                <a:solidFill>
                  <a:srgbClr val="000000"/>
                </a:solidFill>
                <a:effectLst/>
                <a:latin typeface="GBK"/>
              </a:rPr>
              <a:t>和</a:t>
            </a:r>
            <a:r>
              <a:rPr lang="en-US" altLang="zh-CN" dirty="0">
                <a:solidFill>
                  <a:srgbClr val="000000"/>
                </a:solidFill>
                <a:effectLst/>
                <a:latin typeface="GBK"/>
              </a:rPr>
              <a:t>(</a:t>
            </a:r>
            <a:r>
              <a:rPr lang="zh-CN" altLang="en-US" dirty="0">
                <a:solidFill>
                  <a:srgbClr val="000000"/>
                </a:solidFill>
                <a:effectLst/>
                <a:latin typeface="EditControl"/>
              </a:rPr>
              <a:t> </a:t>
            </a:r>
            <a:r>
              <a:rPr lang="en-US" altLang="zh-CN" dirty="0">
                <a:solidFill>
                  <a:srgbClr val="000000"/>
                </a:solidFill>
                <a:effectLst/>
                <a:latin typeface="EBZZFWB1t3"/>
              </a:rPr>
              <a:t>2</a:t>
            </a:r>
            <a:r>
              <a:rPr lang="en-US" altLang="zh-CN" dirty="0">
                <a:solidFill>
                  <a:srgbClr val="000000"/>
                </a:solidFill>
                <a:effectLst/>
                <a:latin typeface="GBK"/>
              </a:rPr>
              <a:t>)</a:t>
            </a:r>
            <a:r>
              <a:rPr lang="zh-CN" altLang="en-US" dirty="0">
                <a:solidFill>
                  <a:srgbClr val="000000"/>
                </a:solidFill>
                <a:effectLst/>
                <a:latin typeface="EditControl"/>
              </a:rPr>
              <a:t> </a:t>
            </a:r>
            <a:r>
              <a:rPr lang="zh-CN" altLang="en-US" dirty="0">
                <a:solidFill>
                  <a:srgbClr val="000000"/>
                </a:solidFill>
                <a:effectLst/>
                <a:latin typeface="GBK"/>
              </a:rPr>
              <a:t>可以看出对于干 涉光环半径（</a:t>
            </a:r>
            <a:r>
              <a:rPr lang="en-US" altLang="zh-CN" dirty="0">
                <a:solidFill>
                  <a:srgbClr val="000000"/>
                </a:solidFill>
                <a:effectLst/>
                <a:latin typeface="GBK"/>
              </a:rPr>
              <a:t>r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srgbClr val="000000"/>
                </a:solidFill>
                <a:effectLst/>
                <a:latin typeface="GBK"/>
              </a:rPr>
              <a:t>为 干 涉 环 的 半 径）</a:t>
            </a:r>
            <a:r>
              <a:rPr lang="zh-CN" altLang="en-US" dirty="0">
                <a:solidFill>
                  <a:srgbClr val="000000"/>
                </a:solidFill>
                <a:effectLst/>
                <a:latin typeface="EditControl"/>
              </a:rPr>
              <a:t> </a:t>
            </a:r>
            <a:r>
              <a:rPr lang="en-US" altLang="zh-CN" dirty="0">
                <a:solidFill>
                  <a:srgbClr val="000000"/>
                </a:solidFill>
                <a:effectLst/>
                <a:latin typeface="EBXZFWB1u7"/>
              </a:rPr>
              <a:t>r</a:t>
            </a:r>
            <a:r>
              <a:rPr lang="en-US" altLang="zh-CN" baseline="30000" dirty="0">
                <a:solidFill>
                  <a:srgbClr val="000000"/>
                </a:solidFill>
                <a:effectLst/>
                <a:latin typeface="EBZZFWB1t3"/>
              </a:rPr>
              <a:t>2</a:t>
            </a:r>
            <a:r>
              <a:rPr lang="zh-CN" altLang="en-US" baseline="30000" dirty="0">
                <a:solidFill>
                  <a:srgbClr val="000000"/>
                </a:solidFill>
                <a:effectLst/>
                <a:latin typeface="EditControl"/>
              </a:rPr>
              <a:t> </a:t>
            </a:r>
            <a:r>
              <a:rPr lang="en-US" altLang="zh-CN" baseline="30000" dirty="0">
                <a:solidFill>
                  <a:srgbClr val="000000"/>
                </a:solidFill>
                <a:effectLst/>
                <a:latin typeface="EBZZFWB1t3"/>
              </a:rPr>
              <a:t>=</a:t>
            </a:r>
            <a:r>
              <a:rPr lang="zh-CN" altLang="en-US" baseline="30000" dirty="0">
                <a:solidFill>
                  <a:srgbClr val="000000"/>
                </a:solidFill>
                <a:effectLst/>
                <a:latin typeface="EditControl"/>
              </a:rPr>
              <a:t> </a:t>
            </a:r>
            <a:r>
              <a:rPr lang="en-US" altLang="zh-CN" baseline="30000" dirty="0">
                <a:solidFill>
                  <a:srgbClr val="000000"/>
                </a:solidFill>
                <a:effectLst/>
                <a:latin typeface="EBXZFWB1u7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effectLst/>
                <a:latin typeface="EBZZFWB1t3"/>
              </a:rPr>
              <a:t>2</a:t>
            </a:r>
            <a:r>
              <a:rPr lang="zh-CN" altLang="en-US" baseline="30000" dirty="0">
                <a:solidFill>
                  <a:srgbClr val="000000"/>
                </a:solidFill>
                <a:effectLst/>
                <a:latin typeface="EditControl"/>
              </a:rPr>
              <a:t> </a:t>
            </a:r>
            <a:r>
              <a:rPr lang="en-US" altLang="zh-CN" baseline="30000" dirty="0">
                <a:solidFill>
                  <a:srgbClr val="000000"/>
                </a:solidFill>
                <a:effectLst/>
                <a:latin typeface="EBZZFWB1t3"/>
              </a:rPr>
              <a:t>+</a:t>
            </a:r>
            <a:r>
              <a:rPr lang="zh-CN" altLang="en-US" baseline="30000" dirty="0">
                <a:solidFill>
                  <a:srgbClr val="000000"/>
                </a:solidFill>
                <a:effectLst/>
                <a:latin typeface="EditControl"/>
              </a:rPr>
              <a:t> </a:t>
            </a:r>
            <a:r>
              <a:rPr lang="en-US" altLang="zh-CN" baseline="30000" dirty="0">
                <a:solidFill>
                  <a:srgbClr val="000000"/>
                </a:solidFill>
                <a:effectLst/>
                <a:latin typeface="EBXZFWB1u7"/>
              </a:rPr>
              <a:t>y</a:t>
            </a:r>
            <a:r>
              <a:rPr lang="en-US" altLang="zh-CN" baseline="30000" dirty="0">
                <a:solidFill>
                  <a:srgbClr val="000000"/>
                </a:solidFill>
                <a:effectLst/>
                <a:latin typeface="EBZZFWB1t3"/>
              </a:rPr>
              <a:t>2</a:t>
            </a:r>
            <a:r>
              <a:rPr lang="zh-CN" altLang="en-US" baseline="30000" dirty="0">
                <a:solidFill>
                  <a:srgbClr val="000000"/>
                </a:solidFill>
                <a:effectLst/>
                <a:latin typeface="EditControl"/>
              </a:rPr>
              <a:t> </a:t>
            </a:r>
            <a:r>
              <a:rPr lang="zh-CN" altLang="en-US" baseline="30000" dirty="0">
                <a:solidFill>
                  <a:srgbClr val="000000"/>
                </a:solidFill>
                <a:effectLst/>
                <a:latin typeface="GBK"/>
              </a:rPr>
              <a:t>相</a:t>
            </a:r>
            <a:r>
              <a:rPr lang="zh-CN" altLang="en-US" baseline="30000" dirty="0">
                <a:solidFill>
                  <a:srgbClr val="000000"/>
                </a:solidFill>
                <a:effectLst/>
                <a:latin typeface="EBZZFWB1t3"/>
              </a:rPr>
              <a:t> </a:t>
            </a:r>
            <a:r>
              <a:rPr lang="zh-CN" altLang="en-US" baseline="30000" dirty="0">
                <a:solidFill>
                  <a:srgbClr val="000000"/>
                </a:solidFill>
                <a:effectLst/>
                <a:latin typeface="GBK"/>
              </a:rPr>
              <a:t>等点的光强是相同的，这说明牛顿环的干涉图样是圆形的</a:t>
            </a:r>
            <a:endParaRPr lang="en-US" altLang="zh-CN" baseline="30000" dirty="0">
              <a:solidFill>
                <a:srgbClr val="000000"/>
              </a:solidFill>
              <a:effectLst/>
              <a:latin typeface="GBK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solidFill>
                  <a:srgbClr val="111111"/>
                </a:solidFill>
                <a:effectLst/>
                <a:latin typeface="Arial" panose="020B0604020202020204" pitchFamily="34" charset="0"/>
              </a:rPr>
              <a:t>肥皂泡薄膜的色彩摆在你面前，你也会熟视无睹</a:t>
            </a:r>
            <a:endParaRPr lang="en-US" altLang="zh-CN" b="0" i="0" dirty="0">
              <a:solidFill>
                <a:srgbClr val="11111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solidFill>
                  <a:srgbClr val="111111"/>
                </a:solidFill>
                <a:effectLst/>
                <a:latin typeface="Arial" panose="020B0604020202020204" pitchFamily="34" charset="0"/>
              </a:rPr>
              <a:t>你不会问自己为什么</a:t>
            </a:r>
            <a:r>
              <a:rPr lang="en-US" altLang="zh-CN" b="0" i="0" dirty="0">
                <a:solidFill>
                  <a:srgbClr val="111111"/>
                </a:solidFill>
                <a:effectLst/>
                <a:latin typeface="Arial" panose="020B0604020202020204" pitchFamily="34" charset="0"/>
              </a:rPr>
              <a:t>?</a:t>
            </a:r>
            <a:r>
              <a:rPr lang="zh-CN" altLang="en-US" b="0" i="0" dirty="0">
                <a:solidFill>
                  <a:srgbClr val="111111"/>
                </a:solidFill>
                <a:effectLst/>
                <a:latin typeface="Arial" panose="020B0604020202020204" pitchFamily="34" charset="0"/>
              </a:rPr>
              <a:t>因为你缺少发现的眼睛和深厚知识底蕴</a:t>
            </a:r>
            <a:endParaRPr lang="zh-CN" altLang="en-US" dirty="0"/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baseline="30000" dirty="0">
              <a:solidFill>
                <a:srgbClr val="000000"/>
              </a:solidFill>
              <a:effectLst/>
              <a:latin typeface="EBZZFWB1t3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AF5D7B6-9300-482A-AC6E-3BA105FED359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62893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504867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807434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aseline="30000" dirty="0">
                <a:solidFill>
                  <a:srgbClr val="444444"/>
                </a:solidFill>
                <a:effectLst/>
                <a:latin typeface="B5HGFXCNKI"/>
              </a:rPr>
              <a:t>I1</a:t>
            </a:r>
            <a:r>
              <a:rPr lang="zh-CN" altLang="en-US" baseline="30000" dirty="0">
                <a:solidFill>
                  <a:srgbClr val="444444"/>
                </a:solidFill>
                <a:effectLst/>
                <a:latin typeface="B5HGFXCNKI"/>
              </a:rPr>
              <a:t>和</a:t>
            </a:r>
            <a:r>
              <a:rPr lang="en-US" altLang="zh-CN" baseline="30000" dirty="0">
                <a:solidFill>
                  <a:srgbClr val="444444"/>
                </a:solidFill>
                <a:effectLst/>
                <a:latin typeface="B5HGFXCNKI"/>
              </a:rPr>
              <a:t>I2</a:t>
            </a:r>
            <a:r>
              <a:rPr lang="zh-CN" altLang="en-US" baseline="30000" dirty="0">
                <a:solidFill>
                  <a:srgbClr val="444444"/>
                </a:solidFill>
                <a:effectLst/>
                <a:latin typeface="B4å®ä½"/>
              </a:rPr>
              <a:t>和占别是两列光波到达</a:t>
            </a:r>
            <a:r>
              <a:rPr lang="en-US" altLang="zh-CN" baseline="30000" dirty="0">
                <a:solidFill>
                  <a:srgbClr val="444444"/>
                </a:solidFill>
                <a:effectLst/>
                <a:latin typeface="B4å®ä½"/>
              </a:rPr>
              <a:t>p</a:t>
            </a:r>
            <a:r>
              <a:rPr lang="zh-CN" altLang="en-US" baseline="30000" dirty="0">
                <a:solidFill>
                  <a:srgbClr val="444444"/>
                </a:solidFill>
                <a:effectLst/>
                <a:latin typeface="B4å®ä½"/>
              </a:rPr>
              <a:t>点时的光强，</a:t>
            </a:r>
            <a:r>
              <a:rPr lang="zh-CN" altLang="en-US" baseline="30000" dirty="0">
                <a:solidFill>
                  <a:srgbClr val="444444"/>
                </a:solidFill>
                <a:effectLst/>
                <a:latin typeface="EditControl"/>
              </a:rPr>
              <a:t> </a:t>
            </a:r>
            <a:r>
              <a:rPr lang="zh-CN" altLang="en-US" baseline="30000" dirty="0">
                <a:solidFill>
                  <a:srgbClr val="444444"/>
                </a:solidFill>
                <a:effectLst/>
                <a:latin typeface="B4å®ä½"/>
              </a:rPr>
              <a:t>它们之</a:t>
            </a:r>
            <a:r>
              <a:rPr lang="zh-CN" altLang="en-US" baseline="30000" dirty="0">
                <a:solidFill>
                  <a:srgbClr val="444444"/>
                </a:solidFill>
                <a:effectLst/>
                <a:latin typeface="EditControl"/>
              </a:rPr>
              <a:t> </a:t>
            </a:r>
            <a:r>
              <a:rPr lang="zh-CN" altLang="en-US" baseline="30000" dirty="0">
                <a:solidFill>
                  <a:srgbClr val="444444"/>
                </a:solidFill>
                <a:effectLst/>
                <a:latin typeface="B4å®ä½"/>
              </a:rPr>
              <a:t>间的位相差</a:t>
            </a:r>
            <a:r>
              <a:rPr lang="zh-CN" altLang="en-US" baseline="30000" dirty="0">
                <a:solidFill>
                  <a:srgbClr val="444444"/>
                </a:solidFill>
                <a:effectLst/>
                <a:latin typeface="B5HGFXCNKI"/>
              </a:rPr>
              <a:t> </a:t>
            </a:r>
            <a:endParaRPr lang="en-US" altLang="zh-CN" dirty="0">
              <a:solidFill>
                <a:srgbClr val="000000"/>
              </a:solidFill>
              <a:effectLst/>
              <a:latin typeface="GBK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srgbClr val="000000"/>
                </a:solidFill>
                <a:effectLst/>
                <a:latin typeface="GBK"/>
              </a:rPr>
              <a:t>牛顿环的干涉计算公式，其中</a:t>
            </a:r>
            <a:r>
              <a:rPr lang="zh-CN" altLang="en-US" dirty="0">
                <a:solidFill>
                  <a:srgbClr val="000000"/>
                </a:solidFill>
                <a:effectLst/>
                <a:latin typeface="EditControl"/>
              </a:rPr>
              <a:t> </a:t>
            </a:r>
            <a:r>
              <a:rPr lang="zh-CN" altLang="en-US" dirty="0">
                <a:solidFill>
                  <a:srgbClr val="000000"/>
                </a:solidFill>
                <a:effectLst/>
                <a:latin typeface="EBXZFWB1u7"/>
              </a:rPr>
              <a:t>Ｒ</a:t>
            </a:r>
            <a:r>
              <a:rPr lang="zh-CN" altLang="en-US" dirty="0">
                <a:solidFill>
                  <a:srgbClr val="000000"/>
                </a:solidFill>
                <a:effectLst/>
                <a:latin typeface="EditControl"/>
              </a:rPr>
              <a:t> </a:t>
            </a:r>
            <a:r>
              <a:rPr lang="zh-CN" altLang="en-US" dirty="0">
                <a:solidFill>
                  <a:srgbClr val="000000"/>
                </a:solidFill>
                <a:effectLst/>
                <a:latin typeface="GBK"/>
              </a:rPr>
              <a:t>为平凸透镜的半径，</a:t>
            </a:r>
            <a:r>
              <a:rPr lang="en-US" altLang="zh-CN" dirty="0">
                <a:solidFill>
                  <a:srgbClr val="000000"/>
                </a:solidFill>
                <a:effectLst/>
                <a:latin typeface="EBXZFWB1u7"/>
              </a:rPr>
              <a:t>x</a:t>
            </a:r>
            <a:r>
              <a:rPr lang="zh-CN" altLang="en-US" dirty="0">
                <a:solidFill>
                  <a:srgbClr val="000000"/>
                </a:solidFill>
                <a:effectLst/>
                <a:latin typeface="HTJ0ZFWB1t2"/>
              </a:rPr>
              <a:t>、</a:t>
            </a:r>
            <a:r>
              <a:rPr lang="en-US" altLang="zh-CN" dirty="0">
                <a:solidFill>
                  <a:srgbClr val="000000"/>
                </a:solidFill>
                <a:effectLst/>
                <a:latin typeface="EBXZFWB1u7"/>
              </a:rPr>
              <a:t>y</a:t>
            </a:r>
            <a:r>
              <a:rPr lang="zh-CN" altLang="en-US" dirty="0">
                <a:solidFill>
                  <a:srgbClr val="000000"/>
                </a:solidFill>
                <a:effectLst/>
                <a:latin typeface="EditControl"/>
              </a:rPr>
              <a:t> </a:t>
            </a:r>
            <a:r>
              <a:rPr lang="zh-CN" altLang="en-US" dirty="0">
                <a:solidFill>
                  <a:srgbClr val="000000"/>
                </a:solidFill>
                <a:effectLst/>
                <a:latin typeface="GBK"/>
              </a:rPr>
              <a:t>为衍射图样的位置坐标，这种方法称为</a:t>
            </a:r>
            <a:r>
              <a:rPr lang="zh-CN" altLang="en-US" dirty="0">
                <a:solidFill>
                  <a:srgbClr val="000000"/>
                </a:solidFill>
                <a:effectLst/>
                <a:latin typeface="EditControl"/>
              </a:rPr>
              <a:t> </a:t>
            </a:r>
            <a:r>
              <a:rPr lang="zh-CN" altLang="en-US" dirty="0">
                <a:solidFill>
                  <a:srgbClr val="000000"/>
                </a:solidFill>
                <a:effectLst/>
                <a:latin typeface="GBK"/>
              </a:rPr>
              <a:t>原始法，式</a:t>
            </a:r>
            <a:r>
              <a:rPr lang="en-US" altLang="zh-CN" dirty="0">
                <a:solidFill>
                  <a:srgbClr val="000000"/>
                </a:solidFill>
                <a:effectLst/>
                <a:latin typeface="GBK"/>
              </a:rPr>
              <a:t>(</a:t>
            </a:r>
            <a:r>
              <a:rPr lang="zh-CN" altLang="en-US" dirty="0">
                <a:solidFill>
                  <a:srgbClr val="000000"/>
                </a:solidFill>
                <a:effectLst/>
                <a:latin typeface="EditControl"/>
              </a:rPr>
              <a:t> </a:t>
            </a:r>
            <a:r>
              <a:rPr lang="en-US" altLang="zh-CN" dirty="0">
                <a:solidFill>
                  <a:srgbClr val="000000"/>
                </a:solidFill>
                <a:effectLst/>
                <a:latin typeface="EBZZFWB1t3"/>
              </a:rPr>
              <a:t>2</a:t>
            </a:r>
            <a:r>
              <a:rPr lang="en-US" altLang="zh-CN" dirty="0">
                <a:solidFill>
                  <a:srgbClr val="000000"/>
                </a:solidFill>
                <a:effectLst/>
                <a:latin typeface="GBK"/>
              </a:rPr>
              <a:t>)</a:t>
            </a:r>
            <a:r>
              <a:rPr lang="zh-CN" altLang="en-US" dirty="0">
                <a:solidFill>
                  <a:srgbClr val="000000"/>
                </a:solidFill>
                <a:effectLst/>
                <a:latin typeface="EditControl"/>
              </a:rPr>
              <a:t> </a:t>
            </a:r>
            <a:r>
              <a:rPr lang="zh-CN" altLang="en-US" dirty="0">
                <a:solidFill>
                  <a:srgbClr val="000000"/>
                </a:solidFill>
                <a:effectLst/>
                <a:latin typeface="GBK"/>
              </a:rPr>
              <a:t>给出的计算牛顿环干涉图样的方法称为近似法</a:t>
            </a:r>
            <a:r>
              <a:rPr lang="zh-CN" altLang="en-US" dirty="0">
                <a:solidFill>
                  <a:srgbClr val="000000"/>
                </a:solidFill>
                <a:effectLst/>
                <a:latin typeface="HTJ0ZFWB1t2"/>
              </a:rPr>
              <a:t>。</a:t>
            </a:r>
            <a:r>
              <a:rPr lang="zh-CN" altLang="en-US" dirty="0">
                <a:solidFill>
                  <a:srgbClr val="000000"/>
                </a:solidFill>
                <a:effectLst/>
                <a:latin typeface="GBK"/>
              </a:rPr>
              <a:t>由式</a:t>
            </a:r>
            <a:r>
              <a:rPr lang="en-US" altLang="zh-CN" dirty="0">
                <a:solidFill>
                  <a:srgbClr val="000000"/>
                </a:solidFill>
                <a:effectLst/>
                <a:latin typeface="GBK"/>
              </a:rPr>
              <a:t>(</a:t>
            </a:r>
            <a:r>
              <a:rPr lang="zh-CN" altLang="en-US" dirty="0">
                <a:solidFill>
                  <a:srgbClr val="000000"/>
                </a:solidFill>
                <a:effectLst/>
                <a:latin typeface="EditControl"/>
              </a:rPr>
              <a:t> </a:t>
            </a:r>
            <a:r>
              <a:rPr lang="en-US" altLang="zh-CN" dirty="0">
                <a:solidFill>
                  <a:srgbClr val="000000"/>
                </a:solidFill>
                <a:effectLst/>
                <a:latin typeface="EBZZFWB1t3"/>
              </a:rPr>
              <a:t>1</a:t>
            </a:r>
            <a:r>
              <a:rPr lang="en-US" altLang="zh-CN" dirty="0">
                <a:solidFill>
                  <a:srgbClr val="000000"/>
                </a:solidFill>
                <a:effectLst/>
                <a:latin typeface="GBK"/>
              </a:rPr>
              <a:t>)</a:t>
            </a:r>
            <a:r>
              <a:rPr lang="zh-CN" altLang="en-US" dirty="0">
                <a:solidFill>
                  <a:srgbClr val="000000"/>
                </a:solidFill>
                <a:effectLst/>
                <a:latin typeface="EditControl"/>
              </a:rPr>
              <a:t> </a:t>
            </a:r>
            <a:r>
              <a:rPr lang="zh-CN" altLang="en-US" dirty="0">
                <a:solidFill>
                  <a:srgbClr val="000000"/>
                </a:solidFill>
                <a:effectLst/>
                <a:latin typeface="GBK"/>
              </a:rPr>
              <a:t>和</a:t>
            </a:r>
            <a:r>
              <a:rPr lang="en-US" altLang="zh-CN" dirty="0">
                <a:solidFill>
                  <a:srgbClr val="000000"/>
                </a:solidFill>
                <a:effectLst/>
                <a:latin typeface="GBK"/>
              </a:rPr>
              <a:t>(</a:t>
            </a:r>
            <a:r>
              <a:rPr lang="zh-CN" altLang="en-US" dirty="0">
                <a:solidFill>
                  <a:srgbClr val="000000"/>
                </a:solidFill>
                <a:effectLst/>
                <a:latin typeface="EditControl"/>
              </a:rPr>
              <a:t> </a:t>
            </a:r>
            <a:r>
              <a:rPr lang="en-US" altLang="zh-CN" dirty="0">
                <a:solidFill>
                  <a:srgbClr val="000000"/>
                </a:solidFill>
                <a:effectLst/>
                <a:latin typeface="EBZZFWB1t3"/>
              </a:rPr>
              <a:t>2</a:t>
            </a:r>
            <a:r>
              <a:rPr lang="en-US" altLang="zh-CN" dirty="0">
                <a:solidFill>
                  <a:srgbClr val="000000"/>
                </a:solidFill>
                <a:effectLst/>
                <a:latin typeface="GBK"/>
              </a:rPr>
              <a:t>)</a:t>
            </a:r>
            <a:r>
              <a:rPr lang="zh-CN" altLang="en-US" dirty="0">
                <a:solidFill>
                  <a:srgbClr val="000000"/>
                </a:solidFill>
                <a:effectLst/>
                <a:latin typeface="EditControl"/>
              </a:rPr>
              <a:t> </a:t>
            </a:r>
            <a:r>
              <a:rPr lang="zh-CN" altLang="en-US" dirty="0">
                <a:solidFill>
                  <a:srgbClr val="000000"/>
                </a:solidFill>
                <a:effectLst/>
                <a:latin typeface="GBK"/>
              </a:rPr>
              <a:t>可以看出对于干 涉光环半径（</a:t>
            </a:r>
            <a:r>
              <a:rPr lang="en-US" altLang="zh-CN" dirty="0">
                <a:solidFill>
                  <a:srgbClr val="000000"/>
                </a:solidFill>
                <a:effectLst/>
                <a:latin typeface="GBK"/>
              </a:rPr>
              <a:t>r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srgbClr val="000000"/>
                </a:solidFill>
                <a:effectLst/>
                <a:latin typeface="GBK"/>
              </a:rPr>
              <a:t>为 干 涉 环 的 半 径）</a:t>
            </a:r>
            <a:r>
              <a:rPr lang="zh-CN" altLang="en-US" dirty="0">
                <a:solidFill>
                  <a:srgbClr val="000000"/>
                </a:solidFill>
                <a:effectLst/>
                <a:latin typeface="EditControl"/>
              </a:rPr>
              <a:t> </a:t>
            </a:r>
            <a:r>
              <a:rPr lang="en-US" altLang="zh-CN" dirty="0">
                <a:solidFill>
                  <a:srgbClr val="000000"/>
                </a:solidFill>
                <a:effectLst/>
                <a:latin typeface="EBXZFWB1u7"/>
              </a:rPr>
              <a:t>r</a:t>
            </a:r>
            <a:r>
              <a:rPr lang="en-US" altLang="zh-CN" baseline="30000" dirty="0">
                <a:solidFill>
                  <a:srgbClr val="000000"/>
                </a:solidFill>
                <a:effectLst/>
                <a:latin typeface="EBZZFWB1t3"/>
              </a:rPr>
              <a:t>2</a:t>
            </a:r>
            <a:r>
              <a:rPr lang="zh-CN" altLang="en-US" baseline="30000" dirty="0">
                <a:solidFill>
                  <a:srgbClr val="000000"/>
                </a:solidFill>
                <a:effectLst/>
                <a:latin typeface="EditControl"/>
              </a:rPr>
              <a:t> </a:t>
            </a:r>
            <a:r>
              <a:rPr lang="en-US" altLang="zh-CN" baseline="30000" dirty="0">
                <a:solidFill>
                  <a:srgbClr val="000000"/>
                </a:solidFill>
                <a:effectLst/>
                <a:latin typeface="EBZZFWB1t3"/>
              </a:rPr>
              <a:t>=</a:t>
            </a:r>
            <a:r>
              <a:rPr lang="zh-CN" altLang="en-US" baseline="30000" dirty="0">
                <a:solidFill>
                  <a:srgbClr val="000000"/>
                </a:solidFill>
                <a:effectLst/>
                <a:latin typeface="EditControl"/>
              </a:rPr>
              <a:t> </a:t>
            </a:r>
            <a:r>
              <a:rPr lang="en-US" altLang="zh-CN" baseline="30000" dirty="0">
                <a:solidFill>
                  <a:srgbClr val="000000"/>
                </a:solidFill>
                <a:effectLst/>
                <a:latin typeface="EBXZFWB1u7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effectLst/>
                <a:latin typeface="EBZZFWB1t3"/>
              </a:rPr>
              <a:t>2</a:t>
            </a:r>
            <a:r>
              <a:rPr lang="zh-CN" altLang="en-US" baseline="30000" dirty="0">
                <a:solidFill>
                  <a:srgbClr val="000000"/>
                </a:solidFill>
                <a:effectLst/>
                <a:latin typeface="EditControl"/>
              </a:rPr>
              <a:t> </a:t>
            </a:r>
            <a:r>
              <a:rPr lang="en-US" altLang="zh-CN" baseline="30000" dirty="0">
                <a:solidFill>
                  <a:srgbClr val="000000"/>
                </a:solidFill>
                <a:effectLst/>
                <a:latin typeface="EBZZFWB1t3"/>
              </a:rPr>
              <a:t>+</a:t>
            </a:r>
            <a:r>
              <a:rPr lang="zh-CN" altLang="en-US" baseline="30000" dirty="0">
                <a:solidFill>
                  <a:srgbClr val="000000"/>
                </a:solidFill>
                <a:effectLst/>
                <a:latin typeface="EditControl"/>
              </a:rPr>
              <a:t> </a:t>
            </a:r>
            <a:r>
              <a:rPr lang="en-US" altLang="zh-CN" baseline="30000" dirty="0">
                <a:solidFill>
                  <a:srgbClr val="000000"/>
                </a:solidFill>
                <a:effectLst/>
                <a:latin typeface="EBXZFWB1u7"/>
              </a:rPr>
              <a:t>y</a:t>
            </a:r>
            <a:r>
              <a:rPr lang="en-US" altLang="zh-CN" baseline="30000" dirty="0">
                <a:solidFill>
                  <a:srgbClr val="000000"/>
                </a:solidFill>
                <a:effectLst/>
                <a:latin typeface="EBZZFWB1t3"/>
              </a:rPr>
              <a:t>2</a:t>
            </a:r>
            <a:r>
              <a:rPr lang="zh-CN" altLang="en-US" baseline="30000" dirty="0">
                <a:solidFill>
                  <a:srgbClr val="000000"/>
                </a:solidFill>
                <a:effectLst/>
                <a:latin typeface="EditControl"/>
              </a:rPr>
              <a:t> </a:t>
            </a:r>
            <a:r>
              <a:rPr lang="zh-CN" altLang="en-US" baseline="30000" dirty="0">
                <a:solidFill>
                  <a:srgbClr val="000000"/>
                </a:solidFill>
                <a:effectLst/>
                <a:latin typeface="GBK"/>
              </a:rPr>
              <a:t>相</a:t>
            </a:r>
            <a:r>
              <a:rPr lang="zh-CN" altLang="en-US" baseline="30000" dirty="0">
                <a:solidFill>
                  <a:srgbClr val="000000"/>
                </a:solidFill>
                <a:effectLst/>
                <a:latin typeface="EBZZFWB1t3"/>
              </a:rPr>
              <a:t> </a:t>
            </a:r>
            <a:r>
              <a:rPr lang="zh-CN" altLang="en-US" baseline="30000" dirty="0">
                <a:solidFill>
                  <a:srgbClr val="000000"/>
                </a:solidFill>
                <a:effectLst/>
                <a:latin typeface="GBK"/>
              </a:rPr>
              <a:t>等点的光强是相同的，这说明牛顿环的干涉图样是圆形的</a:t>
            </a:r>
            <a:endParaRPr lang="en-US" altLang="zh-CN" baseline="30000" dirty="0">
              <a:solidFill>
                <a:srgbClr val="000000"/>
              </a:solidFill>
              <a:effectLst/>
              <a:latin typeface="GBK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solidFill>
                  <a:srgbClr val="111111"/>
                </a:solidFill>
                <a:effectLst/>
                <a:latin typeface="Arial" panose="020B0604020202020204" pitchFamily="34" charset="0"/>
              </a:rPr>
              <a:t>肥皂泡薄膜的色彩摆在你面前，你也会熟视无睹</a:t>
            </a:r>
            <a:endParaRPr lang="en-US" altLang="zh-CN" b="0" i="0" dirty="0">
              <a:solidFill>
                <a:srgbClr val="11111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solidFill>
                  <a:srgbClr val="111111"/>
                </a:solidFill>
                <a:effectLst/>
                <a:latin typeface="Arial" panose="020B0604020202020204" pitchFamily="34" charset="0"/>
              </a:rPr>
              <a:t>你不会问自己为什么</a:t>
            </a:r>
            <a:r>
              <a:rPr lang="en-US" altLang="zh-CN" b="0" i="0" dirty="0">
                <a:solidFill>
                  <a:srgbClr val="111111"/>
                </a:solidFill>
                <a:effectLst/>
                <a:latin typeface="Arial" panose="020B0604020202020204" pitchFamily="34" charset="0"/>
              </a:rPr>
              <a:t>?</a:t>
            </a:r>
            <a:r>
              <a:rPr lang="zh-CN" altLang="en-US" b="0" i="0" dirty="0">
                <a:solidFill>
                  <a:srgbClr val="111111"/>
                </a:solidFill>
                <a:effectLst/>
                <a:latin typeface="Arial" panose="020B0604020202020204" pitchFamily="34" charset="0"/>
              </a:rPr>
              <a:t>因为你缺少发现的眼睛和深厚知识底蕴</a:t>
            </a:r>
            <a:endParaRPr lang="zh-CN" altLang="en-US" dirty="0"/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baseline="30000" dirty="0">
              <a:solidFill>
                <a:srgbClr val="000000"/>
              </a:solidFill>
              <a:effectLst/>
              <a:latin typeface="EBZZFWB1t3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AF5D7B6-9300-482A-AC6E-3BA105FED359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03831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56630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A839A6-78F6-48CF-87A6-6BD8E9022CF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30276" y="195486"/>
            <a:ext cx="7667625" cy="438150"/>
          </a:xfrm>
        </p:spPr>
        <p:txBody>
          <a:bodyPr/>
          <a:lstStyle>
            <a:lvl1pPr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3100" y="802481"/>
            <a:ext cx="6515100" cy="547842"/>
          </a:xfrm>
        </p:spPr>
        <p:txBody>
          <a:bodyPr/>
          <a:lstStyle>
            <a:lvl1pPr marL="177800" indent="-177800">
              <a:buFont typeface="Wingdings" panose="05000000000000000000" pitchFamily="2" charset="2"/>
              <a:buChar char="Ø"/>
              <a:defRPr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635000" indent="-177800">
              <a:buFont typeface="Wingdings" panose="05000000000000000000" pitchFamily="2" charset="2"/>
              <a:buChar char="Ø"/>
              <a:defRPr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1092200" indent="-177800">
              <a:buFont typeface="Wingdings" panose="05000000000000000000" pitchFamily="2" charset="2"/>
              <a:buChar char="Ø"/>
              <a:defRPr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549400" indent="-177800">
              <a:buFont typeface="Wingdings" panose="05000000000000000000" pitchFamily="2" charset="2"/>
              <a:buChar char="Ø"/>
              <a:defRPr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2006600" indent="-177800">
              <a:buFont typeface="Wingdings" panose="05000000000000000000" pitchFamily="2" charset="2"/>
              <a:buChar char="Ø"/>
              <a:defRPr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</a:lstStyle>
          <a:p>
            <a:pPr lvl="0"/>
            <a:endParaRPr lang="zh-CN" altLang="en-US" dirty="0"/>
          </a:p>
        </p:txBody>
      </p:sp>
      <p:pic>
        <p:nvPicPr>
          <p:cNvPr id="5" name="Picture 11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9024" y="4726213"/>
            <a:ext cx="8784976" cy="417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76BB9768-376B-0637-C297-1B5D054A51BD}"/>
              </a:ext>
            </a:extLst>
          </p:cNvPr>
          <p:cNvCxnSpPr/>
          <p:nvPr userDrawn="1"/>
        </p:nvCxnSpPr>
        <p:spPr bwMode="auto">
          <a:xfrm>
            <a:off x="6626" y="4645735"/>
            <a:ext cx="9144000" cy="0"/>
          </a:xfrm>
          <a:prstGeom prst="line">
            <a:avLst/>
          </a:prstGeom>
          <a:ln w="19050">
            <a:solidFill>
              <a:srgbClr val="736303"/>
            </a:solidFill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874288"/>
            <a:ext cx="7772400" cy="4308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1CB138-D962-4159-86D4-69744E72DFC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73100" y="802481"/>
            <a:ext cx="3181350" cy="239450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006850" y="802481"/>
            <a:ext cx="3181350" cy="239450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AC858E-3DCE-4D01-A80F-DEA7F14DD0E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32559"/>
            <a:ext cx="4040188" cy="49859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168353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32559"/>
            <a:ext cx="4041775" cy="49859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168353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E2ED9D-B9E8-4415-A1AA-A51EE65F134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8DE395-C011-4FCA-B35B-9450E02CE85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2BEE3A-E9D9-4E9F-BCF8-FFCE31090B4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3" name="Picture 11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00" y="4515966"/>
            <a:ext cx="9113837" cy="6275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273305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2932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FB4065-B1B7-4E06-9A01-41AE3A9EC04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63402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32932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28D4F1-5252-4CE3-8F75-35C51027C8D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331486" y="802481"/>
            <a:ext cx="4856714" cy="205594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EE522D-DF1B-4BE4-9E38-6362FBF71D0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16700" y="250031"/>
            <a:ext cx="1981200" cy="195381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607586" y="250031"/>
            <a:ext cx="4856714" cy="195381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913E49-A68C-484C-9771-B00D1343D1B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30276" y="250031"/>
            <a:ext cx="7667625" cy="4381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73100" y="802481"/>
            <a:ext cx="6515100" cy="566309"/>
          </a:xfrm>
        </p:spPr>
        <p:txBody>
          <a:bodyPr/>
          <a:lstStyle/>
          <a:p>
            <a:pPr lvl="0"/>
            <a:r>
              <a:rPr lang="zh-CN" altLang="en-US" noProof="0"/>
              <a:t>单击图标添加表格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CA134C-C122-4DE6-ABA6-CD4CFACFA38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5576" y="-3178"/>
            <a:ext cx="8229600" cy="8572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A2671C-1C09-4B97-9055-1E8A034343B8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01327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28D114-A9C7-4314-9EBC-048F9F12FD22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4E42B12-9048-4343-8FBB-CB79E61481D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31912" y="1203325"/>
            <a:ext cx="7560568" cy="914400"/>
          </a:xfrm>
        </p:spPr>
        <p:txBody>
          <a:bodyPr/>
          <a:lstStyle>
            <a:lvl1pPr marL="0" indent="0">
              <a:buFontTx/>
              <a:buNone/>
              <a:defRPr sz="2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5025722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0B56D2-3D3A-4566-BA32-5A058C4210A9}" type="slidenum">
              <a:rPr lang="zh-CN" altLang="en-US"/>
              <a:t>‹#›</a:t>
            </a:fld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7641328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2BEE3A-E9D9-4E9F-BCF8-FFCE31090B4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3" name="Picture 11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00" y="4515966"/>
            <a:ext cx="9113837" cy="6275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内容占位符 4">
            <a:extLst>
              <a:ext uri="{FF2B5EF4-FFF2-40B4-BE49-F238E27FC236}">
                <a16:creationId xmlns:a16="http://schemas.microsoft.com/office/drawing/2014/main" id="{DB53F24B-30EB-4F02-BFE0-4BD91C57CCB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187450" y="1276350"/>
            <a:ext cx="8425110" cy="1760995"/>
          </a:xfrm>
        </p:spPr>
        <p:txBody>
          <a:bodyPr/>
          <a:lstStyle>
            <a:lvl1pPr>
              <a:defRPr sz="2000" b="0">
                <a:solidFill>
                  <a:srgbClr val="002060"/>
                </a:solidFill>
              </a:defRPr>
            </a:lvl1pPr>
            <a:lvl2pPr>
              <a:defRPr sz="2000" b="0">
                <a:solidFill>
                  <a:srgbClr val="002060"/>
                </a:solidFill>
              </a:defRPr>
            </a:lvl2pPr>
            <a:lvl3pPr>
              <a:defRPr sz="2000" b="0">
                <a:solidFill>
                  <a:srgbClr val="002060"/>
                </a:solidFill>
              </a:defRPr>
            </a:lvl3pPr>
            <a:lvl4pPr>
              <a:defRPr sz="2000" b="0">
                <a:solidFill>
                  <a:srgbClr val="002060"/>
                </a:solidFill>
              </a:defRPr>
            </a:lvl4pPr>
            <a:lvl5pPr>
              <a:defRPr sz="2000" b="0">
                <a:solidFill>
                  <a:srgbClr val="002060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3577692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685800" y="42862"/>
            <a:ext cx="7772400" cy="614363"/>
          </a:xfrm>
          <a:prstGeom prst="rect">
            <a:avLst/>
          </a:prstGeom>
          <a:noFill/>
          <a:ln>
            <a:noFill/>
          </a:ln>
        </p:spPr>
        <p:txBody>
          <a:bodyPr lIns="90488" tIns="44450" rIns="90488" bIns="44450" anchor="b"/>
          <a:lstStyle/>
          <a:p>
            <a:pPr>
              <a:lnSpc>
                <a:spcPct val="85000"/>
              </a:lnSpc>
              <a:defRPr/>
            </a:pPr>
            <a:endParaRPr lang="zh-CN" altLang="en-US" sz="3400">
              <a:solidFill>
                <a:srgbClr val="002E5C"/>
              </a:solidFill>
              <a:latin typeface="Helvetica" pitchFamily="34" charset="0"/>
              <a:ea typeface="宋体" pitchFamily="2" charset="-122"/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930276" y="250031"/>
            <a:ext cx="7667625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73100" y="802481"/>
            <a:ext cx="6515100" cy="20559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zh-CN"/>
              <a:t>Click to edit Master text 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pic>
        <p:nvPicPr>
          <p:cNvPr id="1029" name="Picture 5" descr="symbol"/>
          <p:cNvPicPr>
            <a:picLocks noChangeAspect="1" noChangeArrowheads="1"/>
          </p:cNvPicPr>
          <p:nvPr/>
        </p:nvPicPr>
        <p:blipFill>
          <a:blip r:embed="rId18" cstate="print"/>
          <a:srcRect/>
          <a:stretch>
            <a:fillRect/>
          </a:stretch>
        </p:blipFill>
        <p:spPr bwMode="auto">
          <a:xfrm>
            <a:off x="1" y="330994"/>
            <a:ext cx="942975" cy="681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0" name="Line 6"/>
          <p:cNvSpPr>
            <a:spLocks noChangeShapeType="1"/>
          </p:cNvSpPr>
          <p:nvPr/>
        </p:nvSpPr>
        <p:spPr bwMode="auto">
          <a:xfrm>
            <a:off x="906463" y="660797"/>
            <a:ext cx="8121650" cy="0"/>
          </a:xfrm>
          <a:prstGeom prst="line">
            <a:avLst/>
          </a:prstGeom>
          <a:noFill/>
          <a:ln w="28575">
            <a:solidFill>
              <a:srgbClr val="003B76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>
            <a:off x="915988" y="653653"/>
            <a:ext cx="8108950" cy="0"/>
          </a:xfrm>
          <a:prstGeom prst="line">
            <a:avLst/>
          </a:prstGeom>
          <a:noFill/>
          <a:ln w="12700">
            <a:solidFill>
              <a:srgbClr val="F0DA04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3919"/>
            <a:ext cx="2133600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>
                <a:latin typeface="+mn-lt"/>
                <a:ea typeface="宋体" pitchFamily="2" charset="-122"/>
              </a:defRPr>
            </a:lvl1pPr>
          </a:lstStyle>
          <a:p>
            <a:pPr>
              <a:defRPr/>
            </a:pPr>
            <a:fld id="{FD990E54-9BDD-4FF4-80FA-301FCBFF661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1" r:id="rId2"/>
    <p:sldLayoutId id="2147483670" r:id="rId3"/>
    <p:sldLayoutId id="2147483669" r:id="rId4"/>
    <p:sldLayoutId id="2147483668" r:id="rId5"/>
    <p:sldLayoutId id="2147483667" r:id="rId6"/>
    <p:sldLayoutId id="2147483666" r:id="rId7"/>
    <p:sldLayoutId id="2147483665" r:id="rId8"/>
    <p:sldLayoutId id="2147483664" r:id="rId9"/>
    <p:sldLayoutId id="2147483663" r:id="rId10"/>
    <p:sldLayoutId id="2147483662" r:id="rId11"/>
    <p:sldLayoutId id="2147483661" r:id="rId12"/>
    <p:sldLayoutId id="2147483677" r:id="rId13"/>
    <p:sldLayoutId id="2147483680" r:id="rId14"/>
    <p:sldLayoutId id="2147483681" r:id="rId15"/>
    <p:sldLayoutId id="2147483682" r:id="rId16"/>
  </p:sldLayoutIdLst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9pPr>
    </p:titleStyle>
    <p:bodyStyle>
      <a:lvl1pPr marL="177800" indent="-17780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har char="•"/>
        <a:defRPr sz="2800" b="1">
          <a:solidFill>
            <a:srgbClr val="A50021"/>
          </a:solidFill>
          <a:latin typeface="+mn-lt"/>
          <a:ea typeface="+mn-ea"/>
          <a:cs typeface="+mn-cs"/>
        </a:defRPr>
      </a:lvl1pPr>
      <a:lvl2pPr marL="635000" indent="-17780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</a:defRPr>
      </a:lvl2pPr>
      <a:lvl3pPr marL="1092200" indent="-17780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har char="•"/>
        <a:defRPr sz="2400" b="1">
          <a:solidFill>
            <a:srgbClr val="002E5C"/>
          </a:solidFill>
          <a:latin typeface="+mn-lt"/>
        </a:defRPr>
      </a:lvl3pPr>
      <a:lvl4pPr marL="1549400" indent="-17780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har char="•"/>
        <a:defRPr sz="2000" b="1">
          <a:solidFill>
            <a:srgbClr val="002E5C"/>
          </a:solidFill>
          <a:latin typeface="+mn-lt"/>
        </a:defRPr>
      </a:lvl4pPr>
      <a:lvl5pPr marL="2006600" indent="-17780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har char="•"/>
        <a:defRPr sz="2000" b="1">
          <a:solidFill>
            <a:srgbClr val="002E5C"/>
          </a:solidFill>
          <a:latin typeface="+mn-lt"/>
        </a:defRPr>
      </a:lvl5pPr>
      <a:lvl6pPr marL="2463800" indent="-17780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har char="•"/>
        <a:defRPr b="1">
          <a:solidFill>
            <a:srgbClr val="002E5C"/>
          </a:solidFill>
          <a:latin typeface="+mn-lt"/>
        </a:defRPr>
      </a:lvl6pPr>
      <a:lvl7pPr marL="2921000" indent="-17780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har char="•"/>
        <a:defRPr b="1">
          <a:solidFill>
            <a:srgbClr val="002E5C"/>
          </a:solidFill>
          <a:latin typeface="+mn-lt"/>
        </a:defRPr>
      </a:lvl7pPr>
      <a:lvl8pPr marL="3378200" indent="-17780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har char="•"/>
        <a:defRPr b="1">
          <a:solidFill>
            <a:srgbClr val="002E5C"/>
          </a:solidFill>
          <a:latin typeface="+mn-lt"/>
        </a:defRPr>
      </a:lvl8pPr>
      <a:lvl9pPr marL="3835400" indent="-17780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har char="•"/>
        <a:defRPr b="1">
          <a:solidFill>
            <a:srgbClr val="002E5C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cn.julialang.org/JuliaZH.jl/latest/manual/control-flow/#man-conditional-evaluation" TargetMode="External"/><Relationship Id="rId7" Type="http://schemas.openxmlformats.org/officeDocument/2006/relationships/hyperlink" Target="https://cn.julialang.org/JuliaZH.jl/latest/base/base/#Core.throw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n.julialang.org/JuliaZH.jl/latest/base/base/#Base.error" TargetMode="External"/><Relationship Id="rId5" Type="http://schemas.openxmlformats.org/officeDocument/2006/relationships/hyperlink" Target="https://cn.julialang.org/JuliaZH.jl/latest/manual/control-flow/#%E5%BC%82%E5%B8%B8%E5%A4%84%E7%90%86" TargetMode="External"/><Relationship Id="rId4" Type="http://schemas.openxmlformats.org/officeDocument/2006/relationships/hyperlink" Target="https://cn.julialang.org/JuliaZH.jl/latest/manual/control-flow/#man-loops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9.gif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0.wmf"/></Relationships>
</file>

<file path=ppt/slides/_rels/slide3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0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cn.julialang.org/JuliaZH.jl/latest/base/math/#Base.sqrt-Tuple{Real}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n.julialang.org/JuliaZH.jl/latest/base/base/#Core.ErrorException" TargetMode="External"/><Relationship Id="rId5" Type="http://schemas.openxmlformats.org/officeDocument/2006/relationships/hyperlink" Target="https://cn.julialang.org/JuliaZH.jl/latest/base/base/#Base.error" TargetMode="External"/><Relationship Id="rId4" Type="http://schemas.openxmlformats.org/officeDocument/2006/relationships/hyperlink" Target="https://cn.julialang.org/JuliaZH.jl/latest/manual/control-flow/#%E9%94%99%E8%AF%AF" TargetMode="Externa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hyperlink" Target="mailto:&#22914;y=@.sin(x)*x%5E2/sqrt" TargetMode="Externa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thworks.com/help/releases/R2021b/matlab/ref/colormap.html?searchHighlight=colormap&amp;s_tid=doc_srchtitle#d123e194981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mathworks.com/help/releases/R2021b/matlab/ref/axes.html?searchHighlight=axes&amp;s_tid=doc_srchtitle#d123e54644" TargetMode="Externa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thworks.com/help/releases/R2021b/matlab/ref/axes.html?searchHighlight=axes&amp;s_tid=doc_srchtitle#d123e54644" TargetMode="External"/><Relationship Id="rId2" Type="http://schemas.openxmlformats.org/officeDocument/2006/relationships/hyperlink" Target="https://www.mathworks.com/help/releases/R2021b/matlab/ref/colormap.html?searchHighlight=colormap&amp;s_tid=doc_srchtitle#d123e194981" TargetMode="Externa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thworks.com/help/releases/R2021b/matlab/ref/colormap.html?searchHighlight=colormap&amp;s_tid=doc_srchtitle#d123e194981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mathworks.com/help/releases/R2021b/matlab/ref/axes.html?searchHighlight=axes&amp;s_tid=doc_srchtitle#d123e5464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A89EE94-9D35-763F-5DE8-B6B60C8107FE}"/>
              </a:ext>
            </a:extLst>
          </p:cNvPr>
          <p:cNvSpPr txBox="1"/>
          <p:nvPr/>
        </p:nvSpPr>
        <p:spPr>
          <a:xfrm>
            <a:off x="216024" y="1568758"/>
            <a:ext cx="2987824" cy="224548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§2.1   </a:t>
            </a:r>
            <a:r>
              <a:rPr lang="zh-CN" altLang="en-US" sz="2400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脚本文件 </a:t>
            </a:r>
            <a:endParaRPr lang="en-US" altLang="zh-CN" sz="2400" b="1" dirty="0">
              <a:solidFill>
                <a:srgbClr val="00206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§2.2 </a:t>
            </a:r>
            <a:r>
              <a:rPr lang="zh-CN" altLang="en-US" sz="2400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函数文件</a:t>
            </a:r>
            <a:endParaRPr lang="en-US" altLang="zh-CN" sz="2400" b="1" dirty="0">
              <a:solidFill>
                <a:srgbClr val="00206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§2.3  </a:t>
            </a:r>
            <a:r>
              <a:rPr lang="zh-CN" altLang="en-US" sz="2400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流程控制</a:t>
            </a:r>
            <a:endParaRPr lang="en-US" altLang="zh-CN" sz="2400" b="1" dirty="0">
              <a:solidFill>
                <a:srgbClr val="00206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§2.4 </a:t>
            </a:r>
            <a:r>
              <a:rPr lang="zh-CN" altLang="en-US" sz="2400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和</a:t>
            </a:r>
            <a:r>
              <a:rPr lang="en-US" altLang="zh-CN" sz="2400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MATLAB</a:t>
            </a:r>
            <a:r>
              <a:rPr lang="zh-CN" altLang="en-US" sz="2400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区别</a:t>
            </a:r>
            <a:endParaRPr lang="zh-CN" altLang="en-US" sz="2800" b="1" dirty="0">
              <a:solidFill>
                <a:srgbClr val="00206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" name="标题 4">
            <a:extLst>
              <a:ext uri="{FF2B5EF4-FFF2-40B4-BE49-F238E27FC236}">
                <a16:creationId xmlns:a16="http://schemas.microsoft.com/office/drawing/2014/main" id="{4B8F3BF1-C966-F453-244E-5C6E9B7535D3}"/>
              </a:ext>
            </a:extLst>
          </p:cNvPr>
          <p:cNvSpPr txBox="1">
            <a:spLocks/>
          </p:cNvSpPr>
          <p:nvPr/>
        </p:nvSpPr>
        <p:spPr bwMode="auto">
          <a:xfrm>
            <a:off x="698763" y="511533"/>
            <a:ext cx="5724128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pPr eaLnBrk="1" hangingPunct="1">
              <a:defRPr/>
            </a:pPr>
            <a:r>
              <a:rPr lang="zh-CN" altLang="en-US" sz="3600" b="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第二章 </a:t>
            </a:r>
            <a:r>
              <a:rPr lang="en-US" altLang="zh-CN" sz="3600" b="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Julia</a:t>
            </a:r>
            <a:r>
              <a:rPr lang="zh-CN" altLang="en-US" sz="3600" b="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语言编程</a:t>
            </a:r>
            <a:endParaRPr lang="zh-CN" altLang="en-US" sz="3600" b="0" kern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1">
            <a:extLst>
              <a:ext uri="{FF2B5EF4-FFF2-40B4-BE49-F238E27FC236}">
                <a16:creationId xmlns:a16="http://schemas.microsoft.com/office/drawing/2014/main" id="{C99F9F91-A2D9-4992-9B58-42922FF7E1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7275" y="2868404"/>
            <a:ext cx="5724128" cy="159037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  <a:miter lim="800000"/>
          </a:ln>
        </p:spPr>
        <p:txBody>
          <a:bodyPr wrap="square">
            <a:spAutoFit/>
          </a:bodyPr>
          <a:lstStyle>
            <a:lvl1pPr marL="342900" indent="-3429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742950" indent="-28575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2pPr>
            <a:lvl3pPr marL="1143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3pPr>
            <a:lvl4pPr marL="1600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4pPr>
            <a:lvl5pPr marL="20574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5pPr>
            <a:lvl6pPr marL="25146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6pPr>
            <a:lvl7pPr marL="29718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7pPr>
            <a:lvl8pPr marL="34290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8pPr>
            <a:lvl9pPr marL="38862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9pPr>
          </a:lstStyle>
          <a:p>
            <a:pPr marL="514350" indent="-514350">
              <a:lnSpc>
                <a:spcPts val="2600"/>
              </a:lnSpc>
              <a:buFont typeface="+mj-lt"/>
              <a:buAutoNum type="arabicPeriod"/>
            </a:pPr>
            <a:r>
              <a:rPr lang="zh-CN" altLang="en-US" sz="2000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学会脚本文件的编写、存储和调用 </a:t>
            </a:r>
            <a:endParaRPr lang="en-US" altLang="zh-CN" sz="2000" b="1" dirty="0">
              <a:solidFill>
                <a:srgbClr val="00206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514350" indent="-514350">
              <a:lnSpc>
                <a:spcPts val="2600"/>
              </a:lnSpc>
              <a:buFont typeface="+mj-lt"/>
              <a:buAutoNum type="arabicPeriod"/>
            </a:pPr>
            <a:r>
              <a:rPr lang="zh-CN" altLang="en-US" sz="2000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学会函数文件定义和调用</a:t>
            </a:r>
            <a:endParaRPr lang="en-US" altLang="zh-CN" sz="2000" b="1" dirty="0">
              <a:solidFill>
                <a:srgbClr val="00206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514350" indent="-514350">
              <a:lnSpc>
                <a:spcPts val="2600"/>
              </a:lnSpc>
              <a:buFont typeface="+mj-lt"/>
              <a:buAutoNum type="arabicPeriod"/>
            </a:pPr>
            <a:r>
              <a:rPr lang="zh-CN" altLang="en-US" sz="2000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学会应用</a:t>
            </a:r>
            <a:r>
              <a:rPr lang="en-US" altLang="zh-CN" sz="2000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if</a:t>
            </a:r>
            <a:r>
              <a:rPr lang="zh-CN" altLang="en-US" sz="2000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条件语句、三元运算符</a:t>
            </a:r>
            <a:endParaRPr lang="en-US" altLang="zh-CN" sz="2000" b="1" dirty="0">
              <a:solidFill>
                <a:srgbClr val="00206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514350" indent="-514350">
              <a:lnSpc>
                <a:spcPts val="2600"/>
              </a:lnSpc>
              <a:buFont typeface="+mj-lt"/>
              <a:buAutoNum type="arabicPeriod"/>
            </a:pPr>
            <a:r>
              <a:rPr lang="zh-CN" altLang="en-US" sz="2000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学会应用循环语句</a:t>
            </a:r>
            <a:r>
              <a:rPr lang="en-US" altLang="zh-CN" sz="2000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for, while ,</a:t>
            </a:r>
            <a:r>
              <a:rPr lang="zh-CN" altLang="en-US" sz="2000" b="1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推导式循环语句</a:t>
            </a:r>
            <a:endParaRPr lang="en-US" altLang="zh-CN" sz="2000" b="1" dirty="0">
              <a:solidFill>
                <a:srgbClr val="00206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6" name="矩形 1">
            <a:extLst>
              <a:ext uri="{FF2B5EF4-FFF2-40B4-BE49-F238E27FC236}">
                <a16:creationId xmlns:a16="http://schemas.microsoft.com/office/drawing/2014/main" id="{9BF88D18-4778-46D2-A508-39A2201B3D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3808" y="2285207"/>
            <a:ext cx="2339102" cy="48320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wrap="none">
            <a:spAutoFit/>
          </a:bodyPr>
          <a:lstStyle>
            <a:lvl1pPr marL="342900" indent="-3429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742950" indent="-28575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2pPr>
            <a:lvl3pPr marL="1143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3pPr>
            <a:lvl4pPr marL="1600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4pPr>
            <a:lvl5pPr marL="20574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5pPr>
            <a:lvl6pPr marL="25146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6pPr>
            <a:lvl7pPr marL="29718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7pPr>
            <a:lvl8pPr marL="34290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8pPr>
            <a:lvl9pPr marL="38862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9pPr>
          </a:lstStyle>
          <a:p>
            <a:pPr marL="0" indent="0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zh-CN" altLang="en-US" sz="2800" b="1" kern="100" dirty="0">
                <a:solidFill>
                  <a:schemeClr val="bg1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本章学习目标</a:t>
            </a:r>
            <a:endParaRPr lang="en-US" altLang="zh-CN" sz="2800" b="1" kern="100" dirty="0">
              <a:solidFill>
                <a:schemeClr val="bg1"/>
              </a:solidFill>
              <a:highlight>
                <a:srgbClr val="FF0000"/>
              </a:highlight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FD79159-19B0-4AC1-8C4A-81329BA4E5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6216" y="805653"/>
            <a:ext cx="2167432" cy="133716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CCE0171-A4E7-47C4-93FA-F701D3955A84}"/>
              </a:ext>
            </a:extLst>
          </p:cNvPr>
          <p:cNvSpPr txBox="1"/>
          <p:nvPr/>
        </p:nvSpPr>
        <p:spPr>
          <a:xfrm>
            <a:off x="6802582" y="2088646"/>
            <a:ext cx="20162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b="1" i="0" dirty="0">
                <a:solidFill>
                  <a:schemeClr val="bg1"/>
                </a:solidFill>
                <a:effectLst/>
                <a:highlight>
                  <a:srgbClr val="FF00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函数库</a:t>
            </a:r>
            <a:r>
              <a:rPr lang="en-US" altLang="zh-CN" b="1" i="0" dirty="0">
                <a:solidFill>
                  <a:schemeClr val="bg1"/>
                </a:solidFill>
                <a:effectLst/>
                <a:highlight>
                  <a:srgbClr val="FF00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: </a:t>
            </a:r>
            <a:r>
              <a:rPr lang="en-US" altLang="zh-CN" b="1" i="0" dirty="0" err="1">
                <a:solidFill>
                  <a:schemeClr val="bg1"/>
                </a:solidFill>
                <a:effectLst/>
                <a:highlight>
                  <a:srgbClr val="FF00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TyBase</a:t>
            </a:r>
            <a:endParaRPr lang="en-US" altLang="zh-CN" b="1" i="0" dirty="0">
              <a:solidFill>
                <a:schemeClr val="bg1"/>
              </a:solidFill>
              <a:effectLst/>
              <a:highlight>
                <a:srgbClr val="FF0000"/>
              </a:highligh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99526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403CE70C-3A32-4F5E-9235-81C748A10E12}"/>
              </a:ext>
            </a:extLst>
          </p:cNvPr>
          <p:cNvSpPr/>
          <p:nvPr/>
        </p:nvSpPr>
        <p:spPr>
          <a:xfrm>
            <a:off x="334547" y="775897"/>
            <a:ext cx="4741898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457200" indent="-457200" algn="dist">
              <a:buClr>
                <a:srgbClr val="0070C0"/>
              </a:buClr>
              <a:buFont typeface="+mj-ea"/>
              <a:buAutoNum type="circleNumDbPlain"/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命令式编程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交互式命令行操作方式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endParaRPr lang="zh-CN" altLang="en-US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D2542AC-F06A-4ADE-8563-9F72EE1217DC}"/>
              </a:ext>
            </a:extLst>
          </p:cNvPr>
          <p:cNvSpPr/>
          <p:nvPr/>
        </p:nvSpPr>
        <p:spPr>
          <a:xfrm>
            <a:off x="355809" y="1213526"/>
            <a:ext cx="8561614" cy="101566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在</a:t>
            </a: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REPL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命令窗口逐条输入命令，逐条执行，显示除图形外结果，</a:t>
            </a:r>
            <a:endParaRPr lang="en-US" altLang="zh-CN" sz="20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342900" indent="-342900"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简单直观，但速度慢，</a:t>
            </a:r>
            <a:endParaRPr lang="en-US" altLang="zh-CN" sz="20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342900" indent="-342900"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运行过程敲入的</a:t>
            </a:r>
            <a:r>
              <a:rPr lang="zh-CN" altLang="en-US" sz="20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代码无法保留，不利于重复。</a:t>
            </a:r>
            <a:endParaRPr lang="en-US" altLang="zh-CN" sz="200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84AE5E5-BBEC-4436-99A8-5304904B53EE}"/>
              </a:ext>
            </a:extLst>
          </p:cNvPr>
          <p:cNvSpPr/>
          <p:nvPr/>
        </p:nvSpPr>
        <p:spPr>
          <a:xfrm>
            <a:off x="323528" y="2206850"/>
            <a:ext cx="4987504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457200" indent="-457200" algn="dist">
              <a:buClr>
                <a:srgbClr val="0070C0"/>
              </a:buClr>
              <a:buFont typeface="+mj-ea"/>
              <a:buAutoNum type="circleNumDbPlain" startAt="2"/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脚本文件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en-US" altLang="zh-CN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Syslab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程序的最简单类型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E12525F-2E73-4FFC-94D9-7FFEF3351974}"/>
              </a:ext>
            </a:extLst>
          </p:cNvPr>
          <p:cNvSpPr/>
          <p:nvPr/>
        </p:nvSpPr>
        <p:spPr>
          <a:xfrm>
            <a:off x="342861" y="4067138"/>
            <a:ext cx="8713682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创建接受输入并返回输出的函数</a:t>
            </a: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y=f(x)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927DFCB-03C9-4EC0-917E-20A4C518FFF3}"/>
              </a:ext>
            </a:extLst>
          </p:cNvPr>
          <p:cNvSpPr/>
          <p:nvPr/>
        </p:nvSpPr>
        <p:spPr>
          <a:xfrm>
            <a:off x="355809" y="2601076"/>
            <a:ext cx="8561614" cy="101566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在代码编辑器编写，存储在一个后缀为</a:t>
            </a:r>
            <a:r>
              <a:rPr lang="en-US" altLang="zh-CN" sz="200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jl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文本文件中，</a:t>
            </a:r>
            <a:endParaRPr lang="en-US" altLang="zh-CN" sz="20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342900" indent="-342900"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执行时调用该文件，可一次性完成全部语句执行，因保留代码，便于反复调用</a:t>
            </a:r>
            <a:r>
              <a:rPr lang="zh-CN" altLang="en-US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。</a:t>
            </a:r>
            <a:endParaRPr lang="en-US" altLang="zh-CN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9921572-DE33-43C6-9B1C-F36C84F959DC}"/>
              </a:ext>
            </a:extLst>
          </p:cNvPr>
          <p:cNvSpPr/>
          <p:nvPr/>
        </p:nvSpPr>
        <p:spPr>
          <a:xfrm>
            <a:off x="334547" y="3651870"/>
            <a:ext cx="7046343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457200" indent="-457200" algn="dist">
              <a:buClr>
                <a:srgbClr val="0070C0"/>
              </a:buClr>
              <a:buFont typeface="+mj-ea"/>
              <a:buAutoNum type="circleNumDbPlain" startAt="3"/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函数文件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en-US" altLang="zh-CN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Syslab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获得更高效的灵活性的编程类型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ADC836D-6815-4B9D-87F3-0AA3EA941D44}"/>
              </a:ext>
            </a:extLst>
          </p:cNvPr>
          <p:cNvSpPr/>
          <p:nvPr/>
        </p:nvSpPr>
        <p:spPr>
          <a:xfrm>
            <a:off x="5508104" y="4148627"/>
            <a:ext cx="2787160" cy="349006"/>
          </a:xfrm>
          <a:prstGeom prst="rect">
            <a:avLst/>
          </a:prstGeom>
          <a:solidFill>
            <a:srgbClr val="002060"/>
          </a:solidFill>
          <a:ln w="0">
            <a:noFill/>
          </a:ln>
          <a:effectLst>
            <a:outerShdw blurRad="149987" dist="250190" dir="8460000" algn="ctr">
              <a:srgbClr val="000000">
                <a:alpha val="27843"/>
              </a:srgbClr>
            </a:outerShdw>
          </a:effectLst>
          <a:scene3d>
            <a:camera prst="orthographicFront"/>
            <a:lightRig rig="contrasting" dir="t">
              <a:rot lat="0" lon="0" rev="1500000"/>
            </a:lightRig>
          </a:scene3d>
          <a:sp3d prstMaterial="metal">
            <a:bevelT w="88900" h="88900" prst="angle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>
            <a:spAutoFit/>
          </a:bodyPr>
          <a:lstStyle/>
          <a:p>
            <a:pPr algn="ctr" defTabSz="914400" eaLnBrk="0" fontAlgn="base" latinLnBrk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b="1" cap="none" dirty="0">
                <a:solidFill>
                  <a:srgbClr val="FFFF00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function</a:t>
            </a:r>
            <a:r>
              <a:rPr lang="en-US" altLang="ko-KR" b="1" cap="none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ko-KR" b="1" cap="none" dirty="0" err="1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函数名</a:t>
            </a:r>
            <a:r>
              <a:rPr lang="en-US" altLang="ko-KR" b="1" cap="none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lang="en-US" altLang="ko-KR" b="1" cap="none" dirty="0" err="1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输入</a:t>
            </a:r>
            <a:r>
              <a:rPr lang="zh-CN" altLang="en-US" b="1" cap="none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参数</a:t>
            </a:r>
            <a:r>
              <a:rPr lang="en-US" altLang="ko-KR" b="1" cap="none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  <a:endParaRPr lang="ko-KR" altLang="en-US" b="1" cap="none" dirty="0">
              <a:solidFill>
                <a:srgbClr val="FFFF00"/>
              </a:solidFill>
              <a:latin typeface="华文楷体" panose="02010600040101010101" pitchFamily="2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4A0C3CD-F5AD-42CB-93D1-5964495B8EBD}"/>
              </a:ext>
            </a:extLst>
          </p:cNvPr>
          <p:cNvSpPr txBox="1"/>
          <p:nvPr/>
        </p:nvSpPr>
        <p:spPr>
          <a:xfrm>
            <a:off x="1217053" y="110066"/>
            <a:ext cx="695685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§2.1 Julia </a:t>
            </a:r>
            <a:r>
              <a:rPr lang="zh-CN" altLang="en-US" sz="3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代码编程</a:t>
            </a:r>
            <a:r>
              <a:rPr lang="en-US" altLang="zh-CN" sz="30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en-US" altLang="zh-CN" sz="3000" dirty="0" err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syslab</a:t>
            </a:r>
            <a:r>
              <a:rPr lang="zh-CN" altLang="en-US" sz="30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编程特点</a:t>
            </a:r>
            <a:endParaRPr lang="en-US" altLang="zh-CN" sz="30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90290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EECAD22-3C44-FF48-9D9D-612B43467F8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0880" b="11150"/>
          <a:stretch/>
        </p:blipFill>
        <p:spPr>
          <a:xfrm>
            <a:off x="328891" y="782309"/>
            <a:ext cx="8623763" cy="3888431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72451DC8-A962-746A-17CF-5944B6913B60}"/>
              </a:ext>
            </a:extLst>
          </p:cNvPr>
          <p:cNvSpPr/>
          <p:nvPr/>
        </p:nvSpPr>
        <p:spPr>
          <a:xfrm>
            <a:off x="344502" y="734115"/>
            <a:ext cx="8623763" cy="327304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zh-CN" altLang="en-US" sz="1400" b="1" dirty="0">
                <a:solidFill>
                  <a:schemeClr val="lt1"/>
                </a:solidFill>
                <a:sym typeface="Arial" panose="020B0604020202020204" pitchFamily="34" charset="0"/>
              </a:rPr>
              <a:t>新建脚本文件的两种</a:t>
            </a:r>
            <a:r>
              <a:rPr lang="zh-CN" altLang="en-US" sz="1400" b="1" dirty="0">
                <a:sym typeface="Arial" panose="020B0604020202020204" pitchFamily="34" charset="0"/>
              </a:rPr>
              <a:t>操作</a:t>
            </a:r>
            <a:r>
              <a:rPr lang="zh-CN" altLang="en-US" sz="1400" b="1" dirty="0">
                <a:solidFill>
                  <a:schemeClr val="lt1"/>
                </a:solidFill>
                <a:sym typeface="Arial" panose="020B0604020202020204" pitchFamily="34" charset="0"/>
              </a:rPr>
              <a:t>方式</a:t>
            </a:r>
            <a:r>
              <a:rPr lang="en-US" altLang="zh-CN" sz="1400" b="1" dirty="0">
                <a:solidFill>
                  <a:schemeClr val="lt1"/>
                </a:solidFill>
                <a:sym typeface="Arial" panose="020B0604020202020204" pitchFamily="34" charset="0"/>
              </a:rPr>
              <a:t>:</a:t>
            </a:r>
            <a:r>
              <a:rPr lang="zh-CN" altLang="en-US" sz="1400" dirty="0">
                <a:solidFill>
                  <a:schemeClr val="lt1"/>
                </a:solidFill>
                <a:highlight>
                  <a:srgbClr val="003B76"/>
                </a:highlight>
                <a:latin typeface="+mn-lt"/>
                <a:ea typeface="+mn-ea"/>
                <a:sym typeface="Arial" panose="020B0604020202020204" pitchFamily="34" charset="0"/>
              </a:rPr>
              <a:t>工具栏中文件操作和资源管理器文件操作</a:t>
            </a:r>
            <a:r>
              <a:rPr lang="zh-CN" altLang="en-US" sz="1400" b="1" dirty="0">
                <a:sym typeface="Arial" panose="020B0604020202020204" pitchFamily="34" charset="0"/>
              </a:rPr>
              <a:t>打开</a:t>
            </a:r>
            <a:endParaRPr lang="zh-CN" altLang="en-US" sz="1400" dirty="0">
              <a:solidFill>
                <a:schemeClr val="lt1"/>
              </a:solidFill>
              <a:highlight>
                <a:srgbClr val="003B76"/>
              </a:highlight>
              <a:latin typeface="+mn-lt"/>
              <a:ea typeface="+mn-ea"/>
              <a:sym typeface="Arial" panose="020B0604020202020204" pitchFamily="34" charset="0"/>
            </a:endParaRPr>
          </a:p>
        </p:txBody>
      </p:sp>
      <p:sp>
        <p:nvSpPr>
          <p:cNvPr id="9" name="圆角矩形 13">
            <a:extLst>
              <a:ext uri="{FF2B5EF4-FFF2-40B4-BE49-F238E27FC236}">
                <a16:creationId xmlns:a16="http://schemas.microsoft.com/office/drawing/2014/main" id="{168D26BF-E58E-0495-EEDA-6480EE55640E}"/>
              </a:ext>
            </a:extLst>
          </p:cNvPr>
          <p:cNvSpPr/>
          <p:nvPr/>
        </p:nvSpPr>
        <p:spPr>
          <a:xfrm>
            <a:off x="927871" y="2669082"/>
            <a:ext cx="1624145" cy="318063"/>
          </a:xfrm>
          <a:prstGeom prst="roundRect">
            <a:avLst/>
          </a:prstGeom>
          <a:noFill/>
          <a:ln w="57150">
            <a:solidFill>
              <a:srgbClr val="FFC000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rgbClr val="FF0000"/>
                </a:solidFill>
              </a:rPr>
              <a:t>            </a:t>
            </a:r>
            <a:r>
              <a:rPr lang="zh-CN" altLang="en-US" sz="1200" dirty="0">
                <a:solidFill>
                  <a:srgbClr val="FF0000"/>
                </a:solidFill>
              </a:rPr>
              <a:t>工作目录</a:t>
            </a:r>
          </a:p>
        </p:txBody>
      </p:sp>
      <p:sp>
        <p:nvSpPr>
          <p:cNvPr id="10" name="圆角矩形 13">
            <a:extLst>
              <a:ext uri="{FF2B5EF4-FFF2-40B4-BE49-F238E27FC236}">
                <a16:creationId xmlns:a16="http://schemas.microsoft.com/office/drawing/2014/main" id="{1780A16C-9B03-8AB5-F709-7B21F6237579}"/>
              </a:ext>
            </a:extLst>
          </p:cNvPr>
          <p:cNvSpPr/>
          <p:nvPr/>
        </p:nvSpPr>
        <p:spPr>
          <a:xfrm>
            <a:off x="2579907" y="2704801"/>
            <a:ext cx="288032" cy="30581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2" name="圆角矩形 13">
            <a:extLst>
              <a:ext uri="{FF2B5EF4-FFF2-40B4-BE49-F238E27FC236}">
                <a16:creationId xmlns:a16="http://schemas.microsoft.com/office/drawing/2014/main" id="{6D12A3DE-D92C-6526-ABE0-CDEC73654053}"/>
              </a:ext>
            </a:extLst>
          </p:cNvPr>
          <p:cNvSpPr/>
          <p:nvPr/>
        </p:nvSpPr>
        <p:spPr>
          <a:xfrm>
            <a:off x="507189" y="1392296"/>
            <a:ext cx="586408" cy="560479"/>
          </a:xfrm>
          <a:prstGeom prst="roundRect">
            <a:avLst/>
          </a:prstGeom>
          <a:noFill/>
          <a:ln w="57150">
            <a:solidFill>
              <a:srgbClr val="FFC000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3" name="对话气泡: 椭圆形 12">
            <a:extLst>
              <a:ext uri="{FF2B5EF4-FFF2-40B4-BE49-F238E27FC236}">
                <a16:creationId xmlns:a16="http://schemas.microsoft.com/office/drawing/2014/main" id="{AAF63399-9946-5B0F-1336-693633FC8C3C}"/>
              </a:ext>
            </a:extLst>
          </p:cNvPr>
          <p:cNvSpPr/>
          <p:nvPr/>
        </p:nvSpPr>
        <p:spPr>
          <a:xfrm>
            <a:off x="870688" y="1801192"/>
            <a:ext cx="4614522" cy="461665"/>
          </a:xfrm>
          <a:prstGeom prst="wedgeEllipseCallout">
            <a:avLst>
              <a:gd name="adj1" fmla="val -41284"/>
              <a:gd name="adj2" fmla="val -86412"/>
            </a:avLst>
          </a:prstGeom>
          <a:solidFill>
            <a:srgbClr val="0070C0"/>
          </a:solidFill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+mj-lt"/>
              <a:buAutoNum type="romanUcPeriod"/>
            </a:pP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16" name="对话气泡: 椭圆形 15">
            <a:extLst>
              <a:ext uri="{FF2B5EF4-FFF2-40B4-BE49-F238E27FC236}">
                <a16:creationId xmlns:a16="http://schemas.microsoft.com/office/drawing/2014/main" id="{C9D7244D-0074-FF7D-E591-F3195E8A00B3}"/>
              </a:ext>
            </a:extLst>
          </p:cNvPr>
          <p:cNvSpPr/>
          <p:nvPr/>
        </p:nvSpPr>
        <p:spPr>
          <a:xfrm>
            <a:off x="3072949" y="2567426"/>
            <a:ext cx="3135645" cy="440182"/>
          </a:xfrm>
          <a:prstGeom prst="wedgeEllipseCallout">
            <a:avLst>
              <a:gd name="adj1" fmla="val -56058"/>
              <a:gd name="adj2" fmla="val 28585"/>
            </a:avLst>
          </a:prstGeom>
          <a:solidFill>
            <a:srgbClr val="0070C0"/>
          </a:solidFill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+mj-lt"/>
              <a:buAutoNum type="romanUcPeriod" startAt="2"/>
            </a:pP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C7A05DA-2C79-E6F1-E1A2-50606BE71063}"/>
              </a:ext>
            </a:extLst>
          </p:cNvPr>
          <p:cNvSpPr txBox="1"/>
          <p:nvPr/>
        </p:nvSpPr>
        <p:spPr>
          <a:xfrm>
            <a:off x="1405386" y="94851"/>
            <a:ext cx="83496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§2.1 Julia </a:t>
            </a:r>
            <a:r>
              <a:rPr lang="zh-CN" altLang="en-US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代码编程</a:t>
            </a:r>
            <a:r>
              <a:rPr lang="en-US" altLang="zh-CN" sz="28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——1.</a:t>
            </a:r>
            <a:r>
              <a:rPr lang="zh-CN" altLang="en-US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新建脚本文件</a:t>
            </a:r>
            <a:endParaRPr lang="en-US" altLang="zh-CN" sz="28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49855C42-86AA-9195-DD49-8C5E55DDED5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8899" t="27258" r="69221" b="52251"/>
          <a:stretch/>
        </p:blipFill>
        <p:spPr>
          <a:xfrm>
            <a:off x="3995936" y="3245966"/>
            <a:ext cx="1694497" cy="1053976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20" name="圆角矩形 13">
            <a:extLst>
              <a:ext uri="{FF2B5EF4-FFF2-40B4-BE49-F238E27FC236}">
                <a16:creationId xmlns:a16="http://schemas.microsoft.com/office/drawing/2014/main" id="{DC34A37F-D8A2-A1B6-008A-A8FE643381FE}"/>
              </a:ext>
            </a:extLst>
          </p:cNvPr>
          <p:cNvSpPr/>
          <p:nvPr/>
        </p:nvSpPr>
        <p:spPr>
          <a:xfrm>
            <a:off x="4489728" y="3598917"/>
            <a:ext cx="995482" cy="470192"/>
          </a:xfrm>
          <a:prstGeom prst="roundRect">
            <a:avLst/>
          </a:prstGeom>
          <a:noFill/>
          <a:ln w="12700"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1" name="圆角矩形 13">
            <a:extLst>
              <a:ext uri="{FF2B5EF4-FFF2-40B4-BE49-F238E27FC236}">
                <a16:creationId xmlns:a16="http://schemas.microsoft.com/office/drawing/2014/main" id="{B978F2AF-5601-DBAA-D3BF-B714B7006668}"/>
              </a:ext>
            </a:extLst>
          </p:cNvPr>
          <p:cNvSpPr/>
          <p:nvPr/>
        </p:nvSpPr>
        <p:spPr>
          <a:xfrm>
            <a:off x="3538036" y="1365964"/>
            <a:ext cx="1924409" cy="470999"/>
          </a:xfrm>
          <a:prstGeom prst="roundRect">
            <a:avLst/>
          </a:prstGeom>
          <a:noFill/>
          <a:ln w="57150">
            <a:solidFill>
              <a:srgbClr val="FFC000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1E74378-B651-4590-98B4-179FC7ED7EA3}"/>
              </a:ext>
            </a:extLst>
          </p:cNvPr>
          <p:cNvSpPr txBox="1"/>
          <p:nvPr/>
        </p:nvSpPr>
        <p:spPr>
          <a:xfrm>
            <a:off x="1178408" y="1828088"/>
            <a:ext cx="35376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+mj-lt"/>
              <a:buAutoNum type="romanUcPeriod"/>
            </a:pPr>
            <a:r>
              <a:rPr lang="zh-CN" altLang="en-US" sz="1200" b="1" dirty="0">
                <a:solidFill>
                  <a:schemeClr val="bg1"/>
                </a:solidFill>
              </a:rPr>
              <a:t>点击</a:t>
            </a:r>
            <a:r>
              <a:rPr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</a:rPr>
              <a:t>工具栏</a:t>
            </a:r>
            <a:r>
              <a:rPr lang="zh-CN" altLang="en-US" sz="1200" b="1" dirty="0">
                <a:solidFill>
                  <a:schemeClr val="bg1"/>
                </a:solidFill>
              </a:rPr>
              <a:t>新建脚本</a:t>
            </a:r>
            <a:r>
              <a:rPr lang="en-US" altLang="zh-CN" sz="1200" b="1" dirty="0">
                <a:solidFill>
                  <a:schemeClr val="bg1"/>
                </a:solidFill>
              </a:rPr>
              <a:t>,</a:t>
            </a:r>
            <a:r>
              <a:rPr lang="zh-CN" altLang="en-US" sz="1200" b="1" dirty="0">
                <a:solidFill>
                  <a:schemeClr val="bg1"/>
                </a:solidFill>
              </a:rPr>
              <a:t>打开编辑器，显示未命名文件</a:t>
            </a:r>
            <a:r>
              <a:rPr lang="en-US" altLang="zh-CN" sz="1200" b="1" dirty="0" err="1">
                <a:solidFill>
                  <a:schemeClr val="bg1"/>
                </a:solidFill>
              </a:rPr>
              <a:t>untitled.jl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F6EC6E1-C104-4072-BAD7-AD635D7ECD3D}"/>
              </a:ext>
            </a:extLst>
          </p:cNvPr>
          <p:cNvSpPr txBox="1"/>
          <p:nvPr/>
        </p:nvSpPr>
        <p:spPr>
          <a:xfrm>
            <a:off x="3303759" y="2567426"/>
            <a:ext cx="28245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+mj-lt"/>
              <a:buAutoNum type="romanUcPeriod" startAt="2"/>
            </a:pPr>
            <a:r>
              <a:rPr lang="zh-CN" altLang="en-US" sz="1200" b="1" dirty="0">
                <a:solidFill>
                  <a:schemeClr val="bg1"/>
                </a:solidFill>
              </a:rPr>
              <a:t>或点击</a:t>
            </a:r>
            <a:r>
              <a:rPr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</a:rPr>
              <a:t>资源管理器</a:t>
            </a:r>
            <a:r>
              <a:rPr lang="zh-CN" altLang="en-US" sz="1200" b="1" dirty="0">
                <a:solidFill>
                  <a:schemeClr val="bg1"/>
                </a:solidFill>
              </a:rPr>
              <a:t>图标在工作目录建脚本，直接命名</a:t>
            </a:r>
            <a:r>
              <a:rPr lang="en-US" altLang="zh-CN" sz="1200" b="1" dirty="0" err="1">
                <a:solidFill>
                  <a:schemeClr val="bg1"/>
                </a:solidFill>
              </a:rPr>
              <a:t>test.jl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DDCA8C5-6443-43FB-829A-C68709BABA7F}"/>
              </a:ext>
            </a:extLst>
          </p:cNvPr>
          <p:cNvSpPr/>
          <p:nvPr/>
        </p:nvSpPr>
        <p:spPr>
          <a:xfrm>
            <a:off x="313280" y="4753476"/>
            <a:ext cx="8654986" cy="307777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marR="0" lvl="0" algn="di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syslab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资源管理器通过目录树管理文件和文件夹，支持文件及文件夹新增、删除、修改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98D30F2-2DF0-421F-B025-C5A4EFBD22FA}"/>
              </a:ext>
            </a:extLst>
          </p:cNvPr>
          <p:cNvSpPr txBox="1"/>
          <p:nvPr/>
        </p:nvSpPr>
        <p:spPr>
          <a:xfrm>
            <a:off x="1106534" y="3467568"/>
            <a:ext cx="728642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1400" b="1" dirty="0" err="1">
                <a:solidFill>
                  <a:srgbClr val="FF0000"/>
                </a:solidFill>
              </a:rPr>
              <a:t>test.jl</a:t>
            </a:r>
            <a:endParaRPr lang="zh-CN" altLang="en-US" sz="1400" b="1" dirty="0"/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84DBF331-1615-B5A8-E712-FE44F3067DBF}"/>
              </a:ext>
            </a:extLst>
          </p:cNvPr>
          <p:cNvSpPr/>
          <p:nvPr/>
        </p:nvSpPr>
        <p:spPr>
          <a:xfrm>
            <a:off x="934943" y="3508224"/>
            <a:ext cx="828745" cy="226466"/>
          </a:xfrm>
          <a:prstGeom prst="roundRect">
            <a:avLst/>
          </a:prstGeom>
          <a:noFill/>
          <a:ln w="57150">
            <a:solidFill>
              <a:srgbClr val="FFC000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9" name="圆角矩形 13">
            <a:extLst>
              <a:ext uri="{FF2B5EF4-FFF2-40B4-BE49-F238E27FC236}">
                <a16:creationId xmlns:a16="http://schemas.microsoft.com/office/drawing/2014/main" id="{8D21EB36-0187-4596-B1BA-ABAF60DD948C}"/>
              </a:ext>
            </a:extLst>
          </p:cNvPr>
          <p:cNvSpPr/>
          <p:nvPr/>
        </p:nvSpPr>
        <p:spPr>
          <a:xfrm>
            <a:off x="4130274" y="3304886"/>
            <a:ext cx="1513944" cy="911207"/>
          </a:xfrm>
          <a:prstGeom prst="roundRect">
            <a:avLst/>
          </a:prstGeom>
          <a:noFill/>
          <a:ln w="57150">
            <a:solidFill>
              <a:srgbClr val="FFC000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0" name="对话气泡: 椭圆形 29">
            <a:extLst>
              <a:ext uri="{FF2B5EF4-FFF2-40B4-BE49-F238E27FC236}">
                <a16:creationId xmlns:a16="http://schemas.microsoft.com/office/drawing/2014/main" id="{AC19C2B4-36C9-4D95-A8A8-B2430B3D6CC8}"/>
              </a:ext>
            </a:extLst>
          </p:cNvPr>
          <p:cNvSpPr/>
          <p:nvPr/>
        </p:nvSpPr>
        <p:spPr>
          <a:xfrm>
            <a:off x="5284176" y="3401378"/>
            <a:ext cx="3691585" cy="395078"/>
          </a:xfrm>
          <a:prstGeom prst="wedgeEllipseCallout">
            <a:avLst>
              <a:gd name="adj1" fmla="val -39990"/>
              <a:gd name="adj2" fmla="val 85878"/>
            </a:avLst>
          </a:prstGeom>
          <a:solidFill>
            <a:srgbClr val="0070C0"/>
          </a:solidFill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+mj-lt"/>
              <a:buAutoNum type="romanUcPeriod" startAt="4"/>
            </a:pPr>
            <a:r>
              <a:rPr lang="zh-CN" altLang="en-US" sz="1200" dirty="0">
                <a:solidFill>
                  <a:schemeClr val="bg1"/>
                </a:solidFill>
              </a:rPr>
              <a:t>自动打开文件名</a:t>
            </a:r>
            <a:r>
              <a:rPr lang="en-US" altLang="zh-CN" sz="1200" dirty="0" err="1">
                <a:solidFill>
                  <a:schemeClr val="bg1"/>
                </a:solidFill>
              </a:rPr>
              <a:t>test.jl</a:t>
            </a:r>
            <a:r>
              <a:rPr lang="zh-CN" altLang="en-US" sz="1200" dirty="0">
                <a:solidFill>
                  <a:schemeClr val="bg1"/>
                </a:solidFill>
              </a:rPr>
              <a:t>的编辑器，</a:t>
            </a:r>
            <a:endParaRPr lang="en-US" altLang="zh-CN" sz="1200" dirty="0">
              <a:solidFill>
                <a:schemeClr val="bg1"/>
              </a:solidFill>
            </a:endParaRPr>
          </a:p>
          <a:p>
            <a:pPr algn="ctr"/>
            <a:r>
              <a:rPr lang="zh-CN" altLang="en-US" sz="1200" dirty="0">
                <a:solidFill>
                  <a:schemeClr val="bg1"/>
                </a:solidFill>
              </a:rPr>
              <a:t>即可以开始编写文件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477D760-B105-4888-9A6F-DE94E21228EC}"/>
              </a:ext>
            </a:extLst>
          </p:cNvPr>
          <p:cNvSpPr txBox="1"/>
          <p:nvPr/>
        </p:nvSpPr>
        <p:spPr>
          <a:xfrm>
            <a:off x="1873741" y="3412388"/>
            <a:ext cx="19883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FF0000"/>
                </a:solidFill>
              </a:rPr>
              <a:t>给文件命名为</a:t>
            </a:r>
            <a:r>
              <a:rPr lang="en-US" altLang="zh-CN" sz="1800" dirty="0">
                <a:solidFill>
                  <a:srgbClr val="FF0000"/>
                </a:solidFill>
              </a:rPr>
              <a:t>test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8146AB4B-5CDB-4AE0-B6FA-D7E43E44D6B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1552" t="27258" r="54720" b="64189"/>
          <a:stretch/>
        </p:blipFill>
        <p:spPr>
          <a:xfrm>
            <a:off x="3504296" y="1391460"/>
            <a:ext cx="1958149" cy="439911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22" name="对话气泡: 椭圆形 21">
            <a:extLst>
              <a:ext uri="{FF2B5EF4-FFF2-40B4-BE49-F238E27FC236}">
                <a16:creationId xmlns:a16="http://schemas.microsoft.com/office/drawing/2014/main" id="{CB0443AB-3A80-13CE-7DBF-246512D63C21}"/>
              </a:ext>
            </a:extLst>
          </p:cNvPr>
          <p:cNvSpPr/>
          <p:nvPr/>
        </p:nvSpPr>
        <p:spPr>
          <a:xfrm>
            <a:off x="5743808" y="1180307"/>
            <a:ext cx="3208846" cy="467394"/>
          </a:xfrm>
          <a:prstGeom prst="wedgeEllipseCallout">
            <a:avLst>
              <a:gd name="adj1" fmla="val -72918"/>
              <a:gd name="adj2" fmla="val 28750"/>
            </a:avLst>
          </a:prstGeom>
          <a:solidFill>
            <a:srgbClr val="0070C0"/>
          </a:solidFill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+mj-lt"/>
              <a:buAutoNum type="romanUcPeriod" startAt="2"/>
            </a:pPr>
            <a:r>
              <a:rPr lang="zh-CN" altLang="en-US" sz="1200" dirty="0">
                <a:solidFill>
                  <a:schemeClr val="bg1"/>
                </a:solidFill>
              </a:rPr>
              <a:t>没保存文件</a:t>
            </a:r>
            <a:r>
              <a:rPr lang="en-US" altLang="zh-CN" sz="1200" b="1" dirty="0" err="1">
                <a:solidFill>
                  <a:schemeClr val="bg1"/>
                </a:solidFill>
              </a:rPr>
              <a:t>untitled.jl</a:t>
            </a:r>
            <a:r>
              <a:rPr lang="zh-CN" altLang="en-US" sz="1200" dirty="0">
                <a:solidFill>
                  <a:schemeClr val="bg1"/>
                </a:solidFill>
              </a:rPr>
              <a:t>旁有黑点，可保存为</a:t>
            </a:r>
            <a:r>
              <a:rPr lang="en-US" altLang="zh-CN" sz="1200" dirty="0">
                <a:solidFill>
                  <a:schemeClr val="bg1"/>
                </a:solidFill>
              </a:rPr>
              <a:t>ss,</a:t>
            </a:r>
            <a:r>
              <a:rPr lang="zh-CN" altLang="en-US" sz="12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6DD31D1-0CED-4DE6-9421-4B8235B7ADC7}"/>
              </a:ext>
            </a:extLst>
          </p:cNvPr>
          <p:cNvSpPr txBox="1"/>
          <p:nvPr/>
        </p:nvSpPr>
        <p:spPr>
          <a:xfrm>
            <a:off x="4361640" y="3291140"/>
            <a:ext cx="650549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1400" b="1" dirty="0" err="1">
                <a:solidFill>
                  <a:srgbClr val="FF0000"/>
                </a:solidFill>
              </a:rPr>
              <a:t>test.jl</a:t>
            </a:r>
            <a:endParaRPr lang="zh-CN" altLang="en-US" sz="1400" b="1" dirty="0"/>
          </a:p>
        </p:txBody>
      </p:sp>
      <p:sp>
        <p:nvSpPr>
          <p:cNvPr id="28" name="圆角矩形 13">
            <a:extLst>
              <a:ext uri="{FF2B5EF4-FFF2-40B4-BE49-F238E27FC236}">
                <a16:creationId xmlns:a16="http://schemas.microsoft.com/office/drawing/2014/main" id="{F3FC4BCA-6EAF-4E58-B14E-B21F60B6AA1F}"/>
              </a:ext>
            </a:extLst>
          </p:cNvPr>
          <p:cNvSpPr/>
          <p:nvPr/>
        </p:nvSpPr>
        <p:spPr>
          <a:xfrm>
            <a:off x="4361640" y="3329967"/>
            <a:ext cx="650549" cy="26894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9808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2" grpId="0" animBg="1"/>
      <p:bldP spid="13" grpId="0" animBg="1"/>
      <p:bldP spid="16" grpId="0" animBg="1"/>
      <p:bldP spid="20" grpId="0" animBg="1"/>
      <p:bldP spid="21" grpId="0" animBg="1"/>
      <p:bldP spid="24" grpId="0"/>
      <p:bldP spid="14" grpId="0" animBg="1"/>
      <p:bldP spid="29" grpId="0" animBg="1"/>
      <p:bldP spid="30" grpId="0" animBg="1"/>
      <p:bldP spid="22" grpId="0" animBg="1"/>
      <p:bldP spid="2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F7CB209-1DBF-1AD0-76FF-4BC85907885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0840" r="359" b="9506"/>
          <a:stretch/>
        </p:blipFill>
        <p:spPr>
          <a:xfrm>
            <a:off x="72008" y="2242335"/>
            <a:ext cx="8964488" cy="2705679"/>
          </a:xfrm>
          <a:prstGeom prst="rect">
            <a:avLst/>
          </a:prstGeom>
          <a:ln>
            <a:solidFill>
              <a:srgbClr val="002060"/>
            </a:solidFill>
          </a:ln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39FE6888-8531-0207-5A4F-E0C758C04154}"/>
              </a:ext>
            </a:extLst>
          </p:cNvPr>
          <p:cNvSpPr/>
          <p:nvPr/>
        </p:nvSpPr>
        <p:spPr>
          <a:xfrm>
            <a:off x="2747504" y="4375700"/>
            <a:ext cx="4057751" cy="261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+mj-lt"/>
              <a:buAutoNum type="romanUcPeriod" startAt="5"/>
            </a:pPr>
            <a:r>
              <a:rPr lang="zh-CN" altLang="zh-CN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REPL执行脚本</a:t>
            </a: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，结果显示在窗口</a:t>
            </a:r>
            <a:r>
              <a:rPr lang="en-US" altLang="zh-CN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</a:t>
            </a:r>
            <a:r>
              <a:rPr lang="en-US" altLang="zh-CN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55</a:t>
            </a:r>
            <a:endParaRPr lang="zh-CN" altLang="en-US" sz="16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7" name="圆角矩形 13">
            <a:extLst>
              <a:ext uri="{FF2B5EF4-FFF2-40B4-BE49-F238E27FC236}">
                <a16:creationId xmlns:a16="http://schemas.microsoft.com/office/drawing/2014/main" id="{EC319294-7D8C-E2D5-3E16-8E63D062533F}"/>
              </a:ext>
            </a:extLst>
          </p:cNvPr>
          <p:cNvSpPr/>
          <p:nvPr/>
        </p:nvSpPr>
        <p:spPr>
          <a:xfrm>
            <a:off x="2339752" y="4387916"/>
            <a:ext cx="288032" cy="261293"/>
          </a:xfrm>
          <a:prstGeom prst="roundRect">
            <a:avLst/>
          </a:prstGeom>
          <a:noFill/>
          <a:ln w="19050"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326C95C-8772-7EF1-3434-0C33E3765183}"/>
              </a:ext>
            </a:extLst>
          </p:cNvPr>
          <p:cNvSpPr/>
          <p:nvPr/>
        </p:nvSpPr>
        <p:spPr>
          <a:xfrm>
            <a:off x="6729857" y="4334700"/>
            <a:ext cx="2249710" cy="5533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00050" indent="-400050">
              <a:buFont typeface="+mj-lt"/>
              <a:buAutoNum type="romanUcPeriod" startAt="6"/>
            </a:pPr>
            <a:r>
              <a:rPr lang="zh-CN" altLang="zh-CN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运行变量</a:t>
            </a: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结果存在在</a:t>
            </a:r>
            <a:r>
              <a:rPr lang="zh-CN" altLang="zh-CN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工作区</a:t>
            </a:r>
            <a:r>
              <a:rPr lang="en-US" altLang="zh-CN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z=55,</a:t>
            </a:r>
          </a:p>
          <a:p>
            <a:endParaRPr lang="zh-CN" altLang="en-US" sz="16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2DE928D-D208-BE0C-EB7E-A8028ACBB453}"/>
              </a:ext>
            </a:extLst>
          </p:cNvPr>
          <p:cNvSpPr txBox="1"/>
          <p:nvPr/>
        </p:nvSpPr>
        <p:spPr>
          <a:xfrm>
            <a:off x="944147" y="98406"/>
            <a:ext cx="819985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6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§2.1 Julia </a:t>
            </a:r>
            <a:r>
              <a:rPr lang="zh-CN" altLang="en-US" sz="26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代码编程</a:t>
            </a:r>
            <a:r>
              <a:rPr lang="en-US" altLang="zh-CN" sz="26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——2. </a:t>
            </a:r>
            <a:r>
              <a:rPr lang="zh-CN" altLang="en-US" sz="26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脚本文件编写、保存和运行</a:t>
            </a:r>
            <a:endParaRPr lang="en-US" altLang="zh-CN" sz="2600" b="1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4" name="圆角矩形 13">
            <a:extLst>
              <a:ext uri="{FF2B5EF4-FFF2-40B4-BE49-F238E27FC236}">
                <a16:creationId xmlns:a16="http://schemas.microsoft.com/office/drawing/2014/main" id="{F0DA9CAA-46BD-4E8E-B2B6-C46C65192DC6}"/>
              </a:ext>
            </a:extLst>
          </p:cNvPr>
          <p:cNvSpPr/>
          <p:nvPr/>
        </p:nvSpPr>
        <p:spPr>
          <a:xfrm>
            <a:off x="2325575" y="2277624"/>
            <a:ext cx="518233" cy="19712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BB476A5-69BD-47C7-8C28-C04866A574A8}"/>
              </a:ext>
            </a:extLst>
          </p:cNvPr>
          <p:cNvSpPr/>
          <p:nvPr/>
        </p:nvSpPr>
        <p:spPr>
          <a:xfrm>
            <a:off x="35496" y="788839"/>
            <a:ext cx="8919997" cy="323343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lt1"/>
                </a:solidFill>
                <a:latin typeface="+mn-lt"/>
                <a:ea typeface="+mn-ea"/>
                <a:sym typeface="Arial" panose="020B0604020202020204" pitchFamily="34" charset="0"/>
              </a:rPr>
              <a:t>编写脚本文件及其编写注意事项，并保存脚本文件和运行脚本文件</a:t>
            </a:r>
          </a:p>
        </p:txBody>
      </p:sp>
      <p:sp>
        <p:nvSpPr>
          <p:cNvPr id="27" name="圆角矩形 13">
            <a:extLst>
              <a:ext uri="{FF2B5EF4-FFF2-40B4-BE49-F238E27FC236}">
                <a16:creationId xmlns:a16="http://schemas.microsoft.com/office/drawing/2014/main" id="{E6513243-D025-4494-949F-3C724743B33B}"/>
              </a:ext>
            </a:extLst>
          </p:cNvPr>
          <p:cNvSpPr/>
          <p:nvPr/>
        </p:nvSpPr>
        <p:spPr>
          <a:xfrm>
            <a:off x="467544" y="4055197"/>
            <a:ext cx="666903" cy="17273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9A11F17-65FE-4E47-B123-83F230D0765F}"/>
              </a:ext>
            </a:extLst>
          </p:cNvPr>
          <p:cNvSpPr txBox="1"/>
          <p:nvPr/>
        </p:nvSpPr>
        <p:spPr>
          <a:xfrm>
            <a:off x="2747504" y="1140140"/>
            <a:ext cx="6294722" cy="98103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buFont typeface="+mj-lt"/>
              <a:buAutoNum type="romanUcPeriod" startAt="2"/>
            </a:pPr>
            <a:r>
              <a:rPr lang="zh-CN" altLang="en-US" sz="1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英文输入状态下敲入代码、标点符号和运算符，不许中文状态</a:t>
            </a:r>
            <a:endParaRPr lang="en-US" altLang="zh-CN" sz="1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ts val="2400"/>
              </a:lnSpc>
              <a:buFont typeface="+mj-lt"/>
              <a:buAutoNum type="romanUcPeriod" startAt="2"/>
            </a:pPr>
            <a:r>
              <a:rPr lang="zh-CN" altLang="en-US" sz="1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代码编辑中如出现语法错误，代码下有红色下划线，并右边红色警示</a:t>
            </a:r>
            <a:r>
              <a:rPr lang="en-US" altLang="zh-CN" sz="1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,</a:t>
            </a:r>
            <a:r>
              <a:rPr lang="zh-CN" altLang="en-US" sz="1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修改正确红色消失</a:t>
            </a:r>
            <a:endParaRPr lang="zh-CN" altLang="en-US" sz="1400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5C2965DE-7987-40EC-BC57-8931E1DF1FEF}"/>
              </a:ext>
            </a:extLst>
          </p:cNvPr>
          <p:cNvSpPr txBox="1"/>
          <p:nvPr/>
        </p:nvSpPr>
        <p:spPr>
          <a:xfrm>
            <a:off x="3374967" y="2616675"/>
            <a:ext cx="21331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  敲写函数命令时，自动显示函数命令提示行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B6C5A0AC-C052-4E17-B0BB-2902645509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6904" y="2463247"/>
            <a:ext cx="1779654" cy="1629303"/>
          </a:xfrm>
          <a:prstGeom prst="rect">
            <a:avLst/>
          </a:prstGeom>
          <a:noFill/>
          <a:ln w="57150">
            <a:solidFill>
              <a:srgbClr val="FFC000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</p:pic>
      <p:sp>
        <p:nvSpPr>
          <p:cNvPr id="21" name="圆角矩形 13">
            <a:extLst>
              <a:ext uri="{FF2B5EF4-FFF2-40B4-BE49-F238E27FC236}">
                <a16:creationId xmlns:a16="http://schemas.microsoft.com/office/drawing/2014/main" id="{26E79A37-25B4-4772-A97C-89CC4BA9BB92}"/>
              </a:ext>
            </a:extLst>
          </p:cNvPr>
          <p:cNvSpPr/>
          <p:nvPr/>
        </p:nvSpPr>
        <p:spPr>
          <a:xfrm>
            <a:off x="7383260" y="3084461"/>
            <a:ext cx="1293196" cy="191407"/>
          </a:xfrm>
          <a:prstGeom prst="roundRect">
            <a:avLst/>
          </a:prstGeom>
          <a:noFill/>
          <a:ln w="19050"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6" name="圆角矩形 13">
            <a:extLst>
              <a:ext uri="{FF2B5EF4-FFF2-40B4-BE49-F238E27FC236}">
                <a16:creationId xmlns:a16="http://schemas.microsoft.com/office/drawing/2014/main" id="{6F3788B7-79E7-4283-875E-2C4E31782AB7}"/>
              </a:ext>
            </a:extLst>
          </p:cNvPr>
          <p:cNvSpPr/>
          <p:nvPr/>
        </p:nvSpPr>
        <p:spPr>
          <a:xfrm>
            <a:off x="7383260" y="3847915"/>
            <a:ext cx="1293196" cy="191407"/>
          </a:xfrm>
          <a:prstGeom prst="roundRect">
            <a:avLst/>
          </a:prstGeom>
          <a:noFill/>
          <a:ln w="19050"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A97E159-0144-4C75-A3F5-737C1997B519}"/>
              </a:ext>
            </a:extLst>
          </p:cNvPr>
          <p:cNvSpPr/>
          <p:nvPr/>
        </p:nvSpPr>
        <p:spPr>
          <a:xfrm>
            <a:off x="7020272" y="750638"/>
            <a:ext cx="1959295" cy="3660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F5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键进入调试状态</a:t>
            </a: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D42F216D-92AA-41E5-BDB7-753A770C1C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8" y="1158097"/>
            <a:ext cx="2499742" cy="1032536"/>
          </a:xfrm>
          <a:prstGeom prst="rect">
            <a:avLst/>
          </a:prstGeom>
          <a:noFill/>
          <a:ln w="28575">
            <a:solidFill>
              <a:srgbClr val="FFC000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</p:pic>
      <p:sp>
        <p:nvSpPr>
          <p:cNvPr id="39" name="圆角矩形 13">
            <a:extLst>
              <a:ext uri="{FF2B5EF4-FFF2-40B4-BE49-F238E27FC236}">
                <a16:creationId xmlns:a16="http://schemas.microsoft.com/office/drawing/2014/main" id="{30D0C1FC-A12C-4523-945F-8F26404F4A8D}"/>
              </a:ext>
            </a:extLst>
          </p:cNvPr>
          <p:cNvSpPr/>
          <p:nvPr/>
        </p:nvSpPr>
        <p:spPr>
          <a:xfrm>
            <a:off x="323529" y="1381691"/>
            <a:ext cx="2016223" cy="288850"/>
          </a:xfrm>
          <a:prstGeom prst="roundRect">
            <a:avLst/>
          </a:prstGeom>
          <a:noFill/>
          <a:ln w="19050"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0" name="圆角矩形 13">
            <a:extLst>
              <a:ext uri="{FF2B5EF4-FFF2-40B4-BE49-F238E27FC236}">
                <a16:creationId xmlns:a16="http://schemas.microsoft.com/office/drawing/2014/main" id="{47363BC4-C0D4-425A-B166-70CFB2EAD674}"/>
              </a:ext>
            </a:extLst>
          </p:cNvPr>
          <p:cNvSpPr/>
          <p:nvPr/>
        </p:nvSpPr>
        <p:spPr>
          <a:xfrm>
            <a:off x="2478903" y="1353753"/>
            <a:ext cx="119691" cy="499109"/>
          </a:xfrm>
          <a:prstGeom prst="roundRect">
            <a:avLst/>
          </a:prstGeom>
          <a:noFill/>
          <a:ln w="19050"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5" name="圆角矩形 13">
            <a:extLst>
              <a:ext uri="{FF2B5EF4-FFF2-40B4-BE49-F238E27FC236}">
                <a16:creationId xmlns:a16="http://schemas.microsoft.com/office/drawing/2014/main" id="{9E5CD6F3-DA56-E848-02EB-6E789D6C8085}"/>
              </a:ext>
            </a:extLst>
          </p:cNvPr>
          <p:cNvSpPr/>
          <p:nvPr/>
        </p:nvSpPr>
        <p:spPr>
          <a:xfrm>
            <a:off x="6174178" y="2238450"/>
            <a:ext cx="175367" cy="236296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2976DF2-6316-42BC-A825-D3E969C7040F}"/>
              </a:ext>
            </a:extLst>
          </p:cNvPr>
          <p:cNvSpPr txBox="1"/>
          <p:nvPr/>
        </p:nvSpPr>
        <p:spPr>
          <a:xfrm>
            <a:off x="3167845" y="2166968"/>
            <a:ext cx="2585605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400050" indent="-400050">
              <a:buFont typeface="+mj-lt"/>
              <a:buAutoNum type="romanUcPeriod" startAt="4"/>
            </a:pPr>
            <a:r>
              <a:rPr lang="zh-CN" altLang="en-US" sz="1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点击三角号      运行文件</a:t>
            </a:r>
            <a:endParaRPr lang="zh-CN" altLang="en-US" sz="1400" dirty="0"/>
          </a:p>
        </p:txBody>
      </p:sp>
      <p:sp>
        <p:nvSpPr>
          <p:cNvPr id="13" name="等腰三角形 12">
            <a:extLst>
              <a:ext uri="{FF2B5EF4-FFF2-40B4-BE49-F238E27FC236}">
                <a16:creationId xmlns:a16="http://schemas.microsoft.com/office/drawing/2014/main" id="{96CA35A5-CD33-7AFB-12CE-5D65418671EC}"/>
              </a:ext>
            </a:extLst>
          </p:cNvPr>
          <p:cNvSpPr/>
          <p:nvPr/>
        </p:nvSpPr>
        <p:spPr>
          <a:xfrm rot="5400000">
            <a:off x="4593807" y="2253784"/>
            <a:ext cx="165525" cy="157472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Font typeface="+mj-ea"/>
              <a:buAutoNum type="circleNumDbPlain" startAt="4"/>
            </a:pPr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ECAC379E-7BF5-4A1C-AC9C-C15B576C858E}"/>
              </a:ext>
            </a:extLst>
          </p:cNvPr>
          <p:cNvSpPr txBox="1"/>
          <p:nvPr/>
        </p:nvSpPr>
        <p:spPr>
          <a:xfrm>
            <a:off x="6462210" y="2122472"/>
            <a:ext cx="2681790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或</a:t>
            </a:r>
            <a:r>
              <a:rPr lang="en-US" altLang="zh-CN" sz="1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include</a:t>
            </a:r>
            <a:r>
              <a:rPr lang="zh-CN" altLang="en-US" sz="1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（</a:t>
            </a:r>
            <a:r>
              <a:rPr lang="en-US" altLang="zh-CN" sz="1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”</a:t>
            </a:r>
            <a:r>
              <a:rPr lang="en-US" altLang="zh-CN" sz="1400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text.jl</a:t>
            </a:r>
            <a:r>
              <a:rPr lang="en-US" altLang="zh-CN" sz="1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”</a:t>
            </a:r>
            <a:r>
              <a:rPr lang="zh-CN" altLang="en-US" sz="1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）运行</a:t>
            </a:r>
            <a:endParaRPr lang="zh-CN" altLang="en-US" sz="1400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840649B-B4DF-43BA-8325-D0BA4AC04F32}"/>
              </a:ext>
            </a:extLst>
          </p:cNvPr>
          <p:cNvSpPr/>
          <p:nvPr/>
        </p:nvSpPr>
        <p:spPr>
          <a:xfrm>
            <a:off x="360040" y="2572974"/>
            <a:ext cx="2051720" cy="78675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0" fontAlgn="auto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编辑器编写脚本文件，其中</a:t>
            </a:r>
            <a:r>
              <a:rPr lang="en-US" altLang="zh-CN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x=22,y=33,</a:t>
            </a:r>
            <a:r>
              <a:rPr lang="zh-CN" altLang="en-US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求</a:t>
            </a:r>
            <a:r>
              <a:rPr lang="en-US" altLang="zh-CN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z=</a:t>
            </a:r>
            <a:r>
              <a:rPr lang="en-US" altLang="zh-CN" sz="1400" dirty="0" err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x+y</a:t>
            </a:r>
            <a:r>
              <a:rPr lang="zh-CN" altLang="en-US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的值</a:t>
            </a:r>
          </a:p>
        </p:txBody>
      </p:sp>
      <p:sp>
        <p:nvSpPr>
          <p:cNvPr id="29" name="波形 28">
            <a:extLst>
              <a:ext uri="{FF2B5EF4-FFF2-40B4-BE49-F238E27FC236}">
                <a16:creationId xmlns:a16="http://schemas.microsoft.com/office/drawing/2014/main" id="{EC063549-4933-47AC-BF9F-C8128B64974A}"/>
              </a:ext>
            </a:extLst>
          </p:cNvPr>
          <p:cNvSpPr/>
          <p:nvPr/>
        </p:nvSpPr>
        <p:spPr>
          <a:xfrm>
            <a:off x="143852" y="2381402"/>
            <a:ext cx="432373" cy="307777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2-1</a:t>
            </a:r>
            <a:endParaRPr lang="ko-KR" altLang="en-US" sz="14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圆角矩形 13">
            <a:extLst>
              <a:ext uri="{FF2B5EF4-FFF2-40B4-BE49-F238E27FC236}">
                <a16:creationId xmlns:a16="http://schemas.microsoft.com/office/drawing/2014/main" id="{2AF91CFF-8B93-9DF1-067B-B8DDF6A815AC}"/>
              </a:ext>
            </a:extLst>
          </p:cNvPr>
          <p:cNvSpPr/>
          <p:nvPr/>
        </p:nvSpPr>
        <p:spPr>
          <a:xfrm>
            <a:off x="2411759" y="2528403"/>
            <a:ext cx="3096345" cy="828579"/>
          </a:xfrm>
          <a:prstGeom prst="roundRect">
            <a:avLst/>
          </a:prstGeom>
          <a:noFill/>
          <a:ln w="57150">
            <a:solidFill>
              <a:srgbClr val="FFC000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222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24">
            <a:extLst>
              <a:ext uri="{FF2B5EF4-FFF2-40B4-BE49-F238E27FC236}">
                <a16:creationId xmlns:a16="http://schemas.microsoft.com/office/drawing/2014/main" id="{9E285418-A911-4B4A-8773-3902F911C535}"/>
              </a:ext>
            </a:extLst>
          </p:cNvPr>
          <p:cNvSpPr txBox="1"/>
          <p:nvPr/>
        </p:nvSpPr>
        <p:spPr>
          <a:xfrm>
            <a:off x="1279479" y="4655336"/>
            <a:ext cx="7858617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000">
                <a:solidFill>
                  <a:schemeClr val="bg1"/>
                </a:solidFill>
              </a:defRPr>
            </a:lvl1pPr>
          </a:lstStyle>
          <a:p>
            <a:r>
              <a: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建议编写脚本文件最好保存在当前目录，调用无需指明路径，否则必加路径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5216428-BB44-4651-BAD6-0B8887E14EE3}"/>
              </a:ext>
            </a:extLst>
          </p:cNvPr>
          <p:cNvSpPr txBox="1"/>
          <p:nvPr/>
        </p:nvSpPr>
        <p:spPr>
          <a:xfrm>
            <a:off x="828640" y="1364248"/>
            <a:ext cx="316729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x=</a:t>
            </a:r>
            <a:r>
              <a:rPr lang="es-E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22</a:t>
            </a:r>
            <a:r>
              <a:rPr lang="es-E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s-E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y=</a:t>
            </a:r>
            <a:r>
              <a:rPr lang="es-E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33</a:t>
            </a:r>
            <a:r>
              <a:rPr lang="es-E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s-E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z=x+y  #</a:t>
            </a:r>
            <a:r>
              <a:rPr lang="zh-CN" alt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文件名为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test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3FAB737-29DC-4D08-A061-DA8F1E3749AB}"/>
              </a:ext>
            </a:extLst>
          </p:cNvPr>
          <p:cNvSpPr txBox="1"/>
          <p:nvPr/>
        </p:nvSpPr>
        <p:spPr>
          <a:xfrm>
            <a:off x="647634" y="2698507"/>
            <a:ext cx="40324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julia&gt; include(“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test</a:t>
            </a:r>
            <a:r>
              <a:rPr lang="zh-CN" alt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.jl”)  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endParaRPr lang="zh-CN" alt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0C3B81D-1DBF-47DB-9A0A-E8ED39308ADD}"/>
              </a:ext>
            </a:extLst>
          </p:cNvPr>
          <p:cNvSpPr/>
          <p:nvPr/>
        </p:nvSpPr>
        <p:spPr>
          <a:xfrm>
            <a:off x="379786" y="704555"/>
            <a:ext cx="4083042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457200" indent="-457200">
              <a:buClr>
                <a:srgbClr val="0070C0"/>
              </a:buClr>
              <a:buFont typeface="+mj-ea"/>
              <a:buAutoNum type="circleNumDbPlain"/>
            </a:pP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在命令行窗口中调用脚本文件</a:t>
            </a:r>
            <a:endParaRPr lang="zh-CN" altLang="en-US" sz="1600" b="1" dirty="0">
              <a:solidFill>
                <a:schemeClr val="bg1"/>
              </a:solidFill>
              <a:highlight>
                <a:srgbClr val="FF0000"/>
              </a:highlight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DED6F26-C96D-46F9-A6B2-5A6CC84C612A}"/>
              </a:ext>
            </a:extLst>
          </p:cNvPr>
          <p:cNvSpPr/>
          <p:nvPr/>
        </p:nvSpPr>
        <p:spPr>
          <a:xfrm>
            <a:off x="379786" y="1080999"/>
            <a:ext cx="5641516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457200" indent="-457200">
              <a:buClr>
                <a:srgbClr val="0070C0"/>
              </a:buClr>
              <a:buFont typeface="+mj-ea"/>
              <a:buAutoNum type="circleNumDbPlain" startAt="2"/>
            </a:pP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文件夹设置为当前工作目录时，调用时可以省略路径</a:t>
            </a:r>
            <a:endParaRPr lang="zh-CN" altLang="en-US" sz="1600" b="1" dirty="0">
              <a:solidFill>
                <a:schemeClr val="bg1"/>
              </a:solidFill>
              <a:highlight>
                <a:srgbClr val="FF0000"/>
              </a:highlight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98B4692-DD7C-47C7-8595-8A43CA59EF86}"/>
              </a:ext>
            </a:extLst>
          </p:cNvPr>
          <p:cNvSpPr txBox="1"/>
          <p:nvPr/>
        </p:nvSpPr>
        <p:spPr>
          <a:xfrm>
            <a:off x="768589" y="106117"/>
            <a:ext cx="835292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6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§2.1 Julia </a:t>
            </a:r>
            <a:r>
              <a:rPr lang="zh-CN" altLang="en-US" sz="26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代码编程</a:t>
            </a:r>
            <a:r>
              <a:rPr lang="en-US" altLang="zh-CN" sz="26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——3.include</a:t>
            </a:r>
            <a:r>
              <a:rPr lang="zh-CN" altLang="en-US" sz="26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调用和</a:t>
            </a:r>
            <a:r>
              <a:rPr lang="en-US" altLang="zh-CN" sz="2600" b="1" kern="0" dirty="0" err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println</a:t>
            </a:r>
            <a:r>
              <a:rPr lang="zh-CN" altLang="en-US" sz="26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显示输出</a:t>
            </a:r>
            <a:endParaRPr lang="en-US" altLang="zh-CN" sz="2600" b="1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7" name="波形 16">
            <a:extLst>
              <a:ext uri="{FF2B5EF4-FFF2-40B4-BE49-F238E27FC236}">
                <a16:creationId xmlns:a16="http://schemas.microsoft.com/office/drawing/2014/main" id="{09BCE9B0-B294-44E5-91AF-68BE691FDBBA}"/>
              </a:ext>
            </a:extLst>
          </p:cNvPr>
          <p:cNvSpPr/>
          <p:nvPr/>
        </p:nvSpPr>
        <p:spPr>
          <a:xfrm>
            <a:off x="175714" y="371382"/>
            <a:ext cx="625110" cy="366832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例22-1</a:t>
            </a:r>
            <a:endParaRPr lang="ko-KR" altLang="en-US" sz="14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B9AA0B35-299D-4766-8CBF-23787CBF10A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" r="46849" b="6601"/>
          <a:stretch/>
        </p:blipFill>
        <p:spPr>
          <a:xfrm>
            <a:off x="5510469" y="1851670"/>
            <a:ext cx="3297474" cy="2355281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63D12D55-DE1D-4710-90E1-99A8157EFB3B}"/>
              </a:ext>
            </a:extLst>
          </p:cNvPr>
          <p:cNvSpPr/>
          <p:nvPr/>
        </p:nvSpPr>
        <p:spPr>
          <a:xfrm>
            <a:off x="4855647" y="1482464"/>
            <a:ext cx="428244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Clr>
                <a:srgbClr val="0070C0"/>
              </a:buClr>
              <a:buFont typeface="+mj-ea"/>
              <a:buAutoNum type="circleNumDbPlain" startAt="3"/>
            </a:pP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复制路径文件和设置文件夹为当前目录</a:t>
            </a:r>
          </a:p>
        </p:txBody>
      </p:sp>
      <p:sp>
        <p:nvSpPr>
          <p:cNvPr id="20" name="圆角矩形 13">
            <a:extLst>
              <a:ext uri="{FF2B5EF4-FFF2-40B4-BE49-F238E27FC236}">
                <a16:creationId xmlns:a16="http://schemas.microsoft.com/office/drawing/2014/main" id="{BBC49255-2B7B-4B8A-B221-AA2B33D48155}"/>
              </a:ext>
            </a:extLst>
          </p:cNvPr>
          <p:cNvSpPr/>
          <p:nvPr/>
        </p:nvSpPr>
        <p:spPr>
          <a:xfrm>
            <a:off x="5443544" y="4083433"/>
            <a:ext cx="3376929" cy="13990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1" name="圆角矩形 13">
            <a:extLst>
              <a:ext uri="{FF2B5EF4-FFF2-40B4-BE49-F238E27FC236}">
                <a16:creationId xmlns:a16="http://schemas.microsoft.com/office/drawing/2014/main" id="{65BD89C5-BF95-4ED4-96B4-6104DCA0E611}"/>
              </a:ext>
            </a:extLst>
          </p:cNvPr>
          <p:cNvSpPr/>
          <p:nvPr/>
        </p:nvSpPr>
        <p:spPr>
          <a:xfrm>
            <a:off x="6797984" y="3198446"/>
            <a:ext cx="2016224" cy="13990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2" name="圆角矩形 13">
            <a:extLst>
              <a:ext uri="{FF2B5EF4-FFF2-40B4-BE49-F238E27FC236}">
                <a16:creationId xmlns:a16="http://schemas.microsoft.com/office/drawing/2014/main" id="{C6370C24-0E2E-48DD-A21A-2FBF1DE38712}"/>
              </a:ext>
            </a:extLst>
          </p:cNvPr>
          <p:cNvSpPr/>
          <p:nvPr/>
        </p:nvSpPr>
        <p:spPr>
          <a:xfrm>
            <a:off x="5698502" y="3017925"/>
            <a:ext cx="975104" cy="13990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4" name="AutoShape 13">
            <a:extLst>
              <a:ext uri="{FF2B5EF4-FFF2-40B4-BE49-F238E27FC236}">
                <a16:creationId xmlns:a16="http://schemas.microsoft.com/office/drawing/2014/main" id="{619DB68E-4134-4813-BA8A-21E79D89C4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183" y="4515966"/>
            <a:ext cx="1100822" cy="648072"/>
          </a:xfrm>
          <a:prstGeom prst="irregularSeal2">
            <a:avLst/>
          </a:prstGeom>
          <a:solidFill>
            <a:srgbClr val="FF0000"/>
          </a:soli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pPr algn="ctr"/>
            <a:r>
              <a:rPr lang="zh-CN" altLang="en-US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  <a:endParaRPr lang="zh-CN" altLang="en-US" sz="1600" b="1" kern="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A6FA2ED-49E0-4D04-8E09-30ABDA728C99}"/>
              </a:ext>
            </a:extLst>
          </p:cNvPr>
          <p:cNvSpPr txBox="1"/>
          <p:nvPr/>
        </p:nvSpPr>
        <p:spPr>
          <a:xfrm>
            <a:off x="6021302" y="1070488"/>
            <a:ext cx="29469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highlight>
                  <a:srgbClr val="003B76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julia&gt; 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003B76"/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include(“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003B76"/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脚本文件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003B76"/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”)</a:t>
            </a:r>
            <a:endParaRPr lang="zh-CN" altLang="en-US" sz="1600" dirty="0">
              <a:solidFill>
                <a:schemeClr val="bg1"/>
              </a:solidFill>
              <a:highlight>
                <a:srgbClr val="003B76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436BE12-89EF-45DF-A08F-17D385104B1A}"/>
              </a:ext>
            </a:extLst>
          </p:cNvPr>
          <p:cNvSpPr txBox="1"/>
          <p:nvPr/>
        </p:nvSpPr>
        <p:spPr>
          <a:xfrm>
            <a:off x="5076057" y="726316"/>
            <a:ext cx="38922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800" b="1">
                <a:solidFill>
                  <a:schemeClr val="bg1"/>
                </a:solidFill>
                <a:highlight>
                  <a:srgbClr val="003B76"/>
                </a:highligh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1600" dirty="0"/>
              <a:t>julia&gt; </a:t>
            </a:r>
            <a:r>
              <a:rPr lang="en-US" altLang="zh-CN" sz="1600" dirty="0">
                <a:sym typeface="Arial" panose="020B0604020202020204" pitchFamily="34" charset="0"/>
              </a:rPr>
              <a:t>include( “</a:t>
            </a:r>
            <a:r>
              <a:rPr lang="zh-CN" altLang="en-US" sz="1600" dirty="0">
                <a:sym typeface="Arial" panose="020B0604020202020204" pitchFamily="34" charset="0"/>
              </a:rPr>
              <a:t>带路径的脚本文件</a:t>
            </a:r>
            <a:r>
              <a:rPr lang="en-US" altLang="zh-CN" sz="1600" dirty="0">
                <a:sym typeface="Arial" panose="020B0604020202020204" pitchFamily="34" charset="0"/>
              </a:rPr>
              <a:t>”)</a:t>
            </a:r>
            <a:endParaRPr lang="zh-CN" altLang="en-US" sz="1600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FC06F69D-C987-43E0-9479-E5B16411CFF3}"/>
              </a:ext>
            </a:extLst>
          </p:cNvPr>
          <p:cNvSpPr txBox="1"/>
          <p:nvPr/>
        </p:nvSpPr>
        <p:spPr>
          <a:xfrm>
            <a:off x="4376299" y="2742676"/>
            <a:ext cx="181831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0B0F0"/>
                </a:solidFill>
                <a:latin typeface="Consolas" panose="020B0609020204030204" pitchFamily="49" charset="0"/>
              </a:rPr>
              <a:t>#</a:t>
            </a:r>
            <a:r>
              <a:rPr lang="zh-CN" altLang="en-US" sz="2000" b="1" dirty="0">
                <a:solidFill>
                  <a:srgbClr val="00B0F0"/>
                </a:solidFill>
                <a:latin typeface="Consolas" panose="020B0609020204030204" pitchFamily="49" charset="0"/>
              </a:rPr>
              <a:t>运行结果</a:t>
            </a:r>
            <a:r>
              <a:rPr lang="en-US" altLang="zh-CN" sz="2000" b="1" dirty="0">
                <a:solidFill>
                  <a:srgbClr val="00B0F0"/>
                </a:solidFill>
                <a:latin typeface="Consolas" panose="020B0609020204030204" pitchFamily="49" charset="0"/>
              </a:rPr>
              <a:t>55</a:t>
            </a:r>
            <a:endParaRPr lang="zh-CN" altLang="en-US" sz="2000" b="1" dirty="0">
              <a:solidFill>
                <a:srgbClr val="00B0F0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036FCEA-7873-4FFB-9EA6-8EB4049DE314}"/>
              </a:ext>
            </a:extLst>
          </p:cNvPr>
          <p:cNvSpPr/>
          <p:nvPr/>
        </p:nvSpPr>
        <p:spPr>
          <a:xfrm>
            <a:off x="757317" y="3450779"/>
            <a:ext cx="3454643" cy="33855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sz="1600" dirty="0" err="1">
                <a:solidFill>
                  <a:schemeClr val="bg1"/>
                </a:solidFill>
              </a:rPr>
              <a:t>println</a:t>
            </a:r>
            <a:r>
              <a:rPr lang="zh-CN" altLang="en-US" sz="1600" dirty="0">
                <a:solidFill>
                  <a:schemeClr val="bg1"/>
                </a:solidFill>
              </a:rPr>
              <a:t>（ “变量字符串</a:t>
            </a:r>
            <a:r>
              <a:rPr lang="en-US" altLang="zh-CN" sz="1600" dirty="0">
                <a:solidFill>
                  <a:schemeClr val="bg1"/>
                </a:solidFill>
              </a:rPr>
              <a:t>=</a:t>
            </a:r>
            <a:r>
              <a:rPr lang="zh-CN" altLang="en-US" sz="1600" dirty="0">
                <a:solidFill>
                  <a:schemeClr val="bg1"/>
                </a:solidFill>
              </a:rPr>
              <a:t>”，变量数值 ）</a:t>
            </a:r>
            <a:endParaRPr lang="en-US" altLang="zh-CN" sz="1600" dirty="0">
              <a:solidFill>
                <a:schemeClr val="bg1"/>
              </a:solidFill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70726B5-0177-416E-94CA-042AAFAEC4A6}"/>
              </a:ext>
            </a:extLst>
          </p:cNvPr>
          <p:cNvSpPr/>
          <p:nvPr/>
        </p:nvSpPr>
        <p:spPr>
          <a:xfrm>
            <a:off x="757317" y="3869316"/>
            <a:ext cx="3022595" cy="307777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sz="1400" dirty="0" err="1">
                <a:solidFill>
                  <a:schemeClr val="bg1"/>
                </a:solidFill>
              </a:rPr>
              <a:t>println</a:t>
            </a:r>
            <a:r>
              <a:rPr lang="zh-CN" altLang="en-US" sz="1400" dirty="0">
                <a:solidFill>
                  <a:schemeClr val="bg1"/>
                </a:solidFill>
              </a:rPr>
              <a:t>（ “变量字符串</a:t>
            </a:r>
            <a:r>
              <a:rPr lang="en-US" altLang="zh-CN" sz="1400" dirty="0">
                <a:solidFill>
                  <a:schemeClr val="bg1"/>
                </a:solidFill>
              </a:rPr>
              <a:t>=$</a:t>
            </a:r>
            <a:r>
              <a:rPr lang="zh-CN" altLang="en-US" sz="1400" dirty="0">
                <a:solidFill>
                  <a:schemeClr val="bg1"/>
                </a:solidFill>
              </a:rPr>
              <a:t>变量数值” ）</a:t>
            </a:r>
            <a:endParaRPr lang="en-US" altLang="zh-CN" sz="1400" dirty="0">
              <a:solidFill>
                <a:schemeClr val="bg1"/>
              </a:solidFill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1B9ED811-9C0C-4115-BC33-5A63EFAB74D9}"/>
              </a:ext>
            </a:extLst>
          </p:cNvPr>
          <p:cNvSpPr txBox="1"/>
          <p:nvPr/>
        </p:nvSpPr>
        <p:spPr>
          <a:xfrm>
            <a:off x="647634" y="4238890"/>
            <a:ext cx="43948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0B0F0"/>
                </a:solidFill>
              </a:rPr>
              <a:t>println(“</a:t>
            </a:r>
            <a:r>
              <a:rPr lang="en-US" altLang="zh-CN" sz="2000" b="1" dirty="0">
                <a:solidFill>
                  <a:srgbClr val="00B0F0"/>
                </a:solidFill>
              </a:rPr>
              <a:t>z</a:t>
            </a:r>
            <a:r>
              <a:rPr lang="zh-CN" altLang="en-US" sz="2000" b="1" dirty="0">
                <a:solidFill>
                  <a:srgbClr val="00B0F0"/>
                </a:solidFill>
              </a:rPr>
              <a:t>=$</a:t>
            </a:r>
            <a:r>
              <a:rPr lang="en-US" altLang="zh-CN" sz="2000" b="1" dirty="0">
                <a:solidFill>
                  <a:srgbClr val="00B0F0"/>
                </a:solidFill>
              </a:rPr>
              <a:t>z</a:t>
            </a:r>
            <a:r>
              <a:rPr lang="zh-CN" altLang="en-US" sz="2000" b="1" dirty="0">
                <a:solidFill>
                  <a:srgbClr val="00B0F0"/>
                </a:solidFill>
              </a:rPr>
              <a:t>”) </a:t>
            </a:r>
            <a:r>
              <a:rPr lang="en-US" altLang="zh-CN" sz="2000" dirty="0">
                <a:solidFill>
                  <a:srgbClr val="00B0F0"/>
                </a:solidFill>
              </a:rPr>
              <a:t>#</a:t>
            </a:r>
            <a:r>
              <a:rPr lang="zh-CN" altLang="en-US" sz="2000" b="1" dirty="0">
                <a:solidFill>
                  <a:srgbClr val="00B0F0"/>
                </a:solidFill>
              </a:rPr>
              <a:t>或println(“</a:t>
            </a:r>
            <a:r>
              <a:rPr lang="en-US" altLang="zh-CN" sz="2000" b="1" dirty="0">
                <a:solidFill>
                  <a:srgbClr val="00B0F0"/>
                </a:solidFill>
              </a:rPr>
              <a:t>z</a:t>
            </a:r>
            <a:r>
              <a:rPr lang="zh-CN" altLang="en-US" sz="2000" b="1" dirty="0">
                <a:solidFill>
                  <a:srgbClr val="00B0F0"/>
                </a:solidFill>
              </a:rPr>
              <a:t>=",</a:t>
            </a:r>
            <a:r>
              <a:rPr lang="en-US" altLang="zh-CN" sz="2000" b="1" dirty="0">
                <a:solidFill>
                  <a:srgbClr val="00B0F0"/>
                </a:solidFill>
              </a:rPr>
              <a:t>z</a:t>
            </a:r>
            <a:r>
              <a:rPr lang="zh-CN" altLang="en-US" sz="2000" b="1" dirty="0">
                <a:solidFill>
                  <a:srgbClr val="00B0F0"/>
                </a:solidFill>
              </a:rPr>
              <a:t>)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24A4ABF4-AFC1-4B9F-B57E-4E90CE7240F7}"/>
              </a:ext>
            </a:extLst>
          </p:cNvPr>
          <p:cNvSpPr txBox="1"/>
          <p:nvPr/>
        </p:nvSpPr>
        <p:spPr>
          <a:xfrm>
            <a:off x="5147730" y="4227934"/>
            <a:ext cx="16561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00B0F0"/>
                </a:solidFill>
              </a:rPr>
              <a:t>#</a:t>
            </a:r>
            <a:r>
              <a:rPr lang="zh-CN" altLang="en-US" sz="1800" b="1" dirty="0">
                <a:solidFill>
                  <a:srgbClr val="00B0F0"/>
                </a:solidFill>
              </a:rPr>
              <a:t>结果 </a:t>
            </a:r>
            <a:r>
              <a:rPr lang="en-US" altLang="zh-CN" sz="1800" b="1" dirty="0">
                <a:solidFill>
                  <a:srgbClr val="00B0F0"/>
                </a:solidFill>
              </a:rPr>
              <a:t>z</a:t>
            </a:r>
            <a:r>
              <a:rPr lang="zh-CN" altLang="en-US" sz="1800" b="1" dirty="0">
                <a:solidFill>
                  <a:srgbClr val="00B0F0"/>
                </a:solidFill>
              </a:rPr>
              <a:t>=</a:t>
            </a:r>
            <a:r>
              <a:rPr lang="en-US" altLang="zh-CN" sz="1800" b="1" dirty="0">
                <a:solidFill>
                  <a:srgbClr val="00B0F0"/>
                </a:solidFill>
              </a:rPr>
              <a:t>55</a:t>
            </a:r>
            <a:endParaRPr lang="zh-CN" altLang="en-US" sz="1800" b="1" dirty="0">
              <a:solidFill>
                <a:srgbClr val="00B0F0"/>
              </a:solidFill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50919A99-AD9D-4086-A665-D6F2D443D41F}"/>
              </a:ext>
            </a:extLst>
          </p:cNvPr>
          <p:cNvSpPr/>
          <p:nvPr/>
        </p:nvSpPr>
        <p:spPr>
          <a:xfrm>
            <a:off x="306122" y="3046438"/>
            <a:ext cx="4965052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457200" indent="-457200">
              <a:buClr>
                <a:srgbClr val="0070C0"/>
              </a:buClr>
              <a:buFont typeface="+mj-ea"/>
              <a:buAutoNum type="circleNumDbPlain" startAt="4"/>
            </a:pP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用</a:t>
            </a:r>
            <a:r>
              <a:rPr lang="en-US" altLang="zh-CN" sz="1600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pritln</a:t>
            </a: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显示输出数据</a:t>
            </a:r>
            <a:endParaRPr lang="zh-CN" altLang="en-US" sz="1600" b="1" dirty="0">
              <a:solidFill>
                <a:schemeClr val="bg1"/>
              </a:solidFill>
              <a:highlight>
                <a:srgbClr val="FF0000"/>
              </a:highlight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F6A561F-D8A2-4A60-99E4-A2F7A263198D}"/>
              </a:ext>
            </a:extLst>
          </p:cNvPr>
          <p:cNvSpPr txBox="1"/>
          <p:nvPr/>
        </p:nvSpPr>
        <p:spPr>
          <a:xfrm>
            <a:off x="631086" y="2316845"/>
            <a:ext cx="79380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>
                <a:solidFill>
                  <a:srgbClr val="000000"/>
                </a:solidFill>
                <a:latin typeface="Consolas" panose="020B0609020204030204" pitchFamily="49" charset="0"/>
              </a:defRPr>
            </a:lvl1pPr>
          </a:lstStyle>
          <a:p>
            <a:r>
              <a:rPr lang="en-US" altLang="zh-CN" dirty="0"/>
              <a:t>julia&gt; include("D:\MWORKS\Syslab_results \</a:t>
            </a:r>
            <a:r>
              <a:rPr lang="en-US" altLang="zh-CN" dirty="0" err="1"/>
              <a:t>test.jl</a:t>
            </a:r>
            <a:r>
              <a:rPr lang="en-US" altLang="zh-CN" dirty="0"/>
              <a:t>")     </a:t>
            </a:r>
          </a:p>
        </p:txBody>
      </p:sp>
    </p:spTree>
    <p:extLst>
      <p:ext uri="{BB962C8B-B14F-4D97-AF65-F5344CB8AC3E}">
        <p14:creationId xmlns:p14="http://schemas.microsoft.com/office/powerpoint/2010/main" val="2686220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32" grpId="0" animBg="1"/>
      <p:bldP spid="3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25EF06F-411A-5EB4-CA5C-6596C7FFB18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88" b="3800"/>
          <a:stretch/>
        </p:blipFill>
        <p:spPr>
          <a:xfrm>
            <a:off x="179512" y="807317"/>
            <a:ext cx="8856984" cy="4292713"/>
          </a:xfrm>
          <a:prstGeom prst="rect">
            <a:avLst/>
          </a:prstGeom>
          <a:ln>
            <a:solidFill>
              <a:srgbClr val="002060"/>
            </a:solidFill>
          </a:ln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A7986B5C-4B9C-CF3D-3447-7B7B5D1F83FE}"/>
              </a:ext>
            </a:extLst>
          </p:cNvPr>
          <p:cNvSpPr txBox="1"/>
          <p:nvPr/>
        </p:nvSpPr>
        <p:spPr>
          <a:xfrm>
            <a:off x="1141532" y="79237"/>
            <a:ext cx="78229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§2.1 Julia </a:t>
            </a:r>
            <a:r>
              <a:rPr lang="zh-CN" altLang="en-US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代码编程</a:t>
            </a:r>
            <a:r>
              <a:rPr lang="en-US" altLang="zh-CN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——4. </a:t>
            </a:r>
            <a:r>
              <a:rPr lang="zh-CN" altLang="en-US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导入数据和导出结果</a:t>
            </a:r>
            <a:endParaRPr lang="en-US" altLang="zh-CN" sz="2800" b="1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1" name="圆角矩形 13">
            <a:extLst>
              <a:ext uri="{FF2B5EF4-FFF2-40B4-BE49-F238E27FC236}">
                <a16:creationId xmlns:a16="http://schemas.microsoft.com/office/drawing/2014/main" id="{2911B376-C341-CAA6-730D-6A04F67DB678}"/>
              </a:ext>
            </a:extLst>
          </p:cNvPr>
          <p:cNvSpPr/>
          <p:nvPr/>
        </p:nvSpPr>
        <p:spPr>
          <a:xfrm>
            <a:off x="1290592" y="1212585"/>
            <a:ext cx="721746" cy="1169913"/>
          </a:xfrm>
          <a:prstGeom prst="roundRect">
            <a:avLst/>
          </a:prstGeom>
          <a:noFill/>
          <a:ln w="38100">
            <a:solidFill>
              <a:srgbClr val="FFC000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0B04A2F0-DDF2-E602-7467-F37151F6CF25}"/>
              </a:ext>
            </a:extLst>
          </p:cNvPr>
          <p:cNvSpPr/>
          <p:nvPr/>
        </p:nvSpPr>
        <p:spPr>
          <a:xfrm>
            <a:off x="2239594" y="2917300"/>
            <a:ext cx="3600401" cy="1842016"/>
          </a:xfrm>
          <a:prstGeom prst="roundRect">
            <a:avLst/>
          </a:prstGeom>
          <a:noFill/>
          <a:ln w="38100">
            <a:solidFill>
              <a:srgbClr val="FFC000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ACA8FB0-BA65-A262-79DE-FE372BD14AAE}"/>
              </a:ext>
            </a:extLst>
          </p:cNvPr>
          <p:cNvSpPr/>
          <p:nvPr/>
        </p:nvSpPr>
        <p:spPr>
          <a:xfrm>
            <a:off x="939220" y="873654"/>
            <a:ext cx="3632780" cy="274945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lt1"/>
                </a:solidFill>
                <a:latin typeface="+mn-lt"/>
                <a:ea typeface="+mn-ea"/>
                <a:sym typeface="Arial" panose="020B0604020202020204" pitchFamily="34" charset="0"/>
              </a:rPr>
              <a:t>可选择</a:t>
            </a:r>
            <a:r>
              <a:rPr lang="en-US" altLang="zh-CN" sz="1600" dirty="0">
                <a:solidFill>
                  <a:schemeClr val="lt1"/>
                </a:solidFill>
                <a:latin typeface="+mn-lt"/>
                <a:ea typeface="+mn-ea"/>
                <a:sym typeface="Arial" panose="020B0604020202020204" pitchFamily="34" charset="0"/>
              </a:rPr>
              <a:t>csv</a:t>
            </a:r>
            <a:r>
              <a:rPr lang="zh-CN" altLang="en-US" sz="1600" dirty="0">
                <a:solidFill>
                  <a:schemeClr val="lt1"/>
                </a:solidFill>
                <a:latin typeface="+mn-lt"/>
                <a:ea typeface="+mn-ea"/>
                <a:sym typeface="Arial" panose="020B0604020202020204" pitchFamily="34" charset="0"/>
              </a:rPr>
              <a:t>文本或</a:t>
            </a:r>
            <a:r>
              <a:rPr lang="en-US" altLang="zh-CN" sz="1600" dirty="0">
                <a:solidFill>
                  <a:schemeClr val="lt1"/>
                </a:solidFill>
                <a:latin typeface="+mn-lt"/>
                <a:ea typeface="+mn-ea"/>
                <a:sym typeface="Arial" panose="020B0604020202020204" pitchFamily="34" charset="0"/>
              </a:rPr>
              <a:t>excel</a:t>
            </a:r>
            <a:r>
              <a:rPr lang="zh-CN" altLang="en-US" sz="1600" dirty="0">
                <a:sym typeface="Arial" panose="020B0604020202020204" pitchFamily="34" charset="0"/>
              </a:rPr>
              <a:t>等各种数据导入</a:t>
            </a:r>
            <a:endParaRPr lang="zh-CN" altLang="en-US" sz="1600" dirty="0">
              <a:solidFill>
                <a:schemeClr val="lt1"/>
              </a:solidFill>
              <a:latin typeface="+mn-lt"/>
              <a:ea typeface="+mn-ea"/>
              <a:sym typeface="Arial" panose="020B0604020202020204" pitchFamily="34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45A0DCA-DFC6-F91F-DB24-1B359F01CFB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375" t="37399" r="34250" b="27601"/>
          <a:stretch/>
        </p:blipFill>
        <p:spPr>
          <a:xfrm>
            <a:off x="2239595" y="2959115"/>
            <a:ext cx="3600400" cy="1800200"/>
          </a:xfrm>
          <a:prstGeom prst="rect">
            <a:avLst/>
          </a:prstGeom>
          <a:ln>
            <a:solidFill>
              <a:srgbClr val="002060"/>
            </a:solidFill>
          </a:ln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026CFCF4-4C3E-0032-7EF2-FD612000D00D}"/>
              </a:ext>
            </a:extLst>
          </p:cNvPr>
          <p:cNvSpPr/>
          <p:nvPr/>
        </p:nvSpPr>
        <p:spPr>
          <a:xfrm>
            <a:off x="719572" y="2498804"/>
            <a:ext cx="1980220" cy="261264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ym typeface="Arial" panose="020B0604020202020204" pitchFamily="34" charset="0"/>
              </a:rPr>
              <a:t>选择</a:t>
            </a:r>
            <a:r>
              <a:rPr lang="en-US" altLang="zh-CN" sz="1600" dirty="0">
                <a:sym typeface="Arial" panose="020B0604020202020204" pitchFamily="34" charset="0"/>
              </a:rPr>
              <a:t>excel</a:t>
            </a:r>
            <a:r>
              <a:rPr lang="zh-CN" altLang="en-US" sz="1600" dirty="0">
                <a:sym typeface="Arial" panose="020B0604020202020204" pitchFamily="34" charset="0"/>
              </a:rPr>
              <a:t>的</a:t>
            </a:r>
            <a:r>
              <a:rPr lang="en-US" altLang="zh-CN" sz="1600" dirty="0" err="1">
                <a:sym typeface="Arial" panose="020B0604020202020204" pitchFamily="34" charset="0"/>
              </a:rPr>
              <a:t>tisi</a:t>
            </a:r>
            <a:r>
              <a:rPr lang="zh-CN" altLang="en-US" sz="1600" dirty="0">
                <a:sym typeface="Arial" panose="020B0604020202020204" pitchFamily="34" charset="0"/>
              </a:rPr>
              <a:t>文件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5C21C48-4620-4C98-BF5D-A74C181C9CC8}"/>
              </a:ext>
            </a:extLst>
          </p:cNvPr>
          <p:cNvSpPr/>
          <p:nvPr/>
        </p:nvSpPr>
        <p:spPr>
          <a:xfrm>
            <a:off x="2128772" y="1555597"/>
            <a:ext cx="6791290" cy="274945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dirty="0">
                <a:solidFill>
                  <a:schemeClr val="lt1"/>
                </a:solidFill>
                <a:latin typeface="+mn-lt"/>
                <a:ea typeface="+mn-ea"/>
              </a:rPr>
              <a:t>所有计算结果和部分变量结果可直接导出为</a:t>
            </a:r>
            <a:r>
              <a:rPr lang="en-US" altLang="zh-CN" sz="1200" dirty="0">
                <a:solidFill>
                  <a:schemeClr val="lt1"/>
                </a:solidFill>
                <a:latin typeface="+mn-lt"/>
                <a:ea typeface="+mn-ea"/>
              </a:rPr>
              <a:t>csv</a:t>
            </a:r>
            <a:r>
              <a:rPr lang="zh-CN" altLang="en-US" sz="1200" dirty="0">
                <a:solidFill>
                  <a:schemeClr val="lt1"/>
                </a:solidFill>
                <a:latin typeface="+mn-lt"/>
                <a:ea typeface="+mn-ea"/>
              </a:rPr>
              <a:t>格式文件，并自动创建</a:t>
            </a:r>
            <a:r>
              <a:rPr lang="en-US" altLang="zh-CN" sz="1200" dirty="0" err="1">
                <a:solidFill>
                  <a:schemeClr val="lt1"/>
                </a:solidFill>
                <a:latin typeface="+mn-lt"/>
                <a:ea typeface="+mn-ea"/>
              </a:rPr>
              <a:t>syslab_results</a:t>
            </a:r>
            <a:r>
              <a:rPr lang="zh-CN" altLang="en-US" sz="1200" dirty="0">
                <a:solidFill>
                  <a:schemeClr val="lt1"/>
                </a:solidFill>
                <a:latin typeface="+mn-lt"/>
                <a:ea typeface="+mn-ea"/>
              </a:rPr>
              <a:t>文件夹中保存</a:t>
            </a:r>
          </a:p>
        </p:txBody>
      </p:sp>
    </p:spTree>
    <p:extLst>
      <p:ext uri="{BB962C8B-B14F-4D97-AF65-F5344CB8AC3E}">
        <p14:creationId xmlns:p14="http://schemas.microsoft.com/office/powerpoint/2010/main" val="1065245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形状 17413"/>
          <p:cNvSpPr/>
          <p:nvPr/>
        </p:nvSpPr>
        <p:spPr>
          <a:xfrm rot="18380153">
            <a:off x="4943287" y="2199996"/>
            <a:ext cx="410899" cy="116462"/>
          </a:xfrm>
          <a:prstGeom prst="rightArrow">
            <a:avLst/>
          </a:prstGeom>
          <a:solidFill>
            <a:srgbClr val="FFFF00"/>
          </a:solidFill>
          <a:scene3d>
            <a:camera prst="orthographicFront"/>
            <a:lightRig rig="threePt" dir="t"/>
          </a:scene3d>
          <a:sp3d>
            <a:bevelT prst="angle"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algn="ctr" defTabSz="508000" fontAlgn="auto">
              <a:spcBef>
                <a:spcPts val="0"/>
              </a:spcBef>
              <a:spcAft>
                <a:spcPts val="0"/>
              </a:spcAft>
            </a:pPr>
            <a:endParaRPr lang="ko-KR" altLang="en-US" sz="1600" dirty="0">
              <a:latin typeface="Calibri" panose="020F0502020204030204" pitchFamily="34" charset="0"/>
            </a:endParaRPr>
          </a:p>
        </p:txBody>
      </p:sp>
      <p:sp>
        <p:nvSpPr>
          <p:cNvPr id="16" name="标题 1"/>
          <p:cNvSpPr txBox="1">
            <a:spLocks noGrp="1"/>
          </p:cNvSpPr>
          <p:nvPr>
            <p:ph type="title" idx="4294967295"/>
          </p:nvPr>
        </p:nvSpPr>
        <p:spPr>
          <a:xfrm>
            <a:off x="823083" y="-106063"/>
            <a:ext cx="3423378" cy="858203"/>
          </a:xfrm>
          <a:prstGeom prst="rect">
            <a:avLst/>
          </a:prstGeom>
          <a:noFill/>
          <a:ln w="0">
            <a:noFill/>
          </a:ln>
        </p:spPr>
        <p:txBody>
          <a:bodyPr vert="horz" wrap="square" lIns="91440" tIns="45720" rIns="91440" bIns="45720" numCol="1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2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 2.2 </a:t>
            </a:r>
            <a:r>
              <a:rPr lang="zh-CN" altLang="en-US" sz="32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函数文件</a:t>
            </a:r>
            <a:endParaRPr lang="ko-KR" altLang="en-US" sz="3200" b="0" cap="none" dirty="0">
              <a:solidFill>
                <a:srgbClr val="0070C0"/>
              </a:solidFill>
              <a:latin typeface="隶书" panose="02010509060101010101" pitchFamily="49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41201" y="2407217"/>
            <a:ext cx="2197587" cy="313932"/>
          </a:xfrm>
          <a:prstGeom prst="rect">
            <a:avLst/>
          </a:prstGeom>
          <a:noFill/>
          <a:ln w="0">
            <a:noFill/>
          </a:ln>
          <a:effectLst/>
          <a:scene3d>
            <a:camera prst="orthographicFront"/>
            <a:lightRig rig="contrasting" dir="t">
              <a:rot lat="0" lon="0" rev="1500000"/>
            </a:lightRig>
          </a:scene3d>
          <a:sp3d prstMaterial="metal">
            <a:bevelT w="88900" h="88900" prst="angle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>
            <a:spAutoFit/>
          </a:bodyPr>
          <a:lstStyle/>
          <a:p>
            <a:pPr marL="342900" indent="-342900" defTabSz="914400" eaLnBrk="0" fontAlgn="base" latinLnBrk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FontTx/>
              <a:buNone/>
            </a:pPr>
            <a:r>
              <a:rPr lang="en-US" altLang="zh-CN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Julia</a:t>
            </a:r>
            <a:r>
              <a:rPr lang="zh-CN" altLang="en-US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语言函数含义：</a:t>
            </a:r>
            <a:endParaRPr lang="ko-KR" altLang="en-US" cap="none" dirty="0">
              <a:solidFill>
                <a:srgbClr val="002060"/>
              </a:solidFill>
              <a:latin typeface="隶书" panose="02010509060101010101" pitchFamily="49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3933D46-7FDE-4DF0-92BE-893861E80E85}"/>
              </a:ext>
            </a:extLst>
          </p:cNvPr>
          <p:cNvSpPr/>
          <p:nvPr/>
        </p:nvSpPr>
        <p:spPr>
          <a:xfrm>
            <a:off x="173741" y="757447"/>
            <a:ext cx="8645180" cy="35997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dist">
              <a:buClr>
                <a:srgbClr val="0070C0"/>
              </a:buClr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除了常用的数学函数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sin(),log( ),exp( )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之外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可以根据需求自定义函数</a:t>
            </a:r>
            <a:endParaRPr lang="ko-KR" altLang="en-US" b="1" dirty="0">
              <a:solidFill>
                <a:srgbClr val="0070C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32E3A40-4808-4052-84DF-56001D5F7680}"/>
              </a:ext>
            </a:extLst>
          </p:cNvPr>
          <p:cNvSpPr/>
          <p:nvPr/>
        </p:nvSpPr>
        <p:spPr>
          <a:xfrm>
            <a:off x="35496" y="4123166"/>
            <a:ext cx="2475261" cy="313932"/>
          </a:xfrm>
          <a:prstGeom prst="rect">
            <a:avLst/>
          </a:prstGeom>
          <a:noFill/>
          <a:ln w="0">
            <a:noFill/>
          </a:ln>
          <a:effectLst/>
          <a:scene3d>
            <a:camera prst="orthographicFront"/>
            <a:lightRig rig="contrasting" dir="t">
              <a:rot lat="0" lon="0" rev="1500000"/>
            </a:lightRig>
          </a:scene3d>
          <a:sp3d prstMaterial="metal">
            <a:bevelT w="88900" h="88900" prst="angle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>
            <a:spAutoFit/>
          </a:bodyPr>
          <a:lstStyle/>
          <a:p>
            <a:pPr marL="342900" indent="-342900" eaLnBrk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</a:pPr>
            <a:r>
              <a:rPr lang="zh-CN" altLang="en-US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调用函数计算输出参数</a:t>
            </a:r>
            <a:endParaRPr lang="ko-KR" altLang="en-US" dirty="0">
              <a:solidFill>
                <a:srgbClr val="002060"/>
              </a:solidFill>
              <a:latin typeface="隶书" panose="02010509060101010101" pitchFamily="49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6D0AB4C-0F8A-41E8-B9C0-38C2F54A1E0E}"/>
              </a:ext>
            </a:extLst>
          </p:cNvPr>
          <p:cNvSpPr/>
          <p:nvPr/>
        </p:nvSpPr>
        <p:spPr>
          <a:xfrm>
            <a:off x="2460458" y="4136181"/>
            <a:ext cx="3159667" cy="307777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/>
            <a:r>
              <a:rPr lang="zh-CN" altLang="en-US" sz="1400" dirty="0"/>
              <a:t>输出参数</a:t>
            </a:r>
            <a:r>
              <a:rPr lang="en-US" altLang="zh-CN" sz="1400" dirty="0"/>
              <a:t>=</a:t>
            </a:r>
            <a:r>
              <a:rPr lang="en-US" altLang="ko-KR" sz="1400" dirty="0" err="1"/>
              <a:t>函数名</a:t>
            </a:r>
            <a:r>
              <a:rPr lang="en-US" altLang="ko-KR" sz="1400" dirty="0"/>
              <a:t>(</a:t>
            </a:r>
            <a:r>
              <a:rPr lang="zh-CN" altLang="en-US" sz="1400" dirty="0"/>
              <a:t>赋值的</a:t>
            </a:r>
            <a:r>
              <a:rPr lang="en-US" altLang="ko-KR" sz="1400" dirty="0" err="1"/>
              <a:t>输入</a:t>
            </a:r>
            <a:r>
              <a:rPr lang="zh-CN" altLang="en-US" sz="1400" dirty="0"/>
              <a:t>参数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557110D-87AC-443E-AA8A-98202319B4E7}"/>
              </a:ext>
            </a:extLst>
          </p:cNvPr>
          <p:cNvSpPr txBox="1"/>
          <p:nvPr/>
        </p:nvSpPr>
        <p:spPr>
          <a:xfrm>
            <a:off x="5658550" y="2961696"/>
            <a:ext cx="1577745" cy="33855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600" kern="0" dirty="0">
                <a:solidFill>
                  <a:srgbClr val="FFFF00"/>
                </a:solidFill>
                <a:highlight>
                  <a:srgbClr val="FF0000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无输出参数</a:t>
            </a:r>
            <a:r>
              <a:rPr lang="en-US" altLang="zh-CN" sz="1600" kern="0" dirty="0">
                <a:solidFill>
                  <a:srgbClr val="FFFF00"/>
                </a:solidFill>
                <a:highlight>
                  <a:srgbClr val="FF0000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y</a:t>
            </a:r>
            <a:endParaRPr lang="zh-CN" altLang="en-US" sz="1600" dirty="0">
              <a:solidFill>
                <a:srgbClr val="FFFF00"/>
              </a:solidFill>
              <a:highlight>
                <a:srgbClr val="FF0000"/>
              </a:highlight>
            </a:endParaRPr>
          </a:p>
        </p:txBody>
      </p:sp>
      <p:sp>
        <p:nvSpPr>
          <p:cNvPr id="22" name="形状 17413">
            <a:extLst>
              <a:ext uri="{FF2B5EF4-FFF2-40B4-BE49-F238E27FC236}">
                <a16:creationId xmlns:a16="http://schemas.microsoft.com/office/drawing/2014/main" id="{AB2AE5D7-87BA-4BEF-A8A0-5C1FDBB35226}"/>
              </a:ext>
            </a:extLst>
          </p:cNvPr>
          <p:cNvSpPr/>
          <p:nvPr/>
        </p:nvSpPr>
        <p:spPr>
          <a:xfrm rot="12711674">
            <a:off x="2408848" y="2133747"/>
            <a:ext cx="579983" cy="133840"/>
          </a:xfrm>
          <a:prstGeom prst="rightArrow">
            <a:avLst/>
          </a:prstGeom>
          <a:solidFill>
            <a:srgbClr val="FFFF00"/>
          </a:solidFill>
          <a:scene3d>
            <a:camera prst="orthographicFront"/>
            <a:lightRig rig="threePt" dir="t"/>
          </a:scene3d>
          <a:sp3d>
            <a:bevelT prst="angle"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algn="ctr" defTabSz="508000" fontAlgn="auto">
              <a:spcBef>
                <a:spcPts val="0"/>
              </a:spcBef>
              <a:spcAft>
                <a:spcPts val="0"/>
              </a:spcAft>
            </a:pPr>
            <a:endParaRPr lang="ko-KR" altLang="en-US" sz="1600" dirty="0">
              <a:latin typeface="Calibri" panose="020F0502020204030204" pitchFamily="34" charset="0"/>
            </a:endParaRPr>
          </a:p>
        </p:txBody>
      </p:sp>
      <p:sp>
        <p:nvSpPr>
          <p:cNvPr id="24" name="形状 17413">
            <a:extLst>
              <a:ext uri="{FF2B5EF4-FFF2-40B4-BE49-F238E27FC236}">
                <a16:creationId xmlns:a16="http://schemas.microsoft.com/office/drawing/2014/main" id="{7E253B4C-4466-45ED-A393-54C2DA474F9C}"/>
              </a:ext>
            </a:extLst>
          </p:cNvPr>
          <p:cNvSpPr/>
          <p:nvPr/>
        </p:nvSpPr>
        <p:spPr>
          <a:xfrm rot="12711674">
            <a:off x="3385424" y="2153275"/>
            <a:ext cx="538960" cy="159336"/>
          </a:xfrm>
          <a:prstGeom prst="rightArrow">
            <a:avLst/>
          </a:prstGeom>
          <a:solidFill>
            <a:srgbClr val="FFFF00"/>
          </a:solidFill>
          <a:scene3d>
            <a:camera prst="orthographicFront"/>
            <a:lightRig rig="threePt" dir="t"/>
          </a:scene3d>
          <a:sp3d>
            <a:bevelT prst="angle"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algn="ctr" defTabSz="508000" fontAlgn="auto">
              <a:spcBef>
                <a:spcPts val="0"/>
              </a:spcBef>
              <a:spcAft>
                <a:spcPts val="0"/>
              </a:spcAft>
            </a:pPr>
            <a:endParaRPr lang="ko-KR" altLang="en-US" sz="1600" dirty="0">
              <a:latin typeface="Calibri" panose="020F0502020204030204" pitchFamily="34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157A263-3BF0-43A9-8676-2F29136D9D63}"/>
              </a:ext>
            </a:extLst>
          </p:cNvPr>
          <p:cNvSpPr txBox="1"/>
          <p:nvPr/>
        </p:nvSpPr>
        <p:spPr>
          <a:xfrm>
            <a:off x="3890332" y="259214"/>
            <a:ext cx="5074920" cy="31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 ea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科学计算中函数运算就是数学中函数计算</a:t>
            </a:r>
            <a:endParaRPr lang="en-US" altLang="zh-CN" sz="1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A216E8F-9FA7-469D-9465-4A86747F1552}"/>
              </a:ext>
            </a:extLst>
          </p:cNvPr>
          <p:cNvSpPr/>
          <p:nvPr/>
        </p:nvSpPr>
        <p:spPr>
          <a:xfrm>
            <a:off x="127261" y="1269763"/>
            <a:ext cx="3459800" cy="2893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algn="dist" ea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建立函数文件就是定义一个函数</a:t>
            </a:r>
            <a:endParaRPr lang="en-US" altLang="zh-CN" sz="16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1963258-0923-436C-8B26-AE9F8D484281}"/>
              </a:ext>
            </a:extLst>
          </p:cNvPr>
          <p:cNvSpPr/>
          <p:nvPr/>
        </p:nvSpPr>
        <p:spPr>
          <a:xfrm>
            <a:off x="1978088" y="1707654"/>
            <a:ext cx="3680463" cy="307777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lt1"/>
                </a:solidFill>
                <a:latin typeface="+mn-lt"/>
                <a:ea typeface="+mn-ea"/>
              </a:rPr>
              <a:t>因变量</a:t>
            </a:r>
            <a:r>
              <a:rPr lang="en-US" altLang="ko-KR" sz="1400" dirty="0">
                <a:solidFill>
                  <a:schemeClr val="lt1"/>
                </a:solidFill>
                <a:latin typeface="+mn-lt"/>
                <a:ea typeface="+mn-ea"/>
              </a:rPr>
              <a:t>y= f (</a:t>
            </a:r>
            <a:r>
              <a:rPr lang="zh-CN" altLang="en-US" sz="1400" dirty="0">
                <a:solidFill>
                  <a:schemeClr val="lt1"/>
                </a:solidFill>
                <a:latin typeface="+mn-lt"/>
                <a:ea typeface="+mn-ea"/>
              </a:rPr>
              <a:t>自变量</a:t>
            </a:r>
            <a:r>
              <a:rPr lang="en-US" altLang="ko-KR" sz="1400" dirty="0">
                <a:solidFill>
                  <a:schemeClr val="lt1"/>
                </a:solidFill>
                <a:latin typeface="+mn-lt"/>
                <a:ea typeface="+mn-ea"/>
              </a:rPr>
              <a:t>x</a:t>
            </a:r>
            <a:r>
              <a:rPr lang="zh-CN" altLang="en-US" sz="1400" dirty="0">
                <a:solidFill>
                  <a:schemeClr val="lt1"/>
                </a:solidFill>
                <a:latin typeface="+mn-lt"/>
                <a:ea typeface="+mn-ea"/>
              </a:rPr>
              <a:t>，参数</a:t>
            </a:r>
            <a:r>
              <a:rPr lang="en-US" altLang="zh-CN" sz="1400" dirty="0">
                <a:solidFill>
                  <a:schemeClr val="lt1"/>
                </a:solidFill>
                <a:latin typeface="+mn-lt"/>
                <a:ea typeface="+mn-ea"/>
              </a:rPr>
              <a:t>a</a:t>
            </a:r>
            <a:r>
              <a:rPr lang="zh-CN" altLang="en-US" sz="1400" dirty="0">
                <a:solidFill>
                  <a:schemeClr val="lt1"/>
                </a:solidFill>
                <a:latin typeface="+mn-lt"/>
                <a:ea typeface="+mn-ea"/>
              </a:rPr>
              <a:t>）</a:t>
            </a:r>
            <a:endParaRPr lang="ko-KR" altLang="en-US" sz="1400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C8B5718-91B5-4530-992A-644A695CB513}"/>
              </a:ext>
            </a:extLst>
          </p:cNvPr>
          <p:cNvSpPr/>
          <p:nvPr/>
        </p:nvSpPr>
        <p:spPr>
          <a:xfrm>
            <a:off x="112303" y="1703493"/>
            <a:ext cx="1714271" cy="338554"/>
          </a:xfrm>
          <a:prstGeom prst="rect">
            <a:avLst/>
          </a:prstGeom>
          <a:noFill/>
          <a:ln w="0">
            <a:noFill/>
          </a:ln>
          <a:effectLst/>
          <a:scene3d>
            <a:camera prst="orthographicFront"/>
            <a:lightRig rig="contrasting" dir="t">
              <a:rot lat="0" lon="0" rev="1500000"/>
            </a:lightRig>
          </a:scene3d>
          <a:sp3d prstMaterial="metal">
            <a:bevelT w="88900" h="88900" prst="angle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>
            <a:spAutoFit/>
          </a:bodyPr>
          <a:lstStyle/>
          <a:p>
            <a:pPr marL="342900" indent="-342900" eaLnBrk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</a:pPr>
            <a:r>
              <a:rPr lang="zh-CN" altLang="en-US" sz="20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数学函数形式</a:t>
            </a:r>
            <a:endParaRPr lang="ko-KR" altLang="en-US" sz="2000" dirty="0">
              <a:solidFill>
                <a:srgbClr val="002060"/>
              </a:solidFill>
              <a:latin typeface="隶书" panose="02010509060101010101" pitchFamily="49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4F735557-741B-4934-9388-1A603822493D}"/>
              </a:ext>
            </a:extLst>
          </p:cNvPr>
          <p:cNvSpPr txBox="1"/>
          <p:nvPr/>
        </p:nvSpPr>
        <p:spPr>
          <a:xfrm>
            <a:off x="5620125" y="4064929"/>
            <a:ext cx="36537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如</a:t>
            </a:r>
            <a:r>
              <a:rPr lang="en-US" altLang="zh-CN" sz="1800" kern="0" dirty="0" err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oo</a:t>
            </a:r>
            <a:r>
              <a:rPr lang="en-US" altLang="zh-CN" sz="1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=ones(2)’ #</a:t>
            </a:r>
            <a:r>
              <a:rPr lang="zh-CN" altLang="en-US" sz="1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结果</a:t>
            </a:r>
            <a:r>
              <a:rPr lang="en-US" altLang="zh-CN" sz="1800" kern="0" dirty="0" err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oo</a:t>
            </a:r>
            <a:r>
              <a:rPr lang="en-US" altLang="zh-CN" sz="1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=1.0  1.0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06B4F98-C298-496C-94B9-38924F45E8D1}"/>
              </a:ext>
            </a:extLst>
          </p:cNvPr>
          <p:cNvSpPr/>
          <p:nvPr/>
        </p:nvSpPr>
        <p:spPr>
          <a:xfrm>
            <a:off x="2546222" y="2410294"/>
            <a:ext cx="2959567" cy="307778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lt1"/>
                </a:solidFill>
                <a:latin typeface="+mn-lt"/>
                <a:ea typeface="+mn-ea"/>
              </a:rPr>
              <a:t>输出参数</a:t>
            </a:r>
            <a:r>
              <a:rPr lang="en-US" altLang="ko-KR" sz="1400" dirty="0">
                <a:solidFill>
                  <a:schemeClr val="lt1"/>
                </a:solidFill>
                <a:latin typeface="+mn-lt"/>
                <a:ea typeface="+mn-ea"/>
              </a:rPr>
              <a:t>y=</a:t>
            </a:r>
            <a:r>
              <a:rPr lang="zh-CN" altLang="en-US" sz="1400" dirty="0">
                <a:solidFill>
                  <a:schemeClr val="lt1"/>
                </a:solidFill>
                <a:latin typeface="+mn-lt"/>
                <a:ea typeface="+mn-ea"/>
              </a:rPr>
              <a:t>函数名</a:t>
            </a:r>
            <a:r>
              <a:rPr lang="en-US" altLang="ko-KR" sz="1400" dirty="0">
                <a:solidFill>
                  <a:schemeClr val="lt1"/>
                </a:solidFill>
                <a:latin typeface="+mn-lt"/>
                <a:ea typeface="+mn-ea"/>
              </a:rPr>
              <a:t>f(</a:t>
            </a:r>
            <a:r>
              <a:rPr lang="zh-CN" altLang="en-US" sz="1400" dirty="0">
                <a:solidFill>
                  <a:schemeClr val="lt1"/>
                </a:solidFill>
                <a:latin typeface="+mn-lt"/>
                <a:ea typeface="+mn-ea"/>
              </a:rPr>
              <a:t>输入参数</a:t>
            </a:r>
            <a:r>
              <a:rPr lang="en-US" altLang="ko-KR" sz="1400" dirty="0">
                <a:solidFill>
                  <a:schemeClr val="lt1"/>
                </a:solidFill>
                <a:latin typeface="+mn-lt"/>
                <a:ea typeface="+mn-ea"/>
              </a:rPr>
              <a:t>)</a:t>
            </a:r>
            <a:endParaRPr lang="ko-KR" altLang="en-US" sz="1400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38" name="形状 17413">
            <a:extLst>
              <a:ext uri="{FF2B5EF4-FFF2-40B4-BE49-F238E27FC236}">
                <a16:creationId xmlns:a16="http://schemas.microsoft.com/office/drawing/2014/main" id="{42A1C7C0-FC94-4AAC-AA28-71098B18628E}"/>
              </a:ext>
            </a:extLst>
          </p:cNvPr>
          <p:cNvSpPr/>
          <p:nvPr/>
        </p:nvSpPr>
        <p:spPr>
          <a:xfrm rot="12711674">
            <a:off x="4246770" y="2136382"/>
            <a:ext cx="538960" cy="159336"/>
          </a:xfrm>
          <a:prstGeom prst="rightArrow">
            <a:avLst/>
          </a:prstGeom>
          <a:solidFill>
            <a:srgbClr val="FFFF00"/>
          </a:solidFill>
          <a:scene3d>
            <a:camera prst="orthographicFront"/>
            <a:lightRig rig="threePt" dir="t"/>
          </a:scene3d>
          <a:sp3d>
            <a:bevelT prst="angle"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algn="ctr" defTabSz="508000" fontAlgn="auto">
              <a:spcBef>
                <a:spcPts val="0"/>
              </a:spcBef>
              <a:spcAft>
                <a:spcPts val="0"/>
              </a:spcAft>
            </a:pPr>
            <a:endParaRPr lang="ko-KR" altLang="en-US" sz="1600" dirty="0">
              <a:latin typeface="Calibri" panose="020F0502020204030204" pitchFamily="34" charset="0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794C1FCA-8648-45DF-A71E-878FE9F2D804}"/>
              </a:ext>
            </a:extLst>
          </p:cNvPr>
          <p:cNvSpPr/>
          <p:nvPr/>
        </p:nvSpPr>
        <p:spPr>
          <a:xfrm>
            <a:off x="3925836" y="2992473"/>
            <a:ext cx="1710242" cy="307777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lt1"/>
                </a:solidFill>
                <a:latin typeface="+mn-lt"/>
                <a:ea typeface="+mn-ea"/>
              </a:rPr>
              <a:t>函数名</a:t>
            </a:r>
            <a:r>
              <a:rPr lang="en-US" altLang="ko-KR" sz="1400" dirty="0">
                <a:solidFill>
                  <a:schemeClr val="lt1"/>
                </a:solidFill>
                <a:latin typeface="+mn-lt"/>
                <a:ea typeface="+mn-ea"/>
              </a:rPr>
              <a:t>f(</a:t>
            </a:r>
            <a:r>
              <a:rPr lang="zh-CN" altLang="en-US" sz="1400" dirty="0">
                <a:solidFill>
                  <a:schemeClr val="lt1"/>
                </a:solidFill>
                <a:latin typeface="+mn-lt"/>
                <a:ea typeface="+mn-ea"/>
              </a:rPr>
              <a:t>输入参数</a:t>
            </a:r>
            <a:r>
              <a:rPr lang="en-US" altLang="ko-KR" sz="1400" dirty="0">
                <a:solidFill>
                  <a:schemeClr val="lt1"/>
                </a:solidFill>
                <a:latin typeface="+mn-lt"/>
                <a:ea typeface="+mn-ea"/>
              </a:rPr>
              <a:t>)</a:t>
            </a:r>
            <a:endParaRPr lang="ko-KR" altLang="en-US" sz="1400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4AEECA3-9275-4240-A10D-AA334ABB26C7}"/>
              </a:ext>
            </a:extLst>
          </p:cNvPr>
          <p:cNvSpPr/>
          <p:nvPr/>
        </p:nvSpPr>
        <p:spPr>
          <a:xfrm>
            <a:off x="131204" y="3050259"/>
            <a:ext cx="2959567" cy="313932"/>
          </a:xfrm>
          <a:prstGeom prst="rect">
            <a:avLst/>
          </a:prstGeom>
          <a:noFill/>
          <a:ln w="0">
            <a:noFill/>
          </a:ln>
          <a:effectLst/>
          <a:scene3d>
            <a:camera prst="orthographicFront"/>
            <a:lightRig rig="contrasting" dir="t">
              <a:rot lat="0" lon="0" rev="1500000"/>
            </a:lightRig>
          </a:scene3d>
          <a:sp3d prstMaterial="metal">
            <a:bevelT w="88900" h="88900" prst="angle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>
            <a:spAutoFit/>
          </a:bodyPr>
          <a:lstStyle/>
          <a:p>
            <a:pPr marL="342900" indent="-342900" eaLnBrk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Julia</a:t>
            </a:r>
            <a:r>
              <a:rPr lang="zh-CN" altLang="en-US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用</a:t>
            </a:r>
            <a:r>
              <a:rPr lang="en-US" altLang="zh-CN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function</a:t>
            </a:r>
            <a:r>
              <a:rPr lang="zh-CN" altLang="en-US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函数定义</a:t>
            </a:r>
            <a:endParaRPr lang="ko-KR" altLang="en-US" cap="none" dirty="0">
              <a:solidFill>
                <a:srgbClr val="002060"/>
              </a:solidFill>
              <a:latin typeface="隶书" panose="02010509060101010101" pitchFamily="49" charset="-122"/>
              <a:ea typeface="微软雅黑" panose="020B0503020204020204" pitchFamily="34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BF2FA5E8-A5C1-44B2-A433-4DBBD49C51CD}"/>
              </a:ext>
            </a:extLst>
          </p:cNvPr>
          <p:cNvSpPr txBox="1"/>
          <p:nvPr/>
        </p:nvSpPr>
        <p:spPr>
          <a:xfrm>
            <a:off x="2856133" y="2990239"/>
            <a:ext cx="14475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kern="0" dirty="0">
                <a:solidFill>
                  <a:schemeClr val="bg1"/>
                </a:solidFill>
                <a:highlight>
                  <a:srgbClr val="736303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function</a:t>
            </a:r>
            <a:endParaRPr lang="zh-CN" altLang="en-US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2F8AE62D-0BA0-4E9B-BBFC-4774DF221056}"/>
              </a:ext>
            </a:extLst>
          </p:cNvPr>
          <p:cNvSpPr txBox="1"/>
          <p:nvPr/>
        </p:nvSpPr>
        <p:spPr>
          <a:xfrm>
            <a:off x="5736979" y="1586087"/>
            <a:ext cx="3175227" cy="115685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algn="dist">
              <a:buClr>
                <a:srgbClr val="0070C0"/>
              </a:buClr>
              <a:defRPr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zh-CN" altLang="en-US" sz="1600" dirty="0"/>
              <a:t>因变量</a:t>
            </a:r>
            <a:r>
              <a:rPr lang="en-US" altLang="zh-CN" sz="1600" dirty="0"/>
              <a:t>y</a:t>
            </a:r>
            <a:r>
              <a:rPr lang="zh-CN" altLang="en-US" sz="1600" dirty="0"/>
              <a:t>相当于输出参数；</a:t>
            </a:r>
            <a:endParaRPr lang="en-US" altLang="zh-CN" sz="1600" dirty="0"/>
          </a:p>
          <a:p>
            <a:pPr algn="l">
              <a:lnSpc>
                <a:spcPct val="150000"/>
              </a:lnSpc>
            </a:pPr>
            <a:r>
              <a:rPr lang="en-US" altLang="zh-CN" sz="1600" dirty="0"/>
              <a:t>f</a:t>
            </a:r>
            <a:r>
              <a:rPr lang="zh-CN" altLang="en-US" sz="1600" dirty="0"/>
              <a:t>是函数名，</a:t>
            </a:r>
            <a:endParaRPr lang="en-US" altLang="zh-CN" sz="1600" dirty="0"/>
          </a:p>
          <a:p>
            <a:pPr algn="l">
              <a:lnSpc>
                <a:spcPct val="150000"/>
              </a:lnSpc>
            </a:pPr>
            <a:r>
              <a:rPr lang="zh-CN" altLang="en-US" sz="1600" dirty="0"/>
              <a:t>自变量</a:t>
            </a:r>
            <a:r>
              <a:rPr lang="en-US" altLang="zh-CN" sz="1600" dirty="0"/>
              <a:t>x</a:t>
            </a:r>
            <a:r>
              <a:rPr lang="zh-CN" altLang="en-US" sz="1600" dirty="0"/>
              <a:t>和参数</a:t>
            </a:r>
            <a:r>
              <a:rPr lang="en-US" altLang="zh-CN" sz="1600" dirty="0"/>
              <a:t>a</a:t>
            </a:r>
            <a:r>
              <a:rPr lang="zh-CN" altLang="en-US" sz="1600" dirty="0"/>
              <a:t>相当于输入参数</a:t>
            </a:r>
            <a:endParaRPr lang="es-ES" altLang="zh-CN" sz="1600" dirty="0"/>
          </a:p>
        </p:txBody>
      </p:sp>
      <p:sp>
        <p:nvSpPr>
          <p:cNvPr id="43" name="对话气泡: 圆角矩形 42">
            <a:extLst>
              <a:ext uri="{FF2B5EF4-FFF2-40B4-BE49-F238E27FC236}">
                <a16:creationId xmlns:a16="http://schemas.microsoft.com/office/drawing/2014/main" id="{3660B5AC-91B6-4F4F-B547-2040782D2D3E}"/>
              </a:ext>
            </a:extLst>
          </p:cNvPr>
          <p:cNvSpPr/>
          <p:nvPr/>
        </p:nvSpPr>
        <p:spPr bwMode="auto">
          <a:xfrm>
            <a:off x="3677080" y="2409715"/>
            <a:ext cx="1823653" cy="332777"/>
          </a:xfrm>
          <a:prstGeom prst="wedgeRoundRectCallout">
            <a:avLst>
              <a:gd name="adj1" fmla="val 3997"/>
              <a:gd name="adj2" fmla="val 109695"/>
              <a:gd name="adj3" fmla="val 16667"/>
            </a:avLst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D656CC9-6534-43EF-9CAF-A824EE353434}"/>
              </a:ext>
            </a:extLst>
          </p:cNvPr>
          <p:cNvSpPr txBox="1"/>
          <p:nvPr/>
        </p:nvSpPr>
        <p:spPr>
          <a:xfrm>
            <a:off x="683568" y="3565873"/>
            <a:ext cx="5262744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160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MATLAB</a:t>
            </a:r>
            <a:r>
              <a:rPr lang="zh-CN" altLang="en-US" sz="160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函数编写</a:t>
            </a:r>
            <a:r>
              <a:rPr lang="en-US" altLang="zh-CN" sz="160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function</a:t>
            </a:r>
            <a:r>
              <a:rPr lang="zh-CN" altLang="en-US" sz="160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有输入参数还有输出参数：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9508ECE-7575-4A9B-870E-8D3E51FECFBC}"/>
              </a:ext>
            </a:extLst>
          </p:cNvPr>
          <p:cNvSpPr txBox="1"/>
          <p:nvPr/>
        </p:nvSpPr>
        <p:spPr>
          <a:xfrm>
            <a:off x="5776216" y="3611811"/>
            <a:ext cx="33023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kern="0" dirty="0">
                <a:solidFill>
                  <a:schemeClr val="bg1"/>
                </a:solidFill>
                <a:highlight>
                  <a:srgbClr val="736303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function </a:t>
            </a:r>
            <a:r>
              <a:rPr lang="zh-CN" altLang="en-US" sz="1400" b="1" kern="0" dirty="0">
                <a:solidFill>
                  <a:schemeClr val="bg1"/>
                </a:solidFill>
                <a:highlight>
                  <a:srgbClr val="736303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输出参数</a:t>
            </a:r>
            <a:r>
              <a:rPr lang="en-US" altLang="zh-CN" sz="1400" b="1" kern="0" dirty="0">
                <a:solidFill>
                  <a:schemeClr val="bg1"/>
                </a:solidFill>
                <a:highlight>
                  <a:srgbClr val="736303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1400" b="1" kern="0" dirty="0">
                <a:solidFill>
                  <a:schemeClr val="bg1"/>
                </a:solidFill>
                <a:highlight>
                  <a:srgbClr val="736303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函数名</a:t>
            </a:r>
            <a:r>
              <a:rPr lang="en-US" altLang="zh-CN" sz="1400" b="1" kern="0" dirty="0">
                <a:solidFill>
                  <a:schemeClr val="bg1"/>
                </a:solidFill>
                <a:highlight>
                  <a:srgbClr val="736303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400" b="1" kern="0" dirty="0">
                <a:solidFill>
                  <a:schemeClr val="bg1"/>
                </a:solidFill>
                <a:highlight>
                  <a:srgbClr val="736303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输入参数）</a:t>
            </a:r>
          </a:p>
        </p:txBody>
      </p:sp>
      <p:sp>
        <p:nvSpPr>
          <p:cNvPr id="44" name="AutoShape 13">
            <a:extLst>
              <a:ext uri="{FF2B5EF4-FFF2-40B4-BE49-F238E27FC236}">
                <a16:creationId xmlns:a16="http://schemas.microsoft.com/office/drawing/2014/main" id="{A14E3B7A-D9EB-4932-B35D-5537E72B57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350" y="3435846"/>
            <a:ext cx="540533" cy="648072"/>
          </a:xfrm>
          <a:prstGeom prst="irregularSeal2">
            <a:avLst/>
          </a:prstGeom>
          <a:solidFill>
            <a:srgbClr val="FF0000"/>
          </a:soli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pPr algn="ctr"/>
            <a:r>
              <a:rPr lang="zh-CN" altLang="en-US" sz="12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  <a:endParaRPr lang="zh-CN" altLang="en-US" sz="1200" b="1" kern="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00619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3" grpId="0"/>
      <p:bldP spid="26" grpId="0"/>
      <p:bldP spid="27" grpId="0" animBg="1"/>
      <p:bldP spid="20" grpId="0" animBg="1"/>
      <p:bldP spid="22" grpId="0" animBg="1"/>
      <p:bldP spid="24" grpId="0" animBg="1"/>
      <p:bldP spid="29" grpId="0" animBg="1"/>
      <p:bldP spid="30" grpId="0"/>
      <p:bldP spid="36" grpId="0"/>
      <p:bldP spid="37" grpId="0" animBg="1"/>
      <p:bldP spid="38" grpId="0" animBg="1"/>
      <p:bldP spid="39" grpId="0" animBg="1"/>
      <p:bldP spid="40" grpId="0"/>
      <p:bldP spid="41" grpId="0"/>
      <p:bldP spid="42" grpId="0" animBg="1"/>
      <p:bldP spid="43" grpId="0" animBg="1"/>
      <p:bldP spid="32" grpId="0" animBg="1"/>
      <p:bldP spid="34" grpId="0"/>
      <p:bldP spid="4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670726-B9E9-478F-8DDB-4EE47BE22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8140" y="236950"/>
            <a:ext cx="5040560" cy="438150"/>
          </a:xfrm>
        </p:spPr>
        <p:txBody>
          <a:bodyPr/>
          <a:lstStyle/>
          <a:p>
            <a:r>
              <a:rPr lang="en-US" altLang="zh-CN" dirty="0"/>
              <a:t>§2.2  </a:t>
            </a:r>
            <a:r>
              <a:rPr lang="zh-CN" altLang="en-US" kern="1200" dirty="0">
                <a:cs typeface="+mn-cs"/>
              </a:rPr>
              <a:t>函数</a:t>
            </a:r>
            <a:r>
              <a:rPr lang="en-US" altLang="zh-CN" sz="3200" kern="0" dirty="0">
                <a:solidFill>
                  <a:srgbClr val="FF0000"/>
                </a:solidFill>
              </a:rPr>
              <a:t>——</a:t>
            </a:r>
            <a:r>
              <a:rPr lang="zh-CN" altLang="en-US" kern="1200" dirty="0">
                <a:solidFill>
                  <a:srgbClr val="FF0000"/>
                </a:solidFill>
                <a:cs typeface="+mn-cs"/>
              </a:rPr>
              <a:t>定义和调用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0799EE9-203D-45D5-8602-5C7DDEF59424}"/>
              </a:ext>
            </a:extLst>
          </p:cNvPr>
          <p:cNvSpPr txBox="1"/>
          <p:nvPr/>
        </p:nvSpPr>
        <p:spPr>
          <a:xfrm>
            <a:off x="587633" y="1099823"/>
            <a:ext cx="7074777" cy="3035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§2.2.0 </a:t>
            </a:r>
            <a:r>
              <a:rPr lang="zh-CN" altLang="en-US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标准形式、简单形式和匿名形式对比</a:t>
            </a:r>
          </a:p>
          <a:p>
            <a:pPr>
              <a:lnSpc>
                <a:spcPts val="3400"/>
              </a:lnSpc>
            </a:pPr>
            <a:r>
              <a:rPr lang="en-US" altLang="zh-CN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§2.2.1 </a:t>
            </a:r>
            <a:r>
              <a:rPr lang="zh-CN" altLang="en-US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标准形式</a:t>
            </a:r>
            <a:r>
              <a:rPr lang="zh-CN" altLang="en-US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函数文件</a:t>
            </a:r>
            <a:r>
              <a:rPr lang="zh-CN" altLang="en-US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定义和调用</a:t>
            </a:r>
            <a:endParaRPr lang="en-US" altLang="zh-CN" sz="22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ts val="3400"/>
              </a:lnSpc>
            </a:pPr>
            <a:r>
              <a:rPr lang="en-US" altLang="zh-CN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§2.2.2 </a:t>
            </a:r>
            <a:r>
              <a:rPr lang="zh-CN" altLang="en-US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函数文件作用域、</a:t>
            </a:r>
            <a:r>
              <a:rPr lang="zh-CN" altLang="en-US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局部变量和</a:t>
            </a:r>
            <a:r>
              <a:rPr lang="en-US" altLang="zh-CN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global</a:t>
            </a:r>
            <a:endParaRPr lang="en-US" altLang="zh-CN" sz="22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400"/>
              </a:lnSpc>
            </a:pPr>
            <a:r>
              <a:rPr lang="en-US" altLang="zh-CN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§2.2.3 </a:t>
            </a:r>
            <a:r>
              <a:rPr lang="zh-CN" altLang="en-US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简化形式</a:t>
            </a:r>
            <a:r>
              <a:rPr lang="zh-CN" altLang="en-US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函数的定义和调用</a:t>
            </a:r>
            <a:endParaRPr lang="en-US" altLang="zh-CN" sz="22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ts val="3400"/>
              </a:lnSpc>
            </a:pPr>
            <a:r>
              <a:rPr lang="en-US" altLang="zh-CN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§2.2.4 </a:t>
            </a:r>
            <a:r>
              <a:rPr lang="zh-CN" altLang="en-US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匿名函数</a:t>
            </a:r>
            <a:r>
              <a:rPr lang="zh-CN" altLang="en-US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的定义和调用</a:t>
            </a:r>
            <a:endParaRPr lang="en-US" altLang="zh-CN" sz="22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400"/>
              </a:lnSpc>
            </a:pPr>
            <a:r>
              <a:rPr lang="en-US" altLang="zh-CN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§2.2.5</a:t>
            </a:r>
            <a:r>
              <a:rPr lang="zh-CN" altLang="en-US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zh-CN" altLang="en-US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函数文件的</a:t>
            </a:r>
            <a:r>
              <a:rPr lang="zh-CN" altLang="en-US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定义和调用</a:t>
            </a:r>
            <a:endParaRPr lang="en-US" altLang="zh-CN" sz="22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400"/>
              </a:lnSpc>
            </a:pPr>
            <a:r>
              <a:rPr lang="en-US" altLang="zh-CN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§2.2.6 </a:t>
            </a:r>
            <a:r>
              <a:rPr lang="zh-CN" altLang="en-US" sz="22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函数复合和链式调用</a:t>
            </a:r>
            <a:endParaRPr lang="zh-CN" altLang="en-US" sz="22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1">
            <a:extLst>
              <a:ext uri="{FF2B5EF4-FFF2-40B4-BE49-F238E27FC236}">
                <a16:creationId xmlns:a16="http://schemas.microsoft.com/office/drawing/2014/main" id="{F1B25B9B-0BEB-4A51-A3D4-01C5B6290C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1177" y="4137157"/>
            <a:ext cx="5761234" cy="4226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>
            <a:lvl1pPr marL="342900" indent="-3429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742950" indent="-28575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2pPr>
            <a:lvl3pPr marL="1143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3pPr>
            <a:lvl4pPr marL="1600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4pPr>
            <a:lvl5pPr marL="20574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5pPr>
            <a:lvl6pPr marL="25146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6pPr>
            <a:lvl7pPr marL="29718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7pPr>
            <a:lvl8pPr marL="34290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8pPr>
            <a:lvl9pPr marL="38862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9pPr>
          </a:lstStyle>
          <a:p>
            <a:pPr marL="0" indent="0">
              <a:lnSpc>
                <a:spcPts val="2800"/>
              </a:lnSpc>
              <a:buNone/>
            </a:pP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学会标准形式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\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简单形式和匿名函数定义和调用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1">
            <a:extLst>
              <a:ext uri="{FF2B5EF4-FFF2-40B4-BE49-F238E27FC236}">
                <a16:creationId xmlns:a16="http://schemas.microsoft.com/office/drawing/2014/main" id="{B75D44E0-D424-438D-B9E9-294AF3AE3E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227934"/>
            <a:ext cx="1497112" cy="3968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algn="dist" ea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2pPr>
            <a:lvl3pPr marL="1143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3pPr>
            <a:lvl4pPr marL="1600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4pPr>
            <a:lvl5pPr marL="20574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5pPr>
            <a:lvl6pPr marL="25146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6pPr>
            <a:lvl7pPr marL="29718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7pPr>
            <a:lvl8pPr marL="34290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8pPr>
            <a:lvl9pPr marL="38862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9pPr>
          </a:lstStyle>
          <a:p>
            <a:r>
              <a:rPr lang="zh-CN" altLang="en-US" dirty="0"/>
              <a:t>学习目标</a:t>
            </a:r>
            <a:endParaRPr lang="en-US" altLang="zh-CN" dirty="0"/>
          </a:p>
        </p:txBody>
      </p:sp>
      <p:sp>
        <p:nvSpPr>
          <p:cNvPr id="6" name="矩形 1">
            <a:extLst>
              <a:ext uri="{FF2B5EF4-FFF2-40B4-BE49-F238E27FC236}">
                <a16:creationId xmlns:a16="http://schemas.microsoft.com/office/drawing/2014/main" id="{028E465D-CBFB-436E-9A3B-CD0BD878FE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728513"/>
            <a:ext cx="1497112" cy="3968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algn="dist" ea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2pPr>
            <a:lvl3pPr marL="1143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3pPr>
            <a:lvl4pPr marL="1600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4pPr>
            <a:lvl5pPr marL="20574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5pPr>
            <a:lvl6pPr marL="25146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6pPr>
            <a:lvl7pPr marL="29718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7pPr>
            <a:lvl8pPr marL="34290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8pPr>
            <a:lvl9pPr marL="38862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9pPr>
          </a:lstStyle>
          <a:p>
            <a:r>
              <a:rPr lang="zh-CN" altLang="en-US" dirty="0"/>
              <a:t>学习内容</a:t>
            </a:r>
            <a:endParaRPr lang="en-US" altLang="zh-CN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3BBD81E-1AF3-433A-9BC9-E6AFC05B6C00}"/>
              </a:ext>
            </a:extLst>
          </p:cNvPr>
          <p:cNvSpPr txBox="1"/>
          <p:nvPr/>
        </p:nvSpPr>
        <p:spPr>
          <a:xfrm>
            <a:off x="6267003" y="2549038"/>
            <a:ext cx="2598485" cy="1200329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构造函数的三要素：</a:t>
            </a:r>
            <a:endParaRPr lang="en-US" altLang="zh-CN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Font typeface="+mj-ea"/>
              <a:buAutoNum type="circleNumDbPlain"/>
            </a:pP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函数名</a:t>
            </a:r>
            <a:r>
              <a:rPr lang="en-US" altLang="zh-CN" b="1" kern="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funname</a:t>
            </a:r>
            <a:endParaRPr lang="en-US" altLang="zh-CN" b="1" kern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Font typeface="+mj-ea"/>
              <a:buAutoNum type="circleNumDbPlain"/>
            </a:pP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输入参数</a:t>
            </a:r>
            <a:r>
              <a:rPr lang="en-US" altLang="zh-CN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arg</a:t>
            </a:r>
            <a:endParaRPr lang="en-US" altLang="zh-CN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Font typeface="+mj-ea"/>
              <a:buAutoNum type="circleNumDbPlain"/>
            </a:pP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expression</a:t>
            </a:r>
            <a:endParaRPr lang="zh-CN" altLang="en-US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63479FB-2087-4B60-894C-309DF9652CF9}"/>
              </a:ext>
            </a:extLst>
          </p:cNvPr>
          <p:cNvSpPr txBox="1"/>
          <p:nvPr/>
        </p:nvSpPr>
        <p:spPr>
          <a:xfrm>
            <a:off x="7118700" y="1089194"/>
            <a:ext cx="1746788" cy="1200329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函数三种形式：</a:t>
            </a:r>
            <a:endParaRPr lang="en-US" altLang="zh-CN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Font typeface="+mj-ea"/>
              <a:buAutoNum type="circleNumDbPlain"/>
            </a:pP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标准形式</a:t>
            </a:r>
            <a:endParaRPr lang="en-US" altLang="zh-CN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Font typeface="+mj-ea"/>
              <a:buAutoNum type="circleNumDbPlain"/>
            </a:pP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简单形式</a:t>
            </a:r>
            <a:endParaRPr lang="en-US" altLang="zh-CN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Font typeface="+mj-ea"/>
              <a:buAutoNum type="circleNumDbPlain"/>
            </a:pP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匿名形式</a:t>
            </a:r>
          </a:p>
        </p:txBody>
      </p:sp>
    </p:spTree>
    <p:extLst>
      <p:ext uri="{BB962C8B-B14F-4D97-AF65-F5344CB8AC3E}">
        <p14:creationId xmlns:p14="http://schemas.microsoft.com/office/powerpoint/2010/main" val="2557908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81204" y="2025336"/>
            <a:ext cx="29396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(1) </a:t>
            </a: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简化形式函数</a:t>
            </a:r>
            <a:r>
              <a:rPr lang="en-US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f(x)</a:t>
            </a:r>
            <a:endParaRPr lang="zh-CN" altLang="en-US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1205" y="3018824"/>
            <a:ext cx="62909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(3)</a:t>
            </a: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用</a:t>
            </a:r>
            <a:r>
              <a:rPr lang="en-US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function</a:t>
            </a: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定义表达式为函数形式</a:t>
            </a:r>
            <a:r>
              <a:rPr lang="en-US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，自变量</a:t>
            </a:r>
            <a:r>
              <a:rPr lang="en-US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为输入量</a:t>
            </a:r>
          </a:p>
        </p:txBody>
      </p:sp>
      <p:sp>
        <p:nvSpPr>
          <p:cNvPr id="8" name="标题 1"/>
          <p:cNvSpPr txBox="1"/>
          <p:nvPr/>
        </p:nvSpPr>
        <p:spPr>
          <a:xfrm>
            <a:off x="140503" y="723409"/>
            <a:ext cx="8955593" cy="282069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0">
                <a:solidFill>
                  <a:srgbClr val="002E5C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pPr algn="dist"/>
            <a:r>
              <a: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建立函数</a:t>
            </a:r>
            <a:r>
              <a:rPr lang="en-US" altLang="zh-CN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f(x)</a:t>
            </a:r>
            <a:r>
              <a: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表达式的三种方式：简化形式、匿名句柄和</a:t>
            </a:r>
            <a:r>
              <a:rPr lang="en-US" altLang="zh-CN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function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3285255" y="1505408"/>
            <a:ext cx="13243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800" b="1"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b="0" dirty="0">
                <a:solidFill>
                  <a:srgbClr val="002060"/>
                </a:solidFill>
              </a:rPr>
              <a:t>函数名为</a:t>
            </a:r>
            <a:r>
              <a:rPr lang="en-US" altLang="zh-CN" b="0" dirty="0">
                <a:solidFill>
                  <a:srgbClr val="002060"/>
                </a:solidFill>
              </a:rPr>
              <a:t>f</a:t>
            </a:r>
            <a:r>
              <a:rPr lang="zh-CN" altLang="en-US" b="0" dirty="0">
                <a:solidFill>
                  <a:srgbClr val="002060"/>
                </a:solidFill>
              </a:rPr>
              <a:t> </a:t>
            </a:r>
          </a:p>
        </p:txBody>
      </p:sp>
      <p:sp>
        <p:nvSpPr>
          <p:cNvPr id="11" name="矩形 10"/>
          <p:cNvSpPr/>
          <p:nvPr/>
        </p:nvSpPr>
        <p:spPr>
          <a:xfrm>
            <a:off x="82279" y="2484914"/>
            <a:ext cx="219737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(2) </a:t>
            </a: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定义匿名函数</a:t>
            </a:r>
            <a:r>
              <a:rPr lang="en-US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endParaRPr lang="zh-CN" altLang="en-US" sz="2400" b="1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541675" y="3480211"/>
            <a:ext cx="2534723" cy="1064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function f(x)</a:t>
            </a:r>
          </a:p>
          <a:p>
            <a:pPr>
              <a:lnSpc>
                <a:spcPts val="2600"/>
              </a:lnSpc>
            </a:pPr>
            <a:r>
              <a:rPr lang="es-E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y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=x^2-log(x)</a:t>
            </a:r>
          </a:p>
          <a:p>
            <a:pPr>
              <a:lnSpc>
                <a:spcPts val="2600"/>
              </a:lnSpc>
            </a:pP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end 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157309" y="2571750"/>
            <a:ext cx="2255892" cy="33855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algn="dist">
              <a:defRPr sz="1400">
                <a:solidFill>
                  <a:schemeClr val="lt1"/>
                </a:solidFill>
                <a:latin typeface="+mn-lt"/>
                <a:ea typeface="+mn-ea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dirty="0"/>
              <a:t>f=(</a:t>
            </a:r>
            <a:r>
              <a:rPr lang="zh-CN" altLang="en-US" dirty="0"/>
              <a:t>自变量</a:t>
            </a:r>
            <a:r>
              <a:rPr lang="en-US" altLang="zh-CN" dirty="0"/>
              <a:t>x) </a:t>
            </a:r>
            <a:r>
              <a:rPr lang="en-US" altLang="zh-CN" dirty="0">
                <a:highlight>
                  <a:srgbClr val="FF0000"/>
                </a:highlight>
              </a:rPr>
              <a:t>-&gt;</a:t>
            </a:r>
            <a:r>
              <a:rPr lang="zh-CN" altLang="en-US" dirty="0"/>
              <a:t>表达式 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4528313" y="2048682"/>
            <a:ext cx="26837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f(x)=x^2-log(x)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16567" y="1522814"/>
            <a:ext cx="33069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因变量</a:t>
            </a:r>
            <a:r>
              <a:rPr lang="es-ES" altLang="zh-CN" sz="1800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en-US" altLang="zh-CN" sz="1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=f(</a:t>
            </a:r>
            <a:r>
              <a:rPr lang="zh-CN" altLang="en-US" sz="1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自变量</a:t>
            </a:r>
            <a:r>
              <a:rPr lang="en-US" altLang="zh-CN" sz="1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x)=</a:t>
            </a:r>
            <a:r>
              <a:rPr lang="zh-CN" altLang="en-US" sz="1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endParaRPr lang="es-ES" altLang="zh-CN" sz="1800" dirty="0">
              <a:solidFill>
                <a:srgbClr val="00206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528313" y="2580462"/>
            <a:ext cx="28454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es-E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=(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x)-&gt;</a:t>
            </a:r>
            <a:r>
              <a:rPr lang="es-E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x^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2-log(x)</a:t>
            </a:r>
            <a:r>
              <a:rPr lang="es-E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600" b="1" dirty="0"/>
          </a:p>
        </p:txBody>
      </p:sp>
      <p:sp>
        <p:nvSpPr>
          <p:cNvPr id="26" name="文本框 25"/>
          <p:cNvSpPr txBox="1"/>
          <p:nvPr/>
        </p:nvSpPr>
        <p:spPr>
          <a:xfrm>
            <a:off x="2425183" y="2083766"/>
            <a:ext cx="1946432" cy="307777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algn="dist">
              <a:defRPr sz="1400">
                <a:solidFill>
                  <a:schemeClr val="lt1"/>
                </a:solidFill>
                <a:latin typeface="+mn-lt"/>
                <a:ea typeface="+mn-ea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dirty="0"/>
              <a:t>f(</a:t>
            </a:r>
            <a:r>
              <a:rPr lang="zh-CN" altLang="en-US" dirty="0"/>
              <a:t>自变量</a:t>
            </a:r>
            <a:r>
              <a:rPr lang="en-US" altLang="zh-CN" dirty="0"/>
              <a:t>x)=</a:t>
            </a:r>
            <a:r>
              <a:rPr lang="zh-CN" altLang="en-US" dirty="0"/>
              <a:t>表达式</a:t>
            </a:r>
          </a:p>
        </p:txBody>
      </p:sp>
      <p:sp>
        <p:nvSpPr>
          <p:cNvPr id="2" name="对话气泡: 圆角矩形 1"/>
          <p:cNvSpPr/>
          <p:nvPr/>
        </p:nvSpPr>
        <p:spPr bwMode="auto">
          <a:xfrm>
            <a:off x="1213275" y="1522814"/>
            <a:ext cx="1993497" cy="369332"/>
          </a:xfrm>
          <a:prstGeom prst="wedgeRoundRectCallout">
            <a:avLst>
              <a:gd name="adj1" fmla="val 68824"/>
              <a:gd name="adj2" fmla="val 108394"/>
              <a:gd name="adj3" fmla="val 16667"/>
            </a:avLst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137542" y="1874740"/>
            <a:ext cx="2006458" cy="890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dirty="0" err="1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Matlab</a:t>
            </a:r>
            <a:r>
              <a:rPr lang="zh-CN" altLang="en-US" sz="1200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匿名形式用</a:t>
            </a:r>
            <a:r>
              <a:rPr lang="en-US" altLang="zh-CN" sz="1200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1200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200" dirty="0">
              <a:solidFill>
                <a:schemeClr val="bg1"/>
              </a:solidFill>
              <a:highlight>
                <a:srgbClr val="8080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函数名</a:t>
            </a:r>
            <a:r>
              <a:rPr lang="en-US" altLang="zh-CN" sz="1200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=@(</a:t>
            </a:r>
            <a:r>
              <a:rPr lang="zh-CN" altLang="en-US" sz="1200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输入量</a:t>
            </a:r>
            <a:r>
              <a:rPr lang="en-US" altLang="zh-CN" sz="1200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200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endParaRPr lang="en-US" altLang="zh-CN" sz="1200" dirty="0">
              <a:solidFill>
                <a:schemeClr val="bg1"/>
              </a:solidFill>
              <a:highlight>
                <a:srgbClr val="8080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es-ES" altLang="zh-CN" sz="1200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=@(</a:t>
            </a:r>
            <a:r>
              <a:rPr lang="en-US" altLang="zh-CN" sz="1200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x) </a:t>
            </a:r>
            <a:r>
              <a:rPr lang="es-ES" altLang="zh-CN" sz="1200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x^2-log(x) </a:t>
            </a:r>
            <a:endParaRPr lang="zh-CN" altLang="en-US" sz="1200" dirty="0">
              <a:solidFill>
                <a:schemeClr val="bg1"/>
              </a:solidFill>
              <a:highlight>
                <a:srgbClr val="8080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7657687" y="3460401"/>
            <a:ext cx="1465270" cy="936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function </a:t>
            </a:r>
            <a:r>
              <a:rPr lang="en-US" altLang="zh-CN" sz="1400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en-US" altLang="zh-CN" sz="1200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=f(x)</a:t>
            </a:r>
          </a:p>
          <a:p>
            <a:pPr>
              <a:lnSpc>
                <a:spcPct val="150000"/>
              </a:lnSpc>
            </a:pPr>
            <a:r>
              <a:rPr lang="es-ES" altLang="zh-CN" sz="1200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s-ES" altLang="zh-CN" sz="1200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en-US" altLang="zh-CN" sz="1200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 =x^2-log(x)</a:t>
            </a:r>
          </a:p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end </a:t>
            </a:r>
            <a:endParaRPr lang="zh-CN" altLang="en-US" sz="1200" dirty="0">
              <a:solidFill>
                <a:schemeClr val="bg1"/>
              </a:solidFill>
              <a:highlight>
                <a:srgbClr val="8080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970886" y="1490049"/>
            <a:ext cx="4092210" cy="3156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90000"/>
              </a:lnSpc>
              <a:defRPr sz="1600" kern="0">
                <a:solidFill>
                  <a:schemeClr val="bg1"/>
                </a:solidFill>
                <a:highlight>
                  <a:srgbClr val="FF9900"/>
                </a:highlight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pPr algn="dist"/>
            <a:r>
              <a:rPr lang="zh-CN" altLang="en-US" b="1" dirty="0">
                <a:highlight>
                  <a:srgbClr val="003B76"/>
                </a:highlight>
              </a:rPr>
              <a:t>建立</a:t>
            </a:r>
            <a:r>
              <a:rPr lang="en-US" altLang="zh-CN" b="1" dirty="0">
                <a:highlight>
                  <a:srgbClr val="003B76"/>
                </a:highlight>
              </a:rPr>
              <a:t>y=f(x)=x^2-log(x)</a:t>
            </a:r>
            <a:r>
              <a:rPr lang="zh-CN" altLang="en-US" b="1" dirty="0">
                <a:highlight>
                  <a:srgbClr val="003B76"/>
                </a:highlight>
              </a:rPr>
              <a:t>三种函数形式</a:t>
            </a:r>
          </a:p>
        </p:txBody>
      </p:sp>
      <p:sp>
        <p:nvSpPr>
          <p:cNvPr id="29" name="波形 28"/>
          <p:cNvSpPr/>
          <p:nvPr/>
        </p:nvSpPr>
        <p:spPr>
          <a:xfrm>
            <a:off x="4618300" y="1471531"/>
            <a:ext cx="404317" cy="380139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endParaRPr lang="ko-KR" altLang="en-US" sz="16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标题 1"/>
          <p:cNvSpPr txBox="1"/>
          <p:nvPr/>
        </p:nvSpPr>
        <p:spPr bwMode="auto">
          <a:xfrm>
            <a:off x="971357" y="-51383"/>
            <a:ext cx="7275219" cy="69586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1440" tIns="45720" rIns="91440" bIns="45720" numCol="1" anchor="b" anchorCtr="0" compatLnSpc="1"/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endParaRPr lang="en-US" altLang="zh-CN" sz="3200" b="0" kern="1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8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§2.2</a:t>
            </a:r>
            <a:r>
              <a:rPr lang="en-US" altLang="zh-CN" sz="28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.0</a:t>
            </a:r>
            <a:r>
              <a:rPr lang="en-US" altLang="zh-CN" sz="28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</a:t>
            </a:r>
            <a:r>
              <a:rPr lang="zh-CN" altLang="en-US" sz="28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函数文件</a:t>
            </a:r>
            <a:r>
              <a:rPr lang="en-US" altLang="zh-CN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——1</a:t>
            </a:r>
            <a:r>
              <a:rPr lang="en-US" altLang="zh-CN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  <a:r>
              <a:rPr lang="zh-CN" altLang="en-US" sz="24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建立函数</a:t>
            </a:r>
            <a:r>
              <a:rPr lang="en-US" altLang="zh-CN" sz="24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f(x)</a:t>
            </a:r>
            <a:r>
              <a:rPr lang="zh-CN" altLang="en-US" sz="24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表达式三种形式</a:t>
            </a:r>
            <a:endParaRPr lang="zh-CN" altLang="en-US" sz="3200" b="0" kern="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81204" y="3452642"/>
            <a:ext cx="1780307" cy="1199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1600" b="0" dirty="0">
                <a:solidFill>
                  <a:schemeClr val="bg1"/>
                </a:solidFill>
                <a:effectLst/>
                <a:highlight>
                  <a:srgbClr val="3399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function f(x)</a:t>
            </a:r>
          </a:p>
          <a:p>
            <a:pPr>
              <a:lnSpc>
                <a:spcPts val="3000"/>
              </a:lnSpc>
            </a:pPr>
            <a:r>
              <a:rPr lang="es-ES" altLang="zh-CN" sz="1600" b="0" dirty="0">
                <a:solidFill>
                  <a:schemeClr val="bg1"/>
                </a:solidFill>
                <a:effectLst/>
                <a:highlight>
                  <a:srgbClr val="3399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   y=</a:t>
            </a:r>
            <a:r>
              <a:rPr lang="zh-CN" altLang="en-US" sz="1600" dirty="0">
                <a:solidFill>
                  <a:schemeClr val="bg1"/>
                </a:solidFill>
                <a:highlight>
                  <a:srgbClr val="3399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具体表达式</a:t>
            </a:r>
            <a:endParaRPr lang="en-US" altLang="zh-CN" sz="1600" dirty="0">
              <a:solidFill>
                <a:schemeClr val="bg1"/>
              </a:solidFill>
              <a:highlight>
                <a:srgbClr val="3399FF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000"/>
              </a:lnSpc>
            </a:pPr>
            <a:r>
              <a:rPr lang="es-ES" altLang="zh-CN" sz="1600" b="0" dirty="0">
                <a:solidFill>
                  <a:schemeClr val="bg1"/>
                </a:solidFill>
                <a:effectLst/>
                <a:highlight>
                  <a:srgbClr val="3399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highlight>
                  <a:srgbClr val="3399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end</a:t>
            </a:r>
            <a:r>
              <a:rPr lang="en-US" altLang="zh-CN" sz="1600" dirty="0">
                <a:solidFill>
                  <a:schemeClr val="bg1"/>
                </a:solidFill>
                <a:highlight>
                  <a:srgbClr val="3399FF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endParaRPr lang="zh-CN" altLang="en-US" sz="1600" dirty="0">
              <a:solidFill>
                <a:schemeClr val="bg1"/>
              </a:solidFill>
              <a:highlight>
                <a:srgbClr val="3399FF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AutoShape 13"/>
          <p:cNvSpPr>
            <a:spLocks noChangeArrowheads="1"/>
          </p:cNvSpPr>
          <p:nvPr/>
        </p:nvSpPr>
        <p:spPr bwMode="auto">
          <a:xfrm rot="569508">
            <a:off x="4246371" y="3783963"/>
            <a:ext cx="1026456" cy="552737"/>
          </a:xfrm>
          <a:prstGeom prst="irregularSeal2">
            <a:avLst/>
          </a:prstGeom>
          <a:solidFill>
            <a:srgbClr val="C00000"/>
          </a:soli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zh-CN" altLang="en-US" sz="14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</a:p>
        </p:txBody>
      </p:sp>
      <p:sp>
        <p:nvSpPr>
          <p:cNvPr id="37" name="文本框 36"/>
          <p:cNvSpPr txBox="1"/>
          <p:nvPr/>
        </p:nvSpPr>
        <p:spPr>
          <a:xfrm rot="172861">
            <a:off x="5269086" y="3589653"/>
            <a:ext cx="2255235" cy="833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</a:pPr>
            <a:r>
              <a:rPr lang="en-US" altLang="zh-CN" sz="1200" ker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MATLAB</a:t>
            </a:r>
            <a:r>
              <a:rPr lang="zh-CN" altLang="en-US" sz="1200" ker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</a:t>
            </a:r>
            <a:r>
              <a:rPr lang="en-US" altLang="zh-CN" sz="1200" ker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juli</a:t>
            </a:r>
            <a:r>
              <a:rPr lang="zh-CN" altLang="en-US" sz="1200" ker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r>
              <a:rPr lang="zh-CN" altLang="en-US" sz="12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形式，</a:t>
            </a:r>
            <a:endParaRPr lang="en-US" altLang="zh-CN" sz="1200" ker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000"/>
              </a:lnSpc>
            </a:pPr>
            <a:r>
              <a:rPr lang="en-US" altLang="zh-CN" sz="1200" ker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MATLAB</a:t>
            </a:r>
            <a:r>
              <a:rPr lang="zh-CN" altLang="en-US" sz="1200" ker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</a:t>
            </a:r>
            <a:r>
              <a:rPr lang="zh-CN" altLang="en-US" sz="12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函数要有输出项；</a:t>
            </a:r>
            <a:endParaRPr lang="en-US" altLang="zh-CN" sz="1200" ker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000"/>
              </a:lnSpc>
            </a:pPr>
            <a:r>
              <a:rPr lang="en-US" altLang="zh-CN" sz="1200" ker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MATLAB</a:t>
            </a:r>
            <a:r>
              <a:rPr lang="zh-CN" altLang="en-US" sz="1200" ker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</a:t>
            </a:r>
            <a:r>
              <a:rPr lang="zh-CN" altLang="en-US" sz="12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简化表达式</a:t>
            </a:r>
            <a:endParaRPr lang="zh-CN" altLang="en-US" sz="1200" dirty="0">
              <a:solidFill>
                <a:srgbClr val="002060"/>
              </a:solidFill>
            </a:endParaRPr>
          </a:p>
        </p:txBody>
      </p:sp>
      <p:sp>
        <p:nvSpPr>
          <p:cNvPr id="30" name="对话气泡: 圆角矩形 29"/>
          <p:cNvSpPr/>
          <p:nvPr/>
        </p:nvSpPr>
        <p:spPr bwMode="auto">
          <a:xfrm>
            <a:off x="5772683" y="1486608"/>
            <a:ext cx="1823653" cy="332777"/>
          </a:xfrm>
          <a:prstGeom prst="wedgeRoundRectCallout">
            <a:avLst>
              <a:gd name="adj1" fmla="val -31448"/>
              <a:gd name="adj2" fmla="val 119170"/>
              <a:gd name="adj3" fmla="val 16667"/>
            </a:avLst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3BCE902-EB20-4C8A-8971-F259F8DF62FD}"/>
              </a:ext>
            </a:extLst>
          </p:cNvPr>
          <p:cNvSpPr txBox="1"/>
          <p:nvPr/>
        </p:nvSpPr>
        <p:spPr>
          <a:xfrm>
            <a:off x="167340" y="1108645"/>
            <a:ext cx="8922594" cy="276999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algn="dist">
              <a:defRPr sz="1400">
                <a:solidFill>
                  <a:schemeClr val="lt1"/>
                </a:solidFill>
                <a:latin typeface="+mn-lt"/>
                <a:ea typeface="+mn-ea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sz="1200" dirty="0"/>
              <a:t>三种形式函数都由三要素构成：</a:t>
            </a:r>
            <a:r>
              <a:rPr lang="en-US" altLang="zh-CN" sz="1200" dirty="0"/>
              <a:t>f(</a:t>
            </a:r>
            <a:r>
              <a:rPr lang="zh-CN" altLang="en-US" sz="1200" dirty="0"/>
              <a:t>函数名</a:t>
            </a:r>
            <a:r>
              <a:rPr lang="en-US" altLang="zh-CN" sz="1200" dirty="0"/>
              <a:t>)</a:t>
            </a:r>
            <a:r>
              <a:rPr lang="zh-CN" altLang="en-US" sz="1200" dirty="0"/>
              <a:t>，自变量</a:t>
            </a:r>
            <a:r>
              <a:rPr lang="en-US" altLang="zh-CN" sz="1200" dirty="0"/>
              <a:t>x(</a:t>
            </a:r>
            <a:r>
              <a:rPr lang="zh-CN" altLang="en-US" sz="1200" dirty="0"/>
              <a:t>输入参数）</a:t>
            </a:r>
            <a:r>
              <a:rPr lang="en-US" altLang="zh-CN" sz="1200" dirty="0"/>
              <a:t>,</a:t>
            </a:r>
            <a:r>
              <a:rPr lang="zh-CN" altLang="en-US" sz="1200" dirty="0"/>
              <a:t>表达式</a:t>
            </a:r>
            <a:r>
              <a:rPr lang="en-US" altLang="zh-CN" sz="1200" dirty="0"/>
              <a:t>expression</a:t>
            </a:r>
            <a:endParaRPr lang="es-ES" altLang="zh-CN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0" grpId="0"/>
      <p:bldP spid="11" grpId="0"/>
      <p:bldP spid="12" grpId="0"/>
      <p:bldP spid="18" grpId="0" animBg="1"/>
      <p:bldP spid="19" grpId="0"/>
      <p:bldP spid="21" grpId="0"/>
      <p:bldP spid="23" grpId="0"/>
      <p:bldP spid="26" grpId="0" animBg="1"/>
      <p:bldP spid="2" grpId="0" animBg="1"/>
      <p:bldP spid="22" grpId="0"/>
      <p:bldP spid="27" grpId="0"/>
      <p:bldP spid="28" grpId="0"/>
      <p:bldP spid="29" grpId="0" animBg="1"/>
      <p:bldP spid="32" grpId="0"/>
      <p:bldP spid="36" grpId="0" animBg="1"/>
      <p:bldP spid="37" grpId="0"/>
      <p:bldP spid="30" grpId="0" animBg="1"/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-25653" y="130218"/>
            <a:ext cx="7893292" cy="46952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vert="horz" wrap="none" lIns="91440" tIns="45720" rIns="91440" bIns="45720" numCol="1" anchor="b" anchorCtr="0" compatLnSpc="1"/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600" b="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§2.2  </a:t>
            </a:r>
            <a:r>
              <a:rPr lang="zh-CN" altLang="en-US" sz="2600" b="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函数文件</a:t>
            </a:r>
            <a:r>
              <a:rPr lang="en-US" altLang="zh-CN" sz="26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——2. </a:t>
            </a:r>
            <a:r>
              <a:rPr lang="zh-CN" altLang="en-US" sz="26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函数调用求因变量</a:t>
            </a:r>
            <a:r>
              <a:rPr lang="en-US" altLang="zh-CN" sz="26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y</a:t>
            </a:r>
            <a:r>
              <a:rPr lang="zh-CN" altLang="en-US" sz="26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标量运算和点运算</a:t>
            </a:r>
          </a:p>
        </p:txBody>
      </p:sp>
      <p:sp>
        <p:nvSpPr>
          <p:cNvPr id="6" name="矩形 5"/>
          <p:cNvSpPr/>
          <p:nvPr/>
        </p:nvSpPr>
        <p:spPr>
          <a:xfrm>
            <a:off x="3971199" y="1228757"/>
            <a:ext cx="1208311" cy="307777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/>
            <a:r>
              <a:rPr lang="en-US" altLang="zh-CN" sz="1400" dirty="0">
                <a:solidFill>
                  <a:schemeClr val="lt1"/>
                </a:solidFill>
                <a:latin typeface="+mn-lt"/>
                <a:ea typeface="+mn-ea"/>
              </a:rPr>
              <a:t>y=</a:t>
            </a:r>
            <a:r>
              <a:rPr lang="zh-CN" altLang="en-US" sz="1400" dirty="0">
                <a:solidFill>
                  <a:schemeClr val="lt1"/>
                </a:solidFill>
                <a:latin typeface="+mn-lt"/>
                <a:ea typeface="+mn-ea"/>
              </a:rPr>
              <a:t> </a:t>
            </a:r>
            <a:r>
              <a:rPr lang="en-US" altLang="zh-CN" sz="1400" dirty="0">
                <a:solidFill>
                  <a:schemeClr val="lt1"/>
                </a:solidFill>
                <a:latin typeface="+mn-lt"/>
                <a:ea typeface="+mn-ea"/>
              </a:rPr>
              <a:t>f(</a:t>
            </a:r>
            <a:r>
              <a:rPr lang="zh-CN" altLang="en-US" sz="1400" dirty="0">
                <a:solidFill>
                  <a:schemeClr val="lt1"/>
                </a:solidFill>
                <a:latin typeface="+mn-lt"/>
                <a:ea typeface="+mn-ea"/>
              </a:rPr>
              <a:t>标量</a:t>
            </a:r>
            <a:r>
              <a:rPr lang="zh-CN" altLang="en-US" sz="1400" dirty="0"/>
              <a:t>值</a:t>
            </a:r>
            <a:r>
              <a:rPr lang="en-US" altLang="zh-CN" sz="1400" dirty="0"/>
              <a:t>x</a:t>
            </a:r>
            <a:r>
              <a:rPr lang="en-US" altLang="zh-CN" sz="1400" dirty="0">
                <a:solidFill>
                  <a:schemeClr val="lt1"/>
                </a:solidFill>
                <a:latin typeface="+mn-lt"/>
                <a:ea typeface="+mn-ea"/>
              </a:rPr>
              <a:t>)</a:t>
            </a:r>
            <a:endParaRPr lang="zh-CN" altLang="en-US" sz="1400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-46937" y="1659977"/>
            <a:ext cx="91088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16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(2)</a:t>
            </a:r>
            <a:r>
              <a:rPr lang="zh-CN" altLang="en-US" sz="16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函数点运算三种方式：自变量为数组（或向量或矩阵），针对数组每个元素逐点运算</a:t>
            </a:r>
            <a:endParaRPr lang="zh-CN" altLang="en-US" sz="16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0629" y="2526519"/>
            <a:ext cx="90184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indent="-400050" algn="dist">
              <a:buFont typeface="+mj-lt"/>
              <a:buAutoNum type="romanUcPeriod"/>
            </a:pPr>
            <a:r>
              <a:rPr lang="zh-CN" altLang="en-US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表达式中</a:t>
            </a:r>
            <a:r>
              <a:rPr lang="zh-CN" altLang="en-US" dirty="0">
                <a:solidFill>
                  <a:schemeClr val="bg1"/>
                </a:solidFill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运算符加点</a:t>
            </a:r>
            <a:r>
              <a:rPr lang="zh-CN" altLang="en-US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：表达式中逐元素运算时，每个运算符前加一个</a:t>
            </a:r>
            <a:r>
              <a:rPr lang="zh-CN" altLang="en-US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-36512" y="1213369"/>
            <a:ext cx="46051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(1) </a:t>
            </a:r>
            <a:r>
              <a:rPr lang="zh-CN" altLang="en-US" sz="16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函数标量运算：自变量为一个数值运算</a:t>
            </a:r>
            <a:endParaRPr lang="zh-CN" altLang="en-US" sz="16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372200" y="770421"/>
            <a:ext cx="2784024" cy="3156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90000"/>
              </a:lnSpc>
              <a:defRPr sz="1600" b="1" ker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>
                <a:solidFill>
                  <a:srgbClr val="0070C0"/>
                </a:solidFill>
              </a:rPr>
              <a:t>求标量</a:t>
            </a:r>
            <a:r>
              <a:rPr lang="en-US" altLang="zh-CN" dirty="0">
                <a:solidFill>
                  <a:srgbClr val="0070C0"/>
                </a:solidFill>
              </a:rPr>
              <a:t>x=2</a:t>
            </a:r>
            <a:r>
              <a:rPr lang="zh-CN" altLang="en-US" dirty="0">
                <a:solidFill>
                  <a:srgbClr val="0070C0"/>
                </a:solidFill>
              </a:rPr>
              <a:t>的</a:t>
            </a:r>
            <a:r>
              <a:rPr lang="en-US" altLang="zh-CN" dirty="0">
                <a:solidFill>
                  <a:srgbClr val="0070C0"/>
                </a:solidFill>
              </a:rPr>
              <a:t>f(x)=x^2-log(x)</a:t>
            </a:r>
            <a:r>
              <a:rPr lang="zh-CN" altLang="en-US" dirty="0">
                <a:solidFill>
                  <a:srgbClr val="0070C0"/>
                </a:solidFill>
              </a:rPr>
              <a:t>值</a:t>
            </a:r>
            <a:endParaRPr lang="es-ES" altLang="zh-CN" dirty="0">
              <a:solidFill>
                <a:srgbClr val="0070C0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6694" y="744477"/>
            <a:ext cx="2315408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函数调用格式一样</a:t>
            </a:r>
            <a:r>
              <a:rPr lang="en-US" altLang="zh-CN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zh-CN" altLang="en-US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430524" y="1202933"/>
            <a:ext cx="37257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kern="0" dirty="0">
                <a:solidFill>
                  <a:schemeClr val="bg1"/>
                </a:solidFill>
                <a:highlight>
                  <a:srgbClr val="3399FF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求</a:t>
            </a:r>
            <a:r>
              <a:rPr lang="en-US" altLang="zh-CN" b="1" kern="0" dirty="0">
                <a:solidFill>
                  <a:schemeClr val="bg1"/>
                </a:solidFill>
                <a:highlight>
                  <a:srgbClr val="3399FF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x=2</a:t>
            </a:r>
            <a:r>
              <a:rPr lang="zh-CN" altLang="en-US" b="1" kern="0" dirty="0">
                <a:solidFill>
                  <a:schemeClr val="bg1"/>
                </a:solidFill>
                <a:highlight>
                  <a:srgbClr val="3399FF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时</a:t>
            </a:r>
            <a:r>
              <a:rPr lang="en-US" altLang="zh-CN" b="1" kern="0" dirty="0">
                <a:solidFill>
                  <a:schemeClr val="bg1"/>
                </a:solidFill>
                <a:highlight>
                  <a:srgbClr val="3399FF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y</a:t>
            </a:r>
            <a:r>
              <a:rPr lang="zh-CN" altLang="en-US" b="1" kern="0" dirty="0">
                <a:solidFill>
                  <a:schemeClr val="bg1"/>
                </a:solidFill>
                <a:highlight>
                  <a:srgbClr val="3399FF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值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y=f(2) 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y=3.3068</a:t>
            </a:r>
            <a:endParaRPr lang="zh-CN" altLang="en-US" sz="1600" dirty="0">
              <a:solidFill>
                <a:srgbClr val="0070C0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-36512" y="3405938"/>
            <a:ext cx="27648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indent="-400050">
              <a:buFont typeface="+mj-lt"/>
              <a:buAutoNum type="romanUcPeriod" startAt="2"/>
            </a:pPr>
            <a:r>
              <a:rPr lang="zh-CN" altLang="en-US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表达式函数加点</a:t>
            </a:r>
            <a:r>
              <a:rPr lang="en-US" altLang="zh-CN" dirty="0">
                <a:solidFill>
                  <a:schemeClr val="bg1"/>
                </a:solidFill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f.(x)</a:t>
            </a:r>
            <a:r>
              <a:rPr lang="zh-CN" altLang="en-US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kern="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80085" y="2847228"/>
            <a:ext cx="4911995" cy="458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f(x)=x.^2 .-log.(x)  #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或者</a:t>
            </a: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f=x-&gt; x.^2 .-log.(x)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2706645" y="3336978"/>
            <a:ext cx="4864627" cy="45890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0070C0"/>
                </a:solidFill>
              </a:rPr>
              <a:t>f=x-&gt; x^2-log(x)) #</a:t>
            </a:r>
            <a:r>
              <a:rPr lang="zh-CN" altLang="en-US" sz="1800" dirty="0">
                <a:solidFill>
                  <a:srgbClr val="0070C0"/>
                </a:solidFill>
              </a:rPr>
              <a:t>或者</a:t>
            </a:r>
            <a:r>
              <a:rPr lang="en-US" altLang="zh-CN" sz="1800" dirty="0">
                <a:solidFill>
                  <a:srgbClr val="0070C0"/>
                </a:solidFill>
              </a:rPr>
              <a:t>f(x)=x^2-log(x</a:t>
            </a:r>
            <a:r>
              <a:rPr lang="zh-CN" altLang="en-US" sz="1800" dirty="0">
                <a:solidFill>
                  <a:srgbClr val="0070C0"/>
                </a:solidFill>
              </a:rPr>
              <a:t>）</a:t>
            </a:r>
            <a:endParaRPr lang="en-US" altLang="zh-CN" sz="1800" dirty="0">
              <a:solidFill>
                <a:srgbClr val="0070C0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-36512" y="3881780"/>
            <a:ext cx="28118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indent="-400050">
              <a:buFont typeface="+mj-lt"/>
              <a:buAutoNum type="romanUcPeriod" startAt="3"/>
            </a:pPr>
            <a:r>
              <a:rPr lang="zh-CN" altLang="en-US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函数表达式前</a:t>
            </a:r>
            <a:r>
              <a:rPr lang="en-US" altLang="zh-CN" dirty="0">
                <a:solidFill>
                  <a:schemeClr val="bg1"/>
                </a:solidFill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@.f(x)</a:t>
            </a:r>
            <a:r>
              <a:rPr lang="zh-CN" altLang="en-US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kern="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388925" y="2097430"/>
            <a:ext cx="5623235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90000"/>
              </a:lnSpc>
              <a:defRPr sz="1600" b="1" kern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sz="18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三种方法求向量</a:t>
            </a:r>
            <a:r>
              <a:rPr lang="en-US" altLang="zh-CN" sz="18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x=1:2</a:t>
            </a:r>
            <a:r>
              <a:rPr lang="zh-CN" altLang="en-US" sz="18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</a:t>
            </a:r>
            <a:r>
              <a:rPr lang="en-US" altLang="zh-CN" sz="18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y=f(x)=x^2-log(x)</a:t>
            </a:r>
            <a:r>
              <a:rPr lang="zh-CN" altLang="en-US" sz="18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</a:t>
            </a:r>
          </a:p>
        </p:txBody>
      </p:sp>
      <p:sp>
        <p:nvSpPr>
          <p:cNvPr id="29" name="波形 28"/>
          <p:cNvSpPr/>
          <p:nvPr/>
        </p:nvSpPr>
        <p:spPr>
          <a:xfrm>
            <a:off x="6026911" y="734984"/>
            <a:ext cx="312651" cy="375151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endParaRPr lang="ko-KR" altLang="en-US" sz="14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394130" y="4274157"/>
            <a:ext cx="56180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println(“y=$y”)#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显示结果</a:t>
            </a:r>
            <a:endParaRPr lang="es-ES" altLang="zh-CN" sz="16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3203145" y="4282284"/>
            <a:ext cx="30298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结果y=[1.0, 3.3068528194400546],</a:t>
            </a:r>
          </a:p>
        </p:txBody>
      </p:sp>
      <p:sp>
        <p:nvSpPr>
          <p:cNvPr id="25" name="波形 24"/>
          <p:cNvSpPr/>
          <p:nvPr/>
        </p:nvSpPr>
        <p:spPr>
          <a:xfrm>
            <a:off x="107504" y="2078239"/>
            <a:ext cx="312651" cy="375151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endParaRPr lang="ko-KR" altLang="en-US" sz="14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7236296" y="3336978"/>
            <a:ext cx="1433159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b="1" dirty="0">
                <a:solidFill>
                  <a:srgbClr val="FF0000"/>
                </a:solidFill>
              </a:rPr>
              <a:t>y=f.(1:2) </a:t>
            </a:r>
            <a:endParaRPr lang="es-ES" altLang="zh-CN" sz="1800" b="1" dirty="0">
              <a:solidFill>
                <a:srgbClr val="FF0000"/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657758" y="3765334"/>
            <a:ext cx="2022320" cy="45403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800">
                <a:solidFill>
                  <a:srgbClr val="FF0000"/>
                </a:solidFill>
              </a:defRPr>
            </a:lvl1pPr>
          </a:lstStyle>
          <a:p>
            <a:r>
              <a:rPr lang="en-US" altLang="zh-CN" b="1" dirty="0"/>
              <a:t>y(x)=@. </a:t>
            </a:r>
            <a:r>
              <a:rPr lang="zh-CN" altLang="en-US" b="1" dirty="0"/>
              <a:t>表达式</a:t>
            </a:r>
          </a:p>
        </p:txBody>
      </p:sp>
      <p:sp>
        <p:nvSpPr>
          <p:cNvPr id="30" name="AutoShape 13"/>
          <p:cNvSpPr>
            <a:spLocks noChangeArrowheads="1"/>
          </p:cNvSpPr>
          <p:nvPr/>
        </p:nvSpPr>
        <p:spPr bwMode="auto">
          <a:xfrm>
            <a:off x="6112914" y="4156812"/>
            <a:ext cx="858813" cy="567753"/>
          </a:xfrm>
          <a:prstGeom prst="irregularSeal2">
            <a:avLst/>
          </a:prstGeom>
          <a:solidFill>
            <a:srgbClr val="C00000"/>
          </a:soli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zh-CN" altLang="en-US" sz="1200" b="1" kern="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</a:p>
        </p:txBody>
      </p:sp>
      <p:sp>
        <p:nvSpPr>
          <p:cNvPr id="33" name="对话气泡: 圆角矩形 32"/>
          <p:cNvSpPr/>
          <p:nvPr/>
        </p:nvSpPr>
        <p:spPr bwMode="auto">
          <a:xfrm>
            <a:off x="5588588" y="2047630"/>
            <a:ext cx="3452630" cy="380104"/>
          </a:xfrm>
          <a:prstGeom prst="wedgeRoundRectCallout">
            <a:avLst>
              <a:gd name="adj1" fmla="val 44857"/>
              <a:gd name="adj2" fmla="val 88489"/>
              <a:gd name="adj3" fmla="val 16667"/>
            </a:avLst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5580112" y="2056296"/>
            <a:ext cx="358090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kern="0" dirty="0">
                <a:solidFill>
                  <a:srgbClr val="00B0F0"/>
                </a:solidFill>
                <a:latin typeface="Cambria Math" panose="02040503050406030204" pitchFamily="18" charset="0"/>
              </a:rPr>
              <a:t>.+, .-,  .*, ./,  .^, sin.(x), log.(x) ,  exp.(x) </a:t>
            </a:r>
            <a:endParaRPr lang="zh-CN" altLang="en-US" sz="1600" b="1" kern="0" dirty="0">
              <a:solidFill>
                <a:srgbClr val="00B0F0"/>
              </a:solidFill>
              <a:latin typeface="Cambria Math" panose="02040503050406030204" pitchFamily="18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11FE09E6-296C-486E-89F7-F1E4686643FD}"/>
              </a:ext>
            </a:extLst>
          </p:cNvPr>
          <p:cNvSpPr txBox="1"/>
          <p:nvPr/>
        </p:nvSpPr>
        <p:spPr>
          <a:xfrm>
            <a:off x="6958459" y="4080691"/>
            <a:ext cx="23383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MATLAB</a:t>
            </a:r>
            <a:r>
              <a:rPr lang="zh-CN" altLang="en-US" sz="16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数表达式调用</a:t>
            </a:r>
            <a:endParaRPr lang="en-US" altLang="zh-CN" sz="1600" b="1" kern="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没有</a:t>
            </a:r>
            <a:r>
              <a:rPr lang="en-US" altLang="zh-CN" sz="16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f.(x)</a:t>
            </a:r>
            <a:r>
              <a:rPr lang="zh-CN" altLang="en-US" sz="16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@.f(x)</a:t>
            </a:r>
            <a:r>
              <a:rPr lang="zh-CN" altLang="en-US" sz="16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134DE37-290D-46CB-99C3-BFBDD48A00E6}"/>
              </a:ext>
            </a:extLst>
          </p:cNvPr>
          <p:cNvSpPr/>
          <p:nvPr/>
        </p:nvSpPr>
        <p:spPr>
          <a:xfrm>
            <a:off x="2077318" y="745708"/>
            <a:ext cx="3522291" cy="33855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/>
            <a:r>
              <a:rPr lang="zh-CN" altLang="en-US" sz="1600" dirty="0"/>
              <a:t>输出参数</a:t>
            </a:r>
            <a:r>
              <a:rPr lang="en-US" altLang="zh-CN" sz="1600" dirty="0"/>
              <a:t>y=</a:t>
            </a:r>
            <a:r>
              <a:rPr lang="en-US" altLang="ko-KR" sz="1600" dirty="0" err="1"/>
              <a:t>函数名</a:t>
            </a:r>
            <a:r>
              <a:rPr lang="en-US" altLang="ko-KR" sz="1600" dirty="0"/>
              <a:t>(</a:t>
            </a:r>
            <a:r>
              <a:rPr lang="zh-CN" altLang="en-US" sz="1600" dirty="0"/>
              <a:t>赋值的</a:t>
            </a:r>
            <a:r>
              <a:rPr lang="en-US" altLang="ko-KR" sz="1600" dirty="0" err="1"/>
              <a:t>输入</a:t>
            </a:r>
            <a:r>
              <a:rPr lang="zh-CN" altLang="en-US" sz="1600" dirty="0"/>
              <a:t>参数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8DD76065-EB12-4C66-B557-F23A7EE3C088}"/>
              </a:ext>
            </a:extLst>
          </p:cNvPr>
          <p:cNvSpPr txBox="1"/>
          <p:nvPr/>
        </p:nvSpPr>
        <p:spPr>
          <a:xfrm>
            <a:off x="5442401" y="2918896"/>
            <a:ext cx="11889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y=f(1:2)</a:t>
            </a:r>
            <a:endParaRPr lang="zh-CN" altLang="en-US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AF23E943-85B1-4C0C-B5A9-6B79884818D9}"/>
              </a:ext>
            </a:extLst>
          </p:cNvPr>
          <p:cNvSpPr txBox="1"/>
          <p:nvPr/>
        </p:nvSpPr>
        <p:spPr>
          <a:xfrm>
            <a:off x="4378901" y="3842089"/>
            <a:ext cx="22470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70C0"/>
                </a:solidFill>
              </a:rPr>
              <a:t>f(x)=@. x^2-log(x)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11E45F61-A24D-4248-A243-17B48BC2C3E1}"/>
              </a:ext>
            </a:extLst>
          </p:cNvPr>
          <p:cNvSpPr txBox="1"/>
          <p:nvPr/>
        </p:nvSpPr>
        <p:spPr>
          <a:xfrm>
            <a:off x="6291495" y="3710985"/>
            <a:ext cx="1433159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b="1" dirty="0">
                <a:solidFill>
                  <a:srgbClr val="FF0000"/>
                </a:solidFill>
              </a:rPr>
              <a:t>y=f.(1:2) </a:t>
            </a:r>
            <a:endParaRPr lang="es-ES" altLang="zh-CN" sz="1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/>
      <p:bldP spid="13" grpId="0"/>
      <p:bldP spid="14" grpId="0"/>
      <p:bldP spid="16" grpId="0"/>
      <p:bldP spid="2" grpId="0"/>
      <p:bldP spid="20" grpId="0"/>
      <p:bldP spid="21" grpId="0"/>
      <p:bldP spid="23" grpId="0"/>
      <p:bldP spid="28" grpId="0"/>
      <p:bldP spid="29" grpId="0" animBg="1"/>
      <p:bldP spid="31" grpId="0"/>
      <p:bldP spid="32" grpId="0"/>
      <p:bldP spid="25" grpId="0" animBg="1"/>
      <p:bldP spid="26" grpId="0"/>
      <p:bldP spid="27" grpId="0"/>
      <p:bldP spid="30" grpId="0" animBg="1"/>
      <p:bldP spid="33" grpId="0" animBg="1"/>
      <p:bldP spid="34" grpId="0"/>
      <p:bldP spid="35" grpId="0"/>
      <p:bldP spid="36" grpId="0" animBg="1"/>
      <p:bldP spid="37" grpId="0"/>
      <p:bldP spid="38" grpId="0"/>
      <p:bldP spid="3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75AD827-91E0-38B7-3088-D625FFCB291D}"/>
              </a:ext>
            </a:extLst>
          </p:cNvPr>
          <p:cNvSpPr txBox="1"/>
          <p:nvPr/>
        </p:nvSpPr>
        <p:spPr>
          <a:xfrm>
            <a:off x="1187624" y="75085"/>
            <a:ext cx="74888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§2.2.1  </a:t>
            </a:r>
            <a:r>
              <a:rPr lang="zh-CN" altLang="en-US" sz="28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标准形式的函数文件</a:t>
            </a:r>
            <a:r>
              <a:rPr lang="en-US" altLang="zh-CN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——1. </a:t>
            </a:r>
            <a:r>
              <a:rPr lang="zh-CN" altLang="en-US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定义函数</a:t>
            </a:r>
            <a:endParaRPr lang="en-US" altLang="zh-CN" sz="2800" b="1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692C3EBB-05A8-E711-E412-0A43A6BBAEF1}"/>
              </a:ext>
            </a:extLst>
          </p:cNvPr>
          <p:cNvSpPr txBox="1">
            <a:spLocks/>
          </p:cNvSpPr>
          <p:nvPr/>
        </p:nvSpPr>
        <p:spPr>
          <a:xfrm>
            <a:off x="82870" y="689053"/>
            <a:ext cx="9025634" cy="380095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defPPr>
              <a:defRPr lang="zh-CN"/>
            </a:defPPr>
            <a:lvl1pPr algn="dist" eaLnBrk="0" hangingPunct="0">
              <a:lnSpc>
                <a:spcPct val="85000"/>
              </a:lnSpc>
              <a:defRPr sz="1800" b="1" ker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zh-CN" altLang="en-US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lang="en-US" altLang="zh-CN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Syslab</a:t>
            </a:r>
            <a:r>
              <a:rPr lang="zh-CN" altLang="en-US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提供内置函数不能满足需求时，根据需求可自定义函数并使用</a:t>
            </a:r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ABFC8960-73C9-49BA-A9E4-1684A478E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56" y="1320559"/>
            <a:ext cx="5102453" cy="331193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440100" indent="-457200">
              <a:lnSpc>
                <a:spcPts val="2300"/>
              </a:lnSpc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带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function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函数文件在编辑器和命令行窗口都可以编写</a:t>
            </a:r>
            <a:endParaRPr lang="en-US" altLang="zh-CN" sz="16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0100" indent="-457200">
              <a:lnSpc>
                <a:spcPts val="2300"/>
              </a:lnSpc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第一行函数定义行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function ,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结束语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end</a:t>
            </a:r>
          </a:p>
          <a:p>
            <a:pPr marL="440100" indent="-457200">
              <a:lnSpc>
                <a:spcPts val="2300"/>
              </a:lnSpc>
              <a:buFont typeface="Wingdings" panose="05000000000000000000" pitchFamily="2" charset="2"/>
              <a:buChar char="p"/>
            </a:pPr>
            <a:r>
              <a:rPr lang="en-US" altLang="zh-CN" sz="16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funname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为函数名，</a:t>
            </a:r>
            <a:r>
              <a:rPr lang="en-US" altLang="zh-CN" sz="16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args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为输入参数</a:t>
            </a:r>
            <a:endParaRPr lang="en-US" altLang="zh-CN" sz="16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0100" indent="-457200">
              <a:lnSpc>
                <a:spcPts val="2300"/>
              </a:lnSpc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用运算符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:: 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指定函数或输入参数类型，即</a:t>
            </a:r>
            <a:r>
              <a:rPr lang="en-US" altLang="zh-CN" sz="16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funname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(</a:t>
            </a:r>
            <a:r>
              <a:rPr lang="en-US" altLang="zh-CN" sz="16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args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):: Type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，或</a:t>
            </a:r>
            <a:r>
              <a:rPr lang="en-US" altLang="zh-CN" sz="16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arg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::Type</a:t>
            </a:r>
          </a:p>
          <a:p>
            <a:pPr marL="440100" indent="-457200">
              <a:lnSpc>
                <a:spcPts val="2300"/>
              </a:lnSpc>
              <a:buFont typeface="Wingdings" panose="05000000000000000000" pitchFamily="2" charset="2"/>
              <a:buChar char="p"/>
            </a:pP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expression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为表达式</a:t>
            </a:r>
            <a:endParaRPr lang="en-US" altLang="zh-CN" sz="16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0100" indent="-457200">
              <a:lnSpc>
                <a:spcPts val="2300"/>
              </a:lnSpc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默认情况，函数返回值是最后计算的表达式的值</a:t>
            </a:r>
            <a:endParaRPr lang="en-US" altLang="zh-CN" sz="16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0100" indent="-457200">
              <a:lnSpc>
                <a:spcPts val="2300"/>
              </a:lnSpc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如加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return 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关键字，函数会立即返回其后的表达式的计算结果</a:t>
            </a:r>
            <a:endParaRPr lang="en-US" altLang="zh-CN" sz="16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0100" indent="-457200">
              <a:lnSpc>
                <a:spcPts val="2300"/>
              </a:lnSpc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文件要保存在当前目录，名字为函数名</a:t>
            </a:r>
            <a:endParaRPr lang="en-US" altLang="zh-CN" sz="16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TextBox 6">
            <a:extLst>
              <a:ext uri="{FF2B5EF4-FFF2-40B4-BE49-F238E27FC236}">
                <a16:creationId xmlns:a16="http://schemas.microsoft.com/office/drawing/2014/main" id="{E00B8DCE-9B61-4101-A779-F5BA30406789}"/>
              </a:ext>
            </a:extLst>
          </p:cNvPr>
          <p:cNvSpPr txBox="1"/>
          <p:nvPr/>
        </p:nvSpPr>
        <p:spPr>
          <a:xfrm>
            <a:off x="35496" y="996360"/>
            <a:ext cx="2711670" cy="338554"/>
          </a:xfrm>
          <a:prstGeom prst="rect">
            <a:avLst/>
          </a:prstGeom>
          <a:noFill/>
          <a:ln w="28575" cap="flat" cmpd="sng">
            <a:noFill/>
            <a:prstDash val="solid"/>
          </a:ln>
          <a:effectLst/>
          <a:scene3d>
            <a:camera prst="orthographicFront"/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wrap="square" lIns="91440" tIns="45720" rIns="91440" bIns="45720" numCol="1" anchor="t">
            <a:spAutoFit/>
          </a:bodyPr>
          <a:lstStyle>
            <a:defPPr>
              <a:defRPr lang="zh-CN"/>
            </a:defPPr>
            <a:lvl1pPr marL="0" indent="0" defTabSz="914400" eaLnBrk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cap="none">
                <a:solidFill>
                  <a:schemeClr val="bg1"/>
                </a:solidFill>
                <a:ea typeface="Arial" panose="020B0604020202020204" pitchFamily="34" charset="0"/>
              </a:defRPr>
            </a:lvl1pPr>
          </a:lstStyle>
          <a:p>
            <a:pPr marL="342900" indent="-342900">
              <a:buFont typeface="+mj-ea"/>
              <a:buAutoNum type="circleNumDbPlain"/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定义函数文件的特点</a:t>
            </a:r>
            <a:endParaRPr lang="ko-KR" altLang="en-US" sz="1600" dirty="0">
              <a:solidFill>
                <a:srgbClr val="0070C0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Text Box 10">
            <a:extLst>
              <a:ext uri="{FF2B5EF4-FFF2-40B4-BE49-F238E27FC236}">
                <a16:creationId xmlns:a16="http://schemas.microsoft.com/office/drawing/2014/main" id="{8C15DBE6-B9A9-205E-14FA-963781E4CB0D}"/>
              </a:ext>
            </a:extLst>
          </p:cNvPr>
          <p:cNvSpPr/>
          <p:nvPr/>
        </p:nvSpPr>
        <p:spPr bwMode="auto">
          <a:xfrm>
            <a:off x="5031670" y="1734593"/>
            <a:ext cx="4015688" cy="1615955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75000"/>
              </a:schemeClr>
            </a:solidFill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ts val="2000"/>
              </a:lnSpc>
            </a:pPr>
            <a:r>
              <a:rPr lang="en-US" altLang="zh-CN" sz="16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function </a:t>
            </a:r>
          </a:p>
          <a:p>
            <a:pPr>
              <a:lnSpc>
                <a:spcPts val="2000"/>
              </a:lnSpc>
            </a:pPr>
            <a:r>
              <a:rPr lang="en-US" altLang="zh-CN" sz="16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expression #</a:t>
            </a:r>
            <a:r>
              <a:rPr lang="zh-CN" altLang="en-US" sz="16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endParaRPr lang="en-US" altLang="zh-CN" sz="1600" b="1" kern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000"/>
              </a:lnSpc>
            </a:pPr>
            <a:r>
              <a:rPr lang="en-US" altLang="zh-CN" sz="16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expression</a:t>
            </a:r>
          </a:p>
          <a:p>
            <a:pPr>
              <a:lnSpc>
                <a:spcPts val="2000"/>
              </a:lnSpc>
            </a:pPr>
            <a:r>
              <a:rPr lang="en-US" altLang="zh-CN" sz="16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...</a:t>
            </a:r>
          </a:p>
          <a:p>
            <a:pPr>
              <a:lnSpc>
                <a:spcPts val="2000"/>
              </a:lnSpc>
            </a:pPr>
            <a:r>
              <a:rPr lang="en-US" altLang="zh-CN" sz="16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16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expression</a:t>
            </a:r>
          </a:p>
          <a:p>
            <a:pPr>
              <a:lnSpc>
                <a:spcPts val="2000"/>
              </a:lnSpc>
            </a:pPr>
            <a:r>
              <a:rPr lang="en-US" altLang="zh-CN" sz="16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end</a:t>
            </a:r>
            <a:endParaRPr lang="ko-KR" altLang="en-US" sz="1600" b="1" kern="0" dirty="0">
              <a:solidFill>
                <a:srgbClr val="0070C0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2857DEE8-12E4-42FF-F9B5-1D363E94E885}"/>
              </a:ext>
            </a:extLst>
          </p:cNvPr>
          <p:cNvSpPr txBox="1"/>
          <p:nvPr/>
        </p:nvSpPr>
        <p:spPr>
          <a:xfrm>
            <a:off x="4907406" y="1010764"/>
            <a:ext cx="2869276" cy="338554"/>
          </a:xfrm>
          <a:prstGeom prst="rect">
            <a:avLst/>
          </a:prstGeom>
          <a:noFill/>
          <a:ln w="28575" cap="flat" cmpd="sng">
            <a:noFill/>
            <a:prstDash val="solid"/>
          </a:ln>
          <a:effectLst/>
          <a:scene3d>
            <a:camera prst="orthographicFront"/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wrap="square" lIns="91440" tIns="45720" rIns="91440" bIns="45720" numCol="1" anchor="t">
            <a:spAutoFit/>
          </a:bodyPr>
          <a:lstStyle>
            <a:defPPr>
              <a:defRPr lang="zh-CN"/>
            </a:defPPr>
            <a:lvl1pPr marL="0" indent="0" defTabSz="914400" eaLnBrk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cap="none">
                <a:solidFill>
                  <a:schemeClr val="bg1"/>
                </a:solidFill>
                <a:ea typeface="Arial" panose="020B0604020202020204" pitchFamily="34" charset="0"/>
              </a:defRPr>
            </a:lvl1pPr>
          </a:lstStyle>
          <a:p>
            <a:pPr>
              <a:buFont typeface="+mj-ea"/>
              <a:buAutoNum type="circleNumDbPlain" startAt="2"/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定义完整结构的函数文件</a:t>
            </a:r>
            <a:endParaRPr lang="ko-KR" altLang="en-US" sz="1600" dirty="0">
              <a:solidFill>
                <a:srgbClr val="0070C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7BA083B-BD50-4117-AAA3-2F29389DA7E0}"/>
              </a:ext>
            </a:extLst>
          </p:cNvPr>
          <p:cNvSpPr txBox="1"/>
          <p:nvPr/>
        </p:nvSpPr>
        <p:spPr>
          <a:xfrm>
            <a:off x="6013685" y="3088367"/>
            <a:ext cx="2937055" cy="31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16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保存文件为函数名</a:t>
            </a:r>
            <a:r>
              <a:rPr lang="en-US" altLang="zh-CN" sz="1600" b="1" dirty="0" err="1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funnamen</a:t>
            </a:r>
            <a:endParaRPr lang="ko-KR" altLang="en-US" sz="1600" b="1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20D654B-46E1-4B2D-A1E4-254B0F42DC66}"/>
              </a:ext>
            </a:extLst>
          </p:cNvPr>
          <p:cNvSpPr txBox="1"/>
          <p:nvPr/>
        </p:nvSpPr>
        <p:spPr>
          <a:xfrm>
            <a:off x="5405089" y="2233274"/>
            <a:ext cx="10705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return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70FD487-DA2D-4215-B35F-C08E29F1F294}"/>
              </a:ext>
            </a:extLst>
          </p:cNvPr>
          <p:cNvSpPr txBox="1"/>
          <p:nvPr/>
        </p:nvSpPr>
        <p:spPr>
          <a:xfrm>
            <a:off x="5756989" y="3778610"/>
            <a:ext cx="3165387" cy="846514"/>
          </a:xfrm>
          <a:prstGeom prst="rect">
            <a:avLst/>
          </a:prstGeom>
          <a:solidFill>
            <a:schemeClr val="bg1"/>
          </a:solidFill>
          <a:ln w="19050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ts val="2400"/>
              </a:lnSpc>
              <a:defRPr b="1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ts val="2000"/>
              </a:lnSpc>
            </a:pPr>
            <a:r>
              <a:rPr lang="en-US" altLang="zh-CN" sz="1600" dirty="0">
                <a:solidFill>
                  <a:srgbClr val="00B0F0"/>
                </a:solidFill>
              </a:rPr>
              <a:t>function </a:t>
            </a:r>
            <a:r>
              <a:rPr lang="en-US" altLang="zh-CN" sz="1600" dirty="0" err="1">
                <a:solidFill>
                  <a:srgbClr val="00B0F0"/>
                </a:solidFill>
              </a:rPr>
              <a:t>myfun</a:t>
            </a:r>
            <a:r>
              <a:rPr lang="en-US" altLang="zh-CN" sz="1600" dirty="0">
                <a:solidFill>
                  <a:srgbClr val="00B0F0"/>
                </a:solidFill>
              </a:rPr>
              <a:t>(x)</a:t>
            </a:r>
          </a:p>
          <a:p>
            <a:pPr>
              <a:lnSpc>
                <a:spcPts val="2000"/>
              </a:lnSpc>
            </a:pPr>
            <a:r>
              <a:rPr lang="en-US" altLang="zh-CN" sz="1600" dirty="0">
                <a:solidFill>
                  <a:srgbClr val="00B0F0"/>
                </a:solidFill>
              </a:rPr>
              <a:t>   y=x^2#</a:t>
            </a:r>
            <a:r>
              <a:rPr lang="zh-CN" altLang="en-US" sz="1600" dirty="0">
                <a:solidFill>
                  <a:srgbClr val="00B0F0"/>
                </a:solidFill>
              </a:rPr>
              <a:t>表达式</a:t>
            </a:r>
            <a:endParaRPr lang="en-US" altLang="zh-CN" sz="1600" dirty="0">
              <a:solidFill>
                <a:srgbClr val="00B0F0"/>
              </a:solidFill>
            </a:endParaRPr>
          </a:p>
          <a:p>
            <a:pPr>
              <a:lnSpc>
                <a:spcPts val="2000"/>
              </a:lnSpc>
            </a:pPr>
            <a:r>
              <a:rPr lang="en-US" altLang="zh-CN" sz="1600" dirty="0">
                <a:solidFill>
                  <a:srgbClr val="00B0F0"/>
                </a:solidFill>
              </a:rPr>
              <a:t>end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F83DEA1-7700-4A71-9500-B82833A1842F}"/>
              </a:ext>
            </a:extLst>
          </p:cNvPr>
          <p:cNvSpPr txBox="1"/>
          <p:nvPr/>
        </p:nvSpPr>
        <p:spPr>
          <a:xfrm>
            <a:off x="7279916" y="4350421"/>
            <a:ext cx="1670824" cy="32377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90000"/>
              </a:lnSpc>
              <a:defRPr sz="1600" b="1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保存为</a:t>
            </a:r>
            <a:r>
              <a:rPr lang="en-US" altLang="zh-CN" dirty="0" err="1"/>
              <a:t>myfun.jl</a:t>
            </a:r>
            <a:endParaRPr lang="ko-KR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654DAF8-60BC-484E-BA5D-9E400380E369}"/>
              </a:ext>
            </a:extLst>
          </p:cNvPr>
          <p:cNvSpPr txBox="1"/>
          <p:nvPr/>
        </p:nvSpPr>
        <p:spPr>
          <a:xfrm>
            <a:off x="5668352" y="3473305"/>
            <a:ext cx="3223128" cy="313932"/>
          </a:xfrm>
          <a:prstGeom prst="rect">
            <a:avLst/>
          </a:prstGeom>
          <a:solidFill>
            <a:schemeClr val="bg1"/>
          </a:solidFill>
          <a:effectLst>
            <a:reflection blurRad="6350" stA="50000" endA="300" endPos="55500" dist="50800" dir="5400000" sy="-100000" algn="bl" rotWithShape="0"/>
          </a:effectLst>
        </p:spPr>
        <p:txBody>
          <a:bodyPr wrap="square">
            <a:spAutoFit/>
          </a:bodyPr>
          <a:lstStyle/>
          <a:p>
            <a:pPr algn="dist">
              <a:lnSpc>
                <a:spcPct val="90000"/>
              </a:lnSpc>
            </a:pPr>
            <a:r>
              <a:rPr lang="zh-CN" altLang="en-US" sz="1600" b="1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创建</a:t>
            </a:r>
            <a:r>
              <a:rPr lang="en-US" altLang="zh-CN" sz="1600" b="1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y=f(x)=x^2</a:t>
            </a:r>
            <a:r>
              <a:rPr lang="zh-CN" altLang="en-US" sz="1600" b="1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的函数</a:t>
            </a:r>
            <a:endParaRPr lang="ko-KR" altLang="en-US" sz="1600" b="1" kern="0" dirty="0">
              <a:solidFill>
                <a:srgbClr val="00206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波形 20">
            <a:extLst>
              <a:ext uri="{FF2B5EF4-FFF2-40B4-BE49-F238E27FC236}">
                <a16:creationId xmlns:a16="http://schemas.microsoft.com/office/drawing/2014/main" id="{DCFE97C4-368D-48EC-A01C-DFE80A2C7FE3}"/>
              </a:ext>
            </a:extLst>
          </p:cNvPr>
          <p:cNvSpPr/>
          <p:nvPr/>
        </p:nvSpPr>
        <p:spPr>
          <a:xfrm>
            <a:off x="5092534" y="3437793"/>
            <a:ext cx="625110" cy="366832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例22-1</a:t>
            </a:r>
            <a:endParaRPr lang="ko-KR" altLang="en-US" sz="14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88E409B-5C50-41B1-96F8-888024650CCA}"/>
              </a:ext>
            </a:extLst>
          </p:cNvPr>
          <p:cNvSpPr txBox="1"/>
          <p:nvPr/>
        </p:nvSpPr>
        <p:spPr>
          <a:xfrm>
            <a:off x="6193060" y="1698362"/>
            <a:ext cx="19897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kern="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funname</a:t>
            </a:r>
            <a:r>
              <a:rPr lang="en-US" altLang="zh-CN" sz="18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800" b="1" kern="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args</a:t>
            </a:r>
            <a:r>
              <a:rPr lang="en-US" altLang="zh-CN" sz="18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8783545-C75B-4D65-A799-A1AAE56B5ED7}"/>
              </a:ext>
            </a:extLst>
          </p:cNvPr>
          <p:cNvSpPr txBox="1"/>
          <p:nvPr/>
        </p:nvSpPr>
        <p:spPr>
          <a:xfrm>
            <a:off x="7968622" y="1690656"/>
            <a:ext cx="9004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::Type</a:t>
            </a:r>
            <a:endParaRPr lang="zh-CN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ADFE1DF-2376-4CEB-94B6-661348ADFE82}"/>
              </a:ext>
            </a:extLst>
          </p:cNvPr>
          <p:cNvSpPr/>
          <p:nvPr/>
        </p:nvSpPr>
        <p:spPr>
          <a:xfrm>
            <a:off x="4999855" y="1370891"/>
            <a:ext cx="4040203" cy="342466"/>
          </a:xfrm>
          <a:prstGeom prst="rect">
            <a:avLst/>
          </a:prstGeom>
          <a:solidFill>
            <a:srgbClr val="FF0000"/>
          </a:solidFill>
          <a:ln w="28575" cap="flat" cmpd="sng">
            <a:noFill/>
            <a:prstDash val="solid"/>
          </a:ln>
          <a:effectLst/>
          <a:scene3d>
            <a:camera prst="orthographicFront"/>
            <a:lightRig rig="contrasting" dir="t">
              <a:rot lat="0" lon="0" rev="1500000"/>
            </a:lightRig>
          </a:scene3d>
          <a:sp3d prstMaterial="metal"/>
        </p:spPr>
        <p:txBody>
          <a:bodyPr vert="horz" wrap="square" lIns="121920" tIns="60960" rIns="121920" bIns="60960" numCol="1" anchor="t">
            <a:spAutoFit/>
          </a:bodyPr>
          <a:lstStyle/>
          <a:p>
            <a:pPr>
              <a:lnSpc>
                <a:spcPts val="1900"/>
              </a:lnSpc>
            </a:pPr>
            <a:r>
              <a:rPr lang="zh-CN" altLang="en-US" sz="1200" b="1" dirty="0">
                <a:solidFill>
                  <a:schemeClr val="bg1"/>
                </a:solidFill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因变量</a:t>
            </a:r>
            <a:r>
              <a:rPr lang="en-US" altLang="ko-KR" sz="1200" b="1" dirty="0">
                <a:solidFill>
                  <a:schemeClr val="bg1"/>
                </a:solidFill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y=</a:t>
            </a:r>
            <a:r>
              <a:rPr lang="zh-CN" altLang="en-US" sz="1200" b="1" dirty="0">
                <a:solidFill>
                  <a:srgbClr val="FFFF00"/>
                </a:solidFill>
                <a:highlight>
                  <a:srgbClr val="00008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规则</a:t>
            </a:r>
            <a:r>
              <a:rPr lang="en-US" altLang="ko-KR" sz="1200" b="1" dirty="0">
                <a:solidFill>
                  <a:srgbClr val="FFFF00"/>
                </a:solidFill>
                <a:highlight>
                  <a:srgbClr val="00008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f (</a:t>
            </a:r>
            <a:r>
              <a:rPr lang="zh-CN" altLang="en-US" sz="1200" b="1" dirty="0">
                <a:solidFill>
                  <a:srgbClr val="FFFF00"/>
                </a:solidFill>
                <a:highlight>
                  <a:srgbClr val="00008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输入参数</a:t>
            </a:r>
            <a:r>
              <a:rPr lang="en-US" altLang="zh-CN" sz="1200" b="1" dirty="0" err="1">
                <a:solidFill>
                  <a:srgbClr val="FFFF00"/>
                </a:solidFill>
                <a:highlight>
                  <a:srgbClr val="00008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x,a</a:t>
            </a:r>
            <a:r>
              <a:rPr lang="en-US" altLang="ko-KR" sz="1200" b="1" dirty="0">
                <a:solidFill>
                  <a:schemeClr val="bg1"/>
                </a:solidFill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)=</a:t>
            </a:r>
            <a:r>
              <a:rPr lang="zh-CN" altLang="en-US" sz="1200" b="1" dirty="0">
                <a:solidFill>
                  <a:schemeClr val="bg1"/>
                </a:solidFill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表达式 </a:t>
            </a:r>
            <a:r>
              <a:rPr lang="en-US" altLang="zh-CN" sz="1200" b="1" dirty="0">
                <a:solidFill>
                  <a:schemeClr val="bg1"/>
                </a:solidFill>
                <a:highlight>
                  <a:srgbClr val="00008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sz="1200" b="1" dirty="0">
                <a:solidFill>
                  <a:schemeClr val="bg1"/>
                </a:solidFill>
                <a:highlight>
                  <a:srgbClr val="00008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如</a:t>
            </a:r>
            <a:r>
              <a:rPr lang="en-US" altLang="zh-CN" sz="1200" b="1" dirty="0">
                <a:solidFill>
                  <a:schemeClr val="bg1"/>
                </a:solidFill>
                <a:highlight>
                  <a:srgbClr val="00008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y=f(x)=x^2</a:t>
            </a:r>
            <a:r>
              <a:rPr lang="en-US" altLang="zh-CN" sz="1200" b="1" dirty="0">
                <a:solidFill>
                  <a:schemeClr val="bg1"/>
                </a:solidFill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endParaRPr lang="ko-KR" altLang="en-US" sz="1200" b="1" dirty="0">
              <a:solidFill>
                <a:schemeClr val="bg1"/>
              </a:solidFill>
              <a:highlight>
                <a:srgbClr val="FF0000"/>
              </a:highlight>
              <a:latin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0476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  <p:bldP spid="20" grpId="0"/>
      <p:bldP spid="18" grpId="0" animBg="1"/>
      <p:bldP spid="21" grpId="0" animBg="1"/>
      <p:bldP spid="23" grpId="0"/>
      <p:bldP spid="2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>
            <a:extLst>
              <a:ext uri="{FF2B5EF4-FFF2-40B4-BE49-F238E27FC236}">
                <a16:creationId xmlns:a16="http://schemas.microsoft.com/office/drawing/2014/main" id="{C0C2C922-29E7-42FE-9D44-53CF09807B6B}"/>
              </a:ext>
            </a:extLst>
          </p:cNvPr>
          <p:cNvSpPr txBox="1"/>
          <p:nvPr/>
        </p:nvSpPr>
        <p:spPr>
          <a:xfrm>
            <a:off x="578047" y="3178284"/>
            <a:ext cx="1584937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单输出调用：</a:t>
            </a:r>
            <a:endParaRPr lang="ko-KR" altLang="en-US" sz="1800" b="1" dirty="0">
              <a:solidFill>
                <a:srgbClr val="0070C0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 Box 10">
            <a:extLst>
              <a:ext uri="{FF2B5EF4-FFF2-40B4-BE49-F238E27FC236}">
                <a16:creationId xmlns:a16="http://schemas.microsoft.com/office/drawing/2014/main" id="{2AF0DEE8-32E3-D3E4-BAB9-8D1F9184DE79}"/>
              </a:ext>
            </a:extLst>
          </p:cNvPr>
          <p:cNvSpPr/>
          <p:nvPr/>
        </p:nvSpPr>
        <p:spPr bwMode="auto">
          <a:xfrm>
            <a:off x="2123728" y="3177025"/>
            <a:ext cx="3528392" cy="33855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/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Output=</a:t>
            </a:r>
            <a:r>
              <a:rPr lang="en-US" altLang="zh-CN" sz="16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funname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赋值的</a:t>
            </a:r>
            <a:r>
              <a:rPr lang="en-US" altLang="zh-CN" sz="16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args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B6082AB-3868-1783-6AD0-35D8BE20525E}"/>
              </a:ext>
            </a:extLst>
          </p:cNvPr>
          <p:cNvSpPr txBox="1"/>
          <p:nvPr/>
        </p:nvSpPr>
        <p:spPr>
          <a:xfrm>
            <a:off x="179512" y="1082911"/>
            <a:ext cx="8831052" cy="5007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dist">
              <a:lnSpc>
                <a:spcPts val="3600"/>
              </a:lnSpc>
              <a:buFont typeface="+mj-ea"/>
              <a:buAutoNum type="circleNumDbPlain"/>
            </a:pP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点击“   ”按钮或</a:t>
            </a:r>
            <a:r>
              <a:rPr lang="en-US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include</a:t>
            </a: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像</a:t>
            </a:r>
            <a:r>
              <a:rPr lang="en-US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using</a:t>
            </a: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一样加载编写函数文件</a:t>
            </a:r>
            <a:r>
              <a:rPr lang="en-US" altLang="zh-CN" b="1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funname.jl</a:t>
            </a:r>
            <a:r>
              <a:rPr lang="zh-CN" altLang="en-US" b="1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</a:t>
            </a:r>
            <a:endParaRPr lang="en-US" altLang="zh-CN" b="1" dirty="0">
              <a:solidFill>
                <a:srgbClr val="00B0F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F37F495-CE1D-2609-B7B5-A5F36F5906FC}"/>
              </a:ext>
            </a:extLst>
          </p:cNvPr>
          <p:cNvSpPr txBox="1"/>
          <p:nvPr/>
        </p:nvSpPr>
        <p:spPr>
          <a:xfrm>
            <a:off x="919136" y="4150957"/>
            <a:ext cx="4516960" cy="43088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sz="2200" b="1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创</a:t>
            </a:r>
            <a:r>
              <a:rPr lang="en-US" altLang="zh-CN" sz="2200" b="1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z</a:t>
            </a:r>
            <a:r>
              <a:rPr lang="en-US" altLang="zh-CN" sz="2200" b="1" kern="0" dirty="0">
                <a:solidFill>
                  <a:srgbClr val="00206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=x^2</a:t>
            </a:r>
            <a:r>
              <a:rPr lang="zh-CN" altLang="en-US" sz="22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函数</a:t>
            </a:r>
            <a:r>
              <a:rPr lang="en-US" altLang="zh-CN" sz="2200" b="1" kern="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myfun</a:t>
            </a:r>
            <a:r>
              <a:rPr lang="en-US" altLang="zh-CN" sz="2200" b="1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,</a:t>
            </a:r>
            <a:r>
              <a:rPr lang="zh-CN" altLang="en-US" sz="22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求</a:t>
            </a:r>
            <a:r>
              <a:rPr lang="en-US" altLang="zh-CN" sz="22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x=1:3</a:t>
            </a:r>
            <a:r>
              <a:rPr lang="zh-CN" altLang="en-US" sz="2200" b="1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函数</a:t>
            </a:r>
            <a:r>
              <a:rPr lang="zh-CN" altLang="en-US" sz="22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值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F630196-7CF5-41B4-BB1E-B86B7BC78291}"/>
              </a:ext>
            </a:extLst>
          </p:cNvPr>
          <p:cNvSpPr txBox="1"/>
          <p:nvPr/>
        </p:nvSpPr>
        <p:spPr>
          <a:xfrm>
            <a:off x="769120" y="2150451"/>
            <a:ext cx="36778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2000" b="1" kern="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julia&gt;include(</a:t>
            </a:r>
            <a:r>
              <a:rPr lang="en-US" altLang="zh-CN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2000" b="1" kern="0" dirty="0" err="1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myfun.jl</a:t>
            </a:r>
            <a:r>
              <a:rPr lang="en-US" altLang="zh-CN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en-US" altLang="zh-CN" sz="2000" b="1" kern="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)</a:t>
            </a:r>
            <a:endParaRPr lang="ko-KR" altLang="en-US" sz="2000" b="1" kern="0" dirty="0">
              <a:solidFill>
                <a:srgbClr val="00206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9237792-A136-45D0-A7D1-65009D01EA75}"/>
              </a:ext>
            </a:extLst>
          </p:cNvPr>
          <p:cNvSpPr txBox="1"/>
          <p:nvPr/>
        </p:nvSpPr>
        <p:spPr>
          <a:xfrm>
            <a:off x="5148065" y="4188506"/>
            <a:ext cx="3896448" cy="39946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dist">
              <a:lnSpc>
                <a:spcPct val="90000"/>
              </a:lnSpc>
            </a:pPr>
            <a:r>
              <a:rPr lang="en-US" altLang="zh-CN" sz="2200" b="1" kern="0" dirty="0" err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julia</a:t>
            </a:r>
            <a:r>
              <a:rPr lang="en-US" altLang="zh-CN" sz="22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&gt;y=</a:t>
            </a:r>
            <a:r>
              <a:rPr lang="en-US" altLang="zh-CN" sz="2200" b="1" kern="0" dirty="0" err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myfun</a:t>
            </a:r>
            <a:r>
              <a:rPr lang="en-US" altLang="zh-CN" sz="22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.(2)</a:t>
            </a:r>
            <a:r>
              <a:rPr lang="zh-CN" altLang="en-US" sz="22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结果</a:t>
            </a:r>
            <a:r>
              <a:rPr lang="en-US" altLang="zh-CN" sz="22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1 4  9</a:t>
            </a:r>
            <a:endParaRPr lang="ko-KR" altLang="en-US" sz="2200" b="1" kern="0" dirty="0">
              <a:solidFill>
                <a:srgbClr val="FF0000"/>
              </a:solidFill>
              <a:highlight>
                <a:srgbClr val="003B76"/>
              </a:highlight>
              <a:latin typeface="华文楷体" panose="02010600040101010101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623528D-9E24-47CD-905F-48D7B99F9C46}"/>
              </a:ext>
            </a:extLst>
          </p:cNvPr>
          <p:cNvSpPr txBox="1"/>
          <p:nvPr/>
        </p:nvSpPr>
        <p:spPr>
          <a:xfrm>
            <a:off x="144016" y="2584237"/>
            <a:ext cx="8918496" cy="490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dist">
              <a:lnSpc>
                <a:spcPts val="3500"/>
              </a:lnSpc>
              <a:buFont typeface="+mj-ea"/>
              <a:buAutoNum type="circleNumDbPlain" startAt="2"/>
            </a:pP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调用函数名</a:t>
            </a:r>
            <a:r>
              <a:rPr lang="en-US" altLang="zh-CN" b="1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funname</a:t>
            </a: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得到输出参数</a:t>
            </a:r>
            <a:r>
              <a:rPr lang="en-US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，按照默认位置传递输入和输出参数</a:t>
            </a:r>
            <a:endParaRPr lang="en-US" altLang="zh-CN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3A3A3C2-742F-415C-9E60-52DB1AE94588}"/>
              </a:ext>
            </a:extLst>
          </p:cNvPr>
          <p:cNvSpPr txBox="1"/>
          <p:nvPr/>
        </p:nvSpPr>
        <p:spPr>
          <a:xfrm>
            <a:off x="265492" y="790333"/>
            <a:ext cx="8739001" cy="309622"/>
          </a:xfrm>
          <a:prstGeom prst="rect">
            <a:avLst/>
          </a:prstGeom>
          <a:solidFill>
            <a:srgbClr val="0070C0"/>
          </a:solidFill>
        </p:spPr>
        <p:txBody>
          <a:bodyPr/>
          <a:lstStyle>
            <a:defPPr>
              <a:defRPr lang="zh-CN"/>
            </a:defPPr>
            <a:lvl1pPr algn="dist" eaLnBrk="0" hangingPunct="0">
              <a:lnSpc>
                <a:spcPct val="85000"/>
              </a:lnSpc>
              <a:defRPr sz="2000" b="0" ker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1800" b="1" dirty="0"/>
              <a:t>function</a:t>
            </a:r>
            <a:r>
              <a:rPr lang="zh-CN" altLang="en-US" sz="1800" b="1" dirty="0"/>
              <a:t>函数文件保存在当前目录下，</a:t>
            </a:r>
            <a:r>
              <a:rPr lang="en-US" altLang="zh-CN" sz="1800" b="1" dirty="0"/>
              <a:t>include</a:t>
            </a:r>
            <a:r>
              <a:rPr lang="zh-CN" altLang="en-US" sz="1800" b="1" dirty="0"/>
              <a:t>命令窗口运行函数文件无需指明路径</a:t>
            </a:r>
            <a:endParaRPr lang="en-US" altLang="zh-CN" sz="1800" b="1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E5A591D-BA0F-4478-850A-88279458F8CC}"/>
              </a:ext>
            </a:extLst>
          </p:cNvPr>
          <p:cNvSpPr txBox="1"/>
          <p:nvPr/>
        </p:nvSpPr>
        <p:spPr>
          <a:xfrm>
            <a:off x="732614" y="154023"/>
            <a:ext cx="81598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§2.2.1  </a:t>
            </a:r>
            <a:r>
              <a:rPr lang="zh-CN" altLang="en-US" sz="28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标准形式的函数文件</a:t>
            </a:r>
            <a:r>
              <a:rPr lang="en-US" altLang="zh-CN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——2.</a:t>
            </a:r>
            <a:r>
              <a:rPr lang="zh-CN" altLang="en-US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运行</a:t>
            </a:r>
            <a:r>
              <a:rPr lang="zh-CN" altLang="en-US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和调用函数</a:t>
            </a:r>
            <a:endParaRPr lang="en-US" altLang="zh-CN" sz="2800" b="1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B4E8302-7024-4563-889E-C17FD3173313}"/>
              </a:ext>
            </a:extLst>
          </p:cNvPr>
          <p:cNvSpPr txBox="1"/>
          <p:nvPr/>
        </p:nvSpPr>
        <p:spPr>
          <a:xfrm>
            <a:off x="4226963" y="2126950"/>
            <a:ext cx="48175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#</a:t>
            </a:r>
            <a:r>
              <a:rPr lang="zh-CN" altLang="en-US" sz="20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结果</a:t>
            </a:r>
            <a:r>
              <a:rPr lang="en-US" altLang="zh-CN" sz="2000" b="1" dirty="0" err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myfun</a:t>
            </a:r>
            <a:r>
              <a:rPr lang="en-US" altLang="zh-CN" sz="20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(generic function with 1 method)</a:t>
            </a:r>
            <a:endParaRPr lang="zh-CN" altLang="en-US" sz="2000" b="1" dirty="0"/>
          </a:p>
        </p:txBody>
      </p:sp>
      <p:sp>
        <p:nvSpPr>
          <p:cNvPr id="15" name="等腰三角形 14">
            <a:extLst>
              <a:ext uri="{FF2B5EF4-FFF2-40B4-BE49-F238E27FC236}">
                <a16:creationId xmlns:a16="http://schemas.microsoft.com/office/drawing/2014/main" id="{3BC448EA-5B38-44B8-ADCE-500BF71DE961}"/>
              </a:ext>
            </a:extLst>
          </p:cNvPr>
          <p:cNvSpPr/>
          <p:nvPr/>
        </p:nvSpPr>
        <p:spPr bwMode="auto">
          <a:xfrm rot="5400000">
            <a:off x="1628625" y="1234995"/>
            <a:ext cx="268616" cy="286522"/>
          </a:xfrm>
          <a:prstGeom prst="triangle">
            <a:avLst/>
          </a:prstGeom>
          <a:solidFill>
            <a:srgbClr val="0070C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8" name="波形 17">
            <a:extLst>
              <a:ext uri="{FF2B5EF4-FFF2-40B4-BE49-F238E27FC236}">
                <a16:creationId xmlns:a16="http://schemas.microsoft.com/office/drawing/2014/main" id="{9FBF3A2C-B0D4-47DE-BDE6-914A2A5350AF}"/>
              </a:ext>
            </a:extLst>
          </p:cNvPr>
          <p:cNvSpPr/>
          <p:nvPr/>
        </p:nvSpPr>
        <p:spPr>
          <a:xfrm>
            <a:off x="225540" y="2169242"/>
            <a:ext cx="653645" cy="310954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例22-1</a:t>
            </a:r>
            <a:endParaRPr lang="ko-KR" altLang="en-US" sz="14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波形 18">
            <a:extLst>
              <a:ext uri="{FF2B5EF4-FFF2-40B4-BE49-F238E27FC236}">
                <a16:creationId xmlns:a16="http://schemas.microsoft.com/office/drawing/2014/main" id="{D7FEA467-5CA4-4799-9AAF-EC2F89D5FCD7}"/>
              </a:ext>
            </a:extLst>
          </p:cNvPr>
          <p:cNvSpPr/>
          <p:nvPr/>
        </p:nvSpPr>
        <p:spPr>
          <a:xfrm>
            <a:off x="265492" y="4212711"/>
            <a:ext cx="625110" cy="307377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例22-1</a:t>
            </a:r>
            <a:endParaRPr lang="ko-KR" altLang="en-US" sz="14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9C55335-0116-49E0-9FEE-0EDA3113B2EC}"/>
              </a:ext>
            </a:extLst>
          </p:cNvPr>
          <p:cNvSpPr/>
          <p:nvPr/>
        </p:nvSpPr>
        <p:spPr>
          <a:xfrm>
            <a:off x="5671283" y="3160841"/>
            <a:ext cx="3195843" cy="366767"/>
          </a:xfrm>
          <a:prstGeom prst="rect">
            <a:avLst/>
          </a:prstGeom>
          <a:solidFill>
            <a:schemeClr val="bg1"/>
          </a:solidFill>
          <a:ln w="28575" cap="flat" cmpd="sng">
            <a:noFill/>
            <a:prstDash val="solid"/>
          </a:ln>
          <a:effectLst/>
          <a:scene3d>
            <a:camera prst="orthographicFront"/>
            <a:lightRig rig="contrasting" dir="t">
              <a:rot lat="0" lon="0" rev="1500000"/>
            </a:lightRig>
          </a:scene3d>
          <a:sp3d prstMaterial="metal"/>
        </p:spPr>
        <p:txBody>
          <a:bodyPr vert="horz" wrap="square" lIns="121920" tIns="60960" rIns="121920" bIns="60960" numCol="1" anchor="t">
            <a:spAutoFit/>
          </a:bodyPr>
          <a:lstStyle/>
          <a:p>
            <a:pPr algn="dist">
              <a:lnSpc>
                <a:spcPts val="1900"/>
              </a:lnSpc>
            </a:pP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因变量</a:t>
            </a:r>
            <a:r>
              <a:rPr lang="en-US" altLang="ko-KR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y=f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规则</a:t>
            </a:r>
            <a:r>
              <a:rPr lang="en-US" altLang="ko-KR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输入参数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ko-KR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ko-KR" altLang="en-US" sz="1600" b="1" dirty="0">
              <a:solidFill>
                <a:srgbClr val="FF00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347B726-253B-460D-A441-FF9661AEA852}"/>
              </a:ext>
            </a:extLst>
          </p:cNvPr>
          <p:cNvSpPr txBox="1"/>
          <p:nvPr/>
        </p:nvSpPr>
        <p:spPr>
          <a:xfrm>
            <a:off x="552363" y="3693461"/>
            <a:ext cx="84521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en-US" altLang="zh-CN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Output</a:t>
            </a:r>
            <a:r>
              <a: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相当于因变量</a:t>
            </a:r>
            <a:r>
              <a:rPr lang="en-US" altLang="zh-CN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，赋值的输入参数</a:t>
            </a:r>
            <a:r>
              <a:rPr lang="en-US" altLang="zh-CN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args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相当于自变量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和输入参数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9A9912C-4753-4F9B-B209-C3B693845F65}"/>
              </a:ext>
            </a:extLst>
          </p:cNvPr>
          <p:cNvSpPr txBox="1"/>
          <p:nvPr/>
        </p:nvSpPr>
        <p:spPr>
          <a:xfrm>
            <a:off x="606582" y="1651880"/>
            <a:ext cx="4420926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1800" dirty="0"/>
              <a:t>Include</a:t>
            </a:r>
            <a:r>
              <a:rPr lang="zh-CN" altLang="en-US" sz="1800" dirty="0"/>
              <a:t>加载函数文件到命令行窗口：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A564106-9B63-419E-8006-F364CBAC1D0E}"/>
              </a:ext>
            </a:extLst>
          </p:cNvPr>
          <p:cNvSpPr/>
          <p:nvPr/>
        </p:nvSpPr>
        <p:spPr>
          <a:xfrm>
            <a:off x="4553344" y="1631313"/>
            <a:ext cx="2833402" cy="33855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/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include(“</a:t>
            </a:r>
            <a:r>
              <a:rPr lang="en-US" altLang="zh-CN" sz="16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funname.jl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”) 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32905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9" grpId="0" animBg="1"/>
      <p:bldP spid="8" grpId="0"/>
      <p:bldP spid="10" grpId="0" animBg="1"/>
      <p:bldP spid="13" grpId="0"/>
      <p:bldP spid="21" grpId="0"/>
      <p:bldP spid="15" grpId="0" animBg="1"/>
      <p:bldP spid="18" grpId="0" animBg="1"/>
      <p:bldP spid="19" grpId="0" animBg="1"/>
      <p:bldP spid="24" grpId="0" animBg="1"/>
      <p:bldP spid="23" grpId="0"/>
      <p:bldP spid="25" grpId="0" animBg="1"/>
      <p:bldP spid="2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271D9581-F6E3-4812-8569-34CD9C24FE8B}"/>
              </a:ext>
            </a:extLst>
          </p:cNvPr>
          <p:cNvSpPr txBox="1"/>
          <p:nvPr/>
        </p:nvSpPr>
        <p:spPr>
          <a:xfrm>
            <a:off x="185207" y="1164781"/>
            <a:ext cx="4602817" cy="140865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/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</a:pP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</a:rPr>
              <a:t>function </a:t>
            </a:r>
            <a:r>
              <a:rPr lang="en-US" altLang="zh-CN" sz="2000" dirty="0" err="1">
                <a:solidFill>
                  <a:srgbClr val="0070C0"/>
                </a:solidFill>
                <a:latin typeface="Consolas" panose="020B0609020204030204" pitchFamily="49" charset="0"/>
              </a:rPr>
              <a:t>volu</a:t>
            </a: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000" dirty="0" err="1">
                <a:solidFill>
                  <a:srgbClr val="0070C0"/>
                </a:solidFill>
                <a:latin typeface="Consolas" panose="020B0609020204030204" pitchFamily="49" charset="0"/>
              </a:rPr>
              <a:t>l,w,h</a:t>
            </a: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600"/>
              </a:lnSpc>
            </a:pP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sz="2000" dirty="0" err="1">
                <a:solidFill>
                  <a:srgbClr val="0070C0"/>
                </a:solidFill>
                <a:latin typeface="Consolas" panose="020B0609020204030204" pitchFamily="49" charset="0"/>
              </a:rPr>
              <a:t>ar</a:t>
            </a: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</a:rPr>
              <a:t>=l*w  </a:t>
            </a:r>
            <a:endParaRPr lang="zh-CN" altLang="en-US" sz="2000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>
              <a:lnSpc>
                <a:spcPts val="2600"/>
              </a:lnSpc>
            </a:pPr>
            <a:r>
              <a:rPr lang="zh-CN" altLang="en-US" sz="2000" dirty="0">
                <a:solidFill>
                  <a:srgbClr val="0070C0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</a:rPr>
              <a:t>vol=</a:t>
            </a:r>
            <a:r>
              <a:rPr lang="en-US" altLang="zh-CN" sz="2000" dirty="0" err="1">
                <a:solidFill>
                  <a:srgbClr val="0070C0"/>
                </a:solidFill>
                <a:latin typeface="Consolas" panose="020B0609020204030204" pitchFamily="49" charset="0"/>
              </a:rPr>
              <a:t>ar</a:t>
            </a: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</a:rPr>
              <a:t>*h   </a:t>
            </a:r>
            <a:endParaRPr lang="zh-CN" altLang="en-US" sz="2000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>
              <a:lnSpc>
                <a:spcPts val="2600"/>
              </a:lnSpc>
            </a:pP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</a:rPr>
              <a:t>end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0542892-B0E4-4D3C-9DC8-F8A24908C596}"/>
              </a:ext>
            </a:extLst>
          </p:cNvPr>
          <p:cNvSpPr txBox="1"/>
          <p:nvPr/>
        </p:nvSpPr>
        <p:spPr>
          <a:xfrm>
            <a:off x="1043608" y="707088"/>
            <a:ext cx="7956481" cy="338554"/>
          </a:xfrm>
          <a:prstGeom prst="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algn="dist">
              <a:buClr>
                <a:schemeClr val="bg1"/>
              </a:buClr>
              <a:buFont typeface="+mj-ea"/>
              <a:buAutoNum type="circleNumDbPlain" startAt="3"/>
              <a:defRPr sz="1800" b="1">
                <a:solidFill>
                  <a:schemeClr val="bg1"/>
                </a:solidFill>
                <a:highlight>
                  <a:srgbClr val="003B76"/>
                </a:highligh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350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10922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5494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20066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  <a:lvl6pPr marL="24638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pPr>
              <a:buFont typeface="+mj-ea"/>
              <a:buAutoNum type="circleNumDbPlain"/>
            </a:pP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已知长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l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宽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w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和高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h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，求长方体体积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vol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，</a:t>
            </a:r>
            <a:r>
              <a:rPr lang="zh-CN" altLang="en-US" sz="1600" dirty="0"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其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长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l=2,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宽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w=3,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高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h=4 </a:t>
            </a:r>
            <a:endParaRPr lang="zh-CN" altLang="en-US" sz="1600" dirty="0">
              <a:highlight>
                <a:srgbClr val="FF0000"/>
              </a:highlight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" name="波形 12">
            <a:extLst>
              <a:ext uri="{FF2B5EF4-FFF2-40B4-BE49-F238E27FC236}">
                <a16:creationId xmlns:a16="http://schemas.microsoft.com/office/drawing/2014/main" id="{DC46228D-0E03-410C-A4A3-C1BBFC566242}"/>
              </a:ext>
            </a:extLst>
          </p:cNvPr>
          <p:cNvSpPr/>
          <p:nvPr/>
        </p:nvSpPr>
        <p:spPr>
          <a:xfrm>
            <a:off x="185207" y="677560"/>
            <a:ext cx="798662" cy="397609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例22-2-1</a:t>
            </a:r>
            <a:endParaRPr lang="ko-KR" altLang="en-US" sz="14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C0F9A0C-ED4D-42E5-822E-FD2579AF0157}"/>
              </a:ext>
            </a:extLst>
          </p:cNvPr>
          <p:cNvSpPr txBox="1"/>
          <p:nvPr/>
        </p:nvSpPr>
        <p:spPr>
          <a:xfrm>
            <a:off x="732614" y="154023"/>
            <a:ext cx="826747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6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§2.2.1  </a:t>
            </a:r>
            <a:r>
              <a:rPr lang="zh-CN" altLang="en-US" sz="26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标准形式的函数文件</a:t>
            </a:r>
            <a:r>
              <a:rPr lang="en-US" altLang="zh-CN" sz="26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——3. </a:t>
            </a:r>
            <a:r>
              <a:rPr lang="zh-CN" altLang="en-US" sz="26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局部变量和全局变量</a:t>
            </a:r>
            <a:endParaRPr lang="en-US" altLang="zh-CN" sz="2600" b="1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BA00912-1EE9-4051-B007-7E6E767BEA30}"/>
              </a:ext>
            </a:extLst>
          </p:cNvPr>
          <p:cNvSpPr txBox="1"/>
          <p:nvPr/>
        </p:nvSpPr>
        <p:spPr>
          <a:xfrm>
            <a:off x="130872" y="2947112"/>
            <a:ext cx="60716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julia&gt; </a:t>
            </a:r>
            <a:r>
              <a:rPr lang="en-US" altLang="zh-CN" b="1" dirty="0">
                <a:solidFill>
                  <a:srgbClr val="00B0F0"/>
                </a:solidFill>
              </a:rPr>
              <a:t>v=</a:t>
            </a:r>
            <a:r>
              <a:rPr lang="zh-CN" altLang="en-US" sz="2000" b="1" dirty="0">
                <a:solidFill>
                  <a:srgbClr val="00B0F0"/>
                </a:solidFill>
              </a:rPr>
              <a:t>volu(2,3,4)</a:t>
            </a:r>
            <a:r>
              <a:rPr lang="zh-CN" altLang="en-US" sz="2000" dirty="0">
                <a:solidFill>
                  <a:srgbClr val="00B0F0"/>
                </a:solidFill>
              </a:rPr>
              <a:t>  </a:t>
            </a:r>
            <a:r>
              <a:rPr lang="en-US" altLang="zh-CN" dirty="0"/>
              <a:t>#</a:t>
            </a:r>
            <a:r>
              <a:rPr lang="zh-CN" altLang="en-US" dirty="0"/>
              <a:t>求</a:t>
            </a:r>
            <a:r>
              <a:rPr lang="en-US" altLang="zh-CN" dirty="0"/>
              <a:t>l=2,w=3,h=4</a:t>
            </a:r>
            <a:r>
              <a:rPr lang="zh-CN" altLang="en-US" dirty="0"/>
              <a:t>时结果体积</a:t>
            </a:r>
            <a:r>
              <a:rPr lang="en-US" altLang="zh-CN" dirty="0"/>
              <a:t>=</a:t>
            </a:r>
            <a:r>
              <a:rPr lang="zh-CN" altLang="en-US" dirty="0"/>
              <a:t>24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FC9383A-5F05-408C-A820-2598857F2EED}"/>
              </a:ext>
            </a:extLst>
          </p:cNvPr>
          <p:cNvSpPr txBox="1"/>
          <p:nvPr/>
        </p:nvSpPr>
        <p:spPr>
          <a:xfrm>
            <a:off x="2326817" y="1519382"/>
            <a:ext cx="19571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面积</a:t>
            </a:r>
            <a:r>
              <a:rPr lang="en-US" altLang="zh-CN" sz="16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是局部变量</a:t>
            </a:r>
            <a:endParaRPr lang="zh-CN" altLang="en-US" sz="16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37A09C8-52AC-4F6E-A5D1-B7BF2F175EFF}"/>
              </a:ext>
            </a:extLst>
          </p:cNvPr>
          <p:cNvSpPr txBox="1"/>
          <p:nvPr/>
        </p:nvSpPr>
        <p:spPr>
          <a:xfrm>
            <a:off x="2136024" y="1855152"/>
            <a:ext cx="24375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体积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vol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是局部变量</a:t>
            </a:r>
            <a:endParaRPr lang="zh-CN" altLang="en-US" sz="1600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3196ACA-B733-4C7F-824F-9C07D49463A8}"/>
              </a:ext>
            </a:extLst>
          </p:cNvPr>
          <p:cNvSpPr txBox="1"/>
          <p:nvPr/>
        </p:nvSpPr>
        <p:spPr>
          <a:xfrm>
            <a:off x="143910" y="3367976"/>
            <a:ext cx="8811825" cy="660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300"/>
              </a:lnSpc>
            </a:pPr>
            <a:r>
              <a:rPr lang="zh-CN" altLang="en-US" b="1" dirty="0">
                <a:solidFill>
                  <a:srgbClr val="FF0000"/>
                </a:solidFill>
              </a:rPr>
              <a:t>julia&gt; </a:t>
            </a:r>
            <a:r>
              <a:rPr lang="zh-CN" altLang="en-US" b="1" dirty="0">
                <a:solidFill>
                  <a:srgbClr val="00B0F0"/>
                </a:solidFill>
              </a:rPr>
              <a:t>ar 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00B0F0"/>
                </a:solidFill>
              </a:rPr>
              <a:t>#</a:t>
            </a:r>
            <a:r>
              <a:rPr lang="zh-CN" altLang="en-US" b="1" dirty="0">
                <a:solidFill>
                  <a:srgbClr val="00B0F0"/>
                </a:solidFill>
              </a:rPr>
              <a:t>结果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ERROR: UndefVarError: `ar` not 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defined </a:t>
            </a:r>
            <a:r>
              <a:rPr lang="en-US" altLang="zh-CN" sz="1400" dirty="0">
                <a:solidFill>
                  <a:srgbClr val="FF0000"/>
                </a:solidFill>
              </a:rPr>
              <a:t>(</a:t>
            </a:r>
            <a:r>
              <a:rPr lang="zh-CN" altLang="en-US" sz="1400" b="1" dirty="0">
                <a:solidFill>
                  <a:schemeClr val="bg1"/>
                </a:solidFill>
                <a:highlight>
                  <a:srgbClr val="736303"/>
                </a:highlight>
                <a:latin typeface="Consolas" panose="020B0609020204030204" pitchFamily="49" charset="0"/>
              </a:rPr>
              <a:t>外部无法访问函数中局部变量</a:t>
            </a:r>
            <a:r>
              <a:rPr lang="en-US" altLang="zh-CN" sz="1400" b="1" dirty="0" err="1">
                <a:solidFill>
                  <a:schemeClr val="bg1"/>
                </a:solidFill>
                <a:highlight>
                  <a:srgbClr val="736303"/>
                </a:highlight>
                <a:latin typeface="Consolas" panose="020B0609020204030204" pitchFamily="49" charset="0"/>
              </a:rPr>
              <a:t>ar</a:t>
            </a:r>
            <a:r>
              <a:rPr lang="zh-CN" altLang="en-US" sz="1400" dirty="0">
                <a:solidFill>
                  <a:srgbClr val="FF0000"/>
                </a:solidFill>
              </a:rPr>
              <a:t>）</a:t>
            </a:r>
            <a:endParaRPr lang="zh-CN" altLang="en-US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300"/>
              </a:lnSpc>
            </a:pPr>
            <a:r>
              <a:rPr lang="zh-CN" altLang="en-US" b="1" dirty="0">
                <a:solidFill>
                  <a:srgbClr val="FF0000"/>
                </a:solidFill>
              </a:rPr>
              <a:t>julia&gt; </a:t>
            </a:r>
            <a:r>
              <a:rPr lang="zh-CN" altLang="en-US" b="1" dirty="0">
                <a:solidFill>
                  <a:srgbClr val="00B0F0"/>
                </a:solidFill>
              </a:rPr>
              <a:t>vol  </a:t>
            </a:r>
            <a:r>
              <a:rPr lang="en-US" altLang="zh-CN" b="1" dirty="0">
                <a:solidFill>
                  <a:srgbClr val="00B0F0"/>
                </a:solidFill>
              </a:rPr>
              <a:t>#</a:t>
            </a:r>
            <a:r>
              <a:rPr lang="zh-CN" altLang="en-US" b="1" dirty="0">
                <a:solidFill>
                  <a:srgbClr val="00B0F0"/>
                </a:solidFill>
              </a:rPr>
              <a:t>结果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ERROR: UndefVarError: `vol` not defined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AD1B407-E21C-464D-8444-1AFC1297EA4A}"/>
              </a:ext>
            </a:extLst>
          </p:cNvPr>
          <p:cNvSpPr txBox="1"/>
          <p:nvPr/>
        </p:nvSpPr>
        <p:spPr>
          <a:xfrm>
            <a:off x="101538" y="4011910"/>
            <a:ext cx="8940924" cy="61555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800" b="1">
                <a:solidFill>
                  <a:srgbClr val="00B0F0"/>
                </a:solidFill>
              </a:defRPr>
            </a:lvl1pPr>
          </a:lstStyle>
          <a:p>
            <a:pPr algn="dist"/>
            <a:r>
              <a:rPr lang="zh-CN" altLang="en-US" sz="17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全局变量：运行结果自动存放在工作区，可随时访问修改，此类变量称全局变量，如</a:t>
            </a:r>
            <a:r>
              <a:rPr lang="en-US" altLang="zh-CN" sz="17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</a:p>
          <a:p>
            <a:pPr algn="dist"/>
            <a:r>
              <a:rPr lang="zh-CN" altLang="en-US" sz="17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局部变量：在函数内部定义的变量，只存在函数局部作用域，外部无法问修改，如</a:t>
            </a:r>
            <a:r>
              <a:rPr lang="en-US" altLang="zh-CN" sz="17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vol</a:t>
            </a:r>
            <a:endParaRPr lang="zh-CN" altLang="en-US" sz="17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EDBA2D6-4771-467D-BCE8-55D2B020D12D}"/>
              </a:ext>
            </a:extLst>
          </p:cNvPr>
          <p:cNvSpPr txBox="1"/>
          <p:nvPr/>
        </p:nvSpPr>
        <p:spPr>
          <a:xfrm>
            <a:off x="4932040" y="1149511"/>
            <a:ext cx="4068050" cy="1384995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effectLst/>
                <a:highlight>
                  <a:srgbClr val="736303"/>
                </a:highlight>
                <a:latin typeface="Consolas" panose="020B0609020204030204" pitchFamily="49" charset="0"/>
              </a:rPr>
              <a:t>%</a:t>
            </a:r>
            <a:r>
              <a:rPr lang="zh-CN" altLang="en-US" sz="1400" b="1" dirty="0">
                <a:solidFill>
                  <a:schemeClr val="bg1"/>
                </a:solidFill>
                <a:effectLst/>
                <a:highlight>
                  <a:srgbClr val="736303"/>
                </a:highlight>
                <a:latin typeface="Consolas" panose="020B0609020204030204" pitchFamily="49" charset="0"/>
              </a:rPr>
              <a:t>编</a:t>
            </a:r>
            <a:r>
              <a:rPr lang="en-US" altLang="zh-CN" sz="1400" b="1" dirty="0">
                <a:solidFill>
                  <a:schemeClr val="bg1"/>
                </a:solidFill>
                <a:highlight>
                  <a:srgbClr val="736303"/>
                </a:highlight>
                <a:latin typeface="Consolas" panose="020B0609020204030204" pitchFamily="49" charset="0"/>
              </a:rPr>
              <a:t>MATLAB</a:t>
            </a:r>
            <a:r>
              <a:rPr lang="zh-CN" altLang="en-US" sz="1400" b="1" dirty="0">
                <a:solidFill>
                  <a:schemeClr val="bg1"/>
                </a:solidFill>
                <a:highlight>
                  <a:srgbClr val="736303"/>
                </a:highlight>
                <a:latin typeface="Consolas" panose="020B0609020204030204" pitchFamily="49" charset="0"/>
              </a:rPr>
              <a:t>的</a:t>
            </a:r>
            <a:r>
              <a:rPr lang="zh-CN" altLang="en-US" sz="1400" b="1" dirty="0">
                <a:solidFill>
                  <a:schemeClr val="bg1"/>
                </a:solidFill>
                <a:effectLst/>
                <a:highlight>
                  <a:srgbClr val="736303"/>
                </a:highlight>
                <a:latin typeface="Consolas" panose="020B0609020204030204" pitchFamily="49" charset="0"/>
              </a:rPr>
              <a:t>函数</a:t>
            </a:r>
            <a:r>
              <a:rPr lang="en-US" altLang="zh-CN" sz="1400" b="1" dirty="0">
                <a:solidFill>
                  <a:schemeClr val="bg1"/>
                </a:solidFill>
                <a:effectLst/>
                <a:highlight>
                  <a:srgbClr val="736303"/>
                </a:highlight>
                <a:latin typeface="Consolas" panose="020B0609020204030204" pitchFamily="49" charset="0"/>
              </a:rPr>
              <a:t>volume </a:t>
            </a:r>
          </a:p>
          <a:p>
            <a:r>
              <a:rPr lang="zh-CN" altLang="en-US" sz="1400" b="1" dirty="0">
                <a:solidFill>
                  <a:schemeClr val="bg1"/>
                </a:solidFill>
              </a:rPr>
              <a:t>function</a:t>
            </a:r>
            <a:r>
              <a:rPr lang="zh-CN" altLang="en-US" sz="1400" b="1" dirty="0">
                <a:solidFill>
                  <a:srgbClr val="FF0000"/>
                </a:solidFill>
              </a:rPr>
              <a:t> </a:t>
            </a:r>
            <a:r>
              <a:rPr lang="en-US" altLang="zh-CN" sz="1400" b="1" dirty="0">
                <a:solidFill>
                  <a:srgbClr val="FF0000"/>
                </a:solidFill>
              </a:rPr>
              <a:t>vol</a:t>
            </a:r>
            <a:r>
              <a:rPr lang="en-US" altLang="zh-CN" sz="1400" b="1" dirty="0">
                <a:solidFill>
                  <a:schemeClr val="bg1"/>
                </a:solidFill>
              </a:rPr>
              <a:t>=volume</a:t>
            </a:r>
            <a:r>
              <a:rPr lang="zh-CN" altLang="en-US" sz="1400" b="1" dirty="0">
                <a:solidFill>
                  <a:schemeClr val="bg1"/>
                </a:solidFill>
              </a:rPr>
              <a:t>(</a:t>
            </a:r>
            <a:r>
              <a:rPr lang="en-US" altLang="zh-CN" sz="1400" b="1" dirty="0" err="1">
                <a:solidFill>
                  <a:schemeClr val="bg1"/>
                </a:solidFill>
              </a:rPr>
              <a:t>l,w,h</a:t>
            </a:r>
            <a:r>
              <a:rPr lang="zh-CN" altLang="en-US" sz="1400" b="1" dirty="0">
                <a:solidFill>
                  <a:schemeClr val="bg1"/>
                </a:solidFill>
              </a:rPr>
              <a:t>)</a:t>
            </a:r>
          </a:p>
          <a:p>
            <a:r>
              <a:rPr lang="en-US" altLang="zh-CN" sz="1400" b="1" dirty="0">
                <a:solidFill>
                  <a:schemeClr val="bg1"/>
                </a:solidFill>
              </a:rPr>
              <a:t>    </a:t>
            </a:r>
            <a:r>
              <a:rPr lang="en-US" altLang="zh-CN" sz="1400" b="1" dirty="0" err="1">
                <a:solidFill>
                  <a:schemeClr val="bg1"/>
                </a:solidFill>
              </a:rPr>
              <a:t>ar</a:t>
            </a:r>
            <a:r>
              <a:rPr lang="en-US" altLang="zh-CN" sz="1400" b="1" dirty="0">
                <a:solidFill>
                  <a:schemeClr val="bg1"/>
                </a:solidFill>
              </a:rPr>
              <a:t>=l*w  </a:t>
            </a:r>
            <a:endParaRPr lang="zh-CN" altLang="en-US" sz="1400" b="1" dirty="0">
              <a:solidFill>
                <a:schemeClr val="bg1"/>
              </a:solidFill>
            </a:endParaRPr>
          </a:p>
          <a:p>
            <a:r>
              <a:rPr lang="zh-CN" altLang="en-US" sz="1400" b="1" dirty="0">
                <a:solidFill>
                  <a:schemeClr val="bg1"/>
                </a:solidFill>
              </a:rPr>
              <a:t>    </a:t>
            </a:r>
            <a:r>
              <a:rPr lang="en-US" altLang="zh-CN" sz="1400" b="1" dirty="0">
                <a:solidFill>
                  <a:schemeClr val="bg1"/>
                </a:solidFill>
              </a:rPr>
              <a:t>vol=</a:t>
            </a:r>
            <a:r>
              <a:rPr lang="en-US" altLang="zh-CN" sz="1400" b="1" dirty="0" err="1">
                <a:solidFill>
                  <a:schemeClr val="bg1"/>
                </a:solidFill>
              </a:rPr>
              <a:t>ar</a:t>
            </a:r>
            <a:r>
              <a:rPr lang="en-US" altLang="zh-CN" sz="1400" b="1" dirty="0">
                <a:solidFill>
                  <a:schemeClr val="bg1"/>
                </a:solidFill>
              </a:rPr>
              <a:t>*h   </a:t>
            </a:r>
          </a:p>
          <a:p>
            <a:r>
              <a:rPr lang="en-US" altLang="zh-CN" sz="1400" b="1" dirty="0">
                <a:solidFill>
                  <a:schemeClr val="bg1"/>
                </a:solidFill>
              </a:rPr>
              <a:t>end</a:t>
            </a:r>
            <a:endParaRPr lang="zh-CN" altLang="en-US" sz="1400" b="1" dirty="0">
              <a:solidFill>
                <a:schemeClr val="bg1"/>
              </a:solidFill>
            </a:endParaRPr>
          </a:p>
          <a:p>
            <a:r>
              <a:rPr lang="en-US" altLang="zh-CN" sz="1400" b="1" dirty="0">
                <a:solidFill>
                  <a:schemeClr val="bg1"/>
                </a:solidFill>
              </a:rPr>
              <a:t>vol=volume(2,3,4) %</a:t>
            </a:r>
            <a:r>
              <a:rPr lang="zh-CN" altLang="en-US" sz="1400" b="1" dirty="0">
                <a:solidFill>
                  <a:schemeClr val="bg1"/>
                </a:solidFill>
              </a:rPr>
              <a:t>窗口调用</a:t>
            </a:r>
            <a:endParaRPr lang="en-US" altLang="zh-CN" sz="1400" b="1" dirty="0">
              <a:solidFill>
                <a:schemeClr val="bg1"/>
              </a:solidFill>
            </a:endParaRPr>
          </a:p>
        </p:txBody>
      </p:sp>
      <p:sp>
        <p:nvSpPr>
          <p:cNvPr id="25" name="AutoShape 13">
            <a:extLst>
              <a:ext uri="{FF2B5EF4-FFF2-40B4-BE49-F238E27FC236}">
                <a16:creationId xmlns:a16="http://schemas.microsoft.com/office/drawing/2014/main" id="{704F1A6B-1E6A-4532-BAEC-D7B9C07C08B1}"/>
              </a:ext>
            </a:extLst>
          </p:cNvPr>
          <p:cNvSpPr>
            <a:spLocks noChangeArrowheads="1"/>
          </p:cNvSpPr>
          <p:nvPr/>
        </p:nvSpPr>
        <p:spPr bwMode="auto">
          <a:xfrm rot="310580">
            <a:off x="5990747" y="1628106"/>
            <a:ext cx="1261684" cy="595881"/>
          </a:xfrm>
          <a:prstGeom prst="irregularSeal2">
            <a:avLst/>
          </a:prstGeom>
          <a:solidFill>
            <a:srgbClr val="C00000"/>
          </a:soli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zh-CN" altLang="en-US" sz="1400" b="1" kern="0" dirty="0">
                <a:solidFill>
                  <a:srgbClr val="FFFF00"/>
                </a:solidFill>
                <a:ea typeface="黑体" panose="02010609060101010101" pitchFamily="49" charset="-122"/>
              </a:rPr>
              <a:t> 注意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FBC4C2E-FB52-48F6-BE05-98C3F95298AD}"/>
              </a:ext>
            </a:extLst>
          </p:cNvPr>
          <p:cNvSpPr txBox="1"/>
          <p:nvPr/>
        </p:nvSpPr>
        <p:spPr>
          <a:xfrm>
            <a:off x="7007976" y="1666324"/>
            <a:ext cx="21725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kern="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不同于</a:t>
            </a:r>
            <a:r>
              <a:rPr lang="en-US" altLang="zh-CN" sz="1200" b="1" kern="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Julia</a:t>
            </a:r>
            <a:r>
              <a:rPr lang="zh-CN" altLang="en-US" sz="1200" b="1" kern="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200" b="1" kern="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MATLAB</a:t>
            </a:r>
            <a:r>
              <a:rPr lang="zh-CN" altLang="en-US" sz="1200" b="1" kern="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函数文件只能在编辑器编写</a:t>
            </a:r>
            <a:r>
              <a:rPr lang="en-US" altLang="zh-CN" sz="1200" b="1" kern="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200" b="1" kern="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还有输出，不能定义类型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63933D0-8BB3-45B2-8E2F-3937E77B3605}"/>
              </a:ext>
            </a:extLst>
          </p:cNvPr>
          <p:cNvSpPr txBox="1"/>
          <p:nvPr/>
        </p:nvSpPr>
        <p:spPr>
          <a:xfrm>
            <a:off x="139041" y="2566495"/>
            <a:ext cx="8103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julia&gt; </a:t>
            </a:r>
            <a:r>
              <a:rPr lang="zh-CN" altLang="en-US" dirty="0"/>
              <a:t>正在运行 volu.jl </a:t>
            </a:r>
            <a:r>
              <a:rPr lang="en-US" altLang="zh-CN" dirty="0"/>
              <a:t>#</a:t>
            </a:r>
            <a:r>
              <a:rPr lang="zh-CN" altLang="en-US" dirty="0"/>
              <a:t>结果</a:t>
            </a:r>
            <a:r>
              <a:rPr lang="zh-CN" altLang="en-US" sz="2000" b="1" dirty="0">
                <a:solidFill>
                  <a:srgbClr val="00B0F0"/>
                </a:solidFill>
              </a:rPr>
              <a:t>volu (generic function with 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1 method</a:t>
            </a:r>
            <a:r>
              <a:rPr lang="zh-CN" altLang="en-US" sz="2000" b="1" dirty="0">
                <a:solidFill>
                  <a:srgbClr val="00B0F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872798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191DCF4-9705-4858-A58D-5070A43FC000}"/>
              </a:ext>
            </a:extLst>
          </p:cNvPr>
          <p:cNvSpPr txBox="1"/>
          <p:nvPr/>
        </p:nvSpPr>
        <p:spPr>
          <a:xfrm>
            <a:off x="1026308" y="131884"/>
            <a:ext cx="798606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6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§2.2.2</a:t>
            </a:r>
            <a:r>
              <a:rPr lang="zh-CN" altLang="en-US" sz="26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函数文件作用域</a:t>
            </a:r>
            <a:r>
              <a:rPr lang="en-US" altLang="zh-CN" sz="26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——4.global</a:t>
            </a:r>
            <a:r>
              <a:rPr lang="zh-CN" altLang="en-US" sz="26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定义全局变量</a:t>
            </a:r>
            <a:endParaRPr lang="en-US" altLang="zh-CN" sz="26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8927EBE4-7BCF-4262-B1F5-FC87C87D6C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86261" y="749580"/>
            <a:ext cx="1850235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marL="177800" indent="-177800">
              <a:lnSpc>
                <a:spcPct val="90000"/>
              </a:lnSpc>
              <a:defRPr sz="2400" b="1" ker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defTabSz="508000" eaLnBrk="0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2000"/>
              <a:t>global 变量名</a:t>
            </a:r>
            <a:endParaRPr lang="ko-KR" altLang="en-US" sz="20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B3FD527-539E-4D89-B38F-2D1D9D669276}"/>
              </a:ext>
            </a:extLst>
          </p:cNvPr>
          <p:cNvSpPr/>
          <p:nvPr/>
        </p:nvSpPr>
        <p:spPr>
          <a:xfrm>
            <a:off x="179512" y="749580"/>
            <a:ext cx="6967672" cy="35888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dist" eaLnBrk="0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global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将局部变量转化全局变量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便于外界访问函数内部变量</a:t>
            </a:r>
            <a:endParaRPr lang="ko-KR" altLang="en-US" b="1" dirty="0">
              <a:solidFill>
                <a:srgbClr val="0070C0"/>
              </a:solidFill>
              <a:latin typeface="微软雅黑" panose="020B0503020204020204" pitchFamily="34" charset="-122"/>
              <a:ea typeface="隶书" panose="02010509060101010101" pitchFamily="49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3E7D24E-2EBD-486D-A79A-0F1D186E216E}"/>
              </a:ext>
            </a:extLst>
          </p:cNvPr>
          <p:cNvSpPr txBox="1"/>
          <p:nvPr/>
        </p:nvSpPr>
        <p:spPr>
          <a:xfrm>
            <a:off x="4932040" y="2154058"/>
            <a:ext cx="3437402" cy="874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julia&gt; </a:t>
            </a:r>
            <a:r>
              <a:rPr lang="en-US" altLang="zh-CN" dirty="0"/>
              <a:t>v=</a:t>
            </a:r>
            <a:r>
              <a:rPr lang="en-US" altLang="zh-CN" dirty="0" err="1"/>
              <a:t>volu</a:t>
            </a:r>
            <a:r>
              <a:rPr lang="en-US" altLang="zh-CN" dirty="0"/>
              <a:t>(2,3,4)    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00B0F0"/>
                </a:solidFill>
                <a:latin typeface="Consolas" panose="020B0609020204030204" pitchFamily="49" charset="0"/>
              </a:rPr>
              <a:t>#</a:t>
            </a:r>
            <a:r>
              <a:rPr lang="zh-CN" altLang="en-US" b="1" dirty="0">
                <a:solidFill>
                  <a:srgbClr val="00B0F0"/>
                </a:solidFill>
                <a:latin typeface="Consolas" panose="020B0609020204030204" pitchFamily="49" charset="0"/>
              </a:rPr>
              <a:t>结果全局变量体积为</a:t>
            </a:r>
            <a:r>
              <a:rPr lang="en-US" altLang="zh-CN" b="1" dirty="0">
                <a:solidFill>
                  <a:srgbClr val="00B0F0"/>
                </a:solidFill>
                <a:latin typeface="Consolas" panose="020B0609020204030204" pitchFamily="49" charset="0"/>
              </a:rPr>
              <a:t>v</a:t>
            </a:r>
            <a:r>
              <a:rPr lang="zh-CN" altLang="en-US" b="1" dirty="0">
                <a:solidFill>
                  <a:srgbClr val="00B0F0"/>
                </a:solidFill>
                <a:latin typeface="Consolas" panose="020B0609020204030204" pitchFamily="49" charset="0"/>
              </a:rPr>
              <a:t>24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DE260FC-7D64-4D9D-8B78-05420015236D}"/>
              </a:ext>
            </a:extLst>
          </p:cNvPr>
          <p:cNvSpPr txBox="1"/>
          <p:nvPr/>
        </p:nvSpPr>
        <p:spPr>
          <a:xfrm>
            <a:off x="4932040" y="3026005"/>
            <a:ext cx="415346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</a:pPr>
            <a:r>
              <a:rPr lang="zh-CN" altLang="en-US" dirty="0"/>
              <a:t>julia&gt; </a:t>
            </a:r>
            <a:r>
              <a:rPr lang="zh-CN" altLang="en-US" b="1" dirty="0">
                <a:solidFill>
                  <a:srgbClr val="FF0000"/>
                </a:solidFill>
              </a:rPr>
              <a:t>ar</a:t>
            </a:r>
            <a:r>
              <a:rPr lang="en-US" altLang="zh-CN" b="1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调用函数内部变量面积</a:t>
            </a:r>
            <a:r>
              <a:rPr lang="en-US" altLang="zh-CN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ar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</a:t>
            </a:r>
            <a:endParaRPr lang="en-US" altLang="zh-CN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100"/>
              </a:lnSpc>
            </a:pPr>
            <a:r>
              <a:rPr lang="en-US" altLang="zh-CN" b="1" dirty="0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1" dirty="0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结果</a:t>
            </a:r>
            <a:r>
              <a:rPr lang="zh-CN" altLang="en-US" b="1" dirty="0">
                <a:solidFill>
                  <a:srgbClr val="00B0F0"/>
                </a:solidFill>
              </a:rPr>
              <a:t>6</a:t>
            </a:r>
          </a:p>
          <a:p>
            <a:pPr>
              <a:lnSpc>
                <a:spcPts val="2100"/>
              </a:lnSpc>
            </a:pPr>
            <a:r>
              <a:rPr lang="zh-CN" altLang="en-US" dirty="0"/>
              <a:t>julia&gt; </a:t>
            </a:r>
            <a:r>
              <a:rPr lang="zh-CN" altLang="en-US" b="1" dirty="0">
                <a:solidFill>
                  <a:srgbClr val="FF0000"/>
                </a:solidFill>
              </a:rPr>
              <a:t>vol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调用函数内部变量体积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vol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</a:t>
            </a:r>
            <a:endParaRPr lang="en-US" altLang="zh-CN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100"/>
              </a:lnSpc>
            </a:pPr>
            <a:r>
              <a:rPr lang="en-US" altLang="zh-CN" b="1" dirty="0">
                <a:solidFill>
                  <a:srgbClr val="00B0F0"/>
                </a:solidFill>
                <a:latin typeface="Consolas" panose="020B0609020204030204" pitchFamily="49" charset="0"/>
              </a:rPr>
              <a:t>#</a:t>
            </a:r>
            <a:r>
              <a:rPr lang="zh-CN" altLang="en-US" b="1" dirty="0">
                <a:solidFill>
                  <a:srgbClr val="00B0F0"/>
                </a:solidFill>
                <a:latin typeface="Consolas" panose="020B0609020204030204" pitchFamily="49" charset="0"/>
              </a:rPr>
              <a:t>结果24</a:t>
            </a:r>
          </a:p>
        </p:txBody>
      </p:sp>
      <p:sp>
        <p:nvSpPr>
          <p:cNvPr id="10" name="波形 9">
            <a:extLst>
              <a:ext uri="{FF2B5EF4-FFF2-40B4-BE49-F238E27FC236}">
                <a16:creationId xmlns:a16="http://schemas.microsoft.com/office/drawing/2014/main" id="{2FC823AB-03AD-4C76-B9AA-93D563F0FC89}"/>
              </a:ext>
            </a:extLst>
          </p:cNvPr>
          <p:cNvSpPr/>
          <p:nvPr/>
        </p:nvSpPr>
        <p:spPr>
          <a:xfrm>
            <a:off x="184206" y="1209079"/>
            <a:ext cx="913142" cy="340029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例22-2-2</a:t>
            </a:r>
            <a:endParaRPr lang="ko-KR" altLang="en-US" sz="14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A3A4F4F-FB7E-406B-AC7C-3D35A4D1F137}"/>
              </a:ext>
            </a:extLst>
          </p:cNvPr>
          <p:cNvSpPr/>
          <p:nvPr/>
        </p:nvSpPr>
        <p:spPr>
          <a:xfrm>
            <a:off x="1043608" y="1203529"/>
            <a:ext cx="8065765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dist">
              <a:buClr>
                <a:srgbClr val="003B76"/>
              </a:buClr>
            </a:pPr>
            <a:r>
              <a:rPr lang="zh-CN" altLang="en-US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求体积，用</a:t>
            </a:r>
            <a:r>
              <a:rPr lang="en-US" altLang="zh-CN" b="1" dirty="0">
                <a:solidFill>
                  <a:schemeClr val="bg1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global</a:t>
            </a:r>
            <a:r>
              <a:rPr lang="zh-CN" altLang="en-US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将函数中局部变量面积</a:t>
            </a:r>
            <a:r>
              <a:rPr lang="en-US" altLang="zh-CN" b="1" dirty="0" err="1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ar</a:t>
            </a:r>
            <a:r>
              <a:rPr lang="zh-CN" altLang="en-US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和体积</a:t>
            </a:r>
            <a:r>
              <a:rPr lang="en-US" altLang="zh-CN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vol</a:t>
            </a:r>
            <a:r>
              <a:rPr lang="zh-CN" altLang="en-US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转换为全局变量</a:t>
            </a:r>
            <a:endParaRPr lang="en-US" altLang="zh-CN" b="1" dirty="0">
              <a:solidFill>
                <a:schemeClr val="bg1"/>
              </a:solidFill>
              <a:highlight>
                <a:srgbClr val="003B76"/>
              </a:highlight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A6F86-B52B-4D50-8134-7BB92B51DB79}"/>
              </a:ext>
            </a:extLst>
          </p:cNvPr>
          <p:cNvSpPr txBox="1"/>
          <p:nvPr/>
        </p:nvSpPr>
        <p:spPr>
          <a:xfrm>
            <a:off x="179512" y="1774422"/>
            <a:ext cx="4536504" cy="236385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volu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l,w,h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3000"/>
              </a:lnSpc>
            </a:pP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global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面积</a:t>
            </a:r>
            <a:r>
              <a:rPr lang="en-US" altLang="zh-CN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ar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变成全局变量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3000"/>
              </a:lnSpc>
            </a:pPr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global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vol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体积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vol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变成全局变量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3000"/>
              </a:lnSpc>
            </a:pPr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=l*w  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面积</a:t>
            </a:r>
            <a:r>
              <a:rPr lang="en-US" altLang="zh-CN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ar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3000"/>
              </a:lnSpc>
            </a:pP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vol=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*h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体积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vol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3000"/>
              </a:lnSpc>
            </a:pP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F2EAF61-F2CE-455E-AE80-410BBBB57804}"/>
              </a:ext>
            </a:extLst>
          </p:cNvPr>
          <p:cNvSpPr txBox="1"/>
          <p:nvPr/>
        </p:nvSpPr>
        <p:spPr>
          <a:xfrm>
            <a:off x="165091" y="4236954"/>
            <a:ext cx="4022032" cy="3139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90000"/>
              </a:lnSpc>
              <a:defRPr sz="1600" b="1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保存函数文件的名字为函数名</a:t>
            </a:r>
            <a:r>
              <a:rPr lang="en-US" altLang="zh-CN" dirty="0" err="1"/>
              <a:t>volu.jl</a:t>
            </a:r>
            <a:endParaRPr lang="ko-KR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030C708-0CAC-4B1C-818A-0E1DBB47CED5}"/>
              </a:ext>
            </a:extLst>
          </p:cNvPr>
          <p:cNvSpPr txBox="1"/>
          <p:nvPr/>
        </p:nvSpPr>
        <p:spPr>
          <a:xfrm>
            <a:off x="4793021" y="4236954"/>
            <a:ext cx="4450761" cy="3139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90000"/>
              </a:lnSpc>
              <a:defRPr sz="1600" b="1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局部变量</a:t>
            </a:r>
            <a:r>
              <a:rPr lang="en-US" altLang="zh-CN" dirty="0" err="1"/>
              <a:t>ar</a:t>
            </a:r>
            <a:r>
              <a:rPr lang="zh-CN" altLang="en-US" dirty="0"/>
              <a:t>和</a:t>
            </a:r>
            <a:r>
              <a:rPr lang="en-US" altLang="zh-CN" dirty="0"/>
              <a:t>vol</a:t>
            </a:r>
            <a:r>
              <a:rPr lang="zh-CN" altLang="en-US" dirty="0"/>
              <a:t>变全局变量，可以被外部访问</a:t>
            </a:r>
            <a:endParaRPr lang="ko-KR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292023E-3968-4357-A8CB-4181955E97B5}"/>
              </a:ext>
            </a:extLst>
          </p:cNvPr>
          <p:cNvSpPr txBox="1"/>
          <p:nvPr/>
        </p:nvSpPr>
        <p:spPr>
          <a:xfrm>
            <a:off x="4927431" y="1556087"/>
            <a:ext cx="418194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julia&gt; 正在运行 volu.jl </a:t>
            </a:r>
            <a:r>
              <a:rPr lang="en-US" altLang="zh-CN" dirty="0"/>
              <a:t>#</a:t>
            </a:r>
            <a:r>
              <a:rPr lang="zh-CN" altLang="en-US" sz="2000" b="1" dirty="0">
                <a:solidFill>
                  <a:srgbClr val="00B0F0"/>
                </a:solidFill>
              </a:rPr>
              <a:t>volu (generic function with </a:t>
            </a:r>
            <a:r>
              <a:rPr lang="zh-CN" altLang="en-US" b="1" dirty="0">
                <a:solidFill>
                  <a:srgbClr val="FF9966"/>
                </a:solidFill>
              </a:rPr>
              <a:t>1 method</a:t>
            </a:r>
            <a:r>
              <a:rPr lang="zh-CN" altLang="en-US" sz="2000" b="1" dirty="0">
                <a:solidFill>
                  <a:srgbClr val="00B0F0"/>
                </a:solidFill>
              </a:rPr>
              <a:t>)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77D15FC-B0D8-448A-97FB-5DD183EAE78A}"/>
              </a:ext>
            </a:extLst>
          </p:cNvPr>
          <p:cNvSpPr txBox="1"/>
          <p:nvPr/>
        </p:nvSpPr>
        <p:spPr>
          <a:xfrm>
            <a:off x="7236296" y="2232203"/>
            <a:ext cx="15841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dirty="0">
                <a:solidFill>
                  <a:srgbClr val="D57747"/>
                </a:solidFill>
                <a:effectLst/>
                <a:ea typeface="微软雅黑" panose="020B0503020204020204" pitchFamily="34" charset="-122"/>
                <a:cs typeface="Times New Roman" panose="02020603050405020304" pitchFamily="18" charset="0"/>
              </a:rPr>
              <a:t>编程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645219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300BFF2-9054-412A-817B-073273D61DFC}"/>
              </a:ext>
            </a:extLst>
          </p:cNvPr>
          <p:cNvSpPr txBox="1"/>
          <p:nvPr/>
        </p:nvSpPr>
        <p:spPr>
          <a:xfrm>
            <a:off x="772505" y="1038226"/>
            <a:ext cx="2807086" cy="1601016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ts val="3000"/>
              </a:lnSpc>
              <a:defRPr b="0">
                <a:solidFill>
                  <a:srgbClr val="0000FF"/>
                </a:solidFill>
                <a:effectLst/>
                <a:latin typeface="Consolas" panose="020B0609020204030204" pitchFamily="49" charset="0"/>
              </a:defRPr>
            </a:lvl1pPr>
          </a:lstStyle>
          <a:p>
            <a:r>
              <a:rPr lang="en-US" altLang="zh-CN" dirty="0">
                <a:solidFill>
                  <a:srgbClr val="0070C0"/>
                </a:solidFill>
                <a:latin typeface="Arial" charset="0"/>
              </a:rPr>
              <a:t>function </a:t>
            </a:r>
            <a:r>
              <a:rPr lang="en-US" altLang="zh-CN" dirty="0" err="1">
                <a:solidFill>
                  <a:srgbClr val="0070C0"/>
                </a:solidFill>
                <a:latin typeface="Arial" charset="0"/>
              </a:rPr>
              <a:t>volu</a:t>
            </a:r>
            <a:r>
              <a:rPr lang="en-US" altLang="zh-CN" dirty="0">
                <a:solidFill>
                  <a:srgbClr val="0070C0"/>
                </a:solidFill>
                <a:latin typeface="Arial" charset="0"/>
              </a:rPr>
              <a:t>(</a:t>
            </a:r>
            <a:r>
              <a:rPr lang="en-US" altLang="zh-CN" dirty="0" err="1">
                <a:solidFill>
                  <a:srgbClr val="0070C0"/>
                </a:solidFill>
                <a:latin typeface="Arial" charset="0"/>
              </a:rPr>
              <a:t>l,w,h</a:t>
            </a:r>
            <a:r>
              <a:rPr lang="en-US" altLang="zh-CN" dirty="0">
                <a:solidFill>
                  <a:srgbClr val="0070C0"/>
                </a:solidFill>
                <a:latin typeface="Arial" charset="0"/>
              </a:rPr>
              <a:t>)</a:t>
            </a:r>
          </a:p>
          <a:p>
            <a:r>
              <a:rPr lang="en-US" altLang="zh-CN" dirty="0">
                <a:solidFill>
                  <a:srgbClr val="0070C0"/>
                </a:solidFill>
                <a:latin typeface="Arial" charset="0"/>
              </a:rPr>
              <a:t>      </a:t>
            </a:r>
            <a:r>
              <a:rPr lang="en-US" altLang="zh-CN" b="1" dirty="0">
                <a:solidFill>
                  <a:srgbClr val="FF0000"/>
                </a:solidFill>
                <a:latin typeface="Arial" charset="0"/>
              </a:rPr>
              <a:t> return </a:t>
            </a:r>
            <a:r>
              <a:rPr lang="en-US" altLang="zh-CN" dirty="0" err="1">
                <a:solidFill>
                  <a:srgbClr val="0070C0"/>
                </a:solidFill>
                <a:latin typeface="Arial" charset="0"/>
              </a:rPr>
              <a:t>ar</a:t>
            </a:r>
            <a:r>
              <a:rPr lang="en-US" altLang="zh-CN" dirty="0">
                <a:solidFill>
                  <a:srgbClr val="0070C0"/>
                </a:solidFill>
                <a:latin typeface="Arial" charset="0"/>
              </a:rPr>
              <a:t>=l*w #</a:t>
            </a:r>
            <a:r>
              <a:rPr lang="zh-CN" altLang="en-US" dirty="0">
                <a:solidFill>
                  <a:srgbClr val="0070C0"/>
                </a:solidFill>
                <a:latin typeface="Arial" charset="0"/>
              </a:rPr>
              <a:t>面积 </a:t>
            </a:r>
          </a:p>
          <a:p>
            <a:r>
              <a:rPr lang="zh-CN" altLang="en-US" dirty="0">
                <a:solidFill>
                  <a:srgbClr val="0070C0"/>
                </a:solidFill>
                <a:latin typeface="Arial" charset="0"/>
              </a:rPr>
              <a:t>       </a:t>
            </a:r>
            <a:r>
              <a:rPr lang="en-US" altLang="zh-CN" dirty="0">
                <a:solidFill>
                  <a:srgbClr val="0070C0"/>
                </a:solidFill>
                <a:latin typeface="Arial" charset="0"/>
              </a:rPr>
              <a:t>vol=</a:t>
            </a:r>
            <a:r>
              <a:rPr lang="en-US" altLang="zh-CN" dirty="0" err="1">
                <a:solidFill>
                  <a:srgbClr val="0070C0"/>
                </a:solidFill>
                <a:latin typeface="Arial" charset="0"/>
              </a:rPr>
              <a:t>ar</a:t>
            </a:r>
            <a:r>
              <a:rPr lang="en-US" altLang="zh-CN" dirty="0">
                <a:solidFill>
                  <a:srgbClr val="0070C0"/>
                </a:solidFill>
                <a:latin typeface="Arial" charset="0"/>
              </a:rPr>
              <a:t>*h #</a:t>
            </a:r>
            <a:r>
              <a:rPr lang="zh-CN" altLang="en-US" dirty="0">
                <a:solidFill>
                  <a:srgbClr val="0070C0"/>
                </a:solidFill>
                <a:latin typeface="Arial" charset="0"/>
              </a:rPr>
              <a:t>体积</a:t>
            </a:r>
          </a:p>
          <a:p>
            <a:r>
              <a:rPr lang="en-US" altLang="zh-CN" dirty="0">
                <a:solidFill>
                  <a:srgbClr val="0070C0"/>
                </a:solidFill>
                <a:latin typeface="Arial" charset="0"/>
              </a:rPr>
              <a:t>end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D6EDEAA-4F9B-49EA-8F7B-9D4A4E60475A}"/>
              </a:ext>
            </a:extLst>
          </p:cNvPr>
          <p:cNvSpPr txBox="1"/>
          <p:nvPr/>
        </p:nvSpPr>
        <p:spPr>
          <a:xfrm>
            <a:off x="756403" y="728568"/>
            <a:ext cx="8339417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algn="dist">
              <a:buClr>
                <a:srgbClr val="003B76"/>
              </a:buClr>
              <a:defRPr sz="2000" b="1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sz="1600" dirty="0">
                <a:highlight>
                  <a:srgbClr val="FF0000"/>
                </a:highlight>
              </a:rPr>
              <a:t>将</a:t>
            </a:r>
            <a:r>
              <a:rPr lang="en-US" altLang="zh-CN" sz="1600" dirty="0">
                <a:highlight>
                  <a:srgbClr val="FF0000"/>
                </a:highlight>
              </a:rPr>
              <a:t>return</a:t>
            </a:r>
            <a:r>
              <a:rPr lang="zh-CN" altLang="en-US" sz="1600" dirty="0"/>
              <a:t>加在面积表达式前，则运行输出结果为面积，其中</a:t>
            </a:r>
            <a:r>
              <a:rPr lang="en-US" altLang="zh-CN" sz="1600" dirty="0"/>
              <a:t>l=2,w=3,h=4</a:t>
            </a:r>
            <a:r>
              <a:rPr lang="zh-CN" altLang="en-US" sz="1600" dirty="0"/>
              <a:t> 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0E68CED-9321-4BDE-A57F-8827BB00BE3D}"/>
              </a:ext>
            </a:extLst>
          </p:cNvPr>
          <p:cNvSpPr txBox="1"/>
          <p:nvPr/>
        </p:nvSpPr>
        <p:spPr>
          <a:xfrm>
            <a:off x="4584684" y="2188594"/>
            <a:ext cx="28070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70C0"/>
                </a:solidFill>
              </a:rPr>
              <a:t>#</a:t>
            </a:r>
            <a:r>
              <a:rPr lang="zh-CN" altLang="en-US" b="1" dirty="0">
                <a:solidFill>
                  <a:srgbClr val="0070C0"/>
                </a:solidFill>
              </a:rPr>
              <a:t>结果面积</a:t>
            </a:r>
            <a:r>
              <a:rPr lang="en-US" altLang="zh-CN" b="1" dirty="0">
                <a:solidFill>
                  <a:srgbClr val="0070C0"/>
                </a:solidFill>
              </a:rPr>
              <a:t>v=6</a:t>
            </a:r>
            <a:endParaRPr lang="zh-CN" altLang="en-US" b="1" dirty="0">
              <a:solidFill>
                <a:srgbClr val="0070C0"/>
              </a:solidFill>
            </a:endParaRPr>
          </a:p>
        </p:txBody>
      </p:sp>
      <p:sp>
        <p:nvSpPr>
          <p:cNvPr id="8" name="波形 7">
            <a:extLst>
              <a:ext uri="{FF2B5EF4-FFF2-40B4-BE49-F238E27FC236}">
                <a16:creationId xmlns:a16="http://schemas.microsoft.com/office/drawing/2014/main" id="{367F4A57-2700-44A1-9E4F-223A3747DE51}"/>
              </a:ext>
            </a:extLst>
          </p:cNvPr>
          <p:cNvSpPr/>
          <p:nvPr/>
        </p:nvSpPr>
        <p:spPr>
          <a:xfrm>
            <a:off x="-16454" y="736856"/>
            <a:ext cx="798662" cy="397609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例22-2-3</a:t>
            </a:r>
            <a:endParaRPr lang="ko-KR" altLang="en-US" sz="14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00A2560-F963-4F65-97CE-6715868C6B2C}"/>
              </a:ext>
            </a:extLst>
          </p:cNvPr>
          <p:cNvSpPr txBox="1"/>
          <p:nvPr/>
        </p:nvSpPr>
        <p:spPr>
          <a:xfrm>
            <a:off x="869223" y="139849"/>
            <a:ext cx="798606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6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§2.2.2</a:t>
            </a:r>
            <a:r>
              <a:rPr lang="zh-CN" altLang="en-US" sz="26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函数文件作用域</a:t>
            </a:r>
            <a:r>
              <a:rPr lang="en-US" altLang="zh-CN" sz="26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——5. </a:t>
            </a:r>
            <a:r>
              <a:rPr lang="zh-CN" altLang="en-US" sz="26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用</a:t>
            </a:r>
            <a:r>
              <a:rPr lang="en-US" altLang="zh-CN" sz="26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return</a:t>
            </a:r>
            <a:r>
              <a:rPr lang="zh-CN" altLang="en-US" sz="26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运行其后表达式</a:t>
            </a:r>
            <a:endParaRPr lang="en-US" altLang="zh-CN" sz="26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A2E83C6-2786-4783-B13F-B4F6462DA972}"/>
              </a:ext>
            </a:extLst>
          </p:cNvPr>
          <p:cNvSpPr txBox="1"/>
          <p:nvPr/>
        </p:nvSpPr>
        <p:spPr>
          <a:xfrm>
            <a:off x="736402" y="3006125"/>
            <a:ext cx="837941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volu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l,w,h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=l*w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面积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ar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altLang="zh-C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显示面积值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vol=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*h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体积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"vol=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$vol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显示体积值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5CF220D-9458-49BA-A78A-5F3866B8D556}"/>
              </a:ext>
            </a:extLst>
          </p:cNvPr>
          <p:cNvSpPr txBox="1"/>
          <p:nvPr/>
        </p:nvSpPr>
        <p:spPr>
          <a:xfrm>
            <a:off x="798662" y="2676628"/>
            <a:ext cx="8280505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algn="dist">
              <a:buClr>
                <a:srgbClr val="003B76"/>
              </a:buClr>
              <a:defRPr sz="2000" b="1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sz="1600" dirty="0">
                <a:highlight>
                  <a:srgbClr val="FF0000"/>
                </a:highlight>
              </a:rPr>
              <a:t>用</a:t>
            </a:r>
            <a:r>
              <a:rPr lang="en-US" altLang="zh-CN" sz="1600" dirty="0" err="1">
                <a:highlight>
                  <a:srgbClr val="FF0000"/>
                </a:highlight>
              </a:rPr>
              <a:t>println</a:t>
            </a:r>
            <a:r>
              <a:rPr lang="zh-CN" altLang="en-US" sz="1600" dirty="0"/>
              <a:t>显示长方体面积、体积，其中</a:t>
            </a:r>
            <a:r>
              <a:rPr lang="en-US" altLang="zh-CN" sz="1600" dirty="0"/>
              <a:t>l=2,w=3,h=4</a:t>
            </a:r>
            <a:endParaRPr lang="zh-CN" altLang="en-US" sz="16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4917DD9-2D08-4694-A8F6-66A2A91D5790}"/>
              </a:ext>
            </a:extLst>
          </p:cNvPr>
          <p:cNvSpPr txBox="1"/>
          <p:nvPr/>
        </p:nvSpPr>
        <p:spPr>
          <a:xfrm>
            <a:off x="6004559" y="3378029"/>
            <a:ext cx="266429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800" b="1">
                <a:solidFill>
                  <a:srgbClr val="00B0F0"/>
                </a:solidFill>
              </a:defRPr>
            </a:lvl1pPr>
          </a:lstStyle>
          <a:p>
            <a:r>
              <a:rPr lang="zh-CN" altLang="en-US" sz="2000" dirty="0">
                <a:solidFill>
                  <a:srgbClr val="FF0000"/>
                </a:solidFill>
              </a:rPr>
              <a:t>julia&gt; </a:t>
            </a:r>
            <a:r>
              <a:rPr lang="zh-CN" altLang="en-US" dirty="0"/>
              <a:t>volu(2,3,4)</a:t>
            </a:r>
          </a:p>
          <a:p>
            <a:r>
              <a:rPr lang="zh-CN" altLang="en-US" dirty="0"/>
              <a:t>arl=6</a:t>
            </a:r>
          </a:p>
          <a:p>
            <a:r>
              <a:rPr lang="zh-CN" altLang="en-US" dirty="0"/>
              <a:t>vol=24</a:t>
            </a:r>
          </a:p>
        </p:txBody>
      </p:sp>
      <p:sp>
        <p:nvSpPr>
          <p:cNvPr id="19" name="波形 18">
            <a:extLst>
              <a:ext uri="{FF2B5EF4-FFF2-40B4-BE49-F238E27FC236}">
                <a16:creationId xmlns:a16="http://schemas.microsoft.com/office/drawing/2014/main" id="{2617DB2D-B47B-4816-9ED2-B8C3095BDF32}"/>
              </a:ext>
            </a:extLst>
          </p:cNvPr>
          <p:cNvSpPr/>
          <p:nvPr/>
        </p:nvSpPr>
        <p:spPr>
          <a:xfrm>
            <a:off x="-47643" y="2697517"/>
            <a:ext cx="798662" cy="397609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例22-2-4</a:t>
            </a:r>
            <a:endParaRPr lang="ko-KR" altLang="en-US" sz="14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C64ACDB-9E20-4832-874E-8D273497C7C0}"/>
              </a:ext>
            </a:extLst>
          </p:cNvPr>
          <p:cNvSpPr txBox="1"/>
          <p:nvPr/>
        </p:nvSpPr>
        <p:spPr>
          <a:xfrm>
            <a:off x="4584684" y="1791814"/>
            <a:ext cx="24176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julia&gt; v=</a:t>
            </a:r>
            <a:r>
              <a:rPr lang="en-US" altLang="zh-CN" sz="2000" b="1" dirty="0" err="1">
                <a:solidFill>
                  <a:srgbClr val="00B0F0"/>
                </a:solidFill>
              </a:rPr>
              <a:t>volu</a:t>
            </a:r>
            <a:r>
              <a:rPr lang="en-US" altLang="zh-CN" sz="2000" b="1" dirty="0">
                <a:solidFill>
                  <a:srgbClr val="00B0F0"/>
                </a:solidFill>
              </a:rPr>
              <a:t>(2,3,4)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B36D3F4-CEB4-48F2-8C6B-4440D50FF2E1}"/>
              </a:ext>
            </a:extLst>
          </p:cNvPr>
          <p:cNvSpPr txBox="1"/>
          <p:nvPr/>
        </p:nvSpPr>
        <p:spPr>
          <a:xfrm>
            <a:off x="4584684" y="1131590"/>
            <a:ext cx="4494483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julia&gt; </a:t>
            </a:r>
            <a:r>
              <a:rPr lang="zh-CN" altLang="en-US" sz="2000" b="1" dirty="0">
                <a:solidFill>
                  <a:srgbClr val="00B0F0"/>
                </a:solidFill>
              </a:rPr>
              <a:t>正在运行 volu.jl    </a:t>
            </a:r>
            <a:endParaRPr lang="en-US" altLang="zh-CN" sz="2000" b="1" dirty="0">
              <a:solidFill>
                <a:srgbClr val="00B0F0"/>
              </a:solidFill>
            </a:endParaRPr>
          </a:p>
          <a:p>
            <a:r>
              <a:rPr lang="en-US" altLang="zh-CN" dirty="0">
                <a:solidFill>
                  <a:srgbClr val="0070C0"/>
                </a:solidFill>
              </a:rPr>
              <a:t>#</a:t>
            </a:r>
            <a:r>
              <a:rPr lang="zh-CN" altLang="en-US" dirty="0">
                <a:solidFill>
                  <a:srgbClr val="0070C0"/>
                </a:solidFill>
              </a:rPr>
              <a:t>volu (generic function with 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1 method</a:t>
            </a:r>
            <a:r>
              <a:rPr lang="zh-CN" altLang="en-US" dirty="0">
                <a:solidFill>
                  <a:srgbClr val="0070C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461572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CF3A79A4-B075-4B0F-8333-99A123E90F36}"/>
              </a:ext>
            </a:extLst>
          </p:cNvPr>
          <p:cNvSpPr txBox="1"/>
          <p:nvPr/>
        </p:nvSpPr>
        <p:spPr>
          <a:xfrm>
            <a:off x="764864" y="109598"/>
            <a:ext cx="827163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6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§2.2.2  </a:t>
            </a:r>
            <a:r>
              <a:rPr lang="zh-CN" altLang="en-US" sz="26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函数文件</a:t>
            </a:r>
            <a:r>
              <a:rPr lang="en-US" altLang="zh-CN" sz="26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——6.</a:t>
            </a:r>
            <a:r>
              <a:rPr lang="zh-CN" altLang="en-US" sz="26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定义输入参数类型和多重派发</a:t>
            </a:r>
            <a:endParaRPr lang="en-US" altLang="zh-CN" sz="26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B5351F3-7DD7-40CD-9CBF-E362CB8E1068}"/>
              </a:ext>
            </a:extLst>
          </p:cNvPr>
          <p:cNvSpPr txBox="1"/>
          <p:nvPr/>
        </p:nvSpPr>
        <p:spPr>
          <a:xfrm>
            <a:off x="0" y="1718223"/>
            <a:ext cx="5004048" cy="286232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0">
                <a:solidFill>
                  <a:srgbClr val="0000FF"/>
                </a:solidFill>
                <a:effectLst/>
                <a:latin typeface="Consolas" panose="020B0609020204030204" pitchFamily="49" charset="0"/>
              </a:defRPr>
            </a:lvl1pPr>
          </a:lstStyle>
          <a:p>
            <a:pPr>
              <a:lnSpc>
                <a:spcPts val="1800"/>
              </a:lnSpc>
            </a:pPr>
            <a:r>
              <a:rPr lang="en-US" altLang="zh-CN" sz="1500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#</a:t>
            </a:r>
            <a:r>
              <a:rPr lang="zh-CN" altLang="en-US" sz="1500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第</a:t>
            </a:r>
            <a:r>
              <a:rPr lang="en-US" altLang="zh-CN" sz="1500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 sz="1500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方法设置函数末尾输入参数为固定一个输值，如</a:t>
            </a:r>
            <a:r>
              <a:rPr lang="en-US" altLang="zh-CN" sz="1500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h=4</a:t>
            </a:r>
          </a:p>
          <a:p>
            <a:pPr>
              <a:lnSpc>
                <a:spcPts val="1800"/>
              </a:lnSpc>
            </a:pPr>
            <a:r>
              <a:rPr lang="en-US" altLang="zh-CN" sz="1600" dirty="0">
                <a:solidFill>
                  <a:schemeClr val="tx1"/>
                </a:solidFill>
              </a:rPr>
              <a:t>  </a:t>
            </a:r>
            <a:r>
              <a:rPr lang="en-US" altLang="zh-CN" sz="1600" dirty="0" err="1">
                <a:solidFill>
                  <a:schemeClr val="tx1"/>
                </a:solidFill>
              </a:rPr>
              <a:t>julia</a:t>
            </a:r>
            <a:r>
              <a:rPr lang="en-US" altLang="zh-CN" sz="1600" dirty="0">
                <a:solidFill>
                  <a:schemeClr val="tx1"/>
                </a:solidFill>
              </a:rPr>
              <a:t>&gt; function </a:t>
            </a:r>
            <a:r>
              <a:rPr lang="en-US" altLang="zh-CN" sz="1600" dirty="0" err="1">
                <a:solidFill>
                  <a:schemeClr val="tx1"/>
                </a:solidFill>
              </a:rPr>
              <a:t>volui</a:t>
            </a:r>
            <a:r>
              <a:rPr lang="en-US" altLang="zh-CN" sz="1600" dirty="0">
                <a:solidFill>
                  <a:schemeClr val="tx1"/>
                </a:solidFill>
              </a:rPr>
              <a:t>(</a:t>
            </a:r>
            <a:r>
              <a:rPr lang="en-US" altLang="zh-CN" sz="1600" dirty="0" err="1">
                <a:solidFill>
                  <a:schemeClr val="tx1"/>
                </a:solidFill>
              </a:rPr>
              <a:t>l,w,h</a:t>
            </a:r>
            <a:r>
              <a:rPr lang="en-US" altLang="zh-CN" sz="1600" dirty="0">
                <a:solidFill>
                  <a:schemeClr val="tx1"/>
                </a:solidFill>
              </a:rPr>
              <a:t>=4)::Int8       </a:t>
            </a:r>
          </a:p>
          <a:p>
            <a:pPr>
              <a:lnSpc>
                <a:spcPts val="1800"/>
              </a:lnSpc>
            </a:pPr>
            <a:r>
              <a:rPr lang="en-US" altLang="zh-CN" sz="1600" dirty="0">
                <a:solidFill>
                  <a:schemeClr val="tx1"/>
                </a:solidFill>
              </a:rPr>
              <a:t>               </a:t>
            </a:r>
            <a:r>
              <a:rPr lang="en-US" altLang="zh-CN" sz="1600" dirty="0" err="1">
                <a:solidFill>
                  <a:schemeClr val="tx1"/>
                </a:solidFill>
              </a:rPr>
              <a:t>ar</a:t>
            </a:r>
            <a:r>
              <a:rPr lang="en-US" altLang="zh-CN" sz="1600" dirty="0">
                <a:solidFill>
                  <a:schemeClr val="tx1"/>
                </a:solidFill>
              </a:rPr>
              <a:t>=l*w  #</a:t>
            </a:r>
            <a:r>
              <a:rPr lang="zh-CN" altLang="en-US" sz="1600" dirty="0">
                <a:solidFill>
                  <a:schemeClr val="tx1"/>
                </a:solidFill>
              </a:rPr>
              <a:t>面积</a:t>
            </a:r>
            <a:r>
              <a:rPr lang="en-US" altLang="zh-CN" sz="1600" dirty="0" err="1">
                <a:solidFill>
                  <a:schemeClr val="tx1"/>
                </a:solidFill>
              </a:rPr>
              <a:t>ar</a:t>
            </a:r>
            <a:endParaRPr lang="en-US" altLang="zh-CN" sz="1600" dirty="0">
              <a:solidFill>
                <a:schemeClr val="tx1"/>
              </a:solidFill>
            </a:endParaRPr>
          </a:p>
          <a:p>
            <a:pPr>
              <a:lnSpc>
                <a:spcPts val="1800"/>
              </a:lnSpc>
            </a:pPr>
            <a:r>
              <a:rPr lang="en-US" altLang="zh-CN" sz="1600" dirty="0">
                <a:solidFill>
                  <a:schemeClr val="tx1"/>
                </a:solidFill>
              </a:rPr>
              <a:t>               vol=</a:t>
            </a:r>
            <a:r>
              <a:rPr lang="en-US" altLang="zh-CN" sz="1600" dirty="0" err="1">
                <a:solidFill>
                  <a:schemeClr val="tx1"/>
                </a:solidFill>
              </a:rPr>
              <a:t>ar</a:t>
            </a:r>
            <a:r>
              <a:rPr lang="en-US" altLang="zh-CN" sz="1600" dirty="0">
                <a:solidFill>
                  <a:schemeClr val="tx1"/>
                </a:solidFill>
              </a:rPr>
              <a:t>*h #</a:t>
            </a:r>
            <a:r>
              <a:rPr lang="zh-CN" altLang="en-US" sz="1600" dirty="0">
                <a:solidFill>
                  <a:schemeClr val="tx1"/>
                </a:solidFill>
              </a:rPr>
              <a:t>体积</a:t>
            </a:r>
            <a:r>
              <a:rPr lang="en-US" altLang="zh-CN" sz="1600" dirty="0">
                <a:solidFill>
                  <a:schemeClr val="tx1"/>
                </a:solidFill>
              </a:rPr>
              <a:t>vol</a:t>
            </a:r>
          </a:p>
          <a:p>
            <a:pPr>
              <a:lnSpc>
                <a:spcPts val="1800"/>
              </a:lnSpc>
            </a:pPr>
            <a:r>
              <a:rPr lang="en-US" altLang="zh-CN" sz="1600" dirty="0">
                <a:solidFill>
                  <a:schemeClr val="tx1"/>
                </a:solidFill>
              </a:rPr>
              <a:t>       end</a:t>
            </a:r>
          </a:p>
          <a:p>
            <a:pPr>
              <a:lnSpc>
                <a:spcPts val="1800"/>
              </a:lnSpc>
            </a:pPr>
            <a:r>
              <a:rPr lang="en-US" altLang="zh-CN" sz="1600" b="1" dirty="0">
                <a:solidFill>
                  <a:srgbClr val="00B0F0"/>
                </a:solidFill>
              </a:rPr>
              <a:t>#</a:t>
            </a:r>
            <a:r>
              <a:rPr lang="zh-CN" altLang="en-US" sz="1600" b="1" dirty="0">
                <a:solidFill>
                  <a:srgbClr val="00B0F0"/>
                </a:solidFill>
              </a:rPr>
              <a:t>结果</a:t>
            </a:r>
            <a:r>
              <a:rPr lang="en-US" altLang="zh-CN" sz="1600" b="1" dirty="0" err="1">
                <a:solidFill>
                  <a:srgbClr val="00B0F0"/>
                </a:solidFill>
              </a:rPr>
              <a:t>volui</a:t>
            </a:r>
            <a:r>
              <a:rPr lang="en-US" altLang="zh-CN" sz="1600" b="1" dirty="0">
                <a:solidFill>
                  <a:srgbClr val="00B0F0"/>
                </a:solidFill>
              </a:rPr>
              <a:t> (generic function with 1 method)</a:t>
            </a:r>
          </a:p>
          <a:p>
            <a:pPr>
              <a:lnSpc>
                <a:spcPts val="1800"/>
              </a:lnSpc>
            </a:pPr>
            <a:r>
              <a:rPr lang="en-US" altLang="zh-CN" sz="1400" b="1" dirty="0">
                <a:solidFill>
                  <a:schemeClr val="bg1"/>
                </a:solidFill>
                <a:highlight>
                  <a:srgbClr val="003B76"/>
                </a:highlight>
              </a:rPr>
              <a:t>#</a:t>
            </a:r>
            <a:r>
              <a:rPr lang="zh-CN" altLang="en-US" sz="1400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第</a:t>
            </a:r>
            <a:r>
              <a:rPr lang="en-US" altLang="zh-CN" sz="1400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zh-CN" altLang="en-US" sz="1400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种方法设置</a:t>
            </a:r>
            <a:r>
              <a:rPr lang="en-US" altLang="zh-CN" sz="1400" b="1" dirty="0" err="1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volui</a:t>
            </a:r>
            <a:r>
              <a:rPr lang="zh-CN" altLang="en-US" sz="1400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：：</a:t>
            </a:r>
            <a:r>
              <a:rPr lang="en-US" altLang="zh-CN" sz="1400" b="1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Int64</a:t>
            </a:r>
            <a:endParaRPr lang="en-US" altLang="zh-CN" sz="1400" dirty="0">
              <a:solidFill>
                <a:schemeClr val="tx1"/>
              </a:solidFill>
            </a:endParaRPr>
          </a:p>
          <a:p>
            <a:pPr>
              <a:lnSpc>
                <a:spcPts val="1800"/>
              </a:lnSpc>
            </a:pPr>
            <a:r>
              <a:rPr lang="en-US" altLang="zh-CN" sz="1400" dirty="0" err="1">
                <a:solidFill>
                  <a:schemeClr val="tx1"/>
                </a:solidFill>
              </a:rPr>
              <a:t>julia</a:t>
            </a:r>
            <a:r>
              <a:rPr lang="en-US" altLang="zh-CN" sz="1400" dirty="0">
                <a:solidFill>
                  <a:schemeClr val="tx1"/>
                </a:solidFill>
              </a:rPr>
              <a:t>&gt; function </a:t>
            </a:r>
            <a:r>
              <a:rPr lang="en-US" altLang="zh-CN" sz="1400" dirty="0" err="1">
                <a:solidFill>
                  <a:schemeClr val="tx1"/>
                </a:solidFill>
              </a:rPr>
              <a:t>volui</a:t>
            </a:r>
            <a:r>
              <a:rPr lang="en-US" altLang="zh-CN" sz="1400" dirty="0">
                <a:solidFill>
                  <a:schemeClr val="tx1"/>
                </a:solidFill>
              </a:rPr>
              <a:t>(</a:t>
            </a:r>
            <a:r>
              <a:rPr lang="en-US" altLang="zh-CN" sz="1400" dirty="0" err="1">
                <a:solidFill>
                  <a:schemeClr val="tx1"/>
                </a:solidFill>
              </a:rPr>
              <a:t>l,w,h</a:t>
            </a:r>
            <a:r>
              <a:rPr lang="en-US" altLang="zh-CN" sz="1400" dirty="0">
                <a:solidFill>
                  <a:schemeClr val="tx1"/>
                </a:solidFill>
              </a:rPr>
              <a:t>)::Int64</a:t>
            </a:r>
          </a:p>
          <a:p>
            <a:pPr>
              <a:lnSpc>
                <a:spcPts val="1800"/>
              </a:lnSpc>
            </a:pPr>
            <a:r>
              <a:rPr lang="en-US" altLang="zh-CN" sz="1400" dirty="0">
                <a:solidFill>
                  <a:schemeClr val="tx1"/>
                </a:solidFill>
              </a:rPr>
              <a:t>           </a:t>
            </a:r>
            <a:r>
              <a:rPr lang="en-US" altLang="zh-CN" sz="1400" dirty="0" err="1">
                <a:solidFill>
                  <a:schemeClr val="tx1"/>
                </a:solidFill>
              </a:rPr>
              <a:t>ar</a:t>
            </a:r>
            <a:r>
              <a:rPr lang="en-US" altLang="zh-CN" sz="1400" dirty="0">
                <a:solidFill>
                  <a:schemeClr val="tx1"/>
                </a:solidFill>
              </a:rPr>
              <a:t>=l*w  #</a:t>
            </a:r>
            <a:r>
              <a:rPr lang="zh-CN" altLang="en-US" sz="1400" dirty="0">
                <a:solidFill>
                  <a:schemeClr val="tx1"/>
                </a:solidFill>
              </a:rPr>
              <a:t>面积</a:t>
            </a:r>
            <a:r>
              <a:rPr lang="en-US" altLang="zh-CN" sz="1400" dirty="0" err="1">
                <a:solidFill>
                  <a:schemeClr val="tx1"/>
                </a:solidFill>
              </a:rPr>
              <a:t>ar</a:t>
            </a:r>
            <a:endParaRPr lang="en-US" altLang="zh-CN" sz="1400" dirty="0">
              <a:solidFill>
                <a:schemeClr val="tx1"/>
              </a:solidFill>
            </a:endParaRPr>
          </a:p>
          <a:p>
            <a:pPr>
              <a:lnSpc>
                <a:spcPts val="1800"/>
              </a:lnSpc>
            </a:pPr>
            <a:r>
              <a:rPr lang="en-US" altLang="zh-CN" sz="1400" dirty="0">
                <a:solidFill>
                  <a:schemeClr val="tx1"/>
                </a:solidFill>
              </a:rPr>
              <a:t>           vol=</a:t>
            </a:r>
            <a:r>
              <a:rPr lang="en-US" altLang="zh-CN" sz="1400" dirty="0" err="1">
                <a:solidFill>
                  <a:schemeClr val="tx1"/>
                </a:solidFill>
              </a:rPr>
              <a:t>ar</a:t>
            </a:r>
            <a:r>
              <a:rPr lang="en-US" altLang="zh-CN" sz="1400" dirty="0">
                <a:solidFill>
                  <a:schemeClr val="tx1"/>
                </a:solidFill>
              </a:rPr>
              <a:t>*h #</a:t>
            </a:r>
            <a:r>
              <a:rPr lang="zh-CN" altLang="en-US" sz="1400" dirty="0">
                <a:solidFill>
                  <a:schemeClr val="tx1"/>
                </a:solidFill>
              </a:rPr>
              <a:t>体积</a:t>
            </a:r>
            <a:r>
              <a:rPr lang="en-US" altLang="zh-CN" sz="1400" dirty="0">
                <a:solidFill>
                  <a:schemeClr val="tx1"/>
                </a:solidFill>
              </a:rPr>
              <a:t>vol</a:t>
            </a:r>
          </a:p>
          <a:p>
            <a:pPr>
              <a:lnSpc>
                <a:spcPts val="1800"/>
              </a:lnSpc>
            </a:pPr>
            <a:r>
              <a:rPr lang="en-US" altLang="zh-CN" sz="1400" dirty="0">
                <a:solidFill>
                  <a:schemeClr val="tx1"/>
                </a:solidFill>
              </a:rPr>
              <a:t>       end</a:t>
            </a:r>
            <a:endParaRPr lang="en-US" altLang="zh-CN" sz="1500" b="1" dirty="0">
              <a:solidFill>
                <a:schemeClr val="bg1"/>
              </a:solidFill>
              <a:highlight>
                <a:srgbClr val="FF0000"/>
              </a:highlight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ts val="1800"/>
              </a:lnSpc>
            </a:pPr>
            <a:r>
              <a:rPr lang="en-US" altLang="zh-CN" sz="1600" b="1" dirty="0">
                <a:solidFill>
                  <a:srgbClr val="00B0F0"/>
                </a:solidFill>
              </a:rPr>
              <a:t>#</a:t>
            </a:r>
            <a:r>
              <a:rPr lang="zh-CN" altLang="en-US" sz="1600" b="1" dirty="0">
                <a:solidFill>
                  <a:srgbClr val="00B0F0"/>
                </a:solidFill>
              </a:rPr>
              <a:t>结果</a:t>
            </a:r>
            <a:r>
              <a:rPr lang="en-US" altLang="zh-CN" sz="1600" b="1" dirty="0" err="1">
                <a:solidFill>
                  <a:srgbClr val="00B0F0"/>
                </a:solidFill>
              </a:rPr>
              <a:t>volui</a:t>
            </a:r>
            <a:r>
              <a:rPr lang="en-US" altLang="zh-CN" sz="1600" b="1" dirty="0">
                <a:solidFill>
                  <a:srgbClr val="00B0F0"/>
                </a:solidFill>
              </a:rPr>
              <a:t> (generic function with 2 methods) </a:t>
            </a:r>
            <a:r>
              <a:rPr lang="en-US" altLang="zh-CN" sz="1600" dirty="0">
                <a:solidFill>
                  <a:srgbClr val="00B0F0"/>
                </a:solidFill>
              </a:rPr>
              <a:t>    </a:t>
            </a:r>
          </a:p>
        </p:txBody>
      </p:sp>
      <p:sp>
        <p:nvSpPr>
          <p:cNvPr id="8" name="波形 7">
            <a:extLst>
              <a:ext uri="{FF2B5EF4-FFF2-40B4-BE49-F238E27FC236}">
                <a16:creationId xmlns:a16="http://schemas.microsoft.com/office/drawing/2014/main" id="{ACC4B377-DD2A-4B03-B24F-4FB25CC0FF44}"/>
              </a:ext>
            </a:extLst>
          </p:cNvPr>
          <p:cNvSpPr/>
          <p:nvPr/>
        </p:nvSpPr>
        <p:spPr>
          <a:xfrm>
            <a:off x="88725" y="1333651"/>
            <a:ext cx="946548" cy="392864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例22-2-5</a:t>
            </a:r>
            <a:endParaRPr lang="ko-KR" altLang="en-US" sz="14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9B39E8F-33DF-4E3A-B620-CDD2BB791333}"/>
              </a:ext>
            </a:extLst>
          </p:cNvPr>
          <p:cNvSpPr txBox="1"/>
          <p:nvPr/>
        </p:nvSpPr>
        <p:spPr>
          <a:xfrm>
            <a:off x="0" y="1035090"/>
            <a:ext cx="9144000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dist"/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多重派发：</a:t>
            </a:r>
            <a:r>
              <a:rPr lang="en-US" altLang="zh-CN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Julia</a:t>
            </a: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核心编程风格，函数由多个方法共同定义，根据</a:t>
            </a:r>
            <a:r>
              <a:rPr lang="zh-CN" altLang="en-US" sz="1600" b="1" i="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变量具体类型选择相应方法</a:t>
            </a: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调用</a:t>
            </a:r>
            <a:endParaRPr lang="en-US" altLang="zh-CN" sz="16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AA74DFF-2BCF-4484-8306-E4BDF17BD3FE}"/>
              </a:ext>
            </a:extLst>
          </p:cNvPr>
          <p:cNvSpPr txBox="1"/>
          <p:nvPr/>
        </p:nvSpPr>
        <p:spPr>
          <a:xfrm>
            <a:off x="88726" y="712618"/>
            <a:ext cx="8947770" cy="307777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algn="dist">
              <a:buClr>
                <a:srgbClr val="003B76"/>
              </a:buClr>
              <a:defRPr sz="2000" b="1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en-US" altLang="zh-CN" sz="1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Julia</a:t>
            </a:r>
            <a:r>
              <a:rPr lang="zh-CN" altLang="en-US" sz="1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用</a:t>
            </a:r>
            <a:r>
              <a:rPr lang="en-US" altLang="zh-CN" sz="1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::</a:t>
            </a:r>
            <a:r>
              <a:rPr lang="zh-CN" altLang="en-US" sz="1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只能定义函数文件中局部变量</a:t>
            </a:r>
            <a:r>
              <a:rPr lang="zh-CN" altLang="en-US" sz="1400" dirty="0"/>
              <a:t>和函数的</a:t>
            </a:r>
            <a:r>
              <a:rPr lang="zh-CN" altLang="en-US" sz="1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类型，</a:t>
            </a:r>
            <a:r>
              <a:rPr lang="en-US" altLang="zh-CN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dirty="0" err="1"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funname</a:t>
            </a:r>
            <a:r>
              <a:rPr lang="en-US" altLang="zh-CN" sz="1400" dirty="0"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 (</a:t>
            </a:r>
            <a:r>
              <a:rPr lang="en-US" altLang="zh-CN" sz="1400" dirty="0" err="1"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args</a:t>
            </a:r>
            <a:r>
              <a:rPr lang="en-US" altLang="zh-CN" sz="1400" dirty="0"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):: Type</a:t>
            </a:r>
            <a:r>
              <a:rPr lang="zh-CN" altLang="en-US" sz="1400" dirty="0"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，或</a:t>
            </a:r>
            <a:r>
              <a:rPr lang="en-US" altLang="zh-CN" sz="1400" dirty="0" err="1"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arg</a:t>
            </a:r>
            <a:r>
              <a:rPr lang="en-US" altLang="zh-CN" sz="1400" dirty="0"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::Type</a:t>
            </a:r>
            <a:endParaRPr lang="zh-CN" altLang="en-US" sz="1400" dirty="0">
              <a:highlight>
                <a:srgbClr val="FF0000"/>
              </a:highlight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1EB0709-4D7F-4D61-87C4-53D97E8A0C53}"/>
              </a:ext>
            </a:extLst>
          </p:cNvPr>
          <p:cNvSpPr txBox="1"/>
          <p:nvPr/>
        </p:nvSpPr>
        <p:spPr>
          <a:xfrm>
            <a:off x="1088421" y="1350692"/>
            <a:ext cx="8055579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algn="dist">
              <a:defRPr sz="16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/>
            <a:r>
              <a:rPr lang="zh-CN" altLang="en-US" dirty="0">
                <a:solidFill>
                  <a:srgbClr val="00B0F0"/>
                </a:solidFill>
              </a:rPr>
              <a:t>创建</a:t>
            </a:r>
            <a:r>
              <a:rPr lang="en-US" altLang="zh-CN" dirty="0" err="1">
                <a:solidFill>
                  <a:srgbClr val="00B0F0"/>
                </a:solidFill>
              </a:rPr>
              <a:t>volui</a:t>
            </a:r>
            <a:r>
              <a:rPr lang="zh-CN" altLang="en-US" dirty="0">
                <a:solidFill>
                  <a:srgbClr val="00B0F0"/>
                </a:solidFill>
              </a:rPr>
              <a:t>函数，派生两种方法，第</a:t>
            </a:r>
            <a:r>
              <a:rPr lang="en-US" altLang="zh-CN" dirty="0">
                <a:solidFill>
                  <a:srgbClr val="00B0F0"/>
                </a:solidFill>
              </a:rPr>
              <a:t>1</a:t>
            </a:r>
            <a:r>
              <a:rPr lang="zh-CN" altLang="en-US" dirty="0">
                <a:solidFill>
                  <a:srgbClr val="00B0F0"/>
                </a:solidFill>
              </a:rPr>
              <a:t>method为</a:t>
            </a:r>
            <a:r>
              <a:rPr lang="en-US" altLang="zh-CN" dirty="0">
                <a:solidFill>
                  <a:srgbClr val="00B0F0"/>
                </a:solidFill>
              </a:rPr>
              <a:t>Int8</a:t>
            </a:r>
            <a:r>
              <a:rPr lang="zh-CN" altLang="en-US" dirty="0">
                <a:solidFill>
                  <a:srgbClr val="00B0F0"/>
                </a:solidFill>
              </a:rPr>
              <a:t>；第</a:t>
            </a:r>
            <a:r>
              <a:rPr lang="en-US" altLang="zh-CN" dirty="0">
                <a:solidFill>
                  <a:srgbClr val="00B0F0"/>
                </a:solidFill>
              </a:rPr>
              <a:t>2</a:t>
            </a:r>
            <a:r>
              <a:rPr lang="zh-CN" altLang="en-US" dirty="0">
                <a:solidFill>
                  <a:srgbClr val="00B0F0"/>
                </a:solidFill>
              </a:rPr>
              <a:t>methods为</a:t>
            </a:r>
            <a:r>
              <a:rPr lang="en-US" altLang="zh-CN" dirty="0">
                <a:solidFill>
                  <a:srgbClr val="00B0F0"/>
                </a:solidFill>
              </a:rPr>
              <a:t>h=4, </a:t>
            </a:r>
            <a:r>
              <a:rPr lang="zh-CN" altLang="en-US" dirty="0">
                <a:solidFill>
                  <a:srgbClr val="00B0F0"/>
                </a:solidFill>
              </a:rPr>
              <a:t>整数</a:t>
            </a:r>
            <a:r>
              <a:rPr lang="en-US" altLang="zh-CN" dirty="0">
                <a:solidFill>
                  <a:srgbClr val="00B0F0"/>
                </a:solidFill>
              </a:rPr>
              <a:t>Int64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F8E0116-8AF7-4606-9A8E-4896B7141081}"/>
              </a:ext>
            </a:extLst>
          </p:cNvPr>
          <p:cNvSpPr txBox="1"/>
          <p:nvPr/>
        </p:nvSpPr>
        <p:spPr>
          <a:xfrm>
            <a:off x="5004048" y="1681669"/>
            <a:ext cx="4051227" cy="292663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</a:pPr>
            <a:r>
              <a:rPr lang="en-US" altLang="zh-CN" sz="1500" b="1" dirty="0">
                <a:solidFill>
                  <a:schemeClr val="bg1"/>
                </a:solidFill>
                <a:highlight>
                  <a:srgbClr val="003B76"/>
                </a:highlight>
                <a:latin typeface="Consolas" panose="020B0609020204030204" pitchFamily="49" charset="0"/>
              </a:rPr>
              <a:t>#</a:t>
            </a:r>
            <a:r>
              <a:rPr lang="zh-CN" altLang="en-US" sz="1500" b="1" dirty="0">
                <a:solidFill>
                  <a:schemeClr val="bg1"/>
                </a:solidFill>
                <a:highlight>
                  <a:srgbClr val="003B76"/>
                </a:highlight>
                <a:latin typeface="Consolas" panose="020B0609020204030204" pitchFamily="49" charset="0"/>
              </a:rPr>
              <a:t>调用</a:t>
            </a:r>
            <a:r>
              <a:rPr lang="en-US" altLang="zh-CN" sz="1500" b="1" dirty="0" err="1">
                <a:solidFill>
                  <a:schemeClr val="bg1"/>
                </a:solidFill>
                <a:highlight>
                  <a:srgbClr val="003B76"/>
                </a:highlight>
                <a:latin typeface="Consolas" panose="020B0609020204030204" pitchFamily="49" charset="0"/>
              </a:rPr>
              <a:t>volui</a:t>
            </a:r>
            <a:r>
              <a:rPr lang="zh-CN" altLang="en-US" sz="1500" b="1" dirty="0">
                <a:solidFill>
                  <a:schemeClr val="bg1"/>
                </a:solidFill>
                <a:highlight>
                  <a:srgbClr val="003B76"/>
                </a:highlight>
                <a:latin typeface="Consolas" panose="020B0609020204030204" pitchFamily="49" charset="0"/>
              </a:rPr>
              <a:t>不同变量数据类型选择</a:t>
            </a:r>
            <a:r>
              <a:rPr lang="zh-CN" altLang="en-US" sz="1500" b="1" dirty="0">
                <a:solidFill>
                  <a:schemeClr val="bg1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相应方法</a:t>
            </a:r>
            <a:endParaRPr lang="en-US" altLang="zh-CN" sz="1500" b="1" dirty="0">
              <a:solidFill>
                <a:schemeClr val="bg1"/>
              </a:solidFill>
              <a:highlight>
                <a:srgbClr val="FF0000"/>
              </a:highlight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ts val="2800"/>
              </a:lnSpc>
            </a:pPr>
            <a:r>
              <a:rPr lang="zh-CN" altLang="en-US" sz="1600" dirty="0"/>
              <a:t>调用函数</a:t>
            </a:r>
            <a:r>
              <a:rPr lang="en-US" altLang="zh-CN" sz="1600" dirty="0" err="1"/>
              <a:t>volui</a:t>
            </a:r>
            <a:r>
              <a:rPr lang="zh-CN" altLang="en-US" sz="1600" dirty="0"/>
              <a:t>，计算长</a:t>
            </a:r>
            <a:r>
              <a:rPr lang="en-US" altLang="zh-CN" sz="1600" dirty="0"/>
              <a:t>2</a:t>
            </a:r>
            <a:r>
              <a:rPr lang="zh-CN" altLang="en-US" sz="1600" dirty="0"/>
              <a:t>宽</a:t>
            </a:r>
            <a:r>
              <a:rPr lang="en-US" altLang="zh-CN" sz="1600" dirty="0"/>
              <a:t>3</a:t>
            </a:r>
            <a:r>
              <a:rPr lang="zh-CN" altLang="en-US" sz="1600" dirty="0"/>
              <a:t>高</a:t>
            </a:r>
            <a:r>
              <a:rPr lang="en-US" altLang="zh-CN" sz="1600" dirty="0"/>
              <a:t>4</a:t>
            </a:r>
            <a:r>
              <a:rPr lang="zh-CN" altLang="en-US" sz="1600" dirty="0"/>
              <a:t>时体积</a:t>
            </a:r>
            <a:endParaRPr lang="en-US" altLang="zh-CN" sz="1600" dirty="0"/>
          </a:p>
          <a:p>
            <a:pPr>
              <a:lnSpc>
                <a:spcPts val="2800"/>
              </a:lnSpc>
            </a:pPr>
            <a:r>
              <a:rPr lang="zh-CN" altLang="en-US" sz="1600" dirty="0">
                <a:solidFill>
                  <a:srgbClr val="00B0F0"/>
                </a:solidFill>
              </a:rPr>
              <a:t>julia&gt; vi=volui(2,3)   </a:t>
            </a:r>
            <a:r>
              <a:rPr lang="en-US" altLang="zh-CN" sz="1600" dirty="0">
                <a:solidFill>
                  <a:srgbClr val="00B0F0"/>
                </a:solidFill>
              </a:rPr>
              <a:t>#</a:t>
            </a:r>
            <a:r>
              <a:rPr lang="zh-CN" altLang="en-US" sz="1600" dirty="0">
                <a:solidFill>
                  <a:srgbClr val="00B0F0"/>
                </a:solidFill>
              </a:rPr>
              <a:t>结果</a:t>
            </a:r>
            <a:r>
              <a:rPr lang="en-US" altLang="zh-CN" sz="1600" dirty="0">
                <a:solidFill>
                  <a:srgbClr val="00B0F0"/>
                </a:solidFill>
              </a:rPr>
              <a:t>24</a:t>
            </a:r>
          </a:p>
          <a:p>
            <a:pPr>
              <a:lnSpc>
                <a:spcPts val="2800"/>
              </a:lnSpc>
            </a:pPr>
            <a:r>
              <a:rPr lang="zh-CN" altLang="en-US" sz="1600" dirty="0"/>
              <a:t>调用函数</a:t>
            </a:r>
            <a:r>
              <a:rPr lang="en-US" altLang="zh-CN" sz="1600" dirty="0" err="1"/>
              <a:t>volui</a:t>
            </a:r>
            <a:r>
              <a:rPr lang="zh-CN" altLang="en-US" sz="1600" dirty="0"/>
              <a:t>，计算长</a:t>
            </a:r>
            <a:r>
              <a:rPr lang="en-US" altLang="zh-CN" sz="1600" dirty="0"/>
              <a:t>2</a:t>
            </a:r>
            <a:r>
              <a:rPr lang="zh-CN" altLang="en-US" sz="1600" dirty="0"/>
              <a:t>宽</a:t>
            </a:r>
            <a:r>
              <a:rPr lang="en-US" altLang="zh-CN" sz="1600" dirty="0"/>
              <a:t>3</a:t>
            </a:r>
            <a:r>
              <a:rPr lang="zh-CN" altLang="en-US" sz="1600" dirty="0"/>
              <a:t>高</a:t>
            </a:r>
            <a:r>
              <a:rPr lang="en-US" altLang="zh-CN" sz="1600" dirty="0"/>
              <a:t>6</a:t>
            </a:r>
            <a:r>
              <a:rPr lang="zh-CN" altLang="en-US" sz="1600" dirty="0"/>
              <a:t>时体积</a:t>
            </a:r>
            <a:endParaRPr lang="en-US" altLang="zh-CN" sz="1600" dirty="0"/>
          </a:p>
          <a:p>
            <a:pPr>
              <a:lnSpc>
                <a:spcPts val="2800"/>
              </a:lnSpc>
            </a:pPr>
            <a:r>
              <a:rPr lang="zh-CN" altLang="en-US" sz="1600" dirty="0">
                <a:solidFill>
                  <a:srgbClr val="00B0F0"/>
                </a:solidFill>
              </a:rPr>
              <a:t>julia&gt; vi=volui(2,3,6)   </a:t>
            </a:r>
            <a:r>
              <a:rPr lang="en-US" altLang="zh-CN" sz="1600" dirty="0">
                <a:solidFill>
                  <a:srgbClr val="00B0F0"/>
                </a:solidFill>
              </a:rPr>
              <a:t>#</a:t>
            </a:r>
            <a:r>
              <a:rPr lang="zh-CN" altLang="en-US" sz="1600" dirty="0">
                <a:solidFill>
                  <a:srgbClr val="00B0F0"/>
                </a:solidFill>
              </a:rPr>
              <a:t>结果36</a:t>
            </a:r>
            <a:endParaRPr lang="en-US" altLang="zh-CN" sz="1600" dirty="0">
              <a:solidFill>
                <a:srgbClr val="00B0F0"/>
              </a:solidFill>
            </a:endParaRPr>
          </a:p>
          <a:p>
            <a:pPr>
              <a:lnSpc>
                <a:spcPts val="2800"/>
              </a:lnSpc>
            </a:pPr>
            <a:r>
              <a:rPr lang="zh-CN" altLang="en-US" sz="1600" dirty="0"/>
              <a:t>调用函数</a:t>
            </a:r>
            <a:r>
              <a:rPr lang="en-US" altLang="zh-CN" sz="1600" dirty="0" err="1"/>
              <a:t>volui</a:t>
            </a:r>
            <a:r>
              <a:rPr lang="zh-CN" altLang="en-US" sz="1600" dirty="0"/>
              <a:t>，计算长</a:t>
            </a:r>
            <a:r>
              <a:rPr lang="en-US" altLang="zh-CN" sz="1600" dirty="0"/>
              <a:t>2.</a:t>
            </a:r>
            <a:r>
              <a:rPr lang="zh-CN" altLang="en-US" sz="1600" dirty="0"/>
              <a:t>宽</a:t>
            </a:r>
            <a:r>
              <a:rPr lang="en-US" altLang="zh-CN" sz="1600" dirty="0"/>
              <a:t>3 </a:t>
            </a:r>
            <a:r>
              <a:rPr lang="zh-CN" altLang="en-US" sz="1600" dirty="0"/>
              <a:t>高</a:t>
            </a:r>
            <a:r>
              <a:rPr lang="en-US" altLang="zh-CN" sz="1600" dirty="0"/>
              <a:t>6.3 </a:t>
            </a:r>
            <a:r>
              <a:rPr lang="zh-CN" altLang="en-US" sz="1600" dirty="0"/>
              <a:t>时体积</a:t>
            </a:r>
            <a:endParaRPr lang="en-US" altLang="zh-CN" sz="1600" dirty="0">
              <a:solidFill>
                <a:srgbClr val="00B0F0"/>
              </a:solidFill>
            </a:endParaRPr>
          </a:p>
          <a:p>
            <a:pPr>
              <a:lnSpc>
                <a:spcPts val="2800"/>
              </a:lnSpc>
            </a:pPr>
            <a:r>
              <a:rPr lang="zh-CN" altLang="en-US" sz="1600" dirty="0"/>
              <a:t>julia&gt; vi=volui(2,3 ,</a:t>
            </a:r>
            <a:r>
              <a:rPr lang="en-US" altLang="zh-CN" sz="1600" dirty="0"/>
              <a:t>6.3</a:t>
            </a:r>
            <a:r>
              <a:rPr lang="zh-CN" altLang="en-US" sz="1600" dirty="0"/>
              <a:t>)   </a:t>
            </a:r>
            <a:endParaRPr lang="en-US" altLang="zh-CN" sz="1600" dirty="0"/>
          </a:p>
          <a:p>
            <a:pPr>
              <a:lnSpc>
                <a:spcPts val="2800"/>
              </a:lnSpc>
            </a:pPr>
            <a:r>
              <a:rPr lang="en-US" altLang="zh-CN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# ERROR</a:t>
            </a:r>
            <a:r>
              <a:rPr lang="en-US" altLang="zh-CN" sz="1600" b="1" dirty="0">
                <a:solidFill>
                  <a:srgbClr val="FF0000"/>
                </a:solidFill>
              </a:rPr>
              <a:t>: </a:t>
            </a:r>
            <a:r>
              <a:rPr lang="en-US" altLang="zh-CN" sz="1600" b="1" dirty="0" err="1">
                <a:solidFill>
                  <a:srgbClr val="FF0000"/>
                </a:solidFill>
              </a:rPr>
              <a:t>InexactError</a:t>
            </a:r>
            <a:r>
              <a:rPr lang="en-US" altLang="zh-CN" sz="1600" b="1" dirty="0">
                <a:solidFill>
                  <a:srgbClr val="FF0000"/>
                </a:solidFill>
              </a:rPr>
              <a:t>: Int64(37.8)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4941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393F3041-1B0C-865E-EAEC-71FC16CCEFC4}"/>
              </a:ext>
            </a:extLst>
          </p:cNvPr>
          <p:cNvSpPr txBox="1"/>
          <p:nvPr/>
        </p:nvSpPr>
        <p:spPr>
          <a:xfrm>
            <a:off x="1043607" y="89166"/>
            <a:ext cx="79484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§2.2.3 </a:t>
            </a:r>
            <a:r>
              <a:rPr lang="zh-CN" altLang="en-US" sz="2800" b="1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简化形式的函数</a:t>
            </a:r>
            <a:r>
              <a:rPr lang="en-US" altLang="zh-CN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——7.</a:t>
            </a:r>
            <a:r>
              <a:rPr lang="zh-CN" altLang="en-US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定义、调用和示例</a:t>
            </a:r>
            <a:endParaRPr lang="en-US" altLang="zh-CN" sz="2800" b="1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6D7FA26-1886-6ED3-BCFA-FD04EE45A28D}"/>
              </a:ext>
            </a:extLst>
          </p:cNvPr>
          <p:cNvSpPr txBox="1"/>
          <p:nvPr/>
        </p:nvSpPr>
        <p:spPr>
          <a:xfrm>
            <a:off x="2887837" y="3743534"/>
            <a:ext cx="62561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dirty="0"/>
              <a:t>y=</a:t>
            </a:r>
            <a:r>
              <a:rPr lang="en-US" altLang="zh-CN" dirty="0" err="1"/>
              <a:t>volu</a:t>
            </a:r>
            <a:r>
              <a:rPr lang="zh-CN" altLang="en-US" dirty="0"/>
              <a:t>(2,3</a:t>
            </a:r>
            <a:r>
              <a:rPr lang="en-US" altLang="zh-CN" dirty="0"/>
              <a:t>,4</a:t>
            </a:r>
            <a:r>
              <a:rPr lang="zh-CN" altLang="en-US" dirty="0"/>
              <a:t>)  </a:t>
            </a:r>
            <a:r>
              <a:rPr lang="en-US" altLang="zh-CN" dirty="0"/>
              <a:t>#</a:t>
            </a:r>
            <a:r>
              <a:rPr lang="zh-CN" altLang="en-US" dirty="0"/>
              <a:t>调用长宽高分别为</a:t>
            </a:r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/>
              <a:t>3</a:t>
            </a:r>
            <a:r>
              <a:rPr lang="zh-CN" altLang="en-US" dirty="0"/>
              <a:t>和</a:t>
            </a:r>
            <a:r>
              <a:rPr lang="en-US" altLang="zh-CN" dirty="0"/>
              <a:t>4</a:t>
            </a:r>
            <a:r>
              <a:rPr lang="zh-CN" altLang="en-US" dirty="0"/>
              <a:t>，其体积</a:t>
            </a:r>
            <a:r>
              <a:rPr lang="zh-CN" altLang="en-US" dirty="0">
                <a:solidFill>
                  <a:srgbClr val="00B0F0"/>
                </a:solidFill>
              </a:rPr>
              <a:t>结果</a:t>
            </a:r>
            <a:r>
              <a:rPr lang="en-US" altLang="zh-CN" dirty="0">
                <a:solidFill>
                  <a:srgbClr val="00B0F0"/>
                </a:solidFill>
              </a:rPr>
              <a:t>24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9" name="波形 18">
            <a:extLst>
              <a:ext uri="{FF2B5EF4-FFF2-40B4-BE49-F238E27FC236}">
                <a16:creationId xmlns:a16="http://schemas.microsoft.com/office/drawing/2014/main" id="{7284CF0C-CCDD-4A02-ADEC-D890ECB35E3F}"/>
              </a:ext>
            </a:extLst>
          </p:cNvPr>
          <p:cNvSpPr/>
          <p:nvPr/>
        </p:nvSpPr>
        <p:spPr>
          <a:xfrm>
            <a:off x="331028" y="725484"/>
            <a:ext cx="856595" cy="351269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例22-4-1</a:t>
            </a:r>
            <a:endParaRPr lang="ko-KR" altLang="en-US" sz="14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32AF9DA-4619-425A-880D-3697D48ECBA1}"/>
              </a:ext>
            </a:extLst>
          </p:cNvPr>
          <p:cNvSpPr/>
          <p:nvPr/>
        </p:nvSpPr>
        <p:spPr>
          <a:xfrm>
            <a:off x="198984" y="1158405"/>
            <a:ext cx="4733056" cy="989630"/>
          </a:xfrm>
          <a:prstGeom prst="rect">
            <a:avLst/>
          </a:prstGeom>
          <a:ln>
            <a:noFill/>
            <a:prstDash val="solid"/>
          </a:ln>
        </p:spPr>
        <p:txBody>
          <a:bodyPr wrap="square">
            <a:spAutoFit/>
          </a:bodyPr>
          <a:lstStyle/>
          <a:p>
            <a:pPr lvl="0">
              <a:lnSpc>
                <a:spcPct val="110000"/>
              </a:lnSpc>
            </a:pP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 err="1">
                <a:solidFill>
                  <a:srgbClr val="795E26"/>
                </a:solidFill>
                <a:latin typeface="Consolas" panose="020B0609020204030204" pitchFamily="49" charset="0"/>
              </a:rPr>
              <a:t>volu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l,w,h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0">
              <a:lnSpc>
                <a:spcPct val="110000"/>
              </a:lnSpc>
            </a:pP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vol=l*w*h  </a:t>
            </a:r>
            <a:r>
              <a:rPr lang="en-US" altLang="zh-CN" dirty="0">
                <a:solidFill>
                  <a:srgbClr val="003B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dirty="0">
                <a:solidFill>
                  <a:srgbClr val="003B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体积</a:t>
            </a:r>
            <a:r>
              <a:rPr lang="en-US" altLang="zh-CN" dirty="0">
                <a:solidFill>
                  <a:srgbClr val="003B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vol</a:t>
            </a:r>
            <a:r>
              <a:rPr lang="zh-CN" altLang="en-US" dirty="0">
                <a:solidFill>
                  <a:srgbClr val="003B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是局部变量</a:t>
            </a:r>
          </a:p>
          <a:p>
            <a:pPr lvl="0">
              <a:lnSpc>
                <a:spcPct val="110000"/>
              </a:lnSpc>
            </a:pPr>
            <a:r>
              <a:rPr lang="en-US" altLang="zh-CN" dirty="0">
                <a:solidFill>
                  <a:srgbClr val="AF00DB"/>
                </a:solidFill>
                <a:latin typeface="Consolas" panose="020B0609020204030204" pitchFamily="49" charset="0"/>
              </a:rPr>
              <a:t>end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5745B83-0CF3-4FBA-BD5F-36B6741ADDE0}"/>
              </a:ext>
            </a:extLst>
          </p:cNvPr>
          <p:cNvSpPr/>
          <p:nvPr/>
        </p:nvSpPr>
        <p:spPr>
          <a:xfrm>
            <a:off x="1238600" y="725484"/>
            <a:ext cx="403187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已知长宽高求体积的标准函数形式</a:t>
            </a:r>
          </a:p>
        </p:txBody>
      </p:sp>
      <p:sp>
        <p:nvSpPr>
          <p:cNvPr id="25" name="波形 24">
            <a:extLst>
              <a:ext uri="{FF2B5EF4-FFF2-40B4-BE49-F238E27FC236}">
                <a16:creationId xmlns:a16="http://schemas.microsoft.com/office/drawing/2014/main" id="{40F9B9A1-1C0F-4607-8FFD-A77C3AFE2F59}"/>
              </a:ext>
            </a:extLst>
          </p:cNvPr>
          <p:cNvSpPr/>
          <p:nvPr/>
        </p:nvSpPr>
        <p:spPr>
          <a:xfrm>
            <a:off x="282834" y="3313566"/>
            <a:ext cx="816623" cy="378327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例22-4-2</a:t>
            </a:r>
            <a:endParaRPr lang="ko-KR" altLang="en-US" sz="14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84CCE7D-0DEE-4EA2-B5B0-01E769E2273F}"/>
              </a:ext>
            </a:extLst>
          </p:cNvPr>
          <p:cNvSpPr/>
          <p:nvPr/>
        </p:nvSpPr>
        <p:spPr>
          <a:xfrm>
            <a:off x="1144117" y="3296092"/>
            <a:ext cx="403187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已知长宽高求体积的简化函数形式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E66DAAE-11F7-43C0-B802-22156AA96EE0}"/>
              </a:ext>
            </a:extLst>
          </p:cNvPr>
          <p:cNvSpPr/>
          <p:nvPr/>
        </p:nvSpPr>
        <p:spPr>
          <a:xfrm>
            <a:off x="180090" y="3760030"/>
            <a:ext cx="6509052" cy="3788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0000"/>
              </a:lnSpc>
            </a:pPr>
            <a:r>
              <a:rPr lang="en-US" altLang="zh-CN" dirty="0" err="1">
                <a:solidFill>
                  <a:srgbClr val="795E26"/>
                </a:solidFill>
                <a:latin typeface="Consolas" panose="020B0609020204030204" pitchFamily="49" charset="0"/>
              </a:rPr>
              <a:t>volu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l,w,h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)=l*w*h</a:t>
            </a:r>
            <a:endParaRPr lang="zh-CN" altLang="en-US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848EA29-D3FA-4841-B90B-7B5CD0CDDFAA}"/>
              </a:ext>
            </a:extLst>
          </p:cNvPr>
          <p:cNvSpPr/>
          <p:nvPr/>
        </p:nvSpPr>
        <p:spPr>
          <a:xfrm>
            <a:off x="5097832" y="1266494"/>
            <a:ext cx="3844470" cy="366767"/>
          </a:xfrm>
          <a:prstGeom prst="rect">
            <a:avLst/>
          </a:prstGeom>
          <a:noFill/>
          <a:ln w="28575" cap="flat" cmpd="sng">
            <a:noFill/>
            <a:prstDash val="solid"/>
          </a:ln>
          <a:effectLst/>
          <a:scene3d>
            <a:camera prst="orthographicFront"/>
            <a:lightRig rig="contrasting" dir="t">
              <a:rot lat="0" lon="0" rev="1500000"/>
            </a:lightRig>
          </a:scene3d>
          <a:sp3d prstMaterial="metal"/>
        </p:spPr>
        <p:txBody>
          <a:bodyPr vert="horz" wrap="square" lIns="121920" tIns="60960" rIns="121920" bIns="60960" numCol="1" anchor="t">
            <a:spAutoFit/>
          </a:bodyPr>
          <a:lstStyle/>
          <a:p>
            <a:pPr algn="dist">
              <a:lnSpc>
                <a:spcPts val="1900"/>
              </a:lnSpc>
            </a:pPr>
            <a:r>
              <a:rPr lang="zh-CN" altLang="en-US" sz="1600" b="1" dirty="0">
                <a:solidFill>
                  <a:schemeClr val="bg1"/>
                </a:solidFill>
                <a:highlight>
                  <a:srgbClr val="003B76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因变量</a:t>
            </a:r>
            <a:r>
              <a:rPr lang="en-US" altLang="ko-KR" sz="1600" b="1" dirty="0">
                <a:solidFill>
                  <a:schemeClr val="bg1"/>
                </a:solidFill>
                <a:highlight>
                  <a:srgbClr val="003B76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y=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volume</a:t>
            </a:r>
            <a:r>
              <a:rPr lang="en-US" altLang="ko-KR" sz="1600" b="1" dirty="0">
                <a:solidFill>
                  <a:schemeClr val="bg1"/>
                </a:solidFill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600" b="1" dirty="0" err="1">
                <a:solidFill>
                  <a:schemeClr val="bg1"/>
                </a:solidFill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l,w,h</a:t>
            </a:r>
            <a:r>
              <a:rPr lang="en-US" altLang="ko-KR" sz="1600" b="1" dirty="0">
                <a:solidFill>
                  <a:schemeClr val="bg1"/>
                </a:solidFill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en-US" altLang="ko-KR" sz="1600" b="1" dirty="0">
                <a:solidFill>
                  <a:srgbClr val="F0DA04"/>
                </a:solidFill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zh-CN" sz="1600" b="1" dirty="0">
                <a:solidFill>
                  <a:srgbClr val="F0DA04"/>
                </a:solidFill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l*w*h</a:t>
            </a:r>
            <a:endParaRPr lang="ko-KR" altLang="en-US" sz="1600" b="1" dirty="0">
              <a:solidFill>
                <a:srgbClr val="F0DA04"/>
              </a:solidFill>
              <a:highlight>
                <a:srgbClr val="FF0000"/>
              </a:highlight>
              <a:latin typeface="微软雅黑" panose="020B0503020204020204" pitchFamily="34" charset="-122"/>
            </a:endParaRPr>
          </a:p>
        </p:txBody>
      </p:sp>
      <p:sp>
        <p:nvSpPr>
          <p:cNvPr id="5" name="对话气泡: 矩形 4">
            <a:extLst>
              <a:ext uri="{FF2B5EF4-FFF2-40B4-BE49-F238E27FC236}">
                <a16:creationId xmlns:a16="http://schemas.microsoft.com/office/drawing/2014/main" id="{7F7F0B96-4C29-479F-993C-CCDA78104703}"/>
              </a:ext>
            </a:extLst>
          </p:cNvPr>
          <p:cNvSpPr/>
          <p:nvPr/>
        </p:nvSpPr>
        <p:spPr bwMode="auto">
          <a:xfrm>
            <a:off x="6242091" y="1203598"/>
            <a:ext cx="2691845" cy="400110"/>
          </a:xfrm>
          <a:prstGeom prst="wedgeRectCallout">
            <a:avLst>
              <a:gd name="adj1" fmla="val -1334"/>
              <a:gd name="adj2" fmla="val -116323"/>
            </a:avLst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EB25584-9C08-4CD9-94C1-7357234F6F3E}"/>
              </a:ext>
            </a:extLst>
          </p:cNvPr>
          <p:cNvSpPr txBox="1"/>
          <p:nvPr/>
        </p:nvSpPr>
        <p:spPr>
          <a:xfrm>
            <a:off x="7474594" y="742822"/>
            <a:ext cx="15812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定义简化函数</a:t>
            </a:r>
            <a:endParaRPr lang="ko-KR" altLang="en-US" b="1" dirty="0">
              <a:solidFill>
                <a:srgbClr val="FF00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8" name="对话气泡: 矩形 27">
            <a:extLst>
              <a:ext uri="{FF2B5EF4-FFF2-40B4-BE49-F238E27FC236}">
                <a16:creationId xmlns:a16="http://schemas.microsoft.com/office/drawing/2014/main" id="{4C2D4DEA-1582-40B6-B8ED-23D70CFB435F}"/>
              </a:ext>
            </a:extLst>
          </p:cNvPr>
          <p:cNvSpPr/>
          <p:nvPr/>
        </p:nvSpPr>
        <p:spPr bwMode="auto">
          <a:xfrm>
            <a:off x="5173944" y="1257474"/>
            <a:ext cx="2778251" cy="400110"/>
          </a:xfrm>
          <a:prstGeom prst="wedgeRectCallout">
            <a:avLst>
              <a:gd name="adj1" fmla="val 280"/>
              <a:gd name="adj2" fmla="val 102012"/>
            </a:avLst>
          </a:prstGeom>
          <a:noFill/>
          <a:ln w="28575" cap="flat" cmpd="sng" algn="ctr">
            <a:solidFill>
              <a:srgbClr val="003B7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C180F58-9AF9-40B8-9577-5B6C0970614F}"/>
              </a:ext>
            </a:extLst>
          </p:cNvPr>
          <p:cNvSpPr txBox="1"/>
          <p:nvPr/>
        </p:nvSpPr>
        <p:spPr>
          <a:xfrm>
            <a:off x="4484580" y="1840322"/>
            <a:ext cx="23323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调用简化函数求</a:t>
            </a:r>
            <a:r>
              <a:rPr lang="en-US" altLang="zh-CN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</a:t>
            </a:r>
            <a:endParaRPr lang="ko-KR" altLang="en-US" b="1" dirty="0">
              <a:solidFill>
                <a:srgbClr val="002060"/>
              </a:solidFill>
              <a:latin typeface="微软雅黑" panose="020B0503020204020204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1403CC5E-D0D4-4980-88A0-D6FB3D146AC2}"/>
              </a:ext>
            </a:extLst>
          </p:cNvPr>
          <p:cNvSpPr txBox="1"/>
          <p:nvPr/>
        </p:nvSpPr>
        <p:spPr>
          <a:xfrm>
            <a:off x="6142363" y="722480"/>
            <a:ext cx="13106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简化形式：</a:t>
            </a:r>
          </a:p>
        </p:txBody>
      </p:sp>
      <p:sp>
        <p:nvSpPr>
          <p:cNvPr id="38" name="AutoShape 13">
            <a:extLst>
              <a:ext uri="{FF2B5EF4-FFF2-40B4-BE49-F238E27FC236}">
                <a16:creationId xmlns:a16="http://schemas.microsoft.com/office/drawing/2014/main" id="{8D8FFB70-341D-4540-AE62-CB6CAAFD74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0452" y="3166150"/>
            <a:ext cx="833614" cy="557613"/>
          </a:xfrm>
          <a:prstGeom prst="irregularSeal2">
            <a:avLst/>
          </a:prstGeom>
          <a:solidFill>
            <a:srgbClr val="C00000"/>
          </a:soli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zh-CN" altLang="en-US" sz="1400" kern="0" dirty="0">
                <a:solidFill>
                  <a:srgbClr val="FFFF00"/>
                </a:solidFill>
                <a:ea typeface="黑体" panose="02010609060101010101" pitchFamily="49" charset="-122"/>
              </a:rPr>
              <a:t>注意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111E50F-82D8-48EF-B7B7-07781FDEEBBD}"/>
              </a:ext>
            </a:extLst>
          </p:cNvPr>
          <p:cNvSpPr txBox="1"/>
          <p:nvPr/>
        </p:nvSpPr>
        <p:spPr>
          <a:xfrm>
            <a:off x="6478726" y="3258176"/>
            <a:ext cx="269184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MATLAB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无函数的简化形式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9CEB709-8933-4DB0-8109-8388F0B9695B}"/>
              </a:ext>
            </a:extLst>
          </p:cNvPr>
          <p:cNvSpPr txBox="1"/>
          <p:nvPr/>
        </p:nvSpPr>
        <p:spPr>
          <a:xfrm>
            <a:off x="182704" y="2283718"/>
            <a:ext cx="8853792" cy="34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0" indent="0" eaLnBrk="0" hangingPunct="0">
              <a:lnSpc>
                <a:spcPct val="110000"/>
              </a:lnSpc>
              <a:buFont typeface="Wingdings" panose="05000000000000000000" pitchFamily="2" charset="2"/>
              <a:buNone/>
              <a:defRPr sz="28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6350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10922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5494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20066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  <a:lvl6pPr marL="24638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r>
              <a:rPr lang="en-US" altLang="zh-CN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Julia</a:t>
            </a: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r>
              <a:rPr lang="zh-CN" altLang="zh-CN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简化形式，完全符合数学函数的书写习惯，不用再编函数文件</a:t>
            </a:r>
            <a:r>
              <a:rPr lang="en-US" altLang="zh-CN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调用和标准函数一样</a:t>
            </a:r>
          </a:p>
        </p:txBody>
      </p:sp>
      <p:sp>
        <p:nvSpPr>
          <p:cNvPr id="24" name="TextBox 6">
            <a:extLst>
              <a:ext uri="{FF2B5EF4-FFF2-40B4-BE49-F238E27FC236}">
                <a16:creationId xmlns:a16="http://schemas.microsoft.com/office/drawing/2014/main" id="{BAFAAFC8-5AA2-4A7E-9C34-70377F3C34D5}"/>
              </a:ext>
            </a:extLst>
          </p:cNvPr>
          <p:cNvSpPr txBox="1"/>
          <p:nvPr/>
        </p:nvSpPr>
        <p:spPr>
          <a:xfrm>
            <a:off x="180090" y="2770772"/>
            <a:ext cx="15812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dist">
              <a:defRPr sz="1800" b="1" i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350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10922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5494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20066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  <a:lvl6pPr marL="24638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r>
              <a:rPr lang="zh-CN" altLang="en-US" dirty="0"/>
              <a:t>简化形式函数</a:t>
            </a:r>
            <a:endParaRPr lang="ko-KR" altLang="en-US" dirty="0"/>
          </a:p>
        </p:txBody>
      </p:sp>
      <p:sp>
        <p:nvSpPr>
          <p:cNvPr id="30" name="Text Box 10">
            <a:extLst>
              <a:ext uri="{FF2B5EF4-FFF2-40B4-BE49-F238E27FC236}">
                <a16:creationId xmlns:a16="http://schemas.microsoft.com/office/drawing/2014/main" id="{1E5986B1-2D70-41D2-9AB4-39336A18A107}"/>
              </a:ext>
            </a:extLst>
          </p:cNvPr>
          <p:cNvSpPr/>
          <p:nvPr/>
        </p:nvSpPr>
        <p:spPr bwMode="auto">
          <a:xfrm>
            <a:off x="1761336" y="2755926"/>
            <a:ext cx="2999139" cy="33855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sz="1600" b="1"/>
              <a:t>funname(args)= expression</a:t>
            </a:r>
            <a:endParaRPr lang="en-US" altLang="zh-CN" sz="1600" b="1" dirty="0"/>
          </a:p>
        </p:txBody>
      </p:sp>
      <p:sp>
        <p:nvSpPr>
          <p:cNvPr id="31" name="TextBox 6">
            <a:extLst>
              <a:ext uri="{FF2B5EF4-FFF2-40B4-BE49-F238E27FC236}">
                <a16:creationId xmlns:a16="http://schemas.microsoft.com/office/drawing/2014/main" id="{FDEA0CE3-552E-4724-9B9F-D312974054E6}"/>
              </a:ext>
            </a:extLst>
          </p:cNvPr>
          <p:cNvSpPr txBox="1"/>
          <p:nvPr/>
        </p:nvSpPr>
        <p:spPr>
          <a:xfrm>
            <a:off x="4924917" y="2747767"/>
            <a:ext cx="15812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dist">
              <a:defRPr sz="1800" b="1" i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350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10922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5494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20066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  <a:lvl6pPr marL="24638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r>
              <a:rPr lang="zh-CN" altLang="en-US" dirty="0"/>
              <a:t>调用函数求值</a:t>
            </a:r>
            <a:endParaRPr lang="ko-KR" altLang="en-US" dirty="0"/>
          </a:p>
        </p:txBody>
      </p:sp>
      <p:sp>
        <p:nvSpPr>
          <p:cNvPr id="40" name="Text Box 10">
            <a:extLst>
              <a:ext uri="{FF2B5EF4-FFF2-40B4-BE49-F238E27FC236}">
                <a16:creationId xmlns:a16="http://schemas.microsoft.com/office/drawing/2014/main" id="{51FF53B8-5D62-4676-99B1-40BD088054F1}"/>
              </a:ext>
            </a:extLst>
          </p:cNvPr>
          <p:cNvSpPr/>
          <p:nvPr/>
        </p:nvSpPr>
        <p:spPr bwMode="auto">
          <a:xfrm>
            <a:off x="6643526" y="2731647"/>
            <a:ext cx="2392969" cy="33855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sz="1600" b="1" dirty="0"/>
              <a:t>y=</a:t>
            </a:r>
            <a:r>
              <a:rPr lang="en-US" altLang="zh-CN" sz="1600" b="1" dirty="0" err="1"/>
              <a:t>funname</a:t>
            </a:r>
            <a:r>
              <a:rPr lang="zh-CN" altLang="en-US" sz="1600" b="1" dirty="0"/>
              <a:t>（赋值</a:t>
            </a:r>
            <a:r>
              <a:rPr lang="en-US" altLang="zh-CN" sz="1600" b="1" dirty="0" err="1"/>
              <a:t>args</a:t>
            </a:r>
            <a:r>
              <a:rPr lang="en-US" altLang="zh-CN" sz="1600" b="1" dirty="0"/>
              <a:t>)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EA82B844-8235-46AB-B702-326BC857357A}"/>
              </a:ext>
            </a:extLst>
          </p:cNvPr>
          <p:cNvSpPr txBox="1"/>
          <p:nvPr/>
        </p:nvSpPr>
        <p:spPr>
          <a:xfrm>
            <a:off x="625110" y="4258460"/>
            <a:ext cx="85679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kern="0" dirty="0">
                <a:solidFill>
                  <a:schemeClr val="bg1"/>
                </a:solidFill>
                <a:highlight>
                  <a:srgbClr val="003B76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创建</a:t>
            </a:r>
            <a:r>
              <a:rPr lang="zh-CN" altLang="en-US" kern="0" dirty="0">
                <a:solidFill>
                  <a:schemeClr val="bg1"/>
                </a:solidFill>
                <a:highlight>
                  <a:srgbClr val="003B76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体积</a:t>
            </a:r>
            <a:r>
              <a:rPr lang="en-US" altLang="zh-CN" kern="0" dirty="0">
                <a:solidFill>
                  <a:schemeClr val="bg1"/>
                </a:solidFill>
                <a:highlight>
                  <a:srgbClr val="003B76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vol=l*w *h</a:t>
            </a:r>
            <a:r>
              <a:rPr lang="zh-CN" altLang="en-US" kern="0" dirty="0">
                <a:solidFill>
                  <a:schemeClr val="bg1"/>
                </a:solidFill>
                <a:highlight>
                  <a:srgbClr val="003B76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的简单函数，并且</a:t>
            </a:r>
            <a:r>
              <a:rPr lang="en-US" altLang="zh-CN" kern="0" dirty="0">
                <a:solidFill>
                  <a:schemeClr val="bg1"/>
                </a:solidFill>
                <a:highlight>
                  <a:srgbClr val="003B76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::</a:t>
            </a:r>
            <a:r>
              <a:rPr lang="zh-CN" altLang="en-US" kern="0" dirty="0">
                <a:solidFill>
                  <a:schemeClr val="bg1"/>
                </a:solidFill>
                <a:highlight>
                  <a:srgbClr val="003B76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r>
              <a:rPr lang="en-US" altLang="zh-CN" kern="0" dirty="0">
                <a:solidFill>
                  <a:schemeClr val="bg1"/>
                </a:solidFill>
                <a:highlight>
                  <a:srgbClr val="003B76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vol</a:t>
            </a:r>
            <a:r>
              <a:rPr lang="zh-CN" altLang="en-US" kern="0" dirty="0">
                <a:solidFill>
                  <a:schemeClr val="bg1"/>
                </a:solidFill>
                <a:highlight>
                  <a:srgbClr val="003B76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kern="0" dirty="0">
                <a:solidFill>
                  <a:schemeClr val="bg1"/>
                </a:solidFill>
                <a:highlight>
                  <a:srgbClr val="003B76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Int8,</a:t>
            </a:r>
            <a:r>
              <a:rPr lang="zh-CN" altLang="en-US" kern="0" dirty="0">
                <a:solidFill>
                  <a:schemeClr val="bg1"/>
                </a:solidFill>
                <a:highlight>
                  <a:srgbClr val="003B76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求长</a:t>
            </a:r>
            <a:r>
              <a:rPr lang="en-US" altLang="zh-CN" kern="0" dirty="0">
                <a:solidFill>
                  <a:schemeClr val="bg1"/>
                </a:solidFill>
                <a:highlight>
                  <a:srgbClr val="003B76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zh-CN" altLang="en-US" kern="0" dirty="0">
                <a:solidFill>
                  <a:schemeClr val="bg1"/>
                </a:solidFill>
                <a:highlight>
                  <a:srgbClr val="003B76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宽</a:t>
            </a:r>
            <a:r>
              <a:rPr lang="en-US" altLang="zh-CN" kern="0" dirty="0">
                <a:solidFill>
                  <a:schemeClr val="bg1"/>
                </a:solidFill>
                <a:highlight>
                  <a:srgbClr val="003B76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lang="zh-CN" altLang="en-US" kern="0" dirty="0">
                <a:solidFill>
                  <a:schemeClr val="bg1"/>
                </a:solidFill>
                <a:highlight>
                  <a:srgbClr val="003B76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高</a:t>
            </a:r>
            <a:r>
              <a:rPr lang="en-US" altLang="zh-CN" kern="0" dirty="0">
                <a:solidFill>
                  <a:schemeClr val="bg1"/>
                </a:solidFill>
                <a:highlight>
                  <a:srgbClr val="003B76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zh-CN" altLang="en-US" kern="0" dirty="0">
                <a:solidFill>
                  <a:schemeClr val="bg1"/>
                </a:solidFill>
                <a:highlight>
                  <a:srgbClr val="003B76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kern="0" dirty="0">
                <a:solidFill>
                  <a:schemeClr val="bg1"/>
                </a:solidFill>
                <a:highlight>
                  <a:srgbClr val="003B76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6,7,10</a:t>
            </a:r>
            <a:r>
              <a:rPr lang="zh-CN" altLang="en-US" kern="0" dirty="0">
                <a:solidFill>
                  <a:schemeClr val="bg1"/>
                </a:solidFill>
                <a:highlight>
                  <a:srgbClr val="003B76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的体积</a:t>
            </a:r>
            <a:endParaRPr lang="zh-CN" altLang="en-US" dirty="0">
              <a:solidFill>
                <a:schemeClr val="bg1"/>
              </a:solidFill>
              <a:highlight>
                <a:srgbClr val="003B76"/>
              </a:highlight>
            </a:endParaRPr>
          </a:p>
        </p:txBody>
      </p:sp>
      <p:sp>
        <p:nvSpPr>
          <p:cNvPr id="42" name="波形 41">
            <a:extLst>
              <a:ext uri="{FF2B5EF4-FFF2-40B4-BE49-F238E27FC236}">
                <a16:creationId xmlns:a16="http://schemas.microsoft.com/office/drawing/2014/main" id="{17A26078-2981-472A-AA7C-FD07EC842024}"/>
              </a:ext>
            </a:extLst>
          </p:cNvPr>
          <p:cNvSpPr/>
          <p:nvPr/>
        </p:nvSpPr>
        <p:spPr>
          <a:xfrm>
            <a:off x="63316" y="4234600"/>
            <a:ext cx="625110" cy="366832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课堂练习</a:t>
            </a:r>
            <a:endParaRPr lang="ko-KR" altLang="en-US" sz="14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630933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089CFD6-5707-8D42-4C8B-4CFD94E2683D}"/>
              </a:ext>
            </a:extLst>
          </p:cNvPr>
          <p:cNvSpPr txBox="1"/>
          <p:nvPr/>
        </p:nvSpPr>
        <p:spPr>
          <a:xfrm>
            <a:off x="1885656" y="91460"/>
            <a:ext cx="561662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§2.2.4  </a:t>
            </a:r>
            <a:r>
              <a:rPr lang="zh-CN" altLang="en-US" sz="26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匿名函数</a:t>
            </a:r>
            <a:r>
              <a:rPr lang="en-US" altLang="zh-CN" sz="26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——8</a:t>
            </a:r>
            <a:r>
              <a:rPr lang="zh-CN" altLang="en-US" sz="26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定义和调用</a:t>
            </a:r>
            <a:endParaRPr lang="en-US" altLang="zh-CN" sz="2600" kern="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E16377C-E059-5831-6850-26C506522D5D}"/>
              </a:ext>
            </a:extLst>
          </p:cNvPr>
          <p:cNvSpPr txBox="1"/>
          <p:nvPr/>
        </p:nvSpPr>
        <p:spPr>
          <a:xfrm>
            <a:off x="87303" y="722076"/>
            <a:ext cx="8881609" cy="35888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algn="dist" eaLnBrk="0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800" dirty="0"/>
              <a:t>匿名函数和简化形式一样，基于单行表达式函数，不编函数文件，使代码更简洁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EE4E167-1E19-39E7-7912-77F20D8442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03" y="1142384"/>
            <a:ext cx="1933345" cy="438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lnSpc>
                <a:spcPct val="110000"/>
              </a:lnSpc>
            </a:pPr>
            <a:r>
              <a:rPr lang="zh-CN" altLang="zh-CN" sz="22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匿名</a:t>
            </a:r>
            <a:r>
              <a:rPr lang="zh-CN" altLang="en-US" sz="22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格式</a:t>
            </a:r>
            <a:endParaRPr lang="zh-CN" altLang="zh-CN" sz="2200" b="1" kern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3FF2DF61-4565-E17D-EEA4-6F077A0396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65" y="1718179"/>
            <a:ext cx="8681204" cy="4092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342900" indent="-342900" eaLnBrk="0" hangingPunct="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zh-CN" altLang="zh-CN" sz="2000" kern="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用括号将输入参数括起来，</a:t>
            </a:r>
            <a:r>
              <a:rPr lang="zh-CN" altLang="en-US" sz="2000" kern="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再用单箭头</a:t>
            </a:r>
            <a:r>
              <a:rPr lang="zh-CN" altLang="en-US" sz="20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操作符</a:t>
            </a:r>
            <a:r>
              <a:rPr lang="zh-CN" altLang="zh-CN" sz="20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-&gt; </a:t>
            </a:r>
            <a:r>
              <a:rPr lang="zh-CN" altLang="zh-CN" sz="2000" kern="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指定可执行表达式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48873DE-8113-4ECA-8613-83BF96341071}"/>
              </a:ext>
            </a:extLst>
          </p:cNvPr>
          <p:cNvSpPr/>
          <p:nvPr/>
        </p:nvSpPr>
        <p:spPr>
          <a:xfrm>
            <a:off x="1520169" y="1156773"/>
            <a:ext cx="2948750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b="1" dirty="0" err="1"/>
              <a:t>funname</a:t>
            </a:r>
            <a:r>
              <a:rPr lang="en-US" altLang="zh-CN" b="1" dirty="0"/>
              <a:t>=</a:t>
            </a:r>
            <a:r>
              <a:rPr lang="en-US" altLang="zh-CN" dirty="0"/>
              <a:t>(</a:t>
            </a:r>
            <a:r>
              <a:rPr lang="zh-CN" altLang="en-US" dirty="0"/>
              <a:t>参数</a:t>
            </a:r>
            <a:r>
              <a:rPr lang="en-US" altLang="zh-CN" dirty="0"/>
              <a:t>)</a:t>
            </a:r>
            <a:r>
              <a:rPr lang="en-US" altLang="zh-CN" dirty="0">
                <a:highlight>
                  <a:srgbClr val="FF0000"/>
                </a:highlight>
              </a:rPr>
              <a:t>-&gt;</a:t>
            </a:r>
            <a:r>
              <a:rPr lang="zh-CN" altLang="en-US" dirty="0"/>
              <a:t>表达式</a:t>
            </a:r>
            <a:endParaRPr lang="en-US" altLang="zh-CN" dirty="0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622E7933-FBBD-2879-74FC-5D51C3548B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98" y="3182350"/>
            <a:ext cx="8231012" cy="132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lnSpc>
                <a:spcPct val="110000"/>
              </a:lnSpc>
            </a:pPr>
            <a:r>
              <a:rPr lang="zh-CN" altLang="zh-CN" sz="2000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</a:t>
            </a:r>
            <a:r>
              <a:rPr lang="zh-CN" altLang="en-US" sz="2000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长</a:t>
            </a:r>
            <a:r>
              <a:rPr lang="en-US" altLang="zh-CN" sz="2000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zh-CN" altLang="en-US" sz="2000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宽</a:t>
            </a:r>
            <a:r>
              <a:rPr lang="en-US" altLang="zh-CN" sz="2000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lang="zh-CN" altLang="en-US" sz="2000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</a:t>
            </a:r>
            <a:r>
              <a:rPr lang="en-US" altLang="zh-CN" sz="2000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zh-CN" altLang="en-US" sz="2000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的体积</a:t>
            </a:r>
            <a:r>
              <a:rPr lang="en-US" altLang="zh-CN" sz="2000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vol=l*w *h</a:t>
            </a:r>
            <a:r>
              <a:rPr lang="zh-CN" altLang="zh-CN" sz="2000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匿名函数句柄</a:t>
            </a:r>
            <a:r>
              <a:rPr lang="en-US" altLang="zh-CN" sz="2000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eaLnBrk="0" hangingPunct="0">
              <a:lnSpc>
                <a:spcPct val="110000"/>
              </a:lnSpc>
            </a:pPr>
            <a:r>
              <a:rPr lang="en-US" altLang="zh-CN" sz="26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vol=(</a:t>
            </a:r>
            <a:r>
              <a:rPr lang="en-US" altLang="zh-CN" sz="2600" kern="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l,w,h</a:t>
            </a:r>
            <a:r>
              <a:rPr lang="en-US" altLang="zh-CN" sz="26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)-&gt;l*w *h </a:t>
            </a:r>
          </a:p>
          <a:p>
            <a:pPr eaLnBrk="0" hangingPunct="0">
              <a:lnSpc>
                <a:spcPct val="110000"/>
              </a:lnSpc>
            </a:pPr>
            <a:r>
              <a:rPr lang="en-US" altLang="zh-CN" sz="26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vol</a:t>
            </a:r>
            <a:r>
              <a:rPr lang="es-ES" altLang="zh-CN" sz="26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(2,3,4)  </a:t>
            </a:r>
            <a:r>
              <a:rPr lang="es-ES" altLang="zh-CN" sz="2600" kern="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#</a:t>
            </a:r>
            <a:r>
              <a:rPr lang="zh-CN" altLang="en-US" sz="2600" kern="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调用</a:t>
            </a:r>
            <a:r>
              <a:rPr lang="en-US" altLang="zh-CN" sz="2600" kern="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zh-CN" altLang="en-US" sz="2600" kern="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、</a:t>
            </a:r>
            <a:r>
              <a:rPr lang="en-US" altLang="zh-CN" sz="2600" kern="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</a:t>
            </a:r>
            <a:r>
              <a:rPr lang="zh-CN" altLang="en-US" sz="2600" kern="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和</a:t>
            </a:r>
            <a:r>
              <a:rPr lang="en-US" altLang="zh-CN" sz="2600" kern="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4</a:t>
            </a:r>
            <a:r>
              <a:rPr lang="zh-CN" altLang="en-US" sz="2600" kern="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，其体积</a:t>
            </a:r>
            <a:r>
              <a:rPr lang="en-US" altLang="zh-CN" sz="2600" kern="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24</a:t>
            </a:r>
            <a:endParaRPr lang="zh-CN" altLang="zh-CN" sz="2600" kern="0" dirty="0">
              <a:solidFill>
                <a:srgbClr val="00B0F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6B065E5-B5F4-7BAA-9A13-F62CD87B48F7}"/>
              </a:ext>
            </a:extLst>
          </p:cNvPr>
          <p:cNvSpPr txBox="1"/>
          <p:nvPr/>
        </p:nvSpPr>
        <p:spPr>
          <a:xfrm>
            <a:off x="35496" y="2127458"/>
            <a:ext cx="9257960" cy="963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zh-CN" altLang="en-US" sz="2000" kern="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匿名函数在程序运行时动态声明，调用与标准函数一样</a:t>
            </a:r>
            <a:r>
              <a:rPr lang="en-US" altLang="zh-CN" sz="2000" kern="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, </a:t>
            </a:r>
            <a:r>
              <a:rPr lang="zh-CN" altLang="en-US" b="1" kern="0" dirty="0">
                <a:solidFill>
                  <a:schemeClr val="bg1"/>
                </a:solidFill>
                <a:highlight>
                  <a:srgbClr val="736303"/>
                </a:highlight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匿名函数名（参数）</a:t>
            </a: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zh-CN" altLang="en-US" sz="2000" kern="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匿名函数最主要用法是传递给接收函数作为参数函数，如求根</a:t>
            </a:r>
            <a:r>
              <a:rPr lang="en-US" altLang="zh-CN" sz="2000" kern="0" dirty="0" err="1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fzero</a:t>
            </a:r>
            <a:r>
              <a:rPr lang="en-US" altLang="zh-CN" sz="2000" kern="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(</a:t>
            </a:r>
            <a:r>
              <a:rPr lang="zh-CN" altLang="en-US" sz="2000" kern="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匿名函数</a:t>
            </a:r>
            <a:r>
              <a:rPr lang="en-US" altLang="zh-CN" sz="2000" kern="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) </a:t>
            </a:r>
            <a:endParaRPr lang="zh-CN" altLang="en-US" sz="2000" kern="0" dirty="0">
              <a:solidFill>
                <a:srgbClr val="00206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05B2B6DE-E897-49BF-85A4-68D70008D9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5329" y="1060007"/>
            <a:ext cx="1646055" cy="609521"/>
          </a:xfrm>
          <a:prstGeom prst="irregularSeal2">
            <a:avLst/>
          </a:prstGeom>
          <a:solidFill>
            <a:srgbClr val="C00000"/>
          </a:soli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en-US" altLang="zh-CN" sz="1600" b="1" kern="0" dirty="0" err="1">
                <a:solidFill>
                  <a:srgbClr val="FFFF00"/>
                </a:solidFill>
                <a:ea typeface="黑体" panose="02010609060101010101" pitchFamily="49" charset="-122"/>
              </a:rPr>
              <a:t>matlab</a:t>
            </a:r>
            <a:endParaRPr lang="zh-CN" altLang="en-US" sz="1600" b="1" kern="0" dirty="0">
              <a:solidFill>
                <a:srgbClr val="FFFF00"/>
              </a:solidFill>
              <a:ea typeface="黑体" panose="02010609060101010101" pitchFamily="49" charset="-122"/>
            </a:endParaRPr>
          </a:p>
        </p:txBody>
      </p:sp>
      <p:sp>
        <p:nvSpPr>
          <p:cNvPr id="15" name="波形 14">
            <a:extLst>
              <a:ext uri="{FF2B5EF4-FFF2-40B4-BE49-F238E27FC236}">
                <a16:creationId xmlns:a16="http://schemas.microsoft.com/office/drawing/2014/main" id="{F108493E-E6AD-45CE-A7B7-3AF7F86AE3E9}"/>
              </a:ext>
            </a:extLst>
          </p:cNvPr>
          <p:cNvSpPr/>
          <p:nvPr/>
        </p:nvSpPr>
        <p:spPr>
          <a:xfrm>
            <a:off x="112790" y="3221195"/>
            <a:ext cx="625110" cy="366832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例22-5</a:t>
            </a:r>
            <a:endParaRPr lang="ko-KR" altLang="en-US" sz="14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902C4E8-6288-464D-A534-943599FAB796}"/>
              </a:ext>
            </a:extLst>
          </p:cNvPr>
          <p:cNvSpPr/>
          <p:nvPr/>
        </p:nvSpPr>
        <p:spPr>
          <a:xfrm>
            <a:off x="6073876" y="1142384"/>
            <a:ext cx="2856808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b="1" dirty="0" err="1"/>
              <a:t>funname</a:t>
            </a:r>
            <a:r>
              <a:rPr lang="en-US" altLang="zh-CN" b="1" dirty="0"/>
              <a:t>=@(</a:t>
            </a:r>
            <a:r>
              <a:rPr lang="zh-CN" altLang="en-US" b="1" dirty="0"/>
              <a:t>参数</a:t>
            </a:r>
            <a:r>
              <a:rPr lang="en-US" altLang="zh-CN" b="1" dirty="0"/>
              <a:t>)</a:t>
            </a:r>
            <a:r>
              <a:rPr lang="zh-CN" altLang="en-US" b="1" dirty="0"/>
              <a:t>表达式</a:t>
            </a:r>
            <a:endParaRPr lang="en-US" altLang="zh-CN" b="1" dirty="0"/>
          </a:p>
        </p:txBody>
      </p:sp>
    </p:spTree>
    <p:extLst>
      <p:ext uri="{BB962C8B-B14F-4D97-AF65-F5344CB8AC3E}">
        <p14:creationId xmlns:p14="http://schemas.microsoft.com/office/powerpoint/2010/main" val="573687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/>
      <p:bldP spid="13" grpId="0" animBg="1"/>
      <p:bldP spid="15" grpId="0" animBg="1"/>
      <p:bldP spid="1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57AA58-22C5-AA8D-87E4-4858BCFA0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6908" y="1499385"/>
            <a:ext cx="4178694" cy="344325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600" b="1" kern="1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编写半径为</a:t>
            </a:r>
            <a:r>
              <a:rPr lang="en-US" altLang="zh-CN" sz="1600" b="1" kern="1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 sz="1600" b="1" kern="1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的面积</a:t>
            </a:r>
            <a:r>
              <a:rPr lang="en-US" altLang="zh-CN" sz="1600" b="1" kern="1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1600" b="1" kern="1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和周长</a:t>
            </a:r>
            <a:r>
              <a:rPr lang="en-US" altLang="zh-CN" sz="1600" b="1" kern="1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1600" b="1" kern="1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的函数</a:t>
            </a:r>
            <a:r>
              <a:rPr lang="en-US" altLang="zh-CN" sz="1600" b="1" kern="12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spr</a:t>
            </a:r>
            <a:endParaRPr lang="zh-CN" altLang="en-US" sz="1600" b="1" kern="12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F48D599-2C9B-4036-0149-B909FE76AAC8}"/>
              </a:ext>
            </a:extLst>
          </p:cNvPr>
          <p:cNvSpPr txBox="1"/>
          <p:nvPr/>
        </p:nvSpPr>
        <p:spPr>
          <a:xfrm>
            <a:off x="1069858" y="108371"/>
            <a:ext cx="748327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6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§2.2.5</a:t>
            </a:r>
            <a:r>
              <a:rPr lang="zh-CN" altLang="en-US" sz="2600" b="1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多输出</a:t>
            </a:r>
            <a:r>
              <a:rPr lang="zh-CN" altLang="en-US" sz="2600" b="1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函数文件</a:t>
            </a:r>
            <a:r>
              <a:rPr lang="zh-CN" altLang="en-US" sz="26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26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——9.</a:t>
            </a:r>
            <a:r>
              <a:rPr lang="zh-CN" altLang="en-US" sz="26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定义、调用和案例</a:t>
            </a:r>
            <a:endParaRPr lang="en-US" altLang="zh-CN" sz="2600" b="1" kern="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40CBFB1-DD20-540F-7CC2-2BC71A1A5C43}"/>
              </a:ext>
            </a:extLst>
          </p:cNvPr>
          <p:cNvSpPr txBox="1"/>
          <p:nvPr/>
        </p:nvSpPr>
        <p:spPr>
          <a:xfrm>
            <a:off x="228849" y="1848810"/>
            <a:ext cx="8983666" cy="1792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第一种方法：标准形式的函数文件</a:t>
            </a:r>
            <a:endParaRPr lang="en-US" altLang="zh-CN" sz="16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b="1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function </a:t>
            </a:r>
            <a:r>
              <a:rPr lang="en-US" altLang="zh-CN" b="1" dirty="0" err="1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spr</a:t>
            </a:r>
            <a:r>
              <a:rPr lang="en-US" altLang="zh-CN" b="1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(r)</a:t>
            </a:r>
          </a:p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   (s=pi*r*r, p=2*pi*r)  </a:t>
            </a:r>
            <a:r>
              <a:rPr lang="en-US" altLang="zh-CN" b="1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1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用元组定义面积和周长的函数表达式</a:t>
            </a:r>
            <a:endParaRPr lang="en-US" altLang="zh-CN" b="1" dirty="0">
              <a:solidFill>
                <a:srgbClr val="00B05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1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end</a:t>
            </a:r>
          </a:p>
          <a:p>
            <a:r>
              <a:rPr lang="en-US" altLang="zh-CN" sz="1600" dirty="0">
                <a:solidFill>
                  <a:srgbClr val="002060"/>
                </a:solidFill>
              </a:rPr>
              <a:t>julia&gt; </a:t>
            </a:r>
            <a:r>
              <a:rPr lang="en-US" altLang="zh-CN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s,p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spr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(2)  </a:t>
            </a:r>
            <a:r>
              <a:rPr lang="en-US" altLang="zh-CN" b="1" dirty="0">
                <a:solidFill>
                  <a:srgbClr val="00B050"/>
                </a:solidFill>
                <a:latin typeface="Consolas" panose="020B0609020204030204" pitchFamily="49" charset="0"/>
              </a:rPr>
              <a:t>#</a:t>
            </a:r>
            <a:r>
              <a:rPr lang="zh-CN" altLang="en-US" b="1" dirty="0">
                <a:solidFill>
                  <a:srgbClr val="00B050"/>
                </a:solidFill>
                <a:latin typeface="Consolas" panose="020B0609020204030204" pitchFamily="49" charset="0"/>
              </a:rPr>
              <a:t>调用</a:t>
            </a:r>
            <a:r>
              <a:rPr lang="en-US" altLang="zh-CN" b="1" dirty="0">
                <a:solidFill>
                  <a:srgbClr val="00B050"/>
                </a:solidFill>
                <a:latin typeface="Consolas" panose="020B0609020204030204" pitchFamily="49" charset="0"/>
              </a:rPr>
              <a:t>r=2</a:t>
            </a:r>
            <a:r>
              <a:rPr lang="zh-CN" altLang="en-US" b="1" dirty="0">
                <a:solidFill>
                  <a:srgbClr val="00B050"/>
                </a:solidFill>
                <a:latin typeface="Consolas" panose="020B0609020204030204" pitchFamily="49" charset="0"/>
              </a:rPr>
              <a:t>求面积和周长   </a:t>
            </a:r>
            <a:r>
              <a:rPr lang="zh-CN" altLang="en-US" sz="1600" dirty="0">
                <a:solidFill>
                  <a:srgbClr val="00B0F0"/>
                </a:solidFill>
              </a:rPr>
              <a:t>结果</a:t>
            </a:r>
            <a:r>
              <a:rPr lang="en-US" altLang="zh-CN" sz="1600" dirty="0">
                <a:solidFill>
                  <a:srgbClr val="00B0F0"/>
                </a:solidFill>
              </a:rPr>
              <a:t>(s = 12.566370614359, p = 12.566370614359)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1A61FEA-05D0-472C-C791-9CF11C691F53}"/>
              </a:ext>
            </a:extLst>
          </p:cNvPr>
          <p:cNvSpPr txBox="1"/>
          <p:nvPr/>
        </p:nvSpPr>
        <p:spPr>
          <a:xfrm>
            <a:off x="179512" y="3549659"/>
            <a:ext cx="8793686" cy="106016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第二种方法：简化形式的函数</a:t>
            </a:r>
            <a:endParaRPr lang="en-US" altLang="zh-CN" sz="16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002060"/>
                </a:solidFill>
                <a:latin typeface="Consolas" panose="020B0609020204030204" pitchFamily="49" charset="0"/>
              </a:rPr>
              <a:t>julia&gt; </a:t>
            </a:r>
            <a:r>
              <a:rPr lang="en-US" altLang="zh-CN" b="1" dirty="0" err="1">
                <a:solidFill>
                  <a:srgbClr val="002060"/>
                </a:solidFill>
                <a:latin typeface="Consolas" panose="020B0609020204030204" pitchFamily="49" charset="0"/>
              </a:rPr>
              <a:t>sp</a:t>
            </a:r>
            <a:r>
              <a:rPr lang="en-US" altLang="zh-CN" b="1" dirty="0">
                <a:solidFill>
                  <a:srgbClr val="002060"/>
                </a:solidFill>
                <a:latin typeface="Consolas" panose="020B0609020204030204" pitchFamily="49" charset="0"/>
              </a:rPr>
              <a:t>(3)  #</a:t>
            </a:r>
            <a:r>
              <a:rPr lang="zh-CN" altLang="en-US" b="1" dirty="0">
                <a:solidFill>
                  <a:srgbClr val="002060"/>
                </a:solidFill>
                <a:latin typeface="Consolas" panose="020B0609020204030204" pitchFamily="49" charset="0"/>
              </a:rPr>
              <a:t>调用半径</a:t>
            </a:r>
            <a:r>
              <a:rPr lang="en-US" altLang="zh-CN" b="1" dirty="0">
                <a:solidFill>
                  <a:srgbClr val="002060"/>
                </a:solidFill>
                <a:latin typeface="Consolas" panose="020B0609020204030204" pitchFamily="49" charset="0"/>
              </a:rPr>
              <a:t>r=3</a:t>
            </a:r>
            <a:r>
              <a:rPr lang="zh-CN" altLang="en-US" b="1" dirty="0">
                <a:solidFill>
                  <a:srgbClr val="002060"/>
                </a:solidFill>
                <a:latin typeface="Consolas" panose="020B0609020204030204" pitchFamily="49" charset="0"/>
              </a:rPr>
              <a:t>的周长</a:t>
            </a:r>
            <a:r>
              <a:rPr lang="en-US" altLang="zh-CN" b="1" dirty="0">
                <a:solidFill>
                  <a:srgbClr val="002060"/>
                </a:solidFill>
                <a:latin typeface="Consolas" panose="020B0609020204030204" pitchFamily="49" charset="0"/>
              </a:rPr>
              <a:t>p</a:t>
            </a:r>
            <a:r>
              <a:rPr lang="zh-CN" altLang="en-US" b="1" dirty="0">
                <a:solidFill>
                  <a:srgbClr val="002060"/>
                </a:solidFill>
                <a:latin typeface="Consolas" panose="020B0609020204030204" pitchFamily="49" charset="0"/>
              </a:rPr>
              <a:t>、面积</a:t>
            </a:r>
            <a:r>
              <a:rPr lang="en-US" altLang="zh-CN" b="1" dirty="0">
                <a:solidFill>
                  <a:srgbClr val="002060"/>
                </a:solidFill>
                <a:latin typeface="Consolas" panose="020B0609020204030204" pitchFamily="49" charset="0"/>
              </a:rPr>
              <a:t>s</a:t>
            </a:r>
          </a:p>
          <a:p>
            <a:pPr>
              <a:lnSpc>
                <a:spcPct val="125000"/>
              </a:lnSpc>
            </a:pPr>
            <a:r>
              <a:rPr lang="en-US" altLang="zh-CN" sz="1600" dirty="0"/>
              <a:t> </a:t>
            </a:r>
            <a:r>
              <a:rPr lang="en-US" altLang="zh-CN" sz="1600" dirty="0">
                <a:solidFill>
                  <a:srgbClr val="00B0F0"/>
                </a:solidFill>
              </a:rPr>
              <a:t>#</a:t>
            </a:r>
            <a:r>
              <a:rPr lang="zh-CN" altLang="en-US" sz="1600" dirty="0">
                <a:solidFill>
                  <a:srgbClr val="00B0F0"/>
                </a:solidFill>
              </a:rPr>
              <a:t>结果</a:t>
            </a:r>
            <a:r>
              <a:rPr lang="en-US" altLang="zh-CN" sz="1600" dirty="0">
                <a:solidFill>
                  <a:srgbClr val="00B0F0"/>
                </a:solidFill>
              </a:rPr>
              <a:t>(28.274333882308138, 18.84955592153876)</a:t>
            </a:r>
            <a:endParaRPr lang="zh-CN" altLang="en-US" sz="1600" dirty="0">
              <a:solidFill>
                <a:srgbClr val="00B0F0"/>
              </a:solidFill>
            </a:endParaRPr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EA014281-2118-6EC0-644A-4DD01F4D261B}"/>
              </a:ext>
            </a:extLst>
          </p:cNvPr>
          <p:cNvSpPr txBox="1"/>
          <p:nvPr/>
        </p:nvSpPr>
        <p:spPr>
          <a:xfrm>
            <a:off x="198951" y="1097734"/>
            <a:ext cx="2261121" cy="338554"/>
          </a:xfrm>
          <a:prstGeom prst="rect">
            <a:avLst/>
          </a:prstGeom>
          <a:solidFill>
            <a:schemeClr val="bg1"/>
          </a:solidFill>
          <a:ln w="28575" cap="flat" cmpd="sng">
            <a:noFill/>
            <a:prstDash val="solid"/>
          </a:ln>
          <a:effectLst/>
          <a:scene3d>
            <a:camera prst="orthographicFront"/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wrap="square" lIns="91440" tIns="45720" rIns="91440" bIns="45720" numCol="1" anchor="t">
            <a:spAutoFit/>
          </a:bodyPr>
          <a:lstStyle>
            <a:defPPr>
              <a:defRPr lang="zh-CN"/>
            </a:defPPr>
            <a:lvl1pPr marL="0" indent="0" defTabSz="914400" eaLnBrk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cap="none">
                <a:solidFill>
                  <a:schemeClr val="bg1"/>
                </a:solidFill>
                <a:ea typeface="Arial" panose="020B0604020202020204" pitchFamily="34" charset="0"/>
              </a:defRPr>
            </a:lvl1pPr>
          </a:lstStyle>
          <a:p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多输出的调用格式</a:t>
            </a:r>
            <a:endParaRPr lang="ko-KR" altLang="en-US" sz="1600" dirty="0">
              <a:solidFill>
                <a:srgbClr val="0070C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Text Box 10">
            <a:extLst>
              <a:ext uri="{FF2B5EF4-FFF2-40B4-BE49-F238E27FC236}">
                <a16:creationId xmlns:a16="http://schemas.microsoft.com/office/drawing/2014/main" id="{940DD935-4EBC-E5AA-A5D8-944BF90D0D4C}"/>
              </a:ext>
            </a:extLst>
          </p:cNvPr>
          <p:cNvSpPr/>
          <p:nvPr/>
        </p:nvSpPr>
        <p:spPr bwMode="auto">
          <a:xfrm>
            <a:off x="2051720" y="1095903"/>
            <a:ext cx="4752528" cy="307777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/>
            <a:r>
              <a:rPr lang="en-US" altLang="zh-CN" sz="1400" b="1" dirty="0"/>
              <a:t>Output1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output2,…=</a:t>
            </a:r>
            <a:r>
              <a:rPr lang="en-US" altLang="zh-CN" sz="1400" b="1" dirty="0" err="1"/>
              <a:t>funname</a:t>
            </a:r>
            <a:r>
              <a:rPr lang="en-US" altLang="zh-CN" sz="1400" b="1" dirty="0"/>
              <a:t>(</a:t>
            </a:r>
            <a:r>
              <a:rPr lang="zh-CN" altLang="en-US" sz="1400" b="1" dirty="0"/>
              <a:t>赋值的</a:t>
            </a:r>
            <a:r>
              <a:rPr lang="en-US" altLang="zh-CN" sz="1400" b="1" dirty="0" err="1"/>
              <a:t>args</a:t>
            </a:r>
            <a:r>
              <a:rPr lang="en-US" altLang="zh-CN" sz="1400" b="1" dirty="0"/>
              <a:t>)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52C8C6E-76AF-1F8B-E6B3-CBCFE15D3CC1}"/>
              </a:ext>
            </a:extLst>
          </p:cNvPr>
          <p:cNvSpPr txBox="1"/>
          <p:nvPr/>
        </p:nvSpPr>
        <p:spPr>
          <a:xfrm>
            <a:off x="252814" y="669928"/>
            <a:ext cx="8789098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algn="dist">
              <a:defRPr b="0" i="0">
                <a:solidFill>
                  <a:schemeClr val="bg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6350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10922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5494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20066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  <a:lvl6pPr marL="24638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函数中多个形参按照默认位置传入，多个返回值按照默认位置传出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D2C5A3F-C974-4E92-A400-D75B1A76810A}"/>
              </a:ext>
            </a:extLst>
          </p:cNvPr>
          <p:cNvSpPr txBox="1"/>
          <p:nvPr/>
        </p:nvSpPr>
        <p:spPr>
          <a:xfrm>
            <a:off x="3458009" y="3552213"/>
            <a:ext cx="39492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sp(r)= (s=pi*r*r, p=2*pi*r)</a:t>
            </a:r>
          </a:p>
        </p:txBody>
      </p:sp>
      <p:sp>
        <p:nvSpPr>
          <p:cNvPr id="18" name="AutoShape 13">
            <a:extLst>
              <a:ext uri="{FF2B5EF4-FFF2-40B4-BE49-F238E27FC236}">
                <a16:creationId xmlns:a16="http://schemas.microsoft.com/office/drawing/2014/main" id="{3831C8B0-9AA3-4FB0-8BDA-F0E8726645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8488" y="1622897"/>
            <a:ext cx="896502" cy="720080"/>
          </a:xfrm>
          <a:prstGeom prst="irregularSeal2">
            <a:avLst/>
          </a:prstGeom>
          <a:solidFill>
            <a:srgbClr val="C00000"/>
          </a:soli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zh-CN" altLang="en-US" sz="1600" b="1" kern="0" dirty="0">
                <a:solidFill>
                  <a:srgbClr val="FFFF00"/>
                </a:solidFill>
                <a:ea typeface="黑体" panose="02010609060101010101" pitchFamily="49" charset="-122"/>
              </a:rPr>
              <a:t>注意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0CFB8B9-6B21-4AD8-B2B2-C2BA456112F8}"/>
              </a:ext>
            </a:extLst>
          </p:cNvPr>
          <p:cNvSpPr txBox="1"/>
          <p:nvPr/>
        </p:nvSpPr>
        <p:spPr>
          <a:xfrm>
            <a:off x="6264990" y="1825939"/>
            <a:ext cx="27769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调用多输出项，</a:t>
            </a:r>
            <a:r>
              <a:rPr lang="en-US" altLang="zh-CN" sz="1200" b="1" kern="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syslab</a:t>
            </a:r>
            <a:r>
              <a:rPr lang="zh-CN" altLang="en-US" sz="12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不加加方括号</a:t>
            </a:r>
          </a:p>
          <a:p>
            <a:r>
              <a:rPr lang="en-US" altLang="zh-CN" sz="12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MATLAB</a:t>
            </a:r>
            <a:r>
              <a:rPr lang="zh-CN" altLang="en-US" sz="12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加方括号，</a:t>
            </a:r>
            <a:r>
              <a:rPr lang="en-US" altLang="zh-CN" sz="12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en-US" altLang="zh-CN" sz="1200" b="1" kern="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s,p</a:t>
            </a:r>
            <a:r>
              <a:rPr lang="en-US" altLang="zh-CN" sz="12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】=</a:t>
            </a:r>
            <a:r>
              <a:rPr lang="en-US" altLang="zh-CN" sz="1200" b="1" kern="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spr</a:t>
            </a:r>
            <a:r>
              <a:rPr lang="en-US" altLang="zh-CN" sz="12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(2)</a:t>
            </a:r>
          </a:p>
        </p:txBody>
      </p:sp>
      <p:sp>
        <p:nvSpPr>
          <p:cNvPr id="20" name="波形 19">
            <a:extLst>
              <a:ext uri="{FF2B5EF4-FFF2-40B4-BE49-F238E27FC236}">
                <a16:creationId xmlns:a16="http://schemas.microsoft.com/office/drawing/2014/main" id="{68510F56-CCDE-4A5D-BBB5-13E80BDF8A86}"/>
              </a:ext>
            </a:extLst>
          </p:cNvPr>
          <p:cNvSpPr/>
          <p:nvPr/>
        </p:nvSpPr>
        <p:spPr>
          <a:xfrm>
            <a:off x="282161" y="1475632"/>
            <a:ext cx="625110" cy="366832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例22-3</a:t>
            </a:r>
            <a:endParaRPr lang="ko-KR" altLang="en-US" sz="14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611038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D1D269-F130-9469-ACDB-6BD759C11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479" y="256435"/>
            <a:ext cx="3291818" cy="389191"/>
          </a:xfrm>
          <a:solidFill>
            <a:schemeClr val="bg1"/>
          </a:solidFill>
        </p:spPr>
        <p:txBody>
          <a:bodyPr/>
          <a:lstStyle/>
          <a:p>
            <a:r>
              <a:rPr lang="en-US" altLang="zh-CN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§2.2</a:t>
            </a:r>
            <a:r>
              <a:rPr lang="en-US" altLang="zh-CN" sz="2800" dirty="0"/>
              <a:t>.6</a:t>
            </a:r>
            <a:r>
              <a:rPr kumimoji="0" lang="zh-CN" altLang="en-US" sz="2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复合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表达式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0B25554-BA31-0B24-78F9-4DD4C5CF9B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2" y="1309498"/>
            <a:ext cx="8296063" cy="24622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kumimoji="0" lang="zh-CN" altLang="en-US" sz="1600" i="0" u="none" strike="noStrike" cap="none" normalizeH="0" baseline="0" dirty="0">
                <a:ln>
                  <a:noFill/>
                </a:ln>
                <a:solidFill>
                  <a:srgbClr val="2C3E5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方法一</a:t>
            </a:r>
            <a:r>
              <a:rPr lang="zh-CN" altLang="en-US" sz="1600" dirty="0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：采用分号“；”分隔多个并列表达式，并返回最后表达式结果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4FA962F-CA2F-86B4-25A2-A2AB8B76632B}"/>
              </a:ext>
            </a:extLst>
          </p:cNvPr>
          <p:cNvSpPr/>
          <p:nvPr/>
        </p:nvSpPr>
        <p:spPr>
          <a:xfrm>
            <a:off x="251522" y="1598779"/>
            <a:ext cx="2514700" cy="307777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/>
            <a:r>
              <a:rPr lang="en-US" altLang="zh-CN" sz="1400" dirty="0"/>
              <a:t>(</a:t>
            </a:r>
            <a:r>
              <a:rPr lang="zh-CN" altLang="en-US" sz="1400" dirty="0"/>
              <a:t>子表达式；子</a:t>
            </a:r>
            <a:r>
              <a:rPr lang="zh-CN" altLang="en-US" sz="1400"/>
              <a:t>表达式；</a:t>
            </a:r>
            <a:r>
              <a:rPr lang="en-US" altLang="zh-CN" sz="1400" dirty="0"/>
              <a:t>……)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4BB21DAE-EE25-ABA3-5EAF-9DD6BAC602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30" y="672458"/>
            <a:ext cx="9073970" cy="63055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dist">
              <a:lnSpc>
                <a:spcPts val="2200"/>
              </a:lnSpc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复合</a:t>
            </a:r>
            <a:r>
              <a:rPr lang="zh-CN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是多个语句变为一个语句，用“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 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begin </a:t>
            </a:r>
            <a:r>
              <a:rPr lang="zh-CN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代码块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两种方式构建，按顺序计算若干子表达式，复合</a:t>
            </a:r>
            <a:r>
              <a:rPr lang="zh-CN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计算结果是</a:t>
            </a:r>
            <a:r>
              <a:rPr lang="zh-CN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最后子表达式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</a:t>
            </a:r>
            <a:r>
              <a:rPr lang="zh-CN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，定义简洁单行函数特别有用</a:t>
            </a:r>
            <a:endParaRPr lang="zh-CN" altLang="zh-CN" sz="16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316CB9A-5D47-7269-C2E6-813A7A9EA164}"/>
              </a:ext>
            </a:extLst>
          </p:cNvPr>
          <p:cNvSpPr txBox="1"/>
          <p:nvPr/>
        </p:nvSpPr>
        <p:spPr>
          <a:xfrm>
            <a:off x="149511" y="2281535"/>
            <a:ext cx="259228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defTabSz="914400" eaLnBrk="0" latinLnBrk="0" hangingPunct="0">
              <a:lnSpc>
                <a:spcPct val="100000"/>
              </a:lnSpc>
              <a:buClrTx/>
              <a:buSzTx/>
              <a:buFontTx/>
              <a:buNone/>
              <a:tabLst/>
            </a:pPr>
            <a:r>
              <a:rPr lang="zh-CN" altLang="en-US" sz="16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方法二：</a:t>
            </a:r>
            <a:r>
              <a:rPr lang="en-US" altLang="zh-CN" sz="1600" dirty="0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begin-end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E5AC4F4-D77A-F674-A531-70D658F857C7}"/>
              </a:ext>
            </a:extLst>
          </p:cNvPr>
          <p:cNvSpPr/>
          <p:nvPr/>
        </p:nvSpPr>
        <p:spPr>
          <a:xfrm>
            <a:off x="251522" y="2646921"/>
            <a:ext cx="3368471" cy="307777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/>
            <a:r>
              <a:rPr lang="en-US" altLang="zh-CN" sz="1400"/>
              <a:t>begin </a:t>
            </a:r>
            <a:r>
              <a:rPr lang="zh-CN" altLang="en-US" sz="1400"/>
              <a:t>表达式</a:t>
            </a:r>
            <a:r>
              <a:rPr lang="en-US" altLang="zh-CN" sz="1400" dirty="0"/>
              <a:t>1</a:t>
            </a:r>
            <a:r>
              <a:rPr lang="zh-CN" altLang="en-US" sz="1400"/>
              <a:t>；表达式</a:t>
            </a:r>
            <a:r>
              <a:rPr lang="en-US" altLang="zh-CN" sz="1400"/>
              <a:t>2</a:t>
            </a:r>
            <a:r>
              <a:rPr lang="zh-CN" altLang="en-US" sz="1400"/>
              <a:t>；</a:t>
            </a:r>
            <a:r>
              <a:rPr lang="en-US" altLang="zh-CN" sz="1400" dirty="0"/>
              <a:t> …end  </a:t>
            </a: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47453FC3-1CCF-411D-6FF5-170A2186F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520" y="1995686"/>
            <a:ext cx="8532440" cy="24622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600" dirty="0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用圆括号作为代码边界，圆括号可省略，当语法容易出现歧义时不可省略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CD3499F5-E231-AA7F-56AC-608A42D132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1719" y="2335901"/>
            <a:ext cx="2664294" cy="24622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600" dirty="0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表达式间必须要用分号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A1A5A5C-806B-8669-2A0C-2045EB98F81D}"/>
              </a:ext>
            </a:extLst>
          </p:cNvPr>
          <p:cNvSpPr/>
          <p:nvPr/>
        </p:nvSpPr>
        <p:spPr>
          <a:xfrm>
            <a:off x="265621" y="3031889"/>
            <a:ext cx="3354373" cy="307777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/>
            <a:r>
              <a:rPr lang="en-US" altLang="zh-CN" sz="1400" dirty="0"/>
              <a:t>V</a:t>
            </a:r>
            <a:r>
              <a:rPr lang="en-US" altLang="zh-CN" sz="1400"/>
              <a:t>=</a:t>
            </a:r>
            <a:r>
              <a:rPr lang="zh-CN" altLang="en-US" sz="1400"/>
              <a:t>（</a:t>
            </a:r>
            <a:r>
              <a:rPr lang="en-US" altLang="zh-CN" sz="1400"/>
              <a:t>begin </a:t>
            </a:r>
            <a:r>
              <a:rPr lang="zh-CN" altLang="en-US" sz="1400"/>
              <a:t>表达式</a:t>
            </a:r>
            <a:r>
              <a:rPr lang="en-US" altLang="zh-CN" sz="1400" dirty="0"/>
              <a:t>1</a:t>
            </a:r>
            <a:r>
              <a:rPr lang="zh-CN" altLang="en-US" sz="1400"/>
              <a:t>；表达式</a:t>
            </a:r>
            <a:r>
              <a:rPr lang="en-US" altLang="zh-CN" sz="1400"/>
              <a:t>2</a:t>
            </a:r>
            <a:r>
              <a:rPr lang="zh-CN" altLang="en-US" sz="1400"/>
              <a:t>；</a:t>
            </a:r>
            <a:r>
              <a:rPr lang="en-US" altLang="zh-CN" sz="1400" dirty="0"/>
              <a:t> … </a:t>
            </a:r>
            <a:r>
              <a:rPr lang="en-US" altLang="zh-CN" sz="1400"/>
              <a:t>end</a:t>
            </a:r>
            <a:r>
              <a:rPr lang="zh-CN" altLang="en-US" sz="1400"/>
              <a:t>）</a:t>
            </a:r>
            <a:r>
              <a:rPr lang="en-US" altLang="zh-CN" sz="1400" dirty="0"/>
              <a:t>  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B91D76C-5B1E-B25D-F73D-B791645A292E}"/>
              </a:ext>
            </a:extLst>
          </p:cNvPr>
          <p:cNvSpPr/>
          <p:nvPr/>
        </p:nvSpPr>
        <p:spPr>
          <a:xfrm>
            <a:off x="279462" y="3745001"/>
            <a:ext cx="1152128" cy="86177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lvl="0" eaLnBrk="0" hangingPunct="0"/>
            <a:r>
              <a:rPr lang="en-US" altLang="zh-CN" sz="10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begin </a:t>
            </a:r>
          </a:p>
          <a:p>
            <a:pPr lvl="0" eaLnBrk="0" hangingPunct="0"/>
            <a:r>
              <a:rPr lang="zh-CN" altLang="en-US" sz="10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表达式</a:t>
            </a:r>
            <a:r>
              <a:rPr lang="en-US" altLang="zh-CN" sz="10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</a:p>
          <a:p>
            <a:pPr lvl="0" eaLnBrk="0" hangingPunct="0"/>
            <a:r>
              <a:rPr lang="zh-CN" altLang="en-US" sz="10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表达式</a:t>
            </a:r>
            <a:r>
              <a:rPr lang="en-US" altLang="zh-CN" sz="10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</a:p>
          <a:p>
            <a:pPr lvl="0" eaLnBrk="0" hangingPunct="0"/>
            <a:r>
              <a:rPr lang="en-US" altLang="zh-CN" sz="10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…</a:t>
            </a:r>
          </a:p>
          <a:p>
            <a:pPr lvl="0" eaLnBrk="0" hangingPunct="0"/>
            <a:r>
              <a:rPr lang="en-US" altLang="zh-CN" sz="10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end  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CE556BD-0B97-4C82-A75F-2EAA445FE084}"/>
              </a:ext>
            </a:extLst>
          </p:cNvPr>
          <p:cNvSpPr/>
          <p:nvPr/>
        </p:nvSpPr>
        <p:spPr>
          <a:xfrm>
            <a:off x="2995054" y="1586677"/>
            <a:ext cx="2808997" cy="307777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/>
            <a:r>
              <a:rPr lang="en-US" altLang="zh-CN" sz="1400" dirty="0"/>
              <a:t>C=(</a:t>
            </a:r>
            <a:r>
              <a:rPr lang="zh-CN" altLang="en-US" sz="1400" dirty="0"/>
              <a:t>子表达式；子</a:t>
            </a:r>
            <a:r>
              <a:rPr lang="zh-CN" altLang="en-US" sz="1400"/>
              <a:t>表达式；</a:t>
            </a:r>
            <a:r>
              <a:rPr lang="en-US" altLang="zh-CN" sz="1400" dirty="0"/>
              <a:t>……)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074F6A6-138C-4471-A5C8-25B4B5045E9D}"/>
              </a:ext>
            </a:extLst>
          </p:cNvPr>
          <p:cNvSpPr txBox="1"/>
          <p:nvPr/>
        </p:nvSpPr>
        <p:spPr>
          <a:xfrm>
            <a:off x="149511" y="3444155"/>
            <a:ext cx="259228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defTabSz="914400" eaLnBrk="0" latinLnBrk="0" hangingPunct="0">
              <a:lnSpc>
                <a:spcPct val="100000"/>
              </a:lnSpc>
              <a:buClrTx/>
              <a:buSzTx/>
              <a:buFontTx/>
              <a:buNone/>
              <a:tabLst/>
            </a:pPr>
            <a:r>
              <a:rPr lang="zh-CN" altLang="en-US" sz="16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方法三</a:t>
            </a:r>
            <a:r>
              <a:rPr lang="zh-CN" altLang="en-US" sz="1600" dirty="0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  <a:r>
              <a:rPr lang="en-US" altLang="zh-CN" sz="1600" dirty="0">
                <a:solidFill>
                  <a:srgbClr val="2C3E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begin-end</a:t>
            </a:r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13400B95-C7DA-4D24-95FE-D9642B0282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4008" y="2354672"/>
            <a:ext cx="2991944" cy="350289"/>
          </a:xfrm>
          <a:ln>
            <a:solidFill>
              <a:schemeClr val="bg1">
                <a:lumMod val="85000"/>
              </a:schemeClr>
            </a:solidFill>
          </a:ln>
        </p:spPr>
        <p:txBody>
          <a:bodyPr/>
          <a:lstStyle/>
          <a:p>
            <a:pPr marL="0" indent="0">
              <a:buNone/>
            </a:pPr>
            <a:r>
              <a:rPr lang="zh-CN" altLang="en-US" sz="1600" b="0" i="0" dirty="0">
                <a:solidFill>
                  <a:srgbClr val="333333"/>
                </a:solidFill>
                <a:effectLst/>
                <a:latin typeface="Helvetica Neue"/>
              </a:rPr>
              <a:t>求半径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Helvetica Neue"/>
              </a:rPr>
              <a:t>r=1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Helvetica Neue"/>
              </a:rPr>
              <a:t>：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Helvetica Neue"/>
              </a:rPr>
              <a:t>3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Helvetica Neue"/>
              </a:rPr>
              <a:t>时面积和周长</a:t>
            </a:r>
            <a:endParaRPr lang="zh-CN" altLang="en-US" sz="1600" dirty="0"/>
          </a:p>
        </p:txBody>
      </p:sp>
      <p:sp>
        <p:nvSpPr>
          <p:cNvPr id="20" name="波形 19">
            <a:extLst>
              <a:ext uri="{FF2B5EF4-FFF2-40B4-BE49-F238E27FC236}">
                <a16:creationId xmlns:a16="http://schemas.microsoft.com/office/drawing/2014/main" id="{F335ED15-F1DA-456A-AEEA-23275EC6CA34}"/>
              </a:ext>
            </a:extLst>
          </p:cNvPr>
          <p:cNvSpPr/>
          <p:nvPr/>
        </p:nvSpPr>
        <p:spPr>
          <a:xfrm>
            <a:off x="4325976" y="2331931"/>
            <a:ext cx="288032" cy="335423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endParaRPr lang="ko-KR" altLang="en-US" sz="16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8B8D6C9-953A-431B-A530-DC34C28AA96C}"/>
              </a:ext>
            </a:extLst>
          </p:cNvPr>
          <p:cNvSpPr txBox="1"/>
          <p:nvPr/>
        </p:nvSpPr>
        <p:spPr>
          <a:xfrm>
            <a:off x="3747842" y="2705390"/>
            <a:ext cx="5133118" cy="73866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传统的函数编程法</a:t>
            </a:r>
            <a:endParaRPr lang="en-US" altLang="zh-CN" sz="1400" dirty="0"/>
          </a:p>
          <a:p>
            <a:r>
              <a:rPr lang="zh-CN" altLang="en-US" sz="1400" dirty="0"/>
              <a:t>sp(r)=(pi*r.^2,2*pi*r)  </a:t>
            </a:r>
            <a:r>
              <a:rPr lang="en-US" altLang="zh-CN" sz="1400" dirty="0">
                <a:solidFill>
                  <a:srgbClr val="0070C0"/>
                </a:solidFill>
              </a:rPr>
              <a:t>#</a:t>
            </a:r>
            <a:r>
              <a:rPr lang="zh-CN" altLang="en-US" sz="1400" dirty="0">
                <a:solidFill>
                  <a:srgbClr val="0070C0"/>
                </a:solidFill>
              </a:rPr>
              <a:t>结果sp (generic function with 1 method)</a:t>
            </a:r>
          </a:p>
          <a:p>
            <a:r>
              <a:rPr lang="zh-CN" altLang="en-US" sz="1400" dirty="0"/>
              <a:t>sp(1:</a:t>
            </a:r>
            <a:r>
              <a:rPr lang="en-US" altLang="zh-CN" sz="1400" dirty="0"/>
              <a:t>3</a:t>
            </a:r>
            <a:r>
              <a:rPr lang="zh-CN" altLang="en-US" sz="1400" dirty="0"/>
              <a:t>)  </a:t>
            </a:r>
            <a:r>
              <a:rPr lang="en-US" altLang="zh-CN" sz="1400" dirty="0"/>
              <a:t>#</a:t>
            </a:r>
            <a:r>
              <a:rPr lang="zh-CN" altLang="en-US" sz="1400" dirty="0"/>
              <a:t>调用</a:t>
            </a:r>
            <a:r>
              <a:rPr lang="en-US" altLang="zh-CN" sz="1400" dirty="0"/>
              <a:t>r= 1:3</a:t>
            </a:r>
            <a:r>
              <a:rPr lang="zh-CN" altLang="en-US" sz="1400" dirty="0"/>
              <a:t>时求面积和周长</a:t>
            </a:r>
            <a:endParaRPr lang="zh-CN" altLang="en-US" sz="1400" dirty="0">
              <a:solidFill>
                <a:srgbClr val="00B0F0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E71DB40-F263-4E5C-9F57-03654A33CA96}"/>
              </a:ext>
            </a:extLst>
          </p:cNvPr>
          <p:cNvSpPr txBox="1"/>
          <p:nvPr/>
        </p:nvSpPr>
        <p:spPr>
          <a:xfrm>
            <a:off x="2072288" y="3652668"/>
            <a:ext cx="3864009" cy="95410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342900" indent="-342900">
              <a:buFont typeface="+mj-ea"/>
              <a:buAutoNum type="circleNumDbPlain"/>
            </a:pPr>
            <a:r>
              <a:rPr lang="pt-BR" altLang="zh-CN" sz="1400" dirty="0"/>
              <a:t>r =1:3; sprr=(pi*r.^2,2*pi*r)</a:t>
            </a:r>
          </a:p>
          <a:p>
            <a:pPr marL="342900" indent="-342900">
              <a:buFont typeface="+mj-ea"/>
              <a:buAutoNum type="circleNumDbPlain"/>
            </a:pPr>
            <a:r>
              <a:rPr lang="zh-CN" altLang="en-US" sz="1400" dirty="0"/>
              <a:t>srr=(r =1:3; sprr=(pi*r.^2,2*pi*r))</a:t>
            </a:r>
            <a:endParaRPr lang="en-US" altLang="zh-CN" sz="1400" dirty="0"/>
          </a:p>
          <a:p>
            <a:pPr marL="342900" indent="-342900">
              <a:buFont typeface="+mj-ea"/>
              <a:buAutoNum type="circleNumDbPlain"/>
            </a:pPr>
            <a:r>
              <a:rPr lang="en-US" altLang="zh-CN" sz="1400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spp</a:t>
            </a:r>
            <a:r>
              <a:rPr lang="en-US" altLang="zh-CN" sz="1400" dirty="0">
                <a:latin typeface="华文楷体" panose="02010600040101010101" pitchFamily="2" charset="-122"/>
                <a:ea typeface="华文楷体" panose="02010600040101010101" pitchFamily="2" charset="-122"/>
              </a:rPr>
              <a:t>=(begin r =1:3; </a:t>
            </a:r>
            <a:r>
              <a:rPr lang="en-US" altLang="zh-CN" sz="1400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sprr</a:t>
            </a:r>
            <a:r>
              <a:rPr lang="en-US" altLang="zh-CN" sz="1400" dirty="0">
                <a:latin typeface="华文楷体" panose="02010600040101010101" pitchFamily="2" charset="-122"/>
                <a:ea typeface="华文楷体" panose="02010600040101010101" pitchFamily="2" charset="-122"/>
              </a:rPr>
              <a:t>=(pi*r.^2,2*pi*r) end)</a:t>
            </a:r>
          </a:p>
          <a:p>
            <a:pPr marL="342900" indent="-342900">
              <a:buFont typeface="+mj-ea"/>
              <a:buAutoNum type="circleNumDbPlain"/>
            </a:pPr>
            <a:r>
              <a:rPr lang="pt-BR" altLang="zh-CN" sz="1400" dirty="0">
                <a:latin typeface="华文楷体" panose="02010600040101010101" pitchFamily="2" charset="-122"/>
                <a:ea typeface="华文楷体" panose="02010600040101010101" pitchFamily="2" charset="-122"/>
              </a:rPr>
              <a:t>begin r =1:3; sprr=(pi*r.^2,2*pi*r) end</a:t>
            </a:r>
            <a:endParaRPr lang="zh-CN" altLang="en-US" sz="1400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F410A26-D9A8-40C7-AEA8-A35CDDEBFED4}"/>
              </a:ext>
            </a:extLst>
          </p:cNvPr>
          <p:cNvSpPr txBox="1"/>
          <p:nvPr/>
        </p:nvSpPr>
        <p:spPr>
          <a:xfrm>
            <a:off x="1962469" y="3366498"/>
            <a:ext cx="20230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复合表达式四种格式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F2AF087-30DA-48F9-A7BE-0DFF4FD1AFCD}"/>
              </a:ext>
            </a:extLst>
          </p:cNvPr>
          <p:cNvSpPr txBox="1"/>
          <p:nvPr/>
        </p:nvSpPr>
        <p:spPr>
          <a:xfrm>
            <a:off x="5979187" y="3774807"/>
            <a:ext cx="2918788" cy="83099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([3.141592653589793, 12.566370614359172, 28.274333882308138], 6.283185307179586:6.283185307179586:18.84955592153876)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BAC6187-C62D-44AF-9BED-6D0178DAFF0E}"/>
              </a:ext>
            </a:extLst>
          </p:cNvPr>
          <p:cNvSpPr txBox="1"/>
          <p:nvPr/>
        </p:nvSpPr>
        <p:spPr>
          <a:xfrm>
            <a:off x="5843479" y="3477486"/>
            <a:ext cx="24112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0" i="0" dirty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面积和周长</a:t>
            </a:r>
            <a:r>
              <a:rPr lang="zh-CN" altLang="en-US" sz="18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结果</a:t>
            </a:r>
            <a:endParaRPr lang="en-US" altLang="zh-CN" sz="180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780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13" grpId="0"/>
      <p:bldP spid="14" grpId="0" animBg="1"/>
      <p:bldP spid="15" grpId="0"/>
      <p:bldP spid="16" grpId="0"/>
      <p:bldP spid="19" grpId="0" animBg="1"/>
      <p:bldP spid="21" grpId="0" animBg="1"/>
      <p:bldP spid="12" grpId="0" animBg="1"/>
      <p:bldP spid="1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3F4D3B-104D-7D04-9D8A-16CAD9E736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169" y="733618"/>
            <a:ext cx="8132948" cy="417678"/>
          </a:xfrm>
          <a:noFill/>
        </p:spPr>
        <p:txBody>
          <a:bodyPr wrap="square">
            <a:spAutoFit/>
          </a:bodyPr>
          <a:lstStyle/>
          <a:p>
            <a:pPr marL="0" indent="0" algn="dist">
              <a:buNone/>
            </a:pPr>
            <a:r>
              <a:rPr lang="en-US" altLang="zh-CN" sz="2000" b="1" kern="1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Julia</a:t>
            </a:r>
            <a:r>
              <a:rPr lang="zh-CN" altLang="en-US" sz="2000" b="1" kern="1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中多个函数可以用函数复合和链式调用组合起来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FCC72CF-7CFF-0128-B751-CDF77B483A83}"/>
              </a:ext>
            </a:extLst>
          </p:cNvPr>
          <p:cNvSpPr txBox="1"/>
          <p:nvPr/>
        </p:nvSpPr>
        <p:spPr>
          <a:xfrm>
            <a:off x="2099965" y="142802"/>
            <a:ext cx="52565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§2.2.7  </a:t>
            </a:r>
            <a:r>
              <a:rPr lang="zh-CN" altLang="en-US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函数复合和链式调用</a:t>
            </a:r>
            <a:endParaRPr lang="en-US" altLang="zh-CN" sz="28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5CCB8A5-EC1D-FBFF-B742-8E1C9C789424}"/>
              </a:ext>
            </a:extLst>
          </p:cNvPr>
          <p:cNvSpPr/>
          <p:nvPr/>
        </p:nvSpPr>
        <p:spPr>
          <a:xfrm>
            <a:off x="4122072" y="1266466"/>
            <a:ext cx="1656184" cy="400110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sz="2000" dirty="0"/>
              <a:t>f</a:t>
            </a:r>
            <a:r>
              <a:rPr lang="zh-CN" altLang="en-US" sz="2000" dirty="0"/>
              <a:t>。</a:t>
            </a:r>
            <a:r>
              <a:rPr lang="en-US" altLang="zh-CN" sz="2000" dirty="0"/>
              <a:t>g(</a:t>
            </a:r>
            <a:r>
              <a:rPr lang="en-US" altLang="zh-CN" sz="2000" dirty="0" err="1"/>
              <a:t>args</a:t>
            </a:r>
            <a:r>
              <a:rPr lang="en-US" altLang="zh-CN" sz="2000" dirty="0"/>
              <a:t>…)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47FA3D61-5980-543E-0B94-AAAACD214FAC}"/>
              </a:ext>
            </a:extLst>
          </p:cNvPr>
          <p:cNvSpPr txBox="1">
            <a:spLocks/>
          </p:cNvSpPr>
          <p:nvPr/>
        </p:nvSpPr>
        <p:spPr bwMode="auto">
          <a:xfrm>
            <a:off x="496164" y="1231852"/>
            <a:ext cx="3859812" cy="482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1778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8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1pPr>
            <a:lvl2pPr marL="6350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10922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5494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20066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  <a:lvl6pPr marL="24638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r>
              <a:rPr lang="zh-CN" altLang="en-US" sz="2400" kern="0" dirty="0"/>
              <a:t>函数复合</a:t>
            </a:r>
            <a:r>
              <a:rPr lang="en-US" altLang="zh-CN" sz="2400" kern="0" dirty="0"/>
              <a:t>f(g(</a:t>
            </a:r>
            <a:r>
              <a:rPr lang="en-US" altLang="zh-CN" sz="2400" kern="0" dirty="0" err="1"/>
              <a:t>args</a:t>
            </a:r>
            <a:r>
              <a:rPr lang="en-US" altLang="zh-CN" sz="2400" kern="0" dirty="0"/>
              <a:t>…))</a:t>
            </a:r>
            <a:r>
              <a:rPr lang="zh-CN" altLang="en-US" sz="2400" kern="0" dirty="0"/>
              <a:t>格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0DE31A3F-8868-A76B-EB72-9268E570C5C4}"/>
              </a:ext>
            </a:extLst>
          </p:cNvPr>
          <p:cNvSpPr txBox="1">
            <a:spLocks/>
          </p:cNvSpPr>
          <p:nvPr/>
        </p:nvSpPr>
        <p:spPr bwMode="auto">
          <a:xfrm>
            <a:off x="515281" y="1747132"/>
            <a:ext cx="8424936" cy="482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1778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8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1pPr>
            <a:lvl2pPr marL="6350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10922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5494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20066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  <a:lvl6pPr marL="24638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r>
              <a:rPr lang="zh-CN" altLang="en-US" sz="2400" kern="0" dirty="0"/>
              <a:t>函数链式调用格式：把一个函数作用到前一个函数的输出中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58CE693-E515-42F0-5018-D8C0EE658339}"/>
              </a:ext>
            </a:extLst>
          </p:cNvPr>
          <p:cNvSpPr txBox="1"/>
          <p:nvPr/>
        </p:nvSpPr>
        <p:spPr>
          <a:xfrm>
            <a:off x="805063" y="2559099"/>
            <a:ext cx="5944042" cy="494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/>
              <a:t>julia&gt; a=sqrt(sin(3))   </a:t>
            </a:r>
            <a:r>
              <a:rPr lang="en-US" altLang="zh-CN" sz="2000" dirty="0">
                <a:solidFill>
                  <a:srgbClr val="00B0F0"/>
                </a:solidFill>
              </a:rPr>
              <a:t>#</a:t>
            </a:r>
            <a:r>
              <a:rPr lang="zh-CN" altLang="en-US" sz="2000" dirty="0">
                <a:solidFill>
                  <a:srgbClr val="00B0F0"/>
                </a:solidFill>
              </a:rPr>
              <a:t>结果</a:t>
            </a:r>
            <a:r>
              <a:rPr lang="en-US" altLang="zh-CN" sz="2000" dirty="0">
                <a:solidFill>
                  <a:srgbClr val="00B0F0"/>
                </a:solidFill>
              </a:rPr>
              <a:t>0.3756594309475901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9D59B6C-7F1D-5EBD-DA9D-726312E9FF14}"/>
              </a:ext>
            </a:extLst>
          </p:cNvPr>
          <p:cNvSpPr txBox="1"/>
          <p:nvPr/>
        </p:nvSpPr>
        <p:spPr>
          <a:xfrm>
            <a:off x="752072" y="3685648"/>
            <a:ext cx="7555749" cy="95590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</a:lvl1pPr>
          </a:lstStyle>
          <a:p>
            <a:r>
              <a:rPr lang="en-US" altLang="zh-CN" dirty="0"/>
              <a:t>julia&gt; ss=sqrt(sum(1:10))   </a:t>
            </a:r>
            <a:r>
              <a:rPr lang="en-US" altLang="zh-CN" sz="2000" dirty="0">
                <a:solidFill>
                  <a:srgbClr val="00B0F0"/>
                </a:solidFill>
              </a:rPr>
              <a:t>#</a:t>
            </a:r>
            <a:r>
              <a:rPr lang="zh-CN" altLang="en-US" sz="2000" dirty="0">
                <a:solidFill>
                  <a:srgbClr val="00B0F0"/>
                </a:solidFill>
              </a:rPr>
              <a:t>结果</a:t>
            </a:r>
            <a:r>
              <a:rPr lang="en-US" altLang="zh-CN" sz="2000" dirty="0">
                <a:solidFill>
                  <a:srgbClr val="00B0F0"/>
                </a:solidFill>
              </a:rPr>
              <a:t>7.416198487095663</a:t>
            </a:r>
          </a:p>
          <a:p>
            <a:r>
              <a:rPr lang="en-US" altLang="zh-CN" dirty="0"/>
              <a:t>julia&gt; ss=(1:10|&gt;sum|&gt;sqrt)   </a:t>
            </a:r>
            <a:r>
              <a:rPr lang="en-US" altLang="zh-CN" sz="2000" dirty="0">
                <a:solidFill>
                  <a:srgbClr val="00B0F0"/>
                </a:solidFill>
              </a:rPr>
              <a:t>#</a:t>
            </a:r>
            <a:r>
              <a:rPr lang="zh-CN" altLang="en-US" sz="2000" dirty="0">
                <a:solidFill>
                  <a:srgbClr val="00B0F0"/>
                </a:solidFill>
              </a:rPr>
              <a:t>结果</a:t>
            </a:r>
            <a:r>
              <a:rPr lang="en-US" altLang="zh-CN" sz="2000" dirty="0">
                <a:solidFill>
                  <a:srgbClr val="00B0F0"/>
                </a:solidFill>
              </a:rPr>
              <a:t>7.416198487095663</a:t>
            </a:r>
            <a:endParaRPr lang="zh-CN" altLang="en-US" sz="2000" dirty="0">
              <a:solidFill>
                <a:srgbClr val="00B0F0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E85C991-F81B-DA25-770E-138D49BBAD2E}"/>
              </a:ext>
            </a:extLst>
          </p:cNvPr>
          <p:cNvSpPr txBox="1"/>
          <p:nvPr/>
        </p:nvSpPr>
        <p:spPr>
          <a:xfrm>
            <a:off x="5772881" y="1254268"/>
            <a:ext cx="31673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用</a:t>
            </a:r>
            <a:r>
              <a:rPr lang="en-US" altLang="zh-CN" sz="2000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\circ&lt;tab&gt;</a:t>
            </a:r>
            <a:r>
              <a:rPr lang="zh-CN" altLang="en-US" sz="2000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得到</a:t>
            </a:r>
            <a:r>
              <a:rPr lang="zh-CN" altLang="en-US" sz="2000" dirty="0">
                <a:solidFill>
                  <a:schemeClr val="bg1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复合符号。</a:t>
            </a:r>
            <a:r>
              <a:rPr lang="fi-FI" altLang="zh-CN" sz="2000" dirty="0">
                <a:solidFill>
                  <a:schemeClr val="bg1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endParaRPr lang="zh-CN" altLang="en-US" sz="2000" dirty="0">
              <a:solidFill>
                <a:schemeClr val="bg1"/>
              </a:solidFill>
              <a:highlight>
                <a:srgbClr val="FF0000"/>
              </a:highlight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BFC3D195-5B5E-4FAE-8C19-609CA32612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5261" y="2180659"/>
            <a:ext cx="2304256" cy="438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lnSpc>
                <a:spcPct val="110000"/>
              </a:lnSpc>
            </a:pPr>
            <a:r>
              <a:rPr lang="zh-CN" altLang="en-US" sz="22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函数复合调用</a:t>
            </a:r>
            <a:endParaRPr lang="zh-CN" altLang="zh-CN" sz="2200" b="1" kern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波形 12">
            <a:extLst>
              <a:ext uri="{FF2B5EF4-FFF2-40B4-BE49-F238E27FC236}">
                <a16:creationId xmlns:a16="http://schemas.microsoft.com/office/drawing/2014/main" id="{DA7A8B5E-C2F4-4807-8B8A-D475288A8492}"/>
              </a:ext>
            </a:extLst>
          </p:cNvPr>
          <p:cNvSpPr/>
          <p:nvPr/>
        </p:nvSpPr>
        <p:spPr>
          <a:xfrm>
            <a:off x="654169" y="2245861"/>
            <a:ext cx="254934" cy="335423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endParaRPr lang="ko-KR" altLang="en-US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73953B7-EEA2-406C-BFF2-E9CB8597BFEA}"/>
              </a:ext>
            </a:extLst>
          </p:cNvPr>
          <p:cNvSpPr txBox="1"/>
          <p:nvPr/>
        </p:nvSpPr>
        <p:spPr>
          <a:xfrm>
            <a:off x="805063" y="2931790"/>
            <a:ext cx="5295970" cy="496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julia</a:t>
            </a:r>
            <a:r>
              <a:rPr lang="fi-FI" altLang="zh-CN" dirty="0"/>
              <a:t>&gt; aa=(sqrt∘sin)(3)   </a:t>
            </a:r>
            <a:r>
              <a:rPr lang="fi-FI" altLang="zh-CN" sz="2000" dirty="0">
                <a:solidFill>
                  <a:srgbClr val="00B0F0"/>
                </a:solidFill>
              </a:rPr>
              <a:t>#0.3756594309475901</a:t>
            </a:r>
            <a:endParaRPr lang="en-US" altLang="zh-CN" sz="2000" dirty="0">
              <a:solidFill>
                <a:srgbClr val="00B0F0"/>
              </a:solidFill>
            </a:endParaRP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116E5536-2F57-485E-972F-F4F34CDBA2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5261" y="3428887"/>
            <a:ext cx="2304256" cy="438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lnSpc>
                <a:spcPct val="110000"/>
              </a:lnSpc>
            </a:pPr>
            <a:r>
              <a:rPr lang="zh-CN" altLang="en-US" sz="22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函数链式调用</a:t>
            </a:r>
            <a:endParaRPr lang="zh-CN" altLang="zh-CN" sz="2200" b="1" kern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波形 16">
            <a:extLst>
              <a:ext uri="{FF2B5EF4-FFF2-40B4-BE49-F238E27FC236}">
                <a16:creationId xmlns:a16="http://schemas.microsoft.com/office/drawing/2014/main" id="{752252AA-849A-4E6C-8E93-3B72AD8015C1}"/>
              </a:ext>
            </a:extLst>
          </p:cNvPr>
          <p:cNvSpPr/>
          <p:nvPr/>
        </p:nvSpPr>
        <p:spPr>
          <a:xfrm>
            <a:off x="660508" y="3429040"/>
            <a:ext cx="254934" cy="335423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endParaRPr lang="ko-KR" altLang="en-US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80908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AC9FC64-0238-878E-E51D-850F123F0DFF}"/>
              </a:ext>
            </a:extLst>
          </p:cNvPr>
          <p:cNvSpPr txBox="1"/>
          <p:nvPr/>
        </p:nvSpPr>
        <p:spPr>
          <a:xfrm>
            <a:off x="971600" y="806911"/>
            <a:ext cx="71287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§2.3 </a:t>
            </a:r>
            <a:r>
              <a:rPr lang="zh-CN" altLang="en-US" sz="3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流程控制</a:t>
            </a:r>
            <a:r>
              <a:rPr lang="en-US" altLang="zh-CN" sz="32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en-US" altLang="zh-CN" sz="32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Julia </a:t>
            </a:r>
            <a:r>
              <a:rPr lang="zh-CN" altLang="en-US" sz="32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流程控制语句</a:t>
            </a:r>
            <a:endParaRPr lang="en-US" altLang="zh-CN" sz="3200" kern="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3E240AB-C936-3BC3-A0C4-8CA2EC1B60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724" y="2107960"/>
            <a:ext cx="9018748" cy="207803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17400" tIns="158700" rIns="0" bIns="158700" numCol="1" anchor="ctr" anchorCtr="0" compatLnSpc="1">
            <a:prstTxWarp prst="textNoShape">
              <a:avLst/>
            </a:prstTxWarp>
            <a:spAutoFit/>
          </a:bodyPr>
          <a:lstStyle>
            <a:lvl1pPr marL="1778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800" b="1">
                <a:solidFill>
                  <a:srgbClr val="A50021"/>
                </a:solidFill>
                <a:latin typeface="+mn-lt"/>
                <a:ea typeface="+mn-ea"/>
                <a:cs typeface="+mn-cs"/>
              </a:defRPr>
            </a:lvl1pPr>
            <a:lvl2pPr marL="6350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</a:defRPr>
            </a:lvl2pPr>
            <a:lvl3pPr marL="10922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400" b="1">
                <a:solidFill>
                  <a:srgbClr val="002E5C"/>
                </a:solidFill>
                <a:latin typeface="+mn-lt"/>
              </a:defRPr>
            </a:lvl3pPr>
            <a:lvl4pPr marL="15494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002E5C"/>
                </a:solidFill>
                <a:latin typeface="+mn-lt"/>
              </a:defRPr>
            </a:lvl4pPr>
            <a:lvl5pPr marL="20066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002E5C"/>
                </a:solidFill>
                <a:latin typeface="+mn-lt"/>
              </a:defRPr>
            </a:lvl5pPr>
            <a:lvl6pPr marL="24638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pPr marL="0" indent="0">
              <a:lnSpc>
                <a:spcPts val="4700"/>
              </a:lnSpc>
              <a:buNone/>
            </a:pPr>
            <a:r>
              <a:rPr lang="en-US" altLang="zh-CN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2.3.1 </a:t>
            </a:r>
            <a:r>
              <a:rPr lang="zh-CN" altLang="zh-CN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条件表达式</a:t>
            </a:r>
            <a:r>
              <a:rPr lang="zh-CN" altLang="zh-CN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：if-elseif-else 和 ?: (三元运算符)</a:t>
            </a:r>
            <a:r>
              <a:rPr lang="en-US" altLang="zh-CN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</a:p>
          <a:p>
            <a:pPr marL="0" indent="0">
              <a:lnSpc>
                <a:spcPts val="4700"/>
              </a:lnSpc>
              <a:buNone/>
            </a:pPr>
            <a:r>
              <a:rPr lang="en-US" altLang="zh-CN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2.3.2 </a:t>
            </a:r>
            <a:r>
              <a:rPr lang="zh-CN" altLang="zh-CN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循环</a:t>
            </a:r>
            <a:r>
              <a:rPr lang="zh-CN" altLang="en-US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表达式</a:t>
            </a:r>
            <a:r>
              <a:rPr lang="zh-CN" altLang="zh-CN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：for和 while </a:t>
            </a:r>
          </a:p>
          <a:p>
            <a:pPr marL="0" indent="0">
              <a:lnSpc>
                <a:spcPts val="4700"/>
              </a:lnSpc>
              <a:buNone/>
            </a:pPr>
            <a:r>
              <a:rPr lang="en-US" altLang="zh-CN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2.3.3 </a:t>
            </a:r>
            <a:r>
              <a:rPr lang="zh-CN" altLang="zh-CN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异常处理</a:t>
            </a:r>
            <a:r>
              <a:rPr lang="zh-CN" altLang="zh-CN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：try-catch、</a:t>
            </a:r>
            <a:r>
              <a:rPr lang="zh-CN" altLang="zh-CN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error</a:t>
            </a:r>
            <a:r>
              <a:rPr lang="zh-CN" altLang="zh-CN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 和 </a:t>
            </a:r>
            <a:r>
              <a:rPr lang="zh-CN" altLang="zh-CN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throw</a:t>
            </a:r>
            <a:endParaRPr lang="zh-CN" altLang="zh-CN" dirty="0">
              <a:solidFill>
                <a:srgbClr val="0070C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4AE97B9-124A-4CBF-AD1F-56839FDE313D}"/>
              </a:ext>
            </a:extLst>
          </p:cNvPr>
          <p:cNvSpPr txBox="1"/>
          <p:nvPr/>
        </p:nvSpPr>
        <p:spPr>
          <a:xfrm>
            <a:off x="-54260" y="1392690"/>
            <a:ext cx="9252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bg1"/>
                </a:solidFill>
                <a:highlight>
                  <a:srgbClr val="003B76"/>
                </a:highlight>
              </a:defRPr>
            </a:lvl1pPr>
          </a:lstStyle>
          <a:p>
            <a:pPr algn="dist"/>
            <a:r>
              <a:rPr lang="zh-CN" altLang="en-US" sz="2000" dirty="0"/>
              <a:t>流程控制结构是指以某种顺序执行的一系列动作</a:t>
            </a:r>
            <a:r>
              <a:rPr lang="en-US" altLang="zh-CN" sz="2000" dirty="0"/>
              <a:t>,</a:t>
            </a:r>
            <a:r>
              <a:rPr lang="zh-CN" altLang="en-US" sz="2000" dirty="0"/>
              <a:t>用于解决某问题</a:t>
            </a:r>
          </a:p>
        </p:txBody>
      </p:sp>
      <p:sp>
        <p:nvSpPr>
          <p:cNvPr id="7" name="AutoShape 13">
            <a:extLst>
              <a:ext uri="{FF2B5EF4-FFF2-40B4-BE49-F238E27FC236}">
                <a16:creationId xmlns:a16="http://schemas.microsoft.com/office/drawing/2014/main" id="{0AF69BA8-FAC7-4739-AF33-E3928018BE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9769" y="4082565"/>
            <a:ext cx="4720723" cy="484140"/>
          </a:xfrm>
          <a:prstGeom prst="irregularSeal2">
            <a:avLst/>
          </a:prstGeom>
          <a:solidFill>
            <a:srgbClr val="C00000"/>
          </a:soli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endParaRPr lang="zh-CN" altLang="en-US" sz="1600" b="1" kern="0" dirty="0">
              <a:solidFill>
                <a:srgbClr val="FFFF00"/>
              </a:solidFill>
              <a:ea typeface="黑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E67C1C2-A62A-4F86-8F29-19B787CD50DA}"/>
              </a:ext>
            </a:extLst>
          </p:cNvPr>
          <p:cNvSpPr txBox="1"/>
          <p:nvPr/>
        </p:nvSpPr>
        <p:spPr>
          <a:xfrm>
            <a:off x="5351061" y="4155358"/>
            <a:ext cx="28933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重点掌握条件和循环语句</a:t>
            </a:r>
          </a:p>
        </p:txBody>
      </p:sp>
    </p:spTree>
    <p:extLst>
      <p:ext uri="{BB962C8B-B14F-4D97-AF65-F5344CB8AC3E}">
        <p14:creationId xmlns:p14="http://schemas.microsoft.com/office/powerpoint/2010/main" val="3806265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50E77DA5-33E7-3478-E3C8-C7A0DB4D067B}"/>
              </a:ext>
            </a:extLst>
          </p:cNvPr>
          <p:cNvSpPr/>
          <p:nvPr/>
        </p:nvSpPr>
        <p:spPr bwMode="auto">
          <a:xfrm>
            <a:off x="-1016" y="1198765"/>
            <a:ext cx="9145016" cy="3944735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F8BBEA31-68A6-8ADC-36B4-CE7CC2968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0773" y="100679"/>
            <a:ext cx="7935777" cy="547842"/>
          </a:xfrm>
        </p:spPr>
        <p:txBody>
          <a:bodyPr/>
          <a:lstStyle/>
          <a:p>
            <a:r>
              <a:rPr lang="en-US" altLang="zh-CN" sz="2800" dirty="0"/>
              <a:t>§2.3.1 </a:t>
            </a:r>
            <a:r>
              <a:rPr kumimoji="0" lang="zh-CN" altLang="en-US" sz="2800" b="0" i="0" u="none" strike="noStrike" cap="none" normalizeH="0" baseline="0" dirty="0">
                <a:ln>
                  <a:noFill/>
                </a:ln>
                <a:effectLst/>
              </a:rPr>
              <a:t>条件表达式</a:t>
            </a:r>
            <a:r>
              <a:rPr lang="en-US" altLang="zh-CN" sz="2800" dirty="0"/>
              <a:t>——</a:t>
            </a:r>
            <a:r>
              <a:rPr lang="zh-CN" altLang="en-US" sz="2800" dirty="0">
                <a:solidFill>
                  <a:srgbClr val="FF0000"/>
                </a:solidFill>
              </a:rPr>
              <a:t>单分支和双分支语句</a:t>
            </a:r>
            <a:r>
              <a:rPr lang="en-US" altLang="zh-CN" sz="2800" dirty="0">
                <a:solidFill>
                  <a:srgbClr val="FF0000"/>
                </a:solidFill>
              </a:rPr>
              <a:t>if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4901054-C2C7-E7AC-A3C3-007D886B077D}"/>
              </a:ext>
            </a:extLst>
          </p:cNvPr>
          <p:cNvSpPr/>
          <p:nvPr/>
        </p:nvSpPr>
        <p:spPr>
          <a:xfrm>
            <a:off x="283690" y="1048827"/>
            <a:ext cx="26651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单分支语句</a:t>
            </a:r>
          </a:p>
        </p:txBody>
      </p:sp>
      <p:pic>
        <p:nvPicPr>
          <p:cNvPr id="17" name="图片 16" descr="C:/Users/aibin/AppData/Roaming/JisuOffice/ETemp/5840_13657936/image17.png">
            <a:extLst>
              <a:ext uri="{FF2B5EF4-FFF2-40B4-BE49-F238E27FC236}">
                <a16:creationId xmlns:a16="http://schemas.microsoft.com/office/drawing/2014/main" id="{07E84A8E-AF5C-B261-DA89-5420BAB4418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00" r="2716" b="4548"/>
          <a:stretch/>
        </p:blipFill>
        <p:spPr>
          <a:xfrm>
            <a:off x="5470355" y="2643758"/>
            <a:ext cx="2736304" cy="2426642"/>
          </a:xfrm>
          <a:prstGeom prst="rect">
            <a:avLst/>
          </a:prstGeom>
          <a:noFill/>
        </p:spPr>
      </p:pic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CDE6A6E2-1733-921A-DB63-79960508A136}"/>
              </a:ext>
            </a:extLst>
          </p:cNvPr>
          <p:cNvSpPr/>
          <p:nvPr/>
        </p:nvSpPr>
        <p:spPr>
          <a:xfrm>
            <a:off x="5780632" y="3977829"/>
            <a:ext cx="587341" cy="23784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6A2CF43F-9EE0-C703-1C66-41AB9DF08701}"/>
              </a:ext>
            </a:extLst>
          </p:cNvPr>
          <p:cNvSpPr/>
          <p:nvPr/>
        </p:nvSpPr>
        <p:spPr>
          <a:xfrm>
            <a:off x="7380312" y="4050510"/>
            <a:ext cx="587341" cy="165161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8A8D183-69E3-72FD-6385-065BE396D519}"/>
              </a:ext>
            </a:extLst>
          </p:cNvPr>
          <p:cNvSpPr/>
          <p:nvPr/>
        </p:nvSpPr>
        <p:spPr>
          <a:xfrm>
            <a:off x="5956788" y="4636435"/>
            <a:ext cx="832920" cy="4339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ko-KR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ea typeface="Courier New" panose="02070309020205020404" pitchFamily="49" charset="0"/>
              </a:rPr>
              <a:t>end</a:t>
            </a:r>
            <a:endParaRPr lang="ko-KR" altLang="en-US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urier New" panose="02070309020205020404" pitchFamily="49" charset="0"/>
              <a:ea typeface="Courier New" panose="02070309020205020404" pitchFamily="49" charset="0"/>
            </a:endParaRPr>
          </a:p>
        </p:txBody>
      </p:sp>
      <p:sp>
        <p:nvSpPr>
          <p:cNvPr id="28" name="Rectangle 3">
            <a:extLst>
              <a:ext uri="{FF2B5EF4-FFF2-40B4-BE49-F238E27FC236}">
                <a16:creationId xmlns:a16="http://schemas.microsoft.com/office/drawing/2014/main" id="{E112D2F3-DDE1-1F7E-B1FC-FF9A32235038}"/>
              </a:ext>
            </a:extLst>
          </p:cNvPr>
          <p:cNvSpPr/>
          <p:nvPr/>
        </p:nvSpPr>
        <p:spPr bwMode="auto">
          <a:xfrm>
            <a:off x="5134708" y="1419622"/>
            <a:ext cx="3693457" cy="147732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>
            <a:solidFill>
              <a:srgbClr val="0000CC">
                <a:alpha val="100000"/>
              </a:srgbClr>
            </a:solidFill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l" defTabSz="914400" eaLnBrk="0" fontAlgn="base" latinLnBrk="0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cap="none" dirty="0">
                <a:solidFill>
                  <a:srgbClr val="0066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if </a:t>
            </a:r>
            <a:r>
              <a:rPr lang="en-US" altLang="ko-KR" cap="none" dirty="0">
                <a:solidFill>
                  <a:srgbClr val="0000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expression （</a:t>
            </a:r>
            <a:r>
              <a:rPr lang="en-US" altLang="ko-KR" cap="none" dirty="0" err="1">
                <a:solidFill>
                  <a:srgbClr val="0000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条件</a:t>
            </a:r>
            <a:r>
              <a:rPr lang="zh-CN" altLang="en-US" cap="none" dirty="0">
                <a:solidFill>
                  <a:srgbClr val="0000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表达式</a:t>
            </a:r>
            <a:r>
              <a:rPr lang="en-US" altLang="ko-KR" cap="none" dirty="0">
                <a:solidFill>
                  <a:srgbClr val="0000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endParaRPr lang="ko-KR" altLang="en-US" cap="none" dirty="0">
              <a:solidFill>
                <a:srgbClr val="0000CC"/>
              </a:solidFill>
              <a:latin typeface="华文楷体" panose="02010600040101010101" pitchFamily="2" charset="-122"/>
              <a:ea typeface="宋体" panose="02010600030101010101" pitchFamily="2" charset="-122"/>
            </a:endParaRPr>
          </a:p>
          <a:p>
            <a:pPr eaLnBrk="0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cap="none" dirty="0">
                <a:solidFill>
                  <a:srgbClr val="0066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</a:t>
            </a:r>
            <a:r>
              <a:rPr lang="en-US" altLang="ko-KR" dirty="0">
                <a:solidFill>
                  <a:srgbClr val="0000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statements A （</a:t>
            </a:r>
            <a:r>
              <a:rPr lang="zh-CN" altLang="en-US" dirty="0">
                <a:solidFill>
                  <a:srgbClr val="0000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执行</a:t>
            </a:r>
            <a:r>
              <a:rPr lang="en-US" altLang="ko-KR" cap="none" dirty="0" err="1">
                <a:solidFill>
                  <a:srgbClr val="0000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语句组A</a:t>
            </a:r>
            <a:r>
              <a:rPr lang="en-US" altLang="ko-KR" cap="none" dirty="0">
                <a:solidFill>
                  <a:srgbClr val="0000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endParaRPr lang="ko-KR" altLang="en-US" cap="none" dirty="0">
              <a:solidFill>
                <a:srgbClr val="0000CC"/>
              </a:solidFill>
              <a:latin typeface="华文楷体" panose="02010600040101010101" pitchFamily="2" charset="-122"/>
              <a:ea typeface="宋体" panose="02010600030101010101" pitchFamily="2" charset="-122"/>
            </a:endParaRPr>
          </a:p>
          <a:p>
            <a:pPr marL="0" indent="0" algn="l" defTabSz="914400" eaLnBrk="0" fontAlgn="base" latinLnBrk="0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en-US" altLang="ko-KR" cap="none" dirty="0">
              <a:solidFill>
                <a:srgbClr val="0066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 algn="l" defTabSz="914400" eaLnBrk="0" fontAlgn="base" latinLnBrk="0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cap="none" dirty="0">
              <a:solidFill>
                <a:srgbClr val="006600"/>
              </a:solidFill>
              <a:latin typeface="华文楷体" panose="02010600040101010101" pitchFamily="2" charset="-122"/>
              <a:ea typeface="Courier New" panose="02070309020205020404" pitchFamily="49" charset="0"/>
            </a:endParaRPr>
          </a:p>
          <a:p>
            <a:pPr marL="0" indent="0" algn="l" defTabSz="914400" eaLnBrk="0" fontAlgn="base" latinLnBrk="0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cap="none" dirty="0">
                <a:solidFill>
                  <a:srgbClr val="0066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end</a:t>
            </a:r>
            <a:endParaRPr lang="ko-KR" altLang="en-US" cap="none" dirty="0">
              <a:solidFill>
                <a:srgbClr val="006600"/>
              </a:solidFill>
              <a:latin typeface="华文楷体" panose="02010600040101010101" pitchFamily="2" charset="-122"/>
              <a:ea typeface="Courier New" panose="02070309020205020404" pitchFamily="49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33FAB13-6F14-FA40-E1E0-D7408584835F}"/>
              </a:ext>
            </a:extLst>
          </p:cNvPr>
          <p:cNvSpPr/>
          <p:nvPr/>
        </p:nvSpPr>
        <p:spPr>
          <a:xfrm>
            <a:off x="5209068" y="1967054"/>
            <a:ext cx="3634203" cy="648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else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66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</a:t>
            </a:r>
            <a:r>
              <a:rPr lang="en-US" altLang="zh-CN" dirty="0">
                <a:solidFill>
                  <a:srgbClr val="0000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statements B （</a:t>
            </a:r>
            <a:r>
              <a:rPr lang="zh-CN" altLang="en-US" dirty="0">
                <a:solidFill>
                  <a:srgbClr val="0000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执行语句组</a:t>
            </a:r>
            <a:r>
              <a:rPr lang="en-US" altLang="zh-CN" dirty="0">
                <a:solidFill>
                  <a:srgbClr val="0000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B</a:t>
            </a:r>
            <a:r>
              <a:rPr lang="zh-CN" altLang="en-US" dirty="0">
                <a:solidFill>
                  <a:srgbClr val="0000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endParaRPr lang="en-US" altLang="zh-CN" dirty="0">
              <a:solidFill>
                <a:srgbClr val="0000CC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30" name="图片 29" descr="C:/Users/aibin/AppData/Roaming/JisuOffice/ETemp/5840_13657936/image16.png">
            <a:extLst>
              <a:ext uri="{FF2B5EF4-FFF2-40B4-BE49-F238E27FC236}">
                <a16:creationId xmlns:a16="http://schemas.microsoft.com/office/drawing/2014/main" id="{67B5F2B0-D310-1405-6EDA-074C34FC9AD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90" r="3296" b="4728"/>
          <a:stretch/>
        </p:blipFill>
        <p:spPr>
          <a:xfrm>
            <a:off x="485708" y="2403094"/>
            <a:ext cx="2736304" cy="2722188"/>
          </a:xfrm>
          <a:prstGeom prst="rect">
            <a:avLst/>
          </a:prstGeom>
          <a:noFill/>
        </p:spPr>
      </p:pic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A36C026A-80E2-256E-82FC-5237E35E6662}"/>
              </a:ext>
            </a:extLst>
          </p:cNvPr>
          <p:cNvSpPr/>
          <p:nvPr/>
        </p:nvSpPr>
        <p:spPr>
          <a:xfrm>
            <a:off x="1259632" y="4155926"/>
            <a:ext cx="696635" cy="20767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FB8AD94-5BD7-818F-DB67-801FE97B0440}"/>
              </a:ext>
            </a:extLst>
          </p:cNvPr>
          <p:cNvSpPr/>
          <p:nvPr/>
        </p:nvSpPr>
        <p:spPr>
          <a:xfrm>
            <a:off x="1641501" y="4746576"/>
            <a:ext cx="737702" cy="4339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ko-KR" sz="2400" b="1" dirty="0">
                <a:solidFill>
                  <a:srgbClr val="FF0000"/>
                </a:solidFill>
                <a:latin typeface="Courier New" panose="02070309020205020404" pitchFamily="49" charset="0"/>
                <a:ea typeface="Courier New" panose="02070309020205020404" pitchFamily="49" charset="0"/>
              </a:rPr>
              <a:t>end</a:t>
            </a:r>
            <a:endParaRPr lang="ko-KR" altLang="en-US" sz="2400" b="1" dirty="0">
              <a:solidFill>
                <a:srgbClr val="FF0000"/>
              </a:solidFill>
              <a:latin typeface="Courier New" panose="02070309020205020404" pitchFamily="49" charset="0"/>
              <a:ea typeface="Courier New" panose="02070309020205020404" pitchFamily="49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1476F9C-BD8B-86D7-1E4B-BE40F290509D}"/>
              </a:ext>
            </a:extLst>
          </p:cNvPr>
          <p:cNvSpPr/>
          <p:nvPr/>
        </p:nvSpPr>
        <p:spPr>
          <a:xfrm>
            <a:off x="5097982" y="1032425"/>
            <a:ext cx="19281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双分支语句</a:t>
            </a:r>
          </a:p>
        </p:txBody>
      </p:sp>
      <p:sp>
        <p:nvSpPr>
          <p:cNvPr id="37" name="Rectangle 2">
            <a:extLst>
              <a:ext uri="{FF2B5EF4-FFF2-40B4-BE49-F238E27FC236}">
                <a16:creationId xmlns:a16="http://schemas.microsoft.com/office/drawing/2014/main" id="{44AFF729-2BC8-9E50-EB3B-1CB5610EE8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7949" y="971026"/>
            <a:ext cx="2816668" cy="46827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 algn="l" defTabSz="914400" fontAlgn="base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b="0" cap="none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条件表达式</a:t>
            </a:r>
            <a:r>
              <a:rPr lang="zh-CN" altLang="en-US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成</a:t>
            </a:r>
            <a:r>
              <a:rPr lang="zh-CN" altLang="en-US" b="0" cap="none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为</a:t>
            </a:r>
            <a:r>
              <a:rPr lang="zh-CN" altLang="en-US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逻辑变量</a:t>
            </a:r>
            <a:endParaRPr lang="ko-KR" altLang="en-US" b="0" cap="none" dirty="0">
              <a:solidFill>
                <a:srgbClr val="FF0000"/>
              </a:solidFill>
              <a:latin typeface="华文楷体" panose="0201060004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CC21B30-7474-4AA1-9FC4-89C988B3403C}"/>
              </a:ext>
            </a:extLst>
          </p:cNvPr>
          <p:cNvSpPr txBox="1"/>
          <p:nvPr/>
        </p:nvSpPr>
        <p:spPr>
          <a:xfrm>
            <a:off x="85774" y="715885"/>
            <a:ext cx="8972452" cy="251262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anchor="t">
            <a:noAutofit/>
          </a:bodyPr>
          <a:lstStyle/>
          <a:p>
            <a:pPr eaLnBrk="0">
              <a:spcBef>
                <a:spcPts val="0"/>
              </a:spcBef>
              <a:spcAft>
                <a:spcPts val="0"/>
              </a:spcAft>
              <a:tabLst>
                <a:tab pos="417830" algn="l"/>
              </a:tabLst>
            </a:pPr>
            <a:r>
              <a:rPr lang="en-US" altLang="ko-KR" b="1" cap="none" dirty="0">
                <a:ln w="9525" cap="flat" cmpd="sng"/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b="1" cap="none" dirty="0">
                <a:ln w="9525" cap="flat" cmpd="sng"/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条件语句：根据给定条件成立与否，执行不同语句，为分支语句，且只执行一个分支</a:t>
            </a:r>
            <a:endParaRPr lang="en-US" altLang="ko-KR" b="1" cap="none" dirty="0">
              <a:ln w="9525" cap="flat" cmpd="sng"/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2AAF4F5D-150B-516A-5063-75C0F01C0787}"/>
              </a:ext>
            </a:extLst>
          </p:cNvPr>
          <p:cNvSpPr/>
          <p:nvPr/>
        </p:nvSpPr>
        <p:spPr bwMode="auto">
          <a:xfrm>
            <a:off x="395536" y="1508783"/>
            <a:ext cx="3138558" cy="92333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9525" cap="flat" cmpd="sng">
            <a:solidFill>
              <a:srgbClr val="0000CC">
                <a:alpha val="100000"/>
              </a:srgbClr>
            </a:solidFill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>
            <a:spAutoFit/>
          </a:bodyPr>
          <a:lstStyle/>
          <a:p>
            <a:pPr eaLnBrk="0">
              <a:spcBef>
                <a:spcPts val="0"/>
              </a:spcBef>
              <a:spcAft>
                <a:spcPts val="0"/>
              </a:spcAft>
            </a:pPr>
            <a:r>
              <a:rPr lang="en-US" altLang="ko-KR" b="1" cap="none" dirty="0">
                <a:solidFill>
                  <a:srgbClr val="0066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if </a:t>
            </a:r>
            <a:r>
              <a:rPr lang="en-US" altLang="ko-KR" b="1" cap="none" dirty="0">
                <a:solidFill>
                  <a:srgbClr val="0000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expression</a:t>
            </a:r>
            <a:r>
              <a:rPr lang="en-US" altLang="ko-KR" b="1" cap="none" dirty="0">
                <a:solidFill>
                  <a:srgbClr val="0066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ko-KR" b="1" cap="none" dirty="0">
                <a:solidFill>
                  <a:srgbClr val="0000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lang="en-US" altLang="ko-KR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条件表达式</a:t>
            </a:r>
            <a:r>
              <a:rPr lang="en-US" altLang="ko-KR" b="1" cap="none" dirty="0">
                <a:solidFill>
                  <a:srgbClr val="0000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  <a:endParaRPr lang="ko-KR" altLang="en-US" b="1" cap="none" dirty="0">
              <a:solidFill>
                <a:srgbClr val="0000CC"/>
              </a:solidFill>
              <a:latin typeface="华文楷体" panose="02010600040101010101" pitchFamily="2" charset="-122"/>
            </a:endParaRPr>
          </a:p>
          <a:p>
            <a:pPr eaLnBrk="0">
              <a:spcBef>
                <a:spcPts val="0"/>
              </a:spcBef>
              <a:spcAft>
                <a:spcPts val="0"/>
              </a:spcAft>
            </a:pPr>
            <a:r>
              <a:rPr lang="en-US" altLang="ko-KR" b="1" cap="none" dirty="0">
                <a:solidFill>
                  <a:srgbClr val="0000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</a:t>
            </a:r>
            <a:r>
              <a:rPr lang="en-US" altLang="ko-KR" b="1" dirty="0">
                <a:solidFill>
                  <a:srgbClr val="0000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statements A </a:t>
            </a:r>
            <a:r>
              <a:rPr lang="en-US" altLang="ko-KR" b="1" cap="none" dirty="0">
                <a:solidFill>
                  <a:srgbClr val="0000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lang="zh-CN" altLang="en-US" b="1" cap="none" dirty="0">
                <a:solidFill>
                  <a:srgbClr val="0000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执行</a:t>
            </a:r>
            <a:r>
              <a:rPr lang="en-US" altLang="ko-KR" b="1" cap="none" dirty="0" err="1">
                <a:solidFill>
                  <a:srgbClr val="0000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语句组A</a:t>
            </a:r>
            <a:r>
              <a:rPr lang="en-US" altLang="ko-KR" b="1" cap="none" dirty="0">
                <a:solidFill>
                  <a:srgbClr val="0000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  <a:endParaRPr lang="ko-KR" altLang="en-US" b="1" cap="none" dirty="0">
              <a:solidFill>
                <a:srgbClr val="0000CC"/>
              </a:solidFill>
              <a:latin typeface="华文楷体" panose="02010600040101010101" pitchFamily="2" charset="-122"/>
            </a:endParaRPr>
          </a:p>
          <a:p>
            <a:pPr marL="0" indent="0" algn="l" defTabSz="914400" eaLnBrk="0" fontAlgn="base" latinLnBrk="0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b="1" cap="none" dirty="0">
                <a:solidFill>
                  <a:srgbClr val="0066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end</a:t>
            </a:r>
            <a:endParaRPr lang="ko-KR" altLang="en-US" b="1" cap="none" dirty="0">
              <a:solidFill>
                <a:srgbClr val="006600"/>
              </a:solidFill>
              <a:latin typeface="华文楷体" panose="02010600040101010101" pitchFamily="2" charset="-122"/>
              <a:ea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19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4" grpId="0"/>
      <p:bldP spid="28" grpId="0" animBg="1"/>
      <p:bldP spid="29" grpId="0"/>
      <p:bldP spid="32" grpId="0" animBg="1"/>
      <p:bldP spid="34" grpId="0"/>
      <p:bldP spid="2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850AEC20-62F4-923D-4B09-DBF66AC7FA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151085"/>
            <a:ext cx="5057931" cy="3477875"/>
          </a:xfrm>
          <a:prstGeom prst="rect">
            <a:avLst/>
          </a:prstGeom>
          <a:solidFill>
            <a:schemeClr val="bg1"/>
          </a:solidFill>
          <a:ln w="9525">
            <a:solidFill>
              <a:srgbClr val="0000CC"/>
            </a:solidFill>
            <a:miter lim="800000"/>
          </a:ln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0"/>
              </a:spcBef>
              <a:buClr>
                <a:schemeClr val="folHlink"/>
              </a:buClr>
              <a:buSzPct val="60000"/>
            </a:pPr>
            <a:r>
              <a:rPr lang="en-US" altLang="zh-CN" sz="2200" b="0" dirty="0">
                <a:solidFill>
                  <a:srgbClr val="006600"/>
                </a:solidFill>
                <a:latin typeface="Courier New" panose="02070309020205020404" pitchFamily="49" charset="0"/>
                <a:sym typeface="Courier New" panose="02070309020205020404" pitchFamily="49" charset="0"/>
              </a:rPr>
              <a:t>if </a:t>
            </a:r>
            <a:r>
              <a:rPr lang="en-US" altLang="zh-CN" sz="2200" b="0" dirty="0">
                <a:solidFill>
                  <a:srgbClr val="0000CC"/>
                </a:solidFill>
                <a:latin typeface="Courier New" panose="02070309020205020404" pitchFamily="49" charset="0"/>
                <a:sym typeface="Courier New" panose="02070309020205020404" pitchFamily="49" charset="0"/>
              </a:rPr>
              <a:t>expression1 </a:t>
            </a:r>
            <a:r>
              <a:rPr lang="en-US" altLang="zh-CN" sz="2200" b="0" dirty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  <a:sym typeface="黑体" panose="02010609060101010101" pitchFamily="2" charset="-122"/>
              </a:rPr>
              <a:t>（</a:t>
            </a:r>
            <a:r>
              <a:rPr lang="zh-CN" altLang="en-US" sz="2200" b="0" dirty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  <a:sym typeface="黑体" panose="02010609060101010101" pitchFamily="2" charset="-122"/>
              </a:rPr>
              <a:t>条件</a:t>
            </a:r>
            <a:r>
              <a:rPr lang="en-US" altLang="zh-CN" sz="2200" b="0" dirty="0">
                <a:solidFill>
                  <a:srgbClr val="0000CC"/>
                </a:solidFill>
                <a:latin typeface="Courier New" panose="02070309020205020404" pitchFamily="49" charset="0"/>
                <a:ea typeface="黑体" panose="02010609060101010101" pitchFamily="2" charset="-122"/>
                <a:sym typeface="Courier New" panose="02070309020205020404" pitchFamily="49" charset="0"/>
              </a:rPr>
              <a:t>1</a:t>
            </a:r>
            <a:r>
              <a:rPr lang="zh-CN" altLang="en-US" sz="2200" b="0" dirty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  <a:sym typeface="黑体" panose="02010609060101010101" pitchFamily="2" charset="-122"/>
              </a:rPr>
              <a:t>）</a:t>
            </a:r>
          </a:p>
          <a:p>
            <a:pPr>
              <a:spcBef>
                <a:spcPts val="0"/>
              </a:spcBef>
              <a:buClr>
                <a:schemeClr val="folHlink"/>
              </a:buClr>
              <a:buSzPct val="60000"/>
            </a:pPr>
            <a:r>
              <a:rPr lang="zh-CN" altLang="en-US" sz="2200" b="0" dirty="0">
                <a:solidFill>
                  <a:srgbClr val="006600"/>
                </a:solidFill>
                <a:latin typeface="Courier New" panose="02070309020205020404" pitchFamily="49" charset="0"/>
                <a:sym typeface="Courier New" panose="02070309020205020404" pitchFamily="49" charset="0"/>
              </a:rPr>
              <a:t>   </a:t>
            </a:r>
            <a:r>
              <a:rPr lang="en-US" altLang="zh-CN" sz="2200" b="0" dirty="0">
                <a:solidFill>
                  <a:srgbClr val="0000CC"/>
                </a:solidFill>
                <a:latin typeface="Courier New" panose="02070309020205020404" pitchFamily="49" charset="0"/>
                <a:sym typeface="Courier New" panose="02070309020205020404" pitchFamily="49" charset="0"/>
              </a:rPr>
              <a:t>statements1（</a:t>
            </a:r>
            <a:r>
              <a:rPr lang="zh-CN" altLang="en-US" sz="2200" b="0" dirty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  <a:sym typeface="Courier New" panose="02070309020205020404" pitchFamily="49" charset="0"/>
              </a:rPr>
              <a:t>执行</a:t>
            </a:r>
            <a:r>
              <a:rPr lang="zh-CN" altLang="en-US" sz="2200" b="0" dirty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  <a:sym typeface="黑体" panose="02010609060101010101" pitchFamily="2" charset="-122"/>
              </a:rPr>
              <a:t>语句组</a:t>
            </a:r>
            <a:r>
              <a:rPr lang="zh-CN" altLang="en-US" sz="2200" b="0" dirty="0">
                <a:solidFill>
                  <a:srgbClr val="0000CC"/>
                </a:solidFill>
                <a:latin typeface="Courier New" panose="02070309020205020404" pitchFamily="49" charset="0"/>
                <a:sym typeface="Courier New" panose="02070309020205020404" pitchFamily="49" charset="0"/>
              </a:rPr>
              <a:t>1）</a:t>
            </a:r>
          </a:p>
          <a:p>
            <a:pPr>
              <a:spcBef>
                <a:spcPts val="0"/>
              </a:spcBef>
              <a:buClr>
                <a:schemeClr val="folHlink"/>
              </a:buClr>
              <a:buSzPct val="60000"/>
            </a:pPr>
            <a:r>
              <a:rPr lang="en-US" altLang="zh-CN" sz="2200" dirty="0" err="1">
                <a:solidFill>
                  <a:srgbClr val="00B0F0"/>
                </a:solidFill>
                <a:sym typeface="Courier New" panose="02070309020205020404" pitchFamily="49" charset="0"/>
              </a:rPr>
              <a:t>elseif</a:t>
            </a:r>
            <a:r>
              <a:rPr lang="en-US" altLang="zh-CN" sz="2200" b="0" dirty="0">
                <a:solidFill>
                  <a:srgbClr val="006600"/>
                </a:solidFill>
                <a:latin typeface="Courier New" panose="02070309020205020404" pitchFamily="49" charset="0"/>
                <a:sym typeface="Courier New" panose="02070309020205020404" pitchFamily="49" charset="0"/>
              </a:rPr>
              <a:t> </a:t>
            </a:r>
            <a:r>
              <a:rPr lang="en-US" altLang="zh-CN" sz="2200" b="0" dirty="0">
                <a:solidFill>
                  <a:srgbClr val="0000CC"/>
                </a:solidFill>
                <a:latin typeface="Courier New" panose="02070309020205020404" pitchFamily="49" charset="0"/>
                <a:sym typeface="Courier New" panose="02070309020205020404" pitchFamily="49" charset="0"/>
              </a:rPr>
              <a:t>expression2（</a:t>
            </a:r>
            <a:r>
              <a:rPr lang="zh-CN" altLang="en-US" sz="2200" b="0" dirty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  <a:sym typeface="黑体" panose="02010609060101010101" pitchFamily="2" charset="-122"/>
              </a:rPr>
              <a:t>条件</a:t>
            </a:r>
            <a:r>
              <a:rPr lang="en-US" altLang="zh-CN" sz="2200" b="0" dirty="0">
                <a:solidFill>
                  <a:srgbClr val="0000CC"/>
                </a:solidFill>
                <a:latin typeface="Courier New" panose="02070309020205020404" pitchFamily="49" charset="0"/>
                <a:sym typeface="Courier New" panose="02070309020205020404" pitchFamily="49" charset="0"/>
              </a:rPr>
              <a:t>2</a:t>
            </a:r>
            <a:r>
              <a:rPr lang="zh-CN" altLang="en-US" sz="2200" b="0" dirty="0">
                <a:solidFill>
                  <a:srgbClr val="0000CC"/>
                </a:solidFill>
                <a:latin typeface="Courier New" panose="02070309020205020404" pitchFamily="49" charset="0"/>
                <a:sym typeface="Courier New" panose="02070309020205020404" pitchFamily="49" charset="0"/>
              </a:rPr>
              <a:t>）</a:t>
            </a:r>
          </a:p>
          <a:p>
            <a:pPr>
              <a:spcBef>
                <a:spcPts val="0"/>
              </a:spcBef>
              <a:buClr>
                <a:schemeClr val="folHlink"/>
              </a:buClr>
              <a:buSzPct val="60000"/>
            </a:pPr>
            <a:r>
              <a:rPr lang="en-US" altLang="zh-CN" sz="2200" b="0" dirty="0">
                <a:solidFill>
                  <a:srgbClr val="006600"/>
                </a:solidFill>
                <a:latin typeface="Courier New" panose="02070309020205020404" pitchFamily="49" charset="0"/>
                <a:sym typeface="Courier New" panose="02070309020205020404" pitchFamily="49" charset="0"/>
              </a:rPr>
              <a:t>   </a:t>
            </a:r>
            <a:r>
              <a:rPr lang="en-US" altLang="zh-CN" sz="2200" b="0" dirty="0">
                <a:solidFill>
                  <a:srgbClr val="0000CC"/>
                </a:solidFill>
                <a:latin typeface="Courier New" panose="02070309020205020404" pitchFamily="49" charset="0"/>
                <a:sym typeface="Courier New" panose="02070309020205020404" pitchFamily="49" charset="0"/>
              </a:rPr>
              <a:t>statements2（</a:t>
            </a:r>
            <a:r>
              <a:rPr lang="zh-CN" altLang="en-US" sz="2200" b="0" dirty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  <a:sym typeface="Courier New" panose="02070309020205020404" pitchFamily="49" charset="0"/>
              </a:rPr>
              <a:t>执行</a:t>
            </a:r>
            <a:r>
              <a:rPr lang="zh-CN" altLang="en-US" sz="2200" b="0" dirty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  <a:sym typeface="黑体" panose="02010609060101010101" pitchFamily="2" charset="-122"/>
              </a:rPr>
              <a:t>语句组</a:t>
            </a:r>
            <a:r>
              <a:rPr lang="zh-CN" altLang="en-US" sz="2200" b="0" dirty="0">
                <a:solidFill>
                  <a:srgbClr val="0000CC"/>
                </a:solidFill>
                <a:latin typeface="Courier New" panose="02070309020205020404" pitchFamily="49" charset="0"/>
                <a:sym typeface="Courier New" panose="02070309020205020404" pitchFamily="49" charset="0"/>
              </a:rPr>
              <a:t>2）</a:t>
            </a:r>
          </a:p>
          <a:p>
            <a:pPr>
              <a:spcBef>
                <a:spcPts val="0"/>
              </a:spcBef>
              <a:buClr>
                <a:schemeClr val="folHlink"/>
              </a:buClr>
              <a:buSzPct val="60000"/>
            </a:pPr>
            <a:r>
              <a:rPr lang="en-US" altLang="zh-CN" sz="2200" b="0" dirty="0">
                <a:solidFill>
                  <a:srgbClr val="0000CC"/>
                </a:solidFill>
                <a:latin typeface="Courier New" panose="02070309020205020404" pitchFamily="49" charset="0"/>
                <a:sym typeface="Courier New" panose="02070309020205020404" pitchFamily="49" charset="0"/>
              </a:rPr>
              <a:t> ... ...</a:t>
            </a:r>
            <a:r>
              <a:rPr lang="en-US" altLang="zh-CN" sz="2200" b="0" dirty="0">
                <a:solidFill>
                  <a:srgbClr val="006600"/>
                </a:solidFill>
                <a:latin typeface="Courier New" panose="02070309020205020404" pitchFamily="49" charset="0"/>
                <a:sym typeface="Courier New" panose="02070309020205020404" pitchFamily="49" charset="0"/>
              </a:rPr>
              <a:t> </a:t>
            </a:r>
            <a:endParaRPr lang="zh-CN" altLang="en-US" sz="2200" b="0" dirty="0">
              <a:solidFill>
                <a:srgbClr val="006600"/>
              </a:solidFill>
              <a:latin typeface="Courier New" panose="02070309020205020404" pitchFamily="49" charset="0"/>
              <a:sym typeface="Courier New" panose="02070309020205020404" pitchFamily="49" charset="0"/>
            </a:endParaRPr>
          </a:p>
          <a:p>
            <a:pPr>
              <a:spcBef>
                <a:spcPts val="0"/>
              </a:spcBef>
              <a:buClr>
                <a:schemeClr val="folHlink"/>
              </a:buClr>
              <a:buSzPct val="60000"/>
            </a:pPr>
            <a:r>
              <a:rPr lang="en-US" altLang="zh-CN" sz="2200" dirty="0" err="1">
                <a:solidFill>
                  <a:srgbClr val="00B0F0"/>
                </a:solidFill>
                <a:sym typeface="Courier New" panose="02070309020205020404" pitchFamily="49" charset="0"/>
              </a:rPr>
              <a:t>elseif</a:t>
            </a:r>
            <a:r>
              <a:rPr lang="en-US" altLang="zh-CN" sz="2200" dirty="0">
                <a:solidFill>
                  <a:srgbClr val="FF0000"/>
                </a:solidFill>
                <a:latin typeface="Courier New" panose="02070309020205020404" pitchFamily="49" charset="0"/>
                <a:sym typeface="Courier New" panose="02070309020205020404" pitchFamily="49" charset="0"/>
              </a:rPr>
              <a:t> </a:t>
            </a:r>
            <a:r>
              <a:rPr lang="en-US" altLang="zh-CN" sz="2200" b="0" dirty="0" err="1">
                <a:solidFill>
                  <a:srgbClr val="0000CC"/>
                </a:solidFill>
                <a:latin typeface="Courier New" panose="02070309020205020404" pitchFamily="49" charset="0"/>
                <a:sym typeface="Courier New" panose="02070309020205020404" pitchFamily="49" charset="0"/>
              </a:rPr>
              <a:t>expressionm</a:t>
            </a:r>
            <a:r>
              <a:rPr lang="en-US" altLang="zh-CN" sz="2200" b="0" dirty="0">
                <a:solidFill>
                  <a:srgbClr val="0000CC"/>
                </a:solidFill>
                <a:latin typeface="Courier New" panose="02070309020205020404" pitchFamily="49" charset="0"/>
                <a:sym typeface="Courier New" panose="02070309020205020404" pitchFamily="49" charset="0"/>
              </a:rPr>
              <a:t>（</a:t>
            </a:r>
            <a:r>
              <a:rPr lang="zh-CN" altLang="en-US" sz="2200" b="0" dirty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  <a:sym typeface="黑体" panose="02010609060101010101" pitchFamily="2" charset="-122"/>
              </a:rPr>
              <a:t>条件</a:t>
            </a:r>
            <a:r>
              <a:rPr lang="en-US" altLang="zh-CN" sz="2200" b="0" dirty="0">
                <a:solidFill>
                  <a:srgbClr val="0000CC"/>
                </a:solidFill>
                <a:latin typeface="Courier New" panose="02070309020205020404" pitchFamily="49" charset="0"/>
                <a:sym typeface="Courier New" panose="02070309020205020404" pitchFamily="49" charset="0"/>
              </a:rPr>
              <a:t>n</a:t>
            </a:r>
            <a:r>
              <a:rPr lang="zh-CN" altLang="en-US" sz="2200" b="0" dirty="0">
                <a:solidFill>
                  <a:srgbClr val="0000CC"/>
                </a:solidFill>
                <a:latin typeface="Courier New" panose="02070309020205020404" pitchFamily="49" charset="0"/>
                <a:sym typeface="Courier New" panose="02070309020205020404" pitchFamily="49" charset="0"/>
              </a:rPr>
              <a:t>）</a:t>
            </a:r>
          </a:p>
          <a:p>
            <a:pPr>
              <a:spcBef>
                <a:spcPts val="0"/>
              </a:spcBef>
              <a:buClr>
                <a:schemeClr val="folHlink"/>
              </a:buClr>
              <a:buSzPct val="60000"/>
            </a:pPr>
            <a:r>
              <a:rPr lang="en-US" altLang="zh-CN" sz="2200" b="0" dirty="0">
                <a:solidFill>
                  <a:srgbClr val="006600"/>
                </a:solidFill>
                <a:latin typeface="Courier New" panose="02070309020205020404" pitchFamily="49" charset="0"/>
                <a:sym typeface="Courier New" panose="02070309020205020404" pitchFamily="49" charset="0"/>
              </a:rPr>
              <a:t>   </a:t>
            </a:r>
            <a:r>
              <a:rPr lang="en-US" altLang="zh-CN" sz="2200" b="0" dirty="0" err="1">
                <a:solidFill>
                  <a:srgbClr val="0000CC"/>
                </a:solidFill>
                <a:latin typeface="Courier New" panose="02070309020205020404" pitchFamily="49" charset="0"/>
                <a:sym typeface="Courier New" panose="02070309020205020404" pitchFamily="49" charset="0"/>
              </a:rPr>
              <a:t>statementsm</a:t>
            </a:r>
            <a:r>
              <a:rPr lang="en-US" altLang="zh-CN" sz="2200" b="0" dirty="0">
                <a:solidFill>
                  <a:srgbClr val="0000CC"/>
                </a:solidFill>
                <a:latin typeface="Courier New" panose="02070309020205020404" pitchFamily="49" charset="0"/>
                <a:sym typeface="Courier New" panose="02070309020205020404" pitchFamily="49" charset="0"/>
              </a:rPr>
              <a:t>（</a:t>
            </a:r>
            <a:r>
              <a:rPr lang="zh-CN" altLang="en-US" sz="2200" b="0" dirty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  <a:sym typeface="Courier New" panose="02070309020205020404" pitchFamily="49" charset="0"/>
              </a:rPr>
              <a:t>执行</a:t>
            </a:r>
            <a:r>
              <a:rPr lang="zh-CN" altLang="en-US" sz="2200" b="0" dirty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  <a:sym typeface="黑体" panose="02010609060101010101" pitchFamily="2" charset="-122"/>
              </a:rPr>
              <a:t>语句组</a:t>
            </a:r>
            <a:r>
              <a:rPr lang="en-US" altLang="zh-CN" sz="2200" b="0" dirty="0">
                <a:solidFill>
                  <a:srgbClr val="0000CC"/>
                </a:solidFill>
                <a:latin typeface="Courier New" panose="02070309020205020404" pitchFamily="49" charset="0"/>
                <a:sym typeface="Courier New" panose="02070309020205020404" pitchFamily="49" charset="0"/>
              </a:rPr>
              <a:t>n</a:t>
            </a:r>
            <a:r>
              <a:rPr lang="zh-CN" altLang="en-US" sz="2200" b="0" dirty="0">
                <a:solidFill>
                  <a:srgbClr val="0000CC"/>
                </a:solidFill>
                <a:latin typeface="Courier New" panose="02070309020205020404" pitchFamily="49" charset="0"/>
                <a:sym typeface="Courier New" panose="02070309020205020404" pitchFamily="49" charset="0"/>
              </a:rPr>
              <a:t>）</a:t>
            </a:r>
          </a:p>
          <a:p>
            <a:pPr>
              <a:buClr>
                <a:schemeClr val="folHlink"/>
              </a:buClr>
              <a:buSzPct val="60000"/>
            </a:pPr>
            <a:r>
              <a:rPr lang="en-US" altLang="zh-CN" sz="2200" dirty="0">
                <a:solidFill>
                  <a:srgbClr val="00B0F0"/>
                </a:solidFill>
                <a:sym typeface="Courier New" panose="02070309020205020404" pitchFamily="49" charset="0"/>
              </a:rPr>
              <a:t>else</a:t>
            </a:r>
            <a:endParaRPr lang="zh-CN" altLang="en-US" sz="2200" dirty="0">
              <a:solidFill>
                <a:srgbClr val="00B0F0"/>
              </a:solidFill>
              <a:sym typeface="Courier New" panose="02070309020205020404" pitchFamily="49" charset="0"/>
            </a:endParaRPr>
          </a:p>
          <a:p>
            <a:pPr>
              <a:spcBef>
                <a:spcPts val="0"/>
              </a:spcBef>
              <a:buClr>
                <a:schemeClr val="folHlink"/>
              </a:buClr>
              <a:buSzPct val="60000"/>
            </a:pPr>
            <a:r>
              <a:rPr lang="en-US" altLang="zh-CN" sz="2200" b="0" dirty="0">
                <a:solidFill>
                  <a:srgbClr val="006600"/>
                </a:solidFill>
                <a:latin typeface="Courier New" panose="02070309020205020404" pitchFamily="49" charset="0"/>
                <a:sym typeface="Courier New" panose="02070309020205020404" pitchFamily="49" charset="0"/>
              </a:rPr>
              <a:t>   </a:t>
            </a:r>
            <a:r>
              <a:rPr lang="en-US" altLang="zh-CN" sz="2200" b="0" dirty="0">
                <a:solidFill>
                  <a:srgbClr val="0000CC"/>
                </a:solidFill>
                <a:latin typeface="Courier New" panose="02070309020205020404" pitchFamily="49" charset="0"/>
                <a:sym typeface="Courier New" panose="02070309020205020404" pitchFamily="49" charset="0"/>
              </a:rPr>
              <a:t>statements（</a:t>
            </a:r>
            <a:r>
              <a:rPr lang="zh-CN" altLang="en-US" sz="2200" b="0" dirty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  <a:sym typeface="Courier New" panose="02070309020205020404" pitchFamily="49" charset="0"/>
              </a:rPr>
              <a:t>执行</a:t>
            </a:r>
            <a:r>
              <a:rPr lang="zh-CN" altLang="en-US" sz="2200" b="0" dirty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  <a:sym typeface="黑体" panose="02010609060101010101" pitchFamily="2" charset="-122"/>
              </a:rPr>
              <a:t>语句组</a:t>
            </a:r>
            <a:r>
              <a:rPr lang="en-US" altLang="zh-CN" sz="2200" b="0" dirty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  <a:sym typeface="黑体" panose="02010609060101010101" pitchFamily="2" charset="-122"/>
              </a:rPr>
              <a:t>n+1</a:t>
            </a:r>
            <a:r>
              <a:rPr lang="zh-CN" altLang="en-US" sz="2200" b="0" dirty="0">
                <a:solidFill>
                  <a:srgbClr val="0000CC"/>
                </a:solidFill>
                <a:latin typeface="Courier New" panose="02070309020205020404" pitchFamily="49" charset="0"/>
                <a:sym typeface="Courier New" panose="02070309020205020404" pitchFamily="49" charset="0"/>
              </a:rPr>
              <a:t>）</a:t>
            </a:r>
          </a:p>
          <a:p>
            <a:pPr>
              <a:spcBef>
                <a:spcPts val="0"/>
              </a:spcBef>
              <a:buClr>
                <a:schemeClr val="folHlink"/>
              </a:buClr>
              <a:buSzPct val="60000"/>
            </a:pPr>
            <a:r>
              <a:rPr lang="en-US" altLang="zh-CN" sz="2200" b="0" dirty="0">
                <a:solidFill>
                  <a:srgbClr val="006600"/>
                </a:solidFill>
                <a:latin typeface="Courier New" panose="02070309020205020404" pitchFamily="49" charset="0"/>
                <a:sym typeface="Courier New" panose="02070309020205020404" pitchFamily="49" charset="0"/>
              </a:rPr>
              <a:t>end</a:t>
            </a:r>
            <a:endParaRPr lang="zh-CN" altLang="en-US" sz="2200" b="0" dirty="0"/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EFC9F4A0-B88E-8525-4FA8-702FD93BC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1" y="729036"/>
            <a:ext cx="1944216" cy="4827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buClr>
                <a:srgbClr val="0000CC"/>
              </a:buClr>
            </a:pPr>
            <a:r>
              <a:rPr lang="zh-CN" altLang="en-US" sz="24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多分支结构</a:t>
            </a:r>
            <a:endParaRPr lang="zh-CN" altLang="en-US" sz="2400" b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7" name="Picture 4" descr="C:/Users/aibin/AppData/Roaming/JisuOffice/ETemp/5840_13657936/image19.jpeg">
            <a:extLst>
              <a:ext uri="{FF2B5EF4-FFF2-40B4-BE49-F238E27FC236}">
                <a16:creationId xmlns:a16="http://schemas.microsoft.com/office/drawing/2014/main" id="{0E624785-08C1-C761-08A6-0C6F2169B17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3152" y="1650826"/>
            <a:ext cx="3961264" cy="270734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8" name="形状 44036">
            <a:extLst>
              <a:ext uri="{FF2B5EF4-FFF2-40B4-BE49-F238E27FC236}">
                <a16:creationId xmlns:a16="http://schemas.microsoft.com/office/drawing/2014/main" id="{2B079AA1-C92B-013E-27CB-6C9182CDE1E6}"/>
              </a:ext>
            </a:extLst>
          </p:cNvPr>
          <p:cNvSpPr/>
          <p:nvPr/>
        </p:nvSpPr>
        <p:spPr>
          <a:xfrm rot="1670823">
            <a:off x="5614934" y="2388294"/>
            <a:ext cx="3284982" cy="109376"/>
          </a:xfrm>
          <a:prstGeom prst="rightArrow">
            <a:avLst/>
          </a:prstGeom>
          <a:solidFill>
            <a:srgbClr val="FF0000"/>
          </a:solidFill>
          <a:ln w="25400" cap="flat" cmpd="sng">
            <a:solidFill>
              <a:srgbClr val="FF0000">
                <a:alpha val="100000"/>
              </a:srgbClr>
            </a:solidFill>
            <a:prstDash val="solid"/>
          </a:ln>
          <a:scene3d>
            <a:camera prst="orthographicFront"/>
            <a:lightRig rig="threePt" dir="t"/>
          </a:scene3d>
          <a:sp3d>
            <a:bevelT prst="angle"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b="0" cap="none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0912F52-0D19-7C45-4F76-BD2B34A5D60C}"/>
              </a:ext>
            </a:extLst>
          </p:cNvPr>
          <p:cNvSpPr/>
          <p:nvPr/>
        </p:nvSpPr>
        <p:spPr>
          <a:xfrm>
            <a:off x="6676173" y="4367816"/>
            <a:ext cx="737702" cy="4339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ko-KR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ea typeface="Courier New" panose="02070309020205020404" pitchFamily="49" charset="0"/>
              </a:rPr>
              <a:t>end</a:t>
            </a:r>
            <a:endParaRPr lang="ko-KR" altLang="en-US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urier New" panose="02070309020205020404" pitchFamily="49" charset="0"/>
              <a:ea typeface="Courier New" panose="02070309020205020404" pitchFamily="49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32ACEF4-D517-14EB-2C31-B45594C0AC86}"/>
              </a:ext>
            </a:extLst>
          </p:cNvPr>
          <p:cNvSpPr txBox="1"/>
          <p:nvPr/>
        </p:nvSpPr>
        <p:spPr>
          <a:xfrm>
            <a:off x="6155638" y="2197526"/>
            <a:ext cx="7817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FFFF00"/>
                </a:solidFill>
                <a:highlight>
                  <a:srgbClr val="FF0000"/>
                </a:highlight>
                <a:sym typeface="Courier New" panose="02070309020205020404" pitchFamily="49" charset="0"/>
              </a:rPr>
              <a:t>elseif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8EF5-E6BE-5C4B-D053-2143BFC55F20}"/>
              </a:ext>
            </a:extLst>
          </p:cNvPr>
          <p:cNvSpPr txBox="1"/>
          <p:nvPr/>
        </p:nvSpPr>
        <p:spPr>
          <a:xfrm>
            <a:off x="8017488" y="3249962"/>
            <a:ext cx="7321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FFFF00"/>
                </a:solidFill>
                <a:highlight>
                  <a:srgbClr val="FF0000"/>
                </a:highlight>
                <a:sym typeface="Courier New" panose="02070309020205020404" pitchFamily="49" charset="0"/>
              </a:rPr>
              <a:t>else</a:t>
            </a:r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24624F4-CD59-39BC-3AFF-8F4BEC7BDD18}"/>
              </a:ext>
            </a:extLst>
          </p:cNvPr>
          <p:cNvSpPr/>
          <p:nvPr/>
        </p:nvSpPr>
        <p:spPr>
          <a:xfrm>
            <a:off x="5304130" y="880296"/>
            <a:ext cx="36606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0070C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多分支语句结构示意图</a:t>
            </a: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99BDB4C8-3529-41EB-ABAE-B80FE608907C}"/>
              </a:ext>
            </a:extLst>
          </p:cNvPr>
          <p:cNvSpPr txBox="1">
            <a:spLocks/>
          </p:cNvSpPr>
          <p:nvPr/>
        </p:nvSpPr>
        <p:spPr bwMode="auto">
          <a:xfrm>
            <a:off x="740789" y="115826"/>
            <a:ext cx="8151692" cy="547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600" kern="0" dirty="0"/>
              <a:t>§2.3.1 </a:t>
            </a:r>
            <a:r>
              <a:rPr lang="zh-CN" altLang="en-US" sz="2600" kern="0" dirty="0"/>
              <a:t>条件表达式</a:t>
            </a:r>
            <a:r>
              <a:rPr lang="en-US" altLang="zh-CN" sz="2600" kern="0" dirty="0">
                <a:solidFill>
                  <a:srgbClr val="FF0000"/>
                </a:solidFill>
              </a:rPr>
              <a:t>——</a:t>
            </a:r>
            <a:r>
              <a:rPr lang="zh-CN" altLang="en-US" sz="2600" kern="0" dirty="0">
                <a:solidFill>
                  <a:srgbClr val="FF0000"/>
                </a:solidFill>
              </a:rPr>
              <a:t>多分枝条件语句</a:t>
            </a:r>
            <a:r>
              <a:rPr lang="en-US" altLang="zh-CN" sz="2600" kern="0" dirty="0">
                <a:solidFill>
                  <a:srgbClr val="FF0000"/>
                </a:solidFill>
              </a:rPr>
              <a:t>(</a:t>
            </a:r>
            <a:r>
              <a:rPr lang="zh-CN" altLang="zh-CN" sz="2600" dirty="0">
                <a:solidFill>
                  <a:srgbClr val="FF0000"/>
                </a:solidFill>
              </a:rPr>
              <a:t>if</a:t>
            </a:r>
            <a:r>
              <a:rPr lang="en-US" altLang="zh-CN" sz="2600" dirty="0">
                <a:solidFill>
                  <a:srgbClr val="FF0000"/>
                </a:solidFill>
              </a:rPr>
              <a:t> elseif else end</a:t>
            </a:r>
            <a:r>
              <a:rPr lang="zh-CN" altLang="en-US" sz="2600" dirty="0">
                <a:solidFill>
                  <a:srgbClr val="FF0000"/>
                </a:solidFill>
              </a:rPr>
              <a:t>）</a:t>
            </a:r>
            <a:endParaRPr lang="zh-CN" altLang="en-US" sz="2600" kern="0" dirty="0">
              <a:solidFill>
                <a:srgbClr val="FF0000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ED47DB2-B96E-4DDA-856B-C9312284CBE4}"/>
              </a:ext>
            </a:extLst>
          </p:cNvPr>
          <p:cNvSpPr txBox="1"/>
          <p:nvPr/>
        </p:nvSpPr>
        <p:spPr>
          <a:xfrm rot="1734579">
            <a:off x="5869915" y="2005275"/>
            <a:ext cx="3177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从第一条的条件语句依次执行</a:t>
            </a:r>
          </a:p>
        </p:txBody>
      </p:sp>
    </p:spTree>
    <p:extLst>
      <p:ext uri="{BB962C8B-B14F-4D97-AF65-F5344CB8AC3E}">
        <p14:creationId xmlns:p14="http://schemas.microsoft.com/office/powerpoint/2010/main" val="453753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/>
      <p:bldP spid="11" grpId="0"/>
      <p:bldP spid="1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/>
          <p:nvPr/>
        </p:nvSpPr>
        <p:spPr bwMode="auto">
          <a:xfrm>
            <a:off x="127638" y="1409144"/>
            <a:ext cx="8888724" cy="3426579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</a:ln>
        </p:spPr>
        <p:txBody>
          <a:bodyPr vert="horz" wrap="square" lIns="91440" tIns="45720" rIns="91440" bIns="45720" numCol="1" anchor="ctr">
            <a:spAutoFit/>
          </a:bodyPr>
          <a:lstStyle/>
          <a:p>
            <a:pPr>
              <a:lnSpc>
                <a:spcPts val="2600"/>
              </a:lnSpc>
            </a:pPr>
            <a:r>
              <a:rPr lang="en-US" altLang="zh-CN" sz="2400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>
                <a:solidFill>
                  <a:srgbClr val="795E26"/>
                </a:solidFill>
                <a:latin typeface="Consolas" panose="020B0609020204030204" pitchFamily="49" charset="0"/>
              </a:rPr>
              <a:t>test1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(x, y)</a:t>
            </a:r>
          </a:p>
          <a:p>
            <a:pPr>
              <a:lnSpc>
                <a:spcPts val="26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sz="2400" dirty="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 x &lt; y</a:t>
            </a:r>
          </a:p>
          <a:p>
            <a:pPr>
              <a:lnSpc>
                <a:spcPts val="26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result = </a:t>
            </a:r>
            <a:r>
              <a:rPr lang="en-US" altLang="zh-CN" sz="2400" dirty="0">
                <a:solidFill>
                  <a:srgbClr val="A31515"/>
                </a:solidFill>
                <a:latin typeface="Consolas" panose="020B0609020204030204" pitchFamily="49" charset="0"/>
              </a:rPr>
              <a:t>"less than"</a:t>
            </a:r>
            <a:endParaRPr lang="en-US" altLang="zh-CN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26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sz="2400" dirty="0">
                <a:solidFill>
                  <a:srgbClr val="AF00DB"/>
                </a:solidFill>
                <a:latin typeface="Consolas" panose="020B0609020204030204" pitchFamily="49" charset="0"/>
              </a:rPr>
              <a:t>elseif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 x == y</a:t>
            </a:r>
          </a:p>
          <a:p>
            <a:pPr>
              <a:lnSpc>
                <a:spcPts val="26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result = </a:t>
            </a:r>
            <a:r>
              <a:rPr lang="en-US" altLang="zh-CN" sz="2400" dirty="0">
                <a:solidFill>
                  <a:srgbClr val="A31515"/>
                </a:solidFill>
                <a:latin typeface="Consolas" panose="020B0609020204030204" pitchFamily="49" charset="0"/>
              </a:rPr>
              <a:t>"equal to"</a:t>
            </a:r>
            <a:endParaRPr lang="en-US" altLang="zh-CN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26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sz="2400" dirty="0">
                <a:solidFill>
                  <a:srgbClr val="AF00DB"/>
                </a:solidFill>
                <a:latin typeface="Consolas" panose="020B0609020204030204" pitchFamily="49" charset="0"/>
              </a:rPr>
              <a:t>else</a:t>
            </a:r>
            <a:endParaRPr lang="en-US" altLang="zh-CN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26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result = </a:t>
            </a:r>
            <a:r>
              <a:rPr lang="en-US" altLang="zh-CN" sz="2400" dirty="0">
                <a:solidFill>
                  <a:srgbClr val="A31515"/>
                </a:solidFill>
                <a:latin typeface="Consolas" panose="020B0609020204030204" pitchFamily="49" charset="0"/>
              </a:rPr>
              <a:t>"greater than"</a:t>
            </a:r>
            <a:endParaRPr lang="en-US" altLang="zh-CN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26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sz="2400" dirty="0">
                <a:solidFill>
                  <a:srgbClr val="AF00DB"/>
                </a:solidFill>
                <a:latin typeface="Consolas" panose="020B0609020204030204" pitchFamily="49" charset="0"/>
              </a:rPr>
              <a:t>end</a:t>
            </a:r>
            <a:endParaRPr lang="en-US" altLang="zh-CN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26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sz="24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println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400" dirty="0">
                <a:solidFill>
                  <a:srgbClr val="A31515"/>
                </a:solidFill>
                <a:latin typeface="Consolas" panose="020B0609020204030204" pitchFamily="49" charset="0"/>
              </a:rPr>
              <a:t>"x is"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, result, </a:t>
            </a:r>
            <a:r>
              <a:rPr lang="en-US" altLang="zh-CN" sz="2400" dirty="0">
                <a:solidFill>
                  <a:srgbClr val="A31515"/>
                </a:solidFill>
                <a:latin typeface="Consolas" panose="020B0609020204030204" pitchFamily="49" charset="0"/>
              </a:rPr>
              <a:t>" y"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)  </a:t>
            </a:r>
            <a:r>
              <a:rPr lang="en-US" altLang="zh-CN" sz="2400" dirty="0">
                <a:solidFill>
                  <a:srgbClr val="008000"/>
                </a:solidFill>
                <a:latin typeface="Consolas" panose="020B0609020204030204" pitchFamily="49" charset="0"/>
              </a:rPr>
              <a:t>#</a:t>
            </a:r>
            <a:r>
              <a:rPr lang="zh-CN" alt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打印显示结果</a:t>
            </a:r>
            <a:endParaRPr lang="zh-CN" alt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2600"/>
              </a:lnSpc>
            </a:pPr>
            <a:r>
              <a:rPr lang="en-US" altLang="zh-CN" sz="2400" dirty="0">
                <a:solidFill>
                  <a:srgbClr val="AF00DB"/>
                </a:solidFill>
                <a:latin typeface="Consolas" panose="020B0609020204030204" pitchFamily="49" charset="0"/>
              </a:rPr>
              <a:t>end</a:t>
            </a:r>
            <a:endParaRPr lang="en-US" altLang="zh-CN" sz="2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69669" y="885042"/>
            <a:ext cx="8544746" cy="553879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algn="dist" eaLnBrk="0">
              <a:spcBef>
                <a:spcPts val="0"/>
              </a:spcBef>
              <a:spcAft>
                <a:spcPts val="0"/>
              </a:spcAft>
              <a:tabLst>
                <a:tab pos="417830" algn="l"/>
              </a:tabLst>
            </a:pPr>
            <a:r>
              <a:rPr lang="en-US" altLang="ko-KR" sz="2200" b="1" cap="none" dirty="0">
                <a:ln w="9525" cap="flat" cmpd="sng"/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200" b="1" cap="none" dirty="0">
                <a:ln w="9525" cap="flat" cmpd="sng"/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编写多分枝</a:t>
            </a:r>
            <a:r>
              <a:rPr lang="en-US" altLang="ko-KR" sz="2200" b="1" cap="none" dirty="0" err="1">
                <a:ln w="9525" cap="flat" cmpd="sng"/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条件语句</a:t>
            </a:r>
            <a:r>
              <a:rPr lang="zh-CN" altLang="en-US" sz="2200" b="1" cap="none" dirty="0">
                <a:ln w="9525" cap="flat" cmpd="sng"/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的函数文件，</a:t>
            </a:r>
            <a:r>
              <a:rPr lang="zh-CN" altLang="en-US" sz="2200" b="1" dirty="0">
                <a:ln w="9525" cap="flat" cmpd="sng"/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输入为</a:t>
            </a:r>
            <a:r>
              <a:rPr lang="en-US" altLang="zh-CN" sz="2200" b="1" dirty="0">
                <a:ln w="9525" cap="flat" cmpd="sng"/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200" b="1" dirty="0">
                <a:ln w="9525" cap="flat" cmpd="sng"/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200" b="1" dirty="0">
                <a:ln w="9525" cap="flat" cmpd="sng"/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2200" b="1" dirty="0">
                <a:ln w="9525" cap="flat" cmpd="sng"/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200" b="1" cap="none" dirty="0">
                <a:ln w="9525" cap="flat" cmpd="sng"/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判断</a:t>
            </a:r>
            <a:r>
              <a:rPr lang="en-US" altLang="zh-CN" sz="2200" b="1" cap="none" dirty="0">
                <a:ln w="9525" cap="flat" cmpd="sng"/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200" b="1" cap="none" dirty="0">
                <a:ln w="9525" cap="flat" cmpd="sng"/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200" b="1" cap="none" dirty="0">
                <a:ln w="9525" cap="flat" cmpd="sng"/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2200" b="1" cap="none" dirty="0">
                <a:ln w="9525" cap="flat" cmpd="sng"/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的大小</a:t>
            </a:r>
            <a:endParaRPr lang="en-US" altLang="ko-KR" sz="2200" b="1" cap="none" dirty="0">
              <a:ln w="9525" cap="flat" cmpd="sng"/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波形 12"/>
          <p:cNvSpPr/>
          <p:nvPr/>
        </p:nvSpPr>
        <p:spPr>
          <a:xfrm>
            <a:off x="169982" y="817676"/>
            <a:ext cx="457605" cy="448848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just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endParaRPr lang="ko-KR" altLang="en-US" sz="20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0CE2E90E-5E88-479A-A7A7-9CFC9FB37AAA}"/>
              </a:ext>
            </a:extLst>
          </p:cNvPr>
          <p:cNvSpPr txBox="1">
            <a:spLocks/>
          </p:cNvSpPr>
          <p:nvPr/>
        </p:nvSpPr>
        <p:spPr bwMode="auto">
          <a:xfrm>
            <a:off x="1259632" y="114591"/>
            <a:ext cx="6017975" cy="547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800" kern="0" dirty="0"/>
              <a:t>§2.3.1 </a:t>
            </a:r>
            <a:r>
              <a:rPr lang="zh-CN" altLang="en-US" sz="2800" kern="0" dirty="0"/>
              <a:t>条件表达式</a:t>
            </a:r>
            <a:r>
              <a:rPr lang="en-US" altLang="zh-CN" sz="2800" kern="0" dirty="0"/>
              <a:t>——</a:t>
            </a:r>
            <a:r>
              <a:rPr lang="zh-CN" altLang="en-US" sz="2800" kern="0" dirty="0">
                <a:solidFill>
                  <a:srgbClr val="FF0000"/>
                </a:solidFill>
              </a:rPr>
              <a:t>多分枝条件语句案例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371E4BE-CB83-4315-B361-9402069ABB71}"/>
              </a:ext>
            </a:extLst>
          </p:cNvPr>
          <p:cNvSpPr txBox="1"/>
          <p:nvPr/>
        </p:nvSpPr>
        <p:spPr>
          <a:xfrm>
            <a:off x="5436096" y="2067694"/>
            <a:ext cx="3219911" cy="861774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eaLnBrk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tabLst>
                <a:tab pos="417830" algn="l"/>
              </a:tabLst>
            </a:pPr>
            <a:r>
              <a:rPr lang="en-US" altLang="ko-KR" sz="2000" dirty="0">
                <a:ln w="9525" cap="flat" cmpd="sng"/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#</a:t>
            </a:r>
            <a:r>
              <a:rPr lang="zh-CN" altLang="en-US" sz="2000" dirty="0">
                <a:ln w="9525" cap="flat" cmpd="sng"/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调用</a:t>
            </a:r>
            <a:r>
              <a:rPr lang="en-US" altLang="zh-CN" sz="2000" dirty="0">
                <a:ln w="9525" cap="flat" cmpd="sng"/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x=2, y=3</a:t>
            </a:r>
            <a:r>
              <a:rPr lang="zh-CN" altLang="en-US" sz="2000" dirty="0">
                <a:ln w="9525" cap="flat" cmpd="sng"/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时比较结果</a:t>
            </a:r>
            <a:endParaRPr lang="en-US" altLang="zh-CN" sz="2000" dirty="0">
              <a:ln w="9525" cap="flat" cmpd="sng"/>
              <a:solidFill>
                <a:schemeClr val="bg1"/>
              </a:solidFill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  <a:p>
            <a:pPr eaLnBrk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tabLst>
                <a:tab pos="417830" algn="l"/>
              </a:tabLst>
            </a:pPr>
            <a:r>
              <a:rPr lang="en-US" altLang="ko-KR" sz="2000" cap="none" dirty="0">
                <a:ln w="9525" cap="flat" cmpd="sng"/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test(2,3)</a:t>
            </a:r>
          </a:p>
          <a:p>
            <a:pPr marL="0" indent="0" algn="l" defTabSz="914400" eaLnBrk="0" fontAlgn="base" latinLnBrk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  <a:tabLst>
                <a:tab pos="417830" algn="l"/>
              </a:tabLst>
            </a:pPr>
            <a:r>
              <a:rPr lang="zh-CN" altLang="en-US" sz="2000" dirty="0">
                <a:ln w="9525" cap="flat" cmpd="sng"/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结果</a:t>
            </a:r>
            <a:r>
              <a:rPr lang="en-US" altLang="ko-KR" sz="2000" cap="none" dirty="0">
                <a:ln w="9525" cap="flat" cmpd="sng"/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x is less than y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5469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AA3EA466-6386-4BFC-8B18-9889045DFF31}"/>
              </a:ext>
            </a:extLst>
          </p:cNvPr>
          <p:cNvSpPr txBox="1"/>
          <p:nvPr/>
        </p:nvSpPr>
        <p:spPr>
          <a:xfrm>
            <a:off x="361189" y="3010688"/>
            <a:ext cx="8544746" cy="156966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x=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66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x&gt;=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</a:t>
            </a:r>
            <a:endParaRPr lang="en-US" altLang="zh-C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及格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endParaRPr lang="en-US" altLang="zh-C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不及格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r>
              <a:rPr lang="en-US" altLang="zh-C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altLang="zh-C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F58DDEF-5174-AF47-ADAD-616D4AAB571F}"/>
              </a:ext>
            </a:extLst>
          </p:cNvPr>
          <p:cNvSpPr/>
          <p:nvPr/>
        </p:nvSpPr>
        <p:spPr>
          <a:xfrm>
            <a:off x="380002" y="702398"/>
            <a:ext cx="7144326" cy="40729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buClr>
                <a:srgbClr val="0000CC"/>
              </a:buClr>
            </a:pPr>
            <a:r>
              <a:rPr lang="zh-CN" altLang="en-US" sz="2000" b="1" i="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双分支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if-else-end</a:t>
            </a:r>
            <a:r>
              <a:rPr lang="zh-CN" altLang="en-US" sz="2000" b="1" i="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</a:t>
            </a:r>
            <a:r>
              <a:rPr lang="zh-CN" altLang="en-US" sz="2000" b="1" i="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简化为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b="1" i="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000" b="1" i="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000" b="1" i="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三元运算符</a:t>
            </a:r>
            <a:endParaRPr lang="ko-KR" altLang="en-US" sz="2000" b="1" dirty="0">
              <a:solidFill>
                <a:srgbClr val="0070C0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E43D59F-D72F-AB58-9055-57AA9CF4EFB0}"/>
              </a:ext>
            </a:extLst>
          </p:cNvPr>
          <p:cNvSpPr/>
          <p:nvPr/>
        </p:nvSpPr>
        <p:spPr bwMode="auto">
          <a:xfrm>
            <a:off x="439119" y="1234344"/>
            <a:ext cx="3052761" cy="1477328"/>
          </a:xfrm>
          <a:prstGeom prst="rect">
            <a:avLst/>
          </a:prstGeom>
          <a:noFill/>
          <a:ln w="9525" cap="flat" cmpd="sng">
            <a:solidFill>
              <a:srgbClr val="0000CC">
                <a:alpha val="100000"/>
              </a:srgbClr>
            </a:solidFill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>
            <a:spAutoFit/>
          </a:bodyPr>
          <a:lstStyle/>
          <a:p>
            <a:pPr eaLnBrk="0">
              <a:spcBef>
                <a:spcPts val="0"/>
              </a:spcBef>
              <a:spcAft>
                <a:spcPts val="0"/>
              </a:spcAft>
            </a:pPr>
            <a:r>
              <a:rPr lang="en-US" altLang="ko-KR" b="1" cap="none" dirty="0">
                <a:solidFill>
                  <a:srgbClr val="006600"/>
                </a:solidFill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if </a:t>
            </a:r>
            <a:r>
              <a:rPr lang="en-US" altLang="ko-KR" b="1" cap="none" dirty="0">
                <a:solidFill>
                  <a:srgbClr val="0070C0"/>
                </a:solidFill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expression</a:t>
            </a:r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  A</a:t>
            </a:r>
            <a:r>
              <a:rPr lang="en-US" altLang="ko-KR" b="1" cap="none" dirty="0">
                <a:solidFill>
                  <a:srgbClr val="0070C0"/>
                </a:solidFill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（</a:t>
            </a:r>
            <a:r>
              <a:rPr lang="en-US" altLang="ko-KR" b="1" dirty="0" err="1">
                <a:solidFill>
                  <a:srgbClr val="FF0000"/>
                </a:solidFill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条件A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）</a:t>
            </a:r>
            <a:endParaRPr lang="ko-KR" altLang="en-US" b="1" dirty="0">
              <a:solidFill>
                <a:srgbClr val="FF0000"/>
              </a:solidFill>
              <a:latin typeface="Times New Roman" panose="02020603050405020304" pitchFamily="18" charset="0"/>
              <a:ea typeface="Courier New" panose="02070309020205020404" pitchFamily="49" charset="0"/>
              <a:cs typeface="Times New Roman" panose="02020603050405020304" pitchFamily="18" charset="0"/>
            </a:endParaRPr>
          </a:p>
          <a:p>
            <a:pPr eaLnBrk="0">
              <a:spcBef>
                <a:spcPts val="0"/>
              </a:spcBef>
              <a:spcAft>
                <a:spcPts val="0"/>
              </a:spcAft>
            </a:pPr>
            <a:r>
              <a:rPr lang="en-US" altLang="ko-KR" b="1" cap="none" dirty="0">
                <a:solidFill>
                  <a:srgbClr val="006600"/>
                </a:solidFill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  </a:t>
            </a:r>
            <a:r>
              <a:rPr lang="en-US" altLang="ko-KR" b="1" dirty="0">
                <a:solidFill>
                  <a:srgbClr val="0070C0"/>
                </a:solidFill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statements  </a:t>
            </a:r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B</a:t>
            </a:r>
            <a:r>
              <a:rPr lang="en-US" altLang="ko-KR" b="1" dirty="0">
                <a:solidFill>
                  <a:srgbClr val="FF0000"/>
                </a:solidFill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（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语句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B</a:t>
            </a:r>
            <a:r>
              <a:rPr lang="en-US" altLang="ko-KR" b="1" dirty="0">
                <a:solidFill>
                  <a:srgbClr val="FF0000"/>
                </a:solidFill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）</a:t>
            </a:r>
            <a:endParaRPr lang="ko-KR" altLang="en-US" b="1" dirty="0">
              <a:solidFill>
                <a:srgbClr val="FF0000"/>
              </a:solidFill>
              <a:latin typeface="Times New Roman" panose="02020603050405020304" pitchFamily="18" charset="0"/>
              <a:ea typeface="Courier New" panose="02070309020205020404" pitchFamily="49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Clr>
                <a:schemeClr val="folHlink"/>
              </a:buClr>
              <a:buSzPct val="60000"/>
            </a:pPr>
            <a:r>
              <a:rPr lang="en-US" altLang="zh-CN" b="1" dirty="0">
                <a:solidFill>
                  <a:srgbClr val="006600"/>
                </a:solidFill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else</a:t>
            </a:r>
          </a:p>
          <a:p>
            <a:pPr eaLnBrk="0"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ct val="60000"/>
            </a:pPr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  statements  C </a:t>
            </a:r>
            <a:r>
              <a:rPr lang="en-US" altLang="ko-KR" b="1" dirty="0">
                <a:solidFill>
                  <a:srgbClr val="FF0000"/>
                </a:solidFill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（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语句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C</a:t>
            </a:r>
            <a:r>
              <a:rPr lang="en-US" altLang="ko-KR" b="1" dirty="0">
                <a:solidFill>
                  <a:srgbClr val="FF0000"/>
                </a:solidFill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）</a:t>
            </a:r>
            <a:endParaRPr lang="ko-KR" altLang="en-US" b="1" dirty="0">
              <a:solidFill>
                <a:srgbClr val="FF0000"/>
              </a:solidFill>
              <a:latin typeface="Times New Roman" panose="02020603050405020304" pitchFamily="18" charset="0"/>
              <a:ea typeface="Courier New" panose="02070309020205020404" pitchFamily="49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ko-KR" b="1" cap="none" dirty="0">
                <a:solidFill>
                  <a:srgbClr val="006600"/>
                </a:solidFill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end</a:t>
            </a:r>
            <a:endParaRPr lang="ko-KR" altLang="en-US" b="1" cap="none" dirty="0">
              <a:solidFill>
                <a:srgbClr val="006600"/>
              </a:solidFill>
              <a:latin typeface="Times New Roman" panose="02020603050405020304" pitchFamily="18" charset="0"/>
              <a:ea typeface="Courier New" panose="02070309020205020404" pitchFamily="49" charset="0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F795E5E-3C08-0874-40A1-D3EF503434A6}"/>
              </a:ext>
            </a:extLst>
          </p:cNvPr>
          <p:cNvSpPr/>
          <p:nvPr/>
        </p:nvSpPr>
        <p:spPr>
          <a:xfrm>
            <a:off x="7421624" y="765004"/>
            <a:ext cx="1270301" cy="400110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lvl="0" eaLnBrk="0" hangingPunct="0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000" b="1" dirty="0">
                <a:solidFill>
                  <a:schemeClr val="bg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?</a:t>
            </a:r>
            <a:r>
              <a:rPr lang="en-US" altLang="zh-CN" sz="2000" b="1" dirty="0">
                <a:solidFill>
                  <a:schemeClr val="bg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en-US" altLang="zh-CN" sz="2000" b="1" dirty="0">
                <a:solidFill>
                  <a:schemeClr val="bg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en-US" altLang="zh-CN" sz="2000" b="1" dirty="0">
                <a:solidFill>
                  <a:schemeClr val="bg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79C93E8-79EA-BD24-63D7-D5CAD73B7071}"/>
              </a:ext>
            </a:extLst>
          </p:cNvPr>
          <p:cNvSpPr/>
          <p:nvPr/>
        </p:nvSpPr>
        <p:spPr>
          <a:xfrm>
            <a:off x="3920845" y="1119692"/>
            <a:ext cx="4830943" cy="156555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ts val="29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各符号之间有空格</a:t>
            </a:r>
            <a:endParaRPr lang="en-US" altLang="zh-CN" sz="2000" b="1" dirty="0">
              <a:solidFill>
                <a:srgbClr val="0070C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342900" indent="-342900">
              <a:lnSpc>
                <a:spcPts val="29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lang="zh-CN" altLang="en-US" sz="20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是条件表达式 </a:t>
            </a:r>
            <a:endParaRPr lang="en-US" altLang="zh-CN" sz="2000" b="1" dirty="0">
              <a:solidFill>
                <a:srgbClr val="0070C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342900" indent="-342900">
              <a:lnSpc>
                <a:spcPts val="29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lang="zh-CN" altLang="en-US" sz="20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值为真时，该三元运算符返回</a:t>
            </a:r>
            <a:r>
              <a:rPr lang="en-US" altLang="zh-CN" sz="20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B</a:t>
            </a:r>
          </a:p>
          <a:p>
            <a:pPr marL="342900" indent="-342900">
              <a:lnSpc>
                <a:spcPts val="29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lang="zh-CN" altLang="en-US" sz="20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值为假时，则执行</a:t>
            </a:r>
            <a:r>
              <a:rPr lang="en-US" altLang="zh-CN" sz="20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</a:t>
            </a:r>
            <a:r>
              <a:rPr lang="zh-CN" altLang="en-US" sz="20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语句</a:t>
            </a:r>
            <a:endParaRPr lang="zh-CN" altLang="en-US" sz="2000" b="1" dirty="0">
              <a:solidFill>
                <a:srgbClr val="0070C0"/>
              </a:solidFill>
              <a:highlight>
                <a:srgbClr val="FFFF00"/>
              </a:highlight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" name="内容占位符 1">
            <a:extLst>
              <a:ext uri="{FF2B5EF4-FFF2-40B4-BE49-F238E27FC236}">
                <a16:creationId xmlns:a16="http://schemas.microsoft.com/office/drawing/2014/main" id="{8AB2225E-56B5-FFEA-66C2-EE0A73D13F78}"/>
              </a:ext>
            </a:extLst>
          </p:cNvPr>
          <p:cNvSpPr txBox="1">
            <a:spLocks/>
          </p:cNvSpPr>
          <p:nvPr/>
        </p:nvSpPr>
        <p:spPr bwMode="auto">
          <a:xfrm>
            <a:off x="3203848" y="3223204"/>
            <a:ext cx="3413251" cy="124629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1800" kern="0" dirty="0">
                <a:latin typeface="华文楷体" panose="02010600040101010101" pitchFamily="2" charset="-122"/>
                <a:ea typeface="华文楷体" panose="02010600040101010101" pitchFamily="2" charset="-122"/>
              </a:rPr>
              <a:t>#</a:t>
            </a:r>
            <a:r>
              <a:rPr lang="zh-CN" altLang="en-US" sz="1800" kern="0" dirty="0">
                <a:latin typeface="华文楷体" panose="02010600040101010101" pitchFamily="2" charset="-122"/>
                <a:ea typeface="华文楷体" panose="02010600040101010101" pitchFamily="2" charset="-122"/>
              </a:rPr>
              <a:t>三元运算符判断成绩及不及格</a:t>
            </a:r>
            <a:endParaRPr lang="en-US" altLang="zh-CN" sz="1800" kern="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sz="1800" kern="0" dirty="0">
                <a:latin typeface="华文楷体" panose="02010600040101010101" pitchFamily="2" charset="-122"/>
                <a:ea typeface="华文楷体" panose="02010600040101010101" pitchFamily="2" charset="-122"/>
              </a:rPr>
              <a:t>x=66; </a:t>
            </a:r>
          </a:p>
          <a:p>
            <a:r>
              <a:rPr lang="en-US" altLang="zh-CN" sz="1800" kern="0" dirty="0">
                <a:latin typeface="华文楷体" panose="02010600040101010101" pitchFamily="2" charset="-122"/>
                <a:ea typeface="华文楷体" panose="02010600040101010101" pitchFamily="2" charset="-122"/>
              </a:rPr>
              <a:t>x&gt;=60</a:t>
            </a:r>
            <a:r>
              <a:rPr lang="en-US" altLang="zh-CN" sz="1800" kern="0" dirty="0"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1800" kern="0" dirty="0">
                <a:latin typeface="华文楷体" panose="02010600040101010101" pitchFamily="2" charset="-122"/>
                <a:ea typeface="华文楷体" panose="02010600040101010101" pitchFamily="2" charset="-122"/>
              </a:rPr>
              <a:t>?</a:t>
            </a:r>
            <a:r>
              <a:rPr lang="en-US" altLang="zh-CN" sz="1800" kern="0" dirty="0"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1800" kern="0" dirty="0">
                <a:latin typeface="华文楷体" panose="02010600040101010101" pitchFamily="2" charset="-122"/>
                <a:ea typeface="华文楷体" panose="02010600040101010101" pitchFamily="2" charset="-122"/>
              </a:rPr>
              <a:t>"</a:t>
            </a:r>
            <a:r>
              <a:rPr lang="zh-CN" altLang="en-US" sz="1800" kern="0" dirty="0">
                <a:latin typeface="华文楷体" panose="02010600040101010101" pitchFamily="2" charset="-122"/>
                <a:ea typeface="华文楷体" panose="02010600040101010101" pitchFamily="2" charset="-122"/>
              </a:rPr>
              <a:t>及格</a:t>
            </a:r>
            <a:r>
              <a:rPr lang="en-US" altLang="zh-CN" sz="1800" kern="0" dirty="0">
                <a:latin typeface="华文楷体" panose="02010600040101010101" pitchFamily="2" charset="-122"/>
                <a:ea typeface="华文楷体" panose="02010600040101010101" pitchFamily="2" charset="-122"/>
              </a:rPr>
              <a:t>"</a:t>
            </a:r>
            <a:r>
              <a:rPr lang="en-US" altLang="zh-CN" sz="1800" kern="0" dirty="0"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1800" kern="0" dirty="0">
                <a:latin typeface="华文楷体" panose="02010600040101010101" pitchFamily="2" charset="-122"/>
                <a:ea typeface="华文楷体" panose="02010600040101010101" pitchFamily="2" charset="-122"/>
              </a:rPr>
              <a:t>:</a:t>
            </a:r>
            <a:r>
              <a:rPr lang="en-US" altLang="zh-CN" sz="1800" kern="0" dirty="0"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1800" kern="0" dirty="0">
                <a:latin typeface="华文楷体" panose="02010600040101010101" pitchFamily="2" charset="-122"/>
                <a:ea typeface="华文楷体" panose="02010600040101010101" pitchFamily="2" charset="-122"/>
              </a:rPr>
              <a:t>"</a:t>
            </a:r>
            <a:r>
              <a:rPr lang="zh-CN" altLang="en-US" sz="1800" kern="0" dirty="0">
                <a:latin typeface="华文楷体" panose="02010600040101010101" pitchFamily="2" charset="-122"/>
                <a:ea typeface="华文楷体" panose="02010600040101010101" pitchFamily="2" charset="-122"/>
              </a:rPr>
              <a:t>不及格</a:t>
            </a:r>
            <a:r>
              <a:rPr lang="en-US" altLang="zh-CN" sz="1800" kern="0" dirty="0">
                <a:latin typeface="华文楷体" panose="02010600040101010101" pitchFamily="2" charset="-122"/>
                <a:ea typeface="华文楷体" panose="02010600040101010101" pitchFamily="2" charset="-122"/>
              </a:rPr>
              <a:t>"</a:t>
            </a:r>
          </a:p>
          <a:p>
            <a:r>
              <a:rPr lang="en-US" altLang="zh-CN" sz="1600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1600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结果：</a:t>
            </a:r>
            <a:r>
              <a:rPr lang="en-US" altLang="zh-CN" sz="1600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zh-CN" altLang="en-US" sz="1600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及格</a:t>
            </a:r>
            <a:r>
              <a:rPr lang="en-US" altLang="zh-CN" sz="1600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endParaRPr lang="zh-CN" altLang="en-US" sz="1600" kern="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F1C9DFE5-CCEE-45EE-AB00-01A893A4E3E5}"/>
              </a:ext>
            </a:extLst>
          </p:cNvPr>
          <p:cNvSpPr txBox="1">
            <a:spLocks/>
          </p:cNvSpPr>
          <p:nvPr/>
        </p:nvSpPr>
        <p:spPr bwMode="auto">
          <a:xfrm>
            <a:off x="1403649" y="102787"/>
            <a:ext cx="6017975" cy="547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kern="0" dirty="0"/>
              <a:t>§2.3.1 </a:t>
            </a:r>
            <a:r>
              <a:rPr lang="zh-CN" altLang="en-US" kern="0" dirty="0"/>
              <a:t>条件表达式</a:t>
            </a:r>
            <a:r>
              <a:rPr lang="en-US" altLang="zh-CN" kern="0" dirty="0"/>
              <a:t>——</a:t>
            </a:r>
            <a:r>
              <a:rPr lang="zh-CN" altLang="en-US" b="0" dirty="0">
                <a:solidFill>
                  <a:srgbClr val="FF0000"/>
                </a:solidFill>
              </a:rPr>
              <a:t>三元运算符</a:t>
            </a:r>
            <a:endParaRPr lang="zh-CN" altLang="en-US" kern="0" dirty="0">
              <a:solidFill>
                <a:srgbClr val="FF0000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17ABB4D-5CC3-4125-A493-AF462E3B92E0}"/>
              </a:ext>
            </a:extLst>
          </p:cNvPr>
          <p:cNvSpPr txBox="1"/>
          <p:nvPr/>
        </p:nvSpPr>
        <p:spPr>
          <a:xfrm>
            <a:off x="107504" y="2809449"/>
            <a:ext cx="8544746" cy="553879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algn="dist" eaLnBrk="0">
              <a:spcBef>
                <a:spcPts val="0"/>
              </a:spcBef>
              <a:spcAft>
                <a:spcPts val="0"/>
              </a:spcAft>
              <a:tabLst>
                <a:tab pos="417830" algn="l"/>
              </a:tabLst>
            </a:pPr>
            <a:r>
              <a:rPr lang="en-US" altLang="ko-KR" b="1" cap="none" dirty="0">
                <a:ln w="9525" cap="flat" cmpd="sng"/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b="1" cap="none" dirty="0">
                <a:ln w="9525" cap="flat" cmpd="sng"/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编写双分枝</a:t>
            </a:r>
            <a:r>
              <a:rPr lang="en-US" altLang="ko-KR" b="1" cap="none" dirty="0" err="1">
                <a:ln w="9525" cap="flat" cmpd="sng"/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条件语句</a:t>
            </a:r>
            <a:r>
              <a:rPr lang="zh-CN" altLang="en-US" b="1" cap="none" dirty="0">
                <a:ln w="9525" cap="flat" cmpd="sng"/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和三元运算符判断成绩是否及格</a:t>
            </a:r>
            <a:endParaRPr lang="en-US" altLang="ko-KR" b="1" cap="none" dirty="0">
              <a:ln w="9525" cap="flat" cmpd="sng"/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AutoShape 13">
            <a:extLst>
              <a:ext uri="{FF2B5EF4-FFF2-40B4-BE49-F238E27FC236}">
                <a16:creationId xmlns:a16="http://schemas.microsoft.com/office/drawing/2014/main" id="{91210BD2-B7DC-4C99-9B58-17B6242619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3044" y="3911256"/>
            <a:ext cx="647004" cy="669092"/>
          </a:xfrm>
          <a:prstGeom prst="irregularSeal2">
            <a:avLst/>
          </a:prstGeom>
          <a:solidFill>
            <a:srgbClr val="C00000"/>
          </a:soli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zh-CN" altLang="en-US" sz="1400" b="1" kern="0" dirty="0">
                <a:solidFill>
                  <a:srgbClr val="FFFF00"/>
                </a:solidFill>
                <a:ea typeface="黑体" panose="02010609060101010101" pitchFamily="49" charset="-122"/>
              </a:rPr>
              <a:t>注意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030FB34-69CC-45DB-99F9-AF3D4373400C}"/>
              </a:ext>
            </a:extLst>
          </p:cNvPr>
          <p:cNvSpPr txBox="1"/>
          <p:nvPr/>
        </p:nvSpPr>
        <p:spPr>
          <a:xfrm>
            <a:off x="6516216" y="4130945"/>
            <a:ext cx="28125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MATLAB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无三元素运算符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F0C293C-0FD8-4E70-9780-12030D196AE8}"/>
              </a:ext>
            </a:extLst>
          </p:cNvPr>
          <p:cNvSpPr txBox="1"/>
          <p:nvPr/>
        </p:nvSpPr>
        <p:spPr>
          <a:xfrm>
            <a:off x="7609791" y="3504101"/>
            <a:ext cx="11730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result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09702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5" grpId="0"/>
      <p:bldP spid="16" grpId="0" animBg="1"/>
      <p:bldP spid="1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03C82339-5164-92A0-BB3B-45524099B9CE}"/>
              </a:ext>
            </a:extLst>
          </p:cNvPr>
          <p:cNvSpPr txBox="1">
            <a:spLocks/>
          </p:cNvSpPr>
          <p:nvPr/>
        </p:nvSpPr>
        <p:spPr bwMode="auto">
          <a:xfrm>
            <a:off x="1620967" y="79692"/>
            <a:ext cx="5796533" cy="547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dirty="0"/>
              <a:t>§2.3.2 </a:t>
            </a:r>
            <a:r>
              <a:rPr lang="zh-CN" altLang="en-US" kern="0" dirty="0"/>
              <a:t>循环表达式</a:t>
            </a:r>
            <a:r>
              <a:rPr lang="en-US" altLang="zh-CN" dirty="0">
                <a:solidFill>
                  <a:srgbClr val="FF0000"/>
                </a:solidFill>
              </a:rPr>
              <a:t>——</a:t>
            </a:r>
            <a:r>
              <a:rPr lang="zh-CN" altLang="en-US" kern="0" dirty="0">
                <a:solidFill>
                  <a:srgbClr val="FF0000"/>
                </a:solidFill>
              </a:rPr>
              <a:t>单循环语句</a:t>
            </a:r>
            <a:r>
              <a:rPr lang="en-US" altLang="zh-CN" kern="0" dirty="0">
                <a:solidFill>
                  <a:srgbClr val="FF0000"/>
                </a:solidFill>
              </a:rPr>
              <a:t>for</a:t>
            </a:r>
            <a:endParaRPr lang="zh-CN" altLang="en-US" kern="0" dirty="0">
              <a:solidFill>
                <a:srgbClr val="FF0000"/>
              </a:solidFill>
            </a:endParaRPr>
          </a:p>
        </p:txBody>
      </p:sp>
      <p:sp>
        <p:nvSpPr>
          <p:cNvPr id="10" name="矩形 1">
            <a:extLst>
              <a:ext uri="{FF2B5EF4-FFF2-40B4-BE49-F238E27FC236}">
                <a16:creationId xmlns:a16="http://schemas.microsoft.com/office/drawing/2014/main" id="{A967DD4B-A101-E859-F048-1DFD8E82759E}"/>
              </a:ext>
            </a:extLst>
          </p:cNvPr>
          <p:cNvSpPr/>
          <p:nvPr/>
        </p:nvSpPr>
        <p:spPr bwMode="auto">
          <a:xfrm>
            <a:off x="189561" y="1223639"/>
            <a:ext cx="4318682" cy="121135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ko-KR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 </a:t>
            </a:r>
            <a:r>
              <a:rPr lang="en-US" altLang="ko-KR" kern="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循环变量</a:t>
            </a:r>
            <a:r>
              <a:rPr lang="en-US" altLang="ko-KR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ko-KR" kern="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初始值:步长:终止值</a:t>
            </a:r>
            <a:endParaRPr lang="ko-KR" altLang="en-US" kern="0" dirty="0">
              <a:solidFill>
                <a:srgbClr val="0070C0"/>
              </a:solidFill>
              <a:latin typeface="微软雅黑" panose="020B0503020204020204" pitchFamily="34" charset="-122"/>
            </a:endParaRPr>
          </a:p>
          <a:p>
            <a:pPr>
              <a:lnSpc>
                <a:spcPts val="3000"/>
              </a:lnSpc>
            </a:pPr>
            <a:r>
              <a:rPr lang="en-US" altLang="ko-KR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statements </a:t>
            </a:r>
            <a:r>
              <a:rPr lang="zh-CN" altLang="en-US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执行的</a:t>
            </a:r>
            <a:r>
              <a:rPr lang="en-US" altLang="ko-KR" kern="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</a:t>
            </a:r>
            <a:r>
              <a:rPr lang="zh-CN" altLang="en-US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体</a:t>
            </a:r>
            <a:r>
              <a:rPr lang="en-US" altLang="ko-KR" kern="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endParaRPr lang="ko-KR" altLang="en-US" kern="0" dirty="0">
              <a:solidFill>
                <a:srgbClr val="0070C0"/>
              </a:solidFill>
              <a:latin typeface="微软雅黑" panose="020B0503020204020204" pitchFamily="34" charset="-122"/>
            </a:endParaRPr>
          </a:p>
          <a:p>
            <a:pPr>
              <a:lnSpc>
                <a:spcPts val="3000"/>
              </a:lnSpc>
            </a:pPr>
            <a:r>
              <a:rPr lang="en-US" altLang="ko-KR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end</a:t>
            </a:r>
            <a:endParaRPr lang="ko-KR" altLang="en-US" kern="0" dirty="0">
              <a:solidFill>
                <a:srgbClr val="0070C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矩形 1">
            <a:extLst>
              <a:ext uri="{FF2B5EF4-FFF2-40B4-BE49-F238E27FC236}">
                <a16:creationId xmlns:a16="http://schemas.microsoft.com/office/drawing/2014/main" id="{A3735B89-0AC4-F0E0-AB78-3A16F1B90428}"/>
              </a:ext>
            </a:extLst>
          </p:cNvPr>
          <p:cNvSpPr/>
          <p:nvPr/>
        </p:nvSpPr>
        <p:spPr bwMode="auto">
          <a:xfrm>
            <a:off x="5586629" y="3823050"/>
            <a:ext cx="2441755" cy="400110"/>
          </a:xfrm>
          <a:prstGeom prst="rect">
            <a:avLst/>
          </a:prstGeom>
          <a:noFill/>
          <a:ln w="0">
            <a:noFill/>
          </a:ln>
          <a:scene3d>
            <a:camera prst="orthographicFront"/>
            <a:lightRig rig="threePt" dir="t"/>
          </a:scene3d>
          <a:sp3d>
            <a:bevelT prst="angle"/>
            <a:contourClr>
              <a:srgbClr val="000000"/>
            </a:contourClr>
          </a:sp3d>
        </p:spPr>
        <p:txBody>
          <a:bodyPr vert="horz" wrap="square" lIns="91440" tIns="45720" rIns="91440" bIns="45720" numCol="1" anchor="t">
            <a:spAutoFit/>
          </a:bodyPr>
          <a:lstStyle/>
          <a:p>
            <a:pPr eaLnBrk="0">
              <a:spcBef>
                <a:spcPts val="0"/>
              </a:spcBef>
              <a:spcAft>
                <a:spcPts val="0"/>
              </a:spcAft>
            </a:pPr>
            <a:r>
              <a:rPr lang="en-US" altLang="ko-KR" sz="2000" b="1" cap="none" dirty="0">
                <a:solidFill>
                  <a:schemeClr val="bg1"/>
                </a:solidFill>
                <a:highlight>
                  <a:srgbClr val="3399FF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&lt;</a:t>
            </a:r>
            <a:r>
              <a:rPr lang="en-US" altLang="ko-KR" sz="2000" b="1" cap="none" dirty="0" err="1">
                <a:solidFill>
                  <a:schemeClr val="bg1"/>
                </a:solidFill>
                <a:highlight>
                  <a:srgbClr val="3399FF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for</a:t>
            </a:r>
            <a:r>
              <a:rPr lang="en-US" altLang="ko-KR" sz="2000" b="1" dirty="0" err="1">
                <a:solidFill>
                  <a:schemeClr val="bg1"/>
                </a:solidFill>
                <a:highlight>
                  <a:srgbClr val="3399FF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循环次数</a:t>
            </a:r>
            <a:r>
              <a:rPr lang="zh-CN" altLang="en-US" sz="2000" b="1" dirty="0">
                <a:solidFill>
                  <a:schemeClr val="bg1"/>
                </a:solidFill>
                <a:highlight>
                  <a:srgbClr val="3399FF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固定</a:t>
            </a:r>
            <a:r>
              <a:rPr lang="en-US" altLang="ko-KR" sz="2000" b="1" cap="none" dirty="0">
                <a:solidFill>
                  <a:schemeClr val="bg1"/>
                </a:solidFill>
                <a:highlight>
                  <a:srgbClr val="3399FF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&gt;</a:t>
            </a:r>
            <a:endParaRPr lang="ko-KR" altLang="en-US" sz="2000" b="1" cap="none" dirty="0">
              <a:solidFill>
                <a:schemeClr val="bg1"/>
              </a:solidFill>
              <a:highlight>
                <a:srgbClr val="3399FF"/>
              </a:highlight>
              <a:latin typeface="华文楷体" panose="02010600040101010101" pitchFamily="2" charset="-122"/>
              <a:ea typeface="Arial" panose="020B060402020202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849CE36-559A-44F9-E710-734AF84AF44B}"/>
              </a:ext>
            </a:extLst>
          </p:cNvPr>
          <p:cNvSpPr txBox="1"/>
          <p:nvPr/>
        </p:nvSpPr>
        <p:spPr>
          <a:xfrm>
            <a:off x="156384" y="2571750"/>
            <a:ext cx="8831231" cy="2016224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>
            <a:defPPr>
              <a:defRPr lang="zh-CN"/>
            </a:defPPr>
            <a:lvl1pPr marL="0" indent="0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80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marL="457200" indent="-457200">
              <a:lnSpc>
                <a:spcPts val="3200"/>
              </a:lnSpc>
              <a:buFont typeface="Wingdings" panose="05000000000000000000" pitchFamily="2" charset="2"/>
              <a:buChar char="p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循环变量是线性等分向量，常用冒号法生成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ts val="3200"/>
              </a:lnSpc>
              <a:buFont typeface="Wingdings" panose="05000000000000000000" pitchFamily="2" charset="2"/>
              <a:buChar char="p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循环时，向量中每个元素都要带入到循环体语句</a:t>
            </a:r>
            <a:r>
              <a:rPr lang="en-US" altLang="zh-CN" sz="1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statements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进行循环。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ts val="3200"/>
              </a:lnSpc>
              <a:buFont typeface="Wingdings" panose="05000000000000000000" pitchFamily="2" charset="2"/>
              <a:buChar char="p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输出最终结果是循环</a:t>
            </a:r>
            <a:r>
              <a:rPr lang="en-US" altLang="ko-KR" sz="180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终止值带入循环体语句的结果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ts val="3200"/>
              </a:lnSpc>
              <a:buFont typeface="Wingdings" panose="05000000000000000000" pitchFamily="2" charset="2"/>
              <a:buChar char="p"/>
            </a:pPr>
            <a:r>
              <a:rPr lang="en-US" altLang="ko-KR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循环次数</a:t>
            </a:r>
            <a:r>
              <a:rPr lang="en-US" altLang="ko-KR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向量个数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=(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终止值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初始值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)/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步长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+1</a:t>
            </a:r>
          </a:p>
          <a:p>
            <a:pPr marL="457200" indent="-457200">
              <a:lnSpc>
                <a:spcPts val="3200"/>
              </a:lnSpc>
              <a:buFont typeface="Wingdings" panose="05000000000000000000" pitchFamily="2" charset="2"/>
              <a:buChar char="p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相比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，另外关键字 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或者∈则更常用，因它使得代码更清晰  </a:t>
            </a:r>
          </a:p>
        </p:txBody>
      </p:sp>
      <p:sp>
        <p:nvSpPr>
          <p:cNvPr id="15" name="矩形 1">
            <a:extLst>
              <a:ext uri="{FF2B5EF4-FFF2-40B4-BE49-F238E27FC236}">
                <a16:creationId xmlns:a16="http://schemas.microsoft.com/office/drawing/2014/main" id="{7D825130-A266-8265-88EF-2E9BEBBD70DC}"/>
              </a:ext>
            </a:extLst>
          </p:cNvPr>
          <p:cNvSpPr/>
          <p:nvPr/>
        </p:nvSpPr>
        <p:spPr bwMode="auto">
          <a:xfrm>
            <a:off x="4783305" y="1202521"/>
            <a:ext cx="4318682" cy="121135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ko-KR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 </a:t>
            </a:r>
            <a:r>
              <a:rPr lang="en-US" altLang="ko-KR" kern="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循环变量</a:t>
            </a:r>
            <a:r>
              <a:rPr lang="en-US" altLang="ko-KR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in (</a:t>
            </a:r>
            <a:r>
              <a:rPr lang="zh-CN" altLang="en-US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或者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∈</a:t>
            </a:r>
            <a:r>
              <a:rPr lang="en-US" altLang="ko-KR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r>
              <a:rPr lang="zh-CN" altLang="en-US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迭代数集</a:t>
            </a:r>
            <a:endParaRPr lang="ko-KR" altLang="en-US" kern="0" dirty="0">
              <a:solidFill>
                <a:srgbClr val="0070C0"/>
              </a:solidFill>
              <a:latin typeface="微软雅黑" panose="020B0503020204020204" pitchFamily="34" charset="-122"/>
            </a:endParaRPr>
          </a:p>
          <a:p>
            <a:pPr>
              <a:lnSpc>
                <a:spcPts val="3000"/>
              </a:lnSpc>
            </a:pPr>
            <a:r>
              <a:rPr lang="en-US" altLang="ko-KR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kern="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statements</a:t>
            </a:r>
            <a:r>
              <a:rPr lang="en-US" altLang="ko-KR" kern="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</a:t>
            </a:r>
            <a:r>
              <a:rPr lang="zh-CN" altLang="en-US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体</a:t>
            </a:r>
            <a:r>
              <a:rPr lang="en-US" altLang="ko-KR" kern="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endParaRPr lang="ko-KR" altLang="en-US" kern="0" dirty="0">
              <a:solidFill>
                <a:srgbClr val="0070C0"/>
              </a:solidFill>
              <a:latin typeface="微软雅黑" panose="020B0503020204020204" pitchFamily="34" charset="-122"/>
            </a:endParaRPr>
          </a:p>
          <a:p>
            <a:pPr>
              <a:lnSpc>
                <a:spcPts val="3000"/>
              </a:lnSpc>
            </a:pPr>
            <a:r>
              <a:rPr lang="en-US" altLang="ko-KR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end</a:t>
            </a:r>
            <a:endParaRPr lang="ko-KR" altLang="en-US" kern="0" dirty="0">
              <a:solidFill>
                <a:srgbClr val="0070C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AutoShape 13">
            <a:extLst>
              <a:ext uri="{FF2B5EF4-FFF2-40B4-BE49-F238E27FC236}">
                <a16:creationId xmlns:a16="http://schemas.microsoft.com/office/drawing/2014/main" id="{CF29091A-9018-4371-BD14-CA589AAA6A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0112" y="1974426"/>
            <a:ext cx="3963841" cy="525316"/>
          </a:xfrm>
          <a:prstGeom prst="irregularSeal2">
            <a:avLst/>
          </a:prstGeom>
          <a:solidFill>
            <a:srgbClr val="C00000"/>
          </a:soli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zh-CN" altLang="en-US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常用迭代和累积求和等</a:t>
            </a:r>
            <a:endParaRPr lang="zh-CN" altLang="en-US" sz="1400" b="1" kern="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D4D1C6B-EFA5-4C46-AE78-63EE5C4EF684}"/>
              </a:ext>
            </a:extLst>
          </p:cNvPr>
          <p:cNvSpPr txBox="1"/>
          <p:nvPr/>
        </p:nvSpPr>
        <p:spPr>
          <a:xfrm>
            <a:off x="95111" y="771550"/>
            <a:ext cx="9048889" cy="290679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anchor="t">
            <a:noAutofit/>
          </a:bodyPr>
          <a:lstStyle/>
          <a:p>
            <a:pPr eaLnBrk="0">
              <a:spcBef>
                <a:spcPts val="0"/>
              </a:spcBef>
              <a:spcAft>
                <a:spcPts val="0"/>
              </a:spcAft>
              <a:tabLst>
                <a:tab pos="417830" algn="l"/>
              </a:tabLst>
            </a:pPr>
            <a:r>
              <a:rPr lang="en-US" altLang="ko-KR" b="1" cap="none" dirty="0">
                <a:ln w="9525" cap="flat" cmpd="sng"/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1" cap="none" dirty="0">
                <a:ln w="9525" cap="flat" cmpd="sng"/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循环语句：按照给定条件重复执行指定语句，包括循环次数已知</a:t>
            </a:r>
            <a:r>
              <a:rPr lang="en-US" altLang="zh-CN" b="1" cap="none" dirty="0">
                <a:ln w="9525" cap="flat" cmpd="sng"/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lang="zh-CN" altLang="en-US" b="1" cap="none" dirty="0">
                <a:ln w="9525" cap="flat" cmpd="sng"/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和循环目标已知</a:t>
            </a:r>
            <a:r>
              <a:rPr lang="en-US" altLang="zh-CN" b="1" cap="none" dirty="0">
                <a:ln w="9525" cap="flat" cmpd="sng"/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while</a:t>
            </a:r>
            <a:endParaRPr lang="en-US" altLang="ko-KR" b="1" cap="none" dirty="0">
              <a:ln w="9525" cap="flat" cmpd="sng"/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2336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4CA896C5-3A0D-4701-9103-B91030EBED6F}"/>
              </a:ext>
            </a:extLst>
          </p:cNvPr>
          <p:cNvSpPr txBox="1">
            <a:spLocks/>
          </p:cNvSpPr>
          <p:nvPr/>
        </p:nvSpPr>
        <p:spPr bwMode="auto">
          <a:xfrm>
            <a:off x="827584" y="74308"/>
            <a:ext cx="5796533" cy="547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800" b="1" dirty="0"/>
              <a:t>§2.3.2 </a:t>
            </a:r>
            <a:r>
              <a:rPr lang="zh-CN" altLang="en-US" sz="2800" b="1" kern="0" dirty="0"/>
              <a:t>循环表达式</a:t>
            </a:r>
            <a:r>
              <a:rPr lang="en-US" altLang="zh-CN" sz="2800" b="1" dirty="0">
                <a:solidFill>
                  <a:srgbClr val="FF0000"/>
                </a:solidFill>
              </a:rPr>
              <a:t>——</a:t>
            </a:r>
            <a:r>
              <a:rPr lang="zh-CN" altLang="en-US" sz="2800" b="1" kern="0" dirty="0">
                <a:solidFill>
                  <a:srgbClr val="FF0000"/>
                </a:solidFill>
              </a:rPr>
              <a:t>循环语句变量为局部变量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7F59638-7B1D-48AB-AFA0-4E02E9781EC4}"/>
              </a:ext>
            </a:extLst>
          </p:cNvPr>
          <p:cNvSpPr txBox="1"/>
          <p:nvPr/>
        </p:nvSpPr>
        <p:spPr>
          <a:xfrm>
            <a:off x="467544" y="1121561"/>
            <a:ext cx="83889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速度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是时间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函数，表达式为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v(t)= t</a:t>
            </a:r>
            <a:r>
              <a:rPr lang="en-US" altLang="zh-CN" sz="2000" baseline="300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baseline="300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编写循环语句求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t=1:4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时速度数组</a:t>
            </a:r>
          </a:p>
        </p:txBody>
      </p:sp>
      <p:sp>
        <p:nvSpPr>
          <p:cNvPr id="6" name="波形 5">
            <a:extLst>
              <a:ext uri="{FF2B5EF4-FFF2-40B4-BE49-F238E27FC236}">
                <a16:creationId xmlns:a16="http://schemas.microsoft.com/office/drawing/2014/main" id="{B5CBBC97-3B90-4ABD-9F4B-1922759BC4AA}"/>
              </a:ext>
            </a:extLst>
          </p:cNvPr>
          <p:cNvSpPr/>
          <p:nvPr/>
        </p:nvSpPr>
        <p:spPr>
          <a:xfrm>
            <a:off x="212610" y="1184978"/>
            <a:ext cx="254934" cy="335423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endParaRPr lang="ko-KR" altLang="en-US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6074620-21AC-4F0B-B115-257496128622}"/>
              </a:ext>
            </a:extLst>
          </p:cNvPr>
          <p:cNvSpPr txBox="1"/>
          <p:nvPr/>
        </p:nvSpPr>
        <p:spPr>
          <a:xfrm>
            <a:off x="441581" y="2175167"/>
            <a:ext cx="3284269" cy="156966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t=</a:t>
            </a:r>
            <a:r>
              <a:rPr lang="en-US" altLang="zh-CN" sz="2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2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endParaRPr lang="en-US" altLang="zh-CN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v=t^</a:t>
            </a:r>
            <a:r>
              <a:rPr lang="en-US" altLang="zh-CN" sz="2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2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标量</a:t>
            </a:r>
            <a:endParaRPr lang="zh-CN" altLang="en-US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"v="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,v)</a:t>
            </a:r>
          </a:p>
          <a:p>
            <a:r>
              <a:rPr lang="en-US" altLang="zh-CN" sz="2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end</a:t>
            </a:r>
            <a:endParaRPr lang="da-DK" altLang="zh-CN" sz="22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BAC0206-4C77-4D4A-9B7A-CCF6F4901505}"/>
              </a:ext>
            </a:extLst>
          </p:cNvPr>
          <p:cNvSpPr txBox="1"/>
          <p:nvPr/>
        </p:nvSpPr>
        <p:spPr>
          <a:xfrm>
            <a:off x="189796" y="1590320"/>
            <a:ext cx="71905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ea"/>
              <a:buAutoNum type="circleNumDbPlain"/>
            </a:pP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都是循环内的局部变量，外部无法访问和修改，保存为</a:t>
            </a:r>
            <a:r>
              <a:rPr lang="en-US" altLang="zh-CN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vvv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C4D0B80-369E-40F8-A93A-ABC612EFF9C0}"/>
              </a:ext>
            </a:extLst>
          </p:cNvPr>
          <p:cNvSpPr txBox="1"/>
          <p:nvPr/>
        </p:nvSpPr>
        <p:spPr>
          <a:xfrm>
            <a:off x="107504" y="764474"/>
            <a:ext cx="9001000" cy="335423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defPPr>
              <a:defRPr lang="zh-CN"/>
            </a:defPPr>
            <a:lvl1pPr algn="dist" eaLnBrk="0" hangingPunct="0">
              <a:lnSpc>
                <a:spcPct val="85000"/>
              </a:lnSpc>
              <a:defRPr sz="2000" b="0" ker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pPr algn="l"/>
            <a:r>
              <a: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循环语句为局部作用域，外部无法访问和修改</a:t>
            </a:r>
            <a:r>
              <a:rPr lang="en-US" altLang="zh-CN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 end</a:t>
            </a:r>
            <a:r>
              <a: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内部变量，</a:t>
            </a:r>
            <a:r>
              <a:rPr lang="en-US" altLang="zh-CN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global</a:t>
            </a:r>
            <a:r>
              <a: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变为全局变量</a:t>
            </a:r>
            <a:endParaRPr lang="en-US" altLang="zh-CN" sz="1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AutoShape 13">
            <a:extLst>
              <a:ext uri="{FF2B5EF4-FFF2-40B4-BE49-F238E27FC236}">
                <a16:creationId xmlns:a16="http://schemas.microsoft.com/office/drawing/2014/main" id="{AEF90BB9-5217-46BE-AF18-317A615736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986" y="3795886"/>
            <a:ext cx="1014535" cy="742890"/>
          </a:xfrm>
          <a:prstGeom prst="irregularSeal2">
            <a:avLst/>
          </a:prstGeom>
          <a:solidFill>
            <a:srgbClr val="C00000"/>
          </a:soli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zh-CN" altLang="en-US" sz="1600" b="1" kern="0" dirty="0">
                <a:solidFill>
                  <a:srgbClr val="FFFF00"/>
                </a:solidFill>
                <a:ea typeface="黑体" panose="02010609060101010101" pitchFamily="49" charset="-122"/>
              </a:rPr>
              <a:t>注意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D48CA67-3E70-432C-B10B-51D35D06F1C9}"/>
              </a:ext>
            </a:extLst>
          </p:cNvPr>
          <p:cNvSpPr txBox="1"/>
          <p:nvPr/>
        </p:nvSpPr>
        <p:spPr>
          <a:xfrm>
            <a:off x="883314" y="4046069"/>
            <a:ext cx="37444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MATLAB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循环不是局部变时量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A3236F0-99EA-4A47-85E9-382E10C0A5A7}"/>
              </a:ext>
            </a:extLst>
          </p:cNvPr>
          <p:cNvSpPr txBox="1"/>
          <p:nvPr/>
        </p:nvSpPr>
        <p:spPr>
          <a:xfrm>
            <a:off x="4527475" y="2028301"/>
            <a:ext cx="465364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julia&gt; 正在运行 Untitled-2.jl</a:t>
            </a:r>
          </a:p>
          <a:p>
            <a:r>
              <a:rPr lang="zh-CN" altLang="en-US" dirty="0"/>
              <a:t>v=1</a:t>
            </a:r>
          </a:p>
          <a:p>
            <a:r>
              <a:rPr lang="zh-CN" altLang="en-US" dirty="0"/>
              <a:t>v=4</a:t>
            </a:r>
          </a:p>
          <a:p>
            <a:r>
              <a:rPr lang="zh-CN" altLang="en-US" dirty="0"/>
              <a:t>v=9</a:t>
            </a:r>
          </a:p>
          <a:p>
            <a:r>
              <a:rPr lang="zh-CN" altLang="en-US" dirty="0"/>
              <a:t>v=16</a:t>
            </a:r>
          </a:p>
          <a:p>
            <a:r>
              <a:rPr lang="zh-CN" altLang="en-US" dirty="0"/>
              <a:t>julia&gt; t  </a:t>
            </a:r>
            <a:r>
              <a:rPr lang="en-US" altLang="zh-CN" dirty="0"/>
              <a:t>#</a:t>
            </a:r>
            <a:r>
              <a:rPr lang="zh-CN" altLang="en-US" dirty="0"/>
              <a:t>工作内存没有</a:t>
            </a:r>
            <a:r>
              <a:rPr lang="en-US" altLang="zh-CN" dirty="0"/>
              <a:t>t</a:t>
            </a:r>
          </a:p>
          <a:p>
            <a:r>
              <a:rPr lang="zh-CN" altLang="en-US" b="1" dirty="0">
                <a:solidFill>
                  <a:srgbClr val="FF0000"/>
                </a:solidFill>
              </a:rPr>
              <a:t>ERROR: UndefVarError: `t` not defined</a:t>
            </a:r>
          </a:p>
          <a:p>
            <a:r>
              <a:rPr lang="zh-CN" altLang="en-US" dirty="0"/>
              <a:t>julia&gt; v </a:t>
            </a:r>
            <a:r>
              <a:rPr lang="en-US" altLang="zh-CN" dirty="0"/>
              <a:t>#</a:t>
            </a:r>
            <a:r>
              <a:rPr lang="zh-CN" altLang="en-US" dirty="0"/>
              <a:t>工作内存没有</a:t>
            </a:r>
            <a:r>
              <a:rPr lang="en-US" altLang="zh-CN" dirty="0"/>
              <a:t>v</a:t>
            </a:r>
          </a:p>
          <a:p>
            <a:r>
              <a:rPr lang="zh-CN" altLang="en-US" b="1" dirty="0">
                <a:solidFill>
                  <a:srgbClr val="FF0000"/>
                </a:solidFill>
              </a:rPr>
              <a:t>ERROR: UndefVarError: `v` not defined</a:t>
            </a:r>
          </a:p>
        </p:txBody>
      </p:sp>
    </p:spTree>
    <p:extLst>
      <p:ext uri="{BB962C8B-B14F-4D97-AF65-F5344CB8AC3E}">
        <p14:creationId xmlns:p14="http://schemas.microsoft.com/office/powerpoint/2010/main" val="3599045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2313F64D-3DD8-4EFE-8949-8F6713A3FD86}"/>
              </a:ext>
            </a:extLst>
          </p:cNvPr>
          <p:cNvSpPr txBox="1">
            <a:spLocks/>
          </p:cNvSpPr>
          <p:nvPr/>
        </p:nvSpPr>
        <p:spPr bwMode="auto">
          <a:xfrm>
            <a:off x="888324" y="101284"/>
            <a:ext cx="7794757" cy="547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800" b="1" dirty="0"/>
              <a:t>§2.3.2 </a:t>
            </a:r>
            <a:r>
              <a:rPr lang="zh-CN" altLang="en-US" sz="2800" b="1" kern="0" dirty="0"/>
              <a:t>循环表达式</a:t>
            </a:r>
            <a:r>
              <a:rPr lang="en-US" altLang="zh-CN" sz="2800" b="1" dirty="0">
                <a:solidFill>
                  <a:srgbClr val="FF0000"/>
                </a:solidFill>
              </a:rPr>
              <a:t>——</a:t>
            </a:r>
            <a:r>
              <a:rPr lang="zh-CN" altLang="en-US" sz="2800" b="1" kern="0" dirty="0">
                <a:solidFill>
                  <a:srgbClr val="FF0000"/>
                </a:solidFill>
              </a:rPr>
              <a:t>循环语句中</a:t>
            </a:r>
            <a:r>
              <a:rPr lang="en-US" altLang="zh-CN" sz="2800" b="1" kern="0" dirty="0">
                <a:solidFill>
                  <a:srgbClr val="FF0000"/>
                </a:solidFill>
              </a:rPr>
              <a:t>zeros</a:t>
            </a:r>
            <a:r>
              <a:rPr lang="zh-CN" altLang="en-US" sz="2800" b="1" kern="0" dirty="0">
                <a:solidFill>
                  <a:srgbClr val="FF0000"/>
                </a:solidFill>
              </a:rPr>
              <a:t>矩阵占位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99FC11B-5780-4A96-833F-D50DF60CB4B4}"/>
              </a:ext>
            </a:extLst>
          </p:cNvPr>
          <p:cNvSpPr txBox="1"/>
          <p:nvPr/>
        </p:nvSpPr>
        <p:spPr>
          <a:xfrm>
            <a:off x="338046" y="1425236"/>
            <a:ext cx="5267250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b="1" dirty="0"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采用循环语句求</a:t>
            </a: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</a:t>
            </a:r>
            <a:r>
              <a:rPr lang="en-US" altLang="zh-CN" b="1" dirty="0"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t=1:4</a:t>
            </a:r>
            <a:r>
              <a:rPr lang="zh-CN" altLang="en-US" b="1" dirty="0"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时，</a:t>
            </a:r>
            <a:r>
              <a:rPr lang="en-US" altLang="zh-CN" b="1" dirty="0"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v=t^2</a:t>
            </a:r>
            <a:r>
              <a:rPr lang="zh-CN" altLang="en-US" b="1" dirty="0"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的向量值</a:t>
            </a:r>
            <a:endParaRPr lang="en-US" altLang="zh-CN" b="1" dirty="0">
              <a:solidFill>
                <a:srgbClr val="00B0F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B8DB789-1476-437C-A937-4B029E81DB1C}"/>
              </a:ext>
            </a:extLst>
          </p:cNvPr>
          <p:cNvSpPr txBox="1"/>
          <p:nvPr/>
        </p:nvSpPr>
        <p:spPr>
          <a:xfrm>
            <a:off x="345306" y="3465064"/>
            <a:ext cx="1656425" cy="11695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zh-CN" altLang="en-US" sz="1400" b="1" kern="1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运行结果：</a:t>
            </a:r>
            <a:endParaRPr lang="en-US" altLang="zh-CN" sz="1400" b="1" kern="1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b="1" dirty="0">
                <a:solidFill>
                  <a:srgbClr val="00B0F0"/>
                </a:solidFill>
              </a:rPr>
              <a:t>[1.0 0.0 0.0 0.0]</a:t>
            </a:r>
          </a:p>
          <a:p>
            <a:r>
              <a:rPr lang="zh-CN" altLang="en-US" sz="1400" b="1" dirty="0">
                <a:solidFill>
                  <a:srgbClr val="00B0F0"/>
                </a:solidFill>
              </a:rPr>
              <a:t>[1.0 4.0 0.0 0.0]</a:t>
            </a:r>
          </a:p>
          <a:p>
            <a:r>
              <a:rPr lang="zh-CN" altLang="en-US" sz="1400" b="1" dirty="0">
                <a:solidFill>
                  <a:srgbClr val="00B0F0"/>
                </a:solidFill>
              </a:rPr>
              <a:t>[1.0 4.0 9.0 0.0]</a:t>
            </a:r>
          </a:p>
          <a:p>
            <a:r>
              <a:rPr lang="zh-CN" altLang="en-US" sz="1400" b="1" dirty="0">
                <a:solidFill>
                  <a:srgbClr val="00B0F0"/>
                </a:solidFill>
              </a:rPr>
              <a:t>[1.0 4.0 9.0 16.0]</a:t>
            </a:r>
            <a:endParaRPr lang="en-US" altLang="zh-CN" sz="1400" b="1" dirty="0">
              <a:solidFill>
                <a:srgbClr val="00B0F0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CF8A888-45C9-415B-80B9-49435CD87591}"/>
              </a:ext>
            </a:extLst>
          </p:cNvPr>
          <p:cNvSpPr txBox="1"/>
          <p:nvPr/>
        </p:nvSpPr>
        <p:spPr>
          <a:xfrm>
            <a:off x="6732240" y="3384538"/>
            <a:ext cx="2167464" cy="830997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zh-CN" altLang="en-US" sz="1600" dirty="0"/>
              <a:t>julia&gt; v  </a:t>
            </a:r>
            <a:r>
              <a:rPr lang="en-US" altLang="zh-CN" sz="1600" dirty="0"/>
              <a:t>#</a:t>
            </a:r>
            <a:r>
              <a:rPr lang="zh-CN" altLang="en-US" sz="1600" dirty="0"/>
              <a:t>速度向量</a:t>
            </a:r>
          </a:p>
          <a:p>
            <a:r>
              <a:rPr lang="zh-CN" altLang="en-US" sz="1600" dirty="0">
                <a:solidFill>
                  <a:srgbClr val="00B0F0"/>
                </a:solidFill>
              </a:rPr>
              <a:t>1×4 Matrix{Float64}:</a:t>
            </a:r>
          </a:p>
          <a:p>
            <a:r>
              <a:rPr lang="zh-CN" altLang="en-US" sz="1600" b="1" dirty="0">
                <a:solidFill>
                  <a:srgbClr val="00B0F0"/>
                </a:solidFill>
              </a:rPr>
              <a:t> 1.0  4.0  9.0  16.0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9F8B65C-0298-48CE-B452-CF7CDB938240}"/>
              </a:ext>
            </a:extLst>
          </p:cNvPr>
          <p:cNvSpPr/>
          <p:nvPr/>
        </p:nvSpPr>
        <p:spPr>
          <a:xfrm>
            <a:off x="90955" y="689965"/>
            <a:ext cx="8962090" cy="75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dist">
              <a:lnSpc>
                <a:spcPct val="125000"/>
              </a:lnSpc>
              <a:spcAft>
                <a:spcPts val="0"/>
              </a:spcAft>
              <a:buFont typeface="+mj-ea"/>
              <a:buAutoNum type="circleNumDbPlain"/>
            </a:pPr>
            <a:r>
              <a:rPr lang="zh-CN" altLang="en-US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循环语句每循环一次需重新分配内存</a:t>
            </a:r>
            <a:r>
              <a:rPr lang="zh-CN" altLang="en-US" b="1" kern="100" dirty="0">
                <a:solidFill>
                  <a:srgbClr val="3399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zh-CN" altLang="en-US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影响速度。</a:t>
            </a:r>
            <a:r>
              <a:rPr lang="en-US" altLang="zh-CN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zeros</a:t>
            </a:r>
            <a:r>
              <a:rPr lang="zh-CN" altLang="en-US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占位，可</a:t>
            </a:r>
            <a:r>
              <a:rPr lang="zh-CN" altLang="zh-CN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预先分配</a:t>
            </a:r>
            <a:r>
              <a:rPr lang="zh-CN" altLang="en-US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内存</a:t>
            </a:r>
            <a:r>
              <a:rPr lang="en-US" altLang="zh-CN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</a:t>
            </a:r>
          </a:p>
          <a:p>
            <a:pPr algn="dist">
              <a:lnSpc>
                <a:spcPct val="125000"/>
              </a:lnSpc>
              <a:spcAft>
                <a:spcPts val="0"/>
              </a:spcAft>
              <a:buFont typeface="+mj-ea"/>
              <a:buAutoNum type="circleNumDbPlain"/>
            </a:pPr>
            <a:r>
              <a:rPr lang="zh-CN" altLang="en-US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要生成数组</a:t>
            </a:r>
            <a:r>
              <a:rPr lang="en-US" altLang="zh-CN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必须先创建其对应大小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zeros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，循环过程中逐渐替换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成计算结果</a:t>
            </a:r>
            <a:r>
              <a:rPr lang="zh-CN" altLang="en-US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数组</a:t>
            </a:r>
            <a:endParaRPr lang="en-US" altLang="zh-CN" b="1" kern="1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文本框 11">
            <a:extLst>
              <a:ext uri="{FF2B5EF4-FFF2-40B4-BE49-F238E27FC236}">
                <a16:creationId xmlns:a16="http://schemas.microsoft.com/office/drawing/2014/main" id="{4488D709-DA52-4FB3-8C1F-CBEF44B73946}"/>
              </a:ext>
            </a:extLst>
          </p:cNvPr>
          <p:cNvSpPr txBox="1"/>
          <p:nvPr/>
        </p:nvSpPr>
        <p:spPr>
          <a:xfrm>
            <a:off x="6454343" y="1906815"/>
            <a:ext cx="2445362" cy="1077218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/>
            </a:lvl1pPr>
          </a:lstStyle>
          <a:p>
            <a:r>
              <a:rPr lang="en-US" sz="1600" dirty="0"/>
              <a:t>[1.0]</a:t>
            </a:r>
            <a:endParaRPr lang="zh-CN" altLang="en-US" sz="1600" dirty="0"/>
          </a:p>
          <a:p>
            <a:r>
              <a:rPr lang="en-US" sz="1600" dirty="0"/>
              <a:t>[1.0 4.0 ]</a:t>
            </a:r>
            <a:endParaRPr lang="zh-CN" altLang="en-US" sz="1600" dirty="0"/>
          </a:p>
          <a:p>
            <a:r>
              <a:rPr lang="en-US" sz="1600" dirty="0"/>
              <a:t>[1.0 4.0 9.0 ]</a:t>
            </a:r>
            <a:endParaRPr lang="zh-CN" altLang="en-US" sz="1600" dirty="0"/>
          </a:p>
          <a:p>
            <a:r>
              <a:rPr lang="en-US" sz="1600" dirty="0"/>
              <a:t>[1.0 4.0 9.0 </a:t>
            </a:r>
            <a:r>
              <a:rPr lang="en-US" sz="1600" b="1" dirty="0">
                <a:solidFill>
                  <a:srgbClr val="FF0000"/>
                </a:solidFill>
              </a:rPr>
              <a:t>16.0</a:t>
            </a:r>
            <a:r>
              <a:rPr lang="en-US" sz="1600" dirty="0"/>
              <a:t>]</a:t>
            </a:r>
            <a:endParaRPr lang="zh-CN" altLang="en-US" sz="1600" dirty="0"/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5B7FDFE9-C99A-41DB-86A7-CD7EA418DA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7483" y="4138436"/>
            <a:ext cx="977349" cy="584755"/>
          </a:xfrm>
          <a:prstGeom prst="irregularSeal2">
            <a:avLst/>
          </a:prstGeom>
          <a:solidFill>
            <a:srgbClr val="C00000"/>
          </a:soli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zh-CN" altLang="en-US" sz="1600" b="1" kern="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6FB8F92-3007-4FBA-B1B7-BF25F26FE181}"/>
              </a:ext>
            </a:extLst>
          </p:cNvPr>
          <p:cNvSpPr txBox="1"/>
          <p:nvPr/>
        </p:nvSpPr>
        <p:spPr>
          <a:xfrm>
            <a:off x="6227516" y="3015206"/>
            <a:ext cx="27969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 kern="1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en-US" altLang="zh-CN" sz="1600" dirty="0">
                <a:solidFill>
                  <a:srgbClr val="00B0F0"/>
                </a:solidFill>
              </a:rPr>
              <a:t>zeros</a:t>
            </a:r>
            <a:r>
              <a:rPr lang="zh-CN" altLang="en-US" sz="1600" dirty="0">
                <a:solidFill>
                  <a:srgbClr val="00B0F0"/>
                </a:solidFill>
              </a:rPr>
              <a:t>占位可以避免速度降低</a:t>
            </a:r>
          </a:p>
        </p:txBody>
      </p:sp>
      <p:sp>
        <p:nvSpPr>
          <p:cNvPr id="6" name="波形 5">
            <a:extLst>
              <a:ext uri="{FF2B5EF4-FFF2-40B4-BE49-F238E27FC236}">
                <a16:creationId xmlns:a16="http://schemas.microsoft.com/office/drawing/2014/main" id="{E06E01DB-FF72-4122-AF3F-5E29F97071B9}"/>
              </a:ext>
            </a:extLst>
          </p:cNvPr>
          <p:cNvSpPr/>
          <p:nvPr/>
        </p:nvSpPr>
        <p:spPr>
          <a:xfrm>
            <a:off x="256396" y="1463064"/>
            <a:ext cx="254934" cy="335423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endParaRPr lang="ko-KR" altLang="en-US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0F38005-D0AB-4913-9EB9-4834C050FF97}"/>
              </a:ext>
            </a:extLst>
          </p:cNvPr>
          <p:cNvSpPr txBox="1"/>
          <p:nvPr/>
        </p:nvSpPr>
        <p:spPr>
          <a:xfrm>
            <a:off x="6455455" y="1504051"/>
            <a:ext cx="294108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 kern="10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sz="1600" dirty="0"/>
              <a:t>每循环一次需重新分配内存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EBE44A2-6BDB-4E59-BDE0-71A39EBA4F6B}"/>
              </a:ext>
            </a:extLst>
          </p:cNvPr>
          <p:cNvSpPr txBox="1"/>
          <p:nvPr/>
        </p:nvSpPr>
        <p:spPr>
          <a:xfrm>
            <a:off x="1710280" y="3748217"/>
            <a:ext cx="43924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 kern="1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en-US" altLang="zh-CN" b="0" dirty="0">
                <a:solidFill>
                  <a:srgbClr val="0070C0"/>
                </a:solidFill>
              </a:rPr>
              <a:t>zeros (1,4)</a:t>
            </a:r>
            <a:r>
              <a:rPr lang="zh-CN" altLang="en-US" b="0" dirty="0">
                <a:solidFill>
                  <a:srgbClr val="0070C0"/>
                </a:solidFill>
              </a:rPr>
              <a:t>占位每循环一次替换一个速度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92EA637-2841-424F-A476-4023BBC09DEC}"/>
              </a:ext>
            </a:extLst>
          </p:cNvPr>
          <p:cNvSpPr txBox="1"/>
          <p:nvPr/>
        </p:nvSpPr>
        <p:spPr>
          <a:xfrm>
            <a:off x="4340252" y="4268869"/>
            <a:ext cx="47942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避免循环麻烦，直接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v(t)=t.^2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点运算更容易</a:t>
            </a:r>
            <a:endParaRPr lang="zh-CN" altLang="en-US" b="1" kern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F9CAD8E-18CF-4409-8BB5-21097733C4CE}"/>
              </a:ext>
            </a:extLst>
          </p:cNvPr>
          <p:cNvSpPr txBox="1"/>
          <p:nvPr/>
        </p:nvSpPr>
        <p:spPr>
          <a:xfrm>
            <a:off x="386103" y="1771225"/>
            <a:ext cx="5378991" cy="175432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v=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zeros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 #v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结果</a:t>
            </a:r>
            <a:r>
              <a:rPr lang="zh-CN" altLang="en-US" dirty="0">
                <a:solidFill>
                  <a:srgbClr val="00B0F0"/>
                </a:solidFill>
              </a:rPr>
              <a:t>0.0  0.0  0.0  0.0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t=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:4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global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v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v[t]=t^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  #</a:t>
            </a:r>
            <a:r>
              <a:rPr lang="zh-CN" alt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单下标索引向量第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zh-CN" altLang="en-US" dirty="0">
                <a:solidFill>
                  <a:srgbClr val="098658"/>
                </a:solidFill>
                <a:latin typeface="Consolas" panose="020B0609020204030204" pitchFamily="49" charset="0"/>
              </a:rPr>
              <a:t>元素</a:t>
            </a:r>
            <a:r>
              <a:rPr lang="en-US" altLang="zh-CN" dirty="0">
                <a:solidFill>
                  <a:srgbClr val="098658"/>
                </a:solidFill>
                <a:latin typeface="Consolas" panose="020B0609020204030204" pitchFamily="49" charset="0"/>
              </a:rPr>
              <a:t>=t^2</a:t>
            </a:r>
            <a:r>
              <a:rPr lang="zh-CN" altLang="en-US" dirty="0">
                <a:solidFill>
                  <a:srgbClr val="098658"/>
                </a:solidFill>
                <a:latin typeface="Consolas" panose="020B0609020204030204" pitchFamily="49" charset="0"/>
              </a:rPr>
              <a:t> 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(v)</a:t>
            </a:r>
          </a:p>
          <a:p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8222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5" grpId="0" animBg="1"/>
      <p:bldP spid="13" grpId="0" animBg="1"/>
      <p:bldP spid="17" grpId="0"/>
      <p:bldP spid="18" grpId="0"/>
      <p:bldP spid="19" grpId="0"/>
      <p:bldP spid="2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DFAABBF-385E-46D6-928E-240ADC1FC899}"/>
              </a:ext>
            </a:extLst>
          </p:cNvPr>
          <p:cNvSpPr/>
          <p:nvPr/>
        </p:nvSpPr>
        <p:spPr>
          <a:xfrm>
            <a:off x="435794" y="1491630"/>
            <a:ext cx="817325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just"/>
            <a:r>
              <a:rPr lang="zh-CN" altLang="zh-CN" sz="2400" b="1" kern="1800" dirty="0">
                <a:solidFill>
                  <a:srgbClr val="33CCFF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棋盘米粒</a:t>
            </a:r>
            <a:r>
              <a:rPr lang="zh-CN" altLang="en-US" sz="2400" b="1" kern="1800" dirty="0">
                <a:solidFill>
                  <a:srgbClr val="33CCFF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：ｉｉ＝</a:t>
            </a:r>
            <a:r>
              <a:rPr lang="en-US" altLang="zh-CN" sz="2400" b="1" kern="1800" dirty="0">
                <a:solidFill>
                  <a:srgbClr val="33CCFF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2</a:t>
            </a:r>
            <a:r>
              <a:rPr lang="en-US" altLang="zh-CN" sz="2400" b="1" kern="1800" baseline="30000" dirty="0">
                <a:solidFill>
                  <a:srgbClr val="33CCFF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0</a:t>
            </a:r>
            <a:r>
              <a:rPr lang="en-US" altLang="zh-CN" sz="2400" b="1" kern="1800" dirty="0">
                <a:solidFill>
                  <a:srgbClr val="33CCFF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+2</a:t>
            </a:r>
            <a:r>
              <a:rPr lang="en-US" altLang="zh-CN" sz="2400" b="1" kern="1800" baseline="30000" dirty="0">
                <a:solidFill>
                  <a:srgbClr val="33CCFF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1</a:t>
            </a:r>
            <a:r>
              <a:rPr lang="en-US" altLang="zh-CN" sz="2400" b="1" kern="1800" dirty="0">
                <a:solidFill>
                  <a:srgbClr val="33CCFF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+2</a:t>
            </a:r>
            <a:r>
              <a:rPr lang="en-US" altLang="zh-CN" sz="2400" b="1" kern="1800" baseline="30000" dirty="0">
                <a:solidFill>
                  <a:srgbClr val="33CCFF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2</a:t>
            </a:r>
            <a:r>
              <a:rPr lang="en-US" altLang="zh-CN" sz="2400" b="1" kern="1800" dirty="0">
                <a:solidFill>
                  <a:srgbClr val="33CCFF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+2</a:t>
            </a:r>
            <a:r>
              <a:rPr lang="en-US" altLang="zh-CN" sz="2400" b="1" kern="1800" baseline="30000" dirty="0">
                <a:solidFill>
                  <a:srgbClr val="33CCFF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3</a:t>
            </a:r>
            <a:r>
              <a:rPr lang="en-US" altLang="zh-CN" sz="2400" b="1" kern="1800" dirty="0">
                <a:solidFill>
                  <a:srgbClr val="33CCFF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…</a:t>
            </a:r>
            <a:r>
              <a:rPr lang="zh-CN" altLang="en-US" sz="2400" b="1" kern="1800" dirty="0">
                <a:solidFill>
                  <a:srgbClr val="33CCFF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＋</a:t>
            </a:r>
            <a:r>
              <a:rPr lang="en-US" altLang="zh-CN" sz="2400" b="1" kern="1800" dirty="0">
                <a:solidFill>
                  <a:srgbClr val="33CCFF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 2</a:t>
            </a:r>
            <a:r>
              <a:rPr lang="en-US" altLang="zh-CN" sz="2400" b="1" kern="1800" baseline="30000" dirty="0">
                <a:solidFill>
                  <a:srgbClr val="33CCFF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k</a:t>
            </a:r>
            <a:r>
              <a:rPr lang="zh-CN" altLang="en-US" sz="2400" b="1" kern="1800" baseline="30000" dirty="0">
                <a:solidFill>
                  <a:srgbClr val="33CCFF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－１</a:t>
            </a:r>
            <a:r>
              <a:rPr lang="en-US" altLang="zh-CN" sz="2400" b="1" kern="1800" baseline="30000" dirty="0">
                <a:solidFill>
                  <a:srgbClr val="33CCFF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kern="1800" dirty="0">
                <a:solidFill>
                  <a:srgbClr val="33CCFF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+2</a:t>
            </a:r>
            <a:r>
              <a:rPr lang="en-US" altLang="zh-CN" sz="2400" b="1" kern="1800" baseline="30000" dirty="0">
                <a:solidFill>
                  <a:srgbClr val="33CCFF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k</a:t>
            </a:r>
            <a:r>
              <a:rPr lang="en-US" altLang="zh-CN" sz="2400" b="1" kern="1800" dirty="0">
                <a:solidFill>
                  <a:srgbClr val="33CCFF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+….+2</a:t>
            </a:r>
            <a:r>
              <a:rPr lang="en-US" altLang="zh-CN" sz="2400" b="1" kern="1800" baseline="30000" dirty="0">
                <a:solidFill>
                  <a:srgbClr val="33CCFF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63</a:t>
            </a:r>
            <a:endParaRPr lang="zh-CN" altLang="zh-CN" sz="2400" b="1" kern="1800" baseline="30000" dirty="0">
              <a:solidFill>
                <a:srgbClr val="33CCFF"/>
              </a:solidFill>
              <a:latin typeface="等线" panose="02010600030101010101" pitchFamily="2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814380B-7BC9-432F-88C5-1CA986ACA6E2}"/>
              </a:ext>
            </a:extLst>
          </p:cNvPr>
          <p:cNvSpPr/>
          <p:nvPr/>
        </p:nvSpPr>
        <p:spPr>
          <a:xfrm>
            <a:off x="538502" y="747920"/>
            <a:ext cx="8520532" cy="70788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just"/>
            <a:r>
              <a:rPr lang="zh-CN" altLang="zh-CN" sz="20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  <a:cs typeface="Times New Roman" panose="02020603050405020304" pitchFamily="18" charset="0"/>
              </a:rPr>
              <a:t>传说印度国王</a:t>
            </a:r>
            <a:r>
              <a:rPr lang="zh-CN" altLang="en-US" sz="20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  <a:cs typeface="Times New Roman" panose="02020603050405020304" pitchFamily="18" charset="0"/>
              </a:rPr>
              <a:t>要奖励</a:t>
            </a:r>
            <a:r>
              <a:rPr lang="zh-CN" altLang="zh-CN" sz="20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  <a:cs typeface="Times New Roman" panose="02020603050405020304" pitchFamily="18" charset="0"/>
              </a:rPr>
              <a:t>国际象棋</a:t>
            </a:r>
            <a:r>
              <a:rPr lang="zh-CN" altLang="en-US" sz="20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  <a:cs typeface="Times New Roman" panose="02020603050405020304" pitchFamily="18" charset="0"/>
              </a:rPr>
              <a:t>发明人</a:t>
            </a:r>
            <a:r>
              <a:rPr lang="zh-CN" altLang="zh-CN" sz="20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  <a:cs typeface="Times New Roman" panose="02020603050405020304" pitchFamily="18" charset="0"/>
              </a:rPr>
              <a:t>，</a:t>
            </a:r>
            <a:r>
              <a:rPr lang="zh-CN" altLang="en-US" sz="20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  <a:cs typeface="Times New Roman" panose="02020603050405020304" pitchFamily="18" charset="0"/>
              </a:rPr>
              <a:t>发明人不要金银，只要粮食，</a:t>
            </a:r>
            <a:r>
              <a:rPr lang="zh-CN" altLang="zh-CN" sz="20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  <a:cs typeface="Times New Roman" panose="02020603050405020304" pitchFamily="18" charset="0"/>
              </a:rPr>
              <a:t>国际象棋一共六十四格棋盘，第一格放</a:t>
            </a:r>
            <a:r>
              <a:rPr lang="en-US" altLang="zh-CN" sz="20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zh-CN" sz="20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  <a:cs typeface="Times New Roman" panose="02020603050405020304" pitchFamily="18" charset="0"/>
              </a:rPr>
              <a:t>粒，第二格</a:t>
            </a:r>
            <a:r>
              <a:rPr lang="en-US" altLang="zh-CN" sz="20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zh-CN" sz="20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  <a:cs typeface="Times New Roman" panose="02020603050405020304" pitchFamily="18" charset="0"/>
              </a:rPr>
              <a:t>粒，第三格</a:t>
            </a:r>
            <a:r>
              <a:rPr lang="en-US" altLang="zh-CN" sz="20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altLang="zh-CN" sz="20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  <a:cs typeface="Times New Roman" panose="02020603050405020304" pitchFamily="18" charset="0"/>
              </a:rPr>
              <a:t>粒</a:t>
            </a:r>
            <a:r>
              <a:rPr lang="zh-CN" altLang="en-US" sz="20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  <a:cs typeface="Times New Roman" panose="02020603050405020304" pitchFamily="18" charset="0"/>
              </a:rPr>
              <a:t>，以此类推</a:t>
            </a:r>
            <a:endParaRPr lang="zh-CN" altLang="zh-CN" sz="2000" dirty="0">
              <a:solidFill>
                <a:srgbClr val="002060"/>
              </a:solidFill>
              <a:latin typeface="隶书" panose="02010509060101010101" pitchFamily="49" charset="-122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E3CDAA24-0EF7-4DE6-AC48-007A0298E6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1619" y="2571750"/>
            <a:ext cx="3463565" cy="1917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波形 15">
            <a:extLst>
              <a:ext uri="{FF2B5EF4-FFF2-40B4-BE49-F238E27FC236}">
                <a16:creationId xmlns:a16="http://schemas.microsoft.com/office/drawing/2014/main" id="{C6698222-D082-414B-9A23-075DFCE3319A}"/>
              </a:ext>
            </a:extLst>
          </p:cNvPr>
          <p:cNvSpPr/>
          <p:nvPr/>
        </p:nvSpPr>
        <p:spPr>
          <a:xfrm>
            <a:off x="89480" y="720133"/>
            <a:ext cx="378064" cy="524695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endParaRPr lang="ko-KR" altLang="en-US" sz="16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17CC832-8110-4E3D-A8C6-665A4A478F35}"/>
              </a:ext>
            </a:extLst>
          </p:cNvPr>
          <p:cNvSpPr txBox="1"/>
          <p:nvPr/>
        </p:nvSpPr>
        <p:spPr>
          <a:xfrm>
            <a:off x="448989" y="3340416"/>
            <a:ext cx="2009586" cy="400110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 anchor="t">
            <a:spAutoFit/>
          </a:bodyPr>
          <a:lstStyle/>
          <a:p>
            <a:pPr algn="dist"/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</a:rPr>
              <a:t>ii</a:t>
            </a:r>
            <a:r>
              <a:rPr lang="en-US" altLang="ko-KR" sz="2000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</a:rPr>
              <a:t>(k)</a:t>
            </a: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</a:rPr>
              <a:t>=ii</a:t>
            </a:r>
            <a:r>
              <a:rPr lang="en-US" altLang="ko-KR" sz="2000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</a:rPr>
              <a:t>(k</a:t>
            </a:r>
            <a:r>
              <a:rPr lang="zh-CN" altLang="en-US" sz="2000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</a:rPr>
              <a:t>－１</a:t>
            </a:r>
            <a:r>
              <a:rPr lang="en-US" altLang="ko-KR" sz="2000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</a:rPr>
              <a:t>)</a:t>
            </a: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sym typeface="+mn-ea"/>
              </a:rPr>
              <a:t>+</a:t>
            </a:r>
            <a:r>
              <a:rPr lang="en-US" altLang="zh-CN" sz="2000" b="1" kern="1800" dirty="0">
                <a:solidFill>
                  <a:srgbClr val="33CCFF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 </a:t>
            </a:r>
            <a:r>
              <a:rPr lang="en-US" altLang="zh-CN" sz="2000" b="1" kern="1800" dirty="0">
                <a:solidFill>
                  <a:schemeClr val="bg1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2</a:t>
            </a:r>
            <a:r>
              <a:rPr lang="en-US" altLang="zh-CN" sz="2000" b="1" kern="1800" baseline="30000" dirty="0">
                <a:solidFill>
                  <a:schemeClr val="bg1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k</a:t>
            </a:r>
            <a:endParaRPr lang="zh-CN" altLang="en-US" sz="2000" dirty="0">
              <a:solidFill>
                <a:schemeClr val="bg1"/>
              </a:solidFill>
              <a:highlight>
                <a:srgbClr val="33CCFF"/>
              </a:highlight>
              <a:latin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894AFD9-43D7-4F31-84EE-C254401BCC13}"/>
              </a:ext>
            </a:extLst>
          </p:cNvPr>
          <p:cNvSpPr txBox="1"/>
          <p:nvPr/>
        </p:nvSpPr>
        <p:spPr>
          <a:xfrm>
            <a:off x="6486859" y="2142893"/>
            <a:ext cx="15175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＋</a:t>
            </a:r>
            <a:r>
              <a:rPr lang="en-US" altLang="ko-KR" sz="2000" dirty="0" err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累计</a:t>
            </a:r>
            <a:r>
              <a:rPr lang="zh-CN" altLang="en-US" sz="20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项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5DB1B53-5404-4AA3-9966-7367A7CCCE3D}"/>
              </a:ext>
            </a:extLst>
          </p:cNvPr>
          <p:cNvSpPr txBox="1"/>
          <p:nvPr/>
        </p:nvSpPr>
        <p:spPr>
          <a:xfrm>
            <a:off x="406034" y="2116325"/>
            <a:ext cx="23071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kern="0" dirty="0" err="1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循环体</a:t>
            </a:r>
            <a:r>
              <a:rPr lang="zh-CN" altLang="en-US" sz="2000" kern="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表达式</a:t>
            </a:r>
            <a:endParaRPr lang="zh-CN" altLang="en-US" sz="2000" dirty="0">
              <a:solidFill>
                <a:srgbClr val="002060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8BB5ADD-6F5F-405B-B50E-9F119C2F37B9}"/>
              </a:ext>
            </a:extLst>
          </p:cNvPr>
          <p:cNvSpPr txBox="1"/>
          <p:nvPr/>
        </p:nvSpPr>
        <p:spPr>
          <a:xfrm>
            <a:off x="3956860" y="2105204"/>
            <a:ext cx="28330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第</a:t>
            </a:r>
            <a:r>
              <a:rPr lang="en-US" altLang="zh-CN" sz="20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k</a:t>
            </a:r>
            <a:r>
              <a:rPr lang="zh-CN" altLang="en-US" sz="20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－次累计和</a:t>
            </a:r>
            <a:r>
              <a:rPr lang="en-US" altLang="ko-KR" sz="20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</a:rPr>
              <a:t>ii</a:t>
            </a:r>
            <a:r>
              <a:rPr lang="en-US" altLang="ko-KR" sz="20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</a:rPr>
              <a:t>(k</a:t>
            </a:r>
            <a:r>
              <a:rPr lang="zh-CN" altLang="en-US" sz="20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</a:rPr>
              <a:t>－１）</a:t>
            </a:r>
            <a:endParaRPr lang="zh-CN" altLang="en-US" sz="2000" b="1" baseline="-25000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4" name="对话气泡: 圆角矩形 23">
            <a:extLst>
              <a:ext uri="{FF2B5EF4-FFF2-40B4-BE49-F238E27FC236}">
                <a16:creationId xmlns:a16="http://schemas.microsoft.com/office/drawing/2014/main" id="{5E29016C-3744-406E-AA5C-A3F6722EF43D}"/>
              </a:ext>
            </a:extLst>
          </p:cNvPr>
          <p:cNvSpPr/>
          <p:nvPr/>
        </p:nvSpPr>
        <p:spPr bwMode="auto">
          <a:xfrm>
            <a:off x="469423" y="2715766"/>
            <a:ext cx="3094465" cy="442674"/>
          </a:xfrm>
          <a:prstGeom prst="wedgeRoundRectCallout">
            <a:avLst>
              <a:gd name="adj1" fmla="val -48528"/>
              <a:gd name="adj2" fmla="val 91161"/>
              <a:gd name="adj3" fmla="val 16667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zh-CN" altLang="en-US" sz="20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  <a:cs typeface="Times New Roman" panose="02020603050405020304" pitchFamily="18" charset="0"/>
              </a:rPr>
              <a:t>级数求和简写成累计求和</a:t>
            </a:r>
            <a:endParaRPr kumimoji="0" lang="zh-CN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808EE0B-4FED-4149-8DA1-3F861450F24D}"/>
              </a:ext>
            </a:extLst>
          </p:cNvPr>
          <p:cNvSpPr txBox="1"/>
          <p:nvPr/>
        </p:nvSpPr>
        <p:spPr>
          <a:xfrm>
            <a:off x="1985418" y="2113750"/>
            <a:ext cx="23071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第</a:t>
            </a:r>
            <a:r>
              <a:rPr lang="en-US" altLang="zh-CN" sz="20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k</a:t>
            </a:r>
            <a:r>
              <a:rPr lang="zh-CN" altLang="en-US" sz="20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次累计和</a:t>
            </a:r>
            <a:r>
              <a:rPr lang="en-US" altLang="ko-KR" sz="20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</a:rPr>
              <a:t>ii</a:t>
            </a:r>
            <a:r>
              <a:rPr lang="en-US" altLang="ko-KR" sz="20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</a:rPr>
              <a:t>(k)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</a:rPr>
              <a:t>＝</a:t>
            </a:r>
            <a:endParaRPr lang="zh-CN" altLang="en-US" sz="2000" dirty="0">
              <a:solidFill>
                <a:srgbClr val="FF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26" name="对话气泡: 圆角矩形 25">
            <a:extLst>
              <a:ext uri="{FF2B5EF4-FFF2-40B4-BE49-F238E27FC236}">
                <a16:creationId xmlns:a16="http://schemas.microsoft.com/office/drawing/2014/main" id="{1908A99B-531A-422D-B2FB-7677630D8F87}"/>
              </a:ext>
            </a:extLst>
          </p:cNvPr>
          <p:cNvSpPr/>
          <p:nvPr/>
        </p:nvSpPr>
        <p:spPr bwMode="auto">
          <a:xfrm>
            <a:off x="2869012" y="1491630"/>
            <a:ext cx="3170092" cy="373093"/>
          </a:xfrm>
          <a:prstGeom prst="wedgeRoundRectCallout">
            <a:avLst>
              <a:gd name="adj1" fmla="val 30620"/>
              <a:gd name="adj2" fmla="val 148159"/>
              <a:gd name="adj3" fmla="val 16667"/>
            </a:avLst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endParaRPr kumimoji="0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7" name="对话气泡: 圆角矩形 26">
            <a:extLst>
              <a:ext uri="{FF2B5EF4-FFF2-40B4-BE49-F238E27FC236}">
                <a16:creationId xmlns:a16="http://schemas.microsoft.com/office/drawing/2014/main" id="{6A67EA5B-1BD6-41E7-BE9E-F0D6D74BBA29}"/>
              </a:ext>
            </a:extLst>
          </p:cNvPr>
          <p:cNvSpPr/>
          <p:nvPr/>
        </p:nvSpPr>
        <p:spPr bwMode="auto">
          <a:xfrm>
            <a:off x="6287799" y="1519393"/>
            <a:ext cx="331162" cy="373093"/>
          </a:xfrm>
          <a:prstGeom prst="wedgeRoundRectCallout">
            <a:avLst>
              <a:gd name="adj1" fmla="val 139181"/>
              <a:gd name="adj2" fmla="val 153216"/>
              <a:gd name="adj3" fmla="val 16667"/>
            </a:avLst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endParaRPr kumimoji="0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8" name="标题 1">
            <a:extLst>
              <a:ext uri="{FF2B5EF4-FFF2-40B4-BE49-F238E27FC236}">
                <a16:creationId xmlns:a16="http://schemas.microsoft.com/office/drawing/2014/main" id="{0CB5603A-3984-436E-B3C9-B18646C80216}"/>
              </a:ext>
            </a:extLst>
          </p:cNvPr>
          <p:cNvSpPr txBox="1">
            <a:spLocks/>
          </p:cNvSpPr>
          <p:nvPr/>
        </p:nvSpPr>
        <p:spPr bwMode="auto">
          <a:xfrm>
            <a:off x="917908" y="132240"/>
            <a:ext cx="7733445" cy="547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800" b="1" dirty="0"/>
              <a:t>§2.3.2 </a:t>
            </a:r>
            <a:r>
              <a:rPr lang="zh-CN" altLang="en-US" sz="2800" b="1" kern="0" dirty="0"/>
              <a:t>循环表达式</a:t>
            </a:r>
            <a:r>
              <a:rPr lang="en-US" altLang="zh-CN" sz="2800" b="1" dirty="0">
                <a:solidFill>
                  <a:srgbClr val="FF0000"/>
                </a:solidFill>
              </a:rPr>
              <a:t>——</a:t>
            </a:r>
            <a:r>
              <a:rPr lang="zh-CN" altLang="en-US" sz="2800" b="1" dirty="0">
                <a:solidFill>
                  <a:srgbClr val="FF0000"/>
                </a:solidFill>
              </a:rPr>
              <a:t>累计求和</a:t>
            </a:r>
            <a:r>
              <a:rPr lang="zh-CN" altLang="en-US" sz="2800" b="1" kern="0" dirty="0">
                <a:solidFill>
                  <a:srgbClr val="FF0000"/>
                </a:solidFill>
              </a:rPr>
              <a:t>的循环语句案例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0D3DEB3-3C94-41C1-BE62-99B1FB304C8A}"/>
              </a:ext>
            </a:extLst>
          </p:cNvPr>
          <p:cNvSpPr txBox="1"/>
          <p:nvPr/>
        </p:nvSpPr>
        <p:spPr>
          <a:xfrm>
            <a:off x="8004408" y="1614803"/>
            <a:ext cx="853340" cy="404928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anchor="t">
            <a:noAutofit/>
          </a:bodyPr>
          <a:lstStyle/>
          <a:p>
            <a:pPr marL="0" indent="0" algn="l" defTabSz="914400" eaLnBrk="0" fontAlgn="base" latinLnBrk="0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2800" cap="none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级数</a:t>
            </a:r>
            <a:endParaRPr lang="ko-KR" altLang="en-US" sz="2800" cap="none" dirty="0">
              <a:solidFill>
                <a:srgbClr val="FF0000"/>
              </a:solidFill>
              <a:latin typeface="华文楷体" panose="02010600040101010101" pitchFamily="2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C12F670-8DED-4271-A3CB-094555E5EDBA}"/>
              </a:ext>
            </a:extLst>
          </p:cNvPr>
          <p:cNvSpPr txBox="1"/>
          <p:nvPr/>
        </p:nvSpPr>
        <p:spPr>
          <a:xfrm>
            <a:off x="2934137" y="3340416"/>
            <a:ext cx="1709871" cy="400110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 anchor="t">
            <a:spAutoFit/>
          </a:bodyPr>
          <a:lstStyle/>
          <a:p>
            <a:pPr algn="dist"/>
            <a:r>
              <a:rPr lang="zh-CN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</a:rPr>
              <a:t>代码</a:t>
            </a: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</a:rPr>
              <a:t>ii=ii</a:t>
            </a: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sym typeface="+mn-ea"/>
              </a:rPr>
              <a:t>+</a:t>
            </a:r>
            <a:r>
              <a:rPr lang="en-US" altLang="zh-CN" sz="2000" b="1" kern="1800" dirty="0">
                <a:solidFill>
                  <a:schemeClr val="bg1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2</a:t>
            </a:r>
            <a:r>
              <a:rPr lang="en-US" altLang="zh-CN" sz="2000" b="1" kern="1800" baseline="30000" dirty="0">
                <a:solidFill>
                  <a:schemeClr val="bg1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k</a:t>
            </a:r>
            <a:endParaRPr lang="zh-CN" altLang="en-US" sz="2000" dirty="0">
              <a:solidFill>
                <a:schemeClr val="bg1"/>
              </a:solidFill>
              <a:highlight>
                <a:srgbClr val="33CCFF"/>
              </a:highlight>
              <a:latin typeface="Times New Roman" panose="02020603050405020304" pitchFamily="18" charset="0"/>
            </a:endParaRPr>
          </a:p>
        </p:txBody>
      </p:sp>
      <p:sp>
        <p:nvSpPr>
          <p:cNvPr id="31" name="箭头: 右 30">
            <a:extLst>
              <a:ext uri="{FF2B5EF4-FFF2-40B4-BE49-F238E27FC236}">
                <a16:creationId xmlns:a16="http://schemas.microsoft.com/office/drawing/2014/main" id="{89206B0D-82F3-44DC-9BA5-897410AB2125}"/>
              </a:ext>
            </a:extLst>
          </p:cNvPr>
          <p:cNvSpPr/>
          <p:nvPr/>
        </p:nvSpPr>
        <p:spPr bwMode="auto">
          <a:xfrm>
            <a:off x="2582818" y="3354358"/>
            <a:ext cx="258247" cy="277210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457E24B6-0A55-48E4-BE9A-B2B0F9A0A51C}"/>
              </a:ext>
            </a:extLst>
          </p:cNvPr>
          <p:cNvSpPr txBox="1"/>
          <p:nvPr/>
        </p:nvSpPr>
        <p:spPr>
          <a:xfrm>
            <a:off x="2903237" y="3897658"/>
            <a:ext cx="1709871" cy="400110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 anchor="t">
            <a:spAutoFit/>
          </a:bodyPr>
          <a:lstStyle/>
          <a:p>
            <a:pPr algn="dist"/>
            <a:r>
              <a:rPr lang="zh-CN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</a:rPr>
              <a:t>代码</a:t>
            </a: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+mn-ea"/>
              </a:rPr>
              <a:t>ii</a:t>
            </a: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sym typeface="+mn-ea"/>
              </a:rPr>
              <a:t>+=</a:t>
            </a:r>
            <a:r>
              <a:rPr lang="en-US" altLang="zh-CN" sz="2000" b="1" kern="1800" dirty="0">
                <a:solidFill>
                  <a:schemeClr val="bg1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2</a:t>
            </a:r>
            <a:r>
              <a:rPr lang="en-US" altLang="zh-CN" sz="2000" b="1" kern="1800" baseline="30000" dirty="0">
                <a:solidFill>
                  <a:schemeClr val="bg1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k</a:t>
            </a:r>
            <a:endParaRPr lang="zh-CN" altLang="en-US" sz="2000" dirty="0">
              <a:solidFill>
                <a:schemeClr val="bg1"/>
              </a:solidFill>
              <a:highlight>
                <a:srgbClr val="33CCFF"/>
              </a:highlight>
              <a:latin typeface="Times New Roman" panose="02020603050405020304" pitchFamily="18" charset="0"/>
            </a:endParaRPr>
          </a:p>
        </p:txBody>
      </p:sp>
      <p:sp>
        <p:nvSpPr>
          <p:cNvPr id="33" name="箭头: 右 32">
            <a:extLst>
              <a:ext uri="{FF2B5EF4-FFF2-40B4-BE49-F238E27FC236}">
                <a16:creationId xmlns:a16="http://schemas.microsoft.com/office/drawing/2014/main" id="{A736AA08-0BD3-45A8-BF6D-33526D496D20}"/>
              </a:ext>
            </a:extLst>
          </p:cNvPr>
          <p:cNvSpPr/>
          <p:nvPr/>
        </p:nvSpPr>
        <p:spPr bwMode="auto">
          <a:xfrm rot="2607612">
            <a:off x="2447617" y="3875101"/>
            <a:ext cx="357052" cy="212869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810C8EA3-0888-42E8-8731-F45736174ABF}"/>
              </a:ext>
            </a:extLst>
          </p:cNvPr>
          <p:cNvSpPr txBox="1"/>
          <p:nvPr/>
        </p:nvSpPr>
        <p:spPr>
          <a:xfrm>
            <a:off x="350520" y="3935396"/>
            <a:ext cx="18607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kern="0" dirty="0">
                <a:solidFill>
                  <a:srgbClr val="FF0000"/>
                </a:solidFill>
              </a:rPr>
              <a:t>复合赋值运算符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00798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8" grpId="0" animBg="1"/>
      <p:bldP spid="21" grpId="0"/>
      <p:bldP spid="22" grpId="0"/>
      <p:bldP spid="23" grpId="0"/>
      <p:bldP spid="24" grpId="0" animBg="1"/>
      <p:bldP spid="25" grpId="0"/>
      <p:bldP spid="26" grpId="0" animBg="1"/>
      <p:bldP spid="27" grpId="0" animBg="1"/>
      <p:bldP spid="30" grpId="0" animBg="1"/>
      <p:bldP spid="31" grpId="0" animBg="1"/>
      <p:bldP spid="32" grpId="0" animBg="1"/>
      <p:bldP spid="33" grpId="0" animBg="1"/>
      <p:bldP spid="3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15AF97C6-D95E-4A7B-99A0-E8647020D729}"/>
              </a:ext>
            </a:extLst>
          </p:cNvPr>
          <p:cNvSpPr/>
          <p:nvPr/>
        </p:nvSpPr>
        <p:spPr>
          <a:xfrm>
            <a:off x="605838" y="3161982"/>
            <a:ext cx="8286642" cy="175432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ii=</a:t>
            </a:r>
            <a:r>
              <a:rPr lang="en-US" altLang="zh-CN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zh-CN" dirty="0">
                <a:solidFill>
                  <a:srgbClr val="AF00DB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k in </a:t>
            </a:r>
            <a:r>
              <a:rPr lang="en-US" altLang="zh-CN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60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 </a:t>
            </a:r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#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或者</a:t>
            </a:r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k=0:60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global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ii   </a:t>
            </a:r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#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定义</a:t>
            </a:r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ii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为全局变量，否则找不到</a:t>
            </a:r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ii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   ii=ii+</a:t>
            </a:r>
            <a:r>
              <a:rPr lang="en-US" altLang="zh-CN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^k;  </a:t>
            </a:r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#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或者</a:t>
            </a:r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ii += 2^k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复合赋值运算符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AF00DB"/>
                </a:solidFill>
                <a:latin typeface="Consolas" panose="020B0609020204030204" pitchFamily="49" charset="0"/>
              </a:rPr>
              <a:t>end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 err="1">
                <a:solidFill>
                  <a:srgbClr val="795E26"/>
                </a:solidFill>
                <a:latin typeface="Consolas" panose="020B0609020204030204" pitchFamily="49" charset="0"/>
              </a:rPr>
              <a:t>println</a:t>
            </a:r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("ii=$ii")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494EB0C-7F0C-4193-91C9-1C65C3EA9DA4}"/>
              </a:ext>
            </a:extLst>
          </p:cNvPr>
          <p:cNvSpPr txBox="1"/>
          <p:nvPr/>
        </p:nvSpPr>
        <p:spPr>
          <a:xfrm>
            <a:off x="605838" y="1193952"/>
            <a:ext cx="8286642" cy="147732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ii=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 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全局变量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k=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ii=ii+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^k;  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#ii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将被视为新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的局部变量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dirty="0" err="1">
                <a:solidFill>
                  <a:srgbClr val="795E26"/>
                </a:solidFill>
                <a:latin typeface="Consolas" panose="020B0609020204030204" pitchFamily="49" charset="0"/>
              </a:rPr>
              <a:t>println</a:t>
            </a:r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("ii=$ii")#println(“ii=”,ii)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3B31B59-746D-4E85-8432-D5C6833DD387}"/>
              </a:ext>
            </a:extLst>
          </p:cNvPr>
          <p:cNvSpPr txBox="1"/>
          <p:nvPr/>
        </p:nvSpPr>
        <p:spPr>
          <a:xfrm>
            <a:off x="515072" y="709328"/>
            <a:ext cx="17765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342900" indent="-342900">
              <a:buFont typeface="Wingdings" panose="05000000000000000000" pitchFamily="2" charset="2"/>
              <a:buChar char="p"/>
              <a:defRPr sz="2000" i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b="1" dirty="0">
                <a:solidFill>
                  <a:srgbClr val="0070C0"/>
                </a:solidFill>
              </a:rPr>
              <a:t>局部变量</a:t>
            </a:r>
            <a:r>
              <a:rPr lang="en-US" altLang="zh-CN" b="1" dirty="0">
                <a:solidFill>
                  <a:srgbClr val="0070C0"/>
                </a:solidFill>
              </a:rPr>
              <a:t>ii</a:t>
            </a:r>
            <a:endParaRPr lang="zh-CN" altLang="en-US" b="1" dirty="0">
              <a:solidFill>
                <a:srgbClr val="0070C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AD8DF5A-731B-43F7-8709-E8D9CBD99776}"/>
              </a:ext>
            </a:extLst>
          </p:cNvPr>
          <p:cNvSpPr txBox="1"/>
          <p:nvPr/>
        </p:nvSpPr>
        <p:spPr>
          <a:xfrm>
            <a:off x="5492907" y="1809399"/>
            <a:ext cx="274482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代码编辑器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编写文件名</a:t>
            </a:r>
            <a:r>
              <a:rPr lang="en-US" altLang="zh-CN" sz="16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xq.jl</a:t>
            </a:r>
            <a:endParaRPr lang="en-US" altLang="zh-CN" sz="1600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波形 6">
            <a:extLst>
              <a:ext uri="{FF2B5EF4-FFF2-40B4-BE49-F238E27FC236}">
                <a16:creationId xmlns:a16="http://schemas.microsoft.com/office/drawing/2014/main" id="{66C16247-B107-4549-8929-303F85E46613}"/>
              </a:ext>
            </a:extLst>
          </p:cNvPr>
          <p:cNvSpPr/>
          <p:nvPr/>
        </p:nvSpPr>
        <p:spPr>
          <a:xfrm>
            <a:off x="62488" y="331102"/>
            <a:ext cx="378064" cy="524695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endParaRPr lang="ko-KR" altLang="en-US" sz="16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3D4AAA7B-7E52-42E7-B262-73E4ABC3080E}"/>
              </a:ext>
            </a:extLst>
          </p:cNvPr>
          <p:cNvSpPr txBox="1">
            <a:spLocks/>
          </p:cNvSpPr>
          <p:nvPr/>
        </p:nvSpPr>
        <p:spPr bwMode="auto">
          <a:xfrm>
            <a:off x="724730" y="95989"/>
            <a:ext cx="7733445" cy="547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800" dirty="0"/>
              <a:t>§2.3.2 </a:t>
            </a:r>
            <a:r>
              <a:rPr lang="zh-CN" altLang="en-US" sz="2800" kern="0" dirty="0"/>
              <a:t>循环表达式</a:t>
            </a:r>
            <a:r>
              <a:rPr lang="en-US" altLang="zh-CN" sz="2800" dirty="0">
                <a:solidFill>
                  <a:srgbClr val="FF0000"/>
                </a:solidFill>
              </a:rPr>
              <a:t>——</a:t>
            </a:r>
            <a:r>
              <a:rPr lang="zh-CN" altLang="en-US" sz="2800" dirty="0">
                <a:solidFill>
                  <a:srgbClr val="FF0000"/>
                </a:solidFill>
              </a:rPr>
              <a:t>累计求和</a:t>
            </a:r>
            <a:r>
              <a:rPr lang="zh-CN" altLang="en-US" sz="2800" kern="0" dirty="0">
                <a:solidFill>
                  <a:srgbClr val="FF0000"/>
                </a:solidFill>
              </a:rPr>
              <a:t>的循环语句案例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0AA3A32-9D3C-40E7-AB6C-94B59D8BEC53}"/>
              </a:ext>
            </a:extLst>
          </p:cNvPr>
          <p:cNvSpPr txBox="1"/>
          <p:nvPr/>
        </p:nvSpPr>
        <p:spPr>
          <a:xfrm>
            <a:off x="2429631" y="731999"/>
            <a:ext cx="63077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70C0"/>
                </a:solidFill>
                <a:latin typeface="Consolas" panose="020B0609020204030204" pitchFamily="49" charset="0"/>
              </a:rPr>
              <a:t>#</a:t>
            </a:r>
            <a:r>
              <a:rPr lang="zh-CN" altLang="en-US" dirty="0">
                <a:solidFill>
                  <a:srgbClr val="0070C0"/>
                </a:solidFill>
                <a:latin typeface="Consolas" panose="020B0609020204030204" pitchFamily="49" charset="0"/>
              </a:rPr>
              <a:t>在命令行窗口敲写每条代码可运行，运行</a:t>
            </a:r>
            <a:r>
              <a:rPr lang="en-US" altLang="zh-CN" dirty="0">
                <a:solidFill>
                  <a:srgbClr val="0070C0"/>
                </a:solidFill>
                <a:latin typeface="Consolas" panose="020B0609020204030204" pitchFamily="49" charset="0"/>
              </a:rPr>
              <a:t>julia</a:t>
            </a:r>
            <a:r>
              <a:rPr lang="zh-CN" altLang="en-US" dirty="0">
                <a:solidFill>
                  <a:srgbClr val="0070C0"/>
                </a:solidFill>
                <a:latin typeface="Consolas" panose="020B0609020204030204" pitchFamily="49" charset="0"/>
              </a:rPr>
              <a:t>文件会报错</a:t>
            </a:r>
            <a:endParaRPr lang="en-US" altLang="zh-CN" b="0" dirty="0">
              <a:solidFill>
                <a:srgbClr val="0070C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46F8283-6CA2-45BC-9CB2-6B9D5C92DE22}"/>
              </a:ext>
            </a:extLst>
          </p:cNvPr>
          <p:cNvSpPr txBox="1"/>
          <p:nvPr/>
        </p:nvSpPr>
        <p:spPr>
          <a:xfrm>
            <a:off x="512461" y="2756703"/>
            <a:ext cx="42976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342900" indent="-342900">
              <a:buFont typeface="Wingdings" panose="05000000000000000000" pitchFamily="2" charset="2"/>
              <a:buChar char="p"/>
              <a:defRPr sz="2000" b="1" i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global</a:t>
            </a:r>
            <a:r>
              <a:rPr lang="zh-CN" altLang="en-US" dirty="0"/>
              <a:t>将变量</a:t>
            </a:r>
            <a:r>
              <a:rPr lang="en-US" altLang="zh-CN" dirty="0"/>
              <a:t>ii</a:t>
            </a:r>
            <a:r>
              <a:rPr lang="zh-CN" altLang="en-US" dirty="0"/>
              <a:t>转化为全局变量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E9344C5-4D18-42D9-AD82-DAEFAAC1978D}"/>
              </a:ext>
            </a:extLst>
          </p:cNvPr>
          <p:cNvSpPr txBox="1"/>
          <p:nvPr/>
        </p:nvSpPr>
        <p:spPr>
          <a:xfrm>
            <a:off x="5508104" y="2156251"/>
            <a:ext cx="37079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0" dirty="0">
                <a:solidFill>
                  <a:srgbClr val="FFFF00"/>
                </a:solidFill>
                <a:effectLst/>
                <a:highlight>
                  <a:srgbClr val="FF0000"/>
                </a:highlight>
                <a:latin typeface="Consolas" panose="020B0609020204030204" pitchFamily="49" charset="0"/>
              </a:rPr>
              <a:t>include</a:t>
            </a:r>
            <a:r>
              <a:rPr lang="en-US" altLang="zh-CN" sz="1200" dirty="0">
                <a:solidFill>
                  <a:srgbClr val="FFFF00"/>
                </a:solidFill>
                <a:highlight>
                  <a:srgbClr val="FF0000"/>
                </a:highlight>
                <a:latin typeface="Consolas" panose="020B0609020204030204" pitchFamily="49" charset="0"/>
              </a:rPr>
              <a:t>(“</a:t>
            </a:r>
            <a:r>
              <a:rPr lang="en-US" altLang="zh-CN" sz="1200" dirty="0" err="1">
                <a:solidFill>
                  <a:srgbClr val="FFFF00"/>
                </a:solidFill>
                <a:highlight>
                  <a:srgbClr val="FF0000"/>
                </a:highlight>
                <a:latin typeface="Consolas" panose="020B0609020204030204" pitchFamily="49" charset="0"/>
              </a:rPr>
              <a:t>xq.jl</a:t>
            </a:r>
            <a:r>
              <a:rPr lang="en-US" altLang="zh-CN" sz="1200" dirty="0">
                <a:solidFill>
                  <a:srgbClr val="FFFF00"/>
                </a:solidFill>
                <a:highlight>
                  <a:srgbClr val="FF0000"/>
                </a:highlight>
                <a:latin typeface="Consolas" panose="020B0609020204030204" pitchFamily="49" charset="0"/>
              </a:rPr>
              <a:t>”)</a:t>
            </a:r>
            <a:endParaRPr lang="en-US" altLang="zh-CN" sz="1200" b="0" dirty="0">
              <a:solidFill>
                <a:srgbClr val="FFFF00"/>
              </a:solidFill>
              <a:effectLst/>
              <a:highlight>
                <a:srgbClr val="FF0000"/>
              </a:highlight>
              <a:latin typeface="Consolas" panose="020B0609020204030204" pitchFamily="49" charset="0"/>
            </a:endParaRPr>
          </a:p>
          <a:p>
            <a:r>
              <a:rPr lang="zh-CN" altLang="en-US" sz="1200" dirty="0">
                <a:solidFill>
                  <a:srgbClr val="FF0000"/>
                </a:solidFill>
              </a:rPr>
              <a:t>警告：Assignment to `ii` in soft scope is ambiguous because a global variable by the same name exists: `ii` will be treated as a new  local.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9BDB0FD-C9B6-4AE6-9665-D4968EF69CD6}"/>
              </a:ext>
            </a:extLst>
          </p:cNvPr>
          <p:cNvSpPr txBox="1"/>
          <p:nvPr/>
        </p:nvSpPr>
        <p:spPr>
          <a:xfrm>
            <a:off x="2843808" y="4457273"/>
            <a:ext cx="31327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B0F0"/>
                </a:solidFill>
                <a:latin typeface="Menlo"/>
              </a:rPr>
              <a:t>结果</a:t>
            </a:r>
            <a:r>
              <a:rPr lang="en-US" altLang="zh-CN" b="1" dirty="0">
                <a:solidFill>
                  <a:srgbClr val="00B0F0"/>
                </a:solidFill>
                <a:latin typeface="Menlo"/>
              </a:rPr>
              <a:t>ii=2305843009213693951</a:t>
            </a:r>
            <a:endParaRPr lang="en-US" altLang="zh-CN" b="1" i="0" dirty="0">
              <a:solidFill>
                <a:srgbClr val="00B0F0"/>
              </a:solidFill>
              <a:effectLst/>
              <a:latin typeface="Menlo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99CABE4-9BCD-4B21-8735-128877CA92B1}"/>
              </a:ext>
            </a:extLst>
          </p:cNvPr>
          <p:cNvSpPr txBox="1"/>
          <p:nvPr/>
        </p:nvSpPr>
        <p:spPr>
          <a:xfrm>
            <a:off x="3614701" y="1264015"/>
            <a:ext cx="23071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kern="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循环体</a:t>
            </a:r>
            <a:r>
              <a:rPr lang="zh-CN" altLang="en-US" sz="20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endParaRPr lang="zh-CN" altLang="en-US" sz="2000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AB65649-F58F-4B29-8D8B-C73EBFEDB7B2}"/>
              </a:ext>
            </a:extLst>
          </p:cNvPr>
          <p:cNvSpPr txBox="1"/>
          <p:nvPr/>
        </p:nvSpPr>
        <p:spPr>
          <a:xfrm>
            <a:off x="5326198" y="1307979"/>
            <a:ext cx="1709871" cy="33855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 anchor="t">
            <a:spAutoFit/>
          </a:bodyPr>
          <a:lstStyle/>
          <a:p>
            <a:pPr algn="dist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代码</a:t>
            </a:r>
            <a:r>
              <a:rPr lang="en-US" altLang="ko-KR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ii=ii+</a:t>
            </a:r>
            <a:r>
              <a:rPr lang="en-US" altLang="zh-CN" sz="1600" b="1" kern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600" b="1" kern="1800" baseline="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endParaRPr lang="zh-CN" altLang="en-US" sz="1600" dirty="0">
              <a:solidFill>
                <a:schemeClr val="bg1"/>
              </a:solidFill>
              <a:highlight>
                <a:srgbClr val="33CCFF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53538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12" grpId="0"/>
      <p:bldP spid="14" grpId="0"/>
      <p:bldP spid="1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21C72016-03EE-8504-6F97-407A96427F64}"/>
              </a:ext>
            </a:extLst>
          </p:cNvPr>
          <p:cNvSpPr txBox="1">
            <a:spLocks/>
          </p:cNvSpPr>
          <p:nvPr/>
        </p:nvSpPr>
        <p:spPr bwMode="auto">
          <a:xfrm>
            <a:off x="936590" y="52348"/>
            <a:ext cx="6155923" cy="547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800" b="1" dirty="0"/>
              <a:t>§2.3.2 </a:t>
            </a:r>
            <a:r>
              <a:rPr lang="zh-CN" altLang="en-US" sz="2800" b="1" kern="0" dirty="0"/>
              <a:t>循环表达式</a:t>
            </a:r>
            <a:r>
              <a:rPr lang="en-US" altLang="zh-CN" sz="2800" b="1" dirty="0">
                <a:solidFill>
                  <a:srgbClr val="FF0000"/>
                </a:solidFill>
              </a:rPr>
              <a:t>——</a:t>
            </a:r>
            <a:r>
              <a:rPr lang="zh-CN" altLang="en-US" sz="2800" b="1" dirty="0">
                <a:solidFill>
                  <a:srgbClr val="FF0000"/>
                </a:solidFill>
              </a:rPr>
              <a:t>推导式</a:t>
            </a:r>
            <a:r>
              <a:rPr lang="zh-CN" altLang="en-US" sz="2800" b="1" kern="0" dirty="0">
                <a:solidFill>
                  <a:srgbClr val="FF0000"/>
                </a:solidFill>
              </a:rPr>
              <a:t>循环语句</a:t>
            </a: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0964D45C-E633-D983-1E71-9894BFEBBADC}"/>
              </a:ext>
            </a:extLst>
          </p:cNvPr>
          <p:cNvSpPr txBox="1">
            <a:spLocks/>
          </p:cNvSpPr>
          <p:nvPr/>
        </p:nvSpPr>
        <p:spPr bwMode="auto">
          <a:xfrm>
            <a:off x="464829" y="829102"/>
            <a:ext cx="2568137" cy="547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循环结构格式：</a:t>
            </a:r>
            <a:endParaRPr lang="zh-CN" altLang="en-US" sz="2400" b="1" kern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8F4DF95-A7D8-DE96-F6D9-FB9442FBA640}"/>
              </a:ext>
            </a:extLst>
          </p:cNvPr>
          <p:cNvSpPr/>
          <p:nvPr/>
        </p:nvSpPr>
        <p:spPr>
          <a:xfrm>
            <a:off x="1187624" y="4180774"/>
            <a:ext cx="80972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b="1" kern="1800" dirty="0">
                <a:solidFill>
                  <a:srgbClr val="33CCFF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用</a:t>
            </a:r>
            <a:r>
              <a:rPr lang="en-US" altLang="zh-CN" b="1" kern="1800" dirty="0">
                <a:solidFill>
                  <a:srgbClr val="33CCFF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sum</a:t>
            </a:r>
            <a:r>
              <a:rPr lang="zh-CN" altLang="en-US" b="1" kern="1800" dirty="0">
                <a:solidFill>
                  <a:srgbClr val="33CCFF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求和计算</a:t>
            </a:r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k=0:63</a:t>
            </a:r>
            <a:r>
              <a:rPr lang="zh-CN" altLang="zh-CN" b="1" kern="1800" dirty="0">
                <a:solidFill>
                  <a:srgbClr val="33CCFF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棋盘米粒</a:t>
            </a:r>
            <a:r>
              <a:rPr lang="zh-CN" altLang="en-US" b="1" kern="1800" dirty="0">
                <a:solidFill>
                  <a:srgbClr val="33CCFF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：ｉｉ＝</a:t>
            </a:r>
            <a:r>
              <a:rPr lang="en-US" altLang="zh-CN" b="1" kern="1800" dirty="0">
                <a:solidFill>
                  <a:srgbClr val="33CCFF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2</a:t>
            </a:r>
            <a:r>
              <a:rPr lang="en-US" altLang="zh-CN" b="1" kern="1800" baseline="30000" dirty="0">
                <a:solidFill>
                  <a:srgbClr val="33CCFF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0</a:t>
            </a:r>
            <a:r>
              <a:rPr lang="en-US" altLang="zh-CN" b="1" kern="1800" dirty="0">
                <a:solidFill>
                  <a:srgbClr val="33CCFF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+2</a:t>
            </a:r>
            <a:r>
              <a:rPr lang="en-US" altLang="zh-CN" b="1" kern="1800" baseline="30000" dirty="0">
                <a:solidFill>
                  <a:srgbClr val="33CCFF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1</a:t>
            </a:r>
            <a:r>
              <a:rPr lang="en-US" altLang="zh-CN" b="1" kern="1800" dirty="0">
                <a:solidFill>
                  <a:srgbClr val="33CCFF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+2</a:t>
            </a:r>
            <a:r>
              <a:rPr lang="en-US" altLang="zh-CN" b="1" kern="1800" baseline="30000" dirty="0">
                <a:solidFill>
                  <a:srgbClr val="33CCFF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2</a:t>
            </a:r>
            <a:r>
              <a:rPr lang="en-US" altLang="zh-CN" b="1" kern="1800" dirty="0">
                <a:solidFill>
                  <a:srgbClr val="33CCFF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+2</a:t>
            </a:r>
            <a:r>
              <a:rPr lang="en-US" altLang="zh-CN" b="1" kern="1800" baseline="30000" dirty="0">
                <a:solidFill>
                  <a:srgbClr val="33CCFF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3</a:t>
            </a:r>
            <a:r>
              <a:rPr lang="en-US" altLang="zh-CN" b="1" kern="1800" dirty="0">
                <a:solidFill>
                  <a:srgbClr val="33CCFF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…</a:t>
            </a:r>
            <a:r>
              <a:rPr lang="zh-CN" altLang="en-US" b="1" kern="1800" dirty="0">
                <a:solidFill>
                  <a:srgbClr val="33CCFF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＋</a:t>
            </a:r>
            <a:r>
              <a:rPr lang="en-US" altLang="zh-CN" b="1" kern="1800" dirty="0">
                <a:solidFill>
                  <a:srgbClr val="33CCFF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 2</a:t>
            </a:r>
            <a:r>
              <a:rPr lang="en-US" altLang="zh-CN" b="1" kern="1800" baseline="30000" dirty="0">
                <a:solidFill>
                  <a:srgbClr val="33CCFF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k</a:t>
            </a:r>
            <a:r>
              <a:rPr lang="zh-CN" altLang="en-US" b="1" kern="1800" baseline="30000" dirty="0">
                <a:solidFill>
                  <a:srgbClr val="33CCFF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－１</a:t>
            </a:r>
            <a:r>
              <a:rPr lang="en-US" altLang="zh-CN" b="1" kern="1800" baseline="30000" dirty="0">
                <a:solidFill>
                  <a:srgbClr val="33CCFF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 </a:t>
            </a:r>
            <a:r>
              <a:rPr lang="en-US" altLang="zh-CN" b="1" kern="1800" dirty="0">
                <a:solidFill>
                  <a:srgbClr val="33CCFF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+2</a:t>
            </a:r>
            <a:r>
              <a:rPr lang="en-US" altLang="zh-CN" b="1" kern="1800" baseline="30000" dirty="0">
                <a:solidFill>
                  <a:srgbClr val="33CCFF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k</a:t>
            </a:r>
            <a:r>
              <a:rPr lang="en-US" altLang="zh-CN" b="1" kern="1800" dirty="0">
                <a:solidFill>
                  <a:srgbClr val="33CCFF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+….+2</a:t>
            </a:r>
            <a:r>
              <a:rPr lang="en-US" altLang="zh-CN" b="1" kern="1800" baseline="30000" dirty="0">
                <a:solidFill>
                  <a:srgbClr val="33CCFF"/>
                </a:solidFill>
                <a:latin typeface="等线" panose="02010600030101010101" pitchFamily="2" charset="-122"/>
                <a:ea typeface="微软雅黑" panose="020B0503020204020204" pitchFamily="34" charset="-122"/>
              </a:rPr>
              <a:t>63</a:t>
            </a:r>
            <a:endParaRPr lang="zh-CN" altLang="zh-CN" b="1" kern="1800" baseline="30000" dirty="0">
              <a:solidFill>
                <a:srgbClr val="33CCFF"/>
              </a:solidFill>
              <a:latin typeface="等线" panose="02010600030101010101" pitchFamily="2" charset="-122"/>
              <a:ea typeface="微软雅黑" panose="020B0503020204020204" pitchFamily="34" charset="-122"/>
            </a:endParaRPr>
          </a:p>
        </p:txBody>
      </p:sp>
      <p:sp>
        <p:nvSpPr>
          <p:cNvPr id="12" name="内容占位符 4">
            <a:extLst>
              <a:ext uri="{FF2B5EF4-FFF2-40B4-BE49-F238E27FC236}">
                <a16:creationId xmlns:a16="http://schemas.microsoft.com/office/drawing/2014/main" id="{02D1CC52-4E3D-4355-BCC4-12ADBB971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074" y="2606859"/>
            <a:ext cx="3057571" cy="438774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200" b="1" i="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数组推导式语法格式</a:t>
            </a:r>
            <a:endParaRPr lang="zh-CN" altLang="en-US" sz="22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内容占位符 4">
            <a:extLst>
              <a:ext uri="{FF2B5EF4-FFF2-40B4-BE49-F238E27FC236}">
                <a16:creationId xmlns:a16="http://schemas.microsoft.com/office/drawing/2014/main" id="{67A5F2C7-3037-4322-9CA1-3992C5B2A113}"/>
              </a:ext>
            </a:extLst>
          </p:cNvPr>
          <p:cNvSpPr txBox="1">
            <a:spLocks/>
          </p:cNvSpPr>
          <p:nvPr/>
        </p:nvSpPr>
        <p:spPr bwMode="auto">
          <a:xfrm>
            <a:off x="428238" y="3221550"/>
            <a:ext cx="8608258" cy="407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1778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8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1pPr>
            <a:lvl2pPr marL="6350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10922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5494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20066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  <a:lvl6pPr marL="24638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zh-CN" altLang="en-US" sz="20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通过循环变量</a:t>
            </a:r>
            <a:r>
              <a:rPr lang="en-US" altLang="zh-CN" sz="20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0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带入函数表达式</a:t>
            </a:r>
            <a:r>
              <a:rPr lang="en-US" altLang="zh-CN" sz="20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f(x</a:t>
            </a:r>
            <a:r>
              <a:rPr lang="zh-CN" altLang="en-US" sz="20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）创建一维或多维</a:t>
            </a:r>
            <a:r>
              <a:rPr lang="zh-CN" altLang="en-US" sz="200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数组</a:t>
            </a:r>
            <a:r>
              <a:rPr lang="en-US" altLang="zh-CN" sz="200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2000" kern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标题 1">
            <a:extLst>
              <a:ext uri="{FF2B5EF4-FFF2-40B4-BE49-F238E27FC236}">
                <a16:creationId xmlns:a16="http://schemas.microsoft.com/office/drawing/2014/main" id="{FF0244EF-C8A1-42C7-B04D-741FD7DCE5B7}"/>
              </a:ext>
            </a:extLst>
          </p:cNvPr>
          <p:cNvSpPr txBox="1">
            <a:spLocks/>
          </p:cNvSpPr>
          <p:nvPr/>
        </p:nvSpPr>
        <p:spPr bwMode="auto">
          <a:xfrm>
            <a:off x="420713" y="2153699"/>
            <a:ext cx="8258550" cy="40011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pPr algn="just"/>
            <a:br>
              <a:rPr lang="en-US" altLang="zh-CN" sz="20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20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</a:t>
            </a:r>
            <a:r>
              <a:rPr lang="en-US" altLang="zh-CN" sz="20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x=</a:t>
            </a:r>
            <a:r>
              <a:rPr lang="en-US" altLang="zh-CN" sz="2000" b="1" kern="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start:step:stop</a:t>
            </a:r>
            <a:r>
              <a:rPr lang="zh-CN" altLang="en-US" sz="20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时</a:t>
            </a:r>
            <a:r>
              <a:rPr lang="zh-CN" altLang="en-US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f.(x)</a:t>
            </a:r>
            <a:r>
              <a:rPr lang="zh-CN" altLang="en-US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值，</a:t>
            </a:r>
            <a:r>
              <a:rPr lang="zh-CN" altLang="en-US" sz="20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可用数组推导式直接得到</a:t>
            </a:r>
            <a:r>
              <a:rPr lang="en-US" altLang="zh-CN" sz="20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f.(x)</a:t>
            </a:r>
            <a:r>
              <a:rPr lang="zh-CN" altLang="en-US" sz="20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35DE6FF-5E51-4012-BFFA-2E9B83642ADA}"/>
              </a:ext>
            </a:extLst>
          </p:cNvPr>
          <p:cNvSpPr/>
          <p:nvPr/>
        </p:nvSpPr>
        <p:spPr>
          <a:xfrm>
            <a:off x="3156380" y="2605200"/>
            <a:ext cx="3575860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s-ES" altLang="zh-CN" kern="0" dirty="0">
                <a:solidFill>
                  <a:schemeClr val="bg1"/>
                </a:solidFill>
              </a:rPr>
              <a:t>A = </a:t>
            </a:r>
            <a:r>
              <a:rPr lang="es-ES" altLang="zh-CN" b="1" kern="0" dirty="0">
                <a:solidFill>
                  <a:schemeClr val="bg1"/>
                </a:solidFill>
                <a:highlight>
                  <a:srgbClr val="FF0000"/>
                </a:highlight>
              </a:rPr>
              <a:t>[</a:t>
            </a:r>
            <a:r>
              <a:rPr lang="es-ES" altLang="zh-CN" kern="0" dirty="0">
                <a:solidFill>
                  <a:schemeClr val="bg1"/>
                </a:solidFill>
              </a:rPr>
              <a:t> </a:t>
            </a:r>
            <a:r>
              <a:rPr lang="en-US" altLang="zh-CN" kern="0" dirty="0">
                <a:solidFill>
                  <a:schemeClr val="bg1"/>
                </a:solidFill>
              </a:rPr>
              <a:t>f</a:t>
            </a:r>
            <a:r>
              <a:rPr lang="es-ES" altLang="zh-CN" kern="0" dirty="0">
                <a:solidFill>
                  <a:schemeClr val="bg1"/>
                </a:solidFill>
              </a:rPr>
              <a:t>(x) for x=</a:t>
            </a:r>
            <a:r>
              <a:rPr lang="en-US" altLang="zh-CN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 </a:t>
            </a:r>
            <a:r>
              <a:rPr lang="en-US" altLang="zh-CN" b="1" kern="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start:step:stop</a:t>
            </a:r>
            <a:r>
              <a:rPr lang="es-ES" altLang="zh-CN" b="1" kern="0" dirty="0">
                <a:solidFill>
                  <a:schemeClr val="bg1"/>
                </a:solidFill>
                <a:highlight>
                  <a:srgbClr val="FF0000"/>
                </a:highlight>
              </a:rPr>
              <a:t>]</a:t>
            </a:r>
            <a:endParaRPr lang="zh-CN" altLang="en-US" b="1" kern="0" dirty="0">
              <a:solidFill>
                <a:schemeClr val="bg1"/>
              </a:solidFill>
              <a:highlight>
                <a:srgbClr val="FF0000"/>
              </a:highlight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6368C62-8B1C-4A5B-BCE2-50816388AD48}"/>
              </a:ext>
            </a:extLst>
          </p:cNvPr>
          <p:cNvSpPr txBox="1"/>
          <p:nvPr/>
        </p:nvSpPr>
        <p:spPr>
          <a:xfrm>
            <a:off x="6876256" y="2496643"/>
            <a:ext cx="141740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1" kern="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必加括号</a:t>
            </a:r>
          </a:p>
        </p:txBody>
      </p:sp>
      <p:sp>
        <p:nvSpPr>
          <p:cNvPr id="21" name="矩形 1">
            <a:extLst>
              <a:ext uri="{FF2B5EF4-FFF2-40B4-BE49-F238E27FC236}">
                <a16:creationId xmlns:a16="http://schemas.microsoft.com/office/drawing/2014/main" id="{DD721603-0F01-4C74-B91B-32FEC4A05B31}"/>
              </a:ext>
            </a:extLst>
          </p:cNvPr>
          <p:cNvSpPr/>
          <p:nvPr/>
        </p:nvSpPr>
        <p:spPr bwMode="auto">
          <a:xfrm>
            <a:off x="3230781" y="834729"/>
            <a:ext cx="5677071" cy="121135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ko-KR" sz="20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 </a:t>
            </a:r>
            <a:r>
              <a:rPr lang="en-US" altLang="zh-CN" sz="20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x=</a:t>
            </a:r>
            <a:r>
              <a:rPr lang="en-US" altLang="zh-CN" sz="2000" kern="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start:step:stop</a:t>
            </a:r>
            <a:endParaRPr lang="ko-KR" altLang="en-US" sz="2000" kern="0" dirty="0">
              <a:solidFill>
                <a:srgbClr val="0070C0"/>
              </a:solidFill>
              <a:latin typeface="微软雅黑" panose="020B0503020204020204" pitchFamily="34" charset="-122"/>
            </a:endParaRPr>
          </a:p>
          <a:p>
            <a:pPr>
              <a:lnSpc>
                <a:spcPts val="3000"/>
              </a:lnSpc>
            </a:pPr>
            <a:r>
              <a:rPr lang="en-US" altLang="ko-KR" sz="20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ko-KR" sz="2000" kern="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</a:t>
            </a:r>
            <a:r>
              <a:rPr lang="zh-CN" altLang="en-US" sz="20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20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f(x)</a:t>
            </a:r>
            <a:endParaRPr lang="ko-KR" altLang="en-US" sz="2000" kern="0" dirty="0">
              <a:solidFill>
                <a:srgbClr val="0070C0"/>
              </a:solidFill>
              <a:latin typeface="微软雅黑" panose="020B0503020204020204" pitchFamily="34" charset="-122"/>
            </a:endParaRPr>
          </a:p>
          <a:p>
            <a:pPr>
              <a:lnSpc>
                <a:spcPts val="3000"/>
              </a:lnSpc>
            </a:pPr>
            <a:r>
              <a:rPr lang="en-US" altLang="ko-KR" sz="20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end</a:t>
            </a:r>
            <a:endParaRPr lang="ko-KR" altLang="en-US" sz="2000" kern="0" dirty="0">
              <a:solidFill>
                <a:srgbClr val="0070C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AutoShape 13">
            <a:extLst>
              <a:ext uri="{FF2B5EF4-FFF2-40B4-BE49-F238E27FC236}">
                <a16:creationId xmlns:a16="http://schemas.microsoft.com/office/drawing/2014/main" id="{8BEA1750-B6D3-4205-95F5-F2C88C637B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0401" y="168538"/>
            <a:ext cx="1948229" cy="491007"/>
          </a:xfrm>
          <a:prstGeom prst="irregularSeal2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zh-CN" altLang="en-US" sz="1600" b="1" kern="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简化循环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A2DA247-E7D3-468E-82B4-73659C78A0F6}"/>
              </a:ext>
            </a:extLst>
          </p:cNvPr>
          <p:cNvSpPr txBox="1"/>
          <p:nvPr/>
        </p:nvSpPr>
        <p:spPr>
          <a:xfrm>
            <a:off x="6663267" y="861765"/>
            <a:ext cx="2041815" cy="116955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000" b="1" dirty="0"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求</a:t>
            </a:r>
            <a:r>
              <a:rPr lang="en-US" altLang="zh-CN" sz="1000" b="1" dirty="0"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t=1:4</a:t>
            </a:r>
            <a:r>
              <a:rPr lang="zh-CN" altLang="en-US" sz="1000" b="1" dirty="0"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时，</a:t>
            </a:r>
            <a:r>
              <a:rPr lang="en-US" altLang="zh-CN" sz="1000" b="1" dirty="0"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v=t^2</a:t>
            </a:r>
            <a:r>
              <a:rPr lang="zh-CN" altLang="en-US" sz="1000" b="1" dirty="0"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向量值</a:t>
            </a:r>
            <a:endParaRPr lang="en-US" altLang="zh-CN" sz="1000" b="1" dirty="0">
              <a:solidFill>
                <a:srgbClr val="00B0F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v=</a:t>
            </a:r>
            <a:r>
              <a:rPr lang="en-US" altLang="zh-CN" sz="1000" dirty="0">
                <a:solidFill>
                  <a:srgbClr val="795E26"/>
                </a:solidFill>
                <a:latin typeface="Consolas" panose="020B0609020204030204" pitchFamily="49" charset="0"/>
              </a:rPr>
              <a:t>zeros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0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1000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000" dirty="0">
                <a:solidFill>
                  <a:srgbClr val="AF00DB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 t=</a:t>
            </a:r>
            <a:r>
              <a:rPr lang="en-US" altLang="zh-CN" sz="10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:4</a:t>
            </a:r>
          </a:p>
          <a:p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sz="1000" dirty="0">
                <a:solidFill>
                  <a:srgbClr val="0000FF"/>
                </a:solidFill>
                <a:latin typeface="Consolas" panose="020B0609020204030204" pitchFamily="49" charset="0"/>
              </a:rPr>
              <a:t>global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 v</a:t>
            </a:r>
          </a:p>
          <a:p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v[t]=t^</a:t>
            </a:r>
            <a:r>
              <a:rPr lang="en-US" altLang="zh-CN" sz="10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endParaRPr lang="en-US" altLang="zh-CN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1000" dirty="0">
                <a:solidFill>
                  <a:srgbClr val="AF00DB"/>
                </a:solidFill>
                <a:latin typeface="Consolas" panose="020B0609020204030204" pitchFamily="49" charset="0"/>
              </a:rPr>
              <a:t>end</a:t>
            </a:r>
          </a:p>
          <a:p>
            <a:r>
              <a:rPr lang="en-US" altLang="zh-CN" sz="10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println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</a:rPr>
              <a:t>(v)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D9B1F3B-02B2-4830-BBE7-DC97DE8868B1}"/>
              </a:ext>
            </a:extLst>
          </p:cNvPr>
          <p:cNvSpPr txBox="1"/>
          <p:nvPr/>
        </p:nvSpPr>
        <p:spPr>
          <a:xfrm>
            <a:off x="504975" y="3705216"/>
            <a:ext cx="50031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julia&gt; V=[v=t^2 for t=1:4]</a:t>
            </a:r>
            <a:r>
              <a:rPr lang="en-US" altLang="zh-CN" dirty="0"/>
              <a:t>’  </a:t>
            </a:r>
            <a:r>
              <a:rPr lang="zh-CN" altLang="en-US" dirty="0"/>
              <a:t>结果 1  4  9  16</a:t>
            </a:r>
          </a:p>
        </p:txBody>
      </p:sp>
      <p:sp>
        <p:nvSpPr>
          <p:cNvPr id="23" name="波形 22">
            <a:extLst>
              <a:ext uri="{FF2B5EF4-FFF2-40B4-BE49-F238E27FC236}">
                <a16:creationId xmlns:a16="http://schemas.microsoft.com/office/drawing/2014/main" id="{E71817F6-1BE8-48B6-A3B5-3BC11CD32F8A}"/>
              </a:ext>
            </a:extLst>
          </p:cNvPr>
          <p:cNvSpPr/>
          <p:nvPr/>
        </p:nvSpPr>
        <p:spPr>
          <a:xfrm>
            <a:off x="399193" y="4162896"/>
            <a:ext cx="820148" cy="447014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课堂练习</a:t>
            </a:r>
            <a:endParaRPr lang="ko-KR" altLang="en-US" sz="16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00808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  <p:bldP spid="17" grpId="0"/>
      <p:bldP spid="18" grpId="0" animBg="1"/>
      <p:bldP spid="19" grpId="0" animBg="1"/>
      <p:bldP spid="20" grpId="0"/>
      <p:bldP spid="1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13">
            <a:extLst>
              <a:ext uri="{FF2B5EF4-FFF2-40B4-BE49-F238E27FC236}">
                <a16:creationId xmlns:a16="http://schemas.microsoft.com/office/drawing/2014/main" id="{18B991EE-71A7-470D-8235-B5947E07EA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7771" y="4042064"/>
            <a:ext cx="5472608" cy="531352"/>
          </a:xfrm>
          <a:prstGeom prst="irregularSeal2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en-US" altLang="zh-CN" sz="1600" dirty="0" err="1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Bigint</a:t>
            </a:r>
            <a:r>
              <a:rPr lang="zh-CN" altLang="en-US" sz="1600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和</a:t>
            </a:r>
            <a:r>
              <a:rPr lang="en-US" altLang="zh-CN" sz="1600" dirty="0" err="1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BigFloat</a:t>
            </a:r>
            <a:r>
              <a:rPr lang="zh-CN" altLang="en-US" sz="1600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解决溢出行为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E3E74F1B-38B7-4847-98E7-38C261D331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400"/>
          <a:stretch/>
        </p:blipFill>
        <p:spPr>
          <a:xfrm>
            <a:off x="393063" y="1373738"/>
            <a:ext cx="8555027" cy="2448272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86A97E9E-EBD3-4AFA-A506-DA0D3F8BD9EC}"/>
              </a:ext>
            </a:extLst>
          </p:cNvPr>
          <p:cNvSpPr txBox="1"/>
          <p:nvPr/>
        </p:nvSpPr>
        <p:spPr>
          <a:xfrm>
            <a:off x="3546310" y="2044035"/>
            <a:ext cx="51845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理论上来说可以设置无限高的精度（只要内存够用），前面那个</a:t>
            </a:r>
            <a:r>
              <a:rPr lang="en-US" altLang="zh-CN" dirty="0" err="1"/>
              <a:t>setprecision</a:t>
            </a:r>
            <a:r>
              <a:rPr lang="zh-CN" altLang="en-US" dirty="0"/>
              <a:t>就是设精度用的，新建一种数据类型</a:t>
            </a:r>
            <a:r>
              <a:rPr lang="en-US" altLang="zh-CN" dirty="0" err="1"/>
              <a:t>bigfloat</a:t>
            </a:r>
            <a:r>
              <a:rPr lang="zh-CN" altLang="en-US" dirty="0"/>
              <a:t>进行计算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8F24FAE2-7F4B-442E-A87F-0154869DF09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30" b="82698"/>
          <a:stretch/>
        </p:blipFill>
        <p:spPr>
          <a:xfrm>
            <a:off x="5462828" y="1357352"/>
            <a:ext cx="3356017" cy="347496"/>
          </a:xfrm>
          <a:prstGeom prst="rect">
            <a:avLst/>
          </a:prstGeom>
        </p:spPr>
      </p:pic>
      <p:sp>
        <p:nvSpPr>
          <p:cNvPr id="9" name="矩形: 圆角 10">
            <a:extLst>
              <a:ext uri="{FF2B5EF4-FFF2-40B4-BE49-F238E27FC236}">
                <a16:creationId xmlns:a16="http://schemas.microsoft.com/office/drawing/2014/main" id="{99DDE9E5-02D0-4C5F-A26F-2A5B74A87870}"/>
              </a:ext>
            </a:extLst>
          </p:cNvPr>
          <p:cNvSpPr/>
          <p:nvPr/>
        </p:nvSpPr>
        <p:spPr>
          <a:xfrm>
            <a:off x="488741" y="3180229"/>
            <a:ext cx="8371638" cy="421726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algn="dist"/>
            <a:r>
              <a:rPr lang="en-US" altLang="zh-CN" sz="2000" dirty="0" err="1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Bigint</a:t>
            </a:r>
            <a:r>
              <a:rPr lang="zh-CN" altLang="en-US" sz="2000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和</a:t>
            </a:r>
            <a:r>
              <a:rPr lang="en-US" altLang="zh-CN" sz="2000" dirty="0" err="1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BigFloat</a:t>
            </a:r>
            <a:r>
              <a:rPr lang="zh-CN" altLang="en-US" sz="2000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分别提供任意精度的整数和浮点数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507A259-0106-4A07-B10B-866989A9BCF9}"/>
              </a:ext>
            </a:extLst>
          </p:cNvPr>
          <p:cNvSpPr txBox="1"/>
          <p:nvPr/>
        </p:nvSpPr>
        <p:spPr>
          <a:xfrm>
            <a:off x="654720" y="672578"/>
            <a:ext cx="69127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s=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^k </a:t>
            </a:r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k=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63.0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^k </a:t>
            </a:r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k=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Base.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BigFloat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BigFloat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10086.0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)]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539173B-FD70-49D3-AD02-F98825D6A47B}"/>
              </a:ext>
            </a:extLst>
          </p:cNvPr>
          <p:cNvSpPr txBox="1"/>
          <p:nvPr/>
        </p:nvSpPr>
        <p:spPr>
          <a:xfrm>
            <a:off x="4221749" y="3699347"/>
            <a:ext cx="32617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i="0" dirty="0">
                <a:solidFill>
                  <a:srgbClr val="FFFF00"/>
                </a:solidFill>
                <a:effectLst/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K=63</a:t>
            </a:r>
            <a:r>
              <a:rPr lang="zh-CN" altLang="en-US" sz="1600" b="1" i="0" dirty="0">
                <a:solidFill>
                  <a:srgbClr val="FFFF00"/>
                </a:solidFill>
                <a:effectLst/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结果为</a:t>
            </a:r>
            <a:r>
              <a:rPr lang="en-US" altLang="zh-CN" sz="1600" b="1" i="0" dirty="0">
                <a:solidFill>
                  <a:srgbClr val="FFFF00"/>
                </a:solidFill>
                <a:effectLst/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-1</a:t>
            </a:r>
            <a:r>
              <a:rPr lang="zh-CN" altLang="en-US" sz="1600" b="1" i="0" dirty="0">
                <a:solidFill>
                  <a:srgbClr val="FFFF00"/>
                </a:solidFill>
                <a:effectLst/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，超出计算数最大</a:t>
            </a:r>
            <a:endParaRPr lang="zh-CN" altLang="en-US" sz="1600" dirty="0">
              <a:solidFill>
                <a:srgbClr val="FFFF00"/>
              </a:solidFill>
              <a:highlight>
                <a:srgbClr val="FF0000"/>
              </a:highlight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69E867F-4034-4A51-A124-455C1E6D2B5E}"/>
              </a:ext>
            </a:extLst>
          </p:cNvPr>
          <p:cNvSpPr/>
          <p:nvPr/>
        </p:nvSpPr>
        <p:spPr>
          <a:xfrm>
            <a:off x="614677" y="3672732"/>
            <a:ext cx="2483709" cy="369332"/>
          </a:xfrm>
          <a:prstGeom prst="rect">
            <a:avLst/>
          </a:prstGeom>
          <a:solidFill>
            <a:srgbClr val="0070C0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/>
            <a:r>
              <a:rPr lang="en-US" altLang="zh-CN" dirty="0" err="1"/>
              <a:t>Bigint</a:t>
            </a:r>
            <a:r>
              <a:rPr lang="en-US" altLang="zh-CN" dirty="0"/>
              <a:t>(x)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02CEB31-DBF1-4FA8-9BAC-5A4D1A834F74}"/>
              </a:ext>
            </a:extLst>
          </p:cNvPr>
          <p:cNvSpPr/>
          <p:nvPr/>
        </p:nvSpPr>
        <p:spPr>
          <a:xfrm>
            <a:off x="611559" y="4183618"/>
            <a:ext cx="2483709" cy="369332"/>
          </a:xfrm>
          <a:prstGeom prst="rect">
            <a:avLst/>
          </a:prstGeom>
          <a:solidFill>
            <a:srgbClr val="0070C0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/>
            <a:r>
              <a:rPr lang="en-US" altLang="zh-CN" dirty="0" err="1"/>
              <a:t>BigFloat</a:t>
            </a:r>
            <a:r>
              <a:rPr lang="en-US" altLang="zh-CN" dirty="0"/>
              <a:t>(x)</a:t>
            </a:r>
            <a:endParaRPr lang="zh-CN" altLang="en-US" dirty="0"/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8BB3FA39-4CB8-480A-95B4-DF8F7523C7F6}"/>
              </a:ext>
            </a:extLst>
          </p:cNvPr>
          <p:cNvSpPr txBox="1">
            <a:spLocks/>
          </p:cNvSpPr>
          <p:nvPr/>
        </p:nvSpPr>
        <p:spPr bwMode="auto">
          <a:xfrm>
            <a:off x="936590" y="52348"/>
            <a:ext cx="6155923" cy="547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800" b="1" dirty="0"/>
              <a:t>§2.3.2 </a:t>
            </a:r>
            <a:r>
              <a:rPr lang="zh-CN" altLang="en-US" sz="2800" b="1" kern="0" dirty="0"/>
              <a:t>循环表达式</a:t>
            </a:r>
            <a:r>
              <a:rPr lang="en-US" altLang="zh-CN" sz="2800" b="1" dirty="0">
                <a:solidFill>
                  <a:srgbClr val="FF0000"/>
                </a:solidFill>
              </a:rPr>
              <a:t>——</a:t>
            </a:r>
            <a:r>
              <a:rPr lang="zh-CN" altLang="en-US" sz="2800" b="1" dirty="0">
                <a:solidFill>
                  <a:srgbClr val="FF0000"/>
                </a:solidFill>
              </a:rPr>
              <a:t>推导式</a:t>
            </a:r>
            <a:r>
              <a:rPr lang="zh-CN" altLang="en-US" sz="2800" b="1" kern="0" dirty="0">
                <a:solidFill>
                  <a:srgbClr val="FF0000"/>
                </a:solidFill>
              </a:rPr>
              <a:t>循环语句</a:t>
            </a:r>
          </a:p>
        </p:txBody>
      </p:sp>
      <p:sp>
        <p:nvSpPr>
          <p:cNvPr id="16" name="AutoShape 13">
            <a:extLst>
              <a:ext uri="{FF2B5EF4-FFF2-40B4-BE49-F238E27FC236}">
                <a16:creationId xmlns:a16="http://schemas.microsoft.com/office/drawing/2014/main" id="{C323DAC8-132F-4E25-9061-48B6EBFCF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0401" y="168538"/>
            <a:ext cx="1948229" cy="491007"/>
          </a:xfrm>
          <a:prstGeom prst="irregularSeal2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zh-CN" altLang="en-US" sz="1600" b="1" kern="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简化循环</a:t>
            </a:r>
          </a:p>
        </p:txBody>
      </p:sp>
    </p:spTree>
    <p:extLst>
      <p:ext uri="{BB962C8B-B14F-4D97-AF65-F5344CB8AC3E}">
        <p14:creationId xmlns:p14="http://schemas.microsoft.com/office/powerpoint/2010/main" val="3537809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2" grpId="0"/>
      <p:bldP spid="4" grpId="0" animBg="1"/>
      <p:bldP spid="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83797" y="1054742"/>
            <a:ext cx="8680852" cy="397031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x=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rand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50000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随机投币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50000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次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1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b=zeros(1,50000)  #</a:t>
            </a:r>
            <a:r>
              <a:rPr lang="zh-CN" altLang="en-US" b="1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投币次数累计值占位（跟踪随时投中的概率） </a:t>
            </a:r>
          </a:p>
          <a:p>
            <a:r>
              <a:rPr lang="en-US" altLang="zh-CN" b="1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a=zeros(1,50000)  #</a:t>
            </a:r>
            <a:r>
              <a:rPr lang="zh-CN" altLang="en-US" b="1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投币正面次数累计值分配数组</a:t>
            </a:r>
          </a:p>
          <a:p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summ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投币次数累计值初始值为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0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k1=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投币正面次数累计值初始值为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0 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50000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summ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投币次数累计值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summ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summ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x[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]&gt;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0.5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设置投币正面概率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&gt; 0.5 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k1=k1+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投币正面次数累计值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end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a[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]=k1;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投币正面次数累计值行向量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b[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]=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summ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投币次数累计值行向量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end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f1=a./b;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正面概率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54122" y="126873"/>
            <a:ext cx="7500784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dist"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ko-KR" sz="2400" dirty="0" err="1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  <a:cs typeface="Times New Roman" panose="02020603050405020304" pitchFamily="18" charset="0"/>
              </a:rPr>
              <a:t>投掷硬币</a:t>
            </a:r>
            <a:r>
              <a:rPr lang="zh-CN" altLang="en-US" sz="24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  <a:cs typeface="Times New Roman" panose="02020603050405020304" pitchFamily="18" charset="0"/>
              </a:rPr>
              <a:t>概率仿真</a:t>
            </a:r>
            <a:r>
              <a:rPr lang="en-US" altLang="ko-KR" sz="2400" dirty="0" err="1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  <a:cs typeface="Times New Roman" panose="02020603050405020304" pitchFamily="18" charset="0"/>
              </a:rPr>
              <a:t>实验</a:t>
            </a:r>
            <a:r>
              <a:rPr lang="en-US" altLang="zh-CN" sz="24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  <a:cs typeface="Times New Roman" panose="02020603050405020304" pitchFamily="18" charset="0"/>
              </a:rPr>
              <a:t>-</a:t>
            </a:r>
            <a:r>
              <a:rPr lang="zh-CN" altLang="en-US" sz="24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  <a:cs typeface="Times New Roman" panose="02020603050405020304" pitchFamily="18" charset="0"/>
              </a:rPr>
              <a:t>确定投中正面概率</a:t>
            </a:r>
            <a:endParaRPr lang="ko-KR" altLang="en-US" sz="2400" dirty="0">
              <a:solidFill>
                <a:srgbClr val="002060"/>
              </a:solidFill>
              <a:latin typeface="隶书" panose="020105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3102528"/>
              </p:ext>
            </p:extLst>
          </p:nvPr>
        </p:nvGraphicFramePr>
        <p:xfrm>
          <a:off x="308039" y="669812"/>
          <a:ext cx="3793493" cy="312402"/>
        </p:xfrm>
        <a:graphic>
          <a:graphicData uri="http://schemas.openxmlformats.org/drawingml/2006/table">
            <a:tbl>
              <a:tblPr>
                <a:effectLst>
                  <a:innerShdw blurRad="114300">
                    <a:prstClr val="black"/>
                  </a:innerShdw>
                </a:effectLst>
              </a:tblPr>
              <a:tblGrid>
                <a:gridCol w="1932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07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8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均匀随机矩阵</a:t>
                      </a:r>
                      <a:r>
                        <a:rPr kumimoji="0" lang="zh-CN" altLang="en-US" sz="16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rand</a:t>
                      </a:r>
                    </a:p>
                  </a:txBody>
                  <a:tcPr marL="91449" marR="91449" marT="34281" marB="342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BF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0～1 </a:t>
                      </a: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间均匀分布</a:t>
                      </a:r>
                    </a:p>
                  </a:txBody>
                  <a:tcPr marL="91449" marR="91449" marT="34281" marB="342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197FA464-BBB0-4524-AB19-C5897A6ADB12}"/>
              </a:ext>
            </a:extLst>
          </p:cNvPr>
          <p:cNvSpPr txBox="1"/>
          <p:nvPr/>
        </p:nvSpPr>
        <p:spPr>
          <a:xfrm>
            <a:off x="4537332" y="3408896"/>
            <a:ext cx="4304022" cy="15696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可视化</a:t>
            </a:r>
            <a:endParaRPr lang="en-US" altLang="zh-CN" sz="1600" b="0" dirty="0">
              <a:solidFill>
                <a:srgbClr val="795E2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plot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(b,f1)</a:t>
            </a:r>
          </a:p>
          <a:p>
            <a:r>
              <a:rPr lang="en-US" altLang="zh-C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xlabel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投币次数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altLang="zh-C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ylabel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概率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出现正面的频率变化曲线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f1=k1/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summ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正面频率</a:t>
            </a:r>
            <a:endParaRPr lang="zh-CN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k1</a:t>
            </a:r>
            <a:r>
              <a:rPr lang="en-US" altLang="zh-C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正面次数</a:t>
            </a:r>
            <a:endParaRPr lang="zh-CN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19F0A74-3308-4390-BAE4-2EE405CC3B4E}"/>
              </a:ext>
            </a:extLst>
          </p:cNvPr>
          <p:cNvSpPr txBox="1"/>
          <p:nvPr/>
        </p:nvSpPr>
        <p:spPr>
          <a:xfrm>
            <a:off x="4100975" y="674437"/>
            <a:ext cx="4863674" cy="307777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dist">
              <a:lnSpc>
                <a:spcPts val="1800"/>
              </a:lnSpc>
            </a:pPr>
            <a:r>
              <a:rPr lang="zh-CN" altLang="en-US" sz="1400" dirty="0">
                <a:solidFill>
                  <a:srgbClr val="FFFF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随机矩阵元素</a:t>
            </a:r>
            <a:r>
              <a:rPr lang="en-US" altLang="ko-KR" sz="1400" dirty="0">
                <a:solidFill>
                  <a:srgbClr val="FFFF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&gt;</a:t>
            </a:r>
            <a:r>
              <a:rPr lang="en-US" altLang="zh-CN" sz="1400" dirty="0">
                <a:solidFill>
                  <a:srgbClr val="FFFF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0.5</a:t>
            </a:r>
            <a:r>
              <a:rPr lang="zh-CN" altLang="en-US" sz="1400" dirty="0">
                <a:solidFill>
                  <a:srgbClr val="FFFF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时代表投中正面一次</a:t>
            </a:r>
          </a:p>
        </p:txBody>
      </p:sp>
      <p:sp>
        <p:nvSpPr>
          <p:cNvPr id="14" name="波形 13"/>
          <p:cNvSpPr/>
          <p:nvPr/>
        </p:nvSpPr>
        <p:spPr>
          <a:xfrm>
            <a:off x="393771" y="172752"/>
            <a:ext cx="505821" cy="501685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endParaRPr lang="ko-KR" altLang="en-US" sz="20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EA6DE07-8838-4C8B-B15D-DDE7BD1223E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939" t="9400" r="5901" b="6601"/>
          <a:stretch/>
        </p:blipFill>
        <p:spPr>
          <a:xfrm>
            <a:off x="5434988" y="1779250"/>
            <a:ext cx="2195648" cy="1744882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783C4131-12A0-4CAB-87EA-B007EB84E8B3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7741" y="1628674"/>
            <a:ext cx="1927488" cy="1236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24508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D9C39007-7387-46ED-BA29-53715800110E}"/>
              </a:ext>
            </a:extLst>
          </p:cNvPr>
          <p:cNvSpPr txBox="1">
            <a:spLocks/>
          </p:cNvSpPr>
          <p:nvPr/>
        </p:nvSpPr>
        <p:spPr bwMode="auto">
          <a:xfrm>
            <a:off x="649922" y="1624935"/>
            <a:ext cx="8031093" cy="3007407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1778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800" b="1">
                <a:solidFill>
                  <a:srgbClr val="A50021"/>
                </a:solidFill>
                <a:latin typeface="+mn-lt"/>
                <a:ea typeface="+mn-ea"/>
                <a:cs typeface="+mn-cs"/>
              </a:defRPr>
            </a:lvl1pPr>
            <a:lvl2pPr marL="6350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</a:defRPr>
            </a:lvl2pPr>
            <a:lvl3pPr marL="10922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400" b="1">
                <a:solidFill>
                  <a:srgbClr val="002E5C"/>
                </a:solidFill>
                <a:latin typeface="+mn-lt"/>
              </a:defRPr>
            </a:lvl3pPr>
            <a:lvl4pPr marL="15494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002E5C"/>
                </a:solidFill>
                <a:latin typeface="+mn-lt"/>
              </a:defRPr>
            </a:lvl4pPr>
            <a:lvl5pPr marL="20066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002E5C"/>
                </a:solidFill>
                <a:latin typeface="+mn-lt"/>
              </a:defRPr>
            </a:lvl5pPr>
            <a:lvl6pPr marL="24638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pPr marL="342900" indent="-342900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FontTx/>
              <a:buNone/>
            </a:pPr>
            <a:r>
              <a:rPr lang="en-US" altLang="ko-KR" sz="2400" b="0" kern="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m=100:999</a:t>
            </a:r>
            <a:endParaRPr lang="ko-KR" altLang="en-US" sz="2400" b="0" kern="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FontTx/>
              <a:buNone/>
            </a:pPr>
            <a:r>
              <a:rPr lang="en-US" altLang="ko-KR" sz="2400" b="0" kern="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m1=</a:t>
            </a:r>
            <a:r>
              <a:rPr lang="en-US" altLang="zh-CN" sz="2400" b="0" kern="0" dirty="0" err="1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trunc</a:t>
            </a:r>
            <a:r>
              <a:rPr lang="en-US" altLang="ko-KR" sz="2400" b="0" kern="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(m/100);           #</a:t>
            </a:r>
            <a:r>
              <a:rPr lang="zh-CN" altLang="en-US" sz="2400" b="0" kern="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向零取整</a:t>
            </a:r>
            <a:r>
              <a:rPr lang="en-US" altLang="ko-KR" sz="2400" b="0" kern="0" dirty="0" err="1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求m的百位数字</a:t>
            </a:r>
            <a:endParaRPr lang="ko-KR" altLang="en-US" sz="2400" b="0" kern="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FontTx/>
              <a:buNone/>
            </a:pPr>
            <a:r>
              <a:rPr lang="en-US" altLang="ko-KR" sz="2400" b="0" kern="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m2=rem(</a:t>
            </a:r>
            <a:r>
              <a:rPr lang="en-US" altLang="zh-CN" sz="2400" b="0" kern="0" dirty="0" err="1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trunc</a:t>
            </a:r>
            <a:r>
              <a:rPr lang="en-US" altLang="ko-KR" sz="2400" b="0" kern="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(m/10),10);   #</a:t>
            </a:r>
            <a:r>
              <a:rPr lang="zh-CN" altLang="en-US" sz="2400" b="0" kern="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除法求余</a:t>
            </a:r>
            <a:r>
              <a:rPr lang="en-US" altLang="ko-KR" sz="2400" b="0" kern="0" dirty="0" err="1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求m的十位数字</a:t>
            </a:r>
            <a:endParaRPr lang="ko-KR" altLang="en-US" sz="2400" b="0" kern="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FontTx/>
              <a:buNone/>
            </a:pPr>
            <a:r>
              <a:rPr lang="en-US" altLang="ko-KR" sz="2400" b="0" kern="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m3=rem(m,10);             #求m的个位数字</a:t>
            </a:r>
            <a:endParaRPr lang="ko-KR" altLang="en-US" sz="2400" b="0" kern="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FontTx/>
              <a:buNone/>
            </a:pPr>
            <a:r>
              <a:rPr lang="en-US" altLang="ko-KR" sz="2400" b="0" kern="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if m==m1^3+m2^3+m3^3</a:t>
            </a:r>
            <a:endParaRPr lang="ko-KR" altLang="en-US" sz="2400" b="0" kern="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FontTx/>
              <a:buNone/>
            </a:pPr>
            <a:r>
              <a:rPr lang="en-US" altLang="zh-CN" sz="2400" b="0" kern="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 b="0" kern="0" dirty="0" err="1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println</a:t>
            </a:r>
            <a:r>
              <a:rPr lang="en-US" altLang="ko-KR" sz="2400" b="0" kern="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(m)</a:t>
            </a:r>
            <a:endParaRPr lang="ko-KR" altLang="en-US" sz="2400" b="0" kern="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FontTx/>
              <a:buNone/>
            </a:pPr>
            <a:r>
              <a:rPr lang="en-US" altLang="ko-KR" sz="2400" b="0" kern="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end</a:t>
            </a:r>
            <a:endParaRPr lang="ko-KR" altLang="en-US" sz="2400" b="0" kern="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FontTx/>
              <a:buNone/>
            </a:pPr>
            <a:r>
              <a:rPr lang="en-US" altLang="ko-KR" sz="2400" b="0" kern="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ko-KR" altLang="en-US" sz="2400" b="0" kern="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ED8FC4B-0FA9-45E6-A6C6-3FC1B75418AB}"/>
              </a:ext>
            </a:extLst>
          </p:cNvPr>
          <p:cNvSpPr/>
          <p:nvPr/>
        </p:nvSpPr>
        <p:spPr>
          <a:xfrm>
            <a:off x="6586126" y="3075806"/>
            <a:ext cx="1721056" cy="36933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sz="1800" b="0" dirty="0" err="1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trunc</a:t>
            </a: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</a:rPr>
              <a:t>向零取整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AF7069B-E50C-4FD4-88AC-F01912D3F32C}"/>
              </a:ext>
            </a:extLst>
          </p:cNvPr>
          <p:cNvSpPr/>
          <p:nvPr/>
        </p:nvSpPr>
        <p:spPr>
          <a:xfrm>
            <a:off x="7039777" y="3580370"/>
            <a:ext cx="1507785" cy="36933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</a:rPr>
              <a:t>rem</a:t>
            </a:r>
            <a:r>
              <a:rPr lang="zh-CN" altLang="en-US" b="1" dirty="0">
                <a:latin typeface="Times New Roman" panose="02020603050405020304" pitchFamily="18" charset="0"/>
              </a:rPr>
              <a:t>除法求余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329FB69-F7DA-4C64-BB8F-D778181CE051}"/>
              </a:ext>
            </a:extLst>
          </p:cNvPr>
          <p:cNvSpPr/>
          <p:nvPr/>
        </p:nvSpPr>
        <p:spPr>
          <a:xfrm>
            <a:off x="649922" y="819539"/>
            <a:ext cx="8386574" cy="70788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ko-KR" sz="2000" dirty="0" err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一个三位整数各位数字的立方和等于该数本身则称该数为水仙花数</a:t>
            </a:r>
            <a:r>
              <a:rPr lang="zh-CN" altLang="en-US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，求</a:t>
            </a:r>
            <a:r>
              <a:rPr lang="en-US" altLang="ko-KR" sz="2000" dirty="0" err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全部水仙花数</a:t>
            </a:r>
            <a:r>
              <a:rPr lang="en-US" altLang="ko-KR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2000" b="0" i="0" dirty="0">
                <a:solidFill>
                  <a:srgbClr val="FFFF00"/>
                </a:solidFill>
                <a:effectLst/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000" dirty="0">
              <a:solidFill>
                <a:srgbClr val="FFFF00"/>
              </a:solidFill>
              <a:highlight>
                <a:srgbClr val="FF00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207F034-2986-4AC8-BB08-8B330B7934C7}"/>
              </a:ext>
            </a:extLst>
          </p:cNvPr>
          <p:cNvSpPr/>
          <p:nvPr/>
        </p:nvSpPr>
        <p:spPr>
          <a:xfrm>
            <a:off x="2245968" y="4055769"/>
            <a:ext cx="57775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ko-KR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输出全部水仙花数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153    370     371    407</a:t>
            </a:r>
            <a:endParaRPr lang="zh-CN" altLang="en-US" sz="2400" dirty="0">
              <a:solidFill>
                <a:srgbClr val="FF0000"/>
              </a:solidFill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A0F13CC-1396-4797-A69B-43727DCB52F8}"/>
              </a:ext>
            </a:extLst>
          </p:cNvPr>
          <p:cNvSpPr/>
          <p:nvPr/>
        </p:nvSpPr>
        <p:spPr>
          <a:xfrm>
            <a:off x="2915817" y="1490356"/>
            <a:ext cx="5904656" cy="400110"/>
          </a:xfrm>
          <a:prstGeom prst="rect">
            <a:avLst/>
          </a:prstGeom>
          <a:noFill/>
          <a:ln w="0">
            <a:noFill/>
          </a:ln>
          <a:scene3d>
            <a:camera prst="orthographicFront"/>
            <a:lightRig rig="threePt" dir="t"/>
          </a:scene3d>
          <a:sp3d>
            <a:bevelT prst="angle"/>
            <a:contourClr>
              <a:srgbClr val="000000"/>
            </a:contourClr>
          </a:sp3d>
        </p:spPr>
        <p:txBody>
          <a:bodyPr vert="horz" wrap="square" lIns="91440" tIns="45720" rIns="91440" bIns="45720" numCol="1" anchor="t">
            <a:spAutoFit/>
          </a:bodyPr>
          <a:lstStyle/>
          <a:p>
            <a:pPr eaLnBrk="0">
              <a:spcBef>
                <a:spcPts val="0"/>
              </a:spcBef>
              <a:spcAft>
                <a:spcPts val="0"/>
              </a:spcAft>
            </a:pPr>
            <a:r>
              <a:rPr lang="en-US" altLang="ko-KR" sz="2000" b="1" dirty="0" err="1">
                <a:solidFill>
                  <a:schemeClr val="bg1"/>
                </a:solidFill>
                <a:highlight>
                  <a:srgbClr val="3399FF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三位水仙花整数</a:t>
            </a:r>
            <a:r>
              <a:rPr lang="en-US" altLang="ko-KR" sz="2000" b="1" dirty="0">
                <a:solidFill>
                  <a:schemeClr val="bg1"/>
                </a:solidFill>
                <a:highlight>
                  <a:srgbClr val="3399FF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=百位数字^3+十位数 ^3+个位数 ^3</a:t>
            </a:r>
            <a:endParaRPr lang="zh-CN" altLang="en-US" sz="2000" b="1" dirty="0">
              <a:solidFill>
                <a:schemeClr val="bg1"/>
              </a:solidFill>
              <a:highlight>
                <a:srgbClr val="3399FF"/>
              </a:highlight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09F7B0A-F2C8-4451-AA4E-59CAAE70C594}"/>
              </a:ext>
            </a:extLst>
          </p:cNvPr>
          <p:cNvSpPr/>
          <p:nvPr/>
        </p:nvSpPr>
        <p:spPr>
          <a:xfrm>
            <a:off x="821608" y="179888"/>
            <a:ext cx="7500784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zh-CN" altLang="en-US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采用循环语句和条件语句求全部水仙话术</a:t>
            </a:r>
            <a:endParaRPr lang="ko-KR" altLang="en-US" sz="2000" dirty="0">
              <a:solidFill>
                <a:srgbClr val="00206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波形 13">
            <a:extLst>
              <a:ext uri="{FF2B5EF4-FFF2-40B4-BE49-F238E27FC236}">
                <a16:creationId xmlns:a16="http://schemas.microsoft.com/office/drawing/2014/main" id="{A02FD3E7-DF52-4760-919B-2B360D4FFF8B}"/>
              </a:ext>
            </a:extLst>
          </p:cNvPr>
          <p:cNvSpPr/>
          <p:nvPr/>
        </p:nvSpPr>
        <p:spPr>
          <a:xfrm>
            <a:off x="315787" y="228440"/>
            <a:ext cx="505821" cy="501685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endParaRPr lang="ko-KR" altLang="en-US" sz="20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778149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A956124-FD39-3207-F5F5-E5704C635924}"/>
              </a:ext>
            </a:extLst>
          </p:cNvPr>
          <p:cNvSpPr/>
          <p:nvPr/>
        </p:nvSpPr>
        <p:spPr bwMode="auto">
          <a:xfrm>
            <a:off x="296332" y="1563638"/>
            <a:ext cx="8740163" cy="2858283"/>
          </a:xfrm>
          <a:prstGeom prst="rect">
            <a:avLst/>
          </a:prstGeom>
          <a:noFill/>
          <a:ln w="9525" cap="flat" cmpd="sng">
            <a:solidFill>
              <a:schemeClr val="tx1">
                <a:alpha val="100000"/>
              </a:schemeClr>
            </a:solidFill>
            <a:prstDash val="solid"/>
            <a:miter lim="800000"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eaLnBrk="0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Wingdings" panose="05000000000000000000"/>
              <a:buChar char="l"/>
            </a:pPr>
            <a:r>
              <a:rPr lang="en-US" altLang="ko-KR" sz="24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break</a:t>
            </a:r>
            <a:r>
              <a:rPr lang="zh-CN" altLang="en-US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强制退出循环</a:t>
            </a:r>
            <a:r>
              <a:rPr lang="en-US" altLang="zh-CN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,</a:t>
            </a:r>
            <a:r>
              <a:rPr lang="en-US" altLang="ko-KR" sz="2400" b="0" cap="none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ko-KR" sz="2400" b="0" cap="none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终止</a:t>
            </a:r>
            <a:r>
              <a:rPr lang="zh-CN" altLang="en-US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执行</a:t>
            </a:r>
            <a:r>
              <a:rPr lang="en-US" altLang="zh-CN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for</a:t>
            </a:r>
            <a:r>
              <a:rPr lang="zh-CN" altLang="en-US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或</a:t>
            </a:r>
            <a:r>
              <a:rPr lang="en-US" altLang="zh-CN" sz="240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while</a:t>
            </a:r>
            <a:r>
              <a:rPr lang="en-US" altLang="ko-KR" sz="240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循环，即跳出该循环</a:t>
            </a:r>
            <a:r>
              <a:rPr lang="en-US" altLang="ko-KR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；</a:t>
            </a:r>
            <a:endParaRPr lang="ko-KR" altLang="en-US" sz="2400" dirty="0">
              <a:solidFill>
                <a:srgbClr val="002060"/>
              </a:solidFill>
              <a:latin typeface="华文楷体" panose="02010600040101010101" pitchFamily="2" charset="-122"/>
              <a:ea typeface="隶书" panose="02010509060101010101" pitchFamily="49" charset="-122"/>
            </a:endParaRPr>
          </a:p>
          <a:p>
            <a:pPr eaLnBrk="0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Wingdings" panose="05000000000000000000"/>
              <a:buChar char="l"/>
            </a:pPr>
            <a:r>
              <a:rPr lang="en-US" altLang="ko-KR" sz="24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continue</a:t>
            </a:r>
            <a:r>
              <a:rPr lang="zh-CN" altLang="en-US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强制跳出当前循环</a:t>
            </a:r>
            <a:r>
              <a:rPr lang="en-US" altLang="zh-CN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,</a:t>
            </a:r>
            <a:r>
              <a:rPr lang="en-US" altLang="ko-KR" sz="2400" b="0" cap="none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结束本次循环</a:t>
            </a:r>
            <a:r>
              <a:rPr lang="en-US" altLang="ko-KR" sz="240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，进行下次循环</a:t>
            </a:r>
            <a:r>
              <a:rPr lang="zh-CN" altLang="en-US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，即</a:t>
            </a:r>
            <a:r>
              <a:rPr lang="zh-CN" altLang="zh-CN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将控制权传递给 for 或</a:t>
            </a:r>
            <a:r>
              <a:rPr lang="en-US" altLang="zh-CN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zh-CN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while </a:t>
            </a:r>
            <a:r>
              <a:rPr lang="en-US" altLang="ko-KR" sz="240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进行</a:t>
            </a:r>
            <a:r>
              <a:rPr lang="zh-CN" altLang="zh-CN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下一循环</a:t>
            </a:r>
            <a:r>
              <a:rPr lang="zh-CN" altLang="en-US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。</a:t>
            </a:r>
            <a:endParaRPr lang="en-US" altLang="zh-CN" sz="24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0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Wingdings" panose="05000000000000000000"/>
              <a:buChar char="l"/>
            </a:pPr>
            <a:r>
              <a:rPr lang="en-US" altLang="ko-KR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强制退出循环</a:t>
            </a:r>
            <a:r>
              <a:rPr lang="en-US" altLang="ko-KR" sz="240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break和</a:t>
            </a:r>
            <a:r>
              <a:rPr lang="zh-CN" altLang="en-US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强制跳出当前循环</a:t>
            </a:r>
            <a:r>
              <a:rPr lang="en-US" altLang="ko-KR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continue </a:t>
            </a:r>
            <a:r>
              <a:rPr lang="en-US" altLang="ko-KR" sz="240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与循环结构</a:t>
            </a:r>
            <a:r>
              <a:rPr lang="en-US" altLang="ko-KR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ko-KR" sz="240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for和while语句</a:t>
            </a:r>
            <a:r>
              <a:rPr lang="zh-CN" altLang="en-US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密切</a:t>
            </a:r>
            <a:r>
              <a:rPr lang="en-US" altLang="ko-KR" sz="240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相关</a:t>
            </a:r>
            <a:r>
              <a:rPr lang="en-US" altLang="ko-KR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</a:t>
            </a:r>
            <a:r>
              <a:rPr lang="zh-CN" altLang="en-US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而且经常与条件语句</a:t>
            </a:r>
            <a:r>
              <a:rPr lang="en-US" altLang="ko-KR" sz="240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if配合使用</a:t>
            </a:r>
            <a:r>
              <a:rPr lang="en-US" altLang="ko-KR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。</a:t>
            </a:r>
            <a:endParaRPr lang="ko-KR" altLang="en-US" sz="2400" b="0" cap="none" dirty="0">
              <a:solidFill>
                <a:srgbClr val="002060"/>
              </a:solidFill>
              <a:latin typeface="华文楷体" panose="02010600040101010101" pitchFamily="2" charset="-122"/>
              <a:ea typeface="Times New Roman" panose="02020603050405020304" pitchFamily="18" charset="0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25A8CFA3-498C-CA6A-9724-D2B20D0B2866}"/>
              </a:ext>
            </a:extLst>
          </p:cNvPr>
          <p:cNvSpPr txBox="1">
            <a:spLocks/>
          </p:cNvSpPr>
          <p:nvPr/>
        </p:nvSpPr>
        <p:spPr bwMode="auto">
          <a:xfrm>
            <a:off x="899592" y="123478"/>
            <a:ext cx="7632848" cy="547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800" dirty="0"/>
              <a:t>§2.3.2 </a:t>
            </a:r>
            <a:r>
              <a:rPr lang="zh-CN" altLang="en-US" sz="2800" kern="0" dirty="0"/>
              <a:t>循环表达式</a:t>
            </a:r>
            <a:r>
              <a:rPr lang="en-US" altLang="zh-CN" sz="2800" dirty="0">
                <a:solidFill>
                  <a:srgbClr val="FF0000"/>
                </a:solidFill>
              </a:rPr>
              <a:t>——</a:t>
            </a:r>
            <a:r>
              <a:rPr lang="zh-CN" altLang="en-US" sz="2800" dirty="0">
                <a:solidFill>
                  <a:srgbClr val="FF0000"/>
                </a:solidFill>
              </a:rPr>
              <a:t>循环语句</a:t>
            </a:r>
            <a:r>
              <a:rPr lang="en-US" altLang="zh-CN" sz="2800" dirty="0">
                <a:solidFill>
                  <a:srgbClr val="FF0000"/>
                </a:solidFill>
              </a:rPr>
              <a:t>break</a:t>
            </a:r>
            <a:r>
              <a:rPr lang="zh-CN" altLang="en-US" sz="2800" dirty="0">
                <a:solidFill>
                  <a:srgbClr val="FF0000"/>
                </a:solidFill>
              </a:rPr>
              <a:t>和</a:t>
            </a:r>
            <a:r>
              <a:rPr lang="en-US" altLang="zh-CN" sz="2800" dirty="0">
                <a:solidFill>
                  <a:srgbClr val="FF0000"/>
                </a:solidFill>
              </a:rPr>
              <a:t>continue</a:t>
            </a:r>
            <a:endParaRPr lang="zh-CN" altLang="en-US" sz="2800" kern="0" dirty="0">
              <a:solidFill>
                <a:srgbClr val="FF000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637BD57-FC3E-C367-D5D9-91D6E73DFE22}"/>
              </a:ext>
            </a:extLst>
          </p:cNvPr>
          <p:cNvSpPr txBox="1"/>
          <p:nvPr/>
        </p:nvSpPr>
        <p:spPr>
          <a:xfrm>
            <a:off x="296332" y="630976"/>
            <a:ext cx="88476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br>
              <a:rPr lang="zh-CN" altLang="en-US" dirty="0">
                <a:solidFill>
                  <a:schemeClr val="bg1"/>
                </a:solidFill>
                <a:highlight>
                  <a:srgbClr val="003B76"/>
                </a:highlight>
              </a:rPr>
            </a:br>
            <a:r>
              <a:rPr lang="zh-CN" altLang="en-US" dirty="0">
                <a:solidFill>
                  <a:schemeClr val="bg1"/>
                </a:solidFill>
                <a:highlight>
                  <a:srgbClr val="003B76"/>
                </a:highlight>
              </a:rPr>
              <a:t>编程要求退出循环，用 </a:t>
            </a:r>
            <a:r>
              <a:rPr lang="en-US" altLang="zh-CN" dirty="0">
                <a:solidFill>
                  <a:schemeClr val="bg1"/>
                </a:solidFill>
                <a:highlight>
                  <a:srgbClr val="003B76"/>
                </a:highlight>
              </a:rPr>
              <a:t>break </a:t>
            </a:r>
            <a:r>
              <a:rPr lang="zh-CN" altLang="en-US" dirty="0">
                <a:solidFill>
                  <a:schemeClr val="bg1"/>
                </a:solidFill>
                <a:highlight>
                  <a:srgbClr val="003B76"/>
                </a:highlight>
              </a:rPr>
              <a:t>。要跳过循环其余指令，开始下一次循环，用 </a:t>
            </a:r>
            <a:r>
              <a:rPr lang="en-US" altLang="zh-CN" dirty="0">
                <a:solidFill>
                  <a:schemeClr val="bg1"/>
                </a:solidFill>
                <a:highlight>
                  <a:srgbClr val="003B76"/>
                </a:highlight>
              </a:rPr>
              <a:t>continue</a:t>
            </a:r>
            <a:endParaRPr lang="zh-CN" altLang="en-US" dirty="0">
              <a:solidFill>
                <a:schemeClr val="bg1"/>
              </a:solidFill>
              <a:highlight>
                <a:srgbClr val="003B76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14021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127BA65-810D-42EF-9888-4A7B802987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2863" y="829892"/>
            <a:ext cx="8229600" cy="38779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1778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800" b="1">
                <a:solidFill>
                  <a:srgbClr val="A50021"/>
                </a:solidFill>
                <a:latin typeface="+mn-lt"/>
                <a:ea typeface="+mn-ea"/>
                <a:cs typeface="+mn-cs"/>
              </a:defRPr>
            </a:lvl1pPr>
            <a:lvl2pPr marL="6350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</a:defRPr>
            </a:lvl2pPr>
            <a:lvl3pPr marL="10922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400" b="1">
                <a:solidFill>
                  <a:srgbClr val="002E5C"/>
                </a:solidFill>
                <a:latin typeface="+mn-lt"/>
              </a:defRPr>
            </a:lvl3pPr>
            <a:lvl4pPr marL="15494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002E5C"/>
                </a:solidFill>
                <a:latin typeface="+mn-lt"/>
              </a:defRPr>
            </a:lvl4pPr>
            <a:lvl5pPr marL="20066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002E5C"/>
                </a:solidFill>
                <a:latin typeface="+mn-lt"/>
              </a:defRPr>
            </a:lvl5pPr>
            <a:lvl6pPr marL="24638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pPr algn="dist" eaLnBrk="1" hangingPunct="1">
              <a:lnSpc>
                <a:spcPct val="80000"/>
              </a:lnSpc>
              <a:buFontTx/>
              <a:buNone/>
            </a:pPr>
            <a:r>
              <a:rPr lang="zh-CN" altLang="en-US" sz="2400" b="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求</a:t>
            </a:r>
            <a:r>
              <a:rPr lang="en-US" altLang="zh-CN" sz="2400" b="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[100</a:t>
            </a:r>
            <a:r>
              <a:rPr lang="zh-CN" altLang="en-US" sz="2400" b="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b="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1000]</a:t>
            </a:r>
            <a:r>
              <a:rPr lang="zh-CN" altLang="en-US" sz="2400" b="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之间第一个能被</a:t>
            </a:r>
            <a:r>
              <a:rPr lang="en-US" altLang="zh-CN" sz="2400" b="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21</a:t>
            </a:r>
            <a:r>
              <a:rPr lang="zh-CN" altLang="en-US" sz="2400" b="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整除的整数</a:t>
            </a:r>
            <a:endParaRPr lang="zh-CN" altLang="en-US" sz="2400" kern="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5">
            <a:extLst>
              <a:ext uri="{FF2B5EF4-FFF2-40B4-BE49-F238E27FC236}">
                <a16:creationId xmlns:a16="http://schemas.microsoft.com/office/drawing/2014/main" id="{EB039B58-2834-1246-A63E-210C2A3EB7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341" y="1419756"/>
            <a:ext cx="8661179" cy="310854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0" dirty="0">
                <a:latin typeface="华文楷体" panose="02010600040101010101" pitchFamily="2" charset="-122"/>
                <a:ea typeface="华文楷体" panose="02010600040101010101" pitchFamily="2" charset="-122"/>
              </a:rPr>
              <a:t>for n=100:1000</a:t>
            </a:r>
          </a:p>
          <a:p>
            <a:r>
              <a:rPr lang="en-US" altLang="zh-CN" sz="2400" b="0" dirty="0">
                <a:latin typeface="华文楷体" panose="02010600040101010101" pitchFamily="2" charset="-122"/>
                <a:ea typeface="华文楷体" panose="02010600040101010101" pitchFamily="2" charset="-122"/>
              </a:rPr>
              <a:t>  if rem(n,21)</a:t>
            </a:r>
            <a:r>
              <a:rPr lang="zh-CN" altLang="en-US" sz="2800" dirty="0">
                <a:solidFill>
                  <a:srgbClr val="FF0000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≠</a:t>
            </a:r>
            <a:r>
              <a:rPr lang="en-US" altLang="zh-CN" sz="2400" b="0" dirty="0">
                <a:latin typeface="华文楷体" panose="02010600040101010101" pitchFamily="2" charset="-122"/>
                <a:ea typeface="华文楷体" panose="02010600040101010101" pitchFamily="2" charset="-122"/>
              </a:rPr>
              <a:t>0 #</a:t>
            </a:r>
            <a:r>
              <a:rPr lang="zh-CN" altLang="en-US" sz="2400" b="0" dirty="0">
                <a:latin typeface="华文楷体" panose="02010600040101010101" pitchFamily="2" charset="-122"/>
                <a:ea typeface="华文楷体" panose="02010600040101010101" pitchFamily="2" charset="-122"/>
              </a:rPr>
              <a:t>判断</a:t>
            </a:r>
            <a:r>
              <a:rPr lang="en-US" altLang="zh-CN" sz="2400" b="0" dirty="0">
                <a:latin typeface="华文楷体" panose="02010600040101010101" pitchFamily="2" charset="-122"/>
                <a:ea typeface="华文楷体" panose="02010600040101010101" pitchFamily="2" charset="-122"/>
              </a:rPr>
              <a:t>n/21</a:t>
            </a:r>
            <a:r>
              <a:rPr lang="zh-CN" altLang="en-US" sz="2400" b="0" dirty="0">
                <a:latin typeface="华文楷体" panose="02010600040101010101" pitchFamily="2" charset="-122"/>
                <a:ea typeface="华文楷体" panose="02010600040101010101" pitchFamily="2" charset="-122"/>
              </a:rPr>
              <a:t>是否求除取余</a:t>
            </a:r>
            <a:r>
              <a:rPr lang="en-US" altLang="zh-CN" sz="28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!=</a:t>
            </a:r>
            <a:endParaRPr lang="zh-CN" altLang="en-US" sz="280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2400" b="0" dirty="0">
                <a:latin typeface="华文楷体" panose="02010600040101010101" pitchFamily="2" charset="-122"/>
                <a:ea typeface="华文楷体" panose="02010600040101010101" pitchFamily="2" charset="-122"/>
              </a:rPr>
              <a:t>      </a:t>
            </a:r>
            <a:r>
              <a:rPr lang="en-US" altLang="zh-CN" sz="2400" b="0" dirty="0">
                <a:latin typeface="华文楷体" panose="02010600040101010101" pitchFamily="2" charset="-122"/>
                <a:ea typeface="华文楷体" panose="02010600040101010101" pitchFamily="2" charset="-122"/>
              </a:rPr>
              <a:t>continue  #</a:t>
            </a:r>
            <a:r>
              <a:rPr lang="zh-CN" altLang="en-US" sz="2400" b="0" dirty="0">
                <a:latin typeface="华文楷体" panose="02010600040101010101" pitchFamily="2" charset="-122"/>
                <a:ea typeface="华文楷体" panose="02010600040101010101" pitchFamily="2" charset="-122"/>
              </a:rPr>
              <a:t>结束本次循环，进行该层下次循环</a:t>
            </a:r>
          </a:p>
          <a:p>
            <a:r>
              <a:rPr lang="zh-CN" altLang="en-US" sz="2400" b="0" dirty="0">
                <a:latin typeface="华文楷体" panose="02010600040101010101" pitchFamily="2" charset="-122"/>
                <a:ea typeface="华文楷体" panose="02010600040101010101" pitchFamily="2" charset="-122"/>
              </a:rPr>
              <a:t>  </a:t>
            </a:r>
            <a:r>
              <a:rPr lang="en-US" altLang="zh-CN" sz="2400" b="0" dirty="0">
                <a:latin typeface="华文楷体" panose="02010600040101010101" pitchFamily="2" charset="-122"/>
                <a:ea typeface="华文楷体" panose="02010600040101010101" pitchFamily="2" charset="-122"/>
              </a:rPr>
              <a:t>end</a:t>
            </a:r>
          </a:p>
          <a:p>
            <a:r>
              <a:rPr lang="en-US" altLang="zh-CN" sz="2400" b="0" dirty="0">
                <a:latin typeface="华文楷体" panose="02010600040101010101" pitchFamily="2" charset="-122"/>
                <a:ea typeface="华文楷体" panose="02010600040101010101" pitchFamily="2" charset="-122"/>
              </a:rPr>
              <a:t>  </a:t>
            </a:r>
            <a:r>
              <a:rPr lang="en-US" altLang="zh-CN" sz="2400" b="0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println</a:t>
            </a:r>
            <a:r>
              <a:rPr lang="en-US" altLang="zh-CN" sz="2400" b="0" dirty="0">
                <a:latin typeface="华文楷体" panose="02010600040101010101" pitchFamily="2" charset="-122"/>
                <a:ea typeface="华文楷体" panose="02010600040101010101" pitchFamily="2" charset="-122"/>
              </a:rPr>
              <a:t>("</a:t>
            </a:r>
            <a:r>
              <a:rPr lang="zh-CN" altLang="en-US" sz="2400" b="0" dirty="0">
                <a:latin typeface="华文楷体" panose="02010600040101010101" pitchFamily="2" charset="-122"/>
                <a:ea typeface="华文楷体" panose="02010600040101010101" pitchFamily="2" charset="-122"/>
              </a:rPr>
              <a:t>第一个能被</a:t>
            </a:r>
            <a:r>
              <a:rPr lang="en-US" altLang="zh-CN" sz="2400" b="0" dirty="0">
                <a:latin typeface="华文楷体" panose="02010600040101010101" pitchFamily="2" charset="-122"/>
                <a:ea typeface="华文楷体" panose="02010600040101010101" pitchFamily="2" charset="-122"/>
              </a:rPr>
              <a:t>21</a:t>
            </a:r>
            <a:r>
              <a:rPr lang="zh-CN" altLang="en-US" sz="2400" b="0" dirty="0">
                <a:latin typeface="华文楷体" panose="02010600040101010101" pitchFamily="2" charset="-122"/>
                <a:ea typeface="华文楷体" panose="02010600040101010101" pitchFamily="2" charset="-122"/>
              </a:rPr>
              <a:t>整除的整数 </a:t>
            </a:r>
            <a:r>
              <a:rPr lang="en-US" altLang="zh-CN" sz="2400" b="0" dirty="0">
                <a:latin typeface="华文楷体" panose="02010600040101010101" pitchFamily="2" charset="-122"/>
                <a:ea typeface="华文楷体" panose="02010600040101010101" pitchFamily="2" charset="-122"/>
              </a:rPr>
              <a:t>$n")</a:t>
            </a:r>
          </a:p>
          <a:p>
            <a:r>
              <a:rPr lang="en-US" altLang="zh-CN" sz="2400" b="0" dirty="0">
                <a:latin typeface="华文楷体" panose="02010600040101010101" pitchFamily="2" charset="-122"/>
                <a:ea typeface="华文楷体" panose="02010600040101010101" pitchFamily="2" charset="-122"/>
              </a:rPr>
              <a:t>  break  #</a:t>
            </a:r>
            <a:r>
              <a:rPr lang="zh-CN" altLang="en-US" sz="2400" b="0" dirty="0">
                <a:latin typeface="华文楷体" panose="02010600040101010101" pitchFamily="2" charset="-122"/>
                <a:ea typeface="华文楷体" panose="02010600040101010101" pitchFamily="2" charset="-122"/>
              </a:rPr>
              <a:t>终止循环即跳出整个循环</a:t>
            </a:r>
          </a:p>
          <a:p>
            <a:r>
              <a:rPr lang="en-US" altLang="zh-CN" sz="2400" b="0" dirty="0">
                <a:latin typeface="华文楷体" panose="02010600040101010101" pitchFamily="2" charset="-122"/>
                <a:ea typeface="华文楷体" panose="02010600040101010101" pitchFamily="2" charset="-122"/>
              </a:rPr>
              <a:t>end</a:t>
            </a:r>
          </a:p>
          <a:p>
            <a:r>
              <a:rPr lang="zh-CN" altLang="en-US" sz="2400" b="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结果：第一个能被</a:t>
            </a:r>
            <a:r>
              <a:rPr lang="en-US" altLang="zh-CN" sz="2400" b="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21</a:t>
            </a:r>
            <a:r>
              <a:rPr lang="zh-CN" altLang="en-US" sz="2400" b="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整除的整数 </a:t>
            </a:r>
            <a:r>
              <a:rPr lang="en-US" altLang="zh-CN" sz="2400" b="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105</a:t>
            </a:r>
            <a:endParaRPr lang="zh-CN" altLang="en-US" sz="2400" b="0" dirty="0">
              <a:solidFill>
                <a:srgbClr val="00B0F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6FEAA5B-EDE6-C877-81FF-478754E9766E}"/>
              </a:ext>
            </a:extLst>
          </p:cNvPr>
          <p:cNvSpPr/>
          <p:nvPr/>
        </p:nvSpPr>
        <p:spPr>
          <a:xfrm>
            <a:off x="6914577" y="1555661"/>
            <a:ext cx="1761879" cy="40011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>
            <a:spAutoFit/>
          </a:bodyPr>
          <a:lstStyle/>
          <a:p>
            <a:pPr marL="0" indent="0" algn="l" defTabSz="914400" eaLnBrk="0" fontAlgn="base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2000" b="1" cap="none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rem除法求余</a:t>
            </a:r>
            <a:endParaRPr lang="ko-KR" altLang="en-US" sz="2000" b="1" cap="none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波形 7">
            <a:extLst>
              <a:ext uri="{FF2B5EF4-FFF2-40B4-BE49-F238E27FC236}">
                <a16:creationId xmlns:a16="http://schemas.microsoft.com/office/drawing/2014/main" id="{C1BF8810-8ADC-D6EF-0129-7A62BF6533E4}"/>
              </a:ext>
            </a:extLst>
          </p:cNvPr>
          <p:cNvSpPr/>
          <p:nvPr/>
        </p:nvSpPr>
        <p:spPr>
          <a:xfrm>
            <a:off x="316341" y="784473"/>
            <a:ext cx="529094" cy="450893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endParaRPr lang="ko-KR" altLang="en-US" sz="20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1476EB04-B3DC-055A-8947-DFAA8C3CDEE3}"/>
              </a:ext>
            </a:extLst>
          </p:cNvPr>
          <p:cNvSpPr txBox="1">
            <a:spLocks/>
          </p:cNvSpPr>
          <p:nvPr/>
        </p:nvSpPr>
        <p:spPr bwMode="auto">
          <a:xfrm>
            <a:off x="1115615" y="142512"/>
            <a:ext cx="7653067" cy="547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dirty="0"/>
              <a:t>§2.3.2 </a:t>
            </a:r>
            <a:r>
              <a:rPr lang="zh-CN" altLang="en-US" kern="0" dirty="0"/>
              <a:t>循环表达式</a:t>
            </a:r>
            <a:r>
              <a:rPr lang="en-US" altLang="zh-CN" dirty="0">
                <a:solidFill>
                  <a:srgbClr val="FF0000"/>
                </a:solidFill>
              </a:rPr>
              <a:t>——break</a:t>
            </a:r>
            <a:r>
              <a:rPr lang="zh-CN" altLang="en-US" dirty="0">
                <a:solidFill>
                  <a:srgbClr val="FF0000"/>
                </a:solidFill>
              </a:rPr>
              <a:t>和</a:t>
            </a:r>
            <a:r>
              <a:rPr lang="en-US" altLang="zh-CN" dirty="0">
                <a:solidFill>
                  <a:srgbClr val="FF0000"/>
                </a:solidFill>
              </a:rPr>
              <a:t>continue</a:t>
            </a:r>
            <a:r>
              <a:rPr lang="zh-CN" altLang="en-US" dirty="0">
                <a:solidFill>
                  <a:srgbClr val="FF0000"/>
                </a:solidFill>
              </a:rPr>
              <a:t>案例</a:t>
            </a:r>
            <a:endParaRPr lang="zh-CN" altLang="en-US" kern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1619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769F4AE-3EE6-413C-B676-B622863E469C}"/>
              </a:ext>
            </a:extLst>
          </p:cNvPr>
          <p:cNvSpPr/>
          <p:nvPr/>
        </p:nvSpPr>
        <p:spPr>
          <a:xfrm>
            <a:off x="429859" y="1617168"/>
            <a:ext cx="3744101" cy="27238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sysDash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种方法</a:t>
            </a:r>
            <a:endParaRPr lang="en-US" altLang="zh-CN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/>
              <a:t>c</a:t>
            </a:r>
            <a:r>
              <a:rPr lang="pt-BR" altLang="zh-CN" dirty="0"/>
              <a:t>lear  </a:t>
            </a:r>
            <a:r>
              <a:rPr lang="en-US" altLang="zh-CN" dirty="0">
                <a:solidFill>
                  <a:srgbClr val="0070C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</a:t>
            </a:r>
            <a:endParaRPr lang="pt-BR" altLang="zh-CN" dirty="0">
              <a:solidFill>
                <a:srgbClr val="0070C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pt-BR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a=zeros(k,k);  #</a:t>
            </a: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引用占位矩阵</a:t>
            </a:r>
            <a:endParaRPr lang="pt-BR" altLang="zh-CN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pt-BR" altLang="zh-CN" dirty="0">
                <a:solidFill>
                  <a:srgbClr val="FF0000"/>
                </a:solidFill>
              </a:rPr>
              <a:t>for m=1:60</a:t>
            </a:r>
          </a:p>
          <a:p>
            <a:r>
              <a:rPr lang="pt-BR" altLang="zh-CN" dirty="0">
                <a:solidFill>
                  <a:srgbClr val="FF0000"/>
                </a:solidFill>
              </a:rPr>
              <a:t>    for n=1:60</a:t>
            </a:r>
          </a:p>
          <a:p>
            <a:r>
              <a:rPr lang="pt-BR" altLang="zh-CN" dirty="0"/>
              <a:t>        </a:t>
            </a:r>
            <a:r>
              <a:rPr lang="pt-BR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a[m,n]=1/(m+n-1)</a:t>
            </a:r>
          </a:p>
          <a:p>
            <a:r>
              <a:rPr lang="pt-BR" altLang="zh-CN" dirty="0"/>
              <a:t>    end</a:t>
            </a:r>
          </a:p>
          <a:p>
            <a:r>
              <a:rPr lang="pt-BR" altLang="zh-CN" dirty="0"/>
              <a:t>end</a:t>
            </a:r>
          </a:p>
          <a:p>
            <a:r>
              <a:rPr lang="pt-BR" altLang="zh-CN" dirty="0"/>
              <a:t>a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E85E57B-773A-48B5-A2FD-B467EFF3A024}"/>
              </a:ext>
            </a:extLst>
          </p:cNvPr>
          <p:cNvSpPr/>
          <p:nvPr/>
        </p:nvSpPr>
        <p:spPr>
          <a:xfrm>
            <a:off x="5324634" y="1131590"/>
            <a:ext cx="1872207" cy="338554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pPr lvl="0"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zh-CN" altLang="en-US" sz="1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希尔伯特Hilb</a:t>
            </a:r>
            <a:r>
              <a:rPr lang="en-US" altLang="zh-CN" sz="1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(n)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EF270077-62BD-40A7-8AD2-B7A53EA7B3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3185114"/>
              </p:ext>
            </p:extLst>
          </p:nvPr>
        </p:nvGraphicFramePr>
        <p:xfrm>
          <a:off x="6948265" y="1131590"/>
          <a:ext cx="1872207" cy="3786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8" r:id="rId3" imgW="1041400" imgH="419100" progId="">
                  <p:embed/>
                </p:oleObj>
              </mc:Choice>
              <mc:Fallback>
                <p:oleObj r:id="rId3" imgW="1041400" imgH="419100" progId="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EF270077-62BD-40A7-8AD2-B7A53EA7B3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8265" y="1131590"/>
                        <a:ext cx="1872207" cy="378642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A0A000"/>
                          </a:gs>
                          <a:gs pos="50000">
                            <a:srgbClr val="E6E600"/>
                          </a:gs>
                          <a:gs pos="100000">
                            <a:srgbClr val="FFFF00"/>
                          </a:gs>
                        </a:gsLst>
                        <a:lin ang="13500000" scaled="1"/>
                      </a:gra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6D381462-3E12-4704-A063-D63496D71AF4}"/>
              </a:ext>
            </a:extLst>
          </p:cNvPr>
          <p:cNvSpPr txBox="1"/>
          <p:nvPr/>
        </p:nvSpPr>
        <p:spPr>
          <a:xfrm>
            <a:off x="391462" y="678745"/>
            <a:ext cx="8400621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20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dist">
              <a:lnSpc>
                <a:spcPct val="100000"/>
              </a:lnSpc>
            </a:pPr>
            <a:r>
              <a:rPr lang="en-US" altLang="zh-CN" dirty="0"/>
              <a:t>for </a:t>
            </a:r>
            <a:r>
              <a:rPr lang="zh-CN" altLang="en-US" dirty="0"/>
              <a:t>语句可以嵌套多个循环条件，循环变量间使用逗号“ </a:t>
            </a:r>
            <a:r>
              <a:rPr lang="en-US" altLang="zh-CN" dirty="0"/>
              <a:t>,</a:t>
            </a:r>
            <a:r>
              <a:rPr lang="zh-CN" altLang="en-US" dirty="0"/>
              <a:t> ”分隔 </a:t>
            </a:r>
            <a:endParaRPr lang="ko-KR" altLang="en-US" dirty="0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9EA20947-B6B5-4338-A061-334D14AE828D}"/>
              </a:ext>
            </a:extLst>
          </p:cNvPr>
          <p:cNvSpPr txBox="1">
            <a:spLocks/>
          </p:cNvSpPr>
          <p:nvPr/>
        </p:nvSpPr>
        <p:spPr bwMode="auto">
          <a:xfrm>
            <a:off x="1268439" y="119562"/>
            <a:ext cx="7442011" cy="547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dirty="0"/>
              <a:t>§2.3.2 </a:t>
            </a:r>
            <a:r>
              <a:rPr lang="zh-CN" altLang="en-US" kern="0" dirty="0"/>
              <a:t>循环表达式</a:t>
            </a:r>
            <a:r>
              <a:rPr lang="en-US" altLang="zh-CN" dirty="0">
                <a:solidFill>
                  <a:srgbClr val="FF0000"/>
                </a:solidFill>
              </a:rPr>
              <a:t>——</a:t>
            </a:r>
            <a:r>
              <a:rPr lang="zh-CN" altLang="en-US" dirty="0">
                <a:solidFill>
                  <a:srgbClr val="FF0000"/>
                </a:solidFill>
              </a:rPr>
              <a:t>多</a:t>
            </a:r>
            <a:r>
              <a:rPr lang="zh-CN" altLang="en-US" kern="0" dirty="0">
                <a:solidFill>
                  <a:srgbClr val="FF0000"/>
                </a:solidFill>
              </a:rPr>
              <a:t>循环语句</a:t>
            </a:r>
            <a:r>
              <a:rPr lang="en-US" altLang="zh-CN" kern="0" dirty="0">
                <a:solidFill>
                  <a:srgbClr val="FF0000"/>
                </a:solidFill>
              </a:rPr>
              <a:t>for </a:t>
            </a:r>
            <a:endParaRPr lang="zh-CN" altLang="en-US" kern="0" dirty="0">
              <a:solidFill>
                <a:srgbClr val="FF0000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74BA647-6515-4E64-A0D8-CF71718A1877}"/>
              </a:ext>
            </a:extLst>
          </p:cNvPr>
          <p:cNvSpPr txBox="1"/>
          <p:nvPr/>
        </p:nvSpPr>
        <p:spPr>
          <a:xfrm>
            <a:off x="1036224" y="1113997"/>
            <a:ext cx="3109581" cy="404928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eaLnBrk="0"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0" i="0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编写</a:t>
            </a:r>
            <a:r>
              <a:rPr lang="en-US" altLang="zh-CN" sz="2000" b="0" i="0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60*60</a:t>
            </a:r>
            <a:r>
              <a:rPr lang="zh-CN" altLang="en-US" sz="2000" b="0" i="0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的希尔伯特矩阵</a:t>
            </a:r>
            <a:endParaRPr lang="ko-KR" altLang="en-US" sz="2000" dirty="0">
              <a:solidFill>
                <a:srgbClr val="00206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AD52337-BC5E-4A42-92A6-00314D766C96}"/>
              </a:ext>
            </a:extLst>
          </p:cNvPr>
          <p:cNvSpPr/>
          <p:nvPr/>
        </p:nvSpPr>
        <p:spPr bwMode="auto">
          <a:xfrm>
            <a:off x="5354818" y="1643678"/>
            <a:ext cx="3428908" cy="201644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</a:t>
            </a: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种方法</a:t>
            </a:r>
            <a:endParaRPr lang="en-US" altLang="zh-CN" sz="16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400"/>
              </a:lnSpc>
            </a:pPr>
            <a:r>
              <a:rPr lang="en-US" altLang="zh-CN" sz="1600" dirty="0">
                <a:solidFill>
                  <a:srgbClr val="002060"/>
                </a:solidFill>
              </a:rPr>
              <a:t>a=zeros(60,60);  #</a:t>
            </a:r>
            <a:r>
              <a:rPr lang="zh-CN" altLang="en-US" sz="1600" dirty="0">
                <a:solidFill>
                  <a:srgbClr val="002060"/>
                </a:solidFill>
              </a:rPr>
              <a:t>引用占位矩阵</a:t>
            </a:r>
          </a:p>
          <a:p>
            <a:pPr>
              <a:lnSpc>
                <a:spcPts val="2400"/>
              </a:lnSpc>
            </a:pPr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 m=1:60, n in 1:60</a:t>
            </a:r>
          </a:p>
          <a:p>
            <a:pPr>
              <a:lnSpc>
                <a:spcPts val="2400"/>
              </a:lnSpc>
            </a:pPr>
            <a:r>
              <a:rPr lang="en-US" altLang="zh-CN" sz="1600" dirty="0">
                <a:solidFill>
                  <a:srgbClr val="002060"/>
                </a:solidFill>
              </a:rPr>
              <a:t>     a[</a:t>
            </a:r>
            <a:r>
              <a:rPr lang="en-US" altLang="zh-CN" sz="1600" dirty="0" err="1">
                <a:solidFill>
                  <a:srgbClr val="002060"/>
                </a:solidFill>
              </a:rPr>
              <a:t>m,n</a:t>
            </a:r>
            <a:r>
              <a:rPr lang="en-US" altLang="zh-CN" sz="1600" dirty="0">
                <a:solidFill>
                  <a:srgbClr val="002060"/>
                </a:solidFill>
              </a:rPr>
              <a:t>]=1/(m+n-1)</a:t>
            </a:r>
          </a:p>
          <a:p>
            <a:pPr>
              <a:lnSpc>
                <a:spcPts val="2400"/>
              </a:lnSpc>
            </a:pPr>
            <a:r>
              <a:rPr lang="en-US" altLang="zh-CN" sz="1600" dirty="0">
                <a:solidFill>
                  <a:srgbClr val="002060"/>
                </a:solidFill>
              </a:rPr>
              <a:t>end</a:t>
            </a:r>
          </a:p>
          <a:p>
            <a:pPr>
              <a:lnSpc>
                <a:spcPct val="150000"/>
              </a:lnSpc>
            </a:pPr>
            <a:r>
              <a:rPr lang="en-US" altLang="zh-CN" sz="1600" dirty="0" err="1">
                <a:solidFill>
                  <a:srgbClr val="002060"/>
                </a:solidFill>
              </a:rPr>
              <a:t>println</a:t>
            </a:r>
            <a:r>
              <a:rPr lang="en-US" altLang="zh-CN" sz="1600" dirty="0">
                <a:solidFill>
                  <a:srgbClr val="002060"/>
                </a:solidFill>
              </a:rPr>
              <a:t>(a)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9383C30-0CE8-4EAB-A1E4-EDBBCA84BED1}"/>
              </a:ext>
            </a:extLst>
          </p:cNvPr>
          <p:cNvSpPr txBox="1"/>
          <p:nvPr/>
        </p:nvSpPr>
        <p:spPr>
          <a:xfrm>
            <a:off x="5220156" y="4246666"/>
            <a:ext cx="3911983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pt-BR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h=[1/(m+n-1) for m=1:60, n in 1:60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pt-BR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721BAEE-C106-4337-B84C-315BAD71DF7B}"/>
              </a:ext>
            </a:extLst>
          </p:cNvPr>
          <p:cNvSpPr txBox="1"/>
          <p:nvPr/>
        </p:nvSpPr>
        <p:spPr>
          <a:xfrm>
            <a:off x="2628782" y="3412078"/>
            <a:ext cx="2456082" cy="11695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altLang="zh-CN" sz="1400" dirty="0"/>
              <a:t>julia&gt; h=</a:t>
            </a:r>
            <a:r>
              <a:rPr lang="en-US" altLang="zh-CN" sz="1400" dirty="0" err="1"/>
              <a:t>hilb</a:t>
            </a:r>
            <a:r>
              <a:rPr lang="en-US" altLang="zh-CN" sz="1400" dirty="0"/>
              <a:t>(3)</a:t>
            </a:r>
          </a:p>
          <a:p>
            <a:r>
              <a:rPr lang="en-US" altLang="zh-CN" sz="1400" dirty="0"/>
              <a:t>3×3 Matrix{Float64}:</a:t>
            </a:r>
          </a:p>
          <a:p>
            <a:r>
              <a:rPr lang="en-US" altLang="zh-CN" sz="1400" dirty="0"/>
              <a:t> 1.0       0.5       0.333333</a:t>
            </a:r>
          </a:p>
          <a:p>
            <a:r>
              <a:rPr lang="en-US" altLang="zh-CN" sz="1400" dirty="0"/>
              <a:t> 0.5       0.333333  0.25</a:t>
            </a:r>
          </a:p>
          <a:p>
            <a:r>
              <a:rPr lang="en-US" altLang="zh-CN" sz="1400" dirty="0"/>
              <a:t> 0.333333  0.25      0.2</a:t>
            </a:r>
          </a:p>
        </p:txBody>
      </p:sp>
      <p:sp>
        <p:nvSpPr>
          <p:cNvPr id="13" name="波形 12">
            <a:extLst>
              <a:ext uri="{FF2B5EF4-FFF2-40B4-BE49-F238E27FC236}">
                <a16:creationId xmlns:a16="http://schemas.microsoft.com/office/drawing/2014/main" id="{B535C75E-05B5-4D56-B029-7A6194DF4358}"/>
              </a:ext>
            </a:extLst>
          </p:cNvPr>
          <p:cNvSpPr/>
          <p:nvPr/>
        </p:nvSpPr>
        <p:spPr>
          <a:xfrm>
            <a:off x="429859" y="1148749"/>
            <a:ext cx="444479" cy="335423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endParaRPr lang="ko-KR" altLang="en-US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444B064-A6BE-49E2-9FFB-4D215ACE6639}"/>
              </a:ext>
            </a:extLst>
          </p:cNvPr>
          <p:cNvSpPr txBox="1"/>
          <p:nvPr/>
        </p:nvSpPr>
        <p:spPr>
          <a:xfrm>
            <a:off x="5220156" y="3747042"/>
            <a:ext cx="3193539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</a:t>
            </a: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种方法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推导循环语句 </a:t>
            </a:r>
            <a:endParaRPr lang="en-US" altLang="zh-CN" sz="2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352071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C909885C-E0FB-46D8-BCBD-17CE8C48B077}"/>
              </a:ext>
            </a:extLst>
          </p:cNvPr>
          <p:cNvSpPr txBox="1"/>
          <p:nvPr/>
        </p:nvSpPr>
        <p:spPr>
          <a:xfrm>
            <a:off x="417588" y="3481000"/>
            <a:ext cx="836339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f= [</a:t>
            </a:r>
            <a:r>
              <a:rPr lang="es-ES" altLang="zh-CN" sz="2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cos</a:t>
            </a:r>
            <a:r>
              <a:rPr lang="es-E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altLang="zh-CN" sz="2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s-E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s-ES" altLang="zh-CN" sz="2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sqrt</a:t>
            </a:r>
            <a:r>
              <a:rPr lang="es-E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(x^</a:t>
            </a:r>
            <a:r>
              <a:rPr lang="es-ES" altLang="zh-CN" sz="2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s-E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y^</a:t>
            </a:r>
            <a:r>
              <a:rPr lang="es-ES" altLang="zh-CN" sz="2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s-E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)/</a:t>
            </a:r>
            <a:r>
              <a:rPr lang="es-ES" altLang="zh-CN" sz="2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s-E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s-ES" altLang="zh-CN" sz="2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s-E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 = -</a:t>
            </a:r>
            <a:r>
              <a:rPr lang="es-ES" altLang="zh-CN" sz="2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s-E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s-ES" altLang="zh-CN" sz="2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0.01</a:t>
            </a:r>
            <a:r>
              <a:rPr lang="es-E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s-ES" altLang="zh-CN" sz="2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s-E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y = -</a:t>
            </a:r>
            <a:r>
              <a:rPr lang="es-ES" altLang="zh-CN" sz="2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s-E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s-ES" altLang="zh-CN" sz="2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0.01</a:t>
            </a:r>
            <a:r>
              <a:rPr lang="es-E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s-ES" altLang="zh-CN" sz="2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s-E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s-ES" altLang="zh-CN" sz="2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contour</a:t>
            </a:r>
            <a:r>
              <a:rPr lang="es-E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(f)</a:t>
            </a:r>
          </a:p>
          <a:p>
            <a:endParaRPr lang="zh-CN" altLang="en-US" sz="24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00B634A-9359-4D8F-AE1C-1924AEC791B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8187" b="65132" l="10443" r="66605"/>
                    </a14:imgEffect>
                  </a14:imgLayer>
                </a14:imgProps>
              </a:ext>
            </a:extLst>
          </a:blip>
          <a:srcRect l="3423" t="12319" r="26375" b="29000"/>
          <a:stretch/>
        </p:blipFill>
        <p:spPr>
          <a:xfrm>
            <a:off x="5608216" y="1518215"/>
            <a:ext cx="2664296" cy="2107069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848102E3-BD3C-4E92-BCD3-F4CB65F41D18}"/>
              </a:ext>
            </a:extLst>
          </p:cNvPr>
          <p:cNvSpPr txBox="1"/>
          <p:nvPr/>
        </p:nvSpPr>
        <p:spPr>
          <a:xfrm>
            <a:off x="393833" y="1462029"/>
            <a:ext cx="5119116" cy="1298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</a:pPr>
            <a:r>
              <a:rPr lang="zh-CN" altLang="en-US" sz="2400" dirty="0"/>
              <a:t>x,y=meshgrid2(</a:t>
            </a:r>
            <a:r>
              <a:rPr lang="en-US" altLang="zh-CN" sz="2400" dirty="0"/>
              <a:t>-1:0.01:1)</a:t>
            </a:r>
            <a:r>
              <a:rPr lang="zh-CN" altLang="en-US" sz="2400" dirty="0"/>
              <a:t>;</a:t>
            </a:r>
          </a:p>
          <a:p>
            <a:pPr>
              <a:lnSpc>
                <a:spcPts val="3200"/>
              </a:lnSpc>
            </a:pPr>
            <a:r>
              <a:rPr lang="zh-CN" altLang="en-US" sz="2400" dirty="0"/>
              <a:t>z=cos.(200*sqrt.(x.^2+y.^2)/3);</a:t>
            </a:r>
            <a:endParaRPr lang="en-US" altLang="zh-CN" sz="2400" dirty="0"/>
          </a:p>
          <a:p>
            <a:pPr>
              <a:lnSpc>
                <a:spcPts val="3200"/>
              </a:lnSpc>
            </a:pPr>
            <a:r>
              <a:rPr lang="en-US" altLang="zh-CN" sz="2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contour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x,y,z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zh-CN" altLang="en-US" sz="2400" dirty="0"/>
          </a:p>
        </p:txBody>
      </p:sp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CC08CC69-00CB-4575-BA85-553748F42EB3}"/>
              </a:ext>
            </a:extLst>
          </p:cNvPr>
          <p:cNvSpPr txBox="1">
            <a:spLocks/>
          </p:cNvSpPr>
          <p:nvPr/>
        </p:nvSpPr>
        <p:spPr bwMode="auto">
          <a:xfrm>
            <a:off x="360364" y="860763"/>
            <a:ext cx="4283644" cy="407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1778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8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1pPr>
            <a:lvl2pPr marL="6350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10922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5494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20066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  <a:lvl6pPr marL="24638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pPr marL="457200" indent="-457200">
              <a:buFont typeface="+mj-ea"/>
              <a:buAutoNum type="circleNumDbPlain"/>
            </a:pPr>
            <a:r>
              <a:rPr lang="zh-CN" altLang="en-US" sz="2000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000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</a:t>
            </a:r>
            <a:r>
              <a:rPr lang="en-US" altLang="zh-CN" sz="2000" kern="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meshgrid</a:t>
            </a:r>
            <a:r>
              <a:rPr lang="zh-CN" altLang="en-US" sz="2000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网格矩阵方法</a:t>
            </a:r>
          </a:p>
        </p:txBody>
      </p: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7C6DEDB9-E255-4371-BF8E-68C7C5BACA01}"/>
              </a:ext>
            </a:extLst>
          </p:cNvPr>
          <p:cNvSpPr txBox="1">
            <a:spLocks/>
          </p:cNvSpPr>
          <p:nvPr/>
        </p:nvSpPr>
        <p:spPr bwMode="auto">
          <a:xfrm>
            <a:off x="371865" y="2957641"/>
            <a:ext cx="3236317" cy="407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marL="457200" indent="-457200" eaLnBrk="0" hangingPunct="0">
              <a:lnSpc>
                <a:spcPct val="110000"/>
              </a:lnSpc>
              <a:buFont typeface="+mj-ea"/>
              <a:buAutoNum type="circleNumDbPlain"/>
              <a:defRPr sz="2000" b="1" ker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350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10922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5494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20066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  <a:lvl6pPr marL="24638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pPr>
              <a:buFont typeface="+mj-ea"/>
              <a:buAutoNum type="circleNumDbPlain" startAt="2"/>
            </a:pPr>
            <a:r>
              <a:rPr lang="zh-CN" altLang="en-US" b="0" dirty="0"/>
              <a:t>第</a:t>
            </a:r>
            <a:r>
              <a:rPr lang="en-US" altLang="zh-CN" b="0" dirty="0"/>
              <a:t>2</a:t>
            </a:r>
            <a:r>
              <a:rPr lang="zh-CN" altLang="en-US" b="0" dirty="0"/>
              <a:t>种推导式方法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EDBA0E1-20D2-46B8-A067-352A3BCE15C9}"/>
                  </a:ext>
                </a:extLst>
              </p:cNvPr>
              <p:cNvSpPr txBox="1"/>
              <p:nvPr/>
            </p:nvSpPr>
            <p:spPr>
              <a:xfrm>
                <a:off x="5536589" y="804487"/>
                <a:ext cx="3642657" cy="7838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dirty="0">
                    <a:solidFill>
                      <a:srgbClr val="FF0000"/>
                    </a:solidFill>
                    <a:latin typeface="隶书" panose="02010509060101010101" pitchFamily="49" charset="-122"/>
                    <a:ea typeface="隶书" panose="02010509060101010101" pitchFamily="49" charset="-122"/>
                    <a:sym typeface="+mn-ea"/>
                  </a:rPr>
                  <a:t>绘制</a:t>
                </a:r>
                <a:r>
                  <a:rPr lang="en-US" altLang="zh-CN" dirty="0">
                    <a:solidFill>
                      <a:srgbClr val="FF0000"/>
                    </a:solidFill>
                    <a:latin typeface="隶书" panose="02010509060101010101" pitchFamily="49" charset="-122"/>
                    <a:ea typeface="隶书" panose="02010509060101010101" pitchFamily="49" charset="-122"/>
                    <a:sym typeface="+mn-ea"/>
                  </a:rPr>
                  <a:t>x</a:t>
                </a:r>
                <a:r>
                  <a:rPr lang="zh-CN" altLang="en-US" dirty="0">
                    <a:solidFill>
                      <a:srgbClr val="FF0000"/>
                    </a:solidFill>
                    <a:latin typeface="隶书" panose="02010509060101010101" pitchFamily="49" charset="-122"/>
                    <a:ea typeface="隶书" panose="02010509060101010101" pitchFamily="49" charset="-122"/>
                    <a:sym typeface="+mn-ea"/>
                  </a:rPr>
                  <a:t>和</a:t>
                </a:r>
                <a:r>
                  <a:rPr lang="en-US" altLang="zh-CN" dirty="0">
                    <a:solidFill>
                      <a:srgbClr val="FF0000"/>
                    </a:solidFill>
                    <a:latin typeface="隶书" panose="02010509060101010101" pitchFamily="49" charset="-122"/>
                    <a:ea typeface="隶书" panose="02010509060101010101" pitchFamily="49" charset="-122"/>
                    <a:sym typeface="+mn-ea"/>
                  </a:rPr>
                  <a:t>y</a:t>
                </a:r>
                <a:r>
                  <a:rPr lang="zh-CN" altLang="en-US" dirty="0">
                    <a:solidFill>
                      <a:srgbClr val="FF0000"/>
                    </a:solidFill>
                    <a:latin typeface="隶书" panose="02010509060101010101" pitchFamily="49" charset="-122"/>
                    <a:ea typeface="隶书" panose="02010509060101010101" pitchFamily="49" charset="-122"/>
                    <a:sym typeface="+mn-ea"/>
                  </a:rPr>
                  <a:t>在</a:t>
                </a:r>
                <a:r>
                  <a:rPr lang="en-US" altLang="zh-CN" dirty="0">
                    <a:solidFill>
                      <a:srgbClr val="FF0000"/>
                    </a:solidFill>
                    <a:latin typeface="隶书" panose="02010509060101010101" pitchFamily="49" charset="-122"/>
                    <a:ea typeface="隶书" panose="02010509060101010101" pitchFamily="49" charset="-122"/>
                    <a:sym typeface="+mn-ea"/>
                  </a:rPr>
                  <a:t>[-1,1]</a:t>
                </a:r>
                <a:r>
                  <a:rPr lang="zh-CN" altLang="en-US" dirty="0">
                    <a:solidFill>
                      <a:srgbClr val="FF0000"/>
                    </a:solidFill>
                    <a:latin typeface="隶书" panose="02010509060101010101" pitchFamily="49" charset="-122"/>
                    <a:ea typeface="隶书" panose="02010509060101010101" pitchFamily="49" charset="-122"/>
                    <a:sym typeface="+mn-ea"/>
                  </a:rPr>
                  <a:t>之间</a:t>
                </a:r>
                <a:r>
                  <a:rPr lang="en-US" altLang="zh-CN" dirty="0">
                    <a:solidFill>
                      <a:srgbClr val="FF0000"/>
                    </a:solidFill>
                    <a:latin typeface="隶书" panose="02010509060101010101" pitchFamily="49" charset="-122"/>
                    <a:ea typeface="隶书" panose="02010509060101010101" pitchFamily="49" charset="-122"/>
                    <a:sym typeface="+mn-ea"/>
                  </a:rPr>
                  <a:t>z=</a:t>
                </a:r>
                <a:r>
                  <a:rPr lang="en-US" altLang="zh-CN" dirty="0">
                    <a:solidFill>
                      <a:srgbClr val="FF0000"/>
                    </a:solidFill>
                    <a:ea typeface="隶书" panose="02010509060101010101" pitchFamily="49" charset="-122"/>
                    <a:sym typeface="+mn-ea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隶书" panose="02010509060101010101" pitchFamily="49" charset="-122"/>
                            <a:sym typeface="+mn-ea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隶书" panose="02010509060101010101" pitchFamily="49" charset="-122"/>
                            <a:sym typeface="+mn-ea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隶书" panose="02010509060101010101" pitchFamily="49" charset="-122"/>
                                <a:sym typeface="+mn-ea"/>
                              </a:rPr>
                            </m:ctrlPr>
                          </m:dPr>
                          <m:e>
                            <m:r>
                              <a:rPr lang="en-US" altLang="zh-CN" b="0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隶书" panose="02010509060101010101" pitchFamily="49" charset="-122"/>
                                <a:sym typeface="+mn-ea"/>
                              </a:rPr>
                              <m:t>200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隶书" panose="02010509060101010101" pitchFamily="49" charset="-122"/>
                                    <a:sym typeface="+mn-ea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sSupPr>
                                    <m:ctrlPr>
                                      <a:rPr lang="en-US" altLang="zh-CN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隶书" panose="02010509060101010101" pitchFamily="49" charset="-122"/>
                                        <a:sym typeface="+mn-ea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隶书" panose="02010509060101010101" pitchFamily="49" charset="-122"/>
                                        <a:sym typeface="+mn-ea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隶书" panose="02010509060101010101" pitchFamily="49" charset="-122"/>
                                        <a:sym typeface="+mn-ea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隶书" panose="02010509060101010101" pitchFamily="49" charset="-122"/>
                                    <a:sym typeface="+mn-ea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altLang="zh-CN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隶书" panose="02010509060101010101" pitchFamily="49" charset="-122"/>
                                        <a:sym typeface="+mn-ea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隶书" panose="02010509060101010101" pitchFamily="49" charset="-122"/>
                                        <a:sym typeface="+mn-ea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altLang="zh-CN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隶书" panose="02010509060101010101" pitchFamily="49" charset="-122"/>
                                        <a:sym typeface="+mn-ea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隶书" panose="02010509060101010101" pitchFamily="49" charset="-122"/>
                                <a:sym typeface="+mn-ea"/>
                              </a:rPr>
                              <m:t>/3</m:t>
                            </m:r>
                          </m:e>
                        </m:d>
                      </m:e>
                    </m:func>
                    <m:r>
                      <a:rPr lang="zh-CN" altLang="en-US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隶书" panose="02010509060101010101" pitchFamily="49" charset="-122"/>
                        <a:sym typeface="+mn-ea"/>
                      </a:rPr>
                      <m:t>等高线</m:t>
                    </m:r>
                  </m:oMath>
                </a14:m>
                <a:endParaRPr lang="zh-CN" altLang="en-US" dirty="0">
                  <a:solidFill>
                    <a:srgbClr val="FF0000"/>
                  </a:solidFill>
                  <a:latin typeface="隶书" panose="02010509060101010101" pitchFamily="49" charset="-122"/>
                  <a:ea typeface="隶书" panose="02010509060101010101" pitchFamily="49" charset="-122"/>
                  <a:sym typeface="+mn-ea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EDBA0E1-20D2-46B8-A067-352A3BCE15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6589" y="804487"/>
                <a:ext cx="3642657" cy="783869"/>
              </a:xfrm>
              <a:prstGeom prst="rect">
                <a:avLst/>
              </a:prstGeom>
              <a:blipFill>
                <a:blip r:embed="rId4"/>
                <a:stretch>
                  <a:fillRect l="-1338" t="-62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波形 13">
            <a:extLst>
              <a:ext uri="{FF2B5EF4-FFF2-40B4-BE49-F238E27FC236}">
                <a16:creationId xmlns:a16="http://schemas.microsoft.com/office/drawing/2014/main" id="{448C34AE-3C56-4271-AD38-9AC319322E2F}"/>
              </a:ext>
            </a:extLst>
          </p:cNvPr>
          <p:cNvSpPr/>
          <p:nvPr/>
        </p:nvSpPr>
        <p:spPr>
          <a:xfrm>
            <a:off x="79019" y="522955"/>
            <a:ext cx="479079" cy="337808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endParaRPr lang="ko-KR" altLang="en-US" sz="20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id="{5746EC47-24E7-4D93-82A7-DD4F9F885FAF}"/>
              </a:ext>
            </a:extLst>
          </p:cNvPr>
          <p:cNvSpPr txBox="1">
            <a:spLocks/>
          </p:cNvSpPr>
          <p:nvPr/>
        </p:nvSpPr>
        <p:spPr bwMode="auto">
          <a:xfrm>
            <a:off x="755576" y="-53902"/>
            <a:ext cx="8136904" cy="6714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800" b="1" dirty="0"/>
              <a:t>§2.3.2 </a:t>
            </a:r>
            <a:r>
              <a:rPr lang="zh-CN" altLang="en-US" sz="2800" b="1" kern="0" dirty="0"/>
              <a:t>循环表达式</a:t>
            </a:r>
            <a:r>
              <a:rPr lang="en-US" altLang="zh-CN" sz="2800" b="1" dirty="0">
                <a:solidFill>
                  <a:srgbClr val="FF0000"/>
                </a:solidFill>
              </a:rPr>
              <a:t>——</a:t>
            </a:r>
            <a:r>
              <a:rPr lang="zh-CN" altLang="en-US" sz="2800" b="1" kern="0" dirty="0">
                <a:solidFill>
                  <a:srgbClr val="FF0000"/>
                </a:solidFill>
              </a:rPr>
              <a:t>多循环的推导式循环语句</a:t>
            </a:r>
          </a:p>
        </p:txBody>
      </p:sp>
    </p:spTree>
    <p:extLst>
      <p:ext uri="{BB962C8B-B14F-4D97-AF65-F5344CB8AC3E}">
        <p14:creationId xmlns:p14="http://schemas.microsoft.com/office/powerpoint/2010/main" val="2597940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>
            <a:extLst>
              <a:ext uri="{FF2B5EF4-FFF2-40B4-BE49-F238E27FC236}">
                <a16:creationId xmlns:a16="http://schemas.microsoft.com/office/drawing/2014/main" id="{AA0D5CE4-DACE-EA2F-C7F5-260421271CAC}"/>
              </a:ext>
            </a:extLst>
          </p:cNvPr>
          <p:cNvSpPr/>
          <p:nvPr/>
        </p:nvSpPr>
        <p:spPr bwMode="auto">
          <a:xfrm>
            <a:off x="281107" y="803048"/>
            <a:ext cx="8640960" cy="110799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altLang="ko-KR" sz="2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while expression</a:t>
            </a:r>
            <a:r>
              <a:rPr lang="zh-CN" altLang="en-US" sz="2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（条件表达式</a:t>
            </a:r>
            <a:r>
              <a:rPr lang="en-US" altLang="ko-KR" sz="2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endParaRPr lang="ko-KR" altLang="en-US" sz="2200" dirty="0">
              <a:solidFill>
                <a:srgbClr val="002060"/>
              </a:solidFill>
              <a:latin typeface="华文楷体" panose="02010600040101010101" pitchFamily="2" charset="-122"/>
            </a:endParaRPr>
          </a:p>
          <a:p>
            <a:r>
              <a:rPr lang="en-US" altLang="ko-KR" sz="2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statement（</a:t>
            </a:r>
            <a:r>
              <a:rPr lang="zh-CN" altLang="en-US" sz="2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执行语句的</a:t>
            </a:r>
            <a:r>
              <a:rPr lang="en-US" altLang="ko-KR" sz="220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循环体</a:t>
            </a:r>
            <a:r>
              <a:rPr lang="en-US" altLang="ko-KR" sz="2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endParaRPr lang="ko-KR" altLang="en-US" sz="2200" dirty="0">
              <a:solidFill>
                <a:srgbClr val="002060"/>
              </a:solidFill>
              <a:latin typeface="华文楷体" panose="02010600040101010101" pitchFamily="2" charset="-122"/>
            </a:endParaRPr>
          </a:p>
          <a:p>
            <a:r>
              <a:rPr lang="en-US" altLang="ko-KR" sz="2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end</a:t>
            </a:r>
            <a:endParaRPr lang="ko-KR" altLang="en-US" sz="2200" dirty="0">
              <a:solidFill>
                <a:srgbClr val="002060"/>
              </a:solidFill>
              <a:latin typeface="华文楷体" panose="02010600040101010101" pitchFamily="2" charset="-122"/>
            </a:endParaRPr>
          </a:p>
        </p:txBody>
      </p:sp>
      <p:sp>
        <p:nvSpPr>
          <p:cNvPr id="5" name="矩形 1">
            <a:extLst>
              <a:ext uri="{FF2B5EF4-FFF2-40B4-BE49-F238E27FC236}">
                <a16:creationId xmlns:a16="http://schemas.microsoft.com/office/drawing/2014/main" id="{8B3EFCA2-7AA3-8280-09DA-8BD4D4B347E0}"/>
              </a:ext>
            </a:extLst>
          </p:cNvPr>
          <p:cNvSpPr/>
          <p:nvPr/>
        </p:nvSpPr>
        <p:spPr bwMode="auto">
          <a:xfrm>
            <a:off x="4860032" y="803048"/>
            <a:ext cx="3100855" cy="400110"/>
          </a:xfrm>
          <a:prstGeom prst="rect">
            <a:avLst/>
          </a:prstGeom>
          <a:noFill/>
          <a:ln w="0">
            <a:noFill/>
          </a:ln>
          <a:scene3d>
            <a:camera prst="orthographicFront"/>
            <a:lightRig rig="threePt" dir="t"/>
          </a:scene3d>
          <a:sp3d>
            <a:bevelT prst="angle"/>
            <a:contourClr>
              <a:srgbClr val="000000"/>
            </a:contourClr>
          </a:sp3d>
        </p:spPr>
        <p:txBody>
          <a:bodyPr vert="horz" wrap="square" lIns="91440" tIns="45720" rIns="91440" bIns="45720" numCol="1" anchor="t">
            <a:spAutoFit/>
          </a:bodyPr>
          <a:lstStyle/>
          <a:p>
            <a:pPr eaLnBrk="0">
              <a:spcBef>
                <a:spcPts val="0"/>
              </a:spcBef>
              <a:spcAft>
                <a:spcPts val="0"/>
              </a:spcAft>
            </a:pPr>
            <a:r>
              <a:rPr lang="en-US" altLang="ko-KR" sz="2000" b="1" dirty="0">
                <a:solidFill>
                  <a:schemeClr val="bg1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&lt;</a:t>
            </a:r>
            <a:r>
              <a:rPr lang="zh-CN" altLang="en-US" sz="2000" b="1" dirty="0">
                <a:solidFill>
                  <a:schemeClr val="bg1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条件表达式</a:t>
            </a:r>
            <a:r>
              <a:rPr lang="en-US" altLang="ko-KR" sz="2000" b="1" dirty="0">
                <a:solidFill>
                  <a:schemeClr val="bg1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&gt;</a:t>
            </a:r>
            <a:r>
              <a:rPr lang="zh-CN" altLang="en-US" sz="2000" b="1" dirty="0">
                <a:solidFill>
                  <a:schemeClr val="bg1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为循环目标</a:t>
            </a:r>
            <a:endParaRPr lang="ko-KR" altLang="en-US" sz="2000" b="1" dirty="0">
              <a:solidFill>
                <a:schemeClr val="bg1"/>
              </a:solidFill>
              <a:highlight>
                <a:srgbClr val="FF0000"/>
              </a:highlight>
              <a:latin typeface="华文楷体" panose="0201060004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A5F372A-9E22-04A1-C4AE-5135DC3D9792}"/>
              </a:ext>
            </a:extLst>
          </p:cNvPr>
          <p:cNvSpPr txBox="1"/>
          <p:nvPr/>
        </p:nvSpPr>
        <p:spPr>
          <a:xfrm>
            <a:off x="251519" y="2023674"/>
            <a:ext cx="8670547" cy="212365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8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marL="457200" indent="-457200">
              <a:buFont typeface="Wingdings" panose="05000000000000000000" pitchFamily="2" charset="2"/>
              <a:buChar char="p"/>
            </a:pPr>
            <a:r>
              <a:rPr lang="zh-CN" altLang="en-US" sz="2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不同于</a:t>
            </a:r>
            <a:r>
              <a:rPr lang="en-US" altLang="zh-CN" sz="2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for</a:t>
            </a:r>
            <a:r>
              <a:rPr lang="zh-CN" altLang="en-US" sz="2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循环语句，循环次数不确定 </a:t>
            </a:r>
            <a:endParaRPr lang="en-US" altLang="zh-CN" sz="2200" b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457200" indent="-457200">
              <a:buFont typeface="Wingdings" panose="05000000000000000000" pitchFamily="2" charset="2"/>
              <a:buChar char="p"/>
            </a:pPr>
            <a:r>
              <a:rPr lang="zh-CN" altLang="en-US" sz="2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根据条件表达式</a:t>
            </a:r>
            <a:r>
              <a:rPr lang="en-US" altLang="zh-CN" sz="2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lang="zh-CN" altLang="en-US" sz="2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循环目标</a:t>
            </a:r>
            <a:r>
              <a:rPr lang="en-US" altLang="zh-CN" sz="2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  <a:r>
              <a:rPr lang="zh-CN" altLang="en-US" sz="2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判定是</a:t>
            </a:r>
            <a:r>
              <a:rPr lang="en-US" altLang="ko-KR" sz="2200" b="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重复执行指定的语句</a:t>
            </a:r>
            <a:r>
              <a:rPr lang="zh-CN" altLang="en-US" sz="2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endParaRPr lang="en-US" altLang="zh-CN" sz="2200" b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457200" indent="-457200">
              <a:buFont typeface="Wingdings" panose="05000000000000000000" pitchFamily="2" charset="2"/>
              <a:buChar char="p"/>
            </a:pPr>
            <a:r>
              <a:rPr lang="zh-CN" altLang="en-US" sz="2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只有</a:t>
            </a:r>
            <a:r>
              <a:rPr lang="zh-CN" altLang="en-US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条件表达式为</a:t>
            </a:r>
            <a:r>
              <a:rPr lang="en-US" altLang="zh-CN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true</a:t>
            </a:r>
            <a:r>
              <a:rPr lang="zh-CN" altLang="en-US" sz="2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时，才会</a:t>
            </a:r>
            <a:r>
              <a:rPr lang="zh-CN" altLang="en-US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重复执行 </a:t>
            </a:r>
            <a:r>
              <a:rPr lang="en-US" altLang="zh-CN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while </a:t>
            </a:r>
            <a:r>
              <a:rPr lang="zh-CN" altLang="en-US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循环体</a:t>
            </a:r>
            <a:r>
              <a:rPr lang="zh-CN" altLang="en-US" sz="2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endParaRPr lang="en-US" altLang="zh-CN" sz="2200" b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457200" indent="-457200">
              <a:buFont typeface="Wingdings" panose="05000000000000000000" pitchFamily="2" charset="2"/>
              <a:buChar char="p"/>
            </a:pPr>
            <a:r>
              <a:rPr lang="zh-CN" altLang="en-US" sz="2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如条件表达式为 </a:t>
            </a:r>
            <a:r>
              <a:rPr lang="en-US" altLang="zh-CN" sz="2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false</a:t>
            </a:r>
            <a:r>
              <a:rPr lang="zh-CN" altLang="en-US" sz="2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，则循环就结束了 </a:t>
            </a:r>
            <a:endParaRPr lang="en-US" altLang="zh-CN" sz="2200" b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457200" indent="-457200">
              <a:buFont typeface="Wingdings" panose="05000000000000000000" pitchFamily="2" charset="2"/>
              <a:buChar char="p"/>
            </a:pPr>
            <a:r>
              <a:rPr lang="zh-CN" altLang="en-US" sz="2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条件表达式可包含关系运算符（ </a:t>
            </a:r>
            <a:r>
              <a:rPr lang="en-US" altLang="zh-CN" sz="2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&lt; </a:t>
            </a:r>
            <a:r>
              <a:rPr lang="zh-CN" altLang="en-US" sz="2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或 </a:t>
            </a:r>
            <a:r>
              <a:rPr lang="en-US" altLang="zh-CN" sz="2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==</a:t>
            </a:r>
            <a:r>
              <a:rPr lang="zh-CN" altLang="en-US" sz="2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）和逻辑运算符（ </a:t>
            </a:r>
            <a:r>
              <a:rPr lang="en-US" altLang="zh-CN" sz="2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&amp;&amp;</a:t>
            </a:r>
            <a:r>
              <a:rPr lang="zh-CN" altLang="en-US" sz="2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、</a:t>
            </a:r>
            <a:r>
              <a:rPr lang="en-US" altLang="zh-CN" sz="2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|| </a:t>
            </a:r>
            <a:r>
              <a:rPr lang="zh-CN" altLang="en-US" sz="2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或 </a:t>
            </a:r>
            <a:r>
              <a:rPr lang="en-US" altLang="zh-CN" sz="2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!</a:t>
            </a:r>
            <a:r>
              <a:rPr lang="zh-CN" altLang="en-US" sz="2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 </a:t>
            </a:r>
            <a:endParaRPr lang="en-US" altLang="zh-CN" sz="2200" b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8B6DB02-8D83-31A8-F6DA-99BC4DFB8F73}"/>
              </a:ext>
            </a:extLst>
          </p:cNvPr>
          <p:cNvSpPr/>
          <p:nvPr/>
        </p:nvSpPr>
        <p:spPr>
          <a:xfrm>
            <a:off x="3480993" y="1811783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zh-CN" altLang="en-US" dirty="0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553428EE-E5CC-D387-FD13-AC5A9B4B4E1C}"/>
              </a:ext>
            </a:extLst>
          </p:cNvPr>
          <p:cNvSpPr txBox="1">
            <a:spLocks/>
          </p:cNvSpPr>
          <p:nvPr/>
        </p:nvSpPr>
        <p:spPr bwMode="auto">
          <a:xfrm>
            <a:off x="1240577" y="68217"/>
            <a:ext cx="5591732" cy="547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dirty="0"/>
              <a:t>§2.3.2 </a:t>
            </a:r>
            <a:r>
              <a:rPr lang="zh-CN" altLang="en-US" kern="0" dirty="0"/>
              <a:t>循环表达式</a:t>
            </a:r>
            <a:r>
              <a:rPr lang="en-US" altLang="zh-CN" dirty="0">
                <a:solidFill>
                  <a:srgbClr val="FF0000"/>
                </a:solidFill>
              </a:rPr>
              <a:t>—— while</a:t>
            </a:r>
            <a:r>
              <a:rPr lang="zh-CN" altLang="en-US" dirty="0">
                <a:solidFill>
                  <a:srgbClr val="FF0000"/>
                </a:solidFill>
              </a:rPr>
              <a:t>循环语句</a:t>
            </a:r>
            <a:endParaRPr lang="zh-CN" altLang="en-US" kern="0" dirty="0">
              <a:solidFill>
                <a:srgbClr val="FF0000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135270B-04A6-45A0-BDF2-81BA79EBBE27}"/>
              </a:ext>
            </a:extLst>
          </p:cNvPr>
          <p:cNvSpPr txBox="1"/>
          <p:nvPr/>
        </p:nvSpPr>
        <p:spPr>
          <a:xfrm>
            <a:off x="217665" y="4083918"/>
            <a:ext cx="8820980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20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dist"/>
            <a:r>
              <a:rPr lang="zh-CN" altLang="en-US" sz="1800" dirty="0"/>
              <a:t>如意外无限循环</a:t>
            </a:r>
            <a:r>
              <a:rPr lang="en-US" altLang="zh-CN" sz="1800" dirty="0"/>
              <a:t>(</a:t>
            </a:r>
            <a:r>
              <a:rPr lang="zh-CN" altLang="en-US" sz="1800" dirty="0"/>
              <a:t>即永远不会自行结束的循环</a:t>
            </a:r>
            <a:r>
              <a:rPr lang="en-US" altLang="zh-CN" sz="1800" dirty="0"/>
              <a:t>)</a:t>
            </a:r>
            <a:r>
              <a:rPr lang="zh-CN" altLang="en-US" sz="1800" dirty="0"/>
              <a:t>，请按下 </a:t>
            </a:r>
            <a:r>
              <a:rPr lang="en-US" altLang="zh-CN" sz="1800" dirty="0" err="1"/>
              <a:t>Ctrl+C</a:t>
            </a:r>
            <a:r>
              <a:rPr lang="en-US" altLang="zh-CN" sz="1800" dirty="0"/>
              <a:t> </a:t>
            </a:r>
            <a:r>
              <a:rPr lang="zh-CN" altLang="en-US" sz="1800" dirty="0"/>
              <a:t>停止执行循环</a:t>
            </a:r>
          </a:p>
        </p:txBody>
      </p:sp>
    </p:spTree>
    <p:extLst>
      <p:ext uri="{BB962C8B-B14F-4D97-AF65-F5344CB8AC3E}">
        <p14:creationId xmlns:p14="http://schemas.microsoft.com/office/powerpoint/2010/main" val="2216056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/>
          <p:nvPr/>
        </p:nvSpPr>
        <p:spPr bwMode="auto">
          <a:xfrm>
            <a:off x="584630" y="1575034"/>
            <a:ext cx="8208912" cy="2893100"/>
          </a:xfrm>
          <a:prstGeom prst="rect">
            <a:avLst/>
          </a:prstGeom>
          <a:ln w="9525">
            <a:solidFill>
              <a:schemeClr val="tx2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>
            <a:spAutoFit/>
          </a:bodyPr>
          <a:lstStyle/>
          <a:p>
            <a:pPr marL="0" indent="0" algn="l" defTabSz="914400" eaLnBrk="0" fontAlgn="base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2600" cap="none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n=0; #</a:t>
            </a:r>
            <a:r>
              <a:rPr lang="zh-CN" altLang="en-US" sz="2600" cap="none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初始值</a:t>
            </a:r>
            <a:r>
              <a:rPr lang="en-US" altLang="zh-CN" sz="2600" cap="none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n=0</a:t>
            </a:r>
            <a:endParaRPr lang="ko-KR" altLang="en-US" sz="2600" cap="none" dirty="0">
              <a:solidFill>
                <a:srgbClr val="002060"/>
              </a:solidFill>
              <a:latin typeface="微软雅黑" panose="020B0503020204020204" pitchFamily="34" charset="-122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eaLnBrk="0">
              <a:spcBef>
                <a:spcPts val="0"/>
              </a:spcBef>
              <a:spcAft>
                <a:spcPts val="0"/>
              </a:spcAft>
            </a:pPr>
            <a:r>
              <a:rPr lang="en-US" altLang="ko-KR" sz="2600" cap="none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while </a:t>
            </a:r>
            <a:r>
              <a:rPr lang="en-US" altLang="ko-KR" sz="2600" dirty="0">
                <a:solidFill>
                  <a:srgbClr val="33CC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2^n&lt;100 </a:t>
            </a:r>
            <a:r>
              <a:rPr lang="en-US" altLang="ko-KR" sz="2600" cap="none" dirty="0">
                <a:solidFill>
                  <a:srgbClr val="33CC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600" cap="none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#</a:t>
            </a:r>
            <a:r>
              <a:rPr lang="zh-CN" altLang="en-US" sz="2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已知循环运算目标</a:t>
            </a:r>
            <a:endParaRPr lang="ko-KR" altLang="en-US" sz="2600" cap="none" dirty="0">
              <a:solidFill>
                <a:srgbClr val="002060"/>
              </a:solidFill>
              <a:latin typeface="微软雅黑" panose="020B0503020204020204" pitchFamily="34" charset="-122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0" indent="0" algn="l" defTabSz="914400" eaLnBrk="0" fontAlgn="base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2600" cap="none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s=2^n;</a:t>
            </a:r>
            <a:endParaRPr lang="ko-KR" altLang="en-US" sz="2600" cap="none" dirty="0">
              <a:solidFill>
                <a:srgbClr val="002060"/>
              </a:solidFill>
              <a:latin typeface="微软雅黑" panose="020B0503020204020204" pitchFamily="34" charset="-122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0" indent="0" algn="l" defTabSz="914400" eaLnBrk="0" fontAlgn="base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2600" cap="none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n=n+1 ;</a:t>
            </a:r>
            <a:endParaRPr lang="ko-KR" altLang="en-US" sz="2600" cap="none" dirty="0">
              <a:solidFill>
                <a:srgbClr val="002060"/>
              </a:solidFill>
              <a:latin typeface="微软雅黑" panose="020B0503020204020204" pitchFamily="34" charset="-122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0" indent="0" algn="l" defTabSz="914400" eaLnBrk="0" fontAlgn="base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2600" cap="none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end </a:t>
            </a:r>
            <a:endParaRPr lang="ko-KR" altLang="en-US" sz="2600" cap="none" dirty="0">
              <a:solidFill>
                <a:srgbClr val="002060"/>
              </a:solidFill>
              <a:latin typeface="微软雅黑" panose="020B0503020204020204" pitchFamily="34" charset="-122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0" indent="0" algn="l" defTabSz="914400" eaLnBrk="0" fontAlgn="base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2600" cap="none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Ss=2*s</a:t>
            </a:r>
            <a:endParaRPr lang="ko-KR" altLang="en-US" sz="2600" cap="none" dirty="0">
              <a:solidFill>
                <a:srgbClr val="002060"/>
              </a:solidFill>
              <a:latin typeface="微软雅黑" panose="020B0503020204020204" pitchFamily="34" charset="-122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0" indent="0" algn="l" defTabSz="914400" eaLnBrk="0" fontAlgn="base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2600" cap="none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</a:p>
        </p:txBody>
      </p:sp>
      <p:sp>
        <p:nvSpPr>
          <p:cNvPr id="4" name="Text Box 2"/>
          <p:cNvSpPr/>
          <p:nvPr/>
        </p:nvSpPr>
        <p:spPr bwMode="auto">
          <a:xfrm>
            <a:off x="467544" y="857573"/>
            <a:ext cx="6480720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>
            <a:solidFill>
              <a:schemeClr val="bg1"/>
            </a:solidFill>
            <a:prstDash val="solid"/>
            <a:miter lim="800000"/>
          </a:ln>
          <a:scene3d>
            <a:camera prst="obliqueTopLeft"/>
            <a:lightRig rig="threePt" dir="t"/>
          </a:scene3d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dist" defTabSz="914400" eaLnBrk="0" fontAlgn="base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2400" cap="none" dirty="0" err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求n为多少时，s</a:t>
            </a:r>
            <a:r>
              <a:rPr lang="en-US" altLang="ko-KR" sz="2400" cap="none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ko-KR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2^n&gt;100</a:t>
            </a:r>
            <a:r>
              <a:rPr lang="en-US" altLang="ko-KR" sz="2400" cap="none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,其值多少</a:t>
            </a:r>
            <a:endParaRPr lang="ko-KR" altLang="en-US" sz="2400" cap="none" dirty="0">
              <a:solidFill>
                <a:srgbClr val="002060"/>
              </a:solidFill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  <p:sp>
        <p:nvSpPr>
          <p:cNvPr id="6" name="文本框 56325"/>
          <p:cNvSpPr txBox="1"/>
          <p:nvPr/>
        </p:nvSpPr>
        <p:spPr>
          <a:xfrm>
            <a:off x="5580113" y="3568466"/>
            <a:ext cx="1584176" cy="461665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</a:ln>
          <a:scene3d>
            <a:camera prst="orthographicFront"/>
            <a:lightRig rig="threePt" dir="t"/>
          </a:scene3d>
          <a:sp3d>
            <a:contourClr>
              <a:srgbClr val="000000"/>
            </a:contourClr>
          </a:sp3d>
        </p:spPr>
        <p:txBody>
          <a:bodyPr vert="horz" wrap="square" lIns="0" tIns="0" rIns="0" bIns="0" anchor="t">
            <a:noAutofit/>
          </a:bodyPr>
          <a:lstStyle/>
          <a:p>
            <a:pPr marL="0" indent="0" algn="l" defTabSz="508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2800" b="1" cap="none" dirty="0">
                <a:solidFill>
                  <a:srgbClr val="C0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Ss = 128</a:t>
            </a:r>
            <a:endParaRPr lang="ko-KR" altLang="en-US" sz="2800" b="1" cap="none" dirty="0">
              <a:solidFill>
                <a:srgbClr val="C00000"/>
              </a:solidFill>
              <a:latin typeface="隶书" panose="02010509060101010101" pitchFamily="49" charset="-122"/>
              <a:ea typeface="宋体" panose="02010600030101010101" pitchFamily="2" charset="-122"/>
            </a:endParaRPr>
          </a:p>
        </p:txBody>
      </p:sp>
      <p:sp>
        <p:nvSpPr>
          <p:cNvPr id="8" name="文本框 2"/>
          <p:cNvSpPr txBox="1"/>
          <p:nvPr/>
        </p:nvSpPr>
        <p:spPr>
          <a:xfrm>
            <a:off x="3915928" y="3568466"/>
            <a:ext cx="1418978" cy="4616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ko-KR" sz="2400" b="1" dirty="0">
                <a:solidFill>
                  <a:srgbClr val="C00000"/>
                </a:solidFill>
                <a:latin typeface="隶书" panose="02010509060101010101" pitchFamily="49" charset="-122"/>
                <a:ea typeface="隶书" panose="02010509060101010101" pitchFamily="49" charset="-122"/>
                <a:sym typeface="+mn-ea"/>
              </a:rPr>
              <a:t>运行结果</a:t>
            </a:r>
          </a:p>
        </p:txBody>
      </p:sp>
      <p:sp>
        <p:nvSpPr>
          <p:cNvPr id="10" name="波形 9"/>
          <p:cNvSpPr/>
          <p:nvPr/>
        </p:nvSpPr>
        <p:spPr>
          <a:xfrm>
            <a:off x="227912" y="346183"/>
            <a:ext cx="385079" cy="584776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endParaRPr lang="ko-KR" altLang="en-US" sz="20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A7053665-57F0-4C25-8F03-AAB8F6715ED8}"/>
              </a:ext>
            </a:extLst>
          </p:cNvPr>
          <p:cNvSpPr txBox="1">
            <a:spLocks/>
          </p:cNvSpPr>
          <p:nvPr/>
        </p:nvSpPr>
        <p:spPr bwMode="auto">
          <a:xfrm>
            <a:off x="899592" y="72606"/>
            <a:ext cx="7704856" cy="547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dirty="0"/>
              <a:t>§2.3.2 </a:t>
            </a:r>
            <a:r>
              <a:rPr lang="zh-CN" altLang="en-US" kern="0" dirty="0"/>
              <a:t>循环表达式</a:t>
            </a:r>
            <a:r>
              <a:rPr lang="en-US" altLang="zh-CN" dirty="0">
                <a:solidFill>
                  <a:srgbClr val="FF0000"/>
                </a:solidFill>
              </a:rPr>
              <a:t>—— while</a:t>
            </a:r>
            <a:r>
              <a:rPr lang="zh-CN" altLang="en-US" dirty="0">
                <a:solidFill>
                  <a:srgbClr val="FF0000"/>
                </a:solidFill>
              </a:rPr>
              <a:t>循环语句案例</a:t>
            </a:r>
            <a:endParaRPr lang="zh-CN" altLang="en-US" kern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3648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EC5012FC-52A5-77F5-6220-F23504FE83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928" y="2179362"/>
            <a:ext cx="8668291" cy="2110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1778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8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6350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10922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5494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20066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  <a:lvl6pPr marL="24638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zh-CN" altLang="zh-CN" sz="2000" dirty="0"/>
              <a:t>julia&gt; f_sqrt(x) = x &gt;= 0 ? sqrt(x) : error(“negative x not allowed”) </a:t>
            </a:r>
            <a:r>
              <a:rPr lang="en-US" altLang="zh-CN" sz="2000" dirty="0"/>
              <a:t> #</a:t>
            </a:r>
            <a:r>
              <a:rPr lang="zh-CN" altLang="en-US" sz="2000" dirty="0"/>
              <a:t>三元运算符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>
                <a:solidFill>
                  <a:srgbClr val="66CCFF"/>
                </a:solidFill>
              </a:rPr>
              <a:t>结果</a:t>
            </a:r>
            <a:r>
              <a:rPr lang="zh-CN" altLang="zh-CN" sz="2000" dirty="0">
                <a:solidFill>
                  <a:srgbClr val="66CCFF"/>
                </a:solidFill>
              </a:rPr>
              <a:t>fussy_sqrt (generic function with 1 method) </a:t>
            </a:r>
            <a:endParaRPr lang="en-US" altLang="zh-CN" sz="2000" dirty="0">
              <a:solidFill>
                <a:srgbClr val="66CCFF"/>
              </a:solidFill>
            </a:endParaRPr>
          </a:p>
          <a:p>
            <a:pPr marL="0" indent="0">
              <a:buNone/>
            </a:pPr>
            <a:r>
              <a:rPr lang="zh-CN" altLang="zh-CN" sz="2000" dirty="0"/>
              <a:t>julia&gt; f_sqrt(2)</a:t>
            </a:r>
            <a:endParaRPr lang="en-US" altLang="zh-CN" sz="2000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zh-CN" altLang="zh-CN" sz="2000" dirty="0"/>
              <a:t>julia&gt; f_sqrt(-1)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zh-CN" sz="2000" dirty="0">
                <a:solidFill>
                  <a:srgbClr val="FF0000"/>
                </a:solidFill>
              </a:rPr>
              <a:t> ERROR: negative x not allowed Stacktrace: [1] error at ./error.jl:33 [inlined] [2] fussy_sqrt(::Int64) at ./none:1 [3] top-level scope </a:t>
            </a: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B2A45FAF-C4D9-3D69-5BAE-B6488A606958}"/>
              </a:ext>
            </a:extLst>
          </p:cNvPr>
          <p:cNvSpPr txBox="1">
            <a:spLocks/>
          </p:cNvSpPr>
          <p:nvPr/>
        </p:nvSpPr>
        <p:spPr bwMode="auto">
          <a:xfrm>
            <a:off x="2142793" y="85481"/>
            <a:ext cx="5040560" cy="547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dirty="0"/>
              <a:t>§2.3.3 </a:t>
            </a:r>
            <a:r>
              <a:rPr lang="zh-CN" altLang="en-US" dirty="0"/>
              <a:t>异常处理</a:t>
            </a:r>
            <a:r>
              <a:rPr lang="en-US" altLang="zh-CN" dirty="0"/>
              <a:t>(</a:t>
            </a:r>
            <a:r>
              <a:rPr lang="zh-CN" altLang="en-US" dirty="0"/>
              <a:t>错误</a:t>
            </a:r>
            <a:r>
              <a:rPr lang="en-US" altLang="zh-CN" dirty="0"/>
              <a:t>error)</a:t>
            </a:r>
            <a:r>
              <a:rPr lang="zh-CN" altLang="en-US" dirty="0"/>
              <a:t> </a:t>
            </a:r>
            <a:r>
              <a:rPr lang="en-US" altLang="zh-CN" dirty="0"/>
              <a:t> </a:t>
            </a:r>
            <a:endParaRPr lang="zh-CN" altLang="en-US" kern="0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8F9C3D66-FD87-42E5-99E9-3D28FA201A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621" y="1347614"/>
            <a:ext cx="8668291" cy="7562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1778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8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6350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10922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5494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20066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  <a:lvl6pPr marL="24638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zh-CN" altLang="zh-CN" sz="2000" dirty="0"/>
              <a:t>假设希望在计算负数的平方根时让程序立即停止执行。为了实现它，可以定义一个挑剔的 </a:t>
            </a:r>
            <a:r>
              <a:rPr lang="zh-CN" altLang="zh-CN" sz="20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sqrt</a:t>
            </a:r>
            <a:r>
              <a:rPr lang="zh-CN" altLang="zh-CN" sz="2000" dirty="0"/>
              <a:t> 函数，当它的参数是负数时，产生一个错误：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7F5A1647-1C0A-5446-2DE7-67966D1B6E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540" y="767511"/>
            <a:ext cx="8280920" cy="385170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1778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8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6350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10922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5494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2006600" indent="-177800" eaLnBrk="0" hangingPunct="0">
              <a:lnSpc>
                <a:spcPct val="110000"/>
              </a:lnSpc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  <a:lvl6pPr marL="24638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pPr marL="0" indent="0" algn="dist">
              <a:buNone/>
            </a:pPr>
            <a:r>
              <a:rPr lang="zh-CN" altLang="zh-CN" sz="1800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错误</a:t>
            </a:r>
            <a:r>
              <a:rPr lang="zh-CN" altLang="zh-CN" sz="1800" dirty="0">
                <a:solidFill>
                  <a:schemeClr val="bg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error</a:t>
            </a:r>
            <a:r>
              <a:rPr lang="zh-CN" altLang="zh-CN" sz="1800" dirty="0">
                <a:solidFill>
                  <a:schemeClr val="bg1"/>
                </a:solidFill>
              </a:rPr>
              <a:t> </a:t>
            </a:r>
            <a:r>
              <a:rPr lang="en-US" altLang="zh-CN" sz="1800" dirty="0">
                <a:solidFill>
                  <a:schemeClr val="bg1"/>
                </a:solidFill>
              </a:rPr>
              <a:t>:</a:t>
            </a:r>
            <a:r>
              <a:rPr lang="zh-CN" altLang="zh-CN" sz="1800" dirty="0">
                <a:solidFill>
                  <a:schemeClr val="bg1"/>
                </a:solidFill>
              </a:rPr>
              <a:t>用 </a:t>
            </a:r>
            <a:r>
              <a:rPr lang="zh-CN" altLang="zh-CN" sz="1800" dirty="0">
                <a:solidFill>
                  <a:schemeClr val="bg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error</a:t>
            </a:r>
            <a:r>
              <a:rPr lang="zh-CN" altLang="zh-CN" sz="1800" dirty="0">
                <a:solidFill>
                  <a:schemeClr val="bg1"/>
                </a:solidFill>
              </a:rPr>
              <a:t> 函数生成一个 </a:t>
            </a:r>
            <a:r>
              <a:rPr lang="zh-CN" altLang="en-US" sz="1800" dirty="0">
                <a:solidFill>
                  <a:schemeClr val="bg1"/>
                </a:solidFill>
              </a:rPr>
              <a:t>错误异常</a:t>
            </a:r>
            <a:r>
              <a:rPr lang="zh-CN" altLang="zh-CN" sz="1800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ErrorException</a:t>
            </a:r>
            <a:r>
              <a:rPr lang="zh-CN" altLang="zh-CN" sz="1800" dirty="0">
                <a:solidFill>
                  <a:schemeClr val="bg1"/>
                </a:solidFill>
              </a:rPr>
              <a:t> 来中断正常的控制流程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C10F606-B14F-47C2-9201-47A6EC7694DD}"/>
              </a:ext>
            </a:extLst>
          </p:cNvPr>
          <p:cNvSpPr txBox="1"/>
          <p:nvPr/>
        </p:nvSpPr>
        <p:spPr>
          <a:xfrm>
            <a:off x="2351673" y="2931790"/>
            <a:ext cx="29404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00B0F0"/>
                </a:solidFill>
              </a:rPr>
              <a:t>结果</a:t>
            </a:r>
            <a:r>
              <a:rPr lang="zh-CN" altLang="zh-CN" sz="1800" dirty="0">
                <a:solidFill>
                  <a:srgbClr val="00B0F0"/>
                </a:solidFill>
              </a:rPr>
              <a:t>1.4142135623730951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52456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7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B596406-449C-2408-CEBC-898BF82A0AC2}"/>
              </a:ext>
            </a:extLst>
          </p:cNvPr>
          <p:cNvSpPr txBox="1"/>
          <p:nvPr/>
        </p:nvSpPr>
        <p:spPr>
          <a:xfrm>
            <a:off x="726664" y="739195"/>
            <a:ext cx="4617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0" i="0" dirty="0">
                <a:solidFill>
                  <a:srgbClr val="333333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 throw </a:t>
            </a:r>
            <a:r>
              <a:rPr lang="zh-CN" altLang="en-US" sz="2400" b="0" i="0" dirty="0">
                <a:solidFill>
                  <a:srgbClr val="333333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显式地创建异常</a:t>
            </a:r>
            <a:endParaRPr lang="zh-CN" altLang="en-US" sz="2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1347523D-304A-00E3-C8DC-77C803DEDE69}"/>
              </a:ext>
            </a:extLst>
          </p:cNvPr>
          <p:cNvSpPr txBox="1">
            <a:spLocks/>
          </p:cNvSpPr>
          <p:nvPr/>
        </p:nvSpPr>
        <p:spPr bwMode="auto">
          <a:xfrm>
            <a:off x="2253288" y="123478"/>
            <a:ext cx="5256584" cy="547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dirty="0"/>
              <a:t>§2.3.3 </a:t>
            </a:r>
            <a:r>
              <a:rPr lang="zh-CN" altLang="en-US" dirty="0"/>
              <a:t>异常处理</a:t>
            </a:r>
            <a:r>
              <a:rPr lang="en-US" altLang="zh-CN" dirty="0"/>
              <a:t>(</a:t>
            </a:r>
            <a:r>
              <a:rPr lang="zh-CN" altLang="en-US" dirty="0"/>
              <a:t>错误</a:t>
            </a:r>
            <a:r>
              <a:rPr lang="en-US" altLang="zh-CN" dirty="0"/>
              <a:t>throw)</a:t>
            </a:r>
            <a:r>
              <a:rPr lang="zh-CN" altLang="en-US" dirty="0"/>
              <a:t> </a:t>
            </a:r>
            <a:r>
              <a:rPr lang="en-US" altLang="zh-CN" dirty="0"/>
              <a:t> </a:t>
            </a:r>
            <a:endParaRPr lang="zh-CN" altLang="en-US" kern="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207AD58-F5C7-9176-7706-7F01DB453FE4}"/>
              </a:ext>
            </a:extLst>
          </p:cNvPr>
          <p:cNvSpPr txBox="1"/>
          <p:nvPr/>
        </p:nvSpPr>
        <p:spPr>
          <a:xfrm>
            <a:off x="726664" y="1350124"/>
            <a:ext cx="83098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若一个函数只对非负数有定义，当输入参数是负数的时候，可以用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throw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抛出一个 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Helvetica Neue"/>
              </a:rPr>
              <a:t>DomainError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0C7E09A-D420-E151-E5AC-31F342BC696B}"/>
              </a:ext>
            </a:extLst>
          </p:cNvPr>
          <p:cNvSpPr txBox="1"/>
          <p:nvPr/>
        </p:nvSpPr>
        <p:spPr>
          <a:xfrm>
            <a:off x="755368" y="2064330"/>
            <a:ext cx="830983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000000"/>
                </a:solidFill>
                <a:effectLst/>
                <a:latin typeface="Menlo"/>
              </a:rPr>
              <a:t>julia</a:t>
            </a:r>
            <a:r>
              <a:rPr lang="en-US" altLang="zh-CN" b="0" i="0" dirty="0">
                <a:solidFill>
                  <a:srgbClr val="6BAB5B"/>
                </a:solidFill>
                <a:effectLst/>
                <a:latin typeface="Menlo"/>
              </a:rPr>
              <a:t>&gt;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Menlo"/>
              </a:rPr>
              <a:t> f</a:t>
            </a:r>
            <a:r>
              <a:rPr lang="en-US" altLang="zh-CN" b="0" i="0" dirty="0">
                <a:solidFill>
                  <a:srgbClr val="3B972E"/>
                </a:solidFill>
                <a:effectLst/>
                <a:latin typeface="Menlo"/>
              </a:rPr>
              <a:t>(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Menlo"/>
              </a:rPr>
              <a:t>x</a:t>
            </a:r>
            <a:r>
              <a:rPr lang="en-US" altLang="zh-CN" b="0" i="0" dirty="0">
                <a:solidFill>
                  <a:srgbClr val="3B972E"/>
                </a:solidFill>
                <a:effectLst/>
                <a:latin typeface="Menlo"/>
              </a:rPr>
              <a:t>)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Menlo"/>
              </a:rPr>
              <a:t> = x</a:t>
            </a:r>
            <a:r>
              <a:rPr lang="en-US" altLang="zh-CN" b="0" i="0" dirty="0">
                <a:solidFill>
                  <a:srgbClr val="6BAB5B"/>
                </a:solidFill>
                <a:effectLst/>
                <a:latin typeface="Menlo"/>
              </a:rPr>
              <a:t>&gt;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Menlo"/>
              </a:rPr>
              <a:t>=0 </a:t>
            </a:r>
            <a:r>
              <a:rPr lang="en-US" altLang="zh-CN" b="0" i="0" dirty="0">
                <a:solidFill>
                  <a:srgbClr val="6BAB5B"/>
                </a:solidFill>
                <a:effectLst/>
                <a:latin typeface="Menlo"/>
              </a:rPr>
              <a:t>?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Menlo"/>
              </a:rPr>
              <a:t> exp</a:t>
            </a:r>
            <a:r>
              <a:rPr lang="en-US" altLang="zh-CN" b="0" i="0" dirty="0">
                <a:solidFill>
                  <a:srgbClr val="3B972E"/>
                </a:solidFill>
                <a:effectLst/>
                <a:latin typeface="Menlo"/>
              </a:rPr>
              <a:t>(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Menlo"/>
              </a:rPr>
              <a:t>-x</a:t>
            </a:r>
            <a:r>
              <a:rPr lang="en-US" altLang="zh-CN" b="0" i="0" dirty="0">
                <a:solidFill>
                  <a:srgbClr val="3B972E"/>
                </a:solidFill>
                <a:effectLst/>
                <a:latin typeface="Menlo"/>
              </a:rPr>
              <a:t>)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Menlo"/>
              </a:rPr>
              <a:t> : </a:t>
            </a:r>
            <a:r>
              <a:rPr lang="en-US" altLang="zh-CN" b="1" i="0" dirty="0">
                <a:solidFill>
                  <a:srgbClr val="4266D5"/>
                </a:solidFill>
                <a:effectLst/>
                <a:latin typeface="Menlo"/>
              </a:rPr>
              <a:t>throw</a:t>
            </a:r>
            <a:r>
              <a:rPr lang="en-US" altLang="zh-CN" b="0" i="0" dirty="0">
                <a:solidFill>
                  <a:srgbClr val="3B972E"/>
                </a:solidFill>
                <a:effectLst/>
                <a:latin typeface="Menlo"/>
              </a:rPr>
              <a:t>(</a:t>
            </a:r>
            <a:r>
              <a:rPr lang="en-US" altLang="zh-CN" b="0" i="0" dirty="0" err="1">
                <a:solidFill>
                  <a:srgbClr val="000000"/>
                </a:solidFill>
                <a:effectLst/>
                <a:latin typeface="Menlo"/>
              </a:rPr>
              <a:t>DomainError</a:t>
            </a:r>
            <a:r>
              <a:rPr lang="en-US" altLang="zh-CN" b="0" i="0" dirty="0">
                <a:solidFill>
                  <a:srgbClr val="3B972E"/>
                </a:solidFill>
                <a:effectLst/>
                <a:latin typeface="Menlo"/>
              </a:rPr>
              <a:t>(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Menlo"/>
              </a:rPr>
              <a:t>x, </a:t>
            </a:r>
            <a:r>
              <a:rPr lang="en-US" altLang="zh-CN" b="0" i="0" dirty="0">
                <a:solidFill>
                  <a:srgbClr val="C93D39"/>
                </a:solidFill>
                <a:effectLst/>
                <a:latin typeface="Menlo"/>
              </a:rPr>
              <a:t>"argument must be nonnegative"</a:t>
            </a:r>
            <a:r>
              <a:rPr lang="en-US" altLang="zh-CN" b="0" i="0" dirty="0">
                <a:solidFill>
                  <a:srgbClr val="3B972E"/>
                </a:solidFill>
                <a:effectLst/>
                <a:latin typeface="Menlo"/>
              </a:rPr>
              <a:t>))</a:t>
            </a:r>
            <a:br>
              <a:rPr lang="en-US" altLang="zh-CN" dirty="0"/>
            </a:br>
            <a:r>
              <a:rPr lang="en-US" altLang="zh-CN" b="0" i="0" dirty="0">
                <a:solidFill>
                  <a:srgbClr val="000000"/>
                </a:solidFill>
                <a:effectLst/>
                <a:latin typeface="Menlo"/>
              </a:rPr>
              <a:t>f </a:t>
            </a:r>
            <a:r>
              <a:rPr lang="en-US" altLang="zh-CN" b="0" i="0" dirty="0">
                <a:solidFill>
                  <a:srgbClr val="3B972E"/>
                </a:solidFill>
                <a:effectLst/>
                <a:latin typeface="Menlo"/>
              </a:rPr>
              <a:t>(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Menlo"/>
              </a:rPr>
              <a:t>generic </a:t>
            </a:r>
            <a:r>
              <a:rPr lang="en-US" altLang="zh-CN" b="1" i="0" dirty="0">
                <a:solidFill>
                  <a:srgbClr val="4266D5"/>
                </a:solidFill>
                <a:effectLst/>
                <a:latin typeface="Menlo"/>
              </a:rPr>
              <a:t>function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Menlo"/>
              </a:rPr>
              <a:t> with 1 method</a:t>
            </a:r>
            <a:r>
              <a:rPr lang="en-US" altLang="zh-CN" b="0" i="0" dirty="0">
                <a:solidFill>
                  <a:srgbClr val="3B972E"/>
                </a:solidFill>
                <a:effectLst/>
                <a:latin typeface="Menlo"/>
              </a:rPr>
              <a:t>)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b="0" i="0" dirty="0">
                <a:solidFill>
                  <a:srgbClr val="000000"/>
                </a:solidFill>
                <a:effectLst/>
                <a:latin typeface="Menlo"/>
              </a:rPr>
              <a:t>julia</a:t>
            </a:r>
            <a:r>
              <a:rPr lang="en-US" altLang="zh-CN" b="0" i="0" dirty="0">
                <a:solidFill>
                  <a:srgbClr val="6BAB5B"/>
                </a:solidFill>
                <a:effectLst/>
                <a:latin typeface="Menlo"/>
              </a:rPr>
              <a:t>&gt;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Menlo"/>
              </a:rPr>
              <a:t> f</a:t>
            </a:r>
            <a:r>
              <a:rPr lang="en-US" altLang="zh-CN" b="0" i="0" dirty="0">
                <a:solidFill>
                  <a:srgbClr val="3B972E"/>
                </a:solidFill>
                <a:effectLst/>
                <a:latin typeface="Menlo"/>
              </a:rPr>
              <a:t>(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Menlo"/>
              </a:rPr>
              <a:t>1</a:t>
            </a:r>
            <a:r>
              <a:rPr lang="en-US" altLang="zh-CN" b="0" i="0" dirty="0">
                <a:solidFill>
                  <a:srgbClr val="3B972E"/>
                </a:solidFill>
                <a:effectLst/>
                <a:latin typeface="Menlo"/>
              </a:rPr>
              <a:t>)</a:t>
            </a:r>
            <a:br>
              <a:rPr lang="en-US" altLang="zh-CN" dirty="0"/>
            </a:br>
            <a:r>
              <a:rPr lang="en-US" altLang="zh-CN" b="0" i="0" dirty="0">
                <a:solidFill>
                  <a:srgbClr val="000000"/>
                </a:solidFill>
                <a:effectLst/>
                <a:latin typeface="Menlo"/>
              </a:rPr>
              <a:t>0.36787944117144233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b="0" i="0" dirty="0">
                <a:solidFill>
                  <a:srgbClr val="000000"/>
                </a:solidFill>
                <a:effectLst/>
                <a:latin typeface="Menlo"/>
              </a:rPr>
              <a:t>julia</a:t>
            </a:r>
            <a:r>
              <a:rPr lang="en-US" altLang="zh-CN" b="0" i="0" dirty="0">
                <a:solidFill>
                  <a:srgbClr val="6BAB5B"/>
                </a:solidFill>
                <a:effectLst/>
                <a:latin typeface="Menlo"/>
              </a:rPr>
              <a:t>&gt;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Menlo"/>
              </a:rPr>
              <a:t> f</a:t>
            </a:r>
            <a:r>
              <a:rPr lang="en-US" altLang="zh-CN" b="0" i="0" dirty="0">
                <a:solidFill>
                  <a:srgbClr val="3B972E"/>
                </a:solidFill>
                <a:effectLst/>
                <a:latin typeface="Menlo"/>
              </a:rPr>
              <a:t>(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Menlo"/>
              </a:rPr>
              <a:t>-1</a:t>
            </a:r>
            <a:r>
              <a:rPr lang="en-US" altLang="zh-CN" b="0" i="0" dirty="0">
                <a:solidFill>
                  <a:srgbClr val="3B972E"/>
                </a:solidFill>
                <a:effectLst/>
                <a:latin typeface="Menlo"/>
              </a:rPr>
              <a:t>)</a:t>
            </a:r>
            <a:br>
              <a:rPr lang="en-US" altLang="zh-CN" dirty="0"/>
            </a:br>
            <a:r>
              <a:rPr lang="en-US" altLang="zh-CN" b="0" i="0" dirty="0">
                <a:solidFill>
                  <a:srgbClr val="FF0000"/>
                </a:solidFill>
                <a:effectLst/>
                <a:latin typeface="Menlo"/>
              </a:rPr>
              <a:t>ERROR: </a:t>
            </a:r>
            <a:r>
              <a:rPr lang="en-US" altLang="zh-CN" b="0" i="0" dirty="0" err="1">
                <a:solidFill>
                  <a:srgbClr val="FF0000"/>
                </a:solidFill>
                <a:effectLst/>
                <a:latin typeface="Menlo"/>
              </a:rPr>
              <a:t>DomainError</a:t>
            </a:r>
            <a:r>
              <a:rPr lang="en-US" altLang="zh-CN" b="0" i="0" dirty="0">
                <a:solidFill>
                  <a:srgbClr val="FF0000"/>
                </a:solidFill>
                <a:effectLst/>
                <a:latin typeface="Menlo"/>
              </a:rPr>
              <a:t> with -1: argument must be nonnegative</a:t>
            </a:r>
            <a:br>
              <a:rPr lang="en-US" altLang="zh-CN" dirty="0">
                <a:solidFill>
                  <a:srgbClr val="FF0000"/>
                </a:solidFill>
              </a:rPr>
            </a:br>
            <a:r>
              <a:rPr lang="en-US" altLang="zh-CN" b="0" i="0" dirty="0" err="1">
                <a:solidFill>
                  <a:srgbClr val="FF0000"/>
                </a:solidFill>
                <a:effectLst/>
                <a:latin typeface="Menlo"/>
              </a:rPr>
              <a:t>Stacktrace</a:t>
            </a:r>
            <a:r>
              <a:rPr lang="en-US" altLang="zh-CN" b="0" i="0" dirty="0">
                <a:solidFill>
                  <a:srgbClr val="FF0000"/>
                </a:solidFill>
                <a:effectLst/>
                <a:latin typeface="Menlo"/>
              </a:rPr>
              <a:t>: [1] f(::</a:t>
            </a:r>
            <a:r>
              <a:rPr lang="en-US" altLang="zh-CN" b="1" i="0" dirty="0">
                <a:solidFill>
                  <a:srgbClr val="FF0000"/>
                </a:solidFill>
                <a:effectLst/>
                <a:latin typeface="Menlo"/>
              </a:rPr>
              <a:t>Int64</a:t>
            </a:r>
            <a:r>
              <a:rPr lang="en-US" altLang="zh-CN" b="0" i="0" dirty="0">
                <a:solidFill>
                  <a:srgbClr val="FF0000"/>
                </a:solidFill>
                <a:effectLst/>
                <a:latin typeface="Menlo"/>
              </a:rPr>
              <a:t>) at ./none:1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277577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3"/>
          <p:cNvSpPr txBox="1">
            <a:spLocks noGrp="1"/>
          </p:cNvSpPr>
          <p:nvPr>
            <p:ph type="body" idx="4294967295"/>
          </p:nvPr>
        </p:nvSpPr>
        <p:spPr>
          <a:xfrm>
            <a:off x="323528" y="1275606"/>
            <a:ext cx="8568952" cy="3595341"/>
          </a:xfrm>
          <a:prstGeom prst="rect">
            <a:avLst/>
          </a:prstGeom>
          <a:noFill/>
          <a:ln w="0" cap="flat" cmpd="sng">
            <a:solidFill>
              <a:schemeClr val="tx1">
                <a:alpha val="100000"/>
              </a:schemeClr>
            </a:solidFill>
            <a:prstDash val="solid"/>
          </a:ln>
        </p:spPr>
        <p:txBody>
          <a:bodyPr vert="horz" wrap="square" lIns="91440" tIns="45720" rIns="91440" bIns="45720" numCol="1" anchor="t">
            <a:noAutofit/>
          </a:bodyPr>
          <a:lstStyle/>
          <a:p>
            <a:pPr marL="342900" indent="-342900" algn="l" defTabSz="914400" fontAlgn="base" latinLnBrk="0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FontTx/>
              <a:buNone/>
            </a:pPr>
            <a:endParaRPr lang="ko-KR" altLang="en-US" sz="2800" b="0" cap="none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l" defTabSz="914400" fontAlgn="base" latinLnBrk="0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FontTx/>
              <a:buNone/>
            </a:pPr>
            <a:r>
              <a:rPr lang="en-US" altLang="ko-KR" sz="2400" b="0" cap="none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try</a:t>
            </a:r>
            <a:endParaRPr lang="ko-KR" altLang="en-US" sz="2400" b="0" cap="none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l" defTabSz="914400" fontAlgn="base" latinLnBrk="0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FontTx/>
              <a:buNone/>
            </a:pPr>
            <a:r>
              <a:rPr lang="en-US" altLang="ko-KR" sz="2400" b="0" cap="none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  statements</a:t>
            </a:r>
            <a:r>
              <a:rPr lang="en-US" altLang="ko-KR" sz="2400" b="1" cap="none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语句组</a:t>
            </a:r>
            <a:r>
              <a:rPr lang="en-US" altLang="ko-KR" sz="2400" b="1" cap="none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endParaRPr lang="ko-KR" altLang="en-US" sz="2400" b="1" cap="none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l" defTabSz="914400" fontAlgn="base" latinLnBrk="0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FontTx/>
              <a:buNone/>
            </a:pPr>
            <a:r>
              <a:rPr lang="en-US" altLang="ko-KR" sz="2400" b="0" cap="none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catch exception</a:t>
            </a:r>
            <a:endParaRPr lang="ko-KR" altLang="en-US" sz="2400" b="0" cap="none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altLang="ko-KR" sz="2400" b="0" cap="none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ko-KR" sz="2400" b="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statements </a:t>
            </a:r>
            <a:r>
              <a:rPr lang="en-US" altLang="ko-KR" sz="2400" b="1" cap="none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语句组</a:t>
            </a:r>
            <a:r>
              <a:rPr lang="en-US" altLang="ko-KR" sz="2400" b="1" cap="none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endParaRPr lang="ko-KR" altLang="en-US" sz="2400" b="1" cap="none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l" defTabSz="914400" fontAlgn="base" latinLnBrk="0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FontTx/>
              <a:buNone/>
            </a:pPr>
            <a:r>
              <a:rPr lang="en-US" altLang="ko-KR" sz="2400" b="0" cap="none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end </a:t>
            </a:r>
            <a:endParaRPr lang="ko-KR" altLang="en-US" sz="2400" b="0" cap="none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l" defTabSz="914400" fontAlgn="base" latinLnBrk="0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FontTx/>
              <a:buNone/>
            </a:pPr>
            <a:endParaRPr lang="ko-KR" altLang="en-US" sz="2800" b="0" cap="none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5539" name="矩形 1"/>
          <p:cNvSpPr/>
          <p:nvPr/>
        </p:nvSpPr>
        <p:spPr bwMode="auto">
          <a:xfrm>
            <a:off x="793165" y="754243"/>
            <a:ext cx="6283325" cy="486287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342900" indent="-342900" algn="l" defTabSz="914400" eaLnBrk="0" fontAlgn="base" latinLnBrk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FontTx/>
              <a:buNone/>
            </a:pPr>
            <a:r>
              <a:rPr lang="en-US" altLang="ko-KR" sz="3200" cap="none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try-</a:t>
            </a:r>
            <a:r>
              <a:rPr lang="en-US" altLang="ko-KR" sz="3200" cap="none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catch语句</a:t>
            </a:r>
            <a:endParaRPr lang="ko-KR" altLang="en-US" sz="3200" cap="none" dirty="0">
              <a:solidFill>
                <a:srgbClr val="0070C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310926" y="1384135"/>
            <a:ext cx="5509546" cy="1569660"/>
          </a:xfrm>
          <a:prstGeom prst="rect">
            <a:avLst/>
          </a:prstGeom>
          <a:ln w="9525" cap="flat" cmpd="sng">
            <a:solidFill>
              <a:schemeClr val="tx1">
                <a:lumMod val="95000"/>
                <a:lumOff val="5000"/>
              </a:schemeClr>
            </a:solidFill>
            <a:prstDash val="solid"/>
            <a:round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algn="l" defTabSz="914400" eaLnBrk="0" fontAlgn="base" latinLnBrk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ea"/>
              <a:buAutoNum type="circleNumDbPlain"/>
            </a:pPr>
            <a:r>
              <a:rPr lang="en-US" altLang="ko-KR" sz="2400" b="0" cap="none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先试探语句组1，如出现错误，则将错误信息赋给lasterr保留；</a:t>
            </a:r>
            <a:endParaRPr lang="ko-KR" altLang="en-US" sz="2400" b="0" cap="none" dirty="0">
              <a:solidFill>
                <a:srgbClr val="0070C0"/>
              </a:solidFill>
              <a:latin typeface="华文楷体" panose="0201060004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ea"/>
              <a:buAutoNum type="circleNumDbPlain"/>
            </a:pPr>
            <a:r>
              <a:rPr lang="en-US" altLang="ko-KR" sz="2400" b="0" cap="none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并转去</a:t>
            </a:r>
            <a:r>
              <a:rPr lang="en-US" altLang="ko-KR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catch</a:t>
            </a:r>
            <a:r>
              <a:rPr lang="en-US" altLang="ko-KR" sz="2400" b="0" cap="none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执行语句组2。</a:t>
            </a:r>
          </a:p>
          <a:p>
            <a:pPr eaLnBrk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ea"/>
              <a:buAutoNum type="circleNumDbPlain"/>
            </a:pPr>
            <a:r>
              <a:rPr lang="en-US" altLang="ko-KR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tr</a:t>
            </a:r>
            <a:r>
              <a:rPr lang="en-US" altLang="ko-KR" sz="24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y-catch</a:t>
            </a:r>
            <a:r>
              <a:rPr lang="zh-CN" altLang="en-US" sz="24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执行语句并捕获产生的错误</a:t>
            </a:r>
            <a:endParaRPr lang="ko-KR" altLang="en-US" sz="2400" b="0" cap="none" dirty="0">
              <a:solidFill>
                <a:srgbClr val="0070C0"/>
              </a:solidFill>
              <a:latin typeface="华文楷体" panose="0201060004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32516" y="1333258"/>
            <a:ext cx="1422184" cy="387798"/>
          </a:xfrm>
          <a:prstGeom prst="rect">
            <a:avLst/>
          </a:prstGeom>
          <a:solidFill>
            <a:schemeClr val="bg1">
              <a:lumMod val="50000"/>
            </a:schemeClr>
          </a:solidFill>
          <a:ln w="0">
            <a:noFill/>
          </a:ln>
          <a:effectLst>
            <a:outerShdw blurRad="190500" dist="228600" dir="2700000" algn="ctr">
              <a:srgbClr val="000000">
                <a:alpha val="29803"/>
              </a:srgbClr>
            </a:outerShdw>
          </a:effectLst>
          <a:scene3d>
            <a:camera prst="orthographicFront"/>
            <a:lightRig rig="glow" dir="t">
              <a:rot lat="0" lon="0" rev="4800000"/>
            </a:lightRig>
          </a:scene3d>
          <a:sp3d prstMaterial="matte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anchor="t">
            <a:spAutoFit/>
          </a:bodyPr>
          <a:lstStyle/>
          <a:p>
            <a:pPr marL="342900" indent="-342900" algn="l" defTabSz="914400" eaLnBrk="0" fontAlgn="base" latinLnBrk="0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FontTx/>
              <a:buNone/>
            </a:pPr>
            <a:r>
              <a:rPr lang="en-US" altLang="ko-KR" sz="2400" b="1" cap="none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语句格式</a:t>
            </a:r>
            <a:endParaRPr lang="ko-KR" altLang="en-US" sz="2400" b="1" cap="none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D7DADC5-6600-4924-A60B-05C5EF5E4974}"/>
              </a:ext>
            </a:extLst>
          </p:cNvPr>
          <p:cNvSpPr txBox="1"/>
          <p:nvPr/>
        </p:nvSpPr>
        <p:spPr>
          <a:xfrm>
            <a:off x="3707904" y="648488"/>
            <a:ext cx="3888432" cy="581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</a:pPr>
            <a:r>
              <a:rPr lang="en-US" altLang="ko-KR" sz="2400" dirty="0" err="1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检测程序代码是否出错</a:t>
            </a:r>
            <a:endParaRPr lang="zh-CN" altLang="en-US" sz="2400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6B0AAC6D-0C74-7CB8-5BB6-F9B4B1EAAAC3}"/>
              </a:ext>
            </a:extLst>
          </p:cNvPr>
          <p:cNvSpPr txBox="1">
            <a:spLocks/>
          </p:cNvSpPr>
          <p:nvPr/>
        </p:nvSpPr>
        <p:spPr bwMode="auto">
          <a:xfrm>
            <a:off x="2247524" y="85178"/>
            <a:ext cx="5636843" cy="547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3600" dirty="0"/>
              <a:t>§2.3.3 </a:t>
            </a:r>
            <a:r>
              <a:rPr lang="zh-CN" altLang="en-US" sz="3600" dirty="0"/>
              <a:t>异常处理</a:t>
            </a:r>
            <a:r>
              <a:rPr lang="en-US" altLang="zh-CN" sz="3600" dirty="0"/>
              <a:t>(try-catch)</a:t>
            </a:r>
            <a:r>
              <a:rPr lang="zh-CN" altLang="en-US" sz="3600" dirty="0"/>
              <a:t> </a:t>
            </a:r>
            <a:r>
              <a:rPr lang="en-US" altLang="zh-CN" sz="3600" dirty="0"/>
              <a:t> </a:t>
            </a:r>
            <a:endParaRPr lang="zh-CN" altLang="en-US" sz="3600" kern="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F3DEC50-442C-01A7-E9E9-378AF1B01794}"/>
              </a:ext>
            </a:extLst>
          </p:cNvPr>
          <p:cNvSpPr txBox="1"/>
          <p:nvPr/>
        </p:nvSpPr>
        <p:spPr>
          <a:xfrm>
            <a:off x="3193738" y="3035208"/>
            <a:ext cx="374441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0" dirty="0">
                <a:solidFill>
                  <a:srgbClr val="4266D5"/>
                </a:solidFill>
                <a:effectLst/>
                <a:latin typeface="Menlo"/>
              </a:rPr>
              <a:t>try</a:t>
            </a:r>
            <a:br>
              <a:rPr lang="en-US" altLang="zh-CN" dirty="0"/>
            </a:br>
            <a:r>
              <a:rPr lang="en-US" altLang="zh-CN" b="0" i="0" dirty="0">
                <a:solidFill>
                  <a:srgbClr val="000000"/>
                </a:solidFill>
                <a:effectLst/>
                <a:latin typeface="Menlo"/>
              </a:rPr>
              <a:t>   sqrt</a:t>
            </a:r>
            <a:r>
              <a:rPr lang="en-US" altLang="zh-CN" b="0" i="0" dirty="0">
                <a:solidFill>
                  <a:srgbClr val="3B972E"/>
                </a:solidFill>
                <a:effectLst/>
                <a:latin typeface="Menlo"/>
              </a:rPr>
              <a:t>(</a:t>
            </a:r>
            <a:r>
              <a:rPr lang="en-US" altLang="zh-CN" b="0" i="0" dirty="0">
                <a:solidFill>
                  <a:srgbClr val="C93D39"/>
                </a:solidFill>
                <a:effectLst/>
                <a:latin typeface="Menlo"/>
              </a:rPr>
              <a:t>"ten"</a:t>
            </a:r>
            <a:r>
              <a:rPr lang="en-US" altLang="zh-CN" b="0" i="0" dirty="0">
                <a:solidFill>
                  <a:srgbClr val="3B972E"/>
                </a:solidFill>
                <a:effectLst/>
                <a:latin typeface="Menlo"/>
              </a:rPr>
              <a:t>)</a:t>
            </a:r>
            <a:br>
              <a:rPr lang="en-US" altLang="zh-CN" dirty="0"/>
            </a:br>
            <a:r>
              <a:rPr lang="en-US" altLang="zh-CN" b="0" i="0" dirty="0">
                <a:solidFill>
                  <a:srgbClr val="000000"/>
                </a:solidFill>
                <a:effectLst/>
                <a:latin typeface="Menlo"/>
              </a:rPr>
              <a:t> </a:t>
            </a:r>
            <a:r>
              <a:rPr lang="en-US" altLang="zh-CN" b="1" i="0" dirty="0">
                <a:solidFill>
                  <a:srgbClr val="4266D5"/>
                </a:solidFill>
                <a:effectLst/>
                <a:latin typeface="Menlo"/>
              </a:rPr>
              <a:t>catch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Menlo"/>
              </a:rPr>
              <a:t> e</a:t>
            </a:r>
            <a:br>
              <a:rPr lang="en-US" altLang="zh-CN" dirty="0"/>
            </a:br>
            <a:r>
              <a:rPr lang="en-US" altLang="zh-CN" b="0" i="0" dirty="0">
                <a:solidFill>
                  <a:srgbClr val="000000"/>
                </a:solidFill>
                <a:effectLst/>
                <a:latin typeface="Menlo"/>
              </a:rPr>
              <a:t>     </a:t>
            </a:r>
            <a:r>
              <a:rPr lang="en-US" altLang="zh-CN" b="1" i="0" dirty="0" err="1">
                <a:solidFill>
                  <a:srgbClr val="0000A8"/>
                </a:solidFill>
                <a:effectLst/>
                <a:latin typeface="Menlo"/>
              </a:rPr>
              <a:t>println</a:t>
            </a:r>
            <a:r>
              <a:rPr lang="en-US" altLang="zh-CN" b="0" i="0" dirty="0">
                <a:solidFill>
                  <a:srgbClr val="3B972E"/>
                </a:solidFill>
                <a:effectLst/>
                <a:latin typeface="Menlo"/>
              </a:rPr>
              <a:t>(</a:t>
            </a:r>
            <a:r>
              <a:rPr lang="en-US" altLang="zh-CN" b="0" i="0" dirty="0">
                <a:solidFill>
                  <a:srgbClr val="C93D39"/>
                </a:solidFill>
                <a:effectLst/>
                <a:latin typeface="Menlo"/>
              </a:rPr>
              <a:t>"</a:t>
            </a:r>
            <a:r>
              <a:rPr lang="zh-CN" altLang="en-US" b="0" i="0" dirty="0">
                <a:solidFill>
                  <a:srgbClr val="C93D39"/>
                </a:solidFill>
                <a:effectLst/>
                <a:latin typeface="Menlo"/>
              </a:rPr>
              <a:t>你需要输入一个数字</a:t>
            </a:r>
            <a:r>
              <a:rPr lang="en-US" altLang="zh-CN" b="0" i="0" dirty="0">
                <a:solidFill>
                  <a:srgbClr val="C93D39"/>
                </a:solidFill>
                <a:effectLst/>
                <a:latin typeface="Menlo"/>
              </a:rPr>
              <a:t>"</a:t>
            </a:r>
            <a:r>
              <a:rPr lang="en-US" altLang="zh-CN" b="0" i="0" dirty="0">
                <a:solidFill>
                  <a:srgbClr val="3B972E"/>
                </a:solidFill>
                <a:effectLst/>
                <a:latin typeface="Menlo"/>
              </a:rPr>
              <a:t>)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000000"/>
                </a:solidFill>
                <a:effectLst/>
                <a:latin typeface="Menlo"/>
              </a:rPr>
              <a:t> </a:t>
            </a:r>
            <a:r>
              <a:rPr lang="en-US" altLang="zh-CN" b="1" i="0" dirty="0">
                <a:solidFill>
                  <a:srgbClr val="4266D5"/>
                </a:solidFill>
                <a:effectLst/>
                <a:latin typeface="Menlo"/>
              </a:rPr>
              <a:t>end</a:t>
            </a:r>
            <a:br>
              <a:rPr lang="en-US" altLang="zh-CN" dirty="0"/>
            </a:br>
            <a:r>
              <a:rPr lang="zh-CN" altLang="en-US" b="0" i="0" dirty="0">
                <a:solidFill>
                  <a:srgbClr val="000000"/>
                </a:solidFill>
                <a:effectLst/>
                <a:latin typeface="Menlo"/>
              </a:rPr>
              <a:t>你需要输入一个数字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5448880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F9CCCB5D-BD94-4279-A312-6DB10221EC53}"/>
              </a:ext>
            </a:extLst>
          </p:cNvPr>
          <p:cNvSpPr txBox="1">
            <a:spLocks/>
          </p:cNvSpPr>
          <p:nvPr/>
        </p:nvSpPr>
        <p:spPr bwMode="auto">
          <a:xfrm>
            <a:off x="2269442" y="690381"/>
            <a:ext cx="4464496" cy="288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800" b="1" dirty="0"/>
              <a:t>§2. 4 </a:t>
            </a:r>
            <a:r>
              <a:rPr lang="en-US" altLang="zh-CN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Julia</a:t>
            </a:r>
            <a:r>
              <a:rPr lang="zh-CN" altLang="en-US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与</a:t>
            </a:r>
            <a:r>
              <a:rPr lang="en-US" altLang="zh-CN" sz="2800" b="1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Matlab</a:t>
            </a:r>
            <a:r>
              <a:rPr lang="zh-CN" altLang="en-US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的区别</a:t>
            </a:r>
            <a:endParaRPr lang="en-US" altLang="zh-CN" sz="2800" b="1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zh-CN" altLang="en-US" sz="2800" b="1" kern="0" dirty="0"/>
          </a:p>
        </p:txBody>
      </p:sp>
      <p:graphicFrame>
        <p:nvGraphicFramePr>
          <p:cNvPr id="2" name="表格 2">
            <a:extLst>
              <a:ext uri="{FF2B5EF4-FFF2-40B4-BE49-F238E27FC236}">
                <a16:creationId xmlns:a16="http://schemas.microsoft.com/office/drawing/2014/main" id="{3BEDAEE3-E998-47CC-808D-937D0481D8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8889092"/>
              </p:ext>
            </p:extLst>
          </p:nvPr>
        </p:nvGraphicFramePr>
        <p:xfrm>
          <a:off x="151228" y="690381"/>
          <a:ext cx="8841543" cy="4411563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1108404">
                  <a:extLst>
                    <a:ext uri="{9D8B030D-6E8A-4147-A177-3AD203B41FA5}">
                      <a16:colId xmlns:a16="http://schemas.microsoft.com/office/drawing/2014/main" val="2629255684"/>
                    </a:ext>
                  </a:extLst>
                </a:gridCol>
                <a:gridCol w="5035696">
                  <a:extLst>
                    <a:ext uri="{9D8B030D-6E8A-4147-A177-3AD203B41FA5}">
                      <a16:colId xmlns:a16="http://schemas.microsoft.com/office/drawing/2014/main" val="3554382883"/>
                    </a:ext>
                  </a:extLst>
                </a:gridCol>
                <a:gridCol w="2697443">
                  <a:extLst>
                    <a:ext uri="{9D8B030D-6E8A-4147-A177-3AD203B41FA5}">
                      <a16:colId xmlns:a16="http://schemas.microsoft.com/office/drawing/2014/main" val="920398126"/>
                    </a:ext>
                  </a:extLst>
                </a:gridCol>
              </a:tblGrid>
              <a:tr h="294884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Julia</a:t>
                      </a: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语言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</a:t>
                      </a: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语言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0450922"/>
                  </a:ext>
                </a:extLst>
              </a:tr>
              <a:tr h="320123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工具箱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highlight>
                            <a:srgbClr val="736303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using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加载包，环境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-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首选项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-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预加载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-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同元工具箱，可省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using</a:t>
                      </a:r>
                      <a:endParaRPr lang="zh-CN" altLang="en-US" sz="1400" b="0" kern="1200" dirty="0">
                        <a:solidFill>
                          <a:schemeClr val="bg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不用加载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7820071"/>
                  </a:ext>
                </a:extLst>
              </a:tr>
              <a:tr h="320123">
                <a:tc>
                  <a:txBody>
                    <a:bodyPr/>
                    <a:lstStyle/>
                    <a:p>
                      <a:r>
                        <a:rPr lang="zh-CN" altLang="en-US" sz="1400" b="0" kern="0" dirty="0">
                          <a:solidFill>
                            <a:schemeClr val="bg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希腊</a:t>
                      </a:r>
                      <a:r>
                        <a:rPr lang="zh-CN" altLang="en-US" sz="14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变量 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kern="0" dirty="0">
                          <a:solidFill>
                            <a:schemeClr val="bg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希腊字母，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highlight>
                            <a:srgbClr val="736303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\alpha +Tab 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highlight>
                            <a:srgbClr val="736303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或汉字输入法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kern="0" dirty="0">
                          <a:solidFill>
                            <a:schemeClr val="bg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无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0098358"/>
                  </a:ext>
                </a:extLst>
              </a:tr>
              <a:tr h="3201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kern="0" dirty="0">
                          <a:solidFill>
                            <a:schemeClr val="bg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变量声明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kern="0" dirty="0">
                          <a:solidFill>
                            <a:schemeClr val="bg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用：：声明，</a:t>
                      </a:r>
                      <a:r>
                        <a:rPr lang="en-US" altLang="zh-CN" sz="1400" b="0" kern="0" dirty="0">
                          <a:solidFill>
                            <a:schemeClr val="bg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var::TypeName</a:t>
                      </a:r>
                      <a:r>
                        <a:rPr lang="zh-CN" altLang="en-US" sz="1400" b="0" kern="0" dirty="0">
                          <a:solidFill>
                            <a:schemeClr val="bg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，如（</a:t>
                      </a:r>
                      <a:r>
                        <a:rPr lang="en-US" altLang="zh-CN" sz="1400" b="0" kern="0" dirty="0">
                          <a:solidFill>
                            <a:schemeClr val="bg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v::Int32</a:t>
                      </a:r>
                      <a:r>
                        <a:rPr lang="zh-CN" altLang="en-US" sz="1400" b="0" kern="0" dirty="0">
                          <a:solidFill>
                            <a:schemeClr val="bg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）</a:t>
                      </a:r>
                      <a:endParaRPr lang="zh-CN" altLang="zh-CN" sz="1400" b="0" kern="0" dirty="0">
                        <a:solidFill>
                          <a:schemeClr val="bg1"/>
                        </a:solidFill>
                        <a:effectLst/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无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2607223"/>
                  </a:ext>
                </a:extLst>
              </a:tr>
              <a:tr h="3201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kern="0" dirty="0">
                          <a:solidFill>
                            <a:schemeClr val="bg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打印变量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b="0" kern="1200" dirty="0" err="1">
                          <a:solidFill>
                            <a:schemeClr val="bg1"/>
                          </a:solidFill>
                          <a:highlight>
                            <a:srgbClr val="736303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println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显示结果；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x=1   </a:t>
                      </a:r>
                      <a:r>
                        <a:rPr lang="en-US" altLang="zh-CN" sz="1400" b="0" kern="1200" dirty="0" err="1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println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(“x=$x”)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；结果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x=1</a:t>
                      </a:r>
                      <a:endParaRPr lang="zh-CN" altLang="en-US" sz="1400" b="0" kern="1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x=1;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highlight>
                            <a:srgbClr val="008080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fprintf(“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x=%d\</a:t>
                      </a:r>
                      <a:r>
                        <a:rPr lang="en-US" altLang="zh-CN" sz="1400" b="0" kern="1200" dirty="0" err="1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n”,x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)</a:t>
                      </a:r>
                      <a:endParaRPr lang="zh-CN" altLang="en-US" sz="1400" b="0" kern="1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1118208"/>
                  </a:ext>
                </a:extLst>
              </a:tr>
              <a:tr h="32012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b="0" kern="1200">
                          <a:solidFill>
                            <a:schemeClr val="bg1">
                              <a:lumMod val="95000"/>
                            </a:schemeClr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注释</a:t>
                      </a:r>
                      <a:endParaRPr lang="zh-CN" altLang="en-US" sz="1400" b="0" kern="1200" dirty="0">
                        <a:solidFill>
                          <a:schemeClr val="bg1">
                            <a:lumMod val="95000"/>
                          </a:schemeClr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kern="1200">
                          <a:solidFill>
                            <a:schemeClr val="bg1"/>
                          </a:solidFill>
                          <a:highlight>
                            <a:srgbClr val="736303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#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highlight>
                          <a:srgbClr val="736303"/>
                        </a:highlight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kern="1200">
                          <a:solidFill>
                            <a:schemeClr val="bg1"/>
                          </a:solidFill>
                          <a:highlight>
                            <a:srgbClr val="009999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%</a:t>
                      </a:r>
                      <a:endParaRPr lang="zh-CN" altLang="en-US" sz="1400" b="0" kern="1200" dirty="0">
                        <a:solidFill>
                          <a:schemeClr val="bg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0052805"/>
                  </a:ext>
                </a:extLst>
              </a:tr>
              <a:tr h="78575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b="0" kern="1200">
                          <a:solidFill>
                            <a:schemeClr val="bg1">
                              <a:lumMod val="95000"/>
                            </a:schemeClr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多行注释</a:t>
                      </a:r>
                      <a:endParaRPr lang="zh-CN" altLang="en-US" sz="1400" b="0" kern="1200" dirty="0">
                        <a:solidFill>
                          <a:schemeClr val="bg1">
                            <a:lumMod val="95000"/>
                          </a:schemeClr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kern="1200">
                          <a:solidFill>
                            <a:schemeClr val="bg1"/>
                          </a:solidFill>
                          <a:highlight>
                            <a:srgbClr val="736303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#=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kern="1200">
                          <a:solidFill>
                            <a:schemeClr val="bg1"/>
                          </a:solidFill>
                          <a:highlight>
                            <a:srgbClr val="736303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Comment block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kern="1200">
                          <a:solidFill>
                            <a:schemeClr val="bg1"/>
                          </a:solidFill>
                          <a:highlight>
                            <a:srgbClr val="736303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=#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highlight>
                          <a:srgbClr val="736303"/>
                        </a:highlight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%{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highlight>
                            <a:srgbClr val="008080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Comment block</a:t>
                      </a:r>
                    </a:p>
                    <a:p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%}</a:t>
                      </a:r>
                      <a:endParaRPr lang="zh-CN" altLang="en-US" sz="1400" b="0" kern="1200" dirty="0">
                        <a:solidFill>
                          <a:schemeClr val="bg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0178220"/>
                  </a:ext>
                </a:extLst>
              </a:tr>
              <a:tr h="32012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b="0" kern="1200">
                          <a:solidFill>
                            <a:schemeClr val="bg1">
                              <a:lumMod val="95000"/>
                            </a:schemeClr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虚数单位</a:t>
                      </a:r>
                      <a:endParaRPr lang="zh-CN" altLang="en-US" sz="1400" b="0" kern="1200" dirty="0">
                        <a:solidFill>
                          <a:schemeClr val="bg1">
                            <a:lumMod val="95000"/>
                          </a:schemeClr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kern="1200" dirty="0" err="1">
                          <a:solidFill>
                            <a:schemeClr val="bg1"/>
                          </a:solidFill>
                          <a:highlight>
                            <a:srgbClr val="736303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im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highlight>
                            <a:srgbClr val="736303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 </a:t>
                      </a:r>
                      <a:r>
                        <a:rPr lang="en-US" altLang="zh-CN" sz="1400" b="0" dirty="0">
                          <a:solidFill>
                            <a:schemeClr val="bg1"/>
                          </a:solidFill>
                          <a:highlight>
                            <a:srgbClr val="736303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 </a:t>
                      </a:r>
                      <a:r>
                        <a:rPr lang="en-US" altLang="zh-CN" sz="1400" b="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  2+3im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kern="1200" dirty="0" err="1">
                          <a:solidFill>
                            <a:schemeClr val="bg1"/>
                          </a:solidFill>
                          <a:highlight>
                            <a:srgbClr val="009999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i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highlight>
                            <a:srgbClr val="009999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或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highlight>
                            <a:srgbClr val="009999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j 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   2i</a:t>
                      </a:r>
                      <a:endParaRPr lang="zh-CN" altLang="en-US" sz="1400" b="0" kern="1200" dirty="0">
                        <a:solidFill>
                          <a:schemeClr val="bg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4095321"/>
                  </a:ext>
                </a:extLst>
              </a:tr>
              <a:tr h="320123">
                <a:tc>
                  <a:txBody>
                    <a:bodyPr/>
                    <a:lstStyle/>
                    <a:p>
                      <a:r>
                        <a:rPr lang="zh-CN" altLang="en-US" sz="1400" b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分数</a:t>
                      </a:r>
                      <a:endParaRPr lang="zh-CN" altLang="en-US" sz="1400" b="0" dirty="0">
                        <a:solidFill>
                          <a:schemeClr val="bg1">
                            <a:lumMod val="95000"/>
                          </a:schemeClr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kern="1200">
                          <a:solidFill>
                            <a:schemeClr val="bg1"/>
                          </a:solidFill>
                          <a:highlight>
                            <a:srgbClr val="736303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// </a:t>
                      </a:r>
                      <a:r>
                        <a:rPr lang="en-US" altLang="zh-CN" sz="1400" b="0" kern="120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 </a:t>
                      </a:r>
                      <a:r>
                        <a:rPr lang="en-US" altLang="zh-CN" sz="1400" b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   </a:t>
                      </a:r>
                      <a:r>
                        <a:rPr lang="zh-CN" altLang="en-US" sz="1400" b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如</a:t>
                      </a:r>
                      <a:r>
                        <a:rPr lang="en-US" altLang="zh-CN" sz="1400" b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3//4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highlight>
                            <a:srgbClr val="009999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用</a:t>
                      </a:r>
                      <a:r>
                        <a:rPr lang="en-US" altLang="zh-CN" sz="1400" b="0" dirty="0" err="1">
                          <a:solidFill>
                            <a:schemeClr val="bg1"/>
                          </a:solidFill>
                          <a:highlight>
                            <a:srgbClr val="009999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sym</a:t>
                      </a: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highlight>
                            <a:srgbClr val="009999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或</a:t>
                      </a:r>
                      <a:r>
                        <a:rPr lang="en-US" altLang="zh-CN" sz="1400" b="0" dirty="0">
                          <a:solidFill>
                            <a:schemeClr val="bg1"/>
                          </a:solidFill>
                          <a:highlight>
                            <a:srgbClr val="009999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format rat</a:t>
                      </a: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highlight>
                            <a:srgbClr val="009999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，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highlight>
                            <a:srgbClr val="009999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3/4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743115"/>
                  </a:ext>
                </a:extLst>
              </a:tr>
              <a:tr h="253341"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字面数据</a:t>
                      </a:r>
                      <a:endParaRPr lang="en-US" altLang="zh-CN" sz="1400" b="0" kern="1200" dirty="0">
                        <a:solidFill>
                          <a:schemeClr val="bg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 marL="7677" marR="7677" marT="10748" marB="10748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字面意思，整数即整数，浮点数带小数的数值</a:t>
                      </a:r>
                    </a:p>
                  </a:txBody>
                  <a:tcPr marL="7677" marR="7677" marT="10748" marB="10748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整数是浮点数，需函数转化</a:t>
                      </a:r>
                      <a:endParaRPr lang="en-US" sz="1400" b="0" kern="1200" dirty="0">
                        <a:solidFill>
                          <a:schemeClr val="bg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 marL="7677" marR="7677" marT="10748" marB="10748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1454865"/>
                  </a:ext>
                </a:extLst>
              </a:tr>
              <a:tr h="253341"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400" b="0" i="0" u="none" strike="noStrike" baseline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数值系数</a:t>
                      </a:r>
                      <a:endParaRPr lang="en-US" altLang="zh-CN" sz="1400" b="0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77" marR="7677" marT="10748" marB="10748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highlight>
                            <a:srgbClr val="736303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2x</a:t>
                      </a:r>
                      <a:endParaRPr lang="zh-CN" altLang="en-US" sz="1400" b="0" kern="1200" dirty="0">
                        <a:solidFill>
                          <a:schemeClr val="bg1"/>
                        </a:solidFill>
                        <a:highlight>
                          <a:srgbClr val="736303"/>
                        </a:highlight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 marL="7677" marR="7677" marT="10748" marB="10748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highlight>
                            <a:srgbClr val="009999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2*x</a:t>
                      </a:r>
                      <a:r>
                        <a:rPr lang="zh-CN" altLang="en-US" sz="14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，不能省略乘号</a:t>
                      </a:r>
                      <a:r>
                        <a:rPr lang="en-US" altLang="zh-CN" sz="14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*</a:t>
                      </a:r>
                      <a:endParaRPr lang="en-US" sz="1400" b="0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77" marR="7677" marT="10748" marB="10748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987961"/>
                  </a:ext>
                </a:extLst>
              </a:tr>
              <a:tr h="253341"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zh-CN" altLang="en-US" sz="1400" i="0" u="none" strike="noStrike" kern="1200" baseline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不等号</a:t>
                      </a:r>
                      <a:endParaRPr lang="en-US" altLang="zh-CN" sz="1400" i="0" u="none" strike="noStrike" kern="1200" baseline="0" dirty="0">
                        <a:solidFill>
                          <a:schemeClr val="bg1">
                            <a:lumMod val="9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7677" marR="7677" marT="10748" marB="10748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highlight>
                            <a:srgbClr val="736303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!=</a:t>
                      </a:r>
                      <a:r>
                        <a:rPr lang="en-US" altLang="zh-CN" sz="1400" i="0" u="none" strike="noStrike" kern="1200" baseline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, ≠</a:t>
                      </a:r>
                      <a:endParaRPr lang="zh-CN" altLang="en-US" sz="1400" i="0" u="none" strike="noStrike" kern="1200" baseline="0" dirty="0">
                        <a:solidFill>
                          <a:schemeClr val="bg1">
                            <a:lumMod val="9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7677" marR="7677" marT="10748" marB="10748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sz="1400" b="0" kern="1200" dirty="0">
                          <a:solidFill>
                            <a:schemeClr val="bg1"/>
                          </a:solidFill>
                          <a:highlight>
                            <a:srgbClr val="009999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~=</a:t>
                      </a:r>
                    </a:p>
                  </a:txBody>
                  <a:tcPr marL="7677" marR="7677" marT="10748" marB="10748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3582911"/>
                  </a:ext>
                </a:extLst>
              </a:tr>
              <a:tr h="320123"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zh-CN" altLang="en-US" sz="1400" b="0" i="0" u="none" strike="noStrike" kern="1200" baseline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复合赋值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‘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二元运算符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’+’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等号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=‘,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如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+=,^=,/=</a:t>
                      </a:r>
                      <a:endParaRPr lang="zh-CN" altLang="en-US" sz="1400" b="0" kern="1200" dirty="0">
                        <a:solidFill>
                          <a:schemeClr val="bg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zh-CN" altLang="en-US" sz="1400" b="1" kern="12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无</a:t>
                      </a:r>
                      <a:endParaRPr lang="en-US" altLang="zh-CN" sz="1400" b="1" kern="1200" dirty="0">
                        <a:solidFill>
                          <a:schemeClr val="bg1">
                            <a:lumMod val="9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06610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183132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2">
            <a:extLst>
              <a:ext uri="{FF2B5EF4-FFF2-40B4-BE49-F238E27FC236}">
                <a16:creationId xmlns:a16="http://schemas.microsoft.com/office/drawing/2014/main" id="{BF65C922-49EB-4C80-B693-FF5E04AF72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2917333"/>
              </p:ext>
            </p:extLst>
          </p:nvPr>
        </p:nvGraphicFramePr>
        <p:xfrm>
          <a:off x="192457" y="803093"/>
          <a:ext cx="8841543" cy="4188272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1296385">
                  <a:extLst>
                    <a:ext uri="{9D8B030D-6E8A-4147-A177-3AD203B41FA5}">
                      <a16:colId xmlns:a16="http://schemas.microsoft.com/office/drawing/2014/main" val="2629255684"/>
                    </a:ext>
                  </a:extLst>
                </a:gridCol>
                <a:gridCol w="4464496">
                  <a:extLst>
                    <a:ext uri="{9D8B030D-6E8A-4147-A177-3AD203B41FA5}">
                      <a16:colId xmlns:a16="http://schemas.microsoft.com/office/drawing/2014/main" val="3554382883"/>
                    </a:ext>
                  </a:extLst>
                </a:gridCol>
                <a:gridCol w="3080662">
                  <a:extLst>
                    <a:ext uri="{9D8B030D-6E8A-4147-A177-3AD203B41FA5}">
                      <a16:colId xmlns:a16="http://schemas.microsoft.com/office/drawing/2014/main" val="920398126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r>
                        <a:rPr lang="zh-CN" altLang="en-US" sz="1400" b="1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Julia</a:t>
                      </a:r>
                      <a:r>
                        <a:rPr lang="zh-CN" altLang="en-US" sz="14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语言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</a:t>
                      </a:r>
                      <a:r>
                        <a:rPr lang="zh-CN" altLang="en-US" sz="14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语言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0450922"/>
                  </a:ext>
                </a:extLst>
              </a:tr>
              <a:tr h="24494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向量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 ]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只有列向量，分号或逗号分隔元素，不能用空格 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[1;2;3]</a:t>
                      </a:r>
                      <a:endParaRPr lang="zh-CN" altLang="en-US" sz="1400" b="0" kern="1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向量和矩阵原则只一个，同一行元素间用空格或逗号分隔；行与行间用分号 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   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矩阵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 2:3 4]  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列向量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[1;2;3] </a:t>
                      </a:r>
                      <a:endParaRPr lang="zh-CN" altLang="en-US" sz="1400" b="0" kern="1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7820071"/>
                  </a:ext>
                </a:extLst>
              </a:tr>
              <a:tr h="2163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矩阵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 ]</a:t>
                      </a:r>
                      <a:endParaRPr lang="zh-CN" altLang="en-US" sz="1400" b="0" kern="1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同行元素空格分隔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,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行与行间分号分隔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,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如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 2;3 4]</a:t>
                      </a:r>
                      <a:endParaRPr lang="zh-CN" altLang="en-US" sz="1400" b="0" kern="1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8074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数组索引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highlight>
                            <a:srgbClr val="736303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方括号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highlight>
                            <a:srgbClr val="736303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 ], 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A[</a:t>
                      </a:r>
                      <a:r>
                        <a:rPr lang="en-US" altLang="zh-CN" sz="1400" b="0" kern="1200" dirty="0" err="1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I,j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],A[k], A[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逻辑关系式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]</a:t>
                      </a:r>
                      <a:endParaRPr lang="zh-CN" altLang="en-US" sz="1400" b="0" kern="1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highlight>
                            <a:srgbClr val="009999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圆括号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highlight>
                            <a:srgbClr val="009999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A(</a:t>
                      </a:r>
                      <a:r>
                        <a:rPr lang="en-US" altLang="zh-CN" sz="1400" b="0" kern="1200" dirty="0" err="1">
                          <a:solidFill>
                            <a:schemeClr val="bg1"/>
                          </a:solidFill>
                          <a:highlight>
                            <a:srgbClr val="009999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i,j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highlight>
                            <a:srgbClr val="009999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）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,A(k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）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A(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逻辑式）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endParaRPr lang="zh-CN" altLang="en-US" sz="1400" b="0" kern="1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0098358"/>
                  </a:ext>
                </a:extLst>
              </a:tr>
              <a:tr h="25521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线性向量函数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b="0" kern="1200" dirty="0" err="1">
                          <a:solidFill>
                            <a:schemeClr val="bg1"/>
                          </a:solidFill>
                          <a:highlight>
                            <a:srgbClr val="736303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LinRange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highlight>
                            <a:srgbClr val="736303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(x1,x2,n)  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,x1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起始值，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x2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终止值和元素个数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</a:t>
                      </a:r>
                      <a:endParaRPr lang="zh-CN" altLang="en-US" sz="1400" b="0" kern="1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kern="1200" dirty="0" err="1">
                          <a:solidFill>
                            <a:schemeClr val="bg1"/>
                          </a:solidFill>
                          <a:highlight>
                            <a:srgbClr val="009999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linspaxe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highlight>
                            <a:srgbClr val="009999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(x1,x2,n)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highlight>
                            <a:srgbClr val="009999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，如</a:t>
                      </a:r>
                      <a:r>
                        <a:rPr lang="en-US" altLang="zh-CN" sz="1400" b="0" kern="1200" dirty="0" err="1">
                          <a:solidFill>
                            <a:schemeClr val="bg1"/>
                          </a:solidFill>
                          <a:highlight>
                            <a:srgbClr val="009999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linspaxe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highlight>
                            <a:srgbClr val="009999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(1,6,5)</a:t>
                      </a:r>
                      <a:endParaRPr lang="zh-CN" altLang="en-US" sz="1400" b="0" kern="1200" dirty="0">
                        <a:solidFill>
                          <a:schemeClr val="bg1"/>
                        </a:solidFill>
                        <a:highlight>
                          <a:srgbClr val="009999"/>
                        </a:highlight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2607223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通用特殊矩阵</a:t>
                      </a:r>
                      <a:r>
                        <a:rPr lang="en-US" altLang="zh-CN" sz="1400" b="0" kern="1200" dirty="0" err="1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zeros,ones,eye,rand</a:t>
                      </a:r>
                      <a:endParaRPr lang="zh-CN" altLang="en-US" sz="1400" b="0" kern="1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格式：通用矩阵函数名（</a:t>
                      </a:r>
                      <a:r>
                        <a:rPr lang="en-US" altLang="zh-CN" sz="1400" b="0" kern="1200" dirty="0" err="1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type,m,n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）类型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type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可省</a:t>
                      </a:r>
                      <a:endParaRPr lang="en-US" altLang="zh-CN" sz="1400" b="0" kern="1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正阵：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highlight>
                            <a:srgbClr val="736303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函数名（</a:t>
                      </a:r>
                      <a:r>
                        <a:rPr lang="en-US" altLang="zh-CN" sz="1400" b="0" kern="1200" dirty="0" err="1">
                          <a:solidFill>
                            <a:schemeClr val="bg1"/>
                          </a:solidFill>
                          <a:highlight>
                            <a:srgbClr val="736303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n,n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highlight>
                            <a:srgbClr val="736303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）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; 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如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阶方阵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zeros(3,3)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；</a:t>
                      </a:r>
                      <a:endParaRPr lang="en-US" altLang="zh-CN" sz="1400" b="0" kern="1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元素列向量：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highlight>
                            <a:srgbClr val="736303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函数名（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highlight>
                            <a:srgbClr val="736303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highlight>
                            <a:srgbClr val="736303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）；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如列向量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zeros(3)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长方阵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zeros(3,4)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；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m*n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矩阵：函数名（</a:t>
                      </a:r>
                      <a:r>
                        <a:rPr lang="en-US" altLang="zh-CN" sz="1400" b="0" kern="1200" dirty="0" err="1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m,n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）</a:t>
                      </a:r>
                      <a:endParaRPr lang="en-US" altLang="zh-CN" sz="1400" b="0" kern="1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阶方阵：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highlight>
                            <a:srgbClr val="009999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函数名（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highlight>
                            <a:srgbClr val="009999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highlight>
                            <a:srgbClr val="009999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）</a:t>
                      </a:r>
                      <a:endParaRPr lang="en-US" altLang="zh-CN" sz="1400" b="0" kern="1200" dirty="0">
                        <a:solidFill>
                          <a:schemeClr val="bg1"/>
                        </a:solidFill>
                        <a:highlight>
                          <a:srgbClr val="009999"/>
                        </a:highlight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列向量：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highlight>
                            <a:srgbClr val="009999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函数名（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highlight>
                            <a:srgbClr val="009999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n,1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highlight>
                            <a:srgbClr val="009999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）</a:t>
                      </a:r>
                      <a:endParaRPr lang="en-US" altLang="zh-CN" sz="1400" b="0" kern="1200" dirty="0">
                        <a:solidFill>
                          <a:schemeClr val="bg1"/>
                        </a:solidFill>
                        <a:highlight>
                          <a:srgbClr val="009999"/>
                        </a:highlight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zeros(3,4),zeros(3),zeros(3,1)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0052805"/>
                  </a:ext>
                </a:extLst>
              </a:tr>
              <a:tr h="19769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向量点运算符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算术、关系和逻辑运算符都加点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 ./,  ^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。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==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，。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&amp;</a:t>
                      </a:r>
                      <a:endParaRPr lang="zh-CN" altLang="en-US" sz="1400" b="0" kern="1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highlight>
                            <a:srgbClr val="009999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只算术运算符加点，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逻辑关系不加点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7431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函数点运算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任何函数都可加点运算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,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highlight>
                            <a:srgbClr val="736303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f.(x)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如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sin.(x),exp.(x)</a:t>
                      </a:r>
                      <a:endParaRPr lang="zh-CN" altLang="en-US" sz="1400" b="0" kern="1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highlight>
                            <a:srgbClr val="009999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无函数点运算，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数学函数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sin(x)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无需加点即代表点运算，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x=1:2, sin(x)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1454865"/>
                  </a:ext>
                </a:extLst>
              </a:tr>
              <a:tr h="292704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表达式点运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highlight>
                            <a:srgbClr val="736303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@. 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highlight>
                            <a:srgbClr val="736303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表达式  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如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y=@. sin(x)*x^2/sqrt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(x)</a:t>
                      </a:r>
                      <a:endParaRPr lang="zh-CN" altLang="en-US" sz="1400" b="0" kern="1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无</a:t>
                      </a:r>
                      <a:endParaRPr lang="en-US" altLang="zh-CN" sz="1400" b="0" kern="1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5543041"/>
                  </a:ext>
                </a:extLst>
              </a:tr>
              <a:tr h="199002"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字符和字符串</a:t>
                      </a:r>
                      <a:endParaRPr lang="en-US" altLang="zh-CN" sz="1400" b="0" kern="1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7677" marR="7677" marT="10748" marB="10748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highlight>
                            <a:srgbClr val="736303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单引号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只建一个字符，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highlight>
                            <a:srgbClr val="736303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双引号</a:t>
                      </a: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能建字符或字符串</a:t>
                      </a:r>
                    </a:p>
                  </a:txBody>
                  <a:tcPr marL="7677" marR="7677" marT="10748" marB="10748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highlight>
                            <a:srgbClr val="009999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单引号和双引号都可建字符或字符串</a:t>
                      </a:r>
                      <a:endParaRPr lang="en-US" sz="1400" b="0" kern="1200" dirty="0">
                        <a:solidFill>
                          <a:schemeClr val="bg1"/>
                        </a:solidFill>
                        <a:highlight>
                          <a:srgbClr val="009999"/>
                        </a:highlight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7677" marR="7677" marT="10748" marB="10748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7258874"/>
                  </a:ext>
                </a:extLst>
              </a:tr>
              <a:tr h="132668"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字符串拼接</a:t>
                      </a:r>
                      <a:endParaRPr lang="en-US" altLang="zh-CN" sz="1400" b="0" kern="1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7677" marR="7677" marT="10748" marB="10748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*</a:t>
                      </a:r>
                      <a:endParaRPr lang="zh-CN" altLang="en-US" sz="1400" b="0" kern="1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7677" marR="7677" marT="10748" marB="10748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</a:p>
                  </a:txBody>
                  <a:tcPr marL="7677" marR="7677" marT="10748" marB="10748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1515598"/>
                  </a:ext>
                </a:extLst>
              </a:tr>
            </a:tbl>
          </a:graphicData>
        </a:graphic>
      </p:graphicFrame>
      <p:sp>
        <p:nvSpPr>
          <p:cNvPr id="5" name="标题 1">
            <a:extLst>
              <a:ext uri="{FF2B5EF4-FFF2-40B4-BE49-F238E27FC236}">
                <a16:creationId xmlns:a16="http://schemas.microsoft.com/office/drawing/2014/main" id="{A71EA7ED-520E-436A-AD70-A8D5D71366A3}"/>
              </a:ext>
            </a:extLst>
          </p:cNvPr>
          <p:cNvSpPr txBox="1">
            <a:spLocks/>
          </p:cNvSpPr>
          <p:nvPr/>
        </p:nvSpPr>
        <p:spPr bwMode="auto">
          <a:xfrm>
            <a:off x="2277302" y="716225"/>
            <a:ext cx="4464496" cy="288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800" b="1" dirty="0"/>
              <a:t>§2. 4 </a:t>
            </a:r>
            <a:r>
              <a:rPr lang="en-US" altLang="zh-CN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Julia</a:t>
            </a:r>
            <a:r>
              <a:rPr lang="zh-CN" altLang="en-US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与</a:t>
            </a:r>
            <a:r>
              <a:rPr lang="en-US" altLang="zh-CN" sz="2800" b="1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Matlab</a:t>
            </a:r>
            <a:r>
              <a:rPr lang="zh-CN" altLang="en-US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的区别</a:t>
            </a:r>
            <a:endParaRPr lang="en-US" altLang="zh-CN" sz="2800" b="1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zh-CN" altLang="en-US" sz="2800" b="1" kern="0" dirty="0"/>
          </a:p>
        </p:txBody>
      </p:sp>
    </p:spTree>
    <p:extLst>
      <p:ext uri="{BB962C8B-B14F-4D97-AF65-F5344CB8AC3E}">
        <p14:creationId xmlns:p14="http://schemas.microsoft.com/office/powerpoint/2010/main" val="332632574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2">
            <a:extLst>
              <a:ext uri="{FF2B5EF4-FFF2-40B4-BE49-F238E27FC236}">
                <a16:creationId xmlns:a16="http://schemas.microsoft.com/office/drawing/2014/main" id="{661ED993-E2F2-4E85-8317-575F350B41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2045312"/>
              </p:ext>
            </p:extLst>
          </p:nvPr>
        </p:nvGraphicFramePr>
        <p:xfrm>
          <a:off x="156092" y="699543"/>
          <a:ext cx="8841543" cy="4457268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1319564">
                  <a:extLst>
                    <a:ext uri="{9D8B030D-6E8A-4147-A177-3AD203B41FA5}">
                      <a16:colId xmlns:a16="http://schemas.microsoft.com/office/drawing/2014/main" val="2629255684"/>
                    </a:ext>
                  </a:extLst>
                </a:gridCol>
                <a:gridCol w="3888432">
                  <a:extLst>
                    <a:ext uri="{9D8B030D-6E8A-4147-A177-3AD203B41FA5}">
                      <a16:colId xmlns:a16="http://schemas.microsoft.com/office/drawing/2014/main" val="3554382883"/>
                    </a:ext>
                  </a:extLst>
                </a:gridCol>
                <a:gridCol w="3633547">
                  <a:extLst>
                    <a:ext uri="{9D8B030D-6E8A-4147-A177-3AD203B41FA5}">
                      <a16:colId xmlns:a16="http://schemas.microsoft.com/office/drawing/2014/main" val="920398126"/>
                    </a:ext>
                  </a:extLst>
                </a:gridCol>
              </a:tblGrid>
              <a:tr h="285509">
                <a:tc>
                  <a:txBody>
                    <a:bodyPr/>
                    <a:lstStyle/>
                    <a:p>
                      <a:r>
                        <a:rPr lang="zh-CN" altLang="en-US" sz="1300" b="1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功能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00" b="1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Julia</a:t>
                      </a:r>
                      <a:r>
                        <a:rPr lang="zh-CN" altLang="en-US" sz="1300" b="1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语言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00" b="1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M</a:t>
                      </a:r>
                      <a:r>
                        <a:rPr lang="zh-CN" altLang="en-US" sz="1300" b="1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语言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0450922"/>
                  </a:ext>
                </a:extLst>
              </a:tr>
              <a:tr h="685221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300" b="1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函数标准文件形式</a:t>
                      </a:r>
                      <a:r>
                        <a:rPr lang="en-US" altLang="zh-CN" sz="1300" b="1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y=f(x)=x^2</a:t>
                      </a:r>
                      <a:endParaRPr lang="zh-CN" altLang="en-US" sz="1300" b="1" kern="1200" dirty="0">
                        <a:solidFill>
                          <a:schemeClr val="bg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300" b="1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function f(x)</a:t>
                      </a:r>
                    </a:p>
                    <a:p>
                      <a:r>
                        <a:rPr lang="en-US" altLang="zh-CN" sz="1300" b="1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     y=x^2</a:t>
                      </a:r>
                    </a:p>
                    <a:p>
                      <a:r>
                        <a:rPr lang="en-US" altLang="zh-CN" sz="1300" b="1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end    </a:t>
                      </a:r>
                      <a:r>
                        <a:rPr lang="en-US" altLang="zh-CN" sz="1300" b="0" dirty="0">
                          <a:solidFill>
                            <a:schemeClr val="bg1"/>
                          </a:solidFill>
                          <a:highlight>
                            <a:srgbClr val="808000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#</a:t>
                      </a:r>
                      <a:r>
                        <a:rPr lang="zh-CN" altLang="en-US" sz="1300" b="0" dirty="0">
                          <a:solidFill>
                            <a:schemeClr val="bg1"/>
                          </a:solidFill>
                          <a:highlight>
                            <a:srgbClr val="808000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命令行窗口和编码器都可编写，无输出</a:t>
                      </a:r>
                      <a:endParaRPr lang="en-US" altLang="zh-CN" sz="1300" b="0" dirty="0">
                        <a:solidFill>
                          <a:schemeClr val="bg1"/>
                        </a:solidFill>
                        <a:highlight>
                          <a:srgbClr val="808000"/>
                        </a:highlight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1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function y=f(x) </a:t>
                      </a:r>
                    </a:p>
                    <a:p>
                      <a:r>
                        <a:rPr lang="en-US" altLang="zh-CN" sz="1300" b="1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y=x^2</a:t>
                      </a:r>
                    </a:p>
                    <a:p>
                      <a:r>
                        <a:rPr lang="en-US" altLang="zh-CN" sz="1300" b="1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end    </a:t>
                      </a:r>
                      <a:r>
                        <a:rPr lang="en-US" altLang="zh-CN" sz="1300" b="0" kern="1200" dirty="0">
                          <a:solidFill>
                            <a:schemeClr val="bg1"/>
                          </a:solidFill>
                          <a:highlight>
                            <a:srgbClr val="009999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%</a:t>
                      </a:r>
                      <a:r>
                        <a:rPr lang="zh-CN" altLang="en-US" sz="1300" b="0" kern="1200" dirty="0">
                          <a:solidFill>
                            <a:schemeClr val="bg1"/>
                          </a:solidFill>
                          <a:highlight>
                            <a:srgbClr val="009999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在编码器编写，有输入和输出参数</a:t>
                      </a:r>
                      <a:endParaRPr lang="en-US" altLang="zh-CN" sz="1300" b="0" kern="1200" dirty="0">
                        <a:solidFill>
                          <a:schemeClr val="bg1"/>
                        </a:solidFill>
                        <a:highlight>
                          <a:srgbClr val="009999"/>
                        </a:highlight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7820071"/>
                  </a:ext>
                </a:extLst>
              </a:tr>
              <a:tr h="51391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300" b="1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匿名函数</a:t>
                      </a:r>
                      <a:endParaRPr lang="en-US" altLang="zh-CN" sz="1300" b="1" kern="1200" dirty="0">
                        <a:solidFill>
                          <a:schemeClr val="bg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zh-CN" altLang="en-US" sz="1300" b="1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如</a:t>
                      </a:r>
                      <a:r>
                        <a:rPr lang="en-US" altLang="zh-CN" sz="1300" b="1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f(x)=x^2</a:t>
                      </a:r>
                      <a:endParaRPr lang="zh-CN" altLang="en-US" sz="1300" b="1" kern="1200" dirty="0">
                        <a:solidFill>
                          <a:schemeClr val="bg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300" b="1" kern="0" dirty="0">
                          <a:solidFill>
                            <a:schemeClr val="bg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匿名函数名</a:t>
                      </a:r>
                      <a:r>
                        <a:rPr lang="en-US" altLang="zh-CN" sz="1300" b="1" kern="0" dirty="0">
                          <a:solidFill>
                            <a:schemeClr val="bg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=</a:t>
                      </a:r>
                      <a:r>
                        <a:rPr lang="zh-CN" altLang="en-US" sz="1300" b="0" kern="1200" dirty="0">
                          <a:solidFill>
                            <a:schemeClr val="bg1"/>
                          </a:solidFill>
                          <a:highlight>
                            <a:srgbClr val="808000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（参数</a:t>
                      </a:r>
                      <a:r>
                        <a:rPr lang="en-US" altLang="zh-CN" sz="1300" b="0" kern="1200" dirty="0">
                          <a:solidFill>
                            <a:schemeClr val="bg1"/>
                          </a:solidFill>
                          <a:highlight>
                            <a:srgbClr val="808000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)-&gt;</a:t>
                      </a:r>
                      <a:r>
                        <a:rPr lang="zh-CN" altLang="en-US" sz="1300" b="0" kern="1200" dirty="0">
                          <a:solidFill>
                            <a:schemeClr val="bg1"/>
                          </a:solidFill>
                          <a:highlight>
                            <a:srgbClr val="808000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表达式     </a:t>
                      </a:r>
                      <a:endParaRPr lang="en-US" altLang="zh-CN" sz="1300" b="0" kern="1200" dirty="0">
                        <a:solidFill>
                          <a:schemeClr val="bg1"/>
                        </a:solidFill>
                        <a:highlight>
                          <a:srgbClr val="808000"/>
                        </a:highlight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300" b="1" kern="0" dirty="0">
                          <a:solidFill>
                            <a:schemeClr val="bg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如</a:t>
                      </a:r>
                      <a:r>
                        <a:rPr lang="en-US" altLang="zh-CN" sz="1300" b="1" kern="1200" dirty="0">
                          <a:solidFill>
                            <a:schemeClr val="bg1"/>
                          </a:solidFill>
                          <a:highlight>
                            <a:srgbClr val="736303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f</a:t>
                      </a:r>
                      <a:r>
                        <a:rPr lang="en-US" altLang="zh-CN" sz="1300" b="1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=(x)-&gt;x^2</a:t>
                      </a:r>
                      <a:r>
                        <a:rPr lang="zh-CN" altLang="en-US" sz="1300" b="1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，函数名为</a:t>
                      </a:r>
                      <a:r>
                        <a:rPr lang="en-US" altLang="zh-CN" sz="1300" b="1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f</a:t>
                      </a:r>
                      <a:endParaRPr lang="zh-CN" altLang="en-US" sz="1300" b="1" kern="1200" dirty="0">
                        <a:solidFill>
                          <a:schemeClr val="bg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300" b="1" kern="12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匿名函数名</a:t>
                      </a:r>
                      <a:r>
                        <a:rPr lang="en-US" altLang="zh-CN" sz="1300" b="0" kern="1200" dirty="0">
                          <a:solidFill>
                            <a:schemeClr val="bg1"/>
                          </a:solidFill>
                          <a:highlight>
                            <a:srgbClr val="009999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=@</a:t>
                      </a:r>
                      <a:r>
                        <a:rPr lang="zh-CN" altLang="en-US" sz="1300" b="0" kern="1200" dirty="0">
                          <a:solidFill>
                            <a:schemeClr val="bg1"/>
                          </a:solidFill>
                          <a:highlight>
                            <a:srgbClr val="009999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（参数</a:t>
                      </a:r>
                      <a:r>
                        <a:rPr lang="en-US" altLang="zh-CN" sz="1300" b="0" kern="1200" dirty="0">
                          <a:solidFill>
                            <a:schemeClr val="bg1"/>
                          </a:solidFill>
                          <a:highlight>
                            <a:srgbClr val="009999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)</a:t>
                      </a:r>
                      <a:r>
                        <a:rPr lang="zh-CN" altLang="en-US" sz="1300" b="0" kern="1200" dirty="0">
                          <a:solidFill>
                            <a:schemeClr val="bg1"/>
                          </a:solidFill>
                          <a:highlight>
                            <a:srgbClr val="009999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表达式</a:t>
                      </a:r>
                      <a:endParaRPr lang="en-US" altLang="zh-CN" sz="1300" b="0" kern="1200" dirty="0">
                        <a:solidFill>
                          <a:schemeClr val="bg1"/>
                        </a:solidFill>
                        <a:highlight>
                          <a:srgbClr val="009999"/>
                        </a:highlight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300" b="1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如</a:t>
                      </a:r>
                      <a:r>
                        <a:rPr lang="en-US" altLang="zh-CN" sz="1300" b="1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f=@(x)x^2</a:t>
                      </a:r>
                      <a:r>
                        <a:rPr lang="zh-CN" altLang="en-US" sz="1300" b="1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，函数名为</a:t>
                      </a:r>
                      <a:r>
                        <a:rPr lang="en-US" altLang="zh-CN" sz="1300" b="1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f</a:t>
                      </a:r>
                      <a:endParaRPr lang="zh-CN" altLang="en-US" sz="1300" b="1" kern="1200" dirty="0">
                        <a:solidFill>
                          <a:schemeClr val="bg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6776890"/>
                  </a:ext>
                </a:extLst>
              </a:tr>
              <a:tr h="332629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300" b="1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简化函数形式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kern="1200" dirty="0">
                          <a:solidFill>
                            <a:schemeClr val="bg1"/>
                          </a:solidFill>
                          <a:highlight>
                            <a:srgbClr val="808000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f(x)=</a:t>
                      </a:r>
                      <a:r>
                        <a:rPr lang="zh-CN" altLang="en-US" sz="1300" b="0" kern="1200" dirty="0">
                          <a:solidFill>
                            <a:schemeClr val="bg1"/>
                          </a:solidFill>
                          <a:highlight>
                            <a:srgbClr val="808000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表达式， </a:t>
                      </a:r>
                      <a:r>
                        <a:rPr lang="zh-CN" altLang="en-US" sz="1300" b="1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如</a:t>
                      </a:r>
                      <a:r>
                        <a:rPr lang="en-US" altLang="zh-CN" sz="1300" b="1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f(x)=x^2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 b="1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无简化形式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203028"/>
                  </a:ext>
                </a:extLst>
              </a:tr>
              <a:tr h="314060">
                <a:tc>
                  <a:txBody>
                    <a:bodyPr/>
                    <a:lstStyle/>
                    <a:p>
                      <a:r>
                        <a:rPr lang="zh-CN" altLang="en-US" sz="13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调用脚本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00" b="0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julia&gt;</a:t>
                      </a:r>
                      <a:r>
                        <a:rPr lang="en-US" altLang="zh-CN" sz="1300" b="0" kern="1200" dirty="0">
                          <a:solidFill>
                            <a:schemeClr val="bg1"/>
                          </a:solidFill>
                          <a:highlight>
                            <a:srgbClr val="808000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include(“</a:t>
                      </a:r>
                      <a:r>
                        <a:rPr lang="zh-CN" altLang="en-US" sz="1300" b="0" kern="1200" dirty="0">
                          <a:solidFill>
                            <a:schemeClr val="bg1"/>
                          </a:solidFill>
                          <a:highlight>
                            <a:srgbClr val="808000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脚本文件</a:t>
                      </a:r>
                      <a:r>
                        <a:rPr lang="en-US" altLang="zh-CN" sz="1300" b="0" kern="1200" dirty="0">
                          <a:solidFill>
                            <a:schemeClr val="bg1"/>
                          </a:solidFill>
                          <a:highlight>
                            <a:srgbClr val="808000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.</a:t>
                      </a:r>
                      <a:r>
                        <a:rPr lang="en-US" altLang="zh-CN" sz="1300" b="0" kern="1200" dirty="0" err="1">
                          <a:solidFill>
                            <a:schemeClr val="bg1"/>
                          </a:solidFill>
                          <a:highlight>
                            <a:srgbClr val="808000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jl</a:t>
                      </a:r>
                      <a:r>
                        <a:rPr lang="en-US" altLang="zh-CN" sz="1300" b="1" kern="1200" dirty="0">
                          <a:solidFill>
                            <a:schemeClr val="bg1"/>
                          </a:solidFill>
                          <a:highlight>
                            <a:srgbClr val="808000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”) </a:t>
                      </a:r>
                      <a:r>
                        <a:rPr lang="en-US" altLang="zh-CN" sz="1300" b="1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  </a:t>
                      </a:r>
                      <a:r>
                        <a:rPr lang="zh-CN" altLang="en-US" sz="1300" b="1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如</a:t>
                      </a:r>
                      <a:r>
                        <a:rPr lang="en-US" altLang="zh-CN" sz="1300" b="1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 julia&gt;include(“</a:t>
                      </a:r>
                      <a:r>
                        <a:rPr lang="en-US" altLang="zh-CN" sz="1300" b="1" kern="1200" dirty="0" err="1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jb.jl</a:t>
                      </a:r>
                      <a:r>
                        <a:rPr lang="en-US" altLang="zh-CN" sz="1300" b="1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”)</a:t>
                      </a:r>
                      <a:endParaRPr lang="zh-CN" altLang="en-US" sz="1300" b="1" kern="1200" dirty="0">
                        <a:solidFill>
                          <a:schemeClr val="bg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00" b="0" kern="0" dirty="0">
                          <a:solidFill>
                            <a:schemeClr val="bg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&gt;&gt;</a:t>
                      </a:r>
                      <a:r>
                        <a:rPr lang="zh-CN" altLang="en-US" sz="1300" b="0" kern="1200" dirty="0">
                          <a:solidFill>
                            <a:schemeClr val="bg1"/>
                          </a:solidFill>
                          <a:highlight>
                            <a:srgbClr val="009999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脚本文件名</a:t>
                      </a:r>
                      <a:r>
                        <a:rPr lang="zh-CN" altLang="en-US" sz="1300" b="0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   </a:t>
                      </a:r>
                      <a:r>
                        <a:rPr lang="zh-CN" altLang="en-US" sz="1300" b="1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文件名</a:t>
                      </a:r>
                      <a:r>
                        <a:rPr lang="en-US" altLang="zh-CN" sz="1300" b="1" kern="1200" dirty="0" err="1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jb.m</a:t>
                      </a:r>
                      <a:r>
                        <a:rPr lang="en-US" altLang="zh-CN" sz="1300" b="1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   </a:t>
                      </a:r>
                      <a:r>
                        <a:rPr lang="en-US" altLang="zh-CN" sz="1300" b="0" kern="0" dirty="0">
                          <a:solidFill>
                            <a:schemeClr val="bg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&gt;&gt;</a:t>
                      </a:r>
                      <a:r>
                        <a:rPr lang="en-US" altLang="zh-CN" sz="1300" b="0" kern="0" dirty="0" err="1">
                          <a:solidFill>
                            <a:schemeClr val="bg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jb</a:t>
                      </a:r>
                      <a:r>
                        <a:rPr lang="zh-CN" altLang="en-US" sz="1300" b="1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    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6501094"/>
                  </a:ext>
                </a:extLst>
              </a:tr>
              <a:tr h="51391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300" b="1" kern="12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运行函数文件</a:t>
                      </a:r>
                      <a:endParaRPr lang="en-US" altLang="zh-CN" sz="1300" b="1" kern="1200" dirty="0">
                        <a:solidFill>
                          <a:schemeClr val="bg1">
                            <a:lumMod val="95000"/>
                          </a:schemeClr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julia</a:t>
                      </a:r>
                      <a:r>
                        <a:rPr lang="en-US" altLang="zh-CN" sz="1300" b="0" kern="1200" dirty="0">
                          <a:solidFill>
                            <a:schemeClr val="bg1"/>
                          </a:solidFill>
                          <a:highlight>
                            <a:srgbClr val="808000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&gt;include(“</a:t>
                      </a:r>
                      <a:r>
                        <a:rPr lang="zh-CN" altLang="en-US" sz="1300" b="0" kern="1200" dirty="0">
                          <a:solidFill>
                            <a:schemeClr val="bg1"/>
                          </a:solidFill>
                          <a:highlight>
                            <a:srgbClr val="808000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函数文件</a:t>
                      </a:r>
                      <a:r>
                        <a:rPr lang="en-US" altLang="zh-CN" sz="1300" b="0" kern="1200" dirty="0">
                          <a:solidFill>
                            <a:schemeClr val="bg1"/>
                          </a:solidFill>
                          <a:highlight>
                            <a:srgbClr val="808000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.</a:t>
                      </a:r>
                      <a:r>
                        <a:rPr lang="en-US" altLang="zh-CN" sz="1300" b="0" kern="1200" dirty="0" err="1">
                          <a:solidFill>
                            <a:schemeClr val="bg1"/>
                          </a:solidFill>
                          <a:highlight>
                            <a:srgbClr val="808000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jl</a:t>
                      </a:r>
                      <a:r>
                        <a:rPr lang="en-US" altLang="zh-CN" sz="1300" b="0" kern="1200" dirty="0">
                          <a:solidFill>
                            <a:schemeClr val="bg1"/>
                          </a:solidFill>
                          <a:highlight>
                            <a:srgbClr val="808000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”)  </a:t>
                      </a:r>
                      <a:r>
                        <a:rPr lang="zh-CN" altLang="en-US" sz="1300" b="0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加载到命令窗口</a:t>
                      </a:r>
                      <a:endParaRPr lang="en-US" altLang="zh-CN" sz="1300" b="0" kern="1200" dirty="0">
                        <a:solidFill>
                          <a:schemeClr val="bg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300" b="1" kern="0" dirty="0">
                          <a:solidFill>
                            <a:schemeClr val="bg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如函数文件为</a:t>
                      </a:r>
                      <a:r>
                        <a:rPr lang="en-US" altLang="zh-CN" sz="1300" b="1" kern="0" dirty="0" err="1">
                          <a:solidFill>
                            <a:schemeClr val="bg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f.jl</a:t>
                      </a:r>
                      <a:r>
                        <a:rPr lang="en-US" altLang="zh-CN" sz="1300" b="1" kern="0" dirty="0">
                          <a:solidFill>
                            <a:schemeClr val="bg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, include(“</a:t>
                      </a:r>
                      <a:r>
                        <a:rPr lang="en-US" altLang="zh-CN" sz="1300" b="1" kern="0" dirty="0" err="1">
                          <a:solidFill>
                            <a:schemeClr val="bg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f.jl</a:t>
                      </a:r>
                      <a:r>
                        <a:rPr lang="en-US" altLang="zh-CN" sz="1300" b="1" kern="0" dirty="0">
                          <a:solidFill>
                            <a:schemeClr val="bg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”), </a:t>
                      </a:r>
                      <a:endParaRPr lang="zh-CN" altLang="en-US" sz="1300" b="1" kern="0" dirty="0">
                        <a:solidFill>
                          <a:schemeClr val="bg1"/>
                        </a:solidFill>
                        <a:effectLst/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300" b="0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无需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743115"/>
                  </a:ext>
                </a:extLst>
              </a:tr>
              <a:tr h="542467">
                <a:tc>
                  <a:txBody>
                    <a:bodyPr/>
                    <a:lstStyle/>
                    <a:p>
                      <a:r>
                        <a:rPr lang="zh-CN" altLang="en-US" sz="1300" b="1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函数调用</a:t>
                      </a:r>
                      <a:endParaRPr lang="en-US" altLang="zh-CN" sz="1300" b="1" dirty="0">
                        <a:solidFill>
                          <a:schemeClr val="bg1">
                            <a:lumMod val="95000"/>
                          </a:schemeClr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300" b="1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如</a:t>
                      </a:r>
                      <a:r>
                        <a:rPr lang="en-US" altLang="zh-CN" sz="1300" b="1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y=x^2,x=2</a:t>
                      </a:r>
                      <a:endParaRPr lang="zh-CN" altLang="en-US" sz="1300" b="1" dirty="0">
                        <a:solidFill>
                          <a:schemeClr val="bg1">
                            <a:lumMod val="95000"/>
                          </a:schemeClr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300" b="0" kern="1200" dirty="0">
                          <a:solidFill>
                            <a:schemeClr val="bg1"/>
                          </a:solidFill>
                          <a:highlight>
                            <a:srgbClr val="808000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输出参数</a:t>
                      </a:r>
                      <a:r>
                        <a:rPr lang="en-US" altLang="zh-CN" sz="1300" b="0" kern="1200" dirty="0">
                          <a:solidFill>
                            <a:schemeClr val="bg1"/>
                          </a:solidFill>
                          <a:highlight>
                            <a:srgbClr val="808000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=</a:t>
                      </a:r>
                      <a:r>
                        <a:rPr lang="zh-CN" altLang="en-US" sz="1300" b="0" kern="1200" dirty="0">
                          <a:solidFill>
                            <a:schemeClr val="bg1"/>
                          </a:solidFill>
                          <a:highlight>
                            <a:srgbClr val="808000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函数名输入</a:t>
                      </a:r>
                      <a:r>
                        <a:rPr lang="zh-CN" altLang="en-US" sz="1300" b="1" kern="0" dirty="0">
                          <a:solidFill>
                            <a:schemeClr val="bg1"/>
                          </a:solidFill>
                          <a:effectLst/>
                          <a:highlight>
                            <a:srgbClr val="808000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参数）</a:t>
                      </a:r>
                      <a:endParaRPr lang="en-US" altLang="zh-CN" sz="1300" b="1" kern="0" dirty="0">
                        <a:solidFill>
                          <a:schemeClr val="bg1"/>
                        </a:solidFill>
                        <a:effectLst/>
                        <a:highlight>
                          <a:srgbClr val="808000"/>
                        </a:highlight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1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y=f(2)  </a:t>
                      </a:r>
                      <a:r>
                        <a:rPr lang="zh-CN" altLang="en-US" sz="1300" b="1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结果为</a:t>
                      </a:r>
                      <a:r>
                        <a:rPr lang="en-US" altLang="zh-CN" sz="1300" b="1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4</a:t>
                      </a:r>
                      <a:endParaRPr lang="zh-CN" altLang="en-US" sz="1300" b="1" kern="1200" dirty="0">
                        <a:solidFill>
                          <a:schemeClr val="bg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300" b="0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直接调用当前目录下函数文件，</a:t>
                      </a:r>
                      <a:endParaRPr lang="en-US" altLang="zh-CN" sz="1300" b="0" kern="1200" dirty="0">
                        <a:solidFill>
                          <a:schemeClr val="bg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y=f(2)</a:t>
                      </a:r>
                      <a:r>
                        <a:rPr lang="zh-CN" altLang="en-US" sz="1300" b="0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结果为</a:t>
                      </a:r>
                      <a:r>
                        <a:rPr lang="en-US" altLang="zh-CN" sz="1300" b="0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4</a:t>
                      </a:r>
                      <a:endParaRPr lang="zh-CN" altLang="en-US" sz="1300" b="0" kern="1200" dirty="0">
                        <a:solidFill>
                          <a:schemeClr val="bg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650982"/>
                  </a:ext>
                </a:extLst>
              </a:tr>
              <a:tr h="48536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300" b="1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多个输出的函数调用</a:t>
                      </a:r>
                      <a:r>
                        <a:rPr lang="en-US" altLang="zh-CN" sz="1300" b="1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,</a:t>
                      </a:r>
                      <a:r>
                        <a:rPr lang="zh-CN" altLang="en-US" sz="1300" b="1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如</a:t>
                      </a:r>
                      <a:r>
                        <a:rPr lang="en-US" altLang="zh-CN" sz="1300" b="1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y</a:t>
                      </a:r>
                      <a:r>
                        <a:rPr lang="zh-CN" altLang="en-US" sz="1300" b="1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和</a:t>
                      </a:r>
                      <a:r>
                        <a:rPr lang="en-US" altLang="zh-CN" sz="1300" b="1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z</a:t>
                      </a:r>
                      <a:endParaRPr lang="zh-CN" altLang="en-US" sz="1300" b="1" kern="1200" dirty="0">
                        <a:solidFill>
                          <a:schemeClr val="bg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00" b="1" kern="0" dirty="0">
                          <a:solidFill>
                            <a:schemeClr val="bg1"/>
                          </a:solidFill>
                          <a:effectLst/>
                          <a:highlight>
                            <a:srgbClr val="003B76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 </a:t>
                      </a:r>
                      <a:r>
                        <a:rPr lang="en-US" altLang="zh-CN" sz="1300" b="1" kern="0" dirty="0" err="1"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y,z</a:t>
                      </a:r>
                      <a:r>
                        <a:rPr lang="en-US" altLang="zh-CN" sz="1300" b="0" kern="1200" dirty="0">
                          <a:solidFill>
                            <a:schemeClr val="bg1"/>
                          </a:solidFill>
                          <a:highlight>
                            <a:srgbClr val="808000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=f(x)</a:t>
                      </a:r>
                      <a:r>
                        <a:rPr lang="en-US" altLang="zh-CN" sz="1300" b="1" kern="0" dirty="0">
                          <a:solidFill>
                            <a:schemeClr val="bg1"/>
                          </a:solidFill>
                          <a:effectLst/>
                          <a:highlight>
                            <a:srgbClr val="736303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 </a:t>
                      </a:r>
                      <a:r>
                        <a:rPr lang="en-US" altLang="zh-CN" sz="1300" b="1" kern="0" dirty="0">
                          <a:solidFill>
                            <a:schemeClr val="bg1"/>
                          </a:solidFill>
                          <a:effectLst/>
                          <a:highlight>
                            <a:srgbClr val="003B76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,</a:t>
                      </a:r>
                      <a:r>
                        <a:rPr lang="zh-CN" altLang="en-US" sz="1300" b="1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输出多个参数</a:t>
                      </a:r>
                      <a:r>
                        <a:rPr lang="en-US" altLang="zh-CN" sz="1300" b="1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y</a:t>
                      </a:r>
                      <a:r>
                        <a:rPr lang="zh-CN" altLang="en-US" sz="1300" b="1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和</a:t>
                      </a:r>
                      <a:r>
                        <a:rPr lang="en-US" altLang="zh-CN" sz="1300" b="1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z</a:t>
                      </a:r>
                      <a:r>
                        <a:rPr lang="zh-CN" altLang="en-US" sz="1300" b="1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不必加</a:t>
                      </a:r>
                      <a:r>
                        <a:rPr lang="en-US" altLang="zh-CN" sz="1300" b="1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【】</a:t>
                      </a:r>
                    </a:p>
                    <a:p>
                      <a:r>
                        <a:rPr lang="zh-CN" altLang="en-US" sz="1300" b="1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如</a:t>
                      </a:r>
                      <a:r>
                        <a:rPr lang="en-US" altLang="zh-CN" sz="1300" b="1" dirty="0" err="1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xx,yy</a:t>
                      </a:r>
                      <a:r>
                        <a:rPr lang="en-US" altLang="zh-CN" sz="1300" b="1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=meshgrid2(</a:t>
                      </a:r>
                      <a:r>
                        <a:rPr lang="en-US" altLang="zh-CN" sz="1300" b="1" dirty="0" err="1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x,y</a:t>
                      </a:r>
                      <a:r>
                        <a:rPr lang="en-US" altLang="zh-CN" sz="1300" b="1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)</a:t>
                      </a:r>
                      <a:endParaRPr lang="zh-CN" altLang="en-US" sz="1300" b="1" dirty="0">
                        <a:solidFill>
                          <a:schemeClr val="bg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1" kern="0" dirty="0"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[</a:t>
                      </a:r>
                      <a:r>
                        <a:rPr lang="en-US" altLang="zh-CN" sz="1300" b="1" kern="0" dirty="0" err="1"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y</a:t>
                      </a:r>
                      <a:r>
                        <a:rPr lang="en-US" altLang="zh-CN" sz="1300" b="1" kern="1200" dirty="0" err="1">
                          <a:solidFill>
                            <a:schemeClr val="bg1"/>
                          </a:solidFill>
                          <a:highlight>
                            <a:srgbClr val="FF0000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,z</a:t>
                      </a:r>
                      <a:r>
                        <a:rPr lang="en-US" altLang="zh-CN" sz="1300" b="1" kern="1200" dirty="0">
                          <a:solidFill>
                            <a:schemeClr val="bg1"/>
                          </a:solidFill>
                          <a:highlight>
                            <a:srgbClr val="FF0000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]=</a:t>
                      </a:r>
                      <a:r>
                        <a:rPr lang="en-US" altLang="zh-CN" sz="1300" b="1" kern="1200" dirty="0">
                          <a:solidFill>
                            <a:schemeClr val="bg1"/>
                          </a:solidFill>
                          <a:highlight>
                            <a:srgbClr val="009999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f(x) ,</a:t>
                      </a:r>
                      <a:r>
                        <a:rPr lang="zh-CN" altLang="en-US" sz="1300" b="1" dirty="0">
                          <a:solidFill>
                            <a:schemeClr val="bg1"/>
                          </a:solidFill>
                          <a:highlight>
                            <a:srgbClr val="009999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必加</a:t>
                      </a:r>
                      <a:r>
                        <a:rPr lang="en-US" altLang="zh-CN" sz="1300" b="1" dirty="0">
                          <a:solidFill>
                            <a:schemeClr val="bg1"/>
                          </a:solidFill>
                          <a:highlight>
                            <a:srgbClr val="009999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【】</a:t>
                      </a:r>
                      <a:endParaRPr lang="en-US" altLang="zh-CN" sz="1300" b="1" kern="1200" dirty="0">
                        <a:solidFill>
                          <a:schemeClr val="bg1"/>
                        </a:solidFill>
                        <a:highlight>
                          <a:srgbClr val="009999"/>
                        </a:highlight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300" b="1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如</a:t>
                      </a:r>
                      <a:r>
                        <a:rPr lang="en-US" altLang="zh-CN" sz="1300" b="1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[</a:t>
                      </a:r>
                      <a:r>
                        <a:rPr lang="en-US" altLang="zh-CN" sz="1300" b="1" dirty="0" err="1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xx,yy</a:t>
                      </a:r>
                      <a:r>
                        <a:rPr lang="en-US" altLang="zh-CN" sz="1300" b="1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]=</a:t>
                      </a:r>
                      <a:r>
                        <a:rPr lang="en-US" altLang="zh-CN" sz="1300" b="1" dirty="0" err="1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meshgrid</a:t>
                      </a:r>
                      <a:r>
                        <a:rPr lang="en-US" altLang="zh-CN" sz="1300" b="1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(</a:t>
                      </a:r>
                      <a:r>
                        <a:rPr lang="en-US" altLang="zh-CN" sz="1300" b="1" dirty="0" err="1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x,y</a:t>
                      </a:r>
                      <a:r>
                        <a:rPr lang="en-US" altLang="zh-CN" sz="1300" b="1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)</a:t>
                      </a:r>
                      <a:endParaRPr lang="zh-CN" altLang="en-US" sz="1300" b="1" dirty="0">
                        <a:solidFill>
                          <a:schemeClr val="bg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502570"/>
                  </a:ext>
                </a:extLst>
              </a:tr>
              <a:tr h="48536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300" b="1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函数点运算</a:t>
                      </a:r>
                      <a:r>
                        <a:rPr lang="en-US" altLang="zh-CN" sz="1300" b="1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y=f(x)</a:t>
                      </a:r>
                      <a:endParaRPr lang="zh-CN" altLang="en-US" sz="1300" b="1" kern="1200" dirty="0">
                        <a:solidFill>
                          <a:schemeClr val="bg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00" b="1" kern="0" dirty="0">
                          <a:solidFill>
                            <a:schemeClr val="bg1"/>
                          </a:solidFill>
                          <a:effectLst/>
                          <a:highlight>
                            <a:srgbClr val="808000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y=f.(x)  </a:t>
                      </a:r>
                      <a:r>
                        <a:rPr lang="zh-CN" altLang="en-US" sz="1300" b="1" kern="0" dirty="0">
                          <a:solidFill>
                            <a:schemeClr val="bg1"/>
                          </a:solidFill>
                          <a:effectLst/>
                          <a:highlight>
                            <a:srgbClr val="808000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或</a:t>
                      </a:r>
                      <a:r>
                        <a:rPr lang="en-US" altLang="zh-CN" sz="1300" b="1" kern="0" dirty="0">
                          <a:solidFill>
                            <a:schemeClr val="bg1"/>
                          </a:solidFill>
                          <a:effectLst/>
                          <a:highlight>
                            <a:srgbClr val="808000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y=@.f(x) </a:t>
                      </a:r>
                    </a:p>
                    <a:p>
                      <a:r>
                        <a:rPr lang="zh-CN" altLang="en-US" sz="1300" b="1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如</a:t>
                      </a:r>
                      <a:r>
                        <a:rPr lang="en-US" altLang="zh-CN" sz="1300" b="1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y=</a:t>
                      </a:r>
                      <a:r>
                        <a:rPr lang="en-US" altLang="zh-CN" sz="1300" b="1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f(x)=x^2,   y=f.(1:2) </a:t>
                      </a:r>
                      <a:r>
                        <a:rPr lang="zh-CN" altLang="en-US" sz="1300" b="1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结果</a:t>
                      </a:r>
                      <a:r>
                        <a:rPr lang="en-US" altLang="zh-CN" sz="1300" b="1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y=2,4</a:t>
                      </a:r>
                      <a:endParaRPr lang="zh-CN" altLang="en-US" sz="1300" b="1" dirty="0">
                        <a:solidFill>
                          <a:schemeClr val="bg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 b="1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无函数点运算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1454865"/>
                  </a:ext>
                </a:extLst>
              </a:tr>
              <a:tr h="285509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300" b="1" kern="1200" dirty="0">
                          <a:solidFill>
                            <a:schemeClr val="bg1"/>
                          </a:solidFill>
                          <a:highlight>
                            <a:srgbClr val="FF0000"/>
                          </a:highlight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for  end</a:t>
                      </a:r>
                      <a:endParaRPr lang="zh-CN" altLang="en-US" sz="1300" b="1" kern="1200" dirty="0">
                        <a:solidFill>
                          <a:schemeClr val="bg1"/>
                        </a:solidFill>
                        <a:highlight>
                          <a:srgbClr val="FF0000"/>
                        </a:highlight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局部作用域 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 b="1" kern="1200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不是局部变量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157948"/>
                  </a:ext>
                </a:extLst>
              </a:tr>
            </a:tbl>
          </a:graphicData>
        </a:graphic>
      </p:graphicFrame>
      <p:sp>
        <p:nvSpPr>
          <p:cNvPr id="5" name="标题 1">
            <a:extLst>
              <a:ext uri="{FF2B5EF4-FFF2-40B4-BE49-F238E27FC236}">
                <a16:creationId xmlns:a16="http://schemas.microsoft.com/office/drawing/2014/main" id="{DA7F0797-A2FC-4E86-9E51-26827CC118AC}"/>
              </a:ext>
            </a:extLst>
          </p:cNvPr>
          <p:cNvSpPr txBox="1">
            <a:spLocks/>
          </p:cNvSpPr>
          <p:nvPr/>
        </p:nvSpPr>
        <p:spPr bwMode="auto">
          <a:xfrm>
            <a:off x="1979712" y="439299"/>
            <a:ext cx="5544616" cy="1897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800" b="1" dirty="0"/>
              <a:t>§2. 4 </a:t>
            </a:r>
            <a:r>
              <a:rPr lang="en-US" altLang="zh-CN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Julia</a:t>
            </a:r>
            <a:r>
              <a:rPr lang="zh-CN" altLang="en-US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与</a:t>
            </a:r>
            <a:r>
              <a:rPr lang="en-US" altLang="zh-CN" sz="2800" b="1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Matlab</a:t>
            </a:r>
            <a:r>
              <a:rPr lang="zh-CN" altLang="en-US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的区别</a:t>
            </a:r>
            <a:endParaRPr lang="zh-CN" altLang="en-US" sz="2800" b="1" kern="0" dirty="0"/>
          </a:p>
        </p:txBody>
      </p:sp>
    </p:spTree>
    <p:extLst>
      <p:ext uri="{BB962C8B-B14F-4D97-AF65-F5344CB8AC3E}">
        <p14:creationId xmlns:p14="http://schemas.microsoft.com/office/powerpoint/2010/main" val="160281415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内容占位符 6">
            <a:extLst>
              <a:ext uri="{FF2B5EF4-FFF2-40B4-BE49-F238E27FC236}">
                <a16:creationId xmlns:a16="http://schemas.microsoft.com/office/drawing/2014/main" id="{F18D2DE3-C730-4120-9177-265D64DE8D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2000439"/>
              </p:ext>
            </p:extLst>
          </p:nvPr>
        </p:nvGraphicFramePr>
        <p:xfrm>
          <a:off x="251520" y="771550"/>
          <a:ext cx="8841543" cy="2529448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1468444">
                  <a:extLst>
                    <a:ext uri="{9D8B030D-6E8A-4147-A177-3AD203B41FA5}">
                      <a16:colId xmlns:a16="http://schemas.microsoft.com/office/drawing/2014/main" val="346419828"/>
                    </a:ext>
                  </a:extLst>
                </a:gridCol>
                <a:gridCol w="4464496">
                  <a:extLst>
                    <a:ext uri="{9D8B030D-6E8A-4147-A177-3AD203B41FA5}">
                      <a16:colId xmlns:a16="http://schemas.microsoft.com/office/drawing/2014/main" val="2322466305"/>
                    </a:ext>
                  </a:extLst>
                </a:gridCol>
                <a:gridCol w="2908603">
                  <a:extLst>
                    <a:ext uri="{9D8B030D-6E8A-4147-A177-3AD203B41FA5}">
                      <a16:colId xmlns:a16="http://schemas.microsoft.com/office/drawing/2014/main" val="1584001981"/>
                    </a:ext>
                  </a:extLst>
                </a:gridCol>
              </a:tblGrid>
              <a:tr h="487288">
                <a:tc>
                  <a:txBody>
                    <a:bodyPr/>
                    <a:lstStyle/>
                    <a:p>
                      <a:r>
                        <a:rPr lang="zh-CN" altLang="en-US" sz="1400" b="1" kern="12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功能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Julia</a:t>
                      </a:r>
                      <a:r>
                        <a:rPr lang="zh-CN" altLang="en-US" sz="14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语言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</a:t>
                      </a:r>
                      <a:r>
                        <a:rPr lang="zh-CN" altLang="en-US" sz="14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语言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04978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for  end</a:t>
                      </a:r>
                      <a:endParaRPr lang="zh-CN" altLang="en-US" sz="1400" b="0" kern="1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局部作用域 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全局变量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63271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推导式循环语句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altLang="zh-CN" sz="1400" kern="0" dirty="0">
                          <a:solidFill>
                            <a:schemeClr val="bg1"/>
                          </a:solidFill>
                        </a:rPr>
                        <a:t>A = </a:t>
                      </a:r>
                      <a:r>
                        <a:rPr lang="es-ES" altLang="zh-CN" sz="1400" b="1" kern="0" dirty="0">
                          <a:solidFill>
                            <a:schemeClr val="bg1"/>
                          </a:solidFill>
                          <a:highlight>
                            <a:srgbClr val="FF0000"/>
                          </a:highlight>
                        </a:rPr>
                        <a:t>[</a:t>
                      </a:r>
                      <a:r>
                        <a:rPr lang="es-ES" altLang="zh-CN" sz="1400" kern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zh-CN" sz="1400" kern="0" dirty="0">
                          <a:solidFill>
                            <a:schemeClr val="bg1"/>
                          </a:solidFill>
                        </a:rPr>
                        <a:t>f</a:t>
                      </a:r>
                      <a:r>
                        <a:rPr lang="es-ES" altLang="zh-CN" sz="1400" kern="0" dirty="0">
                          <a:solidFill>
                            <a:schemeClr val="bg1"/>
                          </a:solidFill>
                        </a:rPr>
                        <a:t>(x) for x=</a:t>
                      </a:r>
                      <a:r>
                        <a:rPr lang="en-US" altLang="zh-CN" sz="1400" b="1" kern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lt"/>
                        </a:rPr>
                        <a:t> </a:t>
                      </a:r>
                      <a:r>
                        <a:rPr lang="en-US" altLang="zh-CN" sz="1400" b="1" kern="0" dirty="0" err="1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lt"/>
                        </a:rPr>
                        <a:t>start:step:stop</a:t>
                      </a:r>
                      <a:r>
                        <a:rPr lang="es-ES" altLang="zh-CN" sz="1400" b="1" kern="0" dirty="0">
                          <a:solidFill>
                            <a:schemeClr val="bg1"/>
                          </a:solidFill>
                          <a:highlight>
                            <a:srgbClr val="FF0000"/>
                          </a:highlight>
                        </a:rPr>
                        <a:t>]</a:t>
                      </a:r>
                      <a:endParaRPr lang="zh-CN" altLang="en-US" sz="1400" b="1" kern="0" dirty="0">
                        <a:solidFill>
                          <a:schemeClr val="bg1"/>
                        </a:solidFill>
                        <a:highlight>
                          <a:srgbClr val="FF0000"/>
                        </a:highlight>
                      </a:endParaRPr>
                    </a:p>
                    <a:p>
                      <a:endParaRPr lang="zh-CN" altLang="en-US" sz="1400" b="0" kern="1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无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70733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三元素运算符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 ? B : C</a:t>
                      </a:r>
                      <a:endParaRPr lang="zh-CN" altLang="en-US" sz="1400" b="0" kern="1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kern="1200" dirty="0" err="1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linspaxe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(</a:t>
                      </a:r>
                      <a:r>
                        <a:rPr lang="en-US" altLang="zh-CN" sz="1400" b="0" kern="1200" dirty="0" err="1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start,step,n</a:t>
                      </a:r>
                      <a:r>
                        <a:rPr lang="en-US" altLang="zh-CN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)</a:t>
                      </a:r>
                      <a:endParaRPr lang="zh-CN" altLang="en-US" sz="1400" b="0" kern="1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683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复合表达式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1" kern="1200" dirty="0">
                          <a:solidFill>
                            <a:schemeClr val="bg1"/>
                          </a:solidFill>
                          <a:highlight>
                            <a:srgbClr val="FF0000"/>
                          </a:highlight>
                          <a:latin typeface="+mn-lt"/>
                          <a:ea typeface="+mn-ea"/>
                          <a:cs typeface="+mn-cs"/>
                        </a:rPr>
                        <a:t>begin end </a:t>
                      </a:r>
                      <a:r>
                        <a:rPr lang="zh-CN" altLang="en-US" sz="1400" b="1" kern="1200" dirty="0">
                          <a:solidFill>
                            <a:schemeClr val="bg1"/>
                          </a:solidFill>
                          <a:highlight>
                            <a:srgbClr val="FF0000"/>
                          </a:highlight>
                          <a:latin typeface="+mn-lt"/>
                          <a:ea typeface="+mn-ea"/>
                          <a:cs typeface="+mn-cs"/>
                        </a:rPr>
                        <a:t>或</a:t>
                      </a:r>
                      <a:r>
                        <a:rPr lang="en-US" altLang="zh-CN" sz="1400" b="1" kern="1200" dirty="0">
                          <a:solidFill>
                            <a:schemeClr val="bg1"/>
                          </a:solidFill>
                          <a:highlight>
                            <a:srgbClr val="FF0000"/>
                          </a:highlight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r>
                        <a:rPr lang="zh-CN" altLang="en-US" sz="1400" b="1" kern="1200" dirty="0">
                          <a:solidFill>
                            <a:schemeClr val="bg1"/>
                          </a:solidFill>
                          <a:highlight>
                            <a:srgbClr val="FF0000"/>
                          </a:highlight>
                          <a:latin typeface="+mn-lt"/>
                          <a:ea typeface="+mn-ea"/>
                          <a:cs typeface="+mn-cs"/>
                        </a:rPr>
                        <a:t>链式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无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52781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多重派发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有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无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6429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400" b="0" kern="1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400" b="0" kern="1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b="0" kern="1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7921626"/>
                  </a:ext>
                </a:extLst>
              </a:tr>
            </a:tbl>
          </a:graphicData>
        </a:graphic>
      </p:graphicFrame>
      <p:sp>
        <p:nvSpPr>
          <p:cNvPr id="9" name="标题 1">
            <a:extLst>
              <a:ext uri="{FF2B5EF4-FFF2-40B4-BE49-F238E27FC236}">
                <a16:creationId xmlns:a16="http://schemas.microsoft.com/office/drawing/2014/main" id="{66024D7E-F850-4C91-A7C7-58C29F299675}"/>
              </a:ext>
            </a:extLst>
          </p:cNvPr>
          <p:cNvSpPr txBox="1">
            <a:spLocks/>
          </p:cNvSpPr>
          <p:nvPr/>
        </p:nvSpPr>
        <p:spPr bwMode="auto">
          <a:xfrm>
            <a:off x="2296001" y="365820"/>
            <a:ext cx="4464496" cy="288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800" b="1" dirty="0"/>
              <a:t>§2. 4 </a:t>
            </a:r>
            <a:r>
              <a:rPr lang="en-US" altLang="zh-CN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Julia</a:t>
            </a:r>
            <a:r>
              <a:rPr lang="zh-CN" altLang="en-US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与</a:t>
            </a:r>
            <a:r>
              <a:rPr lang="en-US" altLang="zh-CN" sz="2800" b="1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Matlab</a:t>
            </a:r>
            <a:r>
              <a:rPr lang="zh-CN" altLang="en-US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的区别</a:t>
            </a:r>
            <a:endParaRPr lang="zh-CN" altLang="en-US" sz="2800" b="1" kern="0" dirty="0"/>
          </a:p>
        </p:txBody>
      </p:sp>
    </p:spTree>
    <p:extLst>
      <p:ext uri="{BB962C8B-B14F-4D97-AF65-F5344CB8AC3E}">
        <p14:creationId xmlns:p14="http://schemas.microsoft.com/office/powerpoint/2010/main" val="401566223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19501F-4BCE-47CA-AB27-B5EC4082CB0F}"/>
              </a:ext>
            </a:extLst>
          </p:cNvPr>
          <p:cNvSpPr txBox="1">
            <a:spLocks/>
          </p:cNvSpPr>
          <p:nvPr/>
        </p:nvSpPr>
        <p:spPr bwMode="auto">
          <a:xfrm>
            <a:off x="1691680" y="583943"/>
            <a:ext cx="4464496" cy="288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800" b="1" dirty="0"/>
              <a:t>§2. 4 </a:t>
            </a:r>
            <a:r>
              <a:rPr lang="en-US" altLang="zh-CN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Julia</a:t>
            </a:r>
            <a:r>
              <a:rPr lang="zh-CN" altLang="en-US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与</a:t>
            </a:r>
            <a:r>
              <a:rPr lang="en-US" altLang="zh-CN" sz="2800" b="1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Matlab</a:t>
            </a:r>
            <a:r>
              <a:rPr lang="zh-CN" altLang="en-US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的绘图区别</a:t>
            </a:r>
            <a:endParaRPr lang="en-US" altLang="zh-CN" sz="2800" b="1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zh-CN" altLang="en-US" sz="2800" b="1" kern="0" dirty="0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C74E2205-0451-4D64-B1FD-95C09245E4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4567806"/>
              </p:ext>
            </p:extLst>
          </p:nvPr>
        </p:nvGraphicFramePr>
        <p:xfrm>
          <a:off x="70832" y="483518"/>
          <a:ext cx="8841543" cy="4625136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1548840">
                  <a:extLst>
                    <a:ext uri="{9D8B030D-6E8A-4147-A177-3AD203B41FA5}">
                      <a16:colId xmlns:a16="http://schemas.microsoft.com/office/drawing/2014/main" val="2629255684"/>
                    </a:ext>
                  </a:extLst>
                </a:gridCol>
                <a:gridCol w="3816424">
                  <a:extLst>
                    <a:ext uri="{9D8B030D-6E8A-4147-A177-3AD203B41FA5}">
                      <a16:colId xmlns:a16="http://schemas.microsoft.com/office/drawing/2014/main" val="3554382883"/>
                    </a:ext>
                  </a:extLst>
                </a:gridCol>
                <a:gridCol w="3476279">
                  <a:extLst>
                    <a:ext uri="{9D8B030D-6E8A-4147-A177-3AD203B41FA5}">
                      <a16:colId xmlns:a16="http://schemas.microsoft.com/office/drawing/2014/main" val="920398126"/>
                    </a:ext>
                  </a:extLst>
                </a:gridCol>
              </a:tblGrid>
              <a:tr h="289440">
                <a:tc>
                  <a:txBody>
                    <a:bodyPr/>
                    <a:lstStyle/>
                    <a:p>
                      <a:r>
                        <a:rPr lang="zh-CN" altLang="en-US" sz="12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Julia</a:t>
                      </a:r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语言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</a:t>
                      </a:r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语言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0450922"/>
                  </a:ext>
                </a:extLst>
              </a:tr>
              <a:tr h="2894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2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工具箱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using </a:t>
                      </a:r>
                      <a:r>
                        <a:rPr lang="en-US" altLang="zh-CN" sz="1200" b="0" kern="1200" dirty="0" err="1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TyPlot</a:t>
                      </a:r>
                      <a:r>
                        <a:rPr lang="zh-CN" altLang="en-US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预加载同元工具箱，可省</a:t>
                      </a: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using</a:t>
                      </a:r>
                      <a:endParaRPr lang="zh-CN" altLang="en-US" sz="1200" b="0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不用加载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7820071"/>
                  </a:ext>
                </a:extLst>
              </a:tr>
              <a:tr h="2894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2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函数点运算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 f.(x) </a:t>
                      </a:r>
                      <a:r>
                        <a:rPr lang="zh-CN" altLang="en-US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或  </a:t>
                      </a: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@.f(x)</a:t>
                      </a:r>
                      <a:endParaRPr lang="zh-CN" altLang="en-US" sz="1200" b="0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无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0098358"/>
                  </a:ext>
                </a:extLst>
              </a:tr>
              <a:tr h="2894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点运算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用点运算符 或  </a:t>
                      </a: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@. </a:t>
                      </a:r>
                      <a:r>
                        <a:rPr lang="zh-CN" altLang="en-US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表达式</a:t>
                      </a:r>
                      <a:endParaRPr lang="zh-CN" altLang="zh-CN" sz="1200" b="0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只有点运算符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2607223"/>
                  </a:ext>
                </a:extLst>
              </a:tr>
              <a:tr h="2894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线型标记符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有数字标记符，如</a:t>
                      </a: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1</a:t>
                      </a:r>
                      <a:r>
                        <a:rPr lang="zh-CN" altLang="en-US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2</a:t>
                      </a:r>
                      <a:r>
                        <a:rPr lang="zh-CN" altLang="en-US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3</a:t>
                      </a:r>
                      <a:r>
                        <a:rPr lang="zh-CN" altLang="en-US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4</a:t>
                      </a:r>
                      <a:r>
                        <a:rPr lang="zh-CN" altLang="en-US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8</a:t>
                      </a:r>
                      <a:endParaRPr lang="zh-CN" altLang="en-US" sz="1200" b="0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无数字标记符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1118208"/>
                  </a:ext>
                </a:extLst>
              </a:tr>
              <a:tr h="2894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2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句柄设置属性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plt_set(</a:t>
                      </a: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h,</a:t>
                      </a:r>
                      <a:r>
                        <a:rPr lang="zh-CN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Key=Value) 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set</a:t>
                      </a:r>
                      <a:endParaRPr lang="zh-CN" altLang="en-US" sz="1200" b="0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0052805"/>
                  </a:ext>
                </a:extLst>
              </a:tr>
              <a:tr h="2894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2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绘图语法习惯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加空括号，</a:t>
                      </a: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figure</a:t>
                      </a:r>
                      <a:r>
                        <a:rPr lang="zh-CN" altLang="en-US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（），</a:t>
                      </a:r>
                      <a:r>
                        <a:rPr lang="en-US" altLang="zh-CN" sz="1200" b="0" kern="1200" dirty="0" err="1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gcf</a:t>
                      </a:r>
                      <a:r>
                        <a:rPr lang="zh-CN" altLang="en-US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（）</a:t>
                      </a: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,</a:t>
                      </a:r>
                      <a:r>
                        <a:rPr lang="en-US" altLang="zh-CN" sz="1200" b="0" kern="1200" dirty="0" err="1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gca</a:t>
                      </a: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(),</a:t>
                      </a:r>
                      <a:endParaRPr lang="zh-CN" altLang="en-US" sz="1200" b="0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无括号</a:t>
                      </a:r>
                      <a:r>
                        <a:rPr lang="en-US" altLang="zh-CN" sz="1200" b="0" kern="1200" dirty="0" err="1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figue,gcf</a:t>
                      </a: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,</a:t>
                      </a:r>
                      <a:endParaRPr lang="zh-CN" altLang="en-US" sz="1200" b="0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01782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绘图语法习惯</a:t>
                      </a:r>
                    </a:p>
                    <a:p>
                      <a:pPr marL="0" algn="l" defTabSz="914400" rtl="0" eaLnBrk="1" latinLnBrk="0" hangingPunct="1"/>
                      <a:endParaRPr lang="zh-CN" altLang="en-US" sz="1200" b="0" kern="1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hold</a:t>
                      </a:r>
                      <a:r>
                        <a:rPr lang="zh-CN" altLang="en-US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（“</a:t>
                      </a: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on</a:t>
                      </a:r>
                      <a:r>
                        <a:rPr lang="zh-CN" altLang="en-US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”）</a:t>
                      </a: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, axis("equal"), grid("on") ,</a:t>
                      </a:r>
                      <a:r>
                        <a:rPr lang="zh-CN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 yyaxis("right") </a:t>
                      </a:r>
                      <a:endParaRPr lang="zh-CN" altLang="en-US" sz="1200" b="0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hold on</a:t>
                      </a:r>
                      <a:r>
                        <a:rPr lang="zh-CN" altLang="en-US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，</a:t>
                      </a: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axis on, axis equal , grid on, </a:t>
                      </a:r>
                      <a:r>
                        <a:rPr lang="en-US" altLang="zh-CN" sz="1200" b="0" kern="1200" dirty="0" err="1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yyaxis</a:t>
                      </a: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 right</a:t>
                      </a:r>
                      <a:endParaRPr lang="zh-CN" altLang="en-US" sz="1200" b="0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4095321"/>
                  </a:ext>
                </a:extLst>
              </a:tr>
              <a:tr h="289440">
                <a:tc>
                  <a:txBody>
                    <a:bodyPr/>
                    <a:lstStyle/>
                    <a:p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网格矩阵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  <a:sym typeface="Arial" panose="020B0604020202020204" pitchFamily="34" charset="0"/>
                        </a:rPr>
                        <a:t>X,Y=meshgrid2(</a:t>
                      </a:r>
                      <a:r>
                        <a:rPr lang="en-US" altLang="zh-CN" sz="1200" b="0" kern="1200" dirty="0" err="1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  <a:sym typeface="Arial" panose="020B0604020202020204" pitchFamily="34" charset="0"/>
                        </a:rPr>
                        <a:t>x,y</a:t>
                      </a: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  <a:sym typeface="Arial" panose="020B0604020202020204" pitchFamily="34" charset="0"/>
                        </a:rPr>
                        <a:t>)</a:t>
                      </a:r>
                      <a:endParaRPr lang="en-US" altLang="zh-CN" sz="1200" b="0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177791" indent="-177791" algn="l" defTabSz="914378">
                        <a:lnSpc>
                          <a:spcPct val="90000"/>
                        </a:lnSpc>
                      </a:pP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[X,Y]=</a:t>
                      </a:r>
                      <a:r>
                        <a:rPr lang="en-US" altLang="zh-CN" sz="1200" b="0" kern="1200" dirty="0" err="1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meshigrid</a:t>
                      </a: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zh-CN" sz="1200" b="0" kern="1200" dirty="0" err="1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x,y</a:t>
                      </a: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5724993"/>
                  </a:ext>
                </a:extLst>
              </a:tr>
              <a:tr h="492048">
                <a:tc>
                  <a:txBody>
                    <a:bodyPr/>
                    <a:lstStyle/>
                    <a:p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着色</a:t>
                      </a:r>
                      <a:r>
                        <a:rPr lang="en-US" altLang="zh-CN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shading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shading(</a:t>
                      </a:r>
                      <a:r>
                        <a:rPr lang="en-US" altLang="zh-CN" sz="1200" b="0" kern="1200" dirty="0" err="1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h,"faceted</a:t>
                      </a: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") (</a:t>
                      </a:r>
                      <a:r>
                        <a:rPr lang="zh-CN" altLang="en-US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默认</a:t>
                      </a: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shading(</a:t>
                      </a:r>
                      <a:r>
                        <a:rPr lang="en-US" altLang="zh-CN" sz="1200" b="0" kern="1200" dirty="0" err="1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h,“flat</a:t>
                      </a: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”)  h</a:t>
                      </a:r>
                      <a:r>
                        <a:rPr lang="zh-CN" altLang="en-US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是曲面句柄</a:t>
                      </a: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177791" indent="-177791" algn="l" defTabSz="914378">
                        <a:lnSpc>
                          <a:spcPct val="90000"/>
                        </a:lnSpc>
                      </a:pP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shading faceted  </a:t>
                      </a:r>
                      <a:r>
                        <a:rPr lang="zh-CN" altLang="en-US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小面积着色</a:t>
                      </a:r>
                      <a:endParaRPr lang="en-US" altLang="zh-CN" sz="1200" b="0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  <a:p>
                      <a:pPr marL="177791" indent="-177791" algn="l" defTabSz="914378">
                        <a:lnSpc>
                          <a:spcPct val="90000"/>
                        </a:lnSpc>
                      </a:pP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shading flat  </a:t>
                      </a:r>
                      <a:r>
                        <a:rPr lang="zh-CN" altLang="en-US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光滑着色</a:t>
                      </a:r>
                      <a:endParaRPr lang="en-US" altLang="zh-CN" sz="1200" b="0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4094758"/>
                  </a:ext>
                </a:extLst>
              </a:tr>
              <a:tr h="4920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设置当前颜色图</a:t>
                      </a:r>
                    </a:p>
                    <a:p>
                      <a:endParaRPr lang="zh-CN" altLang="en-US" sz="1200" b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colormap(</a:t>
                      </a: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h</a:t>
                      </a:r>
                      <a:r>
                        <a:rPr lang="zh-CN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,map) </a:t>
                      </a:r>
                      <a:r>
                        <a:rPr lang="zh-CN" altLang="en-US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，</a:t>
                      </a: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h</a:t>
                      </a:r>
                      <a:r>
                        <a:rPr lang="zh-CN" altLang="en-US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是曲面句柄</a:t>
                      </a:r>
                      <a:endParaRPr lang="en-US" altLang="zh-CN" sz="1200" b="0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如colormap(h,“winter”)  采用冬天颜色着色</a:t>
                      </a:r>
                      <a:endParaRPr lang="en-US" altLang="zh-CN" sz="1200" b="0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177791" indent="-177791" algn="l" defTabSz="914378">
                        <a:lnSpc>
                          <a:spcPct val="90000"/>
                        </a:lnSpc>
                      </a:pP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colormap(map)</a:t>
                      </a:r>
                      <a:endParaRPr lang="en-US" altLang="zh-CN" sz="1200" b="0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  <a:p>
                      <a:pPr marL="177791" indent="-177791" algn="l" defTabSz="914378">
                        <a:lnSpc>
                          <a:spcPct val="90000"/>
                        </a:lnSpc>
                      </a:pPr>
                      <a:r>
                        <a:rPr lang="zh-CN" altLang="en-US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如</a:t>
                      </a: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colormap(winter)  </a:t>
                      </a:r>
                      <a:r>
                        <a:rPr lang="zh-CN" altLang="en-US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采用冬天颜色着色</a:t>
                      </a:r>
                      <a:endParaRPr lang="en-US" altLang="zh-CN" sz="1200" b="0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0391990"/>
                  </a:ext>
                </a:extLst>
              </a:tr>
              <a:tr h="289440">
                <a:tc>
                  <a:txBody>
                    <a:bodyPr/>
                    <a:lstStyle/>
                    <a:p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显示色阶的颜色栏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dirty="0" err="1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colorbar</a:t>
                      </a: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(h)</a:t>
                      </a:r>
                      <a:r>
                        <a:rPr lang="zh-CN" altLang="en-US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 ，</a:t>
                      </a: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h</a:t>
                      </a:r>
                      <a:r>
                        <a:rPr lang="zh-CN" altLang="en-US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是曲面句柄</a:t>
                      </a:r>
                      <a:endParaRPr lang="en-US" altLang="zh-CN" sz="1200" b="0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177791" indent="-177791" algn="l" defTabSz="914378">
                        <a:lnSpc>
                          <a:spcPct val="90000"/>
                        </a:lnSpc>
                      </a:pPr>
                      <a:r>
                        <a:rPr lang="en-US" altLang="zh-CN" sz="1200" b="0" kern="1200" dirty="0" err="1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colorbar</a:t>
                      </a:r>
                      <a:endParaRPr lang="en-US" altLang="zh-CN" sz="1200" b="0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7178554"/>
                  </a:ext>
                </a:extLst>
              </a:tr>
              <a:tr h="2894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创建笛卡尔坐标区</a:t>
                      </a:r>
                      <a:endParaRPr lang="zh-CN" altLang="en-US" sz="1200" b="0" kern="1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dirty="0" err="1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plt_axes</a:t>
                      </a: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 </a:t>
                      </a:r>
                      <a:endParaRPr lang="zh-CN" altLang="en-US" sz="1200" b="0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axes</a:t>
                      </a:r>
                      <a:endParaRPr lang="zh-CN" altLang="en-US" sz="1200" b="0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1454865"/>
                  </a:ext>
                </a:extLst>
              </a:tr>
              <a:tr h="289440">
                <a:tc>
                  <a:txBody>
                    <a:bodyPr/>
                    <a:lstStyle/>
                    <a:p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文字</a:t>
                      </a:r>
                      <a:r>
                        <a:rPr lang="zh-CN" altLang="en-US" sz="1200" b="0" kern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上下标的</a:t>
                      </a:r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标注 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zh-CN" sz="1200" b="0" kern="1200" dirty="0" err="1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raw“$txt</a:t>
                      </a: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^{} </a:t>
                      </a:r>
                      <a:r>
                        <a:rPr lang="zh-CN" altLang="en-US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或</a:t>
                      </a: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txt_{} $</a:t>
                      </a:r>
                      <a:r>
                        <a:rPr lang="zh-CN" altLang="en-US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”</a:t>
                      </a: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177791" indent="-177791" algn="l" defTabSz="914378">
                        <a:lnSpc>
                          <a:spcPct val="90000"/>
                        </a:lnSpc>
                      </a:pP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txt^{} </a:t>
                      </a:r>
                      <a:r>
                        <a:rPr lang="zh-CN" altLang="en-US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或</a:t>
                      </a: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txt_{}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9879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002254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61A39D3-C798-4E51-938E-45CF96AE95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4116958"/>
              </p:ext>
            </p:extLst>
          </p:nvPr>
        </p:nvGraphicFramePr>
        <p:xfrm>
          <a:off x="151228" y="483518"/>
          <a:ext cx="8841543" cy="4960656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1548840">
                  <a:extLst>
                    <a:ext uri="{9D8B030D-6E8A-4147-A177-3AD203B41FA5}">
                      <a16:colId xmlns:a16="http://schemas.microsoft.com/office/drawing/2014/main" val="2629255684"/>
                    </a:ext>
                  </a:extLst>
                </a:gridCol>
                <a:gridCol w="3816424">
                  <a:extLst>
                    <a:ext uri="{9D8B030D-6E8A-4147-A177-3AD203B41FA5}">
                      <a16:colId xmlns:a16="http://schemas.microsoft.com/office/drawing/2014/main" val="3554382883"/>
                    </a:ext>
                  </a:extLst>
                </a:gridCol>
                <a:gridCol w="3476279">
                  <a:extLst>
                    <a:ext uri="{9D8B030D-6E8A-4147-A177-3AD203B41FA5}">
                      <a16:colId xmlns:a16="http://schemas.microsoft.com/office/drawing/2014/main" val="920398126"/>
                    </a:ext>
                  </a:extLst>
                </a:gridCol>
              </a:tblGrid>
              <a:tr h="289440">
                <a:tc>
                  <a:txBody>
                    <a:bodyPr/>
                    <a:lstStyle/>
                    <a:p>
                      <a:r>
                        <a:rPr lang="zh-CN" altLang="en-US" sz="12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Julia</a:t>
                      </a:r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语言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</a:t>
                      </a:r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语言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0450922"/>
                  </a:ext>
                </a:extLst>
              </a:tr>
              <a:tr h="2894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2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工具箱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using </a:t>
                      </a:r>
                      <a:r>
                        <a:rPr lang="en-US" altLang="zh-CN" sz="1200" b="0" kern="1200" dirty="0" err="1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TyStatistics</a:t>
                      </a: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 </a:t>
                      </a:r>
                      <a:r>
                        <a:rPr lang="zh-CN" altLang="en-US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，预加载同元工具箱，可省</a:t>
                      </a: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using</a:t>
                      </a:r>
                      <a:endParaRPr lang="zh-CN" altLang="en-US" sz="1200" b="0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不用加载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7820071"/>
                  </a:ext>
                </a:extLst>
              </a:tr>
              <a:tr h="2894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2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正态参数估计</a:t>
                      </a:r>
                      <a:endParaRPr lang="en-US" altLang="zh-CN" sz="1200" b="0" kern="1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US" altLang="zh-CN" sz="1200" b="0" kern="1200" dirty="0" err="1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normfit</a:t>
                      </a:r>
                      <a:endParaRPr lang="zh-CN" altLang="en-US" sz="1200" b="0" kern="1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dirty="0" err="1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normfit</a:t>
                      </a:r>
                      <a:r>
                        <a:rPr lang="zh-CN" altLang="en-US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在</a:t>
                      </a:r>
                      <a:r>
                        <a:rPr lang="en-US" altLang="zh-CN" sz="1200" b="0" kern="1200" dirty="0" err="1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TyStatistics</a:t>
                      </a:r>
                      <a:r>
                        <a:rPr lang="zh-CN" altLang="en-US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和</a:t>
                      </a:r>
                      <a:r>
                        <a:rPr lang="en-US" altLang="zh-CN" sz="1200" b="0" kern="1200" dirty="0" err="1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TyMachineLearning</a:t>
                      </a:r>
                      <a:r>
                        <a:rPr lang="zh-CN" altLang="en-US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同时存在，</a:t>
                      </a:r>
                      <a:endParaRPr lang="en-US" altLang="zh-CN" sz="1200" b="0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华文楷体" panose="02010600040101010101" pitchFamily="2" charset="-122"/>
                        </a:rPr>
                        <a:t>mu,sigma,muci,sigmaci</a:t>
                      </a: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=</a:t>
                      </a:r>
                      <a:r>
                        <a:rPr lang="en-US" altLang="zh-CN" sz="1050" b="1" kern="0" dirty="0" err="1"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TyStatistics</a:t>
                      </a:r>
                      <a:r>
                        <a:rPr lang="en-US" altLang="zh-CN" sz="1050" b="1" kern="0" dirty="0">
                          <a:solidFill>
                            <a:schemeClr val="bg1"/>
                          </a:solidFill>
                          <a:effectLst/>
                          <a:highlight>
                            <a:srgbClr val="FF0000"/>
                          </a:highlight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.</a:t>
                      </a:r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华文楷体" panose="02010600040101010101" pitchFamily="2" charset="-122"/>
                        </a:rPr>
                        <a:t>normfit(</a:t>
                      </a:r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华文楷体" panose="02010600040101010101" pitchFamily="2" charset="-122"/>
                        </a:rPr>
                        <a:t>x</a:t>
                      </a:r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,</a:t>
                      </a:r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华文楷体" panose="02010600040101010101" pitchFamily="2" charset="-122"/>
                        </a:rPr>
                        <a:t>alpha) </a:t>
                      </a:r>
                      <a:endParaRPr lang="zh-CN" altLang="en-US" sz="1200" b="0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dist">
                        <a:spcBef>
                          <a:spcPts val="500"/>
                        </a:spcBef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华文楷体" panose="02010600040101010101" pitchFamily="2" charset="-122"/>
                        </a:rPr>
                        <a:t>[</a:t>
                      </a:r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华文楷体" panose="02010600040101010101" pitchFamily="2" charset="-122"/>
                        </a:rPr>
                        <a:t>mu,sigma,muci,sigmaci</a:t>
                      </a:r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华文楷体" panose="02010600040101010101" pitchFamily="2" charset="-122"/>
                        </a:rPr>
                        <a:t>]</a:t>
                      </a: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=</a:t>
                      </a:r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华文楷体" panose="02010600040101010101" pitchFamily="2" charset="-122"/>
                        </a:rPr>
                        <a:t>normfit(</a:t>
                      </a:r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华文楷体" panose="02010600040101010101" pitchFamily="2" charset="-122"/>
                        </a:rPr>
                        <a:t>x</a:t>
                      </a:r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,</a:t>
                      </a:r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华文楷体" panose="02010600040101010101" pitchFamily="2" charset="-122"/>
                        </a:rPr>
                        <a:t>alpha) </a:t>
                      </a:r>
                      <a:endParaRPr lang="ko-KR" altLang="en-US" sz="1200" b="1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华文楷体" panose="02010600040101010101" pitchFamily="2" charset="-122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0098358"/>
                  </a:ext>
                </a:extLst>
              </a:tr>
              <a:tr h="2894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正态概率分布计算</a:t>
                      </a:r>
                      <a:endParaRPr lang="en-US" altLang="zh-CN" sz="1200" b="0" kern="1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dirty="0" err="1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normpdf,normcdf</a:t>
                      </a:r>
                      <a:endParaRPr lang="zh-CN" altLang="en-US" sz="1200" b="0" kern="1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用点运算符 或  </a:t>
                      </a: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@. </a:t>
                      </a:r>
                      <a:r>
                        <a:rPr lang="zh-CN" altLang="en-US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表达式</a:t>
                      </a:r>
                      <a:endParaRPr lang="zh-CN" altLang="zh-CN" sz="1200" b="0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只有点运算符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2607223"/>
                  </a:ext>
                </a:extLst>
              </a:tr>
              <a:tr h="2894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线型标记符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有数字标记符，如</a:t>
                      </a: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1</a:t>
                      </a:r>
                      <a:r>
                        <a:rPr lang="zh-CN" altLang="en-US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2</a:t>
                      </a:r>
                      <a:r>
                        <a:rPr lang="zh-CN" altLang="en-US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3</a:t>
                      </a:r>
                      <a:r>
                        <a:rPr lang="zh-CN" altLang="en-US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4</a:t>
                      </a:r>
                      <a:r>
                        <a:rPr lang="zh-CN" altLang="en-US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8</a:t>
                      </a:r>
                      <a:endParaRPr lang="zh-CN" altLang="en-US" sz="1200" b="0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无数字标记符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1118208"/>
                  </a:ext>
                </a:extLst>
              </a:tr>
              <a:tr h="2894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2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句柄设置属性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plt_set(</a:t>
                      </a: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h,</a:t>
                      </a:r>
                      <a:r>
                        <a:rPr lang="zh-CN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Key=Value) 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set</a:t>
                      </a:r>
                      <a:endParaRPr lang="zh-CN" altLang="en-US" sz="1200" b="0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0052805"/>
                  </a:ext>
                </a:extLst>
              </a:tr>
              <a:tr h="2894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2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绘图语法习惯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加空括号，</a:t>
                      </a: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figure</a:t>
                      </a:r>
                      <a:r>
                        <a:rPr lang="zh-CN" altLang="en-US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（），</a:t>
                      </a:r>
                      <a:r>
                        <a:rPr lang="en-US" altLang="zh-CN" sz="1200" b="0" kern="1200" dirty="0" err="1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gcf</a:t>
                      </a:r>
                      <a:r>
                        <a:rPr lang="zh-CN" altLang="en-US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（）</a:t>
                      </a: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,</a:t>
                      </a:r>
                      <a:r>
                        <a:rPr lang="en-US" altLang="zh-CN" sz="1200" b="0" kern="1200" dirty="0" err="1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gca</a:t>
                      </a: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(),</a:t>
                      </a:r>
                      <a:endParaRPr lang="zh-CN" altLang="en-US" sz="1200" b="0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无括号</a:t>
                      </a:r>
                      <a:r>
                        <a:rPr lang="en-US" altLang="zh-CN" sz="1200" b="0" kern="1200" dirty="0" err="1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figue,gcf</a:t>
                      </a: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,</a:t>
                      </a:r>
                      <a:endParaRPr lang="zh-CN" altLang="en-US" sz="1200" b="0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01782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绘图语法习惯</a:t>
                      </a:r>
                    </a:p>
                    <a:p>
                      <a:pPr marL="0" algn="l" defTabSz="914400" rtl="0" eaLnBrk="1" latinLnBrk="0" hangingPunct="1"/>
                      <a:endParaRPr lang="zh-CN" altLang="en-US" sz="1200" b="0" kern="1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hold</a:t>
                      </a:r>
                      <a:r>
                        <a:rPr lang="zh-CN" altLang="en-US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（“</a:t>
                      </a: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on</a:t>
                      </a:r>
                      <a:r>
                        <a:rPr lang="zh-CN" altLang="en-US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”）</a:t>
                      </a: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, axis("equal"), grid("on") ,</a:t>
                      </a:r>
                      <a:r>
                        <a:rPr lang="zh-CN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 yyaxis("right") </a:t>
                      </a:r>
                      <a:endParaRPr lang="zh-CN" altLang="en-US" sz="1200" b="0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hold on</a:t>
                      </a:r>
                      <a:r>
                        <a:rPr lang="zh-CN" altLang="en-US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，</a:t>
                      </a: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axis on, axis equal , grid on, </a:t>
                      </a:r>
                      <a:r>
                        <a:rPr lang="en-US" altLang="zh-CN" sz="1200" b="0" kern="1200" dirty="0" err="1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yyaxis</a:t>
                      </a: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 right</a:t>
                      </a:r>
                      <a:endParaRPr lang="zh-CN" altLang="en-US" sz="1200" b="0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4095321"/>
                  </a:ext>
                </a:extLst>
              </a:tr>
              <a:tr h="289440">
                <a:tc>
                  <a:txBody>
                    <a:bodyPr/>
                    <a:lstStyle/>
                    <a:p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网格矩阵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  <a:sym typeface="Arial" panose="020B0604020202020204" pitchFamily="34" charset="0"/>
                        </a:rPr>
                        <a:t>X,Y=meshgrid2(</a:t>
                      </a:r>
                      <a:r>
                        <a:rPr lang="en-US" altLang="zh-CN" sz="1200" b="0" kern="1200" dirty="0" err="1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  <a:sym typeface="Arial" panose="020B0604020202020204" pitchFamily="34" charset="0"/>
                        </a:rPr>
                        <a:t>x,y</a:t>
                      </a: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  <a:sym typeface="Arial" panose="020B0604020202020204" pitchFamily="34" charset="0"/>
                        </a:rPr>
                        <a:t>)</a:t>
                      </a:r>
                      <a:endParaRPr lang="en-US" altLang="zh-CN" sz="1200" b="0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177791" indent="-177791" algn="l" defTabSz="914378">
                        <a:lnSpc>
                          <a:spcPct val="90000"/>
                        </a:lnSpc>
                      </a:pP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[X,Y]=</a:t>
                      </a:r>
                      <a:r>
                        <a:rPr lang="en-US" altLang="zh-CN" sz="1200" b="0" kern="1200" dirty="0" err="1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meshigrid</a:t>
                      </a: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zh-CN" sz="1200" b="0" kern="1200" dirty="0" err="1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x,y</a:t>
                      </a: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5724993"/>
                  </a:ext>
                </a:extLst>
              </a:tr>
              <a:tr h="492048">
                <a:tc>
                  <a:txBody>
                    <a:bodyPr/>
                    <a:lstStyle/>
                    <a:p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着色</a:t>
                      </a:r>
                      <a:r>
                        <a:rPr lang="en-US" altLang="zh-CN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shading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shading(</a:t>
                      </a:r>
                      <a:r>
                        <a:rPr lang="en-US" altLang="zh-CN" sz="1200" b="0" kern="1200" dirty="0" err="1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h,"faceted</a:t>
                      </a: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") (</a:t>
                      </a:r>
                      <a:r>
                        <a:rPr lang="zh-CN" altLang="en-US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默认</a:t>
                      </a: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)</a:t>
                      </a:r>
                      <a:endParaRPr lang="en-US" altLang="zh-CN" sz="1200" b="0" kern="1200" dirty="0">
                        <a:solidFill>
                          <a:srgbClr val="FFFF00"/>
                        </a:solidFill>
                        <a:highlight>
                          <a:srgbClr val="3366FF"/>
                        </a:highlight>
                        <a:latin typeface="Menlo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highlight>
                            <a:srgbClr val="3366FF"/>
                          </a:highlight>
                          <a:latin typeface="Menlo"/>
                          <a:ea typeface="+mn-ea"/>
                          <a:cs typeface="+mn-cs"/>
                        </a:rPr>
                        <a:t>shading(</a:t>
                      </a:r>
                      <a:r>
                        <a:rPr lang="en-US" altLang="zh-CN" sz="1200" b="0" kern="1200" dirty="0" err="1">
                          <a:solidFill>
                            <a:srgbClr val="FFFF00"/>
                          </a:solidFill>
                          <a:highlight>
                            <a:srgbClr val="3366FF"/>
                          </a:highlight>
                          <a:latin typeface="Menlo"/>
                          <a:ea typeface="+mn-ea"/>
                          <a:cs typeface="+mn-cs"/>
                        </a:rPr>
                        <a:t>h,“flat</a:t>
                      </a: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highlight>
                            <a:srgbClr val="3366FF"/>
                          </a:highlight>
                          <a:latin typeface="Menlo"/>
                          <a:ea typeface="+mn-ea"/>
                          <a:cs typeface="+mn-cs"/>
                        </a:rPr>
                        <a:t>”)  h</a:t>
                      </a:r>
                      <a:r>
                        <a:rPr lang="zh-CN" altLang="en-US" sz="1200" b="0" kern="1200" dirty="0">
                          <a:solidFill>
                            <a:srgbClr val="FFFF00"/>
                          </a:solidFill>
                          <a:highlight>
                            <a:srgbClr val="3366FF"/>
                          </a:highlight>
                          <a:latin typeface="Menlo"/>
                          <a:ea typeface="+mn-ea"/>
                          <a:cs typeface="+mn-cs"/>
                        </a:rPr>
                        <a:t>是曲面句柄</a:t>
                      </a: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highlight>
                            <a:srgbClr val="3366FF"/>
                          </a:highlight>
                          <a:latin typeface="Menlo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177791" indent="-177791" algn="l" defTabSz="914378">
                        <a:lnSpc>
                          <a:spcPct val="90000"/>
                        </a:lnSpc>
                      </a:pP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shading faceted  </a:t>
                      </a:r>
                      <a:r>
                        <a:rPr lang="zh-CN" altLang="en-US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小面积着色</a:t>
                      </a:r>
                      <a:endParaRPr lang="en-US" altLang="zh-CN" sz="1200" b="0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  <a:p>
                      <a:pPr marL="177791" indent="-177791" algn="l" defTabSz="914378">
                        <a:lnSpc>
                          <a:spcPct val="90000"/>
                        </a:lnSpc>
                      </a:pP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shading flat  </a:t>
                      </a:r>
                      <a:r>
                        <a:rPr lang="zh-CN" altLang="en-US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光滑着色</a:t>
                      </a:r>
                      <a:endParaRPr lang="en-US" altLang="zh-CN" sz="1200" b="0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4094758"/>
                  </a:ext>
                </a:extLst>
              </a:tr>
              <a:tr h="4920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设置当前颜色图</a:t>
                      </a:r>
                    </a:p>
                    <a:p>
                      <a:endParaRPr lang="zh-CN" altLang="en-US" sz="1200" b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colormap(</a:t>
                      </a: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h</a:t>
                      </a:r>
                      <a:r>
                        <a:rPr lang="zh-CN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,map) </a:t>
                      </a:r>
                      <a:r>
                        <a:rPr lang="zh-CN" altLang="en-US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，</a:t>
                      </a: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h</a:t>
                      </a:r>
                      <a:r>
                        <a:rPr lang="zh-CN" altLang="en-US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是曲面句柄</a:t>
                      </a:r>
                      <a:endParaRPr lang="en-US" altLang="zh-CN" sz="1200" b="0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如colormap(h,“winter”)  采用冬天颜色着色</a:t>
                      </a:r>
                      <a:endParaRPr lang="en-US" altLang="zh-CN" sz="1200" b="0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177791" indent="-177791" algn="l" defTabSz="914378">
                        <a:lnSpc>
                          <a:spcPct val="90000"/>
                        </a:lnSpc>
                      </a:pP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colormap(map)</a:t>
                      </a:r>
                      <a:endParaRPr lang="en-US" altLang="zh-CN" sz="1200" b="0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  <a:p>
                      <a:pPr marL="177791" indent="-177791" algn="l" defTabSz="914378">
                        <a:lnSpc>
                          <a:spcPct val="90000"/>
                        </a:lnSpc>
                      </a:pPr>
                      <a:r>
                        <a:rPr lang="zh-CN" altLang="en-US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如</a:t>
                      </a: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colormap(winter)  </a:t>
                      </a:r>
                      <a:r>
                        <a:rPr lang="zh-CN" altLang="en-US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采用冬天颜色着色</a:t>
                      </a:r>
                      <a:endParaRPr lang="en-US" altLang="zh-CN" sz="1200" b="0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0391990"/>
                  </a:ext>
                </a:extLst>
              </a:tr>
              <a:tr h="289440">
                <a:tc>
                  <a:txBody>
                    <a:bodyPr/>
                    <a:lstStyle/>
                    <a:p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显示色阶的颜色栏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dirty="0" err="1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colorbar</a:t>
                      </a: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(h)</a:t>
                      </a:r>
                      <a:r>
                        <a:rPr lang="zh-CN" altLang="en-US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 ，</a:t>
                      </a: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h</a:t>
                      </a:r>
                      <a:r>
                        <a:rPr lang="zh-CN" altLang="en-US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是曲面句柄</a:t>
                      </a:r>
                      <a:endParaRPr lang="en-US" altLang="zh-CN" sz="1200" b="0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177791" indent="-177791" algn="l" defTabSz="914378">
                        <a:lnSpc>
                          <a:spcPct val="90000"/>
                        </a:lnSpc>
                      </a:pPr>
                      <a:r>
                        <a:rPr lang="en-US" altLang="zh-CN" sz="1200" b="0" kern="1200" dirty="0" err="1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colorbar</a:t>
                      </a:r>
                      <a:endParaRPr lang="en-US" altLang="zh-CN" sz="1200" b="0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7178554"/>
                  </a:ext>
                </a:extLst>
              </a:tr>
              <a:tr h="2894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创建笛卡尔坐标区</a:t>
                      </a:r>
                      <a:endParaRPr lang="zh-CN" altLang="en-US" sz="1200" b="0" kern="1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dirty="0" err="1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plt_axes</a:t>
                      </a: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 </a:t>
                      </a:r>
                      <a:endParaRPr lang="zh-CN" altLang="en-US" sz="1200" b="0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axes</a:t>
                      </a:r>
                      <a:endParaRPr lang="zh-CN" altLang="en-US" sz="1200" b="0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1454865"/>
                  </a:ext>
                </a:extLst>
              </a:tr>
              <a:tr h="289440">
                <a:tc>
                  <a:txBody>
                    <a:bodyPr/>
                    <a:lstStyle/>
                    <a:p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文字</a:t>
                      </a:r>
                      <a:r>
                        <a:rPr lang="zh-CN" altLang="en-US" sz="1200" b="0" kern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上下标的</a:t>
                      </a:r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标注 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zh-CN" sz="1200" b="0" kern="1200" dirty="0" err="1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raw“$txt</a:t>
                      </a: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^{} </a:t>
                      </a:r>
                      <a:r>
                        <a:rPr lang="zh-CN" altLang="en-US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或</a:t>
                      </a: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txt_{} $</a:t>
                      </a:r>
                      <a:r>
                        <a:rPr lang="zh-CN" altLang="en-US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”</a:t>
                      </a: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177791" indent="-177791" algn="l" defTabSz="914378">
                        <a:lnSpc>
                          <a:spcPct val="90000"/>
                        </a:lnSpc>
                      </a:pP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txt^{} </a:t>
                      </a:r>
                      <a:r>
                        <a:rPr lang="zh-CN" altLang="en-US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或</a:t>
                      </a:r>
                      <a:r>
                        <a:rPr lang="en-US" altLang="zh-CN" sz="1200" b="0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txt_{}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987961"/>
                  </a:ext>
                </a:extLst>
              </a:tr>
            </a:tbl>
          </a:graphicData>
        </a:graphic>
      </p:graphicFrame>
      <p:sp>
        <p:nvSpPr>
          <p:cNvPr id="5" name="标题 1">
            <a:extLst>
              <a:ext uri="{FF2B5EF4-FFF2-40B4-BE49-F238E27FC236}">
                <a16:creationId xmlns:a16="http://schemas.microsoft.com/office/drawing/2014/main" id="{69C65B64-01A1-46E1-8A76-CDCE2D108CF1}"/>
              </a:ext>
            </a:extLst>
          </p:cNvPr>
          <p:cNvSpPr txBox="1">
            <a:spLocks/>
          </p:cNvSpPr>
          <p:nvPr/>
        </p:nvSpPr>
        <p:spPr bwMode="auto">
          <a:xfrm>
            <a:off x="1475656" y="226822"/>
            <a:ext cx="4464496" cy="288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800" b="1" dirty="0"/>
              <a:t>§2. 4 </a:t>
            </a:r>
            <a:r>
              <a:rPr lang="en-US" altLang="zh-CN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Julia</a:t>
            </a:r>
            <a:r>
              <a:rPr lang="zh-CN" altLang="en-US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与</a:t>
            </a:r>
            <a:r>
              <a:rPr lang="en-US" altLang="zh-CN" sz="2800" b="1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Matlab</a:t>
            </a:r>
            <a:r>
              <a:rPr lang="zh-CN" altLang="en-US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的</a:t>
            </a:r>
            <a:r>
              <a:rPr lang="zh-CN" altLang="en-US" sz="2800" dirty="0"/>
              <a:t>概率统计分析</a:t>
            </a:r>
            <a:r>
              <a:rPr lang="zh-CN" altLang="en-US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区别</a:t>
            </a:r>
            <a:endParaRPr lang="zh-CN" altLang="en-US" sz="2800" b="1" kern="0" dirty="0"/>
          </a:p>
        </p:txBody>
      </p:sp>
    </p:spTree>
    <p:extLst>
      <p:ext uri="{BB962C8B-B14F-4D97-AF65-F5344CB8AC3E}">
        <p14:creationId xmlns:p14="http://schemas.microsoft.com/office/powerpoint/2010/main" val="175302094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83BD13-4BB7-45A6-A927-1F16ECF90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746719-A9DE-4E58-95FE-E9A1AD792F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12EC0CC-8BA8-4D7E-8F98-4672B1F34A56}"/>
              </a:ext>
            </a:extLst>
          </p:cNvPr>
          <p:cNvPicPr/>
          <p:nvPr/>
        </p:nvPicPr>
        <p:blipFill rotWithShape="1">
          <a:blip r:embed="rId2"/>
          <a:srcRect l="2781" t="16780" r="36173" b="21733"/>
          <a:stretch/>
        </p:blipFill>
        <p:spPr>
          <a:xfrm>
            <a:off x="899592" y="795412"/>
            <a:ext cx="7488832" cy="3569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64867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D95368D-9B4A-7E30-4DFB-0AA00205AE6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900" t="23401" r="40944" b="15000"/>
          <a:stretch/>
        </p:blipFill>
        <p:spPr>
          <a:xfrm>
            <a:off x="1259632" y="1188344"/>
            <a:ext cx="6932988" cy="3168352"/>
          </a:xfrm>
          <a:prstGeom prst="rect">
            <a:avLst/>
          </a:prstGeom>
        </p:spPr>
      </p:pic>
      <p:sp>
        <p:nvSpPr>
          <p:cNvPr id="6" name="标题 1">
            <a:extLst>
              <a:ext uri="{FF2B5EF4-FFF2-40B4-BE49-F238E27FC236}">
                <a16:creationId xmlns:a16="http://schemas.microsoft.com/office/drawing/2014/main" id="{DEC94B45-C2BE-48D8-BB14-CAC326246D8F}"/>
              </a:ext>
            </a:extLst>
          </p:cNvPr>
          <p:cNvSpPr txBox="1">
            <a:spLocks/>
          </p:cNvSpPr>
          <p:nvPr/>
        </p:nvSpPr>
        <p:spPr bwMode="auto">
          <a:xfrm>
            <a:off x="1763688" y="89333"/>
            <a:ext cx="6212908" cy="10764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3600" dirty="0"/>
              <a:t>§2. 4 </a:t>
            </a:r>
            <a:r>
              <a:rPr lang="en-US" altLang="zh-CN" sz="3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Julia</a:t>
            </a:r>
            <a:r>
              <a:rPr lang="zh-CN" altLang="en-US" sz="3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与</a:t>
            </a:r>
            <a:r>
              <a:rPr lang="en-US" altLang="zh-CN" sz="360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Matlab</a:t>
            </a:r>
            <a:r>
              <a:rPr lang="zh-CN" altLang="en-US" sz="3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的区别</a:t>
            </a:r>
            <a:endParaRPr lang="en-US" altLang="zh-CN" sz="36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zh-CN" altLang="en-US" sz="3600" kern="0" dirty="0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490F125E-47D7-4F82-B29B-409C2C0324D8}"/>
              </a:ext>
            </a:extLst>
          </p:cNvPr>
          <p:cNvSpPr/>
          <p:nvPr/>
        </p:nvSpPr>
        <p:spPr bwMode="auto">
          <a:xfrm>
            <a:off x="1043608" y="1779662"/>
            <a:ext cx="1944216" cy="648072"/>
          </a:xfrm>
          <a:prstGeom prst="roundRect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619113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F123CACC-4FED-41DF-A41C-B1B1ABB72962}"/>
              </a:ext>
            </a:extLst>
          </p:cNvPr>
          <p:cNvPicPr/>
          <p:nvPr/>
        </p:nvPicPr>
        <p:blipFill rotWithShape="1">
          <a:blip r:embed="rId2"/>
          <a:srcRect l="3692" t="15397" r="36189" b="19705"/>
          <a:stretch/>
        </p:blipFill>
        <p:spPr>
          <a:xfrm>
            <a:off x="1533931" y="627534"/>
            <a:ext cx="6442665" cy="396044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标题 1">
            <a:extLst>
              <a:ext uri="{FF2B5EF4-FFF2-40B4-BE49-F238E27FC236}">
                <a16:creationId xmlns:a16="http://schemas.microsoft.com/office/drawing/2014/main" id="{B44932A3-44EC-4E33-8DF8-5B079FAC9B8E}"/>
              </a:ext>
            </a:extLst>
          </p:cNvPr>
          <p:cNvSpPr txBox="1">
            <a:spLocks/>
          </p:cNvSpPr>
          <p:nvPr/>
        </p:nvSpPr>
        <p:spPr bwMode="auto">
          <a:xfrm>
            <a:off x="1763688" y="89333"/>
            <a:ext cx="6212908" cy="10764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3600" dirty="0"/>
              <a:t>§2. 4 </a:t>
            </a:r>
            <a:r>
              <a:rPr lang="en-US" altLang="zh-CN" sz="3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Julia</a:t>
            </a:r>
            <a:r>
              <a:rPr lang="zh-CN" altLang="en-US" sz="3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与</a:t>
            </a:r>
            <a:r>
              <a:rPr lang="en-US" altLang="zh-CN" sz="360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Matlab</a:t>
            </a:r>
            <a:r>
              <a:rPr lang="zh-CN" altLang="en-US" sz="3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的区别</a:t>
            </a:r>
            <a:endParaRPr lang="en-US" altLang="zh-CN" sz="36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zh-CN" altLang="en-US" sz="3600" kern="0" dirty="0"/>
          </a:p>
        </p:txBody>
      </p:sp>
    </p:spTree>
    <p:extLst>
      <p:ext uri="{BB962C8B-B14F-4D97-AF65-F5344CB8AC3E}">
        <p14:creationId xmlns:p14="http://schemas.microsoft.com/office/powerpoint/2010/main" val="390852763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CDE9382A-4CF4-4128-B59E-8D6ED762CB4D}"/>
              </a:ext>
            </a:extLst>
          </p:cNvPr>
          <p:cNvPicPr/>
          <p:nvPr/>
        </p:nvPicPr>
        <p:blipFill rotWithShape="1">
          <a:blip r:embed="rId2"/>
          <a:srcRect l="3080" t="15335" r="35988" b="16778"/>
          <a:stretch/>
        </p:blipFill>
        <p:spPr>
          <a:xfrm>
            <a:off x="1167404" y="679003"/>
            <a:ext cx="7149012" cy="3785493"/>
          </a:xfrm>
          <a:prstGeom prst="rect">
            <a:avLst/>
          </a:prstGeom>
        </p:spPr>
      </p:pic>
      <p:sp>
        <p:nvSpPr>
          <p:cNvPr id="5" name="标题 1">
            <a:extLst>
              <a:ext uri="{FF2B5EF4-FFF2-40B4-BE49-F238E27FC236}">
                <a16:creationId xmlns:a16="http://schemas.microsoft.com/office/drawing/2014/main" id="{913EF42A-A38F-4EF3-8D15-35B1B7D87C08}"/>
              </a:ext>
            </a:extLst>
          </p:cNvPr>
          <p:cNvSpPr txBox="1">
            <a:spLocks/>
          </p:cNvSpPr>
          <p:nvPr/>
        </p:nvSpPr>
        <p:spPr bwMode="auto">
          <a:xfrm>
            <a:off x="1763688" y="89333"/>
            <a:ext cx="6212908" cy="10764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3600" dirty="0"/>
              <a:t>§2. 4 </a:t>
            </a:r>
            <a:r>
              <a:rPr lang="en-US" altLang="zh-CN" sz="3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Julia</a:t>
            </a:r>
            <a:r>
              <a:rPr lang="zh-CN" altLang="en-US" sz="3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与</a:t>
            </a:r>
            <a:r>
              <a:rPr lang="en-US" altLang="zh-CN" sz="360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Matlab</a:t>
            </a:r>
            <a:r>
              <a:rPr lang="zh-CN" altLang="en-US" sz="3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的区别</a:t>
            </a:r>
            <a:endParaRPr lang="en-US" altLang="zh-CN" sz="36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zh-CN" altLang="en-US" sz="3600" kern="0" dirty="0"/>
          </a:p>
        </p:txBody>
      </p:sp>
    </p:spTree>
    <p:extLst>
      <p:ext uri="{BB962C8B-B14F-4D97-AF65-F5344CB8AC3E}">
        <p14:creationId xmlns:p14="http://schemas.microsoft.com/office/powerpoint/2010/main" val="331034277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2298FA45-8BFB-44E1-AED7-FAA348E3BB6B}"/>
              </a:ext>
            </a:extLst>
          </p:cNvPr>
          <p:cNvPicPr/>
          <p:nvPr/>
        </p:nvPicPr>
        <p:blipFill rotWithShape="1">
          <a:blip r:embed="rId3"/>
          <a:srcRect l="2953" t="17573" r="36572" b="21763"/>
          <a:stretch/>
        </p:blipFill>
        <p:spPr>
          <a:xfrm>
            <a:off x="611561" y="850156"/>
            <a:ext cx="7704855" cy="36004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5" name="标题 1">
            <a:extLst>
              <a:ext uri="{FF2B5EF4-FFF2-40B4-BE49-F238E27FC236}">
                <a16:creationId xmlns:a16="http://schemas.microsoft.com/office/drawing/2014/main" id="{F277B28B-49AD-48D2-9615-EB42FC2F7865}"/>
              </a:ext>
            </a:extLst>
          </p:cNvPr>
          <p:cNvSpPr txBox="1">
            <a:spLocks/>
          </p:cNvSpPr>
          <p:nvPr/>
        </p:nvSpPr>
        <p:spPr bwMode="auto">
          <a:xfrm>
            <a:off x="1763688" y="89333"/>
            <a:ext cx="6212908" cy="10764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3600" dirty="0"/>
              <a:t>§2. 4 </a:t>
            </a:r>
            <a:r>
              <a:rPr lang="en-US" altLang="zh-CN" sz="3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Julia</a:t>
            </a:r>
            <a:r>
              <a:rPr lang="zh-CN" altLang="en-US" sz="3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与</a:t>
            </a:r>
            <a:r>
              <a:rPr lang="en-US" altLang="zh-CN" sz="360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Matlab</a:t>
            </a:r>
            <a:r>
              <a:rPr lang="zh-CN" altLang="en-US" sz="3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的区别</a:t>
            </a:r>
            <a:endParaRPr lang="en-US" altLang="zh-CN" sz="36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zh-CN" altLang="en-US" sz="3600" kern="0" dirty="0"/>
          </a:p>
        </p:txBody>
      </p:sp>
    </p:spTree>
    <p:extLst>
      <p:ext uri="{BB962C8B-B14F-4D97-AF65-F5344CB8AC3E}">
        <p14:creationId xmlns:p14="http://schemas.microsoft.com/office/powerpoint/2010/main" val="267591398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2BFD6277-EDD2-4798-88FA-E675E3F6A497}"/>
              </a:ext>
            </a:extLst>
          </p:cNvPr>
          <p:cNvPicPr/>
          <p:nvPr/>
        </p:nvPicPr>
        <p:blipFill rotWithShape="1">
          <a:blip r:embed="rId2"/>
          <a:srcRect l="2781" t="16780" r="36173" b="21733"/>
          <a:stretch/>
        </p:blipFill>
        <p:spPr>
          <a:xfrm>
            <a:off x="899592" y="795412"/>
            <a:ext cx="7488832" cy="3569469"/>
          </a:xfrm>
          <a:prstGeom prst="rect">
            <a:avLst/>
          </a:prstGeom>
        </p:spPr>
      </p:pic>
      <p:sp>
        <p:nvSpPr>
          <p:cNvPr id="5" name="标题 1">
            <a:extLst>
              <a:ext uri="{FF2B5EF4-FFF2-40B4-BE49-F238E27FC236}">
                <a16:creationId xmlns:a16="http://schemas.microsoft.com/office/drawing/2014/main" id="{537CE336-31DF-48C8-B0A5-BD994ABAE30C}"/>
              </a:ext>
            </a:extLst>
          </p:cNvPr>
          <p:cNvSpPr txBox="1">
            <a:spLocks/>
          </p:cNvSpPr>
          <p:nvPr/>
        </p:nvSpPr>
        <p:spPr bwMode="auto">
          <a:xfrm>
            <a:off x="1763688" y="89333"/>
            <a:ext cx="6212908" cy="10764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3600" dirty="0"/>
              <a:t>§2. 4 </a:t>
            </a:r>
            <a:r>
              <a:rPr lang="en-US" altLang="zh-CN" sz="3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Julia</a:t>
            </a:r>
            <a:r>
              <a:rPr lang="zh-CN" altLang="en-US" sz="3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与</a:t>
            </a:r>
            <a:r>
              <a:rPr lang="en-US" altLang="zh-CN" sz="360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Matlab</a:t>
            </a:r>
            <a:r>
              <a:rPr lang="zh-CN" altLang="en-US" sz="3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的区别</a:t>
            </a:r>
            <a:endParaRPr lang="en-US" altLang="zh-CN" sz="36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zh-CN" altLang="en-US" sz="3600" kern="0" dirty="0"/>
          </a:p>
        </p:txBody>
      </p:sp>
    </p:spTree>
    <p:extLst>
      <p:ext uri="{BB962C8B-B14F-4D97-AF65-F5344CB8AC3E}">
        <p14:creationId xmlns:p14="http://schemas.microsoft.com/office/powerpoint/2010/main" val="243447262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D162B9E-2C99-D3B0-2156-5673E1A1DE0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04FA1CE-17F8-E14C-9259-82D04D1B829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456" t="25424" r="36613" b="16401"/>
          <a:stretch/>
        </p:blipFill>
        <p:spPr>
          <a:xfrm>
            <a:off x="1043744" y="837332"/>
            <a:ext cx="7272672" cy="41300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标题 1">
            <a:extLst>
              <a:ext uri="{FF2B5EF4-FFF2-40B4-BE49-F238E27FC236}">
                <a16:creationId xmlns:a16="http://schemas.microsoft.com/office/drawing/2014/main" id="{F64B9CCA-44C5-442C-AAC0-C0E1E5E7706C}"/>
              </a:ext>
            </a:extLst>
          </p:cNvPr>
          <p:cNvSpPr txBox="1">
            <a:spLocks/>
          </p:cNvSpPr>
          <p:nvPr/>
        </p:nvSpPr>
        <p:spPr bwMode="auto">
          <a:xfrm>
            <a:off x="1763688" y="89333"/>
            <a:ext cx="6212908" cy="10764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3600" dirty="0"/>
              <a:t>§2. 4 </a:t>
            </a:r>
            <a:r>
              <a:rPr lang="en-US" altLang="zh-CN" sz="3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Julia</a:t>
            </a:r>
            <a:r>
              <a:rPr lang="zh-CN" altLang="en-US" sz="3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与</a:t>
            </a:r>
            <a:r>
              <a:rPr lang="en-US" altLang="zh-CN" sz="360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Matlab</a:t>
            </a:r>
            <a:r>
              <a:rPr lang="zh-CN" altLang="en-US" sz="3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的区别</a:t>
            </a:r>
            <a:endParaRPr lang="en-US" altLang="zh-CN" sz="36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zh-CN" altLang="en-US" sz="3600" kern="0" dirty="0"/>
          </a:p>
        </p:txBody>
      </p:sp>
    </p:spTree>
    <p:extLst>
      <p:ext uri="{BB962C8B-B14F-4D97-AF65-F5344CB8AC3E}">
        <p14:creationId xmlns:p14="http://schemas.microsoft.com/office/powerpoint/2010/main" val="303882411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C6B63EB-CF86-449D-A7E1-C980B180C5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12072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19501F-4BCE-47CA-AB27-B5EC4082CB0F}"/>
              </a:ext>
            </a:extLst>
          </p:cNvPr>
          <p:cNvSpPr txBox="1">
            <a:spLocks/>
          </p:cNvSpPr>
          <p:nvPr/>
        </p:nvSpPr>
        <p:spPr bwMode="auto">
          <a:xfrm>
            <a:off x="2123728" y="583943"/>
            <a:ext cx="4464496" cy="288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en-US" altLang="zh-CN" sz="2800" b="1" dirty="0"/>
              <a:t>§2. 4 </a:t>
            </a:r>
            <a:r>
              <a:rPr lang="en-US" altLang="zh-CN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Julia</a:t>
            </a:r>
            <a:r>
              <a:rPr lang="zh-CN" altLang="en-US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与</a:t>
            </a:r>
            <a:r>
              <a:rPr lang="en-US" altLang="zh-CN" sz="2800" b="1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Matlab</a:t>
            </a:r>
            <a:r>
              <a:rPr lang="zh-CN" altLang="en-US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的绘图区别</a:t>
            </a:r>
            <a:endParaRPr lang="en-US" altLang="zh-CN" sz="2800" b="1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zh-CN" altLang="en-US" sz="2800" b="1" kern="0" dirty="0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C74E2205-0451-4D64-B1FD-95C09245E4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2549506"/>
              </p:ext>
            </p:extLst>
          </p:nvPr>
        </p:nvGraphicFramePr>
        <p:xfrm>
          <a:off x="70832" y="-164554"/>
          <a:ext cx="8841543" cy="4907280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1980888">
                  <a:extLst>
                    <a:ext uri="{9D8B030D-6E8A-4147-A177-3AD203B41FA5}">
                      <a16:colId xmlns:a16="http://schemas.microsoft.com/office/drawing/2014/main" val="2629255684"/>
                    </a:ext>
                  </a:extLst>
                </a:gridCol>
                <a:gridCol w="3960440">
                  <a:extLst>
                    <a:ext uri="{9D8B030D-6E8A-4147-A177-3AD203B41FA5}">
                      <a16:colId xmlns:a16="http://schemas.microsoft.com/office/drawing/2014/main" val="3554382883"/>
                    </a:ext>
                  </a:extLst>
                </a:gridCol>
                <a:gridCol w="2900215">
                  <a:extLst>
                    <a:ext uri="{9D8B030D-6E8A-4147-A177-3AD203B41FA5}">
                      <a16:colId xmlns:a16="http://schemas.microsoft.com/office/drawing/2014/main" val="920398126"/>
                    </a:ext>
                  </a:extLst>
                </a:gridCol>
              </a:tblGrid>
              <a:tr h="293423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Julia</a:t>
                      </a: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语言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</a:t>
                      </a: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语言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0450922"/>
                  </a:ext>
                </a:extLst>
              </a:tr>
              <a:tr h="29342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b="1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工具箱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using </a:t>
                      </a:r>
                      <a:r>
                        <a:rPr lang="en-US" altLang="zh-CN" sz="1400" b="1" kern="1200" dirty="0" err="1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TyPlot</a:t>
                      </a:r>
                      <a:r>
                        <a:rPr lang="zh-CN" altLang="en-US" sz="14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预加载同元工具箱，可省</a:t>
                      </a:r>
                      <a:r>
                        <a:rPr lang="en-US" altLang="zh-CN" sz="14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using</a:t>
                      </a:r>
                      <a:endParaRPr lang="zh-CN" altLang="en-US" sz="1400" b="1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不用加载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7820071"/>
                  </a:ext>
                </a:extLst>
              </a:tr>
              <a:tr h="29342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b="1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函数点运算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 f.(x) </a:t>
                      </a:r>
                      <a:r>
                        <a:rPr lang="zh-CN" altLang="en-US" sz="14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或  </a:t>
                      </a:r>
                      <a:r>
                        <a:rPr lang="en-US" altLang="zh-CN" sz="14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@.f(x)</a:t>
                      </a:r>
                      <a:endParaRPr lang="zh-CN" altLang="en-US" sz="1400" b="1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无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0098358"/>
                  </a:ext>
                </a:extLst>
              </a:tr>
              <a:tr h="2934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1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点运算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用点运算符 或  </a:t>
                      </a:r>
                      <a:r>
                        <a:rPr lang="en-US" altLang="zh-CN" sz="14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@. </a:t>
                      </a:r>
                      <a:r>
                        <a:rPr lang="zh-CN" altLang="en-US" sz="14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表达式</a:t>
                      </a:r>
                      <a:endParaRPr lang="zh-CN" altLang="zh-CN" sz="1400" b="1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只有点运算符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2607223"/>
                  </a:ext>
                </a:extLst>
              </a:tr>
              <a:tr h="2934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1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线型标记符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有数字标记符，如</a:t>
                      </a:r>
                      <a:r>
                        <a:rPr lang="en-US" altLang="zh-CN" sz="14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1</a:t>
                      </a:r>
                      <a:r>
                        <a:rPr lang="zh-CN" altLang="en-US" sz="14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4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2</a:t>
                      </a:r>
                      <a:r>
                        <a:rPr lang="zh-CN" altLang="en-US" sz="14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4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3</a:t>
                      </a:r>
                      <a:r>
                        <a:rPr lang="zh-CN" altLang="en-US" sz="14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4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4</a:t>
                      </a:r>
                      <a:r>
                        <a:rPr lang="zh-CN" altLang="en-US" sz="14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4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8</a:t>
                      </a:r>
                      <a:endParaRPr lang="zh-CN" altLang="en-US" sz="1400" b="1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无数字标记符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1118208"/>
                  </a:ext>
                </a:extLst>
              </a:tr>
              <a:tr h="29342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b="1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句柄设置属性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4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plt_set(</a:t>
                      </a:r>
                      <a:r>
                        <a:rPr lang="en-US" altLang="zh-CN" sz="14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h,</a:t>
                      </a:r>
                      <a:r>
                        <a:rPr lang="zh-CN" altLang="zh-CN" sz="14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Key=Value) 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set</a:t>
                      </a:r>
                      <a:endParaRPr lang="zh-CN" altLang="en-US" sz="1400" b="1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0052805"/>
                  </a:ext>
                </a:extLst>
              </a:tr>
              <a:tr h="29342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b="1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绘图语法习惯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加空括号，</a:t>
                      </a:r>
                      <a:r>
                        <a:rPr lang="en-US" altLang="zh-CN" sz="14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figure</a:t>
                      </a:r>
                      <a:r>
                        <a:rPr lang="zh-CN" altLang="en-US" sz="14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（），</a:t>
                      </a:r>
                      <a:r>
                        <a:rPr lang="en-US" altLang="zh-CN" sz="1400" b="1" kern="1200" dirty="0" err="1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gcf</a:t>
                      </a:r>
                      <a:r>
                        <a:rPr lang="zh-CN" altLang="en-US" sz="14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（）</a:t>
                      </a:r>
                      <a:r>
                        <a:rPr lang="en-US" altLang="zh-CN" sz="14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,</a:t>
                      </a:r>
                      <a:r>
                        <a:rPr lang="en-US" altLang="zh-CN" sz="1400" b="1" kern="1200" dirty="0" err="1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gca</a:t>
                      </a:r>
                      <a:r>
                        <a:rPr lang="en-US" altLang="zh-CN" sz="14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(),</a:t>
                      </a:r>
                      <a:endParaRPr lang="zh-CN" altLang="en-US" sz="1400" b="1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无括号</a:t>
                      </a:r>
                      <a:r>
                        <a:rPr lang="en-US" altLang="zh-CN" sz="1400" b="1" kern="1200" dirty="0" err="1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figue,gcf</a:t>
                      </a:r>
                      <a:r>
                        <a:rPr lang="en-US" altLang="zh-CN" sz="14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,</a:t>
                      </a:r>
                      <a:endParaRPr lang="zh-CN" altLang="en-US" sz="1400" b="1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0178220"/>
                  </a:ext>
                </a:extLst>
              </a:tr>
              <a:tr h="4988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1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绘图语法习惯</a:t>
                      </a:r>
                    </a:p>
                    <a:p>
                      <a:pPr marL="0" algn="l" defTabSz="914400" rtl="0" eaLnBrk="1" latinLnBrk="0" hangingPunct="1"/>
                      <a:endParaRPr lang="zh-CN" altLang="en-US" sz="1400" b="1" kern="1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hold</a:t>
                      </a:r>
                      <a:r>
                        <a:rPr lang="zh-CN" altLang="en-US" sz="14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（“</a:t>
                      </a:r>
                      <a:r>
                        <a:rPr lang="en-US" altLang="zh-CN" sz="14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on</a:t>
                      </a:r>
                      <a:r>
                        <a:rPr lang="zh-CN" altLang="en-US" sz="14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”）</a:t>
                      </a:r>
                      <a:r>
                        <a:rPr lang="en-US" altLang="zh-CN" sz="14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, axis("equal"), grid("on") ,</a:t>
                      </a:r>
                      <a:r>
                        <a:rPr lang="zh-CN" altLang="zh-CN" sz="14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 yyaxis("right") </a:t>
                      </a:r>
                      <a:endParaRPr lang="zh-CN" altLang="en-US" sz="1400" b="1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hold on</a:t>
                      </a:r>
                      <a:r>
                        <a:rPr lang="zh-CN" altLang="en-US" sz="14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，</a:t>
                      </a:r>
                      <a:r>
                        <a:rPr lang="en-US" altLang="zh-CN" sz="14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axis on, axis equal , grid on, </a:t>
                      </a:r>
                      <a:r>
                        <a:rPr lang="en-US" altLang="zh-CN" sz="1400" b="1" kern="1200" dirty="0" err="1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yyaxis</a:t>
                      </a:r>
                      <a:r>
                        <a:rPr lang="en-US" altLang="zh-CN" sz="14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 right</a:t>
                      </a:r>
                      <a:endParaRPr lang="zh-CN" altLang="en-US" sz="1400" b="1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4095321"/>
                  </a:ext>
                </a:extLst>
              </a:tr>
              <a:tr h="293423">
                <a:tc>
                  <a:txBody>
                    <a:bodyPr/>
                    <a:lstStyle/>
                    <a:p>
                      <a:r>
                        <a:rPr lang="zh-CN" altLang="en-US" sz="14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网格矩阵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  <a:sym typeface="Arial" panose="020B0604020202020204" pitchFamily="34" charset="0"/>
                        </a:rPr>
                        <a:t>X,Y=meshgrid2(</a:t>
                      </a:r>
                      <a:r>
                        <a:rPr lang="en-US" altLang="zh-CN" sz="1400" b="1" kern="1200" dirty="0" err="1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  <a:sym typeface="Arial" panose="020B0604020202020204" pitchFamily="34" charset="0"/>
                        </a:rPr>
                        <a:t>x,y</a:t>
                      </a:r>
                      <a:r>
                        <a:rPr lang="en-US" altLang="zh-CN" sz="14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  <a:sym typeface="Arial" panose="020B0604020202020204" pitchFamily="34" charset="0"/>
                        </a:rPr>
                        <a:t>)</a:t>
                      </a:r>
                      <a:endParaRPr lang="en-US" altLang="zh-CN" sz="1400" b="1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177791" indent="-177791" algn="l" defTabSz="914378">
                        <a:lnSpc>
                          <a:spcPct val="90000"/>
                        </a:lnSpc>
                      </a:pPr>
                      <a:r>
                        <a:rPr lang="en-US" altLang="zh-CN" sz="14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[X,Y]=</a:t>
                      </a:r>
                      <a:r>
                        <a:rPr lang="en-US" altLang="zh-CN" sz="1400" b="1" kern="1200" dirty="0" err="1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meshigrid</a:t>
                      </a:r>
                      <a:r>
                        <a:rPr lang="en-US" altLang="zh-CN" sz="14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zh-CN" sz="1400" b="1" kern="1200" dirty="0" err="1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x,y</a:t>
                      </a:r>
                      <a:r>
                        <a:rPr lang="en-US" altLang="zh-CN" sz="14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5724993"/>
                  </a:ext>
                </a:extLst>
              </a:tr>
              <a:tr h="498819">
                <a:tc>
                  <a:txBody>
                    <a:bodyPr/>
                    <a:lstStyle/>
                    <a:p>
                      <a:r>
                        <a:rPr lang="zh-CN" altLang="en-US" sz="14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着色</a:t>
                      </a:r>
                      <a:r>
                        <a:rPr lang="en-US" altLang="zh-CN" sz="14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shading</a:t>
                      </a:r>
                      <a:endParaRPr lang="zh-CN" altLang="en-US" sz="1400" b="1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shading(</a:t>
                      </a:r>
                      <a:r>
                        <a:rPr lang="en-US" altLang="zh-CN" sz="1400" b="1" kern="1200" dirty="0" err="1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h,"faceted</a:t>
                      </a:r>
                      <a:r>
                        <a:rPr lang="en-US" altLang="zh-CN" sz="14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") (</a:t>
                      </a:r>
                      <a:r>
                        <a:rPr lang="zh-CN" altLang="en-US" sz="14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默认</a:t>
                      </a:r>
                      <a:r>
                        <a:rPr lang="en-US" altLang="zh-CN" sz="14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shading(</a:t>
                      </a:r>
                      <a:r>
                        <a:rPr lang="en-US" altLang="zh-CN" sz="1400" b="1" kern="1200" dirty="0" err="1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h,“flat</a:t>
                      </a:r>
                      <a:r>
                        <a:rPr lang="en-US" altLang="zh-CN" sz="14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”)  h</a:t>
                      </a:r>
                      <a:r>
                        <a:rPr lang="zh-CN" altLang="en-US" sz="14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是曲面句柄</a:t>
                      </a:r>
                      <a:r>
                        <a:rPr lang="en-US" altLang="zh-CN" sz="14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177791" indent="-177791" algn="l" defTabSz="914378">
                        <a:lnSpc>
                          <a:spcPct val="90000"/>
                        </a:lnSpc>
                      </a:pPr>
                      <a:r>
                        <a:rPr lang="en-US" altLang="zh-CN" sz="14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shading faceted</a:t>
                      </a:r>
                    </a:p>
                    <a:p>
                      <a:pPr marL="177791" indent="-177791" algn="l" defTabSz="914378">
                        <a:lnSpc>
                          <a:spcPct val="90000"/>
                        </a:lnSpc>
                      </a:pPr>
                      <a:r>
                        <a:rPr lang="en-US" altLang="zh-CN" sz="14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shading flat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4094758"/>
                  </a:ext>
                </a:extLst>
              </a:tr>
              <a:tr h="4988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设置当前颜色图</a:t>
                      </a:r>
                    </a:p>
                    <a:p>
                      <a:endParaRPr lang="zh-CN" altLang="en-US" sz="1400" b="1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4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colormap(</a:t>
                      </a:r>
                      <a:r>
                        <a:rPr lang="en-US" altLang="zh-CN" sz="14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h</a:t>
                      </a:r>
                      <a:r>
                        <a:rPr lang="zh-CN" altLang="zh-CN" sz="14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,map) </a:t>
                      </a:r>
                      <a:r>
                        <a:rPr lang="zh-CN" altLang="en-US" sz="14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，</a:t>
                      </a:r>
                      <a:r>
                        <a:rPr lang="en-US" altLang="zh-CN" sz="14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h</a:t>
                      </a:r>
                      <a:r>
                        <a:rPr lang="zh-CN" altLang="en-US" sz="14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是曲面句柄</a:t>
                      </a:r>
                      <a:endParaRPr lang="en-US" altLang="zh-CN" sz="1400" b="1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如colormap(h,"winter")</a:t>
                      </a:r>
                      <a:endParaRPr lang="en-US" altLang="zh-CN" sz="1400" b="1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177791" indent="-177791" algn="l" defTabSz="914378">
                        <a:lnSpc>
                          <a:spcPct val="90000"/>
                        </a:lnSpc>
                      </a:pPr>
                      <a:r>
                        <a:rPr lang="en-US" altLang="zh-CN" sz="14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colormap(map)</a:t>
                      </a:r>
                      <a:endParaRPr lang="en-US" altLang="zh-CN" sz="1400" b="1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  <a:p>
                      <a:pPr marL="177791" indent="-177791" algn="l" defTabSz="914378">
                        <a:lnSpc>
                          <a:spcPct val="90000"/>
                        </a:lnSpc>
                      </a:pPr>
                      <a:r>
                        <a:rPr lang="zh-CN" altLang="en-US" sz="14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如</a:t>
                      </a:r>
                      <a:r>
                        <a:rPr lang="en-US" altLang="zh-CN" sz="14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colormap(winter)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0391990"/>
                  </a:ext>
                </a:extLst>
              </a:tr>
              <a:tr h="293423">
                <a:tc>
                  <a:txBody>
                    <a:bodyPr/>
                    <a:lstStyle/>
                    <a:p>
                      <a:r>
                        <a:rPr lang="zh-CN" altLang="en-US" sz="1400" b="1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显示色阶的颜色栏</a:t>
                      </a:r>
                      <a:endParaRPr lang="zh-CN" altLang="en-US" sz="1400" b="1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kern="1200" dirty="0" err="1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colorbar</a:t>
                      </a:r>
                      <a:r>
                        <a:rPr lang="en-US" altLang="zh-CN" sz="14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(h)</a:t>
                      </a:r>
                      <a:r>
                        <a:rPr lang="zh-CN" altLang="en-US" sz="14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 ，</a:t>
                      </a:r>
                      <a:r>
                        <a:rPr lang="en-US" altLang="zh-CN" sz="14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h</a:t>
                      </a:r>
                      <a:r>
                        <a:rPr lang="zh-CN" altLang="en-US" sz="14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是曲面句柄</a:t>
                      </a:r>
                      <a:endParaRPr lang="en-US" altLang="zh-CN" sz="1400" b="1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177791" indent="-177791" algn="l" defTabSz="914378">
                        <a:lnSpc>
                          <a:spcPct val="90000"/>
                        </a:lnSpc>
                      </a:pPr>
                      <a:r>
                        <a:rPr lang="en-US" altLang="zh-CN" sz="1400" b="1" kern="1200" dirty="0" err="1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colorbar</a:t>
                      </a:r>
                      <a:endParaRPr lang="en-US" altLang="zh-CN" sz="1400" b="1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7178554"/>
                  </a:ext>
                </a:extLst>
              </a:tr>
              <a:tr h="29342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b="1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创建笛卡尔坐标区</a:t>
                      </a:r>
                      <a:endParaRPr lang="zh-CN" altLang="en-US" sz="1400" b="1" kern="1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kern="1200" dirty="0" err="1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plt_axes</a:t>
                      </a:r>
                      <a:r>
                        <a:rPr lang="en-US" altLang="zh-CN" sz="14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 </a:t>
                      </a:r>
                      <a:endParaRPr lang="zh-CN" altLang="en-US" sz="1400" b="1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axes</a:t>
                      </a:r>
                      <a:endParaRPr lang="zh-CN" altLang="en-US" sz="1400" b="1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1454865"/>
                  </a:ext>
                </a:extLst>
              </a:tr>
              <a:tr h="293423">
                <a:tc>
                  <a:txBody>
                    <a:bodyPr/>
                    <a:lstStyle/>
                    <a:p>
                      <a:r>
                        <a:rPr lang="zh-CN" altLang="en-US" sz="14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文字</a:t>
                      </a:r>
                      <a:r>
                        <a:rPr lang="zh-CN" altLang="en-US" sz="1400" b="1" kern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上下标的</a:t>
                      </a:r>
                      <a:r>
                        <a:rPr lang="zh-CN" altLang="en-US" sz="14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标注 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zh-CN" sz="1400" b="1" kern="1200" dirty="0" err="1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raw“$txt</a:t>
                      </a:r>
                      <a:r>
                        <a:rPr lang="en-US" altLang="zh-CN" sz="14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^{} </a:t>
                      </a:r>
                      <a:r>
                        <a:rPr lang="zh-CN" altLang="en-US" sz="14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或</a:t>
                      </a:r>
                      <a:r>
                        <a:rPr lang="en-US" altLang="zh-CN" sz="14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txt_{} $</a:t>
                      </a:r>
                      <a:r>
                        <a:rPr lang="zh-CN" altLang="en-US" sz="14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”</a:t>
                      </a:r>
                      <a:r>
                        <a:rPr lang="en-US" altLang="zh-CN" sz="14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177791" indent="-177791" algn="l" defTabSz="914378">
                        <a:lnSpc>
                          <a:spcPct val="90000"/>
                        </a:lnSpc>
                      </a:pPr>
                      <a:r>
                        <a:rPr lang="en-US" altLang="zh-CN" sz="14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txt^{} </a:t>
                      </a:r>
                      <a:r>
                        <a:rPr lang="zh-CN" altLang="en-US" sz="14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或</a:t>
                      </a:r>
                      <a:r>
                        <a:rPr lang="en-US" altLang="zh-CN" sz="14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txt_{}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9879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2339072"/>
      </p:ext>
    </p:extLst>
  </p:cSld>
  <p:clrMapOvr>
    <a:masterClrMapping/>
  </p:clrMapOvr>
</p:sld>
</file>

<file path=ppt/theme/theme1.xml><?xml version="1.0" encoding="utf-8"?>
<a:theme xmlns:a="http://schemas.openxmlformats.org/drawingml/2006/main" name="主题1">
  <a:themeElements>
    <a:clrScheme name="darp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arpa">
      <a:majorFont>
        <a:latin typeface="Helvetic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77800" marR="0" indent="-177800" algn="ctr" defTabSz="914400" rtl="0" eaLnBrk="0" fontAlgn="base" latinLnBrk="0" hangingPunct="0">
          <a:lnSpc>
            <a:spcPct val="11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77800" marR="0" indent="-177800" algn="ctr" defTabSz="914400" rtl="0" eaLnBrk="0" fontAlgn="base" latinLnBrk="0" hangingPunct="0">
          <a:lnSpc>
            <a:spcPct val="11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arp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rpa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rpa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rpa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rp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rp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rp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17381</TotalTime>
  <Pages>154</Pages>
  <Words>9691</Words>
  <Characters>0</Characters>
  <Application>Microsoft Office PowerPoint</Application>
  <DocSecurity>0</DocSecurity>
  <PresentationFormat>全屏显示(16:9)</PresentationFormat>
  <Lines>0</Lines>
  <Paragraphs>1128</Paragraphs>
  <Slides>59</Slides>
  <Notes>33</Notes>
  <HiddenSlides>0</HiddenSlides>
  <MMClips>0</MMClips>
  <ScaleCrop>false</ScaleCrop>
  <HeadingPairs>
    <vt:vector size="8" baseType="variant">
      <vt:variant>
        <vt:lpstr>已用的字体</vt:lpstr>
      </vt:variant>
      <vt:variant>
        <vt:i4>30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59</vt:i4>
      </vt:variant>
    </vt:vector>
  </HeadingPairs>
  <TitlesOfParts>
    <vt:vector size="90" baseType="lpstr">
      <vt:lpstr>-apple-system</vt:lpstr>
      <vt:lpstr>B4å®ä½</vt:lpstr>
      <vt:lpstr>B5HGFXCNKI</vt:lpstr>
      <vt:lpstr>EBXZFWB1u7</vt:lpstr>
      <vt:lpstr>EBZZFWB1t3</vt:lpstr>
      <vt:lpstr>EditControl</vt:lpstr>
      <vt:lpstr>GBK</vt:lpstr>
      <vt:lpstr>Helvetica Neue</vt:lpstr>
      <vt:lpstr>HTJ0ZFWB1t2</vt:lpstr>
      <vt:lpstr>Inter</vt:lpstr>
      <vt:lpstr>KaTeX_Main</vt:lpstr>
      <vt:lpstr>KaTeX_Math</vt:lpstr>
      <vt:lpstr>Menlo</vt:lpstr>
      <vt:lpstr>等线</vt:lpstr>
      <vt:lpstr>方正粗黑宋简体</vt:lpstr>
      <vt:lpstr>黑体</vt:lpstr>
      <vt:lpstr>华文楷体</vt:lpstr>
      <vt:lpstr>隶书</vt:lpstr>
      <vt:lpstr>宋体</vt:lpstr>
      <vt:lpstr>Microsoft YaHei</vt:lpstr>
      <vt:lpstr>Microsoft YaHei</vt:lpstr>
      <vt:lpstr>微软雅黑 Light</vt:lpstr>
      <vt:lpstr>Arial</vt:lpstr>
      <vt:lpstr>Calibri</vt:lpstr>
      <vt:lpstr>Cambria Math</vt:lpstr>
      <vt:lpstr>Consolas</vt:lpstr>
      <vt:lpstr>Courier New</vt:lpstr>
      <vt:lpstr>Helvetica</vt:lpstr>
      <vt:lpstr>Times New Roman</vt:lpstr>
      <vt:lpstr>Wingdings</vt:lpstr>
      <vt:lpstr>主题1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§ 2.2  函数文件</vt:lpstr>
      <vt:lpstr>§2.2  函数——定义和调用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§2.2.6复合表达式</vt:lpstr>
      <vt:lpstr>PowerPoint 演示文稿</vt:lpstr>
      <vt:lpstr>PowerPoint 演示文稿</vt:lpstr>
      <vt:lpstr>§2.3.1 条件表达式——单分支和双分支语句if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li aibin</cp:lastModifiedBy>
  <cp:revision>1309</cp:revision>
  <dcterms:modified xsi:type="dcterms:W3CDTF">2025-03-11T08:18:46Z</dcterms:modified>
</cp:coreProperties>
</file>