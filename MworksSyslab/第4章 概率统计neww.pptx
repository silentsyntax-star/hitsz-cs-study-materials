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55"/>
  </p:notesMasterIdLst>
  <p:sldIdLst>
    <p:sldId id="2186" r:id="rId2"/>
    <p:sldId id="2187" r:id="rId3"/>
    <p:sldId id="2189" r:id="rId4"/>
    <p:sldId id="1216" r:id="rId5"/>
    <p:sldId id="2180" r:id="rId6"/>
    <p:sldId id="2181" r:id="rId7"/>
    <p:sldId id="669" r:id="rId8"/>
    <p:sldId id="655" r:id="rId9"/>
    <p:sldId id="657" r:id="rId10"/>
    <p:sldId id="658" r:id="rId11"/>
    <p:sldId id="659" r:id="rId12"/>
    <p:sldId id="672" r:id="rId13"/>
    <p:sldId id="2194" r:id="rId14"/>
    <p:sldId id="2195" r:id="rId15"/>
    <p:sldId id="729" r:id="rId16"/>
    <p:sldId id="271" r:id="rId17"/>
    <p:sldId id="1706" r:id="rId18"/>
    <p:sldId id="282" r:id="rId19"/>
    <p:sldId id="671" r:id="rId20"/>
    <p:sldId id="284" r:id="rId21"/>
    <p:sldId id="679" r:id="rId22"/>
    <p:sldId id="380" r:id="rId23"/>
    <p:sldId id="652" r:id="rId24"/>
    <p:sldId id="674" r:id="rId25"/>
    <p:sldId id="653" r:id="rId26"/>
    <p:sldId id="654" r:id="rId27"/>
    <p:sldId id="683" r:id="rId28"/>
    <p:sldId id="656" r:id="rId29"/>
    <p:sldId id="682" r:id="rId30"/>
    <p:sldId id="477" r:id="rId31"/>
    <p:sldId id="1710" r:id="rId32"/>
    <p:sldId id="677" r:id="rId33"/>
    <p:sldId id="1688" r:id="rId34"/>
    <p:sldId id="1691" r:id="rId35"/>
    <p:sldId id="1690" r:id="rId36"/>
    <p:sldId id="299" r:id="rId37"/>
    <p:sldId id="2159" r:id="rId38"/>
    <p:sldId id="2173" r:id="rId39"/>
    <p:sldId id="2176" r:id="rId40"/>
    <p:sldId id="2177" r:id="rId41"/>
    <p:sldId id="2178" r:id="rId42"/>
    <p:sldId id="2179" r:id="rId43"/>
    <p:sldId id="1699" r:id="rId44"/>
    <p:sldId id="1709" r:id="rId45"/>
    <p:sldId id="728" r:id="rId46"/>
    <p:sldId id="1704" r:id="rId47"/>
    <p:sldId id="801" r:id="rId48"/>
    <p:sldId id="2146" r:id="rId49"/>
    <p:sldId id="735" r:id="rId50"/>
    <p:sldId id="2190" r:id="rId51"/>
    <p:sldId id="2149" r:id="rId52"/>
    <p:sldId id="2192" r:id="rId53"/>
    <p:sldId id="2196" r:id="rId5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8881EEE-EB7B-4D2E-8CAE-C412EC59D3B7}">
          <p14:sldIdLst>
            <p14:sldId id="2186"/>
            <p14:sldId id="2187"/>
            <p14:sldId id="2189"/>
            <p14:sldId id="1216"/>
            <p14:sldId id="2180"/>
            <p14:sldId id="2181"/>
            <p14:sldId id="669"/>
            <p14:sldId id="655"/>
            <p14:sldId id="657"/>
            <p14:sldId id="658"/>
            <p14:sldId id="659"/>
            <p14:sldId id="672"/>
            <p14:sldId id="2194"/>
            <p14:sldId id="2195"/>
            <p14:sldId id="729"/>
            <p14:sldId id="271"/>
            <p14:sldId id="1706"/>
            <p14:sldId id="282"/>
            <p14:sldId id="671"/>
            <p14:sldId id="284"/>
            <p14:sldId id="679"/>
            <p14:sldId id="380"/>
            <p14:sldId id="652"/>
            <p14:sldId id="674"/>
            <p14:sldId id="653"/>
            <p14:sldId id="654"/>
            <p14:sldId id="683"/>
            <p14:sldId id="656"/>
            <p14:sldId id="682"/>
            <p14:sldId id="477"/>
            <p14:sldId id="1710"/>
            <p14:sldId id="677"/>
            <p14:sldId id="1688"/>
            <p14:sldId id="1691"/>
            <p14:sldId id="1690"/>
            <p14:sldId id="299"/>
            <p14:sldId id="2159"/>
            <p14:sldId id="2173"/>
            <p14:sldId id="2176"/>
            <p14:sldId id="2177"/>
            <p14:sldId id="2178"/>
            <p14:sldId id="2179"/>
            <p14:sldId id="1699"/>
            <p14:sldId id="1709"/>
            <p14:sldId id="728"/>
            <p14:sldId id="1704"/>
            <p14:sldId id="801"/>
            <p14:sldId id="2146"/>
            <p14:sldId id="735"/>
            <p14:sldId id="2190"/>
            <p14:sldId id="2149"/>
            <p14:sldId id="2192"/>
            <p14:sldId id="2196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3B76"/>
    <a:srgbClr val="736303"/>
    <a:srgbClr val="F0DA04"/>
    <a:srgbClr val="6D629C"/>
    <a:srgbClr val="33CCFF"/>
    <a:srgbClr val="66CCFF"/>
    <a:srgbClr val="3366FF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2985" autoAdjust="0"/>
  </p:normalViewPr>
  <p:slideViewPr>
    <p:cSldViewPr snapToObjects="1">
      <p:cViewPr varScale="1">
        <p:scale>
          <a:sx n="81" d="100"/>
          <a:sy n="81" d="100"/>
        </p:scale>
        <p:origin x="896" y="48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48.wmf"/><Relationship Id="rId1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jiahao.baidu.com/s?id=1803017027040946285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87%A0%E4%BD%95%E5%AD%A6/342546?fromModule=lemma_inlink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item/%E6%98%BE%E8%91%97%E6%80%A7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baike.baidu.com/item/%E5%8C%BA%E9%97%B4%E4%BC%B0%E8%AE%A1" TargetMode="External"/><Relationship Id="rId5" Type="http://schemas.openxmlformats.org/officeDocument/2006/relationships/hyperlink" Target="http://baike.baidu.com/item/%E7%BD%AE%E4%BF%A1%E6%B0%B4%E5%B9%B3" TargetMode="External"/><Relationship Id="rId4" Type="http://schemas.openxmlformats.org/officeDocument/2006/relationships/hyperlink" Target="http://baike.baidu.com/item/%E7%BD%AE%E4%BF%A1%E5%BA%A6" TargetMode="Externa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AE%8C%E5%85%A8%E7%9B%B8%E5%85%B3/12753367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o.csdn.net/so/search?q=%E6%95%B0%E7%90%86%E7%BB%9F%E8%AE%A1&amp;spm=1001.2101.3001.7020" TargetMode="Externa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学过了科学计算可视化即建模后处理，接下来学习建模知识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771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高教社杯全国大学生数学建模竞赛通常会涵盖多个领域的题型，旨在全面考察参赛者的数学建模能力、数据分析能力、逻辑思维能力和创新能力。五类题型通常包括：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理论应用型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‌：这类题目通常涉及数学理论的实际应用，要求参赛者将所学知识应用于解决实际问题。题目可能会涵盖优化理论、统计学、概率论、微分方程等领域。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数据分析型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‌：这类题目要求参赛者对实际数据进行收集、分析和解释，通常需要应用统计学和数据分析方法。题目可能会提供一组数据，要求参赛者进行分析并得出结论。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综合评价型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‌：这类题目通常涉及多个评价因素，要求参赛者建立综合评价模型，对多个方案进行比较和评价。题目可能会涉及经济、环境、社会等多个方面的综合评价。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预测预测型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‌：这类题目要求参赛者建立预测模型，对未来的发展或趋势进行预测。题目可能会涉及经济预测、天气预测、人口预测等。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创新设计型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‌：这类题目强调创新性，要求参赛者提出新的思路和方法，解决实际问题。题目可能会涉及新的算法设计、系统设计或方法创新。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这些题型旨在全面考察参赛者的综合素质和能力，通过竞赛可以锻炼参赛者的数学建模和解决实际问题的能力。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35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需要掌握算法：（排名不分先后）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1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拟合插值方法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时间序列算法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简单的图论算法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线性规划、整数规划、多元规划、二次规划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排队论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层次分析法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灰色综合评价、灰色预测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一种聚类算法（见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3.4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一种分类算法（见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3.4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一种预测算法（见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3.4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多元线性回归</a:t>
            </a: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元胞自动机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高教社杯全国大学生数学建模竞赛通常会涵盖多个领域的题型，旨在全面考察参赛者的数学建模能力、数据分析能力、逻辑思维能力和创新能力。五类题型通常包括：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理论应用型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‌：这类题目通常涉及数学理论的实际应用，要求参赛者将所学知识应用于解决实际问题。题目可能会涵盖优化理论、统计学、概率论、微分方程等领域。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数据分析型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‌：这类题目要求参赛者对实际数据进行收集、分析和解释，通常需要应用统计学和数据分析方法。题目可能会提供一组数据，要求参赛者进行分析并得出结论。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综合评价型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‌：这类题目通常涉及多个评价因素，要求参赛者建立综合评价模型，对多个方案进行比较和评价。题目可能会涉及经济、环境、社会等多个方面的综合评价。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预测预测型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‌：这类题目要求参赛者建立预测模型，对未来的发展或趋势进行预测。题目可能会涉及经济预测、天气预测、人口预测等。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创新设计型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‌：这类题目强调创新性，要求参赛者提出新的思路和方法，解决实际问题。题目可能会涉及新的算法设计、系统设计或方法创新。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这些题型旨在全面考察参赛者的综合素质和能力，通过竞赛可以锻炼参赛者的数学建模和解决实际问题的能力。</a:t>
            </a:r>
          </a:p>
          <a:p>
            <a:pPr algn="l" latinLnBrk="1"/>
            <a:r>
              <a:rPr lang="zh-CN" altLang="en-US" b="0" i="0" dirty="0">
                <a:solidFill>
                  <a:srgbClr val="201452"/>
                </a:solidFill>
                <a:effectLst/>
                <a:latin typeface="PingFang SC"/>
              </a:rPr>
              <a:t>请具体说明这五类题型</a:t>
            </a:r>
          </a:p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智能模式 回答完成</a:t>
            </a:r>
          </a:p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深度思考完成 用时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41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秒，搜索全网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25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篇资料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高教社杯全国大学生数学建模竞赛的五类题型及其具体说明如下：</a:t>
            </a:r>
          </a:p>
          <a:p>
            <a:pPr algn="l" latinLnBrk="0"/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1. 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评价类题型‌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特点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‌：通过数学模型对系统、方案或决策进行定量或定性评估，需构建评价指标体系和权重分配方法。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应用场景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‌：综合测评、方案优选、资源分配等需多维度比较的场景。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常用方法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层次分析法（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AHP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）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‌：适用于数据量小、指标少的评价问题‌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模糊综合评价法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‌：处理多因素、多层次的模糊性数据‌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78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熵权法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‌：基于数据客观赋权，适用于指标独立性强的场景‌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典型赛题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‌：旅游地选择、员工绩效评价等‌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/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2. 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预测类题型‌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特点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‌：基于历史数据或机理分析，预测未来趋势或结果。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应用场景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‌：经济趋势预测、人口增长、病毒传播模拟等‌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34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常用方法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灰色预测模型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‌：数据量小（如中短期预测）时适用‌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回归分析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‌：需明确自变量与因变量的逻辑关系‌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时间序列分析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‌：用于周期性或趋势性数据的长期预测‌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36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典型赛题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‌：气候变化预测、传染病传播模型等‌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/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3. 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优化类题型‌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特点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‌：在约束条件下寻求资源分配或路径选择的最优解。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应用场景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‌：物流调度、生产规划、能源配置等需最大化效益或最小化成本的场景‌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12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常用方法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线性规划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/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非线性规划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‌：处理单目标或多目标优化问题‌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28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图论模型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‌：解决最短路径、网络流问题等‌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18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动态规划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‌：适用于多阶段决策优化‌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典型赛题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‌：运输路线优化、工厂生产排程等‌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18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/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4. 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分类类题型‌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特点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‌：对数据进行类别划分，识别规律或模式。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应用场景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‌：客户分群、疾病诊断、图像识别等需数据分组的场景‌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38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常用方法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聚类分析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‌：无监督学习，如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K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均值聚类‌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判别分析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‌：有监督学习，如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Fisher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判别法‌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38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神经网络分类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‌：处理复杂非线性分类问题‌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典型赛题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‌：市场细分、生物物种分类等‌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38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/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5. 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机理分析类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/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数理统计类题型‌</a:t>
            </a:r>
          </a:p>
          <a:p>
            <a:pPr algn="l" latinLnBrk="0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特点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‌：基于物理、生物等学科规律建立微分方程或统计模型，分析系统内在机制。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应用场景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‌：自然现象模拟（如流体力学）、社会行为分析等‌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12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常用方法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微分方程模型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‌：刻画动态系统演化，如病毒传播模型‌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46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主成分分析（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PingFang SC"/>
              </a:rPr>
              <a:t>PCA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）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‌：降维处理高维数据‌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48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pPr algn="l" latinLnBrk="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假设检验与参数估计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‌：验证数据规律性‌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28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典型赛题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‌：物理过程模拟、经济指标相关性分析等‌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 SC"/>
              </a:rPr>
              <a:t>14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925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概率论是研究随机现象数量规律的数学分支，是一门研究事情发生的可能性的学问。但是最初概率论的起源与赌博问题有关。</a:t>
            </a:r>
            <a:endParaRPr lang="en-US" altLang="zh-CN" b="0" i="0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推断性统计，用来研究研究如何根据样本数据去推断总体数量特征。常用的推断性统计方法包括聚类分析、回归分析、时序分析、贝叶斯等。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彩票中奖率、股市上涨、</a:t>
            </a:r>
            <a:r>
              <a:rPr lang="zh-CN" altLang="en-US" b="1" u="sng" dirty="0">
                <a:solidFill>
                  <a:srgbClr val="4007A2"/>
                </a:solidFill>
                <a:effectLst/>
                <a:latin typeface="Arial" panose="020B0604020202020204" pitchFamily="34" charset="0"/>
                <a:hlinkClick r:id="rId3"/>
              </a:rPr>
              <a:t>高考</a:t>
            </a:r>
            <a:r>
              <a:rPr lang="zh-CN" altLang="en-US" b="0" u="sng" dirty="0">
                <a:solidFill>
                  <a:srgbClr val="CC0000"/>
                </a:solidFill>
                <a:effectLst/>
                <a:latin typeface="Arial" panose="020B0604020202020204" pitchFamily="34" charset="0"/>
                <a:hlinkClick r:id="rId3"/>
              </a:rPr>
              <a:t>志愿填报</a:t>
            </a:r>
            <a:r>
              <a:rPr lang="zh-CN" altLang="en-US" b="1" u="sng" dirty="0">
                <a:solidFill>
                  <a:srgbClr val="4007A2"/>
                </a:solidFill>
                <a:effectLst/>
                <a:latin typeface="Arial" panose="020B0604020202020204" pitchFamily="34" charset="0"/>
                <a:hlinkClick r:id="rId3"/>
              </a:rPr>
              <a:t>，如何判断录取</a:t>
            </a:r>
            <a:r>
              <a:rPr lang="zh-CN" altLang="en-US" b="0" u="sng" dirty="0">
                <a:solidFill>
                  <a:srgbClr val="CC0000"/>
                </a:solidFill>
                <a:effectLst/>
                <a:latin typeface="Arial" panose="020B0604020202020204" pitchFamily="34" charset="0"/>
                <a:hlinkClick r:id="rId3"/>
              </a:rPr>
              <a:t>概率</a:t>
            </a:r>
            <a:r>
              <a:rPr lang="zh-CN" altLang="en-US" b="1" u="sng" dirty="0">
                <a:solidFill>
                  <a:srgbClr val="4007A2"/>
                </a:solidFill>
                <a:effectLst/>
                <a:latin typeface="Arial" panose="020B0604020202020204" pitchFamily="34" charset="0"/>
                <a:hlinkClick r:id="rId3"/>
              </a:rPr>
              <a:t>大小？</a:t>
            </a:r>
            <a:endParaRPr lang="zh-CN" altLang="en-US" b="1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597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97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概率论是一门</a:t>
            </a:r>
            <a:r>
              <a:rPr lang="zh-CN" altLang="en-US" dirty="0">
                <a:solidFill>
                  <a:srgbClr val="71777D"/>
                </a:solidFill>
                <a:latin typeface="Arial" panose="020B0604020202020204" pitchFamily="34" charset="0"/>
              </a:rPr>
              <a:t>研究随机现象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发生的可能性的学问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9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历史上跨界科学家  数学王子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1777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30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–1855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日），德国著名数学家、物理学家、天文学家、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几何学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家，大地测量学家，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787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solidFill>
                  <a:srgbClr val="333333"/>
                </a:solidFill>
                <a:effectLst/>
                <a:latin typeface="PingFang SC"/>
              </a:rPr>
              <a:t>曲线高度反映随机变量在某个点附近的概率集中程度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238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返回指定平均值和标准偏差的正态累积分布函数的反函数</a:t>
            </a:r>
            <a:endParaRPr lang="en-US" altLang="zh-CN" b="1" i="0" dirty="0">
              <a:solidFill>
                <a:srgbClr val="11111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累积分布函数 （</a:t>
            </a:r>
            <a:r>
              <a:rPr lang="en-US" altLang="zh-CN" b="0" i="0" dirty="0" err="1">
                <a:solidFill>
                  <a:srgbClr val="2C3E50"/>
                </a:solidFill>
                <a:effectLst/>
                <a:latin typeface="-apple-system"/>
              </a:rPr>
              <a:t>cdf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） 的逆函数</a:t>
            </a:r>
            <a:endParaRPr lang="en-US" altLang="zh-CN" b="0" i="0" dirty="0">
              <a:solidFill>
                <a:srgbClr val="2C3E50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2C3E50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带有参数</a:t>
            </a:r>
            <a:r>
              <a:rPr lang="en-US" altLang="zh-CN" dirty="0"/>
              <a:t>µ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和 的正态分布的均值是</a:t>
            </a:r>
            <a:r>
              <a:rPr lang="en-US" altLang="zh-CN" dirty="0"/>
              <a:t>µ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，方差是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996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9485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7106" name="文本占位符 9486"/>
          <p:cNvSpPr>
            <a:spLocks noGrp="1" noChangeArrowheads="1"/>
          </p:cNvSpPr>
          <p:nvPr>
            <p:ph type="body" idx="4294967295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wrap="square" numCol="1" anchor="t" anchorCtr="0" compatLnSpc="1"/>
          <a:lstStyle/>
          <a:p>
            <a:r>
              <a:rPr lang="en-US" altLang="zh-CN" dirty="0"/>
              <a:t>1,1,0,1,1,0,1,0,1,1    0,0,0,1,1,0,1,0,1,0,1,     1,1,0,0,1,0,0,0,1,1,0    1,0,1,0,0,1,0,1,1</a:t>
            </a:r>
            <a:r>
              <a:rPr lang="zh-CN" altLang="en-US" dirty="0"/>
              <a:t>数据杂乱无章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605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994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ln>
            <a:solidFill>
              <a:srgbClr val="000000"/>
            </a:solidFill>
            <a:miter lim="800000"/>
          </a:ln>
        </p:spPr>
      </p:sp>
      <p:sp>
        <p:nvSpPr>
          <p:cNvPr id="90115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9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又不能直接统计全部数据，这时就需要从总体中抽出一部分样本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数据分析是当代自然科学和社会科学各个学科研究者必备的知识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研究一般不可能对所要研究的对象的全体逐一进行考察，而是从总体中抽取一定的样本进行研究</a:t>
            </a:r>
            <a:endParaRPr lang="en-US" altLang="zh-CN" dirty="0"/>
          </a:p>
          <a:p>
            <a:r>
              <a:rPr lang="zh-CN" altLang="en-US" b="1" dirty="0"/>
              <a:t>少数几个包含其最多相关信息的数值来体现数据样本总体的规律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面对一批大数据采用各种描述指标进行描述与分析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D6C57C-11B0-4678-9FF0-70B7A8551F5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723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9997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6259" name="文本占位符 9998"/>
          <p:cNvSpPr>
            <a:spLocks noGrp="1" noChangeArrowheads="1"/>
          </p:cNvSpPr>
          <p:nvPr>
            <p:ph type="body" idx="4294967295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wrap="square" numCol="1" anchor="t" anchorCtr="0" compatLnSpc="1"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数据分析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是用适当的统计方法对各种数据加以详细研究和概括总结的过程，已成为当代自然科学和社会科学各个学科研究者必备的知识。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推断统计学是以概率论为基础，用随机样本的数量特征信息来推断总体的数量特征，作出具有一定可靠性保证的估计或检验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参数估计是利用样本数据推断未知的总体参数</a:t>
            </a:r>
            <a:endParaRPr lang="en-US" altLang="zh-CN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假设检验是先对总体参数提出一个假设值，然后根据资料数据的特点，计算相应的统计量，判断这一假设是否成立。</a:t>
            </a:r>
            <a:endParaRPr lang="en-US" altLang="zh-CN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统计检验是对整个模型的拟合优度检验 </a:t>
            </a:r>
            <a:endParaRPr lang="en-US" altLang="zh-CN" sz="1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*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图表法描述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实际上就是用不同的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图表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从不同的维度描述数据。常用的有直方图、点图、矩阵图、累计频率图、雷达图、数据透视表等等。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*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数值法描述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实际上就是用不同的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数值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从不同的维度描述数据。常用的有、集中趋势分析，离群趋势分析等等。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图表法描述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实际上就是用不同的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图表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从不同的维度描述数据。常用的有直方图、点图、矩阵图、累计频率图、雷达图、数据透视表等等。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*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数值法描述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实际上就是用不同的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【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数值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】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从不同的维度描述数据。常用的有、集中趋势分析，离群趋势分析等等。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众数是样本观测值在频数分布表中频数最多的那一组的组中值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85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12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随机变量的概率分布</a:t>
            </a:r>
            <a:r>
              <a:rPr lang="zh-CN" altLang="en-US" sz="1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较难确定的，可以确定数字特征</a:t>
            </a:r>
            <a:endParaRPr lang="ko-KR" altLang="en-US" sz="1200" b="1" noProof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endParaRPr lang="en-US" altLang="zh-CN" dirty="0"/>
          </a:p>
          <a:p>
            <a:r>
              <a:rPr lang="zh-CN" altLang="en-US" dirty="0"/>
              <a:t>频数分析是描述分析最基本最常用的方法之一</a:t>
            </a:r>
            <a:endParaRPr lang="en-US" altLang="zh-CN" dirty="0"/>
          </a:p>
          <a:p>
            <a:r>
              <a:rPr lang="zh-CN" altLang="en-US" dirty="0"/>
              <a:t>可以得到频数表、平均数、方差、标准差、最大值、最小值、极差等重要描述统计量，通过分析可以得到合适统计图</a:t>
            </a:r>
            <a:endParaRPr lang="en-US" altLang="zh-CN" dirty="0"/>
          </a:p>
          <a:p>
            <a:r>
              <a:rPr lang="zh-CN" altLang="en-US" dirty="0"/>
              <a:t>数据归类整理，分布特征初步认识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mean</a:t>
            </a:r>
            <a:r>
              <a:rPr lang="zh-CN" altLang="en-US" dirty="0">
                <a:sym typeface="+mn-ea"/>
              </a:rPr>
              <a:t>平均值是对样本的一个统计量，平均值可以作为随机变量期望值的估计。</a:t>
            </a:r>
          </a:p>
          <a:p>
            <a:r>
              <a:rPr lang="zh-CN" altLang="en-US" dirty="0">
                <a:sym typeface="+mn-ea"/>
              </a:rPr>
              <a:t>（variance)是在概率论和统计方差衡量随机变量或一组数据时离散程度的度量。概率论中方差用来度量随机变量和其数学期望（即均值）之间的偏离程度。统计中的方差（样本方差）是每个样本值与全体样本值的平均数之差的平方值的平均数。在许多实际问题中，研究方差即偏离程度有着重要意义。平均值是对样本的一个统计量（statistic），是可算的。</a:t>
            </a:r>
          </a:p>
          <a:p>
            <a:r>
              <a:rPr lang="zh-CN" altLang="en-US" dirty="0"/>
              <a:t>期望值是对随机变量在某个度量中的描述量，是理想化的，被估计的。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rgbClr val="FF0000"/>
                </a:solidFill>
              </a:rPr>
              <a:t>众数</a:t>
            </a:r>
            <a:r>
              <a:rPr lang="zh-CN" altLang="en-US" sz="1200" b="1" dirty="0"/>
              <a:t>：样本中出现最多的那个数。      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D6C57C-11B0-4678-9FF0-70B7A8551F59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9485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7106" name="文本占位符 9486"/>
          <p:cNvSpPr>
            <a:spLocks noGrp="1" noChangeArrowheads="1"/>
          </p:cNvSpPr>
          <p:nvPr>
            <p:ph type="body" idx="4294967295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wrap="square" numCol="1" anchor="t" anchorCtr="0" compatLnSpc="1"/>
          <a:lstStyle/>
          <a:p>
            <a:r>
              <a:rPr lang="en-US" altLang="zh-CN" dirty="0"/>
              <a:t>1,1,0,1,1,0,1,0,1,1    0,0,0,1,1,0,1,0,1,0,1,     1,1,0,0,1,0,0,0,1,1,0    1,0,1,0,0,1,0,1,1</a:t>
            </a:r>
            <a:r>
              <a:rPr lang="zh-CN" altLang="en-US" dirty="0"/>
              <a:t>数据杂乱无章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D6C57C-11B0-4678-9FF0-70B7A8551F5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82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cdfplot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对于检查样本数据集的分布很有用。您可以在 </a:t>
            </a:r>
            <a:r>
              <a:rPr lang="en-US" altLang="zh-CN" dirty="0" err="1"/>
              <a:t>cdfplot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的同一图上叠加理论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cdf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，以将样本的经验分布与理论分布进行比较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6946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/>
              <a:t>一组数据（样本）往往是杂乱无章的，作出它的频数表和直方图，可以看作是对这组数据的一个初步整理和直观描述</a:t>
            </a:r>
            <a:endParaRPr lang="en-US" altLang="zh-CN" b="1" dirty="0"/>
          </a:p>
          <a:p>
            <a:r>
              <a:rPr lang="zh-CN" altLang="en-US" b="1" dirty="0"/>
              <a:t>将数据的取值范围划分为若干个区间，然后统计这组数据在每个区间中出现的次数，称为频数，由此得到一个频数表。以数据的取值为横坐标，频数为纵坐标，画出一个阶梯形的图，称为直方图，或频数分布图</a:t>
            </a:r>
            <a:endParaRPr lang="zh-CN" altLang="en-US" dirty="0"/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直方图属于数值数据的条形图类型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数据可视化是数据分析工具最基本的要求。可视化可以直观的展示数据，让数据自己说话，让观众听到结果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大数据分析最基本的要求就是可视化分析，因为可视化分析能够直观的呈现大数据特点，同时能够非常容易被读者所接受。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7445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1733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绘制 </a:t>
            </a:r>
            <a:r>
              <a:rPr lang="en-US" altLang="zh-CN" dirty="0"/>
              <a:t>data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中的值的直方图并拟合正态密度函数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4355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一组数据（样本）往往是杂乱无章的，作出它的频数表和直方图，可以看作是对这组数据的一个初步整理和直观描述</a:t>
            </a:r>
            <a:endParaRPr lang="en-US" altLang="zh-CN" b="1" dirty="0"/>
          </a:p>
          <a:p>
            <a:r>
              <a:rPr lang="zh-CN" altLang="en-US" b="1" dirty="0"/>
              <a:t>将数据的取值范围划分为若干个区间，然后统计这组数据在每个区间中出现的次数，称为频数，由此得到一个频数表。以数据的取值为横坐标，频数为纵坐标，画出一个阶梯形的图，称为直方图，或频数分布图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D6C57C-11B0-4678-9FF0-70B7A8551F5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592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897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7013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1E94F464-755E-4269-8EA0-2FA601E56F5B}" type="slidenum">
              <a:rPr lang="zh-CN" altLang="en-US" smtClean="0">
                <a:latin typeface="Calibri" panose="020F0502020204030204" pitchFamily="34" charset="0"/>
              </a:rPr>
              <a:t>33</a:t>
            </a:fld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97283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7284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en-US" sz="1000" i="1"/>
              <a:t>33</a:t>
            </a:r>
          </a:p>
        </p:txBody>
      </p:sp>
      <p:sp>
        <p:nvSpPr>
          <p:cNvPr id="97285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7286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7287" name="Rectangle 6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14400" y="3276600"/>
            <a:ext cx="5029200" cy="518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抽样误差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误差范围（区间）在统计概率中就叫做置信区间</a:t>
            </a:r>
            <a:endParaRPr lang="en-US" altLang="zh-CN" sz="1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估计总体参数落在某一区间，可能犯错误的概率为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显著性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水平，用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α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表示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;1-α  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置信度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置信水平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，其表明了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区间估计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的可靠性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区间估计给出</a:t>
            </a:r>
            <a:r>
              <a:rPr lang="zh-CN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参数置信区间</a:t>
            </a:r>
            <a:endParaRPr lang="zh-CN" altLang="en-US" sz="1200" dirty="0">
              <a:solidFill>
                <a:srgbClr val="FF0000"/>
              </a:solidFill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小概率的错误</a:t>
            </a:r>
            <a:endParaRPr lang="zh-CN" altLang="en-US" dirty="0"/>
          </a:p>
        </p:txBody>
      </p:sp>
      <p:sp>
        <p:nvSpPr>
          <p:cNvPr id="97288" name="Rectangle 7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409700" y="692150"/>
            <a:ext cx="4038600" cy="2273300"/>
          </a:xfrm>
          <a:ln>
            <a:solidFill>
              <a:schemeClr val="tx1"/>
            </a:solidFill>
            <a:miter lim="800000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WARNING: both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TyMachineLearning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TyStatistics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export "</a:t>
            </a:r>
            <a:r>
              <a:rPr lang="en-US" altLang="zh-CN" sz="1800" kern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normfit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"; uses of it in module Main must be qualified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4435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3725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假设检验经常用到新药、新材料开发上，判断性能是否改善</a:t>
            </a:r>
            <a:endParaRPr lang="en-US" altLang="zh-CN" sz="12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2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总体分布类型已知，只对一个或几个未知参数做出假设，如正态分布总体假设数学期望值</a:t>
            </a:r>
            <a:r>
              <a:rPr lang="ko-KR" altLang="en-US" sz="1200" dirty="0">
                <a:solidFill>
                  <a:srgbClr val="2C3E50"/>
                </a:solidFill>
                <a:latin typeface="华文楷体" panose="02010600040101010101" pitchFamily="2" charset="-122"/>
              </a:rPr>
              <a:t>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2627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达标待机时间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807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接受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h1</a:t>
            </a: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而犯第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I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类错误的概率已经被规定的显著性水平所控制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左侧</a:t>
            </a:r>
            <a:r>
              <a:rPr lang="en-US" altLang="zh-CN" dirty="0"/>
              <a:t>H0</a:t>
            </a:r>
            <a:r>
              <a:rPr lang="zh-CN" altLang="en-US" dirty="0"/>
              <a:t>灯泡寿命不低于</a:t>
            </a:r>
            <a:r>
              <a:rPr lang="en-US" altLang="zh-CN" dirty="0"/>
              <a:t>700</a:t>
            </a:r>
            <a:r>
              <a:rPr lang="zh-CN" altLang="en-US" dirty="0"/>
              <a:t>小时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右侧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H0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次品率不得高于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5%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210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030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Z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统计量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= -1.41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单侧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值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= 0.0793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结论：无法拒绝原假设，待机时间符合宣传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66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6789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4816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dirty="0"/>
              <a:t>https://blog.csdn.net/TBMmagic/article/details/115014783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dirty="0"/>
              <a:t>“</a:t>
            </a:r>
            <a:r>
              <a:rPr lang="zh-CN" altLang="en-US" sz="1200" b="0" dirty="0">
                <a:latin typeface="黑体" panose="02010609060101010101" pitchFamily="49" charset="-122"/>
              </a:rPr>
              <a:t>回归</a:t>
            </a:r>
            <a:r>
              <a:rPr lang="zh-CN" altLang="en-US" sz="1200" b="0" dirty="0"/>
              <a:t>”</a:t>
            </a:r>
            <a:r>
              <a:rPr lang="zh-CN" altLang="en-US" sz="1200" b="0" dirty="0">
                <a:latin typeface="黑体" panose="02010609060101010101" pitchFamily="49" charset="-122"/>
              </a:rPr>
              <a:t>一词是英国著名专家高尔顿</a:t>
            </a:r>
            <a:r>
              <a:rPr lang="en-US" altLang="zh-CN" sz="1200" b="0" dirty="0">
                <a:latin typeface="黑体" panose="02010609060101010101" pitchFamily="49" charset="-122"/>
              </a:rPr>
              <a:t>1886</a:t>
            </a:r>
            <a:r>
              <a:rPr lang="zh-CN" altLang="en-US" sz="1200" b="0" dirty="0">
                <a:latin typeface="黑体" panose="02010609060101010101" pitchFamily="49" charset="-122"/>
              </a:rPr>
              <a:t>研究孩子与其父母身高之间的关系时提出来的。发现身材高的父母其孩子也高，但这孩子平均起来并不像他们父母那样高；身材矮的父母其孩子也比较矮，但这些孩子平均身高要比他们父母的平</a:t>
            </a:r>
            <a:r>
              <a:rPr lang="zh-CN" altLang="en-US" sz="1200" dirty="0">
                <a:latin typeface="黑体" panose="02010609060101010101" pitchFamily="49" charset="-122"/>
              </a:rPr>
              <a:t>均身高高。把这种孩子的身高向中间值靠近的趋势称为回归效应。后来，人们把他发展的这种方法称为回归分析。</a:t>
            </a:r>
            <a:endParaRPr lang="en-US" altLang="zh-CN" sz="1200" dirty="0">
              <a:latin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司机的鲁莽驾驶与道路交通事故数量之间的关系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b="1" dirty="0"/>
              <a:t>按程度分类</a:t>
            </a:r>
          </a:p>
          <a:p>
            <a:r>
              <a:rPr lang="zh-CN" altLang="en-US" dirty="0"/>
              <a:t>⑴</a:t>
            </a:r>
            <a:r>
              <a:rPr lang="zh-CN" altLang="en-US" dirty="0">
                <a:hlinkClick r:id="rId3"/>
              </a:rPr>
              <a:t>完全相关</a:t>
            </a:r>
            <a:r>
              <a:rPr lang="zh-CN" altLang="en-US" dirty="0"/>
              <a:t>：两个变量之间的关系，一个变量的数量变化由另一个变量的数量变化所惟一确定，即函数关系。</a:t>
            </a:r>
          </a:p>
          <a:p>
            <a:r>
              <a:rPr lang="zh-CN" altLang="en-US" dirty="0"/>
              <a:t>⑵不完全相关：两个变量之间的关系介于不相关和完全相关之间。</a:t>
            </a:r>
          </a:p>
          <a:p>
            <a:r>
              <a:rPr lang="zh-CN" altLang="en-US" dirty="0"/>
              <a:t>⑶不相关：如果两个变量彼此的数量变化互相独立，没有关系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回归属于</a:t>
            </a:r>
            <a:r>
              <a:rPr lang="zh-CN" altLang="en-US" b="0" i="0" u="none" strike="noStrike" dirty="0">
                <a:solidFill>
                  <a:srgbClr val="FC5531"/>
                </a:solidFill>
                <a:effectLst/>
                <a:latin typeface="-apple-system"/>
                <a:hlinkClick r:id="rId4"/>
              </a:rPr>
              <a:t>数理统计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问题，研究解释变量与响应变量之间的关系以及相关性等问题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建立一个相关性较好的回归方程（函数表达式），并加以外推，</a:t>
            </a:r>
            <a:endParaRPr lang="zh-CN" altLang="en-US" dirty="0"/>
          </a:p>
          <a:p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D6C57C-11B0-4678-9FF0-70B7A8551F5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9670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977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9468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7191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中国人成人的体重指数正常范围在</a:t>
            </a:r>
            <a:r>
              <a:rPr lang="en-US" altLang="zh-C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18.5-24</a:t>
            </a:r>
            <a:r>
              <a:rPr lang="zh-CN" altLang="en-US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之间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43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4BE58-B477-4E0D-8237-3C180D1C6B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71550" y="700088"/>
            <a:ext cx="7380870" cy="91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66373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4989" y="456778"/>
            <a:ext cx="7785917" cy="85645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1172023" y="1458355"/>
            <a:ext cx="3816626" cy="203183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5141314" y="1458355"/>
            <a:ext cx="3816626" cy="529569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144989" y="4681965"/>
            <a:ext cx="1908313" cy="34258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87628" y="4681965"/>
            <a:ext cx="2900636" cy="34258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22593" y="4681965"/>
            <a:ext cx="1908313" cy="34258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2EB971-0E9C-4E55-A38D-79A3BCBA9FC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6418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87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6" r:id="rId4"/>
    <p:sldLayoutId id="2147483669" r:id="rId5"/>
    <p:sldLayoutId id="2147483668" r:id="rId6"/>
    <p:sldLayoutId id="2147483667" r:id="rId7"/>
    <p:sldLayoutId id="2147483665" r:id="rId8"/>
    <p:sldLayoutId id="2147483664" r:id="rId9"/>
    <p:sldLayoutId id="2147483663" r:id="rId10"/>
    <p:sldLayoutId id="2147483662" r:id="rId11"/>
    <p:sldLayoutId id="2147483661" r:id="rId12"/>
    <p:sldLayoutId id="2147483678" r:id="rId13"/>
    <p:sldLayoutId id="2147483679" r:id="rId14"/>
    <p:sldLayoutId id="2147483680" r:id="rId15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zhihu.com/question/483501043" TargetMode="External"/><Relationship Id="rId4" Type="http://schemas.openxmlformats.org/officeDocument/2006/relationships/hyperlink" Target="https://zhuanlan.zhihu.com/p/616895953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xs.moe.gov.cn/zx/hd/sxjm/sxjmstjp/gjsbqgdxssxjmjsstjp.s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dxs.moe.gov.cn/zx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87%A0%E4%BD%95%E5%AD%A6/342546?fromModule=lemma_inlink" TargetMode="External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jpe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#/Doc/TyStatistics/ProbabilityDistributions/ContinuousDistributions/GammaDistribution/gammadistribution.html"/><Relationship Id="rId3" Type="http://schemas.openxmlformats.org/officeDocument/2006/relationships/hyperlink" Target="#/Doc/TyStatistics/ProbabilityDistributions/ContinuousDistributions/BetaDistribution/betadistribution.html"/><Relationship Id="rId7" Type="http://schemas.openxmlformats.org/officeDocument/2006/relationships/hyperlink" Target="#/Doc/TyStatistics/ProbabilityDistributions/ContinuousDistributions/ExtremeValueDistribution/extremevaluedistribution.html"/><Relationship Id="rId12" Type="http://schemas.openxmlformats.org/officeDocument/2006/relationships/hyperlink" Target="#/Doc/TyStatistics/ProbabilityDistributions/ContinuousDistributions/RicianDistribution/riciandistribution.ht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Statistics/ProbabilityDistributions/ContinuousDistributions/ExponentialDistribution/exponentialdistribution.html"/><Relationship Id="rId11" Type="http://schemas.openxmlformats.org/officeDocument/2006/relationships/hyperlink" Target="#/Doc/TyStatistics/ProbabilityDistributions/ContinuousDistributions/RayleighDistribution/rayleighdistribution.html"/><Relationship Id="rId5" Type="http://schemas.openxmlformats.org/officeDocument/2006/relationships/hyperlink" Target="#/Doc/TyStatistics/ProbabilityDistributions/ContinuousDistributions/BurrDistribution/burrdistribution.html"/><Relationship Id="rId10" Type="http://schemas.openxmlformats.org/officeDocument/2006/relationships/hyperlink" Target="#/Doc/TyStatistics/ProbabilityDistributions/DiscreteDistributions/PoissonDistribution/poissondistribution.html"/><Relationship Id="rId4" Type="http://schemas.openxmlformats.org/officeDocument/2006/relationships/hyperlink" Target="#/Doc/TyStatistics/ProbabilityDistributions/DiscreteDistributions/BinomialDistribution/binomialdistribution.html"/><Relationship Id="rId9" Type="http://schemas.openxmlformats.org/officeDocument/2006/relationships/hyperlink" Target="#/Doc/TyStatistics/ProbabilityDistributions/ContinuousDistributions/NormalDistribution/normaldistribution.ht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oleObject" Target="../embeddings/oleObject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jpeg"/><Relationship Id="rId5" Type="http://schemas.openxmlformats.org/officeDocument/2006/relationships/image" Target="../media/image25.emf"/><Relationship Id="rId4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emf"/><Relationship Id="rId5" Type="http://schemas.openxmlformats.org/officeDocument/2006/relationships/oleObject" Target="file:///D:\sysjulia\gcvs.csv" TargetMode="External"/><Relationship Id="rId4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5.emf"/><Relationship Id="rId10" Type="http://schemas.openxmlformats.org/officeDocument/2006/relationships/hyperlink" Target="http://baike.baidu.com/item/%E5%8C%BA%E9%97%B4%E4%BC%B0%E8%AE%A1" TargetMode="External"/><Relationship Id="rId4" Type="http://schemas.openxmlformats.org/officeDocument/2006/relationships/oleObject" Target="../embeddings/oleObject6.bin"/><Relationship Id="rId9" Type="http://schemas.openxmlformats.org/officeDocument/2006/relationships/image" Target="../media/image3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6.emf"/><Relationship Id="rId10" Type="http://schemas.openxmlformats.org/officeDocument/2006/relationships/image" Target="../media/image47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hyperlink" Target="#/Doc/TyStatistics/HypothesisTests/LocationTests/ztest.html#jump-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Statistics/HypothesisTests/LocationTests/ttest.html#jump-m"/><Relationship Id="rId5" Type="http://schemas.openxmlformats.org/officeDocument/2006/relationships/hyperlink" Target="#/Doc/TyStatistics/HypothesisTests/LocationTests/ttest.html#jump-x"/><Relationship Id="rId4" Type="http://schemas.openxmlformats.org/officeDocument/2006/relationships/image" Target="../media/image53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43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67.png"/><Relationship Id="rId7" Type="http://schemas.openxmlformats.org/officeDocument/2006/relationships/image" Target="../media/image48.wmf"/><Relationship Id="rId12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68.png"/><Relationship Id="rId5" Type="http://schemas.openxmlformats.org/officeDocument/2006/relationships/image" Target="../media/image50.wmf"/><Relationship Id="rId10" Type="http://schemas.openxmlformats.org/officeDocument/2006/relationships/image" Target="../media/image711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51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76.png"/><Relationship Id="rId7" Type="http://schemas.openxmlformats.org/officeDocument/2006/relationships/oleObject" Target="../embeddings/oleObject17.bin"/><Relationship Id="rId12" Type="http://schemas.openxmlformats.org/officeDocument/2006/relationships/hyperlink" Target="https://www.baidu.com/s?wd=%E8%A2%AB%E8%A7%A3%E9%87%8A%E5%8F%98%E9%87%8F&amp;tn=SE_PcZhidaonwhc_ngpagmjz&amp;rsv_dl=gh_pc_zhidao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png"/><Relationship Id="rId11" Type="http://schemas.openxmlformats.org/officeDocument/2006/relationships/image" Target="../media/image86.png"/><Relationship Id="rId5" Type="http://schemas.openxmlformats.org/officeDocument/2006/relationships/image" Target="../media/image72.png"/><Relationship Id="rId10" Type="http://schemas.openxmlformats.org/officeDocument/2006/relationships/image" Target="../media/image53.wmf"/><Relationship Id="rId4" Type="http://schemas.openxmlformats.org/officeDocument/2006/relationships/image" Target="../media/image71.png"/><Relationship Id="rId9" Type="http://schemas.openxmlformats.org/officeDocument/2006/relationships/oleObject" Target="../embeddings/oleObject18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9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4.png"/><Relationship Id="rId5" Type="http://schemas.openxmlformats.org/officeDocument/2006/relationships/image" Target="../media/image54.wmf"/><Relationship Id="rId4" Type="http://schemas.openxmlformats.org/officeDocument/2006/relationships/oleObject" Target="../embeddings/oleObject19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C4E0D-6545-4C87-BD58-6D1713FF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210507"/>
            <a:ext cx="2872376" cy="438150"/>
          </a:xfrm>
        </p:spPr>
        <p:txBody>
          <a:bodyPr/>
          <a:lstStyle/>
          <a:p>
            <a:r>
              <a:rPr lang="zh-CN" altLang="en-US" dirty="0"/>
              <a:t>数学建模知识的学习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6A57186-5E7B-4DDD-975B-1A354846C032}"/>
              </a:ext>
            </a:extLst>
          </p:cNvPr>
          <p:cNvSpPr/>
          <p:nvPr/>
        </p:nvSpPr>
        <p:spPr bwMode="auto">
          <a:xfrm>
            <a:off x="397953" y="705044"/>
            <a:ext cx="8568952" cy="354538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AutoShape 9">
            <a:extLst>
              <a:ext uri="{FF2B5EF4-FFF2-40B4-BE49-F238E27FC236}">
                <a16:creationId xmlns:a16="http://schemas.microsoft.com/office/drawing/2014/main" id="{C55B6D86-76E2-4965-81FE-01FD1522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5842" y="817104"/>
            <a:ext cx="558209" cy="159623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400" b="1">
              <a:ea typeface="宋体" panose="02010600030101010101" pitchFamily="2" charset="-122"/>
            </a:endParaRPr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C0958AD6-D1C1-40B5-8251-2425E36D5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75" y="788486"/>
            <a:ext cx="558209" cy="159623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None/>
            </a:pPr>
            <a:endParaRPr lang="zh-CN" altLang="en-US" sz="1400" b="1">
              <a:ea typeface="宋体" panose="02010600030101010101" pitchFamily="2" charset="-122"/>
            </a:endParaRPr>
          </a:p>
        </p:txBody>
      </p:sp>
      <p:sp>
        <p:nvSpPr>
          <p:cNvPr id="7" name="矩形: 圆角 10">
            <a:extLst>
              <a:ext uri="{FF2B5EF4-FFF2-40B4-BE49-F238E27FC236}">
                <a16:creationId xmlns:a16="http://schemas.microsoft.com/office/drawing/2014/main" id="{69447A15-0ABF-4628-BCAA-522C491FC7FB}"/>
              </a:ext>
            </a:extLst>
          </p:cNvPr>
          <p:cNvSpPr/>
          <p:nvPr/>
        </p:nvSpPr>
        <p:spPr>
          <a:xfrm>
            <a:off x="1372452" y="739070"/>
            <a:ext cx="1051828" cy="276327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algn="dist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实际问题</a:t>
            </a:r>
          </a:p>
          <a:p>
            <a:pPr algn="dist"/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10">
            <a:extLst>
              <a:ext uri="{FF2B5EF4-FFF2-40B4-BE49-F238E27FC236}">
                <a16:creationId xmlns:a16="http://schemas.microsoft.com/office/drawing/2014/main" id="{0C8C0F0E-7219-4AC9-98C1-DA40BD410D30}"/>
              </a:ext>
            </a:extLst>
          </p:cNvPr>
          <p:cNvSpPr/>
          <p:nvPr/>
        </p:nvSpPr>
        <p:spPr>
          <a:xfrm>
            <a:off x="3050409" y="752984"/>
            <a:ext cx="1051828" cy="262414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algn="dist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数学模型</a:t>
            </a:r>
          </a:p>
          <a:p>
            <a:pPr algn="dist"/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10">
            <a:extLst>
              <a:ext uri="{FF2B5EF4-FFF2-40B4-BE49-F238E27FC236}">
                <a16:creationId xmlns:a16="http://schemas.microsoft.com/office/drawing/2014/main" id="{C5D2ED3D-E74B-457E-8EB5-6F5285C0DA0A}"/>
              </a:ext>
            </a:extLst>
          </p:cNvPr>
          <p:cNvSpPr/>
          <p:nvPr/>
        </p:nvSpPr>
        <p:spPr>
          <a:xfrm>
            <a:off x="4758768" y="752984"/>
            <a:ext cx="1901464" cy="262414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algn="dist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计算机语言编程求解</a:t>
            </a:r>
          </a:p>
          <a:p>
            <a:pPr algn="dist"/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3E12CF-8E18-42A6-BA8D-52291B4D939A}"/>
              </a:ext>
            </a:extLst>
          </p:cNvPr>
          <p:cNvSpPr txBox="1"/>
          <p:nvPr/>
        </p:nvSpPr>
        <p:spPr>
          <a:xfrm>
            <a:off x="436800" y="740867"/>
            <a:ext cx="1087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数学建模</a:t>
            </a:r>
            <a:endParaRPr lang="ko-KR" altLang="en-US" sz="1400" b="1" dirty="0">
              <a:solidFill>
                <a:schemeClr val="bg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26178CC5-EC0D-4DBB-852D-E3CBFDF88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050" y="802416"/>
            <a:ext cx="729270" cy="145694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None/>
            </a:pPr>
            <a:endParaRPr lang="zh-CN" altLang="en-US" sz="1400" b="1">
              <a:ea typeface="宋体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1999882-6A20-415A-92B9-FCF04C52FD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0" r="42378" b="68976"/>
          <a:stretch/>
        </p:blipFill>
        <p:spPr>
          <a:xfrm>
            <a:off x="252338" y="1101019"/>
            <a:ext cx="1872208" cy="43815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8F5EF1A-2DE3-43A3-8E2E-0C91226AEC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0171" r="-2890" b="15001"/>
          <a:stretch/>
        </p:blipFill>
        <p:spPr>
          <a:xfrm>
            <a:off x="251520" y="1503900"/>
            <a:ext cx="2790195" cy="3129093"/>
          </a:xfrm>
          <a:prstGeom prst="rect">
            <a:avLst/>
          </a:prstGeom>
        </p:spPr>
      </p:pic>
      <p:sp>
        <p:nvSpPr>
          <p:cNvPr id="21" name="矩形: 圆角 10">
            <a:extLst>
              <a:ext uri="{FF2B5EF4-FFF2-40B4-BE49-F238E27FC236}">
                <a16:creationId xmlns:a16="http://schemas.microsoft.com/office/drawing/2014/main" id="{C29657AC-9212-49BF-B0A4-9711B133AAB6}"/>
              </a:ext>
            </a:extLst>
          </p:cNvPr>
          <p:cNvSpPr/>
          <p:nvPr/>
        </p:nvSpPr>
        <p:spPr>
          <a:xfrm>
            <a:off x="7483915" y="737601"/>
            <a:ext cx="1288633" cy="319274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algn="dist"/>
            <a:r>
              <a:rPr lang="zh-CN" altLang="en-US" sz="1400" b="1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建模后处理</a:t>
            </a:r>
          </a:p>
        </p:txBody>
      </p:sp>
      <p:sp>
        <p:nvSpPr>
          <p:cNvPr id="22" name="思想气泡: 云 21">
            <a:extLst>
              <a:ext uri="{FF2B5EF4-FFF2-40B4-BE49-F238E27FC236}">
                <a16:creationId xmlns:a16="http://schemas.microsoft.com/office/drawing/2014/main" id="{97CF0044-53B5-4E6C-81FB-1551AEF76C14}"/>
              </a:ext>
            </a:extLst>
          </p:cNvPr>
          <p:cNvSpPr/>
          <p:nvPr/>
        </p:nvSpPr>
        <p:spPr bwMode="auto">
          <a:xfrm>
            <a:off x="7092280" y="1320095"/>
            <a:ext cx="2057927" cy="890171"/>
          </a:xfrm>
          <a:prstGeom prst="cloudCallout">
            <a:avLst>
              <a:gd name="adj1" fmla="val -11640"/>
              <a:gd name="adj2" fmla="val -86865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科学计算可视化（第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</p:txBody>
      </p:sp>
      <p:sp>
        <p:nvSpPr>
          <p:cNvPr id="23" name="思想气泡: 云 22">
            <a:extLst>
              <a:ext uri="{FF2B5EF4-FFF2-40B4-BE49-F238E27FC236}">
                <a16:creationId xmlns:a16="http://schemas.microsoft.com/office/drawing/2014/main" id="{9EBE7434-E458-4229-880D-8D400E853687}"/>
              </a:ext>
            </a:extLst>
          </p:cNvPr>
          <p:cNvSpPr/>
          <p:nvPr/>
        </p:nvSpPr>
        <p:spPr bwMode="auto">
          <a:xfrm>
            <a:off x="2217929" y="1238354"/>
            <a:ext cx="4799580" cy="1418154"/>
          </a:xfrm>
          <a:prstGeom prst="cloudCallout">
            <a:avLst>
              <a:gd name="adj1" fmla="val 33066"/>
              <a:gd name="adj2" fmla="val -6345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dist"/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2B95EEA-233C-44CD-8970-F150781868C9}"/>
              </a:ext>
            </a:extLst>
          </p:cNvPr>
          <p:cNvSpPr txBox="1"/>
          <p:nvPr/>
        </p:nvSpPr>
        <p:spPr>
          <a:xfrm>
            <a:off x="2887901" y="2878667"/>
            <a:ext cx="60790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数学建模比赛每年有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20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多场，</a:t>
            </a:r>
            <a:endParaRPr lang="en-US" altLang="zh-CN" sz="1200" b="1" i="0" dirty="0">
              <a:solidFill>
                <a:srgbClr val="00B0F0"/>
              </a:solidFill>
              <a:effectLst/>
              <a:latin typeface="-apple-system"/>
            </a:endParaRPr>
          </a:p>
          <a:p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高级别竞赛：</a:t>
            </a:r>
            <a:r>
              <a:rPr lang="zh-CN" altLang="en-US" sz="1200" b="1" dirty="0">
                <a:solidFill>
                  <a:srgbClr val="00B0F0"/>
                </a:solidFill>
                <a:latin typeface="-apple-system"/>
              </a:rPr>
              <a:t>国赛、美赛、</a:t>
            </a:r>
            <a:r>
              <a:rPr lang="zh-CN" altLang="en-US" sz="1200" dirty="0">
                <a:solidFill>
                  <a:srgbClr val="00B0F0"/>
                </a:solidFill>
              </a:rPr>
              <a:t>深圳杯、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大统赛</a:t>
            </a:r>
          </a:p>
          <a:p>
            <a:pPr algn="l"/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老牌官方竞赛：五一赛、电工杯、东三省联赛</a:t>
            </a:r>
          </a:p>
          <a:p>
            <a:pPr algn="l"/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商业类比赛：</a:t>
            </a:r>
            <a:r>
              <a:rPr lang="en-US" altLang="zh-CN" sz="1200" b="1" i="0" dirty="0" err="1">
                <a:solidFill>
                  <a:srgbClr val="00B0F0"/>
                </a:solidFill>
                <a:effectLst/>
                <a:latin typeface="-apple-system"/>
              </a:rPr>
              <a:t>MathorCup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、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APMCM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亚太赛、数维杯、认证杯</a:t>
            </a:r>
          </a:p>
          <a:p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数学建模最难获奖比赛：国赛（拿国奖）</a:t>
            </a:r>
            <a:r>
              <a:rPr lang="zh-CN" altLang="en-US" sz="1200" dirty="0">
                <a:solidFill>
                  <a:srgbClr val="00B0F0"/>
                </a:solidFill>
              </a:rPr>
              <a:t>，深圳杯</a:t>
            </a:r>
            <a:endParaRPr lang="zh-CN" altLang="en-US" sz="1200" b="1" i="0" dirty="0">
              <a:solidFill>
                <a:srgbClr val="00B0F0"/>
              </a:solidFill>
              <a:effectLst/>
              <a:latin typeface="-apple-system"/>
            </a:endParaRPr>
          </a:p>
          <a:p>
            <a:pPr algn="l"/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高获奖率比赛（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45%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以上）：</a:t>
            </a:r>
            <a:endParaRPr lang="en-US" altLang="zh-CN" sz="1200" b="1" i="0" dirty="0">
              <a:solidFill>
                <a:srgbClr val="00B0F0"/>
              </a:solidFill>
              <a:effectLst/>
              <a:latin typeface="-apple-system"/>
            </a:endParaRPr>
          </a:p>
          <a:p>
            <a:pPr algn="l"/>
            <a:r>
              <a:rPr lang="en-US" altLang="zh-CN" sz="1200" b="1" dirty="0">
                <a:solidFill>
                  <a:srgbClr val="00B0F0"/>
                </a:solidFill>
                <a:latin typeface="-apple-system"/>
              </a:rPr>
              <a:t>      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大统赛、认证杯、</a:t>
            </a:r>
            <a:r>
              <a:rPr lang="en-US" altLang="zh-CN" sz="1200" b="1" i="0" dirty="0" err="1">
                <a:solidFill>
                  <a:srgbClr val="00B0F0"/>
                </a:solidFill>
                <a:effectLst/>
                <a:latin typeface="-apple-system"/>
              </a:rPr>
              <a:t>MathorCup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、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APMCM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、五一赛、电工杯、数维杯等</a:t>
            </a:r>
          </a:p>
          <a:p>
            <a:pPr algn="l"/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报名免费比赛：华东杯、电工杯、深圳杯，大统赛</a:t>
            </a:r>
          </a:p>
          <a:p>
            <a:pPr algn="l"/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高报名费比赛：美赛（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700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），国赛（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300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），研赛（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300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），其余比赛以</a:t>
            </a:r>
            <a:r>
              <a:rPr lang="en-US" altLang="zh-CN" sz="1200" b="1" i="0" dirty="0">
                <a:solidFill>
                  <a:srgbClr val="00B0F0"/>
                </a:solidFill>
                <a:effectLst/>
                <a:latin typeface="-apple-system"/>
              </a:rPr>
              <a:t>100-200</a:t>
            </a:r>
            <a:r>
              <a:rPr lang="zh-CN" altLang="en-US" sz="1200" b="1" i="0" dirty="0">
                <a:solidFill>
                  <a:srgbClr val="00B0F0"/>
                </a:solidFill>
                <a:effectLst/>
                <a:latin typeface="-apple-system"/>
              </a:rPr>
              <a:t>元为主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039735F-D98B-4C20-8A3E-146AE8C7CE77}"/>
              </a:ext>
            </a:extLst>
          </p:cNvPr>
          <p:cNvSpPr txBox="1"/>
          <p:nvPr/>
        </p:nvSpPr>
        <p:spPr>
          <a:xfrm>
            <a:off x="2902554" y="2582528"/>
            <a:ext cx="5142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</a:t>
            </a:r>
            <a:r>
              <a:rPr lang="zh-CN" altLang="en-US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年数学建模竞赛特点 </a:t>
            </a:r>
            <a:r>
              <a:rPr lang="en-US" altLang="zh-CN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</a:t>
            </a:r>
            <a:r>
              <a:rPr lang="zh-CN" altLang="en-US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知乎 </a:t>
            </a:r>
            <a:r>
              <a:rPr lang="en-US" altLang="zh-CN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(zhihu.com)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B49F71-AC24-4239-A00B-98B2007BC8B6}"/>
              </a:ext>
            </a:extLst>
          </p:cNvPr>
          <p:cNvSpPr txBox="1"/>
          <p:nvPr/>
        </p:nvSpPr>
        <p:spPr>
          <a:xfrm>
            <a:off x="4607453" y="240860"/>
            <a:ext cx="46232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5"/>
              </a:rPr>
              <a:t>参加数学建模国赛，需要掌握哪些模型和算法？ </a:t>
            </a:r>
            <a:r>
              <a:rPr lang="en-US" altLang="zh-CN" sz="1200" dirty="0">
                <a:hlinkClick r:id="rId5"/>
              </a:rPr>
              <a:t>- </a:t>
            </a:r>
            <a:r>
              <a:rPr lang="zh-CN" altLang="en-US" sz="1200" dirty="0">
                <a:hlinkClick r:id="rId5"/>
              </a:rPr>
              <a:t>知乎 </a:t>
            </a:r>
            <a:r>
              <a:rPr lang="en-US" altLang="zh-CN" sz="1200" dirty="0">
                <a:hlinkClick r:id="rId5"/>
              </a:rPr>
              <a:t>(zhihu.com)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251FEC-B164-4047-9A18-8B86DC81899C}"/>
              </a:ext>
            </a:extLst>
          </p:cNvPr>
          <p:cNvSpPr txBox="1"/>
          <p:nvPr/>
        </p:nvSpPr>
        <p:spPr>
          <a:xfrm>
            <a:off x="2699791" y="1431843"/>
            <a:ext cx="42429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数学建模大赛常用的科学计算的函数知识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章概率统计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章曲线拟合</a:t>
            </a:r>
            <a:r>
              <a:rPr lang="zh-CN" altLang="en-US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zh-CN" altLang="en-US" sz="1600" b="1" kern="1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插值</a:t>
            </a:r>
            <a:endParaRPr lang="zh-CN" altLang="zh-CN" sz="1600" b="1" kern="100" dirty="0">
              <a:solidFill>
                <a:srgbClr val="00B0F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/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章 线性代数</a:t>
            </a:r>
            <a:r>
              <a:rPr lang="en-US" altLang="zh-CN" sz="1600" b="1" kern="1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  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7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章 数值微积分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</a:p>
          <a:p>
            <a:pPr algn="just"/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章 优化问题求解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;   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zh-CN" sz="1600" b="1" kern="10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章 符号计算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129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21" grpId="0" animBg="1"/>
      <p:bldP spid="23" grpId="0" animBg="1"/>
      <p:bldP spid="24" grpId="0"/>
      <p:bldP spid="25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9A77B-6135-4D99-97EA-B98D5C375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207" y="178838"/>
            <a:ext cx="7667625" cy="438150"/>
          </a:xfrm>
        </p:spPr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年高教社杯全国大学生数学建模大赛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44F913-6643-49E6-B32F-FD2E4A440124}"/>
              </a:ext>
            </a:extLst>
          </p:cNvPr>
          <p:cNvSpPr txBox="1"/>
          <p:nvPr/>
        </p:nvSpPr>
        <p:spPr>
          <a:xfrm>
            <a:off x="554893" y="613672"/>
            <a:ext cx="8543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800" b="1" u="sng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高教社杯全国大学生数学建模竞赛赛题讲评</a:t>
            </a:r>
            <a:r>
              <a:rPr lang="en-US" altLang="zh-CN" sz="1800" b="1" u="sng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— </a:t>
            </a:r>
            <a:r>
              <a:rPr lang="en-US" altLang="zh-CN" sz="1800" b="1" u="sng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中国大学生在线</a:t>
            </a:r>
            <a:r>
              <a:rPr lang="en-US" altLang="zh-CN" sz="1800" b="1" u="sng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(moe.gov.cn)</a:t>
            </a:r>
            <a:endParaRPr lang="zh-CN" altLang="zh-CN" sz="1800" b="1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3D011C-86FB-4394-99D2-DB3B6B25CEAA}"/>
              </a:ext>
            </a:extLst>
          </p:cNvPr>
          <p:cNvSpPr txBox="1"/>
          <p:nvPr/>
        </p:nvSpPr>
        <p:spPr>
          <a:xfrm>
            <a:off x="275583" y="4179728"/>
            <a:ext cx="88225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prstTxWarp prst="textCurveDown">
              <a:avLst/>
            </a:prstTxWarp>
            <a:spAutoFit/>
          </a:bodyPr>
          <a:lstStyle/>
          <a:p>
            <a:r>
              <a:rPr lang="zh-CN" altLang="en-US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国赛越倾向于大数据的处理分析与应用能力，对各领域问题所涉及的专业知识要求高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986" name="Picture 2" descr="中国大学生在线">
            <a:hlinkClick r:id="rId4"/>
            <a:extLst>
              <a:ext uri="{FF2B5EF4-FFF2-40B4-BE49-F238E27FC236}">
                <a16:creationId xmlns:a16="http://schemas.microsoft.com/office/drawing/2014/main" id="{88FDB40D-546B-41BD-94AD-666548600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31" y="1011289"/>
            <a:ext cx="2705025" cy="53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3097339-3D36-43DD-A0EE-E6122AA71B44}"/>
              </a:ext>
            </a:extLst>
          </p:cNvPr>
          <p:cNvSpPr txBox="1"/>
          <p:nvPr/>
        </p:nvSpPr>
        <p:spPr>
          <a:xfrm>
            <a:off x="205578" y="1613957"/>
            <a:ext cx="2009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ABCDE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五个选题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78A7B64-9899-4F5A-9D4A-BFE55B2D3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1680"/>
              </p:ext>
            </p:extLst>
          </p:nvPr>
        </p:nvGraphicFramePr>
        <p:xfrm>
          <a:off x="307631" y="1991829"/>
          <a:ext cx="2808312" cy="2061223"/>
        </p:xfrm>
        <a:graphic>
          <a:graphicData uri="http://schemas.openxmlformats.org/drawingml/2006/table">
            <a:tbl>
              <a:tblPr/>
              <a:tblGrid>
                <a:gridCol w="437706">
                  <a:extLst>
                    <a:ext uri="{9D8B030D-6E8A-4147-A177-3AD203B41FA5}">
                      <a16:colId xmlns:a16="http://schemas.microsoft.com/office/drawing/2014/main" val="1485076177"/>
                    </a:ext>
                  </a:extLst>
                </a:gridCol>
                <a:gridCol w="1275345">
                  <a:extLst>
                    <a:ext uri="{9D8B030D-6E8A-4147-A177-3AD203B41FA5}">
                      <a16:colId xmlns:a16="http://schemas.microsoft.com/office/drawing/2014/main" val="221312026"/>
                    </a:ext>
                  </a:extLst>
                </a:gridCol>
                <a:gridCol w="1095261">
                  <a:extLst>
                    <a:ext uri="{9D8B030D-6E8A-4147-A177-3AD203B41FA5}">
                      <a16:colId xmlns:a16="http://schemas.microsoft.com/office/drawing/2014/main" val="738449961"/>
                    </a:ext>
                  </a:extLst>
                </a:gridCol>
              </a:tblGrid>
              <a:tr h="210486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PingFang SC"/>
                        </a:rPr>
                        <a:t>题型</a:t>
                      </a:r>
                    </a:p>
                  </a:txBody>
                  <a:tcPr marL="55029" marR="55029" marT="36113" marB="25795" anchor="ctr">
                    <a:lnL w="6350" cap="flat" cmpd="sng" algn="ctr">
                      <a:solidFill>
                        <a:srgbClr val="400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0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0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0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PingFang SC"/>
                        </a:rPr>
                        <a:t>核心方法</a:t>
                      </a:r>
                    </a:p>
                  </a:txBody>
                  <a:tcPr marL="55029" marR="55029" marT="36113" marB="25795" anchor="ctr">
                    <a:lnL w="6350" cap="flat" cmpd="sng" algn="ctr">
                      <a:solidFill>
                        <a:srgbClr val="400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PingFang SC"/>
                        </a:rPr>
                        <a:t>典型应用领域</a:t>
                      </a:r>
                    </a:p>
                  </a:txBody>
                  <a:tcPr marL="55029" marR="55029" marT="36113" marB="25795" anchor="ctr">
                    <a:lnL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FA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FA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FA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06426251"/>
                  </a:ext>
                </a:extLst>
              </a:tr>
              <a:tr h="369383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题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0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</a:rPr>
                        <a:t>微分方程、统计建模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</a:rPr>
                        <a:t>工程、物理系统‌</a:t>
                      </a:r>
                      <a:endParaRPr lang="en-US" altLang="zh-CN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FA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83199385"/>
                  </a:ext>
                </a:extLst>
              </a:tr>
              <a:tr h="369383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题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规划模型、动态优化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</a:rPr>
                        <a:t>生产、物流‌</a:t>
                      </a:r>
                      <a:endParaRPr lang="en-US" altLang="zh-CN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7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0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0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10119516"/>
                  </a:ext>
                </a:extLst>
              </a:tr>
              <a:tr h="36938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C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</a:rPr>
                        <a:t>题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300D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0D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03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0D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综合评价、策略优化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300D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</a:rPr>
                        <a:t>农业、经济</a:t>
                      </a:r>
                      <a:endParaRPr lang="en-US" altLang="zh-CN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0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30315745"/>
                  </a:ext>
                </a:extLst>
              </a:tr>
              <a:tr h="369383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D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题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0D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概率模型、机理分析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</a:rPr>
                        <a:t>军事、生物‌</a:t>
                      </a:r>
                      <a:endParaRPr lang="en-US" altLang="zh-CN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C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0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FD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0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10499698"/>
                  </a:ext>
                </a:extLst>
              </a:tr>
              <a:tr h="369383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题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B00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0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0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</a:rPr>
                        <a:t>数据预测、模式识别</a:t>
                      </a: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B00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FE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FE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</a:rPr>
                        <a:t>交通、环境</a:t>
                      </a:r>
                      <a:endParaRPr lang="en-US" altLang="zh-CN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5029" marR="55029" marT="36113" marB="36113" anchor="ctr">
                    <a:lnL w="6350" cap="flat" cmpd="sng" algn="ctr">
                      <a:solidFill>
                        <a:srgbClr val="30FE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0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9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11487915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5C11A78-4F43-4B95-B597-AB291E9EBB84}"/>
              </a:ext>
            </a:extLst>
          </p:cNvPr>
          <p:cNvSpPr txBox="1"/>
          <p:nvPr/>
        </p:nvSpPr>
        <p:spPr>
          <a:xfrm>
            <a:off x="3265503" y="983004"/>
            <a:ext cx="583264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Font typeface="+mj-lt"/>
              <a:buAutoNum type="arabicPeriod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‌理论应用型‌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/>
              </a:rPr>
              <a:t>：这类题目通常涉及数学理论的实际应用，要求参赛者将所学知识应用于解决实际问题。题目可能会涵盖优化理论、统计学、概率论、微分方程等领域。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‌数据分析型‌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/>
              </a:rPr>
              <a:t>：这类题目要求参赛者对实际数据进行收集、分析和解释，通常需要应用统计学和数据分析方法。题目可能会提供一组数据，要求参赛者进行分析并得出结论。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‌综合评价型‌：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/>
              </a:rPr>
              <a:t>这类题目通常涉及多个评价因素，要求参赛者建立综合评价模型，对多个方案进行比较和评价。题目可能会涉及经济、环境、社会等多个方面的综合评价。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‌预测型‌：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/>
              </a:rPr>
              <a:t>这类题目要求参赛者建立预测模型，对未来的发展或趋势进行预测。题目可能会涉及经济预测、天气预测、人口预测等。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‌创新设计型‌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/>
              </a:rPr>
              <a:t>：这类题目强调创新性，要求参赛者提出新的思路和方法，解决实际问题。题目可能会涉及新的算法设计、系统设计或方法创新。</a:t>
            </a:r>
          </a:p>
          <a:p>
            <a:pPr algn="l" latinLnBrk="0"/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/>
              </a:rPr>
              <a:t>这些题型旨在全面考察参赛者的综合素质和能力，通过竞赛可以锻炼参赛者的数学建模和解决实际问题的能力。</a:t>
            </a:r>
          </a:p>
        </p:txBody>
      </p:sp>
    </p:spTree>
    <p:extLst>
      <p:ext uri="{BB962C8B-B14F-4D97-AF65-F5344CB8AC3E}">
        <p14:creationId xmlns:p14="http://schemas.microsoft.com/office/powerpoint/2010/main" val="79245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3CC2D-CF5B-4A1E-A2F5-DB237387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黄河水沙监控数据分析</a:t>
            </a:r>
            <a:r>
              <a:rPr lang="en-US" altLang="zh-CN" dirty="0"/>
              <a:t>——CUMCM2023E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5E1BC6-5456-4167-814D-FD26E64E3EE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424" y="771550"/>
            <a:ext cx="2162759" cy="149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C3DC26-429B-497E-95CF-E09315136DD9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9" t="52366" r="3581" b="13266"/>
          <a:stretch/>
        </p:blipFill>
        <p:spPr bwMode="auto">
          <a:xfrm>
            <a:off x="98939" y="3215326"/>
            <a:ext cx="3599749" cy="122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6E945E-9768-46D2-B512-73E77E29E448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1" t="71193" r="4946" b="9104"/>
          <a:stretch/>
        </p:blipFill>
        <p:spPr bwMode="auto">
          <a:xfrm>
            <a:off x="85988" y="1978321"/>
            <a:ext cx="3528799" cy="868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C58688A-7B33-4AFD-9444-CFDAEC6BFC55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" t="8937" r="3043" b="66990"/>
          <a:stretch/>
        </p:blipFill>
        <p:spPr bwMode="auto">
          <a:xfrm>
            <a:off x="0" y="807375"/>
            <a:ext cx="3721533" cy="79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A715E3-B897-475D-B40F-F3E095594433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96"/>
          <a:stretch/>
        </p:blipFill>
        <p:spPr bwMode="auto">
          <a:xfrm>
            <a:off x="6228183" y="1130440"/>
            <a:ext cx="2431997" cy="1493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BEB6DFF-CA52-4D38-BA39-B5E389FEE4F4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436" y="2658408"/>
            <a:ext cx="2385512" cy="162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67FC12F-9371-45B5-85AE-C47C7576110D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310" y="2859783"/>
            <a:ext cx="2705073" cy="17554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E4AE30F-2B2A-4A61-9E1E-93D771FBA94F}"/>
              </a:ext>
            </a:extLst>
          </p:cNvPr>
          <p:cNvCxnSpPr>
            <a:cxnSpLocks/>
          </p:cNvCxnSpPr>
          <p:nvPr/>
        </p:nvCxnSpPr>
        <p:spPr bwMode="auto">
          <a:xfrm>
            <a:off x="1721597" y="3531299"/>
            <a:ext cx="79182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234E4E6-0266-457F-A8FC-650494A0EF61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762" y="3828898"/>
            <a:ext cx="606748" cy="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B5E4FE7-2444-4A23-AEC8-2AC3802568F7}"/>
              </a:ext>
            </a:extLst>
          </p:cNvPr>
          <p:cNvCxnSpPr>
            <a:cxnSpLocks/>
          </p:cNvCxnSpPr>
          <p:nvPr/>
        </p:nvCxnSpPr>
        <p:spPr bwMode="auto">
          <a:xfrm>
            <a:off x="795510" y="4287253"/>
            <a:ext cx="1432300" cy="947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31F3E94-BCDB-40D9-8867-969F814CB26F}"/>
              </a:ext>
            </a:extLst>
          </p:cNvPr>
          <p:cNvSpPr txBox="1"/>
          <p:nvPr/>
        </p:nvSpPr>
        <p:spPr>
          <a:xfrm>
            <a:off x="179780" y="4371950"/>
            <a:ext cx="6063913" cy="273856"/>
          </a:xfrm>
          <a:prstGeom prst="rect">
            <a:avLst/>
          </a:prstGeom>
          <a:noFill/>
        </p:spPr>
        <p:txBody>
          <a:bodyPr wrap="square">
            <a:prstTxWarp prst="textWave1">
              <a:avLst/>
            </a:prstTxWarp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</a:rPr>
              <a:t>通常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-apple-system"/>
              </a:rPr>
              <a:t>国赛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</a:rPr>
              <a:t>每道题都涵盖多种算法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</a:rPr>
              <a:t>,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</a:rPr>
              <a:t>应用到多种科学计算函数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4A677B2-95AB-4F99-A036-41B3825AD7D3}"/>
              </a:ext>
            </a:extLst>
          </p:cNvPr>
          <p:cNvCxnSpPr>
            <a:cxnSpLocks/>
          </p:cNvCxnSpPr>
          <p:nvPr/>
        </p:nvCxnSpPr>
        <p:spPr bwMode="auto">
          <a:xfrm>
            <a:off x="2771532" y="3795886"/>
            <a:ext cx="79182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爆炸形: 14 pt  21">
            <a:extLst>
              <a:ext uri="{FF2B5EF4-FFF2-40B4-BE49-F238E27FC236}">
                <a16:creationId xmlns:a16="http://schemas.microsoft.com/office/drawing/2014/main" id="{C062B97A-A0C8-4F14-8F24-526417A06981}"/>
              </a:ext>
            </a:extLst>
          </p:cNvPr>
          <p:cNvSpPr/>
          <p:nvPr/>
        </p:nvSpPr>
        <p:spPr bwMode="auto">
          <a:xfrm rot="2334379">
            <a:off x="4114800" y="1586949"/>
            <a:ext cx="914400" cy="914400"/>
          </a:xfrm>
          <a:prstGeom prst="irregularSeal2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爆炸形: 14 pt  22">
            <a:extLst>
              <a:ext uri="{FF2B5EF4-FFF2-40B4-BE49-F238E27FC236}">
                <a16:creationId xmlns:a16="http://schemas.microsoft.com/office/drawing/2014/main" id="{20DF1F4A-2FB0-484D-AAFA-8696DBF12D33}"/>
              </a:ext>
            </a:extLst>
          </p:cNvPr>
          <p:cNvSpPr/>
          <p:nvPr/>
        </p:nvSpPr>
        <p:spPr bwMode="auto">
          <a:xfrm rot="2334379">
            <a:off x="7813022" y="940457"/>
            <a:ext cx="914400" cy="914400"/>
          </a:xfrm>
          <a:prstGeom prst="irregularSeal2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爆炸形: 14 pt  23">
            <a:extLst>
              <a:ext uri="{FF2B5EF4-FFF2-40B4-BE49-F238E27FC236}">
                <a16:creationId xmlns:a16="http://schemas.microsoft.com/office/drawing/2014/main" id="{FB07BD6F-190F-4077-97A0-9618E5BD828F}"/>
              </a:ext>
            </a:extLst>
          </p:cNvPr>
          <p:cNvSpPr/>
          <p:nvPr/>
        </p:nvSpPr>
        <p:spPr bwMode="auto">
          <a:xfrm rot="2334379">
            <a:off x="4441087" y="2543556"/>
            <a:ext cx="692035" cy="625222"/>
          </a:xfrm>
          <a:prstGeom prst="irregularSeal2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爆炸形: 14 pt  25">
            <a:extLst>
              <a:ext uri="{FF2B5EF4-FFF2-40B4-BE49-F238E27FC236}">
                <a16:creationId xmlns:a16="http://schemas.microsoft.com/office/drawing/2014/main" id="{2E099BAE-8DD1-4634-8302-27E51E5E239A}"/>
              </a:ext>
            </a:extLst>
          </p:cNvPr>
          <p:cNvSpPr/>
          <p:nvPr/>
        </p:nvSpPr>
        <p:spPr bwMode="auto">
          <a:xfrm rot="2334379">
            <a:off x="6858837" y="2756259"/>
            <a:ext cx="692035" cy="625222"/>
          </a:xfrm>
          <a:prstGeom prst="irregularSeal2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64AF3CF-F7A4-40C0-A116-5DCDEC4AAAD4}"/>
              </a:ext>
            </a:extLst>
          </p:cNvPr>
          <p:cNvSpPr txBox="1"/>
          <p:nvPr/>
        </p:nvSpPr>
        <p:spPr>
          <a:xfrm>
            <a:off x="7951467" y="3172583"/>
            <a:ext cx="119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-apple-system"/>
              </a:rPr>
              <a:t>梯形积分</a:t>
            </a:r>
            <a:endParaRPr lang="zh-CN" altLang="en-US" dirty="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508CF51-3795-466F-AB71-E04006D6B33A}"/>
              </a:ext>
            </a:extLst>
          </p:cNvPr>
          <p:cNvCxnSpPr>
            <a:cxnSpLocks/>
          </p:cNvCxnSpPr>
          <p:nvPr/>
        </p:nvCxnSpPr>
        <p:spPr bwMode="auto">
          <a:xfrm>
            <a:off x="2665817" y="3541915"/>
            <a:ext cx="79182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38DD8E9-DA33-4BF2-8376-5CEABF63B73E}"/>
              </a:ext>
            </a:extLst>
          </p:cNvPr>
          <p:cNvCxnSpPr>
            <a:cxnSpLocks/>
          </p:cNvCxnSpPr>
          <p:nvPr/>
        </p:nvCxnSpPr>
        <p:spPr bwMode="auto">
          <a:xfrm>
            <a:off x="971600" y="3795886"/>
            <a:ext cx="79182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D6CDAC2-CABF-45A9-894D-94D1A8C2ED08}"/>
              </a:ext>
            </a:extLst>
          </p:cNvPr>
          <p:cNvCxnSpPr>
            <a:cxnSpLocks/>
          </p:cNvCxnSpPr>
          <p:nvPr/>
        </p:nvCxnSpPr>
        <p:spPr bwMode="auto">
          <a:xfrm>
            <a:off x="179780" y="4083918"/>
            <a:ext cx="79182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38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B1018-9B2B-0098-C64D-F102C5AF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784" y="185385"/>
            <a:ext cx="4153362" cy="438150"/>
          </a:xfrm>
        </p:spPr>
        <p:txBody>
          <a:bodyPr/>
          <a:lstStyle/>
          <a:p>
            <a:r>
              <a:rPr lang="zh-CN" altLang="en-US" dirty="0"/>
              <a:t>第四章 概率统计分析</a:t>
            </a:r>
            <a:endParaRPr lang="zh-CN" altLang="en-US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093FCB1-62C2-4087-A113-F90049E26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90" y="2510830"/>
            <a:ext cx="8311976" cy="4540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prstDash val="sysDash"/>
            <a:miter lim="800000"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ts val="3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ko-KR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参数估计</a:t>
            </a:r>
            <a:endParaRPr lang="ko-KR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E5D5D6CC-B1D0-4CD9-ABAD-56EC4295C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8" y="1449217"/>
            <a:ext cx="8300348" cy="4540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prstDash val="sysDash"/>
            <a:miter lim="800000"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ts val="3000"/>
              </a:lnSpc>
            </a:pP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4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 随机变量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的概率分布</a:t>
            </a:r>
            <a:endParaRPr lang="ko-KR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CC6EA6-D389-4275-B689-A6A0F234CFD2}"/>
              </a:ext>
            </a:extLst>
          </p:cNvPr>
          <p:cNvSpPr/>
          <p:nvPr/>
        </p:nvSpPr>
        <p:spPr>
          <a:xfrm>
            <a:off x="7157987" y="1446616"/>
            <a:ext cx="1817583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概率理论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A650BB-1F12-4E25-838E-6DE6715681C9}"/>
              </a:ext>
            </a:extLst>
          </p:cNvPr>
          <p:cNvSpPr/>
          <p:nvPr/>
        </p:nvSpPr>
        <p:spPr>
          <a:xfrm>
            <a:off x="467544" y="890226"/>
            <a:ext cx="8061146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algn="dist">
              <a:buFont typeface="Arial" panose="020B0604020202020204" pitchFamily="34" charset="0"/>
              <a:buNone/>
              <a:defRPr/>
            </a:pPr>
            <a:r>
              <a:rPr lang="ko-KR" altLang="en-US" sz="2400" b="1" noProof="1">
                <a:solidFill>
                  <a:srgbClr val="0070C0"/>
                </a:solidFill>
                <a:latin typeface="微软雅黑" panose="020B0503020204020204" pitchFamily="34" charset="-122"/>
                <a:sym typeface="+mn-ea"/>
              </a:rPr>
              <a:t>概率统计是研究随机现象统计规律的</a:t>
            </a:r>
            <a:r>
              <a:rPr lang="zh-CN" altLang="en-US" sz="2400" b="1" noProof="1">
                <a:solidFill>
                  <a:srgbClr val="0070C0"/>
                </a:solidFill>
                <a:latin typeface="微软雅黑" panose="020B0503020204020204" pitchFamily="34" charset="-122"/>
                <a:sym typeface="+mn-ea"/>
              </a:rPr>
              <a:t>一门学科</a:t>
            </a:r>
            <a:endParaRPr lang="ko-KR" altLang="en-US" sz="2400" b="1" noProof="1">
              <a:solidFill>
                <a:srgbClr val="0070C0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7" name="形状 209924">
            <a:extLst>
              <a:ext uri="{FF2B5EF4-FFF2-40B4-BE49-F238E27FC236}">
                <a16:creationId xmlns:a16="http://schemas.microsoft.com/office/drawing/2014/main" id="{CAB29A1E-02A4-4484-AD97-FEA2F00D8E2F}"/>
              </a:ext>
            </a:extLst>
          </p:cNvPr>
          <p:cNvSpPr/>
          <p:nvPr/>
        </p:nvSpPr>
        <p:spPr>
          <a:xfrm rot="230273">
            <a:off x="127987" y="121509"/>
            <a:ext cx="2682437" cy="701914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99E989D-AB40-41F3-84D5-5E3842FD23F0}"/>
              </a:ext>
            </a:extLst>
          </p:cNvPr>
          <p:cNvCxnSpPr/>
          <p:nvPr/>
        </p:nvCxnSpPr>
        <p:spPr>
          <a:xfrm>
            <a:off x="4594212" y="1646671"/>
            <a:ext cx="3256506" cy="0"/>
          </a:xfrm>
          <a:prstGeom prst="line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标题 3">
            <a:extLst>
              <a:ext uri="{FF2B5EF4-FFF2-40B4-BE49-F238E27FC236}">
                <a16:creationId xmlns:a16="http://schemas.microsoft.com/office/drawing/2014/main" id="{737AC531-4504-4A92-A545-B69C66A58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90" y="1989962"/>
            <a:ext cx="8323602" cy="4540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prstDash val="sysDash"/>
            <a:miter lim="800000"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ts val="3000"/>
              </a:lnSpc>
            </a:pP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4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ko-KR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描述统计分析</a:t>
            </a:r>
            <a:endParaRPr lang="ko-KR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9E4039-14FB-486B-B6BC-9FBA63EA8867}"/>
              </a:ext>
            </a:extLst>
          </p:cNvPr>
          <p:cNvSpPr/>
          <p:nvPr/>
        </p:nvSpPr>
        <p:spPr>
          <a:xfrm>
            <a:off x="7188995" y="2016550"/>
            <a:ext cx="1595309" cy="430887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描述统计学</a:t>
            </a:r>
          </a:p>
        </p:txBody>
      </p:sp>
      <p:sp>
        <p:nvSpPr>
          <p:cNvPr id="28" name="标题 3">
            <a:extLst>
              <a:ext uri="{FF2B5EF4-FFF2-40B4-BE49-F238E27FC236}">
                <a16:creationId xmlns:a16="http://schemas.microsoft.com/office/drawing/2014/main" id="{B3005D8A-065E-49A2-8E23-66EE7813F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7" y="3039813"/>
            <a:ext cx="8311975" cy="4540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prstDash val="sysDash"/>
            <a:miter lim="800000"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ts val="3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ko-KR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</a:t>
            </a:r>
            <a:endParaRPr lang="ko-KR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A6961-59A1-4F72-9FCA-7794390A47F7}"/>
              </a:ext>
            </a:extLst>
          </p:cNvPr>
          <p:cNvSpPr/>
          <p:nvPr/>
        </p:nvSpPr>
        <p:spPr>
          <a:xfrm>
            <a:off x="7054885" y="2554389"/>
            <a:ext cx="1817583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推断统计学</a:t>
            </a:r>
          </a:p>
        </p:txBody>
      </p:sp>
      <p:sp>
        <p:nvSpPr>
          <p:cNvPr id="18" name="标题 3">
            <a:extLst>
              <a:ext uri="{FF2B5EF4-FFF2-40B4-BE49-F238E27FC236}">
                <a16:creationId xmlns:a16="http://schemas.microsoft.com/office/drawing/2014/main" id="{537337C0-A0BC-4502-806D-215BF5F3E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90" y="3616472"/>
            <a:ext cx="8323602" cy="4540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prstDash val="sysDash"/>
            <a:miter lim="800000"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ts val="3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ko-KR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ko-KR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回归分析</a:t>
            </a:r>
            <a:endParaRPr lang="ko-KR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8C669E-4E4B-4D7B-9501-2B0B6D73253A}"/>
              </a:ext>
            </a:extLst>
          </p:cNvPr>
          <p:cNvSpPr txBox="1"/>
          <p:nvPr/>
        </p:nvSpPr>
        <p:spPr>
          <a:xfrm>
            <a:off x="395536" y="4227934"/>
            <a:ext cx="8580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1400" kern="100">
                <a:solidFill>
                  <a:schemeClr val="bg1"/>
                </a:solidFill>
                <a:highlight>
                  <a:srgbClr val="3399FF"/>
                </a:highlight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dist"/>
            <a:r>
              <a:rPr lang="zh-CN" altLang="en-US" sz="1800" dirty="0">
                <a:highlight>
                  <a:srgbClr val="003B76"/>
                </a:highlight>
              </a:rPr>
              <a:t>机器学习基于</a:t>
            </a:r>
            <a:r>
              <a:rPr lang="zh-CN" altLang="zh-CN" sz="1800" dirty="0">
                <a:highlight>
                  <a:srgbClr val="003B76"/>
                </a:highlight>
              </a:rPr>
              <a:t>统计学习基础之上</a:t>
            </a:r>
            <a:r>
              <a:rPr lang="zh-CN" altLang="en-US" sz="1800" dirty="0">
                <a:highlight>
                  <a:srgbClr val="003B76"/>
                </a:highlight>
              </a:rPr>
              <a:t>，可从数据中学习，</a:t>
            </a:r>
            <a:r>
              <a:rPr lang="zh-CN" altLang="en-US" sz="1800" dirty="0">
                <a:highlight>
                  <a:srgbClr val="003B76"/>
                </a:highlight>
                <a:latin typeface="-apple-system"/>
              </a:rPr>
              <a:t>来预测和执行任务</a:t>
            </a:r>
            <a:endParaRPr lang="zh-CN" altLang="en-US" sz="1800" dirty="0">
              <a:highlight>
                <a:srgbClr val="003B76"/>
              </a:highlight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C0E3A17-6CCF-4464-839C-3D820D4237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120" y="3065812"/>
            <a:ext cx="1194578" cy="10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DCC2EEF-22B2-4B4D-BF98-AF2388527C23}"/>
              </a:ext>
            </a:extLst>
          </p:cNvPr>
          <p:cNvSpPr/>
          <p:nvPr/>
        </p:nvSpPr>
        <p:spPr>
          <a:xfrm>
            <a:off x="3472205" y="2007298"/>
            <a:ext cx="3600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Arial Unicode MS"/>
              </a:rPr>
              <a:t>数据收集、分析、推断、预测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A64C20-B951-47A8-8AE3-BBD065DF5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030" y="161989"/>
            <a:ext cx="219573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ource-code-pro"/>
              </a:rPr>
              <a:t>using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ource-code-pro"/>
              </a:rPr>
              <a:t> TyStatistics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191D78-BA9C-4FD6-A9C2-82BA095B9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800" y="3698618"/>
            <a:ext cx="319968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zh-CN" sz="2000" b="1" dirty="0">
                <a:solidFill>
                  <a:srgbClr val="FF0000"/>
                </a:solidFill>
                <a:latin typeface="Arial Unicode MS"/>
                <a:ea typeface="source-code-pro"/>
              </a:rPr>
              <a:t>using TyMachineLearning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34BEB7-9A34-4E81-A531-07B36A76B543}"/>
              </a:ext>
            </a:extLst>
          </p:cNvPr>
          <p:cNvSpPr txBox="1"/>
          <p:nvPr/>
        </p:nvSpPr>
        <p:spPr>
          <a:xfrm>
            <a:off x="6313094" y="571895"/>
            <a:ext cx="2472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1400" kern="100">
                <a:solidFill>
                  <a:schemeClr val="bg1"/>
                </a:solidFill>
                <a:highlight>
                  <a:srgbClr val="3399FF"/>
                </a:highlight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en-US" sz="1600" dirty="0">
                <a:highlight>
                  <a:srgbClr val="66CCFF"/>
                </a:highlight>
              </a:rPr>
              <a:t>全国大学生统计建模大赛</a:t>
            </a:r>
          </a:p>
        </p:txBody>
      </p:sp>
    </p:spTree>
    <p:extLst>
      <p:ext uri="{BB962C8B-B14F-4D97-AF65-F5344CB8AC3E}">
        <p14:creationId xmlns:p14="http://schemas.microsoft.com/office/powerpoint/2010/main" val="310545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25" grpId="0" animBg="1"/>
      <p:bldP spid="7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5C65CEA2-C4BF-4402-89C0-35E66ECE7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635646"/>
            <a:ext cx="6839937" cy="272395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zh-CN" altLang="en-US" sz="2400" b="0" kern="0" noProof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随机变量正态分布的概率计算 </a:t>
            </a:r>
            <a:endParaRPr lang="en-US" altLang="zh-CN" sz="2400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掌握统计量计算 </a:t>
            </a:r>
            <a:endParaRPr lang="en-US" altLang="zh-CN" sz="2400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学会绘制频数直方图 </a:t>
            </a:r>
            <a:endParaRPr lang="en-US" altLang="zh-CN" sz="2400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掌握正态参数拟合进行参数估计</a:t>
            </a:r>
            <a:endParaRPr lang="en-US" altLang="zh-CN" sz="2400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了解假设检验和回归分析</a:t>
            </a:r>
            <a:endParaRPr lang="zh-CN" altLang="en-US" sz="2400" b="0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1">
            <a:extLst>
              <a:ext uri="{FF2B5EF4-FFF2-40B4-BE49-F238E27FC236}">
                <a16:creationId xmlns:a16="http://schemas.microsoft.com/office/drawing/2014/main" id="{3F8A99F9-4EDD-4DD3-BF7A-1BC6A8D45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48" y="915566"/>
            <a:ext cx="3877985" cy="59490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3600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概率统计学习目标</a:t>
            </a:r>
            <a:endParaRPr lang="en-US" altLang="zh-CN" sz="3600" kern="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63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0793EA-EAFC-414D-BDBC-C4E710B06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035885"/>
            <a:ext cx="8064896" cy="14121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ts val="5500"/>
              </a:lnSpc>
              <a:buNone/>
              <a:defRPr/>
            </a:pPr>
            <a:r>
              <a:rPr lang="en-US" altLang="zh-CN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 </a:t>
            </a:r>
            <a:r>
              <a:rPr lang="zh-CN" altLang="en-US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随机变量正态分布及其概率计算</a:t>
            </a:r>
            <a:endParaRPr lang="en-US" altLang="zh-CN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5500"/>
              </a:lnSpc>
              <a:buNone/>
              <a:defRPr/>
            </a:pPr>
            <a:r>
              <a:rPr lang="en-US" altLang="zh-CN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 </a:t>
            </a:r>
            <a:r>
              <a:rPr lang="zh-CN" altLang="en-US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常见概率分布及其概率计算</a:t>
            </a:r>
            <a:endParaRPr lang="zh-CN" altLang="en-US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EDD972-4F31-4776-9EAB-E7969E5A02DE}"/>
              </a:ext>
            </a:extLst>
          </p:cNvPr>
          <p:cNvSpPr txBox="1"/>
          <p:nvPr/>
        </p:nvSpPr>
        <p:spPr>
          <a:xfrm>
            <a:off x="717684" y="1203598"/>
            <a:ext cx="7742748" cy="879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3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 4</a:t>
            </a:r>
            <a:r>
              <a:rPr lang="ko-KR" altLang="en-US" sz="3200" kern="0" dirty="0">
                <a:solidFill>
                  <a:srgbClr val="002060"/>
                </a:solidFill>
                <a:latin typeface="微软雅黑" panose="020B0503020204020204" pitchFamily="34" charset="-122"/>
              </a:rPr>
              <a:t>.1 </a:t>
            </a:r>
            <a:r>
              <a:rPr lang="zh-CN" altLang="en-US" sz="3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随机变量的概率分布</a:t>
            </a:r>
            <a:r>
              <a:rPr lang="zh-CN" altLang="en-US" sz="32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及其概率计算</a:t>
            </a:r>
            <a:endParaRPr lang="en-US" altLang="zh-CN" sz="3200" b="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000"/>
              </a:lnSpc>
            </a:pPr>
            <a:endParaRPr lang="ko-KR" altLang="en-US" sz="32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230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2025/3/25</a:t>
            </a:fld>
            <a:endParaRPr lang="zh-CN" altLang="en-US" sz="18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BEA4D4-4E98-4ABC-A3A5-310739104B72}"/>
              </a:ext>
            </a:extLst>
          </p:cNvPr>
          <p:cNvSpPr/>
          <p:nvPr/>
        </p:nvSpPr>
        <p:spPr>
          <a:xfrm>
            <a:off x="7164288" y="1305420"/>
            <a:ext cx="173316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chemeClr val="bg1"/>
                </a:solidFill>
                <a:highlight>
                  <a:srgbClr val="3399FF"/>
                </a:highlight>
              </a:rPr>
              <a:t>材料粒度分布</a:t>
            </a:r>
          </a:p>
        </p:txBody>
      </p:sp>
      <p:pic>
        <p:nvPicPr>
          <p:cNvPr id="13" name="图片 3" descr="3">
            <a:extLst>
              <a:ext uri="{FF2B5EF4-FFF2-40B4-BE49-F238E27FC236}">
                <a16:creationId xmlns:a16="http://schemas.microsoft.com/office/drawing/2014/main" id="{89B0314D-7E7A-47A3-A501-68CA051BA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64" y="841116"/>
            <a:ext cx="3098611" cy="2077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D61FD11-1FAD-4F95-9A9E-E8D17ED8760F}"/>
              </a:ext>
            </a:extLst>
          </p:cNvPr>
          <p:cNvSpPr/>
          <p:nvPr/>
        </p:nvSpPr>
        <p:spPr>
          <a:xfrm>
            <a:off x="922864" y="2181947"/>
            <a:ext cx="1587294" cy="40011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5μmSiC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形貌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5" name="Picture 4" descr="https://timgsa.baidu.com/timg?image&amp;quality=80&amp;size=b9999_10000&amp;sec=1540273414558&amp;di=162d983b62ecfbf448ad7d7e6b1718ea&amp;imgtype=0&amp;src=http%3A%2F%2Fi3.hexun.com%2F2018-09-26%2F194364745.jpg">
            <a:extLst>
              <a:ext uri="{FF2B5EF4-FFF2-40B4-BE49-F238E27FC236}">
                <a16:creationId xmlns:a16="http://schemas.microsoft.com/office/drawing/2014/main" id="{0E1E219C-70DB-47C4-B505-2083F51C9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" t="3902" r="2614" b="4605"/>
          <a:stretch>
            <a:fillRect/>
          </a:stretch>
        </p:blipFill>
        <p:spPr bwMode="auto">
          <a:xfrm>
            <a:off x="4139952" y="2918180"/>
            <a:ext cx="4679851" cy="165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4397451-9349-4E19-B3AC-55EF35B833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093344"/>
              </p:ext>
            </p:extLst>
          </p:nvPr>
        </p:nvGraphicFramePr>
        <p:xfrm>
          <a:off x="4034957" y="680517"/>
          <a:ext cx="4478337" cy="226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0" name="Graph" r:id="rId6" imgW="31768415" imgH="22470745" progId="Origin50.Graph">
                  <p:embed/>
                </p:oleObj>
              </mc:Choice>
              <mc:Fallback>
                <p:oleObj name="Graph" r:id="rId6" imgW="31768415" imgH="22470745" progId="Origin50.Grap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34957" y="680517"/>
                        <a:ext cx="4478337" cy="226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椭圆 16">
            <a:extLst>
              <a:ext uri="{FF2B5EF4-FFF2-40B4-BE49-F238E27FC236}">
                <a16:creationId xmlns:a16="http://schemas.microsoft.com/office/drawing/2014/main" id="{B2C8641C-8590-42CE-A0CA-F5A18704B1FC}"/>
              </a:ext>
            </a:extLst>
          </p:cNvPr>
          <p:cNvSpPr/>
          <p:nvPr/>
        </p:nvSpPr>
        <p:spPr>
          <a:xfrm>
            <a:off x="5796136" y="3379281"/>
            <a:ext cx="764588" cy="776645"/>
          </a:xfrm>
          <a:prstGeom prst="ellipse">
            <a:avLst/>
          </a:prstGeom>
          <a:noFill/>
          <a:ln w="57150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6E2403-3E3C-4EF5-B9A3-0CDC85AD8EAC}"/>
              </a:ext>
            </a:extLst>
          </p:cNvPr>
          <p:cNvSpPr/>
          <p:nvPr/>
        </p:nvSpPr>
        <p:spPr>
          <a:xfrm>
            <a:off x="917597" y="3246162"/>
            <a:ext cx="1854204" cy="346249"/>
          </a:xfrm>
          <a:prstGeom prst="rect">
            <a:avLst/>
          </a:prstGeom>
          <a:solidFill>
            <a:srgbClr val="002060"/>
          </a:solidFill>
          <a:ln w="762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德国的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D404EF-4C69-4B03-9B35-B97CA1292B71}"/>
              </a:ext>
            </a:extLst>
          </p:cNvPr>
          <p:cNvSpPr/>
          <p:nvPr/>
        </p:nvSpPr>
        <p:spPr>
          <a:xfrm>
            <a:off x="903925" y="3974709"/>
            <a:ext cx="1854204" cy="346249"/>
          </a:xfrm>
          <a:prstGeom prst="rect">
            <a:avLst/>
          </a:prstGeom>
          <a:solidFill>
            <a:srgbClr val="002060"/>
          </a:solidFill>
          <a:ln w="762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概率分布形式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0C8E94-0565-4A8C-B800-60C1D2299ADA}"/>
              </a:ext>
            </a:extLst>
          </p:cNvPr>
          <p:cNvSpPr/>
          <p:nvPr/>
        </p:nvSpPr>
        <p:spPr>
          <a:xfrm>
            <a:off x="6600834" y="763924"/>
            <a:ext cx="233108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概率函数曲线呈钟形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DB9A4E-D1B7-4357-996F-FFE34C818FD6}"/>
              </a:ext>
            </a:extLst>
          </p:cNvPr>
          <p:cNvSpPr txBox="1"/>
          <p:nvPr/>
        </p:nvSpPr>
        <p:spPr>
          <a:xfrm>
            <a:off x="903924" y="107506"/>
            <a:ext cx="7915879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随机变量正态分布及其概率计算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——norm</a:t>
            </a:r>
            <a:endParaRPr lang="ko-KR" altLang="en-US" sz="28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2AEB2F-A21F-4CE7-A928-047D8502439B}"/>
              </a:ext>
            </a:extLst>
          </p:cNvPr>
          <p:cNvSpPr txBox="1"/>
          <p:nvPr/>
        </p:nvSpPr>
        <p:spPr>
          <a:xfrm>
            <a:off x="4144836" y="4035303"/>
            <a:ext cx="4618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历史上跨界科学家  数学王子</a:t>
            </a:r>
            <a:endParaRPr lang="en-US" altLang="zh-CN" sz="12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/>
              </a:rPr>
              <a:t>德国著名数学家、物理学家、天文学家、</a:t>
            </a:r>
            <a:r>
              <a:rPr lang="zh-CN" altLang="en-US" sz="1200" dirty="0">
                <a:solidFill>
                  <a:srgbClr val="333333"/>
                </a:solidFill>
                <a:latin typeface="Helvetica Neue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几何学</a:t>
            </a:r>
            <a:r>
              <a:rPr lang="zh-CN" altLang="en-US" sz="1200" dirty="0">
                <a:solidFill>
                  <a:srgbClr val="333333"/>
                </a:solidFill>
                <a:latin typeface="Helvetica Neue"/>
              </a:rPr>
              <a:t>家，大地测量学家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5558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内容占位符 2"/>
          <p:cNvSpPr>
            <a:spLocks noGrp="1" noChangeArrowheads="1"/>
          </p:cNvSpPr>
          <p:nvPr>
            <p:ph idx="1"/>
          </p:nvPr>
        </p:nvSpPr>
        <p:spPr>
          <a:xfrm>
            <a:off x="402930" y="2288995"/>
            <a:ext cx="8459956" cy="882123"/>
          </a:xfrm>
          <a:solidFill>
            <a:srgbClr val="FFFFFF"/>
          </a:solidFill>
          <a:ln w="0">
            <a:solidFill>
              <a:srgbClr val="000000"/>
            </a:solidFill>
            <a:miter lim="800000"/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</a:rPr>
              <a:t>满足</a:t>
            </a:r>
            <a:r>
              <a:rPr lang="en-US" altLang="zh-CN" sz="2000" dirty="0">
                <a:solidFill>
                  <a:srgbClr val="000000"/>
                </a:solidFill>
              </a:rPr>
              <a:t>p(x)</a:t>
            </a:r>
            <a:r>
              <a:rPr lang="zh-CN" altLang="en-US" sz="2000" dirty="0">
                <a:solidFill>
                  <a:srgbClr val="000000"/>
                </a:solidFill>
              </a:rPr>
              <a:t> 公式时，称随机</a:t>
            </a:r>
            <a:r>
              <a:rPr lang="zh-CN" altLang="ko-KR" sz="2000" dirty="0">
                <a:solidFill>
                  <a:srgbClr val="000000"/>
                </a:solidFill>
              </a:rPr>
              <a:t>变量</a:t>
            </a:r>
            <a:r>
              <a:rPr lang="en-US" altLang="zh-CN" sz="2000" dirty="0">
                <a:solidFill>
                  <a:srgbClr val="000000"/>
                </a:solidFill>
              </a:rPr>
              <a:t>x</a:t>
            </a:r>
            <a:r>
              <a:rPr lang="ko-KR" altLang="en-US" sz="2000" dirty="0">
                <a:solidFill>
                  <a:srgbClr val="000000"/>
                </a:solidFill>
              </a:rPr>
              <a:t>服从</a:t>
            </a:r>
            <a:r>
              <a:rPr lang="zh-CN" altLang="en-US" sz="2000" dirty="0">
                <a:solidFill>
                  <a:srgbClr val="000000"/>
                </a:solidFill>
              </a:rPr>
              <a:t>均</a:t>
            </a:r>
            <a:r>
              <a:rPr lang="ko-KR" altLang="en-US" sz="2000" dirty="0">
                <a:solidFill>
                  <a:srgbClr val="000000"/>
                </a:solidFill>
              </a:rPr>
              <a:t>值 μ和</a:t>
            </a:r>
            <a:r>
              <a:rPr lang="zh-CN" altLang="en-US" sz="2000" dirty="0">
                <a:solidFill>
                  <a:srgbClr val="000000"/>
                </a:solidFill>
              </a:rPr>
              <a:t>标准差</a:t>
            </a:r>
            <a:r>
              <a:rPr lang="ko-KR" altLang="en-US" sz="2000" dirty="0">
                <a:solidFill>
                  <a:srgbClr val="000000"/>
                </a:solidFill>
              </a:rPr>
              <a:t>σ</a:t>
            </a:r>
            <a:r>
              <a:rPr lang="ko-KR" altLang="en-US" sz="2000" b="1" dirty="0">
                <a:solidFill>
                  <a:srgbClr val="C00000"/>
                </a:solidFill>
              </a:rPr>
              <a:t>正态分布</a:t>
            </a:r>
            <a:r>
              <a:rPr lang="ko-KR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ko-KR" altLang="en-US" sz="2000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p"/>
            </a:pPr>
            <a:r>
              <a:rPr lang="ko-KR" altLang="en-US" sz="2000" i="1" dirty="0">
                <a:solidFill>
                  <a:srgbClr val="000000"/>
                </a:solidFill>
                <a:ea typeface="宋体" panose="02010600030101010101" pitchFamily="2" charset="-122"/>
              </a:rPr>
              <a:t>μ</a:t>
            </a:r>
            <a:r>
              <a:rPr lang="ko-KR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=0</a:t>
            </a:r>
            <a:r>
              <a:rPr lang="en-US" altLang="ko-KR" sz="2000" dirty="0">
                <a:solidFill>
                  <a:srgbClr val="000000"/>
                </a:solidFill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σ=1时，</a:t>
            </a:r>
            <a:r>
              <a:rPr lang="zh-CN" altLang="en-US" sz="2000" dirty="0">
                <a:solidFill>
                  <a:srgbClr val="000000"/>
                </a:solidFill>
              </a:rPr>
              <a:t>随机</a:t>
            </a:r>
            <a:r>
              <a:rPr lang="zh-CN" altLang="ko-KR" sz="2000" dirty="0">
                <a:solidFill>
                  <a:srgbClr val="000000"/>
                </a:solidFill>
              </a:rPr>
              <a:t>变量</a:t>
            </a:r>
            <a:r>
              <a:rPr lang="en-US" altLang="ko-KR" sz="2000" dirty="0">
                <a:solidFill>
                  <a:srgbClr val="000000"/>
                </a:solidFill>
              </a:rPr>
              <a:t>x</a:t>
            </a:r>
            <a:r>
              <a:rPr lang="ko-KR" altLang="en-US" sz="2000" dirty="0">
                <a:solidFill>
                  <a:srgbClr val="000000"/>
                </a:solidFill>
              </a:rPr>
              <a:t>服从</a:t>
            </a:r>
            <a:r>
              <a:rPr lang="ko-KR" altLang="en-US" sz="2000" b="1" dirty="0">
                <a:solidFill>
                  <a:srgbClr val="C00000"/>
                </a:solidFill>
              </a:rPr>
              <a:t>标准正态分布</a:t>
            </a: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-36576" y="-319746"/>
            <a:ext cx="3289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11272" name="文本框 12299"/>
          <p:cNvSpPr txBox="1">
            <a:spLocks noChangeArrowheads="1"/>
          </p:cNvSpPr>
          <p:nvPr/>
        </p:nvSpPr>
        <p:spPr bwMode="auto">
          <a:xfrm>
            <a:off x="5372725" y="2756536"/>
            <a:ext cx="1340901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 sz="1600" b="1" i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简写</a:t>
            </a:r>
            <a:r>
              <a:rPr lang="en-US" altLang="ko-KR" dirty="0"/>
              <a:t>x</a:t>
            </a:r>
            <a:r>
              <a:rPr lang="ko-KR" altLang="en-US" dirty="0"/>
              <a:t>～N(0,1)</a:t>
            </a:r>
          </a:p>
        </p:txBody>
      </p:sp>
      <p:graphicFrame>
        <p:nvGraphicFramePr>
          <p:cNvPr id="1127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269206"/>
              </p:ext>
            </p:extLst>
          </p:nvPr>
        </p:nvGraphicFramePr>
        <p:xfrm>
          <a:off x="402930" y="808775"/>
          <a:ext cx="8460792" cy="66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" r:id="rId4" imgW="2273300" imgH="520700" progId="">
                  <p:embed/>
                </p:oleObj>
              </mc:Choice>
              <mc:Fallback>
                <p:oleObj r:id="rId4" imgW="2273300" imgH="520700" progId="">
                  <p:embed/>
                  <p:pic>
                    <p:nvPicPr>
                      <p:cNvPr id="1127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30" y="808775"/>
                        <a:ext cx="8460792" cy="664215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FF00">
                              <a:shade val="30000"/>
                              <a:satMod val="115000"/>
                            </a:srgbClr>
                          </a:gs>
                          <a:gs pos="50000">
                            <a:srgbClr val="FFFF00">
                              <a:shade val="67500"/>
                              <a:satMod val="115000"/>
                            </a:srgbClr>
                          </a:gs>
                          <a:gs pos="100000">
                            <a:srgbClr val="FFFF00">
                              <a:shade val="100000"/>
                              <a:satMod val="115000"/>
                            </a:srgbClr>
                          </a:gs>
                        </a:gsLst>
                        <a:lin ang="2700000" scaled="1"/>
                        <a:tileRect/>
                      </a:gra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949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77249" y="814074"/>
            <a:ext cx="1686472" cy="586491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8" name="文本框 12299"/>
          <p:cNvSpPr txBox="1">
            <a:spLocks noChangeArrowheads="1"/>
          </p:cNvSpPr>
          <p:nvPr/>
        </p:nvSpPr>
        <p:spPr bwMode="auto">
          <a:xfrm>
            <a:off x="7823534" y="859665"/>
            <a:ext cx="352554" cy="4160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  <a:defRPr sz="1600" b="1" i="1">
                <a:solidFill>
                  <a:srgbClr val="FF0000"/>
                </a:solidFill>
                <a:ea typeface="Malgun Gothic" panose="020B0503020000020004" pitchFamily="34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9pPr>
          </a:lstStyle>
          <a:p>
            <a:r>
              <a:rPr lang="ko-KR" altLang="en-US" dirty="0"/>
              <a:t>X</a:t>
            </a:r>
          </a:p>
        </p:txBody>
      </p:sp>
      <p:sp>
        <p:nvSpPr>
          <p:cNvPr id="21" name="文本框 1"/>
          <p:cNvSpPr txBox="1">
            <a:spLocks noChangeArrowheads="1"/>
          </p:cNvSpPr>
          <p:nvPr/>
        </p:nvSpPr>
        <p:spPr bwMode="auto">
          <a:xfrm>
            <a:off x="7284072" y="2375308"/>
            <a:ext cx="156756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6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简写</a:t>
            </a:r>
            <a:r>
              <a:rPr lang="en-US" altLang="ko-KR" sz="16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ko-KR" altLang="en-US" sz="1600" b="1" i="1" dirty="0">
                <a:solidFill>
                  <a:srgbClr val="FF0000"/>
                </a:solidFill>
                <a:latin typeface="华文楷体" panose="02010600040101010101" pitchFamily="2" charset="-122"/>
                <a:ea typeface="Malgun Gothic" panose="020B0503020000020004" pitchFamily="34" charset="-127"/>
              </a:rPr>
              <a:t>～N(μ</a:t>
            </a:r>
            <a:r>
              <a:rPr lang="en-US" altLang="ko-KR" sz="16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ko-KR" altLang="en-US" sz="1600" b="1" i="1" dirty="0">
                <a:solidFill>
                  <a:srgbClr val="FF0000"/>
                </a:solidFill>
                <a:latin typeface="华文楷体" panose="02010600040101010101" pitchFamily="2" charset="-122"/>
                <a:ea typeface="Malgun Gothic" panose="020B0503020000020004" pitchFamily="34" charset="-127"/>
              </a:rPr>
              <a:t>σ</a:t>
            </a:r>
            <a:r>
              <a:rPr lang="ko-KR" altLang="en-US" sz="1600" b="1" i="1" baseline="30000" dirty="0">
                <a:solidFill>
                  <a:srgbClr val="FF0000"/>
                </a:solidFill>
                <a:latin typeface="华文楷体" panose="02010600040101010101" pitchFamily="2" charset="-122"/>
                <a:ea typeface="Malgun Gothic" panose="020B0503020000020004" pitchFamily="34" charset="-127"/>
              </a:rPr>
              <a:t>2</a:t>
            </a:r>
            <a:r>
              <a:rPr lang="ko-KR" altLang="en-US" sz="1600" b="1" i="1" dirty="0">
                <a:solidFill>
                  <a:srgbClr val="FF0000"/>
                </a:solidFill>
                <a:latin typeface="华文楷体" panose="02010600040101010101" pitchFamily="2" charset="-122"/>
                <a:ea typeface="Malgun Gothic" panose="020B0503020000020004" pitchFamily="34" charset="-127"/>
              </a:rPr>
              <a:t>)</a:t>
            </a:r>
            <a:endParaRPr lang="zh-CN" altLang="en-US" sz="1600" b="1" i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文本框 1"/>
          <p:cNvSpPr txBox="1"/>
          <p:nvPr/>
        </p:nvSpPr>
        <p:spPr>
          <a:xfrm>
            <a:off x="402929" y="1547266"/>
            <a:ext cx="845995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正态分布的</a:t>
            </a:r>
            <a:r>
              <a:rPr lang="ko-KR" altLang="en-US" dirty="0">
                <a:solidFill>
                  <a:srgbClr val="002060"/>
                </a:solidFill>
                <a:latin typeface="宋体" panose="02010600030101010101" pitchFamily="2" charset="-122"/>
              </a:rPr>
              <a:t>概率密度</a:t>
            </a:r>
            <a:r>
              <a:rPr lang="en-US" altLang="zh-CN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p(x)</a:t>
            </a:r>
            <a:r>
              <a:rPr lang="ko-KR" altLang="en-US" dirty="0">
                <a:solidFill>
                  <a:srgbClr val="002060"/>
                </a:solidFill>
                <a:latin typeface="宋体" panose="02010600030101010101" pitchFamily="2" charset="-122"/>
              </a:rPr>
              <a:t> </a:t>
            </a:r>
            <a:r>
              <a:rPr lang="en-US" altLang="ko-KR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已知</a:t>
            </a:r>
            <a:r>
              <a:rPr lang="ko-KR" altLang="en-US" dirty="0">
                <a:solidFill>
                  <a:srgbClr val="002060"/>
                </a:solidFill>
                <a:latin typeface="宋体" panose="02010600030101010101" pitchFamily="2" charset="-122"/>
                <a:sym typeface="+mn-ea"/>
              </a:rPr>
              <a:t>期望值μ</a:t>
            </a: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</a:t>
            </a:r>
            <a:r>
              <a:rPr lang="ko-KR" altLang="en-US" dirty="0">
                <a:solidFill>
                  <a:srgbClr val="002060"/>
                </a:solidFill>
                <a:latin typeface="宋体" panose="02010600030101010101" pitchFamily="2" charset="-122"/>
                <a:sym typeface="+mn-ea"/>
              </a:rPr>
              <a:t>标准差σ</a:t>
            </a:r>
            <a:r>
              <a:rPr lang="en-US" altLang="ko-KR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则可以求出服从正态分布的随机变量</a:t>
            </a:r>
            <a:r>
              <a:rPr lang="en-US" altLang="zh-CN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出现概率</a:t>
            </a:r>
            <a:r>
              <a:rPr lang="en-US" altLang="ko-KR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2684B9B-89A1-4196-AF9A-E215B30D8413}"/>
              </a:ext>
            </a:extLst>
          </p:cNvPr>
          <p:cNvSpPr/>
          <p:nvPr/>
        </p:nvSpPr>
        <p:spPr>
          <a:xfrm>
            <a:off x="3132220" y="1261763"/>
            <a:ext cx="396044" cy="2112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6944B05-BE59-4E55-A9F0-6C82D56C646F}"/>
              </a:ext>
            </a:extLst>
          </p:cNvPr>
          <p:cNvSpPr/>
          <p:nvPr/>
        </p:nvSpPr>
        <p:spPr>
          <a:xfrm>
            <a:off x="4632908" y="1020784"/>
            <a:ext cx="303601" cy="2393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4147591-4C97-484C-BADF-CA7AB90DB862}"/>
              </a:ext>
            </a:extLst>
          </p:cNvPr>
          <p:cNvSpPr/>
          <p:nvPr/>
        </p:nvSpPr>
        <p:spPr>
          <a:xfrm>
            <a:off x="4727143" y="779994"/>
            <a:ext cx="303601" cy="2393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390849" y="3266516"/>
            <a:ext cx="8460791" cy="1169551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  <a:miter lim="800000"/>
          </a:ln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ts val="28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为随机变量</a:t>
            </a:r>
            <a:endParaRPr lang="en-US" altLang="zh-CN" sz="20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r">
              <a:lnSpc>
                <a:spcPts val="28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000" i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mu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为均值</a:t>
            </a:r>
            <a:r>
              <a:rPr lang="ko-KR" altLang="en-US" sz="2000" b="1" dirty="0">
                <a:latin typeface="华文楷体" panose="02010600040101010101" pitchFamily="2" charset="-122"/>
                <a:sym typeface="+mn-ea"/>
              </a:rPr>
              <a:t>μ</a:t>
            </a:r>
            <a:endParaRPr lang="en-US" altLang="ko-KR" sz="2000" dirty="0">
              <a:latin typeface="华文楷体" panose="02010600040101010101" pitchFamily="2" charset="-122"/>
              <a:ea typeface="华文楷体" panose="02010600040101010101" pitchFamily="2" charset="-122"/>
              <a:cs typeface="AngsanaUPC" pitchFamily="18" charset="-34"/>
            </a:endParaRPr>
          </a:p>
          <a:p>
            <a:pPr algn="r">
              <a:lnSpc>
                <a:spcPts val="28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000" i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sigma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为标准差</a:t>
            </a:r>
            <a:r>
              <a:rPr lang="ko-KR" altLang="en-US" sz="2000" b="1" dirty="0">
                <a:latin typeface="华文楷体" panose="02010600040101010101" pitchFamily="2" charset="-122"/>
                <a:sym typeface="+mn-ea"/>
              </a:rPr>
              <a:t>σ </a:t>
            </a:r>
            <a:endParaRPr lang="en-US" altLang="ko-KR" sz="2000" b="1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37872" y="771550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p(x)</a:t>
            </a:r>
            <a:r>
              <a:rPr lang="zh-CN" altLang="en-US" dirty="0">
                <a:solidFill>
                  <a:srgbClr val="FF0000"/>
                </a:solidFill>
              </a:rPr>
              <a:t>函数呈钟形曲线</a:t>
            </a:r>
          </a:p>
        </p:txBody>
      </p:sp>
      <p:sp>
        <p:nvSpPr>
          <p:cNvPr id="25" name="矩形 24"/>
          <p:cNvSpPr/>
          <p:nvPr/>
        </p:nvSpPr>
        <p:spPr>
          <a:xfrm>
            <a:off x="503658" y="4039247"/>
            <a:ext cx="3248853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标准正态分布：</a:t>
            </a:r>
            <a:r>
              <a:rPr lang="ko-KR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Px=normpdf(</a:t>
            </a:r>
            <a:r>
              <a:rPr lang="en-US" altLang="ko-KR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ko-KR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矩形 14"/>
          <p:cNvSpPr/>
          <p:nvPr/>
        </p:nvSpPr>
        <p:spPr>
          <a:xfrm>
            <a:off x="503659" y="3642578"/>
            <a:ext cx="3708301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概率密度：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Px=normpdf(</a:t>
            </a:r>
            <a:r>
              <a:rPr lang="en-US" altLang="ko-KR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mu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sigma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B672C3B-2C90-4DDC-8824-CFEF36B97051}"/>
              </a:ext>
            </a:extLst>
          </p:cNvPr>
          <p:cNvSpPr txBox="1"/>
          <p:nvPr/>
        </p:nvSpPr>
        <p:spPr>
          <a:xfrm>
            <a:off x="461845" y="3262217"/>
            <a:ext cx="34620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概率密度函数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normpdf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语法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AF3900E-3D35-497F-A3CC-CA33EC5E6F57}"/>
              </a:ext>
            </a:extLst>
          </p:cNvPr>
          <p:cNvSpPr txBox="1"/>
          <p:nvPr/>
        </p:nvSpPr>
        <p:spPr>
          <a:xfrm>
            <a:off x="645150" y="107506"/>
            <a:ext cx="84675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正态分布及其概率计算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概率密度</a:t>
            </a:r>
            <a:r>
              <a:rPr lang="en-US" altLang="zh-CN" sz="24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normpdf</a:t>
            </a:r>
            <a:endParaRPr lang="ko-KR" altLang="en-US" sz="26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FEB02C-BAA0-4DC4-AB31-62B6B1A037AC}"/>
              </a:ext>
            </a:extLst>
          </p:cNvPr>
          <p:cNvSpPr txBox="1"/>
          <p:nvPr/>
        </p:nvSpPr>
        <p:spPr>
          <a:xfrm>
            <a:off x="3813304" y="1179986"/>
            <a:ext cx="33225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期望值μ</a:t>
            </a:r>
            <a:r>
              <a:rPr lang="en-US" altLang="ko-KR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平均值</a:t>
            </a:r>
            <a:r>
              <a:rPr lang="en-US" altLang="zh-CN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ko-KR" altLang="en-US" sz="16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和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标准差</a:t>
            </a:r>
            <a:r>
              <a:rPr lang="ko-KR" altLang="en-US" sz="16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σ为常数</a:t>
            </a:r>
            <a:endParaRPr lang="zh-CN" altLang="en-US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300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  <p:bldP spid="18" grpId="0" animBg="1"/>
      <p:bldP spid="21" grpId="0"/>
      <p:bldP spid="22" grpId="0" animBg="1"/>
      <p:bldP spid="2" grpId="0" animBg="1"/>
      <p:bldP spid="13" grpId="0" animBg="1"/>
      <p:bldP spid="14" grpId="0" animBg="1"/>
      <p:bldP spid="17" grpId="0" animBg="1"/>
      <p:bldP spid="25" grpId="0" animBg="1"/>
      <p:bldP spid="15" grpId="0" animBg="1"/>
      <p:bldP spid="26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412346" y="3211360"/>
            <a:ext cx="3680603" cy="1292662"/>
          </a:xfrm>
          <a:prstGeom prst="rect">
            <a:avLst/>
          </a:prstGeom>
          <a:solidFill>
            <a:schemeClr val="bg1"/>
          </a:solidFill>
          <a:ln w="0">
            <a:noFill/>
            <a:miter lim="800000"/>
          </a:ln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为随机变量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6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mu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为均值</a:t>
            </a:r>
            <a:r>
              <a:rPr lang="ko-KR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μ</a:t>
            </a:r>
            <a:endParaRPr lang="en-US" altLang="ko-KR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ngsanaUPC" pitchFamily="18" charset="-34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6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sigma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为标准差</a:t>
            </a:r>
            <a:r>
              <a:rPr lang="ko-KR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σ</a:t>
            </a:r>
            <a:endParaRPr lang="en-US" altLang="ko-KR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60482" y="2690983"/>
            <a:ext cx="466435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ko-KR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Np</a:t>
            </a:r>
            <a:r>
              <a:rPr lang="ko-KR" altLang="en-US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=norm</a:t>
            </a:r>
            <a:r>
              <a:rPr lang="ko-KR" altLang="en-US" sz="2000" b="1" kern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ko-KR" altLang="en-US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df(</a:t>
            </a:r>
            <a:r>
              <a:rPr lang="en-US" altLang="ko-KR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ko-KR" altLang="en-US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mu</a:t>
            </a:r>
            <a:r>
              <a:rPr lang="ko-KR" altLang="en-US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sigma</a:t>
            </a:r>
            <a:r>
              <a:rPr lang="ko-KR" altLang="en-US" sz="20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CN" altLang="ko-KR" sz="2000" b="1" kern="0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544" y="2683363"/>
            <a:ext cx="357020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正态累积分布函数调用格式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73740D2F-3E13-4074-83C0-A12C13EF0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44317" y="1441226"/>
            <a:ext cx="2190385" cy="830998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文本框 12299">
            <a:extLst>
              <a:ext uri="{FF2B5EF4-FFF2-40B4-BE49-F238E27FC236}">
                <a16:creationId xmlns:a16="http://schemas.microsoft.com/office/drawing/2014/main" id="{6D007A02-1C9B-4A3D-9419-9A960CF79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295" y="2202664"/>
            <a:ext cx="322006" cy="4160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  <a:defRPr sz="1600" b="1" i="1">
                <a:solidFill>
                  <a:srgbClr val="FF0000"/>
                </a:solidFill>
                <a:ea typeface="Malgun Gothic" panose="020B0503020000020004" pitchFamily="34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9pPr>
          </a:lstStyle>
          <a:p>
            <a:r>
              <a:rPr lang="ko-KR" altLang="en-US" dirty="0"/>
              <a:t>X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57618D-3AD3-4222-A11F-8F0E5EEC76A9}"/>
              </a:ext>
            </a:extLst>
          </p:cNvPr>
          <p:cNvSpPr/>
          <p:nvPr/>
        </p:nvSpPr>
        <p:spPr>
          <a:xfrm>
            <a:off x="6557369" y="2172783"/>
            <a:ext cx="505267" cy="4160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600" b="1" i="1" dirty="0">
                <a:solidFill>
                  <a:srgbClr val="FF0000"/>
                </a:solidFill>
                <a:ea typeface="Malgun Gothic" panose="020B0503020000020004" pitchFamily="34" charset="-127"/>
              </a:rPr>
              <a:t>-inf</a:t>
            </a:r>
            <a:endParaRPr lang="zh-CN" altLang="en-US" sz="1600" b="1" i="1" dirty="0">
              <a:solidFill>
                <a:srgbClr val="FF0000"/>
              </a:solidFill>
              <a:ea typeface="Malgun Gothic" panose="020B0503020000020004" pitchFamily="34" charset="-127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F9F67EF-2EF2-4618-8C12-E8FFA12EB128}"/>
              </a:ext>
            </a:extLst>
          </p:cNvPr>
          <p:cNvCxnSpPr>
            <a:cxnSpLocks/>
          </p:cNvCxnSpPr>
          <p:nvPr/>
        </p:nvCxnSpPr>
        <p:spPr>
          <a:xfrm>
            <a:off x="7087340" y="2444804"/>
            <a:ext cx="931774" cy="77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444242" y="3529356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标准正态分布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EBF1F3B-9D3F-4BFF-9C27-899E83FBC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114346"/>
              </p:ext>
            </p:extLst>
          </p:nvPr>
        </p:nvGraphicFramePr>
        <p:xfrm>
          <a:off x="539552" y="802052"/>
          <a:ext cx="8325832" cy="459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6" r:id="rId4" imgW="1841500" imgH="330200" progId="">
                  <p:embed/>
                </p:oleObj>
              </mc:Choice>
              <mc:Fallback>
                <p:oleObj r:id="rId4" imgW="1841500" imgH="330200" progId="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9552" y="802052"/>
                        <a:ext cx="8325832" cy="459511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FF00">
                              <a:shade val="30000"/>
                              <a:satMod val="115000"/>
                            </a:srgbClr>
                          </a:gs>
                          <a:gs pos="50000">
                            <a:srgbClr val="FFFF00">
                              <a:shade val="67500"/>
                              <a:satMod val="115000"/>
                            </a:srgbClr>
                          </a:gs>
                          <a:gs pos="100000">
                            <a:srgbClr val="FFFF00">
                              <a:shade val="100000"/>
                              <a:satMod val="115000"/>
                            </a:srgbClr>
                          </a:gs>
                        </a:gsLst>
                        <a:lin ang="2700000" scaled="1"/>
                        <a:tileRect/>
                      </a:gra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12299">
            <a:extLst>
              <a:ext uri="{FF2B5EF4-FFF2-40B4-BE49-F238E27FC236}">
                <a16:creationId xmlns:a16="http://schemas.microsoft.com/office/drawing/2014/main" id="{02CFB397-3E84-48A8-BF23-4F95E8F87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690" y="823801"/>
            <a:ext cx="432048" cy="4160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  <a:defRPr sz="1600" b="1" i="1">
                <a:solidFill>
                  <a:srgbClr val="FF0000"/>
                </a:solidFill>
                <a:ea typeface="Malgun Gothic" panose="020B0503020000020004" pitchFamily="34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9pPr>
          </a:lstStyle>
          <a:p>
            <a:r>
              <a:rPr lang="ko-KR" altLang="en-US" dirty="0"/>
              <a:t>X</a:t>
            </a:r>
          </a:p>
        </p:txBody>
      </p:sp>
      <p:sp>
        <p:nvSpPr>
          <p:cNvPr id="25" name="文本框 12299">
            <a:extLst>
              <a:ext uri="{FF2B5EF4-FFF2-40B4-BE49-F238E27FC236}">
                <a16:creationId xmlns:a16="http://schemas.microsoft.com/office/drawing/2014/main" id="{E7DDE476-8BB3-4F1B-92D6-D9A9D8BB0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427" y="699542"/>
            <a:ext cx="362465" cy="4160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ko-KR" altLang="en-US" sz="1600" b="1" i="1" dirty="0">
                <a:solidFill>
                  <a:srgbClr val="FF0000"/>
                </a:solidFill>
                <a:latin typeface="Arial" panose="020B0604020202020204" pitchFamily="34" charset="0"/>
                <a:ea typeface="Malgun Gothic" panose="020B0503020000020004" pitchFamily="34" charset="-127"/>
              </a:rPr>
              <a:t>X</a:t>
            </a:r>
            <a:endParaRPr lang="ko-KR" altLang="en-US" sz="16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2176D77-E3BD-458A-BEA3-482E01B2E790}"/>
              </a:ext>
            </a:extLst>
          </p:cNvPr>
          <p:cNvSpPr/>
          <p:nvPr/>
        </p:nvSpPr>
        <p:spPr>
          <a:xfrm>
            <a:off x="6732240" y="882893"/>
            <a:ext cx="1265055" cy="3376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89A1921-4134-4CE8-841C-94B1C6E3C0A9}"/>
              </a:ext>
            </a:extLst>
          </p:cNvPr>
          <p:cNvSpPr txBox="1"/>
          <p:nvPr/>
        </p:nvSpPr>
        <p:spPr>
          <a:xfrm>
            <a:off x="368062" y="156213"/>
            <a:ext cx="8596426" cy="4770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4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随机变量正态分布的概率计算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累积分布函数</a:t>
            </a:r>
            <a:r>
              <a:rPr lang="en-US" altLang="zh-CN" sz="24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normcdf</a:t>
            </a:r>
            <a:endParaRPr lang="ko-KR" altLang="en-US" sz="24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6F2967-314C-4624-8A3B-C6A71F81B882}"/>
              </a:ext>
            </a:extLst>
          </p:cNvPr>
          <p:cNvSpPr txBox="1"/>
          <p:nvPr/>
        </p:nvSpPr>
        <p:spPr>
          <a:xfrm>
            <a:off x="475358" y="1417961"/>
            <a:ext cx="5542291" cy="108683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累积概率</a:t>
            </a:r>
            <a:r>
              <a:rPr lang="en-US" altLang="ko-KR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F(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ko-KR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是服从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N(</a:t>
            </a:r>
            <a:r>
              <a:rPr lang="ko-KR" altLang="en-US" sz="2400" b="1" i="1" dirty="0">
                <a:latin typeface="宋体" panose="02010600030101010101" pitchFamily="2" charset="-122"/>
                <a:sym typeface="+mn-ea"/>
              </a:rPr>
              <a:t>μ</a:t>
            </a:r>
            <a:r>
              <a:rPr lang="en-US" altLang="ko-KR" sz="2400" b="1" i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ko-KR" altLang="en-US" sz="2400" b="1" dirty="0">
                <a:latin typeface="宋体" panose="02010600030101010101" pitchFamily="2" charset="-122"/>
                <a:sym typeface="+mn-ea"/>
              </a:rPr>
              <a:t>σ</a:t>
            </a:r>
            <a:r>
              <a:rPr lang="en-US" altLang="ko-KR" sz="2400" b="1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分布的</a:t>
            </a:r>
            <a:endParaRPr lang="en-US" altLang="zh-CN" sz="2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2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随机变量不大于</a:t>
            </a:r>
            <a:r>
              <a:rPr lang="en-US" altLang="ko-KR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的总概率</a:t>
            </a:r>
            <a:endParaRPr lang="en-US" altLang="zh-CN" sz="2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1E2CAE-919B-4520-AECA-28EA2073BB58}"/>
              </a:ext>
            </a:extLst>
          </p:cNvPr>
          <p:cNvSpPr txBox="1"/>
          <p:nvPr/>
        </p:nvSpPr>
        <p:spPr>
          <a:xfrm>
            <a:off x="6573892" y="3507854"/>
            <a:ext cx="213855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 algn="dist">
              <a:lnSpc>
                <a:spcPct val="90000"/>
              </a:lnSpc>
              <a:defRPr sz="2000" b="1" kern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N</a:t>
            </a:r>
            <a:r>
              <a:rPr lang="en-US" altLang="ko-KR" dirty="0"/>
              <a:t>p=</a:t>
            </a:r>
            <a:r>
              <a:rPr lang="en-US" altLang="ko-KR" noProof="1"/>
              <a:t> n</a:t>
            </a:r>
            <a:r>
              <a:rPr lang="ko-KR" altLang="en-US" noProof="1"/>
              <a:t>orm</a:t>
            </a:r>
            <a:r>
              <a:rPr lang="en-US" altLang="ko-KR" dirty="0"/>
              <a:t>c</a:t>
            </a:r>
            <a:r>
              <a:rPr lang="ko-KR" altLang="en-US" dirty="0"/>
              <a:t>df</a:t>
            </a:r>
            <a:r>
              <a:rPr lang="en-US" altLang="ko-KR" dirty="0"/>
              <a:t>(x)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FA117A-40BC-42AE-9660-A91D714B1B63}"/>
              </a:ext>
            </a:extLst>
          </p:cNvPr>
          <p:cNvSpPr txBox="1"/>
          <p:nvPr/>
        </p:nvSpPr>
        <p:spPr>
          <a:xfrm>
            <a:off x="4197539" y="4077376"/>
            <a:ext cx="4619548" cy="391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p"/>
            </a:pPr>
            <a:r>
              <a:rPr lang="ko-KR" altLang="en-US" sz="1800" i="1" dirty="0">
                <a:solidFill>
                  <a:srgbClr val="000000"/>
                </a:solidFill>
                <a:ea typeface="宋体" panose="02010600030101010101" pitchFamily="2" charset="-122"/>
              </a:rPr>
              <a:t>μ</a:t>
            </a:r>
            <a:r>
              <a:rPr lang="ko-KR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=0</a:t>
            </a:r>
            <a:r>
              <a:rPr lang="en-US" altLang="ko-KR" sz="1800" dirty="0">
                <a:solidFill>
                  <a:srgbClr val="000000"/>
                </a:solidFill>
              </a:rPr>
              <a:t>,</a:t>
            </a:r>
            <a:r>
              <a:rPr lang="ko-KR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σ=1时，</a:t>
            </a:r>
            <a:r>
              <a:rPr lang="zh-CN" altLang="en-US" sz="1800" dirty="0">
                <a:solidFill>
                  <a:srgbClr val="000000"/>
                </a:solidFill>
              </a:rPr>
              <a:t>随机</a:t>
            </a:r>
            <a:r>
              <a:rPr lang="zh-CN" altLang="ko-KR" sz="1800" dirty="0">
                <a:solidFill>
                  <a:srgbClr val="000000"/>
                </a:solidFill>
              </a:rPr>
              <a:t>变量</a:t>
            </a:r>
            <a:r>
              <a:rPr lang="en-US" altLang="ko-KR" sz="1800" dirty="0">
                <a:solidFill>
                  <a:srgbClr val="000000"/>
                </a:solidFill>
              </a:rPr>
              <a:t>x</a:t>
            </a:r>
            <a:r>
              <a:rPr lang="ko-KR" altLang="en-US" sz="1800" dirty="0">
                <a:solidFill>
                  <a:srgbClr val="000000"/>
                </a:solidFill>
              </a:rPr>
              <a:t>服从</a:t>
            </a:r>
            <a:r>
              <a:rPr lang="ko-KR" altLang="en-US" sz="1800" b="1" dirty="0">
                <a:solidFill>
                  <a:srgbClr val="C00000"/>
                </a:solidFill>
              </a:rPr>
              <a:t>标准正态分布</a:t>
            </a:r>
          </a:p>
        </p:txBody>
      </p:sp>
    </p:spTree>
    <p:extLst>
      <p:ext uri="{BB962C8B-B14F-4D97-AF65-F5344CB8AC3E}">
        <p14:creationId xmlns:p14="http://schemas.microsoft.com/office/powerpoint/2010/main" val="77783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2" grpId="0" animBg="1"/>
      <p:bldP spid="13" grpId="0"/>
      <p:bldP spid="16" grpId="0" animBg="1"/>
      <p:bldP spid="18" grpId="0" animBg="1"/>
      <p:bldP spid="19" grpId="0"/>
      <p:bldP spid="24" grpId="0" animBg="1"/>
      <p:bldP spid="25" grpId="0" animBg="1"/>
      <p:bldP spid="17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99287" y="131869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逆累积分布函数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79512" y="1777678"/>
            <a:ext cx="8701653" cy="2115964"/>
          </a:xfrm>
          <a:prstGeom prst="rect">
            <a:avLst/>
          </a:prstGeom>
          <a:solidFill>
            <a:schemeClr val="bg1"/>
          </a:solidFill>
          <a:ln w="0">
            <a:noFill/>
            <a:miter lim="800000"/>
          </a:ln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逆累积分布函数值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4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为累积概率</a:t>
            </a:r>
            <a:r>
              <a:rPr lang="ko-KR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Malgun Gothic" panose="020B0503020000020004" pitchFamily="34" charset="-127"/>
              </a:rPr>
              <a:t> </a:t>
            </a:r>
          </a:p>
          <a:p>
            <a:pPr>
              <a:lnSpc>
                <a:spcPts val="4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8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mu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为均值</a:t>
            </a:r>
            <a:r>
              <a:rPr lang="ko-KR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μ</a:t>
            </a:r>
            <a:endParaRPr lang="en-US" altLang="ko-KR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ngsanaUPC" pitchFamily="18" charset="-34"/>
            </a:endParaRPr>
          </a:p>
          <a:p>
            <a:pPr>
              <a:lnSpc>
                <a:spcPts val="4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8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sigma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为标准差</a:t>
            </a:r>
            <a:r>
              <a:rPr lang="ko-KR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σ </a:t>
            </a:r>
            <a:endParaRPr lang="en-US" altLang="ko-KR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73740D2F-3E13-4074-83C0-A12C13EF0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0307" y="1742762"/>
            <a:ext cx="2205481" cy="1282216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" name="矩形 16"/>
          <p:cNvSpPr/>
          <p:nvPr/>
        </p:nvSpPr>
        <p:spPr>
          <a:xfrm>
            <a:off x="267615" y="702474"/>
            <a:ext cx="496855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累积概率</a:t>
            </a:r>
            <a:r>
              <a:rPr lang="en-US" altLang="ko-KR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Np=</a:t>
            </a:r>
            <a:r>
              <a:rPr lang="en-US" altLang="ko-KR" sz="2400" noProof="1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ko-KR" altLang="en-US" sz="2400" noProof="1">
                <a:latin typeface="华文楷体" panose="02010600040101010101" pitchFamily="2" charset="-122"/>
                <a:ea typeface="微软雅黑" panose="020B0503020204020204" pitchFamily="34" charset="-122"/>
              </a:rPr>
              <a:t>orm</a:t>
            </a:r>
            <a:r>
              <a:rPr lang="en-US" altLang="ko-KR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ko-KR" altLang="en-US" sz="2400" dirty="0">
                <a:latin typeface="华文楷体" panose="02010600040101010101" pitchFamily="2" charset="-122"/>
                <a:ea typeface="Malgun Gothic" panose="020B0503020000020004" pitchFamily="34" charset="-127"/>
              </a:rPr>
              <a:t>df</a:t>
            </a:r>
            <a:r>
              <a:rPr lang="en-US" altLang="ko-KR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ko-KR" sz="24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en-US" altLang="ko-KR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,mu,sigma</a:t>
            </a:r>
            <a:r>
              <a:rPr lang="en-US" altLang="ko-KR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20640" y="3097311"/>
            <a:ext cx="1866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已知累积概率</a:t>
            </a:r>
            <a:r>
              <a:rPr lang="en-US" altLang="ko-KR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Np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0279C3-DB6E-4BC0-932E-3AA50C4712C6}"/>
              </a:ext>
            </a:extLst>
          </p:cNvPr>
          <p:cNvSpPr/>
          <p:nvPr/>
        </p:nvSpPr>
        <p:spPr>
          <a:xfrm>
            <a:off x="5114119" y="731019"/>
            <a:ext cx="39943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求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累积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分布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函数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cdf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的逆函数</a:t>
            </a:r>
            <a:endParaRPr lang="zh-CN" altLang="en-US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0655DF-CAB8-CA86-81DB-E53EC7FC95DB}"/>
              </a:ext>
            </a:extLst>
          </p:cNvPr>
          <p:cNvSpPr/>
          <p:nvPr/>
        </p:nvSpPr>
        <p:spPr>
          <a:xfrm>
            <a:off x="179512" y="4054301"/>
            <a:ext cx="34050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随机变量正态均值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和方差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E35F4F-DE8B-04C1-EBA0-D85FF109C84D}"/>
              </a:ext>
            </a:extLst>
          </p:cNvPr>
          <p:cNvSpPr/>
          <p:nvPr/>
        </p:nvSpPr>
        <p:spPr>
          <a:xfrm>
            <a:off x="3967805" y="4014635"/>
            <a:ext cx="4619052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de-DE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m,v=normstat(mu,sigma)</a:t>
            </a:r>
            <a:endParaRPr lang="en-US" altLang="ko-KR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FD08F0-77A3-45A3-9832-8D05684E2D93}"/>
              </a:ext>
            </a:extLst>
          </p:cNvPr>
          <p:cNvSpPr/>
          <p:nvPr/>
        </p:nvSpPr>
        <p:spPr>
          <a:xfrm>
            <a:off x="3144312" y="2728082"/>
            <a:ext cx="3384154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标准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ko-KR" alt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=norminv(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Np</a:t>
            </a:r>
            <a:r>
              <a:rPr lang="ko-KR" alt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) </a:t>
            </a:r>
            <a:endParaRPr lang="en-US" altLang="ko-KR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96375" y="1309408"/>
            <a:ext cx="3530879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ko-KR" alt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=norminv(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Np</a:t>
            </a:r>
            <a:r>
              <a:rPr lang="ko-KR" alt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mu</a:t>
            </a:r>
            <a:r>
              <a:rPr lang="ko-KR" alt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sigma</a:t>
            </a:r>
            <a:r>
              <a:rPr lang="ko-KR" alt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) </a:t>
            </a:r>
            <a:endParaRPr lang="en-US" altLang="ko-KR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4E9460-396B-4646-ACB7-7FFCB9D0D34E}"/>
              </a:ext>
            </a:extLst>
          </p:cNvPr>
          <p:cNvSpPr txBox="1"/>
          <p:nvPr/>
        </p:nvSpPr>
        <p:spPr>
          <a:xfrm>
            <a:off x="204010" y="126429"/>
            <a:ext cx="8928992" cy="4770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随机变量正态分布的概率计算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逆累积分布</a:t>
            </a:r>
            <a:r>
              <a:rPr lang="en-US" altLang="zh-CN" sz="26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norminv</a:t>
            </a:r>
            <a:endParaRPr lang="ko-KR" altLang="en-US" sz="26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2299">
            <a:extLst>
              <a:ext uri="{FF2B5EF4-FFF2-40B4-BE49-F238E27FC236}">
                <a16:creationId xmlns:a16="http://schemas.microsoft.com/office/drawing/2014/main" id="{5286AF40-0541-4D5C-90EB-2D8C20F64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671" y="1223023"/>
            <a:ext cx="669609" cy="4651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  <a:defRPr sz="1600" b="1" i="1">
                <a:solidFill>
                  <a:srgbClr val="FF0000"/>
                </a:solidFill>
                <a:ea typeface="Malgun Gothic" panose="020B0503020000020004" pitchFamily="34" charset="-127"/>
              </a:defRPr>
            </a:lvl1pPr>
          </a:lstStyle>
          <a:p>
            <a:r>
              <a:rPr lang="zh-CN" altLang="en-US" sz="1800" dirty="0">
                <a:latin typeface="华文楷体" panose="02010600040101010101" pitchFamily="2" charset="-122"/>
              </a:rPr>
              <a:t>求</a:t>
            </a:r>
            <a:r>
              <a:rPr lang="ko-KR" altLang="en-US" sz="1800" dirty="0">
                <a:latin typeface="华文楷体" panose="02010600040101010101" pitchFamily="2" charset="-122"/>
              </a:rPr>
              <a:t>X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CC5C5C-71E6-40FD-AF3B-D5F82424FD0D}"/>
              </a:ext>
            </a:extLst>
          </p:cNvPr>
          <p:cNvSpPr/>
          <p:nvPr/>
        </p:nvSpPr>
        <p:spPr>
          <a:xfrm>
            <a:off x="6547626" y="1203598"/>
            <a:ext cx="505267" cy="4682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-inf</a:t>
            </a:r>
            <a:endParaRPr lang="zh-CN" altLang="en-US" b="1" i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869D651-AFF0-4C03-B945-4C16D2C46B83}"/>
              </a:ext>
            </a:extLst>
          </p:cNvPr>
          <p:cNvCxnSpPr>
            <a:cxnSpLocks/>
          </p:cNvCxnSpPr>
          <p:nvPr/>
        </p:nvCxnSpPr>
        <p:spPr>
          <a:xfrm>
            <a:off x="7052700" y="1480357"/>
            <a:ext cx="1192239" cy="434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16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2" grpId="0"/>
      <p:bldP spid="16" grpId="0"/>
      <p:bldP spid="3" grpId="0" animBg="1"/>
      <p:bldP spid="4" grpId="0" animBg="1"/>
      <p:bldP spid="18" grpId="0" animBg="1"/>
      <p:bldP spid="5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81663" y="695951"/>
            <a:ext cx="249579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随机数调用格式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sp>
        <p:nvSpPr>
          <p:cNvPr id="9" name="矩形 8"/>
          <p:cNvSpPr/>
          <p:nvPr/>
        </p:nvSpPr>
        <p:spPr>
          <a:xfrm>
            <a:off x="2771801" y="783367"/>
            <a:ext cx="4724725" cy="4247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ko-KR" alt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R=normrnd(</a:t>
            </a:r>
            <a:r>
              <a:rPr lang="en-US" altLang="ko-KR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mu</a:t>
            </a:r>
            <a:r>
              <a:rPr lang="ko-KR" alt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sigma</a:t>
            </a:r>
            <a:r>
              <a:rPr lang="ko-KR" alt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,m,n)</a:t>
            </a:r>
            <a:endParaRPr lang="en-US" altLang="ko-KR" sz="2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81663" y="1294901"/>
            <a:ext cx="8704104" cy="1306576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  <a:miter lim="800000"/>
          </a:ln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4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mu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为均值</a:t>
            </a:r>
            <a:r>
              <a:rPr lang="ko-KR" altLang="en-US" sz="2400" b="1" dirty="0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μ</a:t>
            </a:r>
            <a:endParaRPr lang="en-US" altLang="ko-KR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ngsanaUPC" pitchFamily="18" charset="-34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ko-KR" sz="24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sigma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为标准差</a:t>
            </a:r>
            <a:r>
              <a:rPr lang="ko-KR" altLang="en-US" sz="2400" b="1" dirty="0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σ </a:t>
            </a:r>
            <a:endParaRPr lang="en-US" altLang="ko-KR" sz="24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：随机矩阵的行数和列数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">
            <a:extLst>
              <a:ext uri="{FF2B5EF4-FFF2-40B4-BE49-F238E27FC236}">
                <a16:creationId xmlns:a16="http://schemas.microsoft.com/office/drawing/2014/main" id="{2BDE5A0E-867D-4092-9BE1-7EEA0C1C9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3820" y="809047"/>
            <a:ext cx="162018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ct val="0"/>
              </a:spcBef>
              <a:buNone/>
            </a:pPr>
            <a:r>
              <a:rPr lang="ko-KR" altLang="en-US" sz="1800" b="1" i="1" dirty="0">
                <a:solidFill>
                  <a:schemeClr val="bg1"/>
                </a:solidFill>
                <a:highlight>
                  <a:srgbClr val="21A4FF"/>
                </a:highlight>
                <a:latin typeface="Arial" panose="020B0604020202020204" pitchFamily="34" charset="0"/>
                <a:ea typeface="Malgun Gothic" panose="020B0503020000020004" pitchFamily="34" charset="-127"/>
              </a:rPr>
              <a:t>X</a:t>
            </a:r>
            <a:r>
              <a:rPr lang="ko-KR" altLang="en-US" sz="1800" b="1" dirty="0">
                <a:solidFill>
                  <a:schemeClr val="bg1"/>
                </a:solidFill>
                <a:highlight>
                  <a:srgbClr val="21A4FF"/>
                </a:highlight>
                <a:latin typeface="宋体" panose="02010600030101010101" pitchFamily="2" charset="-122"/>
                <a:ea typeface="Malgun Gothic" panose="020B0503020000020004" pitchFamily="34" charset="-127"/>
              </a:rPr>
              <a:t>～</a:t>
            </a:r>
            <a:r>
              <a:rPr lang="ko-KR" altLang="en-US" sz="1800" b="1" dirty="0">
                <a:solidFill>
                  <a:schemeClr val="bg1"/>
                </a:solidFill>
                <a:highlight>
                  <a:srgbClr val="21A4FF"/>
                </a:highlight>
                <a:ea typeface="Malgun Gothic" panose="020B0503020000020004" pitchFamily="34" charset="-127"/>
              </a:rPr>
              <a:t>N(</a:t>
            </a:r>
            <a:r>
              <a:rPr lang="ko-KR" altLang="en-US" sz="1800" b="1" dirty="0">
                <a:solidFill>
                  <a:schemeClr val="bg1"/>
                </a:solidFill>
                <a:highlight>
                  <a:srgbClr val="21A4FF"/>
                </a:highlight>
                <a:latin typeface="宋体" panose="02010600030101010101" pitchFamily="2" charset="-122"/>
                <a:ea typeface="Malgun Gothic" panose="020B0503020000020004" pitchFamily="34" charset="-127"/>
              </a:rPr>
              <a:t>μ</a:t>
            </a:r>
            <a:r>
              <a:rPr lang="en-US" altLang="ko-KR" sz="1800" b="1" dirty="0">
                <a:solidFill>
                  <a:schemeClr val="bg1"/>
                </a:solidFill>
                <a:highlight>
                  <a:srgbClr val="21A4FF"/>
                </a:highlight>
                <a:ea typeface="Malgun Gothic" panose="020B0503020000020004" pitchFamily="34" charset="-127"/>
              </a:rPr>
              <a:t>,</a:t>
            </a:r>
            <a:r>
              <a:rPr lang="ko-KR" altLang="en-US" sz="1800" b="1" dirty="0">
                <a:solidFill>
                  <a:schemeClr val="bg1"/>
                </a:solidFill>
                <a:highlight>
                  <a:srgbClr val="21A4FF"/>
                </a:highlight>
                <a:latin typeface="宋体" panose="02010600030101010101" pitchFamily="2" charset="-122"/>
                <a:ea typeface="Malgun Gothic" panose="020B0503020000020004" pitchFamily="34" charset="-127"/>
              </a:rPr>
              <a:t>σ</a:t>
            </a:r>
            <a:r>
              <a:rPr lang="ko-KR" altLang="en-US" sz="1800" b="1" baseline="30000" dirty="0">
                <a:solidFill>
                  <a:schemeClr val="bg1"/>
                </a:solidFill>
                <a:highlight>
                  <a:srgbClr val="21A4FF"/>
                </a:highlight>
                <a:ea typeface="Malgun Gothic" panose="020B0503020000020004" pitchFamily="34" charset="-127"/>
              </a:rPr>
              <a:t>2</a:t>
            </a:r>
            <a:r>
              <a:rPr lang="ko-KR" altLang="en-US" sz="1800" b="1" dirty="0">
                <a:solidFill>
                  <a:schemeClr val="bg1"/>
                </a:solidFill>
                <a:highlight>
                  <a:srgbClr val="21A4FF"/>
                </a:highlight>
                <a:ea typeface="Malgun Gothic" panose="020B0503020000020004" pitchFamily="34" charset="-127"/>
              </a:rPr>
              <a:t>)</a:t>
            </a:r>
            <a:endParaRPr lang="zh-CN" altLang="en-US" sz="1800" b="1" dirty="0">
              <a:solidFill>
                <a:schemeClr val="bg1"/>
              </a:solidFill>
              <a:highlight>
                <a:srgbClr val="21A4FF"/>
              </a:highlight>
              <a:latin typeface="Arial" panose="020B0604020202020204" pitchFamily="34" charset="0"/>
            </a:endParaRPr>
          </a:p>
        </p:txBody>
      </p:sp>
      <p:sp>
        <p:nvSpPr>
          <p:cNvPr id="14" name="文本框 12299">
            <a:extLst>
              <a:ext uri="{FF2B5EF4-FFF2-40B4-BE49-F238E27FC236}">
                <a16:creationId xmlns:a16="http://schemas.microsoft.com/office/drawing/2014/main" id="{3291BA58-56B4-47FB-A720-4AB2B277F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8404" y="2653989"/>
            <a:ext cx="250990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 algn="ctr">
              <a:lnSpc>
                <a:spcPct val="90000"/>
              </a:lnSpc>
              <a:defRPr sz="28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dirty="0"/>
              <a:t>r</a:t>
            </a:r>
            <a:r>
              <a:rPr lang="en-US" altLang="ko-KR" sz="2000" dirty="0"/>
              <a:t>andn</a:t>
            </a:r>
            <a:r>
              <a:rPr lang="zh-CN" altLang="en-US" sz="2000" dirty="0"/>
              <a:t>标准正态分布</a:t>
            </a:r>
            <a:endParaRPr lang="ko-KR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FE6228-9D62-4F0F-BB1A-F5CF14D412FE}"/>
              </a:ext>
            </a:extLst>
          </p:cNvPr>
          <p:cNvSpPr txBox="1"/>
          <p:nvPr/>
        </p:nvSpPr>
        <p:spPr>
          <a:xfrm>
            <a:off x="261402" y="2744640"/>
            <a:ext cx="4318282" cy="165846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创建均值为</a:t>
            </a:r>
            <a:r>
              <a:rPr lang="en-US" altLang="zh-CN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，标准差为</a:t>
            </a:r>
            <a:r>
              <a:rPr lang="en-US" altLang="zh-CN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</a:t>
            </a:r>
            <a:r>
              <a:rPr lang="en-US" altLang="zh-CN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列矩阵</a:t>
            </a:r>
            <a:endParaRPr kumimoji="0" lang="pt-BR" altLang="zh-CN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julia&gt; rr=normrnd(0,1,2,3)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2×3 Matrix{Float64}: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0.314386  -0.486123  -0.321011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0.620175   0.216406   1.11366</a:t>
            </a:r>
            <a:endParaRPr kumimoji="0" lang="zh-CN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20896" y="3079764"/>
            <a:ext cx="4164871" cy="13378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pt-BR" altLang="zh-CN" sz="2400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julia&gt; r=randn(2,3)</a:t>
            </a:r>
          </a:p>
          <a:p>
            <a:pPr>
              <a:lnSpc>
                <a:spcPts val="2500"/>
              </a:lnSpc>
            </a:pPr>
            <a:r>
              <a:rPr lang="pt-BR" altLang="zh-CN" sz="20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2×3 Matrix{Float64}:</a:t>
            </a:r>
          </a:p>
          <a:p>
            <a:pPr>
              <a:lnSpc>
                <a:spcPts val="2500"/>
              </a:lnSpc>
            </a:pPr>
            <a:r>
              <a:rPr lang="pt-BR" altLang="zh-CN" sz="20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-1.81992  -0.160679   0.69126</a:t>
            </a:r>
          </a:p>
          <a:p>
            <a:pPr>
              <a:lnSpc>
                <a:spcPts val="2500"/>
              </a:lnSpc>
            </a:pPr>
            <a:r>
              <a:rPr lang="pt-BR" altLang="zh-CN" sz="20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-1.0973    1.63662   -0.832804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795225-6DB5-4BA8-81FB-CA0A74BE5D37}"/>
              </a:ext>
            </a:extLst>
          </p:cNvPr>
          <p:cNvSpPr txBox="1"/>
          <p:nvPr/>
        </p:nvSpPr>
        <p:spPr>
          <a:xfrm>
            <a:off x="112718" y="70420"/>
            <a:ext cx="8857802" cy="4809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随机变量正态分布的概率计算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随机数</a:t>
            </a:r>
            <a:r>
              <a:rPr lang="en-US" altLang="zh-CN" sz="28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normrnd</a:t>
            </a:r>
            <a:endParaRPr lang="ko-KR" altLang="en-US" sz="28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277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表格 573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31260"/>
              </p:ext>
            </p:extLst>
          </p:nvPr>
        </p:nvGraphicFramePr>
        <p:xfrm>
          <a:off x="323528" y="1388600"/>
          <a:ext cx="8640958" cy="3181998"/>
        </p:xfrm>
        <a:graphic>
          <a:graphicData uri="http://schemas.openxmlformats.org/drawingml/2006/table">
            <a:tbl>
              <a:tblPr/>
              <a:tblGrid>
                <a:gridCol w="1070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0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57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54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668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8.28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2-17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9.69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3-4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10.02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9.87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8.78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2-18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10.28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3-20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2-4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9.35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9.04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10.04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10.11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2-20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9.62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3-24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9.97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9.49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3-10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9.69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2-9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2-24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8.91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9.46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10.39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2-10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9.46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9.20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3-27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10.39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8.82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3-30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10.50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2-12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2-27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3-31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10.69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9.57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3-4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9.19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3-17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9.78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2-16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10.03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3-4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9.25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3-18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9.71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200" name="内容占位符 2"/>
          <p:cNvSpPr>
            <a:spLocks noGrp="1" noChangeArrowheads="1"/>
          </p:cNvSpPr>
          <p:nvPr>
            <p:ph idx="1"/>
          </p:nvPr>
        </p:nvSpPr>
        <p:spPr>
          <a:xfrm>
            <a:off x="1187623" y="688201"/>
            <a:ext cx="7831001" cy="417678"/>
          </a:xfrm>
          <a:noFill/>
        </p:spPr>
        <p:txBody>
          <a:bodyPr/>
          <a:lstStyle/>
          <a:p>
            <a:pPr marL="0" indent="0" algn="dist">
              <a:spcBef>
                <a:spcPts val="700"/>
              </a:spcBef>
              <a:buFont typeface="Arial" panose="020B0604020202020204" pitchFamily="34" charset="0"/>
              <a:buNone/>
            </a:pPr>
            <a:r>
              <a:rPr lang="zh-CN" altLang="en-US" sz="2000" dirty="0"/>
              <a:t>某银行</a:t>
            </a:r>
            <a:r>
              <a:rPr lang="en-US" altLang="ko-KR" sz="2000" dirty="0"/>
              <a:t>2009</a:t>
            </a:r>
            <a:r>
              <a:rPr lang="zh-CN" altLang="en-US" sz="2000" dirty="0"/>
              <a:t>年</a:t>
            </a:r>
            <a:r>
              <a:rPr lang="en-US" altLang="ko-KR" sz="2000" dirty="0"/>
              <a:t>42</a:t>
            </a:r>
            <a:r>
              <a:rPr lang="zh-CN" altLang="en-US" sz="2000" dirty="0"/>
              <a:t>天交易日某支股票收盘价采样数据如表所示</a:t>
            </a:r>
            <a:endParaRPr lang="ko-KR" altLang="en-US" sz="2000" dirty="0"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680" y="2289272"/>
            <a:ext cx="61863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atinLnBrk="1"/>
            <a:r>
              <a:rPr lang="ko-KR" altLang="en-US" sz="26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股票收盘价</a:t>
            </a:r>
            <a:r>
              <a:rPr lang="zh-CN" altLang="en-US" sz="26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数据统计分析其为正态性分布</a:t>
            </a:r>
          </a:p>
        </p:txBody>
      </p:sp>
      <p:sp>
        <p:nvSpPr>
          <p:cNvPr id="8" name="波形 7"/>
          <p:cNvSpPr/>
          <p:nvPr/>
        </p:nvSpPr>
        <p:spPr>
          <a:xfrm>
            <a:off x="397671" y="668193"/>
            <a:ext cx="735814" cy="41767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例41-1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0517" y="1018393"/>
            <a:ext cx="8640957" cy="417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dist" eaLnBrk="0" hangingPunct="0">
              <a:lnSpc>
                <a:spcPct val="110000"/>
              </a:lnSpc>
              <a:spcBef>
                <a:spcPts val="700"/>
              </a:spcBef>
            </a:pPr>
            <a:r>
              <a:rPr lang="zh-CN" altLang="en-US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股票收盘价</a:t>
            </a:r>
            <a:r>
              <a:rPr lang="zh-CN" altLang="en-US" sz="2000" b="1" noProof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数据统计分析结果：正态分布</a:t>
            </a:r>
            <a:r>
              <a:rPr lang="zh-CN" altLang="en-US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均值</a:t>
            </a:r>
            <a:r>
              <a:rPr lang="el-GR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μ</a:t>
            </a: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pl-PL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9.5626</a:t>
            </a: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b="1" noProof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标准差</a:t>
            </a:r>
            <a:r>
              <a:rPr lang="el-GR" altLang="zh-CN" sz="2000" b="1" noProof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σ</a:t>
            </a:r>
            <a:r>
              <a:rPr lang="en-US" altLang="zh-CN" sz="2000" b="1" noProof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=</a:t>
            </a:r>
            <a:r>
              <a:rPr lang="pl-PL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0.5017</a:t>
            </a:r>
            <a:endParaRPr lang="en-US" altLang="zh-CN" sz="20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2A414C-FA5E-4690-8B37-D8C45241E903}"/>
              </a:ext>
            </a:extLst>
          </p:cNvPr>
          <p:cNvSpPr txBox="1"/>
          <p:nvPr/>
        </p:nvSpPr>
        <p:spPr>
          <a:xfrm>
            <a:off x="819643" y="141984"/>
            <a:ext cx="8090706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随机变量正态分布的概率计算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——norm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endParaRPr lang="ko-KR" altLang="en-US" sz="28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003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75EF6E-304D-4B79-AE11-131CEAE95803}"/>
              </a:ext>
            </a:extLst>
          </p:cNvPr>
          <p:cNvSpPr txBox="1">
            <a:spLocks noChangeArrowheads="1"/>
          </p:cNvSpPr>
          <p:nvPr/>
        </p:nvSpPr>
        <p:spPr>
          <a:xfrm>
            <a:off x="1060754" y="791281"/>
            <a:ext cx="4879398" cy="3385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ts val="700"/>
              </a:spcBef>
              <a:buFont typeface="Arial" panose="020B0604020202020204" pitchFamily="34" charset="0"/>
              <a:buNone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</a:t>
            </a:r>
            <a:r>
              <a:rPr lang="en-US" altLang="ko-KR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年股票收盘数据统计分析表明</a:t>
            </a:r>
            <a:endParaRPr lang="ko-KR" altLang="en-US" sz="2000" b="1" kern="0" dirty="0">
              <a:solidFill>
                <a:srgbClr val="0070C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EFC9FD-0707-4607-BAEF-9E99A9D4060B}"/>
              </a:ext>
            </a:extLst>
          </p:cNvPr>
          <p:cNvSpPr/>
          <p:nvPr/>
        </p:nvSpPr>
        <p:spPr>
          <a:xfrm>
            <a:off x="251520" y="1230880"/>
            <a:ext cx="8640960" cy="2702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200"/>
              </a:lnSpc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计算股价为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8.1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元概率密度</a:t>
            </a:r>
            <a:endParaRPr lang="en-US" altLang="zh-CN" sz="2000" kern="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457200" indent="-457200">
              <a:lnSpc>
                <a:spcPts val="4200"/>
              </a:lnSpc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不超过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8.1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元累积概率</a:t>
            </a:r>
            <a:endParaRPr lang="en-US" altLang="zh-CN" sz="2000" kern="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457200" indent="-457200">
              <a:lnSpc>
                <a:spcPts val="4200"/>
              </a:lnSpc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累积概率达到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NP=90%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时的股票价格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即累积概率逆函数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000" kern="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457200" indent="-457200">
              <a:lnSpc>
                <a:spcPts val="4200"/>
              </a:lnSpc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计算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8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到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11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间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股票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概率密度，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area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绘概率密度曲线，是钟形曲线？</a:t>
            </a:r>
            <a:endParaRPr lang="en-US" altLang="zh-CN" sz="2000" kern="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457200" indent="-457200">
              <a:lnSpc>
                <a:spcPts val="4200"/>
              </a:lnSpc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计算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8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到</a:t>
            </a:r>
            <a:r>
              <a:rPr lang="en-US" altLang="zh-CN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11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间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股票累积</a:t>
            </a:r>
            <a:r>
              <a:rPr lang="zh-CN" altLang="en-US" sz="2000" kern="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概率，</a:t>
            </a:r>
            <a:r>
              <a:rPr lang="en-US" altLang="zh-CN" sz="2000" b="0" dirty="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stairs</a:t>
            </a:r>
            <a:r>
              <a:rPr lang="zh-CN" altLang="en-US" sz="2000" b="0" dirty="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绘制正态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累积分布概率</a:t>
            </a:r>
            <a:r>
              <a:rPr lang="zh-CN" altLang="en-US" sz="2000" b="0" dirty="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阶梯图</a:t>
            </a:r>
            <a:endParaRPr lang="en-US" altLang="zh-CN" sz="2000" kern="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382911-4296-4FE9-9D89-ADA266D900AA}"/>
              </a:ext>
            </a:extLst>
          </p:cNvPr>
          <p:cNvSpPr txBox="1"/>
          <p:nvPr/>
        </p:nvSpPr>
        <p:spPr>
          <a:xfrm>
            <a:off x="827182" y="150809"/>
            <a:ext cx="8090706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随机变量正态分布的概率计算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——norm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endParaRPr lang="ko-KR" altLang="en-US" sz="28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A2A1EC7A-4692-450F-9527-F05C3AB31DF5}"/>
              </a:ext>
            </a:extLst>
          </p:cNvPr>
          <p:cNvSpPr/>
          <p:nvPr/>
        </p:nvSpPr>
        <p:spPr>
          <a:xfrm>
            <a:off x="251520" y="798589"/>
            <a:ext cx="816050" cy="41767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例41-1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F1E20A38-221C-4D99-8D7D-0B950B1E8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906" y="771550"/>
            <a:ext cx="3005951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200" b="1" i="1" dirty="0">
                <a:solidFill>
                  <a:srgbClr val="00B0F0"/>
                </a:solidFill>
                <a:latin typeface="+mj-lt"/>
                <a:ea typeface="Malgun Gothic" panose="020B0503020000020004" pitchFamily="34" charset="-127"/>
              </a:rPr>
              <a:t>x</a:t>
            </a:r>
            <a:r>
              <a:rPr lang="ko-KR" altLang="en-US" sz="2200" b="1" dirty="0">
                <a:solidFill>
                  <a:srgbClr val="00B0F0"/>
                </a:solidFill>
                <a:latin typeface="+mj-lt"/>
                <a:ea typeface="Malgun Gothic" panose="020B0503020000020004" pitchFamily="34" charset="-127"/>
              </a:rPr>
              <a:t>～N(</a:t>
            </a:r>
            <a:r>
              <a:rPr lang="pl-PL" altLang="zh-CN" sz="2200" b="1" kern="0" dirty="0">
                <a:solidFill>
                  <a:srgbClr val="00B0F0"/>
                </a:solidFill>
                <a:latin typeface="+mj-lt"/>
                <a:ea typeface="隶书" panose="02010509060101010101" pitchFamily="49" charset="-122"/>
                <a:sym typeface="Arial" panose="020B0604020202020204" pitchFamily="34" charset="0"/>
              </a:rPr>
              <a:t>9.5626</a:t>
            </a:r>
            <a:r>
              <a:rPr lang="en-US" altLang="zh-CN" sz="2200" b="1" kern="0" dirty="0">
                <a:solidFill>
                  <a:srgbClr val="00B0F0"/>
                </a:solidFill>
                <a:latin typeface="+mj-lt"/>
                <a:ea typeface="隶书" panose="02010509060101010101" pitchFamily="49" charset="-122"/>
                <a:sym typeface="Arial" panose="020B0604020202020204" pitchFamily="34" charset="0"/>
              </a:rPr>
              <a:t>,</a:t>
            </a:r>
            <a:r>
              <a:rPr lang="pl-PL" altLang="zh-CN" sz="2200" b="1" kern="0" dirty="0">
                <a:solidFill>
                  <a:srgbClr val="00B0F0"/>
                </a:solidFill>
                <a:latin typeface="+mj-lt"/>
                <a:ea typeface="隶书" panose="02010509060101010101" pitchFamily="49" charset="-122"/>
                <a:sym typeface="Arial" panose="020B0604020202020204" pitchFamily="34" charset="0"/>
              </a:rPr>
              <a:t>0.5017 </a:t>
            </a:r>
            <a:r>
              <a:rPr lang="ko-KR" altLang="en-US" sz="2200" b="1" baseline="30000" dirty="0">
                <a:solidFill>
                  <a:srgbClr val="00B0F0"/>
                </a:solidFill>
                <a:latin typeface="+mj-lt"/>
                <a:ea typeface="Malgun Gothic" panose="020B0503020000020004" pitchFamily="34" charset="-127"/>
              </a:rPr>
              <a:t>2</a:t>
            </a:r>
            <a:r>
              <a:rPr lang="ko-KR" altLang="en-US" sz="2200" b="1" dirty="0">
                <a:solidFill>
                  <a:srgbClr val="00B0F0"/>
                </a:solidFill>
                <a:latin typeface="+mj-lt"/>
                <a:ea typeface="Malgun Gothic" panose="020B0503020000020004" pitchFamily="34" charset="-127"/>
              </a:rPr>
              <a:t>)</a:t>
            </a:r>
            <a:endParaRPr lang="zh-CN" altLang="en-US" sz="22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7EDA08-F66F-4320-8CAD-3CAF7FC7C038}"/>
              </a:ext>
            </a:extLst>
          </p:cNvPr>
          <p:cNvSpPr/>
          <p:nvPr/>
        </p:nvSpPr>
        <p:spPr>
          <a:xfrm>
            <a:off x="310832" y="4173101"/>
            <a:ext cx="3708301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概率密度：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Px=normpdf(</a:t>
            </a:r>
            <a:r>
              <a:rPr lang="en-US" altLang="ko-KR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mu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sigma</a:t>
            </a:r>
            <a:r>
              <a:rPr lang="ko-KR" altLang="en-US" b="1" kern="0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2AB859-527C-420E-97B5-F6FD21AB6DF3}"/>
              </a:ext>
            </a:extLst>
          </p:cNvPr>
          <p:cNvSpPr/>
          <p:nvPr/>
        </p:nvSpPr>
        <p:spPr>
          <a:xfrm>
            <a:off x="4253534" y="4173101"/>
            <a:ext cx="4664354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ko-KR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Np</a:t>
            </a:r>
            <a:r>
              <a:rPr lang="ko-KR" altLang="en-US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=norm</a:t>
            </a:r>
            <a:r>
              <a:rPr lang="ko-KR" altLang="en-US" sz="1600" b="1" kern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ko-KR" altLang="en-US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df(</a:t>
            </a:r>
            <a:r>
              <a:rPr lang="en-US" altLang="ko-KR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ko-KR" altLang="en-US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mu</a:t>
            </a:r>
            <a:r>
              <a:rPr lang="ko-KR" altLang="en-US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ko-KR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sigma</a:t>
            </a:r>
            <a:r>
              <a:rPr lang="ko-KR" altLang="en-US" sz="1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CN" altLang="ko-KR" sz="1600" b="1" kern="0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9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9FA4074-892A-42A0-841F-8CB89C555787}"/>
              </a:ext>
            </a:extLst>
          </p:cNvPr>
          <p:cNvSpPr txBox="1"/>
          <p:nvPr/>
        </p:nvSpPr>
        <p:spPr>
          <a:xfrm>
            <a:off x="846871" y="119947"/>
            <a:ext cx="8266308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</a:t>
            </a:r>
            <a:r>
              <a:rPr lang="en-US" altLang="zh-CN" sz="26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随机变量正态分布的概率计算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——norm</a:t>
            </a:r>
            <a:r>
              <a:rPr lang="zh-CN" altLang="en-US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</a:t>
            </a:r>
            <a:endParaRPr lang="ko-KR" altLang="en-US" sz="2600" kern="0" dirty="0">
              <a:solidFill>
                <a:srgbClr val="00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CFB43B-CFD9-4097-8E7D-9C73147381B5}"/>
              </a:ext>
            </a:extLst>
          </p:cNvPr>
          <p:cNvSpPr txBox="1"/>
          <p:nvPr/>
        </p:nvSpPr>
        <p:spPr>
          <a:xfrm>
            <a:off x="256461" y="745188"/>
            <a:ext cx="8887539" cy="42037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 = 9.5626; sigma = 0.5017;  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y1 = 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normpdf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(8.1, mu, sigma) #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8.1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元的概率密度</a:t>
            </a:r>
          </a:p>
          <a:p>
            <a:pPr>
              <a:lnSpc>
                <a:spcPts val="2300"/>
              </a:lnSpc>
            </a:pP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normcdf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(8.1, mu, sigma) #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计算不超过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8.1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元的累积概率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 = 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norminv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(0.9, mu, sigma)  #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累积概率达到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90%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时的股票价格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xx = 8:0.01:11; #8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间线性股票价格</a:t>
            </a:r>
          </a:p>
          <a:p>
            <a:pPr>
              <a:lnSpc>
                <a:spcPts val="2300"/>
              </a:lnSpc>
            </a:pP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yy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normpdf</a:t>
            </a:r>
            <a:r>
              <a:rPr lang="en-US" altLang="zh-CN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(xx, mu, sigma);#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计算此区间概率密度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area(xx, 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yy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#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绘制正态分布概率密度</a:t>
            </a:r>
          </a:p>
          <a:p>
            <a:pPr>
              <a:lnSpc>
                <a:spcPts val="2300"/>
              </a:lnSpc>
            </a:pP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xlabel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股票收盘价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");</a:t>
            </a:r>
          </a:p>
          <a:p>
            <a:pPr>
              <a:lnSpc>
                <a:spcPts val="2300"/>
              </a:lnSpc>
            </a:pP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ylabel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概率密度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,%");</a:t>
            </a:r>
          </a:p>
          <a:p>
            <a:pPr>
              <a:lnSpc>
                <a:spcPts val="2300"/>
              </a:lnSpc>
            </a:pP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normcdf</a:t>
            </a:r>
            <a:r>
              <a:rPr lang="en-US" altLang="zh-CN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(xx, mu, sigma);#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计算此区间累计概率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figure()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stairs(xx, 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#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绘制正态分布累积概率阶梯图</a:t>
            </a:r>
          </a:p>
          <a:p>
            <a:pPr>
              <a:lnSpc>
                <a:spcPts val="2300"/>
              </a:lnSpc>
            </a:pP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xlabel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股票收盘价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");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ylabel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累积概率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,%");</a:t>
            </a:r>
          </a:p>
          <a:p>
            <a:endParaRPr lang="en-US" altLang="zh-CN" sz="1800" dirty="0">
              <a:solidFill>
                <a:srgbClr val="00206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8CDDAF-8046-4DA8-894A-79164AEFB9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0" t="13611" r="5900" b="6601"/>
          <a:stretch/>
        </p:blipFill>
        <p:spPr>
          <a:xfrm>
            <a:off x="6545652" y="780473"/>
            <a:ext cx="2397782" cy="17517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B265A62-F625-4063-AB3C-36D86CC8D9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1" t="13612" r="7706" b="6516"/>
          <a:stretch/>
        </p:blipFill>
        <p:spPr>
          <a:xfrm>
            <a:off x="6526111" y="2682879"/>
            <a:ext cx="2397782" cy="179858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723D039-A49D-4F63-958C-2C8AA41B050D}"/>
              </a:ext>
            </a:extLst>
          </p:cNvPr>
          <p:cNvSpPr txBox="1"/>
          <p:nvPr/>
        </p:nvSpPr>
        <p:spPr>
          <a:xfrm>
            <a:off x="845191" y="4659002"/>
            <a:ext cx="826709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变量数组时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normpdf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cdf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一定要加点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计算数组还是标量都不加点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729834-941B-4867-9402-2A7C3563B96B}"/>
              </a:ext>
            </a:extLst>
          </p:cNvPr>
          <p:cNvSpPr txBox="1"/>
          <p:nvPr/>
        </p:nvSpPr>
        <p:spPr>
          <a:xfrm>
            <a:off x="4211960" y="2639842"/>
            <a:ext cx="273630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00B0F0"/>
                </a:solidFill>
              </a:rPr>
              <a:t>结果</a:t>
            </a:r>
            <a:r>
              <a:rPr lang="en-US" altLang="zh-CN" sz="1100" dirty="0">
                <a:solidFill>
                  <a:srgbClr val="00B0F0"/>
                </a:solidFill>
              </a:rPr>
              <a:t>y1= 0.011348863098359325</a:t>
            </a:r>
          </a:p>
          <a:p>
            <a:r>
              <a:rPr lang="en-US" altLang="zh-CN" sz="1100" dirty="0" err="1">
                <a:solidFill>
                  <a:srgbClr val="00B0F0"/>
                </a:solidFill>
              </a:rPr>
              <a:t>yc</a:t>
            </a:r>
            <a:r>
              <a:rPr lang="en-US" altLang="zh-CN" sz="1100" dirty="0">
                <a:solidFill>
                  <a:srgbClr val="00B0F0"/>
                </a:solidFill>
              </a:rPr>
              <a:t>= 0.001776802113632914</a:t>
            </a:r>
          </a:p>
          <a:p>
            <a:r>
              <a:rPr lang="en-US" altLang="zh-CN" sz="1100" dirty="0">
                <a:solidFill>
                  <a:srgbClr val="00B0F0"/>
                </a:solidFill>
              </a:rPr>
              <a:t>x1= 10.205554420433726</a:t>
            </a:r>
          </a:p>
        </p:txBody>
      </p:sp>
      <p:sp>
        <p:nvSpPr>
          <p:cNvPr id="15" name="形状 6">
            <a:extLst>
              <a:ext uri="{FF2B5EF4-FFF2-40B4-BE49-F238E27FC236}">
                <a16:creationId xmlns:a16="http://schemas.microsoft.com/office/drawing/2014/main" id="{3CE3FEC6-5852-4152-81F1-10C34307252B}"/>
              </a:ext>
            </a:extLst>
          </p:cNvPr>
          <p:cNvSpPr/>
          <p:nvPr/>
        </p:nvSpPr>
        <p:spPr>
          <a:xfrm>
            <a:off x="-173800" y="4586909"/>
            <a:ext cx="1260349" cy="52435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endParaRPr lang="en-US" altLang="zh-CN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波形 4">
            <a:extLst>
              <a:ext uri="{FF2B5EF4-FFF2-40B4-BE49-F238E27FC236}">
                <a16:creationId xmlns:a16="http://schemas.microsoft.com/office/drawing/2014/main" id="{D0874E04-E018-4220-A0B9-858A2613A9F2}"/>
              </a:ext>
            </a:extLst>
          </p:cNvPr>
          <p:cNvSpPr/>
          <p:nvPr/>
        </p:nvSpPr>
        <p:spPr>
          <a:xfrm>
            <a:off x="50029" y="337496"/>
            <a:ext cx="816050" cy="41767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例41-1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2424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C9F5E66-B36D-4FB6-8278-83FD960C944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8" t="37711" r="17901" b="18368"/>
          <a:stretch/>
        </p:blipFill>
        <p:spPr>
          <a:xfrm>
            <a:off x="287483" y="688190"/>
            <a:ext cx="8569034" cy="2619349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E912FB-E858-4E6A-963C-9D7E1D6CDDF9}"/>
              </a:ext>
            </a:extLst>
          </p:cNvPr>
          <p:cNvSpPr txBox="1"/>
          <p:nvPr/>
        </p:nvSpPr>
        <p:spPr>
          <a:xfrm>
            <a:off x="791072" y="151292"/>
            <a:ext cx="8352928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</a:t>
            </a:r>
            <a:r>
              <a:rPr lang="ko-KR" altLang="en-US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.1</a:t>
            </a:r>
            <a:r>
              <a:rPr lang="en-US" altLang="ko-KR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常见概率分布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连续型和离散型及其概率计算</a:t>
            </a:r>
            <a:endParaRPr lang="ko-KR" altLang="en-US" sz="2400" kern="0" dirty="0">
              <a:solidFill>
                <a:srgbClr val="FF00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603A24A-C8EE-4260-A3E8-5A15940A9EFF}"/>
              </a:ext>
            </a:extLst>
          </p:cNvPr>
          <p:cNvSpPr/>
          <p:nvPr/>
        </p:nvSpPr>
        <p:spPr bwMode="auto">
          <a:xfrm>
            <a:off x="2339751" y="987574"/>
            <a:ext cx="1564421" cy="324221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9" name="内容占位符 3">
            <a:extLst>
              <a:ext uri="{FF2B5EF4-FFF2-40B4-BE49-F238E27FC236}">
                <a16:creationId xmlns:a16="http://schemas.microsoft.com/office/drawing/2014/main" id="{B87C4467-892B-4F35-A2A6-C88FCA810E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6" t="20739" r="10478" b="68663"/>
          <a:stretch/>
        </p:blipFill>
        <p:spPr bwMode="auto">
          <a:xfrm>
            <a:off x="280092" y="3471732"/>
            <a:ext cx="8568950" cy="705761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</a:ln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E3383AF6-9109-4B68-82DC-3F06621B80D7}"/>
              </a:ext>
            </a:extLst>
          </p:cNvPr>
          <p:cNvSpPr/>
          <p:nvPr/>
        </p:nvSpPr>
        <p:spPr>
          <a:xfrm>
            <a:off x="2536020" y="3579862"/>
            <a:ext cx="504056" cy="2003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BF2935D-485D-498F-BCFB-9FD6CC127A02}"/>
              </a:ext>
            </a:extLst>
          </p:cNvPr>
          <p:cNvSpPr/>
          <p:nvPr/>
        </p:nvSpPr>
        <p:spPr>
          <a:xfrm>
            <a:off x="8152644" y="3595571"/>
            <a:ext cx="504056" cy="2003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19039D-4D35-4410-B459-8FD153FD0462}"/>
              </a:ext>
            </a:extLst>
          </p:cNvPr>
          <p:cNvSpPr/>
          <p:nvPr/>
        </p:nvSpPr>
        <p:spPr>
          <a:xfrm>
            <a:off x="3616140" y="3873005"/>
            <a:ext cx="504056" cy="2003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ADF29E-19AB-48BB-B5D4-5ABACFE439CB}"/>
              </a:ext>
            </a:extLst>
          </p:cNvPr>
          <p:cNvSpPr/>
          <p:nvPr/>
        </p:nvSpPr>
        <p:spPr>
          <a:xfrm>
            <a:off x="250156" y="3169300"/>
            <a:ext cx="859888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dist">
              <a:spcBef>
                <a:spcPts val="300"/>
              </a:spcBef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正态分布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norm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ea typeface="Malgun Gothic" panose="020B0503020000020004" pitchFamily="34" charset="-127"/>
              </a:rPr>
              <a:t>pdf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norm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ea typeface="Malgun Gothic" panose="020B0503020000020004" pitchFamily="34" charset="-127"/>
              </a:rPr>
              <a:t>cdf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norm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ea typeface="Malgun Gothic" panose="020B0503020000020004" pitchFamily="34" charset="-127"/>
              </a:rPr>
              <a:t>inv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, norm</a:t>
            </a:r>
            <a:r>
              <a:rPr lang="ko-KR" altLang="en-US" sz="1600" b="1" dirty="0">
                <a:solidFill>
                  <a:schemeClr val="bg1"/>
                </a:solidFill>
                <a:highlight>
                  <a:srgbClr val="FF0000"/>
                </a:highlight>
                <a:ea typeface="Malgun Gothic" panose="020B0503020000020004" pitchFamily="34" charset="-127"/>
              </a:rPr>
              <a:t>rnd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norm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ea typeface="Malgun Gothic" panose="020B0503020000020004" pitchFamily="34" charset="-127"/>
              </a:rPr>
              <a:t>stat</a:t>
            </a:r>
            <a:endParaRPr lang="ko-KR" altLang="en-US" sz="1600" b="1" dirty="0">
              <a:solidFill>
                <a:schemeClr val="bg1"/>
              </a:solidFill>
              <a:highlight>
                <a:srgbClr val="FF0000"/>
              </a:highlight>
              <a:ea typeface="Malgun Gothic" panose="020B0503020000020004" pitchFamily="34" charset="-127"/>
            </a:endParaRPr>
          </a:p>
        </p:txBody>
      </p:sp>
      <p:sp>
        <p:nvSpPr>
          <p:cNvPr id="17" name="文本框 31746">
            <a:extLst>
              <a:ext uri="{FF2B5EF4-FFF2-40B4-BE49-F238E27FC236}">
                <a16:creationId xmlns:a16="http://schemas.microsoft.com/office/drawing/2014/main" id="{4D1AD1C5-B3B3-4541-A780-02149F246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9687" y="4155926"/>
            <a:ext cx="6585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spcBef>
                <a:spcPts val="300"/>
              </a:spcBef>
              <a:defRPr sz="160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ko-KR" altLang="en-US" dirty="0">
                <a:highlight>
                  <a:srgbClr val="000080"/>
                </a:highlight>
              </a:rPr>
              <a:t>概率分布</a:t>
            </a:r>
            <a:r>
              <a:rPr lang="zh-CN" altLang="en-US" dirty="0">
                <a:highlight>
                  <a:srgbClr val="000080"/>
                </a:highlight>
              </a:rPr>
              <a:t>名字</a:t>
            </a:r>
            <a:r>
              <a:rPr lang="ko-KR" altLang="en-US" dirty="0">
                <a:highlight>
                  <a:srgbClr val="000080"/>
                </a:highlight>
              </a:rPr>
              <a:t>+函数</a:t>
            </a:r>
            <a:r>
              <a:rPr lang="zh-CN" altLang="en-US" dirty="0">
                <a:highlight>
                  <a:srgbClr val="000080"/>
                </a:highlight>
              </a:rPr>
              <a:t>后缀（</a:t>
            </a:r>
            <a:r>
              <a:rPr lang="en-US" altLang="zh-CN" b="1" dirty="0" err="1">
                <a:highlight>
                  <a:srgbClr val="FF0000"/>
                </a:highlight>
              </a:rPr>
              <a:t>pdf,cdf,inv,rnd,stat</a:t>
            </a:r>
            <a:r>
              <a:rPr lang="zh-CN" altLang="en-US" dirty="0">
                <a:highlight>
                  <a:srgbClr val="000080"/>
                </a:highlight>
              </a:rPr>
              <a:t>）</a:t>
            </a:r>
            <a:endParaRPr lang="ko-KR" altLang="en-US" dirty="0">
              <a:highlight>
                <a:srgbClr val="00008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30FADC-BD0A-45BB-993C-7A926FC61827}"/>
              </a:ext>
            </a:extLst>
          </p:cNvPr>
          <p:cNvSpPr/>
          <p:nvPr/>
        </p:nvSpPr>
        <p:spPr>
          <a:xfrm>
            <a:off x="266529" y="4155808"/>
            <a:ext cx="2165644" cy="308691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spcBef>
                <a:spcPts val="300"/>
              </a:spcBef>
            </a:pPr>
            <a:r>
              <a:rPr lang="zh-CN" altLang="en-US" sz="1400" dirty="0">
                <a:solidFill>
                  <a:schemeClr val="bg1"/>
                </a:solidFill>
                <a:ea typeface="Malgun Gothic" panose="020B0503020000020004" pitchFamily="34" charset="-127"/>
              </a:rPr>
              <a:t>概率分布的专用型函数</a:t>
            </a:r>
            <a:r>
              <a:rPr lang="en-US" altLang="zh-CN" sz="1400" dirty="0">
                <a:solidFill>
                  <a:schemeClr val="bg1"/>
                </a:solidFill>
                <a:ea typeface="Malgun Gothic" panose="020B0503020000020004" pitchFamily="34" charset="-127"/>
              </a:rPr>
              <a:t>: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5F37E1-B375-4D1B-ACFA-1D78A0C030B8}"/>
              </a:ext>
            </a:extLst>
          </p:cNvPr>
          <p:cNvSpPr/>
          <p:nvPr/>
        </p:nvSpPr>
        <p:spPr>
          <a:xfrm>
            <a:off x="250156" y="4515966"/>
            <a:ext cx="870487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dist">
              <a:spcBef>
                <a:spcPts val="300"/>
              </a:spcBef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如二项分布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binopdf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binocdf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binoinv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, bino</a:t>
            </a:r>
            <a:r>
              <a:rPr lang="ko-KR" altLang="en-US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rnd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ea typeface="Malgun Gothic" panose="020B0503020000020004" pitchFamily="34" charset="-127"/>
              </a:rPr>
              <a:t>binostat</a:t>
            </a:r>
            <a:endParaRPr lang="ko-KR" altLang="en-US" sz="1600" b="1" dirty="0">
              <a:solidFill>
                <a:schemeClr val="bg1"/>
              </a:solidFill>
              <a:highlight>
                <a:srgbClr val="003B76"/>
              </a:highlight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880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3" grpId="0" animBg="1"/>
      <p:bldP spid="17" grpId="0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9654A50-FECE-408B-BDF4-2EC58FCB74A1}"/>
              </a:ext>
            </a:extLst>
          </p:cNvPr>
          <p:cNvSpPr txBox="1"/>
          <p:nvPr/>
        </p:nvSpPr>
        <p:spPr>
          <a:xfrm>
            <a:off x="899592" y="146250"/>
            <a:ext cx="7704856" cy="4924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§4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微软雅黑" panose="020B0503020204020204" pitchFamily="34" charset="-122"/>
                <a:cs typeface="+mn-cs"/>
              </a:rPr>
              <a:t>.1</a:t>
            </a:r>
            <a:r>
              <a:rPr kumimoji="0" lang="en-US" altLang="ko-KR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随机变量常见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</a:t>
            </a:r>
            <a:r>
              <a:rPr lang="zh-CN" altLang="en-US" sz="2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计算概率分布的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通用型函数</a:t>
            </a:r>
            <a:endParaRPr lang="zh-CN" altLang="en-US" sz="2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6" name="内容占位符 5">
            <a:extLst>
              <a:ext uri="{FF2B5EF4-FFF2-40B4-BE49-F238E27FC236}">
                <a16:creationId xmlns:a16="http://schemas.microsoft.com/office/drawing/2014/main" id="{E870462A-1618-408E-BF43-38C9AE46B7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29431" r="26186" b="55978"/>
          <a:stretch/>
        </p:blipFill>
        <p:spPr bwMode="auto">
          <a:xfrm>
            <a:off x="390001" y="1650701"/>
            <a:ext cx="8430471" cy="93610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B578CFB3-F495-4A2C-B16F-E38DD1814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88" y="3146988"/>
            <a:ext cx="7056784" cy="13004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latinLnBrk="0" hangingPunct="0">
              <a:lnSpc>
                <a:spcPts val="2600"/>
              </a:lnSpc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mu = 1</a:t>
            </a:r>
            <a:r>
              <a:rPr lang="en-US" altLang="zh-CN" dirty="0">
                <a:solidFill>
                  <a:srgbClr val="00B0F0"/>
                </a:solidFill>
                <a:latin typeface="Arial" charset="0"/>
              </a:rPr>
              <a:t>;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 sigma = 5 </a:t>
            </a:r>
            <a:r>
              <a:rPr lang="en-US" altLang="zh-CN" dirty="0">
                <a:solidFill>
                  <a:srgbClr val="00B0F0"/>
                </a:solidFill>
                <a:latin typeface="Arial" charset="0"/>
              </a:rPr>
              <a:t>#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创建均值 μ </a:t>
            </a:r>
            <a:r>
              <a:rPr lang="en-US" altLang="zh-CN" dirty="0">
                <a:solidFill>
                  <a:srgbClr val="00B0F0"/>
                </a:solidFill>
                <a:latin typeface="Arial" charset="0"/>
              </a:rPr>
              <a:t>=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 1标准差 σ </a:t>
            </a:r>
            <a:r>
              <a:rPr lang="en-US" altLang="zh-CN" dirty="0">
                <a:solidFill>
                  <a:srgbClr val="00B0F0"/>
                </a:solidFill>
                <a:latin typeface="Arial" charset="0"/>
              </a:rPr>
              <a:t>=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 5 正态分布</a:t>
            </a:r>
          </a:p>
          <a:p>
            <a:pPr>
              <a:lnSpc>
                <a:spcPts val="2600"/>
              </a:lnSpc>
            </a:pP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pd = </a:t>
            </a:r>
            <a:r>
              <a:rPr lang="zh-CN" altLang="zh-CN" b="1" dirty="0">
                <a:solidFill>
                  <a:srgbClr val="FF0000"/>
                </a:solidFill>
                <a:latin typeface="Arial" charset="0"/>
              </a:rPr>
              <a:t>Normal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(mu,sigma)</a:t>
            </a:r>
            <a:r>
              <a:rPr lang="en-US" altLang="zh-CN" dirty="0">
                <a:solidFill>
                  <a:srgbClr val="00B0F0"/>
                </a:solidFill>
                <a:latin typeface="Arial" charset="0"/>
              </a:rPr>
              <a:t>  #</a:t>
            </a:r>
            <a:r>
              <a:rPr lang="zh-CN" altLang="en-US" dirty="0">
                <a:solidFill>
                  <a:srgbClr val="00B0F0"/>
                </a:solidFill>
                <a:latin typeface="Arial" charset="0"/>
              </a:rPr>
              <a:t>常见正态分布对象</a:t>
            </a:r>
            <a:endParaRPr lang="en-US" altLang="zh-CN" dirty="0">
              <a:solidFill>
                <a:srgbClr val="00B0F0"/>
              </a:solidFill>
              <a:latin typeface="Arial" charset="0"/>
            </a:endParaRPr>
          </a:p>
          <a:p>
            <a:pPr>
              <a:lnSpc>
                <a:spcPts val="2600"/>
              </a:lnSpc>
            </a:pP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 x = [-2,-1,0,1,2] </a:t>
            </a:r>
            <a:r>
              <a:rPr lang="en-US" altLang="zh-CN" dirty="0">
                <a:solidFill>
                  <a:srgbClr val="00B0F0"/>
                </a:solidFill>
                <a:latin typeface="Arial" charset="0"/>
              </a:rPr>
              <a:t>#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定义输入向量 x</a:t>
            </a:r>
            <a:endParaRPr lang="en-US" altLang="zh-CN" dirty="0">
              <a:solidFill>
                <a:srgbClr val="00B0F0"/>
              </a:solidFill>
              <a:latin typeface="Arial" charset="0"/>
            </a:endParaRPr>
          </a:p>
          <a:p>
            <a:pPr>
              <a:lnSpc>
                <a:spcPts val="2600"/>
              </a:lnSpc>
            </a:pP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y = cdf</a:t>
            </a:r>
            <a:r>
              <a:rPr lang="zh-CN" altLang="zh-CN" dirty="0">
                <a:solidFill>
                  <a:srgbClr val="00B0F0"/>
                </a:solidFill>
                <a:highlight>
                  <a:srgbClr val="FF0000"/>
                </a:highlight>
                <a:latin typeface="Arial" charset="0"/>
              </a:rPr>
              <a:t>.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(pd,x)</a:t>
            </a:r>
            <a:r>
              <a:rPr lang="en-US" altLang="zh-CN" dirty="0">
                <a:solidFill>
                  <a:srgbClr val="00B0F0"/>
                </a:solidFill>
                <a:latin typeface="Arial" charset="0"/>
              </a:rPr>
              <a:t>  #</a:t>
            </a:r>
            <a:r>
              <a:rPr lang="zh-CN" altLang="zh-CN" dirty="0">
                <a:solidFill>
                  <a:srgbClr val="00B0F0"/>
                </a:solidFill>
                <a:latin typeface="Arial" charset="0"/>
              </a:rPr>
              <a:t>基于 x 值计算正态分布的 cdf 值</a:t>
            </a:r>
            <a:endParaRPr lang="en-US" altLang="zh-CN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B10E7E8-2DA4-4A4D-88FD-A0AE110304BE}"/>
              </a:ext>
            </a:extLst>
          </p:cNvPr>
          <p:cNvSpPr txBox="1"/>
          <p:nvPr/>
        </p:nvSpPr>
        <p:spPr>
          <a:xfrm>
            <a:off x="6152307" y="3222480"/>
            <a:ext cx="2664296" cy="138499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julia</a:t>
            </a:r>
            <a:r>
              <a:rPr lang="en-US" altLang="zh-CN" sz="1400" dirty="0"/>
              <a:t>&gt; y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结果5-element Vector{Float64}: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7.911091456444058e-118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1.0593712733268447e-98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⋮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1.2015553630104133e-51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045F24B-55F4-432F-9572-2F831E244FD8}"/>
              </a:ext>
            </a:extLst>
          </p:cNvPr>
          <p:cNvSpPr/>
          <p:nvPr/>
        </p:nvSpPr>
        <p:spPr bwMode="auto">
          <a:xfrm>
            <a:off x="1825468" y="2311219"/>
            <a:ext cx="936104" cy="251744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389206C-83D5-4321-8C3B-8731697CFE25}"/>
              </a:ext>
            </a:extLst>
          </p:cNvPr>
          <p:cNvSpPr/>
          <p:nvPr/>
        </p:nvSpPr>
        <p:spPr bwMode="auto">
          <a:xfrm>
            <a:off x="4635724" y="2309081"/>
            <a:ext cx="1041531" cy="251744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BD5E0E0-BE84-417F-B92E-EA8D4E306302}"/>
              </a:ext>
            </a:extLst>
          </p:cNvPr>
          <p:cNvSpPr/>
          <p:nvPr/>
        </p:nvSpPr>
        <p:spPr bwMode="auto">
          <a:xfrm>
            <a:off x="7479227" y="2316970"/>
            <a:ext cx="1041532" cy="243855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DAE26C-D253-4FFE-A5A8-59F7395B910F}"/>
              </a:ext>
            </a:extLst>
          </p:cNvPr>
          <p:cNvSpPr txBox="1"/>
          <p:nvPr/>
        </p:nvSpPr>
        <p:spPr>
          <a:xfrm>
            <a:off x="311535" y="706038"/>
            <a:ext cx="8772318" cy="8798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通用型函数</a:t>
            </a:r>
            <a:r>
              <a:rPr lang="en-US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Syslab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工具箱提供了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pdf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cdf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icdf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通用函数，计算常见分布的概率密度、累积概率分布和逆累积概率分布，如表所示</a:t>
            </a:r>
            <a:endParaRPr lang="zh-CN" altLang="en-US" sz="2000" b="1" noProof="1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52C5A8-6483-491A-95B7-EC3C3B12BC53}"/>
              </a:ext>
            </a:extLst>
          </p:cNvPr>
          <p:cNvSpPr txBox="1"/>
          <p:nvPr/>
        </p:nvSpPr>
        <p:spPr>
          <a:xfrm>
            <a:off x="247218" y="2702580"/>
            <a:ext cx="614946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通用型函数输入参数</a:t>
            </a:r>
            <a:r>
              <a:rPr lang="en-US" altLang="zh-CN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zh-CN" sz="2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概率分布</a:t>
            </a:r>
            <a:r>
              <a:rPr lang="zh-CN" altLang="en-US" sz="2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对象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pt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和随机变量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endParaRPr lang="zh-CN" altLang="en-US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9D99FE7C-C2FB-4EFB-8A6F-8500C6F23577}"/>
              </a:ext>
            </a:extLst>
          </p:cNvPr>
          <p:cNvSpPr/>
          <p:nvPr/>
        </p:nvSpPr>
        <p:spPr>
          <a:xfrm>
            <a:off x="6138250" y="2749412"/>
            <a:ext cx="816050" cy="3693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例41-3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1AF782-A241-4070-AEA1-08E98441E4A9}"/>
              </a:ext>
            </a:extLst>
          </p:cNvPr>
          <p:cNvSpPr txBox="1"/>
          <p:nvPr/>
        </p:nvSpPr>
        <p:spPr>
          <a:xfrm>
            <a:off x="6968202" y="2765881"/>
            <a:ext cx="2063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求正态累积概率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B3D6F70-0682-4281-AB92-2DE366345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829516"/>
              </p:ext>
            </p:extLst>
          </p:nvPr>
        </p:nvGraphicFramePr>
        <p:xfrm>
          <a:off x="251520" y="790324"/>
          <a:ext cx="8712968" cy="378446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3827377331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14622983"/>
                    </a:ext>
                  </a:extLst>
                </a:gridCol>
              </a:tblGrid>
              <a:tr h="34956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分布对象（部分）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创建概率分布对象的函数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016060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Beta Distribution</a:t>
                      </a:r>
                      <a:endParaRPr lang="en-US" sz="1800" b="0" u="sng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eta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23493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Binomial Distribution</a:t>
                      </a:r>
                      <a:endParaRPr lang="en-US" sz="1800" b="0" u="sng" strike="noStrike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inomial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33866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BurrDistribution</a:t>
                      </a:r>
                      <a:endParaRPr lang="en-US" sz="1800" b="0" u="sng" strike="noStrike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urr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24041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Exponential Distribution</a:t>
                      </a:r>
                      <a:endParaRPr lang="en-US" sz="1800" b="0" u="sng" strike="noStrike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xponential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0003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ExtremeValueDistribution</a:t>
                      </a:r>
                      <a:endParaRPr lang="en-US" sz="1800" b="0" u="sng" strike="noStrike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u="none" strike="noStrike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xtremeValue</a:t>
                      </a:r>
                      <a:endParaRPr lang="en-US" sz="1800" b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94891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Gamma Distribution</a:t>
                      </a:r>
                      <a:endParaRPr lang="en-US" sz="1800" b="0" u="sng" strike="noStrike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amma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435584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Normal Distribution</a:t>
                      </a:r>
                      <a:endParaRPr lang="en-US" sz="1800" b="0" u="sng" strike="noStrike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ormal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38631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Poisson Distribution</a:t>
                      </a:r>
                      <a:endParaRPr lang="en-US" sz="1800" b="0" u="sng" strike="noStrike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oisson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62116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sng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Rayleigh Distribution</a:t>
                      </a:r>
                      <a:endParaRPr lang="en-US" sz="1800" b="0" u="sng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ayleigh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2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u="none" strike="noStrike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RicianDistribution</a:t>
                      </a:r>
                      <a:endParaRPr lang="en-US" sz="1800" b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1800" b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ician</a:t>
                      </a:r>
                    </a:p>
                  </a:txBody>
                  <a:tcPr marL="14489" marR="14489" marT="7244" marB="724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623699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82343736-A95C-43D1-BFFB-ED151D52B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0461" y="3628728"/>
            <a:ext cx="2848423" cy="615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latinLnBrk="0" hangingPunct="0">
              <a:lnSpc>
                <a:spcPts val="2400"/>
              </a:lnSpc>
              <a:buClrTx/>
              <a:buSzTx/>
              <a:buFontTx/>
              <a:buNone/>
              <a:tabLst/>
            </a:pPr>
            <a:r>
              <a:rPr lang="zh-CN" altLang="zh-CN" sz="2000" b="1" dirty="0">
                <a:solidFill>
                  <a:srgbClr val="00B0F0"/>
                </a:solidFill>
                <a:latin typeface="Arial" charset="0"/>
              </a:rPr>
              <a:t>mu = 1 sigma = 5 </a:t>
            </a:r>
            <a:endParaRPr lang="en-US" altLang="zh-CN" sz="2000" b="1" dirty="0">
              <a:solidFill>
                <a:srgbClr val="00B0F0"/>
              </a:solidFill>
              <a:latin typeface="Arial" charset="0"/>
            </a:endParaRPr>
          </a:p>
          <a:p>
            <a:pPr marL="0" marR="0" lvl="0" indent="0" defTabSz="914400" eaLnBrk="0" latinLnBrk="0" hangingPunct="0">
              <a:lnSpc>
                <a:spcPts val="2400"/>
              </a:lnSpc>
              <a:buClrTx/>
              <a:buSzTx/>
              <a:buFontTx/>
              <a:buNone/>
              <a:tabLst/>
            </a:pPr>
            <a:r>
              <a:rPr lang="zh-CN" altLang="zh-CN" sz="2000" b="1" dirty="0">
                <a:solidFill>
                  <a:srgbClr val="00B0F0"/>
                </a:solidFill>
                <a:latin typeface="Arial" charset="0"/>
              </a:rPr>
              <a:t>pd = Normal(mu,sigma)</a:t>
            </a:r>
            <a:endParaRPr lang="en-US" altLang="zh-CN" sz="2000" b="1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E46CC1-C87F-4E66-9BC0-656708B01B13}"/>
              </a:ext>
            </a:extLst>
          </p:cNvPr>
          <p:cNvSpPr txBox="1"/>
          <p:nvPr/>
        </p:nvSpPr>
        <p:spPr>
          <a:xfrm>
            <a:off x="683763" y="111607"/>
            <a:ext cx="799269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§4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微软雅黑" panose="020B0503020204020204" pitchFamily="34" charset="-122"/>
                <a:cs typeface="+mn-cs"/>
              </a:rPr>
              <a:t>.1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随机变量常见概率分布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创建</a:t>
            </a:r>
            <a:r>
              <a:rPr lang="zh-CN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概率分布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pt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7B9FF2-00F7-4BF1-A4E9-5C068115D776}"/>
              </a:ext>
            </a:extLst>
          </p:cNvPr>
          <p:cNvSpPr txBox="1"/>
          <p:nvPr/>
        </p:nvSpPr>
        <p:spPr>
          <a:xfrm>
            <a:off x="5424206" y="1255968"/>
            <a:ext cx="28083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概率分布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 </a:t>
            </a:r>
            <a:endParaRPr lang="zh-CN" altLang="en-US" sz="2000" b="1" noProof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8216">
            <a:extLst>
              <a:ext uri="{FF2B5EF4-FFF2-40B4-BE49-F238E27FC236}">
                <a16:creationId xmlns:a16="http://schemas.microsoft.com/office/drawing/2014/main" id="{9158EC6E-9F91-4BAE-9E70-59C1FE9B6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671" y="1734635"/>
            <a:ext cx="3043987" cy="338554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Pd=</a:t>
            </a:r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概率分布对象名</a:t>
            </a:r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常数参数</a:t>
            </a:r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9" name="文本框 8216">
            <a:extLst>
              <a:ext uri="{FF2B5EF4-FFF2-40B4-BE49-F238E27FC236}">
                <a16:creationId xmlns:a16="http://schemas.microsoft.com/office/drawing/2014/main" id="{F206DD2D-F8D3-4C69-B103-917FEB3E4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5" y="2158693"/>
            <a:ext cx="2848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/>
              <a:t>Pd=Normal</a:t>
            </a:r>
            <a:r>
              <a:rPr lang="ko-KR" altLang="en-US" b="1" dirty="0"/>
              <a:t>(</a:t>
            </a:r>
            <a:r>
              <a:rPr lang="en-US" altLang="zh-CN" b="1" dirty="0" err="1"/>
              <a:t>mu,sigma</a:t>
            </a:r>
            <a:r>
              <a:rPr lang="ko-KR" altLang="en-US" b="1" dirty="0"/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6C6834-9AC1-4732-8707-7BDB9A14C22C}"/>
              </a:ext>
            </a:extLst>
          </p:cNvPr>
          <p:cNvSpPr txBox="1"/>
          <p:nvPr/>
        </p:nvSpPr>
        <p:spPr>
          <a:xfrm>
            <a:off x="5436096" y="2155219"/>
            <a:ext cx="58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endParaRPr lang="zh-CN" altLang="en-US" dirty="0"/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185809B7-F4FC-4F0D-A183-748D6CE28FA0}"/>
              </a:ext>
            </a:extLst>
          </p:cNvPr>
          <p:cNvSpPr/>
          <p:nvPr/>
        </p:nvSpPr>
        <p:spPr>
          <a:xfrm>
            <a:off x="5600105" y="2566470"/>
            <a:ext cx="688183" cy="3693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例41-4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562FE-F2DD-4E9B-8931-784692E09B5F}"/>
              </a:ext>
            </a:extLst>
          </p:cNvPr>
          <p:cNvSpPr txBox="1"/>
          <p:nvPr/>
        </p:nvSpPr>
        <p:spPr>
          <a:xfrm>
            <a:off x="6699401" y="769947"/>
            <a:ext cx="2303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第一字母必须大写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DB28CF7-1678-46E0-A051-DAA75FD52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4835" y="2548811"/>
            <a:ext cx="2184871" cy="93660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latinLnBrk="0" hangingPunct="0">
              <a:lnSpc>
                <a:spcPts val="2500"/>
              </a:lnSpc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创建正态分布对象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0" latinLnBrk="0" hangingPunct="0">
              <a:lnSpc>
                <a:spcPts val="2500"/>
              </a:lnSpc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 μ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1、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0" latinLnBrk="0" hangingPunct="0">
              <a:lnSpc>
                <a:spcPts val="2500"/>
              </a:lnSpc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标准差 σ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267168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21532" y="1952233"/>
            <a:ext cx="7274633" cy="13395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ts val="3000"/>
              </a:lnSpc>
              <a:spcBef>
                <a:spcPts val="450"/>
              </a:spcBef>
              <a:buAutoNum type="arabicParenBoth"/>
            </a:pPr>
            <a:r>
              <a:rPr lang="ko-KR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               研究对象的全体        </a:t>
            </a:r>
            <a:endParaRPr lang="en-US" altLang="ko-KR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lnSpc>
                <a:spcPts val="3000"/>
              </a:lnSpc>
              <a:spcBef>
                <a:spcPts val="450"/>
              </a:spcBef>
              <a:buAutoNum type="arabicParenBoth"/>
            </a:pPr>
            <a:r>
              <a:rPr lang="en-US" altLang="ko-KR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</a:t>
            </a:r>
            <a:r>
              <a:rPr lang="ko-KR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构成总体的每个成员 </a:t>
            </a:r>
          </a:p>
          <a:p>
            <a:pPr>
              <a:lnSpc>
                <a:spcPts val="3000"/>
              </a:lnSpc>
              <a:spcBef>
                <a:spcPts val="450"/>
              </a:spcBef>
            </a:pPr>
            <a:r>
              <a:rPr lang="ko-KR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ko-KR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)                  从总体中抽取部分个体所组成的集合 </a:t>
            </a:r>
          </a:p>
        </p:txBody>
      </p:sp>
      <p:sp>
        <p:nvSpPr>
          <p:cNvPr id="8" name="矩形 7"/>
          <p:cNvSpPr/>
          <p:nvPr/>
        </p:nvSpPr>
        <p:spPr>
          <a:xfrm>
            <a:off x="447835" y="1961175"/>
            <a:ext cx="960634" cy="954107"/>
          </a:xfrm>
          <a:prstGeom prst="rect">
            <a:avLst/>
          </a:prstGeom>
          <a:solidFill>
            <a:srgbClr val="0070C0"/>
          </a:solidFill>
          <a:ln w="381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2800" noProof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统计对象</a:t>
            </a:r>
            <a:endParaRPr lang="ko-KR" altLang="en-US" sz="2800" noProof="1">
              <a:solidFill>
                <a:schemeClr val="bg1"/>
              </a:solidFill>
              <a:latin typeface="华文楷体" panose="0201060004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 flipH="1">
            <a:off x="2033230" y="2000614"/>
            <a:ext cx="66656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总体</a:t>
            </a:r>
          </a:p>
        </p:txBody>
      </p:sp>
      <p:sp>
        <p:nvSpPr>
          <p:cNvPr id="10" name="文本框 9"/>
          <p:cNvSpPr txBox="1"/>
          <p:nvPr/>
        </p:nvSpPr>
        <p:spPr>
          <a:xfrm flipH="1">
            <a:off x="2033231" y="2880426"/>
            <a:ext cx="66656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b="0" dirty="0">
                <a:solidFill>
                  <a:schemeClr val="bg1"/>
                </a:solidFill>
                <a:highlight>
                  <a:srgbClr val="000080"/>
                </a:highlight>
              </a:rPr>
              <a:t>样本</a:t>
            </a:r>
          </a:p>
        </p:txBody>
      </p:sp>
      <p:sp>
        <p:nvSpPr>
          <p:cNvPr id="14" name="矩形 13"/>
          <p:cNvSpPr/>
          <p:nvPr/>
        </p:nvSpPr>
        <p:spPr>
          <a:xfrm>
            <a:off x="460898" y="3472532"/>
            <a:ext cx="913090" cy="954107"/>
          </a:xfrm>
          <a:prstGeom prst="rect">
            <a:avLst/>
          </a:prstGeom>
          <a:solidFill>
            <a:srgbClr val="0070C0"/>
          </a:solidFill>
          <a:ln w="381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2800" noProof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数理</a:t>
            </a:r>
            <a:endParaRPr lang="en-US" altLang="zh-CN" sz="2800" noProof="1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ctr"/>
            <a:r>
              <a:rPr lang="zh-CN" altLang="en-US" sz="2800" noProof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统计</a:t>
            </a:r>
            <a:endParaRPr lang="ko-KR" altLang="en-US" sz="2800" noProof="1">
              <a:solidFill>
                <a:schemeClr val="bg1"/>
              </a:solidFill>
              <a:latin typeface="华文楷体" panose="02010600040101010101" pitchFamily="2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21532" y="3521397"/>
            <a:ext cx="7274633" cy="9469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微软雅黑" panose="020B0503020204020204" pitchFamily="34" charset="-122"/>
              </a:rPr>
              <a:t>以概率论为基础，收集观察样本数据，进行分析，推断和预测，为相关决策和发展提供依据和参考</a:t>
            </a:r>
          </a:p>
        </p:txBody>
      </p:sp>
      <p:sp>
        <p:nvSpPr>
          <p:cNvPr id="19" name="文本框 9"/>
          <p:cNvSpPr txBox="1"/>
          <p:nvPr/>
        </p:nvSpPr>
        <p:spPr>
          <a:xfrm flipH="1">
            <a:off x="2033231" y="2440520"/>
            <a:ext cx="66656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ko-KR" altLang="en-US" sz="1800" b="0" dirty="0">
                <a:solidFill>
                  <a:schemeClr val="bg1"/>
                </a:solidFill>
                <a:highlight>
                  <a:srgbClr val="000080"/>
                </a:highlight>
              </a:rPr>
              <a:t>个体</a:t>
            </a:r>
            <a:endParaRPr lang="zh-CN" altLang="en-US" sz="1800" b="0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5876" y="1265086"/>
            <a:ext cx="2016223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533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533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533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533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数理统计分析</a:t>
            </a:r>
            <a:r>
              <a:rPr lang="en-US" altLang="zh-CN" sz="2400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lang="zh-CN" altLang="en-US" sz="2400" b="1" noProof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00192" y="22874"/>
            <a:ext cx="1954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statistics</a:t>
            </a:r>
            <a:endParaRPr lang="zh-CN" altLang="en-US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1057724" y="-46895"/>
            <a:ext cx="4509867" cy="716100"/>
          </a:xfrm>
        </p:spPr>
        <p:txBody>
          <a:bodyPr/>
          <a:lstStyle/>
          <a:p>
            <a:pPr algn="l"/>
            <a:r>
              <a:rPr lang="en-US" altLang="zh-CN" sz="3200" kern="1200" dirty="0">
                <a:cs typeface="+mn-cs"/>
              </a:rPr>
              <a:t>§4.2-4.4 </a:t>
            </a:r>
            <a:r>
              <a:rPr lang="zh-CN" altLang="en-US" sz="3200" kern="1200" dirty="0">
                <a:cs typeface="+mn-cs"/>
              </a:rPr>
              <a:t>数据统计分析</a:t>
            </a:r>
          </a:p>
        </p:txBody>
      </p:sp>
      <p:sp>
        <p:nvSpPr>
          <p:cNvPr id="18" name="矩形 17"/>
          <p:cNvSpPr/>
          <p:nvPr/>
        </p:nvSpPr>
        <p:spPr>
          <a:xfrm>
            <a:off x="2188467" y="1276848"/>
            <a:ext cx="5767909" cy="4001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ko-KR" altLang="en-US" sz="2000" b="1" noProof="1">
                <a:solidFill>
                  <a:srgbClr val="0070C0"/>
                </a:solidFill>
                <a:latin typeface="华文楷体" panose="02010600040101010101" pitchFamily="2" charset="-122"/>
                <a:sym typeface="+mn-ea"/>
              </a:rPr>
              <a:t>是研究随机现象统计规律性的一门数学科学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6E4A86-DCB4-45DD-9DDA-CA3376A1EA3C}"/>
              </a:ext>
            </a:extLst>
          </p:cNvPr>
          <p:cNvSpPr txBox="1"/>
          <p:nvPr/>
        </p:nvSpPr>
        <p:spPr>
          <a:xfrm>
            <a:off x="417898" y="699542"/>
            <a:ext cx="8546589" cy="47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zh-CN" altLang="en-US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</a:rPr>
              <a:t>统计分析对大量数据进行分析，提取有用信息和形成结论</a:t>
            </a:r>
            <a:endParaRPr lang="en-US" altLang="zh-CN" sz="2000" b="1" dirty="0">
              <a:solidFill>
                <a:srgbClr val="0070C0"/>
              </a:solidFill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7" name="Group 3"/>
          <p:cNvGrpSpPr/>
          <p:nvPr/>
        </p:nvGrpSpPr>
        <p:grpSpPr bwMode="auto">
          <a:xfrm>
            <a:off x="264453" y="2298653"/>
            <a:ext cx="3110900" cy="2596896"/>
            <a:chOff x="858" y="2550"/>
            <a:chExt cx="1718" cy="1562"/>
          </a:xfrm>
        </p:grpSpPr>
        <p:grpSp>
          <p:nvGrpSpPr>
            <p:cNvPr id="33844" name="Group 4"/>
            <p:cNvGrpSpPr/>
            <p:nvPr/>
          </p:nvGrpSpPr>
          <p:grpSpPr bwMode="auto">
            <a:xfrm>
              <a:off x="1288" y="3137"/>
              <a:ext cx="1288" cy="975"/>
              <a:chOff x="3781" y="3275"/>
              <a:chExt cx="1201" cy="912"/>
            </a:xfrm>
          </p:grpSpPr>
          <p:sp>
            <p:nvSpPr>
              <p:cNvPr id="36869" name="Text Box 5"/>
              <p:cNvSpPr txBox="1">
                <a:spLocks noChangeArrowheads="1"/>
              </p:cNvSpPr>
              <p:nvPr/>
            </p:nvSpPr>
            <p:spPr bwMode="auto">
              <a:xfrm>
                <a:off x="3834" y="3503"/>
                <a:ext cx="243" cy="655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spcBef>
                    <a:spcPct val="50000"/>
                  </a:spcBef>
                  <a:defRPr sz="24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</a:lstStyle>
              <a:p>
                <a:r>
                  <a:rPr lang="zh-CN" altLang="en-US" dirty="0">
                    <a:sym typeface="+mn-ea"/>
                  </a:rPr>
                  <a:t>样本</a:t>
                </a:r>
              </a:p>
            </p:txBody>
          </p:sp>
          <p:grpSp>
            <p:nvGrpSpPr>
              <p:cNvPr id="33847" name="Group 6"/>
              <p:cNvGrpSpPr/>
              <p:nvPr/>
            </p:nvGrpSpPr>
            <p:grpSpPr bwMode="auto">
              <a:xfrm>
                <a:off x="3781" y="3275"/>
                <a:ext cx="1201" cy="912"/>
                <a:chOff x="2677" y="2171"/>
                <a:chExt cx="1635" cy="1200"/>
              </a:xfrm>
            </p:grpSpPr>
            <p:grpSp>
              <p:nvGrpSpPr>
                <p:cNvPr id="33848" name="Group 7"/>
                <p:cNvGrpSpPr/>
                <p:nvPr/>
              </p:nvGrpSpPr>
              <p:grpSpPr bwMode="auto">
                <a:xfrm>
                  <a:off x="3133" y="2281"/>
                  <a:ext cx="1050" cy="982"/>
                  <a:chOff x="3133" y="2281"/>
                  <a:chExt cx="1050" cy="982"/>
                </a:xfrm>
              </p:grpSpPr>
              <p:sp>
                <p:nvSpPr>
                  <p:cNvPr id="36872" name="Freeform 8"/>
                  <p:cNvSpPr/>
                  <p:nvPr/>
                </p:nvSpPr>
                <p:spPr bwMode="auto">
                  <a:xfrm>
                    <a:off x="4082" y="2929"/>
                    <a:ext cx="46" cy="174"/>
                  </a:xfrm>
                  <a:custGeom>
                    <a:avLst/>
                    <a:gdLst>
                      <a:gd name="T0" fmla="*/ 27 w 46"/>
                      <a:gd name="T1" fmla="*/ 2 h 173"/>
                      <a:gd name="T2" fmla="*/ 37 w 46"/>
                      <a:gd name="T3" fmla="*/ 0 h 173"/>
                      <a:gd name="T4" fmla="*/ 41 w 46"/>
                      <a:gd name="T5" fmla="*/ 4 h 173"/>
                      <a:gd name="T6" fmla="*/ 42 w 46"/>
                      <a:gd name="T7" fmla="*/ 2 h 173"/>
                      <a:gd name="T8" fmla="*/ 44 w 46"/>
                      <a:gd name="T9" fmla="*/ 11 h 173"/>
                      <a:gd name="T10" fmla="*/ 39 w 46"/>
                      <a:gd name="T11" fmla="*/ 14 h 173"/>
                      <a:gd name="T12" fmla="*/ 39 w 46"/>
                      <a:gd name="T13" fmla="*/ 19 h 173"/>
                      <a:gd name="T14" fmla="*/ 38 w 46"/>
                      <a:gd name="T15" fmla="*/ 19 h 173"/>
                      <a:gd name="T16" fmla="*/ 37 w 46"/>
                      <a:gd name="T17" fmla="*/ 24 h 173"/>
                      <a:gd name="T18" fmla="*/ 33 w 46"/>
                      <a:gd name="T19" fmla="*/ 24 h 173"/>
                      <a:gd name="T20" fmla="*/ 33 w 46"/>
                      <a:gd name="T21" fmla="*/ 26 h 173"/>
                      <a:gd name="T22" fmla="*/ 39 w 46"/>
                      <a:gd name="T23" fmla="*/ 31 h 173"/>
                      <a:gd name="T24" fmla="*/ 44 w 46"/>
                      <a:gd name="T25" fmla="*/ 55 h 173"/>
                      <a:gd name="T26" fmla="*/ 41 w 46"/>
                      <a:gd name="T27" fmla="*/ 62 h 173"/>
                      <a:gd name="T28" fmla="*/ 41 w 46"/>
                      <a:gd name="T29" fmla="*/ 107 h 173"/>
                      <a:gd name="T30" fmla="*/ 36 w 46"/>
                      <a:gd name="T31" fmla="*/ 109 h 173"/>
                      <a:gd name="T32" fmla="*/ 35 w 46"/>
                      <a:gd name="T33" fmla="*/ 117 h 173"/>
                      <a:gd name="T34" fmla="*/ 33 w 46"/>
                      <a:gd name="T35" fmla="*/ 136 h 173"/>
                      <a:gd name="T36" fmla="*/ 33 w 46"/>
                      <a:gd name="T37" fmla="*/ 146 h 173"/>
                      <a:gd name="T38" fmla="*/ 41 w 46"/>
                      <a:gd name="T39" fmla="*/ 153 h 173"/>
                      <a:gd name="T40" fmla="*/ 45 w 46"/>
                      <a:gd name="T41" fmla="*/ 156 h 173"/>
                      <a:gd name="T42" fmla="*/ 45 w 46"/>
                      <a:gd name="T43" fmla="*/ 158 h 173"/>
                      <a:gd name="T44" fmla="*/ 34 w 46"/>
                      <a:gd name="T45" fmla="*/ 155 h 173"/>
                      <a:gd name="T46" fmla="*/ 33 w 46"/>
                      <a:gd name="T47" fmla="*/ 153 h 173"/>
                      <a:gd name="T48" fmla="*/ 31 w 46"/>
                      <a:gd name="T49" fmla="*/ 155 h 173"/>
                      <a:gd name="T50" fmla="*/ 31 w 46"/>
                      <a:gd name="T51" fmla="*/ 155 h 173"/>
                      <a:gd name="T52" fmla="*/ 29 w 46"/>
                      <a:gd name="T53" fmla="*/ 147 h 173"/>
                      <a:gd name="T54" fmla="*/ 27 w 46"/>
                      <a:gd name="T55" fmla="*/ 115 h 173"/>
                      <a:gd name="T56" fmla="*/ 25 w 46"/>
                      <a:gd name="T57" fmla="*/ 115 h 173"/>
                      <a:gd name="T58" fmla="*/ 19 w 46"/>
                      <a:gd name="T59" fmla="*/ 143 h 173"/>
                      <a:gd name="T60" fmla="*/ 19 w 46"/>
                      <a:gd name="T61" fmla="*/ 161 h 173"/>
                      <a:gd name="T62" fmla="*/ 16 w 46"/>
                      <a:gd name="T63" fmla="*/ 171 h 173"/>
                      <a:gd name="T64" fmla="*/ 14 w 46"/>
                      <a:gd name="T65" fmla="*/ 172 h 173"/>
                      <a:gd name="T66" fmla="*/ 12 w 46"/>
                      <a:gd name="T67" fmla="*/ 168 h 173"/>
                      <a:gd name="T68" fmla="*/ 14 w 46"/>
                      <a:gd name="T69" fmla="*/ 163 h 173"/>
                      <a:gd name="T70" fmla="*/ 16 w 46"/>
                      <a:gd name="T71" fmla="*/ 151 h 173"/>
                      <a:gd name="T72" fmla="*/ 17 w 46"/>
                      <a:gd name="T73" fmla="*/ 110 h 173"/>
                      <a:gd name="T74" fmla="*/ 19 w 46"/>
                      <a:gd name="T75" fmla="*/ 70 h 173"/>
                      <a:gd name="T76" fmla="*/ 15 w 46"/>
                      <a:gd name="T77" fmla="*/ 66 h 173"/>
                      <a:gd name="T78" fmla="*/ 15 w 46"/>
                      <a:gd name="T79" fmla="*/ 60 h 173"/>
                      <a:gd name="T80" fmla="*/ 15 w 46"/>
                      <a:gd name="T81" fmla="*/ 49 h 173"/>
                      <a:gd name="T82" fmla="*/ 10 w 46"/>
                      <a:gd name="T83" fmla="*/ 52 h 173"/>
                      <a:gd name="T84" fmla="*/ 14 w 46"/>
                      <a:gd name="T85" fmla="*/ 58 h 173"/>
                      <a:gd name="T86" fmla="*/ 14 w 46"/>
                      <a:gd name="T87" fmla="*/ 65 h 173"/>
                      <a:gd name="T88" fmla="*/ 10 w 46"/>
                      <a:gd name="T89" fmla="*/ 61 h 173"/>
                      <a:gd name="T90" fmla="*/ 8 w 46"/>
                      <a:gd name="T91" fmla="*/ 57 h 173"/>
                      <a:gd name="T92" fmla="*/ 4 w 46"/>
                      <a:gd name="T93" fmla="*/ 58 h 173"/>
                      <a:gd name="T94" fmla="*/ 0 w 46"/>
                      <a:gd name="T95" fmla="*/ 52 h 173"/>
                      <a:gd name="T96" fmla="*/ 0 w 46"/>
                      <a:gd name="T97" fmla="*/ 49 h 173"/>
                      <a:gd name="T98" fmla="*/ 3 w 46"/>
                      <a:gd name="T99" fmla="*/ 48 h 173"/>
                      <a:gd name="T100" fmla="*/ 8 w 46"/>
                      <a:gd name="T101" fmla="*/ 40 h 173"/>
                      <a:gd name="T102" fmla="*/ 14 w 46"/>
                      <a:gd name="T103" fmla="*/ 34 h 173"/>
                      <a:gd name="T104" fmla="*/ 22 w 46"/>
                      <a:gd name="T105" fmla="*/ 26 h 173"/>
                      <a:gd name="T106" fmla="*/ 27 w 46"/>
                      <a:gd name="T107" fmla="*/ 24 h 173"/>
                      <a:gd name="T108" fmla="*/ 27 w 46"/>
                      <a:gd name="T109" fmla="*/ 18 h 173"/>
                      <a:gd name="T110" fmla="*/ 25 w 46"/>
                      <a:gd name="T111" fmla="*/ 15 h 173"/>
                      <a:gd name="T112" fmla="*/ 25 w 46"/>
                      <a:gd name="T113" fmla="*/ 9 h 173"/>
                      <a:gd name="T114" fmla="*/ 24 w 46"/>
                      <a:gd name="T115" fmla="*/ 7 h 173"/>
                      <a:gd name="T116" fmla="*/ 27 w 46"/>
                      <a:gd name="T117" fmla="*/ 2 h 1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46" h="173">
                        <a:moveTo>
                          <a:pt x="27" y="2"/>
                        </a:moveTo>
                        <a:lnTo>
                          <a:pt x="37" y="0"/>
                        </a:lnTo>
                        <a:lnTo>
                          <a:pt x="41" y="4"/>
                        </a:lnTo>
                        <a:lnTo>
                          <a:pt x="42" y="2"/>
                        </a:lnTo>
                        <a:lnTo>
                          <a:pt x="44" y="11"/>
                        </a:lnTo>
                        <a:lnTo>
                          <a:pt x="39" y="14"/>
                        </a:lnTo>
                        <a:lnTo>
                          <a:pt x="39" y="19"/>
                        </a:lnTo>
                        <a:lnTo>
                          <a:pt x="38" y="19"/>
                        </a:lnTo>
                        <a:lnTo>
                          <a:pt x="37" y="24"/>
                        </a:lnTo>
                        <a:lnTo>
                          <a:pt x="33" y="24"/>
                        </a:lnTo>
                        <a:lnTo>
                          <a:pt x="33" y="26"/>
                        </a:lnTo>
                        <a:lnTo>
                          <a:pt x="39" y="31"/>
                        </a:lnTo>
                        <a:lnTo>
                          <a:pt x="44" y="55"/>
                        </a:lnTo>
                        <a:lnTo>
                          <a:pt x="41" y="62"/>
                        </a:lnTo>
                        <a:lnTo>
                          <a:pt x="41" y="107"/>
                        </a:lnTo>
                        <a:lnTo>
                          <a:pt x="36" y="109"/>
                        </a:lnTo>
                        <a:lnTo>
                          <a:pt x="35" y="117"/>
                        </a:lnTo>
                        <a:lnTo>
                          <a:pt x="33" y="136"/>
                        </a:lnTo>
                        <a:lnTo>
                          <a:pt x="33" y="146"/>
                        </a:lnTo>
                        <a:lnTo>
                          <a:pt x="41" y="153"/>
                        </a:lnTo>
                        <a:lnTo>
                          <a:pt x="45" y="156"/>
                        </a:lnTo>
                        <a:lnTo>
                          <a:pt x="45" y="158"/>
                        </a:lnTo>
                        <a:lnTo>
                          <a:pt x="34" y="155"/>
                        </a:lnTo>
                        <a:lnTo>
                          <a:pt x="33" y="153"/>
                        </a:lnTo>
                        <a:lnTo>
                          <a:pt x="31" y="155"/>
                        </a:lnTo>
                        <a:lnTo>
                          <a:pt x="31" y="155"/>
                        </a:lnTo>
                        <a:lnTo>
                          <a:pt x="29" y="147"/>
                        </a:lnTo>
                        <a:lnTo>
                          <a:pt x="27" y="115"/>
                        </a:lnTo>
                        <a:lnTo>
                          <a:pt x="25" y="115"/>
                        </a:lnTo>
                        <a:lnTo>
                          <a:pt x="19" y="143"/>
                        </a:lnTo>
                        <a:lnTo>
                          <a:pt x="19" y="161"/>
                        </a:lnTo>
                        <a:lnTo>
                          <a:pt x="16" y="171"/>
                        </a:lnTo>
                        <a:lnTo>
                          <a:pt x="14" y="172"/>
                        </a:lnTo>
                        <a:lnTo>
                          <a:pt x="12" y="168"/>
                        </a:lnTo>
                        <a:lnTo>
                          <a:pt x="14" y="163"/>
                        </a:lnTo>
                        <a:lnTo>
                          <a:pt x="16" y="151"/>
                        </a:lnTo>
                        <a:lnTo>
                          <a:pt x="17" y="110"/>
                        </a:lnTo>
                        <a:lnTo>
                          <a:pt x="19" y="70"/>
                        </a:lnTo>
                        <a:lnTo>
                          <a:pt x="15" y="66"/>
                        </a:lnTo>
                        <a:lnTo>
                          <a:pt x="15" y="60"/>
                        </a:lnTo>
                        <a:lnTo>
                          <a:pt x="15" y="49"/>
                        </a:lnTo>
                        <a:lnTo>
                          <a:pt x="10" y="52"/>
                        </a:lnTo>
                        <a:lnTo>
                          <a:pt x="14" y="58"/>
                        </a:lnTo>
                        <a:lnTo>
                          <a:pt x="14" y="65"/>
                        </a:lnTo>
                        <a:lnTo>
                          <a:pt x="10" y="61"/>
                        </a:lnTo>
                        <a:lnTo>
                          <a:pt x="8" y="57"/>
                        </a:lnTo>
                        <a:lnTo>
                          <a:pt x="4" y="58"/>
                        </a:lnTo>
                        <a:lnTo>
                          <a:pt x="0" y="52"/>
                        </a:lnTo>
                        <a:lnTo>
                          <a:pt x="0" y="49"/>
                        </a:lnTo>
                        <a:lnTo>
                          <a:pt x="3" y="48"/>
                        </a:lnTo>
                        <a:lnTo>
                          <a:pt x="8" y="40"/>
                        </a:lnTo>
                        <a:lnTo>
                          <a:pt x="14" y="34"/>
                        </a:lnTo>
                        <a:lnTo>
                          <a:pt x="22" y="26"/>
                        </a:lnTo>
                        <a:lnTo>
                          <a:pt x="27" y="24"/>
                        </a:lnTo>
                        <a:lnTo>
                          <a:pt x="27" y="18"/>
                        </a:lnTo>
                        <a:lnTo>
                          <a:pt x="25" y="15"/>
                        </a:lnTo>
                        <a:lnTo>
                          <a:pt x="25" y="9"/>
                        </a:lnTo>
                        <a:lnTo>
                          <a:pt x="24" y="7"/>
                        </a:lnTo>
                        <a:lnTo>
                          <a:pt x="27" y="2"/>
                        </a:lnTo>
                      </a:path>
                    </a:pathLst>
                  </a:custGeom>
                  <a:solidFill>
                    <a:schemeClr val="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73" name="Freeform 9"/>
                  <p:cNvSpPr/>
                  <p:nvPr/>
                </p:nvSpPr>
                <p:spPr bwMode="auto">
                  <a:xfrm>
                    <a:off x="4145" y="2673"/>
                    <a:ext cx="38" cy="217"/>
                  </a:xfrm>
                  <a:custGeom>
                    <a:avLst/>
                    <a:gdLst>
                      <a:gd name="T0" fmla="*/ 25 w 38"/>
                      <a:gd name="T1" fmla="*/ 2 h 212"/>
                      <a:gd name="T2" fmla="*/ 16 w 38"/>
                      <a:gd name="T3" fmla="*/ 0 h 212"/>
                      <a:gd name="T4" fmla="*/ 8 w 38"/>
                      <a:gd name="T5" fmla="*/ 0 h 212"/>
                      <a:gd name="T6" fmla="*/ 2 w 38"/>
                      <a:gd name="T7" fmla="*/ 1 h 212"/>
                      <a:gd name="T8" fmla="*/ 1 w 38"/>
                      <a:gd name="T9" fmla="*/ 9 h 212"/>
                      <a:gd name="T10" fmla="*/ 1 w 38"/>
                      <a:gd name="T11" fmla="*/ 15 h 212"/>
                      <a:gd name="T12" fmla="*/ 4 w 38"/>
                      <a:gd name="T13" fmla="*/ 22 h 212"/>
                      <a:gd name="T14" fmla="*/ 7 w 38"/>
                      <a:gd name="T15" fmla="*/ 22 h 212"/>
                      <a:gd name="T16" fmla="*/ 2 w 38"/>
                      <a:gd name="T17" fmla="*/ 31 h 212"/>
                      <a:gd name="T18" fmla="*/ 0 w 38"/>
                      <a:gd name="T19" fmla="*/ 44 h 212"/>
                      <a:gd name="T20" fmla="*/ 0 w 38"/>
                      <a:gd name="T21" fmla="*/ 57 h 212"/>
                      <a:gd name="T22" fmla="*/ 1 w 38"/>
                      <a:gd name="T23" fmla="*/ 72 h 212"/>
                      <a:gd name="T24" fmla="*/ 2 w 38"/>
                      <a:gd name="T25" fmla="*/ 88 h 212"/>
                      <a:gd name="T26" fmla="*/ 7 w 38"/>
                      <a:gd name="T27" fmla="*/ 88 h 212"/>
                      <a:gd name="T28" fmla="*/ 7 w 38"/>
                      <a:gd name="T29" fmla="*/ 92 h 212"/>
                      <a:gd name="T30" fmla="*/ 10 w 38"/>
                      <a:gd name="T31" fmla="*/ 94 h 212"/>
                      <a:gd name="T32" fmla="*/ 10 w 38"/>
                      <a:gd name="T33" fmla="*/ 110 h 212"/>
                      <a:gd name="T34" fmla="*/ 12 w 38"/>
                      <a:gd name="T35" fmla="*/ 114 h 212"/>
                      <a:gd name="T36" fmla="*/ 12 w 38"/>
                      <a:gd name="T37" fmla="*/ 142 h 212"/>
                      <a:gd name="T38" fmla="*/ 12 w 38"/>
                      <a:gd name="T39" fmla="*/ 160 h 212"/>
                      <a:gd name="T40" fmla="*/ 8 w 38"/>
                      <a:gd name="T41" fmla="*/ 180 h 212"/>
                      <a:gd name="T42" fmla="*/ 7 w 38"/>
                      <a:gd name="T43" fmla="*/ 206 h 212"/>
                      <a:gd name="T44" fmla="*/ 11 w 38"/>
                      <a:gd name="T45" fmla="*/ 208 h 212"/>
                      <a:gd name="T46" fmla="*/ 11 w 38"/>
                      <a:gd name="T47" fmla="*/ 211 h 212"/>
                      <a:gd name="T48" fmla="*/ 17 w 38"/>
                      <a:gd name="T49" fmla="*/ 211 h 212"/>
                      <a:gd name="T50" fmla="*/ 18 w 38"/>
                      <a:gd name="T51" fmla="*/ 210 h 212"/>
                      <a:gd name="T52" fmla="*/ 21 w 38"/>
                      <a:gd name="T53" fmla="*/ 210 h 212"/>
                      <a:gd name="T54" fmla="*/ 21 w 38"/>
                      <a:gd name="T55" fmla="*/ 211 h 212"/>
                      <a:gd name="T56" fmla="*/ 25 w 38"/>
                      <a:gd name="T57" fmla="*/ 211 h 212"/>
                      <a:gd name="T58" fmla="*/ 35 w 38"/>
                      <a:gd name="T59" fmla="*/ 210 h 212"/>
                      <a:gd name="T60" fmla="*/ 35 w 38"/>
                      <a:gd name="T61" fmla="*/ 208 h 212"/>
                      <a:gd name="T62" fmla="*/ 27 w 38"/>
                      <a:gd name="T63" fmla="*/ 204 h 212"/>
                      <a:gd name="T64" fmla="*/ 27 w 38"/>
                      <a:gd name="T65" fmla="*/ 200 h 212"/>
                      <a:gd name="T66" fmla="*/ 35 w 38"/>
                      <a:gd name="T67" fmla="*/ 198 h 212"/>
                      <a:gd name="T68" fmla="*/ 35 w 38"/>
                      <a:gd name="T69" fmla="*/ 196 h 212"/>
                      <a:gd name="T70" fmla="*/ 29 w 38"/>
                      <a:gd name="T71" fmla="*/ 192 h 212"/>
                      <a:gd name="T72" fmla="*/ 29 w 38"/>
                      <a:gd name="T73" fmla="*/ 163 h 212"/>
                      <a:gd name="T74" fmla="*/ 30 w 38"/>
                      <a:gd name="T75" fmla="*/ 137 h 212"/>
                      <a:gd name="T76" fmla="*/ 30 w 38"/>
                      <a:gd name="T77" fmla="*/ 110 h 212"/>
                      <a:gd name="T78" fmla="*/ 30 w 38"/>
                      <a:gd name="T79" fmla="*/ 94 h 212"/>
                      <a:gd name="T80" fmla="*/ 30 w 38"/>
                      <a:gd name="T81" fmla="*/ 91 h 212"/>
                      <a:gd name="T82" fmla="*/ 30 w 38"/>
                      <a:gd name="T83" fmla="*/ 69 h 212"/>
                      <a:gd name="T84" fmla="*/ 37 w 38"/>
                      <a:gd name="T85" fmla="*/ 65 h 212"/>
                      <a:gd name="T86" fmla="*/ 37 w 38"/>
                      <a:gd name="T87" fmla="*/ 62 h 212"/>
                      <a:gd name="T88" fmla="*/ 23 w 38"/>
                      <a:gd name="T89" fmla="*/ 34 h 212"/>
                      <a:gd name="T90" fmla="*/ 16 w 38"/>
                      <a:gd name="T91" fmla="*/ 30 h 212"/>
                      <a:gd name="T92" fmla="*/ 17 w 38"/>
                      <a:gd name="T93" fmla="*/ 28 h 212"/>
                      <a:gd name="T94" fmla="*/ 22 w 38"/>
                      <a:gd name="T95" fmla="*/ 26 h 212"/>
                      <a:gd name="T96" fmla="*/ 22 w 38"/>
                      <a:gd name="T97" fmla="*/ 25 h 212"/>
                      <a:gd name="T98" fmla="*/ 23 w 38"/>
                      <a:gd name="T99" fmla="*/ 24 h 212"/>
                      <a:gd name="T100" fmla="*/ 23 w 38"/>
                      <a:gd name="T101" fmla="*/ 22 h 212"/>
                      <a:gd name="T102" fmla="*/ 25 w 38"/>
                      <a:gd name="T103" fmla="*/ 21 h 212"/>
                      <a:gd name="T104" fmla="*/ 23 w 38"/>
                      <a:gd name="T105" fmla="*/ 20 h 212"/>
                      <a:gd name="T106" fmla="*/ 24 w 38"/>
                      <a:gd name="T107" fmla="*/ 19 h 212"/>
                      <a:gd name="T108" fmla="*/ 22 w 38"/>
                      <a:gd name="T109" fmla="*/ 15 h 212"/>
                      <a:gd name="T110" fmla="*/ 23 w 38"/>
                      <a:gd name="T111" fmla="*/ 12 h 212"/>
                      <a:gd name="T112" fmla="*/ 22 w 38"/>
                      <a:gd name="T113" fmla="*/ 9 h 212"/>
                      <a:gd name="T114" fmla="*/ 24 w 38"/>
                      <a:gd name="T115" fmla="*/ 7 h 212"/>
                      <a:gd name="T116" fmla="*/ 25 w 38"/>
                      <a:gd name="T117" fmla="*/ 2 h 2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38" h="212">
                        <a:moveTo>
                          <a:pt x="25" y="2"/>
                        </a:moveTo>
                        <a:lnTo>
                          <a:pt x="16" y="0"/>
                        </a:lnTo>
                        <a:lnTo>
                          <a:pt x="8" y="0"/>
                        </a:lnTo>
                        <a:lnTo>
                          <a:pt x="2" y="1"/>
                        </a:lnTo>
                        <a:lnTo>
                          <a:pt x="1" y="9"/>
                        </a:lnTo>
                        <a:lnTo>
                          <a:pt x="1" y="15"/>
                        </a:lnTo>
                        <a:lnTo>
                          <a:pt x="4" y="22"/>
                        </a:lnTo>
                        <a:lnTo>
                          <a:pt x="7" y="22"/>
                        </a:lnTo>
                        <a:lnTo>
                          <a:pt x="2" y="31"/>
                        </a:lnTo>
                        <a:lnTo>
                          <a:pt x="0" y="44"/>
                        </a:lnTo>
                        <a:lnTo>
                          <a:pt x="0" y="57"/>
                        </a:lnTo>
                        <a:lnTo>
                          <a:pt x="1" y="72"/>
                        </a:lnTo>
                        <a:lnTo>
                          <a:pt x="2" y="88"/>
                        </a:lnTo>
                        <a:lnTo>
                          <a:pt x="7" y="88"/>
                        </a:lnTo>
                        <a:lnTo>
                          <a:pt x="7" y="92"/>
                        </a:lnTo>
                        <a:lnTo>
                          <a:pt x="10" y="94"/>
                        </a:lnTo>
                        <a:lnTo>
                          <a:pt x="10" y="110"/>
                        </a:lnTo>
                        <a:lnTo>
                          <a:pt x="12" y="114"/>
                        </a:lnTo>
                        <a:lnTo>
                          <a:pt x="12" y="142"/>
                        </a:lnTo>
                        <a:lnTo>
                          <a:pt x="12" y="160"/>
                        </a:lnTo>
                        <a:lnTo>
                          <a:pt x="8" y="180"/>
                        </a:lnTo>
                        <a:lnTo>
                          <a:pt x="7" y="206"/>
                        </a:lnTo>
                        <a:lnTo>
                          <a:pt x="11" y="208"/>
                        </a:lnTo>
                        <a:lnTo>
                          <a:pt x="11" y="211"/>
                        </a:lnTo>
                        <a:lnTo>
                          <a:pt x="17" y="211"/>
                        </a:lnTo>
                        <a:lnTo>
                          <a:pt x="18" y="210"/>
                        </a:lnTo>
                        <a:lnTo>
                          <a:pt x="21" y="210"/>
                        </a:lnTo>
                        <a:lnTo>
                          <a:pt x="21" y="211"/>
                        </a:lnTo>
                        <a:lnTo>
                          <a:pt x="25" y="211"/>
                        </a:lnTo>
                        <a:lnTo>
                          <a:pt x="35" y="210"/>
                        </a:lnTo>
                        <a:lnTo>
                          <a:pt x="35" y="208"/>
                        </a:lnTo>
                        <a:lnTo>
                          <a:pt x="27" y="204"/>
                        </a:lnTo>
                        <a:lnTo>
                          <a:pt x="27" y="200"/>
                        </a:lnTo>
                        <a:lnTo>
                          <a:pt x="35" y="198"/>
                        </a:lnTo>
                        <a:lnTo>
                          <a:pt x="35" y="196"/>
                        </a:lnTo>
                        <a:lnTo>
                          <a:pt x="29" y="192"/>
                        </a:lnTo>
                        <a:lnTo>
                          <a:pt x="29" y="163"/>
                        </a:lnTo>
                        <a:lnTo>
                          <a:pt x="30" y="137"/>
                        </a:lnTo>
                        <a:lnTo>
                          <a:pt x="30" y="110"/>
                        </a:lnTo>
                        <a:lnTo>
                          <a:pt x="30" y="94"/>
                        </a:lnTo>
                        <a:lnTo>
                          <a:pt x="30" y="91"/>
                        </a:lnTo>
                        <a:lnTo>
                          <a:pt x="30" y="69"/>
                        </a:lnTo>
                        <a:lnTo>
                          <a:pt x="37" y="65"/>
                        </a:lnTo>
                        <a:lnTo>
                          <a:pt x="37" y="62"/>
                        </a:lnTo>
                        <a:lnTo>
                          <a:pt x="23" y="34"/>
                        </a:lnTo>
                        <a:lnTo>
                          <a:pt x="16" y="30"/>
                        </a:lnTo>
                        <a:lnTo>
                          <a:pt x="17" y="28"/>
                        </a:lnTo>
                        <a:lnTo>
                          <a:pt x="22" y="26"/>
                        </a:lnTo>
                        <a:lnTo>
                          <a:pt x="22" y="25"/>
                        </a:lnTo>
                        <a:lnTo>
                          <a:pt x="23" y="24"/>
                        </a:lnTo>
                        <a:lnTo>
                          <a:pt x="23" y="22"/>
                        </a:lnTo>
                        <a:lnTo>
                          <a:pt x="25" y="21"/>
                        </a:lnTo>
                        <a:lnTo>
                          <a:pt x="23" y="20"/>
                        </a:lnTo>
                        <a:lnTo>
                          <a:pt x="24" y="19"/>
                        </a:lnTo>
                        <a:lnTo>
                          <a:pt x="22" y="15"/>
                        </a:lnTo>
                        <a:lnTo>
                          <a:pt x="23" y="12"/>
                        </a:lnTo>
                        <a:lnTo>
                          <a:pt x="22" y="9"/>
                        </a:lnTo>
                        <a:lnTo>
                          <a:pt x="24" y="7"/>
                        </a:lnTo>
                        <a:lnTo>
                          <a:pt x="25" y="2"/>
                        </a:lnTo>
                      </a:path>
                    </a:pathLst>
                  </a:custGeom>
                  <a:solidFill>
                    <a:schemeClr val="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grpSp>
                <p:nvGrpSpPr>
                  <p:cNvPr id="33852" name="Group 10"/>
                  <p:cNvGrpSpPr/>
                  <p:nvPr/>
                </p:nvGrpSpPr>
                <p:grpSpPr bwMode="auto">
                  <a:xfrm>
                    <a:off x="3760" y="2404"/>
                    <a:ext cx="124" cy="859"/>
                    <a:chOff x="3760" y="2404"/>
                    <a:chExt cx="124" cy="859"/>
                  </a:xfrm>
                </p:grpSpPr>
                <p:sp>
                  <p:nvSpPr>
                    <p:cNvPr id="36875" name="Freeform 11"/>
                    <p:cNvSpPr/>
                    <p:nvPr/>
                  </p:nvSpPr>
                  <p:spPr bwMode="auto">
                    <a:xfrm>
                      <a:off x="3807" y="2404"/>
                      <a:ext cx="77" cy="270"/>
                    </a:xfrm>
                    <a:custGeom>
                      <a:avLst/>
                      <a:gdLst>
                        <a:gd name="T0" fmla="*/ 30 w 77"/>
                        <a:gd name="T1" fmla="*/ 3 h 275"/>
                        <a:gd name="T2" fmla="*/ 14 w 77"/>
                        <a:gd name="T3" fmla="*/ 0 h 275"/>
                        <a:gd name="T4" fmla="*/ 9 w 77"/>
                        <a:gd name="T5" fmla="*/ 7 h 275"/>
                        <a:gd name="T6" fmla="*/ 6 w 77"/>
                        <a:gd name="T7" fmla="*/ 4 h 275"/>
                        <a:gd name="T8" fmla="*/ 2 w 77"/>
                        <a:gd name="T9" fmla="*/ 16 h 275"/>
                        <a:gd name="T10" fmla="*/ 10 w 77"/>
                        <a:gd name="T11" fmla="*/ 24 h 275"/>
                        <a:gd name="T12" fmla="*/ 11 w 77"/>
                        <a:gd name="T13" fmla="*/ 30 h 275"/>
                        <a:gd name="T14" fmla="*/ 13 w 77"/>
                        <a:gd name="T15" fmla="*/ 31 h 275"/>
                        <a:gd name="T16" fmla="*/ 14 w 77"/>
                        <a:gd name="T17" fmla="*/ 37 h 275"/>
                        <a:gd name="T18" fmla="*/ 21 w 77"/>
                        <a:gd name="T19" fmla="*/ 38 h 275"/>
                        <a:gd name="T20" fmla="*/ 21 w 77"/>
                        <a:gd name="T21" fmla="*/ 40 h 275"/>
                        <a:gd name="T22" fmla="*/ 10 w 77"/>
                        <a:gd name="T23" fmla="*/ 49 h 275"/>
                        <a:gd name="T24" fmla="*/ 2 w 77"/>
                        <a:gd name="T25" fmla="*/ 88 h 275"/>
                        <a:gd name="T26" fmla="*/ 9 w 77"/>
                        <a:gd name="T27" fmla="*/ 98 h 275"/>
                        <a:gd name="T28" fmla="*/ 9 w 77"/>
                        <a:gd name="T29" fmla="*/ 171 h 275"/>
                        <a:gd name="T30" fmla="*/ 16 w 77"/>
                        <a:gd name="T31" fmla="*/ 173 h 275"/>
                        <a:gd name="T32" fmla="*/ 18 w 77"/>
                        <a:gd name="T33" fmla="*/ 185 h 275"/>
                        <a:gd name="T34" fmla="*/ 22 w 77"/>
                        <a:gd name="T35" fmla="*/ 216 h 275"/>
                        <a:gd name="T36" fmla="*/ 22 w 77"/>
                        <a:gd name="T37" fmla="*/ 232 h 275"/>
                        <a:gd name="T38" fmla="*/ 9 w 77"/>
                        <a:gd name="T39" fmla="*/ 242 h 275"/>
                        <a:gd name="T40" fmla="*/ 0 w 77"/>
                        <a:gd name="T41" fmla="*/ 247 h 275"/>
                        <a:gd name="T42" fmla="*/ 0 w 77"/>
                        <a:gd name="T43" fmla="*/ 251 h 275"/>
                        <a:gd name="T44" fmla="*/ 19 w 77"/>
                        <a:gd name="T45" fmla="*/ 246 h 275"/>
                        <a:gd name="T46" fmla="*/ 22 w 77"/>
                        <a:gd name="T47" fmla="*/ 242 h 275"/>
                        <a:gd name="T48" fmla="*/ 24 w 77"/>
                        <a:gd name="T49" fmla="*/ 246 h 275"/>
                        <a:gd name="T50" fmla="*/ 25 w 77"/>
                        <a:gd name="T51" fmla="*/ 246 h 275"/>
                        <a:gd name="T52" fmla="*/ 28 w 77"/>
                        <a:gd name="T53" fmla="*/ 234 h 275"/>
                        <a:gd name="T54" fmla="*/ 30 w 77"/>
                        <a:gd name="T55" fmla="*/ 182 h 275"/>
                        <a:gd name="T56" fmla="*/ 33 w 77"/>
                        <a:gd name="T57" fmla="*/ 182 h 275"/>
                        <a:gd name="T58" fmla="*/ 44 w 77"/>
                        <a:gd name="T59" fmla="*/ 228 h 275"/>
                        <a:gd name="T60" fmla="*/ 44 w 77"/>
                        <a:gd name="T61" fmla="*/ 257 h 275"/>
                        <a:gd name="T62" fmla="*/ 49 w 77"/>
                        <a:gd name="T63" fmla="*/ 271 h 275"/>
                        <a:gd name="T64" fmla="*/ 53 w 77"/>
                        <a:gd name="T65" fmla="*/ 274 h 275"/>
                        <a:gd name="T66" fmla="*/ 55 w 77"/>
                        <a:gd name="T67" fmla="*/ 266 h 275"/>
                        <a:gd name="T68" fmla="*/ 52 w 77"/>
                        <a:gd name="T69" fmla="*/ 258 h 275"/>
                        <a:gd name="T70" fmla="*/ 49 w 77"/>
                        <a:gd name="T71" fmla="*/ 240 h 275"/>
                        <a:gd name="T72" fmla="*/ 48 w 77"/>
                        <a:gd name="T73" fmla="*/ 175 h 275"/>
                        <a:gd name="T74" fmla="*/ 45 w 77"/>
                        <a:gd name="T75" fmla="*/ 110 h 275"/>
                        <a:gd name="T76" fmla="*/ 52 w 77"/>
                        <a:gd name="T77" fmla="*/ 105 h 275"/>
                        <a:gd name="T78" fmla="*/ 52 w 77"/>
                        <a:gd name="T79" fmla="*/ 95 h 275"/>
                        <a:gd name="T80" fmla="*/ 52 w 77"/>
                        <a:gd name="T81" fmla="*/ 78 h 275"/>
                        <a:gd name="T82" fmla="*/ 60 w 77"/>
                        <a:gd name="T83" fmla="*/ 83 h 275"/>
                        <a:gd name="T84" fmla="*/ 52 w 77"/>
                        <a:gd name="T85" fmla="*/ 93 h 275"/>
                        <a:gd name="T86" fmla="*/ 52 w 77"/>
                        <a:gd name="T87" fmla="*/ 103 h 275"/>
                        <a:gd name="T88" fmla="*/ 60 w 77"/>
                        <a:gd name="T89" fmla="*/ 97 h 275"/>
                        <a:gd name="T90" fmla="*/ 64 w 77"/>
                        <a:gd name="T91" fmla="*/ 90 h 275"/>
                        <a:gd name="T92" fmla="*/ 68 w 77"/>
                        <a:gd name="T93" fmla="*/ 92 h 275"/>
                        <a:gd name="T94" fmla="*/ 76 w 77"/>
                        <a:gd name="T95" fmla="*/ 81 h 275"/>
                        <a:gd name="T96" fmla="*/ 76 w 77"/>
                        <a:gd name="T97" fmla="*/ 78 h 275"/>
                        <a:gd name="T98" fmla="*/ 72 w 77"/>
                        <a:gd name="T99" fmla="*/ 76 h 275"/>
                        <a:gd name="T100" fmla="*/ 62 w 77"/>
                        <a:gd name="T101" fmla="*/ 64 h 275"/>
                        <a:gd name="T102" fmla="*/ 52 w 77"/>
                        <a:gd name="T103" fmla="*/ 53 h 275"/>
                        <a:gd name="T104" fmla="*/ 39 w 77"/>
                        <a:gd name="T105" fmla="*/ 41 h 275"/>
                        <a:gd name="T106" fmla="*/ 30 w 77"/>
                        <a:gd name="T107" fmla="*/ 37 h 275"/>
                        <a:gd name="T108" fmla="*/ 30 w 77"/>
                        <a:gd name="T109" fmla="*/ 29 h 275"/>
                        <a:gd name="T110" fmla="*/ 33 w 77"/>
                        <a:gd name="T111" fmla="*/ 24 h 275"/>
                        <a:gd name="T112" fmla="*/ 33 w 77"/>
                        <a:gd name="T113" fmla="*/ 14 h 275"/>
                        <a:gd name="T114" fmla="*/ 36 w 77"/>
                        <a:gd name="T115" fmla="*/ 11 h 275"/>
                        <a:gd name="T116" fmla="*/ 30 w 77"/>
                        <a:gd name="T117" fmla="*/ 3 h 2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</a:cxnLst>
                      <a:rect l="0" t="0" r="r" b="b"/>
                      <a:pathLst>
                        <a:path w="77" h="275">
                          <a:moveTo>
                            <a:pt x="30" y="3"/>
                          </a:moveTo>
                          <a:lnTo>
                            <a:pt x="14" y="0"/>
                          </a:lnTo>
                          <a:lnTo>
                            <a:pt x="9" y="7"/>
                          </a:lnTo>
                          <a:lnTo>
                            <a:pt x="6" y="4"/>
                          </a:lnTo>
                          <a:lnTo>
                            <a:pt x="2" y="16"/>
                          </a:lnTo>
                          <a:lnTo>
                            <a:pt x="10" y="24"/>
                          </a:lnTo>
                          <a:lnTo>
                            <a:pt x="11" y="30"/>
                          </a:lnTo>
                          <a:lnTo>
                            <a:pt x="13" y="31"/>
                          </a:lnTo>
                          <a:lnTo>
                            <a:pt x="14" y="37"/>
                          </a:lnTo>
                          <a:lnTo>
                            <a:pt x="21" y="38"/>
                          </a:lnTo>
                          <a:lnTo>
                            <a:pt x="21" y="40"/>
                          </a:lnTo>
                          <a:lnTo>
                            <a:pt x="10" y="49"/>
                          </a:lnTo>
                          <a:lnTo>
                            <a:pt x="2" y="88"/>
                          </a:lnTo>
                          <a:lnTo>
                            <a:pt x="9" y="98"/>
                          </a:lnTo>
                          <a:lnTo>
                            <a:pt x="9" y="171"/>
                          </a:lnTo>
                          <a:lnTo>
                            <a:pt x="16" y="173"/>
                          </a:lnTo>
                          <a:lnTo>
                            <a:pt x="18" y="185"/>
                          </a:lnTo>
                          <a:lnTo>
                            <a:pt x="22" y="216"/>
                          </a:lnTo>
                          <a:lnTo>
                            <a:pt x="22" y="232"/>
                          </a:lnTo>
                          <a:lnTo>
                            <a:pt x="9" y="242"/>
                          </a:lnTo>
                          <a:lnTo>
                            <a:pt x="0" y="247"/>
                          </a:lnTo>
                          <a:lnTo>
                            <a:pt x="0" y="251"/>
                          </a:lnTo>
                          <a:lnTo>
                            <a:pt x="19" y="246"/>
                          </a:lnTo>
                          <a:lnTo>
                            <a:pt x="22" y="242"/>
                          </a:lnTo>
                          <a:lnTo>
                            <a:pt x="24" y="246"/>
                          </a:lnTo>
                          <a:lnTo>
                            <a:pt x="25" y="246"/>
                          </a:lnTo>
                          <a:lnTo>
                            <a:pt x="28" y="234"/>
                          </a:lnTo>
                          <a:lnTo>
                            <a:pt x="30" y="182"/>
                          </a:lnTo>
                          <a:lnTo>
                            <a:pt x="33" y="182"/>
                          </a:lnTo>
                          <a:lnTo>
                            <a:pt x="44" y="228"/>
                          </a:lnTo>
                          <a:lnTo>
                            <a:pt x="44" y="257"/>
                          </a:lnTo>
                          <a:lnTo>
                            <a:pt x="49" y="271"/>
                          </a:lnTo>
                          <a:lnTo>
                            <a:pt x="53" y="274"/>
                          </a:lnTo>
                          <a:lnTo>
                            <a:pt x="55" y="266"/>
                          </a:lnTo>
                          <a:lnTo>
                            <a:pt x="52" y="258"/>
                          </a:lnTo>
                          <a:lnTo>
                            <a:pt x="49" y="240"/>
                          </a:lnTo>
                          <a:lnTo>
                            <a:pt x="48" y="175"/>
                          </a:lnTo>
                          <a:lnTo>
                            <a:pt x="45" y="110"/>
                          </a:lnTo>
                          <a:lnTo>
                            <a:pt x="52" y="105"/>
                          </a:lnTo>
                          <a:lnTo>
                            <a:pt x="52" y="95"/>
                          </a:lnTo>
                          <a:lnTo>
                            <a:pt x="52" y="78"/>
                          </a:lnTo>
                          <a:lnTo>
                            <a:pt x="60" y="83"/>
                          </a:lnTo>
                          <a:lnTo>
                            <a:pt x="52" y="93"/>
                          </a:lnTo>
                          <a:lnTo>
                            <a:pt x="52" y="103"/>
                          </a:lnTo>
                          <a:lnTo>
                            <a:pt x="60" y="97"/>
                          </a:lnTo>
                          <a:lnTo>
                            <a:pt x="64" y="90"/>
                          </a:lnTo>
                          <a:lnTo>
                            <a:pt x="68" y="92"/>
                          </a:lnTo>
                          <a:lnTo>
                            <a:pt x="76" y="81"/>
                          </a:lnTo>
                          <a:lnTo>
                            <a:pt x="76" y="78"/>
                          </a:lnTo>
                          <a:lnTo>
                            <a:pt x="72" y="76"/>
                          </a:lnTo>
                          <a:lnTo>
                            <a:pt x="62" y="64"/>
                          </a:lnTo>
                          <a:lnTo>
                            <a:pt x="52" y="53"/>
                          </a:lnTo>
                          <a:lnTo>
                            <a:pt x="39" y="41"/>
                          </a:lnTo>
                          <a:lnTo>
                            <a:pt x="30" y="37"/>
                          </a:lnTo>
                          <a:lnTo>
                            <a:pt x="30" y="29"/>
                          </a:lnTo>
                          <a:lnTo>
                            <a:pt x="33" y="24"/>
                          </a:lnTo>
                          <a:lnTo>
                            <a:pt x="33" y="14"/>
                          </a:lnTo>
                          <a:lnTo>
                            <a:pt x="36" y="11"/>
                          </a:lnTo>
                          <a:lnTo>
                            <a:pt x="30" y="3"/>
                          </a:lnTo>
                        </a:path>
                      </a:pathLst>
                    </a:custGeom>
                    <a:solidFill>
                      <a:schemeClr val="hlink"/>
                    </a:solidFill>
                    <a:ln>
                      <a:noFill/>
                    </a:ln>
                    <a:effectLst>
                      <a:outerShdw dist="35921" dir="2700000" algn="ctr" rotWithShape="0">
                        <a:schemeClr val="bg2"/>
                      </a:outerShdw>
                    </a:effectLst>
                    <a:extLs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 sz="1995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36876" name="Freeform 12"/>
                    <p:cNvSpPr/>
                    <p:nvPr/>
                  </p:nvSpPr>
                  <p:spPr bwMode="auto">
                    <a:xfrm>
                      <a:off x="3760" y="3003"/>
                      <a:ext cx="55" cy="260"/>
                    </a:xfrm>
                    <a:custGeom>
                      <a:avLst/>
                      <a:gdLst>
                        <a:gd name="T0" fmla="*/ 41 w 54"/>
                        <a:gd name="T1" fmla="*/ 5 h 264"/>
                        <a:gd name="T2" fmla="*/ 41 w 54"/>
                        <a:gd name="T3" fmla="*/ 12 h 264"/>
                        <a:gd name="T4" fmla="*/ 40 w 54"/>
                        <a:gd name="T5" fmla="*/ 14 h 264"/>
                        <a:gd name="T6" fmla="*/ 43 w 54"/>
                        <a:gd name="T7" fmla="*/ 19 h 264"/>
                        <a:gd name="T8" fmla="*/ 41 w 54"/>
                        <a:gd name="T9" fmla="*/ 20 h 264"/>
                        <a:gd name="T10" fmla="*/ 41 w 54"/>
                        <a:gd name="T11" fmla="*/ 22 h 264"/>
                        <a:gd name="T12" fmla="*/ 40 w 54"/>
                        <a:gd name="T13" fmla="*/ 30 h 264"/>
                        <a:gd name="T14" fmla="*/ 49 w 54"/>
                        <a:gd name="T15" fmla="*/ 38 h 264"/>
                        <a:gd name="T16" fmla="*/ 53 w 54"/>
                        <a:gd name="T17" fmla="*/ 92 h 264"/>
                        <a:gd name="T18" fmla="*/ 48 w 54"/>
                        <a:gd name="T19" fmla="*/ 102 h 264"/>
                        <a:gd name="T20" fmla="*/ 50 w 54"/>
                        <a:gd name="T21" fmla="*/ 131 h 264"/>
                        <a:gd name="T22" fmla="*/ 47 w 54"/>
                        <a:gd name="T23" fmla="*/ 135 h 264"/>
                        <a:gd name="T24" fmla="*/ 44 w 54"/>
                        <a:gd name="T25" fmla="*/ 181 h 264"/>
                        <a:gd name="T26" fmla="*/ 42 w 54"/>
                        <a:gd name="T27" fmla="*/ 228 h 264"/>
                        <a:gd name="T28" fmla="*/ 43 w 54"/>
                        <a:gd name="T29" fmla="*/ 230 h 264"/>
                        <a:gd name="T30" fmla="*/ 53 w 54"/>
                        <a:gd name="T31" fmla="*/ 239 h 264"/>
                        <a:gd name="T32" fmla="*/ 51 w 54"/>
                        <a:gd name="T33" fmla="*/ 241 h 264"/>
                        <a:gd name="T34" fmla="*/ 48 w 54"/>
                        <a:gd name="T35" fmla="*/ 242 h 264"/>
                        <a:gd name="T36" fmla="*/ 43 w 54"/>
                        <a:gd name="T37" fmla="*/ 241 h 264"/>
                        <a:gd name="T38" fmla="*/ 36 w 54"/>
                        <a:gd name="T39" fmla="*/ 237 h 264"/>
                        <a:gd name="T40" fmla="*/ 32 w 54"/>
                        <a:gd name="T41" fmla="*/ 235 h 264"/>
                        <a:gd name="T42" fmla="*/ 32 w 54"/>
                        <a:gd name="T43" fmla="*/ 244 h 264"/>
                        <a:gd name="T44" fmla="*/ 30 w 54"/>
                        <a:gd name="T45" fmla="*/ 244 h 264"/>
                        <a:gd name="T46" fmla="*/ 34 w 54"/>
                        <a:gd name="T47" fmla="*/ 250 h 264"/>
                        <a:gd name="T48" fmla="*/ 32 w 54"/>
                        <a:gd name="T49" fmla="*/ 261 h 264"/>
                        <a:gd name="T50" fmla="*/ 29 w 54"/>
                        <a:gd name="T51" fmla="*/ 263 h 264"/>
                        <a:gd name="T52" fmla="*/ 23 w 54"/>
                        <a:gd name="T53" fmla="*/ 254 h 264"/>
                        <a:gd name="T54" fmla="*/ 23 w 54"/>
                        <a:gd name="T55" fmla="*/ 247 h 264"/>
                        <a:gd name="T56" fmla="*/ 21 w 54"/>
                        <a:gd name="T57" fmla="*/ 246 h 264"/>
                        <a:gd name="T58" fmla="*/ 19 w 54"/>
                        <a:gd name="T59" fmla="*/ 186 h 264"/>
                        <a:gd name="T60" fmla="*/ 21 w 54"/>
                        <a:gd name="T61" fmla="*/ 181 h 264"/>
                        <a:gd name="T62" fmla="*/ 15 w 54"/>
                        <a:gd name="T63" fmla="*/ 140 h 264"/>
                        <a:gd name="T64" fmla="*/ 10 w 54"/>
                        <a:gd name="T65" fmla="*/ 139 h 264"/>
                        <a:gd name="T66" fmla="*/ 10 w 54"/>
                        <a:gd name="T67" fmla="*/ 97 h 264"/>
                        <a:gd name="T68" fmla="*/ 0 w 54"/>
                        <a:gd name="T69" fmla="*/ 92 h 264"/>
                        <a:gd name="T70" fmla="*/ 3 w 54"/>
                        <a:gd name="T71" fmla="*/ 47 h 264"/>
                        <a:gd name="T72" fmla="*/ 19 w 54"/>
                        <a:gd name="T73" fmla="*/ 35 h 264"/>
                        <a:gd name="T74" fmla="*/ 23 w 54"/>
                        <a:gd name="T75" fmla="*/ 30 h 264"/>
                        <a:gd name="T76" fmla="*/ 23 w 54"/>
                        <a:gd name="T77" fmla="*/ 26 h 264"/>
                        <a:gd name="T78" fmla="*/ 22 w 54"/>
                        <a:gd name="T79" fmla="*/ 23 h 264"/>
                        <a:gd name="T80" fmla="*/ 20 w 54"/>
                        <a:gd name="T81" fmla="*/ 21 h 264"/>
                        <a:gd name="T82" fmla="*/ 18 w 54"/>
                        <a:gd name="T83" fmla="*/ 17 h 264"/>
                        <a:gd name="T84" fmla="*/ 17 w 54"/>
                        <a:gd name="T85" fmla="*/ 15 h 264"/>
                        <a:gd name="T86" fmla="*/ 17 w 54"/>
                        <a:gd name="T87" fmla="*/ 12 h 264"/>
                        <a:gd name="T88" fmla="*/ 18 w 54"/>
                        <a:gd name="T89" fmla="*/ 8 h 264"/>
                        <a:gd name="T90" fmla="*/ 21 w 54"/>
                        <a:gd name="T91" fmla="*/ 4 h 264"/>
                        <a:gd name="T92" fmla="*/ 23 w 54"/>
                        <a:gd name="T93" fmla="*/ 1 h 264"/>
                        <a:gd name="T94" fmla="*/ 27 w 54"/>
                        <a:gd name="T95" fmla="*/ 0 h 264"/>
                        <a:gd name="T96" fmla="*/ 30 w 54"/>
                        <a:gd name="T97" fmla="*/ 0 h 264"/>
                        <a:gd name="T98" fmla="*/ 34 w 54"/>
                        <a:gd name="T99" fmla="*/ 0 h 264"/>
                        <a:gd name="T100" fmla="*/ 36 w 54"/>
                        <a:gd name="T101" fmla="*/ 1 h 264"/>
                        <a:gd name="T102" fmla="*/ 41 w 54"/>
                        <a:gd name="T103" fmla="*/ 5 h 26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4" h="264">
                          <a:moveTo>
                            <a:pt x="41" y="5"/>
                          </a:moveTo>
                          <a:lnTo>
                            <a:pt x="41" y="12"/>
                          </a:lnTo>
                          <a:lnTo>
                            <a:pt x="40" y="14"/>
                          </a:lnTo>
                          <a:lnTo>
                            <a:pt x="43" y="19"/>
                          </a:lnTo>
                          <a:lnTo>
                            <a:pt x="41" y="20"/>
                          </a:lnTo>
                          <a:lnTo>
                            <a:pt x="41" y="22"/>
                          </a:lnTo>
                          <a:lnTo>
                            <a:pt x="40" y="30"/>
                          </a:lnTo>
                          <a:lnTo>
                            <a:pt x="49" y="38"/>
                          </a:lnTo>
                          <a:lnTo>
                            <a:pt x="53" y="92"/>
                          </a:lnTo>
                          <a:lnTo>
                            <a:pt x="48" y="102"/>
                          </a:lnTo>
                          <a:lnTo>
                            <a:pt x="50" y="131"/>
                          </a:lnTo>
                          <a:lnTo>
                            <a:pt x="47" y="135"/>
                          </a:lnTo>
                          <a:lnTo>
                            <a:pt x="44" y="181"/>
                          </a:lnTo>
                          <a:lnTo>
                            <a:pt x="42" y="228"/>
                          </a:lnTo>
                          <a:lnTo>
                            <a:pt x="43" y="230"/>
                          </a:lnTo>
                          <a:lnTo>
                            <a:pt x="53" y="239"/>
                          </a:lnTo>
                          <a:lnTo>
                            <a:pt x="51" y="241"/>
                          </a:lnTo>
                          <a:lnTo>
                            <a:pt x="48" y="242"/>
                          </a:lnTo>
                          <a:lnTo>
                            <a:pt x="43" y="241"/>
                          </a:lnTo>
                          <a:lnTo>
                            <a:pt x="36" y="237"/>
                          </a:lnTo>
                          <a:lnTo>
                            <a:pt x="32" y="235"/>
                          </a:lnTo>
                          <a:lnTo>
                            <a:pt x="32" y="244"/>
                          </a:lnTo>
                          <a:lnTo>
                            <a:pt x="30" y="244"/>
                          </a:lnTo>
                          <a:lnTo>
                            <a:pt x="34" y="250"/>
                          </a:lnTo>
                          <a:lnTo>
                            <a:pt x="32" y="261"/>
                          </a:lnTo>
                          <a:lnTo>
                            <a:pt x="29" y="263"/>
                          </a:lnTo>
                          <a:lnTo>
                            <a:pt x="23" y="254"/>
                          </a:lnTo>
                          <a:lnTo>
                            <a:pt x="23" y="247"/>
                          </a:lnTo>
                          <a:lnTo>
                            <a:pt x="21" y="246"/>
                          </a:lnTo>
                          <a:lnTo>
                            <a:pt x="19" y="186"/>
                          </a:lnTo>
                          <a:lnTo>
                            <a:pt x="21" y="181"/>
                          </a:lnTo>
                          <a:lnTo>
                            <a:pt x="15" y="140"/>
                          </a:lnTo>
                          <a:lnTo>
                            <a:pt x="10" y="139"/>
                          </a:lnTo>
                          <a:lnTo>
                            <a:pt x="10" y="97"/>
                          </a:lnTo>
                          <a:lnTo>
                            <a:pt x="0" y="92"/>
                          </a:lnTo>
                          <a:lnTo>
                            <a:pt x="3" y="47"/>
                          </a:lnTo>
                          <a:lnTo>
                            <a:pt x="19" y="35"/>
                          </a:lnTo>
                          <a:lnTo>
                            <a:pt x="23" y="30"/>
                          </a:lnTo>
                          <a:lnTo>
                            <a:pt x="23" y="26"/>
                          </a:lnTo>
                          <a:lnTo>
                            <a:pt x="22" y="23"/>
                          </a:lnTo>
                          <a:lnTo>
                            <a:pt x="20" y="21"/>
                          </a:lnTo>
                          <a:lnTo>
                            <a:pt x="18" y="17"/>
                          </a:lnTo>
                          <a:lnTo>
                            <a:pt x="17" y="15"/>
                          </a:lnTo>
                          <a:lnTo>
                            <a:pt x="17" y="12"/>
                          </a:lnTo>
                          <a:lnTo>
                            <a:pt x="18" y="8"/>
                          </a:lnTo>
                          <a:lnTo>
                            <a:pt x="21" y="4"/>
                          </a:lnTo>
                          <a:lnTo>
                            <a:pt x="23" y="1"/>
                          </a:lnTo>
                          <a:lnTo>
                            <a:pt x="27" y="0"/>
                          </a:lnTo>
                          <a:lnTo>
                            <a:pt x="30" y="0"/>
                          </a:lnTo>
                          <a:lnTo>
                            <a:pt x="34" y="0"/>
                          </a:lnTo>
                          <a:lnTo>
                            <a:pt x="36" y="1"/>
                          </a:lnTo>
                          <a:lnTo>
                            <a:pt x="41" y="5"/>
                          </a:lnTo>
                        </a:path>
                      </a:pathLst>
                    </a:custGeom>
                    <a:solidFill>
                      <a:schemeClr val="hlink"/>
                    </a:solidFill>
                    <a:ln>
                      <a:noFill/>
                    </a:ln>
                    <a:effectLst>
                      <a:outerShdw dist="35921" dir="2700000" algn="ctr" rotWithShape="0">
                        <a:schemeClr val="bg2"/>
                      </a:outerShdw>
                    </a:effectLst>
                    <a:extLs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 sz="1995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p:txBody>
                </p:sp>
              </p:grpSp>
              <p:sp>
                <p:nvSpPr>
                  <p:cNvPr id="36877" name="Freeform 13"/>
                  <p:cNvSpPr/>
                  <p:nvPr/>
                </p:nvSpPr>
                <p:spPr bwMode="auto">
                  <a:xfrm>
                    <a:off x="3391" y="2292"/>
                    <a:ext cx="52" cy="192"/>
                  </a:xfrm>
                  <a:custGeom>
                    <a:avLst/>
                    <a:gdLst>
                      <a:gd name="T0" fmla="*/ 30 w 51"/>
                      <a:gd name="T1" fmla="*/ 2 h 190"/>
                      <a:gd name="T2" fmla="*/ 41 w 51"/>
                      <a:gd name="T3" fmla="*/ 0 h 190"/>
                      <a:gd name="T4" fmla="*/ 45 w 51"/>
                      <a:gd name="T5" fmla="*/ 4 h 190"/>
                      <a:gd name="T6" fmla="*/ 46 w 51"/>
                      <a:gd name="T7" fmla="*/ 2 h 190"/>
                      <a:gd name="T8" fmla="*/ 49 w 51"/>
                      <a:gd name="T9" fmla="*/ 11 h 190"/>
                      <a:gd name="T10" fmla="*/ 43 w 51"/>
                      <a:gd name="T11" fmla="*/ 15 h 190"/>
                      <a:gd name="T12" fmla="*/ 43 w 51"/>
                      <a:gd name="T13" fmla="*/ 20 h 190"/>
                      <a:gd name="T14" fmla="*/ 41 w 51"/>
                      <a:gd name="T15" fmla="*/ 20 h 190"/>
                      <a:gd name="T16" fmla="*/ 41 w 51"/>
                      <a:gd name="T17" fmla="*/ 25 h 190"/>
                      <a:gd name="T18" fmla="*/ 36 w 51"/>
                      <a:gd name="T19" fmla="*/ 26 h 190"/>
                      <a:gd name="T20" fmla="*/ 36 w 51"/>
                      <a:gd name="T21" fmla="*/ 28 h 190"/>
                      <a:gd name="T22" fmla="*/ 43 w 51"/>
                      <a:gd name="T23" fmla="*/ 33 h 190"/>
                      <a:gd name="T24" fmla="*/ 49 w 51"/>
                      <a:gd name="T25" fmla="*/ 60 h 190"/>
                      <a:gd name="T26" fmla="*/ 45 w 51"/>
                      <a:gd name="T27" fmla="*/ 68 h 190"/>
                      <a:gd name="T28" fmla="*/ 45 w 51"/>
                      <a:gd name="T29" fmla="*/ 117 h 190"/>
                      <a:gd name="T30" fmla="*/ 39 w 51"/>
                      <a:gd name="T31" fmla="*/ 119 h 190"/>
                      <a:gd name="T32" fmla="*/ 38 w 51"/>
                      <a:gd name="T33" fmla="*/ 128 h 190"/>
                      <a:gd name="T34" fmla="*/ 36 w 51"/>
                      <a:gd name="T35" fmla="*/ 149 h 190"/>
                      <a:gd name="T36" fmla="*/ 36 w 51"/>
                      <a:gd name="T37" fmla="*/ 160 h 190"/>
                      <a:gd name="T38" fmla="*/ 45 w 51"/>
                      <a:gd name="T39" fmla="*/ 167 h 190"/>
                      <a:gd name="T40" fmla="*/ 50 w 51"/>
                      <a:gd name="T41" fmla="*/ 171 h 190"/>
                      <a:gd name="T42" fmla="*/ 50 w 51"/>
                      <a:gd name="T43" fmla="*/ 173 h 190"/>
                      <a:gd name="T44" fmla="*/ 37 w 51"/>
                      <a:gd name="T45" fmla="*/ 169 h 190"/>
                      <a:gd name="T46" fmla="*/ 36 w 51"/>
                      <a:gd name="T47" fmla="*/ 167 h 190"/>
                      <a:gd name="T48" fmla="*/ 34 w 51"/>
                      <a:gd name="T49" fmla="*/ 169 h 190"/>
                      <a:gd name="T50" fmla="*/ 34 w 51"/>
                      <a:gd name="T51" fmla="*/ 169 h 190"/>
                      <a:gd name="T52" fmla="*/ 32 w 51"/>
                      <a:gd name="T53" fmla="*/ 161 h 190"/>
                      <a:gd name="T54" fmla="*/ 30 w 51"/>
                      <a:gd name="T55" fmla="*/ 125 h 190"/>
                      <a:gd name="T56" fmla="*/ 28 w 51"/>
                      <a:gd name="T57" fmla="*/ 125 h 190"/>
                      <a:gd name="T58" fmla="*/ 20 w 51"/>
                      <a:gd name="T59" fmla="*/ 157 h 190"/>
                      <a:gd name="T60" fmla="*/ 20 w 51"/>
                      <a:gd name="T61" fmla="*/ 177 h 190"/>
                      <a:gd name="T62" fmla="*/ 17 w 51"/>
                      <a:gd name="T63" fmla="*/ 187 h 190"/>
                      <a:gd name="T64" fmla="*/ 15 w 51"/>
                      <a:gd name="T65" fmla="*/ 189 h 190"/>
                      <a:gd name="T66" fmla="*/ 14 w 51"/>
                      <a:gd name="T67" fmla="*/ 184 h 190"/>
                      <a:gd name="T68" fmla="*/ 16 w 51"/>
                      <a:gd name="T69" fmla="*/ 178 h 190"/>
                      <a:gd name="T70" fmla="*/ 17 w 51"/>
                      <a:gd name="T71" fmla="*/ 165 h 190"/>
                      <a:gd name="T72" fmla="*/ 17 w 51"/>
                      <a:gd name="T73" fmla="*/ 120 h 190"/>
                      <a:gd name="T74" fmla="*/ 20 w 51"/>
                      <a:gd name="T75" fmla="*/ 76 h 190"/>
                      <a:gd name="T76" fmla="*/ 16 w 51"/>
                      <a:gd name="T77" fmla="*/ 72 h 190"/>
                      <a:gd name="T78" fmla="*/ 16 w 51"/>
                      <a:gd name="T79" fmla="*/ 65 h 190"/>
                      <a:gd name="T80" fmla="*/ 16 w 51"/>
                      <a:gd name="T81" fmla="*/ 53 h 190"/>
                      <a:gd name="T82" fmla="*/ 10 w 51"/>
                      <a:gd name="T83" fmla="*/ 57 h 190"/>
                      <a:gd name="T84" fmla="*/ 16 w 51"/>
                      <a:gd name="T85" fmla="*/ 63 h 190"/>
                      <a:gd name="T86" fmla="*/ 16 w 51"/>
                      <a:gd name="T87" fmla="*/ 70 h 190"/>
                      <a:gd name="T88" fmla="*/ 10 w 51"/>
                      <a:gd name="T89" fmla="*/ 66 h 190"/>
                      <a:gd name="T90" fmla="*/ 8 w 51"/>
                      <a:gd name="T91" fmla="*/ 62 h 190"/>
                      <a:gd name="T92" fmla="*/ 4 w 51"/>
                      <a:gd name="T93" fmla="*/ 63 h 190"/>
                      <a:gd name="T94" fmla="*/ 0 w 51"/>
                      <a:gd name="T95" fmla="*/ 56 h 190"/>
                      <a:gd name="T96" fmla="*/ 0 w 51"/>
                      <a:gd name="T97" fmla="*/ 53 h 190"/>
                      <a:gd name="T98" fmla="*/ 2 w 51"/>
                      <a:gd name="T99" fmla="*/ 52 h 190"/>
                      <a:gd name="T100" fmla="*/ 9 w 51"/>
                      <a:gd name="T101" fmla="*/ 44 h 190"/>
                      <a:gd name="T102" fmla="*/ 16 w 51"/>
                      <a:gd name="T103" fmla="*/ 36 h 190"/>
                      <a:gd name="T104" fmla="*/ 24 w 51"/>
                      <a:gd name="T105" fmla="*/ 29 h 190"/>
                      <a:gd name="T106" fmla="*/ 30 w 51"/>
                      <a:gd name="T107" fmla="*/ 25 h 190"/>
                      <a:gd name="T108" fmla="*/ 30 w 51"/>
                      <a:gd name="T109" fmla="*/ 19 h 190"/>
                      <a:gd name="T110" fmla="*/ 28 w 51"/>
                      <a:gd name="T111" fmla="*/ 16 h 190"/>
                      <a:gd name="T112" fmla="*/ 28 w 51"/>
                      <a:gd name="T113" fmla="*/ 9 h 190"/>
                      <a:gd name="T114" fmla="*/ 26 w 51"/>
                      <a:gd name="T115" fmla="*/ 7 h 190"/>
                      <a:gd name="T116" fmla="*/ 30 w 51"/>
                      <a:gd name="T117" fmla="*/ 2 h 1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51" h="190">
                        <a:moveTo>
                          <a:pt x="30" y="2"/>
                        </a:moveTo>
                        <a:lnTo>
                          <a:pt x="41" y="0"/>
                        </a:lnTo>
                        <a:lnTo>
                          <a:pt x="45" y="4"/>
                        </a:lnTo>
                        <a:lnTo>
                          <a:pt x="46" y="2"/>
                        </a:lnTo>
                        <a:lnTo>
                          <a:pt x="49" y="11"/>
                        </a:lnTo>
                        <a:lnTo>
                          <a:pt x="43" y="15"/>
                        </a:lnTo>
                        <a:lnTo>
                          <a:pt x="43" y="20"/>
                        </a:lnTo>
                        <a:lnTo>
                          <a:pt x="41" y="20"/>
                        </a:lnTo>
                        <a:lnTo>
                          <a:pt x="41" y="25"/>
                        </a:lnTo>
                        <a:lnTo>
                          <a:pt x="36" y="26"/>
                        </a:lnTo>
                        <a:lnTo>
                          <a:pt x="36" y="28"/>
                        </a:lnTo>
                        <a:lnTo>
                          <a:pt x="43" y="33"/>
                        </a:lnTo>
                        <a:lnTo>
                          <a:pt x="49" y="60"/>
                        </a:lnTo>
                        <a:lnTo>
                          <a:pt x="45" y="68"/>
                        </a:lnTo>
                        <a:lnTo>
                          <a:pt x="45" y="117"/>
                        </a:lnTo>
                        <a:lnTo>
                          <a:pt x="39" y="119"/>
                        </a:lnTo>
                        <a:lnTo>
                          <a:pt x="38" y="128"/>
                        </a:lnTo>
                        <a:lnTo>
                          <a:pt x="36" y="149"/>
                        </a:lnTo>
                        <a:lnTo>
                          <a:pt x="36" y="160"/>
                        </a:lnTo>
                        <a:lnTo>
                          <a:pt x="45" y="167"/>
                        </a:lnTo>
                        <a:lnTo>
                          <a:pt x="50" y="171"/>
                        </a:lnTo>
                        <a:lnTo>
                          <a:pt x="50" y="173"/>
                        </a:lnTo>
                        <a:lnTo>
                          <a:pt x="37" y="169"/>
                        </a:lnTo>
                        <a:lnTo>
                          <a:pt x="36" y="167"/>
                        </a:lnTo>
                        <a:lnTo>
                          <a:pt x="34" y="169"/>
                        </a:lnTo>
                        <a:lnTo>
                          <a:pt x="34" y="169"/>
                        </a:lnTo>
                        <a:lnTo>
                          <a:pt x="32" y="161"/>
                        </a:lnTo>
                        <a:lnTo>
                          <a:pt x="30" y="125"/>
                        </a:lnTo>
                        <a:lnTo>
                          <a:pt x="28" y="125"/>
                        </a:lnTo>
                        <a:lnTo>
                          <a:pt x="20" y="157"/>
                        </a:lnTo>
                        <a:lnTo>
                          <a:pt x="20" y="177"/>
                        </a:lnTo>
                        <a:lnTo>
                          <a:pt x="17" y="187"/>
                        </a:lnTo>
                        <a:lnTo>
                          <a:pt x="15" y="189"/>
                        </a:lnTo>
                        <a:lnTo>
                          <a:pt x="14" y="184"/>
                        </a:lnTo>
                        <a:lnTo>
                          <a:pt x="16" y="178"/>
                        </a:lnTo>
                        <a:lnTo>
                          <a:pt x="17" y="165"/>
                        </a:lnTo>
                        <a:lnTo>
                          <a:pt x="17" y="120"/>
                        </a:lnTo>
                        <a:lnTo>
                          <a:pt x="20" y="76"/>
                        </a:lnTo>
                        <a:lnTo>
                          <a:pt x="16" y="72"/>
                        </a:lnTo>
                        <a:lnTo>
                          <a:pt x="16" y="65"/>
                        </a:lnTo>
                        <a:lnTo>
                          <a:pt x="16" y="53"/>
                        </a:lnTo>
                        <a:lnTo>
                          <a:pt x="10" y="57"/>
                        </a:lnTo>
                        <a:lnTo>
                          <a:pt x="16" y="63"/>
                        </a:lnTo>
                        <a:lnTo>
                          <a:pt x="16" y="70"/>
                        </a:lnTo>
                        <a:lnTo>
                          <a:pt x="10" y="66"/>
                        </a:lnTo>
                        <a:lnTo>
                          <a:pt x="8" y="62"/>
                        </a:lnTo>
                        <a:lnTo>
                          <a:pt x="4" y="63"/>
                        </a:lnTo>
                        <a:lnTo>
                          <a:pt x="0" y="56"/>
                        </a:lnTo>
                        <a:lnTo>
                          <a:pt x="0" y="53"/>
                        </a:lnTo>
                        <a:lnTo>
                          <a:pt x="2" y="52"/>
                        </a:lnTo>
                        <a:lnTo>
                          <a:pt x="9" y="44"/>
                        </a:lnTo>
                        <a:lnTo>
                          <a:pt x="16" y="36"/>
                        </a:lnTo>
                        <a:lnTo>
                          <a:pt x="24" y="29"/>
                        </a:lnTo>
                        <a:lnTo>
                          <a:pt x="30" y="25"/>
                        </a:lnTo>
                        <a:lnTo>
                          <a:pt x="30" y="19"/>
                        </a:lnTo>
                        <a:lnTo>
                          <a:pt x="28" y="16"/>
                        </a:lnTo>
                        <a:lnTo>
                          <a:pt x="28" y="9"/>
                        </a:lnTo>
                        <a:lnTo>
                          <a:pt x="26" y="7"/>
                        </a:lnTo>
                        <a:lnTo>
                          <a:pt x="30" y="2"/>
                        </a:lnTo>
                      </a:path>
                    </a:pathLst>
                  </a:custGeom>
                  <a:solidFill>
                    <a:schemeClr val="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78" name="Freeform 14"/>
                  <p:cNvSpPr/>
                  <p:nvPr/>
                </p:nvSpPr>
                <p:spPr bwMode="auto">
                  <a:xfrm>
                    <a:off x="3225" y="2345"/>
                    <a:ext cx="24" cy="134"/>
                  </a:xfrm>
                  <a:custGeom>
                    <a:avLst/>
                    <a:gdLst>
                      <a:gd name="T0" fmla="*/ 19 w 25"/>
                      <a:gd name="T1" fmla="*/ 2 h 134"/>
                      <a:gd name="T2" fmla="*/ 19 w 25"/>
                      <a:gd name="T3" fmla="*/ 6 h 134"/>
                      <a:gd name="T4" fmla="*/ 19 w 25"/>
                      <a:gd name="T5" fmla="*/ 7 h 134"/>
                      <a:gd name="T6" fmla="*/ 20 w 25"/>
                      <a:gd name="T7" fmla="*/ 8 h 134"/>
                      <a:gd name="T8" fmla="*/ 19 w 25"/>
                      <a:gd name="T9" fmla="*/ 9 h 134"/>
                      <a:gd name="T10" fmla="*/ 19 w 25"/>
                      <a:gd name="T11" fmla="*/ 10 h 134"/>
                      <a:gd name="T12" fmla="*/ 18 w 25"/>
                      <a:gd name="T13" fmla="*/ 14 h 134"/>
                      <a:gd name="T14" fmla="*/ 18 w 25"/>
                      <a:gd name="T15" fmla="*/ 15 h 134"/>
                      <a:gd name="T16" fmla="*/ 23 w 25"/>
                      <a:gd name="T17" fmla="*/ 19 h 134"/>
                      <a:gd name="T18" fmla="*/ 24 w 25"/>
                      <a:gd name="T19" fmla="*/ 46 h 134"/>
                      <a:gd name="T20" fmla="*/ 22 w 25"/>
                      <a:gd name="T21" fmla="*/ 51 h 134"/>
                      <a:gd name="T22" fmla="*/ 23 w 25"/>
                      <a:gd name="T23" fmla="*/ 66 h 134"/>
                      <a:gd name="T24" fmla="*/ 21 w 25"/>
                      <a:gd name="T25" fmla="*/ 68 h 134"/>
                      <a:gd name="T26" fmla="*/ 20 w 25"/>
                      <a:gd name="T27" fmla="*/ 91 h 134"/>
                      <a:gd name="T28" fmla="*/ 19 w 25"/>
                      <a:gd name="T29" fmla="*/ 115 h 134"/>
                      <a:gd name="T30" fmla="*/ 20 w 25"/>
                      <a:gd name="T31" fmla="*/ 116 h 134"/>
                      <a:gd name="T32" fmla="*/ 24 w 25"/>
                      <a:gd name="T33" fmla="*/ 121 h 134"/>
                      <a:gd name="T34" fmla="*/ 23 w 25"/>
                      <a:gd name="T35" fmla="*/ 122 h 134"/>
                      <a:gd name="T36" fmla="*/ 22 w 25"/>
                      <a:gd name="T37" fmla="*/ 123 h 134"/>
                      <a:gd name="T38" fmla="*/ 19 w 25"/>
                      <a:gd name="T39" fmla="*/ 122 h 134"/>
                      <a:gd name="T40" fmla="*/ 17 w 25"/>
                      <a:gd name="T41" fmla="*/ 120 h 134"/>
                      <a:gd name="T42" fmla="*/ 15 w 25"/>
                      <a:gd name="T43" fmla="*/ 119 h 134"/>
                      <a:gd name="T44" fmla="*/ 15 w 25"/>
                      <a:gd name="T45" fmla="*/ 123 h 134"/>
                      <a:gd name="T46" fmla="*/ 14 w 25"/>
                      <a:gd name="T47" fmla="*/ 123 h 134"/>
                      <a:gd name="T48" fmla="*/ 16 w 25"/>
                      <a:gd name="T49" fmla="*/ 127 h 134"/>
                      <a:gd name="T50" fmla="*/ 15 w 25"/>
                      <a:gd name="T51" fmla="*/ 132 h 134"/>
                      <a:gd name="T52" fmla="*/ 14 w 25"/>
                      <a:gd name="T53" fmla="*/ 133 h 134"/>
                      <a:gd name="T54" fmla="*/ 11 w 25"/>
                      <a:gd name="T55" fmla="*/ 128 h 134"/>
                      <a:gd name="T56" fmla="*/ 11 w 25"/>
                      <a:gd name="T57" fmla="*/ 125 h 134"/>
                      <a:gd name="T58" fmla="*/ 10 w 25"/>
                      <a:gd name="T59" fmla="*/ 125 h 134"/>
                      <a:gd name="T60" fmla="*/ 8 w 25"/>
                      <a:gd name="T61" fmla="*/ 94 h 134"/>
                      <a:gd name="T62" fmla="*/ 10 w 25"/>
                      <a:gd name="T63" fmla="*/ 91 h 134"/>
                      <a:gd name="T64" fmla="*/ 7 w 25"/>
                      <a:gd name="T65" fmla="*/ 71 h 134"/>
                      <a:gd name="T66" fmla="*/ 5 w 25"/>
                      <a:gd name="T67" fmla="*/ 70 h 134"/>
                      <a:gd name="T68" fmla="*/ 5 w 25"/>
                      <a:gd name="T69" fmla="*/ 49 h 134"/>
                      <a:gd name="T70" fmla="*/ 0 w 25"/>
                      <a:gd name="T71" fmla="*/ 46 h 134"/>
                      <a:gd name="T72" fmla="*/ 2 w 25"/>
                      <a:gd name="T73" fmla="*/ 24 h 134"/>
                      <a:gd name="T74" fmla="*/ 9 w 25"/>
                      <a:gd name="T75" fmla="*/ 17 h 134"/>
                      <a:gd name="T76" fmla="*/ 11 w 25"/>
                      <a:gd name="T77" fmla="*/ 15 h 134"/>
                      <a:gd name="T78" fmla="*/ 11 w 25"/>
                      <a:gd name="T79" fmla="*/ 12 h 134"/>
                      <a:gd name="T80" fmla="*/ 11 w 25"/>
                      <a:gd name="T81" fmla="*/ 11 h 134"/>
                      <a:gd name="T82" fmla="*/ 9 w 25"/>
                      <a:gd name="T83" fmla="*/ 10 h 134"/>
                      <a:gd name="T84" fmla="*/ 8 w 25"/>
                      <a:gd name="T85" fmla="*/ 8 h 134"/>
                      <a:gd name="T86" fmla="*/ 8 w 25"/>
                      <a:gd name="T87" fmla="*/ 7 h 134"/>
                      <a:gd name="T88" fmla="*/ 8 w 25"/>
                      <a:gd name="T89" fmla="*/ 5 h 134"/>
                      <a:gd name="T90" fmla="*/ 8 w 25"/>
                      <a:gd name="T91" fmla="*/ 4 h 134"/>
                      <a:gd name="T92" fmla="*/ 10 w 25"/>
                      <a:gd name="T93" fmla="*/ 2 h 134"/>
                      <a:gd name="T94" fmla="*/ 11 w 25"/>
                      <a:gd name="T95" fmla="*/ 0 h 134"/>
                      <a:gd name="T96" fmla="*/ 12 w 25"/>
                      <a:gd name="T97" fmla="*/ 0 h 134"/>
                      <a:gd name="T98" fmla="*/ 14 w 25"/>
                      <a:gd name="T99" fmla="*/ 0 h 134"/>
                      <a:gd name="T100" fmla="*/ 16 w 25"/>
                      <a:gd name="T101" fmla="*/ 0 h 134"/>
                      <a:gd name="T102" fmla="*/ 17 w 25"/>
                      <a:gd name="T103" fmla="*/ 0 h 134"/>
                      <a:gd name="T104" fmla="*/ 19 w 25"/>
                      <a:gd name="T105" fmla="*/ 2 h 1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25" h="134">
                        <a:moveTo>
                          <a:pt x="19" y="2"/>
                        </a:moveTo>
                        <a:lnTo>
                          <a:pt x="19" y="6"/>
                        </a:lnTo>
                        <a:lnTo>
                          <a:pt x="19" y="7"/>
                        </a:lnTo>
                        <a:lnTo>
                          <a:pt x="20" y="8"/>
                        </a:lnTo>
                        <a:lnTo>
                          <a:pt x="19" y="9"/>
                        </a:lnTo>
                        <a:lnTo>
                          <a:pt x="19" y="10"/>
                        </a:lnTo>
                        <a:lnTo>
                          <a:pt x="18" y="14"/>
                        </a:lnTo>
                        <a:lnTo>
                          <a:pt x="18" y="15"/>
                        </a:lnTo>
                        <a:lnTo>
                          <a:pt x="23" y="19"/>
                        </a:lnTo>
                        <a:lnTo>
                          <a:pt x="24" y="46"/>
                        </a:lnTo>
                        <a:lnTo>
                          <a:pt x="22" y="51"/>
                        </a:lnTo>
                        <a:lnTo>
                          <a:pt x="23" y="66"/>
                        </a:lnTo>
                        <a:lnTo>
                          <a:pt x="21" y="68"/>
                        </a:lnTo>
                        <a:lnTo>
                          <a:pt x="20" y="91"/>
                        </a:lnTo>
                        <a:lnTo>
                          <a:pt x="19" y="115"/>
                        </a:lnTo>
                        <a:lnTo>
                          <a:pt x="20" y="116"/>
                        </a:lnTo>
                        <a:lnTo>
                          <a:pt x="24" y="121"/>
                        </a:lnTo>
                        <a:lnTo>
                          <a:pt x="23" y="122"/>
                        </a:lnTo>
                        <a:lnTo>
                          <a:pt x="22" y="123"/>
                        </a:lnTo>
                        <a:lnTo>
                          <a:pt x="19" y="122"/>
                        </a:lnTo>
                        <a:lnTo>
                          <a:pt x="17" y="120"/>
                        </a:lnTo>
                        <a:lnTo>
                          <a:pt x="15" y="119"/>
                        </a:lnTo>
                        <a:lnTo>
                          <a:pt x="15" y="123"/>
                        </a:lnTo>
                        <a:lnTo>
                          <a:pt x="14" y="123"/>
                        </a:lnTo>
                        <a:lnTo>
                          <a:pt x="16" y="127"/>
                        </a:lnTo>
                        <a:lnTo>
                          <a:pt x="15" y="132"/>
                        </a:lnTo>
                        <a:lnTo>
                          <a:pt x="14" y="133"/>
                        </a:lnTo>
                        <a:lnTo>
                          <a:pt x="11" y="128"/>
                        </a:lnTo>
                        <a:lnTo>
                          <a:pt x="11" y="125"/>
                        </a:lnTo>
                        <a:lnTo>
                          <a:pt x="10" y="125"/>
                        </a:lnTo>
                        <a:lnTo>
                          <a:pt x="8" y="94"/>
                        </a:lnTo>
                        <a:lnTo>
                          <a:pt x="10" y="91"/>
                        </a:lnTo>
                        <a:lnTo>
                          <a:pt x="7" y="71"/>
                        </a:lnTo>
                        <a:lnTo>
                          <a:pt x="5" y="70"/>
                        </a:lnTo>
                        <a:lnTo>
                          <a:pt x="5" y="49"/>
                        </a:lnTo>
                        <a:lnTo>
                          <a:pt x="0" y="46"/>
                        </a:lnTo>
                        <a:lnTo>
                          <a:pt x="2" y="24"/>
                        </a:lnTo>
                        <a:lnTo>
                          <a:pt x="9" y="17"/>
                        </a:lnTo>
                        <a:lnTo>
                          <a:pt x="11" y="15"/>
                        </a:lnTo>
                        <a:lnTo>
                          <a:pt x="11" y="12"/>
                        </a:lnTo>
                        <a:lnTo>
                          <a:pt x="11" y="11"/>
                        </a:lnTo>
                        <a:lnTo>
                          <a:pt x="9" y="10"/>
                        </a:lnTo>
                        <a:lnTo>
                          <a:pt x="8" y="8"/>
                        </a:lnTo>
                        <a:lnTo>
                          <a:pt x="8" y="7"/>
                        </a:lnTo>
                        <a:lnTo>
                          <a:pt x="8" y="5"/>
                        </a:lnTo>
                        <a:lnTo>
                          <a:pt x="8" y="4"/>
                        </a:lnTo>
                        <a:lnTo>
                          <a:pt x="10" y="2"/>
                        </a:lnTo>
                        <a:lnTo>
                          <a:pt x="11" y="0"/>
                        </a:lnTo>
                        <a:lnTo>
                          <a:pt x="12" y="0"/>
                        </a:lnTo>
                        <a:lnTo>
                          <a:pt x="14" y="0"/>
                        </a:lnTo>
                        <a:lnTo>
                          <a:pt x="16" y="0"/>
                        </a:lnTo>
                        <a:lnTo>
                          <a:pt x="17" y="0"/>
                        </a:lnTo>
                        <a:lnTo>
                          <a:pt x="19" y="2"/>
                        </a:lnTo>
                      </a:path>
                    </a:pathLst>
                  </a:custGeom>
                  <a:solidFill>
                    <a:schemeClr val="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79" name="Freeform 15"/>
                  <p:cNvSpPr/>
                  <p:nvPr/>
                </p:nvSpPr>
                <p:spPr bwMode="auto">
                  <a:xfrm>
                    <a:off x="3133" y="2422"/>
                    <a:ext cx="52" cy="255"/>
                  </a:xfrm>
                  <a:custGeom>
                    <a:avLst/>
                    <a:gdLst>
                      <a:gd name="T0" fmla="*/ 40 w 53"/>
                      <a:gd name="T1" fmla="*/ 5 h 254"/>
                      <a:gd name="T2" fmla="*/ 40 w 53"/>
                      <a:gd name="T3" fmla="*/ 12 h 254"/>
                      <a:gd name="T4" fmla="*/ 40 w 53"/>
                      <a:gd name="T5" fmla="*/ 14 h 254"/>
                      <a:gd name="T6" fmla="*/ 42 w 53"/>
                      <a:gd name="T7" fmla="*/ 18 h 254"/>
                      <a:gd name="T8" fmla="*/ 40 w 53"/>
                      <a:gd name="T9" fmla="*/ 20 h 254"/>
                      <a:gd name="T10" fmla="*/ 41 w 53"/>
                      <a:gd name="T11" fmla="*/ 22 h 254"/>
                      <a:gd name="T12" fmla="*/ 39 w 53"/>
                      <a:gd name="T13" fmla="*/ 29 h 254"/>
                      <a:gd name="T14" fmla="*/ 39 w 53"/>
                      <a:gd name="T15" fmla="*/ 30 h 254"/>
                      <a:gd name="T16" fmla="*/ 48 w 53"/>
                      <a:gd name="T17" fmla="*/ 37 h 254"/>
                      <a:gd name="T18" fmla="*/ 52 w 53"/>
                      <a:gd name="T19" fmla="*/ 89 h 254"/>
                      <a:gd name="T20" fmla="*/ 47 w 53"/>
                      <a:gd name="T21" fmla="*/ 98 h 254"/>
                      <a:gd name="T22" fmla="*/ 49 w 53"/>
                      <a:gd name="T23" fmla="*/ 127 h 254"/>
                      <a:gd name="T24" fmla="*/ 46 w 53"/>
                      <a:gd name="T25" fmla="*/ 129 h 254"/>
                      <a:gd name="T26" fmla="*/ 44 w 53"/>
                      <a:gd name="T27" fmla="*/ 174 h 254"/>
                      <a:gd name="T28" fmla="*/ 42 w 53"/>
                      <a:gd name="T29" fmla="*/ 219 h 254"/>
                      <a:gd name="T30" fmla="*/ 42 w 53"/>
                      <a:gd name="T31" fmla="*/ 221 h 254"/>
                      <a:gd name="T32" fmla="*/ 52 w 53"/>
                      <a:gd name="T33" fmla="*/ 230 h 254"/>
                      <a:gd name="T34" fmla="*/ 50 w 53"/>
                      <a:gd name="T35" fmla="*/ 231 h 254"/>
                      <a:gd name="T36" fmla="*/ 47 w 53"/>
                      <a:gd name="T37" fmla="*/ 233 h 254"/>
                      <a:gd name="T38" fmla="*/ 42 w 53"/>
                      <a:gd name="T39" fmla="*/ 231 h 254"/>
                      <a:gd name="T40" fmla="*/ 36 w 53"/>
                      <a:gd name="T41" fmla="*/ 228 h 254"/>
                      <a:gd name="T42" fmla="*/ 32 w 53"/>
                      <a:gd name="T43" fmla="*/ 227 h 254"/>
                      <a:gd name="T44" fmla="*/ 32 w 53"/>
                      <a:gd name="T45" fmla="*/ 234 h 254"/>
                      <a:gd name="T46" fmla="*/ 30 w 53"/>
                      <a:gd name="T47" fmla="*/ 234 h 254"/>
                      <a:gd name="T48" fmla="*/ 33 w 53"/>
                      <a:gd name="T49" fmla="*/ 240 h 254"/>
                      <a:gd name="T50" fmla="*/ 32 w 53"/>
                      <a:gd name="T51" fmla="*/ 251 h 254"/>
                      <a:gd name="T52" fmla="*/ 28 w 53"/>
                      <a:gd name="T53" fmla="*/ 253 h 254"/>
                      <a:gd name="T54" fmla="*/ 23 w 53"/>
                      <a:gd name="T55" fmla="*/ 244 h 254"/>
                      <a:gd name="T56" fmla="*/ 23 w 53"/>
                      <a:gd name="T57" fmla="*/ 237 h 254"/>
                      <a:gd name="T58" fmla="*/ 21 w 53"/>
                      <a:gd name="T59" fmla="*/ 237 h 254"/>
                      <a:gd name="T60" fmla="*/ 19 w 53"/>
                      <a:gd name="T61" fmla="*/ 179 h 254"/>
                      <a:gd name="T62" fmla="*/ 21 w 53"/>
                      <a:gd name="T63" fmla="*/ 174 h 254"/>
                      <a:gd name="T64" fmla="*/ 15 w 53"/>
                      <a:gd name="T65" fmla="*/ 135 h 254"/>
                      <a:gd name="T66" fmla="*/ 11 w 53"/>
                      <a:gd name="T67" fmla="*/ 134 h 254"/>
                      <a:gd name="T68" fmla="*/ 10 w 53"/>
                      <a:gd name="T69" fmla="*/ 93 h 254"/>
                      <a:gd name="T70" fmla="*/ 0 w 53"/>
                      <a:gd name="T71" fmla="*/ 89 h 254"/>
                      <a:gd name="T72" fmla="*/ 4 w 53"/>
                      <a:gd name="T73" fmla="*/ 46 h 254"/>
                      <a:gd name="T74" fmla="*/ 19 w 53"/>
                      <a:gd name="T75" fmla="*/ 34 h 254"/>
                      <a:gd name="T76" fmla="*/ 23 w 53"/>
                      <a:gd name="T77" fmla="*/ 30 h 254"/>
                      <a:gd name="T78" fmla="*/ 23 w 53"/>
                      <a:gd name="T79" fmla="*/ 25 h 254"/>
                      <a:gd name="T80" fmla="*/ 22 w 53"/>
                      <a:gd name="T81" fmla="*/ 22 h 254"/>
                      <a:gd name="T82" fmla="*/ 20 w 53"/>
                      <a:gd name="T83" fmla="*/ 20 h 254"/>
                      <a:gd name="T84" fmla="*/ 18 w 53"/>
                      <a:gd name="T85" fmla="*/ 17 h 254"/>
                      <a:gd name="T86" fmla="*/ 17 w 53"/>
                      <a:gd name="T87" fmla="*/ 14 h 254"/>
                      <a:gd name="T88" fmla="*/ 17 w 53"/>
                      <a:gd name="T89" fmla="*/ 12 h 254"/>
                      <a:gd name="T90" fmla="*/ 18 w 53"/>
                      <a:gd name="T91" fmla="*/ 8 h 254"/>
                      <a:gd name="T92" fmla="*/ 20 w 53"/>
                      <a:gd name="T93" fmla="*/ 5 h 254"/>
                      <a:gd name="T94" fmla="*/ 23 w 53"/>
                      <a:gd name="T95" fmla="*/ 2 h 254"/>
                      <a:gd name="T96" fmla="*/ 26 w 53"/>
                      <a:gd name="T97" fmla="*/ 0 h 254"/>
                      <a:gd name="T98" fmla="*/ 30 w 53"/>
                      <a:gd name="T99" fmla="*/ 0 h 254"/>
                      <a:gd name="T100" fmla="*/ 33 w 53"/>
                      <a:gd name="T101" fmla="*/ 1 h 254"/>
                      <a:gd name="T102" fmla="*/ 36 w 53"/>
                      <a:gd name="T103" fmla="*/ 2 h 254"/>
                      <a:gd name="T104" fmla="*/ 40 w 53"/>
                      <a:gd name="T105" fmla="*/ 5 h 2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53" h="254">
                        <a:moveTo>
                          <a:pt x="40" y="5"/>
                        </a:moveTo>
                        <a:lnTo>
                          <a:pt x="40" y="12"/>
                        </a:lnTo>
                        <a:lnTo>
                          <a:pt x="40" y="14"/>
                        </a:lnTo>
                        <a:lnTo>
                          <a:pt x="42" y="18"/>
                        </a:lnTo>
                        <a:lnTo>
                          <a:pt x="40" y="20"/>
                        </a:lnTo>
                        <a:lnTo>
                          <a:pt x="41" y="22"/>
                        </a:lnTo>
                        <a:lnTo>
                          <a:pt x="39" y="29"/>
                        </a:lnTo>
                        <a:lnTo>
                          <a:pt x="39" y="30"/>
                        </a:lnTo>
                        <a:lnTo>
                          <a:pt x="48" y="37"/>
                        </a:lnTo>
                        <a:lnTo>
                          <a:pt x="52" y="89"/>
                        </a:lnTo>
                        <a:lnTo>
                          <a:pt x="47" y="98"/>
                        </a:lnTo>
                        <a:lnTo>
                          <a:pt x="49" y="127"/>
                        </a:lnTo>
                        <a:lnTo>
                          <a:pt x="46" y="129"/>
                        </a:lnTo>
                        <a:lnTo>
                          <a:pt x="44" y="174"/>
                        </a:lnTo>
                        <a:lnTo>
                          <a:pt x="42" y="219"/>
                        </a:lnTo>
                        <a:lnTo>
                          <a:pt x="42" y="221"/>
                        </a:lnTo>
                        <a:lnTo>
                          <a:pt x="52" y="230"/>
                        </a:lnTo>
                        <a:lnTo>
                          <a:pt x="50" y="231"/>
                        </a:lnTo>
                        <a:lnTo>
                          <a:pt x="47" y="233"/>
                        </a:lnTo>
                        <a:lnTo>
                          <a:pt x="42" y="231"/>
                        </a:lnTo>
                        <a:lnTo>
                          <a:pt x="36" y="228"/>
                        </a:lnTo>
                        <a:lnTo>
                          <a:pt x="32" y="227"/>
                        </a:lnTo>
                        <a:lnTo>
                          <a:pt x="32" y="234"/>
                        </a:lnTo>
                        <a:lnTo>
                          <a:pt x="30" y="234"/>
                        </a:lnTo>
                        <a:lnTo>
                          <a:pt x="33" y="240"/>
                        </a:lnTo>
                        <a:lnTo>
                          <a:pt x="32" y="251"/>
                        </a:lnTo>
                        <a:lnTo>
                          <a:pt x="28" y="253"/>
                        </a:lnTo>
                        <a:lnTo>
                          <a:pt x="23" y="244"/>
                        </a:lnTo>
                        <a:lnTo>
                          <a:pt x="23" y="237"/>
                        </a:lnTo>
                        <a:lnTo>
                          <a:pt x="21" y="237"/>
                        </a:lnTo>
                        <a:lnTo>
                          <a:pt x="19" y="179"/>
                        </a:lnTo>
                        <a:lnTo>
                          <a:pt x="21" y="174"/>
                        </a:lnTo>
                        <a:lnTo>
                          <a:pt x="15" y="135"/>
                        </a:lnTo>
                        <a:lnTo>
                          <a:pt x="11" y="134"/>
                        </a:lnTo>
                        <a:lnTo>
                          <a:pt x="10" y="93"/>
                        </a:lnTo>
                        <a:lnTo>
                          <a:pt x="0" y="89"/>
                        </a:lnTo>
                        <a:lnTo>
                          <a:pt x="4" y="46"/>
                        </a:lnTo>
                        <a:lnTo>
                          <a:pt x="19" y="34"/>
                        </a:lnTo>
                        <a:lnTo>
                          <a:pt x="23" y="30"/>
                        </a:lnTo>
                        <a:lnTo>
                          <a:pt x="23" y="25"/>
                        </a:lnTo>
                        <a:lnTo>
                          <a:pt x="22" y="22"/>
                        </a:lnTo>
                        <a:lnTo>
                          <a:pt x="20" y="20"/>
                        </a:lnTo>
                        <a:lnTo>
                          <a:pt x="18" y="17"/>
                        </a:lnTo>
                        <a:lnTo>
                          <a:pt x="17" y="14"/>
                        </a:lnTo>
                        <a:lnTo>
                          <a:pt x="17" y="12"/>
                        </a:lnTo>
                        <a:lnTo>
                          <a:pt x="18" y="8"/>
                        </a:lnTo>
                        <a:lnTo>
                          <a:pt x="20" y="5"/>
                        </a:lnTo>
                        <a:lnTo>
                          <a:pt x="23" y="2"/>
                        </a:lnTo>
                        <a:lnTo>
                          <a:pt x="26" y="0"/>
                        </a:lnTo>
                        <a:lnTo>
                          <a:pt x="30" y="0"/>
                        </a:lnTo>
                        <a:lnTo>
                          <a:pt x="33" y="1"/>
                        </a:lnTo>
                        <a:lnTo>
                          <a:pt x="36" y="2"/>
                        </a:lnTo>
                        <a:lnTo>
                          <a:pt x="40" y="5"/>
                        </a:lnTo>
                      </a:path>
                    </a:pathLst>
                  </a:custGeom>
                  <a:solidFill>
                    <a:schemeClr val="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0" name="Freeform 16"/>
                  <p:cNvSpPr/>
                  <p:nvPr/>
                </p:nvSpPr>
                <p:spPr bwMode="auto">
                  <a:xfrm>
                    <a:off x="3608" y="2761"/>
                    <a:ext cx="103" cy="380"/>
                  </a:xfrm>
                  <a:custGeom>
                    <a:avLst/>
                    <a:gdLst>
                      <a:gd name="T0" fmla="*/ 41 w 106"/>
                      <a:gd name="T1" fmla="*/ 5 h 379"/>
                      <a:gd name="T2" fmla="*/ 36 w 106"/>
                      <a:gd name="T3" fmla="*/ 25 h 379"/>
                      <a:gd name="T4" fmla="*/ 39 w 106"/>
                      <a:gd name="T5" fmla="*/ 28 h 379"/>
                      <a:gd name="T6" fmla="*/ 43 w 106"/>
                      <a:gd name="T7" fmla="*/ 35 h 379"/>
                      <a:gd name="T8" fmla="*/ 47 w 106"/>
                      <a:gd name="T9" fmla="*/ 49 h 379"/>
                      <a:gd name="T10" fmla="*/ 43 w 106"/>
                      <a:gd name="T11" fmla="*/ 51 h 379"/>
                      <a:gd name="T12" fmla="*/ 19 w 106"/>
                      <a:gd name="T13" fmla="*/ 71 h 379"/>
                      <a:gd name="T14" fmla="*/ 4 w 106"/>
                      <a:gd name="T15" fmla="*/ 186 h 379"/>
                      <a:gd name="T16" fmla="*/ 0 w 106"/>
                      <a:gd name="T17" fmla="*/ 206 h 379"/>
                      <a:gd name="T18" fmla="*/ 7 w 106"/>
                      <a:gd name="T19" fmla="*/ 217 h 379"/>
                      <a:gd name="T20" fmla="*/ 11 w 106"/>
                      <a:gd name="T21" fmla="*/ 219 h 379"/>
                      <a:gd name="T22" fmla="*/ 11 w 106"/>
                      <a:gd name="T23" fmla="*/ 202 h 379"/>
                      <a:gd name="T24" fmla="*/ 11 w 106"/>
                      <a:gd name="T25" fmla="*/ 211 h 379"/>
                      <a:gd name="T26" fmla="*/ 18 w 106"/>
                      <a:gd name="T27" fmla="*/ 204 h 379"/>
                      <a:gd name="T28" fmla="*/ 20 w 106"/>
                      <a:gd name="T29" fmla="*/ 190 h 379"/>
                      <a:gd name="T30" fmla="*/ 34 w 106"/>
                      <a:gd name="T31" fmla="*/ 289 h 379"/>
                      <a:gd name="T32" fmla="*/ 41 w 106"/>
                      <a:gd name="T33" fmla="*/ 349 h 379"/>
                      <a:gd name="T34" fmla="*/ 37 w 106"/>
                      <a:gd name="T35" fmla="*/ 376 h 379"/>
                      <a:gd name="T36" fmla="*/ 54 w 106"/>
                      <a:gd name="T37" fmla="*/ 371 h 379"/>
                      <a:gd name="T38" fmla="*/ 49 w 106"/>
                      <a:gd name="T39" fmla="*/ 338 h 379"/>
                      <a:gd name="T40" fmla="*/ 56 w 106"/>
                      <a:gd name="T41" fmla="*/ 291 h 379"/>
                      <a:gd name="T42" fmla="*/ 58 w 106"/>
                      <a:gd name="T43" fmla="*/ 336 h 379"/>
                      <a:gd name="T44" fmla="*/ 61 w 106"/>
                      <a:gd name="T45" fmla="*/ 368 h 379"/>
                      <a:gd name="T46" fmla="*/ 75 w 106"/>
                      <a:gd name="T47" fmla="*/ 369 h 379"/>
                      <a:gd name="T48" fmla="*/ 80 w 106"/>
                      <a:gd name="T49" fmla="*/ 289 h 379"/>
                      <a:gd name="T50" fmla="*/ 86 w 106"/>
                      <a:gd name="T51" fmla="*/ 281 h 379"/>
                      <a:gd name="T52" fmla="*/ 102 w 106"/>
                      <a:gd name="T53" fmla="*/ 289 h 379"/>
                      <a:gd name="T54" fmla="*/ 94 w 106"/>
                      <a:gd name="T55" fmla="*/ 193 h 379"/>
                      <a:gd name="T56" fmla="*/ 96 w 106"/>
                      <a:gd name="T57" fmla="*/ 174 h 379"/>
                      <a:gd name="T58" fmla="*/ 94 w 106"/>
                      <a:gd name="T59" fmla="*/ 127 h 379"/>
                      <a:gd name="T60" fmla="*/ 71 w 106"/>
                      <a:gd name="T61" fmla="*/ 63 h 379"/>
                      <a:gd name="T62" fmla="*/ 70 w 106"/>
                      <a:gd name="T63" fmla="*/ 41 h 379"/>
                      <a:gd name="T64" fmla="*/ 75 w 106"/>
                      <a:gd name="T65" fmla="*/ 37 h 379"/>
                      <a:gd name="T66" fmla="*/ 80 w 106"/>
                      <a:gd name="T67" fmla="*/ 31 h 379"/>
                      <a:gd name="T68" fmla="*/ 77 w 106"/>
                      <a:gd name="T69" fmla="*/ 5 h 379"/>
                      <a:gd name="T70" fmla="*/ 64 w 106"/>
                      <a:gd name="T71" fmla="*/ 1 h 379"/>
                      <a:gd name="T72" fmla="*/ 53 w 106"/>
                      <a:gd name="T73" fmla="*/ 3 h 3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06" h="379">
                        <a:moveTo>
                          <a:pt x="53" y="3"/>
                        </a:moveTo>
                        <a:lnTo>
                          <a:pt x="41" y="5"/>
                        </a:lnTo>
                        <a:lnTo>
                          <a:pt x="36" y="19"/>
                        </a:lnTo>
                        <a:lnTo>
                          <a:pt x="36" y="25"/>
                        </a:lnTo>
                        <a:lnTo>
                          <a:pt x="41" y="25"/>
                        </a:lnTo>
                        <a:lnTo>
                          <a:pt x="39" y="28"/>
                        </a:lnTo>
                        <a:lnTo>
                          <a:pt x="41" y="29"/>
                        </a:lnTo>
                        <a:lnTo>
                          <a:pt x="43" y="35"/>
                        </a:lnTo>
                        <a:lnTo>
                          <a:pt x="44" y="37"/>
                        </a:lnTo>
                        <a:lnTo>
                          <a:pt x="47" y="49"/>
                        </a:lnTo>
                        <a:lnTo>
                          <a:pt x="47" y="51"/>
                        </a:lnTo>
                        <a:lnTo>
                          <a:pt x="43" y="51"/>
                        </a:lnTo>
                        <a:lnTo>
                          <a:pt x="34" y="66"/>
                        </a:lnTo>
                        <a:lnTo>
                          <a:pt x="19" y="71"/>
                        </a:lnTo>
                        <a:lnTo>
                          <a:pt x="11" y="82"/>
                        </a:lnTo>
                        <a:lnTo>
                          <a:pt x="4" y="186"/>
                        </a:lnTo>
                        <a:lnTo>
                          <a:pt x="7" y="187"/>
                        </a:lnTo>
                        <a:lnTo>
                          <a:pt x="0" y="206"/>
                        </a:lnTo>
                        <a:lnTo>
                          <a:pt x="4" y="217"/>
                        </a:lnTo>
                        <a:lnTo>
                          <a:pt x="7" y="217"/>
                        </a:lnTo>
                        <a:lnTo>
                          <a:pt x="8" y="219"/>
                        </a:lnTo>
                        <a:lnTo>
                          <a:pt x="11" y="219"/>
                        </a:lnTo>
                        <a:lnTo>
                          <a:pt x="10" y="208"/>
                        </a:lnTo>
                        <a:lnTo>
                          <a:pt x="11" y="202"/>
                        </a:lnTo>
                        <a:lnTo>
                          <a:pt x="13" y="207"/>
                        </a:lnTo>
                        <a:lnTo>
                          <a:pt x="11" y="211"/>
                        </a:lnTo>
                        <a:lnTo>
                          <a:pt x="13" y="213"/>
                        </a:lnTo>
                        <a:lnTo>
                          <a:pt x="18" y="204"/>
                        </a:lnTo>
                        <a:lnTo>
                          <a:pt x="15" y="189"/>
                        </a:lnTo>
                        <a:lnTo>
                          <a:pt x="20" y="190"/>
                        </a:lnTo>
                        <a:lnTo>
                          <a:pt x="18" y="283"/>
                        </a:lnTo>
                        <a:lnTo>
                          <a:pt x="34" y="289"/>
                        </a:lnTo>
                        <a:lnTo>
                          <a:pt x="43" y="343"/>
                        </a:lnTo>
                        <a:lnTo>
                          <a:pt x="41" y="349"/>
                        </a:lnTo>
                        <a:lnTo>
                          <a:pt x="37" y="371"/>
                        </a:lnTo>
                        <a:lnTo>
                          <a:pt x="37" y="376"/>
                        </a:lnTo>
                        <a:lnTo>
                          <a:pt x="49" y="378"/>
                        </a:lnTo>
                        <a:lnTo>
                          <a:pt x="54" y="371"/>
                        </a:lnTo>
                        <a:lnTo>
                          <a:pt x="51" y="352"/>
                        </a:lnTo>
                        <a:lnTo>
                          <a:pt x="49" y="338"/>
                        </a:lnTo>
                        <a:lnTo>
                          <a:pt x="55" y="291"/>
                        </a:lnTo>
                        <a:lnTo>
                          <a:pt x="56" y="291"/>
                        </a:lnTo>
                        <a:lnTo>
                          <a:pt x="61" y="308"/>
                        </a:lnTo>
                        <a:lnTo>
                          <a:pt x="58" y="336"/>
                        </a:lnTo>
                        <a:lnTo>
                          <a:pt x="54" y="339"/>
                        </a:lnTo>
                        <a:lnTo>
                          <a:pt x="61" y="368"/>
                        </a:lnTo>
                        <a:lnTo>
                          <a:pt x="72" y="371"/>
                        </a:lnTo>
                        <a:lnTo>
                          <a:pt x="75" y="369"/>
                        </a:lnTo>
                        <a:lnTo>
                          <a:pt x="66" y="339"/>
                        </a:lnTo>
                        <a:lnTo>
                          <a:pt x="80" y="289"/>
                        </a:lnTo>
                        <a:lnTo>
                          <a:pt x="86" y="284"/>
                        </a:lnTo>
                        <a:lnTo>
                          <a:pt x="86" y="281"/>
                        </a:lnTo>
                        <a:lnTo>
                          <a:pt x="98" y="282"/>
                        </a:lnTo>
                        <a:lnTo>
                          <a:pt x="102" y="289"/>
                        </a:lnTo>
                        <a:lnTo>
                          <a:pt x="105" y="284"/>
                        </a:lnTo>
                        <a:lnTo>
                          <a:pt x="94" y="193"/>
                        </a:lnTo>
                        <a:lnTo>
                          <a:pt x="96" y="193"/>
                        </a:lnTo>
                        <a:lnTo>
                          <a:pt x="96" y="174"/>
                        </a:lnTo>
                        <a:lnTo>
                          <a:pt x="97" y="172"/>
                        </a:lnTo>
                        <a:lnTo>
                          <a:pt x="94" y="127"/>
                        </a:lnTo>
                        <a:lnTo>
                          <a:pt x="90" y="73"/>
                        </a:lnTo>
                        <a:lnTo>
                          <a:pt x="71" y="63"/>
                        </a:lnTo>
                        <a:lnTo>
                          <a:pt x="64" y="51"/>
                        </a:lnTo>
                        <a:lnTo>
                          <a:pt x="70" y="41"/>
                        </a:lnTo>
                        <a:lnTo>
                          <a:pt x="72" y="42"/>
                        </a:lnTo>
                        <a:lnTo>
                          <a:pt x="75" y="37"/>
                        </a:lnTo>
                        <a:lnTo>
                          <a:pt x="75" y="31"/>
                        </a:lnTo>
                        <a:lnTo>
                          <a:pt x="80" y="31"/>
                        </a:lnTo>
                        <a:lnTo>
                          <a:pt x="82" y="16"/>
                        </a:lnTo>
                        <a:lnTo>
                          <a:pt x="77" y="5"/>
                        </a:lnTo>
                        <a:lnTo>
                          <a:pt x="72" y="1"/>
                        </a:lnTo>
                        <a:lnTo>
                          <a:pt x="64" y="1"/>
                        </a:lnTo>
                        <a:lnTo>
                          <a:pt x="59" y="0"/>
                        </a:lnTo>
                        <a:lnTo>
                          <a:pt x="53" y="3"/>
                        </a:lnTo>
                      </a:path>
                    </a:pathLst>
                  </a:custGeom>
                  <a:solidFill>
                    <a:srgbClr val="EAEC5E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1" name="Freeform 17"/>
                  <p:cNvSpPr/>
                  <p:nvPr/>
                </p:nvSpPr>
                <p:spPr bwMode="auto">
                  <a:xfrm>
                    <a:off x="3683" y="2453"/>
                    <a:ext cx="75" cy="381"/>
                  </a:xfrm>
                  <a:custGeom>
                    <a:avLst/>
                    <a:gdLst>
                      <a:gd name="T0" fmla="*/ 25 w 74"/>
                      <a:gd name="T1" fmla="*/ 5 h 377"/>
                      <a:gd name="T2" fmla="*/ 43 w 74"/>
                      <a:gd name="T3" fmla="*/ 0 h 377"/>
                      <a:gd name="T4" fmla="*/ 56 w 74"/>
                      <a:gd name="T5" fmla="*/ 0 h 377"/>
                      <a:gd name="T6" fmla="*/ 68 w 74"/>
                      <a:gd name="T7" fmla="*/ 3 h 377"/>
                      <a:gd name="T8" fmla="*/ 72 w 74"/>
                      <a:gd name="T9" fmla="*/ 16 h 377"/>
                      <a:gd name="T10" fmla="*/ 72 w 74"/>
                      <a:gd name="T11" fmla="*/ 27 h 377"/>
                      <a:gd name="T12" fmla="*/ 65 w 74"/>
                      <a:gd name="T13" fmla="*/ 40 h 377"/>
                      <a:gd name="T14" fmla="*/ 60 w 74"/>
                      <a:gd name="T15" fmla="*/ 40 h 377"/>
                      <a:gd name="T16" fmla="*/ 68 w 74"/>
                      <a:gd name="T17" fmla="*/ 56 h 377"/>
                      <a:gd name="T18" fmla="*/ 73 w 74"/>
                      <a:gd name="T19" fmla="*/ 80 h 377"/>
                      <a:gd name="T20" fmla="*/ 73 w 74"/>
                      <a:gd name="T21" fmla="*/ 102 h 377"/>
                      <a:gd name="T22" fmla="*/ 72 w 74"/>
                      <a:gd name="T23" fmla="*/ 129 h 377"/>
                      <a:gd name="T24" fmla="*/ 68 w 74"/>
                      <a:gd name="T25" fmla="*/ 156 h 377"/>
                      <a:gd name="T26" fmla="*/ 59 w 74"/>
                      <a:gd name="T27" fmla="*/ 158 h 377"/>
                      <a:gd name="T28" fmla="*/ 59 w 74"/>
                      <a:gd name="T29" fmla="*/ 165 h 377"/>
                      <a:gd name="T30" fmla="*/ 54 w 74"/>
                      <a:gd name="T31" fmla="*/ 169 h 377"/>
                      <a:gd name="T32" fmla="*/ 54 w 74"/>
                      <a:gd name="T33" fmla="*/ 197 h 377"/>
                      <a:gd name="T34" fmla="*/ 50 w 74"/>
                      <a:gd name="T35" fmla="*/ 202 h 377"/>
                      <a:gd name="T36" fmla="*/ 50 w 74"/>
                      <a:gd name="T37" fmla="*/ 253 h 377"/>
                      <a:gd name="T38" fmla="*/ 50 w 74"/>
                      <a:gd name="T39" fmla="*/ 285 h 377"/>
                      <a:gd name="T40" fmla="*/ 56 w 74"/>
                      <a:gd name="T41" fmla="*/ 320 h 377"/>
                      <a:gd name="T42" fmla="*/ 59 w 74"/>
                      <a:gd name="T43" fmla="*/ 366 h 377"/>
                      <a:gd name="T44" fmla="*/ 51 w 74"/>
                      <a:gd name="T45" fmla="*/ 370 h 377"/>
                      <a:gd name="T46" fmla="*/ 51 w 74"/>
                      <a:gd name="T47" fmla="*/ 376 h 377"/>
                      <a:gd name="T48" fmla="*/ 40 w 74"/>
                      <a:gd name="T49" fmla="*/ 376 h 377"/>
                      <a:gd name="T50" fmla="*/ 37 w 74"/>
                      <a:gd name="T51" fmla="*/ 373 h 377"/>
                      <a:gd name="T52" fmla="*/ 32 w 74"/>
                      <a:gd name="T53" fmla="*/ 373 h 377"/>
                      <a:gd name="T54" fmla="*/ 32 w 74"/>
                      <a:gd name="T55" fmla="*/ 376 h 377"/>
                      <a:gd name="T56" fmla="*/ 23 w 74"/>
                      <a:gd name="T57" fmla="*/ 376 h 377"/>
                      <a:gd name="T58" fmla="*/ 5 w 74"/>
                      <a:gd name="T59" fmla="*/ 373 h 377"/>
                      <a:gd name="T60" fmla="*/ 5 w 74"/>
                      <a:gd name="T61" fmla="*/ 370 h 377"/>
                      <a:gd name="T62" fmla="*/ 21 w 74"/>
                      <a:gd name="T63" fmla="*/ 363 h 377"/>
                      <a:gd name="T64" fmla="*/ 21 w 74"/>
                      <a:gd name="T65" fmla="*/ 356 h 377"/>
                      <a:gd name="T66" fmla="*/ 6 w 74"/>
                      <a:gd name="T67" fmla="*/ 353 h 377"/>
                      <a:gd name="T68" fmla="*/ 6 w 74"/>
                      <a:gd name="T69" fmla="*/ 349 h 377"/>
                      <a:gd name="T70" fmla="*/ 17 w 74"/>
                      <a:gd name="T71" fmla="*/ 342 h 377"/>
                      <a:gd name="T72" fmla="*/ 17 w 74"/>
                      <a:gd name="T73" fmla="*/ 290 h 377"/>
                      <a:gd name="T74" fmla="*/ 13 w 74"/>
                      <a:gd name="T75" fmla="*/ 243 h 377"/>
                      <a:gd name="T76" fmla="*/ 14 w 74"/>
                      <a:gd name="T77" fmla="*/ 196 h 377"/>
                      <a:gd name="T78" fmla="*/ 14 w 74"/>
                      <a:gd name="T79" fmla="*/ 169 h 377"/>
                      <a:gd name="T80" fmla="*/ 13 w 74"/>
                      <a:gd name="T81" fmla="*/ 161 h 377"/>
                      <a:gd name="T82" fmla="*/ 13 w 74"/>
                      <a:gd name="T83" fmla="*/ 124 h 377"/>
                      <a:gd name="T84" fmla="*/ 0 w 74"/>
                      <a:gd name="T85" fmla="*/ 116 h 377"/>
                      <a:gd name="T86" fmla="*/ 0 w 74"/>
                      <a:gd name="T87" fmla="*/ 112 h 377"/>
                      <a:gd name="T88" fmla="*/ 28 w 74"/>
                      <a:gd name="T89" fmla="*/ 61 h 377"/>
                      <a:gd name="T90" fmla="*/ 41 w 74"/>
                      <a:gd name="T91" fmla="*/ 54 h 377"/>
                      <a:gd name="T92" fmla="*/ 40 w 74"/>
                      <a:gd name="T93" fmla="*/ 51 h 377"/>
                      <a:gd name="T94" fmla="*/ 30 w 74"/>
                      <a:gd name="T95" fmla="*/ 49 h 377"/>
                      <a:gd name="T96" fmla="*/ 30 w 74"/>
                      <a:gd name="T97" fmla="*/ 46 h 377"/>
                      <a:gd name="T98" fmla="*/ 28 w 74"/>
                      <a:gd name="T99" fmla="*/ 44 h 377"/>
                      <a:gd name="T100" fmla="*/ 28 w 74"/>
                      <a:gd name="T101" fmla="*/ 40 h 377"/>
                      <a:gd name="T102" fmla="*/ 25 w 74"/>
                      <a:gd name="T103" fmla="*/ 39 h 377"/>
                      <a:gd name="T104" fmla="*/ 28 w 74"/>
                      <a:gd name="T105" fmla="*/ 37 h 377"/>
                      <a:gd name="T106" fmla="*/ 26 w 74"/>
                      <a:gd name="T107" fmla="*/ 35 h 377"/>
                      <a:gd name="T108" fmla="*/ 30 w 74"/>
                      <a:gd name="T109" fmla="*/ 27 h 377"/>
                      <a:gd name="T110" fmla="*/ 28 w 74"/>
                      <a:gd name="T111" fmla="*/ 22 h 377"/>
                      <a:gd name="T112" fmla="*/ 30 w 74"/>
                      <a:gd name="T113" fmla="*/ 18 h 377"/>
                      <a:gd name="T114" fmla="*/ 26 w 74"/>
                      <a:gd name="T115" fmla="*/ 14 h 377"/>
                      <a:gd name="T116" fmla="*/ 25 w 74"/>
                      <a:gd name="T117" fmla="*/ 5 h 3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74" h="377">
                        <a:moveTo>
                          <a:pt x="25" y="5"/>
                        </a:moveTo>
                        <a:lnTo>
                          <a:pt x="43" y="0"/>
                        </a:lnTo>
                        <a:lnTo>
                          <a:pt x="56" y="0"/>
                        </a:lnTo>
                        <a:lnTo>
                          <a:pt x="68" y="3"/>
                        </a:lnTo>
                        <a:lnTo>
                          <a:pt x="72" y="16"/>
                        </a:lnTo>
                        <a:lnTo>
                          <a:pt x="72" y="27"/>
                        </a:lnTo>
                        <a:lnTo>
                          <a:pt x="65" y="40"/>
                        </a:lnTo>
                        <a:lnTo>
                          <a:pt x="60" y="40"/>
                        </a:lnTo>
                        <a:lnTo>
                          <a:pt x="68" y="56"/>
                        </a:lnTo>
                        <a:lnTo>
                          <a:pt x="73" y="80"/>
                        </a:lnTo>
                        <a:lnTo>
                          <a:pt x="73" y="102"/>
                        </a:lnTo>
                        <a:lnTo>
                          <a:pt x="72" y="129"/>
                        </a:lnTo>
                        <a:lnTo>
                          <a:pt x="68" y="156"/>
                        </a:lnTo>
                        <a:lnTo>
                          <a:pt x="59" y="158"/>
                        </a:lnTo>
                        <a:lnTo>
                          <a:pt x="59" y="165"/>
                        </a:lnTo>
                        <a:lnTo>
                          <a:pt x="54" y="169"/>
                        </a:lnTo>
                        <a:lnTo>
                          <a:pt x="54" y="197"/>
                        </a:lnTo>
                        <a:lnTo>
                          <a:pt x="50" y="202"/>
                        </a:lnTo>
                        <a:lnTo>
                          <a:pt x="50" y="253"/>
                        </a:lnTo>
                        <a:lnTo>
                          <a:pt x="50" y="285"/>
                        </a:lnTo>
                        <a:lnTo>
                          <a:pt x="56" y="320"/>
                        </a:lnTo>
                        <a:lnTo>
                          <a:pt x="59" y="366"/>
                        </a:lnTo>
                        <a:lnTo>
                          <a:pt x="51" y="370"/>
                        </a:lnTo>
                        <a:lnTo>
                          <a:pt x="51" y="376"/>
                        </a:lnTo>
                        <a:lnTo>
                          <a:pt x="40" y="376"/>
                        </a:lnTo>
                        <a:lnTo>
                          <a:pt x="37" y="373"/>
                        </a:lnTo>
                        <a:lnTo>
                          <a:pt x="32" y="373"/>
                        </a:lnTo>
                        <a:lnTo>
                          <a:pt x="32" y="376"/>
                        </a:lnTo>
                        <a:lnTo>
                          <a:pt x="23" y="376"/>
                        </a:lnTo>
                        <a:lnTo>
                          <a:pt x="5" y="373"/>
                        </a:lnTo>
                        <a:lnTo>
                          <a:pt x="5" y="370"/>
                        </a:lnTo>
                        <a:lnTo>
                          <a:pt x="21" y="363"/>
                        </a:lnTo>
                        <a:lnTo>
                          <a:pt x="21" y="356"/>
                        </a:lnTo>
                        <a:lnTo>
                          <a:pt x="6" y="353"/>
                        </a:lnTo>
                        <a:lnTo>
                          <a:pt x="6" y="349"/>
                        </a:lnTo>
                        <a:lnTo>
                          <a:pt x="17" y="342"/>
                        </a:lnTo>
                        <a:lnTo>
                          <a:pt x="17" y="290"/>
                        </a:lnTo>
                        <a:lnTo>
                          <a:pt x="13" y="243"/>
                        </a:lnTo>
                        <a:lnTo>
                          <a:pt x="14" y="196"/>
                        </a:lnTo>
                        <a:lnTo>
                          <a:pt x="14" y="169"/>
                        </a:lnTo>
                        <a:lnTo>
                          <a:pt x="13" y="161"/>
                        </a:lnTo>
                        <a:lnTo>
                          <a:pt x="13" y="124"/>
                        </a:lnTo>
                        <a:lnTo>
                          <a:pt x="0" y="116"/>
                        </a:lnTo>
                        <a:lnTo>
                          <a:pt x="0" y="112"/>
                        </a:lnTo>
                        <a:lnTo>
                          <a:pt x="28" y="61"/>
                        </a:lnTo>
                        <a:lnTo>
                          <a:pt x="41" y="54"/>
                        </a:lnTo>
                        <a:lnTo>
                          <a:pt x="40" y="51"/>
                        </a:lnTo>
                        <a:lnTo>
                          <a:pt x="30" y="49"/>
                        </a:lnTo>
                        <a:lnTo>
                          <a:pt x="30" y="46"/>
                        </a:lnTo>
                        <a:lnTo>
                          <a:pt x="28" y="44"/>
                        </a:lnTo>
                        <a:lnTo>
                          <a:pt x="28" y="40"/>
                        </a:lnTo>
                        <a:lnTo>
                          <a:pt x="25" y="39"/>
                        </a:lnTo>
                        <a:lnTo>
                          <a:pt x="28" y="37"/>
                        </a:lnTo>
                        <a:lnTo>
                          <a:pt x="26" y="35"/>
                        </a:lnTo>
                        <a:lnTo>
                          <a:pt x="30" y="27"/>
                        </a:lnTo>
                        <a:lnTo>
                          <a:pt x="28" y="22"/>
                        </a:lnTo>
                        <a:lnTo>
                          <a:pt x="30" y="18"/>
                        </a:lnTo>
                        <a:lnTo>
                          <a:pt x="26" y="14"/>
                        </a:lnTo>
                        <a:lnTo>
                          <a:pt x="25" y="5"/>
                        </a:lnTo>
                      </a:path>
                    </a:pathLst>
                  </a:custGeom>
                  <a:solidFill>
                    <a:srgbClr val="EAEC5E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2" name="Freeform 18"/>
                  <p:cNvSpPr/>
                  <p:nvPr/>
                </p:nvSpPr>
                <p:spPr bwMode="auto">
                  <a:xfrm>
                    <a:off x="3567" y="2281"/>
                    <a:ext cx="99" cy="339"/>
                  </a:xfrm>
                  <a:custGeom>
                    <a:avLst/>
                    <a:gdLst>
                      <a:gd name="T0" fmla="*/ 61 w 101"/>
                      <a:gd name="T1" fmla="*/ 4 h 337"/>
                      <a:gd name="T2" fmla="*/ 66 w 101"/>
                      <a:gd name="T3" fmla="*/ 22 h 337"/>
                      <a:gd name="T4" fmla="*/ 63 w 101"/>
                      <a:gd name="T5" fmla="*/ 24 h 337"/>
                      <a:gd name="T6" fmla="*/ 60 w 101"/>
                      <a:gd name="T7" fmla="*/ 31 h 337"/>
                      <a:gd name="T8" fmla="*/ 55 w 101"/>
                      <a:gd name="T9" fmla="*/ 43 h 337"/>
                      <a:gd name="T10" fmla="*/ 60 w 101"/>
                      <a:gd name="T11" fmla="*/ 45 h 337"/>
                      <a:gd name="T12" fmla="*/ 82 w 101"/>
                      <a:gd name="T13" fmla="*/ 63 h 337"/>
                      <a:gd name="T14" fmla="*/ 97 w 101"/>
                      <a:gd name="T15" fmla="*/ 164 h 337"/>
                      <a:gd name="T16" fmla="*/ 100 w 101"/>
                      <a:gd name="T17" fmla="*/ 182 h 337"/>
                      <a:gd name="T18" fmla="*/ 94 w 101"/>
                      <a:gd name="T19" fmla="*/ 191 h 337"/>
                      <a:gd name="T20" fmla="*/ 89 w 101"/>
                      <a:gd name="T21" fmla="*/ 194 h 337"/>
                      <a:gd name="T22" fmla="*/ 89 w 101"/>
                      <a:gd name="T23" fmla="*/ 178 h 337"/>
                      <a:gd name="T24" fmla="*/ 89 w 101"/>
                      <a:gd name="T25" fmla="*/ 187 h 337"/>
                      <a:gd name="T26" fmla="*/ 84 w 101"/>
                      <a:gd name="T27" fmla="*/ 181 h 337"/>
                      <a:gd name="T28" fmla="*/ 81 w 101"/>
                      <a:gd name="T29" fmla="*/ 168 h 337"/>
                      <a:gd name="T30" fmla="*/ 68 w 101"/>
                      <a:gd name="T31" fmla="*/ 255 h 337"/>
                      <a:gd name="T32" fmla="*/ 61 w 101"/>
                      <a:gd name="T33" fmla="*/ 310 h 337"/>
                      <a:gd name="T34" fmla="*/ 65 w 101"/>
                      <a:gd name="T35" fmla="*/ 333 h 337"/>
                      <a:gd name="T36" fmla="*/ 48 w 101"/>
                      <a:gd name="T37" fmla="*/ 330 h 337"/>
                      <a:gd name="T38" fmla="*/ 53 w 101"/>
                      <a:gd name="T39" fmla="*/ 300 h 337"/>
                      <a:gd name="T40" fmla="*/ 46 w 101"/>
                      <a:gd name="T41" fmla="*/ 258 h 337"/>
                      <a:gd name="T42" fmla="*/ 45 w 101"/>
                      <a:gd name="T43" fmla="*/ 298 h 337"/>
                      <a:gd name="T44" fmla="*/ 42 w 101"/>
                      <a:gd name="T45" fmla="*/ 327 h 337"/>
                      <a:gd name="T46" fmla="*/ 29 w 101"/>
                      <a:gd name="T47" fmla="*/ 328 h 337"/>
                      <a:gd name="T48" fmla="*/ 24 w 101"/>
                      <a:gd name="T49" fmla="*/ 255 h 337"/>
                      <a:gd name="T50" fmla="*/ 18 w 101"/>
                      <a:gd name="T51" fmla="*/ 249 h 337"/>
                      <a:gd name="T52" fmla="*/ 3 w 101"/>
                      <a:gd name="T53" fmla="*/ 255 h 337"/>
                      <a:gd name="T54" fmla="*/ 11 w 101"/>
                      <a:gd name="T55" fmla="*/ 171 h 337"/>
                      <a:gd name="T56" fmla="*/ 9 w 101"/>
                      <a:gd name="T57" fmla="*/ 154 h 337"/>
                      <a:gd name="T58" fmla="*/ 11 w 101"/>
                      <a:gd name="T59" fmla="*/ 112 h 337"/>
                      <a:gd name="T60" fmla="*/ 33 w 101"/>
                      <a:gd name="T61" fmla="*/ 56 h 337"/>
                      <a:gd name="T62" fmla="*/ 33 w 101"/>
                      <a:gd name="T63" fmla="*/ 36 h 337"/>
                      <a:gd name="T64" fmla="*/ 29 w 101"/>
                      <a:gd name="T65" fmla="*/ 32 h 337"/>
                      <a:gd name="T66" fmla="*/ 24 w 101"/>
                      <a:gd name="T67" fmla="*/ 27 h 337"/>
                      <a:gd name="T68" fmla="*/ 27 w 101"/>
                      <a:gd name="T69" fmla="*/ 4 h 337"/>
                      <a:gd name="T70" fmla="*/ 40 w 101"/>
                      <a:gd name="T71" fmla="*/ 1 h 337"/>
                      <a:gd name="T72" fmla="*/ 50 w 101"/>
                      <a:gd name="T73" fmla="*/ 2 h 3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01" h="337">
                        <a:moveTo>
                          <a:pt x="50" y="2"/>
                        </a:moveTo>
                        <a:lnTo>
                          <a:pt x="61" y="4"/>
                        </a:lnTo>
                        <a:lnTo>
                          <a:pt x="66" y="17"/>
                        </a:lnTo>
                        <a:lnTo>
                          <a:pt x="66" y="22"/>
                        </a:lnTo>
                        <a:lnTo>
                          <a:pt x="61" y="22"/>
                        </a:lnTo>
                        <a:lnTo>
                          <a:pt x="63" y="24"/>
                        </a:lnTo>
                        <a:lnTo>
                          <a:pt x="61" y="25"/>
                        </a:lnTo>
                        <a:lnTo>
                          <a:pt x="60" y="31"/>
                        </a:lnTo>
                        <a:lnTo>
                          <a:pt x="58" y="32"/>
                        </a:lnTo>
                        <a:lnTo>
                          <a:pt x="55" y="43"/>
                        </a:lnTo>
                        <a:lnTo>
                          <a:pt x="55" y="45"/>
                        </a:lnTo>
                        <a:lnTo>
                          <a:pt x="60" y="45"/>
                        </a:lnTo>
                        <a:lnTo>
                          <a:pt x="68" y="58"/>
                        </a:lnTo>
                        <a:lnTo>
                          <a:pt x="82" y="63"/>
                        </a:lnTo>
                        <a:lnTo>
                          <a:pt x="89" y="72"/>
                        </a:lnTo>
                        <a:lnTo>
                          <a:pt x="97" y="164"/>
                        </a:lnTo>
                        <a:lnTo>
                          <a:pt x="94" y="166"/>
                        </a:lnTo>
                        <a:lnTo>
                          <a:pt x="100" y="182"/>
                        </a:lnTo>
                        <a:lnTo>
                          <a:pt x="97" y="191"/>
                        </a:lnTo>
                        <a:lnTo>
                          <a:pt x="94" y="191"/>
                        </a:lnTo>
                        <a:lnTo>
                          <a:pt x="93" y="194"/>
                        </a:lnTo>
                        <a:lnTo>
                          <a:pt x="89" y="194"/>
                        </a:lnTo>
                        <a:lnTo>
                          <a:pt x="91" y="184"/>
                        </a:lnTo>
                        <a:lnTo>
                          <a:pt x="89" y="178"/>
                        </a:lnTo>
                        <a:lnTo>
                          <a:pt x="88" y="183"/>
                        </a:lnTo>
                        <a:lnTo>
                          <a:pt x="89" y="187"/>
                        </a:lnTo>
                        <a:lnTo>
                          <a:pt x="87" y="189"/>
                        </a:lnTo>
                        <a:lnTo>
                          <a:pt x="84" y="181"/>
                        </a:lnTo>
                        <a:lnTo>
                          <a:pt x="86" y="167"/>
                        </a:lnTo>
                        <a:lnTo>
                          <a:pt x="81" y="168"/>
                        </a:lnTo>
                        <a:lnTo>
                          <a:pt x="84" y="251"/>
                        </a:lnTo>
                        <a:lnTo>
                          <a:pt x="68" y="255"/>
                        </a:lnTo>
                        <a:lnTo>
                          <a:pt x="60" y="305"/>
                        </a:lnTo>
                        <a:lnTo>
                          <a:pt x="61" y="310"/>
                        </a:lnTo>
                        <a:lnTo>
                          <a:pt x="65" y="330"/>
                        </a:lnTo>
                        <a:lnTo>
                          <a:pt x="65" y="333"/>
                        </a:lnTo>
                        <a:lnTo>
                          <a:pt x="53" y="336"/>
                        </a:lnTo>
                        <a:lnTo>
                          <a:pt x="48" y="330"/>
                        </a:lnTo>
                        <a:lnTo>
                          <a:pt x="51" y="313"/>
                        </a:lnTo>
                        <a:lnTo>
                          <a:pt x="53" y="300"/>
                        </a:lnTo>
                        <a:lnTo>
                          <a:pt x="48" y="258"/>
                        </a:lnTo>
                        <a:lnTo>
                          <a:pt x="46" y="258"/>
                        </a:lnTo>
                        <a:lnTo>
                          <a:pt x="42" y="273"/>
                        </a:lnTo>
                        <a:lnTo>
                          <a:pt x="45" y="298"/>
                        </a:lnTo>
                        <a:lnTo>
                          <a:pt x="48" y="301"/>
                        </a:lnTo>
                        <a:lnTo>
                          <a:pt x="42" y="327"/>
                        </a:lnTo>
                        <a:lnTo>
                          <a:pt x="31" y="330"/>
                        </a:lnTo>
                        <a:lnTo>
                          <a:pt x="29" y="328"/>
                        </a:lnTo>
                        <a:lnTo>
                          <a:pt x="37" y="302"/>
                        </a:lnTo>
                        <a:lnTo>
                          <a:pt x="24" y="255"/>
                        </a:lnTo>
                        <a:lnTo>
                          <a:pt x="18" y="252"/>
                        </a:lnTo>
                        <a:lnTo>
                          <a:pt x="18" y="249"/>
                        </a:lnTo>
                        <a:lnTo>
                          <a:pt x="6" y="250"/>
                        </a:lnTo>
                        <a:lnTo>
                          <a:pt x="3" y="255"/>
                        </a:lnTo>
                        <a:lnTo>
                          <a:pt x="0" y="252"/>
                        </a:lnTo>
                        <a:lnTo>
                          <a:pt x="11" y="171"/>
                        </a:lnTo>
                        <a:lnTo>
                          <a:pt x="9" y="171"/>
                        </a:lnTo>
                        <a:lnTo>
                          <a:pt x="9" y="154"/>
                        </a:lnTo>
                        <a:lnTo>
                          <a:pt x="8" y="152"/>
                        </a:lnTo>
                        <a:lnTo>
                          <a:pt x="11" y="112"/>
                        </a:lnTo>
                        <a:lnTo>
                          <a:pt x="15" y="65"/>
                        </a:lnTo>
                        <a:lnTo>
                          <a:pt x="33" y="56"/>
                        </a:lnTo>
                        <a:lnTo>
                          <a:pt x="39" y="45"/>
                        </a:lnTo>
                        <a:lnTo>
                          <a:pt x="33" y="36"/>
                        </a:lnTo>
                        <a:lnTo>
                          <a:pt x="31" y="37"/>
                        </a:lnTo>
                        <a:lnTo>
                          <a:pt x="29" y="32"/>
                        </a:lnTo>
                        <a:lnTo>
                          <a:pt x="29" y="27"/>
                        </a:lnTo>
                        <a:lnTo>
                          <a:pt x="24" y="27"/>
                        </a:lnTo>
                        <a:lnTo>
                          <a:pt x="23" y="14"/>
                        </a:lnTo>
                        <a:lnTo>
                          <a:pt x="27" y="4"/>
                        </a:lnTo>
                        <a:lnTo>
                          <a:pt x="32" y="1"/>
                        </a:lnTo>
                        <a:lnTo>
                          <a:pt x="40" y="1"/>
                        </a:lnTo>
                        <a:lnTo>
                          <a:pt x="44" y="0"/>
                        </a:lnTo>
                        <a:lnTo>
                          <a:pt x="50" y="2"/>
                        </a:lnTo>
                      </a:path>
                    </a:pathLst>
                  </a:custGeom>
                  <a:solidFill>
                    <a:srgbClr val="EAEC5E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3" name="Freeform 19"/>
                  <p:cNvSpPr/>
                  <p:nvPr/>
                </p:nvSpPr>
                <p:spPr bwMode="auto">
                  <a:xfrm>
                    <a:off x="3542" y="2651"/>
                    <a:ext cx="66" cy="239"/>
                  </a:xfrm>
                  <a:custGeom>
                    <a:avLst/>
                    <a:gdLst>
                      <a:gd name="T0" fmla="*/ 25 w 65"/>
                      <a:gd name="T1" fmla="*/ 3 h 237"/>
                      <a:gd name="T2" fmla="*/ 21 w 65"/>
                      <a:gd name="T3" fmla="*/ 15 h 237"/>
                      <a:gd name="T4" fmla="*/ 24 w 65"/>
                      <a:gd name="T5" fmla="*/ 17 h 237"/>
                      <a:gd name="T6" fmla="*/ 26 w 65"/>
                      <a:gd name="T7" fmla="*/ 22 h 237"/>
                      <a:gd name="T8" fmla="*/ 29 w 65"/>
                      <a:gd name="T9" fmla="*/ 30 h 237"/>
                      <a:gd name="T10" fmla="*/ 26 w 65"/>
                      <a:gd name="T11" fmla="*/ 32 h 237"/>
                      <a:gd name="T12" fmla="*/ 12 w 65"/>
                      <a:gd name="T13" fmla="*/ 44 h 237"/>
                      <a:gd name="T14" fmla="*/ 2 w 65"/>
                      <a:gd name="T15" fmla="*/ 116 h 237"/>
                      <a:gd name="T16" fmla="*/ 0 w 65"/>
                      <a:gd name="T17" fmla="*/ 128 h 237"/>
                      <a:gd name="T18" fmla="*/ 4 w 65"/>
                      <a:gd name="T19" fmla="*/ 135 h 237"/>
                      <a:gd name="T20" fmla="*/ 7 w 65"/>
                      <a:gd name="T21" fmla="*/ 136 h 237"/>
                      <a:gd name="T22" fmla="*/ 7 w 65"/>
                      <a:gd name="T23" fmla="*/ 126 h 237"/>
                      <a:gd name="T24" fmla="*/ 7 w 65"/>
                      <a:gd name="T25" fmla="*/ 131 h 237"/>
                      <a:gd name="T26" fmla="*/ 10 w 65"/>
                      <a:gd name="T27" fmla="*/ 128 h 237"/>
                      <a:gd name="T28" fmla="*/ 12 w 65"/>
                      <a:gd name="T29" fmla="*/ 118 h 237"/>
                      <a:gd name="T30" fmla="*/ 21 w 65"/>
                      <a:gd name="T31" fmla="*/ 180 h 237"/>
                      <a:gd name="T32" fmla="*/ 25 w 65"/>
                      <a:gd name="T33" fmla="*/ 218 h 237"/>
                      <a:gd name="T34" fmla="*/ 23 w 65"/>
                      <a:gd name="T35" fmla="*/ 234 h 237"/>
                      <a:gd name="T36" fmla="*/ 33 w 65"/>
                      <a:gd name="T37" fmla="*/ 232 h 237"/>
                      <a:gd name="T38" fmla="*/ 30 w 65"/>
                      <a:gd name="T39" fmla="*/ 211 h 237"/>
                      <a:gd name="T40" fmla="*/ 34 w 65"/>
                      <a:gd name="T41" fmla="*/ 182 h 237"/>
                      <a:gd name="T42" fmla="*/ 36 w 65"/>
                      <a:gd name="T43" fmla="*/ 209 h 237"/>
                      <a:gd name="T44" fmla="*/ 37 w 65"/>
                      <a:gd name="T45" fmla="*/ 229 h 237"/>
                      <a:gd name="T46" fmla="*/ 45 w 65"/>
                      <a:gd name="T47" fmla="*/ 230 h 237"/>
                      <a:gd name="T48" fmla="*/ 49 w 65"/>
                      <a:gd name="T49" fmla="*/ 180 h 237"/>
                      <a:gd name="T50" fmla="*/ 52 w 65"/>
                      <a:gd name="T51" fmla="*/ 175 h 237"/>
                      <a:gd name="T52" fmla="*/ 62 w 65"/>
                      <a:gd name="T53" fmla="*/ 180 h 237"/>
                      <a:gd name="T54" fmla="*/ 57 w 65"/>
                      <a:gd name="T55" fmla="*/ 120 h 237"/>
                      <a:gd name="T56" fmla="*/ 58 w 65"/>
                      <a:gd name="T57" fmla="*/ 108 h 237"/>
                      <a:gd name="T58" fmla="*/ 57 w 65"/>
                      <a:gd name="T59" fmla="*/ 79 h 237"/>
                      <a:gd name="T60" fmla="*/ 43 w 65"/>
                      <a:gd name="T61" fmla="*/ 39 h 237"/>
                      <a:gd name="T62" fmla="*/ 43 w 65"/>
                      <a:gd name="T63" fmla="*/ 26 h 237"/>
                      <a:gd name="T64" fmla="*/ 45 w 65"/>
                      <a:gd name="T65" fmla="*/ 23 h 237"/>
                      <a:gd name="T66" fmla="*/ 49 w 65"/>
                      <a:gd name="T67" fmla="*/ 19 h 237"/>
                      <a:gd name="T68" fmla="*/ 46 w 65"/>
                      <a:gd name="T69" fmla="*/ 3 h 237"/>
                      <a:gd name="T70" fmla="*/ 39 w 65"/>
                      <a:gd name="T71" fmla="*/ 1 h 237"/>
                      <a:gd name="T72" fmla="*/ 32 w 65"/>
                      <a:gd name="T73" fmla="*/ 1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65" h="237">
                        <a:moveTo>
                          <a:pt x="32" y="1"/>
                        </a:moveTo>
                        <a:lnTo>
                          <a:pt x="25" y="3"/>
                        </a:lnTo>
                        <a:lnTo>
                          <a:pt x="21" y="12"/>
                        </a:lnTo>
                        <a:lnTo>
                          <a:pt x="21" y="15"/>
                        </a:lnTo>
                        <a:lnTo>
                          <a:pt x="25" y="15"/>
                        </a:lnTo>
                        <a:lnTo>
                          <a:pt x="24" y="17"/>
                        </a:lnTo>
                        <a:lnTo>
                          <a:pt x="25" y="18"/>
                        </a:lnTo>
                        <a:lnTo>
                          <a:pt x="26" y="22"/>
                        </a:lnTo>
                        <a:lnTo>
                          <a:pt x="27" y="23"/>
                        </a:lnTo>
                        <a:lnTo>
                          <a:pt x="29" y="30"/>
                        </a:lnTo>
                        <a:lnTo>
                          <a:pt x="29" y="32"/>
                        </a:lnTo>
                        <a:lnTo>
                          <a:pt x="26" y="32"/>
                        </a:lnTo>
                        <a:lnTo>
                          <a:pt x="21" y="41"/>
                        </a:lnTo>
                        <a:lnTo>
                          <a:pt x="12" y="44"/>
                        </a:lnTo>
                        <a:lnTo>
                          <a:pt x="7" y="51"/>
                        </a:lnTo>
                        <a:lnTo>
                          <a:pt x="2" y="116"/>
                        </a:lnTo>
                        <a:lnTo>
                          <a:pt x="4" y="116"/>
                        </a:lnTo>
                        <a:lnTo>
                          <a:pt x="0" y="128"/>
                        </a:lnTo>
                        <a:lnTo>
                          <a:pt x="2" y="135"/>
                        </a:lnTo>
                        <a:lnTo>
                          <a:pt x="4" y="135"/>
                        </a:lnTo>
                        <a:lnTo>
                          <a:pt x="5" y="136"/>
                        </a:lnTo>
                        <a:lnTo>
                          <a:pt x="7" y="136"/>
                        </a:lnTo>
                        <a:lnTo>
                          <a:pt x="5" y="130"/>
                        </a:lnTo>
                        <a:lnTo>
                          <a:pt x="7" y="126"/>
                        </a:lnTo>
                        <a:lnTo>
                          <a:pt x="7" y="129"/>
                        </a:lnTo>
                        <a:lnTo>
                          <a:pt x="7" y="131"/>
                        </a:lnTo>
                        <a:lnTo>
                          <a:pt x="8" y="133"/>
                        </a:lnTo>
                        <a:lnTo>
                          <a:pt x="10" y="128"/>
                        </a:lnTo>
                        <a:lnTo>
                          <a:pt x="9" y="118"/>
                        </a:lnTo>
                        <a:lnTo>
                          <a:pt x="12" y="118"/>
                        </a:lnTo>
                        <a:lnTo>
                          <a:pt x="10" y="176"/>
                        </a:lnTo>
                        <a:lnTo>
                          <a:pt x="21" y="180"/>
                        </a:lnTo>
                        <a:lnTo>
                          <a:pt x="26" y="214"/>
                        </a:lnTo>
                        <a:lnTo>
                          <a:pt x="25" y="218"/>
                        </a:lnTo>
                        <a:lnTo>
                          <a:pt x="23" y="231"/>
                        </a:lnTo>
                        <a:lnTo>
                          <a:pt x="23" y="234"/>
                        </a:lnTo>
                        <a:lnTo>
                          <a:pt x="30" y="236"/>
                        </a:lnTo>
                        <a:lnTo>
                          <a:pt x="33" y="232"/>
                        </a:lnTo>
                        <a:lnTo>
                          <a:pt x="31" y="220"/>
                        </a:lnTo>
                        <a:lnTo>
                          <a:pt x="30" y="211"/>
                        </a:lnTo>
                        <a:lnTo>
                          <a:pt x="34" y="181"/>
                        </a:lnTo>
                        <a:lnTo>
                          <a:pt x="34" y="182"/>
                        </a:lnTo>
                        <a:lnTo>
                          <a:pt x="37" y="192"/>
                        </a:lnTo>
                        <a:lnTo>
                          <a:pt x="36" y="209"/>
                        </a:lnTo>
                        <a:lnTo>
                          <a:pt x="33" y="212"/>
                        </a:lnTo>
                        <a:lnTo>
                          <a:pt x="37" y="229"/>
                        </a:lnTo>
                        <a:lnTo>
                          <a:pt x="44" y="231"/>
                        </a:lnTo>
                        <a:lnTo>
                          <a:pt x="45" y="230"/>
                        </a:lnTo>
                        <a:lnTo>
                          <a:pt x="40" y="212"/>
                        </a:lnTo>
                        <a:lnTo>
                          <a:pt x="49" y="180"/>
                        </a:lnTo>
                        <a:lnTo>
                          <a:pt x="52" y="178"/>
                        </a:lnTo>
                        <a:lnTo>
                          <a:pt x="52" y="175"/>
                        </a:lnTo>
                        <a:lnTo>
                          <a:pt x="60" y="176"/>
                        </a:lnTo>
                        <a:lnTo>
                          <a:pt x="62" y="180"/>
                        </a:lnTo>
                        <a:lnTo>
                          <a:pt x="64" y="178"/>
                        </a:lnTo>
                        <a:lnTo>
                          <a:pt x="57" y="120"/>
                        </a:lnTo>
                        <a:lnTo>
                          <a:pt x="58" y="121"/>
                        </a:lnTo>
                        <a:lnTo>
                          <a:pt x="58" y="108"/>
                        </a:lnTo>
                        <a:lnTo>
                          <a:pt x="59" y="107"/>
                        </a:lnTo>
                        <a:lnTo>
                          <a:pt x="57" y="79"/>
                        </a:lnTo>
                        <a:lnTo>
                          <a:pt x="55" y="45"/>
                        </a:lnTo>
                        <a:lnTo>
                          <a:pt x="43" y="39"/>
                        </a:lnTo>
                        <a:lnTo>
                          <a:pt x="39" y="32"/>
                        </a:lnTo>
                        <a:lnTo>
                          <a:pt x="43" y="26"/>
                        </a:lnTo>
                        <a:lnTo>
                          <a:pt x="44" y="26"/>
                        </a:lnTo>
                        <a:lnTo>
                          <a:pt x="45" y="23"/>
                        </a:lnTo>
                        <a:lnTo>
                          <a:pt x="45" y="19"/>
                        </a:lnTo>
                        <a:lnTo>
                          <a:pt x="49" y="19"/>
                        </a:lnTo>
                        <a:lnTo>
                          <a:pt x="50" y="10"/>
                        </a:lnTo>
                        <a:lnTo>
                          <a:pt x="46" y="3"/>
                        </a:lnTo>
                        <a:lnTo>
                          <a:pt x="44" y="1"/>
                        </a:lnTo>
                        <a:lnTo>
                          <a:pt x="39" y="1"/>
                        </a:lnTo>
                        <a:lnTo>
                          <a:pt x="36" y="0"/>
                        </a:lnTo>
                        <a:lnTo>
                          <a:pt x="32" y="1"/>
                        </a:lnTo>
                      </a:path>
                    </a:pathLst>
                  </a:custGeom>
                  <a:solidFill>
                    <a:srgbClr val="EAEC5E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4" name="Freeform 20"/>
                  <p:cNvSpPr/>
                  <p:nvPr/>
                </p:nvSpPr>
                <p:spPr bwMode="auto">
                  <a:xfrm>
                    <a:off x="3770" y="2537"/>
                    <a:ext cx="213" cy="726"/>
                  </a:xfrm>
                  <a:custGeom>
                    <a:avLst/>
                    <a:gdLst>
                      <a:gd name="T0" fmla="*/ 133 w 211"/>
                      <a:gd name="T1" fmla="*/ 0 h 724"/>
                      <a:gd name="T2" fmla="*/ 87 w 211"/>
                      <a:gd name="T3" fmla="*/ 23 h 724"/>
                      <a:gd name="T4" fmla="*/ 86 w 211"/>
                      <a:gd name="T5" fmla="*/ 71 h 724"/>
                      <a:gd name="T6" fmla="*/ 63 w 211"/>
                      <a:gd name="T7" fmla="*/ 94 h 724"/>
                      <a:gd name="T8" fmla="*/ 15 w 211"/>
                      <a:gd name="T9" fmla="*/ 121 h 724"/>
                      <a:gd name="T10" fmla="*/ 7 w 211"/>
                      <a:gd name="T11" fmla="*/ 260 h 724"/>
                      <a:gd name="T12" fmla="*/ 39 w 211"/>
                      <a:gd name="T13" fmla="*/ 380 h 724"/>
                      <a:gd name="T14" fmla="*/ 73 w 211"/>
                      <a:gd name="T15" fmla="*/ 471 h 724"/>
                      <a:gd name="T16" fmla="*/ 66 w 211"/>
                      <a:gd name="T17" fmla="*/ 687 h 724"/>
                      <a:gd name="T18" fmla="*/ 72 w 211"/>
                      <a:gd name="T19" fmla="*/ 696 h 724"/>
                      <a:gd name="T20" fmla="*/ 105 w 211"/>
                      <a:gd name="T21" fmla="*/ 719 h 724"/>
                      <a:gd name="T22" fmla="*/ 123 w 211"/>
                      <a:gd name="T23" fmla="*/ 723 h 724"/>
                      <a:gd name="T24" fmla="*/ 135 w 211"/>
                      <a:gd name="T25" fmla="*/ 717 h 724"/>
                      <a:gd name="T26" fmla="*/ 128 w 211"/>
                      <a:gd name="T27" fmla="*/ 705 h 724"/>
                      <a:gd name="T28" fmla="*/ 112 w 211"/>
                      <a:gd name="T29" fmla="*/ 687 h 724"/>
                      <a:gd name="T30" fmla="*/ 119 w 211"/>
                      <a:gd name="T31" fmla="*/ 680 h 724"/>
                      <a:gd name="T32" fmla="*/ 161 w 211"/>
                      <a:gd name="T33" fmla="*/ 694 h 724"/>
                      <a:gd name="T34" fmla="*/ 164 w 211"/>
                      <a:gd name="T35" fmla="*/ 685 h 724"/>
                      <a:gd name="T36" fmla="*/ 161 w 211"/>
                      <a:gd name="T37" fmla="*/ 676 h 724"/>
                      <a:gd name="T38" fmla="*/ 148 w 211"/>
                      <a:gd name="T39" fmla="*/ 663 h 724"/>
                      <a:gd name="T40" fmla="*/ 162 w 211"/>
                      <a:gd name="T41" fmla="*/ 592 h 724"/>
                      <a:gd name="T42" fmla="*/ 176 w 211"/>
                      <a:gd name="T43" fmla="*/ 396 h 724"/>
                      <a:gd name="T44" fmla="*/ 183 w 211"/>
                      <a:gd name="T45" fmla="*/ 357 h 724"/>
                      <a:gd name="T46" fmla="*/ 171 w 211"/>
                      <a:gd name="T47" fmla="*/ 279 h 724"/>
                      <a:gd name="T48" fmla="*/ 181 w 211"/>
                      <a:gd name="T49" fmla="*/ 278 h 724"/>
                      <a:gd name="T50" fmla="*/ 189 w 211"/>
                      <a:gd name="T51" fmla="*/ 275 h 724"/>
                      <a:gd name="T52" fmla="*/ 197 w 211"/>
                      <a:gd name="T53" fmla="*/ 270 h 724"/>
                      <a:gd name="T54" fmla="*/ 203 w 211"/>
                      <a:gd name="T55" fmla="*/ 264 h 724"/>
                      <a:gd name="T56" fmla="*/ 210 w 211"/>
                      <a:gd name="T57" fmla="*/ 254 h 724"/>
                      <a:gd name="T58" fmla="*/ 204 w 211"/>
                      <a:gd name="T59" fmla="*/ 215 h 724"/>
                      <a:gd name="T60" fmla="*/ 154 w 211"/>
                      <a:gd name="T61" fmla="*/ 124 h 724"/>
                      <a:gd name="T62" fmla="*/ 135 w 211"/>
                      <a:gd name="T63" fmla="*/ 97 h 724"/>
                      <a:gd name="T64" fmla="*/ 157 w 211"/>
                      <a:gd name="T65" fmla="*/ 80 h 724"/>
                      <a:gd name="T66" fmla="*/ 159 w 211"/>
                      <a:gd name="T67" fmla="*/ 76 h 724"/>
                      <a:gd name="T68" fmla="*/ 166 w 211"/>
                      <a:gd name="T69" fmla="*/ 68 h 724"/>
                      <a:gd name="T70" fmla="*/ 165 w 211"/>
                      <a:gd name="T71" fmla="*/ 48 h 724"/>
                      <a:gd name="T72" fmla="*/ 168 w 211"/>
                      <a:gd name="T73" fmla="*/ 25 h 7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211" h="724">
                        <a:moveTo>
                          <a:pt x="158" y="9"/>
                        </a:moveTo>
                        <a:lnTo>
                          <a:pt x="133" y="0"/>
                        </a:lnTo>
                        <a:lnTo>
                          <a:pt x="105" y="4"/>
                        </a:lnTo>
                        <a:lnTo>
                          <a:pt x="87" y="23"/>
                        </a:lnTo>
                        <a:lnTo>
                          <a:pt x="80" y="45"/>
                        </a:lnTo>
                        <a:lnTo>
                          <a:pt x="86" y="71"/>
                        </a:lnTo>
                        <a:lnTo>
                          <a:pt x="76" y="87"/>
                        </a:lnTo>
                        <a:lnTo>
                          <a:pt x="63" y="94"/>
                        </a:lnTo>
                        <a:lnTo>
                          <a:pt x="26" y="110"/>
                        </a:lnTo>
                        <a:lnTo>
                          <a:pt x="15" y="121"/>
                        </a:lnTo>
                        <a:lnTo>
                          <a:pt x="0" y="236"/>
                        </a:lnTo>
                        <a:lnTo>
                          <a:pt x="7" y="260"/>
                        </a:lnTo>
                        <a:lnTo>
                          <a:pt x="45" y="270"/>
                        </a:lnTo>
                        <a:lnTo>
                          <a:pt x="39" y="380"/>
                        </a:lnTo>
                        <a:lnTo>
                          <a:pt x="66" y="390"/>
                        </a:lnTo>
                        <a:lnTo>
                          <a:pt x="73" y="471"/>
                        </a:lnTo>
                        <a:lnTo>
                          <a:pt x="67" y="610"/>
                        </a:lnTo>
                        <a:lnTo>
                          <a:pt x="66" y="687"/>
                        </a:lnTo>
                        <a:lnTo>
                          <a:pt x="72" y="689"/>
                        </a:lnTo>
                        <a:lnTo>
                          <a:pt x="72" y="696"/>
                        </a:lnTo>
                        <a:lnTo>
                          <a:pt x="93" y="710"/>
                        </a:lnTo>
                        <a:lnTo>
                          <a:pt x="105" y="719"/>
                        </a:lnTo>
                        <a:lnTo>
                          <a:pt x="113" y="723"/>
                        </a:lnTo>
                        <a:lnTo>
                          <a:pt x="123" y="723"/>
                        </a:lnTo>
                        <a:lnTo>
                          <a:pt x="133" y="720"/>
                        </a:lnTo>
                        <a:lnTo>
                          <a:pt x="135" y="717"/>
                        </a:lnTo>
                        <a:lnTo>
                          <a:pt x="133" y="711"/>
                        </a:lnTo>
                        <a:lnTo>
                          <a:pt x="128" y="705"/>
                        </a:lnTo>
                        <a:lnTo>
                          <a:pt x="121" y="695"/>
                        </a:lnTo>
                        <a:lnTo>
                          <a:pt x="112" y="687"/>
                        </a:lnTo>
                        <a:lnTo>
                          <a:pt x="119" y="689"/>
                        </a:lnTo>
                        <a:lnTo>
                          <a:pt x="119" y="680"/>
                        </a:lnTo>
                        <a:lnTo>
                          <a:pt x="148" y="694"/>
                        </a:lnTo>
                        <a:lnTo>
                          <a:pt x="161" y="694"/>
                        </a:lnTo>
                        <a:lnTo>
                          <a:pt x="164" y="689"/>
                        </a:lnTo>
                        <a:lnTo>
                          <a:pt x="164" y="685"/>
                        </a:lnTo>
                        <a:lnTo>
                          <a:pt x="163" y="680"/>
                        </a:lnTo>
                        <a:lnTo>
                          <a:pt x="161" y="676"/>
                        </a:lnTo>
                        <a:lnTo>
                          <a:pt x="153" y="669"/>
                        </a:lnTo>
                        <a:lnTo>
                          <a:pt x="148" y="663"/>
                        </a:lnTo>
                        <a:lnTo>
                          <a:pt x="155" y="661"/>
                        </a:lnTo>
                        <a:lnTo>
                          <a:pt x="162" y="592"/>
                        </a:lnTo>
                        <a:lnTo>
                          <a:pt x="165" y="484"/>
                        </a:lnTo>
                        <a:lnTo>
                          <a:pt x="176" y="396"/>
                        </a:lnTo>
                        <a:lnTo>
                          <a:pt x="180" y="371"/>
                        </a:lnTo>
                        <a:lnTo>
                          <a:pt x="183" y="357"/>
                        </a:lnTo>
                        <a:lnTo>
                          <a:pt x="174" y="303"/>
                        </a:lnTo>
                        <a:lnTo>
                          <a:pt x="171" y="279"/>
                        </a:lnTo>
                        <a:lnTo>
                          <a:pt x="177" y="282"/>
                        </a:lnTo>
                        <a:lnTo>
                          <a:pt x="181" y="278"/>
                        </a:lnTo>
                        <a:lnTo>
                          <a:pt x="183" y="278"/>
                        </a:lnTo>
                        <a:lnTo>
                          <a:pt x="189" y="275"/>
                        </a:lnTo>
                        <a:lnTo>
                          <a:pt x="195" y="276"/>
                        </a:lnTo>
                        <a:lnTo>
                          <a:pt x="197" y="270"/>
                        </a:lnTo>
                        <a:lnTo>
                          <a:pt x="201" y="269"/>
                        </a:lnTo>
                        <a:lnTo>
                          <a:pt x="203" y="264"/>
                        </a:lnTo>
                        <a:lnTo>
                          <a:pt x="207" y="260"/>
                        </a:lnTo>
                        <a:lnTo>
                          <a:pt x="210" y="254"/>
                        </a:lnTo>
                        <a:lnTo>
                          <a:pt x="199" y="230"/>
                        </a:lnTo>
                        <a:lnTo>
                          <a:pt x="204" y="215"/>
                        </a:lnTo>
                        <a:lnTo>
                          <a:pt x="184" y="230"/>
                        </a:lnTo>
                        <a:lnTo>
                          <a:pt x="154" y="124"/>
                        </a:lnTo>
                        <a:lnTo>
                          <a:pt x="130" y="102"/>
                        </a:lnTo>
                        <a:lnTo>
                          <a:pt x="135" y="97"/>
                        </a:lnTo>
                        <a:lnTo>
                          <a:pt x="155" y="94"/>
                        </a:lnTo>
                        <a:lnTo>
                          <a:pt x="157" y="80"/>
                        </a:lnTo>
                        <a:lnTo>
                          <a:pt x="151" y="77"/>
                        </a:lnTo>
                        <a:lnTo>
                          <a:pt x="159" y="76"/>
                        </a:lnTo>
                        <a:lnTo>
                          <a:pt x="158" y="71"/>
                        </a:lnTo>
                        <a:lnTo>
                          <a:pt x="166" y="68"/>
                        </a:lnTo>
                        <a:lnTo>
                          <a:pt x="160" y="50"/>
                        </a:lnTo>
                        <a:lnTo>
                          <a:pt x="165" y="48"/>
                        </a:lnTo>
                        <a:lnTo>
                          <a:pt x="162" y="25"/>
                        </a:lnTo>
                        <a:lnTo>
                          <a:pt x="168" y="25"/>
                        </a:lnTo>
                        <a:lnTo>
                          <a:pt x="158" y="9"/>
                        </a:ln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5" name="Freeform 21"/>
                  <p:cNvSpPr/>
                  <p:nvPr/>
                </p:nvSpPr>
                <p:spPr bwMode="auto">
                  <a:xfrm>
                    <a:off x="3358" y="2498"/>
                    <a:ext cx="156" cy="694"/>
                  </a:xfrm>
                  <a:custGeom>
                    <a:avLst/>
                    <a:gdLst>
                      <a:gd name="T0" fmla="*/ 118 w 156"/>
                      <a:gd name="T1" fmla="*/ 14 h 691"/>
                      <a:gd name="T2" fmla="*/ 118 w 156"/>
                      <a:gd name="T3" fmla="*/ 31 h 691"/>
                      <a:gd name="T4" fmla="*/ 116 w 156"/>
                      <a:gd name="T5" fmla="*/ 36 h 691"/>
                      <a:gd name="T6" fmla="*/ 123 w 156"/>
                      <a:gd name="T7" fmla="*/ 50 h 691"/>
                      <a:gd name="T8" fmla="*/ 118 w 156"/>
                      <a:gd name="T9" fmla="*/ 53 h 691"/>
                      <a:gd name="T10" fmla="*/ 120 w 156"/>
                      <a:gd name="T11" fmla="*/ 59 h 691"/>
                      <a:gd name="T12" fmla="*/ 115 w 156"/>
                      <a:gd name="T13" fmla="*/ 77 h 691"/>
                      <a:gd name="T14" fmla="*/ 115 w 156"/>
                      <a:gd name="T15" fmla="*/ 82 h 691"/>
                      <a:gd name="T16" fmla="*/ 142 w 156"/>
                      <a:gd name="T17" fmla="*/ 100 h 691"/>
                      <a:gd name="T18" fmla="*/ 155 w 156"/>
                      <a:gd name="T19" fmla="*/ 242 h 691"/>
                      <a:gd name="T20" fmla="*/ 138 w 156"/>
                      <a:gd name="T21" fmla="*/ 268 h 691"/>
                      <a:gd name="T22" fmla="*/ 145 w 156"/>
                      <a:gd name="T23" fmla="*/ 344 h 691"/>
                      <a:gd name="T24" fmla="*/ 133 w 156"/>
                      <a:gd name="T25" fmla="*/ 353 h 691"/>
                      <a:gd name="T26" fmla="*/ 129 w 156"/>
                      <a:gd name="T27" fmla="*/ 474 h 691"/>
                      <a:gd name="T28" fmla="*/ 121 w 156"/>
                      <a:gd name="T29" fmla="*/ 596 h 691"/>
                      <a:gd name="T30" fmla="*/ 124 w 156"/>
                      <a:gd name="T31" fmla="*/ 603 h 691"/>
                      <a:gd name="T32" fmla="*/ 151 w 156"/>
                      <a:gd name="T33" fmla="*/ 627 h 691"/>
                      <a:gd name="T34" fmla="*/ 148 w 156"/>
                      <a:gd name="T35" fmla="*/ 631 h 691"/>
                      <a:gd name="T36" fmla="*/ 138 w 156"/>
                      <a:gd name="T37" fmla="*/ 635 h 691"/>
                      <a:gd name="T38" fmla="*/ 122 w 156"/>
                      <a:gd name="T39" fmla="*/ 631 h 691"/>
                      <a:gd name="T40" fmla="*/ 107 w 156"/>
                      <a:gd name="T41" fmla="*/ 622 h 691"/>
                      <a:gd name="T42" fmla="*/ 94 w 156"/>
                      <a:gd name="T43" fmla="*/ 617 h 691"/>
                      <a:gd name="T44" fmla="*/ 94 w 156"/>
                      <a:gd name="T45" fmla="*/ 638 h 691"/>
                      <a:gd name="T46" fmla="*/ 88 w 156"/>
                      <a:gd name="T47" fmla="*/ 639 h 691"/>
                      <a:gd name="T48" fmla="*/ 97 w 156"/>
                      <a:gd name="T49" fmla="*/ 656 h 691"/>
                      <a:gd name="T50" fmla="*/ 93 w 156"/>
                      <a:gd name="T51" fmla="*/ 686 h 691"/>
                      <a:gd name="T52" fmla="*/ 84 w 156"/>
                      <a:gd name="T53" fmla="*/ 690 h 691"/>
                      <a:gd name="T54" fmla="*/ 67 w 156"/>
                      <a:gd name="T55" fmla="*/ 665 h 691"/>
                      <a:gd name="T56" fmla="*/ 67 w 156"/>
                      <a:gd name="T57" fmla="*/ 648 h 691"/>
                      <a:gd name="T58" fmla="*/ 62 w 156"/>
                      <a:gd name="T59" fmla="*/ 646 h 691"/>
                      <a:gd name="T60" fmla="*/ 55 w 156"/>
                      <a:gd name="T61" fmla="*/ 489 h 691"/>
                      <a:gd name="T62" fmla="*/ 62 w 156"/>
                      <a:gd name="T63" fmla="*/ 474 h 691"/>
                      <a:gd name="T64" fmla="*/ 44 w 156"/>
                      <a:gd name="T65" fmla="*/ 368 h 691"/>
                      <a:gd name="T66" fmla="*/ 33 w 156"/>
                      <a:gd name="T67" fmla="*/ 364 h 691"/>
                      <a:gd name="T68" fmla="*/ 29 w 156"/>
                      <a:gd name="T69" fmla="*/ 255 h 691"/>
                      <a:gd name="T70" fmla="*/ 0 w 156"/>
                      <a:gd name="T71" fmla="*/ 242 h 691"/>
                      <a:gd name="T72" fmla="*/ 12 w 156"/>
                      <a:gd name="T73" fmla="*/ 124 h 691"/>
                      <a:gd name="T74" fmla="*/ 56 w 156"/>
                      <a:gd name="T75" fmla="*/ 91 h 691"/>
                      <a:gd name="T76" fmla="*/ 68 w 156"/>
                      <a:gd name="T77" fmla="*/ 81 h 691"/>
                      <a:gd name="T78" fmla="*/ 68 w 156"/>
                      <a:gd name="T79" fmla="*/ 69 h 691"/>
                      <a:gd name="T80" fmla="*/ 64 w 156"/>
                      <a:gd name="T81" fmla="*/ 61 h 691"/>
                      <a:gd name="T82" fmla="*/ 59 w 156"/>
                      <a:gd name="T83" fmla="*/ 55 h 691"/>
                      <a:gd name="T84" fmla="*/ 54 w 156"/>
                      <a:gd name="T85" fmla="*/ 46 h 691"/>
                      <a:gd name="T86" fmla="*/ 51 w 156"/>
                      <a:gd name="T87" fmla="*/ 39 h 691"/>
                      <a:gd name="T88" fmla="*/ 51 w 156"/>
                      <a:gd name="T89" fmla="*/ 30 h 691"/>
                      <a:gd name="T90" fmla="*/ 54 w 156"/>
                      <a:gd name="T91" fmla="*/ 22 h 691"/>
                      <a:gd name="T92" fmla="*/ 60 w 156"/>
                      <a:gd name="T93" fmla="*/ 12 h 691"/>
                      <a:gd name="T94" fmla="*/ 68 w 156"/>
                      <a:gd name="T95" fmla="*/ 5 h 691"/>
                      <a:gd name="T96" fmla="*/ 77 w 156"/>
                      <a:gd name="T97" fmla="*/ 1 h 691"/>
                      <a:gd name="T98" fmla="*/ 87 w 156"/>
                      <a:gd name="T99" fmla="*/ 0 h 691"/>
                      <a:gd name="T100" fmla="*/ 97 w 156"/>
                      <a:gd name="T101" fmla="*/ 2 h 691"/>
                      <a:gd name="T102" fmla="*/ 107 w 156"/>
                      <a:gd name="T103" fmla="*/ 5 h 691"/>
                      <a:gd name="T104" fmla="*/ 118 w 156"/>
                      <a:gd name="T105" fmla="*/ 14 h 6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56" h="691">
                        <a:moveTo>
                          <a:pt x="118" y="14"/>
                        </a:moveTo>
                        <a:lnTo>
                          <a:pt x="118" y="31"/>
                        </a:lnTo>
                        <a:lnTo>
                          <a:pt x="116" y="36"/>
                        </a:lnTo>
                        <a:lnTo>
                          <a:pt x="123" y="50"/>
                        </a:lnTo>
                        <a:lnTo>
                          <a:pt x="118" y="53"/>
                        </a:lnTo>
                        <a:lnTo>
                          <a:pt x="120" y="59"/>
                        </a:lnTo>
                        <a:lnTo>
                          <a:pt x="115" y="77"/>
                        </a:lnTo>
                        <a:lnTo>
                          <a:pt x="115" y="82"/>
                        </a:lnTo>
                        <a:lnTo>
                          <a:pt x="142" y="100"/>
                        </a:lnTo>
                        <a:lnTo>
                          <a:pt x="155" y="242"/>
                        </a:lnTo>
                        <a:lnTo>
                          <a:pt x="138" y="268"/>
                        </a:lnTo>
                        <a:lnTo>
                          <a:pt x="145" y="344"/>
                        </a:lnTo>
                        <a:lnTo>
                          <a:pt x="133" y="353"/>
                        </a:lnTo>
                        <a:lnTo>
                          <a:pt x="129" y="474"/>
                        </a:lnTo>
                        <a:lnTo>
                          <a:pt x="121" y="596"/>
                        </a:lnTo>
                        <a:lnTo>
                          <a:pt x="124" y="603"/>
                        </a:lnTo>
                        <a:lnTo>
                          <a:pt x="151" y="627"/>
                        </a:lnTo>
                        <a:lnTo>
                          <a:pt x="148" y="631"/>
                        </a:lnTo>
                        <a:lnTo>
                          <a:pt x="138" y="635"/>
                        </a:lnTo>
                        <a:lnTo>
                          <a:pt x="122" y="631"/>
                        </a:lnTo>
                        <a:lnTo>
                          <a:pt x="107" y="622"/>
                        </a:lnTo>
                        <a:lnTo>
                          <a:pt x="94" y="617"/>
                        </a:lnTo>
                        <a:lnTo>
                          <a:pt x="94" y="638"/>
                        </a:lnTo>
                        <a:lnTo>
                          <a:pt x="88" y="639"/>
                        </a:lnTo>
                        <a:lnTo>
                          <a:pt x="97" y="656"/>
                        </a:lnTo>
                        <a:lnTo>
                          <a:pt x="93" y="686"/>
                        </a:lnTo>
                        <a:lnTo>
                          <a:pt x="84" y="690"/>
                        </a:lnTo>
                        <a:lnTo>
                          <a:pt x="67" y="665"/>
                        </a:lnTo>
                        <a:lnTo>
                          <a:pt x="67" y="648"/>
                        </a:lnTo>
                        <a:lnTo>
                          <a:pt x="62" y="646"/>
                        </a:lnTo>
                        <a:lnTo>
                          <a:pt x="55" y="489"/>
                        </a:lnTo>
                        <a:lnTo>
                          <a:pt x="62" y="474"/>
                        </a:lnTo>
                        <a:lnTo>
                          <a:pt x="44" y="368"/>
                        </a:lnTo>
                        <a:lnTo>
                          <a:pt x="33" y="364"/>
                        </a:lnTo>
                        <a:lnTo>
                          <a:pt x="29" y="255"/>
                        </a:lnTo>
                        <a:lnTo>
                          <a:pt x="0" y="242"/>
                        </a:lnTo>
                        <a:lnTo>
                          <a:pt x="12" y="124"/>
                        </a:lnTo>
                        <a:lnTo>
                          <a:pt x="56" y="91"/>
                        </a:lnTo>
                        <a:lnTo>
                          <a:pt x="68" y="81"/>
                        </a:lnTo>
                        <a:lnTo>
                          <a:pt x="68" y="69"/>
                        </a:lnTo>
                        <a:lnTo>
                          <a:pt x="64" y="61"/>
                        </a:lnTo>
                        <a:lnTo>
                          <a:pt x="59" y="55"/>
                        </a:lnTo>
                        <a:lnTo>
                          <a:pt x="54" y="46"/>
                        </a:lnTo>
                        <a:lnTo>
                          <a:pt x="51" y="39"/>
                        </a:lnTo>
                        <a:lnTo>
                          <a:pt x="51" y="30"/>
                        </a:lnTo>
                        <a:lnTo>
                          <a:pt x="54" y="22"/>
                        </a:lnTo>
                        <a:lnTo>
                          <a:pt x="60" y="12"/>
                        </a:lnTo>
                        <a:lnTo>
                          <a:pt x="68" y="5"/>
                        </a:lnTo>
                        <a:lnTo>
                          <a:pt x="77" y="1"/>
                        </a:lnTo>
                        <a:lnTo>
                          <a:pt x="87" y="0"/>
                        </a:lnTo>
                        <a:lnTo>
                          <a:pt x="97" y="2"/>
                        </a:lnTo>
                        <a:lnTo>
                          <a:pt x="107" y="5"/>
                        </a:lnTo>
                        <a:lnTo>
                          <a:pt x="118" y="14"/>
                        </a:ln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6" name="Freeform 22"/>
                  <p:cNvSpPr/>
                  <p:nvPr/>
                </p:nvSpPr>
                <p:spPr bwMode="auto">
                  <a:xfrm>
                    <a:off x="3937" y="2384"/>
                    <a:ext cx="185" cy="629"/>
                  </a:xfrm>
                  <a:custGeom>
                    <a:avLst/>
                    <a:gdLst>
                      <a:gd name="T0" fmla="*/ 112 w 185"/>
                      <a:gd name="T1" fmla="*/ 8 h 628"/>
                      <a:gd name="T2" fmla="*/ 149 w 185"/>
                      <a:gd name="T3" fmla="*/ 0 h 628"/>
                      <a:gd name="T4" fmla="*/ 162 w 185"/>
                      <a:gd name="T5" fmla="*/ 15 h 628"/>
                      <a:gd name="T6" fmla="*/ 169 w 185"/>
                      <a:gd name="T7" fmla="*/ 10 h 628"/>
                      <a:gd name="T8" fmla="*/ 178 w 185"/>
                      <a:gd name="T9" fmla="*/ 38 h 628"/>
                      <a:gd name="T10" fmla="*/ 158 w 185"/>
                      <a:gd name="T11" fmla="*/ 55 h 628"/>
                      <a:gd name="T12" fmla="*/ 157 w 185"/>
                      <a:gd name="T13" fmla="*/ 69 h 628"/>
                      <a:gd name="T14" fmla="*/ 152 w 185"/>
                      <a:gd name="T15" fmla="*/ 71 h 628"/>
                      <a:gd name="T16" fmla="*/ 149 w 185"/>
                      <a:gd name="T17" fmla="*/ 85 h 628"/>
                      <a:gd name="T18" fmla="*/ 134 w 185"/>
                      <a:gd name="T19" fmla="*/ 88 h 628"/>
                      <a:gd name="T20" fmla="*/ 134 w 185"/>
                      <a:gd name="T21" fmla="*/ 94 h 628"/>
                      <a:gd name="T22" fmla="*/ 158 w 185"/>
                      <a:gd name="T23" fmla="*/ 112 h 628"/>
                      <a:gd name="T24" fmla="*/ 178 w 185"/>
                      <a:gd name="T25" fmla="*/ 202 h 628"/>
                      <a:gd name="T26" fmla="*/ 162 w 185"/>
                      <a:gd name="T27" fmla="*/ 226 h 628"/>
                      <a:gd name="T28" fmla="*/ 162 w 185"/>
                      <a:gd name="T29" fmla="*/ 390 h 628"/>
                      <a:gd name="T30" fmla="*/ 143 w 185"/>
                      <a:gd name="T31" fmla="*/ 397 h 628"/>
                      <a:gd name="T32" fmla="*/ 140 w 185"/>
                      <a:gd name="T33" fmla="*/ 423 h 628"/>
                      <a:gd name="T34" fmla="*/ 132 w 185"/>
                      <a:gd name="T35" fmla="*/ 493 h 628"/>
                      <a:gd name="T36" fmla="*/ 132 w 185"/>
                      <a:gd name="T37" fmla="*/ 530 h 628"/>
                      <a:gd name="T38" fmla="*/ 162 w 185"/>
                      <a:gd name="T39" fmla="*/ 553 h 628"/>
                      <a:gd name="T40" fmla="*/ 184 w 185"/>
                      <a:gd name="T41" fmla="*/ 565 h 628"/>
                      <a:gd name="T42" fmla="*/ 184 w 185"/>
                      <a:gd name="T43" fmla="*/ 572 h 628"/>
                      <a:gd name="T44" fmla="*/ 138 w 185"/>
                      <a:gd name="T45" fmla="*/ 561 h 628"/>
                      <a:gd name="T46" fmla="*/ 132 w 185"/>
                      <a:gd name="T47" fmla="*/ 554 h 628"/>
                      <a:gd name="T48" fmla="*/ 127 w 185"/>
                      <a:gd name="T49" fmla="*/ 561 h 628"/>
                      <a:gd name="T50" fmla="*/ 123 w 185"/>
                      <a:gd name="T51" fmla="*/ 561 h 628"/>
                      <a:gd name="T52" fmla="*/ 117 w 185"/>
                      <a:gd name="T53" fmla="*/ 535 h 628"/>
                      <a:gd name="T54" fmla="*/ 112 w 185"/>
                      <a:gd name="T55" fmla="*/ 416 h 628"/>
                      <a:gd name="T56" fmla="*/ 103 w 185"/>
                      <a:gd name="T57" fmla="*/ 416 h 628"/>
                      <a:gd name="T58" fmla="*/ 77 w 185"/>
                      <a:gd name="T59" fmla="*/ 521 h 628"/>
                      <a:gd name="T60" fmla="*/ 77 w 185"/>
                      <a:gd name="T61" fmla="*/ 587 h 628"/>
                      <a:gd name="T62" fmla="*/ 66 w 185"/>
                      <a:gd name="T63" fmla="*/ 619 h 628"/>
                      <a:gd name="T64" fmla="*/ 57 w 185"/>
                      <a:gd name="T65" fmla="*/ 627 h 628"/>
                      <a:gd name="T66" fmla="*/ 51 w 185"/>
                      <a:gd name="T67" fmla="*/ 609 h 628"/>
                      <a:gd name="T68" fmla="*/ 58 w 185"/>
                      <a:gd name="T69" fmla="*/ 590 h 628"/>
                      <a:gd name="T70" fmla="*/ 66 w 185"/>
                      <a:gd name="T71" fmla="*/ 550 h 628"/>
                      <a:gd name="T72" fmla="*/ 68 w 185"/>
                      <a:gd name="T73" fmla="*/ 399 h 628"/>
                      <a:gd name="T74" fmla="*/ 77 w 185"/>
                      <a:gd name="T75" fmla="*/ 252 h 628"/>
                      <a:gd name="T76" fmla="*/ 61 w 185"/>
                      <a:gd name="T77" fmla="*/ 240 h 628"/>
                      <a:gd name="T78" fmla="*/ 61 w 185"/>
                      <a:gd name="T79" fmla="*/ 218 h 628"/>
                      <a:gd name="T80" fmla="*/ 61 w 185"/>
                      <a:gd name="T81" fmla="*/ 179 h 628"/>
                      <a:gd name="T82" fmla="*/ 40 w 185"/>
                      <a:gd name="T83" fmla="*/ 189 h 628"/>
                      <a:gd name="T84" fmla="*/ 58 w 185"/>
                      <a:gd name="T85" fmla="*/ 214 h 628"/>
                      <a:gd name="T86" fmla="*/ 58 w 185"/>
                      <a:gd name="T87" fmla="*/ 237 h 628"/>
                      <a:gd name="T88" fmla="*/ 39 w 185"/>
                      <a:gd name="T89" fmla="*/ 222 h 628"/>
                      <a:gd name="T90" fmla="*/ 29 w 185"/>
                      <a:gd name="T91" fmla="*/ 208 h 628"/>
                      <a:gd name="T92" fmla="*/ 20 w 185"/>
                      <a:gd name="T93" fmla="*/ 211 h 628"/>
                      <a:gd name="T94" fmla="*/ 0 w 185"/>
                      <a:gd name="T95" fmla="*/ 187 h 628"/>
                      <a:gd name="T96" fmla="*/ 0 w 185"/>
                      <a:gd name="T97" fmla="*/ 179 h 628"/>
                      <a:gd name="T98" fmla="*/ 10 w 185"/>
                      <a:gd name="T99" fmla="*/ 175 h 628"/>
                      <a:gd name="T100" fmla="*/ 34 w 185"/>
                      <a:gd name="T101" fmla="*/ 147 h 628"/>
                      <a:gd name="T102" fmla="*/ 58 w 185"/>
                      <a:gd name="T103" fmla="*/ 123 h 628"/>
                      <a:gd name="T104" fmla="*/ 89 w 185"/>
                      <a:gd name="T105" fmla="*/ 95 h 628"/>
                      <a:gd name="T106" fmla="*/ 112 w 185"/>
                      <a:gd name="T107" fmla="*/ 86 h 628"/>
                      <a:gd name="T108" fmla="*/ 112 w 185"/>
                      <a:gd name="T109" fmla="*/ 66 h 628"/>
                      <a:gd name="T110" fmla="*/ 103 w 185"/>
                      <a:gd name="T111" fmla="*/ 56 h 628"/>
                      <a:gd name="T112" fmla="*/ 103 w 185"/>
                      <a:gd name="T113" fmla="*/ 31 h 628"/>
                      <a:gd name="T114" fmla="*/ 97 w 185"/>
                      <a:gd name="T115" fmla="*/ 26 h 628"/>
                      <a:gd name="T116" fmla="*/ 112 w 185"/>
                      <a:gd name="T117" fmla="*/ 8 h 6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85" h="628">
                        <a:moveTo>
                          <a:pt x="112" y="8"/>
                        </a:moveTo>
                        <a:lnTo>
                          <a:pt x="149" y="0"/>
                        </a:lnTo>
                        <a:lnTo>
                          <a:pt x="162" y="15"/>
                        </a:lnTo>
                        <a:lnTo>
                          <a:pt x="169" y="10"/>
                        </a:lnTo>
                        <a:lnTo>
                          <a:pt x="178" y="38"/>
                        </a:lnTo>
                        <a:lnTo>
                          <a:pt x="158" y="55"/>
                        </a:lnTo>
                        <a:lnTo>
                          <a:pt x="157" y="69"/>
                        </a:lnTo>
                        <a:lnTo>
                          <a:pt x="152" y="71"/>
                        </a:lnTo>
                        <a:lnTo>
                          <a:pt x="149" y="85"/>
                        </a:lnTo>
                        <a:lnTo>
                          <a:pt x="134" y="88"/>
                        </a:lnTo>
                        <a:lnTo>
                          <a:pt x="134" y="94"/>
                        </a:lnTo>
                        <a:lnTo>
                          <a:pt x="158" y="112"/>
                        </a:lnTo>
                        <a:lnTo>
                          <a:pt x="178" y="202"/>
                        </a:lnTo>
                        <a:lnTo>
                          <a:pt x="162" y="226"/>
                        </a:lnTo>
                        <a:lnTo>
                          <a:pt x="162" y="390"/>
                        </a:lnTo>
                        <a:lnTo>
                          <a:pt x="143" y="397"/>
                        </a:lnTo>
                        <a:lnTo>
                          <a:pt x="140" y="423"/>
                        </a:lnTo>
                        <a:lnTo>
                          <a:pt x="132" y="493"/>
                        </a:lnTo>
                        <a:lnTo>
                          <a:pt x="132" y="530"/>
                        </a:lnTo>
                        <a:lnTo>
                          <a:pt x="162" y="553"/>
                        </a:lnTo>
                        <a:lnTo>
                          <a:pt x="184" y="565"/>
                        </a:lnTo>
                        <a:lnTo>
                          <a:pt x="184" y="572"/>
                        </a:lnTo>
                        <a:lnTo>
                          <a:pt x="138" y="561"/>
                        </a:lnTo>
                        <a:lnTo>
                          <a:pt x="132" y="554"/>
                        </a:lnTo>
                        <a:lnTo>
                          <a:pt x="127" y="561"/>
                        </a:lnTo>
                        <a:lnTo>
                          <a:pt x="123" y="561"/>
                        </a:lnTo>
                        <a:lnTo>
                          <a:pt x="117" y="535"/>
                        </a:lnTo>
                        <a:lnTo>
                          <a:pt x="112" y="416"/>
                        </a:lnTo>
                        <a:lnTo>
                          <a:pt x="103" y="416"/>
                        </a:lnTo>
                        <a:lnTo>
                          <a:pt x="77" y="521"/>
                        </a:lnTo>
                        <a:lnTo>
                          <a:pt x="77" y="587"/>
                        </a:lnTo>
                        <a:lnTo>
                          <a:pt x="66" y="619"/>
                        </a:lnTo>
                        <a:lnTo>
                          <a:pt x="57" y="627"/>
                        </a:lnTo>
                        <a:lnTo>
                          <a:pt x="51" y="609"/>
                        </a:lnTo>
                        <a:lnTo>
                          <a:pt x="58" y="590"/>
                        </a:lnTo>
                        <a:lnTo>
                          <a:pt x="66" y="550"/>
                        </a:lnTo>
                        <a:lnTo>
                          <a:pt x="68" y="399"/>
                        </a:lnTo>
                        <a:lnTo>
                          <a:pt x="77" y="252"/>
                        </a:lnTo>
                        <a:lnTo>
                          <a:pt x="61" y="240"/>
                        </a:lnTo>
                        <a:lnTo>
                          <a:pt x="61" y="218"/>
                        </a:lnTo>
                        <a:lnTo>
                          <a:pt x="61" y="179"/>
                        </a:lnTo>
                        <a:lnTo>
                          <a:pt x="40" y="189"/>
                        </a:lnTo>
                        <a:lnTo>
                          <a:pt x="58" y="214"/>
                        </a:lnTo>
                        <a:lnTo>
                          <a:pt x="58" y="237"/>
                        </a:lnTo>
                        <a:lnTo>
                          <a:pt x="39" y="222"/>
                        </a:lnTo>
                        <a:lnTo>
                          <a:pt x="29" y="208"/>
                        </a:lnTo>
                        <a:lnTo>
                          <a:pt x="20" y="211"/>
                        </a:lnTo>
                        <a:lnTo>
                          <a:pt x="0" y="187"/>
                        </a:lnTo>
                        <a:lnTo>
                          <a:pt x="0" y="179"/>
                        </a:lnTo>
                        <a:lnTo>
                          <a:pt x="10" y="175"/>
                        </a:lnTo>
                        <a:lnTo>
                          <a:pt x="34" y="147"/>
                        </a:lnTo>
                        <a:lnTo>
                          <a:pt x="58" y="123"/>
                        </a:lnTo>
                        <a:lnTo>
                          <a:pt x="89" y="95"/>
                        </a:lnTo>
                        <a:lnTo>
                          <a:pt x="112" y="86"/>
                        </a:lnTo>
                        <a:lnTo>
                          <a:pt x="112" y="66"/>
                        </a:lnTo>
                        <a:lnTo>
                          <a:pt x="103" y="56"/>
                        </a:lnTo>
                        <a:lnTo>
                          <a:pt x="103" y="31"/>
                        </a:lnTo>
                        <a:lnTo>
                          <a:pt x="97" y="26"/>
                        </a:lnTo>
                        <a:lnTo>
                          <a:pt x="112" y="8"/>
                        </a:ln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87" name="Freeform 23"/>
                  <p:cNvSpPr/>
                  <p:nvPr/>
                </p:nvSpPr>
                <p:spPr bwMode="auto">
                  <a:xfrm>
                    <a:off x="3184" y="2489"/>
                    <a:ext cx="133" cy="602"/>
                  </a:xfrm>
                  <a:custGeom>
                    <a:avLst/>
                    <a:gdLst>
                      <a:gd name="T0" fmla="*/ 30 w 134"/>
                      <a:gd name="T1" fmla="*/ 11 h 601"/>
                      <a:gd name="T2" fmla="*/ 30 w 134"/>
                      <a:gd name="T3" fmla="*/ 27 h 601"/>
                      <a:gd name="T4" fmla="*/ 33 w 134"/>
                      <a:gd name="T5" fmla="*/ 31 h 601"/>
                      <a:gd name="T6" fmla="*/ 27 w 134"/>
                      <a:gd name="T7" fmla="*/ 42 h 601"/>
                      <a:gd name="T8" fmla="*/ 30 w 134"/>
                      <a:gd name="T9" fmla="*/ 46 h 601"/>
                      <a:gd name="T10" fmla="*/ 30 w 134"/>
                      <a:gd name="T11" fmla="*/ 51 h 601"/>
                      <a:gd name="T12" fmla="*/ 34 w 134"/>
                      <a:gd name="T13" fmla="*/ 67 h 601"/>
                      <a:gd name="T14" fmla="*/ 34 w 134"/>
                      <a:gd name="T15" fmla="*/ 70 h 601"/>
                      <a:gd name="T16" fmla="*/ 10 w 134"/>
                      <a:gd name="T17" fmla="*/ 86 h 601"/>
                      <a:gd name="T18" fmla="*/ 0 w 134"/>
                      <a:gd name="T19" fmla="*/ 211 h 601"/>
                      <a:gd name="T20" fmla="*/ 13 w 134"/>
                      <a:gd name="T21" fmla="*/ 232 h 601"/>
                      <a:gd name="T22" fmla="*/ 8 w 134"/>
                      <a:gd name="T23" fmla="*/ 300 h 601"/>
                      <a:gd name="T24" fmla="*/ 17 w 134"/>
                      <a:gd name="T25" fmla="*/ 307 h 601"/>
                      <a:gd name="T26" fmla="*/ 22 w 134"/>
                      <a:gd name="T27" fmla="*/ 413 h 601"/>
                      <a:gd name="T28" fmla="*/ 28 w 134"/>
                      <a:gd name="T29" fmla="*/ 519 h 601"/>
                      <a:gd name="T30" fmla="*/ 25 w 134"/>
                      <a:gd name="T31" fmla="*/ 525 h 601"/>
                      <a:gd name="T32" fmla="*/ 2 w 134"/>
                      <a:gd name="T33" fmla="*/ 545 h 601"/>
                      <a:gd name="T34" fmla="*/ 5 w 134"/>
                      <a:gd name="T35" fmla="*/ 548 h 601"/>
                      <a:gd name="T36" fmla="*/ 13 w 134"/>
                      <a:gd name="T37" fmla="*/ 553 h 601"/>
                      <a:gd name="T38" fmla="*/ 28 w 134"/>
                      <a:gd name="T39" fmla="*/ 548 h 601"/>
                      <a:gd name="T40" fmla="*/ 41 w 134"/>
                      <a:gd name="T41" fmla="*/ 541 h 601"/>
                      <a:gd name="T42" fmla="*/ 52 w 134"/>
                      <a:gd name="T43" fmla="*/ 537 h 601"/>
                      <a:gd name="T44" fmla="*/ 52 w 134"/>
                      <a:gd name="T45" fmla="*/ 555 h 601"/>
                      <a:gd name="T46" fmla="*/ 57 w 134"/>
                      <a:gd name="T47" fmla="*/ 555 h 601"/>
                      <a:gd name="T48" fmla="*/ 49 w 134"/>
                      <a:gd name="T49" fmla="*/ 571 h 601"/>
                      <a:gd name="T50" fmla="*/ 53 w 134"/>
                      <a:gd name="T51" fmla="*/ 596 h 601"/>
                      <a:gd name="T52" fmla="*/ 61 w 134"/>
                      <a:gd name="T53" fmla="*/ 600 h 601"/>
                      <a:gd name="T54" fmla="*/ 75 w 134"/>
                      <a:gd name="T55" fmla="*/ 579 h 601"/>
                      <a:gd name="T56" fmla="*/ 75 w 134"/>
                      <a:gd name="T57" fmla="*/ 563 h 601"/>
                      <a:gd name="T58" fmla="*/ 79 w 134"/>
                      <a:gd name="T59" fmla="*/ 562 h 601"/>
                      <a:gd name="T60" fmla="*/ 85 w 134"/>
                      <a:gd name="T61" fmla="*/ 425 h 601"/>
                      <a:gd name="T62" fmla="*/ 79 w 134"/>
                      <a:gd name="T63" fmla="*/ 412 h 601"/>
                      <a:gd name="T64" fmla="*/ 95 w 134"/>
                      <a:gd name="T65" fmla="*/ 320 h 601"/>
                      <a:gd name="T66" fmla="*/ 105 w 134"/>
                      <a:gd name="T67" fmla="*/ 316 h 601"/>
                      <a:gd name="T68" fmla="*/ 108 w 134"/>
                      <a:gd name="T69" fmla="*/ 221 h 601"/>
                      <a:gd name="T70" fmla="*/ 133 w 134"/>
                      <a:gd name="T71" fmla="*/ 210 h 601"/>
                      <a:gd name="T72" fmla="*/ 123 w 134"/>
                      <a:gd name="T73" fmla="*/ 107 h 601"/>
                      <a:gd name="T74" fmla="*/ 84 w 134"/>
                      <a:gd name="T75" fmla="*/ 79 h 601"/>
                      <a:gd name="T76" fmla="*/ 75 w 134"/>
                      <a:gd name="T77" fmla="*/ 69 h 601"/>
                      <a:gd name="T78" fmla="*/ 75 w 134"/>
                      <a:gd name="T79" fmla="*/ 60 h 601"/>
                      <a:gd name="T80" fmla="*/ 78 w 134"/>
                      <a:gd name="T81" fmla="*/ 53 h 601"/>
                      <a:gd name="T82" fmla="*/ 82 w 134"/>
                      <a:gd name="T83" fmla="*/ 47 h 601"/>
                      <a:gd name="T84" fmla="*/ 86 w 134"/>
                      <a:gd name="T85" fmla="*/ 40 h 601"/>
                      <a:gd name="T86" fmla="*/ 89 w 134"/>
                      <a:gd name="T87" fmla="*/ 33 h 601"/>
                      <a:gd name="T88" fmla="*/ 89 w 134"/>
                      <a:gd name="T89" fmla="*/ 26 h 601"/>
                      <a:gd name="T90" fmla="*/ 86 w 134"/>
                      <a:gd name="T91" fmla="*/ 18 h 601"/>
                      <a:gd name="T92" fmla="*/ 82 w 134"/>
                      <a:gd name="T93" fmla="*/ 10 h 601"/>
                      <a:gd name="T94" fmla="*/ 75 w 134"/>
                      <a:gd name="T95" fmla="*/ 4 h 601"/>
                      <a:gd name="T96" fmla="*/ 67 w 134"/>
                      <a:gd name="T97" fmla="*/ 0 h 601"/>
                      <a:gd name="T98" fmla="*/ 58 w 134"/>
                      <a:gd name="T99" fmla="*/ 0 h 601"/>
                      <a:gd name="T100" fmla="*/ 49 w 134"/>
                      <a:gd name="T101" fmla="*/ 1 h 601"/>
                      <a:gd name="T102" fmla="*/ 41 w 134"/>
                      <a:gd name="T103" fmla="*/ 4 h 601"/>
                      <a:gd name="T104" fmla="*/ 30 w 134"/>
                      <a:gd name="T105" fmla="*/ 11 h 6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34" h="601">
                        <a:moveTo>
                          <a:pt x="30" y="11"/>
                        </a:moveTo>
                        <a:lnTo>
                          <a:pt x="30" y="27"/>
                        </a:lnTo>
                        <a:lnTo>
                          <a:pt x="33" y="31"/>
                        </a:lnTo>
                        <a:lnTo>
                          <a:pt x="27" y="42"/>
                        </a:lnTo>
                        <a:lnTo>
                          <a:pt x="30" y="46"/>
                        </a:lnTo>
                        <a:lnTo>
                          <a:pt x="30" y="51"/>
                        </a:lnTo>
                        <a:lnTo>
                          <a:pt x="34" y="67"/>
                        </a:lnTo>
                        <a:lnTo>
                          <a:pt x="34" y="70"/>
                        </a:lnTo>
                        <a:lnTo>
                          <a:pt x="10" y="86"/>
                        </a:lnTo>
                        <a:lnTo>
                          <a:pt x="0" y="211"/>
                        </a:lnTo>
                        <a:lnTo>
                          <a:pt x="13" y="232"/>
                        </a:lnTo>
                        <a:lnTo>
                          <a:pt x="8" y="300"/>
                        </a:lnTo>
                        <a:lnTo>
                          <a:pt x="17" y="307"/>
                        </a:lnTo>
                        <a:lnTo>
                          <a:pt x="22" y="413"/>
                        </a:lnTo>
                        <a:lnTo>
                          <a:pt x="28" y="519"/>
                        </a:lnTo>
                        <a:lnTo>
                          <a:pt x="25" y="525"/>
                        </a:lnTo>
                        <a:lnTo>
                          <a:pt x="2" y="545"/>
                        </a:lnTo>
                        <a:lnTo>
                          <a:pt x="5" y="548"/>
                        </a:lnTo>
                        <a:lnTo>
                          <a:pt x="13" y="553"/>
                        </a:lnTo>
                        <a:lnTo>
                          <a:pt x="28" y="548"/>
                        </a:lnTo>
                        <a:lnTo>
                          <a:pt x="41" y="541"/>
                        </a:lnTo>
                        <a:lnTo>
                          <a:pt x="52" y="537"/>
                        </a:lnTo>
                        <a:lnTo>
                          <a:pt x="52" y="555"/>
                        </a:lnTo>
                        <a:lnTo>
                          <a:pt x="57" y="555"/>
                        </a:lnTo>
                        <a:lnTo>
                          <a:pt x="49" y="571"/>
                        </a:lnTo>
                        <a:lnTo>
                          <a:pt x="53" y="596"/>
                        </a:lnTo>
                        <a:lnTo>
                          <a:pt x="61" y="600"/>
                        </a:lnTo>
                        <a:lnTo>
                          <a:pt x="75" y="579"/>
                        </a:lnTo>
                        <a:lnTo>
                          <a:pt x="75" y="563"/>
                        </a:lnTo>
                        <a:lnTo>
                          <a:pt x="79" y="562"/>
                        </a:lnTo>
                        <a:lnTo>
                          <a:pt x="85" y="425"/>
                        </a:lnTo>
                        <a:lnTo>
                          <a:pt x="79" y="412"/>
                        </a:lnTo>
                        <a:lnTo>
                          <a:pt x="95" y="320"/>
                        </a:lnTo>
                        <a:lnTo>
                          <a:pt x="105" y="316"/>
                        </a:lnTo>
                        <a:lnTo>
                          <a:pt x="108" y="221"/>
                        </a:lnTo>
                        <a:lnTo>
                          <a:pt x="133" y="210"/>
                        </a:lnTo>
                        <a:lnTo>
                          <a:pt x="123" y="107"/>
                        </a:lnTo>
                        <a:lnTo>
                          <a:pt x="84" y="79"/>
                        </a:lnTo>
                        <a:lnTo>
                          <a:pt x="75" y="69"/>
                        </a:lnTo>
                        <a:lnTo>
                          <a:pt x="75" y="60"/>
                        </a:lnTo>
                        <a:lnTo>
                          <a:pt x="78" y="53"/>
                        </a:lnTo>
                        <a:lnTo>
                          <a:pt x="82" y="47"/>
                        </a:lnTo>
                        <a:lnTo>
                          <a:pt x="86" y="40"/>
                        </a:lnTo>
                        <a:lnTo>
                          <a:pt x="89" y="33"/>
                        </a:lnTo>
                        <a:lnTo>
                          <a:pt x="89" y="26"/>
                        </a:lnTo>
                        <a:lnTo>
                          <a:pt x="86" y="18"/>
                        </a:lnTo>
                        <a:lnTo>
                          <a:pt x="82" y="10"/>
                        </a:lnTo>
                        <a:lnTo>
                          <a:pt x="75" y="4"/>
                        </a:lnTo>
                        <a:lnTo>
                          <a:pt x="67" y="0"/>
                        </a:lnTo>
                        <a:lnTo>
                          <a:pt x="58" y="0"/>
                        </a:lnTo>
                        <a:lnTo>
                          <a:pt x="49" y="1"/>
                        </a:lnTo>
                        <a:lnTo>
                          <a:pt x="41" y="4"/>
                        </a:lnTo>
                        <a:lnTo>
                          <a:pt x="30" y="11"/>
                        </a:lnTo>
                      </a:path>
                    </a:pathLst>
                  </a:custGeom>
                  <a:solidFill>
                    <a:srgbClr val="EAEC5E"/>
                  </a:solidFill>
                  <a:ln>
                    <a:noFill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6888" name="Oval 24"/>
                <p:cNvSpPr>
                  <a:spLocks noChangeArrowheads="1"/>
                </p:cNvSpPr>
                <p:nvPr/>
              </p:nvSpPr>
              <p:spPr bwMode="auto">
                <a:xfrm>
                  <a:off x="2677" y="2171"/>
                  <a:ext cx="1635" cy="1200"/>
                </a:xfrm>
                <a:prstGeom prst="ellips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sp>
          <p:nvSpPr>
            <p:cNvPr id="36889" name="AutoShape 25"/>
            <p:cNvSpPr>
              <a:spLocks noChangeArrowheads="1"/>
            </p:cNvSpPr>
            <p:nvPr/>
          </p:nvSpPr>
          <p:spPr bwMode="auto">
            <a:xfrm rot="20627653">
              <a:off x="858" y="2550"/>
              <a:ext cx="338" cy="1219"/>
            </a:xfrm>
            <a:prstGeom prst="curvedRightArrow">
              <a:avLst>
                <a:gd name="adj1" fmla="val 36507"/>
                <a:gd name="adj2" fmla="val 77796"/>
                <a:gd name="adj3" fmla="val 33333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199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6890" name="Group 26"/>
          <p:cNvGrpSpPr/>
          <p:nvPr/>
        </p:nvGrpSpPr>
        <p:grpSpPr bwMode="auto">
          <a:xfrm>
            <a:off x="520184" y="884492"/>
            <a:ext cx="3886598" cy="2129998"/>
            <a:chOff x="2112" y="1200"/>
            <a:chExt cx="2448" cy="1488"/>
          </a:xfrm>
        </p:grpSpPr>
        <p:grpSp>
          <p:nvGrpSpPr>
            <p:cNvPr id="33804" name="Group 27"/>
            <p:cNvGrpSpPr/>
            <p:nvPr/>
          </p:nvGrpSpPr>
          <p:grpSpPr bwMode="auto">
            <a:xfrm>
              <a:off x="2246" y="1438"/>
              <a:ext cx="2162" cy="1186"/>
              <a:chOff x="2430" y="1923"/>
              <a:chExt cx="2415" cy="1436"/>
            </a:xfrm>
          </p:grpSpPr>
          <p:grpSp>
            <p:nvGrpSpPr>
              <p:cNvPr id="33807" name="Group 28"/>
              <p:cNvGrpSpPr/>
              <p:nvPr/>
            </p:nvGrpSpPr>
            <p:grpSpPr bwMode="auto">
              <a:xfrm>
                <a:off x="2580" y="1923"/>
                <a:ext cx="1976" cy="327"/>
                <a:chOff x="2580" y="1923"/>
                <a:chExt cx="1976" cy="327"/>
              </a:xfrm>
            </p:grpSpPr>
            <p:sp>
              <p:nvSpPr>
                <p:cNvPr id="36893" name="Freeform 29"/>
                <p:cNvSpPr/>
                <p:nvPr/>
              </p:nvSpPr>
              <p:spPr bwMode="auto">
                <a:xfrm>
                  <a:off x="2757" y="1994"/>
                  <a:ext cx="38" cy="209"/>
                </a:xfrm>
                <a:custGeom>
                  <a:avLst/>
                  <a:gdLst>
                    <a:gd name="T0" fmla="*/ 24 w 38"/>
                    <a:gd name="T1" fmla="*/ 2 h 210"/>
                    <a:gd name="T2" fmla="*/ 16 w 38"/>
                    <a:gd name="T3" fmla="*/ 0 h 210"/>
                    <a:gd name="T4" fmla="*/ 8 w 38"/>
                    <a:gd name="T5" fmla="*/ 0 h 210"/>
                    <a:gd name="T6" fmla="*/ 2 w 38"/>
                    <a:gd name="T7" fmla="*/ 1 h 210"/>
                    <a:gd name="T8" fmla="*/ 1 w 38"/>
                    <a:gd name="T9" fmla="*/ 9 h 210"/>
                    <a:gd name="T10" fmla="*/ 1 w 38"/>
                    <a:gd name="T11" fmla="*/ 14 h 210"/>
                    <a:gd name="T12" fmla="*/ 4 w 38"/>
                    <a:gd name="T13" fmla="*/ 22 h 210"/>
                    <a:gd name="T14" fmla="*/ 7 w 38"/>
                    <a:gd name="T15" fmla="*/ 22 h 210"/>
                    <a:gd name="T16" fmla="*/ 2 w 38"/>
                    <a:gd name="T17" fmla="*/ 31 h 210"/>
                    <a:gd name="T18" fmla="*/ 0 w 38"/>
                    <a:gd name="T19" fmla="*/ 44 h 210"/>
                    <a:gd name="T20" fmla="*/ 0 w 38"/>
                    <a:gd name="T21" fmla="*/ 57 h 210"/>
                    <a:gd name="T22" fmla="*/ 1 w 38"/>
                    <a:gd name="T23" fmla="*/ 72 h 210"/>
                    <a:gd name="T24" fmla="*/ 2 w 38"/>
                    <a:gd name="T25" fmla="*/ 87 h 210"/>
                    <a:gd name="T26" fmla="*/ 7 w 38"/>
                    <a:gd name="T27" fmla="*/ 88 h 210"/>
                    <a:gd name="T28" fmla="*/ 7 w 38"/>
                    <a:gd name="T29" fmla="*/ 92 h 210"/>
                    <a:gd name="T30" fmla="*/ 10 w 38"/>
                    <a:gd name="T31" fmla="*/ 94 h 210"/>
                    <a:gd name="T32" fmla="*/ 10 w 38"/>
                    <a:gd name="T33" fmla="*/ 110 h 210"/>
                    <a:gd name="T34" fmla="*/ 12 w 38"/>
                    <a:gd name="T35" fmla="*/ 112 h 210"/>
                    <a:gd name="T36" fmla="*/ 12 w 38"/>
                    <a:gd name="T37" fmla="*/ 141 h 210"/>
                    <a:gd name="T38" fmla="*/ 12 w 38"/>
                    <a:gd name="T39" fmla="*/ 158 h 210"/>
                    <a:gd name="T40" fmla="*/ 8 w 38"/>
                    <a:gd name="T41" fmla="*/ 178 h 210"/>
                    <a:gd name="T42" fmla="*/ 7 w 38"/>
                    <a:gd name="T43" fmla="*/ 204 h 210"/>
                    <a:gd name="T44" fmla="*/ 11 w 38"/>
                    <a:gd name="T45" fmla="*/ 206 h 210"/>
                    <a:gd name="T46" fmla="*/ 11 w 38"/>
                    <a:gd name="T47" fmla="*/ 209 h 210"/>
                    <a:gd name="T48" fmla="*/ 17 w 38"/>
                    <a:gd name="T49" fmla="*/ 209 h 210"/>
                    <a:gd name="T50" fmla="*/ 18 w 38"/>
                    <a:gd name="T51" fmla="*/ 208 h 210"/>
                    <a:gd name="T52" fmla="*/ 21 w 38"/>
                    <a:gd name="T53" fmla="*/ 208 h 210"/>
                    <a:gd name="T54" fmla="*/ 21 w 38"/>
                    <a:gd name="T55" fmla="*/ 209 h 210"/>
                    <a:gd name="T56" fmla="*/ 25 w 38"/>
                    <a:gd name="T57" fmla="*/ 209 h 210"/>
                    <a:gd name="T58" fmla="*/ 35 w 38"/>
                    <a:gd name="T59" fmla="*/ 208 h 210"/>
                    <a:gd name="T60" fmla="*/ 35 w 38"/>
                    <a:gd name="T61" fmla="*/ 206 h 210"/>
                    <a:gd name="T62" fmla="*/ 26 w 38"/>
                    <a:gd name="T63" fmla="*/ 202 h 210"/>
                    <a:gd name="T64" fmla="*/ 26 w 38"/>
                    <a:gd name="T65" fmla="*/ 198 h 210"/>
                    <a:gd name="T66" fmla="*/ 35 w 38"/>
                    <a:gd name="T67" fmla="*/ 196 h 210"/>
                    <a:gd name="T68" fmla="*/ 35 w 38"/>
                    <a:gd name="T69" fmla="*/ 194 h 210"/>
                    <a:gd name="T70" fmla="*/ 29 w 38"/>
                    <a:gd name="T71" fmla="*/ 190 h 210"/>
                    <a:gd name="T72" fmla="*/ 29 w 38"/>
                    <a:gd name="T73" fmla="*/ 161 h 210"/>
                    <a:gd name="T74" fmla="*/ 30 w 38"/>
                    <a:gd name="T75" fmla="*/ 135 h 210"/>
                    <a:gd name="T76" fmla="*/ 30 w 38"/>
                    <a:gd name="T77" fmla="*/ 109 h 210"/>
                    <a:gd name="T78" fmla="*/ 30 w 38"/>
                    <a:gd name="T79" fmla="*/ 94 h 210"/>
                    <a:gd name="T80" fmla="*/ 30 w 38"/>
                    <a:gd name="T81" fmla="*/ 90 h 210"/>
                    <a:gd name="T82" fmla="*/ 30 w 38"/>
                    <a:gd name="T83" fmla="*/ 69 h 210"/>
                    <a:gd name="T84" fmla="*/ 37 w 38"/>
                    <a:gd name="T85" fmla="*/ 64 h 210"/>
                    <a:gd name="T86" fmla="*/ 37 w 38"/>
                    <a:gd name="T87" fmla="*/ 62 h 210"/>
                    <a:gd name="T88" fmla="*/ 23 w 38"/>
                    <a:gd name="T89" fmla="*/ 33 h 210"/>
                    <a:gd name="T90" fmla="*/ 16 w 38"/>
                    <a:gd name="T91" fmla="*/ 30 h 210"/>
                    <a:gd name="T92" fmla="*/ 17 w 38"/>
                    <a:gd name="T93" fmla="*/ 28 h 210"/>
                    <a:gd name="T94" fmla="*/ 21 w 38"/>
                    <a:gd name="T95" fmla="*/ 26 h 210"/>
                    <a:gd name="T96" fmla="*/ 21 w 38"/>
                    <a:gd name="T97" fmla="*/ 25 h 210"/>
                    <a:gd name="T98" fmla="*/ 23 w 38"/>
                    <a:gd name="T99" fmla="*/ 24 h 210"/>
                    <a:gd name="T100" fmla="*/ 23 w 38"/>
                    <a:gd name="T101" fmla="*/ 22 h 210"/>
                    <a:gd name="T102" fmla="*/ 24 w 38"/>
                    <a:gd name="T103" fmla="*/ 21 h 210"/>
                    <a:gd name="T104" fmla="*/ 23 w 38"/>
                    <a:gd name="T105" fmla="*/ 20 h 210"/>
                    <a:gd name="T106" fmla="*/ 24 w 38"/>
                    <a:gd name="T107" fmla="*/ 19 h 210"/>
                    <a:gd name="T108" fmla="*/ 21 w 38"/>
                    <a:gd name="T109" fmla="*/ 14 h 210"/>
                    <a:gd name="T110" fmla="*/ 23 w 38"/>
                    <a:gd name="T111" fmla="*/ 12 h 210"/>
                    <a:gd name="T112" fmla="*/ 21 w 38"/>
                    <a:gd name="T113" fmla="*/ 9 h 210"/>
                    <a:gd name="T114" fmla="*/ 24 w 38"/>
                    <a:gd name="T115" fmla="*/ 7 h 210"/>
                    <a:gd name="T116" fmla="*/ 24 w 38"/>
                    <a:gd name="T117" fmla="*/ 2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38" h="210">
                      <a:moveTo>
                        <a:pt x="24" y="2"/>
                      </a:moveTo>
                      <a:lnTo>
                        <a:pt x="16" y="0"/>
                      </a:lnTo>
                      <a:lnTo>
                        <a:pt x="8" y="0"/>
                      </a:lnTo>
                      <a:lnTo>
                        <a:pt x="2" y="1"/>
                      </a:lnTo>
                      <a:lnTo>
                        <a:pt x="1" y="9"/>
                      </a:lnTo>
                      <a:lnTo>
                        <a:pt x="1" y="14"/>
                      </a:lnTo>
                      <a:lnTo>
                        <a:pt x="4" y="22"/>
                      </a:lnTo>
                      <a:lnTo>
                        <a:pt x="7" y="22"/>
                      </a:lnTo>
                      <a:lnTo>
                        <a:pt x="2" y="31"/>
                      </a:lnTo>
                      <a:lnTo>
                        <a:pt x="0" y="44"/>
                      </a:lnTo>
                      <a:lnTo>
                        <a:pt x="0" y="57"/>
                      </a:lnTo>
                      <a:lnTo>
                        <a:pt x="1" y="72"/>
                      </a:lnTo>
                      <a:lnTo>
                        <a:pt x="2" y="87"/>
                      </a:lnTo>
                      <a:lnTo>
                        <a:pt x="7" y="88"/>
                      </a:lnTo>
                      <a:lnTo>
                        <a:pt x="7" y="92"/>
                      </a:lnTo>
                      <a:lnTo>
                        <a:pt x="10" y="94"/>
                      </a:lnTo>
                      <a:lnTo>
                        <a:pt x="10" y="110"/>
                      </a:lnTo>
                      <a:lnTo>
                        <a:pt x="12" y="112"/>
                      </a:lnTo>
                      <a:lnTo>
                        <a:pt x="12" y="141"/>
                      </a:lnTo>
                      <a:lnTo>
                        <a:pt x="12" y="158"/>
                      </a:lnTo>
                      <a:lnTo>
                        <a:pt x="8" y="178"/>
                      </a:lnTo>
                      <a:lnTo>
                        <a:pt x="7" y="204"/>
                      </a:lnTo>
                      <a:lnTo>
                        <a:pt x="11" y="206"/>
                      </a:lnTo>
                      <a:lnTo>
                        <a:pt x="11" y="209"/>
                      </a:lnTo>
                      <a:lnTo>
                        <a:pt x="17" y="209"/>
                      </a:lnTo>
                      <a:lnTo>
                        <a:pt x="18" y="208"/>
                      </a:lnTo>
                      <a:lnTo>
                        <a:pt x="21" y="208"/>
                      </a:lnTo>
                      <a:lnTo>
                        <a:pt x="21" y="209"/>
                      </a:lnTo>
                      <a:lnTo>
                        <a:pt x="25" y="209"/>
                      </a:lnTo>
                      <a:lnTo>
                        <a:pt x="35" y="208"/>
                      </a:lnTo>
                      <a:lnTo>
                        <a:pt x="35" y="206"/>
                      </a:lnTo>
                      <a:lnTo>
                        <a:pt x="26" y="202"/>
                      </a:lnTo>
                      <a:lnTo>
                        <a:pt x="26" y="198"/>
                      </a:lnTo>
                      <a:lnTo>
                        <a:pt x="35" y="196"/>
                      </a:lnTo>
                      <a:lnTo>
                        <a:pt x="35" y="194"/>
                      </a:lnTo>
                      <a:lnTo>
                        <a:pt x="29" y="190"/>
                      </a:lnTo>
                      <a:lnTo>
                        <a:pt x="29" y="161"/>
                      </a:lnTo>
                      <a:lnTo>
                        <a:pt x="30" y="135"/>
                      </a:lnTo>
                      <a:lnTo>
                        <a:pt x="30" y="109"/>
                      </a:lnTo>
                      <a:lnTo>
                        <a:pt x="30" y="94"/>
                      </a:lnTo>
                      <a:lnTo>
                        <a:pt x="30" y="90"/>
                      </a:lnTo>
                      <a:lnTo>
                        <a:pt x="30" y="69"/>
                      </a:lnTo>
                      <a:lnTo>
                        <a:pt x="37" y="64"/>
                      </a:lnTo>
                      <a:lnTo>
                        <a:pt x="37" y="62"/>
                      </a:lnTo>
                      <a:lnTo>
                        <a:pt x="23" y="33"/>
                      </a:lnTo>
                      <a:lnTo>
                        <a:pt x="16" y="30"/>
                      </a:lnTo>
                      <a:lnTo>
                        <a:pt x="17" y="28"/>
                      </a:lnTo>
                      <a:lnTo>
                        <a:pt x="21" y="26"/>
                      </a:lnTo>
                      <a:lnTo>
                        <a:pt x="21" y="25"/>
                      </a:lnTo>
                      <a:lnTo>
                        <a:pt x="23" y="24"/>
                      </a:lnTo>
                      <a:lnTo>
                        <a:pt x="23" y="22"/>
                      </a:lnTo>
                      <a:lnTo>
                        <a:pt x="24" y="21"/>
                      </a:lnTo>
                      <a:lnTo>
                        <a:pt x="23" y="20"/>
                      </a:lnTo>
                      <a:lnTo>
                        <a:pt x="24" y="19"/>
                      </a:lnTo>
                      <a:lnTo>
                        <a:pt x="21" y="14"/>
                      </a:lnTo>
                      <a:lnTo>
                        <a:pt x="23" y="12"/>
                      </a:lnTo>
                      <a:lnTo>
                        <a:pt x="21" y="9"/>
                      </a:lnTo>
                      <a:lnTo>
                        <a:pt x="24" y="7"/>
                      </a:lnTo>
                      <a:lnTo>
                        <a:pt x="24" y="2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894" name="Freeform 30"/>
                <p:cNvSpPr/>
                <p:nvPr/>
              </p:nvSpPr>
              <p:spPr bwMode="auto">
                <a:xfrm>
                  <a:off x="2580" y="2000"/>
                  <a:ext cx="68" cy="239"/>
                </a:xfrm>
                <a:custGeom>
                  <a:avLst/>
                  <a:gdLst>
                    <a:gd name="T0" fmla="*/ 40 w 68"/>
                    <a:gd name="T1" fmla="*/ 3 h 241"/>
                    <a:gd name="T2" fmla="*/ 54 w 68"/>
                    <a:gd name="T3" fmla="*/ 0 h 241"/>
                    <a:gd name="T4" fmla="*/ 59 w 68"/>
                    <a:gd name="T5" fmla="*/ 5 h 241"/>
                    <a:gd name="T6" fmla="*/ 61 w 68"/>
                    <a:gd name="T7" fmla="*/ 3 h 241"/>
                    <a:gd name="T8" fmla="*/ 64 w 68"/>
                    <a:gd name="T9" fmla="*/ 14 h 241"/>
                    <a:gd name="T10" fmla="*/ 57 w 68"/>
                    <a:gd name="T11" fmla="*/ 20 h 241"/>
                    <a:gd name="T12" fmla="*/ 56 w 68"/>
                    <a:gd name="T13" fmla="*/ 26 h 241"/>
                    <a:gd name="T14" fmla="*/ 55 w 68"/>
                    <a:gd name="T15" fmla="*/ 27 h 241"/>
                    <a:gd name="T16" fmla="*/ 54 w 68"/>
                    <a:gd name="T17" fmla="*/ 32 h 241"/>
                    <a:gd name="T18" fmla="*/ 48 w 68"/>
                    <a:gd name="T19" fmla="*/ 34 h 241"/>
                    <a:gd name="T20" fmla="*/ 48 w 68"/>
                    <a:gd name="T21" fmla="*/ 36 h 241"/>
                    <a:gd name="T22" fmla="*/ 57 w 68"/>
                    <a:gd name="T23" fmla="*/ 43 h 241"/>
                    <a:gd name="T24" fmla="*/ 64 w 68"/>
                    <a:gd name="T25" fmla="*/ 77 h 241"/>
                    <a:gd name="T26" fmla="*/ 59 w 68"/>
                    <a:gd name="T27" fmla="*/ 86 h 241"/>
                    <a:gd name="T28" fmla="*/ 59 w 68"/>
                    <a:gd name="T29" fmla="*/ 149 h 241"/>
                    <a:gd name="T30" fmla="*/ 52 w 68"/>
                    <a:gd name="T31" fmla="*/ 151 h 241"/>
                    <a:gd name="T32" fmla="*/ 50 w 68"/>
                    <a:gd name="T33" fmla="*/ 162 h 241"/>
                    <a:gd name="T34" fmla="*/ 48 w 68"/>
                    <a:gd name="T35" fmla="*/ 189 h 241"/>
                    <a:gd name="T36" fmla="*/ 48 w 68"/>
                    <a:gd name="T37" fmla="*/ 202 h 241"/>
                    <a:gd name="T38" fmla="*/ 59 w 68"/>
                    <a:gd name="T39" fmla="*/ 211 h 241"/>
                    <a:gd name="T40" fmla="*/ 67 w 68"/>
                    <a:gd name="T41" fmla="*/ 216 h 241"/>
                    <a:gd name="T42" fmla="*/ 67 w 68"/>
                    <a:gd name="T43" fmla="*/ 219 h 241"/>
                    <a:gd name="T44" fmla="*/ 50 w 68"/>
                    <a:gd name="T45" fmla="*/ 215 h 241"/>
                    <a:gd name="T46" fmla="*/ 48 w 68"/>
                    <a:gd name="T47" fmla="*/ 212 h 241"/>
                    <a:gd name="T48" fmla="*/ 46 w 68"/>
                    <a:gd name="T49" fmla="*/ 215 h 241"/>
                    <a:gd name="T50" fmla="*/ 44 w 68"/>
                    <a:gd name="T51" fmla="*/ 215 h 241"/>
                    <a:gd name="T52" fmla="*/ 42 w 68"/>
                    <a:gd name="T53" fmla="*/ 204 h 241"/>
                    <a:gd name="T54" fmla="*/ 40 w 68"/>
                    <a:gd name="T55" fmla="*/ 159 h 241"/>
                    <a:gd name="T56" fmla="*/ 37 w 68"/>
                    <a:gd name="T57" fmla="*/ 159 h 241"/>
                    <a:gd name="T58" fmla="*/ 28 w 68"/>
                    <a:gd name="T59" fmla="*/ 199 h 241"/>
                    <a:gd name="T60" fmla="*/ 28 w 68"/>
                    <a:gd name="T61" fmla="*/ 225 h 241"/>
                    <a:gd name="T62" fmla="*/ 24 w 68"/>
                    <a:gd name="T63" fmla="*/ 237 h 241"/>
                    <a:gd name="T64" fmla="*/ 20 w 68"/>
                    <a:gd name="T65" fmla="*/ 240 h 241"/>
                    <a:gd name="T66" fmla="*/ 18 w 68"/>
                    <a:gd name="T67" fmla="*/ 233 h 241"/>
                    <a:gd name="T68" fmla="*/ 21 w 68"/>
                    <a:gd name="T69" fmla="*/ 226 h 241"/>
                    <a:gd name="T70" fmla="*/ 24 w 68"/>
                    <a:gd name="T71" fmla="*/ 210 h 241"/>
                    <a:gd name="T72" fmla="*/ 24 w 68"/>
                    <a:gd name="T73" fmla="*/ 152 h 241"/>
                    <a:gd name="T74" fmla="*/ 28 w 68"/>
                    <a:gd name="T75" fmla="*/ 96 h 241"/>
                    <a:gd name="T76" fmla="*/ 21 w 68"/>
                    <a:gd name="T77" fmla="*/ 91 h 241"/>
                    <a:gd name="T78" fmla="*/ 21 w 68"/>
                    <a:gd name="T79" fmla="*/ 83 h 241"/>
                    <a:gd name="T80" fmla="*/ 21 w 68"/>
                    <a:gd name="T81" fmla="*/ 68 h 241"/>
                    <a:gd name="T82" fmla="*/ 14 w 68"/>
                    <a:gd name="T83" fmla="*/ 72 h 241"/>
                    <a:gd name="T84" fmla="*/ 21 w 68"/>
                    <a:gd name="T85" fmla="*/ 81 h 241"/>
                    <a:gd name="T86" fmla="*/ 21 w 68"/>
                    <a:gd name="T87" fmla="*/ 90 h 241"/>
                    <a:gd name="T88" fmla="*/ 14 w 68"/>
                    <a:gd name="T89" fmla="*/ 85 h 241"/>
                    <a:gd name="T90" fmla="*/ 11 w 68"/>
                    <a:gd name="T91" fmla="*/ 79 h 241"/>
                    <a:gd name="T92" fmla="*/ 7 w 68"/>
                    <a:gd name="T93" fmla="*/ 80 h 241"/>
                    <a:gd name="T94" fmla="*/ 0 w 68"/>
                    <a:gd name="T95" fmla="*/ 72 h 241"/>
                    <a:gd name="T96" fmla="*/ 0 w 68"/>
                    <a:gd name="T97" fmla="*/ 68 h 241"/>
                    <a:gd name="T98" fmla="*/ 4 w 68"/>
                    <a:gd name="T99" fmla="*/ 67 h 241"/>
                    <a:gd name="T100" fmla="*/ 12 w 68"/>
                    <a:gd name="T101" fmla="*/ 56 h 241"/>
                    <a:gd name="T102" fmla="*/ 21 w 68"/>
                    <a:gd name="T103" fmla="*/ 47 h 241"/>
                    <a:gd name="T104" fmla="*/ 32 w 68"/>
                    <a:gd name="T105" fmla="*/ 36 h 241"/>
                    <a:gd name="T106" fmla="*/ 40 w 68"/>
                    <a:gd name="T107" fmla="*/ 32 h 241"/>
                    <a:gd name="T108" fmla="*/ 40 w 68"/>
                    <a:gd name="T109" fmla="*/ 25 h 241"/>
                    <a:gd name="T110" fmla="*/ 37 w 68"/>
                    <a:gd name="T111" fmla="*/ 21 h 241"/>
                    <a:gd name="T112" fmla="*/ 37 w 68"/>
                    <a:gd name="T113" fmla="*/ 12 h 241"/>
                    <a:gd name="T114" fmla="*/ 35 w 68"/>
                    <a:gd name="T115" fmla="*/ 10 h 241"/>
                    <a:gd name="T116" fmla="*/ 40 w 68"/>
                    <a:gd name="T117" fmla="*/ 3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68" h="241">
                      <a:moveTo>
                        <a:pt x="40" y="3"/>
                      </a:moveTo>
                      <a:lnTo>
                        <a:pt x="54" y="0"/>
                      </a:lnTo>
                      <a:lnTo>
                        <a:pt x="59" y="5"/>
                      </a:lnTo>
                      <a:lnTo>
                        <a:pt x="61" y="3"/>
                      </a:lnTo>
                      <a:lnTo>
                        <a:pt x="64" y="14"/>
                      </a:lnTo>
                      <a:lnTo>
                        <a:pt x="57" y="20"/>
                      </a:lnTo>
                      <a:lnTo>
                        <a:pt x="56" y="26"/>
                      </a:lnTo>
                      <a:lnTo>
                        <a:pt x="55" y="27"/>
                      </a:lnTo>
                      <a:lnTo>
                        <a:pt x="54" y="32"/>
                      </a:lnTo>
                      <a:lnTo>
                        <a:pt x="48" y="34"/>
                      </a:lnTo>
                      <a:lnTo>
                        <a:pt x="48" y="36"/>
                      </a:lnTo>
                      <a:lnTo>
                        <a:pt x="57" y="43"/>
                      </a:lnTo>
                      <a:lnTo>
                        <a:pt x="64" y="77"/>
                      </a:lnTo>
                      <a:lnTo>
                        <a:pt x="59" y="86"/>
                      </a:lnTo>
                      <a:lnTo>
                        <a:pt x="59" y="149"/>
                      </a:lnTo>
                      <a:lnTo>
                        <a:pt x="52" y="151"/>
                      </a:lnTo>
                      <a:lnTo>
                        <a:pt x="50" y="162"/>
                      </a:lnTo>
                      <a:lnTo>
                        <a:pt x="48" y="189"/>
                      </a:lnTo>
                      <a:lnTo>
                        <a:pt x="48" y="202"/>
                      </a:lnTo>
                      <a:lnTo>
                        <a:pt x="59" y="211"/>
                      </a:lnTo>
                      <a:lnTo>
                        <a:pt x="67" y="216"/>
                      </a:lnTo>
                      <a:lnTo>
                        <a:pt x="67" y="219"/>
                      </a:lnTo>
                      <a:lnTo>
                        <a:pt x="50" y="215"/>
                      </a:lnTo>
                      <a:lnTo>
                        <a:pt x="48" y="212"/>
                      </a:lnTo>
                      <a:lnTo>
                        <a:pt x="46" y="215"/>
                      </a:lnTo>
                      <a:lnTo>
                        <a:pt x="44" y="215"/>
                      </a:lnTo>
                      <a:lnTo>
                        <a:pt x="42" y="204"/>
                      </a:lnTo>
                      <a:lnTo>
                        <a:pt x="40" y="159"/>
                      </a:lnTo>
                      <a:lnTo>
                        <a:pt x="37" y="159"/>
                      </a:lnTo>
                      <a:lnTo>
                        <a:pt x="28" y="199"/>
                      </a:lnTo>
                      <a:lnTo>
                        <a:pt x="28" y="225"/>
                      </a:lnTo>
                      <a:lnTo>
                        <a:pt x="24" y="237"/>
                      </a:lnTo>
                      <a:lnTo>
                        <a:pt x="20" y="240"/>
                      </a:lnTo>
                      <a:lnTo>
                        <a:pt x="18" y="233"/>
                      </a:lnTo>
                      <a:lnTo>
                        <a:pt x="21" y="226"/>
                      </a:lnTo>
                      <a:lnTo>
                        <a:pt x="24" y="210"/>
                      </a:lnTo>
                      <a:lnTo>
                        <a:pt x="24" y="152"/>
                      </a:lnTo>
                      <a:lnTo>
                        <a:pt x="28" y="96"/>
                      </a:lnTo>
                      <a:lnTo>
                        <a:pt x="21" y="91"/>
                      </a:lnTo>
                      <a:lnTo>
                        <a:pt x="21" y="83"/>
                      </a:lnTo>
                      <a:lnTo>
                        <a:pt x="21" y="68"/>
                      </a:lnTo>
                      <a:lnTo>
                        <a:pt x="14" y="72"/>
                      </a:lnTo>
                      <a:lnTo>
                        <a:pt x="21" y="81"/>
                      </a:lnTo>
                      <a:lnTo>
                        <a:pt x="21" y="90"/>
                      </a:lnTo>
                      <a:lnTo>
                        <a:pt x="14" y="85"/>
                      </a:lnTo>
                      <a:lnTo>
                        <a:pt x="11" y="79"/>
                      </a:lnTo>
                      <a:lnTo>
                        <a:pt x="7" y="80"/>
                      </a:lnTo>
                      <a:lnTo>
                        <a:pt x="0" y="72"/>
                      </a:lnTo>
                      <a:lnTo>
                        <a:pt x="0" y="68"/>
                      </a:lnTo>
                      <a:lnTo>
                        <a:pt x="4" y="67"/>
                      </a:lnTo>
                      <a:lnTo>
                        <a:pt x="12" y="56"/>
                      </a:lnTo>
                      <a:lnTo>
                        <a:pt x="21" y="47"/>
                      </a:lnTo>
                      <a:lnTo>
                        <a:pt x="32" y="36"/>
                      </a:lnTo>
                      <a:lnTo>
                        <a:pt x="40" y="32"/>
                      </a:lnTo>
                      <a:lnTo>
                        <a:pt x="40" y="25"/>
                      </a:lnTo>
                      <a:lnTo>
                        <a:pt x="37" y="21"/>
                      </a:lnTo>
                      <a:lnTo>
                        <a:pt x="37" y="12"/>
                      </a:lnTo>
                      <a:lnTo>
                        <a:pt x="35" y="10"/>
                      </a:lnTo>
                      <a:lnTo>
                        <a:pt x="40" y="3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895" name="Freeform 31"/>
                <p:cNvSpPr/>
                <p:nvPr/>
              </p:nvSpPr>
              <p:spPr bwMode="auto">
                <a:xfrm>
                  <a:off x="2877" y="2007"/>
                  <a:ext cx="47" cy="172"/>
                </a:xfrm>
                <a:custGeom>
                  <a:avLst/>
                  <a:gdLst>
                    <a:gd name="T0" fmla="*/ 27 w 46"/>
                    <a:gd name="T1" fmla="*/ 2 h 173"/>
                    <a:gd name="T2" fmla="*/ 37 w 46"/>
                    <a:gd name="T3" fmla="*/ 0 h 173"/>
                    <a:gd name="T4" fmla="*/ 41 w 46"/>
                    <a:gd name="T5" fmla="*/ 4 h 173"/>
                    <a:gd name="T6" fmla="*/ 42 w 46"/>
                    <a:gd name="T7" fmla="*/ 2 h 173"/>
                    <a:gd name="T8" fmla="*/ 44 w 46"/>
                    <a:gd name="T9" fmla="*/ 11 h 173"/>
                    <a:gd name="T10" fmla="*/ 39 w 46"/>
                    <a:gd name="T11" fmla="*/ 14 h 173"/>
                    <a:gd name="T12" fmla="*/ 39 w 46"/>
                    <a:gd name="T13" fmla="*/ 19 h 173"/>
                    <a:gd name="T14" fmla="*/ 38 w 46"/>
                    <a:gd name="T15" fmla="*/ 19 h 173"/>
                    <a:gd name="T16" fmla="*/ 37 w 46"/>
                    <a:gd name="T17" fmla="*/ 24 h 173"/>
                    <a:gd name="T18" fmla="*/ 33 w 46"/>
                    <a:gd name="T19" fmla="*/ 24 h 173"/>
                    <a:gd name="T20" fmla="*/ 33 w 46"/>
                    <a:gd name="T21" fmla="*/ 26 h 173"/>
                    <a:gd name="T22" fmla="*/ 39 w 46"/>
                    <a:gd name="T23" fmla="*/ 31 h 173"/>
                    <a:gd name="T24" fmla="*/ 44 w 46"/>
                    <a:gd name="T25" fmla="*/ 55 h 173"/>
                    <a:gd name="T26" fmla="*/ 41 w 46"/>
                    <a:gd name="T27" fmla="*/ 62 h 173"/>
                    <a:gd name="T28" fmla="*/ 41 w 46"/>
                    <a:gd name="T29" fmla="*/ 107 h 173"/>
                    <a:gd name="T30" fmla="*/ 36 w 46"/>
                    <a:gd name="T31" fmla="*/ 109 h 173"/>
                    <a:gd name="T32" fmla="*/ 35 w 46"/>
                    <a:gd name="T33" fmla="*/ 117 h 173"/>
                    <a:gd name="T34" fmla="*/ 33 w 46"/>
                    <a:gd name="T35" fmla="*/ 136 h 173"/>
                    <a:gd name="T36" fmla="*/ 33 w 46"/>
                    <a:gd name="T37" fmla="*/ 146 h 173"/>
                    <a:gd name="T38" fmla="*/ 41 w 46"/>
                    <a:gd name="T39" fmla="*/ 153 h 173"/>
                    <a:gd name="T40" fmla="*/ 45 w 46"/>
                    <a:gd name="T41" fmla="*/ 156 h 173"/>
                    <a:gd name="T42" fmla="*/ 45 w 46"/>
                    <a:gd name="T43" fmla="*/ 158 h 173"/>
                    <a:gd name="T44" fmla="*/ 34 w 46"/>
                    <a:gd name="T45" fmla="*/ 155 h 173"/>
                    <a:gd name="T46" fmla="*/ 33 w 46"/>
                    <a:gd name="T47" fmla="*/ 153 h 173"/>
                    <a:gd name="T48" fmla="*/ 31 w 46"/>
                    <a:gd name="T49" fmla="*/ 155 h 173"/>
                    <a:gd name="T50" fmla="*/ 31 w 46"/>
                    <a:gd name="T51" fmla="*/ 155 h 173"/>
                    <a:gd name="T52" fmla="*/ 29 w 46"/>
                    <a:gd name="T53" fmla="*/ 147 h 173"/>
                    <a:gd name="T54" fmla="*/ 27 w 46"/>
                    <a:gd name="T55" fmla="*/ 115 h 173"/>
                    <a:gd name="T56" fmla="*/ 25 w 46"/>
                    <a:gd name="T57" fmla="*/ 115 h 173"/>
                    <a:gd name="T58" fmla="*/ 19 w 46"/>
                    <a:gd name="T59" fmla="*/ 143 h 173"/>
                    <a:gd name="T60" fmla="*/ 19 w 46"/>
                    <a:gd name="T61" fmla="*/ 161 h 173"/>
                    <a:gd name="T62" fmla="*/ 16 w 46"/>
                    <a:gd name="T63" fmla="*/ 171 h 173"/>
                    <a:gd name="T64" fmla="*/ 14 w 46"/>
                    <a:gd name="T65" fmla="*/ 172 h 173"/>
                    <a:gd name="T66" fmla="*/ 12 w 46"/>
                    <a:gd name="T67" fmla="*/ 168 h 173"/>
                    <a:gd name="T68" fmla="*/ 14 w 46"/>
                    <a:gd name="T69" fmla="*/ 163 h 173"/>
                    <a:gd name="T70" fmla="*/ 16 w 46"/>
                    <a:gd name="T71" fmla="*/ 151 h 173"/>
                    <a:gd name="T72" fmla="*/ 17 w 46"/>
                    <a:gd name="T73" fmla="*/ 110 h 173"/>
                    <a:gd name="T74" fmla="*/ 19 w 46"/>
                    <a:gd name="T75" fmla="*/ 70 h 173"/>
                    <a:gd name="T76" fmla="*/ 15 w 46"/>
                    <a:gd name="T77" fmla="*/ 66 h 173"/>
                    <a:gd name="T78" fmla="*/ 15 w 46"/>
                    <a:gd name="T79" fmla="*/ 60 h 173"/>
                    <a:gd name="T80" fmla="*/ 15 w 46"/>
                    <a:gd name="T81" fmla="*/ 49 h 173"/>
                    <a:gd name="T82" fmla="*/ 10 w 46"/>
                    <a:gd name="T83" fmla="*/ 52 h 173"/>
                    <a:gd name="T84" fmla="*/ 14 w 46"/>
                    <a:gd name="T85" fmla="*/ 58 h 173"/>
                    <a:gd name="T86" fmla="*/ 14 w 46"/>
                    <a:gd name="T87" fmla="*/ 65 h 173"/>
                    <a:gd name="T88" fmla="*/ 10 w 46"/>
                    <a:gd name="T89" fmla="*/ 61 h 173"/>
                    <a:gd name="T90" fmla="*/ 8 w 46"/>
                    <a:gd name="T91" fmla="*/ 57 h 173"/>
                    <a:gd name="T92" fmla="*/ 4 w 46"/>
                    <a:gd name="T93" fmla="*/ 58 h 173"/>
                    <a:gd name="T94" fmla="*/ 0 w 46"/>
                    <a:gd name="T95" fmla="*/ 52 h 173"/>
                    <a:gd name="T96" fmla="*/ 0 w 46"/>
                    <a:gd name="T97" fmla="*/ 49 h 173"/>
                    <a:gd name="T98" fmla="*/ 3 w 46"/>
                    <a:gd name="T99" fmla="*/ 48 h 173"/>
                    <a:gd name="T100" fmla="*/ 8 w 46"/>
                    <a:gd name="T101" fmla="*/ 40 h 173"/>
                    <a:gd name="T102" fmla="*/ 14 w 46"/>
                    <a:gd name="T103" fmla="*/ 34 h 173"/>
                    <a:gd name="T104" fmla="*/ 22 w 46"/>
                    <a:gd name="T105" fmla="*/ 26 h 173"/>
                    <a:gd name="T106" fmla="*/ 27 w 46"/>
                    <a:gd name="T107" fmla="*/ 24 h 173"/>
                    <a:gd name="T108" fmla="*/ 27 w 46"/>
                    <a:gd name="T109" fmla="*/ 18 h 173"/>
                    <a:gd name="T110" fmla="*/ 25 w 46"/>
                    <a:gd name="T111" fmla="*/ 15 h 173"/>
                    <a:gd name="T112" fmla="*/ 25 w 46"/>
                    <a:gd name="T113" fmla="*/ 9 h 173"/>
                    <a:gd name="T114" fmla="*/ 24 w 46"/>
                    <a:gd name="T115" fmla="*/ 7 h 173"/>
                    <a:gd name="T116" fmla="*/ 27 w 46"/>
                    <a:gd name="T117" fmla="*/ 2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6" h="173">
                      <a:moveTo>
                        <a:pt x="27" y="2"/>
                      </a:moveTo>
                      <a:lnTo>
                        <a:pt x="37" y="0"/>
                      </a:lnTo>
                      <a:lnTo>
                        <a:pt x="41" y="4"/>
                      </a:lnTo>
                      <a:lnTo>
                        <a:pt x="42" y="2"/>
                      </a:lnTo>
                      <a:lnTo>
                        <a:pt x="44" y="11"/>
                      </a:lnTo>
                      <a:lnTo>
                        <a:pt x="39" y="14"/>
                      </a:lnTo>
                      <a:lnTo>
                        <a:pt x="39" y="19"/>
                      </a:lnTo>
                      <a:lnTo>
                        <a:pt x="38" y="19"/>
                      </a:lnTo>
                      <a:lnTo>
                        <a:pt x="37" y="24"/>
                      </a:lnTo>
                      <a:lnTo>
                        <a:pt x="33" y="24"/>
                      </a:lnTo>
                      <a:lnTo>
                        <a:pt x="33" y="26"/>
                      </a:lnTo>
                      <a:lnTo>
                        <a:pt x="39" y="31"/>
                      </a:lnTo>
                      <a:lnTo>
                        <a:pt x="44" y="55"/>
                      </a:lnTo>
                      <a:lnTo>
                        <a:pt x="41" y="62"/>
                      </a:lnTo>
                      <a:lnTo>
                        <a:pt x="41" y="107"/>
                      </a:lnTo>
                      <a:lnTo>
                        <a:pt x="36" y="109"/>
                      </a:lnTo>
                      <a:lnTo>
                        <a:pt x="35" y="117"/>
                      </a:lnTo>
                      <a:lnTo>
                        <a:pt x="33" y="136"/>
                      </a:lnTo>
                      <a:lnTo>
                        <a:pt x="33" y="146"/>
                      </a:lnTo>
                      <a:lnTo>
                        <a:pt x="41" y="153"/>
                      </a:lnTo>
                      <a:lnTo>
                        <a:pt x="45" y="156"/>
                      </a:lnTo>
                      <a:lnTo>
                        <a:pt x="45" y="158"/>
                      </a:lnTo>
                      <a:lnTo>
                        <a:pt x="34" y="155"/>
                      </a:lnTo>
                      <a:lnTo>
                        <a:pt x="33" y="153"/>
                      </a:lnTo>
                      <a:lnTo>
                        <a:pt x="31" y="155"/>
                      </a:lnTo>
                      <a:lnTo>
                        <a:pt x="31" y="155"/>
                      </a:lnTo>
                      <a:lnTo>
                        <a:pt x="29" y="147"/>
                      </a:lnTo>
                      <a:lnTo>
                        <a:pt x="27" y="115"/>
                      </a:lnTo>
                      <a:lnTo>
                        <a:pt x="25" y="115"/>
                      </a:lnTo>
                      <a:lnTo>
                        <a:pt x="19" y="143"/>
                      </a:lnTo>
                      <a:lnTo>
                        <a:pt x="19" y="161"/>
                      </a:lnTo>
                      <a:lnTo>
                        <a:pt x="16" y="171"/>
                      </a:lnTo>
                      <a:lnTo>
                        <a:pt x="14" y="172"/>
                      </a:lnTo>
                      <a:lnTo>
                        <a:pt x="12" y="168"/>
                      </a:lnTo>
                      <a:lnTo>
                        <a:pt x="14" y="163"/>
                      </a:lnTo>
                      <a:lnTo>
                        <a:pt x="16" y="151"/>
                      </a:lnTo>
                      <a:lnTo>
                        <a:pt x="17" y="110"/>
                      </a:lnTo>
                      <a:lnTo>
                        <a:pt x="19" y="70"/>
                      </a:lnTo>
                      <a:lnTo>
                        <a:pt x="15" y="66"/>
                      </a:lnTo>
                      <a:lnTo>
                        <a:pt x="15" y="60"/>
                      </a:lnTo>
                      <a:lnTo>
                        <a:pt x="15" y="49"/>
                      </a:lnTo>
                      <a:lnTo>
                        <a:pt x="10" y="52"/>
                      </a:lnTo>
                      <a:lnTo>
                        <a:pt x="14" y="58"/>
                      </a:lnTo>
                      <a:lnTo>
                        <a:pt x="14" y="65"/>
                      </a:lnTo>
                      <a:lnTo>
                        <a:pt x="10" y="61"/>
                      </a:lnTo>
                      <a:lnTo>
                        <a:pt x="8" y="57"/>
                      </a:lnTo>
                      <a:lnTo>
                        <a:pt x="4" y="58"/>
                      </a:lnTo>
                      <a:lnTo>
                        <a:pt x="0" y="52"/>
                      </a:lnTo>
                      <a:lnTo>
                        <a:pt x="0" y="49"/>
                      </a:lnTo>
                      <a:lnTo>
                        <a:pt x="3" y="48"/>
                      </a:lnTo>
                      <a:lnTo>
                        <a:pt x="8" y="40"/>
                      </a:lnTo>
                      <a:lnTo>
                        <a:pt x="14" y="34"/>
                      </a:lnTo>
                      <a:lnTo>
                        <a:pt x="22" y="26"/>
                      </a:lnTo>
                      <a:lnTo>
                        <a:pt x="27" y="24"/>
                      </a:lnTo>
                      <a:lnTo>
                        <a:pt x="27" y="18"/>
                      </a:lnTo>
                      <a:lnTo>
                        <a:pt x="25" y="15"/>
                      </a:lnTo>
                      <a:lnTo>
                        <a:pt x="25" y="9"/>
                      </a:lnTo>
                      <a:lnTo>
                        <a:pt x="24" y="7"/>
                      </a:lnTo>
                      <a:lnTo>
                        <a:pt x="27" y="2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896" name="Freeform 32"/>
                <p:cNvSpPr/>
                <p:nvPr/>
              </p:nvSpPr>
              <p:spPr bwMode="auto">
                <a:xfrm>
                  <a:off x="2966" y="1994"/>
                  <a:ext cx="38" cy="210"/>
                </a:xfrm>
                <a:custGeom>
                  <a:avLst/>
                  <a:gdLst>
                    <a:gd name="T0" fmla="*/ 25 w 38"/>
                    <a:gd name="T1" fmla="*/ 2 h 212"/>
                    <a:gd name="T2" fmla="*/ 16 w 38"/>
                    <a:gd name="T3" fmla="*/ 0 h 212"/>
                    <a:gd name="T4" fmla="*/ 8 w 38"/>
                    <a:gd name="T5" fmla="*/ 0 h 212"/>
                    <a:gd name="T6" fmla="*/ 2 w 38"/>
                    <a:gd name="T7" fmla="*/ 1 h 212"/>
                    <a:gd name="T8" fmla="*/ 1 w 38"/>
                    <a:gd name="T9" fmla="*/ 9 h 212"/>
                    <a:gd name="T10" fmla="*/ 1 w 38"/>
                    <a:gd name="T11" fmla="*/ 15 h 212"/>
                    <a:gd name="T12" fmla="*/ 4 w 38"/>
                    <a:gd name="T13" fmla="*/ 22 h 212"/>
                    <a:gd name="T14" fmla="*/ 7 w 38"/>
                    <a:gd name="T15" fmla="*/ 22 h 212"/>
                    <a:gd name="T16" fmla="*/ 2 w 38"/>
                    <a:gd name="T17" fmla="*/ 31 h 212"/>
                    <a:gd name="T18" fmla="*/ 0 w 38"/>
                    <a:gd name="T19" fmla="*/ 44 h 212"/>
                    <a:gd name="T20" fmla="*/ 0 w 38"/>
                    <a:gd name="T21" fmla="*/ 57 h 212"/>
                    <a:gd name="T22" fmla="*/ 1 w 38"/>
                    <a:gd name="T23" fmla="*/ 72 h 212"/>
                    <a:gd name="T24" fmla="*/ 2 w 38"/>
                    <a:gd name="T25" fmla="*/ 88 h 212"/>
                    <a:gd name="T26" fmla="*/ 7 w 38"/>
                    <a:gd name="T27" fmla="*/ 88 h 212"/>
                    <a:gd name="T28" fmla="*/ 7 w 38"/>
                    <a:gd name="T29" fmla="*/ 92 h 212"/>
                    <a:gd name="T30" fmla="*/ 10 w 38"/>
                    <a:gd name="T31" fmla="*/ 94 h 212"/>
                    <a:gd name="T32" fmla="*/ 10 w 38"/>
                    <a:gd name="T33" fmla="*/ 110 h 212"/>
                    <a:gd name="T34" fmla="*/ 12 w 38"/>
                    <a:gd name="T35" fmla="*/ 114 h 212"/>
                    <a:gd name="T36" fmla="*/ 12 w 38"/>
                    <a:gd name="T37" fmla="*/ 142 h 212"/>
                    <a:gd name="T38" fmla="*/ 12 w 38"/>
                    <a:gd name="T39" fmla="*/ 160 h 212"/>
                    <a:gd name="T40" fmla="*/ 8 w 38"/>
                    <a:gd name="T41" fmla="*/ 180 h 212"/>
                    <a:gd name="T42" fmla="*/ 7 w 38"/>
                    <a:gd name="T43" fmla="*/ 206 h 212"/>
                    <a:gd name="T44" fmla="*/ 11 w 38"/>
                    <a:gd name="T45" fmla="*/ 208 h 212"/>
                    <a:gd name="T46" fmla="*/ 11 w 38"/>
                    <a:gd name="T47" fmla="*/ 211 h 212"/>
                    <a:gd name="T48" fmla="*/ 17 w 38"/>
                    <a:gd name="T49" fmla="*/ 211 h 212"/>
                    <a:gd name="T50" fmla="*/ 18 w 38"/>
                    <a:gd name="T51" fmla="*/ 210 h 212"/>
                    <a:gd name="T52" fmla="*/ 21 w 38"/>
                    <a:gd name="T53" fmla="*/ 210 h 212"/>
                    <a:gd name="T54" fmla="*/ 21 w 38"/>
                    <a:gd name="T55" fmla="*/ 211 h 212"/>
                    <a:gd name="T56" fmla="*/ 25 w 38"/>
                    <a:gd name="T57" fmla="*/ 211 h 212"/>
                    <a:gd name="T58" fmla="*/ 35 w 38"/>
                    <a:gd name="T59" fmla="*/ 210 h 212"/>
                    <a:gd name="T60" fmla="*/ 35 w 38"/>
                    <a:gd name="T61" fmla="*/ 208 h 212"/>
                    <a:gd name="T62" fmla="*/ 27 w 38"/>
                    <a:gd name="T63" fmla="*/ 204 h 212"/>
                    <a:gd name="T64" fmla="*/ 27 w 38"/>
                    <a:gd name="T65" fmla="*/ 200 h 212"/>
                    <a:gd name="T66" fmla="*/ 35 w 38"/>
                    <a:gd name="T67" fmla="*/ 198 h 212"/>
                    <a:gd name="T68" fmla="*/ 35 w 38"/>
                    <a:gd name="T69" fmla="*/ 196 h 212"/>
                    <a:gd name="T70" fmla="*/ 29 w 38"/>
                    <a:gd name="T71" fmla="*/ 192 h 212"/>
                    <a:gd name="T72" fmla="*/ 29 w 38"/>
                    <a:gd name="T73" fmla="*/ 163 h 212"/>
                    <a:gd name="T74" fmla="*/ 30 w 38"/>
                    <a:gd name="T75" fmla="*/ 137 h 212"/>
                    <a:gd name="T76" fmla="*/ 30 w 38"/>
                    <a:gd name="T77" fmla="*/ 110 h 212"/>
                    <a:gd name="T78" fmla="*/ 30 w 38"/>
                    <a:gd name="T79" fmla="*/ 94 h 212"/>
                    <a:gd name="T80" fmla="*/ 30 w 38"/>
                    <a:gd name="T81" fmla="*/ 91 h 212"/>
                    <a:gd name="T82" fmla="*/ 30 w 38"/>
                    <a:gd name="T83" fmla="*/ 69 h 212"/>
                    <a:gd name="T84" fmla="*/ 37 w 38"/>
                    <a:gd name="T85" fmla="*/ 65 h 212"/>
                    <a:gd name="T86" fmla="*/ 37 w 38"/>
                    <a:gd name="T87" fmla="*/ 62 h 212"/>
                    <a:gd name="T88" fmla="*/ 23 w 38"/>
                    <a:gd name="T89" fmla="*/ 34 h 212"/>
                    <a:gd name="T90" fmla="*/ 16 w 38"/>
                    <a:gd name="T91" fmla="*/ 30 h 212"/>
                    <a:gd name="T92" fmla="*/ 17 w 38"/>
                    <a:gd name="T93" fmla="*/ 28 h 212"/>
                    <a:gd name="T94" fmla="*/ 22 w 38"/>
                    <a:gd name="T95" fmla="*/ 26 h 212"/>
                    <a:gd name="T96" fmla="*/ 22 w 38"/>
                    <a:gd name="T97" fmla="*/ 25 h 212"/>
                    <a:gd name="T98" fmla="*/ 23 w 38"/>
                    <a:gd name="T99" fmla="*/ 24 h 212"/>
                    <a:gd name="T100" fmla="*/ 23 w 38"/>
                    <a:gd name="T101" fmla="*/ 22 h 212"/>
                    <a:gd name="T102" fmla="*/ 25 w 38"/>
                    <a:gd name="T103" fmla="*/ 21 h 212"/>
                    <a:gd name="T104" fmla="*/ 23 w 38"/>
                    <a:gd name="T105" fmla="*/ 20 h 212"/>
                    <a:gd name="T106" fmla="*/ 24 w 38"/>
                    <a:gd name="T107" fmla="*/ 19 h 212"/>
                    <a:gd name="T108" fmla="*/ 22 w 38"/>
                    <a:gd name="T109" fmla="*/ 15 h 212"/>
                    <a:gd name="T110" fmla="*/ 23 w 38"/>
                    <a:gd name="T111" fmla="*/ 12 h 212"/>
                    <a:gd name="T112" fmla="*/ 22 w 38"/>
                    <a:gd name="T113" fmla="*/ 9 h 212"/>
                    <a:gd name="T114" fmla="*/ 24 w 38"/>
                    <a:gd name="T115" fmla="*/ 7 h 212"/>
                    <a:gd name="T116" fmla="*/ 25 w 38"/>
                    <a:gd name="T117" fmla="*/ 2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38" h="212">
                      <a:moveTo>
                        <a:pt x="25" y="2"/>
                      </a:moveTo>
                      <a:lnTo>
                        <a:pt x="16" y="0"/>
                      </a:lnTo>
                      <a:lnTo>
                        <a:pt x="8" y="0"/>
                      </a:lnTo>
                      <a:lnTo>
                        <a:pt x="2" y="1"/>
                      </a:lnTo>
                      <a:lnTo>
                        <a:pt x="1" y="9"/>
                      </a:lnTo>
                      <a:lnTo>
                        <a:pt x="1" y="15"/>
                      </a:lnTo>
                      <a:lnTo>
                        <a:pt x="4" y="22"/>
                      </a:lnTo>
                      <a:lnTo>
                        <a:pt x="7" y="22"/>
                      </a:lnTo>
                      <a:lnTo>
                        <a:pt x="2" y="31"/>
                      </a:lnTo>
                      <a:lnTo>
                        <a:pt x="0" y="44"/>
                      </a:lnTo>
                      <a:lnTo>
                        <a:pt x="0" y="57"/>
                      </a:lnTo>
                      <a:lnTo>
                        <a:pt x="1" y="72"/>
                      </a:lnTo>
                      <a:lnTo>
                        <a:pt x="2" y="88"/>
                      </a:lnTo>
                      <a:lnTo>
                        <a:pt x="7" y="88"/>
                      </a:lnTo>
                      <a:lnTo>
                        <a:pt x="7" y="92"/>
                      </a:lnTo>
                      <a:lnTo>
                        <a:pt x="10" y="94"/>
                      </a:lnTo>
                      <a:lnTo>
                        <a:pt x="10" y="110"/>
                      </a:lnTo>
                      <a:lnTo>
                        <a:pt x="12" y="114"/>
                      </a:lnTo>
                      <a:lnTo>
                        <a:pt x="12" y="142"/>
                      </a:lnTo>
                      <a:lnTo>
                        <a:pt x="12" y="160"/>
                      </a:lnTo>
                      <a:lnTo>
                        <a:pt x="8" y="180"/>
                      </a:lnTo>
                      <a:lnTo>
                        <a:pt x="7" y="206"/>
                      </a:lnTo>
                      <a:lnTo>
                        <a:pt x="11" y="208"/>
                      </a:lnTo>
                      <a:lnTo>
                        <a:pt x="11" y="211"/>
                      </a:lnTo>
                      <a:lnTo>
                        <a:pt x="17" y="211"/>
                      </a:lnTo>
                      <a:lnTo>
                        <a:pt x="18" y="210"/>
                      </a:lnTo>
                      <a:lnTo>
                        <a:pt x="21" y="210"/>
                      </a:lnTo>
                      <a:lnTo>
                        <a:pt x="21" y="211"/>
                      </a:lnTo>
                      <a:lnTo>
                        <a:pt x="25" y="211"/>
                      </a:lnTo>
                      <a:lnTo>
                        <a:pt x="35" y="210"/>
                      </a:lnTo>
                      <a:lnTo>
                        <a:pt x="35" y="208"/>
                      </a:lnTo>
                      <a:lnTo>
                        <a:pt x="27" y="204"/>
                      </a:lnTo>
                      <a:lnTo>
                        <a:pt x="27" y="200"/>
                      </a:lnTo>
                      <a:lnTo>
                        <a:pt x="35" y="198"/>
                      </a:lnTo>
                      <a:lnTo>
                        <a:pt x="35" y="196"/>
                      </a:lnTo>
                      <a:lnTo>
                        <a:pt x="29" y="192"/>
                      </a:lnTo>
                      <a:lnTo>
                        <a:pt x="29" y="163"/>
                      </a:lnTo>
                      <a:lnTo>
                        <a:pt x="30" y="137"/>
                      </a:lnTo>
                      <a:lnTo>
                        <a:pt x="30" y="110"/>
                      </a:lnTo>
                      <a:lnTo>
                        <a:pt x="30" y="94"/>
                      </a:lnTo>
                      <a:lnTo>
                        <a:pt x="30" y="91"/>
                      </a:lnTo>
                      <a:lnTo>
                        <a:pt x="30" y="69"/>
                      </a:lnTo>
                      <a:lnTo>
                        <a:pt x="37" y="65"/>
                      </a:lnTo>
                      <a:lnTo>
                        <a:pt x="37" y="62"/>
                      </a:lnTo>
                      <a:lnTo>
                        <a:pt x="23" y="34"/>
                      </a:lnTo>
                      <a:lnTo>
                        <a:pt x="16" y="30"/>
                      </a:lnTo>
                      <a:lnTo>
                        <a:pt x="17" y="28"/>
                      </a:lnTo>
                      <a:lnTo>
                        <a:pt x="22" y="26"/>
                      </a:lnTo>
                      <a:lnTo>
                        <a:pt x="22" y="25"/>
                      </a:lnTo>
                      <a:lnTo>
                        <a:pt x="23" y="24"/>
                      </a:lnTo>
                      <a:lnTo>
                        <a:pt x="23" y="22"/>
                      </a:lnTo>
                      <a:lnTo>
                        <a:pt x="25" y="21"/>
                      </a:lnTo>
                      <a:lnTo>
                        <a:pt x="23" y="20"/>
                      </a:lnTo>
                      <a:lnTo>
                        <a:pt x="24" y="19"/>
                      </a:lnTo>
                      <a:lnTo>
                        <a:pt x="22" y="15"/>
                      </a:lnTo>
                      <a:lnTo>
                        <a:pt x="23" y="12"/>
                      </a:lnTo>
                      <a:lnTo>
                        <a:pt x="22" y="9"/>
                      </a:lnTo>
                      <a:lnTo>
                        <a:pt x="24" y="7"/>
                      </a:lnTo>
                      <a:lnTo>
                        <a:pt x="25" y="2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33836" name="Group 33"/>
                <p:cNvGrpSpPr/>
                <p:nvPr/>
              </p:nvGrpSpPr>
              <p:grpSpPr bwMode="auto">
                <a:xfrm>
                  <a:off x="3758" y="1962"/>
                  <a:ext cx="124" cy="275"/>
                  <a:chOff x="3758" y="1962"/>
                  <a:chExt cx="124" cy="275"/>
                </a:xfrm>
              </p:grpSpPr>
              <p:sp>
                <p:nvSpPr>
                  <p:cNvPr id="36898" name="Freeform 34"/>
                  <p:cNvSpPr/>
                  <p:nvPr/>
                </p:nvSpPr>
                <p:spPr bwMode="auto">
                  <a:xfrm>
                    <a:off x="3805" y="1962"/>
                    <a:ext cx="77" cy="272"/>
                  </a:xfrm>
                  <a:custGeom>
                    <a:avLst/>
                    <a:gdLst>
                      <a:gd name="T0" fmla="*/ 30 w 77"/>
                      <a:gd name="T1" fmla="*/ 3 h 275"/>
                      <a:gd name="T2" fmla="*/ 14 w 77"/>
                      <a:gd name="T3" fmla="*/ 0 h 275"/>
                      <a:gd name="T4" fmla="*/ 9 w 77"/>
                      <a:gd name="T5" fmla="*/ 7 h 275"/>
                      <a:gd name="T6" fmla="*/ 6 w 77"/>
                      <a:gd name="T7" fmla="*/ 4 h 275"/>
                      <a:gd name="T8" fmla="*/ 2 w 77"/>
                      <a:gd name="T9" fmla="*/ 16 h 275"/>
                      <a:gd name="T10" fmla="*/ 10 w 77"/>
                      <a:gd name="T11" fmla="*/ 24 h 275"/>
                      <a:gd name="T12" fmla="*/ 11 w 77"/>
                      <a:gd name="T13" fmla="*/ 30 h 275"/>
                      <a:gd name="T14" fmla="*/ 13 w 77"/>
                      <a:gd name="T15" fmla="*/ 31 h 275"/>
                      <a:gd name="T16" fmla="*/ 14 w 77"/>
                      <a:gd name="T17" fmla="*/ 37 h 275"/>
                      <a:gd name="T18" fmla="*/ 21 w 77"/>
                      <a:gd name="T19" fmla="*/ 38 h 275"/>
                      <a:gd name="T20" fmla="*/ 21 w 77"/>
                      <a:gd name="T21" fmla="*/ 40 h 275"/>
                      <a:gd name="T22" fmla="*/ 10 w 77"/>
                      <a:gd name="T23" fmla="*/ 49 h 275"/>
                      <a:gd name="T24" fmla="*/ 2 w 77"/>
                      <a:gd name="T25" fmla="*/ 88 h 275"/>
                      <a:gd name="T26" fmla="*/ 9 w 77"/>
                      <a:gd name="T27" fmla="*/ 98 h 275"/>
                      <a:gd name="T28" fmla="*/ 9 w 77"/>
                      <a:gd name="T29" fmla="*/ 171 h 275"/>
                      <a:gd name="T30" fmla="*/ 16 w 77"/>
                      <a:gd name="T31" fmla="*/ 173 h 275"/>
                      <a:gd name="T32" fmla="*/ 18 w 77"/>
                      <a:gd name="T33" fmla="*/ 185 h 275"/>
                      <a:gd name="T34" fmla="*/ 22 w 77"/>
                      <a:gd name="T35" fmla="*/ 216 h 275"/>
                      <a:gd name="T36" fmla="*/ 22 w 77"/>
                      <a:gd name="T37" fmla="*/ 232 h 275"/>
                      <a:gd name="T38" fmla="*/ 9 w 77"/>
                      <a:gd name="T39" fmla="*/ 242 h 275"/>
                      <a:gd name="T40" fmla="*/ 0 w 77"/>
                      <a:gd name="T41" fmla="*/ 247 h 275"/>
                      <a:gd name="T42" fmla="*/ 0 w 77"/>
                      <a:gd name="T43" fmla="*/ 251 h 275"/>
                      <a:gd name="T44" fmla="*/ 19 w 77"/>
                      <a:gd name="T45" fmla="*/ 246 h 275"/>
                      <a:gd name="T46" fmla="*/ 22 w 77"/>
                      <a:gd name="T47" fmla="*/ 242 h 275"/>
                      <a:gd name="T48" fmla="*/ 24 w 77"/>
                      <a:gd name="T49" fmla="*/ 246 h 275"/>
                      <a:gd name="T50" fmla="*/ 25 w 77"/>
                      <a:gd name="T51" fmla="*/ 246 h 275"/>
                      <a:gd name="T52" fmla="*/ 28 w 77"/>
                      <a:gd name="T53" fmla="*/ 234 h 275"/>
                      <a:gd name="T54" fmla="*/ 30 w 77"/>
                      <a:gd name="T55" fmla="*/ 182 h 275"/>
                      <a:gd name="T56" fmla="*/ 33 w 77"/>
                      <a:gd name="T57" fmla="*/ 182 h 275"/>
                      <a:gd name="T58" fmla="*/ 44 w 77"/>
                      <a:gd name="T59" fmla="*/ 228 h 275"/>
                      <a:gd name="T60" fmla="*/ 44 w 77"/>
                      <a:gd name="T61" fmla="*/ 257 h 275"/>
                      <a:gd name="T62" fmla="*/ 49 w 77"/>
                      <a:gd name="T63" fmla="*/ 271 h 275"/>
                      <a:gd name="T64" fmla="*/ 53 w 77"/>
                      <a:gd name="T65" fmla="*/ 274 h 275"/>
                      <a:gd name="T66" fmla="*/ 55 w 77"/>
                      <a:gd name="T67" fmla="*/ 266 h 275"/>
                      <a:gd name="T68" fmla="*/ 52 w 77"/>
                      <a:gd name="T69" fmla="*/ 258 h 275"/>
                      <a:gd name="T70" fmla="*/ 49 w 77"/>
                      <a:gd name="T71" fmla="*/ 240 h 275"/>
                      <a:gd name="T72" fmla="*/ 48 w 77"/>
                      <a:gd name="T73" fmla="*/ 175 h 275"/>
                      <a:gd name="T74" fmla="*/ 45 w 77"/>
                      <a:gd name="T75" fmla="*/ 110 h 275"/>
                      <a:gd name="T76" fmla="*/ 52 w 77"/>
                      <a:gd name="T77" fmla="*/ 105 h 275"/>
                      <a:gd name="T78" fmla="*/ 52 w 77"/>
                      <a:gd name="T79" fmla="*/ 95 h 275"/>
                      <a:gd name="T80" fmla="*/ 52 w 77"/>
                      <a:gd name="T81" fmla="*/ 78 h 275"/>
                      <a:gd name="T82" fmla="*/ 60 w 77"/>
                      <a:gd name="T83" fmla="*/ 83 h 275"/>
                      <a:gd name="T84" fmla="*/ 52 w 77"/>
                      <a:gd name="T85" fmla="*/ 93 h 275"/>
                      <a:gd name="T86" fmla="*/ 52 w 77"/>
                      <a:gd name="T87" fmla="*/ 103 h 275"/>
                      <a:gd name="T88" fmla="*/ 60 w 77"/>
                      <a:gd name="T89" fmla="*/ 97 h 275"/>
                      <a:gd name="T90" fmla="*/ 64 w 77"/>
                      <a:gd name="T91" fmla="*/ 90 h 275"/>
                      <a:gd name="T92" fmla="*/ 68 w 77"/>
                      <a:gd name="T93" fmla="*/ 92 h 275"/>
                      <a:gd name="T94" fmla="*/ 76 w 77"/>
                      <a:gd name="T95" fmla="*/ 81 h 275"/>
                      <a:gd name="T96" fmla="*/ 76 w 77"/>
                      <a:gd name="T97" fmla="*/ 78 h 275"/>
                      <a:gd name="T98" fmla="*/ 72 w 77"/>
                      <a:gd name="T99" fmla="*/ 76 h 275"/>
                      <a:gd name="T100" fmla="*/ 62 w 77"/>
                      <a:gd name="T101" fmla="*/ 64 h 275"/>
                      <a:gd name="T102" fmla="*/ 52 w 77"/>
                      <a:gd name="T103" fmla="*/ 53 h 275"/>
                      <a:gd name="T104" fmla="*/ 39 w 77"/>
                      <a:gd name="T105" fmla="*/ 41 h 275"/>
                      <a:gd name="T106" fmla="*/ 30 w 77"/>
                      <a:gd name="T107" fmla="*/ 37 h 275"/>
                      <a:gd name="T108" fmla="*/ 30 w 77"/>
                      <a:gd name="T109" fmla="*/ 29 h 275"/>
                      <a:gd name="T110" fmla="*/ 33 w 77"/>
                      <a:gd name="T111" fmla="*/ 24 h 275"/>
                      <a:gd name="T112" fmla="*/ 33 w 77"/>
                      <a:gd name="T113" fmla="*/ 14 h 275"/>
                      <a:gd name="T114" fmla="*/ 36 w 77"/>
                      <a:gd name="T115" fmla="*/ 11 h 275"/>
                      <a:gd name="T116" fmla="*/ 30 w 77"/>
                      <a:gd name="T117" fmla="*/ 3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77" h="275">
                        <a:moveTo>
                          <a:pt x="30" y="3"/>
                        </a:moveTo>
                        <a:lnTo>
                          <a:pt x="14" y="0"/>
                        </a:lnTo>
                        <a:lnTo>
                          <a:pt x="9" y="7"/>
                        </a:lnTo>
                        <a:lnTo>
                          <a:pt x="6" y="4"/>
                        </a:lnTo>
                        <a:lnTo>
                          <a:pt x="2" y="16"/>
                        </a:lnTo>
                        <a:lnTo>
                          <a:pt x="10" y="24"/>
                        </a:lnTo>
                        <a:lnTo>
                          <a:pt x="11" y="30"/>
                        </a:lnTo>
                        <a:lnTo>
                          <a:pt x="13" y="31"/>
                        </a:lnTo>
                        <a:lnTo>
                          <a:pt x="14" y="37"/>
                        </a:lnTo>
                        <a:lnTo>
                          <a:pt x="21" y="38"/>
                        </a:lnTo>
                        <a:lnTo>
                          <a:pt x="21" y="40"/>
                        </a:lnTo>
                        <a:lnTo>
                          <a:pt x="10" y="49"/>
                        </a:lnTo>
                        <a:lnTo>
                          <a:pt x="2" y="88"/>
                        </a:lnTo>
                        <a:lnTo>
                          <a:pt x="9" y="98"/>
                        </a:lnTo>
                        <a:lnTo>
                          <a:pt x="9" y="171"/>
                        </a:lnTo>
                        <a:lnTo>
                          <a:pt x="16" y="173"/>
                        </a:lnTo>
                        <a:lnTo>
                          <a:pt x="18" y="185"/>
                        </a:lnTo>
                        <a:lnTo>
                          <a:pt x="22" y="216"/>
                        </a:lnTo>
                        <a:lnTo>
                          <a:pt x="22" y="232"/>
                        </a:lnTo>
                        <a:lnTo>
                          <a:pt x="9" y="242"/>
                        </a:lnTo>
                        <a:lnTo>
                          <a:pt x="0" y="247"/>
                        </a:lnTo>
                        <a:lnTo>
                          <a:pt x="0" y="251"/>
                        </a:lnTo>
                        <a:lnTo>
                          <a:pt x="19" y="246"/>
                        </a:lnTo>
                        <a:lnTo>
                          <a:pt x="22" y="242"/>
                        </a:lnTo>
                        <a:lnTo>
                          <a:pt x="24" y="246"/>
                        </a:lnTo>
                        <a:lnTo>
                          <a:pt x="25" y="246"/>
                        </a:lnTo>
                        <a:lnTo>
                          <a:pt x="28" y="234"/>
                        </a:lnTo>
                        <a:lnTo>
                          <a:pt x="30" y="182"/>
                        </a:lnTo>
                        <a:lnTo>
                          <a:pt x="33" y="182"/>
                        </a:lnTo>
                        <a:lnTo>
                          <a:pt x="44" y="228"/>
                        </a:lnTo>
                        <a:lnTo>
                          <a:pt x="44" y="257"/>
                        </a:lnTo>
                        <a:lnTo>
                          <a:pt x="49" y="271"/>
                        </a:lnTo>
                        <a:lnTo>
                          <a:pt x="53" y="274"/>
                        </a:lnTo>
                        <a:lnTo>
                          <a:pt x="55" y="266"/>
                        </a:lnTo>
                        <a:lnTo>
                          <a:pt x="52" y="258"/>
                        </a:lnTo>
                        <a:lnTo>
                          <a:pt x="49" y="240"/>
                        </a:lnTo>
                        <a:lnTo>
                          <a:pt x="48" y="175"/>
                        </a:lnTo>
                        <a:lnTo>
                          <a:pt x="45" y="110"/>
                        </a:lnTo>
                        <a:lnTo>
                          <a:pt x="52" y="105"/>
                        </a:lnTo>
                        <a:lnTo>
                          <a:pt x="52" y="95"/>
                        </a:lnTo>
                        <a:lnTo>
                          <a:pt x="52" y="78"/>
                        </a:lnTo>
                        <a:lnTo>
                          <a:pt x="60" y="83"/>
                        </a:lnTo>
                        <a:lnTo>
                          <a:pt x="52" y="93"/>
                        </a:lnTo>
                        <a:lnTo>
                          <a:pt x="52" y="103"/>
                        </a:lnTo>
                        <a:lnTo>
                          <a:pt x="60" y="97"/>
                        </a:lnTo>
                        <a:lnTo>
                          <a:pt x="64" y="90"/>
                        </a:lnTo>
                        <a:lnTo>
                          <a:pt x="68" y="92"/>
                        </a:lnTo>
                        <a:lnTo>
                          <a:pt x="76" y="81"/>
                        </a:lnTo>
                        <a:lnTo>
                          <a:pt x="76" y="78"/>
                        </a:lnTo>
                        <a:lnTo>
                          <a:pt x="72" y="76"/>
                        </a:lnTo>
                        <a:lnTo>
                          <a:pt x="62" y="64"/>
                        </a:lnTo>
                        <a:lnTo>
                          <a:pt x="52" y="53"/>
                        </a:lnTo>
                        <a:lnTo>
                          <a:pt x="39" y="41"/>
                        </a:lnTo>
                        <a:lnTo>
                          <a:pt x="30" y="37"/>
                        </a:lnTo>
                        <a:lnTo>
                          <a:pt x="30" y="29"/>
                        </a:lnTo>
                        <a:lnTo>
                          <a:pt x="33" y="24"/>
                        </a:lnTo>
                        <a:lnTo>
                          <a:pt x="33" y="14"/>
                        </a:lnTo>
                        <a:lnTo>
                          <a:pt x="36" y="11"/>
                        </a:lnTo>
                        <a:lnTo>
                          <a:pt x="30" y="3"/>
                        </a:lnTo>
                      </a:path>
                    </a:pathLst>
                  </a:custGeom>
                  <a:solidFill>
                    <a:schemeClr val="hlink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899" name="Freeform 35"/>
                  <p:cNvSpPr/>
                  <p:nvPr/>
                </p:nvSpPr>
                <p:spPr bwMode="auto">
                  <a:xfrm>
                    <a:off x="3758" y="1965"/>
                    <a:ext cx="54" cy="262"/>
                  </a:xfrm>
                  <a:custGeom>
                    <a:avLst/>
                    <a:gdLst>
                      <a:gd name="T0" fmla="*/ 41 w 54"/>
                      <a:gd name="T1" fmla="*/ 5 h 264"/>
                      <a:gd name="T2" fmla="*/ 41 w 54"/>
                      <a:gd name="T3" fmla="*/ 12 h 264"/>
                      <a:gd name="T4" fmla="*/ 40 w 54"/>
                      <a:gd name="T5" fmla="*/ 14 h 264"/>
                      <a:gd name="T6" fmla="*/ 43 w 54"/>
                      <a:gd name="T7" fmla="*/ 19 h 264"/>
                      <a:gd name="T8" fmla="*/ 41 w 54"/>
                      <a:gd name="T9" fmla="*/ 20 h 264"/>
                      <a:gd name="T10" fmla="*/ 41 w 54"/>
                      <a:gd name="T11" fmla="*/ 22 h 264"/>
                      <a:gd name="T12" fmla="*/ 40 w 54"/>
                      <a:gd name="T13" fmla="*/ 30 h 264"/>
                      <a:gd name="T14" fmla="*/ 49 w 54"/>
                      <a:gd name="T15" fmla="*/ 38 h 264"/>
                      <a:gd name="T16" fmla="*/ 53 w 54"/>
                      <a:gd name="T17" fmla="*/ 92 h 264"/>
                      <a:gd name="T18" fmla="*/ 48 w 54"/>
                      <a:gd name="T19" fmla="*/ 102 h 264"/>
                      <a:gd name="T20" fmla="*/ 50 w 54"/>
                      <a:gd name="T21" fmla="*/ 131 h 264"/>
                      <a:gd name="T22" fmla="*/ 47 w 54"/>
                      <a:gd name="T23" fmla="*/ 135 h 264"/>
                      <a:gd name="T24" fmla="*/ 44 w 54"/>
                      <a:gd name="T25" fmla="*/ 181 h 264"/>
                      <a:gd name="T26" fmla="*/ 42 w 54"/>
                      <a:gd name="T27" fmla="*/ 228 h 264"/>
                      <a:gd name="T28" fmla="*/ 43 w 54"/>
                      <a:gd name="T29" fmla="*/ 230 h 264"/>
                      <a:gd name="T30" fmla="*/ 53 w 54"/>
                      <a:gd name="T31" fmla="*/ 239 h 264"/>
                      <a:gd name="T32" fmla="*/ 51 w 54"/>
                      <a:gd name="T33" fmla="*/ 241 h 264"/>
                      <a:gd name="T34" fmla="*/ 48 w 54"/>
                      <a:gd name="T35" fmla="*/ 242 h 264"/>
                      <a:gd name="T36" fmla="*/ 43 w 54"/>
                      <a:gd name="T37" fmla="*/ 241 h 264"/>
                      <a:gd name="T38" fmla="*/ 36 w 54"/>
                      <a:gd name="T39" fmla="*/ 237 h 264"/>
                      <a:gd name="T40" fmla="*/ 32 w 54"/>
                      <a:gd name="T41" fmla="*/ 235 h 264"/>
                      <a:gd name="T42" fmla="*/ 32 w 54"/>
                      <a:gd name="T43" fmla="*/ 244 h 264"/>
                      <a:gd name="T44" fmla="*/ 30 w 54"/>
                      <a:gd name="T45" fmla="*/ 244 h 264"/>
                      <a:gd name="T46" fmla="*/ 34 w 54"/>
                      <a:gd name="T47" fmla="*/ 250 h 264"/>
                      <a:gd name="T48" fmla="*/ 32 w 54"/>
                      <a:gd name="T49" fmla="*/ 261 h 264"/>
                      <a:gd name="T50" fmla="*/ 29 w 54"/>
                      <a:gd name="T51" fmla="*/ 263 h 264"/>
                      <a:gd name="T52" fmla="*/ 23 w 54"/>
                      <a:gd name="T53" fmla="*/ 254 h 264"/>
                      <a:gd name="T54" fmla="*/ 23 w 54"/>
                      <a:gd name="T55" fmla="*/ 247 h 264"/>
                      <a:gd name="T56" fmla="*/ 21 w 54"/>
                      <a:gd name="T57" fmla="*/ 246 h 264"/>
                      <a:gd name="T58" fmla="*/ 19 w 54"/>
                      <a:gd name="T59" fmla="*/ 186 h 264"/>
                      <a:gd name="T60" fmla="*/ 21 w 54"/>
                      <a:gd name="T61" fmla="*/ 181 h 264"/>
                      <a:gd name="T62" fmla="*/ 15 w 54"/>
                      <a:gd name="T63" fmla="*/ 140 h 264"/>
                      <a:gd name="T64" fmla="*/ 10 w 54"/>
                      <a:gd name="T65" fmla="*/ 139 h 264"/>
                      <a:gd name="T66" fmla="*/ 10 w 54"/>
                      <a:gd name="T67" fmla="*/ 97 h 264"/>
                      <a:gd name="T68" fmla="*/ 0 w 54"/>
                      <a:gd name="T69" fmla="*/ 92 h 264"/>
                      <a:gd name="T70" fmla="*/ 3 w 54"/>
                      <a:gd name="T71" fmla="*/ 47 h 264"/>
                      <a:gd name="T72" fmla="*/ 19 w 54"/>
                      <a:gd name="T73" fmla="*/ 35 h 264"/>
                      <a:gd name="T74" fmla="*/ 23 w 54"/>
                      <a:gd name="T75" fmla="*/ 30 h 264"/>
                      <a:gd name="T76" fmla="*/ 23 w 54"/>
                      <a:gd name="T77" fmla="*/ 26 h 264"/>
                      <a:gd name="T78" fmla="*/ 22 w 54"/>
                      <a:gd name="T79" fmla="*/ 23 h 264"/>
                      <a:gd name="T80" fmla="*/ 20 w 54"/>
                      <a:gd name="T81" fmla="*/ 21 h 264"/>
                      <a:gd name="T82" fmla="*/ 18 w 54"/>
                      <a:gd name="T83" fmla="*/ 17 h 264"/>
                      <a:gd name="T84" fmla="*/ 17 w 54"/>
                      <a:gd name="T85" fmla="*/ 15 h 264"/>
                      <a:gd name="T86" fmla="*/ 17 w 54"/>
                      <a:gd name="T87" fmla="*/ 12 h 264"/>
                      <a:gd name="T88" fmla="*/ 18 w 54"/>
                      <a:gd name="T89" fmla="*/ 8 h 264"/>
                      <a:gd name="T90" fmla="*/ 21 w 54"/>
                      <a:gd name="T91" fmla="*/ 4 h 264"/>
                      <a:gd name="T92" fmla="*/ 23 w 54"/>
                      <a:gd name="T93" fmla="*/ 1 h 264"/>
                      <a:gd name="T94" fmla="*/ 27 w 54"/>
                      <a:gd name="T95" fmla="*/ 0 h 264"/>
                      <a:gd name="T96" fmla="*/ 30 w 54"/>
                      <a:gd name="T97" fmla="*/ 0 h 264"/>
                      <a:gd name="T98" fmla="*/ 34 w 54"/>
                      <a:gd name="T99" fmla="*/ 0 h 264"/>
                      <a:gd name="T100" fmla="*/ 36 w 54"/>
                      <a:gd name="T101" fmla="*/ 1 h 264"/>
                      <a:gd name="T102" fmla="*/ 41 w 54"/>
                      <a:gd name="T103" fmla="*/ 5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54" h="264">
                        <a:moveTo>
                          <a:pt x="41" y="5"/>
                        </a:moveTo>
                        <a:lnTo>
                          <a:pt x="41" y="12"/>
                        </a:lnTo>
                        <a:lnTo>
                          <a:pt x="40" y="14"/>
                        </a:lnTo>
                        <a:lnTo>
                          <a:pt x="43" y="19"/>
                        </a:lnTo>
                        <a:lnTo>
                          <a:pt x="41" y="20"/>
                        </a:lnTo>
                        <a:lnTo>
                          <a:pt x="41" y="22"/>
                        </a:lnTo>
                        <a:lnTo>
                          <a:pt x="40" y="30"/>
                        </a:lnTo>
                        <a:lnTo>
                          <a:pt x="49" y="38"/>
                        </a:lnTo>
                        <a:lnTo>
                          <a:pt x="53" y="92"/>
                        </a:lnTo>
                        <a:lnTo>
                          <a:pt x="48" y="102"/>
                        </a:lnTo>
                        <a:lnTo>
                          <a:pt x="50" y="131"/>
                        </a:lnTo>
                        <a:lnTo>
                          <a:pt x="47" y="135"/>
                        </a:lnTo>
                        <a:lnTo>
                          <a:pt x="44" y="181"/>
                        </a:lnTo>
                        <a:lnTo>
                          <a:pt x="42" y="228"/>
                        </a:lnTo>
                        <a:lnTo>
                          <a:pt x="43" y="230"/>
                        </a:lnTo>
                        <a:lnTo>
                          <a:pt x="53" y="239"/>
                        </a:lnTo>
                        <a:lnTo>
                          <a:pt x="51" y="241"/>
                        </a:lnTo>
                        <a:lnTo>
                          <a:pt x="48" y="242"/>
                        </a:lnTo>
                        <a:lnTo>
                          <a:pt x="43" y="241"/>
                        </a:lnTo>
                        <a:lnTo>
                          <a:pt x="36" y="237"/>
                        </a:lnTo>
                        <a:lnTo>
                          <a:pt x="32" y="235"/>
                        </a:lnTo>
                        <a:lnTo>
                          <a:pt x="32" y="244"/>
                        </a:lnTo>
                        <a:lnTo>
                          <a:pt x="30" y="244"/>
                        </a:lnTo>
                        <a:lnTo>
                          <a:pt x="34" y="250"/>
                        </a:lnTo>
                        <a:lnTo>
                          <a:pt x="32" y="261"/>
                        </a:lnTo>
                        <a:lnTo>
                          <a:pt x="29" y="263"/>
                        </a:lnTo>
                        <a:lnTo>
                          <a:pt x="23" y="254"/>
                        </a:lnTo>
                        <a:lnTo>
                          <a:pt x="23" y="247"/>
                        </a:lnTo>
                        <a:lnTo>
                          <a:pt x="21" y="246"/>
                        </a:lnTo>
                        <a:lnTo>
                          <a:pt x="19" y="186"/>
                        </a:lnTo>
                        <a:lnTo>
                          <a:pt x="21" y="181"/>
                        </a:lnTo>
                        <a:lnTo>
                          <a:pt x="15" y="140"/>
                        </a:lnTo>
                        <a:lnTo>
                          <a:pt x="10" y="139"/>
                        </a:lnTo>
                        <a:lnTo>
                          <a:pt x="10" y="97"/>
                        </a:lnTo>
                        <a:lnTo>
                          <a:pt x="0" y="92"/>
                        </a:lnTo>
                        <a:lnTo>
                          <a:pt x="3" y="47"/>
                        </a:lnTo>
                        <a:lnTo>
                          <a:pt x="19" y="35"/>
                        </a:lnTo>
                        <a:lnTo>
                          <a:pt x="23" y="30"/>
                        </a:lnTo>
                        <a:lnTo>
                          <a:pt x="23" y="26"/>
                        </a:lnTo>
                        <a:lnTo>
                          <a:pt x="22" y="23"/>
                        </a:lnTo>
                        <a:lnTo>
                          <a:pt x="20" y="21"/>
                        </a:lnTo>
                        <a:lnTo>
                          <a:pt x="18" y="17"/>
                        </a:lnTo>
                        <a:lnTo>
                          <a:pt x="17" y="15"/>
                        </a:lnTo>
                        <a:lnTo>
                          <a:pt x="17" y="12"/>
                        </a:lnTo>
                        <a:lnTo>
                          <a:pt x="18" y="8"/>
                        </a:lnTo>
                        <a:lnTo>
                          <a:pt x="21" y="4"/>
                        </a:lnTo>
                        <a:lnTo>
                          <a:pt x="23" y="1"/>
                        </a:lnTo>
                        <a:lnTo>
                          <a:pt x="27" y="0"/>
                        </a:lnTo>
                        <a:lnTo>
                          <a:pt x="30" y="0"/>
                        </a:lnTo>
                        <a:lnTo>
                          <a:pt x="34" y="0"/>
                        </a:lnTo>
                        <a:lnTo>
                          <a:pt x="36" y="1"/>
                        </a:lnTo>
                        <a:lnTo>
                          <a:pt x="41" y="5"/>
                        </a:lnTo>
                      </a:path>
                    </a:pathLst>
                  </a:custGeom>
                  <a:solidFill>
                    <a:schemeClr val="hlink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6900" name="Freeform 36"/>
                <p:cNvSpPr/>
                <p:nvPr/>
              </p:nvSpPr>
              <p:spPr bwMode="auto">
                <a:xfrm>
                  <a:off x="4322" y="1983"/>
                  <a:ext cx="66" cy="239"/>
                </a:xfrm>
                <a:custGeom>
                  <a:avLst/>
                  <a:gdLst>
                    <a:gd name="T0" fmla="*/ 40 w 68"/>
                    <a:gd name="T1" fmla="*/ 3 h 241"/>
                    <a:gd name="T2" fmla="*/ 54 w 68"/>
                    <a:gd name="T3" fmla="*/ 0 h 241"/>
                    <a:gd name="T4" fmla="*/ 59 w 68"/>
                    <a:gd name="T5" fmla="*/ 6 h 241"/>
                    <a:gd name="T6" fmla="*/ 61 w 68"/>
                    <a:gd name="T7" fmla="*/ 4 h 241"/>
                    <a:gd name="T8" fmla="*/ 65 w 68"/>
                    <a:gd name="T9" fmla="*/ 15 h 241"/>
                    <a:gd name="T10" fmla="*/ 57 w 68"/>
                    <a:gd name="T11" fmla="*/ 21 h 241"/>
                    <a:gd name="T12" fmla="*/ 57 w 68"/>
                    <a:gd name="T13" fmla="*/ 26 h 241"/>
                    <a:gd name="T14" fmla="*/ 55 w 68"/>
                    <a:gd name="T15" fmla="*/ 27 h 241"/>
                    <a:gd name="T16" fmla="*/ 54 w 68"/>
                    <a:gd name="T17" fmla="*/ 33 h 241"/>
                    <a:gd name="T18" fmla="*/ 48 w 68"/>
                    <a:gd name="T19" fmla="*/ 34 h 241"/>
                    <a:gd name="T20" fmla="*/ 48 w 68"/>
                    <a:gd name="T21" fmla="*/ 36 h 241"/>
                    <a:gd name="T22" fmla="*/ 57 w 68"/>
                    <a:gd name="T23" fmla="*/ 43 h 241"/>
                    <a:gd name="T24" fmla="*/ 65 w 68"/>
                    <a:gd name="T25" fmla="*/ 77 h 241"/>
                    <a:gd name="T26" fmla="*/ 59 w 68"/>
                    <a:gd name="T27" fmla="*/ 86 h 241"/>
                    <a:gd name="T28" fmla="*/ 59 w 68"/>
                    <a:gd name="T29" fmla="*/ 149 h 241"/>
                    <a:gd name="T30" fmla="*/ 52 w 68"/>
                    <a:gd name="T31" fmla="*/ 152 h 241"/>
                    <a:gd name="T32" fmla="*/ 51 w 68"/>
                    <a:gd name="T33" fmla="*/ 162 h 241"/>
                    <a:gd name="T34" fmla="*/ 48 w 68"/>
                    <a:gd name="T35" fmla="*/ 189 h 241"/>
                    <a:gd name="T36" fmla="*/ 48 w 68"/>
                    <a:gd name="T37" fmla="*/ 203 h 241"/>
                    <a:gd name="T38" fmla="*/ 59 w 68"/>
                    <a:gd name="T39" fmla="*/ 212 h 241"/>
                    <a:gd name="T40" fmla="*/ 67 w 68"/>
                    <a:gd name="T41" fmla="*/ 216 h 241"/>
                    <a:gd name="T42" fmla="*/ 67 w 68"/>
                    <a:gd name="T43" fmla="*/ 219 h 241"/>
                    <a:gd name="T44" fmla="*/ 50 w 68"/>
                    <a:gd name="T45" fmla="*/ 215 h 241"/>
                    <a:gd name="T46" fmla="*/ 48 w 68"/>
                    <a:gd name="T47" fmla="*/ 212 h 241"/>
                    <a:gd name="T48" fmla="*/ 46 w 68"/>
                    <a:gd name="T49" fmla="*/ 215 h 241"/>
                    <a:gd name="T50" fmla="*/ 45 w 68"/>
                    <a:gd name="T51" fmla="*/ 215 h 241"/>
                    <a:gd name="T52" fmla="*/ 43 w 68"/>
                    <a:gd name="T53" fmla="*/ 205 h 241"/>
                    <a:gd name="T54" fmla="*/ 40 w 68"/>
                    <a:gd name="T55" fmla="*/ 159 h 241"/>
                    <a:gd name="T56" fmla="*/ 37 w 68"/>
                    <a:gd name="T57" fmla="*/ 159 h 241"/>
                    <a:gd name="T58" fmla="*/ 28 w 68"/>
                    <a:gd name="T59" fmla="*/ 199 h 241"/>
                    <a:gd name="T60" fmla="*/ 28 w 68"/>
                    <a:gd name="T61" fmla="*/ 225 h 241"/>
                    <a:gd name="T62" fmla="*/ 24 w 68"/>
                    <a:gd name="T63" fmla="*/ 237 h 241"/>
                    <a:gd name="T64" fmla="*/ 20 w 68"/>
                    <a:gd name="T65" fmla="*/ 240 h 241"/>
                    <a:gd name="T66" fmla="*/ 18 w 68"/>
                    <a:gd name="T67" fmla="*/ 233 h 241"/>
                    <a:gd name="T68" fmla="*/ 21 w 68"/>
                    <a:gd name="T69" fmla="*/ 226 h 241"/>
                    <a:gd name="T70" fmla="*/ 24 w 68"/>
                    <a:gd name="T71" fmla="*/ 210 h 241"/>
                    <a:gd name="T72" fmla="*/ 24 w 68"/>
                    <a:gd name="T73" fmla="*/ 152 h 241"/>
                    <a:gd name="T74" fmla="*/ 28 w 68"/>
                    <a:gd name="T75" fmla="*/ 97 h 241"/>
                    <a:gd name="T76" fmla="*/ 22 w 68"/>
                    <a:gd name="T77" fmla="*/ 92 h 241"/>
                    <a:gd name="T78" fmla="*/ 22 w 68"/>
                    <a:gd name="T79" fmla="*/ 83 h 241"/>
                    <a:gd name="T80" fmla="*/ 22 w 68"/>
                    <a:gd name="T81" fmla="*/ 68 h 241"/>
                    <a:gd name="T82" fmla="*/ 14 w 68"/>
                    <a:gd name="T83" fmla="*/ 73 h 241"/>
                    <a:gd name="T84" fmla="*/ 21 w 68"/>
                    <a:gd name="T85" fmla="*/ 81 h 241"/>
                    <a:gd name="T86" fmla="*/ 21 w 68"/>
                    <a:gd name="T87" fmla="*/ 90 h 241"/>
                    <a:gd name="T88" fmla="*/ 14 w 68"/>
                    <a:gd name="T89" fmla="*/ 85 h 241"/>
                    <a:gd name="T90" fmla="*/ 11 w 68"/>
                    <a:gd name="T91" fmla="*/ 79 h 241"/>
                    <a:gd name="T92" fmla="*/ 7 w 68"/>
                    <a:gd name="T93" fmla="*/ 81 h 241"/>
                    <a:gd name="T94" fmla="*/ 0 w 68"/>
                    <a:gd name="T95" fmla="*/ 72 h 241"/>
                    <a:gd name="T96" fmla="*/ 0 w 68"/>
                    <a:gd name="T97" fmla="*/ 68 h 241"/>
                    <a:gd name="T98" fmla="*/ 4 w 68"/>
                    <a:gd name="T99" fmla="*/ 67 h 241"/>
                    <a:gd name="T100" fmla="*/ 12 w 68"/>
                    <a:gd name="T101" fmla="*/ 56 h 241"/>
                    <a:gd name="T102" fmla="*/ 21 w 68"/>
                    <a:gd name="T103" fmla="*/ 47 h 241"/>
                    <a:gd name="T104" fmla="*/ 32 w 68"/>
                    <a:gd name="T105" fmla="*/ 37 h 241"/>
                    <a:gd name="T106" fmla="*/ 40 w 68"/>
                    <a:gd name="T107" fmla="*/ 33 h 241"/>
                    <a:gd name="T108" fmla="*/ 40 w 68"/>
                    <a:gd name="T109" fmla="*/ 25 h 241"/>
                    <a:gd name="T110" fmla="*/ 37 w 68"/>
                    <a:gd name="T111" fmla="*/ 21 h 241"/>
                    <a:gd name="T112" fmla="*/ 37 w 68"/>
                    <a:gd name="T113" fmla="*/ 12 h 241"/>
                    <a:gd name="T114" fmla="*/ 35 w 68"/>
                    <a:gd name="T115" fmla="*/ 10 h 241"/>
                    <a:gd name="T116" fmla="*/ 40 w 68"/>
                    <a:gd name="T117" fmla="*/ 3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68" h="241">
                      <a:moveTo>
                        <a:pt x="40" y="3"/>
                      </a:moveTo>
                      <a:lnTo>
                        <a:pt x="54" y="0"/>
                      </a:lnTo>
                      <a:lnTo>
                        <a:pt x="59" y="6"/>
                      </a:lnTo>
                      <a:lnTo>
                        <a:pt x="61" y="4"/>
                      </a:lnTo>
                      <a:lnTo>
                        <a:pt x="65" y="15"/>
                      </a:lnTo>
                      <a:lnTo>
                        <a:pt x="57" y="21"/>
                      </a:lnTo>
                      <a:lnTo>
                        <a:pt x="57" y="26"/>
                      </a:lnTo>
                      <a:lnTo>
                        <a:pt x="55" y="27"/>
                      </a:lnTo>
                      <a:lnTo>
                        <a:pt x="54" y="33"/>
                      </a:lnTo>
                      <a:lnTo>
                        <a:pt x="48" y="34"/>
                      </a:lnTo>
                      <a:lnTo>
                        <a:pt x="48" y="36"/>
                      </a:lnTo>
                      <a:lnTo>
                        <a:pt x="57" y="43"/>
                      </a:lnTo>
                      <a:lnTo>
                        <a:pt x="65" y="77"/>
                      </a:lnTo>
                      <a:lnTo>
                        <a:pt x="59" y="86"/>
                      </a:lnTo>
                      <a:lnTo>
                        <a:pt x="59" y="149"/>
                      </a:lnTo>
                      <a:lnTo>
                        <a:pt x="52" y="152"/>
                      </a:lnTo>
                      <a:lnTo>
                        <a:pt x="51" y="162"/>
                      </a:lnTo>
                      <a:lnTo>
                        <a:pt x="48" y="189"/>
                      </a:lnTo>
                      <a:lnTo>
                        <a:pt x="48" y="203"/>
                      </a:lnTo>
                      <a:lnTo>
                        <a:pt x="59" y="212"/>
                      </a:lnTo>
                      <a:lnTo>
                        <a:pt x="67" y="216"/>
                      </a:lnTo>
                      <a:lnTo>
                        <a:pt x="67" y="219"/>
                      </a:lnTo>
                      <a:lnTo>
                        <a:pt x="50" y="215"/>
                      </a:lnTo>
                      <a:lnTo>
                        <a:pt x="48" y="212"/>
                      </a:lnTo>
                      <a:lnTo>
                        <a:pt x="46" y="215"/>
                      </a:lnTo>
                      <a:lnTo>
                        <a:pt x="45" y="215"/>
                      </a:lnTo>
                      <a:lnTo>
                        <a:pt x="43" y="205"/>
                      </a:lnTo>
                      <a:lnTo>
                        <a:pt x="40" y="159"/>
                      </a:lnTo>
                      <a:lnTo>
                        <a:pt x="37" y="159"/>
                      </a:lnTo>
                      <a:lnTo>
                        <a:pt x="28" y="199"/>
                      </a:lnTo>
                      <a:lnTo>
                        <a:pt x="28" y="225"/>
                      </a:lnTo>
                      <a:lnTo>
                        <a:pt x="24" y="237"/>
                      </a:lnTo>
                      <a:lnTo>
                        <a:pt x="20" y="240"/>
                      </a:lnTo>
                      <a:lnTo>
                        <a:pt x="18" y="233"/>
                      </a:lnTo>
                      <a:lnTo>
                        <a:pt x="21" y="226"/>
                      </a:lnTo>
                      <a:lnTo>
                        <a:pt x="24" y="210"/>
                      </a:lnTo>
                      <a:lnTo>
                        <a:pt x="24" y="152"/>
                      </a:lnTo>
                      <a:lnTo>
                        <a:pt x="28" y="97"/>
                      </a:lnTo>
                      <a:lnTo>
                        <a:pt x="22" y="92"/>
                      </a:lnTo>
                      <a:lnTo>
                        <a:pt x="22" y="83"/>
                      </a:lnTo>
                      <a:lnTo>
                        <a:pt x="22" y="68"/>
                      </a:lnTo>
                      <a:lnTo>
                        <a:pt x="14" y="73"/>
                      </a:lnTo>
                      <a:lnTo>
                        <a:pt x="21" y="81"/>
                      </a:lnTo>
                      <a:lnTo>
                        <a:pt x="21" y="90"/>
                      </a:lnTo>
                      <a:lnTo>
                        <a:pt x="14" y="85"/>
                      </a:lnTo>
                      <a:lnTo>
                        <a:pt x="11" y="79"/>
                      </a:lnTo>
                      <a:lnTo>
                        <a:pt x="7" y="81"/>
                      </a:lnTo>
                      <a:lnTo>
                        <a:pt x="0" y="72"/>
                      </a:lnTo>
                      <a:lnTo>
                        <a:pt x="0" y="68"/>
                      </a:lnTo>
                      <a:lnTo>
                        <a:pt x="4" y="67"/>
                      </a:lnTo>
                      <a:lnTo>
                        <a:pt x="12" y="56"/>
                      </a:lnTo>
                      <a:lnTo>
                        <a:pt x="21" y="47"/>
                      </a:lnTo>
                      <a:lnTo>
                        <a:pt x="32" y="37"/>
                      </a:lnTo>
                      <a:lnTo>
                        <a:pt x="40" y="33"/>
                      </a:lnTo>
                      <a:lnTo>
                        <a:pt x="40" y="25"/>
                      </a:lnTo>
                      <a:lnTo>
                        <a:pt x="37" y="21"/>
                      </a:lnTo>
                      <a:lnTo>
                        <a:pt x="37" y="12"/>
                      </a:lnTo>
                      <a:lnTo>
                        <a:pt x="35" y="10"/>
                      </a:lnTo>
                      <a:lnTo>
                        <a:pt x="40" y="3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01" name="Freeform 37"/>
                <p:cNvSpPr/>
                <p:nvPr/>
              </p:nvSpPr>
              <p:spPr bwMode="auto">
                <a:xfrm>
                  <a:off x="4518" y="1926"/>
                  <a:ext cx="38" cy="210"/>
                </a:xfrm>
                <a:custGeom>
                  <a:avLst/>
                  <a:gdLst>
                    <a:gd name="T0" fmla="*/ 24 w 38"/>
                    <a:gd name="T1" fmla="*/ 3 h 211"/>
                    <a:gd name="T2" fmla="*/ 16 w 38"/>
                    <a:gd name="T3" fmla="*/ 0 h 211"/>
                    <a:gd name="T4" fmla="*/ 8 w 38"/>
                    <a:gd name="T5" fmla="*/ 0 h 211"/>
                    <a:gd name="T6" fmla="*/ 2 w 38"/>
                    <a:gd name="T7" fmla="*/ 1 h 211"/>
                    <a:gd name="T8" fmla="*/ 0 w 38"/>
                    <a:gd name="T9" fmla="*/ 9 h 211"/>
                    <a:gd name="T10" fmla="*/ 0 w 38"/>
                    <a:gd name="T11" fmla="*/ 14 h 211"/>
                    <a:gd name="T12" fmla="*/ 4 w 38"/>
                    <a:gd name="T13" fmla="*/ 22 h 211"/>
                    <a:gd name="T14" fmla="*/ 6 w 38"/>
                    <a:gd name="T15" fmla="*/ 22 h 211"/>
                    <a:gd name="T16" fmla="*/ 2 w 38"/>
                    <a:gd name="T17" fmla="*/ 31 h 211"/>
                    <a:gd name="T18" fmla="*/ 0 w 38"/>
                    <a:gd name="T19" fmla="*/ 44 h 211"/>
                    <a:gd name="T20" fmla="*/ 0 w 38"/>
                    <a:gd name="T21" fmla="*/ 57 h 211"/>
                    <a:gd name="T22" fmla="*/ 0 w 38"/>
                    <a:gd name="T23" fmla="*/ 72 h 211"/>
                    <a:gd name="T24" fmla="*/ 2 w 38"/>
                    <a:gd name="T25" fmla="*/ 87 h 211"/>
                    <a:gd name="T26" fmla="*/ 7 w 38"/>
                    <a:gd name="T27" fmla="*/ 88 h 211"/>
                    <a:gd name="T28" fmla="*/ 7 w 38"/>
                    <a:gd name="T29" fmla="*/ 92 h 211"/>
                    <a:gd name="T30" fmla="*/ 10 w 38"/>
                    <a:gd name="T31" fmla="*/ 94 h 211"/>
                    <a:gd name="T32" fmla="*/ 10 w 38"/>
                    <a:gd name="T33" fmla="*/ 110 h 211"/>
                    <a:gd name="T34" fmla="*/ 12 w 38"/>
                    <a:gd name="T35" fmla="*/ 113 h 211"/>
                    <a:gd name="T36" fmla="*/ 12 w 38"/>
                    <a:gd name="T37" fmla="*/ 141 h 211"/>
                    <a:gd name="T38" fmla="*/ 12 w 38"/>
                    <a:gd name="T39" fmla="*/ 159 h 211"/>
                    <a:gd name="T40" fmla="*/ 8 w 38"/>
                    <a:gd name="T41" fmla="*/ 179 h 211"/>
                    <a:gd name="T42" fmla="*/ 7 w 38"/>
                    <a:gd name="T43" fmla="*/ 204 h 211"/>
                    <a:gd name="T44" fmla="*/ 11 w 38"/>
                    <a:gd name="T45" fmla="*/ 206 h 211"/>
                    <a:gd name="T46" fmla="*/ 11 w 38"/>
                    <a:gd name="T47" fmla="*/ 209 h 211"/>
                    <a:gd name="T48" fmla="*/ 17 w 38"/>
                    <a:gd name="T49" fmla="*/ 209 h 211"/>
                    <a:gd name="T50" fmla="*/ 18 w 38"/>
                    <a:gd name="T51" fmla="*/ 208 h 211"/>
                    <a:gd name="T52" fmla="*/ 21 w 38"/>
                    <a:gd name="T53" fmla="*/ 208 h 211"/>
                    <a:gd name="T54" fmla="*/ 21 w 38"/>
                    <a:gd name="T55" fmla="*/ 210 h 211"/>
                    <a:gd name="T56" fmla="*/ 25 w 38"/>
                    <a:gd name="T57" fmla="*/ 209 h 211"/>
                    <a:gd name="T58" fmla="*/ 35 w 38"/>
                    <a:gd name="T59" fmla="*/ 208 h 211"/>
                    <a:gd name="T60" fmla="*/ 35 w 38"/>
                    <a:gd name="T61" fmla="*/ 206 h 211"/>
                    <a:gd name="T62" fmla="*/ 26 w 38"/>
                    <a:gd name="T63" fmla="*/ 202 h 211"/>
                    <a:gd name="T64" fmla="*/ 26 w 38"/>
                    <a:gd name="T65" fmla="*/ 198 h 211"/>
                    <a:gd name="T66" fmla="*/ 34 w 38"/>
                    <a:gd name="T67" fmla="*/ 197 h 211"/>
                    <a:gd name="T68" fmla="*/ 34 w 38"/>
                    <a:gd name="T69" fmla="*/ 195 h 211"/>
                    <a:gd name="T70" fmla="*/ 29 w 38"/>
                    <a:gd name="T71" fmla="*/ 190 h 211"/>
                    <a:gd name="T72" fmla="*/ 29 w 38"/>
                    <a:gd name="T73" fmla="*/ 161 h 211"/>
                    <a:gd name="T74" fmla="*/ 30 w 38"/>
                    <a:gd name="T75" fmla="*/ 135 h 211"/>
                    <a:gd name="T76" fmla="*/ 30 w 38"/>
                    <a:gd name="T77" fmla="*/ 109 h 211"/>
                    <a:gd name="T78" fmla="*/ 30 w 38"/>
                    <a:gd name="T79" fmla="*/ 94 h 211"/>
                    <a:gd name="T80" fmla="*/ 30 w 38"/>
                    <a:gd name="T81" fmla="*/ 90 h 211"/>
                    <a:gd name="T82" fmla="*/ 30 w 38"/>
                    <a:gd name="T83" fmla="*/ 69 h 211"/>
                    <a:gd name="T84" fmla="*/ 37 w 38"/>
                    <a:gd name="T85" fmla="*/ 65 h 211"/>
                    <a:gd name="T86" fmla="*/ 37 w 38"/>
                    <a:gd name="T87" fmla="*/ 62 h 211"/>
                    <a:gd name="T88" fmla="*/ 23 w 38"/>
                    <a:gd name="T89" fmla="*/ 34 h 211"/>
                    <a:gd name="T90" fmla="*/ 16 w 38"/>
                    <a:gd name="T91" fmla="*/ 30 h 211"/>
                    <a:gd name="T92" fmla="*/ 17 w 38"/>
                    <a:gd name="T93" fmla="*/ 28 h 211"/>
                    <a:gd name="T94" fmla="*/ 21 w 38"/>
                    <a:gd name="T95" fmla="*/ 27 h 211"/>
                    <a:gd name="T96" fmla="*/ 21 w 38"/>
                    <a:gd name="T97" fmla="*/ 25 h 211"/>
                    <a:gd name="T98" fmla="*/ 23 w 38"/>
                    <a:gd name="T99" fmla="*/ 24 h 211"/>
                    <a:gd name="T100" fmla="*/ 23 w 38"/>
                    <a:gd name="T101" fmla="*/ 22 h 211"/>
                    <a:gd name="T102" fmla="*/ 24 w 38"/>
                    <a:gd name="T103" fmla="*/ 21 h 211"/>
                    <a:gd name="T104" fmla="*/ 23 w 38"/>
                    <a:gd name="T105" fmla="*/ 20 h 211"/>
                    <a:gd name="T106" fmla="*/ 24 w 38"/>
                    <a:gd name="T107" fmla="*/ 19 h 211"/>
                    <a:gd name="T108" fmla="*/ 21 w 38"/>
                    <a:gd name="T109" fmla="*/ 14 h 211"/>
                    <a:gd name="T110" fmla="*/ 23 w 38"/>
                    <a:gd name="T111" fmla="*/ 12 h 211"/>
                    <a:gd name="T112" fmla="*/ 21 w 38"/>
                    <a:gd name="T113" fmla="*/ 10 h 211"/>
                    <a:gd name="T114" fmla="*/ 24 w 38"/>
                    <a:gd name="T115" fmla="*/ 7 h 211"/>
                    <a:gd name="T116" fmla="*/ 24 w 38"/>
                    <a:gd name="T117" fmla="*/ 3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38" h="211">
                      <a:moveTo>
                        <a:pt x="24" y="3"/>
                      </a:moveTo>
                      <a:lnTo>
                        <a:pt x="16" y="0"/>
                      </a:lnTo>
                      <a:lnTo>
                        <a:pt x="8" y="0"/>
                      </a:lnTo>
                      <a:lnTo>
                        <a:pt x="2" y="1"/>
                      </a:lnTo>
                      <a:lnTo>
                        <a:pt x="0" y="9"/>
                      </a:lnTo>
                      <a:lnTo>
                        <a:pt x="0" y="14"/>
                      </a:lnTo>
                      <a:lnTo>
                        <a:pt x="4" y="22"/>
                      </a:lnTo>
                      <a:lnTo>
                        <a:pt x="6" y="22"/>
                      </a:lnTo>
                      <a:lnTo>
                        <a:pt x="2" y="31"/>
                      </a:lnTo>
                      <a:lnTo>
                        <a:pt x="0" y="44"/>
                      </a:lnTo>
                      <a:lnTo>
                        <a:pt x="0" y="57"/>
                      </a:lnTo>
                      <a:lnTo>
                        <a:pt x="0" y="72"/>
                      </a:lnTo>
                      <a:lnTo>
                        <a:pt x="2" y="87"/>
                      </a:lnTo>
                      <a:lnTo>
                        <a:pt x="7" y="88"/>
                      </a:lnTo>
                      <a:lnTo>
                        <a:pt x="7" y="92"/>
                      </a:lnTo>
                      <a:lnTo>
                        <a:pt x="10" y="94"/>
                      </a:lnTo>
                      <a:lnTo>
                        <a:pt x="10" y="110"/>
                      </a:lnTo>
                      <a:lnTo>
                        <a:pt x="12" y="113"/>
                      </a:lnTo>
                      <a:lnTo>
                        <a:pt x="12" y="141"/>
                      </a:lnTo>
                      <a:lnTo>
                        <a:pt x="12" y="159"/>
                      </a:lnTo>
                      <a:lnTo>
                        <a:pt x="8" y="179"/>
                      </a:lnTo>
                      <a:lnTo>
                        <a:pt x="7" y="204"/>
                      </a:lnTo>
                      <a:lnTo>
                        <a:pt x="11" y="206"/>
                      </a:lnTo>
                      <a:lnTo>
                        <a:pt x="11" y="209"/>
                      </a:lnTo>
                      <a:lnTo>
                        <a:pt x="17" y="209"/>
                      </a:lnTo>
                      <a:lnTo>
                        <a:pt x="18" y="208"/>
                      </a:lnTo>
                      <a:lnTo>
                        <a:pt x="21" y="208"/>
                      </a:lnTo>
                      <a:lnTo>
                        <a:pt x="21" y="210"/>
                      </a:lnTo>
                      <a:lnTo>
                        <a:pt x="25" y="209"/>
                      </a:lnTo>
                      <a:lnTo>
                        <a:pt x="35" y="208"/>
                      </a:lnTo>
                      <a:lnTo>
                        <a:pt x="35" y="206"/>
                      </a:lnTo>
                      <a:lnTo>
                        <a:pt x="26" y="202"/>
                      </a:lnTo>
                      <a:lnTo>
                        <a:pt x="26" y="198"/>
                      </a:lnTo>
                      <a:lnTo>
                        <a:pt x="34" y="197"/>
                      </a:lnTo>
                      <a:lnTo>
                        <a:pt x="34" y="195"/>
                      </a:lnTo>
                      <a:lnTo>
                        <a:pt x="29" y="190"/>
                      </a:lnTo>
                      <a:lnTo>
                        <a:pt x="29" y="161"/>
                      </a:lnTo>
                      <a:lnTo>
                        <a:pt x="30" y="135"/>
                      </a:lnTo>
                      <a:lnTo>
                        <a:pt x="30" y="109"/>
                      </a:lnTo>
                      <a:lnTo>
                        <a:pt x="30" y="94"/>
                      </a:lnTo>
                      <a:lnTo>
                        <a:pt x="30" y="90"/>
                      </a:lnTo>
                      <a:lnTo>
                        <a:pt x="30" y="69"/>
                      </a:lnTo>
                      <a:lnTo>
                        <a:pt x="37" y="65"/>
                      </a:lnTo>
                      <a:lnTo>
                        <a:pt x="37" y="62"/>
                      </a:lnTo>
                      <a:lnTo>
                        <a:pt x="23" y="34"/>
                      </a:lnTo>
                      <a:lnTo>
                        <a:pt x="16" y="30"/>
                      </a:lnTo>
                      <a:lnTo>
                        <a:pt x="17" y="28"/>
                      </a:lnTo>
                      <a:lnTo>
                        <a:pt x="21" y="27"/>
                      </a:lnTo>
                      <a:lnTo>
                        <a:pt x="21" y="25"/>
                      </a:lnTo>
                      <a:lnTo>
                        <a:pt x="23" y="24"/>
                      </a:lnTo>
                      <a:lnTo>
                        <a:pt x="23" y="22"/>
                      </a:lnTo>
                      <a:lnTo>
                        <a:pt x="24" y="21"/>
                      </a:lnTo>
                      <a:lnTo>
                        <a:pt x="23" y="20"/>
                      </a:lnTo>
                      <a:lnTo>
                        <a:pt x="24" y="19"/>
                      </a:lnTo>
                      <a:lnTo>
                        <a:pt x="21" y="14"/>
                      </a:lnTo>
                      <a:lnTo>
                        <a:pt x="23" y="12"/>
                      </a:lnTo>
                      <a:lnTo>
                        <a:pt x="21" y="10"/>
                      </a:lnTo>
                      <a:lnTo>
                        <a:pt x="24" y="7"/>
                      </a:lnTo>
                      <a:lnTo>
                        <a:pt x="24" y="3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02" name="Freeform 38"/>
                <p:cNvSpPr/>
                <p:nvPr/>
              </p:nvSpPr>
              <p:spPr bwMode="auto">
                <a:xfrm>
                  <a:off x="3391" y="1926"/>
                  <a:ext cx="49" cy="187"/>
                </a:xfrm>
                <a:custGeom>
                  <a:avLst/>
                  <a:gdLst>
                    <a:gd name="T0" fmla="*/ 30 w 51"/>
                    <a:gd name="T1" fmla="*/ 2 h 190"/>
                    <a:gd name="T2" fmla="*/ 41 w 51"/>
                    <a:gd name="T3" fmla="*/ 0 h 190"/>
                    <a:gd name="T4" fmla="*/ 45 w 51"/>
                    <a:gd name="T5" fmla="*/ 4 h 190"/>
                    <a:gd name="T6" fmla="*/ 46 w 51"/>
                    <a:gd name="T7" fmla="*/ 2 h 190"/>
                    <a:gd name="T8" fmla="*/ 49 w 51"/>
                    <a:gd name="T9" fmla="*/ 11 h 190"/>
                    <a:gd name="T10" fmla="*/ 43 w 51"/>
                    <a:gd name="T11" fmla="*/ 15 h 190"/>
                    <a:gd name="T12" fmla="*/ 43 w 51"/>
                    <a:gd name="T13" fmla="*/ 20 h 190"/>
                    <a:gd name="T14" fmla="*/ 41 w 51"/>
                    <a:gd name="T15" fmla="*/ 20 h 190"/>
                    <a:gd name="T16" fmla="*/ 41 w 51"/>
                    <a:gd name="T17" fmla="*/ 25 h 190"/>
                    <a:gd name="T18" fmla="*/ 36 w 51"/>
                    <a:gd name="T19" fmla="*/ 26 h 190"/>
                    <a:gd name="T20" fmla="*/ 36 w 51"/>
                    <a:gd name="T21" fmla="*/ 28 h 190"/>
                    <a:gd name="T22" fmla="*/ 43 w 51"/>
                    <a:gd name="T23" fmla="*/ 33 h 190"/>
                    <a:gd name="T24" fmla="*/ 49 w 51"/>
                    <a:gd name="T25" fmla="*/ 60 h 190"/>
                    <a:gd name="T26" fmla="*/ 45 w 51"/>
                    <a:gd name="T27" fmla="*/ 68 h 190"/>
                    <a:gd name="T28" fmla="*/ 45 w 51"/>
                    <a:gd name="T29" fmla="*/ 117 h 190"/>
                    <a:gd name="T30" fmla="*/ 39 w 51"/>
                    <a:gd name="T31" fmla="*/ 119 h 190"/>
                    <a:gd name="T32" fmla="*/ 38 w 51"/>
                    <a:gd name="T33" fmla="*/ 128 h 190"/>
                    <a:gd name="T34" fmla="*/ 36 w 51"/>
                    <a:gd name="T35" fmla="*/ 149 h 190"/>
                    <a:gd name="T36" fmla="*/ 36 w 51"/>
                    <a:gd name="T37" fmla="*/ 160 h 190"/>
                    <a:gd name="T38" fmla="*/ 45 w 51"/>
                    <a:gd name="T39" fmla="*/ 167 h 190"/>
                    <a:gd name="T40" fmla="*/ 50 w 51"/>
                    <a:gd name="T41" fmla="*/ 171 h 190"/>
                    <a:gd name="T42" fmla="*/ 50 w 51"/>
                    <a:gd name="T43" fmla="*/ 173 h 190"/>
                    <a:gd name="T44" fmla="*/ 37 w 51"/>
                    <a:gd name="T45" fmla="*/ 169 h 190"/>
                    <a:gd name="T46" fmla="*/ 36 w 51"/>
                    <a:gd name="T47" fmla="*/ 167 h 190"/>
                    <a:gd name="T48" fmla="*/ 34 w 51"/>
                    <a:gd name="T49" fmla="*/ 169 h 190"/>
                    <a:gd name="T50" fmla="*/ 34 w 51"/>
                    <a:gd name="T51" fmla="*/ 169 h 190"/>
                    <a:gd name="T52" fmla="*/ 32 w 51"/>
                    <a:gd name="T53" fmla="*/ 161 h 190"/>
                    <a:gd name="T54" fmla="*/ 30 w 51"/>
                    <a:gd name="T55" fmla="*/ 125 h 190"/>
                    <a:gd name="T56" fmla="*/ 28 w 51"/>
                    <a:gd name="T57" fmla="*/ 125 h 190"/>
                    <a:gd name="T58" fmla="*/ 20 w 51"/>
                    <a:gd name="T59" fmla="*/ 157 h 190"/>
                    <a:gd name="T60" fmla="*/ 20 w 51"/>
                    <a:gd name="T61" fmla="*/ 177 h 190"/>
                    <a:gd name="T62" fmla="*/ 17 w 51"/>
                    <a:gd name="T63" fmla="*/ 187 h 190"/>
                    <a:gd name="T64" fmla="*/ 15 w 51"/>
                    <a:gd name="T65" fmla="*/ 189 h 190"/>
                    <a:gd name="T66" fmla="*/ 14 w 51"/>
                    <a:gd name="T67" fmla="*/ 184 h 190"/>
                    <a:gd name="T68" fmla="*/ 16 w 51"/>
                    <a:gd name="T69" fmla="*/ 178 h 190"/>
                    <a:gd name="T70" fmla="*/ 17 w 51"/>
                    <a:gd name="T71" fmla="*/ 165 h 190"/>
                    <a:gd name="T72" fmla="*/ 17 w 51"/>
                    <a:gd name="T73" fmla="*/ 120 h 190"/>
                    <a:gd name="T74" fmla="*/ 20 w 51"/>
                    <a:gd name="T75" fmla="*/ 76 h 190"/>
                    <a:gd name="T76" fmla="*/ 16 w 51"/>
                    <a:gd name="T77" fmla="*/ 72 h 190"/>
                    <a:gd name="T78" fmla="*/ 16 w 51"/>
                    <a:gd name="T79" fmla="*/ 65 h 190"/>
                    <a:gd name="T80" fmla="*/ 16 w 51"/>
                    <a:gd name="T81" fmla="*/ 53 h 190"/>
                    <a:gd name="T82" fmla="*/ 10 w 51"/>
                    <a:gd name="T83" fmla="*/ 57 h 190"/>
                    <a:gd name="T84" fmla="*/ 16 w 51"/>
                    <a:gd name="T85" fmla="*/ 63 h 190"/>
                    <a:gd name="T86" fmla="*/ 16 w 51"/>
                    <a:gd name="T87" fmla="*/ 70 h 190"/>
                    <a:gd name="T88" fmla="*/ 10 w 51"/>
                    <a:gd name="T89" fmla="*/ 66 h 190"/>
                    <a:gd name="T90" fmla="*/ 8 w 51"/>
                    <a:gd name="T91" fmla="*/ 62 h 190"/>
                    <a:gd name="T92" fmla="*/ 4 w 51"/>
                    <a:gd name="T93" fmla="*/ 63 h 190"/>
                    <a:gd name="T94" fmla="*/ 0 w 51"/>
                    <a:gd name="T95" fmla="*/ 56 h 190"/>
                    <a:gd name="T96" fmla="*/ 0 w 51"/>
                    <a:gd name="T97" fmla="*/ 53 h 190"/>
                    <a:gd name="T98" fmla="*/ 2 w 51"/>
                    <a:gd name="T99" fmla="*/ 52 h 190"/>
                    <a:gd name="T100" fmla="*/ 9 w 51"/>
                    <a:gd name="T101" fmla="*/ 44 h 190"/>
                    <a:gd name="T102" fmla="*/ 16 w 51"/>
                    <a:gd name="T103" fmla="*/ 36 h 190"/>
                    <a:gd name="T104" fmla="*/ 24 w 51"/>
                    <a:gd name="T105" fmla="*/ 29 h 190"/>
                    <a:gd name="T106" fmla="*/ 30 w 51"/>
                    <a:gd name="T107" fmla="*/ 25 h 190"/>
                    <a:gd name="T108" fmla="*/ 30 w 51"/>
                    <a:gd name="T109" fmla="*/ 19 h 190"/>
                    <a:gd name="T110" fmla="*/ 28 w 51"/>
                    <a:gd name="T111" fmla="*/ 16 h 190"/>
                    <a:gd name="T112" fmla="*/ 28 w 51"/>
                    <a:gd name="T113" fmla="*/ 9 h 190"/>
                    <a:gd name="T114" fmla="*/ 26 w 51"/>
                    <a:gd name="T115" fmla="*/ 7 h 190"/>
                    <a:gd name="T116" fmla="*/ 30 w 51"/>
                    <a:gd name="T117" fmla="*/ 2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51" h="190">
                      <a:moveTo>
                        <a:pt x="30" y="2"/>
                      </a:moveTo>
                      <a:lnTo>
                        <a:pt x="41" y="0"/>
                      </a:lnTo>
                      <a:lnTo>
                        <a:pt x="45" y="4"/>
                      </a:lnTo>
                      <a:lnTo>
                        <a:pt x="46" y="2"/>
                      </a:lnTo>
                      <a:lnTo>
                        <a:pt x="49" y="11"/>
                      </a:lnTo>
                      <a:lnTo>
                        <a:pt x="43" y="15"/>
                      </a:lnTo>
                      <a:lnTo>
                        <a:pt x="43" y="20"/>
                      </a:lnTo>
                      <a:lnTo>
                        <a:pt x="41" y="20"/>
                      </a:lnTo>
                      <a:lnTo>
                        <a:pt x="41" y="25"/>
                      </a:lnTo>
                      <a:lnTo>
                        <a:pt x="36" y="26"/>
                      </a:lnTo>
                      <a:lnTo>
                        <a:pt x="36" y="28"/>
                      </a:lnTo>
                      <a:lnTo>
                        <a:pt x="43" y="33"/>
                      </a:lnTo>
                      <a:lnTo>
                        <a:pt x="49" y="60"/>
                      </a:lnTo>
                      <a:lnTo>
                        <a:pt x="45" y="68"/>
                      </a:lnTo>
                      <a:lnTo>
                        <a:pt x="45" y="117"/>
                      </a:lnTo>
                      <a:lnTo>
                        <a:pt x="39" y="119"/>
                      </a:lnTo>
                      <a:lnTo>
                        <a:pt x="38" y="128"/>
                      </a:lnTo>
                      <a:lnTo>
                        <a:pt x="36" y="149"/>
                      </a:lnTo>
                      <a:lnTo>
                        <a:pt x="36" y="160"/>
                      </a:lnTo>
                      <a:lnTo>
                        <a:pt x="45" y="167"/>
                      </a:lnTo>
                      <a:lnTo>
                        <a:pt x="50" y="171"/>
                      </a:lnTo>
                      <a:lnTo>
                        <a:pt x="50" y="173"/>
                      </a:lnTo>
                      <a:lnTo>
                        <a:pt x="37" y="169"/>
                      </a:lnTo>
                      <a:lnTo>
                        <a:pt x="36" y="167"/>
                      </a:lnTo>
                      <a:lnTo>
                        <a:pt x="34" y="169"/>
                      </a:lnTo>
                      <a:lnTo>
                        <a:pt x="34" y="169"/>
                      </a:lnTo>
                      <a:lnTo>
                        <a:pt x="32" y="161"/>
                      </a:lnTo>
                      <a:lnTo>
                        <a:pt x="30" y="125"/>
                      </a:lnTo>
                      <a:lnTo>
                        <a:pt x="28" y="125"/>
                      </a:lnTo>
                      <a:lnTo>
                        <a:pt x="20" y="157"/>
                      </a:lnTo>
                      <a:lnTo>
                        <a:pt x="20" y="177"/>
                      </a:lnTo>
                      <a:lnTo>
                        <a:pt x="17" y="187"/>
                      </a:lnTo>
                      <a:lnTo>
                        <a:pt x="15" y="189"/>
                      </a:lnTo>
                      <a:lnTo>
                        <a:pt x="14" y="184"/>
                      </a:lnTo>
                      <a:lnTo>
                        <a:pt x="16" y="178"/>
                      </a:lnTo>
                      <a:lnTo>
                        <a:pt x="17" y="165"/>
                      </a:lnTo>
                      <a:lnTo>
                        <a:pt x="17" y="120"/>
                      </a:lnTo>
                      <a:lnTo>
                        <a:pt x="20" y="76"/>
                      </a:lnTo>
                      <a:lnTo>
                        <a:pt x="16" y="72"/>
                      </a:lnTo>
                      <a:lnTo>
                        <a:pt x="16" y="65"/>
                      </a:lnTo>
                      <a:lnTo>
                        <a:pt x="16" y="53"/>
                      </a:lnTo>
                      <a:lnTo>
                        <a:pt x="10" y="57"/>
                      </a:lnTo>
                      <a:lnTo>
                        <a:pt x="16" y="63"/>
                      </a:lnTo>
                      <a:lnTo>
                        <a:pt x="16" y="70"/>
                      </a:lnTo>
                      <a:lnTo>
                        <a:pt x="10" y="66"/>
                      </a:lnTo>
                      <a:lnTo>
                        <a:pt x="8" y="62"/>
                      </a:lnTo>
                      <a:lnTo>
                        <a:pt x="4" y="63"/>
                      </a:lnTo>
                      <a:lnTo>
                        <a:pt x="0" y="56"/>
                      </a:lnTo>
                      <a:lnTo>
                        <a:pt x="0" y="53"/>
                      </a:lnTo>
                      <a:lnTo>
                        <a:pt x="2" y="52"/>
                      </a:lnTo>
                      <a:lnTo>
                        <a:pt x="9" y="44"/>
                      </a:lnTo>
                      <a:lnTo>
                        <a:pt x="16" y="36"/>
                      </a:lnTo>
                      <a:lnTo>
                        <a:pt x="24" y="29"/>
                      </a:lnTo>
                      <a:lnTo>
                        <a:pt x="30" y="25"/>
                      </a:lnTo>
                      <a:lnTo>
                        <a:pt x="30" y="19"/>
                      </a:lnTo>
                      <a:lnTo>
                        <a:pt x="28" y="16"/>
                      </a:lnTo>
                      <a:lnTo>
                        <a:pt x="28" y="9"/>
                      </a:lnTo>
                      <a:lnTo>
                        <a:pt x="26" y="7"/>
                      </a:lnTo>
                      <a:lnTo>
                        <a:pt x="30" y="2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03" name="Freeform 39"/>
                <p:cNvSpPr/>
                <p:nvPr/>
              </p:nvSpPr>
              <p:spPr bwMode="auto">
                <a:xfrm>
                  <a:off x="3225" y="1977"/>
                  <a:ext cx="28" cy="132"/>
                </a:xfrm>
                <a:custGeom>
                  <a:avLst/>
                  <a:gdLst>
                    <a:gd name="T0" fmla="*/ 19 w 25"/>
                    <a:gd name="T1" fmla="*/ 2 h 134"/>
                    <a:gd name="T2" fmla="*/ 19 w 25"/>
                    <a:gd name="T3" fmla="*/ 6 h 134"/>
                    <a:gd name="T4" fmla="*/ 19 w 25"/>
                    <a:gd name="T5" fmla="*/ 7 h 134"/>
                    <a:gd name="T6" fmla="*/ 20 w 25"/>
                    <a:gd name="T7" fmla="*/ 8 h 134"/>
                    <a:gd name="T8" fmla="*/ 19 w 25"/>
                    <a:gd name="T9" fmla="*/ 9 h 134"/>
                    <a:gd name="T10" fmla="*/ 19 w 25"/>
                    <a:gd name="T11" fmla="*/ 10 h 134"/>
                    <a:gd name="T12" fmla="*/ 18 w 25"/>
                    <a:gd name="T13" fmla="*/ 14 h 134"/>
                    <a:gd name="T14" fmla="*/ 18 w 25"/>
                    <a:gd name="T15" fmla="*/ 15 h 134"/>
                    <a:gd name="T16" fmla="*/ 23 w 25"/>
                    <a:gd name="T17" fmla="*/ 19 h 134"/>
                    <a:gd name="T18" fmla="*/ 24 w 25"/>
                    <a:gd name="T19" fmla="*/ 46 h 134"/>
                    <a:gd name="T20" fmla="*/ 22 w 25"/>
                    <a:gd name="T21" fmla="*/ 51 h 134"/>
                    <a:gd name="T22" fmla="*/ 23 w 25"/>
                    <a:gd name="T23" fmla="*/ 66 h 134"/>
                    <a:gd name="T24" fmla="*/ 21 w 25"/>
                    <a:gd name="T25" fmla="*/ 68 h 134"/>
                    <a:gd name="T26" fmla="*/ 20 w 25"/>
                    <a:gd name="T27" fmla="*/ 91 h 134"/>
                    <a:gd name="T28" fmla="*/ 19 w 25"/>
                    <a:gd name="T29" fmla="*/ 115 h 134"/>
                    <a:gd name="T30" fmla="*/ 20 w 25"/>
                    <a:gd name="T31" fmla="*/ 116 h 134"/>
                    <a:gd name="T32" fmla="*/ 24 w 25"/>
                    <a:gd name="T33" fmla="*/ 121 h 134"/>
                    <a:gd name="T34" fmla="*/ 23 w 25"/>
                    <a:gd name="T35" fmla="*/ 122 h 134"/>
                    <a:gd name="T36" fmla="*/ 22 w 25"/>
                    <a:gd name="T37" fmla="*/ 123 h 134"/>
                    <a:gd name="T38" fmla="*/ 19 w 25"/>
                    <a:gd name="T39" fmla="*/ 122 h 134"/>
                    <a:gd name="T40" fmla="*/ 17 w 25"/>
                    <a:gd name="T41" fmla="*/ 120 h 134"/>
                    <a:gd name="T42" fmla="*/ 15 w 25"/>
                    <a:gd name="T43" fmla="*/ 119 h 134"/>
                    <a:gd name="T44" fmla="*/ 15 w 25"/>
                    <a:gd name="T45" fmla="*/ 123 h 134"/>
                    <a:gd name="T46" fmla="*/ 14 w 25"/>
                    <a:gd name="T47" fmla="*/ 123 h 134"/>
                    <a:gd name="T48" fmla="*/ 16 w 25"/>
                    <a:gd name="T49" fmla="*/ 127 h 134"/>
                    <a:gd name="T50" fmla="*/ 15 w 25"/>
                    <a:gd name="T51" fmla="*/ 132 h 134"/>
                    <a:gd name="T52" fmla="*/ 14 w 25"/>
                    <a:gd name="T53" fmla="*/ 133 h 134"/>
                    <a:gd name="T54" fmla="*/ 11 w 25"/>
                    <a:gd name="T55" fmla="*/ 128 h 134"/>
                    <a:gd name="T56" fmla="*/ 11 w 25"/>
                    <a:gd name="T57" fmla="*/ 125 h 134"/>
                    <a:gd name="T58" fmla="*/ 10 w 25"/>
                    <a:gd name="T59" fmla="*/ 125 h 134"/>
                    <a:gd name="T60" fmla="*/ 8 w 25"/>
                    <a:gd name="T61" fmla="*/ 94 h 134"/>
                    <a:gd name="T62" fmla="*/ 10 w 25"/>
                    <a:gd name="T63" fmla="*/ 91 h 134"/>
                    <a:gd name="T64" fmla="*/ 7 w 25"/>
                    <a:gd name="T65" fmla="*/ 71 h 134"/>
                    <a:gd name="T66" fmla="*/ 5 w 25"/>
                    <a:gd name="T67" fmla="*/ 70 h 134"/>
                    <a:gd name="T68" fmla="*/ 5 w 25"/>
                    <a:gd name="T69" fmla="*/ 49 h 134"/>
                    <a:gd name="T70" fmla="*/ 0 w 25"/>
                    <a:gd name="T71" fmla="*/ 46 h 134"/>
                    <a:gd name="T72" fmla="*/ 2 w 25"/>
                    <a:gd name="T73" fmla="*/ 24 h 134"/>
                    <a:gd name="T74" fmla="*/ 9 w 25"/>
                    <a:gd name="T75" fmla="*/ 17 h 134"/>
                    <a:gd name="T76" fmla="*/ 11 w 25"/>
                    <a:gd name="T77" fmla="*/ 15 h 134"/>
                    <a:gd name="T78" fmla="*/ 11 w 25"/>
                    <a:gd name="T79" fmla="*/ 12 h 134"/>
                    <a:gd name="T80" fmla="*/ 11 w 25"/>
                    <a:gd name="T81" fmla="*/ 11 h 134"/>
                    <a:gd name="T82" fmla="*/ 9 w 25"/>
                    <a:gd name="T83" fmla="*/ 10 h 134"/>
                    <a:gd name="T84" fmla="*/ 8 w 25"/>
                    <a:gd name="T85" fmla="*/ 8 h 134"/>
                    <a:gd name="T86" fmla="*/ 8 w 25"/>
                    <a:gd name="T87" fmla="*/ 7 h 134"/>
                    <a:gd name="T88" fmla="*/ 8 w 25"/>
                    <a:gd name="T89" fmla="*/ 5 h 134"/>
                    <a:gd name="T90" fmla="*/ 8 w 25"/>
                    <a:gd name="T91" fmla="*/ 4 h 134"/>
                    <a:gd name="T92" fmla="*/ 10 w 25"/>
                    <a:gd name="T93" fmla="*/ 2 h 134"/>
                    <a:gd name="T94" fmla="*/ 11 w 25"/>
                    <a:gd name="T95" fmla="*/ 0 h 134"/>
                    <a:gd name="T96" fmla="*/ 12 w 25"/>
                    <a:gd name="T97" fmla="*/ 0 h 134"/>
                    <a:gd name="T98" fmla="*/ 14 w 25"/>
                    <a:gd name="T99" fmla="*/ 0 h 134"/>
                    <a:gd name="T100" fmla="*/ 16 w 25"/>
                    <a:gd name="T101" fmla="*/ 0 h 134"/>
                    <a:gd name="T102" fmla="*/ 17 w 25"/>
                    <a:gd name="T103" fmla="*/ 0 h 134"/>
                    <a:gd name="T104" fmla="*/ 19 w 25"/>
                    <a:gd name="T105" fmla="*/ 2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5" h="134">
                      <a:moveTo>
                        <a:pt x="19" y="2"/>
                      </a:moveTo>
                      <a:lnTo>
                        <a:pt x="19" y="6"/>
                      </a:lnTo>
                      <a:lnTo>
                        <a:pt x="19" y="7"/>
                      </a:lnTo>
                      <a:lnTo>
                        <a:pt x="20" y="8"/>
                      </a:lnTo>
                      <a:lnTo>
                        <a:pt x="19" y="9"/>
                      </a:lnTo>
                      <a:lnTo>
                        <a:pt x="19" y="10"/>
                      </a:lnTo>
                      <a:lnTo>
                        <a:pt x="18" y="14"/>
                      </a:lnTo>
                      <a:lnTo>
                        <a:pt x="18" y="15"/>
                      </a:lnTo>
                      <a:lnTo>
                        <a:pt x="23" y="19"/>
                      </a:lnTo>
                      <a:lnTo>
                        <a:pt x="24" y="46"/>
                      </a:lnTo>
                      <a:lnTo>
                        <a:pt x="22" y="51"/>
                      </a:lnTo>
                      <a:lnTo>
                        <a:pt x="23" y="66"/>
                      </a:lnTo>
                      <a:lnTo>
                        <a:pt x="21" y="68"/>
                      </a:lnTo>
                      <a:lnTo>
                        <a:pt x="20" y="91"/>
                      </a:lnTo>
                      <a:lnTo>
                        <a:pt x="19" y="115"/>
                      </a:lnTo>
                      <a:lnTo>
                        <a:pt x="20" y="116"/>
                      </a:lnTo>
                      <a:lnTo>
                        <a:pt x="24" y="121"/>
                      </a:lnTo>
                      <a:lnTo>
                        <a:pt x="23" y="122"/>
                      </a:lnTo>
                      <a:lnTo>
                        <a:pt x="22" y="123"/>
                      </a:lnTo>
                      <a:lnTo>
                        <a:pt x="19" y="122"/>
                      </a:lnTo>
                      <a:lnTo>
                        <a:pt x="17" y="120"/>
                      </a:lnTo>
                      <a:lnTo>
                        <a:pt x="15" y="119"/>
                      </a:lnTo>
                      <a:lnTo>
                        <a:pt x="15" y="123"/>
                      </a:lnTo>
                      <a:lnTo>
                        <a:pt x="14" y="123"/>
                      </a:lnTo>
                      <a:lnTo>
                        <a:pt x="16" y="127"/>
                      </a:lnTo>
                      <a:lnTo>
                        <a:pt x="15" y="132"/>
                      </a:lnTo>
                      <a:lnTo>
                        <a:pt x="14" y="133"/>
                      </a:lnTo>
                      <a:lnTo>
                        <a:pt x="11" y="128"/>
                      </a:lnTo>
                      <a:lnTo>
                        <a:pt x="11" y="125"/>
                      </a:lnTo>
                      <a:lnTo>
                        <a:pt x="10" y="125"/>
                      </a:lnTo>
                      <a:lnTo>
                        <a:pt x="8" y="94"/>
                      </a:lnTo>
                      <a:lnTo>
                        <a:pt x="10" y="91"/>
                      </a:lnTo>
                      <a:lnTo>
                        <a:pt x="7" y="71"/>
                      </a:lnTo>
                      <a:lnTo>
                        <a:pt x="5" y="70"/>
                      </a:lnTo>
                      <a:lnTo>
                        <a:pt x="5" y="49"/>
                      </a:lnTo>
                      <a:lnTo>
                        <a:pt x="0" y="46"/>
                      </a:lnTo>
                      <a:lnTo>
                        <a:pt x="2" y="24"/>
                      </a:lnTo>
                      <a:lnTo>
                        <a:pt x="9" y="17"/>
                      </a:lnTo>
                      <a:lnTo>
                        <a:pt x="11" y="15"/>
                      </a:lnTo>
                      <a:lnTo>
                        <a:pt x="11" y="12"/>
                      </a:lnTo>
                      <a:lnTo>
                        <a:pt x="11" y="11"/>
                      </a:lnTo>
                      <a:lnTo>
                        <a:pt x="9" y="10"/>
                      </a:lnTo>
                      <a:lnTo>
                        <a:pt x="8" y="8"/>
                      </a:lnTo>
                      <a:lnTo>
                        <a:pt x="8" y="7"/>
                      </a:lnTo>
                      <a:lnTo>
                        <a:pt x="8" y="5"/>
                      </a:lnTo>
                      <a:lnTo>
                        <a:pt x="8" y="4"/>
                      </a:lnTo>
                      <a:lnTo>
                        <a:pt x="10" y="2"/>
                      </a:lnTo>
                      <a:lnTo>
                        <a:pt x="11" y="0"/>
                      </a:lnTo>
                      <a:lnTo>
                        <a:pt x="12" y="0"/>
                      </a:lnTo>
                      <a:lnTo>
                        <a:pt x="14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9" y="2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04" name="Freeform 40"/>
                <p:cNvSpPr/>
                <p:nvPr/>
              </p:nvSpPr>
              <p:spPr bwMode="auto">
                <a:xfrm>
                  <a:off x="3131" y="1996"/>
                  <a:ext cx="56" cy="254"/>
                </a:xfrm>
                <a:custGeom>
                  <a:avLst/>
                  <a:gdLst>
                    <a:gd name="T0" fmla="*/ 40 w 53"/>
                    <a:gd name="T1" fmla="*/ 5 h 254"/>
                    <a:gd name="T2" fmla="*/ 40 w 53"/>
                    <a:gd name="T3" fmla="*/ 12 h 254"/>
                    <a:gd name="T4" fmla="*/ 40 w 53"/>
                    <a:gd name="T5" fmla="*/ 14 h 254"/>
                    <a:gd name="T6" fmla="*/ 42 w 53"/>
                    <a:gd name="T7" fmla="*/ 18 h 254"/>
                    <a:gd name="T8" fmla="*/ 40 w 53"/>
                    <a:gd name="T9" fmla="*/ 20 h 254"/>
                    <a:gd name="T10" fmla="*/ 41 w 53"/>
                    <a:gd name="T11" fmla="*/ 22 h 254"/>
                    <a:gd name="T12" fmla="*/ 39 w 53"/>
                    <a:gd name="T13" fmla="*/ 29 h 254"/>
                    <a:gd name="T14" fmla="*/ 39 w 53"/>
                    <a:gd name="T15" fmla="*/ 30 h 254"/>
                    <a:gd name="T16" fmla="*/ 48 w 53"/>
                    <a:gd name="T17" fmla="*/ 37 h 254"/>
                    <a:gd name="T18" fmla="*/ 52 w 53"/>
                    <a:gd name="T19" fmla="*/ 89 h 254"/>
                    <a:gd name="T20" fmla="*/ 47 w 53"/>
                    <a:gd name="T21" fmla="*/ 98 h 254"/>
                    <a:gd name="T22" fmla="*/ 49 w 53"/>
                    <a:gd name="T23" fmla="*/ 127 h 254"/>
                    <a:gd name="T24" fmla="*/ 46 w 53"/>
                    <a:gd name="T25" fmla="*/ 129 h 254"/>
                    <a:gd name="T26" fmla="*/ 44 w 53"/>
                    <a:gd name="T27" fmla="*/ 174 h 254"/>
                    <a:gd name="T28" fmla="*/ 42 w 53"/>
                    <a:gd name="T29" fmla="*/ 219 h 254"/>
                    <a:gd name="T30" fmla="*/ 42 w 53"/>
                    <a:gd name="T31" fmla="*/ 221 h 254"/>
                    <a:gd name="T32" fmla="*/ 52 w 53"/>
                    <a:gd name="T33" fmla="*/ 230 h 254"/>
                    <a:gd name="T34" fmla="*/ 50 w 53"/>
                    <a:gd name="T35" fmla="*/ 231 h 254"/>
                    <a:gd name="T36" fmla="*/ 47 w 53"/>
                    <a:gd name="T37" fmla="*/ 233 h 254"/>
                    <a:gd name="T38" fmla="*/ 42 w 53"/>
                    <a:gd name="T39" fmla="*/ 231 h 254"/>
                    <a:gd name="T40" fmla="*/ 36 w 53"/>
                    <a:gd name="T41" fmla="*/ 228 h 254"/>
                    <a:gd name="T42" fmla="*/ 32 w 53"/>
                    <a:gd name="T43" fmla="*/ 227 h 254"/>
                    <a:gd name="T44" fmla="*/ 32 w 53"/>
                    <a:gd name="T45" fmla="*/ 234 h 254"/>
                    <a:gd name="T46" fmla="*/ 30 w 53"/>
                    <a:gd name="T47" fmla="*/ 234 h 254"/>
                    <a:gd name="T48" fmla="*/ 33 w 53"/>
                    <a:gd name="T49" fmla="*/ 240 h 254"/>
                    <a:gd name="T50" fmla="*/ 32 w 53"/>
                    <a:gd name="T51" fmla="*/ 251 h 254"/>
                    <a:gd name="T52" fmla="*/ 28 w 53"/>
                    <a:gd name="T53" fmla="*/ 253 h 254"/>
                    <a:gd name="T54" fmla="*/ 23 w 53"/>
                    <a:gd name="T55" fmla="*/ 244 h 254"/>
                    <a:gd name="T56" fmla="*/ 23 w 53"/>
                    <a:gd name="T57" fmla="*/ 237 h 254"/>
                    <a:gd name="T58" fmla="*/ 21 w 53"/>
                    <a:gd name="T59" fmla="*/ 237 h 254"/>
                    <a:gd name="T60" fmla="*/ 19 w 53"/>
                    <a:gd name="T61" fmla="*/ 179 h 254"/>
                    <a:gd name="T62" fmla="*/ 21 w 53"/>
                    <a:gd name="T63" fmla="*/ 174 h 254"/>
                    <a:gd name="T64" fmla="*/ 15 w 53"/>
                    <a:gd name="T65" fmla="*/ 135 h 254"/>
                    <a:gd name="T66" fmla="*/ 11 w 53"/>
                    <a:gd name="T67" fmla="*/ 134 h 254"/>
                    <a:gd name="T68" fmla="*/ 10 w 53"/>
                    <a:gd name="T69" fmla="*/ 93 h 254"/>
                    <a:gd name="T70" fmla="*/ 0 w 53"/>
                    <a:gd name="T71" fmla="*/ 89 h 254"/>
                    <a:gd name="T72" fmla="*/ 4 w 53"/>
                    <a:gd name="T73" fmla="*/ 46 h 254"/>
                    <a:gd name="T74" fmla="*/ 19 w 53"/>
                    <a:gd name="T75" fmla="*/ 34 h 254"/>
                    <a:gd name="T76" fmla="*/ 23 w 53"/>
                    <a:gd name="T77" fmla="*/ 30 h 254"/>
                    <a:gd name="T78" fmla="*/ 23 w 53"/>
                    <a:gd name="T79" fmla="*/ 25 h 254"/>
                    <a:gd name="T80" fmla="*/ 22 w 53"/>
                    <a:gd name="T81" fmla="*/ 22 h 254"/>
                    <a:gd name="T82" fmla="*/ 20 w 53"/>
                    <a:gd name="T83" fmla="*/ 20 h 254"/>
                    <a:gd name="T84" fmla="*/ 18 w 53"/>
                    <a:gd name="T85" fmla="*/ 17 h 254"/>
                    <a:gd name="T86" fmla="*/ 17 w 53"/>
                    <a:gd name="T87" fmla="*/ 14 h 254"/>
                    <a:gd name="T88" fmla="*/ 17 w 53"/>
                    <a:gd name="T89" fmla="*/ 12 h 254"/>
                    <a:gd name="T90" fmla="*/ 18 w 53"/>
                    <a:gd name="T91" fmla="*/ 8 h 254"/>
                    <a:gd name="T92" fmla="*/ 20 w 53"/>
                    <a:gd name="T93" fmla="*/ 5 h 254"/>
                    <a:gd name="T94" fmla="*/ 23 w 53"/>
                    <a:gd name="T95" fmla="*/ 2 h 254"/>
                    <a:gd name="T96" fmla="*/ 26 w 53"/>
                    <a:gd name="T97" fmla="*/ 0 h 254"/>
                    <a:gd name="T98" fmla="*/ 30 w 53"/>
                    <a:gd name="T99" fmla="*/ 0 h 254"/>
                    <a:gd name="T100" fmla="*/ 33 w 53"/>
                    <a:gd name="T101" fmla="*/ 1 h 254"/>
                    <a:gd name="T102" fmla="*/ 36 w 53"/>
                    <a:gd name="T103" fmla="*/ 2 h 254"/>
                    <a:gd name="T104" fmla="*/ 40 w 53"/>
                    <a:gd name="T105" fmla="*/ 5 h 2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3" h="254">
                      <a:moveTo>
                        <a:pt x="40" y="5"/>
                      </a:moveTo>
                      <a:lnTo>
                        <a:pt x="40" y="12"/>
                      </a:lnTo>
                      <a:lnTo>
                        <a:pt x="40" y="14"/>
                      </a:lnTo>
                      <a:lnTo>
                        <a:pt x="42" y="18"/>
                      </a:lnTo>
                      <a:lnTo>
                        <a:pt x="40" y="20"/>
                      </a:lnTo>
                      <a:lnTo>
                        <a:pt x="41" y="22"/>
                      </a:lnTo>
                      <a:lnTo>
                        <a:pt x="39" y="29"/>
                      </a:lnTo>
                      <a:lnTo>
                        <a:pt x="39" y="30"/>
                      </a:lnTo>
                      <a:lnTo>
                        <a:pt x="48" y="37"/>
                      </a:lnTo>
                      <a:lnTo>
                        <a:pt x="52" y="89"/>
                      </a:lnTo>
                      <a:lnTo>
                        <a:pt x="47" y="98"/>
                      </a:lnTo>
                      <a:lnTo>
                        <a:pt x="49" y="127"/>
                      </a:lnTo>
                      <a:lnTo>
                        <a:pt x="46" y="129"/>
                      </a:lnTo>
                      <a:lnTo>
                        <a:pt x="44" y="174"/>
                      </a:lnTo>
                      <a:lnTo>
                        <a:pt x="42" y="219"/>
                      </a:lnTo>
                      <a:lnTo>
                        <a:pt x="42" y="221"/>
                      </a:lnTo>
                      <a:lnTo>
                        <a:pt x="52" y="230"/>
                      </a:lnTo>
                      <a:lnTo>
                        <a:pt x="50" y="231"/>
                      </a:lnTo>
                      <a:lnTo>
                        <a:pt x="47" y="233"/>
                      </a:lnTo>
                      <a:lnTo>
                        <a:pt x="42" y="231"/>
                      </a:lnTo>
                      <a:lnTo>
                        <a:pt x="36" y="228"/>
                      </a:lnTo>
                      <a:lnTo>
                        <a:pt x="32" y="227"/>
                      </a:lnTo>
                      <a:lnTo>
                        <a:pt x="32" y="234"/>
                      </a:lnTo>
                      <a:lnTo>
                        <a:pt x="30" y="234"/>
                      </a:lnTo>
                      <a:lnTo>
                        <a:pt x="33" y="240"/>
                      </a:lnTo>
                      <a:lnTo>
                        <a:pt x="32" y="251"/>
                      </a:lnTo>
                      <a:lnTo>
                        <a:pt x="28" y="253"/>
                      </a:lnTo>
                      <a:lnTo>
                        <a:pt x="23" y="244"/>
                      </a:lnTo>
                      <a:lnTo>
                        <a:pt x="23" y="237"/>
                      </a:lnTo>
                      <a:lnTo>
                        <a:pt x="21" y="237"/>
                      </a:lnTo>
                      <a:lnTo>
                        <a:pt x="19" y="179"/>
                      </a:lnTo>
                      <a:lnTo>
                        <a:pt x="21" y="174"/>
                      </a:lnTo>
                      <a:lnTo>
                        <a:pt x="15" y="135"/>
                      </a:lnTo>
                      <a:lnTo>
                        <a:pt x="11" y="134"/>
                      </a:lnTo>
                      <a:lnTo>
                        <a:pt x="10" y="93"/>
                      </a:lnTo>
                      <a:lnTo>
                        <a:pt x="0" y="89"/>
                      </a:lnTo>
                      <a:lnTo>
                        <a:pt x="4" y="46"/>
                      </a:lnTo>
                      <a:lnTo>
                        <a:pt x="19" y="34"/>
                      </a:lnTo>
                      <a:lnTo>
                        <a:pt x="23" y="30"/>
                      </a:lnTo>
                      <a:lnTo>
                        <a:pt x="23" y="25"/>
                      </a:lnTo>
                      <a:lnTo>
                        <a:pt x="22" y="22"/>
                      </a:lnTo>
                      <a:lnTo>
                        <a:pt x="20" y="20"/>
                      </a:lnTo>
                      <a:lnTo>
                        <a:pt x="18" y="17"/>
                      </a:lnTo>
                      <a:lnTo>
                        <a:pt x="17" y="14"/>
                      </a:lnTo>
                      <a:lnTo>
                        <a:pt x="17" y="12"/>
                      </a:lnTo>
                      <a:lnTo>
                        <a:pt x="18" y="8"/>
                      </a:lnTo>
                      <a:lnTo>
                        <a:pt x="20" y="5"/>
                      </a:lnTo>
                      <a:lnTo>
                        <a:pt x="23" y="2"/>
                      </a:lnTo>
                      <a:lnTo>
                        <a:pt x="26" y="0"/>
                      </a:lnTo>
                      <a:lnTo>
                        <a:pt x="30" y="0"/>
                      </a:lnTo>
                      <a:lnTo>
                        <a:pt x="33" y="1"/>
                      </a:lnTo>
                      <a:lnTo>
                        <a:pt x="36" y="2"/>
                      </a:lnTo>
                      <a:lnTo>
                        <a:pt x="40" y="5"/>
                      </a:lnTo>
                    </a:path>
                  </a:pathLst>
                </a:custGeom>
                <a:solidFill>
                  <a:schemeClr val="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33808" name="Group 41"/>
              <p:cNvGrpSpPr/>
              <p:nvPr/>
            </p:nvGrpSpPr>
            <p:grpSpPr bwMode="auto">
              <a:xfrm>
                <a:off x="2883" y="1991"/>
                <a:ext cx="1733" cy="849"/>
                <a:chOff x="2883" y="1991"/>
                <a:chExt cx="1733" cy="849"/>
              </a:xfrm>
            </p:grpSpPr>
            <p:grpSp>
              <p:nvGrpSpPr>
                <p:cNvPr id="33824" name="Group 42"/>
                <p:cNvGrpSpPr/>
                <p:nvPr/>
              </p:nvGrpSpPr>
              <p:grpSpPr bwMode="auto">
                <a:xfrm>
                  <a:off x="3908" y="2026"/>
                  <a:ext cx="279" cy="603"/>
                  <a:chOff x="3908" y="2026"/>
                  <a:chExt cx="279" cy="603"/>
                </a:xfrm>
              </p:grpSpPr>
              <p:sp>
                <p:nvSpPr>
                  <p:cNvPr id="36907" name="Freeform 43"/>
                  <p:cNvSpPr/>
                  <p:nvPr/>
                </p:nvSpPr>
                <p:spPr bwMode="auto">
                  <a:xfrm>
                    <a:off x="3908" y="2029"/>
                    <a:ext cx="176" cy="598"/>
                  </a:xfrm>
                  <a:custGeom>
                    <a:avLst/>
                    <a:gdLst>
                      <a:gd name="T0" fmla="*/ 107 w 176"/>
                      <a:gd name="T1" fmla="*/ 8 h 603"/>
                      <a:gd name="T2" fmla="*/ 141 w 176"/>
                      <a:gd name="T3" fmla="*/ 0 h 603"/>
                      <a:gd name="T4" fmla="*/ 154 w 176"/>
                      <a:gd name="T5" fmla="*/ 16 h 603"/>
                      <a:gd name="T6" fmla="*/ 160 w 176"/>
                      <a:gd name="T7" fmla="*/ 11 h 603"/>
                      <a:gd name="T8" fmla="*/ 169 w 176"/>
                      <a:gd name="T9" fmla="*/ 37 h 603"/>
                      <a:gd name="T10" fmla="*/ 150 w 176"/>
                      <a:gd name="T11" fmla="*/ 54 h 603"/>
                      <a:gd name="T12" fmla="*/ 149 w 176"/>
                      <a:gd name="T13" fmla="*/ 67 h 603"/>
                      <a:gd name="T14" fmla="*/ 144 w 176"/>
                      <a:gd name="T15" fmla="*/ 68 h 603"/>
                      <a:gd name="T16" fmla="*/ 141 w 176"/>
                      <a:gd name="T17" fmla="*/ 82 h 603"/>
                      <a:gd name="T18" fmla="*/ 127 w 176"/>
                      <a:gd name="T19" fmla="*/ 85 h 603"/>
                      <a:gd name="T20" fmla="*/ 127 w 176"/>
                      <a:gd name="T21" fmla="*/ 91 h 603"/>
                      <a:gd name="T22" fmla="*/ 150 w 176"/>
                      <a:gd name="T23" fmla="*/ 109 h 603"/>
                      <a:gd name="T24" fmla="*/ 169 w 176"/>
                      <a:gd name="T25" fmla="*/ 194 h 603"/>
                      <a:gd name="T26" fmla="*/ 154 w 176"/>
                      <a:gd name="T27" fmla="*/ 217 h 603"/>
                      <a:gd name="T28" fmla="*/ 154 w 176"/>
                      <a:gd name="T29" fmla="*/ 375 h 603"/>
                      <a:gd name="T30" fmla="*/ 136 w 176"/>
                      <a:gd name="T31" fmla="*/ 382 h 603"/>
                      <a:gd name="T32" fmla="*/ 133 w 176"/>
                      <a:gd name="T33" fmla="*/ 407 h 603"/>
                      <a:gd name="T34" fmla="*/ 125 w 176"/>
                      <a:gd name="T35" fmla="*/ 473 h 603"/>
                      <a:gd name="T36" fmla="*/ 125 w 176"/>
                      <a:gd name="T37" fmla="*/ 509 h 603"/>
                      <a:gd name="T38" fmla="*/ 154 w 176"/>
                      <a:gd name="T39" fmla="*/ 531 h 603"/>
                      <a:gd name="T40" fmla="*/ 175 w 176"/>
                      <a:gd name="T41" fmla="*/ 542 h 603"/>
                      <a:gd name="T42" fmla="*/ 175 w 176"/>
                      <a:gd name="T43" fmla="*/ 550 h 603"/>
                      <a:gd name="T44" fmla="*/ 131 w 176"/>
                      <a:gd name="T45" fmla="*/ 539 h 603"/>
                      <a:gd name="T46" fmla="*/ 125 w 176"/>
                      <a:gd name="T47" fmla="*/ 532 h 603"/>
                      <a:gd name="T48" fmla="*/ 121 w 176"/>
                      <a:gd name="T49" fmla="*/ 539 h 603"/>
                      <a:gd name="T50" fmla="*/ 116 w 176"/>
                      <a:gd name="T51" fmla="*/ 539 h 603"/>
                      <a:gd name="T52" fmla="*/ 111 w 176"/>
                      <a:gd name="T53" fmla="*/ 514 h 603"/>
                      <a:gd name="T54" fmla="*/ 107 w 176"/>
                      <a:gd name="T55" fmla="*/ 400 h 603"/>
                      <a:gd name="T56" fmla="*/ 98 w 176"/>
                      <a:gd name="T57" fmla="*/ 400 h 603"/>
                      <a:gd name="T58" fmla="*/ 73 w 176"/>
                      <a:gd name="T59" fmla="*/ 501 h 603"/>
                      <a:gd name="T60" fmla="*/ 73 w 176"/>
                      <a:gd name="T61" fmla="*/ 564 h 603"/>
                      <a:gd name="T62" fmla="*/ 63 w 176"/>
                      <a:gd name="T63" fmla="*/ 595 h 603"/>
                      <a:gd name="T64" fmla="*/ 54 w 176"/>
                      <a:gd name="T65" fmla="*/ 602 h 603"/>
                      <a:gd name="T66" fmla="*/ 48 w 176"/>
                      <a:gd name="T67" fmla="*/ 585 h 603"/>
                      <a:gd name="T68" fmla="*/ 55 w 176"/>
                      <a:gd name="T69" fmla="*/ 567 h 603"/>
                      <a:gd name="T70" fmla="*/ 63 w 176"/>
                      <a:gd name="T71" fmla="*/ 528 h 603"/>
                      <a:gd name="T72" fmla="*/ 64 w 176"/>
                      <a:gd name="T73" fmla="*/ 384 h 603"/>
                      <a:gd name="T74" fmla="*/ 72 w 176"/>
                      <a:gd name="T75" fmla="*/ 242 h 603"/>
                      <a:gd name="T76" fmla="*/ 57 w 176"/>
                      <a:gd name="T77" fmla="*/ 230 h 603"/>
                      <a:gd name="T78" fmla="*/ 57 w 176"/>
                      <a:gd name="T79" fmla="*/ 210 h 603"/>
                      <a:gd name="T80" fmla="*/ 57 w 176"/>
                      <a:gd name="T81" fmla="*/ 172 h 603"/>
                      <a:gd name="T82" fmla="*/ 38 w 176"/>
                      <a:gd name="T83" fmla="*/ 181 h 603"/>
                      <a:gd name="T84" fmla="*/ 55 w 176"/>
                      <a:gd name="T85" fmla="*/ 205 h 603"/>
                      <a:gd name="T86" fmla="*/ 55 w 176"/>
                      <a:gd name="T87" fmla="*/ 227 h 603"/>
                      <a:gd name="T88" fmla="*/ 37 w 176"/>
                      <a:gd name="T89" fmla="*/ 213 h 603"/>
                      <a:gd name="T90" fmla="*/ 28 w 176"/>
                      <a:gd name="T91" fmla="*/ 199 h 603"/>
                      <a:gd name="T92" fmla="*/ 19 w 176"/>
                      <a:gd name="T93" fmla="*/ 203 h 603"/>
                      <a:gd name="T94" fmla="*/ 0 w 176"/>
                      <a:gd name="T95" fmla="*/ 179 h 603"/>
                      <a:gd name="T96" fmla="*/ 0 w 176"/>
                      <a:gd name="T97" fmla="*/ 172 h 603"/>
                      <a:gd name="T98" fmla="*/ 10 w 176"/>
                      <a:gd name="T99" fmla="*/ 167 h 603"/>
                      <a:gd name="T100" fmla="*/ 32 w 176"/>
                      <a:gd name="T101" fmla="*/ 142 h 603"/>
                      <a:gd name="T102" fmla="*/ 55 w 176"/>
                      <a:gd name="T103" fmla="*/ 119 h 603"/>
                      <a:gd name="T104" fmla="*/ 84 w 176"/>
                      <a:gd name="T105" fmla="*/ 92 h 603"/>
                      <a:gd name="T106" fmla="*/ 107 w 176"/>
                      <a:gd name="T107" fmla="*/ 83 h 603"/>
                      <a:gd name="T108" fmla="*/ 107 w 176"/>
                      <a:gd name="T109" fmla="*/ 64 h 603"/>
                      <a:gd name="T110" fmla="*/ 98 w 176"/>
                      <a:gd name="T111" fmla="*/ 54 h 603"/>
                      <a:gd name="T112" fmla="*/ 98 w 176"/>
                      <a:gd name="T113" fmla="*/ 30 h 603"/>
                      <a:gd name="T114" fmla="*/ 92 w 176"/>
                      <a:gd name="T115" fmla="*/ 26 h 603"/>
                      <a:gd name="T116" fmla="*/ 107 w 176"/>
                      <a:gd name="T117" fmla="*/ 8 h 6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76" h="603">
                        <a:moveTo>
                          <a:pt x="107" y="8"/>
                        </a:moveTo>
                        <a:lnTo>
                          <a:pt x="141" y="0"/>
                        </a:lnTo>
                        <a:lnTo>
                          <a:pt x="154" y="16"/>
                        </a:lnTo>
                        <a:lnTo>
                          <a:pt x="160" y="11"/>
                        </a:lnTo>
                        <a:lnTo>
                          <a:pt x="169" y="37"/>
                        </a:lnTo>
                        <a:lnTo>
                          <a:pt x="150" y="54"/>
                        </a:lnTo>
                        <a:lnTo>
                          <a:pt x="149" y="67"/>
                        </a:lnTo>
                        <a:lnTo>
                          <a:pt x="144" y="68"/>
                        </a:lnTo>
                        <a:lnTo>
                          <a:pt x="141" y="82"/>
                        </a:lnTo>
                        <a:lnTo>
                          <a:pt x="127" y="85"/>
                        </a:lnTo>
                        <a:lnTo>
                          <a:pt x="127" y="91"/>
                        </a:lnTo>
                        <a:lnTo>
                          <a:pt x="150" y="109"/>
                        </a:lnTo>
                        <a:lnTo>
                          <a:pt x="169" y="194"/>
                        </a:lnTo>
                        <a:lnTo>
                          <a:pt x="154" y="217"/>
                        </a:lnTo>
                        <a:lnTo>
                          <a:pt x="154" y="375"/>
                        </a:lnTo>
                        <a:lnTo>
                          <a:pt x="136" y="382"/>
                        </a:lnTo>
                        <a:lnTo>
                          <a:pt x="133" y="407"/>
                        </a:lnTo>
                        <a:lnTo>
                          <a:pt x="125" y="473"/>
                        </a:lnTo>
                        <a:lnTo>
                          <a:pt x="125" y="509"/>
                        </a:lnTo>
                        <a:lnTo>
                          <a:pt x="154" y="531"/>
                        </a:lnTo>
                        <a:lnTo>
                          <a:pt x="175" y="542"/>
                        </a:lnTo>
                        <a:lnTo>
                          <a:pt x="175" y="550"/>
                        </a:lnTo>
                        <a:lnTo>
                          <a:pt x="131" y="539"/>
                        </a:lnTo>
                        <a:lnTo>
                          <a:pt x="125" y="532"/>
                        </a:lnTo>
                        <a:lnTo>
                          <a:pt x="121" y="539"/>
                        </a:lnTo>
                        <a:lnTo>
                          <a:pt x="116" y="539"/>
                        </a:lnTo>
                        <a:lnTo>
                          <a:pt x="111" y="514"/>
                        </a:lnTo>
                        <a:lnTo>
                          <a:pt x="107" y="400"/>
                        </a:lnTo>
                        <a:lnTo>
                          <a:pt x="98" y="400"/>
                        </a:lnTo>
                        <a:lnTo>
                          <a:pt x="73" y="501"/>
                        </a:lnTo>
                        <a:lnTo>
                          <a:pt x="73" y="564"/>
                        </a:lnTo>
                        <a:lnTo>
                          <a:pt x="63" y="595"/>
                        </a:lnTo>
                        <a:lnTo>
                          <a:pt x="54" y="602"/>
                        </a:lnTo>
                        <a:lnTo>
                          <a:pt x="48" y="585"/>
                        </a:lnTo>
                        <a:lnTo>
                          <a:pt x="55" y="567"/>
                        </a:lnTo>
                        <a:lnTo>
                          <a:pt x="63" y="528"/>
                        </a:lnTo>
                        <a:lnTo>
                          <a:pt x="64" y="384"/>
                        </a:lnTo>
                        <a:lnTo>
                          <a:pt x="72" y="242"/>
                        </a:lnTo>
                        <a:lnTo>
                          <a:pt x="57" y="230"/>
                        </a:lnTo>
                        <a:lnTo>
                          <a:pt x="57" y="210"/>
                        </a:lnTo>
                        <a:lnTo>
                          <a:pt x="57" y="172"/>
                        </a:lnTo>
                        <a:lnTo>
                          <a:pt x="38" y="181"/>
                        </a:lnTo>
                        <a:lnTo>
                          <a:pt x="55" y="205"/>
                        </a:lnTo>
                        <a:lnTo>
                          <a:pt x="55" y="227"/>
                        </a:lnTo>
                        <a:lnTo>
                          <a:pt x="37" y="213"/>
                        </a:lnTo>
                        <a:lnTo>
                          <a:pt x="28" y="199"/>
                        </a:lnTo>
                        <a:lnTo>
                          <a:pt x="19" y="203"/>
                        </a:lnTo>
                        <a:lnTo>
                          <a:pt x="0" y="179"/>
                        </a:lnTo>
                        <a:lnTo>
                          <a:pt x="0" y="172"/>
                        </a:lnTo>
                        <a:lnTo>
                          <a:pt x="10" y="167"/>
                        </a:lnTo>
                        <a:lnTo>
                          <a:pt x="32" y="142"/>
                        </a:lnTo>
                        <a:lnTo>
                          <a:pt x="55" y="119"/>
                        </a:lnTo>
                        <a:lnTo>
                          <a:pt x="84" y="92"/>
                        </a:lnTo>
                        <a:lnTo>
                          <a:pt x="107" y="83"/>
                        </a:lnTo>
                        <a:lnTo>
                          <a:pt x="107" y="64"/>
                        </a:lnTo>
                        <a:lnTo>
                          <a:pt x="98" y="54"/>
                        </a:lnTo>
                        <a:lnTo>
                          <a:pt x="98" y="30"/>
                        </a:lnTo>
                        <a:lnTo>
                          <a:pt x="92" y="26"/>
                        </a:lnTo>
                        <a:lnTo>
                          <a:pt x="107" y="8"/>
                        </a:lnTo>
                      </a:path>
                    </a:pathLst>
                  </a:custGeom>
                  <a:solidFill>
                    <a:srgbClr val="EAEC5E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6908" name="Freeform 44"/>
                  <p:cNvSpPr/>
                  <p:nvPr/>
                </p:nvSpPr>
                <p:spPr bwMode="auto">
                  <a:xfrm>
                    <a:off x="4059" y="2030"/>
                    <a:ext cx="128" cy="573"/>
                  </a:xfrm>
                  <a:custGeom>
                    <a:avLst/>
                    <a:gdLst>
                      <a:gd name="T0" fmla="*/ 30 w 128"/>
                      <a:gd name="T1" fmla="*/ 11 h 576"/>
                      <a:gd name="T2" fmla="*/ 30 w 128"/>
                      <a:gd name="T3" fmla="*/ 26 h 576"/>
                      <a:gd name="T4" fmla="*/ 32 w 128"/>
                      <a:gd name="T5" fmla="*/ 30 h 576"/>
                      <a:gd name="T6" fmla="*/ 26 w 128"/>
                      <a:gd name="T7" fmla="*/ 41 h 576"/>
                      <a:gd name="T8" fmla="*/ 30 w 128"/>
                      <a:gd name="T9" fmla="*/ 44 h 576"/>
                      <a:gd name="T10" fmla="*/ 29 w 128"/>
                      <a:gd name="T11" fmla="*/ 48 h 576"/>
                      <a:gd name="T12" fmla="*/ 32 w 128"/>
                      <a:gd name="T13" fmla="*/ 64 h 576"/>
                      <a:gd name="T14" fmla="*/ 32 w 128"/>
                      <a:gd name="T15" fmla="*/ 67 h 576"/>
                      <a:gd name="T16" fmla="*/ 10 w 128"/>
                      <a:gd name="T17" fmla="*/ 82 h 576"/>
                      <a:gd name="T18" fmla="*/ 0 w 128"/>
                      <a:gd name="T19" fmla="*/ 201 h 576"/>
                      <a:gd name="T20" fmla="*/ 13 w 128"/>
                      <a:gd name="T21" fmla="*/ 222 h 576"/>
                      <a:gd name="T22" fmla="*/ 8 w 128"/>
                      <a:gd name="T23" fmla="*/ 287 h 576"/>
                      <a:gd name="T24" fmla="*/ 17 w 128"/>
                      <a:gd name="T25" fmla="*/ 294 h 576"/>
                      <a:gd name="T26" fmla="*/ 21 w 128"/>
                      <a:gd name="T27" fmla="*/ 395 h 576"/>
                      <a:gd name="T28" fmla="*/ 27 w 128"/>
                      <a:gd name="T29" fmla="*/ 497 h 576"/>
                      <a:gd name="T30" fmla="*/ 25 w 128"/>
                      <a:gd name="T31" fmla="*/ 504 h 576"/>
                      <a:gd name="T32" fmla="*/ 3 w 128"/>
                      <a:gd name="T33" fmla="*/ 522 h 576"/>
                      <a:gd name="T34" fmla="*/ 5 w 128"/>
                      <a:gd name="T35" fmla="*/ 526 h 576"/>
                      <a:gd name="T36" fmla="*/ 13 w 128"/>
                      <a:gd name="T37" fmla="*/ 530 h 576"/>
                      <a:gd name="T38" fmla="*/ 27 w 128"/>
                      <a:gd name="T39" fmla="*/ 526 h 576"/>
                      <a:gd name="T40" fmla="*/ 40 w 128"/>
                      <a:gd name="T41" fmla="*/ 519 h 576"/>
                      <a:gd name="T42" fmla="*/ 50 w 128"/>
                      <a:gd name="T43" fmla="*/ 515 h 576"/>
                      <a:gd name="T44" fmla="*/ 50 w 128"/>
                      <a:gd name="T45" fmla="*/ 532 h 576"/>
                      <a:gd name="T46" fmla="*/ 55 w 128"/>
                      <a:gd name="T47" fmla="*/ 533 h 576"/>
                      <a:gd name="T48" fmla="*/ 47 w 128"/>
                      <a:gd name="T49" fmla="*/ 548 h 576"/>
                      <a:gd name="T50" fmla="*/ 51 w 128"/>
                      <a:gd name="T51" fmla="*/ 571 h 576"/>
                      <a:gd name="T52" fmla="*/ 58 w 128"/>
                      <a:gd name="T53" fmla="*/ 575 h 576"/>
                      <a:gd name="T54" fmla="*/ 71 w 128"/>
                      <a:gd name="T55" fmla="*/ 555 h 576"/>
                      <a:gd name="T56" fmla="*/ 71 w 128"/>
                      <a:gd name="T57" fmla="*/ 540 h 576"/>
                      <a:gd name="T58" fmla="*/ 76 w 128"/>
                      <a:gd name="T59" fmla="*/ 539 h 576"/>
                      <a:gd name="T60" fmla="*/ 82 w 128"/>
                      <a:gd name="T61" fmla="*/ 407 h 576"/>
                      <a:gd name="T62" fmla="*/ 76 w 128"/>
                      <a:gd name="T63" fmla="*/ 395 h 576"/>
                      <a:gd name="T64" fmla="*/ 91 w 128"/>
                      <a:gd name="T65" fmla="*/ 307 h 576"/>
                      <a:gd name="T66" fmla="*/ 100 w 128"/>
                      <a:gd name="T67" fmla="*/ 303 h 576"/>
                      <a:gd name="T68" fmla="*/ 103 w 128"/>
                      <a:gd name="T69" fmla="*/ 211 h 576"/>
                      <a:gd name="T70" fmla="*/ 127 w 128"/>
                      <a:gd name="T71" fmla="*/ 201 h 576"/>
                      <a:gd name="T72" fmla="*/ 117 w 128"/>
                      <a:gd name="T73" fmla="*/ 103 h 576"/>
                      <a:gd name="T74" fmla="*/ 81 w 128"/>
                      <a:gd name="T75" fmla="*/ 76 h 576"/>
                      <a:gd name="T76" fmla="*/ 71 w 128"/>
                      <a:gd name="T77" fmla="*/ 66 h 576"/>
                      <a:gd name="T78" fmla="*/ 71 w 128"/>
                      <a:gd name="T79" fmla="*/ 57 h 576"/>
                      <a:gd name="T80" fmla="*/ 75 w 128"/>
                      <a:gd name="T81" fmla="*/ 50 h 576"/>
                      <a:gd name="T82" fmla="*/ 79 w 128"/>
                      <a:gd name="T83" fmla="*/ 45 h 576"/>
                      <a:gd name="T84" fmla="*/ 83 w 128"/>
                      <a:gd name="T85" fmla="*/ 38 h 576"/>
                      <a:gd name="T86" fmla="*/ 85 w 128"/>
                      <a:gd name="T87" fmla="*/ 32 h 576"/>
                      <a:gd name="T88" fmla="*/ 85 w 128"/>
                      <a:gd name="T89" fmla="*/ 25 h 576"/>
                      <a:gd name="T90" fmla="*/ 83 w 128"/>
                      <a:gd name="T91" fmla="*/ 17 h 576"/>
                      <a:gd name="T92" fmla="*/ 78 w 128"/>
                      <a:gd name="T93" fmla="*/ 10 h 576"/>
                      <a:gd name="T94" fmla="*/ 71 w 128"/>
                      <a:gd name="T95" fmla="*/ 3 h 576"/>
                      <a:gd name="T96" fmla="*/ 64 w 128"/>
                      <a:gd name="T97" fmla="*/ 0 h 576"/>
                      <a:gd name="T98" fmla="*/ 56 w 128"/>
                      <a:gd name="T99" fmla="*/ 0 h 576"/>
                      <a:gd name="T100" fmla="*/ 47 w 128"/>
                      <a:gd name="T101" fmla="*/ 1 h 576"/>
                      <a:gd name="T102" fmla="*/ 40 w 128"/>
                      <a:gd name="T103" fmla="*/ 3 h 576"/>
                      <a:gd name="T104" fmla="*/ 30 w 128"/>
                      <a:gd name="T105" fmla="*/ 11 h 5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28" h="576">
                        <a:moveTo>
                          <a:pt x="30" y="11"/>
                        </a:moveTo>
                        <a:lnTo>
                          <a:pt x="30" y="26"/>
                        </a:lnTo>
                        <a:lnTo>
                          <a:pt x="32" y="30"/>
                        </a:lnTo>
                        <a:lnTo>
                          <a:pt x="26" y="41"/>
                        </a:lnTo>
                        <a:lnTo>
                          <a:pt x="30" y="44"/>
                        </a:lnTo>
                        <a:lnTo>
                          <a:pt x="29" y="48"/>
                        </a:lnTo>
                        <a:lnTo>
                          <a:pt x="32" y="64"/>
                        </a:lnTo>
                        <a:lnTo>
                          <a:pt x="32" y="67"/>
                        </a:lnTo>
                        <a:lnTo>
                          <a:pt x="10" y="82"/>
                        </a:lnTo>
                        <a:lnTo>
                          <a:pt x="0" y="201"/>
                        </a:lnTo>
                        <a:lnTo>
                          <a:pt x="13" y="222"/>
                        </a:lnTo>
                        <a:lnTo>
                          <a:pt x="8" y="287"/>
                        </a:lnTo>
                        <a:lnTo>
                          <a:pt x="17" y="294"/>
                        </a:lnTo>
                        <a:lnTo>
                          <a:pt x="21" y="395"/>
                        </a:lnTo>
                        <a:lnTo>
                          <a:pt x="27" y="497"/>
                        </a:lnTo>
                        <a:lnTo>
                          <a:pt x="25" y="504"/>
                        </a:lnTo>
                        <a:lnTo>
                          <a:pt x="3" y="522"/>
                        </a:lnTo>
                        <a:lnTo>
                          <a:pt x="5" y="526"/>
                        </a:lnTo>
                        <a:lnTo>
                          <a:pt x="13" y="530"/>
                        </a:lnTo>
                        <a:lnTo>
                          <a:pt x="27" y="526"/>
                        </a:lnTo>
                        <a:lnTo>
                          <a:pt x="40" y="519"/>
                        </a:lnTo>
                        <a:lnTo>
                          <a:pt x="50" y="515"/>
                        </a:lnTo>
                        <a:lnTo>
                          <a:pt x="50" y="532"/>
                        </a:lnTo>
                        <a:lnTo>
                          <a:pt x="55" y="533"/>
                        </a:lnTo>
                        <a:lnTo>
                          <a:pt x="47" y="548"/>
                        </a:lnTo>
                        <a:lnTo>
                          <a:pt x="51" y="571"/>
                        </a:lnTo>
                        <a:lnTo>
                          <a:pt x="58" y="575"/>
                        </a:lnTo>
                        <a:lnTo>
                          <a:pt x="71" y="555"/>
                        </a:lnTo>
                        <a:lnTo>
                          <a:pt x="71" y="540"/>
                        </a:lnTo>
                        <a:lnTo>
                          <a:pt x="76" y="539"/>
                        </a:lnTo>
                        <a:lnTo>
                          <a:pt x="82" y="407"/>
                        </a:lnTo>
                        <a:lnTo>
                          <a:pt x="76" y="395"/>
                        </a:lnTo>
                        <a:lnTo>
                          <a:pt x="91" y="307"/>
                        </a:lnTo>
                        <a:lnTo>
                          <a:pt x="100" y="303"/>
                        </a:lnTo>
                        <a:lnTo>
                          <a:pt x="103" y="211"/>
                        </a:lnTo>
                        <a:lnTo>
                          <a:pt x="127" y="201"/>
                        </a:lnTo>
                        <a:lnTo>
                          <a:pt x="117" y="103"/>
                        </a:lnTo>
                        <a:lnTo>
                          <a:pt x="81" y="76"/>
                        </a:lnTo>
                        <a:lnTo>
                          <a:pt x="71" y="66"/>
                        </a:lnTo>
                        <a:lnTo>
                          <a:pt x="71" y="57"/>
                        </a:lnTo>
                        <a:lnTo>
                          <a:pt x="75" y="50"/>
                        </a:lnTo>
                        <a:lnTo>
                          <a:pt x="79" y="45"/>
                        </a:lnTo>
                        <a:lnTo>
                          <a:pt x="83" y="38"/>
                        </a:lnTo>
                        <a:lnTo>
                          <a:pt x="85" y="32"/>
                        </a:lnTo>
                        <a:lnTo>
                          <a:pt x="85" y="25"/>
                        </a:lnTo>
                        <a:lnTo>
                          <a:pt x="83" y="17"/>
                        </a:lnTo>
                        <a:lnTo>
                          <a:pt x="78" y="10"/>
                        </a:lnTo>
                        <a:lnTo>
                          <a:pt x="71" y="3"/>
                        </a:lnTo>
                        <a:lnTo>
                          <a:pt x="64" y="0"/>
                        </a:lnTo>
                        <a:lnTo>
                          <a:pt x="56" y="0"/>
                        </a:lnTo>
                        <a:lnTo>
                          <a:pt x="47" y="1"/>
                        </a:lnTo>
                        <a:lnTo>
                          <a:pt x="40" y="3"/>
                        </a:lnTo>
                        <a:lnTo>
                          <a:pt x="30" y="11"/>
                        </a:lnTo>
                      </a:path>
                    </a:pathLst>
                  </a:custGeom>
                  <a:solidFill>
                    <a:srgbClr val="EAEC5E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sz="1995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6909" name="Freeform 45"/>
                <p:cNvSpPr/>
                <p:nvPr/>
              </p:nvSpPr>
              <p:spPr bwMode="auto">
                <a:xfrm>
                  <a:off x="4470" y="2125"/>
                  <a:ext cx="142" cy="712"/>
                </a:xfrm>
                <a:custGeom>
                  <a:avLst/>
                  <a:gdLst>
                    <a:gd name="T0" fmla="*/ 51 w 145"/>
                    <a:gd name="T1" fmla="*/ 11 h 715"/>
                    <a:gd name="T2" fmla="*/ 84 w 145"/>
                    <a:gd name="T3" fmla="*/ 0 h 715"/>
                    <a:gd name="T4" fmla="*/ 110 w 145"/>
                    <a:gd name="T5" fmla="*/ 0 h 715"/>
                    <a:gd name="T6" fmla="*/ 132 w 145"/>
                    <a:gd name="T7" fmla="*/ 6 h 715"/>
                    <a:gd name="T8" fmla="*/ 141 w 145"/>
                    <a:gd name="T9" fmla="*/ 31 h 715"/>
                    <a:gd name="T10" fmla="*/ 141 w 145"/>
                    <a:gd name="T11" fmla="*/ 51 h 715"/>
                    <a:gd name="T12" fmla="*/ 128 w 145"/>
                    <a:gd name="T13" fmla="*/ 77 h 715"/>
                    <a:gd name="T14" fmla="*/ 118 w 145"/>
                    <a:gd name="T15" fmla="*/ 76 h 715"/>
                    <a:gd name="T16" fmla="*/ 133 w 145"/>
                    <a:gd name="T17" fmla="*/ 106 h 715"/>
                    <a:gd name="T18" fmla="*/ 144 w 145"/>
                    <a:gd name="T19" fmla="*/ 153 h 715"/>
                    <a:gd name="T20" fmla="*/ 144 w 145"/>
                    <a:gd name="T21" fmla="*/ 195 h 715"/>
                    <a:gd name="T22" fmla="*/ 141 w 145"/>
                    <a:gd name="T23" fmla="*/ 246 h 715"/>
                    <a:gd name="T24" fmla="*/ 132 w 145"/>
                    <a:gd name="T25" fmla="*/ 298 h 715"/>
                    <a:gd name="T26" fmla="*/ 116 w 145"/>
                    <a:gd name="T27" fmla="*/ 301 h 715"/>
                    <a:gd name="T28" fmla="*/ 116 w 145"/>
                    <a:gd name="T29" fmla="*/ 316 h 715"/>
                    <a:gd name="T30" fmla="*/ 107 w 145"/>
                    <a:gd name="T31" fmla="*/ 322 h 715"/>
                    <a:gd name="T32" fmla="*/ 107 w 145"/>
                    <a:gd name="T33" fmla="*/ 373 h 715"/>
                    <a:gd name="T34" fmla="*/ 98 w 145"/>
                    <a:gd name="T35" fmla="*/ 384 h 715"/>
                    <a:gd name="T36" fmla="*/ 98 w 145"/>
                    <a:gd name="T37" fmla="*/ 479 h 715"/>
                    <a:gd name="T38" fmla="*/ 98 w 145"/>
                    <a:gd name="T39" fmla="*/ 540 h 715"/>
                    <a:gd name="T40" fmla="*/ 111 w 145"/>
                    <a:gd name="T41" fmla="*/ 608 h 715"/>
                    <a:gd name="T42" fmla="*/ 116 w 145"/>
                    <a:gd name="T43" fmla="*/ 694 h 715"/>
                    <a:gd name="T44" fmla="*/ 101 w 145"/>
                    <a:gd name="T45" fmla="*/ 701 h 715"/>
                    <a:gd name="T46" fmla="*/ 101 w 145"/>
                    <a:gd name="T47" fmla="*/ 711 h 715"/>
                    <a:gd name="T48" fmla="*/ 77 w 145"/>
                    <a:gd name="T49" fmla="*/ 711 h 715"/>
                    <a:gd name="T50" fmla="*/ 73 w 145"/>
                    <a:gd name="T51" fmla="*/ 707 h 715"/>
                    <a:gd name="T52" fmla="*/ 63 w 145"/>
                    <a:gd name="T53" fmla="*/ 707 h 715"/>
                    <a:gd name="T54" fmla="*/ 63 w 145"/>
                    <a:gd name="T55" fmla="*/ 714 h 715"/>
                    <a:gd name="T56" fmla="*/ 45 w 145"/>
                    <a:gd name="T57" fmla="*/ 711 h 715"/>
                    <a:gd name="T58" fmla="*/ 8 w 145"/>
                    <a:gd name="T59" fmla="*/ 707 h 715"/>
                    <a:gd name="T60" fmla="*/ 8 w 145"/>
                    <a:gd name="T61" fmla="*/ 701 h 715"/>
                    <a:gd name="T62" fmla="*/ 43 w 145"/>
                    <a:gd name="T63" fmla="*/ 688 h 715"/>
                    <a:gd name="T64" fmla="*/ 43 w 145"/>
                    <a:gd name="T65" fmla="*/ 675 h 715"/>
                    <a:gd name="T66" fmla="*/ 12 w 145"/>
                    <a:gd name="T67" fmla="*/ 669 h 715"/>
                    <a:gd name="T68" fmla="*/ 12 w 145"/>
                    <a:gd name="T69" fmla="*/ 660 h 715"/>
                    <a:gd name="T70" fmla="*/ 33 w 145"/>
                    <a:gd name="T71" fmla="*/ 647 h 715"/>
                    <a:gd name="T72" fmla="*/ 33 w 145"/>
                    <a:gd name="T73" fmla="*/ 550 h 715"/>
                    <a:gd name="T74" fmla="*/ 25 w 145"/>
                    <a:gd name="T75" fmla="*/ 461 h 715"/>
                    <a:gd name="T76" fmla="*/ 27 w 145"/>
                    <a:gd name="T77" fmla="*/ 372 h 715"/>
                    <a:gd name="T78" fmla="*/ 28 w 145"/>
                    <a:gd name="T79" fmla="*/ 322 h 715"/>
                    <a:gd name="T80" fmla="*/ 26 w 145"/>
                    <a:gd name="T81" fmla="*/ 307 h 715"/>
                    <a:gd name="T82" fmla="*/ 26 w 145"/>
                    <a:gd name="T83" fmla="*/ 237 h 715"/>
                    <a:gd name="T84" fmla="*/ 0 w 145"/>
                    <a:gd name="T85" fmla="*/ 221 h 715"/>
                    <a:gd name="T86" fmla="*/ 0 w 145"/>
                    <a:gd name="T87" fmla="*/ 212 h 715"/>
                    <a:gd name="T88" fmla="*/ 55 w 145"/>
                    <a:gd name="T89" fmla="*/ 116 h 715"/>
                    <a:gd name="T90" fmla="*/ 81 w 145"/>
                    <a:gd name="T91" fmla="*/ 103 h 715"/>
                    <a:gd name="T92" fmla="*/ 78 w 145"/>
                    <a:gd name="T93" fmla="*/ 97 h 715"/>
                    <a:gd name="T94" fmla="*/ 60 w 145"/>
                    <a:gd name="T95" fmla="*/ 93 h 715"/>
                    <a:gd name="T96" fmla="*/ 60 w 145"/>
                    <a:gd name="T97" fmla="*/ 87 h 715"/>
                    <a:gd name="T98" fmla="*/ 55 w 145"/>
                    <a:gd name="T99" fmla="*/ 84 h 715"/>
                    <a:gd name="T100" fmla="*/ 55 w 145"/>
                    <a:gd name="T101" fmla="*/ 77 h 715"/>
                    <a:gd name="T102" fmla="*/ 51 w 145"/>
                    <a:gd name="T103" fmla="*/ 74 h 715"/>
                    <a:gd name="T104" fmla="*/ 55 w 145"/>
                    <a:gd name="T105" fmla="*/ 71 h 715"/>
                    <a:gd name="T106" fmla="*/ 51 w 145"/>
                    <a:gd name="T107" fmla="*/ 68 h 715"/>
                    <a:gd name="T108" fmla="*/ 60 w 145"/>
                    <a:gd name="T109" fmla="*/ 51 h 715"/>
                    <a:gd name="T110" fmla="*/ 55 w 145"/>
                    <a:gd name="T111" fmla="*/ 43 h 715"/>
                    <a:gd name="T112" fmla="*/ 60 w 145"/>
                    <a:gd name="T113" fmla="*/ 34 h 715"/>
                    <a:gd name="T114" fmla="*/ 51 w 145"/>
                    <a:gd name="T115" fmla="*/ 27 h 715"/>
                    <a:gd name="T116" fmla="*/ 51 w 145"/>
                    <a:gd name="T117" fmla="*/ 11 h 7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45" h="715">
                      <a:moveTo>
                        <a:pt x="51" y="11"/>
                      </a:moveTo>
                      <a:lnTo>
                        <a:pt x="84" y="0"/>
                      </a:lnTo>
                      <a:lnTo>
                        <a:pt x="110" y="0"/>
                      </a:lnTo>
                      <a:lnTo>
                        <a:pt x="132" y="6"/>
                      </a:lnTo>
                      <a:lnTo>
                        <a:pt x="141" y="31"/>
                      </a:lnTo>
                      <a:lnTo>
                        <a:pt x="141" y="51"/>
                      </a:lnTo>
                      <a:lnTo>
                        <a:pt x="128" y="77"/>
                      </a:lnTo>
                      <a:lnTo>
                        <a:pt x="118" y="76"/>
                      </a:lnTo>
                      <a:lnTo>
                        <a:pt x="133" y="106"/>
                      </a:lnTo>
                      <a:lnTo>
                        <a:pt x="144" y="153"/>
                      </a:lnTo>
                      <a:lnTo>
                        <a:pt x="144" y="195"/>
                      </a:lnTo>
                      <a:lnTo>
                        <a:pt x="141" y="246"/>
                      </a:lnTo>
                      <a:lnTo>
                        <a:pt x="132" y="298"/>
                      </a:lnTo>
                      <a:lnTo>
                        <a:pt x="116" y="301"/>
                      </a:lnTo>
                      <a:lnTo>
                        <a:pt x="116" y="316"/>
                      </a:lnTo>
                      <a:lnTo>
                        <a:pt x="107" y="322"/>
                      </a:lnTo>
                      <a:lnTo>
                        <a:pt x="107" y="373"/>
                      </a:lnTo>
                      <a:lnTo>
                        <a:pt x="98" y="384"/>
                      </a:lnTo>
                      <a:lnTo>
                        <a:pt x="98" y="479"/>
                      </a:lnTo>
                      <a:lnTo>
                        <a:pt x="98" y="540"/>
                      </a:lnTo>
                      <a:lnTo>
                        <a:pt x="111" y="608"/>
                      </a:lnTo>
                      <a:lnTo>
                        <a:pt x="116" y="694"/>
                      </a:lnTo>
                      <a:lnTo>
                        <a:pt x="101" y="701"/>
                      </a:lnTo>
                      <a:lnTo>
                        <a:pt x="101" y="711"/>
                      </a:lnTo>
                      <a:lnTo>
                        <a:pt x="77" y="711"/>
                      </a:lnTo>
                      <a:lnTo>
                        <a:pt x="73" y="707"/>
                      </a:lnTo>
                      <a:lnTo>
                        <a:pt x="63" y="707"/>
                      </a:lnTo>
                      <a:lnTo>
                        <a:pt x="63" y="714"/>
                      </a:lnTo>
                      <a:lnTo>
                        <a:pt x="45" y="711"/>
                      </a:lnTo>
                      <a:lnTo>
                        <a:pt x="8" y="707"/>
                      </a:lnTo>
                      <a:lnTo>
                        <a:pt x="8" y="701"/>
                      </a:lnTo>
                      <a:lnTo>
                        <a:pt x="43" y="688"/>
                      </a:lnTo>
                      <a:lnTo>
                        <a:pt x="43" y="675"/>
                      </a:lnTo>
                      <a:lnTo>
                        <a:pt x="12" y="669"/>
                      </a:lnTo>
                      <a:lnTo>
                        <a:pt x="12" y="660"/>
                      </a:lnTo>
                      <a:lnTo>
                        <a:pt x="33" y="647"/>
                      </a:lnTo>
                      <a:lnTo>
                        <a:pt x="33" y="550"/>
                      </a:lnTo>
                      <a:lnTo>
                        <a:pt x="25" y="461"/>
                      </a:lnTo>
                      <a:lnTo>
                        <a:pt x="27" y="372"/>
                      </a:lnTo>
                      <a:lnTo>
                        <a:pt x="28" y="322"/>
                      </a:lnTo>
                      <a:lnTo>
                        <a:pt x="26" y="307"/>
                      </a:lnTo>
                      <a:lnTo>
                        <a:pt x="26" y="237"/>
                      </a:lnTo>
                      <a:lnTo>
                        <a:pt x="0" y="221"/>
                      </a:lnTo>
                      <a:lnTo>
                        <a:pt x="0" y="212"/>
                      </a:lnTo>
                      <a:lnTo>
                        <a:pt x="55" y="116"/>
                      </a:lnTo>
                      <a:lnTo>
                        <a:pt x="81" y="103"/>
                      </a:lnTo>
                      <a:lnTo>
                        <a:pt x="78" y="97"/>
                      </a:lnTo>
                      <a:lnTo>
                        <a:pt x="60" y="93"/>
                      </a:lnTo>
                      <a:lnTo>
                        <a:pt x="60" y="87"/>
                      </a:lnTo>
                      <a:lnTo>
                        <a:pt x="55" y="84"/>
                      </a:lnTo>
                      <a:lnTo>
                        <a:pt x="55" y="77"/>
                      </a:lnTo>
                      <a:lnTo>
                        <a:pt x="51" y="74"/>
                      </a:lnTo>
                      <a:lnTo>
                        <a:pt x="55" y="71"/>
                      </a:lnTo>
                      <a:lnTo>
                        <a:pt x="51" y="68"/>
                      </a:lnTo>
                      <a:lnTo>
                        <a:pt x="60" y="51"/>
                      </a:lnTo>
                      <a:lnTo>
                        <a:pt x="55" y="43"/>
                      </a:lnTo>
                      <a:lnTo>
                        <a:pt x="60" y="34"/>
                      </a:lnTo>
                      <a:lnTo>
                        <a:pt x="51" y="27"/>
                      </a:lnTo>
                      <a:lnTo>
                        <a:pt x="51" y="11"/>
                      </a:lnTo>
                    </a:path>
                  </a:pathLst>
                </a:custGeom>
                <a:solidFill>
                  <a:srgbClr val="EAEC5E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0" name="Freeform 46"/>
                <p:cNvSpPr/>
                <p:nvPr/>
              </p:nvSpPr>
              <p:spPr bwMode="auto">
                <a:xfrm>
                  <a:off x="2888" y="2120"/>
                  <a:ext cx="103" cy="377"/>
                </a:xfrm>
                <a:custGeom>
                  <a:avLst/>
                  <a:gdLst>
                    <a:gd name="T0" fmla="*/ 41 w 106"/>
                    <a:gd name="T1" fmla="*/ 5 h 379"/>
                    <a:gd name="T2" fmla="*/ 36 w 106"/>
                    <a:gd name="T3" fmla="*/ 25 h 379"/>
                    <a:gd name="T4" fmla="*/ 39 w 106"/>
                    <a:gd name="T5" fmla="*/ 28 h 379"/>
                    <a:gd name="T6" fmla="*/ 43 w 106"/>
                    <a:gd name="T7" fmla="*/ 35 h 379"/>
                    <a:gd name="T8" fmla="*/ 47 w 106"/>
                    <a:gd name="T9" fmla="*/ 49 h 379"/>
                    <a:gd name="T10" fmla="*/ 43 w 106"/>
                    <a:gd name="T11" fmla="*/ 51 h 379"/>
                    <a:gd name="T12" fmla="*/ 19 w 106"/>
                    <a:gd name="T13" fmla="*/ 71 h 379"/>
                    <a:gd name="T14" fmla="*/ 4 w 106"/>
                    <a:gd name="T15" fmla="*/ 186 h 379"/>
                    <a:gd name="T16" fmla="*/ 0 w 106"/>
                    <a:gd name="T17" fmla="*/ 206 h 379"/>
                    <a:gd name="T18" fmla="*/ 7 w 106"/>
                    <a:gd name="T19" fmla="*/ 217 h 379"/>
                    <a:gd name="T20" fmla="*/ 11 w 106"/>
                    <a:gd name="T21" fmla="*/ 219 h 379"/>
                    <a:gd name="T22" fmla="*/ 11 w 106"/>
                    <a:gd name="T23" fmla="*/ 202 h 379"/>
                    <a:gd name="T24" fmla="*/ 11 w 106"/>
                    <a:gd name="T25" fmla="*/ 211 h 379"/>
                    <a:gd name="T26" fmla="*/ 18 w 106"/>
                    <a:gd name="T27" fmla="*/ 204 h 379"/>
                    <a:gd name="T28" fmla="*/ 20 w 106"/>
                    <a:gd name="T29" fmla="*/ 190 h 379"/>
                    <a:gd name="T30" fmla="*/ 34 w 106"/>
                    <a:gd name="T31" fmla="*/ 289 h 379"/>
                    <a:gd name="T32" fmla="*/ 41 w 106"/>
                    <a:gd name="T33" fmla="*/ 349 h 379"/>
                    <a:gd name="T34" fmla="*/ 37 w 106"/>
                    <a:gd name="T35" fmla="*/ 376 h 379"/>
                    <a:gd name="T36" fmla="*/ 54 w 106"/>
                    <a:gd name="T37" fmla="*/ 371 h 379"/>
                    <a:gd name="T38" fmla="*/ 49 w 106"/>
                    <a:gd name="T39" fmla="*/ 338 h 379"/>
                    <a:gd name="T40" fmla="*/ 56 w 106"/>
                    <a:gd name="T41" fmla="*/ 291 h 379"/>
                    <a:gd name="T42" fmla="*/ 58 w 106"/>
                    <a:gd name="T43" fmla="*/ 336 h 379"/>
                    <a:gd name="T44" fmla="*/ 61 w 106"/>
                    <a:gd name="T45" fmla="*/ 368 h 379"/>
                    <a:gd name="T46" fmla="*/ 75 w 106"/>
                    <a:gd name="T47" fmla="*/ 369 h 379"/>
                    <a:gd name="T48" fmla="*/ 80 w 106"/>
                    <a:gd name="T49" fmla="*/ 289 h 379"/>
                    <a:gd name="T50" fmla="*/ 86 w 106"/>
                    <a:gd name="T51" fmla="*/ 281 h 379"/>
                    <a:gd name="T52" fmla="*/ 102 w 106"/>
                    <a:gd name="T53" fmla="*/ 289 h 379"/>
                    <a:gd name="T54" fmla="*/ 94 w 106"/>
                    <a:gd name="T55" fmla="*/ 193 h 379"/>
                    <a:gd name="T56" fmla="*/ 96 w 106"/>
                    <a:gd name="T57" fmla="*/ 174 h 379"/>
                    <a:gd name="T58" fmla="*/ 94 w 106"/>
                    <a:gd name="T59" fmla="*/ 127 h 379"/>
                    <a:gd name="T60" fmla="*/ 71 w 106"/>
                    <a:gd name="T61" fmla="*/ 63 h 379"/>
                    <a:gd name="T62" fmla="*/ 70 w 106"/>
                    <a:gd name="T63" fmla="*/ 41 h 379"/>
                    <a:gd name="T64" fmla="*/ 75 w 106"/>
                    <a:gd name="T65" fmla="*/ 37 h 379"/>
                    <a:gd name="T66" fmla="*/ 80 w 106"/>
                    <a:gd name="T67" fmla="*/ 31 h 379"/>
                    <a:gd name="T68" fmla="*/ 77 w 106"/>
                    <a:gd name="T69" fmla="*/ 5 h 379"/>
                    <a:gd name="T70" fmla="*/ 64 w 106"/>
                    <a:gd name="T71" fmla="*/ 1 h 379"/>
                    <a:gd name="T72" fmla="*/ 53 w 106"/>
                    <a:gd name="T73" fmla="*/ 3 h 3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06" h="379">
                      <a:moveTo>
                        <a:pt x="53" y="3"/>
                      </a:moveTo>
                      <a:lnTo>
                        <a:pt x="41" y="5"/>
                      </a:lnTo>
                      <a:lnTo>
                        <a:pt x="36" y="19"/>
                      </a:lnTo>
                      <a:lnTo>
                        <a:pt x="36" y="25"/>
                      </a:lnTo>
                      <a:lnTo>
                        <a:pt x="41" y="25"/>
                      </a:lnTo>
                      <a:lnTo>
                        <a:pt x="39" y="28"/>
                      </a:lnTo>
                      <a:lnTo>
                        <a:pt x="41" y="29"/>
                      </a:lnTo>
                      <a:lnTo>
                        <a:pt x="43" y="35"/>
                      </a:lnTo>
                      <a:lnTo>
                        <a:pt x="44" y="37"/>
                      </a:lnTo>
                      <a:lnTo>
                        <a:pt x="47" y="49"/>
                      </a:lnTo>
                      <a:lnTo>
                        <a:pt x="47" y="51"/>
                      </a:lnTo>
                      <a:lnTo>
                        <a:pt x="43" y="51"/>
                      </a:lnTo>
                      <a:lnTo>
                        <a:pt x="34" y="66"/>
                      </a:lnTo>
                      <a:lnTo>
                        <a:pt x="19" y="71"/>
                      </a:lnTo>
                      <a:lnTo>
                        <a:pt x="11" y="82"/>
                      </a:lnTo>
                      <a:lnTo>
                        <a:pt x="4" y="186"/>
                      </a:lnTo>
                      <a:lnTo>
                        <a:pt x="7" y="187"/>
                      </a:lnTo>
                      <a:lnTo>
                        <a:pt x="0" y="206"/>
                      </a:lnTo>
                      <a:lnTo>
                        <a:pt x="4" y="217"/>
                      </a:lnTo>
                      <a:lnTo>
                        <a:pt x="7" y="217"/>
                      </a:lnTo>
                      <a:lnTo>
                        <a:pt x="8" y="219"/>
                      </a:lnTo>
                      <a:lnTo>
                        <a:pt x="11" y="219"/>
                      </a:lnTo>
                      <a:lnTo>
                        <a:pt x="10" y="208"/>
                      </a:lnTo>
                      <a:lnTo>
                        <a:pt x="11" y="202"/>
                      </a:lnTo>
                      <a:lnTo>
                        <a:pt x="13" y="207"/>
                      </a:lnTo>
                      <a:lnTo>
                        <a:pt x="11" y="211"/>
                      </a:lnTo>
                      <a:lnTo>
                        <a:pt x="13" y="213"/>
                      </a:lnTo>
                      <a:lnTo>
                        <a:pt x="18" y="204"/>
                      </a:lnTo>
                      <a:lnTo>
                        <a:pt x="15" y="189"/>
                      </a:lnTo>
                      <a:lnTo>
                        <a:pt x="20" y="190"/>
                      </a:lnTo>
                      <a:lnTo>
                        <a:pt x="18" y="283"/>
                      </a:lnTo>
                      <a:lnTo>
                        <a:pt x="34" y="289"/>
                      </a:lnTo>
                      <a:lnTo>
                        <a:pt x="43" y="343"/>
                      </a:lnTo>
                      <a:lnTo>
                        <a:pt x="41" y="349"/>
                      </a:lnTo>
                      <a:lnTo>
                        <a:pt x="37" y="371"/>
                      </a:lnTo>
                      <a:lnTo>
                        <a:pt x="37" y="376"/>
                      </a:lnTo>
                      <a:lnTo>
                        <a:pt x="49" y="378"/>
                      </a:lnTo>
                      <a:lnTo>
                        <a:pt x="54" y="371"/>
                      </a:lnTo>
                      <a:lnTo>
                        <a:pt x="51" y="352"/>
                      </a:lnTo>
                      <a:lnTo>
                        <a:pt x="49" y="338"/>
                      </a:lnTo>
                      <a:lnTo>
                        <a:pt x="55" y="291"/>
                      </a:lnTo>
                      <a:lnTo>
                        <a:pt x="56" y="291"/>
                      </a:lnTo>
                      <a:lnTo>
                        <a:pt x="61" y="308"/>
                      </a:lnTo>
                      <a:lnTo>
                        <a:pt x="58" y="336"/>
                      </a:lnTo>
                      <a:lnTo>
                        <a:pt x="54" y="339"/>
                      </a:lnTo>
                      <a:lnTo>
                        <a:pt x="61" y="368"/>
                      </a:lnTo>
                      <a:lnTo>
                        <a:pt x="72" y="371"/>
                      </a:lnTo>
                      <a:lnTo>
                        <a:pt x="75" y="369"/>
                      </a:lnTo>
                      <a:lnTo>
                        <a:pt x="66" y="339"/>
                      </a:lnTo>
                      <a:lnTo>
                        <a:pt x="80" y="289"/>
                      </a:lnTo>
                      <a:lnTo>
                        <a:pt x="86" y="284"/>
                      </a:lnTo>
                      <a:lnTo>
                        <a:pt x="86" y="281"/>
                      </a:lnTo>
                      <a:lnTo>
                        <a:pt x="98" y="282"/>
                      </a:lnTo>
                      <a:lnTo>
                        <a:pt x="102" y="289"/>
                      </a:lnTo>
                      <a:lnTo>
                        <a:pt x="105" y="284"/>
                      </a:lnTo>
                      <a:lnTo>
                        <a:pt x="94" y="193"/>
                      </a:lnTo>
                      <a:lnTo>
                        <a:pt x="96" y="193"/>
                      </a:lnTo>
                      <a:lnTo>
                        <a:pt x="96" y="174"/>
                      </a:lnTo>
                      <a:lnTo>
                        <a:pt x="97" y="172"/>
                      </a:lnTo>
                      <a:lnTo>
                        <a:pt x="94" y="127"/>
                      </a:lnTo>
                      <a:lnTo>
                        <a:pt x="90" y="73"/>
                      </a:lnTo>
                      <a:lnTo>
                        <a:pt x="71" y="63"/>
                      </a:lnTo>
                      <a:lnTo>
                        <a:pt x="64" y="51"/>
                      </a:lnTo>
                      <a:lnTo>
                        <a:pt x="70" y="41"/>
                      </a:lnTo>
                      <a:lnTo>
                        <a:pt x="72" y="42"/>
                      </a:lnTo>
                      <a:lnTo>
                        <a:pt x="75" y="37"/>
                      </a:lnTo>
                      <a:lnTo>
                        <a:pt x="75" y="31"/>
                      </a:lnTo>
                      <a:lnTo>
                        <a:pt x="80" y="31"/>
                      </a:lnTo>
                      <a:lnTo>
                        <a:pt x="82" y="16"/>
                      </a:lnTo>
                      <a:lnTo>
                        <a:pt x="77" y="5"/>
                      </a:lnTo>
                      <a:lnTo>
                        <a:pt x="72" y="1"/>
                      </a:lnTo>
                      <a:lnTo>
                        <a:pt x="64" y="1"/>
                      </a:lnTo>
                      <a:lnTo>
                        <a:pt x="59" y="0"/>
                      </a:lnTo>
                      <a:lnTo>
                        <a:pt x="53" y="3"/>
                      </a:lnTo>
                    </a:path>
                  </a:pathLst>
                </a:custGeom>
                <a:solidFill>
                  <a:srgbClr val="EAEC5E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1" name="Freeform 47"/>
                <p:cNvSpPr/>
                <p:nvPr/>
              </p:nvSpPr>
              <p:spPr bwMode="auto">
                <a:xfrm>
                  <a:off x="3681" y="2028"/>
                  <a:ext cx="74" cy="380"/>
                </a:xfrm>
                <a:custGeom>
                  <a:avLst/>
                  <a:gdLst>
                    <a:gd name="T0" fmla="*/ 25 w 74"/>
                    <a:gd name="T1" fmla="*/ 5 h 377"/>
                    <a:gd name="T2" fmla="*/ 43 w 74"/>
                    <a:gd name="T3" fmla="*/ 0 h 377"/>
                    <a:gd name="T4" fmla="*/ 56 w 74"/>
                    <a:gd name="T5" fmla="*/ 0 h 377"/>
                    <a:gd name="T6" fmla="*/ 68 w 74"/>
                    <a:gd name="T7" fmla="*/ 3 h 377"/>
                    <a:gd name="T8" fmla="*/ 72 w 74"/>
                    <a:gd name="T9" fmla="*/ 16 h 377"/>
                    <a:gd name="T10" fmla="*/ 72 w 74"/>
                    <a:gd name="T11" fmla="*/ 27 h 377"/>
                    <a:gd name="T12" fmla="*/ 65 w 74"/>
                    <a:gd name="T13" fmla="*/ 40 h 377"/>
                    <a:gd name="T14" fmla="*/ 60 w 74"/>
                    <a:gd name="T15" fmla="*/ 40 h 377"/>
                    <a:gd name="T16" fmla="*/ 68 w 74"/>
                    <a:gd name="T17" fmla="*/ 56 h 377"/>
                    <a:gd name="T18" fmla="*/ 73 w 74"/>
                    <a:gd name="T19" fmla="*/ 80 h 377"/>
                    <a:gd name="T20" fmla="*/ 73 w 74"/>
                    <a:gd name="T21" fmla="*/ 102 h 377"/>
                    <a:gd name="T22" fmla="*/ 72 w 74"/>
                    <a:gd name="T23" fmla="*/ 129 h 377"/>
                    <a:gd name="T24" fmla="*/ 68 w 74"/>
                    <a:gd name="T25" fmla="*/ 156 h 377"/>
                    <a:gd name="T26" fmla="*/ 59 w 74"/>
                    <a:gd name="T27" fmla="*/ 158 h 377"/>
                    <a:gd name="T28" fmla="*/ 59 w 74"/>
                    <a:gd name="T29" fmla="*/ 165 h 377"/>
                    <a:gd name="T30" fmla="*/ 54 w 74"/>
                    <a:gd name="T31" fmla="*/ 169 h 377"/>
                    <a:gd name="T32" fmla="*/ 54 w 74"/>
                    <a:gd name="T33" fmla="*/ 197 h 377"/>
                    <a:gd name="T34" fmla="*/ 50 w 74"/>
                    <a:gd name="T35" fmla="*/ 202 h 377"/>
                    <a:gd name="T36" fmla="*/ 50 w 74"/>
                    <a:gd name="T37" fmla="*/ 253 h 377"/>
                    <a:gd name="T38" fmla="*/ 50 w 74"/>
                    <a:gd name="T39" fmla="*/ 285 h 377"/>
                    <a:gd name="T40" fmla="*/ 56 w 74"/>
                    <a:gd name="T41" fmla="*/ 320 h 377"/>
                    <a:gd name="T42" fmla="*/ 59 w 74"/>
                    <a:gd name="T43" fmla="*/ 366 h 377"/>
                    <a:gd name="T44" fmla="*/ 51 w 74"/>
                    <a:gd name="T45" fmla="*/ 370 h 377"/>
                    <a:gd name="T46" fmla="*/ 51 w 74"/>
                    <a:gd name="T47" fmla="*/ 376 h 377"/>
                    <a:gd name="T48" fmla="*/ 40 w 74"/>
                    <a:gd name="T49" fmla="*/ 376 h 377"/>
                    <a:gd name="T50" fmla="*/ 37 w 74"/>
                    <a:gd name="T51" fmla="*/ 373 h 377"/>
                    <a:gd name="T52" fmla="*/ 32 w 74"/>
                    <a:gd name="T53" fmla="*/ 373 h 377"/>
                    <a:gd name="T54" fmla="*/ 32 w 74"/>
                    <a:gd name="T55" fmla="*/ 376 h 377"/>
                    <a:gd name="T56" fmla="*/ 23 w 74"/>
                    <a:gd name="T57" fmla="*/ 376 h 377"/>
                    <a:gd name="T58" fmla="*/ 5 w 74"/>
                    <a:gd name="T59" fmla="*/ 373 h 377"/>
                    <a:gd name="T60" fmla="*/ 5 w 74"/>
                    <a:gd name="T61" fmla="*/ 370 h 377"/>
                    <a:gd name="T62" fmla="*/ 21 w 74"/>
                    <a:gd name="T63" fmla="*/ 363 h 377"/>
                    <a:gd name="T64" fmla="*/ 21 w 74"/>
                    <a:gd name="T65" fmla="*/ 356 h 377"/>
                    <a:gd name="T66" fmla="*/ 6 w 74"/>
                    <a:gd name="T67" fmla="*/ 353 h 377"/>
                    <a:gd name="T68" fmla="*/ 6 w 74"/>
                    <a:gd name="T69" fmla="*/ 349 h 377"/>
                    <a:gd name="T70" fmla="*/ 17 w 74"/>
                    <a:gd name="T71" fmla="*/ 342 h 377"/>
                    <a:gd name="T72" fmla="*/ 17 w 74"/>
                    <a:gd name="T73" fmla="*/ 290 h 377"/>
                    <a:gd name="T74" fmla="*/ 13 w 74"/>
                    <a:gd name="T75" fmla="*/ 243 h 377"/>
                    <a:gd name="T76" fmla="*/ 14 w 74"/>
                    <a:gd name="T77" fmla="*/ 196 h 377"/>
                    <a:gd name="T78" fmla="*/ 14 w 74"/>
                    <a:gd name="T79" fmla="*/ 169 h 377"/>
                    <a:gd name="T80" fmla="*/ 13 w 74"/>
                    <a:gd name="T81" fmla="*/ 161 h 377"/>
                    <a:gd name="T82" fmla="*/ 13 w 74"/>
                    <a:gd name="T83" fmla="*/ 124 h 377"/>
                    <a:gd name="T84" fmla="*/ 0 w 74"/>
                    <a:gd name="T85" fmla="*/ 116 h 377"/>
                    <a:gd name="T86" fmla="*/ 0 w 74"/>
                    <a:gd name="T87" fmla="*/ 112 h 377"/>
                    <a:gd name="T88" fmla="*/ 28 w 74"/>
                    <a:gd name="T89" fmla="*/ 61 h 377"/>
                    <a:gd name="T90" fmla="*/ 41 w 74"/>
                    <a:gd name="T91" fmla="*/ 54 h 377"/>
                    <a:gd name="T92" fmla="*/ 40 w 74"/>
                    <a:gd name="T93" fmla="*/ 51 h 377"/>
                    <a:gd name="T94" fmla="*/ 30 w 74"/>
                    <a:gd name="T95" fmla="*/ 49 h 377"/>
                    <a:gd name="T96" fmla="*/ 30 w 74"/>
                    <a:gd name="T97" fmla="*/ 46 h 377"/>
                    <a:gd name="T98" fmla="*/ 28 w 74"/>
                    <a:gd name="T99" fmla="*/ 44 h 377"/>
                    <a:gd name="T100" fmla="*/ 28 w 74"/>
                    <a:gd name="T101" fmla="*/ 40 h 377"/>
                    <a:gd name="T102" fmla="*/ 25 w 74"/>
                    <a:gd name="T103" fmla="*/ 39 h 377"/>
                    <a:gd name="T104" fmla="*/ 28 w 74"/>
                    <a:gd name="T105" fmla="*/ 37 h 377"/>
                    <a:gd name="T106" fmla="*/ 26 w 74"/>
                    <a:gd name="T107" fmla="*/ 35 h 377"/>
                    <a:gd name="T108" fmla="*/ 30 w 74"/>
                    <a:gd name="T109" fmla="*/ 27 h 377"/>
                    <a:gd name="T110" fmla="*/ 28 w 74"/>
                    <a:gd name="T111" fmla="*/ 22 h 377"/>
                    <a:gd name="T112" fmla="*/ 30 w 74"/>
                    <a:gd name="T113" fmla="*/ 18 h 377"/>
                    <a:gd name="T114" fmla="*/ 26 w 74"/>
                    <a:gd name="T115" fmla="*/ 14 h 377"/>
                    <a:gd name="T116" fmla="*/ 25 w 74"/>
                    <a:gd name="T117" fmla="*/ 5 h 3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4" h="377">
                      <a:moveTo>
                        <a:pt x="25" y="5"/>
                      </a:moveTo>
                      <a:lnTo>
                        <a:pt x="43" y="0"/>
                      </a:lnTo>
                      <a:lnTo>
                        <a:pt x="56" y="0"/>
                      </a:lnTo>
                      <a:lnTo>
                        <a:pt x="68" y="3"/>
                      </a:lnTo>
                      <a:lnTo>
                        <a:pt x="72" y="16"/>
                      </a:lnTo>
                      <a:lnTo>
                        <a:pt x="72" y="27"/>
                      </a:lnTo>
                      <a:lnTo>
                        <a:pt x="65" y="40"/>
                      </a:lnTo>
                      <a:lnTo>
                        <a:pt x="60" y="40"/>
                      </a:lnTo>
                      <a:lnTo>
                        <a:pt x="68" y="56"/>
                      </a:lnTo>
                      <a:lnTo>
                        <a:pt x="73" y="80"/>
                      </a:lnTo>
                      <a:lnTo>
                        <a:pt x="73" y="102"/>
                      </a:lnTo>
                      <a:lnTo>
                        <a:pt x="72" y="129"/>
                      </a:lnTo>
                      <a:lnTo>
                        <a:pt x="68" y="156"/>
                      </a:lnTo>
                      <a:lnTo>
                        <a:pt x="59" y="158"/>
                      </a:lnTo>
                      <a:lnTo>
                        <a:pt x="59" y="165"/>
                      </a:lnTo>
                      <a:lnTo>
                        <a:pt x="54" y="169"/>
                      </a:lnTo>
                      <a:lnTo>
                        <a:pt x="54" y="197"/>
                      </a:lnTo>
                      <a:lnTo>
                        <a:pt x="50" y="202"/>
                      </a:lnTo>
                      <a:lnTo>
                        <a:pt x="50" y="253"/>
                      </a:lnTo>
                      <a:lnTo>
                        <a:pt x="50" y="285"/>
                      </a:lnTo>
                      <a:lnTo>
                        <a:pt x="56" y="320"/>
                      </a:lnTo>
                      <a:lnTo>
                        <a:pt x="59" y="366"/>
                      </a:lnTo>
                      <a:lnTo>
                        <a:pt x="51" y="370"/>
                      </a:lnTo>
                      <a:lnTo>
                        <a:pt x="51" y="376"/>
                      </a:lnTo>
                      <a:lnTo>
                        <a:pt x="40" y="376"/>
                      </a:lnTo>
                      <a:lnTo>
                        <a:pt x="37" y="373"/>
                      </a:lnTo>
                      <a:lnTo>
                        <a:pt x="32" y="373"/>
                      </a:lnTo>
                      <a:lnTo>
                        <a:pt x="32" y="376"/>
                      </a:lnTo>
                      <a:lnTo>
                        <a:pt x="23" y="376"/>
                      </a:lnTo>
                      <a:lnTo>
                        <a:pt x="5" y="373"/>
                      </a:lnTo>
                      <a:lnTo>
                        <a:pt x="5" y="370"/>
                      </a:lnTo>
                      <a:lnTo>
                        <a:pt x="21" y="363"/>
                      </a:lnTo>
                      <a:lnTo>
                        <a:pt x="21" y="356"/>
                      </a:lnTo>
                      <a:lnTo>
                        <a:pt x="6" y="353"/>
                      </a:lnTo>
                      <a:lnTo>
                        <a:pt x="6" y="349"/>
                      </a:lnTo>
                      <a:lnTo>
                        <a:pt x="17" y="342"/>
                      </a:lnTo>
                      <a:lnTo>
                        <a:pt x="17" y="290"/>
                      </a:lnTo>
                      <a:lnTo>
                        <a:pt x="13" y="243"/>
                      </a:lnTo>
                      <a:lnTo>
                        <a:pt x="14" y="196"/>
                      </a:lnTo>
                      <a:lnTo>
                        <a:pt x="14" y="169"/>
                      </a:lnTo>
                      <a:lnTo>
                        <a:pt x="13" y="161"/>
                      </a:lnTo>
                      <a:lnTo>
                        <a:pt x="13" y="124"/>
                      </a:lnTo>
                      <a:lnTo>
                        <a:pt x="0" y="116"/>
                      </a:lnTo>
                      <a:lnTo>
                        <a:pt x="0" y="112"/>
                      </a:lnTo>
                      <a:lnTo>
                        <a:pt x="28" y="61"/>
                      </a:lnTo>
                      <a:lnTo>
                        <a:pt x="41" y="54"/>
                      </a:lnTo>
                      <a:lnTo>
                        <a:pt x="40" y="51"/>
                      </a:lnTo>
                      <a:lnTo>
                        <a:pt x="30" y="49"/>
                      </a:lnTo>
                      <a:lnTo>
                        <a:pt x="30" y="46"/>
                      </a:lnTo>
                      <a:lnTo>
                        <a:pt x="28" y="44"/>
                      </a:lnTo>
                      <a:lnTo>
                        <a:pt x="28" y="40"/>
                      </a:lnTo>
                      <a:lnTo>
                        <a:pt x="25" y="39"/>
                      </a:lnTo>
                      <a:lnTo>
                        <a:pt x="28" y="37"/>
                      </a:lnTo>
                      <a:lnTo>
                        <a:pt x="26" y="35"/>
                      </a:lnTo>
                      <a:lnTo>
                        <a:pt x="30" y="27"/>
                      </a:lnTo>
                      <a:lnTo>
                        <a:pt x="28" y="22"/>
                      </a:lnTo>
                      <a:lnTo>
                        <a:pt x="30" y="18"/>
                      </a:lnTo>
                      <a:lnTo>
                        <a:pt x="26" y="14"/>
                      </a:lnTo>
                      <a:lnTo>
                        <a:pt x="25" y="5"/>
                      </a:lnTo>
                    </a:path>
                  </a:pathLst>
                </a:custGeom>
                <a:solidFill>
                  <a:srgbClr val="EAEC5E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2" name="Freeform 48"/>
                <p:cNvSpPr/>
                <p:nvPr/>
              </p:nvSpPr>
              <p:spPr bwMode="auto">
                <a:xfrm>
                  <a:off x="3565" y="1994"/>
                  <a:ext cx="103" cy="334"/>
                </a:xfrm>
                <a:custGeom>
                  <a:avLst/>
                  <a:gdLst>
                    <a:gd name="T0" fmla="*/ 61 w 101"/>
                    <a:gd name="T1" fmla="*/ 4 h 337"/>
                    <a:gd name="T2" fmla="*/ 66 w 101"/>
                    <a:gd name="T3" fmla="*/ 22 h 337"/>
                    <a:gd name="T4" fmla="*/ 63 w 101"/>
                    <a:gd name="T5" fmla="*/ 24 h 337"/>
                    <a:gd name="T6" fmla="*/ 60 w 101"/>
                    <a:gd name="T7" fmla="*/ 31 h 337"/>
                    <a:gd name="T8" fmla="*/ 55 w 101"/>
                    <a:gd name="T9" fmla="*/ 43 h 337"/>
                    <a:gd name="T10" fmla="*/ 60 w 101"/>
                    <a:gd name="T11" fmla="*/ 45 h 337"/>
                    <a:gd name="T12" fmla="*/ 82 w 101"/>
                    <a:gd name="T13" fmla="*/ 63 h 337"/>
                    <a:gd name="T14" fmla="*/ 97 w 101"/>
                    <a:gd name="T15" fmla="*/ 164 h 337"/>
                    <a:gd name="T16" fmla="*/ 100 w 101"/>
                    <a:gd name="T17" fmla="*/ 182 h 337"/>
                    <a:gd name="T18" fmla="*/ 94 w 101"/>
                    <a:gd name="T19" fmla="*/ 191 h 337"/>
                    <a:gd name="T20" fmla="*/ 89 w 101"/>
                    <a:gd name="T21" fmla="*/ 194 h 337"/>
                    <a:gd name="T22" fmla="*/ 89 w 101"/>
                    <a:gd name="T23" fmla="*/ 178 h 337"/>
                    <a:gd name="T24" fmla="*/ 89 w 101"/>
                    <a:gd name="T25" fmla="*/ 187 h 337"/>
                    <a:gd name="T26" fmla="*/ 84 w 101"/>
                    <a:gd name="T27" fmla="*/ 181 h 337"/>
                    <a:gd name="T28" fmla="*/ 81 w 101"/>
                    <a:gd name="T29" fmla="*/ 168 h 337"/>
                    <a:gd name="T30" fmla="*/ 68 w 101"/>
                    <a:gd name="T31" fmla="*/ 255 h 337"/>
                    <a:gd name="T32" fmla="*/ 61 w 101"/>
                    <a:gd name="T33" fmla="*/ 310 h 337"/>
                    <a:gd name="T34" fmla="*/ 65 w 101"/>
                    <a:gd name="T35" fmla="*/ 333 h 337"/>
                    <a:gd name="T36" fmla="*/ 48 w 101"/>
                    <a:gd name="T37" fmla="*/ 330 h 337"/>
                    <a:gd name="T38" fmla="*/ 53 w 101"/>
                    <a:gd name="T39" fmla="*/ 300 h 337"/>
                    <a:gd name="T40" fmla="*/ 46 w 101"/>
                    <a:gd name="T41" fmla="*/ 258 h 337"/>
                    <a:gd name="T42" fmla="*/ 45 w 101"/>
                    <a:gd name="T43" fmla="*/ 298 h 337"/>
                    <a:gd name="T44" fmla="*/ 42 w 101"/>
                    <a:gd name="T45" fmla="*/ 327 h 337"/>
                    <a:gd name="T46" fmla="*/ 29 w 101"/>
                    <a:gd name="T47" fmla="*/ 328 h 337"/>
                    <a:gd name="T48" fmla="*/ 24 w 101"/>
                    <a:gd name="T49" fmla="*/ 255 h 337"/>
                    <a:gd name="T50" fmla="*/ 18 w 101"/>
                    <a:gd name="T51" fmla="*/ 249 h 337"/>
                    <a:gd name="T52" fmla="*/ 3 w 101"/>
                    <a:gd name="T53" fmla="*/ 255 h 337"/>
                    <a:gd name="T54" fmla="*/ 11 w 101"/>
                    <a:gd name="T55" fmla="*/ 171 h 337"/>
                    <a:gd name="T56" fmla="*/ 9 w 101"/>
                    <a:gd name="T57" fmla="*/ 154 h 337"/>
                    <a:gd name="T58" fmla="*/ 11 w 101"/>
                    <a:gd name="T59" fmla="*/ 112 h 337"/>
                    <a:gd name="T60" fmla="*/ 33 w 101"/>
                    <a:gd name="T61" fmla="*/ 56 h 337"/>
                    <a:gd name="T62" fmla="*/ 33 w 101"/>
                    <a:gd name="T63" fmla="*/ 36 h 337"/>
                    <a:gd name="T64" fmla="*/ 29 w 101"/>
                    <a:gd name="T65" fmla="*/ 32 h 337"/>
                    <a:gd name="T66" fmla="*/ 24 w 101"/>
                    <a:gd name="T67" fmla="*/ 27 h 337"/>
                    <a:gd name="T68" fmla="*/ 27 w 101"/>
                    <a:gd name="T69" fmla="*/ 4 h 337"/>
                    <a:gd name="T70" fmla="*/ 40 w 101"/>
                    <a:gd name="T71" fmla="*/ 1 h 337"/>
                    <a:gd name="T72" fmla="*/ 50 w 101"/>
                    <a:gd name="T73" fmla="*/ 2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01" h="337">
                      <a:moveTo>
                        <a:pt x="50" y="2"/>
                      </a:moveTo>
                      <a:lnTo>
                        <a:pt x="61" y="4"/>
                      </a:lnTo>
                      <a:lnTo>
                        <a:pt x="66" y="17"/>
                      </a:lnTo>
                      <a:lnTo>
                        <a:pt x="66" y="22"/>
                      </a:lnTo>
                      <a:lnTo>
                        <a:pt x="61" y="22"/>
                      </a:lnTo>
                      <a:lnTo>
                        <a:pt x="63" y="24"/>
                      </a:lnTo>
                      <a:lnTo>
                        <a:pt x="61" y="25"/>
                      </a:lnTo>
                      <a:lnTo>
                        <a:pt x="60" y="31"/>
                      </a:lnTo>
                      <a:lnTo>
                        <a:pt x="58" y="32"/>
                      </a:lnTo>
                      <a:lnTo>
                        <a:pt x="55" y="43"/>
                      </a:lnTo>
                      <a:lnTo>
                        <a:pt x="55" y="45"/>
                      </a:lnTo>
                      <a:lnTo>
                        <a:pt x="60" y="45"/>
                      </a:lnTo>
                      <a:lnTo>
                        <a:pt x="68" y="58"/>
                      </a:lnTo>
                      <a:lnTo>
                        <a:pt x="82" y="63"/>
                      </a:lnTo>
                      <a:lnTo>
                        <a:pt x="89" y="72"/>
                      </a:lnTo>
                      <a:lnTo>
                        <a:pt x="97" y="164"/>
                      </a:lnTo>
                      <a:lnTo>
                        <a:pt x="94" y="166"/>
                      </a:lnTo>
                      <a:lnTo>
                        <a:pt x="100" y="182"/>
                      </a:lnTo>
                      <a:lnTo>
                        <a:pt x="97" y="191"/>
                      </a:lnTo>
                      <a:lnTo>
                        <a:pt x="94" y="191"/>
                      </a:lnTo>
                      <a:lnTo>
                        <a:pt x="93" y="194"/>
                      </a:lnTo>
                      <a:lnTo>
                        <a:pt x="89" y="194"/>
                      </a:lnTo>
                      <a:lnTo>
                        <a:pt x="91" y="184"/>
                      </a:lnTo>
                      <a:lnTo>
                        <a:pt x="89" y="178"/>
                      </a:lnTo>
                      <a:lnTo>
                        <a:pt x="88" y="183"/>
                      </a:lnTo>
                      <a:lnTo>
                        <a:pt x="89" y="187"/>
                      </a:lnTo>
                      <a:lnTo>
                        <a:pt x="87" y="189"/>
                      </a:lnTo>
                      <a:lnTo>
                        <a:pt x="84" y="181"/>
                      </a:lnTo>
                      <a:lnTo>
                        <a:pt x="86" y="167"/>
                      </a:lnTo>
                      <a:lnTo>
                        <a:pt x="81" y="168"/>
                      </a:lnTo>
                      <a:lnTo>
                        <a:pt x="84" y="251"/>
                      </a:lnTo>
                      <a:lnTo>
                        <a:pt x="68" y="255"/>
                      </a:lnTo>
                      <a:lnTo>
                        <a:pt x="60" y="305"/>
                      </a:lnTo>
                      <a:lnTo>
                        <a:pt x="61" y="310"/>
                      </a:lnTo>
                      <a:lnTo>
                        <a:pt x="65" y="330"/>
                      </a:lnTo>
                      <a:lnTo>
                        <a:pt x="65" y="333"/>
                      </a:lnTo>
                      <a:lnTo>
                        <a:pt x="53" y="336"/>
                      </a:lnTo>
                      <a:lnTo>
                        <a:pt x="48" y="330"/>
                      </a:lnTo>
                      <a:lnTo>
                        <a:pt x="51" y="313"/>
                      </a:lnTo>
                      <a:lnTo>
                        <a:pt x="53" y="300"/>
                      </a:lnTo>
                      <a:lnTo>
                        <a:pt x="48" y="258"/>
                      </a:lnTo>
                      <a:lnTo>
                        <a:pt x="46" y="258"/>
                      </a:lnTo>
                      <a:lnTo>
                        <a:pt x="42" y="273"/>
                      </a:lnTo>
                      <a:lnTo>
                        <a:pt x="45" y="298"/>
                      </a:lnTo>
                      <a:lnTo>
                        <a:pt x="48" y="301"/>
                      </a:lnTo>
                      <a:lnTo>
                        <a:pt x="42" y="327"/>
                      </a:lnTo>
                      <a:lnTo>
                        <a:pt x="31" y="330"/>
                      </a:lnTo>
                      <a:lnTo>
                        <a:pt x="29" y="328"/>
                      </a:lnTo>
                      <a:lnTo>
                        <a:pt x="37" y="302"/>
                      </a:lnTo>
                      <a:lnTo>
                        <a:pt x="24" y="255"/>
                      </a:lnTo>
                      <a:lnTo>
                        <a:pt x="18" y="252"/>
                      </a:lnTo>
                      <a:lnTo>
                        <a:pt x="18" y="249"/>
                      </a:lnTo>
                      <a:lnTo>
                        <a:pt x="6" y="250"/>
                      </a:lnTo>
                      <a:lnTo>
                        <a:pt x="3" y="255"/>
                      </a:lnTo>
                      <a:lnTo>
                        <a:pt x="0" y="252"/>
                      </a:lnTo>
                      <a:lnTo>
                        <a:pt x="11" y="171"/>
                      </a:lnTo>
                      <a:lnTo>
                        <a:pt x="9" y="171"/>
                      </a:lnTo>
                      <a:lnTo>
                        <a:pt x="9" y="154"/>
                      </a:lnTo>
                      <a:lnTo>
                        <a:pt x="8" y="152"/>
                      </a:lnTo>
                      <a:lnTo>
                        <a:pt x="11" y="112"/>
                      </a:lnTo>
                      <a:lnTo>
                        <a:pt x="15" y="65"/>
                      </a:lnTo>
                      <a:lnTo>
                        <a:pt x="33" y="56"/>
                      </a:lnTo>
                      <a:lnTo>
                        <a:pt x="39" y="45"/>
                      </a:lnTo>
                      <a:lnTo>
                        <a:pt x="33" y="36"/>
                      </a:lnTo>
                      <a:lnTo>
                        <a:pt x="31" y="37"/>
                      </a:lnTo>
                      <a:lnTo>
                        <a:pt x="29" y="32"/>
                      </a:lnTo>
                      <a:lnTo>
                        <a:pt x="29" y="27"/>
                      </a:lnTo>
                      <a:lnTo>
                        <a:pt x="24" y="27"/>
                      </a:lnTo>
                      <a:lnTo>
                        <a:pt x="23" y="14"/>
                      </a:lnTo>
                      <a:lnTo>
                        <a:pt x="27" y="4"/>
                      </a:lnTo>
                      <a:lnTo>
                        <a:pt x="32" y="1"/>
                      </a:lnTo>
                      <a:lnTo>
                        <a:pt x="40" y="1"/>
                      </a:lnTo>
                      <a:lnTo>
                        <a:pt x="44" y="0"/>
                      </a:lnTo>
                      <a:lnTo>
                        <a:pt x="50" y="2"/>
                      </a:lnTo>
                    </a:path>
                  </a:pathLst>
                </a:custGeom>
                <a:solidFill>
                  <a:srgbClr val="EAEC5E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3" name="Freeform 49"/>
                <p:cNvSpPr/>
                <p:nvPr/>
              </p:nvSpPr>
              <p:spPr bwMode="auto">
                <a:xfrm>
                  <a:off x="3019" y="2023"/>
                  <a:ext cx="66" cy="237"/>
                </a:xfrm>
                <a:custGeom>
                  <a:avLst/>
                  <a:gdLst>
                    <a:gd name="T0" fmla="*/ 25 w 65"/>
                    <a:gd name="T1" fmla="*/ 3 h 237"/>
                    <a:gd name="T2" fmla="*/ 21 w 65"/>
                    <a:gd name="T3" fmla="*/ 15 h 237"/>
                    <a:gd name="T4" fmla="*/ 24 w 65"/>
                    <a:gd name="T5" fmla="*/ 17 h 237"/>
                    <a:gd name="T6" fmla="*/ 26 w 65"/>
                    <a:gd name="T7" fmla="*/ 22 h 237"/>
                    <a:gd name="T8" fmla="*/ 29 w 65"/>
                    <a:gd name="T9" fmla="*/ 30 h 237"/>
                    <a:gd name="T10" fmla="*/ 26 w 65"/>
                    <a:gd name="T11" fmla="*/ 32 h 237"/>
                    <a:gd name="T12" fmla="*/ 12 w 65"/>
                    <a:gd name="T13" fmla="*/ 44 h 237"/>
                    <a:gd name="T14" fmla="*/ 2 w 65"/>
                    <a:gd name="T15" fmla="*/ 116 h 237"/>
                    <a:gd name="T16" fmla="*/ 0 w 65"/>
                    <a:gd name="T17" fmla="*/ 128 h 237"/>
                    <a:gd name="T18" fmla="*/ 4 w 65"/>
                    <a:gd name="T19" fmla="*/ 135 h 237"/>
                    <a:gd name="T20" fmla="*/ 7 w 65"/>
                    <a:gd name="T21" fmla="*/ 136 h 237"/>
                    <a:gd name="T22" fmla="*/ 7 w 65"/>
                    <a:gd name="T23" fmla="*/ 126 h 237"/>
                    <a:gd name="T24" fmla="*/ 7 w 65"/>
                    <a:gd name="T25" fmla="*/ 131 h 237"/>
                    <a:gd name="T26" fmla="*/ 10 w 65"/>
                    <a:gd name="T27" fmla="*/ 128 h 237"/>
                    <a:gd name="T28" fmla="*/ 12 w 65"/>
                    <a:gd name="T29" fmla="*/ 118 h 237"/>
                    <a:gd name="T30" fmla="*/ 21 w 65"/>
                    <a:gd name="T31" fmla="*/ 180 h 237"/>
                    <a:gd name="T32" fmla="*/ 25 w 65"/>
                    <a:gd name="T33" fmla="*/ 218 h 237"/>
                    <a:gd name="T34" fmla="*/ 23 w 65"/>
                    <a:gd name="T35" fmla="*/ 234 h 237"/>
                    <a:gd name="T36" fmla="*/ 33 w 65"/>
                    <a:gd name="T37" fmla="*/ 232 h 237"/>
                    <a:gd name="T38" fmla="*/ 30 w 65"/>
                    <a:gd name="T39" fmla="*/ 211 h 237"/>
                    <a:gd name="T40" fmla="*/ 34 w 65"/>
                    <a:gd name="T41" fmla="*/ 182 h 237"/>
                    <a:gd name="T42" fmla="*/ 36 w 65"/>
                    <a:gd name="T43" fmla="*/ 209 h 237"/>
                    <a:gd name="T44" fmla="*/ 37 w 65"/>
                    <a:gd name="T45" fmla="*/ 229 h 237"/>
                    <a:gd name="T46" fmla="*/ 45 w 65"/>
                    <a:gd name="T47" fmla="*/ 230 h 237"/>
                    <a:gd name="T48" fmla="*/ 49 w 65"/>
                    <a:gd name="T49" fmla="*/ 180 h 237"/>
                    <a:gd name="T50" fmla="*/ 52 w 65"/>
                    <a:gd name="T51" fmla="*/ 175 h 237"/>
                    <a:gd name="T52" fmla="*/ 62 w 65"/>
                    <a:gd name="T53" fmla="*/ 180 h 237"/>
                    <a:gd name="T54" fmla="*/ 57 w 65"/>
                    <a:gd name="T55" fmla="*/ 120 h 237"/>
                    <a:gd name="T56" fmla="*/ 58 w 65"/>
                    <a:gd name="T57" fmla="*/ 108 h 237"/>
                    <a:gd name="T58" fmla="*/ 57 w 65"/>
                    <a:gd name="T59" fmla="*/ 79 h 237"/>
                    <a:gd name="T60" fmla="*/ 43 w 65"/>
                    <a:gd name="T61" fmla="*/ 39 h 237"/>
                    <a:gd name="T62" fmla="*/ 43 w 65"/>
                    <a:gd name="T63" fmla="*/ 26 h 237"/>
                    <a:gd name="T64" fmla="*/ 45 w 65"/>
                    <a:gd name="T65" fmla="*/ 23 h 237"/>
                    <a:gd name="T66" fmla="*/ 49 w 65"/>
                    <a:gd name="T67" fmla="*/ 19 h 237"/>
                    <a:gd name="T68" fmla="*/ 46 w 65"/>
                    <a:gd name="T69" fmla="*/ 3 h 237"/>
                    <a:gd name="T70" fmla="*/ 39 w 65"/>
                    <a:gd name="T71" fmla="*/ 1 h 237"/>
                    <a:gd name="T72" fmla="*/ 32 w 65"/>
                    <a:gd name="T73" fmla="*/ 1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65" h="237">
                      <a:moveTo>
                        <a:pt x="32" y="1"/>
                      </a:moveTo>
                      <a:lnTo>
                        <a:pt x="25" y="3"/>
                      </a:lnTo>
                      <a:lnTo>
                        <a:pt x="21" y="12"/>
                      </a:lnTo>
                      <a:lnTo>
                        <a:pt x="21" y="15"/>
                      </a:lnTo>
                      <a:lnTo>
                        <a:pt x="25" y="15"/>
                      </a:lnTo>
                      <a:lnTo>
                        <a:pt x="24" y="17"/>
                      </a:lnTo>
                      <a:lnTo>
                        <a:pt x="25" y="18"/>
                      </a:lnTo>
                      <a:lnTo>
                        <a:pt x="26" y="22"/>
                      </a:lnTo>
                      <a:lnTo>
                        <a:pt x="27" y="23"/>
                      </a:lnTo>
                      <a:lnTo>
                        <a:pt x="29" y="30"/>
                      </a:lnTo>
                      <a:lnTo>
                        <a:pt x="29" y="32"/>
                      </a:lnTo>
                      <a:lnTo>
                        <a:pt x="26" y="32"/>
                      </a:lnTo>
                      <a:lnTo>
                        <a:pt x="21" y="41"/>
                      </a:lnTo>
                      <a:lnTo>
                        <a:pt x="12" y="44"/>
                      </a:lnTo>
                      <a:lnTo>
                        <a:pt x="7" y="51"/>
                      </a:lnTo>
                      <a:lnTo>
                        <a:pt x="2" y="116"/>
                      </a:lnTo>
                      <a:lnTo>
                        <a:pt x="4" y="116"/>
                      </a:lnTo>
                      <a:lnTo>
                        <a:pt x="0" y="128"/>
                      </a:lnTo>
                      <a:lnTo>
                        <a:pt x="2" y="135"/>
                      </a:lnTo>
                      <a:lnTo>
                        <a:pt x="4" y="135"/>
                      </a:lnTo>
                      <a:lnTo>
                        <a:pt x="5" y="136"/>
                      </a:lnTo>
                      <a:lnTo>
                        <a:pt x="7" y="136"/>
                      </a:lnTo>
                      <a:lnTo>
                        <a:pt x="5" y="130"/>
                      </a:lnTo>
                      <a:lnTo>
                        <a:pt x="7" y="126"/>
                      </a:lnTo>
                      <a:lnTo>
                        <a:pt x="7" y="129"/>
                      </a:lnTo>
                      <a:lnTo>
                        <a:pt x="7" y="131"/>
                      </a:lnTo>
                      <a:lnTo>
                        <a:pt x="8" y="133"/>
                      </a:lnTo>
                      <a:lnTo>
                        <a:pt x="10" y="128"/>
                      </a:lnTo>
                      <a:lnTo>
                        <a:pt x="9" y="118"/>
                      </a:lnTo>
                      <a:lnTo>
                        <a:pt x="12" y="118"/>
                      </a:lnTo>
                      <a:lnTo>
                        <a:pt x="10" y="176"/>
                      </a:lnTo>
                      <a:lnTo>
                        <a:pt x="21" y="180"/>
                      </a:lnTo>
                      <a:lnTo>
                        <a:pt x="26" y="214"/>
                      </a:lnTo>
                      <a:lnTo>
                        <a:pt x="25" y="218"/>
                      </a:lnTo>
                      <a:lnTo>
                        <a:pt x="23" y="231"/>
                      </a:lnTo>
                      <a:lnTo>
                        <a:pt x="23" y="234"/>
                      </a:lnTo>
                      <a:lnTo>
                        <a:pt x="30" y="236"/>
                      </a:lnTo>
                      <a:lnTo>
                        <a:pt x="33" y="232"/>
                      </a:lnTo>
                      <a:lnTo>
                        <a:pt x="31" y="220"/>
                      </a:lnTo>
                      <a:lnTo>
                        <a:pt x="30" y="211"/>
                      </a:lnTo>
                      <a:lnTo>
                        <a:pt x="34" y="181"/>
                      </a:lnTo>
                      <a:lnTo>
                        <a:pt x="34" y="182"/>
                      </a:lnTo>
                      <a:lnTo>
                        <a:pt x="37" y="192"/>
                      </a:lnTo>
                      <a:lnTo>
                        <a:pt x="36" y="209"/>
                      </a:lnTo>
                      <a:lnTo>
                        <a:pt x="33" y="212"/>
                      </a:lnTo>
                      <a:lnTo>
                        <a:pt x="37" y="229"/>
                      </a:lnTo>
                      <a:lnTo>
                        <a:pt x="44" y="231"/>
                      </a:lnTo>
                      <a:lnTo>
                        <a:pt x="45" y="230"/>
                      </a:lnTo>
                      <a:lnTo>
                        <a:pt x="40" y="212"/>
                      </a:lnTo>
                      <a:lnTo>
                        <a:pt x="49" y="180"/>
                      </a:lnTo>
                      <a:lnTo>
                        <a:pt x="52" y="178"/>
                      </a:lnTo>
                      <a:lnTo>
                        <a:pt x="52" y="175"/>
                      </a:lnTo>
                      <a:lnTo>
                        <a:pt x="60" y="176"/>
                      </a:lnTo>
                      <a:lnTo>
                        <a:pt x="62" y="180"/>
                      </a:lnTo>
                      <a:lnTo>
                        <a:pt x="64" y="178"/>
                      </a:lnTo>
                      <a:lnTo>
                        <a:pt x="57" y="120"/>
                      </a:lnTo>
                      <a:lnTo>
                        <a:pt x="58" y="121"/>
                      </a:lnTo>
                      <a:lnTo>
                        <a:pt x="58" y="108"/>
                      </a:lnTo>
                      <a:lnTo>
                        <a:pt x="59" y="107"/>
                      </a:lnTo>
                      <a:lnTo>
                        <a:pt x="57" y="79"/>
                      </a:lnTo>
                      <a:lnTo>
                        <a:pt x="55" y="45"/>
                      </a:lnTo>
                      <a:lnTo>
                        <a:pt x="43" y="39"/>
                      </a:lnTo>
                      <a:lnTo>
                        <a:pt x="39" y="32"/>
                      </a:lnTo>
                      <a:lnTo>
                        <a:pt x="43" y="26"/>
                      </a:lnTo>
                      <a:lnTo>
                        <a:pt x="44" y="26"/>
                      </a:lnTo>
                      <a:lnTo>
                        <a:pt x="45" y="23"/>
                      </a:lnTo>
                      <a:lnTo>
                        <a:pt x="45" y="19"/>
                      </a:lnTo>
                      <a:lnTo>
                        <a:pt x="49" y="19"/>
                      </a:lnTo>
                      <a:lnTo>
                        <a:pt x="50" y="10"/>
                      </a:lnTo>
                      <a:lnTo>
                        <a:pt x="46" y="3"/>
                      </a:lnTo>
                      <a:lnTo>
                        <a:pt x="44" y="1"/>
                      </a:lnTo>
                      <a:lnTo>
                        <a:pt x="39" y="1"/>
                      </a:lnTo>
                      <a:lnTo>
                        <a:pt x="36" y="0"/>
                      </a:lnTo>
                      <a:lnTo>
                        <a:pt x="32" y="1"/>
                      </a:lnTo>
                    </a:path>
                  </a:pathLst>
                </a:custGeom>
                <a:solidFill>
                  <a:srgbClr val="EAEC5E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33809" name="Group 50"/>
              <p:cNvGrpSpPr/>
              <p:nvPr/>
            </p:nvGrpSpPr>
            <p:grpSpPr bwMode="auto">
              <a:xfrm>
                <a:off x="2430" y="2042"/>
                <a:ext cx="2415" cy="1059"/>
                <a:chOff x="2430" y="2042"/>
                <a:chExt cx="2415" cy="1059"/>
              </a:xfrm>
            </p:grpSpPr>
            <p:sp>
              <p:nvSpPr>
                <p:cNvPr id="36915" name="Freeform 51"/>
                <p:cNvSpPr/>
                <p:nvPr/>
              </p:nvSpPr>
              <p:spPr bwMode="auto">
                <a:xfrm>
                  <a:off x="4331" y="2125"/>
                  <a:ext cx="208" cy="729"/>
                </a:xfrm>
                <a:custGeom>
                  <a:avLst/>
                  <a:gdLst>
                    <a:gd name="T0" fmla="*/ 81 w 210"/>
                    <a:gd name="T1" fmla="*/ 10 h 730"/>
                    <a:gd name="T2" fmla="*/ 70 w 210"/>
                    <a:gd name="T3" fmla="*/ 50 h 730"/>
                    <a:gd name="T4" fmla="*/ 77 w 210"/>
                    <a:gd name="T5" fmla="*/ 54 h 730"/>
                    <a:gd name="T6" fmla="*/ 84 w 210"/>
                    <a:gd name="T7" fmla="*/ 70 h 730"/>
                    <a:gd name="T8" fmla="*/ 94 w 210"/>
                    <a:gd name="T9" fmla="*/ 95 h 730"/>
                    <a:gd name="T10" fmla="*/ 84 w 210"/>
                    <a:gd name="T11" fmla="*/ 100 h 730"/>
                    <a:gd name="T12" fmla="*/ 37 w 210"/>
                    <a:gd name="T13" fmla="*/ 137 h 730"/>
                    <a:gd name="T14" fmla="*/ 7 w 210"/>
                    <a:gd name="T15" fmla="*/ 359 h 730"/>
                    <a:gd name="T16" fmla="*/ 0 w 210"/>
                    <a:gd name="T17" fmla="*/ 397 h 730"/>
                    <a:gd name="T18" fmla="*/ 13 w 210"/>
                    <a:gd name="T19" fmla="*/ 418 h 730"/>
                    <a:gd name="T20" fmla="*/ 22 w 210"/>
                    <a:gd name="T21" fmla="*/ 423 h 730"/>
                    <a:gd name="T22" fmla="*/ 22 w 210"/>
                    <a:gd name="T23" fmla="*/ 390 h 730"/>
                    <a:gd name="T24" fmla="*/ 22 w 210"/>
                    <a:gd name="T25" fmla="*/ 406 h 730"/>
                    <a:gd name="T26" fmla="*/ 33 w 210"/>
                    <a:gd name="T27" fmla="*/ 394 h 730"/>
                    <a:gd name="T28" fmla="*/ 40 w 210"/>
                    <a:gd name="T29" fmla="*/ 366 h 730"/>
                    <a:gd name="T30" fmla="*/ 68 w 210"/>
                    <a:gd name="T31" fmla="*/ 557 h 730"/>
                    <a:gd name="T32" fmla="*/ 81 w 210"/>
                    <a:gd name="T33" fmla="*/ 673 h 730"/>
                    <a:gd name="T34" fmla="*/ 74 w 210"/>
                    <a:gd name="T35" fmla="*/ 724 h 730"/>
                    <a:gd name="T36" fmla="*/ 108 w 210"/>
                    <a:gd name="T37" fmla="*/ 717 h 730"/>
                    <a:gd name="T38" fmla="*/ 98 w 210"/>
                    <a:gd name="T39" fmla="*/ 651 h 730"/>
                    <a:gd name="T40" fmla="*/ 111 w 210"/>
                    <a:gd name="T41" fmla="*/ 562 h 730"/>
                    <a:gd name="T42" fmla="*/ 115 w 210"/>
                    <a:gd name="T43" fmla="*/ 648 h 730"/>
                    <a:gd name="T44" fmla="*/ 121 w 210"/>
                    <a:gd name="T45" fmla="*/ 710 h 730"/>
                    <a:gd name="T46" fmla="*/ 149 w 210"/>
                    <a:gd name="T47" fmla="*/ 713 h 730"/>
                    <a:gd name="T48" fmla="*/ 159 w 210"/>
                    <a:gd name="T49" fmla="*/ 557 h 730"/>
                    <a:gd name="T50" fmla="*/ 171 w 210"/>
                    <a:gd name="T51" fmla="*/ 542 h 730"/>
                    <a:gd name="T52" fmla="*/ 203 w 210"/>
                    <a:gd name="T53" fmla="*/ 557 h 730"/>
                    <a:gd name="T54" fmla="*/ 186 w 210"/>
                    <a:gd name="T55" fmla="*/ 373 h 730"/>
                    <a:gd name="T56" fmla="*/ 189 w 210"/>
                    <a:gd name="T57" fmla="*/ 337 h 730"/>
                    <a:gd name="T58" fmla="*/ 186 w 210"/>
                    <a:gd name="T59" fmla="*/ 246 h 730"/>
                    <a:gd name="T60" fmla="*/ 139 w 210"/>
                    <a:gd name="T61" fmla="*/ 123 h 730"/>
                    <a:gd name="T62" fmla="*/ 139 w 210"/>
                    <a:gd name="T63" fmla="*/ 79 h 730"/>
                    <a:gd name="T64" fmla="*/ 149 w 210"/>
                    <a:gd name="T65" fmla="*/ 72 h 730"/>
                    <a:gd name="T66" fmla="*/ 159 w 210"/>
                    <a:gd name="T67" fmla="*/ 59 h 730"/>
                    <a:gd name="T68" fmla="*/ 152 w 210"/>
                    <a:gd name="T69" fmla="*/ 10 h 730"/>
                    <a:gd name="T70" fmla="*/ 126 w 210"/>
                    <a:gd name="T71" fmla="*/ 3 h 730"/>
                    <a:gd name="T72" fmla="*/ 106 w 210"/>
                    <a:gd name="T73" fmla="*/ 5 h 7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10" h="730">
                      <a:moveTo>
                        <a:pt x="106" y="5"/>
                      </a:moveTo>
                      <a:lnTo>
                        <a:pt x="81" y="10"/>
                      </a:lnTo>
                      <a:lnTo>
                        <a:pt x="70" y="38"/>
                      </a:lnTo>
                      <a:lnTo>
                        <a:pt x="70" y="50"/>
                      </a:lnTo>
                      <a:lnTo>
                        <a:pt x="81" y="50"/>
                      </a:lnTo>
                      <a:lnTo>
                        <a:pt x="77" y="54"/>
                      </a:lnTo>
                      <a:lnTo>
                        <a:pt x="81" y="57"/>
                      </a:lnTo>
                      <a:lnTo>
                        <a:pt x="84" y="70"/>
                      </a:lnTo>
                      <a:lnTo>
                        <a:pt x="88" y="71"/>
                      </a:lnTo>
                      <a:lnTo>
                        <a:pt x="94" y="95"/>
                      </a:lnTo>
                      <a:lnTo>
                        <a:pt x="94" y="100"/>
                      </a:lnTo>
                      <a:lnTo>
                        <a:pt x="84" y="100"/>
                      </a:lnTo>
                      <a:lnTo>
                        <a:pt x="67" y="127"/>
                      </a:lnTo>
                      <a:lnTo>
                        <a:pt x="37" y="137"/>
                      </a:lnTo>
                      <a:lnTo>
                        <a:pt x="22" y="159"/>
                      </a:lnTo>
                      <a:lnTo>
                        <a:pt x="7" y="359"/>
                      </a:lnTo>
                      <a:lnTo>
                        <a:pt x="13" y="361"/>
                      </a:lnTo>
                      <a:lnTo>
                        <a:pt x="0" y="397"/>
                      </a:lnTo>
                      <a:lnTo>
                        <a:pt x="7" y="418"/>
                      </a:lnTo>
                      <a:lnTo>
                        <a:pt x="13" y="418"/>
                      </a:lnTo>
                      <a:lnTo>
                        <a:pt x="16" y="423"/>
                      </a:lnTo>
                      <a:lnTo>
                        <a:pt x="22" y="423"/>
                      </a:lnTo>
                      <a:lnTo>
                        <a:pt x="19" y="402"/>
                      </a:lnTo>
                      <a:lnTo>
                        <a:pt x="22" y="390"/>
                      </a:lnTo>
                      <a:lnTo>
                        <a:pt x="26" y="399"/>
                      </a:lnTo>
                      <a:lnTo>
                        <a:pt x="22" y="406"/>
                      </a:lnTo>
                      <a:lnTo>
                        <a:pt x="26" y="410"/>
                      </a:lnTo>
                      <a:lnTo>
                        <a:pt x="33" y="394"/>
                      </a:lnTo>
                      <a:lnTo>
                        <a:pt x="29" y="365"/>
                      </a:lnTo>
                      <a:lnTo>
                        <a:pt x="40" y="366"/>
                      </a:lnTo>
                      <a:lnTo>
                        <a:pt x="33" y="547"/>
                      </a:lnTo>
                      <a:lnTo>
                        <a:pt x="68" y="557"/>
                      </a:lnTo>
                      <a:lnTo>
                        <a:pt x="84" y="662"/>
                      </a:lnTo>
                      <a:lnTo>
                        <a:pt x="81" y="673"/>
                      </a:lnTo>
                      <a:lnTo>
                        <a:pt x="74" y="716"/>
                      </a:lnTo>
                      <a:lnTo>
                        <a:pt x="74" y="724"/>
                      </a:lnTo>
                      <a:lnTo>
                        <a:pt x="98" y="729"/>
                      </a:lnTo>
                      <a:lnTo>
                        <a:pt x="108" y="717"/>
                      </a:lnTo>
                      <a:lnTo>
                        <a:pt x="102" y="678"/>
                      </a:lnTo>
                      <a:lnTo>
                        <a:pt x="98" y="651"/>
                      </a:lnTo>
                      <a:lnTo>
                        <a:pt x="108" y="562"/>
                      </a:lnTo>
                      <a:lnTo>
                        <a:pt x="111" y="562"/>
                      </a:lnTo>
                      <a:lnTo>
                        <a:pt x="121" y="594"/>
                      </a:lnTo>
                      <a:lnTo>
                        <a:pt x="115" y="648"/>
                      </a:lnTo>
                      <a:lnTo>
                        <a:pt x="108" y="654"/>
                      </a:lnTo>
                      <a:lnTo>
                        <a:pt x="121" y="710"/>
                      </a:lnTo>
                      <a:lnTo>
                        <a:pt x="145" y="717"/>
                      </a:lnTo>
                      <a:lnTo>
                        <a:pt x="149" y="713"/>
                      </a:lnTo>
                      <a:lnTo>
                        <a:pt x="132" y="654"/>
                      </a:lnTo>
                      <a:lnTo>
                        <a:pt x="159" y="557"/>
                      </a:lnTo>
                      <a:lnTo>
                        <a:pt x="171" y="549"/>
                      </a:lnTo>
                      <a:lnTo>
                        <a:pt x="171" y="542"/>
                      </a:lnTo>
                      <a:lnTo>
                        <a:pt x="196" y="543"/>
                      </a:lnTo>
                      <a:lnTo>
                        <a:pt x="203" y="557"/>
                      </a:lnTo>
                      <a:lnTo>
                        <a:pt x="209" y="549"/>
                      </a:lnTo>
                      <a:lnTo>
                        <a:pt x="186" y="373"/>
                      </a:lnTo>
                      <a:lnTo>
                        <a:pt x="189" y="373"/>
                      </a:lnTo>
                      <a:lnTo>
                        <a:pt x="189" y="337"/>
                      </a:lnTo>
                      <a:lnTo>
                        <a:pt x="193" y="332"/>
                      </a:lnTo>
                      <a:lnTo>
                        <a:pt x="186" y="246"/>
                      </a:lnTo>
                      <a:lnTo>
                        <a:pt x="178" y="142"/>
                      </a:lnTo>
                      <a:lnTo>
                        <a:pt x="139" y="123"/>
                      </a:lnTo>
                      <a:lnTo>
                        <a:pt x="127" y="100"/>
                      </a:lnTo>
                      <a:lnTo>
                        <a:pt x="139" y="79"/>
                      </a:lnTo>
                      <a:lnTo>
                        <a:pt x="145" y="82"/>
                      </a:lnTo>
                      <a:lnTo>
                        <a:pt x="149" y="72"/>
                      </a:lnTo>
                      <a:lnTo>
                        <a:pt x="149" y="61"/>
                      </a:lnTo>
                      <a:lnTo>
                        <a:pt x="159" y="59"/>
                      </a:lnTo>
                      <a:lnTo>
                        <a:pt x="162" y="31"/>
                      </a:lnTo>
                      <a:lnTo>
                        <a:pt x="152" y="10"/>
                      </a:lnTo>
                      <a:lnTo>
                        <a:pt x="142" y="3"/>
                      </a:lnTo>
                      <a:lnTo>
                        <a:pt x="126" y="3"/>
                      </a:lnTo>
                      <a:lnTo>
                        <a:pt x="116" y="0"/>
                      </a:lnTo>
                      <a:lnTo>
                        <a:pt x="106" y="5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6" name="Freeform 52"/>
                <p:cNvSpPr/>
                <p:nvPr/>
              </p:nvSpPr>
              <p:spPr bwMode="auto">
                <a:xfrm>
                  <a:off x="3770" y="2170"/>
                  <a:ext cx="211" cy="722"/>
                </a:xfrm>
                <a:custGeom>
                  <a:avLst/>
                  <a:gdLst>
                    <a:gd name="T0" fmla="*/ 133 w 211"/>
                    <a:gd name="T1" fmla="*/ 0 h 724"/>
                    <a:gd name="T2" fmla="*/ 87 w 211"/>
                    <a:gd name="T3" fmla="*/ 23 h 724"/>
                    <a:gd name="T4" fmla="*/ 86 w 211"/>
                    <a:gd name="T5" fmla="*/ 71 h 724"/>
                    <a:gd name="T6" fmla="*/ 63 w 211"/>
                    <a:gd name="T7" fmla="*/ 94 h 724"/>
                    <a:gd name="T8" fmla="*/ 15 w 211"/>
                    <a:gd name="T9" fmla="*/ 121 h 724"/>
                    <a:gd name="T10" fmla="*/ 7 w 211"/>
                    <a:gd name="T11" fmla="*/ 260 h 724"/>
                    <a:gd name="T12" fmla="*/ 39 w 211"/>
                    <a:gd name="T13" fmla="*/ 380 h 724"/>
                    <a:gd name="T14" fmla="*/ 73 w 211"/>
                    <a:gd name="T15" fmla="*/ 471 h 724"/>
                    <a:gd name="T16" fmla="*/ 66 w 211"/>
                    <a:gd name="T17" fmla="*/ 687 h 724"/>
                    <a:gd name="T18" fmla="*/ 72 w 211"/>
                    <a:gd name="T19" fmla="*/ 696 h 724"/>
                    <a:gd name="T20" fmla="*/ 105 w 211"/>
                    <a:gd name="T21" fmla="*/ 719 h 724"/>
                    <a:gd name="T22" fmla="*/ 123 w 211"/>
                    <a:gd name="T23" fmla="*/ 723 h 724"/>
                    <a:gd name="T24" fmla="*/ 135 w 211"/>
                    <a:gd name="T25" fmla="*/ 717 h 724"/>
                    <a:gd name="T26" fmla="*/ 128 w 211"/>
                    <a:gd name="T27" fmla="*/ 705 h 724"/>
                    <a:gd name="T28" fmla="*/ 112 w 211"/>
                    <a:gd name="T29" fmla="*/ 687 h 724"/>
                    <a:gd name="T30" fmla="*/ 119 w 211"/>
                    <a:gd name="T31" fmla="*/ 680 h 724"/>
                    <a:gd name="T32" fmla="*/ 161 w 211"/>
                    <a:gd name="T33" fmla="*/ 694 h 724"/>
                    <a:gd name="T34" fmla="*/ 164 w 211"/>
                    <a:gd name="T35" fmla="*/ 685 h 724"/>
                    <a:gd name="T36" fmla="*/ 161 w 211"/>
                    <a:gd name="T37" fmla="*/ 676 h 724"/>
                    <a:gd name="T38" fmla="*/ 148 w 211"/>
                    <a:gd name="T39" fmla="*/ 663 h 724"/>
                    <a:gd name="T40" fmla="*/ 162 w 211"/>
                    <a:gd name="T41" fmla="*/ 592 h 724"/>
                    <a:gd name="T42" fmla="*/ 176 w 211"/>
                    <a:gd name="T43" fmla="*/ 396 h 724"/>
                    <a:gd name="T44" fmla="*/ 183 w 211"/>
                    <a:gd name="T45" fmla="*/ 357 h 724"/>
                    <a:gd name="T46" fmla="*/ 171 w 211"/>
                    <a:gd name="T47" fmla="*/ 279 h 724"/>
                    <a:gd name="T48" fmla="*/ 181 w 211"/>
                    <a:gd name="T49" fmla="*/ 278 h 724"/>
                    <a:gd name="T50" fmla="*/ 189 w 211"/>
                    <a:gd name="T51" fmla="*/ 275 h 724"/>
                    <a:gd name="T52" fmla="*/ 197 w 211"/>
                    <a:gd name="T53" fmla="*/ 270 h 724"/>
                    <a:gd name="T54" fmla="*/ 203 w 211"/>
                    <a:gd name="T55" fmla="*/ 264 h 724"/>
                    <a:gd name="T56" fmla="*/ 210 w 211"/>
                    <a:gd name="T57" fmla="*/ 254 h 724"/>
                    <a:gd name="T58" fmla="*/ 204 w 211"/>
                    <a:gd name="T59" fmla="*/ 215 h 724"/>
                    <a:gd name="T60" fmla="*/ 154 w 211"/>
                    <a:gd name="T61" fmla="*/ 124 h 724"/>
                    <a:gd name="T62" fmla="*/ 135 w 211"/>
                    <a:gd name="T63" fmla="*/ 97 h 724"/>
                    <a:gd name="T64" fmla="*/ 157 w 211"/>
                    <a:gd name="T65" fmla="*/ 80 h 724"/>
                    <a:gd name="T66" fmla="*/ 159 w 211"/>
                    <a:gd name="T67" fmla="*/ 76 h 724"/>
                    <a:gd name="T68" fmla="*/ 166 w 211"/>
                    <a:gd name="T69" fmla="*/ 68 h 724"/>
                    <a:gd name="T70" fmla="*/ 165 w 211"/>
                    <a:gd name="T71" fmla="*/ 48 h 724"/>
                    <a:gd name="T72" fmla="*/ 168 w 211"/>
                    <a:gd name="T73" fmla="*/ 25 h 7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11" h="724">
                      <a:moveTo>
                        <a:pt x="158" y="9"/>
                      </a:moveTo>
                      <a:lnTo>
                        <a:pt x="133" y="0"/>
                      </a:lnTo>
                      <a:lnTo>
                        <a:pt x="105" y="4"/>
                      </a:lnTo>
                      <a:lnTo>
                        <a:pt x="87" y="23"/>
                      </a:lnTo>
                      <a:lnTo>
                        <a:pt x="80" y="45"/>
                      </a:lnTo>
                      <a:lnTo>
                        <a:pt x="86" y="71"/>
                      </a:lnTo>
                      <a:lnTo>
                        <a:pt x="76" y="87"/>
                      </a:lnTo>
                      <a:lnTo>
                        <a:pt x="63" y="94"/>
                      </a:lnTo>
                      <a:lnTo>
                        <a:pt x="26" y="110"/>
                      </a:lnTo>
                      <a:lnTo>
                        <a:pt x="15" y="121"/>
                      </a:lnTo>
                      <a:lnTo>
                        <a:pt x="0" y="236"/>
                      </a:lnTo>
                      <a:lnTo>
                        <a:pt x="7" y="260"/>
                      </a:lnTo>
                      <a:lnTo>
                        <a:pt x="45" y="270"/>
                      </a:lnTo>
                      <a:lnTo>
                        <a:pt x="39" y="380"/>
                      </a:lnTo>
                      <a:lnTo>
                        <a:pt x="66" y="390"/>
                      </a:lnTo>
                      <a:lnTo>
                        <a:pt x="73" y="471"/>
                      </a:lnTo>
                      <a:lnTo>
                        <a:pt x="67" y="610"/>
                      </a:lnTo>
                      <a:lnTo>
                        <a:pt x="66" y="687"/>
                      </a:lnTo>
                      <a:lnTo>
                        <a:pt x="72" y="689"/>
                      </a:lnTo>
                      <a:lnTo>
                        <a:pt x="72" y="696"/>
                      </a:lnTo>
                      <a:lnTo>
                        <a:pt x="93" y="710"/>
                      </a:lnTo>
                      <a:lnTo>
                        <a:pt x="105" y="719"/>
                      </a:lnTo>
                      <a:lnTo>
                        <a:pt x="113" y="723"/>
                      </a:lnTo>
                      <a:lnTo>
                        <a:pt x="123" y="723"/>
                      </a:lnTo>
                      <a:lnTo>
                        <a:pt x="133" y="720"/>
                      </a:lnTo>
                      <a:lnTo>
                        <a:pt x="135" y="717"/>
                      </a:lnTo>
                      <a:lnTo>
                        <a:pt x="133" y="711"/>
                      </a:lnTo>
                      <a:lnTo>
                        <a:pt x="128" y="705"/>
                      </a:lnTo>
                      <a:lnTo>
                        <a:pt x="121" y="695"/>
                      </a:lnTo>
                      <a:lnTo>
                        <a:pt x="112" y="687"/>
                      </a:lnTo>
                      <a:lnTo>
                        <a:pt x="119" y="689"/>
                      </a:lnTo>
                      <a:lnTo>
                        <a:pt x="119" y="680"/>
                      </a:lnTo>
                      <a:lnTo>
                        <a:pt x="148" y="694"/>
                      </a:lnTo>
                      <a:lnTo>
                        <a:pt x="161" y="694"/>
                      </a:lnTo>
                      <a:lnTo>
                        <a:pt x="164" y="689"/>
                      </a:lnTo>
                      <a:lnTo>
                        <a:pt x="164" y="685"/>
                      </a:lnTo>
                      <a:lnTo>
                        <a:pt x="163" y="680"/>
                      </a:lnTo>
                      <a:lnTo>
                        <a:pt x="161" y="676"/>
                      </a:lnTo>
                      <a:lnTo>
                        <a:pt x="153" y="669"/>
                      </a:lnTo>
                      <a:lnTo>
                        <a:pt x="148" y="663"/>
                      </a:lnTo>
                      <a:lnTo>
                        <a:pt x="155" y="661"/>
                      </a:lnTo>
                      <a:lnTo>
                        <a:pt x="162" y="592"/>
                      </a:lnTo>
                      <a:lnTo>
                        <a:pt x="165" y="484"/>
                      </a:lnTo>
                      <a:lnTo>
                        <a:pt x="176" y="396"/>
                      </a:lnTo>
                      <a:lnTo>
                        <a:pt x="180" y="371"/>
                      </a:lnTo>
                      <a:lnTo>
                        <a:pt x="183" y="357"/>
                      </a:lnTo>
                      <a:lnTo>
                        <a:pt x="174" y="303"/>
                      </a:lnTo>
                      <a:lnTo>
                        <a:pt x="171" y="279"/>
                      </a:lnTo>
                      <a:lnTo>
                        <a:pt x="177" y="282"/>
                      </a:lnTo>
                      <a:lnTo>
                        <a:pt x="181" y="278"/>
                      </a:lnTo>
                      <a:lnTo>
                        <a:pt x="183" y="278"/>
                      </a:lnTo>
                      <a:lnTo>
                        <a:pt x="189" y="275"/>
                      </a:lnTo>
                      <a:lnTo>
                        <a:pt x="195" y="276"/>
                      </a:lnTo>
                      <a:lnTo>
                        <a:pt x="197" y="270"/>
                      </a:lnTo>
                      <a:lnTo>
                        <a:pt x="201" y="269"/>
                      </a:lnTo>
                      <a:lnTo>
                        <a:pt x="203" y="264"/>
                      </a:lnTo>
                      <a:lnTo>
                        <a:pt x="207" y="260"/>
                      </a:lnTo>
                      <a:lnTo>
                        <a:pt x="210" y="254"/>
                      </a:lnTo>
                      <a:lnTo>
                        <a:pt x="199" y="230"/>
                      </a:lnTo>
                      <a:lnTo>
                        <a:pt x="204" y="215"/>
                      </a:lnTo>
                      <a:lnTo>
                        <a:pt x="184" y="230"/>
                      </a:lnTo>
                      <a:lnTo>
                        <a:pt x="154" y="124"/>
                      </a:lnTo>
                      <a:lnTo>
                        <a:pt x="130" y="102"/>
                      </a:lnTo>
                      <a:lnTo>
                        <a:pt x="135" y="97"/>
                      </a:lnTo>
                      <a:lnTo>
                        <a:pt x="155" y="94"/>
                      </a:lnTo>
                      <a:lnTo>
                        <a:pt x="157" y="80"/>
                      </a:lnTo>
                      <a:lnTo>
                        <a:pt x="151" y="77"/>
                      </a:lnTo>
                      <a:lnTo>
                        <a:pt x="159" y="76"/>
                      </a:lnTo>
                      <a:lnTo>
                        <a:pt x="158" y="71"/>
                      </a:lnTo>
                      <a:lnTo>
                        <a:pt x="166" y="68"/>
                      </a:lnTo>
                      <a:lnTo>
                        <a:pt x="160" y="50"/>
                      </a:lnTo>
                      <a:lnTo>
                        <a:pt x="165" y="48"/>
                      </a:lnTo>
                      <a:lnTo>
                        <a:pt x="162" y="25"/>
                      </a:lnTo>
                      <a:lnTo>
                        <a:pt x="168" y="25"/>
                      </a:lnTo>
                      <a:lnTo>
                        <a:pt x="158" y="9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7" name="Freeform 53"/>
                <p:cNvSpPr/>
                <p:nvPr/>
              </p:nvSpPr>
              <p:spPr bwMode="auto">
                <a:xfrm>
                  <a:off x="3358" y="2125"/>
                  <a:ext cx="158" cy="690"/>
                </a:xfrm>
                <a:custGeom>
                  <a:avLst/>
                  <a:gdLst>
                    <a:gd name="T0" fmla="*/ 118 w 156"/>
                    <a:gd name="T1" fmla="*/ 14 h 691"/>
                    <a:gd name="T2" fmla="*/ 118 w 156"/>
                    <a:gd name="T3" fmla="*/ 31 h 691"/>
                    <a:gd name="T4" fmla="*/ 116 w 156"/>
                    <a:gd name="T5" fmla="*/ 36 h 691"/>
                    <a:gd name="T6" fmla="*/ 123 w 156"/>
                    <a:gd name="T7" fmla="*/ 50 h 691"/>
                    <a:gd name="T8" fmla="*/ 118 w 156"/>
                    <a:gd name="T9" fmla="*/ 53 h 691"/>
                    <a:gd name="T10" fmla="*/ 120 w 156"/>
                    <a:gd name="T11" fmla="*/ 59 h 691"/>
                    <a:gd name="T12" fmla="*/ 115 w 156"/>
                    <a:gd name="T13" fmla="*/ 77 h 691"/>
                    <a:gd name="T14" fmla="*/ 115 w 156"/>
                    <a:gd name="T15" fmla="*/ 82 h 691"/>
                    <a:gd name="T16" fmla="*/ 142 w 156"/>
                    <a:gd name="T17" fmla="*/ 100 h 691"/>
                    <a:gd name="T18" fmla="*/ 155 w 156"/>
                    <a:gd name="T19" fmla="*/ 242 h 691"/>
                    <a:gd name="T20" fmla="*/ 138 w 156"/>
                    <a:gd name="T21" fmla="*/ 268 h 691"/>
                    <a:gd name="T22" fmla="*/ 145 w 156"/>
                    <a:gd name="T23" fmla="*/ 344 h 691"/>
                    <a:gd name="T24" fmla="*/ 133 w 156"/>
                    <a:gd name="T25" fmla="*/ 353 h 691"/>
                    <a:gd name="T26" fmla="*/ 129 w 156"/>
                    <a:gd name="T27" fmla="*/ 474 h 691"/>
                    <a:gd name="T28" fmla="*/ 121 w 156"/>
                    <a:gd name="T29" fmla="*/ 596 h 691"/>
                    <a:gd name="T30" fmla="*/ 124 w 156"/>
                    <a:gd name="T31" fmla="*/ 603 h 691"/>
                    <a:gd name="T32" fmla="*/ 151 w 156"/>
                    <a:gd name="T33" fmla="*/ 627 h 691"/>
                    <a:gd name="T34" fmla="*/ 148 w 156"/>
                    <a:gd name="T35" fmla="*/ 631 h 691"/>
                    <a:gd name="T36" fmla="*/ 138 w 156"/>
                    <a:gd name="T37" fmla="*/ 635 h 691"/>
                    <a:gd name="T38" fmla="*/ 122 w 156"/>
                    <a:gd name="T39" fmla="*/ 631 h 691"/>
                    <a:gd name="T40" fmla="*/ 107 w 156"/>
                    <a:gd name="T41" fmla="*/ 622 h 691"/>
                    <a:gd name="T42" fmla="*/ 94 w 156"/>
                    <a:gd name="T43" fmla="*/ 617 h 691"/>
                    <a:gd name="T44" fmla="*/ 94 w 156"/>
                    <a:gd name="T45" fmla="*/ 638 h 691"/>
                    <a:gd name="T46" fmla="*/ 88 w 156"/>
                    <a:gd name="T47" fmla="*/ 639 h 691"/>
                    <a:gd name="T48" fmla="*/ 97 w 156"/>
                    <a:gd name="T49" fmla="*/ 656 h 691"/>
                    <a:gd name="T50" fmla="*/ 93 w 156"/>
                    <a:gd name="T51" fmla="*/ 686 h 691"/>
                    <a:gd name="T52" fmla="*/ 84 w 156"/>
                    <a:gd name="T53" fmla="*/ 690 h 691"/>
                    <a:gd name="T54" fmla="*/ 67 w 156"/>
                    <a:gd name="T55" fmla="*/ 665 h 691"/>
                    <a:gd name="T56" fmla="*/ 67 w 156"/>
                    <a:gd name="T57" fmla="*/ 648 h 691"/>
                    <a:gd name="T58" fmla="*/ 62 w 156"/>
                    <a:gd name="T59" fmla="*/ 646 h 691"/>
                    <a:gd name="T60" fmla="*/ 55 w 156"/>
                    <a:gd name="T61" fmla="*/ 489 h 691"/>
                    <a:gd name="T62" fmla="*/ 62 w 156"/>
                    <a:gd name="T63" fmla="*/ 474 h 691"/>
                    <a:gd name="T64" fmla="*/ 44 w 156"/>
                    <a:gd name="T65" fmla="*/ 368 h 691"/>
                    <a:gd name="T66" fmla="*/ 33 w 156"/>
                    <a:gd name="T67" fmla="*/ 364 h 691"/>
                    <a:gd name="T68" fmla="*/ 29 w 156"/>
                    <a:gd name="T69" fmla="*/ 255 h 691"/>
                    <a:gd name="T70" fmla="*/ 0 w 156"/>
                    <a:gd name="T71" fmla="*/ 242 h 691"/>
                    <a:gd name="T72" fmla="*/ 12 w 156"/>
                    <a:gd name="T73" fmla="*/ 124 h 691"/>
                    <a:gd name="T74" fmla="*/ 56 w 156"/>
                    <a:gd name="T75" fmla="*/ 91 h 691"/>
                    <a:gd name="T76" fmla="*/ 68 w 156"/>
                    <a:gd name="T77" fmla="*/ 81 h 691"/>
                    <a:gd name="T78" fmla="*/ 68 w 156"/>
                    <a:gd name="T79" fmla="*/ 69 h 691"/>
                    <a:gd name="T80" fmla="*/ 64 w 156"/>
                    <a:gd name="T81" fmla="*/ 61 h 691"/>
                    <a:gd name="T82" fmla="*/ 59 w 156"/>
                    <a:gd name="T83" fmla="*/ 55 h 691"/>
                    <a:gd name="T84" fmla="*/ 54 w 156"/>
                    <a:gd name="T85" fmla="*/ 46 h 691"/>
                    <a:gd name="T86" fmla="*/ 51 w 156"/>
                    <a:gd name="T87" fmla="*/ 39 h 691"/>
                    <a:gd name="T88" fmla="*/ 51 w 156"/>
                    <a:gd name="T89" fmla="*/ 30 h 691"/>
                    <a:gd name="T90" fmla="*/ 54 w 156"/>
                    <a:gd name="T91" fmla="*/ 22 h 691"/>
                    <a:gd name="T92" fmla="*/ 60 w 156"/>
                    <a:gd name="T93" fmla="*/ 12 h 691"/>
                    <a:gd name="T94" fmla="*/ 68 w 156"/>
                    <a:gd name="T95" fmla="*/ 5 h 691"/>
                    <a:gd name="T96" fmla="*/ 77 w 156"/>
                    <a:gd name="T97" fmla="*/ 1 h 691"/>
                    <a:gd name="T98" fmla="*/ 87 w 156"/>
                    <a:gd name="T99" fmla="*/ 0 h 691"/>
                    <a:gd name="T100" fmla="*/ 97 w 156"/>
                    <a:gd name="T101" fmla="*/ 2 h 691"/>
                    <a:gd name="T102" fmla="*/ 107 w 156"/>
                    <a:gd name="T103" fmla="*/ 5 h 691"/>
                    <a:gd name="T104" fmla="*/ 118 w 156"/>
                    <a:gd name="T105" fmla="*/ 14 h 6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6" h="691">
                      <a:moveTo>
                        <a:pt x="118" y="14"/>
                      </a:moveTo>
                      <a:lnTo>
                        <a:pt x="118" y="31"/>
                      </a:lnTo>
                      <a:lnTo>
                        <a:pt x="116" y="36"/>
                      </a:lnTo>
                      <a:lnTo>
                        <a:pt x="123" y="50"/>
                      </a:lnTo>
                      <a:lnTo>
                        <a:pt x="118" y="53"/>
                      </a:lnTo>
                      <a:lnTo>
                        <a:pt x="120" y="59"/>
                      </a:lnTo>
                      <a:lnTo>
                        <a:pt x="115" y="77"/>
                      </a:lnTo>
                      <a:lnTo>
                        <a:pt x="115" y="82"/>
                      </a:lnTo>
                      <a:lnTo>
                        <a:pt x="142" y="100"/>
                      </a:lnTo>
                      <a:lnTo>
                        <a:pt x="155" y="242"/>
                      </a:lnTo>
                      <a:lnTo>
                        <a:pt x="138" y="268"/>
                      </a:lnTo>
                      <a:lnTo>
                        <a:pt x="145" y="344"/>
                      </a:lnTo>
                      <a:lnTo>
                        <a:pt x="133" y="353"/>
                      </a:lnTo>
                      <a:lnTo>
                        <a:pt x="129" y="474"/>
                      </a:lnTo>
                      <a:lnTo>
                        <a:pt x="121" y="596"/>
                      </a:lnTo>
                      <a:lnTo>
                        <a:pt x="124" y="603"/>
                      </a:lnTo>
                      <a:lnTo>
                        <a:pt x="151" y="627"/>
                      </a:lnTo>
                      <a:lnTo>
                        <a:pt x="148" y="631"/>
                      </a:lnTo>
                      <a:lnTo>
                        <a:pt x="138" y="635"/>
                      </a:lnTo>
                      <a:lnTo>
                        <a:pt x="122" y="631"/>
                      </a:lnTo>
                      <a:lnTo>
                        <a:pt x="107" y="622"/>
                      </a:lnTo>
                      <a:lnTo>
                        <a:pt x="94" y="617"/>
                      </a:lnTo>
                      <a:lnTo>
                        <a:pt x="94" y="638"/>
                      </a:lnTo>
                      <a:lnTo>
                        <a:pt x="88" y="639"/>
                      </a:lnTo>
                      <a:lnTo>
                        <a:pt x="97" y="656"/>
                      </a:lnTo>
                      <a:lnTo>
                        <a:pt x="93" y="686"/>
                      </a:lnTo>
                      <a:lnTo>
                        <a:pt x="84" y="690"/>
                      </a:lnTo>
                      <a:lnTo>
                        <a:pt x="67" y="665"/>
                      </a:lnTo>
                      <a:lnTo>
                        <a:pt x="67" y="648"/>
                      </a:lnTo>
                      <a:lnTo>
                        <a:pt x="62" y="646"/>
                      </a:lnTo>
                      <a:lnTo>
                        <a:pt x="55" y="489"/>
                      </a:lnTo>
                      <a:lnTo>
                        <a:pt x="62" y="474"/>
                      </a:lnTo>
                      <a:lnTo>
                        <a:pt x="44" y="368"/>
                      </a:lnTo>
                      <a:lnTo>
                        <a:pt x="33" y="364"/>
                      </a:lnTo>
                      <a:lnTo>
                        <a:pt x="29" y="255"/>
                      </a:lnTo>
                      <a:lnTo>
                        <a:pt x="0" y="242"/>
                      </a:lnTo>
                      <a:lnTo>
                        <a:pt x="12" y="124"/>
                      </a:lnTo>
                      <a:lnTo>
                        <a:pt x="56" y="91"/>
                      </a:lnTo>
                      <a:lnTo>
                        <a:pt x="68" y="81"/>
                      </a:lnTo>
                      <a:lnTo>
                        <a:pt x="68" y="69"/>
                      </a:lnTo>
                      <a:lnTo>
                        <a:pt x="64" y="61"/>
                      </a:lnTo>
                      <a:lnTo>
                        <a:pt x="59" y="55"/>
                      </a:lnTo>
                      <a:lnTo>
                        <a:pt x="54" y="46"/>
                      </a:lnTo>
                      <a:lnTo>
                        <a:pt x="51" y="39"/>
                      </a:lnTo>
                      <a:lnTo>
                        <a:pt x="51" y="30"/>
                      </a:lnTo>
                      <a:lnTo>
                        <a:pt x="54" y="22"/>
                      </a:lnTo>
                      <a:lnTo>
                        <a:pt x="60" y="12"/>
                      </a:lnTo>
                      <a:lnTo>
                        <a:pt x="68" y="5"/>
                      </a:lnTo>
                      <a:lnTo>
                        <a:pt x="77" y="1"/>
                      </a:lnTo>
                      <a:lnTo>
                        <a:pt x="87" y="0"/>
                      </a:lnTo>
                      <a:lnTo>
                        <a:pt x="97" y="2"/>
                      </a:lnTo>
                      <a:lnTo>
                        <a:pt x="107" y="5"/>
                      </a:lnTo>
                      <a:lnTo>
                        <a:pt x="118" y="14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8" name="Freeform 54"/>
                <p:cNvSpPr/>
                <p:nvPr/>
              </p:nvSpPr>
              <p:spPr bwMode="auto">
                <a:xfrm>
                  <a:off x="3002" y="2119"/>
                  <a:ext cx="185" cy="628"/>
                </a:xfrm>
                <a:custGeom>
                  <a:avLst/>
                  <a:gdLst>
                    <a:gd name="T0" fmla="*/ 112 w 185"/>
                    <a:gd name="T1" fmla="*/ 8 h 628"/>
                    <a:gd name="T2" fmla="*/ 149 w 185"/>
                    <a:gd name="T3" fmla="*/ 0 h 628"/>
                    <a:gd name="T4" fmla="*/ 162 w 185"/>
                    <a:gd name="T5" fmla="*/ 15 h 628"/>
                    <a:gd name="T6" fmla="*/ 169 w 185"/>
                    <a:gd name="T7" fmla="*/ 10 h 628"/>
                    <a:gd name="T8" fmla="*/ 178 w 185"/>
                    <a:gd name="T9" fmla="*/ 38 h 628"/>
                    <a:gd name="T10" fmla="*/ 158 w 185"/>
                    <a:gd name="T11" fmla="*/ 55 h 628"/>
                    <a:gd name="T12" fmla="*/ 157 w 185"/>
                    <a:gd name="T13" fmla="*/ 69 h 628"/>
                    <a:gd name="T14" fmla="*/ 152 w 185"/>
                    <a:gd name="T15" fmla="*/ 71 h 628"/>
                    <a:gd name="T16" fmla="*/ 149 w 185"/>
                    <a:gd name="T17" fmla="*/ 85 h 628"/>
                    <a:gd name="T18" fmla="*/ 134 w 185"/>
                    <a:gd name="T19" fmla="*/ 88 h 628"/>
                    <a:gd name="T20" fmla="*/ 134 w 185"/>
                    <a:gd name="T21" fmla="*/ 94 h 628"/>
                    <a:gd name="T22" fmla="*/ 158 w 185"/>
                    <a:gd name="T23" fmla="*/ 112 h 628"/>
                    <a:gd name="T24" fmla="*/ 178 w 185"/>
                    <a:gd name="T25" fmla="*/ 202 h 628"/>
                    <a:gd name="T26" fmla="*/ 162 w 185"/>
                    <a:gd name="T27" fmla="*/ 226 h 628"/>
                    <a:gd name="T28" fmla="*/ 162 w 185"/>
                    <a:gd name="T29" fmla="*/ 390 h 628"/>
                    <a:gd name="T30" fmla="*/ 143 w 185"/>
                    <a:gd name="T31" fmla="*/ 397 h 628"/>
                    <a:gd name="T32" fmla="*/ 140 w 185"/>
                    <a:gd name="T33" fmla="*/ 423 h 628"/>
                    <a:gd name="T34" fmla="*/ 132 w 185"/>
                    <a:gd name="T35" fmla="*/ 493 h 628"/>
                    <a:gd name="T36" fmla="*/ 132 w 185"/>
                    <a:gd name="T37" fmla="*/ 530 h 628"/>
                    <a:gd name="T38" fmla="*/ 162 w 185"/>
                    <a:gd name="T39" fmla="*/ 553 h 628"/>
                    <a:gd name="T40" fmla="*/ 184 w 185"/>
                    <a:gd name="T41" fmla="*/ 565 h 628"/>
                    <a:gd name="T42" fmla="*/ 184 w 185"/>
                    <a:gd name="T43" fmla="*/ 572 h 628"/>
                    <a:gd name="T44" fmla="*/ 138 w 185"/>
                    <a:gd name="T45" fmla="*/ 561 h 628"/>
                    <a:gd name="T46" fmla="*/ 132 w 185"/>
                    <a:gd name="T47" fmla="*/ 554 h 628"/>
                    <a:gd name="T48" fmla="*/ 127 w 185"/>
                    <a:gd name="T49" fmla="*/ 561 h 628"/>
                    <a:gd name="T50" fmla="*/ 123 w 185"/>
                    <a:gd name="T51" fmla="*/ 561 h 628"/>
                    <a:gd name="T52" fmla="*/ 117 w 185"/>
                    <a:gd name="T53" fmla="*/ 535 h 628"/>
                    <a:gd name="T54" fmla="*/ 112 w 185"/>
                    <a:gd name="T55" fmla="*/ 416 h 628"/>
                    <a:gd name="T56" fmla="*/ 103 w 185"/>
                    <a:gd name="T57" fmla="*/ 416 h 628"/>
                    <a:gd name="T58" fmla="*/ 77 w 185"/>
                    <a:gd name="T59" fmla="*/ 521 h 628"/>
                    <a:gd name="T60" fmla="*/ 77 w 185"/>
                    <a:gd name="T61" fmla="*/ 587 h 628"/>
                    <a:gd name="T62" fmla="*/ 66 w 185"/>
                    <a:gd name="T63" fmla="*/ 619 h 628"/>
                    <a:gd name="T64" fmla="*/ 57 w 185"/>
                    <a:gd name="T65" fmla="*/ 627 h 628"/>
                    <a:gd name="T66" fmla="*/ 51 w 185"/>
                    <a:gd name="T67" fmla="*/ 609 h 628"/>
                    <a:gd name="T68" fmla="*/ 58 w 185"/>
                    <a:gd name="T69" fmla="*/ 590 h 628"/>
                    <a:gd name="T70" fmla="*/ 66 w 185"/>
                    <a:gd name="T71" fmla="*/ 550 h 628"/>
                    <a:gd name="T72" fmla="*/ 68 w 185"/>
                    <a:gd name="T73" fmla="*/ 399 h 628"/>
                    <a:gd name="T74" fmla="*/ 77 w 185"/>
                    <a:gd name="T75" fmla="*/ 252 h 628"/>
                    <a:gd name="T76" fmla="*/ 61 w 185"/>
                    <a:gd name="T77" fmla="*/ 240 h 628"/>
                    <a:gd name="T78" fmla="*/ 61 w 185"/>
                    <a:gd name="T79" fmla="*/ 218 h 628"/>
                    <a:gd name="T80" fmla="*/ 61 w 185"/>
                    <a:gd name="T81" fmla="*/ 179 h 628"/>
                    <a:gd name="T82" fmla="*/ 40 w 185"/>
                    <a:gd name="T83" fmla="*/ 189 h 628"/>
                    <a:gd name="T84" fmla="*/ 58 w 185"/>
                    <a:gd name="T85" fmla="*/ 214 h 628"/>
                    <a:gd name="T86" fmla="*/ 58 w 185"/>
                    <a:gd name="T87" fmla="*/ 237 h 628"/>
                    <a:gd name="T88" fmla="*/ 39 w 185"/>
                    <a:gd name="T89" fmla="*/ 222 h 628"/>
                    <a:gd name="T90" fmla="*/ 29 w 185"/>
                    <a:gd name="T91" fmla="*/ 208 h 628"/>
                    <a:gd name="T92" fmla="*/ 20 w 185"/>
                    <a:gd name="T93" fmla="*/ 211 h 628"/>
                    <a:gd name="T94" fmla="*/ 0 w 185"/>
                    <a:gd name="T95" fmla="*/ 187 h 628"/>
                    <a:gd name="T96" fmla="*/ 0 w 185"/>
                    <a:gd name="T97" fmla="*/ 179 h 628"/>
                    <a:gd name="T98" fmla="*/ 10 w 185"/>
                    <a:gd name="T99" fmla="*/ 175 h 628"/>
                    <a:gd name="T100" fmla="*/ 34 w 185"/>
                    <a:gd name="T101" fmla="*/ 147 h 628"/>
                    <a:gd name="T102" fmla="*/ 58 w 185"/>
                    <a:gd name="T103" fmla="*/ 123 h 628"/>
                    <a:gd name="T104" fmla="*/ 89 w 185"/>
                    <a:gd name="T105" fmla="*/ 95 h 628"/>
                    <a:gd name="T106" fmla="*/ 112 w 185"/>
                    <a:gd name="T107" fmla="*/ 86 h 628"/>
                    <a:gd name="T108" fmla="*/ 112 w 185"/>
                    <a:gd name="T109" fmla="*/ 66 h 628"/>
                    <a:gd name="T110" fmla="*/ 103 w 185"/>
                    <a:gd name="T111" fmla="*/ 56 h 628"/>
                    <a:gd name="T112" fmla="*/ 103 w 185"/>
                    <a:gd name="T113" fmla="*/ 31 h 628"/>
                    <a:gd name="T114" fmla="*/ 97 w 185"/>
                    <a:gd name="T115" fmla="*/ 26 h 628"/>
                    <a:gd name="T116" fmla="*/ 112 w 185"/>
                    <a:gd name="T117" fmla="*/ 8 h 6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85" h="628">
                      <a:moveTo>
                        <a:pt x="112" y="8"/>
                      </a:moveTo>
                      <a:lnTo>
                        <a:pt x="149" y="0"/>
                      </a:lnTo>
                      <a:lnTo>
                        <a:pt x="162" y="15"/>
                      </a:lnTo>
                      <a:lnTo>
                        <a:pt x="169" y="10"/>
                      </a:lnTo>
                      <a:lnTo>
                        <a:pt x="178" y="38"/>
                      </a:lnTo>
                      <a:lnTo>
                        <a:pt x="158" y="55"/>
                      </a:lnTo>
                      <a:lnTo>
                        <a:pt x="157" y="69"/>
                      </a:lnTo>
                      <a:lnTo>
                        <a:pt x="152" y="71"/>
                      </a:lnTo>
                      <a:lnTo>
                        <a:pt x="149" y="85"/>
                      </a:lnTo>
                      <a:lnTo>
                        <a:pt x="134" y="88"/>
                      </a:lnTo>
                      <a:lnTo>
                        <a:pt x="134" y="94"/>
                      </a:lnTo>
                      <a:lnTo>
                        <a:pt x="158" y="112"/>
                      </a:lnTo>
                      <a:lnTo>
                        <a:pt x="178" y="202"/>
                      </a:lnTo>
                      <a:lnTo>
                        <a:pt x="162" y="226"/>
                      </a:lnTo>
                      <a:lnTo>
                        <a:pt x="162" y="390"/>
                      </a:lnTo>
                      <a:lnTo>
                        <a:pt x="143" y="397"/>
                      </a:lnTo>
                      <a:lnTo>
                        <a:pt x="140" y="423"/>
                      </a:lnTo>
                      <a:lnTo>
                        <a:pt x="132" y="493"/>
                      </a:lnTo>
                      <a:lnTo>
                        <a:pt x="132" y="530"/>
                      </a:lnTo>
                      <a:lnTo>
                        <a:pt x="162" y="553"/>
                      </a:lnTo>
                      <a:lnTo>
                        <a:pt x="184" y="565"/>
                      </a:lnTo>
                      <a:lnTo>
                        <a:pt x="184" y="572"/>
                      </a:lnTo>
                      <a:lnTo>
                        <a:pt x="138" y="561"/>
                      </a:lnTo>
                      <a:lnTo>
                        <a:pt x="132" y="554"/>
                      </a:lnTo>
                      <a:lnTo>
                        <a:pt x="127" y="561"/>
                      </a:lnTo>
                      <a:lnTo>
                        <a:pt x="123" y="561"/>
                      </a:lnTo>
                      <a:lnTo>
                        <a:pt x="117" y="535"/>
                      </a:lnTo>
                      <a:lnTo>
                        <a:pt x="112" y="416"/>
                      </a:lnTo>
                      <a:lnTo>
                        <a:pt x="103" y="416"/>
                      </a:lnTo>
                      <a:lnTo>
                        <a:pt x="77" y="521"/>
                      </a:lnTo>
                      <a:lnTo>
                        <a:pt x="77" y="587"/>
                      </a:lnTo>
                      <a:lnTo>
                        <a:pt x="66" y="619"/>
                      </a:lnTo>
                      <a:lnTo>
                        <a:pt x="57" y="627"/>
                      </a:lnTo>
                      <a:lnTo>
                        <a:pt x="51" y="609"/>
                      </a:lnTo>
                      <a:lnTo>
                        <a:pt x="58" y="590"/>
                      </a:lnTo>
                      <a:lnTo>
                        <a:pt x="66" y="550"/>
                      </a:lnTo>
                      <a:lnTo>
                        <a:pt x="68" y="399"/>
                      </a:lnTo>
                      <a:lnTo>
                        <a:pt x="77" y="252"/>
                      </a:lnTo>
                      <a:lnTo>
                        <a:pt x="61" y="240"/>
                      </a:lnTo>
                      <a:lnTo>
                        <a:pt x="61" y="218"/>
                      </a:lnTo>
                      <a:lnTo>
                        <a:pt x="61" y="179"/>
                      </a:lnTo>
                      <a:lnTo>
                        <a:pt x="40" y="189"/>
                      </a:lnTo>
                      <a:lnTo>
                        <a:pt x="58" y="214"/>
                      </a:lnTo>
                      <a:lnTo>
                        <a:pt x="58" y="237"/>
                      </a:lnTo>
                      <a:lnTo>
                        <a:pt x="39" y="222"/>
                      </a:lnTo>
                      <a:lnTo>
                        <a:pt x="29" y="208"/>
                      </a:lnTo>
                      <a:lnTo>
                        <a:pt x="20" y="211"/>
                      </a:lnTo>
                      <a:lnTo>
                        <a:pt x="0" y="187"/>
                      </a:lnTo>
                      <a:lnTo>
                        <a:pt x="0" y="179"/>
                      </a:lnTo>
                      <a:lnTo>
                        <a:pt x="10" y="175"/>
                      </a:lnTo>
                      <a:lnTo>
                        <a:pt x="34" y="147"/>
                      </a:lnTo>
                      <a:lnTo>
                        <a:pt x="58" y="123"/>
                      </a:lnTo>
                      <a:lnTo>
                        <a:pt x="89" y="95"/>
                      </a:lnTo>
                      <a:lnTo>
                        <a:pt x="112" y="86"/>
                      </a:lnTo>
                      <a:lnTo>
                        <a:pt x="112" y="66"/>
                      </a:lnTo>
                      <a:lnTo>
                        <a:pt x="103" y="56"/>
                      </a:lnTo>
                      <a:lnTo>
                        <a:pt x="103" y="31"/>
                      </a:lnTo>
                      <a:lnTo>
                        <a:pt x="97" y="26"/>
                      </a:lnTo>
                      <a:lnTo>
                        <a:pt x="112" y="8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19" name="Freeform 55"/>
                <p:cNvSpPr/>
                <p:nvPr/>
              </p:nvSpPr>
              <p:spPr bwMode="auto">
                <a:xfrm>
                  <a:off x="2430" y="2136"/>
                  <a:ext cx="178" cy="778"/>
                </a:xfrm>
                <a:custGeom>
                  <a:avLst/>
                  <a:gdLst>
                    <a:gd name="T0" fmla="*/ 42 w 178"/>
                    <a:gd name="T1" fmla="*/ 16 h 778"/>
                    <a:gd name="T2" fmla="*/ 42 w 178"/>
                    <a:gd name="T3" fmla="*/ 35 h 778"/>
                    <a:gd name="T4" fmla="*/ 45 w 178"/>
                    <a:gd name="T5" fmla="*/ 41 h 778"/>
                    <a:gd name="T6" fmla="*/ 37 w 178"/>
                    <a:gd name="T7" fmla="*/ 56 h 778"/>
                    <a:gd name="T8" fmla="*/ 42 w 178"/>
                    <a:gd name="T9" fmla="*/ 60 h 778"/>
                    <a:gd name="T10" fmla="*/ 40 w 178"/>
                    <a:gd name="T11" fmla="*/ 66 h 778"/>
                    <a:gd name="T12" fmla="*/ 46 w 178"/>
                    <a:gd name="T13" fmla="*/ 88 h 778"/>
                    <a:gd name="T14" fmla="*/ 46 w 178"/>
                    <a:gd name="T15" fmla="*/ 92 h 778"/>
                    <a:gd name="T16" fmla="*/ 15 w 178"/>
                    <a:gd name="T17" fmla="*/ 113 h 778"/>
                    <a:gd name="T18" fmla="*/ 0 w 178"/>
                    <a:gd name="T19" fmla="*/ 273 h 778"/>
                    <a:gd name="T20" fmla="*/ 19 w 178"/>
                    <a:gd name="T21" fmla="*/ 301 h 778"/>
                    <a:gd name="T22" fmla="*/ 12 w 178"/>
                    <a:gd name="T23" fmla="*/ 388 h 778"/>
                    <a:gd name="T24" fmla="*/ 25 w 178"/>
                    <a:gd name="T25" fmla="*/ 398 h 778"/>
                    <a:gd name="T26" fmla="*/ 30 w 178"/>
                    <a:gd name="T27" fmla="*/ 534 h 778"/>
                    <a:gd name="T28" fmla="*/ 38 w 178"/>
                    <a:gd name="T29" fmla="*/ 672 h 778"/>
                    <a:gd name="T30" fmla="*/ 35 w 178"/>
                    <a:gd name="T31" fmla="*/ 680 h 778"/>
                    <a:gd name="T32" fmla="*/ 4 w 178"/>
                    <a:gd name="T33" fmla="*/ 706 h 778"/>
                    <a:gd name="T34" fmla="*/ 8 w 178"/>
                    <a:gd name="T35" fmla="*/ 711 h 778"/>
                    <a:gd name="T36" fmla="*/ 19 w 178"/>
                    <a:gd name="T37" fmla="*/ 715 h 778"/>
                    <a:gd name="T38" fmla="*/ 37 w 178"/>
                    <a:gd name="T39" fmla="*/ 711 h 778"/>
                    <a:gd name="T40" fmla="*/ 55 w 178"/>
                    <a:gd name="T41" fmla="*/ 701 h 778"/>
                    <a:gd name="T42" fmla="*/ 70 w 178"/>
                    <a:gd name="T43" fmla="*/ 695 h 778"/>
                    <a:gd name="T44" fmla="*/ 70 w 178"/>
                    <a:gd name="T45" fmla="*/ 719 h 778"/>
                    <a:gd name="T46" fmla="*/ 76 w 178"/>
                    <a:gd name="T47" fmla="*/ 720 h 778"/>
                    <a:gd name="T48" fmla="*/ 66 w 178"/>
                    <a:gd name="T49" fmla="*/ 739 h 778"/>
                    <a:gd name="T50" fmla="*/ 71 w 178"/>
                    <a:gd name="T51" fmla="*/ 773 h 778"/>
                    <a:gd name="T52" fmla="*/ 81 w 178"/>
                    <a:gd name="T53" fmla="*/ 777 h 778"/>
                    <a:gd name="T54" fmla="*/ 101 w 178"/>
                    <a:gd name="T55" fmla="*/ 750 h 778"/>
                    <a:gd name="T56" fmla="*/ 101 w 178"/>
                    <a:gd name="T57" fmla="*/ 730 h 778"/>
                    <a:gd name="T58" fmla="*/ 107 w 178"/>
                    <a:gd name="T59" fmla="*/ 728 h 778"/>
                    <a:gd name="T60" fmla="*/ 114 w 178"/>
                    <a:gd name="T61" fmla="*/ 551 h 778"/>
                    <a:gd name="T62" fmla="*/ 107 w 178"/>
                    <a:gd name="T63" fmla="*/ 534 h 778"/>
                    <a:gd name="T64" fmla="*/ 127 w 178"/>
                    <a:gd name="T65" fmla="*/ 415 h 778"/>
                    <a:gd name="T66" fmla="*/ 140 w 178"/>
                    <a:gd name="T67" fmla="*/ 410 h 778"/>
                    <a:gd name="T68" fmla="*/ 144 w 178"/>
                    <a:gd name="T69" fmla="*/ 287 h 778"/>
                    <a:gd name="T70" fmla="*/ 177 w 178"/>
                    <a:gd name="T71" fmla="*/ 273 h 778"/>
                    <a:gd name="T72" fmla="*/ 163 w 178"/>
                    <a:gd name="T73" fmla="*/ 140 h 778"/>
                    <a:gd name="T74" fmla="*/ 113 w 178"/>
                    <a:gd name="T75" fmla="*/ 103 h 778"/>
                    <a:gd name="T76" fmla="*/ 100 w 178"/>
                    <a:gd name="T77" fmla="*/ 91 h 778"/>
                    <a:gd name="T78" fmla="*/ 99 w 178"/>
                    <a:gd name="T79" fmla="*/ 78 h 778"/>
                    <a:gd name="T80" fmla="*/ 104 w 178"/>
                    <a:gd name="T81" fmla="*/ 69 h 778"/>
                    <a:gd name="T82" fmla="*/ 110 w 178"/>
                    <a:gd name="T83" fmla="*/ 62 h 778"/>
                    <a:gd name="T84" fmla="*/ 115 w 178"/>
                    <a:gd name="T85" fmla="*/ 52 h 778"/>
                    <a:gd name="T86" fmla="*/ 119 w 178"/>
                    <a:gd name="T87" fmla="*/ 44 h 778"/>
                    <a:gd name="T88" fmla="*/ 119 w 178"/>
                    <a:gd name="T89" fmla="*/ 34 h 778"/>
                    <a:gd name="T90" fmla="*/ 115 w 178"/>
                    <a:gd name="T91" fmla="*/ 25 h 778"/>
                    <a:gd name="T92" fmla="*/ 109 w 178"/>
                    <a:gd name="T93" fmla="*/ 14 h 778"/>
                    <a:gd name="T94" fmla="*/ 100 w 178"/>
                    <a:gd name="T95" fmla="*/ 6 h 778"/>
                    <a:gd name="T96" fmla="*/ 90 w 178"/>
                    <a:gd name="T97" fmla="*/ 2 h 778"/>
                    <a:gd name="T98" fmla="*/ 77 w 178"/>
                    <a:gd name="T99" fmla="*/ 0 h 778"/>
                    <a:gd name="T100" fmla="*/ 66 w 178"/>
                    <a:gd name="T101" fmla="*/ 2 h 778"/>
                    <a:gd name="T102" fmla="*/ 55 w 178"/>
                    <a:gd name="T103" fmla="*/ 5 h 778"/>
                    <a:gd name="T104" fmla="*/ 42 w 178"/>
                    <a:gd name="T105" fmla="*/ 16 h 7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78" h="778">
                      <a:moveTo>
                        <a:pt x="42" y="16"/>
                      </a:moveTo>
                      <a:lnTo>
                        <a:pt x="42" y="35"/>
                      </a:lnTo>
                      <a:lnTo>
                        <a:pt x="45" y="41"/>
                      </a:lnTo>
                      <a:lnTo>
                        <a:pt x="37" y="56"/>
                      </a:lnTo>
                      <a:lnTo>
                        <a:pt x="42" y="60"/>
                      </a:lnTo>
                      <a:lnTo>
                        <a:pt x="40" y="66"/>
                      </a:lnTo>
                      <a:lnTo>
                        <a:pt x="46" y="88"/>
                      </a:lnTo>
                      <a:lnTo>
                        <a:pt x="46" y="92"/>
                      </a:lnTo>
                      <a:lnTo>
                        <a:pt x="15" y="113"/>
                      </a:lnTo>
                      <a:lnTo>
                        <a:pt x="0" y="273"/>
                      </a:lnTo>
                      <a:lnTo>
                        <a:pt x="19" y="301"/>
                      </a:lnTo>
                      <a:lnTo>
                        <a:pt x="12" y="388"/>
                      </a:lnTo>
                      <a:lnTo>
                        <a:pt x="25" y="398"/>
                      </a:lnTo>
                      <a:lnTo>
                        <a:pt x="30" y="534"/>
                      </a:lnTo>
                      <a:lnTo>
                        <a:pt x="38" y="672"/>
                      </a:lnTo>
                      <a:lnTo>
                        <a:pt x="35" y="680"/>
                      </a:lnTo>
                      <a:lnTo>
                        <a:pt x="4" y="706"/>
                      </a:lnTo>
                      <a:lnTo>
                        <a:pt x="8" y="711"/>
                      </a:lnTo>
                      <a:lnTo>
                        <a:pt x="19" y="715"/>
                      </a:lnTo>
                      <a:lnTo>
                        <a:pt x="37" y="711"/>
                      </a:lnTo>
                      <a:lnTo>
                        <a:pt x="55" y="701"/>
                      </a:lnTo>
                      <a:lnTo>
                        <a:pt x="70" y="695"/>
                      </a:lnTo>
                      <a:lnTo>
                        <a:pt x="70" y="719"/>
                      </a:lnTo>
                      <a:lnTo>
                        <a:pt x="76" y="720"/>
                      </a:lnTo>
                      <a:lnTo>
                        <a:pt x="66" y="739"/>
                      </a:lnTo>
                      <a:lnTo>
                        <a:pt x="71" y="773"/>
                      </a:lnTo>
                      <a:lnTo>
                        <a:pt x="81" y="777"/>
                      </a:lnTo>
                      <a:lnTo>
                        <a:pt x="101" y="750"/>
                      </a:lnTo>
                      <a:lnTo>
                        <a:pt x="101" y="730"/>
                      </a:lnTo>
                      <a:lnTo>
                        <a:pt x="107" y="728"/>
                      </a:lnTo>
                      <a:lnTo>
                        <a:pt x="114" y="551"/>
                      </a:lnTo>
                      <a:lnTo>
                        <a:pt x="107" y="534"/>
                      </a:lnTo>
                      <a:lnTo>
                        <a:pt x="127" y="415"/>
                      </a:lnTo>
                      <a:lnTo>
                        <a:pt x="140" y="410"/>
                      </a:lnTo>
                      <a:lnTo>
                        <a:pt x="144" y="287"/>
                      </a:lnTo>
                      <a:lnTo>
                        <a:pt x="177" y="273"/>
                      </a:lnTo>
                      <a:lnTo>
                        <a:pt x="163" y="140"/>
                      </a:lnTo>
                      <a:lnTo>
                        <a:pt x="113" y="103"/>
                      </a:lnTo>
                      <a:lnTo>
                        <a:pt x="100" y="91"/>
                      </a:lnTo>
                      <a:lnTo>
                        <a:pt x="99" y="78"/>
                      </a:lnTo>
                      <a:lnTo>
                        <a:pt x="104" y="69"/>
                      </a:lnTo>
                      <a:lnTo>
                        <a:pt x="110" y="62"/>
                      </a:lnTo>
                      <a:lnTo>
                        <a:pt x="115" y="52"/>
                      </a:lnTo>
                      <a:lnTo>
                        <a:pt x="119" y="44"/>
                      </a:lnTo>
                      <a:lnTo>
                        <a:pt x="119" y="34"/>
                      </a:lnTo>
                      <a:lnTo>
                        <a:pt x="115" y="25"/>
                      </a:lnTo>
                      <a:lnTo>
                        <a:pt x="109" y="14"/>
                      </a:lnTo>
                      <a:lnTo>
                        <a:pt x="100" y="6"/>
                      </a:lnTo>
                      <a:lnTo>
                        <a:pt x="90" y="2"/>
                      </a:lnTo>
                      <a:lnTo>
                        <a:pt x="77" y="0"/>
                      </a:lnTo>
                      <a:lnTo>
                        <a:pt x="66" y="2"/>
                      </a:lnTo>
                      <a:lnTo>
                        <a:pt x="55" y="5"/>
                      </a:lnTo>
                      <a:lnTo>
                        <a:pt x="42" y="16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20" name="Freeform 56"/>
                <p:cNvSpPr/>
                <p:nvPr/>
              </p:nvSpPr>
              <p:spPr bwMode="auto">
                <a:xfrm>
                  <a:off x="4658" y="2042"/>
                  <a:ext cx="187" cy="608"/>
                </a:xfrm>
                <a:custGeom>
                  <a:avLst/>
                  <a:gdLst>
                    <a:gd name="T0" fmla="*/ 117 w 187"/>
                    <a:gd name="T1" fmla="*/ 0 h 607"/>
                    <a:gd name="T2" fmla="*/ 76 w 187"/>
                    <a:gd name="T3" fmla="*/ 19 h 607"/>
                    <a:gd name="T4" fmla="*/ 75 w 187"/>
                    <a:gd name="T5" fmla="*/ 60 h 607"/>
                    <a:gd name="T6" fmla="*/ 55 w 187"/>
                    <a:gd name="T7" fmla="*/ 79 h 607"/>
                    <a:gd name="T8" fmla="*/ 12 w 187"/>
                    <a:gd name="T9" fmla="*/ 101 h 607"/>
                    <a:gd name="T10" fmla="*/ 5 w 187"/>
                    <a:gd name="T11" fmla="*/ 218 h 607"/>
                    <a:gd name="T12" fmla="*/ 35 w 187"/>
                    <a:gd name="T13" fmla="*/ 319 h 607"/>
                    <a:gd name="T14" fmla="*/ 63 w 187"/>
                    <a:gd name="T15" fmla="*/ 395 h 607"/>
                    <a:gd name="T16" fmla="*/ 58 w 187"/>
                    <a:gd name="T17" fmla="*/ 576 h 607"/>
                    <a:gd name="T18" fmla="*/ 63 w 187"/>
                    <a:gd name="T19" fmla="*/ 584 h 607"/>
                    <a:gd name="T20" fmla="*/ 93 w 187"/>
                    <a:gd name="T21" fmla="*/ 603 h 607"/>
                    <a:gd name="T22" fmla="*/ 109 w 187"/>
                    <a:gd name="T23" fmla="*/ 606 h 607"/>
                    <a:gd name="T24" fmla="*/ 120 w 187"/>
                    <a:gd name="T25" fmla="*/ 601 h 607"/>
                    <a:gd name="T26" fmla="*/ 114 w 187"/>
                    <a:gd name="T27" fmla="*/ 591 h 607"/>
                    <a:gd name="T28" fmla="*/ 99 w 187"/>
                    <a:gd name="T29" fmla="*/ 576 h 607"/>
                    <a:gd name="T30" fmla="*/ 105 w 187"/>
                    <a:gd name="T31" fmla="*/ 570 h 607"/>
                    <a:gd name="T32" fmla="*/ 142 w 187"/>
                    <a:gd name="T33" fmla="*/ 582 h 607"/>
                    <a:gd name="T34" fmla="*/ 146 w 187"/>
                    <a:gd name="T35" fmla="*/ 574 h 607"/>
                    <a:gd name="T36" fmla="*/ 142 w 187"/>
                    <a:gd name="T37" fmla="*/ 567 h 607"/>
                    <a:gd name="T38" fmla="*/ 131 w 187"/>
                    <a:gd name="T39" fmla="*/ 556 h 607"/>
                    <a:gd name="T40" fmla="*/ 144 w 187"/>
                    <a:gd name="T41" fmla="*/ 497 h 607"/>
                    <a:gd name="T42" fmla="*/ 157 w 187"/>
                    <a:gd name="T43" fmla="*/ 332 h 607"/>
                    <a:gd name="T44" fmla="*/ 163 w 187"/>
                    <a:gd name="T45" fmla="*/ 300 h 607"/>
                    <a:gd name="T46" fmla="*/ 151 w 187"/>
                    <a:gd name="T47" fmla="*/ 234 h 607"/>
                    <a:gd name="T48" fmla="*/ 160 w 187"/>
                    <a:gd name="T49" fmla="*/ 233 h 607"/>
                    <a:gd name="T50" fmla="*/ 168 w 187"/>
                    <a:gd name="T51" fmla="*/ 230 h 607"/>
                    <a:gd name="T52" fmla="*/ 175 w 187"/>
                    <a:gd name="T53" fmla="*/ 226 h 607"/>
                    <a:gd name="T54" fmla="*/ 180 w 187"/>
                    <a:gd name="T55" fmla="*/ 221 h 607"/>
                    <a:gd name="T56" fmla="*/ 186 w 187"/>
                    <a:gd name="T57" fmla="*/ 212 h 607"/>
                    <a:gd name="T58" fmla="*/ 181 w 187"/>
                    <a:gd name="T59" fmla="*/ 180 h 607"/>
                    <a:gd name="T60" fmla="*/ 136 w 187"/>
                    <a:gd name="T61" fmla="*/ 104 h 607"/>
                    <a:gd name="T62" fmla="*/ 120 w 187"/>
                    <a:gd name="T63" fmla="*/ 82 h 607"/>
                    <a:gd name="T64" fmla="*/ 140 w 187"/>
                    <a:gd name="T65" fmla="*/ 68 h 607"/>
                    <a:gd name="T66" fmla="*/ 140 w 187"/>
                    <a:gd name="T67" fmla="*/ 64 h 607"/>
                    <a:gd name="T68" fmla="*/ 147 w 187"/>
                    <a:gd name="T69" fmla="*/ 57 h 607"/>
                    <a:gd name="T70" fmla="*/ 146 w 187"/>
                    <a:gd name="T71" fmla="*/ 40 h 607"/>
                    <a:gd name="T72" fmla="*/ 149 w 187"/>
                    <a:gd name="T73" fmla="*/ 22 h 6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87" h="607">
                      <a:moveTo>
                        <a:pt x="140" y="7"/>
                      </a:moveTo>
                      <a:lnTo>
                        <a:pt x="117" y="0"/>
                      </a:lnTo>
                      <a:lnTo>
                        <a:pt x="93" y="4"/>
                      </a:lnTo>
                      <a:lnTo>
                        <a:pt x="76" y="19"/>
                      </a:lnTo>
                      <a:lnTo>
                        <a:pt x="70" y="38"/>
                      </a:lnTo>
                      <a:lnTo>
                        <a:pt x="75" y="60"/>
                      </a:lnTo>
                      <a:lnTo>
                        <a:pt x="67" y="73"/>
                      </a:lnTo>
                      <a:lnTo>
                        <a:pt x="55" y="79"/>
                      </a:lnTo>
                      <a:lnTo>
                        <a:pt x="22" y="93"/>
                      </a:lnTo>
                      <a:lnTo>
                        <a:pt x="12" y="101"/>
                      </a:lnTo>
                      <a:lnTo>
                        <a:pt x="0" y="198"/>
                      </a:lnTo>
                      <a:lnTo>
                        <a:pt x="5" y="218"/>
                      </a:lnTo>
                      <a:lnTo>
                        <a:pt x="39" y="226"/>
                      </a:lnTo>
                      <a:lnTo>
                        <a:pt x="35" y="319"/>
                      </a:lnTo>
                      <a:lnTo>
                        <a:pt x="58" y="328"/>
                      </a:lnTo>
                      <a:lnTo>
                        <a:pt x="63" y="395"/>
                      </a:lnTo>
                      <a:lnTo>
                        <a:pt x="59" y="512"/>
                      </a:lnTo>
                      <a:lnTo>
                        <a:pt x="58" y="576"/>
                      </a:lnTo>
                      <a:lnTo>
                        <a:pt x="63" y="578"/>
                      </a:lnTo>
                      <a:lnTo>
                        <a:pt x="63" y="584"/>
                      </a:lnTo>
                      <a:lnTo>
                        <a:pt x="81" y="595"/>
                      </a:lnTo>
                      <a:lnTo>
                        <a:pt x="93" y="603"/>
                      </a:lnTo>
                      <a:lnTo>
                        <a:pt x="100" y="606"/>
                      </a:lnTo>
                      <a:lnTo>
                        <a:pt x="109" y="606"/>
                      </a:lnTo>
                      <a:lnTo>
                        <a:pt x="118" y="604"/>
                      </a:lnTo>
                      <a:lnTo>
                        <a:pt x="120" y="601"/>
                      </a:lnTo>
                      <a:lnTo>
                        <a:pt x="118" y="596"/>
                      </a:lnTo>
                      <a:lnTo>
                        <a:pt x="114" y="591"/>
                      </a:lnTo>
                      <a:lnTo>
                        <a:pt x="107" y="583"/>
                      </a:lnTo>
                      <a:lnTo>
                        <a:pt x="99" y="576"/>
                      </a:lnTo>
                      <a:lnTo>
                        <a:pt x="105" y="578"/>
                      </a:lnTo>
                      <a:lnTo>
                        <a:pt x="105" y="570"/>
                      </a:lnTo>
                      <a:lnTo>
                        <a:pt x="131" y="582"/>
                      </a:lnTo>
                      <a:lnTo>
                        <a:pt x="142" y="582"/>
                      </a:lnTo>
                      <a:lnTo>
                        <a:pt x="146" y="578"/>
                      </a:lnTo>
                      <a:lnTo>
                        <a:pt x="146" y="574"/>
                      </a:lnTo>
                      <a:lnTo>
                        <a:pt x="145" y="571"/>
                      </a:lnTo>
                      <a:lnTo>
                        <a:pt x="142" y="567"/>
                      </a:lnTo>
                      <a:lnTo>
                        <a:pt x="136" y="561"/>
                      </a:lnTo>
                      <a:lnTo>
                        <a:pt x="131" y="556"/>
                      </a:lnTo>
                      <a:lnTo>
                        <a:pt x="138" y="555"/>
                      </a:lnTo>
                      <a:lnTo>
                        <a:pt x="144" y="497"/>
                      </a:lnTo>
                      <a:lnTo>
                        <a:pt x="146" y="407"/>
                      </a:lnTo>
                      <a:lnTo>
                        <a:pt x="157" y="332"/>
                      </a:lnTo>
                      <a:lnTo>
                        <a:pt x="160" y="311"/>
                      </a:lnTo>
                      <a:lnTo>
                        <a:pt x="163" y="300"/>
                      </a:lnTo>
                      <a:lnTo>
                        <a:pt x="155" y="255"/>
                      </a:lnTo>
                      <a:lnTo>
                        <a:pt x="151" y="234"/>
                      </a:lnTo>
                      <a:lnTo>
                        <a:pt x="157" y="236"/>
                      </a:lnTo>
                      <a:lnTo>
                        <a:pt x="160" y="233"/>
                      </a:lnTo>
                      <a:lnTo>
                        <a:pt x="163" y="233"/>
                      </a:lnTo>
                      <a:lnTo>
                        <a:pt x="168" y="230"/>
                      </a:lnTo>
                      <a:lnTo>
                        <a:pt x="173" y="230"/>
                      </a:lnTo>
                      <a:lnTo>
                        <a:pt x="175" y="226"/>
                      </a:lnTo>
                      <a:lnTo>
                        <a:pt x="178" y="225"/>
                      </a:lnTo>
                      <a:lnTo>
                        <a:pt x="180" y="221"/>
                      </a:lnTo>
                      <a:lnTo>
                        <a:pt x="184" y="218"/>
                      </a:lnTo>
                      <a:lnTo>
                        <a:pt x="186" y="212"/>
                      </a:lnTo>
                      <a:lnTo>
                        <a:pt x="177" y="192"/>
                      </a:lnTo>
                      <a:lnTo>
                        <a:pt x="181" y="180"/>
                      </a:lnTo>
                      <a:lnTo>
                        <a:pt x="163" y="192"/>
                      </a:lnTo>
                      <a:lnTo>
                        <a:pt x="136" y="104"/>
                      </a:lnTo>
                      <a:lnTo>
                        <a:pt x="116" y="86"/>
                      </a:lnTo>
                      <a:lnTo>
                        <a:pt x="120" y="82"/>
                      </a:lnTo>
                      <a:lnTo>
                        <a:pt x="138" y="79"/>
                      </a:lnTo>
                      <a:lnTo>
                        <a:pt x="140" y="68"/>
                      </a:lnTo>
                      <a:lnTo>
                        <a:pt x="133" y="65"/>
                      </a:lnTo>
                      <a:lnTo>
                        <a:pt x="140" y="64"/>
                      </a:lnTo>
                      <a:lnTo>
                        <a:pt x="140" y="60"/>
                      </a:lnTo>
                      <a:lnTo>
                        <a:pt x="147" y="57"/>
                      </a:lnTo>
                      <a:lnTo>
                        <a:pt x="142" y="43"/>
                      </a:lnTo>
                      <a:lnTo>
                        <a:pt x="146" y="40"/>
                      </a:lnTo>
                      <a:lnTo>
                        <a:pt x="144" y="22"/>
                      </a:lnTo>
                      <a:lnTo>
                        <a:pt x="149" y="22"/>
                      </a:lnTo>
                      <a:lnTo>
                        <a:pt x="140" y="7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21" name="Freeform 57"/>
                <p:cNvSpPr/>
                <p:nvPr/>
              </p:nvSpPr>
              <p:spPr bwMode="auto">
                <a:xfrm>
                  <a:off x="2617" y="2147"/>
                  <a:ext cx="166" cy="809"/>
                </a:xfrm>
                <a:custGeom>
                  <a:avLst/>
                  <a:gdLst>
                    <a:gd name="T0" fmla="*/ 108 w 166"/>
                    <a:gd name="T1" fmla="*/ 12 h 811"/>
                    <a:gd name="T2" fmla="*/ 69 w 166"/>
                    <a:gd name="T3" fmla="*/ 0 h 811"/>
                    <a:gd name="T4" fmla="*/ 40 w 166"/>
                    <a:gd name="T5" fmla="*/ 0 h 811"/>
                    <a:gd name="T6" fmla="*/ 14 w 166"/>
                    <a:gd name="T7" fmla="*/ 7 h 811"/>
                    <a:gd name="T8" fmla="*/ 4 w 166"/>
                    <a:gd name="T9" fmla="*/ 35 h 811"/>
                    <a:gd name="T10" fmla="*/ 4 w 166"/>
                    <a:gd name="T11" fmla="*/ 59 h 811"/>
                    <a:gd name="T12" fmla="*/ 18 w 166"/>
                    <a:gd name="T13" fmla="*/ 87 h 811"/>
                    <a:gd name="T14" fmla="*/ 30 w 166"/>
                    <a:gd name="T15" fmla="*/ 87 h 811"/>
                    <a:gd name="T16" fmla="*/ 14 w 166"/>
                    <a:gd name="T17" fmla="*/ 119 h 811"/>
                    <a:gd name="T18" fmla="*/ 0 w 166"/>
                    <a:gd name="T19" fmla="*/ 174 h 811"/>
                    <a:gd name="T20" fmla="*/ 0 w 166"/>
                    <a:gd name="T21" fmla="*/ 221 h 811"/>
                    <a:gd name="T22" fmla="*/ 4 w 166"/>
                    <a:gd name="T23" fmla="*/ 280 h 811"/>
                    <a:gd name="T24" fmla="*/ 14 w 166"/>
                    <a:gd name="T25" fmla="*/ 338 h 811"/>
                    <a:gd name="T26" fmla="*/ 33 w 166"/>
                    <a:gd name="T27" fmla="*/ 341 h 811"/>
                    <a:gd name="T28" fmla="*/ 33 w 166"/>
                    <a:gd name="T29" fmla="*/ 358 h 811"/>
                    <a:gd name="T30" fmla="*/ 43 w 166"/>
                    <a:gd name="T31" fmla="*/ 365 h 811"/>
                    <a:gd name="T32" fmla="*/ 43 w 166"/>
                    <a:gd name="T33" fmla="*/ 424 h 811"/>
                    <a:gd name="T34" fmla="*/ 53 w 166"/>
                    <a:gd name="T35" fmla="*/ 435 h 811"/>
                    <a:gd name="T36" fmla="*/ 53 w 166"/>
                    <a:gd name="T37" fmla="*/ 544 h 811"/>
                    <a:gd name="T38" fmla="*/ 53 w 166"/>
                    <a:gd name="T39" fmla="*/ 613 h 811"/>
                    <a:gd name="T40" fmla="*/ 38 w 166"/>
                    <a:gd name="T41" fmla="*/ 689 h 811"/>
                    <a:gd name="T42" fmla="*/ 32 w 166"/>
                    <a:gd name="T43" fmla="*/ 788 h 811"/>
                    <a:gd name="T44" fmla="*/ 49 w 166"/>
                    <a:gd name="T45" fmla="*/ 795 h 811"/>
                    <a:gd name="T46" fmla="*/ 49 w 166"/>
                    <a:gd name="T47" fmla="*/ 807 h 811"/>
                    <a:gd name="T48" fmla="*/ 77 w 166"/>
                    <a:gd name="T49" fmla="*/ 807 h 811"/>
                    <a:gd name="T50" fmla="*/ 82 w 166"/>
                    <a:gd name="T51" fmla="*/ 803 h 811"/>
                    <a:gd name="T52" fmla="*/ 93 w 166"/>
                    <a:gd name="T53" fmla="*/ 803 h 811"/>
                    <a:gd name="T54" fmla="*/ 93 w 166"/>
                    <a:gd name="T55" fmla="*/ 810 h 811"/>
                    <a:gd name="T56" fmla="*/ 113 w 166"/>
                    <a:gd name="T57" fmla="*/ 807 h 811"/>
                    <a:gd name="T58" fmla="*/ 156 w 166"/>
                    <a:gd name="T59" fmla="*/ 803 h 811"/>
                    <a:gd name="T60" fmla="*/ 156 w 166"/>
                    <a:gd name="T61" fmla="*/ 796 h 811"/>
                    <a:gd name="T62" fmla="*/ 117 w 166"/>
                    <a:gd name="T63" fmla="*/ 780 h 811"/>
                    <a:gd name="T64" fmla="*/ 117 w 166"/>
                    <a:gd name="T65" fmla="*/ 766 h 811"/>
                    <a:gd name="T66" fmla="*/ 152 w 166"/>
                    <a:gd name="T67" fmla="*/ 759 h 811"/>
                    <a:gd name="T68" fmla="*/ 152 w 166"/>
                    <a:gd name="T69" fmla="*/ 749 h 811"/>
                    <a:gd name="T70" fmla="*/ 128 w 166"/>
                    <a:gd name="T71" fmla="*/ 734 h 811"/>
                    <a:gd name="T72" fmla="*/ 128 w 166"/>
                    <a:gd name="T73" fmla="*/ 624 h 811"/>
                    <a:gd name="T74" fmla="*/ 136 w 166"/>
                    <a:gd name="T75" fmla="*/ 523 h 811"/>
                    <a:gd name="T76" fmla="*/ 134 w 166"/>
                    <a:gd name="T77" fmla="*/ 422 h 811"/>
                    <a:gd name="T78" fmla="*/ 132 w 166"/>
                    <a:gd name="T79" fmla="*/ 365 h 811"/>
                    <a:gd name="T80" fmla="*/ 136 w 166"/>
                    <a:gd name="T81" fmla="*/ 348 h 811"/>
                    <a:gd name="T82" fmla="*/ 136 w 166"/>
                    <a:gd name="T83" fmla="*/ 268 h 811"/>
                    <a:gd name="T84" fmla="*/ 165 w 166"/>
                    <a:gd name="T85" fmla="*/ 251 h 811"/>
                    <a:gd name="T86" fmla="*/ 165 w 166"/>
                    <a:gd name="T87" fmla="*/ 240 h 811"/>
                    <a:gd name="T88" fmla="*/ 103 w 166"/>
                    <a:gd name="T89" fmla="*/ 131 h 811"/>
                    <a:gd name="T90" fmla="*/ 72 w 166"/>
                    <a:gd name="T91" fmla="*/ 117 h 811"/>
                    <a:gd name="T92" fmla="*/ 77 w 166"/>
                    <a:gd name="T93" fmla="*/ 110 h 811"/>
                    <a:gd name="T94" fmla="*/ 97 w 166"/>
                    <a:gd name="T95" fmla="*/ 105 h 811"/>
                    <a:gd name="T96" fmla="*/ 97 w 166"/>
                    <a:gd name="T97" fmla="*/ 99 h 811"/>
                    <a:gd name="T98" fmla="*/ 103 w 166"/>
                    <a:gd name="T99" fmla="*/ 95 h 811"/>
                    <a:gd name="T100" fmla="*/ 103 w 166"/>
                    <a:gd name="T101" fmla="*/ 87 h 811"/>
                    <a:gd name="T102" fmla="*/ 108 w 166"/>
                    <a:gd name="T103" fmla="*/ 84 h 811"/>
                    <a:gd name="T104" fmla="*/ 103 w 166"/>
                    <a:gd name="T105" fmla="*/ 80 h 811"/>
                    <a:gd name="T106" fmla="*/ 107 w 166"/>
                    <a:gd name="T107" fmla="*/ 77 h 811"/>
                    <a:gd name="T108" fmla="*/ 97 w 166"/>
                    <a:gd name="T109" fmla="*/ 59 h 811"/>
                    <a:gd name="T110" fmla="*/ 103 w 166"/>
                    <a:gd name="T111" fmla="*/ 49 h 811"/>
                    <a:gd name="T112" fmla="*/ 97 w 166"/>
                    <a:gd name="T113" fmla="*/ 38 h 811"/>
                    <a:gd name="T114" fmla="*/ 107 w 166"/>
                    <a:gd name="T115" fmla="*/ 30 h 811"/>
                    <a:gd name="T116" fmla="*/ 108 w 166"/>
                    <a:gd name="T117" fmla="*/ 12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66" h="811">
                      <a:moveTo>
                        <a:pt x="108" y="12"/>
                      </a:moveTo>
                      <a:lnTo>
                        <a:pt x="69" y="0"/>
                      </a:lnTo>
                      <a:lnTo>
                        <a:pt x="40" y="0"/>
                      </a:lnTo>
                      <a:lnTo>
                        <a:pt x="14" y="7"/>
                      </a:lnTo>
                      <a:lnTo>
                        <a:pt x="4" y="35"/>
                      </a:lnTo>
                      <a:lnTo>
                        <a:pt x="4" y="59"/>
                      </a:lnTo>
                      <a:lnTo>
                        <a:pt x="18" y="87"/>
                      </a:lnTo>
                      <a:lnTo>
                        <a:pt x="30" y="87"/>
                      </a:lnTo>
                      <a:lnTo>
                        <a:pt x="14" y="119"/>
                      </a:lnTo>
                      <a:lnTo>
                        <a:pt x="0" y="174"/>
                      </a:lnTo>
                      <a:lnTo>
                        <a:pt x="0" y="221"/>
                      </a:lnTo>
                      <a:lnTo>
                        <a:pt x="4" y="280"/>
                      </a:lnTo>
                      <a:lnTo>
                        <a:pt x="14" y="338"/>
                      </a:lnTo>
                      <a:lnTo>
                        <a:pt x="33" y="341"/>
                      </a:lnTo>
                      <a:lnTo>
                        <a:pt x="33" y="358"/>
                      </a:lnTo>
                      <a:lnTo>
                        <a:pt x="43" y="365"/>
                      </a:lnTo>
                      <a:lnTo>
                        <a:pt x="43" y="424"/>
                      </a:lnTo>
                      <a:lnTo>
                        <a:pt x="53" y="435"/>
                      </a:lnTo>
                      <a:lnTo>
                        <a:pt x="53" y="544"/>
                      </a:lnTo>
                      <a:lnTo>
                        <a:pt x="53" y="613"/>
                      </a:lnTo>
                      <a:lnTo>
                        <a:pt x="38" y="689"/>
                      </a:lnTo>
                      <a:lnTo>
                        <a:pt x="32" y="788"/>
                      </a:lnTo>
                      <a:lnTo>
                        <a:pt x="49" y="795"/>
                      </a:lnTo>
                      <a:lnTo>
                        <a:pt x="49" y="807"/>
                      </a:lnTo>
                      <a:lnTo>
                        <a:pt x="77" y="807"/>
                      </a:lnTo>
                      <a:lnTo>
                        <a:pt x="82" y="803"/>
                      </a:lnTo>
                      <a:lnTo>
                        <a:pt x="93" y="803"/>
                      </a:lnTo>
                      <a:lnTo>
                        <a:pt x="93" y="810"/>
                      </a:lnTo>
                      <a:lnTo>
                        <a:pt x="113" y="807"/>
                      </a:lnTo>
                      <a:lnTo>
                        <a:pt x="156" y="803"/>
                      </a:lnTo>
                      <a:lnTo>
                        <a:pt x="156" y="796"/>
                      </a:lnTo>
                      <a:lnTo>
                        <a:pt x="117" y="780"/>
                      </a:lnTo>
                      <a:lnTo>
                        <a:pt x="117" y="766"/>
                      </a:lnTo>
                      <a:lnTo>
                        <a:pt x="152" y="759"/>
                      </a:lnTo>
                      <a:lnTo>
                        <a:pt x="152" y="749"/>
                      </a:lnTo>
                      <a:lnTo>
                        <a:pt x="128" y="734"/>
                      </a:lnTo>
                      <a:lnTo>
                        <a:pt x="128" y="624"/>
                      </a:lnTo>
                      <a:lnTo>
                        <a:pt x="136" y="523"/>
                      </a:lnTo>
                      <a:lnTo>
                        <a:pt x="134" y="422"/>
                      </a:lnTo>
                      <a:lnTo>
                        <a:pt x="132" y="365"/>
                      </a:lnTo>
                      <a:lnTo>
                        <a:pt x="136" y="348"/>
                      </a:lnTo>
                      <a:lnTo>
                        <a:pt x="136" y="268"/>
                      </a:lnTo>
                      <a:lnTo>
                        <a:pt x="165" y="251"/>
                      </a:lnTo>
                      <a:lnTo>
                        <a:pt x="165" y="240"/>
                      </a:lnTo>
                      <a:lnTo>
                        <a:pt x="103" y="131"/>
                      </a:lnTo>
                      <a:lnTo>
                        <a:pt x="72" y="117"/>
                      </a:lnTo>
                      <a:lnTo>
                        <a:pt x="77" y="110"/>
                      </a:lnTo>
                      <a:lnTo>
                        <a:pt x="97" y="105"/>
                      </a:lnTo>
                      <a:lnTo>
                        <a:pt x="97" y="99"/>
                      </a:lnTo>
                      <a:lnTo>
                        <a:pt x="103" y="95"/>
                      </a:lnTo>
                      <a:lnTo>
                        <a:pt x="103" y="87"/>
                      </a:lnTo>
                      <a:lnTo>
                        <a:pt x="108" y="84"/>
                      </a:lnTo>
                      <a:lnTo>
                        <a:pt x="103" y="80"/>
                      </a:lnTo>
                      <a:lnTo>
                        <a:pt x="107" y="77"/>
                      </a:lnTo>
                      <a:lnTo>
                        <a:pt x="97" y="59"/>
                      </a:lnTo>
                      <a:lnTo>
                        <a:pt x="103" y="49"/>
                      </a:lnTo>
                      <a:lnTo>
                        <a:pt x="97" y="38"/>
                      </a:lnTo>
                      <a:lnTo>
                        <a:pt x="107" y="30"/>
                      </a:lnTo>
                      <a:lnTo>
                        <a:pt x="108" y="12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22" name="Freeform 58"/>
                <p:cNvSpPr/>
                <p:nvPr/>
              </p:nvSpPr>
              <p:spPr bwMode="auto">
                <a:xfrm>
                  <a:off x="2771" y="2257"/>
                  <a:ext cx="242" cy="835"/>
                </a:xfrm>
                <a:custGeom>
                  <a:avLst/>
                  <a:gdLst>
                    <a:gd name="T0" fmla="*/ 93 w 242"/>
                    <a:gd name="T1" fmla="*/ 11 h 835"/>
                    <a:gd name="T2" fmla="*/ 81 w 242"/>
                    <a:gd name="T3" fmla="*/ 57 h 835"/>
                    <a:gd name="T4" fmla="*/ 89 w 242"/>
                    <a:gd name="T5" fmla="*/ 62 h 835"/>
                    <a:gd name="T6" fmla="*/ 97 w 242"/>
                    <a:gd name="T7" fmla="*/ 80 h 835"/>
                    <a:gd name="T8" fmla="*/ 108 w 242"/>
                    <a:gd name="T9" fmla="*/ 108 h 835"/>
                    <a:gd name="T10" fmla="*/ 97 w 242"/>
                    <a:gd name="T11" fmla="*/ 114 h 835"/>
                    <a:gd name="T12" fmla="*/ 43 w 242"/>
                    <a:gd name="T13" fmla="*/ 156 h 835"/>
                    <a:gd name="T14" fmla="*/ 7 w 242"/>
                    <a:gd name="T15" fmla="*/ 409 h 835"/>
                    <a:gd name="T16" fmla="*/ 0 w 242"/>
                    <a:gd name="T17" fmla="*/ 452 h 835"/>
                    <a:gd name="T18" fmla="*/ 15 w 242"/>
                    <a:gd name="T19" fmla="*/ 477 h 835"/>
                    <a:gd name="T20" fmla="*/ 26 w 242"/>
                    <a:gd name="T21" fmla="*/ 483 h 835"/>
                    <a:gd name="T22" fmla="*/ 26 w 242"/>
                    <a:gd name="T23" fmla="*/ 444 h 835"/>
                    <a:gd name="T24" fmla="*/ 26 w 242"/>
                    <a:gd name="T25" fmla="*/ 464 h 835"/>
                    <a:gd name="T26" fmla="*/ 39 w 242"/>
                    <a:gd name="T27" fmla="*/ 450 h 835"/>
                    <a:gd name="T28" fmla="*/ 46 w 242"/>
                    <a:gd name="T29" fmla="*/ 418 h 835"/>
                    <a:gd name="T30" fmla="*/ 78 w 242"/>
                    <a:gd name="T31" fmla="*/ 636 h 835"/>
                    <a:gd name="T32" fmla="*/ 93 w 242"/>
                    <a:gd name="T33" fmla="*/ 769 h 835"/>
                    <a:gd name="T34" fmla="*/ 85 w 242"/>
                    <a:gd name="T35" fmla="*/ 828 h 835"/>
                    <a:gd name="T36" fmla="*/ 124 w 242"/>
                    <a:gd name="T37" fmla="*/ 820 h 835"/>
                    <a:gd name="T38" fmla="*/ 113 w 242"/>
                    <a:gd name="T39" fmla="*/ 744 h 835"/>
                    <a:gd name="T40" fmla="*/ 128 w 242"/>
                    <a:gd name="T41" fmla="*/ 642 h 835"/>
                    <a:gd name="T42" fmla="*/ 132 w 242"/>
                    <a:gd name="T43" fmla="*/ 742 h 835"/>
                    <a:gd name="T44" fmla="*/ 139 w 242"/>
                    <a:gd name="T45" fmla="*/ 812 h 835"/>
                    <a:gd name="T46" fmla="*/ 171 w 242"/>
                    <a:gd name="T47" fmla="*/ 814 h 835"/>
                    <a:gd name="T48" fmla="*/ 183 w 242"/>
                    <a:gd name="T49" fmla="*/ 636 h 835"/>
                    <a:gd name="T50" fmla="*/ 197 w 242"/>
                    <a:gd name="T51" fmla="*/ 619 h 835"/>
                    <a:gd name="T52" fmla="*/ 234 w 242"/>
                    <a:gd name="T53" fmla="*/ 636 h 835"/>
                    <a:gd name="T54" fmla="*/ 214 w 242"/>
                    <a:gd name="T55" fmla="*/ 425 h 835"/>
                    <a:gd name="T56" fmla="*/ 218 w 242"/>
                    <a:gd name="T57" fmla="*/ 384 h 835"/>
                    <a:gd name="T58" fmla="*/ 214 w 242"/>
                    <a:gd name="T59" fmla="*/ 280 h 835"/>
                    <a:gd name="T60" fmla="*/ 160 w 242"/>
                    <a:gd name="T61" fmla="*/ 140 h 835"/>
                    <a:gd name="T62" fmla="*/ 160 w 242"/>
                    <a:gd name="T63" fmla="*/ 91 h 835"/>
                    <a:gd name="T64" fmla="*/ 171 w 242"/>
                    <a:gd name="T65" fmla="*/ 83 h 835"/>
                    <a:gd name="T66" fmla="*/ 183 w 242"/>
                    <a:gd name="T67" fmla="*/ 69 h 835"/>
                    <a:gd name="T68" fmla="*/ 175 w 242"/>
                    <a:gd name="T69" fmla="*/ 11 h 835"/>
                    <a:gd name="T70" fmla="*/ 146 w 242"/>
                    <a:gd name="T71" fmla="*/ 3 h 835"/>
                    <a:gd name="T72" fmla="*/ 121 w 242"/>
                    <a:gd name="T73" fmla="*/ 6 h 8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42" h="835">
                      <a:moveTo>
                        <a:pt x="121" y="6"/>
                      </a:moveTo>
                      <a:lnTo>
                        <a:pt x="93" y="11"/>
                      </a:lnTo>
                      <a:lnTo>
                        <a:pt x="81" y="43"/>
                      </a:lnTo>
                      <a:lnTo>
                        <a:pt x="81" y="57"/>
                      </a:lnTo>
                      <a:lnTo>
                        <a:pt x="93" y="57"/>
                      </a:lnTo>
                      <a:lnTo>
                        <a:pt x="89" y="62"/>
                      </a:lnTo>
                      <a:lnTo>
                        <a:pt x="93" y="66"/>
                      </a:lnTo>
                      <a:lnTo>
                        <a:pt x="97" y="80"/>
                      </a:lnTo>
                      <a:lnTo>
                        <a:pt x="100" y="82"/>
                      </a:lnTo>
                      <a:lnTo>
                        <a:pt x="108" y="108"/>
                      </a:lnTo>
                      <a:lnTo>
                        <a:pt x="108" y="114"/>
                      </a:lnTo>
                      <a:lnTo>
                        <a:pt x="97" y="114"/>
                      </a:lnTo>
                      <a:lnTo>
                        <a:pt x="77" y="146"/>
                      </a:lnTo>
                      <a:lnTo>
                        <a:pt x="43" y="156"/>
                      </a:lnTo>
                      <a:lnTo>
                        <a:pt x="26" y="181"/>
                      </a:lnTo>
                      <a:lnTo>
                        <a:pt x="7" y="409"/>
                      </a:lnTo>
                      <a:lnTo>
                        <a:pt x="15" y="412"/>
                      </a:lnTo>
                      <a:lnTo>
                        <a:pt x="0" y="452"/>
                      </a:lnTo>
                      <a:lnTo>
                        <a:pt x="7" y="477"/>
                      </a:lnTo>
                      <a:lnTo>
                        <a:pt x="15" y="477"/>
                      </a:lnTo>
                      <a:lnTo>
                        <a:pt x="19" y="483"/>
                      </a:lnTo>
                      <a:lnTo>
                        <a:pt x="26" y="483"/>
                      </a:lnTo>
                      <a:lnTo>
                        <a:pt x="22" y="459"/>
                      </a:lnTo>
                      <a:lnTo>
                        <a:pt x="26" y="444"/>
                      </a:lnTo>
                      <a:lnTo>
                        <a:pt x="30" y="456"/>
                      </a:lnTo>
                      <a:lnTo>
                        <a:pt x="26" y="464"/>
                      </a:lnTo>
                      <a:lnTo>
                        <a:pt x="31" y="469"/>
                      </a:lnTo>
                      <a:lnTo>
                        <a:pt x="39" y="450"/>
                      </a:lnTo>
                      <a:lnTo>
                        <a:pt x="33" y="416"/>
                      </a:lnTo>
                      <a:lnTo>
                        <a:pt x="46" y="418"/>
                      </a:lnTo>
                      <a:lnTo>
                        <a:pt x="39" y="624"/>
                      </a:lnTo>
                      <a:lnTo>
                        <a:pt x="78" y="636"/>
                      </a:lnTo>
                      <a:lnTo>
                        <a:pt x="97" y="757"/>
                      </a:lnTo>
                      <a:lnTo>
                        <a:pt x="93" y="769"/>
                      </a:lnTo>
                      <a:lnTo>
                        <a:pt x="85" y="819"/>
                      </a:lnTo>
                      <a:lnTo>
                        <a:pt x="85" y="828"/>
                      </a:lnTo>
                      <a:lnTo>
                        <a:pt x="113" y="834"/>
                      </a:lnTo>
                      <a:lnTo>
                        <a:pt x="124" y="820"/>
                      </a:lnTo>
                      <a:lnTo>
                        <a:pt x="117" y="776"/>
                      </a:lnTo>
                      <a:lnTo>
                        <a:pt x="113" y="744"/>
                      </a:lnTo>
                      <a:lnTo>
                        <a:pt x="124" y="641"/>
                      </a:lnTo>
                      <a:lnTo>
                        <a:pt x="128" y="642"/>
                      </a:lnTo>
                      <a:lnTo>
                        <a:pt x="139" y="679"/>
                      </a:lnTo>
                      <a:lnTo>
                        <a:pt x="132" y="742"/>
                      </a:lnTo>
                      <a:lnTo>
                        <a:pt x="124" y="747"/>
                      </a:lnTo>
                      <a:lnTo>
                        <a:pt x="139" y="812"/>
                      </a:lnTo>
                      <a:lnTo>
                        <a:pt x="166" y="819"/>
                      </a:lnTo>
                      <a:lnTo>
                        <a:pt x="171" y="814"/>
                      </a:lnTo>
                      <a:lnTo>
                        <a:pt x="151" y="749"/>
                      </a:lnTo>
                      <a:lnTo>
                        <a:pt x="183" y="636"/>
                      </a:lnTo>
                      <a:lnTo>
                        <a:pt x="197" y="627"/>
                      </a:lnTo>
                      <a:lnTo>
                        <a:pt x="197" y="619"/>
                      </a:lnTo>
                      <a:lnTo>
                        <a:pt x="226" y="621"/>
                      </a:lnTo>
                      <a:lnTo>
                        <a:pt x="234" y="636"/>
                      </a:lnTo>
                      <a:lnTo>
                        <a:pt x="241" y="627"/>
                      </a:lnTo>
                      <a:lnTo>
                        <a:pt x="214" y="425"/>
                      </a:lnTo>
                      <a:lnTo>
                        <a:pt x="218" y="426"/>
                      </a:lnTo>
                      <a:lnTo>
                        <a:pt x="218" y="384"/>
                      </a:lnTo>
                      <a:lnTo>
                        <a:pt x="222" y="379"/>
                      </a:lnTo>
                      <a:lnTo>
                        <a:pt x="214" y="280"/>
                      </a:lnTo>
                      <a:lnTo>
                        <a:pt x="206" y="163"/>
                      </a:lnTo>
                      <a:lnTo>
                        <a:pt x="160" y="140"/>
                      </a:lnTo>
                      <a:lnTo>
                        <a:pt x="147" y="114"/>
                      </a:lnTo>
                      <a:lnTo>
                        <a:pt x="160" y="91"/>
                      </a:lnTo>
                      <a:lnTo>
                        <a:pt x="166" y="94"/>
                      </a:lnTo>
                      <a:lnTo>
                        <a:pt x="171" y="83"/>
                      </a:lnTo>
                      <a:lnTo>
                        <a:pt x="171" y="70"/>
                      </a:lnTo>
                      <a:lnTo>
                        <a:pt x="183" y="69"/>
                      </a:lnTo>
                      <a:lnTo>
                        <a:pt x="186" y="36"/>
                      </a:lnTo>
                      <a:lnTo>
                        <a:pt x="175" y="11"/>
                      </a:lnTo>
                      <a:lnTo>
                        <a:pt x="163" y="3"/>
                      </a:lnTo>
                      <a:lnTo>
                        <a:pt x="146" y="3"/>
                      </a:lnTo>
                      <a:lnTo>
                        <a:pt x="133" y="0"/>
                      </a:lnTo>
                      <a:lnTo>
                        <a:pt x="121" y="6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23" name="Freeform 59"/>
                <p:cNvSpPr/>
                <p:nvPr/>
              </p:nvSpPr>
              <p:spPr bwMode="auto">
                <a:xfrm>
                  <a:off x="4083" y="2250"/>
                  <a:ext cx="269" cy="848"/>
                </a:xfrm>
                <a:custGeom>
                  <a:avLst/>
                  <a:gdLst>
                    <a:gd name="T0" fmla="*/ 163 w 268"/>
                    <a:gd name="T1" fmla="*/ 11 h 851"/>
                    <a:gd name="T2" fmla="*/ 176 w 268"/>
                    <a:gd name="T3" fmla="*/ 58 h 851"/>
                    <a:gd name="T4" fmla="*/ 167 w 268"/>
                    <a:gd name="T5" fmla="*/ 63 h 851"/>
                    <a:gd name="T6" fmla="*/ 159 w 268"/>
                    <a:gd name="T7" fmla="*/ 81 h 851"/>
                    <a:gd name="T8" fmla="*/ 145 w 268"/>
                    <a:gd name="T9" fmla="*/ 110 h 851"/>
                    <a:gd name="T10" fmla="*/ 159 w 268"/>
                    <a:gd name="T11" fmla="*/ 116 h 851"/>
                    <a:gd name="T12" fmla="*/ 219 w 268"/>
                    <a:gd name="T13" fmla="*/ 159 h 851"/>
                    <a:gd name="T14" fmla="*/ 258 w 268"/>
                    <a:gd name="T15" fmla="*/ 417 h 851"/>
                    <a:gd name="T16" fmla="*/ 267 w 268"/>
                    <a:gd name="T17" fmla="*/ 461 h 851"/>
                    <a:gd name="T18" fmla="*/ 250 w 268"/>
                    <a:gd name="T19" fmla="*/ 486 h 851"/>
                    <a:gd name="T20" fmla="*/ 237 w 268"/>
                    <a:gd name="T21" fmla="*/ 492 h 851"/>
                    <a:gd name="T22" fmla="*/ 237 w 268"/>
                    <a:gd name="T23" fmla="*/ 453 h 851"/>
                    <a:gd name="T24" fmla="*/ 237 w 268"/>
                    <a:gd name="T25" fmla="*/ 472 h 851"/>
                    <a:gd name="T26" fmla="*/ 223 w 268"/>
                    <a:gd name="T27" fmla="*/ 458 h 851"/>
                    <a:gd name="T28" fmla="*/ 215 w 268"/>
                    <a:gd name="T29" fmla="*/ 426 h 851"/>
                    <a:gd name="T30" fmla="*/ 180 w 268"/>
                    <a:gd name="T31" fmla="*/ 648 h 851"/>
                    <a:gd name="T32" fmla="*/ 163 w 268"/>
                    <a:gd name="T33" fmla="*/ 784 h 851"/>
                    <a:gd name="T34" fmla="*/ 172 w 268"/>
                    <a:gd name="T35" fmla="*/ 845 h 851"/>
                    <a:gd name="T36" fmla="*/ 129 w 268"/>
                    <a:gd name="T37" fmla="*/ 836 h 851"/>
                    <a:gd name="T38" fmla="*/ 141 w 268"/>
                    <a:gd name="T39" fmla="*/ 759 h 851"/>
                    <a:gd name="T40" fmla="*/ 124 w 268"/>
                    <a:gd name="T41" fmla="*/ 655 h 851"/>
                    <a:gd name="T42" fmla="*/ 120 w 268"/>
                    <a:gd name="T43" fmla="*/ 756 h 851"/>
                    <a:gd name="T44" fmla="*/ 112 w 268"/>
                    <a:gd name="T45" fmla="*/ 827 h 851"/>
                    <a:gd name="T46" fmla="*/ 77 w 268"/>
                    <a:gd name="T47" fmla="*/ 831 h 851"/>
                    <a:gd name="T48" fmla="*/ 63 w 268"/>
                    <a:gd name="T49" fmla="*/ 648 h 851"/>
                    <a:gd name="T50" fmla="*/ 48 w 268"/>
                    <a:gd name="T51" fmla="*/ 631 h 851"/>
                    <a:gd name="T52" fmla="*/ 8 w 268"/>
                    <a:gd name="T53" fmla="*/ 648 h 851"/>
                    <a:gd name="T54" fmla="*/ 30 w 268"/>
                    <a:gd name="T55" fmla="*/ 433 h 851"/>
                    <a:gd name="T56" fmla="*/ 25 w 268"/>
                    <a:gd name="T57" fmla="*/ 392 h 851"/>
                    <a:gd name="T58" fmla="*/ 29 w 268"/>
                    <a:gd name="T59" fmla="*/ 285 h 851"/>
                    <a:gd name="T60" fmla="*/ 89 w 268"/>
                    <a:gd name="T61" fmla="*/ 143 h 851"/>
                    <a:gd name="T62" fmla="*/ 89 w 268"/>
                    <a:gd name="T63" fmla="*/ 93 h 851"/>
                    <a:gd name="T64" fmla="*/ 77 w 268"/>
                    <a:gd name="T65" fmla="*/ 84 h 851"/>
                    <a:gd name="T66" fmla="*/ 63 w 268"/>
                    <a:gd name="T67" fmla="*/ 70 h 851"/>
                    <a:gd name="T68" fmla="*/ 72 w 268"/>
                    <a:gd name="T69" fmla="*/ 11 h 851"/>
                    <a:gd name="T70" fmla="*/ 105 w 268"/>
                    <a:gd name="T71" fmla="*/ 2 h 851"/>
                    <a:gd name="T72" fmla="*/ 132 w 268"/>
                    <a:gd name="T73" fmla="*/ 6 h 8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68" h="851">
                      <a:moveTo>
                        <a:pt x="132" y="6"/>
                      </a:moveTo>
                      <a:lnTo>
                        <a:pt x="163" y="11"/>
                      </a:lnTo>
                      <a:lnTo>
                        <a:pt x="176" y="44"/>
                      </a:lnTo>
                      <a:lnTo>
                        <a:pt x="176" y="58"/>
                      </a:lnTo>
                      <a:lnTo>
                        <a:pt x="163" y="58"/>
                      </a:lnTo>
                      <a:lnTo>
                        <a:pt x="167" y="63"/>
                      </a:lnTo>
                      <a:lnTo>
                        <a:pt x="163" y="67"/>
                      </a:lnTo>
                      <a:lnTo>
                        <a:pt x="159" y="81"/>
                      </a:lnTo>
                      <a:lnTo>
                        <a:pt x="154" y="83"/>
                      </a:lnTo>
                      <a:lnTo>
                        <a:pt x="145" y="110"/>
                      </a:lnTo>
                      <a:lnTo>
                        <a:pt x="145" y="116"/>
                      </a:lnTo>
                      <a:lnTo>
                        <a:pt x="159" y="116"/>
                      </a:lnTo>
                      <a:lnTo>
                        <a:pt x="181" y="148"/>
                      </a:lnTo>
                      <a:lnTo>
                        <a:pt x="219" y="159"/>
                      </a:lnTo>
                      <a:lnTo>
                        <a:pt x="237" y="185"/>
                      </a:lnTo>
                      <a:lnTo>
                        <a:pt x="258" y="417"/>
                      </a:lnTo>
                      <a:lnTo>
                        <a:pt x="249" y="420"/>
                      </a:lnTo>
                      <a:lnTo>
                        <a:pt x="267" y="461"/>
                      </a:lnTo>
                      <a:lnTo>
                        <a:pt x="258" y="486"/>
                      </a:lnTo>
                      <a:lnTo>
                        <a:pt x="250" y="486"/>
                      </a:lnTo>
                      <a:lnTo>
                        <a:pt x="245" y="492"/>
                      </a:lnTo>
                      <a:lnTo>
                        <a:pt x="237" y="492"/>
                      </a:lnTo>
                      <a:lnTo>
                        <a:pt x="241" y="468"/>
                      </a:lnTo>
                      <a:lnTo>
                        <a:pt x="237" y="453"/>
                      </a:lnTo>
                      <a:lnTo>
                        <a:pt x="233" y="465"/>
                      </a:lnTo>
                      <a:lnTo>
                        <a:pt x="237" y="472"/>
                      </a:lnTo>
                      <a:lnTo>
                        <a:pt x="232" y="478"/>
                      </a:lnTo>
                      <a:lnTo>
                        <a:pt x="223" y="458"/>
                      </a:lnTo>
                      <a:lnTo>
                        <a:pt x="229" y="424"/>
                      </a:lnTo>
                      <a:lnTo>
                        <a:pt x="215" y="426"/>
                      </a:lnTo>
                      <a:lnTo>
                        <a:pt x="223" y="637"/>
                      </a:lnTo>
                      <a:lnTo>
                        <a:pt x="180" y="648"/>
                      </a:lnTo>
                      <a:lnTo>
                        <a:pt x="159" y="771"/>
                      </a:lnTo>
                      <a:lnTo>
                        <a:pt x="163" y="784"/>
                      </a:lnTo>
                      <a:lnTo>
                        <a:pt x="172" y="835"/>
                      </a:lnTo>
                      <a:lnTo>
                        <a:pt x="172" y="845"/>
                      </a:lnTo>
                      <a:lnTo>
                        <a:pt x="141" y="850"/>
                      </a:lnTo>
                      <a:lnTo>
                        <a:pt x="129" y="836"/>
                      </a:lnTo>
                      <a:lnTo>
                        <a:pt x="136" y="791"/>
                      </a:lnTo>
                      <a:lnTo>
                        <a:pt x="141" y="759"/>
                      </a:lnTo>
                      <a:lnTo>
                        <a:pt x="128" y="654"/>
                      </a:lnTo>
                      <a:lnTo>
                        <a:pt x="124" y="655"/>
                      </a:lnTo>
                      <a:lnTo>
                        <a:pt x="112" y="692"/>
                      </a:lnTo>
                      <a:lnTo>
                        <a:pt x="120" y="756"/>
                      </a:lnTo>
                      <a:lnTo>
                        <a:pt x="129" y="762"/>
                      </a:lnTo>
                      <a:lnTo>
                        <a:pt x="112" y="827"/>
                      </a:lnTo>
                      <a:lnTo>
                        <a:pt x="81" y="836"/>
                      </a:lnTo>
                      <a:lnTo>
                        <a:pt x="77" y="831"/>
                      </a:lnTo>
                      <a:lnTo>
                        <a:pt x="98" y="763"/>
                      </a:lnTo>
                      <a:lnTo>
                        <a:pt x="63" y="648"/>
                      </a:lnTo>
                      <a:lnTo>
                        <a:pt x="48" y="639"/>
                      </a:lnTo>
                      <a:lnTo>
                        <a:pt x="48" y="631"/>
                      </a:lnTo>
                      <a:lnTo>
                        <a:pt x="17" y="633"/>
                      </a:lnTo>
                      <a:lnTo>
                        <a:pt x="8" y="648"/>
                      </a:lnTo>
                      <a:lnTo>
                        <a:pt x="0" y="639"/>
                      </a:lnTo>
                      <a:lnTo>
                        <a:pt x="30" y="433"/>
                      </a:lnTo>
                      <a:lnTo>
                        <a:pt x="25" y="434"/>
                      </a:lnTo>
                      <a:lnTo>
                        <a:pt x="25" y="392"/>
                      </a:lnTo>
                      <a:lnTo>
                        <a:pt x="20" y="386"/>
                      </a:lnTo>
                      <a:lnTo>
                        <a:pt x="29" y="285"/>
                      </a:lnTo>
                      <a:lnTo>
                        <a:pt x="39" y="166"/>
                      </a:lnTo>
                      <a:lnTo>
                        <a:pt x="89" y="143"/>
                      </a:lnTo>
                      <a:lnTo>
                        <a:pt x="103" y="116"/>
                      </a:lnTo>
                      <a:lnTo>
                        <a:pt x="89" y="93"/>
                      </a:lnTo>
                      <a:lnTo>
                        <a:pt x="81" y="95"/>
                      </a:lnTo>
                      <a:lnTo>
                        <a:pt x="77" y="84"/>
                      </a:lnTo>
                      <a:lnTo>
                        <a:pt x="77" y="71"/>
                      </a:lnTo>
                      <a:lnTo>
                        <a:pt x="63" y="70"/>
                      </a:lnTo>
                      <a:lnTo>
                        <a:pt x="60" y="36"/>
                      </a:lnTo>
                      <a:lnTo>
                        <a:pt x="72" y="11"/>
                      </a:lnTo>
                      <a:lnTo>
                        <a:pt x="85" y="2"/>
                      </a:lnTo>
                      <a:lnTo>
                        <a:pt x="105" y="2"/>
                      </a:lnTo>
                      <a:lnTo>
                        <a:pt x="118" y="0"/>
                      </a:lnTo>
                      <a:lnTo>
                        <a:pt x="132" y="6"/>
                      </a:lnTo>
                    </a:path>
                  </a:pathLst>
                </a:custGeom>
                <a:solidFill>
                  <a:schemeClr val="folHlink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36924" name="Freeform 60"/>
              <p:cNvSpPr/>
              <p:nvPr/>
            </p:nvSpPr>
            <p:spPr bwMode="auto">
              <a:xfrm>
                <a:off x="3183" y="2119"/>
                <a:ext cx="134" cy="602"/>
              </a:xfrm>
              <a:custGeom>
                <a:avLst/>
                <a:gdLst>
                  <a:gd name="T0" fmla="*/ 30 w 134"/>
                  <a:gd name="T1" fmla="*/ 11 h 601"/>
                  <a:gd name="T2" fmla="*/ 30 w 134"/>
                  <a:gd name="T3" fmla="*/ 27 h 601"/>
                  <a:gd name="T4" fmla="*/ 33 w 134"/>
                  <a:gd name="T5" fmla="*/ 31 h 601"/>
                  <a:gd name="T6" fmla="*/ 27 w 134"/>
                  <a:gd name="T7" fmla="*/ 42 h 601"/>
                  <a:gd name="T8" fmla="*/ 30 w 134"/>
                  <a:gd name="T9" fmla="*/ 46 h 601"/>
                  <a:gd name="T10" fmla="*/ 30 w 134"/>
                  <a:gd name="T11" fmla="*/ 51 h 601"/>
                  <a:gd name="T12" fmla="*/ 34 w 134"/>
                  <a:gd name="T13" fmla="*/ 67 h 601"/>
                  <a:gd name="T14" fmla="*/ 34 w 134"/>
                  <a:gd name="T15" fmla="*/ 70 h 601"/>
                  <a:gd name="T16" fmla="*/ 10 w 134"/>
                  <a:gd name="T17" fmla="*/ 86 h 601"/>
                  <a:gd name="T18" fmla="*/ 0 w 134"/>
                  <a:gd name="T19" fmla="*/ 211 h 601"/>
                  <a:gd name="T20" fmla="*/ 13 w 134"/>
                  <a:gd name="T21" fmla="*/ 232 h 601"/>
                  <a:gd name="T22" fmla="*/ 8 w 134"/>
                  <a:gd name="T23" fmla="*/ 300 h 601"/>
                  <a:gd name="T24" fmla="*/ 17 w 134"/>
                  <a:gd name="T25" fmla="*/ 307 h 601"/>
                  <a:gd name="T26" fmla="*/ 22 w 134"/>
                  <a:gd name="T27" fmla="*/ 413 h 601"/>
                  <a:gd name="T28" fmla="*/ 28 w 134"/>
                  <a:gd name="T29" fmla="*/ 519 h 601"/>
                  <a:gd name="T30" fmla="*/ 25 w 134"/>
                  <a:gd name="T31" fmla="*/ 525 h 601"/>
                  <a:gd name="T32" fmla="*/ 2 w 134"/>
                  <a:gd name="T33" fmla="*/ 545 h 601"/>
                  <a:gd name="T34" fmla="*/ 5 w 134"/>
                  <a:gd name="T35" fmla="*/ 548 h 601"/>
                  <a:gd name="T36" fmla="*/ 13 w 134"/>
                  <a:gd name="T37" fmla="*/ 553 h 601"/>
                  <a:gd name="T38" fmla="*/ 28 w 134"/>
                  <a:gd name="T39" fmla="*/ 548 h 601"/>
                  <a:gd name="T40" fmla="*/ 41 w 134"/>
                  <a:gd name="T41" fmla="*/ 541 h 601"/>
                  <a:gd name="T42" fmla="*/ 52 w 134"/>
                  <a:gd name="T43" fmla="*/ 537 h 601"/>
                  <a:gd name="T44" fmla="*/ 52 w 134"/>
                  <a:gd name="T45" fmla="*/ 555 h 601"/>
                  <a:gd name="T46" fmla="*/ 57 w 134"/>
                  <a:gd name="T47" fmla="*/ 555 h 601"/>
                  <a:gd name="T48" fmla="*/ 49 w 134"/>
                  <a:gd name="T49" fmla="*/ 571 h 601"/>
                  <a:gd name="T50" fmla="*/ 53 w 134"/>
                  <a:gd name="T51" fmla="*/ 596 h 601"/>
                  <a:gd name="T52" fmla="*/ 61 w 134"/>
                  <a:gd name="T53" fmla="*/ 600 h 601"/>
                  <a:gd name="T54" fmla="*/ 75 w 134"/>
                  <a:gd name="T55" fmla="*/ 579 h 601"/>
                  <a:gd name="T56" fmla="*/ 75 w 134"/>
                  <a:gd name="T57" fmla="*/ 563 h 601"/>
                  <a:gd name="T58" fmla="*/ 79 w 134"/>
                  <a:gd name="T59" fmla="*/ 562 h 601"/>
                  <a:gd name="T60" fmla="*/ 85 w 134"/>
                  <a:gd name="T61" fmla="*/ 425 h 601"/>
                  <a:gd name="T62" fmla="*/ 79 w 134"/>
                  <a:gd name="T63" fmla="*/ 412 h 601"/>
                  <a:gd name="T64" fmla="*/ 95 w 134"/>
                  <a:gd name="T65" fmla="*/ 320 h 601"/>
                  <a:gd name="T66" fmla="*/ 105 w 134"/>
                  <a:gd name="T67" fmla="*/ 316 h 601"/>
                  <a:gd name="T68" fmla="*/ 108 w 134"/>
                  <a:gd name="T69" fmla="*/ 221 h 601"/>
                  <a:gd name="T70" fmla="*/ 133 w 134"/>
                  <a:gd name="T71" fmla="*/ 210 h 601"/>
                  <a:gd name="T72" fmla="*/ 123 w 134"/>
                  <a:gd name="T73" fmla="*/ 107 h 601"/>
                  <a:gd name="T74" fmla="*/ 84 w 134"/>
                  <a:gd name="T75" fmla="*/ 79 h 601"/>
                  <a:gd name="T76" fmla="*/ 75 w 134"/>
                  <a:gd name="T77" fmla="*/ 69 h 601"/>
                  <a:gd name="T78" fmla="*/ 75 w 134"/>
                  <a:gd name="T79" fmla="*/ 60 h 601"/>
                  <a:gd name="T80" fmla="*/ 78 w 134"/>
                  <a:gd name="T81" fmla="*/ 53 h 601"/>
                  <a:gd name="T82" fmla="*/ 82 w 134"/>
                  <a:gd name="T83" fmla="*/ 47 h 601"/>
                  <a:gd name="T84" fmla="*/ 86 w 134"/>
                  <a:gd name="T85" fmla="*/ 40 h 601"/>
                  <a:gd name="T86" fmla="*/ 89 w 134"/>
                  <a:gd name="T87" fmla="*/ 33 h 601"/>
                  <a:gd name="T88" fmla="*/ 89 w 134"/>
                  <a:gd name="T89" fmla="*/ 26 h 601"/>
                  <a:gd name="T90" fmla="*/ 86 w 134"/>
                  <a:gd name="T91" fmla="*/ 18 h 601"/>
                  <a:gd name="T92" fmla="*/ 82 w 134"/>
                  <a:gd name="T93" fmla="*/ 10 h 601"/>
                  <a:gd name="T94" fmla="*/ 75 w 134"/>
                  <a:gd name="T95" fmla="*/ 4 h 601"/>
                  <a:gd name="T96" fmla="*/ 67 w 134"/>
                  <a:gd name="T97" fmla="*/ 0 h 601"/>
                  <a:gd name="T98" fmla="*/ 58 w 134"/>
                  <a:gd name="T99" fmla="*/ 0 h 601"/>
                  <a:gd name="T100" fmla="*/ 49 w 134"/>
                  <a:gd name="T101" fmla="*/ 1 h 601"/>
                  <a:gd name="T102" fmla="*/ 41 w 134"/>
                  <a:gd name="T103" fmla="*/ 4 h 601"/>
                  <a:gd name="T104" fmla="*/ 30 w 134"/>
                  <a:gd name="T105" fmla="*/ 11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4" h="601">
                    <a:moveTo>
                      <a:pt x="30" y="11"/>
                    </a:moveTo>
                    <a:lnTo>
                      <a:pt x="30" y="27"/>
                    </a:lnTo>
                    <a:lnTo>
                      <a:pt x="33" y="31"/>
                    </a:lnTo>
                    <a:lnTo>
                      <a:pt x="27" y="42"/>
                    </a:lnTo>
                    <a:lnTo>
                      <a:pt x="30" y="46"/>
                    </a:lnTo>
                    <a:lnTo>
                      <a:pt x="30" y="51"/>
                    </a:lnTo>
                    <a:lnTo>
                      <a:pt x="34" y="67"/>
                    </a:lnTo>
                    <a:lnTo>
                      <a:pt x="34" y="70"/>
                    </a:lnTo>
                    <a:lnTo>
                      <a:pt x="10" y="86"/>
                    </a:lnTo>
                    <a:lnTo>
                      <a:pt x="0" y="211"/>
                    </a:lnTo>
                    <a:lnTo>
                      <a:pt x="13" y="232"/>
                    </a:lnTo>
                    <a:lnTo>
                      <a:pt x="8" y="300"/>
                    </a:lnTo>
                    <a:lnTo>
                      <a:pt x="17" y="307"/>
                    </a:lnTo>
                    <a:lnTo>
                      <a:pt x="22" y="413"/>
                    </a:lnTo>
                    <a:lnTo>
                      <a:pt x="28" y="519"/>
                    </a:lnTo>
                    <a:lnTo>
                      <a:pt x="25" y="525"/>
                    </a:lnTo>
                    <a:lnTo>
                      <a:pt x="2" y="545"/>
                    </a:lnTo>
                    <a:lnTo>
                      <a:pt x="5" y="548"/>
                    </a:lnTo>
                    <a:lnTo>
                      <a:pt x="13" y="553"/>
                    </a:lnTo>
                    <a:lnTo>
                      <a:pt x="28" y="548"/>
                    </a:lnTo>
                    <a:lnTo>
                      <a:pt x="41" y="541"/>
                    </a:lnTo>
                    <a:lnTo>
                      <a:pt x="52" y="537"/>
                    </a:lnTo>
                    <a:lnTo>
                      <a:pt x="52" y="555"/>
                    </a:lnTo>
                    <a:lnTo>
                      <a:pt x="57" y="555"/>
                    </a:lnTo>
                    <a:lnTo>
                      <a:pt x="49" y="571"/>
                    </a:lnTo>
                    <a:lnTo>
                      <a:pt x="53" y="596"/>
                    </a:lnTo>
                    <a:lnTo>
                      <a:pt x="61" y="600"/>
                    </a:lnTo>
                    <a:lnTo>
                      <a:pt x="75" y="579"/>
                    </a:lnTo>
                    <a:lnTo>
                      <a:pt x="75" y="563"/>
                    </a:lnTo>
                    <a:lnTo>
                      <a:pt x="79" y="562"/>
                    </a:lnTo>
                    <a:lnTo>
                      <a:pt x="85" y="425"/>
                    </a:lnTo>
                    <a:lnTo>
                      <a:pt x="79" y="412"/>
                    </a:lnTo>
                    <a:lnTo>
                      <a:pt x="95" y="320"/>
                    </a:lnTo>
                    <a:lnTo>
                      <a:pt x="105" y="316"/>
                    </a:lnTo>
                    <a:lnTo>
                      <a:pt x="108" y="221"/>
                    </a:lnTo>
                    <a:lnTo>
                      <a:pt x="133" y="210"/>
                    </a:lnTo>
                    <a:lnTo>
                      <a:pt x="123" y="107"/>
                    </a:lnTo>
                    <a:lnTo>
                      <a:pt x="84" y="79"/>
                    </a:lnTo>
                    <a:lnTo>
                      <a:pt x="75" y="69"/>
                    </a:lnTo>
                    <a:lnTo>
                      <a:pt x="75" y="60"/>
                    </a:lnTo>
                    <a:lnTo>
                      <a:pt x="78" y="53"/>
                    </a:lnTo>
                    <a:lnTo>
                      <a:pt x="82" y="47"/>
                    </a:lnTo>
                    <a:lnTo>
                      <a:pt x="86" y="40"/>
                    </a:lnTo>
                    <a:lnTo>
                      <a:pt x="89" y="33"/>
                    </a:lnTo>
                    <a:lnTo>
                      <a:pt x="89" y="26"/>
                    </a:lnTo>
                    <a:lnTo>
                      <a:pt x="86" y="18"/>
                    </a:lnTo>
                    <a:lnTo>
                      <a:pt x="82" y="10"/>
                    </a:lnTo>
                    <a:lnTo>
                      <a:pt x="75" y="4"/>
                    </a:lnTo>
                    <a:lnTo>
                      <a:pt x="67" y="0"/>
                    </a:lnTo>
                    <a:lnTo>
                      <a:pt x="58" y="0"/>
                    </a:lnTo>
                    <a:lnTo>
                      <a:pt x="49" y="1"/>
                    </a:lnTo>
                    <a:lnTo>
                      <a:pt x="41" y="4"/>
                    </a:lnTo>
                    <a:lnTo>
                      <a:pt x="30" y="11"/>
                    </a:lnTo>
                  </a:path>
                </a:pathLst>
              </a:custGeom>
              <a:solidFill>
                <a:srgbClr val="EAEC5E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sz="1995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33811" name="Group 61"/>
              <p:cNvGrpSpPr/>
              <p:nvPr/>
            </p:nvGrpSpPr>
            <p:grpSpPr bwMode="auto">
              <a:xfrm>
                <a:off x="3210" y="2435"/>
                <a:ext cx="893" cy="924"/>
                <a:chOff x="3210" y="2435"/>
                <a:chExt cx="893" cy="924"/>
              </a:xfrm>
            </p:grpSpPr>
            <p:sp>
              <p:nvSpPr>
                <p:cNvPr id="36926" name="Freeform 62"/>
                <p:cNvSpPr/>
                <p:nvPr/>
              </p:nvSpPr>
              <p:spPr bwMode="auto">
                <a:xfrm>
                  <a:off x="3502" y="2438"/>
                  <a:ext cx="269" cy="918"/>
                </a:xfrm>
                <a:custGeom>
                  <a:avLst/>
                  <a:gdLst>
                    <a:gd name="T0" fmla="*/ 104 w 268"/>
                    <a:gd name="T1" fmla="*/ 13 h 919"/>
                    <a:gd name="T2" fmla="*/ 91 w 268"/>
                    <a:gd name="T3" fmla="*/ 63 h 919"/>
                    <a:gd name="T4" fmla="*/ 100 w 268"/>
                    <a:gd name="T5" fmla="*/ 68 h 919"/>
                    <a:gd name="T6" fmla="*/ 108 w 268"/>
                    <a:gd name="T7" fmla="*/ 88 h 919"/>
                    <a:gd name="T8" fmla="*/ 121 w 268"/>
                    <a:gd name="T9" fmla="*/ 119 h 919"/>
                    <a:gd name="T10" fmla="*/ 108 w 268"/>
                    <a:gd name="T11" fmla="*/ 125 h 919"/>
                    <a:gd name="T12" fmla="*/ 48 w 268"/>
                    <a:gd name="T13" fmla="*/ 172 h 919"/>
                    <a:gd name="T14" fmla="*/ 9 w 268"/>
                    <a:gd name="T15" fmla="*/ 451 h 919"/>
                    <a:gd name="T16" fmla="*/ 0 w 268"/>
                    <a:gd name="T17" fmla="*/ 498 h 919"/>
                    <a:gd name="T18" fmla="*/ 17 w 268"/>
                    <a:gd name="T19" fmla="*/ 525 h 919"/>
                    <a:gd name="T20" fmla="*/ 30 w 268"/>
                    <a:gd name="T21" fmla="*/ 531 h 919"/>
                    <a:gd name="T22" fmla="*/ 30 w 268"/>
                    <a:gd name="T23" fmla="*/ 489 h 919"/>
                    <a:gd name="T24" fmla="*/ 30 w 268"/>
                    <a:gd name="T25" fmla="*/ 510 h 919"/>
                    <a:gd name="T26" fmla="*/ 44 w 268"/>
                    <a:gd name="T27" fmla="*/ 494 h 919"/>
                    <a:gd name="T28" fmla="*/ 52 w 268"/>
                    <a:gd name="T29" fmla="*/ 460 h 919"/>
                    <a:gd name="T30" fmla="*/ 87 w 268"/>
                    <a:gd name="T31" fmla="*/ 700 h 919"/>
                    <a:gd name="T32" fmla="*/ 104 w 268"/>
                    <a:gd name="T33" fmla="*/ 846 h 919"/>
                    <a:gd name="T34" fmla="*/ 95 w 268"/>
                    <a:gd name="T35" fmla="*/ 911 h 919"/>
                    <a:gd name="T36" fmla="*/ 138 w 268"/>
                    <a:gd name="T37" fmla="*/ 902 h 919"/>
                    <a:gd name="T38" fmla="*/ 125 w 268"/>
                    <a:gd name="T39" fmla="*/ 819 h 919"/>
                    <a:gd name="T40" fmla="*/ 142 w 268"/>
                    <a:gd name="T41" fmla="*/ 707 h 919"/>
                    <a:gd name="T42" fmla="*/ 147 w 268"/>
                    <a:gd name="T43" fmla="*/ 816 h 919"/>
                    <a:gd name="T44" fmla="*/ 155 w 268"/>
                    <a:gd name="T45" fmla="*/ 893 h 919"/>
                    <a:gd name="T46" fmla="*/ 190 w 268"/>
                    <a:gd name="T47" fmla="*/ 896 h 919"/>
                    <a:gd name="T48" fmla="*/ 203 w 268"/>
                    <a:gd name="T49" fmla="*/ 700 h 919"/>
                    <a:gd name="T50" fmla="*/ 219 w 268"/>
                    <a:gd name="T51" fmla="*/ 682 h 919"/>
                    <a:gd name="T52" fmla="*/ 259 w 268"/>
                    <a:gd name="T53" fmla="*/ 700 h 919"/>
                    <a:gd name="T54" fmla="*/ 237 w 268"/>
                    <a:gd name="T55" fmla="*/ 468 h 919"/>
                    <a:gd name="T56" fmla="*/ 242 w 268"/>
                    <a:gd name="T57" fmla="*/ 423 h 919"/>
                    <a:gd name="T58" fmla="*/ 238 w 268"/>
                    <a:gd name="T59" fmla="*/ 308 h 919"/>
                    <a:gd name="T60" fmla="*/ 178 w 268"/>
                    <a:gd name="T61" fmla="*/ 154 h 919"/>
                    <a:gd name="T62" fmla="*/ 177 w 268"/>
                    <a:gd name="T63" fmla="*/ 100 h 919"/>
                    <a:gd name="T64" fmla="*/ 190 w 268"/>
                    <a:gd name="T65" fmla="*/ 90 h 919"/>
                    <a:gd name="T66" fmla="*/ 203 w 268"/>
                    <a:gd name="T67" fmla="*/ 75 h 919"/>
                    <a:gd name="T68" fmla="*/ 194 w 268"/>
                    <a:gd name="T69" fmla="*/ 13 h 919"/>
                    <a:gd name="T70" fmla="*/ 162 w 268"/>
                    <a:gd name="T71" fmla="*/ 4 h 919"/>
                    <a:gd name="T72" fmla="*/ 135 w 268"/>
                    <a:gd name="T73" fmla="*/ 7 h 9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68" h="919">
                      <a:moveTo>
                        <a:pt x="135" y="7"/>
                      </a:moveTo>
                      <a:lnTo>
                        <a:pt x="104" y="13"/>
                      </a:lnTo>
                      <a:lnTo>
                        <a:pt x="91" y="48"/>
                      </a:lnTo>
                      <a:lnTo>
                        <a:pt x="91" y="63"/>
                      </a:lnTo>
                      <a:lnTo>
                        <a:pt x="104" y="63"/>
                      </a:lnTo>
                      <a:lnTo>
                        <a:pt x="100" y="68"/>
                      </a:lnTo>
                      <a:lnTo>
                        <a:pt x="104" y="72"/>
                      </a:lnTo>
                      <a:lnTo>
                        <a:pt x="108" y="88"/>
                      </a:lnTo>
                      <a:lnTo>
                        <a:pt x="112" y="90"/>
                      </a:lnTo>
                      <a:lnTo>
                        <a:pt x="121" y="119"/>
                      </a:lnTo>
                      <a:lnTo>
                        <a:pt x="121" y="125"/>
                      </a:lnTo>
                      <a:lnTo>
                        <a:pt x="108" y="125"/>
                      </a:lnTo>
                      <a:lnTo>
                        <a:pt x="86" y="160"/>
                      </a:lnTo>
                      <a:lnTo>
                        <a:pt x="48" y="172"/>
                      </a:lnTo>
                      <a:lnTo>
                        <a:pt x="30" y="199"/>
                      </a:lnTo>
                      <a:lnTo>
                        <a:pt x="9" y="451"/>
                      </a:lnTo>
                      <a:lnTo>
                        <a:pt x="18" y="453"/>
                      </a:lnTo>
                      <a:lnTo>
                        <a:pt x="0" y="498"/>
                      </a:lnTo>
                      <a:lnTo>
                        <a:pt x="9" y="525"/>
                      </a:lnTo>
                      <a:lnTo>
                        <a:pt x="17" y="525"/>
                      </a:lnTo>
                      <a:lnTo>
                        <a:pt x="22" y="531"/>
                      </a:lnTo>
                      <a:lnTo>
                        <a:pt x="30" y="531"/>
                      </a:lnTo>
                      <a:lnTo>
                        <a:pt x="26" y="505"/>
                      </a:lnTo>
                      <a:lnTo>
                        <a:pt x="30" y="489"/>
                      </a:lnTo>
                      <a:lnTo>
                        <a:pt x="34" y="501"/>
                      </a:lnTo>
                      <a:lnTo>
                        <a:pt x="30" y="510"/>
                      </a:lnTo>
                      <a:lnTo>
                        <a:pt x="35" y="516"/>
                      </a:lnTo>
                      <a:lnTo>
                        <a:pt x="44" y="494"/>
                      </a:lnTo>
                      <a:lnTo>
                        <a:pt x="38" y="458"/>
                      </a:lnTo>
                      <a:lnTo>
                        <a:pt x="52" y="460"/>
                      </a:lnTo>
                      <a:lnTo>
                        <a:pt x="44" y="688"/>
                      </a:lnTo>
                      <a:lnTo>
                        <a:pt x="87" y="700"/>
                      </a:lnTo>
                      <a:lnTo>
                        <a:pt x="108" y="832"/>
                      </a:lnTo>
                      <a:lnTo>
                        <a:pt x="104" y="846"/>
                      </a:lnTo>
                      <a:lnTo>
                        <a:pt x="95" y="901"/>
                      </a:lnTo>
                      <a:lnTo>
                        <a:pt x="95" y="911"/>
                      </a:lnTo>
                      <a:lnTo>
                        <a:pt x="125" y="918"/>
                      </a:lnTo>
                      <a:lnTo>
                        <a:pt x="138" y="902"/>
                      </a:lnTo>
                      <a:lnTo>
                        <a:pt x="131" y="853"/>
                      </a:lnTo>
                      <a:lnTo>
                        <a:pt x="125" y="819"/>
                      </a:lnTo>
                      <a:lnTo>
                        <a:pt x="138" y="706"/>
                      </a:lnTo>
                      <a:lnTo>
                        <a:pt x="142" y="707"/>
                      </a:lnTo>
                      <a:lnTo>
                        <a:pt x="155" y="747"/>
                      </a:lnTo>
                      <a:lnTo>
                        <a:pt x="147" y="816"/>
                      </a:lnTo>
                      <a:lnTo>
                        <a:pt x="138" y="822"/>
                      </a:lnTo>
                      <a:lnTo>
                        <a:pt x="155" y="893"/>
                      </a:lnTo>
                      <a:lnTo>
                        <a:pt x="185" y="902"/>
                      </a:lnTo>
                      <a:lnTo>
                        <a:pt x="190" y="896"/>
                      </a:lnTo>
                      <a:lnTo>
                        <a:pt x="168" y="823"/>
                      </a:lnTo>
                      <a:lnTo>
                        <a:pt x="203" y="700"/>
                      </a:lnTo>
                      <a:lnTo>
                        <a:pt x="219" y="691"/>
                      </a:lnTo>
                      <a:lnTo>
                        <a:pt x="219" y="682"/>
                      </a:lnTo>
                      <a:lnTo>
                        <a:pt x="250" y="684"/>
                      </a:lnTo>
                      <a:lnTo>
                        <a:pt x="259" y="700"/>
                      </a:lnTo>
                      <a:lnTo>
                        <a:pt x="267" y="691"/>
                      </a:lnTo>
                      <a:lnTo>
                        <a:pt x="237" y="468"/>
                      </a:lnTo>
                      <a:lnTo>
                        <a:pt x="242" y="469"/>
                      </a:lnTo>
                      <a:lnTo>
                        <a:pt x="242" y="423"/>
                      </a:lnTo>
                      <a:lnTo>
                        <a:pt x="246" y="416"/>
                      </a:lnTo>
                      <a:lnTo>
                        <a:pt x="238" y="308"/>
                      </a:lnTo>
                      <a:lnTo>
                        <a:pt x="228" y="179"/>
                      </a:lnTo>
                      <a:lnTo>
                        <a:pt x="178" y="154"/>
                      </a:lnTo>
                      <a:lnTo>
                        <a:pt x="163" y="125"/>
                      </a:lnTo>
                      <a:lnTo>
                        <a:pt x="177" y="100"/>
                      </a:lnTo>
                      <a:lnTo>
                        <a:pt x="185" y="103"/>
                      </a:lnTo>
                      <a:lnTo>
                        <a:pt x="190" y="90"/>
                      </a:lnTo>
                      <a:lnTo>
                        <a:pt x="190" y="77"/>
                      </a:lnTo>
                      <a:lnTo>
                        <a:pt x="203" y="75"/>
                      </a:lnTo>
                      <a:lnTo>
                        <a:pt x="207" y="39"/>
                      </a:lnTo>
                      <a:lnTo>
                        <a:pt x="194" y="13"/>
                      </a:lnTo>
                      <a:lnTo>
                        <a:pt x="181" y="4"/>
                      </a:lnTo>
                      <a:lnTo>
                        <a:pt x="162" y="4"/>
                      </a:lnTo>
                      <a:lnTo>
                        <a:pt x="148" y="0"/>
                      </a:lnTo>
                      <a:lnTo>
                        <a:pt x="135" y="7"/>
                      </a:lnTo>
                    </a:path>
                  </a:pathLst>
                </a:custGeom>
                <a:solidFill>
                  <a:srgbClr val="9FB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27" name="Freeform 63"/>
                <p:cNvSpPr/>
                <p:nvPr/>
              </p:nvSpPr>
              <p:spPr bwMode="auto">
                <a:xfrm>
                  <a:off x="3833" y="2438"/>
                  <a:ext cx="270" cy="918"/>
                </a:xfrm>
                <a:custGeom>
                  <a:avLst/>
                  <a:gdLst>
                    <a:gd name="T0" fmla="*/ 100 w 270"/>
                    <a:gd name="T1" fmla="*/ 0 h 921"/>
                    <a:gd name="T2" fmla="*/ 159 w 270"/>
                    <a:gd name="T3" fmla="*/ 30 h 921"/>
                    <a:gd name="T4" fmla="*/ 160 w 270"/>
                    <a:gd name="T5" fmla="*/ 92 h 921"/>
                    <a:gd name="T6" fmla="*/ 188 w 270"/>
                    <a:gd name="T7" fmla="*/ 121 h 921"/>
                    <a:gd name="T8" fmla="*/ 249 w 270"/>
                    <a:gd name="T9" fmla="*/ 155 h 921"/>
                    <a:gd name="T10" fmla="*/ 261 w 270"/>
                    <a:gd name="T11" fmla="*/ 331 h 921"/>
                    <a:gd name="T12" fmla="*/ 219 w 270"/>
                    <a:gd name="T13" fmla="*/ 483 h 921"/>
                    <a:gd name="T14" fmla="*/ 177 w 270"/>
                    <a:gd name="T15" fmla="*/ 599 h 921"/>
                    <a:gd name="T16" fmla="*/ 185 w 270"/>
                    <a:gd name="T17" fmla="*/ 874 h 921"/>
                    <a:gd name="T18" fmla="*/ 177 w 270"/>
                    <a:gd name="T19" fmla="*/ 885 h 921"/>
                    <a:gd name="T20" fmla="*/ 135 w 270"/>
                    <a:gd name="T21" fmla="*/ 915 h 921"/>
                    <a:gd name="T22" fmla="*/ 112 w 270"/>
                    <a:gd name="T23" fmla="*/ 920 h 921"/>
                    <a:gd name="T24" fmla="*/ 96 w 270"/>
                    <a:gd name="T25" fmla="*/ 912 h 921"/>
                    <a:gd name="T26" fmla="*/ 105 w 270"/>
                    <a:gd name="T27" fmla="*/ 896 h 921"/>
                    <a:gd name="T28" fmla="*/ 126 w 270"/>
                    <a:gd name="T29" fmla="*/ 873 h 921"/>
                    <a:gd name="T30" fmla="*/ 117 w 270"/>
                    <a:gd name="T31" fmla="*/ 865 h 921"/>
                    <a:gd name="T32" fmla="*/ 64 w 270"/>
                    <a:gd name="T33" fmla="*/ 882 h 921"/>
                    <a:gd name="T34" fmla="*/ 59 w 270"/>
                    <a:gd name="T35" fmla="*/ 871 h 921"/>
                    <a:gd name="T36" fmla="*/ 64 w 270"/>
                    <a:gd name="T37" fmla="*/ 860 h 921"/>
                    <a:gd name="T38" fmla="*/ 81 w 270"/>
                    <a:gd name="T39" fmla="*/ 843 h 921"/>
                    <a:gd name="T40" fmla="*/ 62 w 270"/>
                    <a:gd name="T41" fmla="*/ 754 h 921"/>
                    <a:gd name="T42" fmla="*/ 44 w 270"/>
                    <a:gd name="T43" fmla="*/ 503 h 921"/>
                    <a:gd name="T44" fmla="*/ 35 w 270"/>
                    <a:gd name="T45" fmla="*/ 454 h 921"/>
                    <a:gd name="T46" fmla="*/ 50 w 270"/>
                    <a:gd name="T47" fmla="*/ 355 h 921"/>
                    <a:gd name="T48" fmla="*/ 38 w 270"/>
                    <a:gd name="T49" fmla="*/ 354 h 921"/>
                    <a:gd name="T50" fmla="*/ 28 w 270"/>
                    <a:gd name="T51" fmla="*/ 350 h 921"/>
                    <a:gd name="T52" fmla="*/ 17 w 270"/>
                    <a:gd name="T53" fmla="*/ 343 h 921"/>
                    <a:gd name="T54" fmla="*/ 11 w 270"/>
                    <a:gd name="T55" fmla="*/ 336 h 921"/>
                    <a:gd name="T56" fmla="*/ 0 w 270"/>
                    <a:gd name="T57" fmla="*/ 323 h 921"/>
                    <a:gd name="T58" fmla="*/ 8 w 270"/>
                    <a:gd name="T59" fmla="*/ 273 h 921"/>
                    <a:gd name="T60" fmla="*/ 73 w 270"/>
                    <a:gd name="T61" fmla="*/ 158 h 921"/>
                    <a:gd name="T62" fmla="*/ 96 w 270"/>
                    <a:gd name="T63" fmla="*/ 125 h 921"/>
                    <a:gd name="T64" fmla="*/ 68 w 270"/>
                    <a:gd name="T65" fmla="*/ 103 h 921"/>
                    <a:gd name="T66" fmla="*/ 66 w 270"/>
                    <a:gd name="T67" fmla="*/ 98 h 921"/>
                    <a:gd name="T68" fmla="*/ 58 w 270"/>
                    <a:gd name="T69" fmla="*/ 88 h 921"/>
                    <a:gd name="T70" fmla="*/ 59 w 270"/>
                    <a:gd name="T71" fmla="*/ 62 h 921"/>
                    <a:gd name="T72" fmla="*/ 55 w 270"/>
                    <a:gd name="T73" fmla="*/ 33 h 9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70" h="921">
                      <a:moveTo>
                        <a:pt x="67" y="12"/>
                      </a:moveTo>
                      <a:lnTo>
                        <a:pt x="100" y="0"/>
                      </a:lnTo>
                      <a:lnTo>
                        <a:pt x="135" y="7"/>
                      </a:lnTo>
                      <a:lnTo>
                        <a:pt x="159" y="30"/>
                      </a:lnTo>
                      <a:lnTo>
                        <a:pt x="168" y="58"/>
                      </a:lnTo>
                      <a:lnTo>
                        <a:pt x="160" y="92"/>
                      </a:lnTo>
                      <a:lnTo>
                        <a:pt x="172" y="111"/>
                      </a:lnTo>
                      <a:lnTo>
                        <a:pt x="188" y="121"/>
                      </a:lnTo>
                      <a:lnTo>
                        <a:pt x="236" y="141"/>
                      </a:lnTo>
                      <a:lnTo>
                        <a:pt x="249" y="155"/>
                      </a:lnTo>
                      <a:lnTo>
                        <a:pt x="269" y="301"/>
                      </a:lnTo>
                      <a:lnTo>
                        <a:pt x="261" y="331"/>
                      </a:lnTo>
                      <a:lnTo>
                        <a:pt x="211" y="343"/>
                      </a:lnTo>
                      <a:lnTo>
                        <a:pt x="219" y="483"/>
                      </a:lnTo>
                      <a:lnTo>
                        <a:pt x="185" y="496"/>
                      </a:lnTo>
                      <a:lnTo>
                        <a:pt x="177" y="599"/>
                      </a:lnTo>
                      <a:lnTo>
                        <a:pt x="184" y="776"/>
                      </a:lnTo>
                      <a:lnTo>
                        <a:pt x="185" y="874"/>
                      </a:lnTo>
                      <a:lnTo>
                        <a:pt x="177" y="877"/>
                      </a:lnTo>
                      <a:lnTo>
                        <a:pt x="177" y="885"/>
                      </a:lnTo>
                      <a:lnTo>
                        <a:pt x="151" y="903"/>
                      </a:lnTo>
                      <a:lnTo>
                        <a:pt x="135" y="915"/>
                      </a:lnTo>
                      <a:lnTo>
                        <a:pt x="124" y="919"/>
                      </a:lnTo>
                      <a:lnTo>
                        <a:pt x="112" y="920"/>
                      </a:lnTo>
                      <a:lnTo>
                        <a:pt x="99" y="916"/>
                      </a:lnTo>
                      <a:lnTo>
                        <a:pt x="96" y="912"/>
                      </a:lnTo>
                      <a:lnTo>
                        <a:pt x="99" y="905"/>
                      </a:lnTo>
                      <a:lnTo>
                        <a:pt x="105" y="896"/>
                      </a:lnTo>
                      <a:lnTo>
                        <a:pt x="114" y="884"/>
                      </a:lnTo>
                      <a:lnTo>
                        <a:pt x="126" y="873"/>
                      </a:lnTo>
                      <a:lnTo>
                        <a:pt x="117" y="877"/>
                      </a:lnTo>
                      <a:lnTo>
                        <a:pt x="117" y="865"/>
                      </a:lnTo>
                      <a:lnTo>
                        <a:pt x="80" y="882"/>
                      </a:lnTo>
                      <a:lnTo>
                        <a:pt x="64" y="882"/>
                      </a:lnTo>
                      <a:lnTo>
                        <a:pt x="59" y="877"/>
                      </a:lnTo>
                      <a:lnTo>
                        <a:pt x="59" y="871"/>
                      </a:lnTo>
                      <a:lnTo>
                        <a:pt x="61" y="866"/>
                      </a:lnTo>
                      <a:lnTo>
                        <a:pt x="64" y="860"/>
                      </a:lnTo>
                      <a:lnTo>
                        <a:pt x="73" y="851"/>
                      </a:lnTo>
                      <a:lnTo>
                        <a:pt x="81" y="843"/>
                      </a:lnTo>
                      <a:lnTo>
                        <a:pt x="71" y="841"/>
                      </a:lnTo>
                      <a:lnTo>
                        <a:pt x="62" y="754"/>
                      </a:lnTo>
                      <a:lnTo>
                        <a:pt x="59" y="617"/>
                      </a:lnTo>
                      <a:lnTo>
                        <a:pt x="44" y="503"/>
                      </a:lnTo>
                      <a:lnTo>
                        <a:pt x="39" y="472"/>
                      </a:lnTo>
                      <a:lnTo>
                        <a:pt x="35" y="454"/>
                      </a:lnTo>
                      <a:lnTo>
                        <a:pt x="46" y="386"/>
                      </a:lnTo>
                      <a:lnTo>
                        <a:pt x="50" y="355"/>
                      </a:lnTo>
                      <a:lnTo>
                        <a:pt x="43" y="359"/>
                      </a:lnTo>
                      <a:lnTo>
                        <a:pt x="38" y="354"/>
                      </a:lnTo>
                      <a:lnTo>
                        <a:pt x="35" y="354"/>
                      </a:lnTo>
                      <a:lnTo>
                        <a:pt x="28" y="350"/>
                      </a:lnTo>
                      <a:lnTo>
                        <a:pt x="20" y="350"/>
                      </a:lnTo>
                      <a:lnTo>
                        <a:pt x="17" y="343"/>
                      </a:lnTo>
                      <a:lnTo>
                        <a:pt x="13" y="342"/>
                      </a:lnTo>
                      <a:lnTo>
                        <a:pt x="11" y="336"/>
                      </a:lnTo>
                      <a:lnTo>
                        <a:pt x="4" y="331"/>
                      </a:lnTo>
                      <a:lnTo>
                        <a:pt x="0" y="323"/>
                      </a:lnTo>
                      <a:lnTo>
                        <a:pt x="15" y="292"/>
                      </a:lnTo>
                      <a:lnTo>
                        <a:pt x="8" y="273"/>
                      </a:lnTo>
                      <a:lnTo>
                        <a:pt x="34" y="292"/>
                      </a:lnTo>
                      <a:lnTo>
                        <a:pt x="73" y="158"/>
                      </a:lnTo>
                      <a:lnTo>
                        <a:pt x="102" y="132"/>
                      </a:lnTo>
                      <a:lnTo>
                        <a:pt x="96" y="125"/>
                      </a:lnTo>
                      <a:lnTo>
                        <a:pt x="71" y="121"/>
                      </a:lnTo>
                      <a:lnTo>
                        <a:pt x="68" y="103"/>
                      </a:lnTo>
                      <a:lnTo>
                        <a:pt x="76" y="99"/>
                      </a:lnTo>
                      <a:lnTo>
                        <a:pt x="66" y="98"/>
                      </a:lnTo>
                      <a:lnTo>
                        <a:pt x="68" y="91"/>
                      </a:lnTo>
                      <a:lnTo>
                        <a:pt x="58" y="88"/>
                      </a:lnTo>
                      <a:lnTo>
                        <a:pt x="65" y="66"/>
                      </a:lnTo>
                      <a:lnTo>
                        <a:pt x="59" y="62"/>
                      </a:lnTo>
                      <a:lnTo>
                        <a:pt x="62" y="34"/>
                      </a:lnTo>
                      <a:lnTo>
                        <a:pt x="55" y="33"/>
                      </a:lnTo>
                      <a:lnTo>
                        <a:pt x="67" y="12"/>
                      </a:lnTo>
                    </a:path>
                  </a:pathLst>
                </a:custGeom>
                <a:solidFill>
                  <a:srgbClr val="3F7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928" name="Freeform 64"/>
                <p:cNvSpPr/>
                <p:nvPr/>
              </p:nvSpPr>
              <p:spPr bwMode="auto">
                <a:xfrm>
                  <a:off x="3210" y="2438"/>
                  <a:ext cx="192" cy="921"/>
                </a:xfrm>
                <a:custGeom>
                  <a:avLst/>
                  <a:gdLst>
                    <a:gd name="T0" fmla="*/ 124 w 192"/>
                    <a:gd name="T1" fmla="*/ 14 h 924"/>
                    <a:gd name="T2" fmla="*/ 80 w 192"/>
                    <a:gd name="T3" fmla="*/ 0 h 924"/>
                    <a:gd name="T4" fmla="*/ 46 w 192"/>
                    <a:gd name="T5" fmla="*/ 0 h 924"/>
                    <a:gd name="T6" fmla="*/ 17 w 192"/>
                    <a:gd name="T7" fmla="*/ 8 h 924"/>
                    <a:gd name="T8" fmla="*/ 5 w 192"/>
                    <a:gd name="T9" fmla="*/ 39 h 924"/>
                    <a:gd name="T10" fmla="*/ 5 w 192"/>
                    <a:gd name="T11" fmla="*/ 67 h 924"/>
                    <a:gd name="T12" fmla="*/ 22 w 192"/>
                    <a:gd name="T13" fmla="*/ 100 h 924"/>
                    <a:gd name="T14" fmla="*/ 35 w 192"/>
                    <a:gd name="T15" fmla="*/ 99 h 924"/>
                    <a:gd name="T16" fmla="*/ 16 w 192"/>
                    <a:gd name="T17" fmla="*/ 137 h 924"/>
                    <a:gd name="T18" fmla="*/ 0 w 192"/>
                    <a:gd name="T19" fmla="*/ 197 h 924"/>
                    <a:gd name="T20" fmla="*/ 0 w 192"/>
                    <a:gd name="T21" fmla="*/ 251 h 924"/>
                    <a:gd name="T22" fmla="*/ 5 w 192"/>
                    <a:gd name="T23" fmla="*/ 318 h 924"/>
                    <a:gd name="T24" fmla="*/ 17 w 192"/>
                    <a:gd name="T25" fmla="*/ 384 h 924"/>
                    <a:gd name="T26" fmla="*/ 39 w 192"/>
                    <a:gd name="T27" fmla="*/ 388 h 924"/>
                    <a:gd name="T28" fmla="*/ 39 w 192"/>
                    <a:gd name="T29" fmla="*/ 407 h 924"/>
                    <a:gd name="T30" fmla="*/ 51 w 192"/>
                    <a:gd name="T31" fmla="*/ 415 h 924"/>
                    <a:gd name="T32" fmla="*/ 51 w 192"/>
                    <a:gd name="T33" fmla="*/ 482 h 924"/>
                    <a:gd name="T34" fmla="*/ 62 w 192"/>
                    <a:gd name="T35" fmla="*/ 495 h 924"/>
                    <a:gd name="T36" fmla="*/ 62 w 192"/>
                    <a:gd name="T37" fmla="*/ 620 h 924"/>
                    <a:gd name="T38" fmla="*/ 62 w 192"/>
                    <a:gd name="T39" fmla="*/ 698 h 924"/>
                    <a:gd name="T40" fmla="*/ 45 w 192"/>
                    <a:gd name="T41" fmla="*/ 785 h 924"/>
                    <a:gd name="T42" fmla="*/ 38 w 192"/>
                    <a:gd name="T43" fmla="*/ 898 h 924"/>
                    <a:gd name="T44" fmla="*/ 58 w 192"/>
                    <a:gd name="T45" fmla="*/ 906 h 924"/>
                    <a:gd name="T46" fmla="*/ 58 w 192"/>
                    <a:gd name="T47" fmla="*/ 919 h 924"/>
                    <a:gd name="T48" fmla="*/ 90 w 192"/>
                    <a:gd name="T49" fmla="*/ 919 h 924"/>
                    <a:gd name="T50" fmla="*/ 95 w 192"/>
                    <a:gd name="T51" fmla="*/ 914 h 924"/>
                    <a:gd name="T52" fmla="*/ 107 w 192"/>
                    <a:gd name="T53" fmla="*/ 914 h 924"/>
                    <a:gd name="T54" fmla="*/ 107 w 192"/>
                    <a:gd name="T55" fmla="*/ 923 h 924"/>
                    <a:gd name="T56" fmla="*/ 131 w 192"/>
                    <a:gd name="T57" fmla="*/ 919 h 924"/>
                    <a:gd name="T58" fmla="*/ 180 w 192"/>
                    <a:gd name="T59" fmla="*/ 914 h 924"/>
                    <a:gd name="T60" fmla="*/ 180 w 192"/>
                    <a:gd name="T61" fmla="*/ 907 h 924"/>
                    <a:gd name="T62" fmla="*/ 135 w 192"/>
                    <a:gd name="T63" fmla="*/ 889 h 924"/>
                    <a:gd name="T64" fmla="*/ 135 w 192"/>
                    <a:gd name="T65" fmla="*/ 873 h 924"/>
                    <a:gd name="T66" fmla="*/ 175 w 192"/>
                    <a:gd name="T67" fmla="*/ 865 h 924"/>
                    <a:gd name="T68" fmla="*/ 175 w 192"/>
                    <a:gd name="T69" fmla="*/ 853 h 924"/>
                    <a:gd name="T70" fmla="*/ 147 w 192"/>
                    <a:gd name="T71" fmla="*/ 837 h 924"/>
                    <a:gd name="T72" fmla="*/ 147 w 192"/>
                    <a:gd name="T73" fmla="*/ 711 h 924"/>
                    <a:gd name="T74" fmla="*/ 158 w 192"/>
                    <a:gd name="T75" fmla="*/ 596 h 924"/>
                    <a:gd name="T76" fmla="*/ 154 w 192"/>
                    <a:gd name="T77" fmla="*/ 480 h 924"/>
                    <a:gd name="T78" fmla="*/ 153 w 192"/>
                    <a:gd name="T79" fmla="*/ 415 h 924"/>
                    <a:gd name="T80" fmla="*/ 157 w 192"/>
                    <a:gd name="T81" fmla="*/ 395 h 924"/>
                    <a:gd name="T82" fmla="*/ 157 w 192"/>
                    <a:gd name="T83" fmla="*/ 305 h 924"/>
                    <a:gd name="T84" fmla="*/ 190 w 192"/>
                    <a:gd name="T85" fmla="*/ 285 h 924"/>
                    <a:gd name="T86" fmla="*/ 191 w 192"/>
                    <a:gd name="T87" fmla="*/ 273 h 924"/>
                    <a:gd name="T88" fmla="*/ 119 w 192"/>
                    <a:gd name="T89" fmla="*/ 150 h 924"/>
                    <a:gd name="T90" fmla="*/ 84 w 192"/>
                    <a:gd name="T91" fmla="*/ 133 h 924"/>
                    <a:gd name="T92" fmla="*/ 89 w 192"/>
                    <a:gd name="T93" fmla="*/ 125 h 924"/>
                    <a:gd name="T94" fmla="*/ 112 w 192"/>
                    <a:gd name="T95" fmla="*/ 121 h 924"/>
                    <a:gd name="T96" fmla="*/ 112 w 192"/>
                    <a:gd name="T97" fmla="*/ 112 h 924"/>
                    <a:gd name="T98" fmla="*/ 119 w 192"/>
                    <a:gd name="T99" fmla="*/ 109 h 924"/>
                    <a:gd name="T100" fmla="*/ 119 w 192"/>
                    <a:gd name="T101" fmla="*/ 100 h 924"/>
                    <a:gd name="T102" fmla="*/ 124 w 192"/>
                    <a:gd name="T103" fmla="*/ 95 h 924"/>
                    <a:gd name="T104" fmla="*/ 119 w 192"/>
                    <a:gd name="T105" fmla="*/ 91 h 924"/>
                    <a:gd name="T106" fmla="*/ 123 w 192"/>
                    <a:gd name="T107" fmla="*/ 88 h 924"/>
                    <a:gd name="T108" fmla="*/ 112 w 192"/>
                    <a:gd name="T109" fmla="*/ 67 h 924"/>
                    <a:gd name="T110" fmla="*/ 119 w 192"/>
                    <a:gd name="T111" fmla="*/ 55 h 924"/>
                    <a:gd name="T112" fmla="*/ 112 w 192"/>
                    <a:gd name="T113" fmla="*/ 43 h 924"/>
                    <a:gd name="T114" fmla="*/ 123 w 192"/>
                    <a:gd name="T115" fmla="*/ 35 h 924"/>
                    <a:gd name="T116" fmla="*/ 124 w 192"/>
                    <a:gd name="T117" fmla="*/ 14 h 9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92" h="924">
                      <a:moveTo>
                        <a:pt x="124" y="14"/>
                      </a:moveTo>
                      <a:lnTo>
                        <a:pt x="80" y="0"/>
                      </a:lnTo>
                      <a:lnTo>
                        <a:pt x="46" y="0"/>
                      </a:lnTo>
                      <a:lnTo>
                        <a:pt x="17" y="8"/>
                      </a:lnTo>
                      <a:lnTo>
                        <a:pt x="5" y="39"/>
                      </a:lnTo>
                      <a:lnTo>
                        <a:pt x="5" y="67"/>
                      </a:lnTo>
                      <a:lnTo>
                        <a:pt x="22" y="100"/>
                      </a:lnTo>
                      <a:lnTo>
                        <a:pt x="35" y="99"/>
                      </a:lnTo>
                      <a:lnTo>
                        <a:pt x="16" y="137"/>
                      </a:lnTo>
                      <a:lnTo>
                        <a:pt x="0" y="197"/>
                      </a:lnTo>
                      <a:lnTo>
                        <a:pt x="0" y="251"/>
                      </a:lnTo>
                      <a:lnTo>
                        <a:pt x="5" y="318"/>
                      </a:lnTo>
                      <a:lnTo>
                        <a:pt x="17" y="384"/>
                      </a:lnTo>
                      <a:lnTo>
                        <a:pt x="39" y="388"/>
                      </a:lnTo>
                      <a:lnTo>
                        <a:pt x="39" y="407"/>
                      </a:lnTo>
                      <a:lnTo>
                        <a:pt x="51" y="415"/>
                      </a:lnTo>
                      <a:lnTo>
                        <a:pt x="51" y="482"/>
                      </a:lnTo>
                      <a:lnTo>
                        <a:pt x="62" y="495"/>
                      </a:lnTo>
                      <a:lnTo>
                        <a:pt x="62" y="620"/>
                      </a:lnTo>
                      <a:lnTo>
                        <a:pt x="62" y="698"/>
                      </a:lnTo>
                      <a:lnTo>
                        <a:pt x="45" y="785"/>
                      </a:lnTo>
                      <a:lnTo>
                        <a:pt x="38" y="898"/>
                      </a:lnTo>
                      <a:lnTo>
                        <a:pt x="58" y="906"/>
                      </a:lnTo>
                      <a:lnTo>
                        <a:pt x="58" y="919"/>
                      </a:lnTo>
                      <a:lnTo>
                        <a:pt x="90" y="919"/>
                      </a:lnTo>
                      <a:lnTo>
                        <a:pt x="95" y="914"/>
                      </a:lnTo>
                      <a:lnTo>
                        <a:pt x="107" y="914"/>
                      </a:lnTo>
                      <a:lnTo>
                        <a:pt x="107" y="923"/>
                      </a:lnTo>
                      <a:lnTo>
                        <a:pt x="131" y="919"/>
                      </a:lnTo>
                      <a:lnTo>
                        <a:pt x="180" y="914"/>
                      </a:lnTo>
                      <a:lnTo>
                        <a:pt x="180" y="907"/>
                      </a:lnTo>
                      <a:lnTo>
                        <a:pt x="135" y="889"/>
                      </a:lnTo>
                      <a:lnTo>
                        <a:pt x="135" y="873"/>
                      </a:lnTo>
                      <a:lnTo>
                        <a:pt x="175" y="865"/>
                      </a:lnTo>
                      <a:lnTo>
                        <a:pt x="175" y="853"/>
                      </a:lnTo>
                      <a:lnTo>
                        <a:pt x="147" y="837"/>
                      </a:lnTo>
                      <a:lnTo>
                        <a:pt x="147" y="711"/>
                      </a:lnTo>
                      <a:lnTo>
                        <a:pt x="158" y="596"/>
                      </a:lnTo>
                      <a:lnTo>
                        <a:pt x="154" y="480"/>
                      </a:lnTo>
                      <a:lnTo>
                        <a:pt x="153" y="415"/>
                      </a:lnTo>
                      <a:lnTo>
                        <a:pt x="157" y="395"/>
                      </a:lnTo>
                      <a:lnTo>
                        <a:pt x="157" y="305"/>
                      </a:lnTo>
                      <a:lnTo>
                        <a:pt x="190" y="285"/>
                      </a:lnTo>
                      <a:lnTo>
                        <a:pt x="191" y="273"/>
                      </a:lnTo>
                      <a:lnTo>
                        <a:pt x="119" y="150"/>
                      </a:lnTo>
                      <a:lnTo>
                        <a:pt x="84" y="133"/>
                      </a:lnTo>
                      <a:lnTo>
                        <a:pt x="89" y="125"/>
                      </a:lnTo>
                      <a:lnTo>
                        <a:pt x="112" y="121"/>
                      </a:lnTo>
                      <a:lnTo>
                        <a:pt x="112" y="112"/>
                      </a:lnTo>
                      <a:lnTo>
                        <a:pt x="119" y="109"/>
                      </a:lnTo>
                      <a:lnTo>
                        <a:pt x="119" y="100"/>
                      </a:lnTo>
                      <a:lnTo>
                        <a:pt x="124" y="95"/>
                      </a:lnTo>
                      <a:lnTo>
                        <a:pt x="119" y="91"/>
                      </a:lnTo>
                      <a:lnTo>
                        <a:pt x="123" y="88"/>
                      </a:lnTo>
                      <a:lnTo>
                        <a:pt x="112" y="67"/>
                      </a:lnTo>
                      <a:lnTo>
                        <a:pt x="119" y="55"/>
                      </a:lnTo>
                      <a:lnTo>
                        <a:pt x="112" y="43"/>
                      </a:lnTo>
                      <a:lnTo>
                        <a:pt x="123" y="35"/>
                      </a:lnTo>
                      <a:lnTo>
                        <a:pt x="124" y="14"/>
                      </a:lnTo>
                    </a:path>
                  </a:pathLst>
                </a:custGeom>
                <a:solidFill>
                  <a:srgbClr val="3F7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995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sp>
          <p:nvSpPr>
            <p:cNvPr id="36929" name="Text Box 65"/>
            <p:cNvSpPr txBox="1">
              <a:spLocks noChangeArrowheads="1"/>
            </p:cNvSpPr>
            <p:nvPr/>
          </p:nvSpPr>
          <p:spPr bwMode="auto">
            <a:xfrm>
              <a:off x="3140" y="1200"/>
              <a:ext cx="510" cy="389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总体</a:t>
              </a:r>
            </a:p>
          </p:txBody>
        </p:sp>
        <p:sp>
          <p:nvSpPr>
            <p:cNvPr id="36930" name="Oval 66"/>
            <p:cNvSpPr>
              <a:spLocks noChangeArrowheads="1"/>
            </p:cNvSpPr>
            <p:nvPr/>
          </p:nvSpPr>
          <p:spPr bwMode="auto">
            <a:xfrm>
              <a:off x="2112" y="1200"/>
              <a:ext cx="2448" cy="1488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99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6933" name="AutoShape 69"/>
          <p:cNvSpPr>
            <a:spLocks noChangeArrowheads="1"/>
          </p:cNvSpPr>
          <p:nvPr/>
        </p:nvSpPr>
        <p:spPr bwMode="auto">
          <a:xfrm>
            <a:off x="3447035" y="3794385"/>
            <a:ext cx="2614959" cy="158293"/>
          </a:xfrm>
          <a:prstGeom prst="rightArrow">
            <a:avLst>
              <a:gd name="adj1" fmla="val 50000"/>
              <a:gd name="adj2" fmla="val 46429"/>
            </a:avLst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199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935" name="AutoShape 71"/>
          <p:cNvSpPr>
            <a:spLocks noChangeArrowheads="1"/>
          </p:cNvSpPr>
          <p:nvPr/>
        </p:nvSpPr>
        <p:spPr bwMode="auto">
          <a:xfrm rot="17777900" flipH="1" flipV="1">
            <a:off x="5689846" y="-454067"/>
            <a:ext cx="1469638" cy="4725418"/>
          </a:xfrm>
          <a:prstGeom prst="curvedRightArrow">
            <a:avLst>
              <a:gd name="adj1" fmla="val 42976"/>
              <a:gd name="adj2" fmla="val 85675"/>
              <a:gd name="adj3" fmla="val 33333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199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345471" y="2566674"/>
            <a:ext cx="2472772" cy="70788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通过样本数据</a:t>
            </a:r>
            <a:endParaRPr lang="en-US" altLang="zh-CN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推断出总体特征</a:t>
            </a:r>
          </a:p>
        </p:txBody>
      </p:sp>
      <p:sp>
        <p:nvSpPr>
          <p:cNvPr id="4" name="矩形 3"/>
          <p:cNvSpPr/>
          <p:nvPr/>
        </p:nvSpPr>
        <p:spPr>
          <a:xfrm rot="2989924">
            <a:off x="7026829" y="1505668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推断统计分析</a:t>
            </a:r>
          </a:p>
        </p:txBody>
      </p:sp>
      <p:sp>
        <p:nvSpPr>
          <p:cNvPr id="6" name="圆角矩形 9">
            <a:extLst>
              <a:ext uri="{FF2B5EF4-FFF2-40B4-BE49-F238E27FC236}">
                <a16:creationId xmlns:a16="http://schemas.microsoft.com/office/drawing/2014/main" id="{960D6E81-24CB-46FB-B7E8-A53F86734E4A}"/>
              </a:ext>
            </a:extLst>
          </p:cNvPr>
          <p:cNvSpPr/>
          <p:nvPr/>
        </p:nvSpPr>
        <p:spPr>
          <a:xfrm>
            <a:off x="3469002" y="4046845"/>
            <a:ext cx="2487652" cy="613223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1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  <a:p>
            <a:pPr algn="ctr"/>
            <a:r>
              <a:rPr lang="zh-CN" altLang="zh-CN" sz="1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少量统计量概括</a:t>
            </a:r>
            <a:r>
              <a:rPr lang="zh-CN" altLang="en-US" sz="1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r>
              <a:rPr lang="zh-CN" altLang="zh-CN" sz="1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大量原始数据</a:t>
            </a:r>
            <a:r>
              <a:rPr lang="zh-CN" altLang="en-US" sz="1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，常用</a:t>
            </a:r>
            <a:r>
              <a:rPr lang="zh-CN" altLang="zh-CN" sz="1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频数分析法</a:t>
            </a:r>
          </a:p>
          <a:p>
            <a:pPr algn="ctr"/>
            <a:endParaRPr lang="zh-CN" altLang="zh-CN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00680" y="4681835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描述统计分析</a:t>
            </a:r>
          </a:p>
        </p:txBody>
      </p:sp>
      <p:sp>
        <p:nvSpPr>
          <p:cNvPr id="78" name="Oval 24">
            <a:extLst>
              <a:ext uri="{FF2B5EF4-FFF2-40B4-BE49-F238E27FC236}">
                <a16:creationId xmlns:a16="http://schemas.microsoft.com/office/drawing/2014/main" id="{DCD91E45-5259-4D92-8000-C397BD0DD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896" y="3414367"/>
            <a:ext cx="2292975" cy="1157853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99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7F7969-DCE6-4507-8D41-79DE3E14F99E}"/>
              </a:ext>
            </a:extLst>
          </p:cNvPr>
          <p:cNvSpPr/>
          <p:nvPr/>
        </p:nvSpPr>
        <p:spPr>
          <a:xfrm>
            <a:off x="6210342" y="3587554"/>
            <a:ext cx="21446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样本统计量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（样本均值、方差）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id="{0A81E943-1BD8-4C37-AFBA-00200487F854}"/>
              </a:ext>
            </a:extLst>
          </p:cNvPr>
          <p:cNvSpPr txBox="1">
            <a:spLocks noChangeArrowheads="1"/>
          </p:cNvSpPr>
          <p:nvPr/>
        </p:nvSpPr>
        <p:spPr bwMode="auto">
          <a:xfrm rot="19570687">
            <a:off x="4291744" y="726047"/>
            <a:ext cx="1884289" cy="70788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None/>
              <a:defRPr sz="24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</a:defRPr>
            </a:lvl9pPr>
          </a:lstStyle>
          <a:p>
            <a:r>
              <a:rPr lang="zh-CN" altLang="en-US" sz="2000" b="0" dirty="0">
                <a:sym typeface="+mn-ea"/>
              </a:rPr>
              <a:t>确定总体</a:t>
            </a:r>
            <a:endParaRPr lang="en-US" altLang="zh-CN" sz="2000" b="0" dirty="0">
              <a:sym typeface="+mn-ea"/>
            </a:endParaRPr>
          </a:p>
          <a:p>
            <a:r>
              <a:rPr lang="zh-CN" altLang="en-US" sz="2000" b="0" dirty="0">
                <a:sym typeface="+mn-ea"/>
              </a:rPr>
              <a:t>均值、方差等</a:t>
            </a:r>
          </a:p>
        </p:txBody>
      </p:sp>
      <p:sp>
        <p:nvSpPr>
          <p:cNvPr id="79" name="标题 1">
            <a:extLst>
              <a:ext uri="{FF2B5EF4-FFF2-40B4-BE49-F238E27FC236}">
                <a16:creationId xmlns:a16="http://schemas.microsoft.com/office/drawing/2014/main" id="{22FAD60A-D0D6-4C83-B1E2-DF1C9292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731" y="39906"/>
            <a:ext cx="7643338" cy="563404"/>
          </a:xfrm>
        </p:spPr>
        <p:txBody>
          <a:bodyPr/>
          <a:lstStyle/>
          <a:p>
            <a:pPr algn="l"/>
            <a:r>
              <a:rPr lang="en-US" altLang="zh-CN" sz="2800" b="0" kern="120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§4.2-4.4 </a:t>
            </a:r>
            <a:r>
              <a:rPr lang="zh-CN" altLang="en-US" sz="2800" kern="120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数据统计分析简介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统计数据分析步骤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B3C3DB3-C2F3-4D7E-8256-86752A6CB542}"/>
              </a:ext>
            </a:extLst>
          </p:cNvPr>
          <p:cNvSpPr/>
          <p:nvPr/>
        </p:nvSpPr>
        <p:spPr>
          <a:xfrm>
            <a:off x="4242521" y="2384346"/>
            <a:ext cx="3132706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案例：银行某支股票</a:t>
            </a:r>
            <a:r>
              <a:rPr lang="en-US" altLang="ko-KR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收盘价采样数据统计分析</a:t>
            </a:r>
          </a:p>
        </p:txBody>
      </p:sp>
    </p:spTree>
    <p:extLst>
      <p:ext uri="{BB962C8B-B14F-4D97-AF65-F5344CB8AC3E}">
        <p14:creationId xmlns:p14="http://schemas.microsoft.com/office/powerpoint/2010/main" val="25057216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33" grpId="0" animBg="1"/>
      <p:bldP spid="36935" grpId="0" animBg="1"/>
      <p:bldP spid="3" grpId="0"/>
      <p:bldP spid="4" grpId="0"/>
      <p:bldP spid="6" grpId="0" animBg="1"/>
      <p:bldP spid="2" grpId="0"/>
      <p:bldP spid="78" grpId="0" animBg="1"/>
      <p:bldP spid="5" grpId="0"/>
      <p:bldP spid="77" grpId="0" animBg="1"/>
      <p:bldP spid="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1237" y="2258887"/>
            <a:ext cx="2643636" cy="1862040"/>
          </a:xfrm>
          <a:prstGeom prst="rect">
            <a:avLst/>
          </a:prstGeom>
        </p:spPr>
      </p:pic>
      <p:sp>
        <p:nvSpPr>
          <p:cNvPr id="38932" name="箭头: 下 4"/>
          <p:cNvSpPr>
            <a:spLocks noChangeArrowheads="1"/>
          </p:cNvSpPr>
          <p:nvPr/>
        </p:nvSpPr>
        <p:spPr bwMode="auto">
          <a:xfrm>
            <a:off x="3186820" y="1163845"/>
            <a:ext cx="45719" cy="2546482"/>
          </a:xfrm>
          <a:prstGeom prst="downArrow">
            <a:avLst>
              <a:gd name="adj1" fmla="val 50000"/>
              <a:gd name="adj2" fmla="val 50264"/>
            </a:avLst>
          </a:prstGeom>
          <a:solidFill>
            <a:srgbClr val="FF0000"/>
          </a:solidFill>
          <a:ln w="76200">
            <a:solidFill>
              <a:srgbClr val="0070C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000"/>
          </a:p>
        </p:txBody>
      </p:sp>
      <p:sp>
        <p:nvSpPr>
          <p:cNvPr id="30" name="箭头: 下 4"/>
          <p:cNvSpPr>
            <a:spLocks noChangeArrowheads="1"/>
          </p:cNvSpPr>
          <p:nvPr/>
        </p:nvSpPr>
        <p:spPr bwMode="auto">
          <a:xfrm>
            <a:off x="6697300" y="1168975"/>
            <a:ext cx="45719" cy="2612825"/>
          </a:xfrm>
          <a:prstGeom prst="downArrow">
            <a:avLst>
              <a:gd name="adj1" fmla="val 50000"/>
              <a:gd name="adj2" fmla="val 50264"/>
            </a:avLst>
          </a:prstGeom>
          <a:solidFill>
            <a:srgbClr val="FF0000"/>
          </a:solidFill>
          <a:ln w="76200">
            <a:solidFill>
              <a:srgbClr val="0070C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000" dirty="0"/>
          </a:p>
        </p:txBody>
      </p:sp>
      <p:sp>
        <p:nvSpPr>
          <p:cNvPr id="3" name="圆角矩形 2"/>
          <p:cNvSpPr/>
          <p:nvPr/>
        </p:nvSpPr>
        <p:spPr>
          <a:xfrm>
            <a:off x="4642756" y="1614640"/>
            <a:ext cx="4177717" cy="1080119"/>
          </a:xfrm>
          <a:prstGeom prst="roundRect">
            <a:avLst/>
          </a:prstGeom>
          <a:solidFill>
            <a:schemeClr val="bg1"/>
          </a:solidFill>
          <a:effectLst/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0561" y="760713"/>
            <a:ext cx="222183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数据收集、分析、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推断、预测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370925" y="2355726"/>
            <a:ext cx="1726241" cy="972108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1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频数分析法</a:t>
            </a:r>
          </a:p>
          <a:p>
            <a:pPr algn="ctr"/>
            <a:r>
              <a:rPr lang="zh-CN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描述性分析</a:t>
            </a:r>
          </a:p>
          <a:p>
            <a:pPr algn="ctr"/>
            <a:r>
              <a:rPr lang="zh-CN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探索分析</a:t>
            </a:r>
          </a:p>
          <a:p>
            <a:pPr algn="ctr"/>
            <a:r>
              <a:rPr lang="zh-CN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列联表分析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2150596" y="1471170"/>
            <a:ext cx="2116088" cy="563404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1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少量统计量概括</a:t>
            </a:r>
            <a:endParaRPr lang="en-US" altLang="zh-CN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/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总结</a:t>
            </a:r>
            <a:r>
              <a:rPr lang="zh-CN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大量原始数据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2074878" y="3732783"/>
            <a:ext cx="2520421" cy="842963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1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ko-KR" altLang="en-US" sz="1600" dirty="0">
                <a:solidFill>
                  <a:schemeClr val="bg1"/>
                </a:solidFill>
                <a:latin typeface="华文楷体" panose="02010600040101010101" pitchFamily="2" charset="-122"/>
              </a:rPr>
              <a:t>收集、</a:t>
            </a:r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</a:t>
            </a:r>
            <a:r>
              <a:rPr lang="ko-KR" altLang="en-US" sz="1600" dirty="0">
                <a:solidFill>
                  <a:schemeClr val="bg1"/>
                </a:solidFill>
                <a:latin typeface="华文楷体" panose="02010600040101010101" pitchFamily="2" charset="-122"/>
              </a:rPr>
              <a:t>理</a:t>
            </a:r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、描述数据基础上，分析数据和解释结果</a:t>
            </a:r>
            <a:endParaRPr lang="ko-KR" altLang="en-US" sz="1600" dirty="0">
              <a:solidFill>
                <a:schemeClr val="bg1"/>
              </a:solidFill>
              <a:latin typeface="华文楷体" panose="02010600040101010101" pitchFamily="2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095489" y="3859907"/>
            <a:ext cx="3364944" cy="673418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1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noProof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根据</a:t>
            </a:r>
            <a:r>
              <a:rPr lang="ko-KR" altLang="en-US" noProof="1">
                <a:solidFill>
                  <a:schemeClr val="bg1"/>
                </a:solidFill>
                <a:latin typeface="华文楷体" panose="02010600040101010101" pitchFamily="2" charset="-122"/>
                <a:sym typeface="+mn-ea"/>
              </a:rPr>
              <a:t>样本</a:t>
            </a:r>
            <a:r>
              <a:rPr lang="zh-CN" altLang="en-US" noProof="1">
                <a:solidFill>
                  <a:schemeClr val="bg1"/>
                </a:solidFill>
                <a:latin typeface="华文楷体" panose="02010600040101010101" pitchFamily="2" charset="-122"/>
                <a:sym typeface="+mn-ea"/>
              </a:rPr>
              <a:t>数据</a:t>
            </a:r>
            <a:r>
              <a:rPr lang="zh-CN" altLang="en-US" noProof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推断预测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总体特征，建立回归方程，进行预测</a:t>
            </a:r>
            <a:endParaRPr lang="ko-KR" altLang="en-US" noProof="1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972096" y="710187"/>
            <a:ext cx="1371280" cy="421403"/>
          </a:xfrm>
          <a:prstGeom prst="roundRect">
            <a:avLst/>
          </a:prstGeom>
          <a:solidFill>
            <a:srgbClr val="C00000"/>
          </a:solidFill>
          <a:ln w="5715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FFFF00"/>
                </a:solidFill>
                <a:sym typeface="+mn-ea"/>
              </a:rPr>
              <a:t>推断统计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2504911" y="747572"/>
            <a:ext cx="1407458" cy="421403"/>
          </a:xfrm>
          <a:prstGeom prst="roundRect">
            <a:avLst/>
          </a:prstGeom>
          <a:solidFill>
            <a:srgbClr val="C00000"/>
          </a:solidFill>
          <a:ln w="5715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FFFF00"/>
                </a:solidFill>
                <a:sym typeface="+mn-ea"/>
              </a:rPr>
              <a:t>描述统计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6291884" y="1836394"/>
            <a:ext cx="998924" cy="708849"/>
          </a:xfrm>
          <a:prstGeom prst="roundRect">
            <a:avLst/>
          </a:prstGeom>
          <a:solidFill>
            <a:srgbClr val="0070C0"/>
          </a:solidFill>
          <a:ln w="9525">
            <a:miter lim="800000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>
            <a:noAutofit/>
            <a:flatTx/>
          </a:bodyPr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sym typeface="+mn-ea"/>
              </a:rPr>
              <a:t>假设检验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4944272" y="1836394"/>
            <a:ext cx="998924" cy="708849"/>
          </a:xfrm>
          <a:prstGeom prst="roundRect">
            <a:avLst/>
          </a:prstGeom>
          <a:solidFill>
            <a:srgbClr val="0070C0"/>
          </a:solidFill>
          <a:ln w="9525">
            <a:miter lim="800000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>
            <a:flatTx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</a:rPr>
              <a:t>参数估计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8BDD3D-298A-4331-8746-A134F7465302}"/>
              </a:ext>
            </a:extLst>
          </p:cNvPr>
          <p:cNvSpPr/>
          <p:nvPr/>
        </p:nvSpPr>
        <p:spPr>
          <a:xfrm>
            <a:off x="-16538" y="180406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描述原始数据特性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3C06B00E-2E19-479D-9117-42AC0C5F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731" y="39906"/>
            <a:ext cx="7643338" cy="563404"/>
          </a:xfrm>
        </p:spPr>
        <p:txBody>
          <a:bodyPr/>
          <a:lstStyle/>
          <a:p>
            <a:pPr algn="l"/>
            <a:r>
              <a:rPr lang="en-US" altLang="zh-CN" sz="2800" kern="1200" dirty="0">
                <a:cs typeface="+mn-cs"/>
              </a:rPr>
              <a:t>§4.2-4.4 </a:t>
            </a:r>
            <a:r>
              <a:rPr lang="zh-CN" altLang="en-US" sz="2800" kern="1200" dirty="0">
                <a:cs typeface="+mn-cs"/>
              </a:rPr>
              <a:t>数据统计分析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1200" dirty="0">
                <a:solidFill>
                  <a:srgbClr val="FF0000"/>
                </a:solidFill>
                <a:cs typeface="+mn-cs"/>
              </a:rPr>
              <a:t> 两类统计分析法</a:t>
            </a:r>
          </a:p>
        </p:txBody>
      </p:sp>
      <p:sp>
        <p:nvSpPr>
          <p:cNvPr id="18" name="圆角矩形 25">
            <a:extLst>
              <a:ext uri="{FF2B5EF4-FFF2-40B4-BE49-F238E27FC236}">
                <a16:creationId xmlns:a16="http://schemas.microsoft.com/office/drawing/2014/main" id="{96DCD7C7-FCE4-4EAB-B512-4A23C26FC3CD}"/>
              </a:ext>
            </a:extLst>
          </p:cNvPr>
          <p:cNvSpPr/>
          <p:nvPr/>
        </p:nvSpPr>
        <p:spPr>
          <a:xfrm>
            <a:off x="7639496" y="1830663"/>
            <a:ext cx="998924" cy="714580"/>
          </a:xfrm>
          <a:prstGeom prst="roundRect">
            <a:avLst/>
          </a:prstGeom>
          <a:solidFill>
            <a:srgbClr val="0070C0"/>
          </a:solidFill>
          <a:ln w="9525">
            <a:miter lim="800000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>
            <a:noAutofit/>
            <a:flatTx/>
          </a:bodyPr>
          <a:lstStyle/>
          <a:p>
            <a:pPr lvl="0" algn="ctr"/>
            <a:r>
              <a:rPr lang="zh-CN" altLang="en-US" sz="2000" b="1" dirty="0">
                <a:solidFill>
                  <a:schemeClr val="bg1"/>
                </a:solidFill>
                <a:latin typeface="华文楷体" panose="02010600040101010101" pitchFamily="2" charset="-122"/>
                <a:ea typeface="隶书" panose="02010509060101010101" pitchFamily="49" charset="-122"/>
                <a:sym typeface="+mn-ea"/>
              </a:rPr>
              <a:t>回归分析</a:t>
            </a:r>
            <a:endParaRPr lang="ko-KR" altLang="en-US" sz="2000" b="1" dirty="0">
              <a:solidFill>
                <a:schemeClr val="bg1"/>
              </a:solidFill>
              <a:latin typeface="华文楷体" panose="02010600040101010101" pitchFamily="2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A035EF3-9222-492F-BB98-6A985217CE42}"/>
              </a:ext>
            </a:extLst>
          </p:cNvPr>
          <p:cNvSpPr txBox="1"/>
          <p:nvPr/>
        </p:nvSpPr>
        <p:spPr>
          <a:xfrm>
            <a:off x="4781045" y="2802387"/>
            <a:ext cx="4039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 i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假设检验由样本推断总体参数的一种方法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28FE55-EA24-4E31-8028-0A19BE688F7A}"/>
              </a:ext>
            </a:extLst>
          </p:cNvPr>
          <p:cNvSpPr txBox="1"/>
          <p:nvPr/>
        </p:nvSpPr>
        <p:spPr>
          <a:xfrm>
            <a:off x="4753411" y="1193244"/>
            <a:ext cx="43409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0" i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参数估计是由样本估计总体参数的一种方法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2C8F23B-273A-4FD6-8F7A-6526D3CD143C}"/>
              </a:ext>
            </a:extLst>
          </p:cNvPr>
          <p:cNvSpPr txBox="1"/>
          <p:nvPr/>
        </p:nvSpPr>
        <p:spPr>
          <a:xfrm>
            <a:off x="4696760" y="3208036"/>
            <a:ext cx="43693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回归分析是建立因变量和自变量之间关系模型，参数估计和假设检验是回归分析的核心步骤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2" grpId="0" animBg="1"/>
      <p:bldP spid="30" grpId="0" animBg="1"/>
      <p:bldP spid="3" grpId="0" animBg="1"/>
      <p:bldP spid="9" grpId="0" animBg="1"/>
      <p:bldP spid="10" grpId="0" animBg="1"/>
      <p:bldP spid="33" grpId="0" animBg="1"/>
      <p:bldP spid="34" grpId="0" animBg="1"/>
      <p:bldP spid="23" grpId="0" animBg="1"/>
      <p:bldP spid="25" grpId="0" animBg="1"/>
      <p:bldP spid="26" grpId="0" animBg="1"/>
      <p:bldP spid="28" grpId="0" animBg="1"/>
      <p:bldP spid="2" grpId="0"/>
      <p:bldP spid="18" grpId="0" animBg="1"/>
      <p:bldP spid="20" grpId="0"/>
      <p:bldP spid="24" grpId="0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539552" y="4655255"/>
            <a:ext cx="1757367" cy="2865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z="2200" b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>
                <a:defRPr/>
              </a:pPr>
              <a:t>2025/3/25</a:t>
            </a:fld>
            <a:endParaRPr lang="zh-CN" altLang="en-US" sz="2200" b="1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21735" y="3050329"/>
            <a:ext cx="1422003" cy="33646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数据分析</a:t>
            </a:r>
            <a:endParaRPr lang="zh-CN" altLang="zh-CN" sz="22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07893" y="4026515"/>
            <a:ext cx="1522650" cy="33646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做出解释</a:t>
            </a:r>
            <a:endParaRPr lang="zh-CN" altLang="zh-CN" sz="22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306931" y="1049812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4713376" y="1049812"/>
            <a:ext cx="936104" cy="0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cxnSpLocks/>
            <a:endCxn id="24" idx="1"/>
          </p:cNvCxnSpPr>
          <p:nvPr/>
        </p:nvCxnSpPr>
        <p:spPr>
          <a:xfrm flipV="1">
            <a:off x="2249835" y="2006268"/>
            <a:ext cx="1027179" cy="144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4114630" y="2777272"/>
            <a:ext cx="909975" cy="6979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246308" y="839371"/>
            <a:ext cx="1467068" cy="400110"/>
          </a:xfrm>
          <a:prstGeom prst="rect">
            <a:avLst/>
          </a:prstGeom>
          <a:solidFill>
            <a:srgbClr val="00206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普查与抽查</a:t>
            </a:r>
          </a:p>
        </p:txBody>
      </p:sp>
      <p:sp>
        <p:nvSpPr>
          <p:cNvPr id="22" name="矩形 21"/>
          <p:cNvSpPr/>
          <p:nvPr/>
        </p:nvSpPr>
        <p:spPr>
          <a:xfrm>
            <a:off x="5683340" y="839371"/>
            <a:ext cx="1990672" cy="369332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个体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277014" y="1806213"/>
            <a:ext cx="1980029" cy="400110"/>
          </a:xfrm>
          <a:prstGeom prst="rect">
            <a:avLst/>
          </a:prstGeom>
          <a:solidFill>
            <a:srgbClr val="00206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统计表和统计图</a:t>
            </a:r>
          </a:p>
        </p:txBody>
      </p:sp>
      <p:sp>
        <p:nvSpPr>
          <p:cNvPr id="25" name="矩形 24"/>
          <p:cNvSpPr/>
          <p:nvPr/>
        </p:nvSpPr>
        <p:spPr>
          <a:xfrm>
            <a:off x="2943849" y="2643758"/>
            <a:ext cx="1210588" cy="400110"/>
          </a:xfrm>
          <a:prstGeom prst="rect">
            <a:avLst/>
          </a:prstGeom>
          <a:solidFill>
            <a:srgbClr val="00206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集中趋势</a:t>
            </a:r>
          </a:p>
        </p:txBody>
      </p:sp>
      <p:sp>
        <p:nvSpPr>
          <p:cNvPr id="26" name="矩形 25"/>
          <p:cNvSpPr/>
          <p:nvPr/>
        </p:nvSpPr>
        <p:spPr>
          <a:xfrm>
            <a:off x="2915816" y="3520997"/>
            <a:ext cx="1210588" cy="400110"/>
          </a:xfrm>
          <a:prstGeom prst="rect">
            <a:avLst/>
          </a:prstGeom>
          <a:solidFill>
            <a:srgbClr val="00206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离散程度</a:t>
            </a:r>
          </a:p>
        </p:txBody>
      </p:sp>
      <p:sp>
        <p:nvSpPr>
          <p:cNvPr id="27" name="矩形 26"/>
          <p:cNvSpPr/>
          <p:nvPr/>
        </p:nvSpPr>
        <p:spPr>
          <a:xfrm>
            <a:off x="5024605" y="2498506"/>
            <a:ext cx="3452128" cy="646331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mean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，中位数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median, </a:t>
            </a:r>
          </a:p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</a:p>
        </p:txBody>
      </p:sp>
      <p:sp>
        <p:nvSpPr>
          <p:cNvPr id="28" name="矩形 27"/>
          <p:cNvSpPr/>
          <p:nvPr/>
        </p:nvSpPr>
        <p:spPr>
          <a:xfrm>
            <a:off x="5056709" y="3539652"/>
            <a:ext cx="3616853" cy="369332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方差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var,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标准差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、极差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</a:t>
            </a: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4168029" y="3724318"/>
            <a:ext cx="879952" cy="6397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cxnSpLocks/>
          </p:cNvCxnSpPr>
          <p:nvPr/>
        </p:nvCxnSpPr>
        <p:spPr>
          <a:xfrm>
            <a:off x="1523452" y="2198244"/>
            <a:ext cx="18569" cy="8614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cxnSpLocks/>
          </p:cNvCxnSpPr>
          <p:nvPr/>
        </p:nvCxnSpPr>
        <p:spPr>
          <a:xfrm flipH="1">
            <a:off x="1520057" y="3345081"/>
            <a:ext cx="2894" cy="66222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左大括号 42"/>
          <p:cNvSpPr/>
          <p:nvPr/>
        </p:nvSpPr>
        <p:spPr>
          <a:xfrm>
            <a:off x="2214963" y="2774079"/>
            <a:ext cx="724521" cy="888959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200" b="1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41" name="直接箭头连接符 40"/>
          <p:cNvCxnSpPr>
            <a:cxnSpLocks/>
          </p:cNvCxnSpPr>
          <p:nvPr/>
        </p:nvCxnSpPr>
        <p:spPr>
          <a:xfrm flipH="1">
            <a:off x="1569064" y="1239863"/>
            <a:ext cx="154" cy="50483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802444" y="1852456"/>
            <a:ext cx="1423448" cy="33646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数据整理</a:t>
            </a:r>
            <a:endParaRPr lang="zh-CN" altLang="zh-CN" sz="22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06666" y="915566"/>
            <a:ext cx="1443169" cy="268492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数据收集</a:t>
            </a:r>
            <a:endParaRPr lang="zh-CN" altLang="zh-CN" sz="22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标题 1">
            <a:extLst>
              <a:ext uri="{FF2B5EF4-FFF2-40B4-BE49-F238E27FC236}">
                <a16:creationId xmlns:a16="http://schemas.microsoft.com/office/drawing/2014/main" id="{271E1A3C-0306-4004-85D0-A76F54758E68}"/>
              </a:ext>
            </a:extLst>
          </p:cNvPr>
          <p:cNvSpPr txBox="1">
            <a:spLocks/>
          </p:cNvSpPr>
          <p:nvPr/>
        </p:nvSpPr>
        <p:spPr bwMode="auto">
          <a:xfrm>
            <a:off x="899592" y="77424"/>
            <a:ext cx="7643338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 </a:t>
            </a:r>
            <a:r>
              <a:rPr lang="zh-CN" altLang="en-US" sz="2800" kern="0" dirty="0"/>
              <a:t>描述性</a:t>
            </a:r>
            <a:r>
              <a:rPr lang="zh-CN" altLang="en-US" sz="2800" kern="1200" dirty="0">
                <a:cs typeface="+mn-cs"/>
              </a:rPr>
              <a:t>统计分析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描述性</a:t>
            </a:r>
            <a:r>
              <a:rPr lang="zh-CN" altLang="en-US" sz="2800" kern="1200" dirty="0">
                <a:solidFill>
                  <a:srgbClr val="FF0000"/>
                </a:solidFill>
                <a:cs typeface="+mn-cs"/>
              </a:rPr>
              <a:t>统计分析步骤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08F2EDD-33E2-4C9A-90EA-349A7BE93E5F}"/>
              </a:ext>
            </a:extLst>
          </p:cNvPr>
          <p:cNvSpPr/>
          <p:nvPr/>
        </p:nvSpPr>
        <p:spPr>
          <a:xfrm>
            <a:off x="5508104" y="1828811"/>
            <a:ext cx="1824412" cy="369332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直方图、点图等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51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3" grpId="0" animBg="1"/>
      <p:bldP spid="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02800" y="555526"/>
            <a:ext cx="8533696" cy="458908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  <a:spcAft>
                <a:spcPts val="1350"/>
              </a:spcAft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随机变量取值不可预测，但有稳定数字特征，用样本统计量近似得到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3733" y="1057430"/>
            <a:ext cx="141577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统计量：</a:t>
            </a:r>
            <a:endParaRPr lang="ko-KR" altLang="en-US" sz="2400" b="1" noProof="1">
              <a:solidFill>
                <a:srgbClr val="0070C0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14316EA1-7B41-4F7D-87B6-DA4FD6643BAE}"/>
              </a:ext>
            </a:extLst>
          </p:cNvPr>
          <p:cNvSpPr txBox="1">
            <a:spLocks/>
          </p:cNvSpPr>
          <p:nvPr/>
        </p:nvSpPr>
        <p:spPr bwMode="auto">
          <a:xfrm>
            <a:off x="1184337" y="47572"/>
            <a:ext cx="6988063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200" dirty="0">
                <a:cs typeface="+mn-cs"/>
              </a:rPr>
              <a:t>§4.2 </a:t>
            </a:r>
            <a:r>
              <a:rPr lang="zh-CN" altLang="en-US" sz="2800" b="1" kern="0" dirty="0"/>
              <a:t>描述性</a:t>
            </a:r>
            <a:r>
              <a:rPr lang="zh-CN" altLang="en-US" sz="2800" b="1" kern="1200" dirty="0">
                <a:cs typeface="+mn-cs"/>
              </a:rPr>
              <a:t>统计分析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描述性</a:t>
            </a:r>
            <a:r>
              <a:rPr lang="zh-CN" altLang="en-US" sz="2800" b="1" kern="1200" dirty="0">
                <a:solidFill>
                  <a:srgbClr val="FF0000"/>
                </a:solidFill>
                <a:cs typeface="+mn-cs"/>
              </a:rPr>
              <a:t>统计量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25E50E-AB49-472B-9FDA-8C2FE21E37C0}"/>
              </a:ext>
            </a:extLst>
          </p:cNvPr>
          <p:cNvSpPr txBox="1"/>
          <p:nvPr/>
        </p:nvSpPr>
        <p:spPr>
          <a:xfrm>
            <a:off x="1645551" y="955636"/>
            <a:ext cx="7323795" cy="7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45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由样本数据计算推导出来的统计参数，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少量统计量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实现对</a:t>
            </a:r>
            <a:r>
              <a:rPr lang="zh-CN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大量原始数据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概括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是概括描述原始数据特性的最佳参数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7ADDC4-1D92-4F82-8AE7-DA6D97706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83" y="1718051"/>
            <a:ext cx="8352928" cy="21280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F34B170C-C93B-4BCD-AE37-9391BD49AC99}"/>
              </a:ext>
            </a:extLst>
          </p:cNvPr>
          <p:cNvSpPr/>
          <p:nvPr/>
        </p:nvSpPr>
        <p:spPr>
          <a:xfrm>
            <a:off x="432818" y="4291941"/>
            <a:ext cx="6357059" cy="33855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求矩阵统计量时求每列或每行的统计量，如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mean,std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9EFFDBDE-95CB-4AE2-AE2B-EF7061F41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877" y="4164024"/>
            <a:ext cx="2226296" cy="594387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MATLAB </a:t>
            </a:r>
          </a:p>
          <a:p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min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Menlo"/>
              </a:rPr>
              <a:t>和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max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D935EA-6CD6-4CA2-B125-A71147FC8155}"/>
              </a:ext>
            </a:extLst>
          </p:cNvPr>
          <p:cNvSpPr txBox="1"/>
          <p:nvPr/>
        </p:nvSpPr>
        <p:spPr>
          <a:xfrm>
            <a:off x="537683" y="3883497"/>
            <a:ext cx="4322349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sum(A)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                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数组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A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所有元素的</a:t>
            </a:r>
            <a:r>
              <a:rPr lang="zh-CN" altLang="en-US" sz="1600" dirty="0">
                <a:solidFill>
                  <a:srgbClr val="0070C0"/>
                </a:solidFill>
                <a:latin typeface="Arial Unicode MS"/>
                <a:ea typeface="source-code-pro"/>
              </a:rPr>
              <a:t>总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和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  <a:endParaRPr kumimoji="0" lang="zh-CN" altLang="zh-CN" sz="16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2F96AB-EDF0-4D12-AE87-C34B72582A33}"/>
              </a:ext>
            </a:extLst>
          </p:cNvPr>
          <p:cNvSpPr txBox="1"/>
          <p:nvPr/>
        </p:nvSpPr>
        <p:spPr>
          <a:xfrm>
            <a:off x="4860032" y="3866831"/>
            <a:ext cx="4032448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16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defRPr>
            </a:lvl1pPr>
          </a:lstStyle>
          <a:p>
            <a:r>
              <a:rPr lang="en-US" altLang="zh-CN" dirty="0"/>
              <a:t>cum</a:t>
            </a:r>
            <a:r>
              <a:rPr lang="zh-CN" altLang="zh-CN" dirty="0"/>
              <a:t>sum(</a:t>
            </a:r>
            <a:r>
              <a:rPr lang="zh-CN" altLang="zh-CN"/>
              <a:t>A)</a:t>
            </a:r>
            <a:r>
              <a:rPr lang="en-US" altLang="zh-CN"/>
              <a:t>       </a:t>
            </a:r>
            <a:r>
              <a:rPr lang="zh-CN" altLang="en-US"/>
              <a:t>数组</a:t>
            </a:r>
            <a:r>
              <a:rPr lang="en-US" altLang="zh-CN" dirty="0"/>
              <a:t>A</a:t>
            </a:r>
            <a:r>
              <a:rPr lang="zh-CN" altLang="en-US" dirty="0"/>
              <a:t>向量元素的</a:t>
            </a:r>
            <a:r>
              <a:rPr lang="zh-CN" altLang="en-US"/>
              <a:t>累积和</a:t>
            </a:r>
            <a:r>
              <a:rPr lang="en-US" altLang="zh-CN" dirty="0"/>
              <a:t> </a:t>
            </a:r>
            <a:r>
              <a:rPr lang="zh-CN" altLang="zh-CN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表格 573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273922"/>
              </p:ext>
            </p:extLst>
          </p:nvPr>
        </p:nvGraphicFramePr>
        <p:xfrm>
          <a:off x="362592" y="725561"/>
          <a:ext cx="8532945" cy="3574377"/>
        </p:xfrm>
        <a:graphic>
          <a:graphicData uri="http://schemas.openxmlformats.org/drawingml/2006/table">
            <a:tbl>
              <a:tblPr/>
              <a:tblGrid>
                <a:gridCol w="105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7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1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1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19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69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收盘价</a:t>
                      </a: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8.28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2-17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9.69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10.02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9.87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2-3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8.78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2-18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3-5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10.28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3-20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9.71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9.35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9.04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10.04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3-23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10.11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2-5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2-20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9.15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9.62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9.97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9.49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2-23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3-10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9.69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3-25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8.91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3-11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9.46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10.39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2-10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9.46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2-25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9.20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9.23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3-27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10.39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2-11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8.82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3-13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3-30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10.50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2-12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2-27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9.23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9.51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3-31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10.69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2-13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9.57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9.19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3-17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9.78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4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2-16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10.03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3-4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9.25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3-18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9.71</a:t>
                      </a: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599" marR="91599" marT="34256" marB="3425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4780C5"/>
                        </a:gs>
                        <a:gs pos="50000">
                          <a:srgbClr val="3A6BA5"/>
                        </a:gs>
                        <a:gs pos="100000">
                          <a:srgbClr val="254872"/>
                        </a:gs>
                      </a:gsLst>
                      <a:lin ang="27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波形 9"/>
          <p:cNvSpPr/>
          <p:nvPr/>
        </p:nvSpPr>
        <p:spPr>
          <a:xfrm>
            <a:off x="327849" y="645170"/>
            <a:ext cx="931784" cy="45402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C1409AAB-1B2B-4F01-9431-BD2F566C9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63" y="4311172"/>
            <a:ext cx="8702141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Aharoni" panose="02010803020104030203" pitchFamily="2" charset="-79"/>
              </a:rPr>
              <a:t>如何通过数据统计分析确定股票服从正态分布，并拟合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Aharoni" panose="02010803020104030203" pitchFamily="2" charset="-79"/>
              </a:rPr>
              <a:t>x</a:t>
            </a:r>
            <a:r>
              <a:rPr lang="ko-KR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Malgun Gothic" panose="020B0503020000020004" pitchFamily="34" charset="-127"/>
                <a:cs typeface="Aharoni" panose="02010803020104030203" pitchFamily="2" charset="-79"/>
              </a:rPr>
              <a:t>～N(</a:t>
            </a:r>
            <a:r>
              <a:rPr lang="pl-PL" altLang="zh-CN" sz="1600" b="1" kern="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Aharoni" panose="02010803020104030203" pitchFamily="2" charset="-79"/>
                <a:sym typeface="Arial" panose="020B0604020202020204" pitchFamily="34" charset="0"/>
              </a:rPr>
              <a:t>9.5626</a:t>
            </a:r>
            <a:r>
              <a:rPr lang="en-US" altLang="zh-CN" sz="1600" b="1" kern="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Aharoni" panose="02010803020104030203" pitchFamily="2" charset="-79"/>
                <a:sym typeface="Arial" panose="020B0604020202020204" pitchFamily="34" charset="0"/>
              </a:rPr>
              <a:t>,</a:t>
            </a:r>
            <a:r>
              <a:rPr lang="pl-PL" altLang="zh-CN" sz="1600" b="1" kern="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Aharoni" panose="02010803020104030203" pitchFamily="2" charset="-79"/>
                <a:sym typeface="Arial" panose="020B0604020202020204" pitchFamily="34" charset="0"/>
              </a:rPr>
              <a:t>0.5017 </a:t>
            </a:r>
            <a:r>
              <a:rPr lang="ko-KR" altLang="en-US" sz="1600" b="1" baseline="300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Malgun Gothic" panose="020B0503020000020004" pitchFamily="34" charset="-127"/>
                <a:cs typeface="Aharoni" panose="02010803020104030203" pitchFamily="2" charset="-79"/>
              </a:rPr>
              <a:t>2</a:t>
            </a:r>
            <a:r>
              <a:rPr lang="ko-KR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Malgun Gothic" panose="020B0503020000020004" pitchFamily="34" charset="-127"/>
                <a:cs typeface="Aharoni" panose="02010803020104030203" pitchFamily="2" charset="-79"/>
              </a:rPr>
              <a:t>)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Malgun Gothic" panose="020B0503020000020004" pitchFamily="34" charset="-127"/>
                <a:cs typeface="Aharoni" panose="02010803020104030203" pitchFamily="2" charset="-79"/>
              </a:rPr>
              <a:t>，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Aharoni" panose="02010803020104030203" pitchFamily="2" charset="-79"/>
              </a:rPr>
              <a:t>进行概率计算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楷体" panose="02010609060101010101" pitchFamily="49" charset="-122"/>
              <a:ea typeface="楷体" panose="02010609060101010101" pitchFamily="49" charset="-122"/>
              <a:cs typeface="Aharoni" panose="02010803020104030203" pitchFamily="2" charset="-79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40C0C710-082E-43D7-AA8D-F7EF1EBC9006}"/>
              </a:ext>
            </a:extLst>
          </p:cNvPr>
          <p:cNvSpPr txBox="1">
            <a:spLocks/>
          </p:cNvSpPr>
          <p:nvPr/>
        </p:nvSpPr>
        <p:spPr bwMode="auto">
          <a:xfrm>
            <a:off x="971600" y="78750"/>
            <a:ext cx="7643338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§4.2-4.3 </a:t>
            </a:r>
            <a:r>
              <a:rPr lang="zh-CN" altLang="en-US" sz="2800" kern="1200" dirty="0">
                <a:cs typeface="+mn-cs"/>
              </a:rPr>
              <a:t>数据统计分析</a:t>
            </a:r>
            <a:r>
              <a:rPr lang="zh-CN" altLang="en-US" sz="2800" dirty="0">
                <a:cs typeface="+mn-cs"/>
              </a:rPr>
              <a:t>案例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1200" dirty="0">
                <a:solidFill>
                  <a:srgbClr val="FF0000"/>
                </a:solidFill>
                <a:cs typeface="+mn-cs"/>
              </a:rPr>
              <a:t>数据</a:t>
            </a:r>
            <a:r>
              <a:rPr lang="zh-CN" altLang="en-US" sz="2800" dirty="0">
                <a:solidFill>
                  <a:srgbClr val="FF0000"/>
                </a:solidFill>
                <a:cs typeface="+mn-cs"/>
              </a:rPr>
              <a:t>分析问题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33E21C-AE8C-435B-8C72-10EAC892A68F}"/>
              </a:ext>
            </a:extLst>
          </p:cNvPr>
          <p:cNvSpPr/>
          <p:nvPr/>
        </p:nvSpPr>
        <p:spPr>
          <a:xfrm>
            <a:off x="428081" y="2114013"/>
            <a:ext cx="81868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atinLnBrk="1"/>
            <a:r>
              <a:rPr lang="zh-CN" altLang="en-US" sz="2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某银行</a:t>
            </a:r>
            <a:r>
              <a:rPr lang="en-US" altLang="ko-KR" sz="2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2009</a:t>
            </a:r>
            <a:r>
              <a:rPr lang="zh-CN" altLang="en-US" sz="2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年</a:t>
            </a:r>
            <a:r>
              <a:rPr lang="en-US" altLang="ko-KR" sz="2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42</a:t>
            </a:r>
            <a:r>
              <a:rPr lang="zh-CN" altLang="en-US" sz="2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天交易日某支股票收盘价采样数据如表所示</a:t>
            </a: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2202006B-3F62-4C86-93D9-D3DB84AF9985}"/>
              </a:ext>
            </a:extLst>
          </p:cNvPr>
          <p:cNvSpPr/>
          <p:nvPr/>
        </p:nvSpPr>
        <p:spPr>
          <a:xfrm>
            <a:off x="5724128" y="722545"/>
            <a:ext cx="931784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684220-6705-4667-B39A-C6985D75F077}"/>
              </a:ext>
            </a:extLst>
          </p:cNvPr>
          <p:cNvSpPr txBox="1"/>
          <p:nvPr/>
        </p:nvSpPr>
        <p:spPr>
          <a:xfrm>
            <a:off x="6640767" y="768327"/>
            <a:ext cx="2503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股票收盘价数据分析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0740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3528" y="3031750"/>
            <a:ext cx="20505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latinLnBrk="1">
              <a:buFont typeface="+mj-ea"/>
              <a:buAutoNum type="circleNumDbPlain" startAt="4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正态概率图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0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2110374"/>
            <a:ext cx="22429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latinLnBrk="1">
              <a:buFont typeface="+mj-ea"/>
              <a:buAutoNum type="circleNumDbPlain" startAt="3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正态曲线拟合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32789" y="2115076"/>
            <a:ext cx="1075116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histfit</a:t>
            </a:r>
            <a:r>
              <a:rPr lang="en-US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x,k</a:t>
            </a:r>
            <a:r>
              <a:rPr lang="en-US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1" name="矩形 10"/>
          <p:cNvSpPr/>
          <p:nvPr/>
        </p:nvSpPr>
        <p:spPr>
          <a:xfrm>
            <a:off x="298785" y="3573474"/>
            <a:ext cx="403828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514350" indent="-514350" latinLnBrk="1">
              <a:buFont typeface="+mj-ea"/>
              <a:buAutoNum type="circleNumDbPlain" startAt="5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正态分布数据的区间参数估计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矩形 1"/>
          <p:cNvSpPr>
            <a:spLocks noChangeArrowheads="1"/>
          </p:cNvSpPr>
          <p:nvPr/>
        </p:nvSpPr>
        <p:spPr bwMode="auto">
          <a:xfrm>
            <a:off x="62053" y="2555485"/>
            <a:ext cx="195598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推断统计分析</a:t>
            </a:r>
          </a:p>
        </p:txBody>
      </p: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162425" y="709195"/>
            <a:ext cx="195598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描述统计分析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323528" y="1203598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latinLnBrk="1"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统计量计算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1487" y="1636446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latinLnBrk="1">
              <a:buFont typeface="+mj-ea"/>
              <a:buAutoNum type="circleNumDbPlain" startAt="2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频数直方图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66450" y="1194043"/>
            <a:ext cx="6398038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mean, std, </a:t>
            </a:r>
            <a:r>
              <a:rPr lang="en-US" altLang="zh-CN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ty_minimum</a:t>
            </a:r>
            <a:r>
              <a:rPr lang="en-US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, ty_ </a:t>
            </a:r>
            <a:r>
              <a:rPr lang="en-US" altLang="zh-CN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maximum</a:t>
            </a:r>
            <a:r>
              <a:rPr lang="en-US" altLang="zh-CN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,median</a:t>
            </a:r>
            <a:endParaRPr lang="en-US" altLang="zh-CN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54310" y="660151"/>
            <a:ext cx="507869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42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天股票价作为采样数据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  </a:t>
            </a:r>
          </a:p>
        </p:txBody>
      </p:sp>
      <p:sp>
        <p:nvSpPr>
          <p:cNvPr id="22" name="矩形 21"/>
          <p:cNvSpPr/>
          <p:nvPr/>
        </p:nvSpPr>
        <p:spPr>
          <a:xfrm>
            <a:off x="4519331" y="3590096"/>
            <a:ext cx="1208484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normfit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(x)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1732AD-4FEC-4999-8C80-E93C6350778B}"/>
              </a:ext>
            </a:extLst>
          </p:cNvPr>
          <p:cNvSpPr/>
          <p:nvPr/>
        </p:nvSpPr>
        <p:spPr>
          <a:xfrm>
            <a:off x="4111507" y="1599634"/>
            <a:ext cx="443142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样本数据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个选定区间出现次数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3D60BC-8C73-4B92-94FD-5F90B2164AB0}"/>
              </a:ext>
            </a:extLst>
          </p:cNvPr>
          <p:cNvSpPr/>
          <p:nvPr/>
        </p:nvSpPr>
        <p:spPr>
          <a:xfrm>
            <a:off x="4072781" y="2931790"/>
            <a:ext cx="49637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创建正态概率图，将 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数据分布与正态分布线进行比较。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0167" y="3079322"/>
            <a:ext cx="1377430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normplot(x)</a:t>
            </a:r>
            <a:endParaRPr lang="en-US" altLang="zh-CN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B5CACC-F59B-4522-9E10-FC9647CF58F5}"/>
              </a:ext>
            </a:extLst>
          </p:cNvPr>
          <p:cNvSpPr/>
          <p:nvPr/>
        </p:nvSpPr>
        <p:spPr>
          <a:xfrm>
            <a:off x="2591212" y="1627879"/>
            <a:ext cx="1481570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histogram(</a:t>
            </a:r>
            <a:r>
              <a:rPr lang="en-US" altLang="zh-CN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x,k</a:t>
            </a:r>
            <a:r>
              <a:rPr lang="en-US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84BD14-80CC-3AB1-75F3-1E4BB1F1C8AE}"/>
              </a:ext>
            </a:extLst>
          </p:cNvPr>
          <p:cNvSpPr/>
          <p:nvPr/>
        </p:nvSpPr>
        <p:spPr>
          <a:xfrm>
            <a:off x="3774244" y="2093728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带有正态概率密度曲线的直方图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9D7588-3ED9-A0FE-95BE-58A97EA7D7C9}"/>
              </a:ext>
            </a:extLst>
          </p:cNvPr>
          <p:cNvSpPr/>
          <p:nvPr/>
        </p:nvSpPr>
        <p:spPr>
          <a:xfrm>
            <a:off x="5732614" y="3549347"/>
            <a:ext cx="28103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预测总体均值和标准差</a:t>
            </a:r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CEFE85A9-D347-4B6C-ACA0-346F5700AAA2}"/>
              </a:ext>
            </a:extLst>
          </p:cNvPr>
          <p:cNvSpPr txBox="1">
            <a:spLocks/>
          </p:cNvSpPr>
          <p:nvPr/>
        </p:nvSpPr>
        <p:spPr bwMode="auto">
          <a:xfrm>
            <a:off x="899592" y="77424"/>
            <a:ext cx="7643338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</a:t>
            </a:r>
            <a:r>
              <a:rPr lang="en-US" altLang="zh-CN" sz="2800" dirty="0">
                <a:cs typeface="+mn-cs"/>
              </a:rPr>
              <a:t>-4.4 </a:t>
            </a:r>
            <a:r>
              <a:rPr lang="zh-CN" altLang="en-US" sz="2800" kern="1200" dirty="0">
                <a:cs typeface="+mn-cs"/>
              </a:rPr>
              <a:t>数据统计分析</a:t>
            </a:r>
            <a:r>
              <a:rPr lang="zh-CN" altLang="en-US" sz="2800" dirty="0">
                <a:cs typeface="+mn-cs"/>
              </a:rPr>
              <a:t>案例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1200" dirty="0">
                <a:solidFill>
                  <a:srgbClr val="FF0000"/>
                </a:solidFill>
                <a:cs typeface="+mn-cs"/>
              </a:rPr>
              <a:t>案例的主要内容</a:t>
            </a:r>
          </a:p>
        </p:txBody>
      </p:sp>
      <p:sp>
        <p:nvSpPr>
          <p:cNvPr id="24" name="矩形 1">
            <a:extLst>
              <a:ext uri="{FF2B5EF4-FFF2-40B4-BE49-F238E27FC236}">
                <a16:creationId xmlns:a16="http://schemas.microsoft.com/office/drawing/2014/main" id="{C9A43731-71F6-44F8-A283-AF44E9EA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6" y="4134957"/>
            <a:ext cx="195598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概率分布计算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9C203D-F7A4-48B9-B423-BE8272373213}"/>
              </a:ext>
            </a:extLst>
          </p:cNvPr>
          <p:cNvSpPr txBox="1"/>
          <p:nvPr/>
        </p:nvSpPr>
        <p:spPr>
          <a:xfrm>
            <a:off x="2010906" y="4135585"/>
            <a:ext cx="7025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根据拟合总体均值和方差，用概率分布函数</a:t>
            </a:r>
            <a:r>
              <a:rPr lang="en-US" altLang="zh-CN" sz="1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normcdp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计算累计概率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3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1" grpId="0" animBg="1"/>
      <p:bldP spid="13" grpId="0" animBg="1"/>
      <p:bldP spid="16" grpId="0"/>
      <p:bldP spid="18" grpId="0"/>
      <p:bldP spid="20" grpId="0" animBg="1"/>
      <p:bldP spid="22" grpId="0" animBg="1"/>
      <p:bldP spid="17" grpId="0"/>
      <p:bldP spid="23" grpId="0"/>
      <p:bldP spid="7" grpId="0" animBg="1"/>
      <p:bldP spid="21" grpId="0" animBg="1"/>
      <p:bldP spid="4" grpId="0"/>
      <p:bldP spid="5" grpId="0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407" y="1203598"/>
            <a:ext cx="9021434" cy="3402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900"/>
              </a:lnSpc>
            </a:pPr>
            <a:r>
              <a:rPr lang="ko-KR" altLang="en-US" sz="2000" dirty="0">
                <a:solidFill>
                  <a:srgbClr val="00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x=[8.28,8.78,9.35,9.22,9.49,9.56,9.46,9.56,9.29,9.57,10.03,9.69,9.12,9.04,9.15,9.52,8.91,9.2,8.82,9.23,9.19,9.25,10.02,10.28,10.04,9.62,9.69,9.46,9.23,9.16,9.51,9.78,9.71,9.87,9.71,10.11,9.97,9.79,10.39,10.39,10.5,10.69]; 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#</a:t>
            </a:r>
            <a:r>
              <a:rPr lang="zh-CN" alt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股票收盘价</a:t>
            </a:r>
            <a:endParaRPr lang="en-US" altLang="ko-KR" sz="2000" dirty="0">
              <a:solidFill>
                <a:srgbClr val="000000"/>
              </a:solidFill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eaLnBrk="0" hangingPunct="0">
              <a:lnSpc>
                <a:spcPts val="2900"/>
              </a:lnSpc>
            </a:pPr>
            <a:r>
              <a:rPr lang="en-US" altLang="zh-CN" sz="2000" dirty="0" err="1">
                <a:solidFill>
                  <a:srgbClr val="002060"/>
                </a:solidFill>
              </a:rPr>
              <a:t>xmin,xmax</a:t>
            </a:r>
            <a:r>
              <a:rPr lang="en-US" altLang="zh-CN" sz="2000" dirty="0">
                <a:solidFill>
                  <a:srgbClr val="002060"/>
                </a:solidFill>
              </a:rPr>
              <a:t>=bounds(x) </a:t>
            </a:r>
            <a:r>
              <a:rPr lang="sv-SE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2060"/>
                </a:solidFill>
              </a:rPr>
              <a:t>(8.28, 10.69)</a:t>
            </a:r>
          </a:p>
          <a:p>
            <a:pPr eaLnBrk="0" hangingPunct="0">
              <a:lnSpc>
                <a:spcPts val="2900"/>
              </a:lnSpc>
            </a:pPr>
            <a:r>
              <a:rPr lang="sv-SE" altLang="zh-CN" sz="2000" dirty="0">
                <a:solidFill>
                  <a:srgbClr val="002060"/>
                </a:solidFill>
              </a:rPr>
              <a:t>Mi=ty_minimum(x)  </a:t>
            </a:r>
            <a:r>
              <a:rPr lang="sv-SE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sv-SE" altLang="zh-CN" sz="2000" dirty="0">
                <a:solidFill>
                  <a:srgbClr val="00B0F0"/>
                </a:solidFill>
              </a:rPr>
              <a:t>8.2800</a:t>
            </a:r>
          </a:p>
          <a:p>
            <a:pPr>
              <a:lnSpc>
                <a:spcPts val="29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M = </a:t>
            </a:r>
            <a:r>
              <a:rPr lang="en-US" altLang="zh-CN" sz="2000" dirty="0" err="1">
                <a:solidFill>
                  <a:srgbClr val="002060"/>
                </a:solidFill>
              </a:rPr>
              <a:t>ty_maximum</a:t>
            </a:r>
            <a:r>
              <a:rPr lang="en-US" altLang="zh-CN" sz="2000" dirty="0">
                <a:solidFill>
                  <a:srgbClr val="002060"/>
                </a:solidFill>
              </a:rPr>
              <a:t>(x)  </a:t>
            </a:r>
            <a:r>
              <a:rPr lang="sv-SE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sv-SE" altLang="zh-CN" sz="2000" dirty="0">
                <a:solidFill>
                  <a:srgbClr val="00B0F0"/>
                </a:solidFill>
              </a:rPr>
              <a:t>10.6900</a:t>
            </a:r>
          </a:p>
          <a:p>
            <a:pPr>
              <a:lnSpc>
                <a:spcPts val="2900"/>
              </a:lnSpc>
            </a:pPr>
            <a:r>
              <a:rPr lang="sv-SE" altLang="zh-CN" sz="2000" dirty="0">
                <a:solidFill>
                  <a:srgbClr val="002060"/>
                </a:solidFill>
              </a:rPr>
              <a:t>mean(x)  </a:t>
            </a:r>
            <a:r>
              <a:rPr lang="sv-SE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sv-SE" altLang="zh-CN" sz="2000" dirty="0">
                <a:solidFill>
                  <a:srgbClr val="00B0F0"/>
                </a:solidFill>
              </a:rPr>
              <a:t>9.5626</a:t>
            </a:r>
          </a:p>
          <a:p>
            <a:pPr>
              <a:lnSpc>
                <a:spcPts val="2900"/>
              </a:lnSpc>
            </a:pPr>
            <a:r>
              <a:rPr lang="sv-SE" altLang="zh-CN" sz="2000" dirty="0">
                <a:solidFill>
                  <a:srgbClr val="002060"/>
                </a:solidFill>
              </a:rPr>
              <a:t>std(x)  </a:t>
            </a:r>
            <a:r>
              <a:rPr lang="sv-SE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sv-SE" altLang="zh-CN" sz="2000" dirty="0">
                <a:solidFill>
                  <a:srgbClr val="00B0F0"/>
                </a:solidFill>
              </a:rPr>
              <a:t>0.5017</a:t>
            </a:r>
          </a:p>
          <a:p>
            <a:pPr>
              <a:lnSpc>
                <a:spcPts val="2900"/>
              </a:lnSpc>
            </a:pPr>
            <a:r>
              <a:rPr lang="sv-SE" altLang="zh-CN" sz="2000" dirty="0">
                <a:solidFill>
                  <a:srgbClr val="002060"/>
                </a:solidFill>
              </a:rPr>
              <a:t>median(x)  </a:t>
            </a:r>
            <a:r>
              <a:rPr lang="sv-SE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sv-SE" altLang="zh-CN" sz="2000" dirty="0">
                <a:solidFill>
                  <a:srgbClr val="00B0F0"/>
                </a:solidFill>
              </a:rPr>
              <a:t>9.5400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EA1F89-DE6A-41F0-8A73-B93C92E5128A}"/>
              </a:ext>
            </a:extLst>
          </p:cNvPr>
          <p:cNvSpPr/>
          <p:nvPr/>
        </p:nvSpPr>
        <p:spPr>
          <a:xfrm>
            <a:off x="1043608" y="829970"/>
            <a:ext cx="8100392" cy="373628"/>
          </a:xfrm>
          <a:prstGeom prst="rect">
            <a:avLst/>
          </a:prstGeom>
          <a:solidFill>
            <a:srgbClr val="0070C0"/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</a:rPr>
              <a:t>统计量：均值</a:t>
            </a:r>
            <a:r>
              <a:rPr lang="en-US" altLang="zh-CN" sz="1400" b="1" dirty="0">
                <a:solidFill>
                  <a:schemeClr val="bg1"/>
                </a:solidFill>
              </a:rPr>
              <a:t>mean,</a:t>
            </a:r>
            <a:r>
              <a:rPr lang="zh-CN" altLang="en-US" sz="1400" b="1" dirty="0">
                <a:solidFill>
                  <a:schemeClr val="bg1"/>
                </a:solidFill>
              </a:rPr>
              <a:t>方差</a:t>
            </a:r>
            <a:r>
              <a:rPr lang="en-US" altLang="zh-CN" sz="1400" b="1" dirty="0">
                <a:solidFill>
                  <a:schemeClr val="bg1"/>
                </a:solidFill>
              </a:rPr>
              <a:t>var,</a:t>
            </a:r>
            <a:r>
              <a:rPr lang="zh-CN" altLang="en-US" sz="1400" b="1" dirty="0">
                <a:solidFill>
                  <a:schemeClr val="bg1"/>
                </a:solidFill>
              </a:rPr>
              <a:t>标准差</a:t>
            </a:r>
            <a:r>
              <a:rPr lang="en-US" altLang="zh-CN" sz="1400" b="1" dirty="0">
                <a:solidFill>
                  <a:schemeClr val="bg1"/>
                </a:solidFill>
              </a:rPr>
              <a:t>std,</a:t>
            </a:r>
            <a:r>
              <a:rPr lang="zh-CN" altLang="en-US" sz="1400" b="1" dirty="0">
                <a:solidFill>
                  <a:schemeClr val="bg1"/>
                </a:solidFill>
              </a:rPr>
              <a:t>最大值</a:t>
            </a:r>
            <a:r>
              <a:rPr lang="en-US" altLang="zh-CN" sz="1400" b="1" dirty="0">
                <a:solidFill>
                  <a:schemeClr val="bg1"/>
                </a:solidFill>
              </a:rPr>
              <a:t>min,</a:t>
            </a:r>
            <a:r>
              <a:rPr lang="zh-CN" altLang="en-US" sz="1400" b="1" dirty="0">
                <a:solidFill>
                  <a:schemeClr val="bg1"/>
                </a:solidFill>
              </a:rPr>
              <a:t>极差</a:t>
            </a:r>
            <a:r>
              <a:rPr lang="en-US" altLang="zh-CN" sz="1400" b="1" dirty="0">
                <a:solidFill>
                  <a:schemeClr val="bg1"/>
                </a:solidFill>
              </a:rPr>
              <a:t>range,</a:t>
            </a:r>
            <a:r>
              <a:rPr lang="zh-CN" altLang="en-US" sz="1400" b="1" dirty="0">
                <a:solidFill>
                  <a:schemeClr val="bg1"/>
                </a:solidFill>
              </a:rPr>
              <a:t>排序</a:t>
            </a:r>
            <a:r>
              <a:rPr lang="en-US" altLang="zh-CN" sz="1400" b="1" dirty="0">
                <a:solidFill>
                  <a:schemeClr val="bg1"/>
                </a:solidFill>
              </a:rPr>
              <a:t>sort,</a:t>
            </a:r>
            <a:r>
              <a:rPr lang="zh-CN" altLang="en-US" sz="1400" b="1" dirty="0">
                <a:solidFill>
                  <a:schemeClr val="bg1"/>
                </a:solidFill>
              </a:rPr>
              <a:t>中位数</a:t>
            </a:r>
            <a:r>
              <a:rPr lang="en-US" altLang="zh-CN" sz="1400" b="1" dirty="0">
                <a:solidFill>
                  <a:schemeClr val="bg1"/>
                </a:solidFill>
              </a:rPr>
              <a:t>median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83DE08C-B175-4B38-8856-FA8056B8CAD9}"/>
              </a:ext>
            </a:extLst>
          </p:cNvPr>
          <p:cNvSpPr txBox="1">
            <a:spLocks/>
          </p:cNvSpPr>
          <p:nvPr/>
        </p:nvSpPr>
        <p:spPr bwMode="auto">
          <a:xfrm>
            <a:off x="1485873" y="42522"/>
            <a:ext cx="6264696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 </a:t>
            </a:r>
            <a:r>
              <a:rPr lang="zh-CN" altLang="en-US" sz="2800" kern="0" dirty="0"/>
              <a:t>描述性</a:t>
            </a:r>
            <a:r>
              <a:rPr lang="zh-CN" altLang="en-US" sz="2800" kern="1200" dirty="0">
                <a:cs typeface="+mn-cs"/>
              </a:rPr>
              <a:t>统计分析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1200" dirty="0">
                <a:solidFill>
                  <a:srgbClr val="FF0000"/>
                </a:solidFill>
                <a:cs typeface="+mn-cs"/>
              </a:rPr>
              <a:t>统计量计算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F6AED5-CB0D-4EC7-883A-4230274C971F}"/>
              </a:ext>
            </a:extLst>
          </p:cNvPr>
          <p:cNvSpPr txBox="1"/>
          <p:nvPr/>
        </p:nvSpPr>
        <p:spPr>
          <a:xfrm>
            <a:off x="3641578" y="3425434"/>
            <a:ext cx="5421034" cy="10289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数组的最大元素</a:t>
            </a:r>
            <a:r>
              <a:rPr lang="en-US" altLang="zh-CN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= </a:t>
            </a:r>
            <a:r>
              <a:rPr lang="en-US" altLang="zh-CN" i="0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ty_maximum</a:t>
            </a:r>
            <a:r>
              <a:rPr lang="zh-CN" altLang="en-US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i="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zh-CN" altLang="en-US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如</a:t>
            </a:r>
            <a:r>
              <a:rPr lang="en-US" altLang="zh-CN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是向量，</a:t>
            </a:r>
            <a:r>
              <a:rPr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求</a:t>
            </a:r>
            <a:r>
              <a:rPr lang="en-US" altLang="zh-CN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的最大值</a:t>
            </a:r>
            <a:endParaRPr lang="zh-CN" altLang="en-US" i="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zh-CN" altLang="en-US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 </a:t>
            </a:r>
            <a:r>
              <a:rPr lang="en-US" altLang="zh-CN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为矩阵，求</a:t>
            </a:r>
            <a:r>
              <a:rPr lang="en-US" altLang="zh-CN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i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的每一列的最大值的行向量</a:t>
            </a: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F7E70D2E-D874-4973-BC74-46F635B5DD5D}"/>
              </a:ext>
            </a:extLst>
          </p:cNvPr>
          <p:cNvSpPr/>
          <p:nvPr/>
        </p:nvSpPr>
        <p:spPr>
          <a:xfrm>
            <a:off x="68407" y="771550"/>
            <a:ext cx="931784" cy="4529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例42-1-1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687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8474" y="2324930"/>
            <a:ext cx="4176464" cy="21236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2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h,stats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</a:t>
            </a:r>
            <a:r>
              <a:rPr lang="en-US" altLang="zh-CN" sz="22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cdfplot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endParaRPr lang="sv-SE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sv-SE" altLang="zh-CN" sz="2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#</a:t>
            </a:r>
            <a:r>
              <a:rPr lang="zh-CN" altLang="en-US" sz="2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结果</a:t>
            </a:r>
            <a:r>
              <a:rPr lang="sv-SE" altLang="zh-CN" sz="2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min: 8.2800</a:t>
            </a:r>
          </a:p>
          <a:p>
            <a:r>
              <a:rPr lang="sv-SE" altLang="zh-CN" sz="2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max: 10.6900</a:t>
            </a:r>
          </a:p>
          <a:p>
            <a:r>
              <a:rPr lang="sv-SE" altLang="zh-CN" sz="2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mean: 9.5626</a:t>
            </a:r>
          </a:p>
          <a:p>
            <a:r>
              <a:rPr lang="sv-SE" altLang="zh-CN" sz="2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median: 9.5400</a:t>
            </a:r>
          </a:p>
          <a:p>
            <a:r>
              <a:rPr lang="sv-SE" altLang="zh-CN" sz="2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std: 0.5017</a:t>
            </a:r>
            <a:endParaRPr lang="zh-CN" altLang="en-US" sz="2200" dirty="0">
              <a:solidFill>
                <a:srgbClr val="00B0F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文本框 55300"/>
          <p:cNvSpPr txBox="1">
            <a:spLocks noChangeArrowheads="1"/>
          </p:cNvSpPr>
          <p:nvPr/>
        </p:nvSpPr>
        <p:spPr bwMode="auto">
          <a:xfrm>
            <a:off x="5652120" y="771573"/>
            <a:ext cx="295232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dist"/>
            <a:r>
              <a:rPr lang="en-US" altLang="zh-CN" sz="2000" dirty="0">
                <a:sym typeface="+mn-ea"/>
              </a:rPr>
              <a:t>h</a:t>
            </a:r>
            <a:r>
              <a:rPr lang="ko-KR" altLang="en-US" sz="2000" dirty="0">
                <a:sym typeface="+mn-ea"/>
              </a:rPr>
              <a:t>,</a:t>
            </a:r>
            <a:r>
              <a:rPr lang="en-US" altLang="ko-KR" sz="2000" dirty="0">
                <a:sym typeface="+mn-ea"/>
              </a:rPr>
              <a:t>stats</a:t>
            </a:r>
            <a:r>
              <a:rPr lang="ko-KR" altLang="en-US" sz="2000" dirty="0">
                <a:sym typeface="+mn-ea"/>
              </a:rPr>
              <a:t>=</a:t>
            </a:r>
            <a:r>
              <a:rPr lang="en-US" altLang="ko-KR" sz="2000" dirty="0" err="1">
                <a:sym typeface="+mn-ea"/>
              </a:rPr>
              <a:t>cdfplot</a:t>
            </a:r>
            <a:r>
              <a:rPr lang="ko-KR" altLang="en-US" sz="2000" dirty="0">
                <a:sym typeface="+mn-ea"/>
              </a:rPr>
              <a:t>(x)</a:t>
            </a:r>
          </a:p>
        </p:txBody>
      </p:sp>
      <p:sp>
        <p:nvSpPr>
          <p:cNvPr id="7" name="矩形 6"/>
          <p:cNvSpPr/>
          <p:nvPr/>
        </p:nvSpPr>
        <p:spPr>
          <a:xfrm>
            <a:off x="395536" y="1287240"/>
            <a:ext cx="5044917" cy="430887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是线图句柄；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stats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是汇总统计量</a:t>
            </a:r>
          </a:p>
        </p:txBody>
      </p:sp>
      <p:pic>
        <p:nvPicPr>
          <p:cNvPr id="2396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48904"/>
            <a:ext cx="3865204" cy="261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8FE01D8B-F891-4ADE-895D-95208987D760}"/>
              </a:ext>
            </a:extLst>
          </p:cNvPr>
          <p:cNvSpPr txBox="1">
            <a:spLocks/>
          </p:cNvSpPr>
          <p:nvPr/>
        </p:nvSpPr>
        <p:spPr bwMode="auto">
          <a:xfrm>
            <a:off x="339161" y="68980"/>
            <a:ext cx="8465677" cy="5634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 </a:t>
            </a:r>
            <a:r>
              <a:rPr lang="zh-CN" altLang="en-US" sz="2800" kern="0" dirty="0"/>
              <a:t>描述性</a:t>
            </a:r>
            <a:r>
              <a:rPr lang="zh-CN" altLang="en-US" sz="2800" kern="1200" dirty="0">
                <a:cs typeface="+mn-cs"/>
              </a:rPr>
              <a:t>统计分析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经验累积分布函数绘图</a:t>
            </a:r>
            <a:r>
              <a:rPr lang="en-US" altLang="zh-CN" sz="2800" kern="0" dirty="0" err="1">
                <a:solidFill>
                  <a:srgbClr val="FF0000"/>
                </a:solidFill>
              </a:rPr>
              <a:t>cdfplot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1F82371D-31F0-4515-B6EE-F8CB83DDB716}"/>
              </a:ext>
            </a:extLst>
          </p:cNvPr>
          <p:cNvSpPr/>
          <p:nvPr/>
        </p:nvSpPr>
        <p:spPr>
          <a:xfrm>
            <a:off x="4619301" y="1862009"/>
            <a:ext cx="931784" cy="3693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例42-1-2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E3D1E8-1F87-4CB8-AC07-2C3B4B88E79E}"/>
              </a:ext>
            </a:extLst>
          </p:cNvPr>
          <p:cNvSpPr txBox="1"/>
          <p:nvPr/>
        </p:nvSpPr>
        <p:spPr>
          <a:xfrm>
            <a:off x="433670" y="764256"/>
            <a:ext cx="53038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cdfplot</a:t>
            </a: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绘制经验累积分布图调用格式</a:t>
            </a:r>
            <a:endParaRPr lang="zh-CN" altLang="en-US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26D881-7EA3-4537-9CDE-1E1414B38A95}"/>
              </a:ext>
            </a:extLst>
          </p:cNvPr>
          <p:cNvSpPr txBox="1"/>
          <p:nvPr/>
        </p:nvSpPr>
        <p:spPr>
          <a:xfrm>
            <a:off x="5740123" y="4187261"/>
            <a:ext cx="2869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股票收盘价的累积分布图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CFEE08-B2CE-46FC-A7C4-E622E894AA01}"/>
              </a:ext>
            </a:extLst>
          </p:cNvPr>
          <p:cNvSpPr txBox="1"/>
          <p:nvPr/>
        </p:nvSpPr>
        <p:spPr>
          <a:xfrm>
            <a:off x="433670" y="1832461"/>
            <a:ext cx="46203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绘制股价收盘的经验累积分布图</a:t>
            </a:r>
            <a:endParaRPr lang="sv-SE" altLang="zh-CN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3E33DA-C010-45C7-91EA-67DE13EC0995}"/>
              </a:ext>
            </a:extLst>
          </p:cNvPr>
          <p:cNvSpPr txBox="1"/>
          <p:nvPr/>
        </p:nvSpPr>
        <p:spPr>
          <a:xfrm>
            <a:off x="4854422" y="1334331"/>
            <a:ext cx="4398098" cy="38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将样本的经验分布与理论分布进行比较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10" grpId="0" animBg="1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"/>
          <p:cNvSpPr>
            <a:spLocks noChangeArrowheads="1"/>
          </p:cNvSpPr>
          <p:nvPr/>
        </p:nvSpPr>
        <p:spPr bwMode="auto">
          <a:xfrm>
            <a:off x="154318" y="1172209"/>
            <a:ext cx="5303420" cy="1989134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属于条形图类型，基于</a:t>
            </a:r>
            <a:r>
              <a:rPr lang="en-US" altLang="zh-CN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创建直方图</a:t>
            </a:r>
            <a:r>
              <a:rPr lang="ko-KR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endParaRPr lang="en-US" altLang="ko-KR" sz="18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是样本数据，是一维随机数据向量</a:t>
            </a:r>
            <a:r>
              <a:rPr lang="ko-KR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en-US" altLang="ko-KR" sz="18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k: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最小和最大区间等分数，即直条</a:t>
            </a:r>
            <a:r>
              <a:rPr lang="en-US" altLang="zh-CN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bin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个数；</a:t>
            </a:r>
            <a:r>
              <a:rPr lang="en-US" altLang="zh-CN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缺省时，自动等分条数</a:t>
            </a:r>
            <a:endParaRPr lang="ko-KR" altLang="en-US" sz="18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频数为纵坐标，是</a:t>
            </a:r>
            <a:r>
              <a:rPr lang="ko-KR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18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在每个区间元素数量</a:t>
            </a:r>
            <a:endParaRPr lang="en-US" altLang="zh-CN" sz="18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53055" y="731794"/>
            <a:ext cx="373662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en-US" altLang="ko-KR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个区间出现次数</a:t>
            </a:r>
          </a:p>
        </p:txBody>
      </p:sp>
      <p:sp>
        <p:nvSpPr>
          <p:cNvPr id="8" name="矩形 7"/>
          <p:cNvSpPr/>
          <p:nvPr/>
        </p:nvSpPr>
        <p:spPr>
          <a:xfrm>
            <a:off x="5877702" y="4131333"/>
            <a:ext cx="302433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直方图直观描述统计数据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9139986-EE97-48B0-94B8-8E8067B24FFE}"/>
              </a:ext>
            </a:extLst>
          </p:cNvPr>
          <p:cNvSpPr txBox="1">
            <a:spLocks/>
          </p:cNvSpPr>
          <p:nvPr/>
        </p:nvSpPr>
        <p:spPr bwMode="auto">
          <a:xfrm>
            <a:off x="971600" y="33840"/>
            <a:ext cx="7588628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 </a:t>
            </a:r>
            <a:r>
              <a:rPr lang="zh-CN" altLang="en-US" sz="2800" kern="0" dirty="0"/>
              <a:t>描述性</a:t>
            </a:r>
            <a:r>
              <a:rPr lang="zh-CN" altLang="en-US" sz="2800" kern="1200" dirty="0">
                <a:cs typeface="+mn-cs"/>
              </a:rPr>
              <a:t>统计分析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频数直方图</a:t>
            </a:r>
            <a:r>
              <a:rPr lang="en-US" altLang="zh-CN" sz="2800" kern="0" dirty="0">
                <a:solidFill>
                  <a:srgbClr val="FF0000"/>
                </a:solidFill>
              </a:rPr>
              <a:t>histogram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D553228-5D39-4D64-BBD7-1ACF9AB61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099511"/>
              </p:ext>
            </p:extLst>
          </p:nvPr>
        </p:nvGraphicFramePr>
        <p:xfrm>
          <a:off x="5368192" y="1261126"/>
          <a:ext cx="3784600" cy="288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75" name="Graph" r:id="rId4" imgW="31768415" imgH="22470745" progId="Origin50.Graph">
                  <p:embed/>
                </p:oleObj>
              </mc:Choice>
              <mc:Fallback>
                <p:oleObj name="Graph" r:id="rId4" imgW="31768415" imgH="22470745" progId="Origin50.Graph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68192" y="1261126"/>
                        <a:ext cx="3784600" cy="2889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0FE1950-554C-42EC-A581-BA8C7A0747CB}"/>
              </a:ext>
            </a:extLst>
          </p:cNvPr>
          <p:cNvSpPr txBox="1"/>
          <p:nvPr/>
        </p:nvSpPr>
        <p:spPr>
          <a:xfrm>
            <a:off x="245811" y="733362"/>
            <a:ext cx="2871740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频数直方图调用格式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sv-SE" altLang="zh-CN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53434" y="733094"/>
            <a:ext cx="2046123" cy="3970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ko-KR" altLang="en-US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hist</a:t>
            </a:r>
            <a:r>
              <a:rPr lang="en-US" altLang="ko-KR" sz="22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ogram</a:t>
            </a:r>
            <a:r>
              <a:rPr lang="ko-KR" altLang="en-US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(x,</a:t>
            </a:r>
            <a:r>
              <a:rPr lang="en-US" altLang="zh-CN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ko-KR" altLang="en-US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</a:p>
        </p:txBody>
      </p:sp>
      <p:sp>
        <p:nvSpPr>
          <p:cNvPr id="16" name="形状 209924"/>
          <p:cNvSpPr/>
          <p:nvPr/>
        </p:nvSpPr>
        <p:spPr>
          <a:xfrm rot="21277938">
            <a:off x="6713303" y="1268831"/>
            <a:ext cx="2358571" cy="83786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endParaRPr lang="en-US" altLang="zh-CN" sz="2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最常用</a:t>
            </a:r>
            <a:endParaRPr lang="en-US" altLang="zh-CN" sz="16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可视化</a:t>
            </a:r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方法</a:t>
            </a:r>
          </a:p>
          <a:p>
            <a:endParaRPr lang="en-US" altLang="zh-CN" sz="2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14" name="图片 8">
            <a:extLst>
              <a:ext uri="{FF2B5EF4-FFF2-40B4-BE49-F238E27FC236}">
                <a16:creationId xmlns:a16="http://schemas.microsoft.com/office/drawing/2014/main" id="{1DE6D993-8A4E-4ED5-85CD-750DED58B80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58" r="472"/>
          <a:stretch>
            <a:fillRect/>
          </a:stretch>
        </p:blipFill>
        <p:spPr bwMode="auto">
          <a:xfrm>
            <a:off x="194041" y="3203426"/>
            <a:ext cx="5048774" cy="135326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03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矩形 4"/>
          <p:cNvSpPr>
            <a:spLocks noChangeArrowheads="1"/>
          </p:cNvSpPr>
          <p:nvPr/>
        </p:nvSpPr>
        <p:spPr bwMode="auto">
          <a:xfrm>
            <a:off x="267649" y="1128711"/>
            <a:ext cx="5764387" cy="35334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700"/>
              </a:lnSpc>
            </a:pPr>
            <a:r>
              <a:rPr lang="ko-KR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x=[8.28,8.78,9.35,9.22,9.49,9.56,9.46,9.56,9.29,9.57,10.03,9.69,9.12,9.04,...</a:t>
            </a:r>
          </a:p>
          <a:p>
            <a:pPr eaLnBrk="0" hangingPunct="0">
              <a:lnSpc>
                <a:spcPts val="2700"/>
              </a:lnSpc>
            </a:pPr>
            <a:r>
              <a:rPr lang="ko-KR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9.15,9.52,8.91,9.2,8.82,9.23,9.19,9.25,10.02,10.28,10.04,9.62,9.69,9.46,9.23...</a:t>
            </a:r>
          </a:p>
          <a:p>
            <a:pPr eaLnBrk="0" hangingPunct="0">
              <a:lnSpc>
                <a:spcPts val="2700"/>
              </a:lnSpc>
            </a:pPr>
            <a:r>
              <a:rPr lang="ko-KR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9.16,9.51,9.78,9.71,9.87,9.71,10.11,9.97,9.79,10.39,10.39,10.5,10.69]; </a:t>
            </a:r>
            <a:r>
              <a:rPr lang="en-US" altLang="zh-CN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%</a:t>
            </a:r>
            <a:r>
              <a:rPr lang="zh-CN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股票收盘价</a:t>
            </a:r>
            <a:endParaRPr lang="en-US" altLang="zh-CN" sz="2000" dirty="0"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eaLnBrk="0" hangingPunct="0">
              <a:lnSpc>
                <a:spcPts val="2700"/>
              </a:lnSpc>
            </a:pPr>
            <a:r>
              <a:rPr lang="ko-KR" altLang="en-US" sz="2000" dirty="0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hist</a:t>
            </a:r>
            <a:r>
              <a:rPr lang="en-US" altLang="ko-KR" sz="2000" dirty="0" err="1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ogram</a:t>
            </a:r>
            <a:r>
              <a:rPr lang="ko-KR" altLang="en-US" sz="2000" dirty="0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(x)</a:t>
            </a:r>
            <a:r>
              <a:rPr lang="ko-KR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#</a:t>
            </a:r>
            <a:r>
              <a:rPr lang="zh-CN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绘制自动生成条数的频数直方图</a:t>
            </a:r>
            <a:endParaRPr lang="en-US" altLang="zh-CN" sz="2000" dirty="0"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eaLnBrk="0" hangingPunct="0">
              <a:lnSpc>
                <a:spcPts val="2700"/>
              </a:lnSpc>
            </a:pPr>
            <a:r>
              <a:rPr lang="en-US" altLang="ko-KR" sz="2000" dirty="0" err="1">
                <a:latin typeface="Calibri" panose="020F0502020204030204" pitchFamily="34" charset="0"/>
                <a:ea typeface="Malgun Gothic" panose="020B0503020000020004" pitchFamily="34" charset="-127"/>
              </a:rPr>
              <a:t>xlabel</a:t>
            </a:r>
            <a:r>
              <a:rPr lang="en-US" altLang="ko-KR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('</a:t>
            </a:r>
            <a:r>
              <a:rPr lang="ko-KR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收盘价</a:t>
            </a:r>
            <a:r>
              <a:rPr lang="en-US" altLang="ko-KR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')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r>
              <a:rPr lang="en-US" altLang="ko-KR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 </a:t>
            </a:r>
            <a:r>
              <a:rPr lang="en-US" altLang="ko-KR" sz="2000" dirty="0" err="1">
                <a:latin typeface="Calibri" panose="020F0502020204030204" pitchFamily="34" charset="0"/>
                <a:ea typeface="Malgun Gothic" panose="020B0503020000020004" pitchFamily="34" charset="-127"/>
              </a:rPr>
              <a:t>ylabel</a:t>
            </a:r>
            <a:r>
              <a:rPr lang="en-US" altLang="ko-KR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('</a:t>
            </a:r>
            <a:r>
              <a:rPr lang="zh-CN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收盘价次数</a:t>
            </a:r>
            <a:r>
              <a:rPr lang="en-US" altLang="zh-CN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’)</a:t>
            </a:r>
            <a:endParaRPr lang="ko-KR" altLang="en-US" sz="2000" dirty="0"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eaLnBrk="0" hangingPunct="0">
              <a:lnSpc>
                <a:spcPts val="2700"/>
              </a:lnSpc>
            </a:pPr>
            <a:r>
              <a:rPr lang="en-US" altLang="zh-CN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figure()</a:t>
            </a:r>
          </a:p>
          <a:p>
            <a:pPr eaLnBrk="0" hangingPunct="0">
              <a:lnSpc>
                <a:spcPts val="27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histogram(x,12) </a:t>
            </a:r>
            <a:r>
              <a:rPr lang="en-US" altLang="zh-CN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#</a:t>
            </a:r>
            <a:r>
              <a:rPr lang="zh-CN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绘制</a:t>
            </a:r>
            <a:r>
              <a:rPr lang="en-US" altLang="zh-CN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12</a:t>
            </a:r>
            <a:r>
              <a:rPr lang="zh-CN" altLang="en-US" sz="2000" dirty="0">
                <a:latin typeface="Calibri" panose="020F0502020204030204" pitchFamily="34" charset="0"/>
                <a:ea typeface="Malgun Gothic" panose="020B0503020000020004" pitchFamily="34" charset="-127"/>
              </a:rPr>
              <a:t>个直条的频数直方图</a:t>
            </a:r>
            <a:endParaRPr lang="en-US" altLang="zh-CN" sz="2000" dirty="0"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1C0C500-F7FB-4FDF-88A7-05D123879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143" y="694368"/>
            <a:ext cx="3319256" cy="19442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602CC7B-9CD9-4A46-B732-5ED3B0ABD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143" y="2717963"/>
            <a:ext cx="3319256" cy="1944216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967809CB-0BF9-449B-A05B-AFD9AB337704}"/>
              </a:ext>
            </a:extLst>
          </p:cNvPr>
          <p:cNvSpPr txBox="1">
            <a:spLocks/>
          </p:cNvSpPr>
          <p:nvPr/>
        </p:nvSpPr>
        <p:spPr bwMode="auto">
          <a:xfrm>
            <a:off x="827584" y="61928"/>
            <a:ext cx="7560840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 </a:t>
            </a:r>
            <a:r>
              <a:rPr lang="zh-CN" altLang="en-US" sz="2800" kern="0" dirty="0"/>
              <a:t>描述性</a:t>
            </a:r>
            <a:r>
              <a:rPr lang="zh-CN" altLang="en-US" sz="2800" kern="1200" dirty="0">
                <a:cs typeface="+mn-cs"/>
              </a:rPr>
              <a:t>统计分析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绘制股票频数直方图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3232DE-F498-4C0F-A3B5-5D763B958F09}"/>
              </a:ext>
            </a:extLst>
          </p:cNvPr>
          <p:cNvSpPr txBox="1"/>
          <p:nvPr/>
        </p:nvSpPr>
        <p:spPr>
          <a:xfrm>
            <a:off x="6138268" y="887427"/>
            <a:ext cx="1484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hist</a:t>
            </a:r>
            <a:r>
              <a:rPr lang="en-US" altLang="ko-KR" sz="1800" b="1" dirty="0" err="1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ogram</a:t>
            </a:r>
            <a:r>
              <a:rPr lang="ko-KR" altLang="en-US" sz="1800" b="1" dirty="0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rPr>
              <a:t>(x)</a:t>
            </a:r>
            <a:r>
              <a:rPr lang="ko-KR" altLang="en-US" sz="1800" b="1" dirty="0">
                <a:latin typeface="Calibri" panose="020F0502020204030204" pitchFamily="34" charset="0"/>
                <a:ea typeface="Malgun Gothic" panose="020B0503020000020004" pitchFamily="34" charset="-127"/>
              </a:rPr>
              <a:t> </a:t>
            </a:r>
            <a:endParaRPr lang="zh-CN" altLang="en-US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EFEA00-773C-4E6A-B340-3CE77A358610}"/>
              </a:ext>
            </a:extLst>
          </p:cNvPr>
          <p:cNvSpPr txBox="1"/>
          <p:nvPr/>
        </p:nvSpPr>
        <p:spPr>
          <a:xfrm>
            <a:off x="6138268" y="2999239"/>
            <a:ext cx="1698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FF0000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</a:lstStyle>
          <a:p>
            <a:r>
              <a:rPr lang="en-US" altLang="zh-CN" dirty="0"/>
              <a:t>histogram(x,12) 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FC3A22-0CAC-4CC0-B03B-D52931FD32AE}"/>
              </a:ext>
            </a:extLst>
          </p:cNvPr>
          <p:cNvSpPr txBox="1"/>
          <p:nvPr/>
        </p:nvSpPr>
        <p:spPr>
          <a:xfrm>
            <a:off x="585128" y="760185"/>
            <a:ext cx="479742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绘制股票收盘价的频数直方图</a:t>
            </a:r>
            <a:endParaRPr lang="sv-SE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6612FDE0-17C0-402B-85A9-731E39098CC5}"/>
              </a:ext>
            </a:extLst>
          </p:cNvPr>
          <p:cNvSpPr/>
          <p:nvPr/>
        </p:nvSpPr>
        <p:spPr>
          <a:xfrm>
            <a:off x="397868" y="733443"/>
            <a:ext cx="1077788" cy="4001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例42-1-4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554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179512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2025/3/25</a:t>
            </a:fld>
            <a:endParaRPr lang="zh-CN" altLang="en-US" sz="1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-1" t="5422" r="491" b="5270"/>
          <a:stretch/>
        </p:blipFill>
        <p:spPr>
          <a:xfrm>
            <a:off x="4737108" y="2323298"/>
            <a:ext cx="4263048" cy="211993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矩形 6"/>
          <p:cNvSpPr/>
          <p:nvPr/>
        </p:nvSpPr>
        <p:spPr>
          <a:xfrm>
            <a:off x="606580" y="777980"/>
            <a:ext cx="570060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histfi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绘制有正态概率密度拟合曲线的直方图</a:t>
            </a:r>
          </a:p>
        </p:txBody>
      </p:sp>
      <p:sp>
        <p:nvSpPr>
          <p:cNvPr id="9" name="矩形 8"/>
          <p:cNvSpPr/>
          <p:nvPr/>
        </p:nvSpPr>
        <p:spPr>
          <a:xfrm>
            <a:off x="6307181" y="809750"/>
            <a:ext cx="2381926" cy="3970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22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histfit</a:t>
            </a:r>
            <a:r>
              <a:rPr lang="en-US" altLang="zh-CN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2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x,k</a:t>
            </a:r>
            <a:r>
              <a:rPr lang="en-US" altLang="zh-CN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5" name="矩形 4"/>
          <p:cNvSpPr/>
          <p:nvPr/>
        </p:nvSpPr>
        <p:spPr>
          <a:xfrm>
            <a:off x="7036034" y="2323298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histfit(x)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4B9EEB3-4357-4071-A9B5-5E8CD2FAC2DA}"/>
              </a:ext>
            </a:extLst>
          </p:cNvPr>
          <p:cNvSpPr txBox="1">
            <a:spLocks/>
          </p:cNvSpPr>
          <p:nvPr/>
        </p:nvSpPr>
        <p:spPr bwMode="auto">
          <a:xfrm>
            <a:off x="971600" y="12758"/>
            <a:ext cx="6793354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§4.2 </a:t>
            </a:r>
            <a:r>
              <a:rPr lang="zh-CN" altLang="en-US" sz="2800" kern="0" dirty="0"/>
              <a:t>描述性</a:t>
            </a:r>
            <a:r>
              <a:rPr lang="zh-CN" altLang="en-US" sz="2800" kern="1200" dirty="0">
                <a:cs typeface="+mn-cs"/>
              </a:rPr>
              <a:t>统计分析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绘制股票直方图</a:t>
            </a:r>
            <a:r>
              <a:rPr lang="en-US" altLang="zh-CN" sz="2800" kern="0" dirty="0" err="1">
                <a:solidFill>
                  <a:srgbClr val="FF0000"/>
                </a:solidFill>
              </a:rPr>
              <a:t>histfit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54EC7B-AC12-4743-B8F1-FE1B4194B373}"/>
              </a:ext>
            </a:extLst>
          </p:cNvPr>
          <p:cNvSpPr txBox="1"/>
          <p:nvPr/>
        </p:nvSpPr>
        <p:spPr>
          <a:xfrm>
            <a:off x="606580" y="1320589"/>
            <a:ext cx="3672408" cy="311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histogram</a:t>
            </a:r>
            <a:r>
              <a:rPr lang="zh-CN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语法格式一样</a:t>
            </a:r>
            <a:endParaRPr lang="en-US" altLang="zh-CN" sz="22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ts val="4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是样本数据，是一维随机数据向量</a:t>
            </a:r>
            <a:r>
              <a:rPr lang="ko-KR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</a:rPr>
              <a:t> </a:t>
            </a:r>
            <a:endParaRPr lang="en-US" altLang="ko-KR" sz="22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ts val="4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</a:t>
            </a:r>
            <a:r>
              <a:rPr lang="en-US" altLang="zh-CN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在最小和最大区间等分数，即直条</a:t>
            </a:r>
            <a:r>
              <a:rPr lang="en-US" altLang="zh-CN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bin</a:t>
            </a:r>
            <a:r>
              <a:rPr lang="zh-CN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的个数</a:t>
            </a:r>
            <a:endParaRPr lang="en-US" altLang="zh-CN" sz="22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ts val="4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22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缺省时，自动等分</a:t>
            </a:r>
            <a:endParaRPr lang="ko-KR" altLang="en-US" sz="2200" b="1" dirty="0">
              <a:solidFill>
                <a:srgbClr val="002060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F9C5D2-C4CF-411F-9330-FD885A93B627}"/>
              </a:ext>
            </a:extLst>
          </p:cNvPr>
          <p:cNvSpPr txBox="1"/>
          <p:nvPr/>
        </p:nvSpPr>
        <p:spPr>
          <a:xfrm>
            <a:off x="5209057" y="1320589"/>
            <a:ext cx="3544834" cy="7817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lnSpc>
                <a:spcPts val="28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绘制带有正态概率密度拟合曲线股票收盘价的频数直方图</a:t>
            </a:r>
            <a:endParaRPr lang="sv-SE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D2D81C70-6839-4B45-A1B8-0085AF500D78}"/>
              </a:ext>
            </a:extLst>
          </p:cNvPr>
          <p:cNvSpPr/>
          <p:nvPr/>
        </p:nvSpPr>
        <p:spPr>
          <a:xfrm>
            <a:off x="4396962" y="1320589"/>
            <a:ext cx="936104" cy="4001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例42-1-5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01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863600"/>
              </p:ext>
            </p:extLst>
          </p:nvPr>
        </p:nvGraphicFramePr>
        <p:xfrm>
          <a:off x="5537245" y="973127"/>
          <a:ext cx="3606755" cy="236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94" name="Graph" r:id="rId4" imgW="31768415" imgH="22470745" progId="Origin50.Graph">
                  <p:embed/>
                </p:oleObj>
              </mc:Choice>
              <mc:Fallback>
                <p:oleObj name="Graph" r:id="rId4" imgW="31768415" imgH="22470745" progId="Origin50.Graph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37245" y="973127"/>
                        <a:ext cx="3606755" cy="23637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6964943" y="1574229"/>
            <a:ext cx="2016224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B0F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晶粒尺寸</a:t>
            </a:r>
            <a:endParaRPr lang="en-US" altLang="zh-CN" dirty="0">
              <a:solidFill>
                <a:srgbClr val="00B0F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zh-CN" altLang="en-US" dirty="0">
                <a:solidFill>
                  <a:srgbClr val="00B0F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频率直方图</a:t>
            </a:r>
          </a:p>
        </p:txBody>
      </p:sp>
      <p:sp>
        <p:nvSpPr>
          <p:cNvPr id="10" name="矩形 9"/>
          <p:cNvSpPr/>
          <p:nvPr/>
        </p:nvSpPr>
        <p:spPr>
          <a:xfrm>
            <a:off x="429089" y="3810369"/>
            <a:ext cx="8391383" cy="7608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频数对总数据按某种标准进行分组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统计出各个组内含个体的个数。</a:t>
            </a:r>
            <a:endParaRPr lang="en-US" altLang="zh-CN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频率每个小组的频数与数据总数的比值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 </a:t>
            </a:r>
          </a:p>
        </p:txBody>
      </p:sp>
      <p:pic>
        <p:nvPicPr>
          <p:cNvPr id="203779" name="Picture 3" descr="E:\study\文章\杂志文章\nanocomposites\new paper\dynamic recrystallization\第四次\BC-40nm-10X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123" y="1225139"/>
            <a:ext cx="2299852" cy="16789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3477918" y="3336914"/>
            <a:ext cx="523228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数据中值为横坐标，频数为纵坐标，画阶梯形图 </a:t>
            </a:r>
          </a:p>
        </p:txBody>
      </p:sp>
      <p:sp>
        <p:nvSpPr>
          <p:cNvPr id="15" name="矩形 14"/>
          <p:cNvSpPr/>
          <p:nvPr/>
        </p:nvSpPr>
        <p:spPr>
          <a:xfrm>
            <a:off x="3581306" y="756307"/>
            <a:ext cx="510823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纳米复合材料的铝基体晶粒尺寸分析</a:t>
            </a:r>
          </a:p>
        </p:txBody>
      </p:sp>
      <p:sp>
        <p:nvSpPr>
          <p:cNvPr id="3" name="矩形 2"/>
          <p:cNvSpPr/>
          <p:nvPr/>
        </p:nvSpPr>
        <p:spPr>
          <a:xfrm>
            <a:off x="4810447" y="4236189"/>
            <a:ext cx="4001371" cy="276999"/>
          </a:xfrm>
          <a:prstGeom prst="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Materials Science &amp; Engineering A 745 (2019) 10–19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90124" y="296758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noProof="1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再结晶晶粒形貌</a:t>
            </a:r>
            <a:endParaRPr lang="zh-CN" altLang="en-US" dirty="0">
              <a:solidFill>
                <a:srgbClr val="FF000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2B94CFA-6693-4C08-9A6A-6B94DFDF55AD}"/>
              </a:ext>
            </a:extLst>
          </p:cNvPr>
          <p:cNvSpPr txBox="1">
            <a:spLocks/>
          </p:cNvSpPr>
          <p:nvPr/>
        </p:nvSpPr>
        <p:spPr bwMode="auto">
          <a:xfrm>
            <a:off x="1547664" y="41913"/>
            <a:ext cx="6768752" cy="5634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1200" dirty="0">
                <a:cs typeface="+mn-cs"/>
              </a:rPr>
              <a:t>§4.</a:t>
            </a:r>
            <a:r>
              <a:rPr lang="en-US" altLang="zh-CN" sz="2600" dirty="0">
                <a:cs typeface="+mn-cs"/>
              </a:rPr>
              <a:t>3</a:t>
            </a:r>
            <a:r>
              <a:rPr lang="en-US" altLang="zh-CN" sz="2600" kern="1200" dirty="0">
                <a:cs typeface="+mn-cs"/>
              </a:rPr>
              <a:t> </a:t>
            </a:r>
            <a:r>
              <a:rPr lang="zh-CN" altLang="en-US" sz="2600" kern="1200" dirty="0">
                <a:cs typeface="+mn-cs"/>
              </a:rPr>
              <a:t>数据统计分析</a:t>
            </a:r>
            <a:r>
              <a:rPr lang="zh-CN" altLang="en-US" sz="2600" dirty="0">
                <a:cs typeface="+mn-cs"/>
              </a:rPr>
              <a:t>案例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科研成果案例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77032A-5F8D-4A8B-8010-CAA78F0B188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3775" t="26900" r="14457" b="16632"/>
          <a:stretch/>
        </p:blipFill>
        <p:spPr>
          <a:xfrm>
            <a:off x="454456" y="876049"/>
            <a:ext cx="2891353" cy="69818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EBC2B20-D6E7-47A3-924B-8DED7643CE0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146" t="13232" r="32741" b="20954"/>
          <a:stretch/>
        </p:blipFill>
        <p:spPr>
          <a:xfrm>
            <a:off x="429089" y="1574230"/>
            <a:ext cx="2891353" cy="2112114"/>
          </a:xfrm>
          <a:prstGeom prst="rect">
            <a:avLst/>
          </a:prstGeom>
        </p:spPr>
      </p:pic>
      <p:sp>
        <p:nvSpPr>
          <p:cNvPr id="18" name="波形 17">
            <a:extLst>
              <a:ext uri="{FF2B5EF4-FFF2-40B4-BE49-F238E27FC236}">
                <a16:creationId xmlns:a16="http://schemas.microsoft.com/office/drawing/2014/main" id="{5735B5CD-3AE7-4162-B9B4-4E1149F03858}"/>
              </a:ext>
            </a:extLst>
          </p:cNvPr>
          <p:cNvSpPr/>
          <p:nvPr/>
        </p:nvSpPr>
        <p:spPr>
          <a:xfrm>
            <a:off x="2762540" y="760062"/>
            <a:ext cx="827584" cy="3693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350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animBg="1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6F58D93-2788-4680-8F56-0AB36DF7768E}"/>
              </a:ext>
            </a:extLst>
          </p:cNvPr>
          <p:cNvSpPr/>
          <p:nvPr/>
        </p:nvSpPr>
        <p:spPr>
          <a:xfrm>
            <a:off x="6859621" y="763678"/>
            <a:ext cx="2031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b="1" noProof="1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再结晶晶粒形貌</a:t>
            </a:r>
            <a:endParaRPr lang="zh-CN" altLang="en-US" dirty="0">
              <a:solidFill>
                <a:srgbClr val="0070C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25EE6FD-D08C-475E-B241-2DAA72A02DC0}"/>
              </a:ext>
            </a:extLst>
          </p:cNvPr>
          <p:cNvSpPr txBox="1">
            <a:spLocks/>
          </p:cNvSpPr>
          <p:nvPr/>
        </p:nvSpPr>
        <p:spPr bwMode="auto">
          <a:xfrm>
            <a:off x="1331640" y="24165"/>
            <a:ext cx="6768752" cy="5634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1200" dirty="0">
                <a:cs typeface="+mn-cs"/>
              </a:rPr>
              <a:t>§4.</a:t>
            </a:r>
            <a:r>
              <a:rPr lang="en-US" altLang="zh-CN" sz="2600" dirty="0">
                <a:cs typeface="+mn-cs"/>
              </a:rPr>
              <a:t>3</a:t>
            </a:r>
            <a:r>
              <a:rPr lang="en-US" altLang="zh-CN" sz="2600" kern="1200" dirty="0">
                <a:cs typeface="+mn-cs"/>
              </a:rPr>
              <a:t> </a:t>
            </a:r>
            <a:r>
              <a:rPr lang="zh-CN" altLang="en-US" sz="2600" kern="1200" dirty="0">
                <a:cs typeface="+mn-cs"/>
              </a:rPr>
              <a:t>数据统计分析</a:t>
            </a:r>
            <a:r>
              <a:rPr lang="zh-CN" altLang="en-US" sz="2600" dirty="0">
                <a:cs typeface="+mn-cs"/>
              </a:rPr>
              <a:t>案例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科研成果案例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B4EEDABC-D7BA-4868-970F-E385391406B1}"/>
              </a:ext>
            </a:extLst>
          </p:cNvPr>
          <p:cNvSpPr/>
          <p:nvPr/>
        </p:nvSpPr>
        <p:spPr>
          <a:xfrm>
            <a:off x="135938" y="683711"/>
            <a:ext cx="865430" cy="44929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0C8071-C2E9-4CFA-9D80-C6DFE2761B58}"/>
              </a:ext>
            </a:extLst>
          </p:cNvPr>
          <p:cNvSpPr/>
          <p:nvPr/>
        </p:nvSpPr>
        <p:spPr>
          <a:xfrm>
            <a:off x="1023072" y="732331"/>
            <a:ext cx="47227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绘制铝基体晶粒尺寸直方图和计算统计量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6174F7-7E66-4E2F-B171-36E5CB6D13DE}"/>
              </a:ext>
            </a:extLst>
          </p:cNvPr>
          <p:cNvSpPr txBox="1"/>
          <p:nvPr/>
        </p:nvSpPr>
        <p:spPr>
          <a:xfrm>
            <a:off x="433173" y="1038064"/>
            <a:ext cx="3665963" cy="22154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dirty="0"/>
              <a:t>g=readtable("gcvs.csv")</a:t>
            </a:r>
            <a:endParaRPr lang="en-US" altLang="zh-CN" sz="2000" dirty="0"/>
          </a:p>
          <a:p>
            <a:pPr>
              <a:lnSpc>
                <a:spcPts val="2800"/>
              </a:lnSpc>
            </a:pPr>
            <a:r>
              <a:rPr lang="en-US" altLang="zh-CN" sz="2000" dirty="0"/>
              <a:t>gg=1000*g[:,1]</a:t>
            </a:r>
          </a:p>
          <a:p>
            <a:pPr>
              <a:lnSpc>
                <a:spcPts val="2800"/>
              </a:lnSpc>
            </a:pPr>
            <a:r>
              <a:rPr lang="en-US" altLang="zh-CN" sz="2000" dirty="0"/>
              <a:t>#histogram(gg,10)</a:t>
            </a:r>
          </a:p>
          <a:p>
            <a:pPr>
              <a:lnSpc>
                <a:spcPts val="2800"/>
              </a:lnSpc>
            </a:pPr>
            <a:r>
              <a:rPr lang="en-US" altLang="zh-CN" sz="2000" dirty="0" err="1"/>
              <a:t>histfit</a:t>
            </a:r>
            <a:r>
              <a:rPr lang="en-US" altLang="zh-CN" sz="2000" dirty="0"/>
              <a:t>(gg,10)</a:t>
            </a:r>
          </a:p>
          <a:p>
            <a:pPr>
              <a:lnSpc>
                <a:spcPts val="2800"/>
              </a:lnSpc>
            </a:pPr>
            <a:r>
              <a:rPr lang="en-US" altLang="zh-CN" sz="2000" dirty="0" err="1"/>
              <a:t>xlabel</a:t>
            </a:r>
            <a:r>
              <a:rPr lang="en-US" altLang="zh-CN" sz="2000" dirty="0"/>
              <a:t>("grain size")</a:t>
            </a:r>
          </a:p>
          <a:p>
            <a:pPr>
              <a:lnSpc>
                <a:spcPts val="2800"/>
              </a:lnSpc>
            </a:pPr>
            <a:r>
              <a:rPr lang="en-US" altLang="zh-CN" sz="2000" dirty="0" err="1"/>
              <a:t>ylabel</a:t>
            </a:r>
            <a:r>
              <a:rPr lang="en-US" altLang="zh-CN" sz="2000" dirty="0"/>
              <a:t>("count")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60EF844-8A0F-4123-AFBA-66A3399DFA2A}"/>
              </a:ext>
            </a:extLst>
          </p:cNvPr>
          <p:cNvSpPr txBox="1"/>
          <p:nvPr/>
        </p:nvSpPr>
        <p:spPr>
          <a:xfrm>
            <a:off x="433173" y="3222010"/>
            <a:ext cx="3240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julia</a:t>
            </a:r>
            <a:r>
              <a:rPr lang="en-US" altLang="zh-CN" dirty="0"/>
              <a:t>&gt; gg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394-element Vector{Float64}: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  36.78958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       ⋮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1117.2229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59DDDD-BFD8-4775-900D-AB623A5D440C}"/>
              </a:ext>
            </a:extLst>
          </p:cNvPr>
          <p:cNvSpPr/>
          <p:nvPr/>
        </p:nvSpPr>
        <p:spPr>
          <a:xfrm>
            <a:off x="3487078" y="1182826"/>
            <a:ext cx="3267301" cy="33933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fr-FR" altLang="zh-CN" dirty="0"/>
              <a:t>ty</a:t>
            </a:r>
            <a:r>
              <a:rPr lang="en-US" altLang="zh-CN" dirty="0"/>
              <a:t>_</a:t>
            </a:r>
            <a:r>
              <a:rPr lang="fr-FR" altLang="zh-CN" dirty="0"/>
              <a:t>maximum(gg) </a:t>
            </a:r>
          </a:p>
          <a:p>
            <a:pPr>
              <a:lnSpc>
                <a:spcPts val="2600"/>
              </a:lnSpc>
            </a:pPr>
            <a:r>
              <a:rPr lang="fr-FR" altLang="zh-CN" dirty="0">
                <a:solidFill>
                  <a:srgbClr val="00B0F0"/>
                </a:solidFill>
              </a:rPr>
              <a:t>#</a:t>
            </a:r>
            <a:r>
              <a:rPr lang="zh-CN" altLang="en-US" dirty="0">
                <a:solidFill>
                  <a:srgbClr val="00B0F0"/>
                </a:solidFill>
              </a:rPr>
              <a:t>最大值结果</a:t>
            </a:r>
            <a:r>
              <a:rPr lang="fr-FR" altLang="zh-CN" dirty="0">
                <a:solidFill>
                  <a:srgbClr val="00B0F0"/>
                </a:solidFill>
              </a:rPr>
              <a:t>1117.2229</a:t>
            </a:r>
          </a:p>
          <a:p>
            <a:pPr>
              <a:lnSpc>
                <a:spcPts val="2600"/>
              </a:lnSpc>
            </a:pPr>
            <a:r>
              <a:rPr lang="fr-FR" altLang="zh-CN" dirty="0"/>
              <a:t>M = ty_minimum(gg)</a:t>
            </a:r>
          </a:p>
          <a:p>
            <a:pPr>
              <a:lnSpc>
                <a:spcPts val="2600"/>
              </a:lnSpc>
            </a:pPr>
            <a:r>
              <a:rPr lang="fr-FR" altLang="zh-CN" dirty="0">
                <a:solidFill>
                  <a:srgbClr val="00B0F0"/>
                </a:solidFill>
              </a:rPr>
              <a:t>#(36.78958, 1)</a:t>
            </a:r>
          </a:p>
          <a:p>
            <a:pPr>
              <a:lnSpc>
                <a:spcPts val="2600"/>
              </a:lnSpc>
            </a:pPr>
            <a:r>
              <a:rPr lang="fr-FR" altLang="zh-CN" dirty="0"/>
              <a:t>mean(gg) </a:t>
            </a:r>
            <a:r>
              <a:rPr lang="en-US" altLang="zh-CN" dirty="0"/>
              <a:t>#</a:t>
            </a:r>
            <a:r>
              <a:rPr lang="zh-CN" altLang="en-US" dirty="0"/>
              <a:t>均值  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fr-FR" altLang="zh-CN" dirty="0">
                <a:solidFill>
                  <a:srgbClr val="00B0F0"/>
                </a:solidFill>
              </a:rPr>
              <a:t>#</a:t>
            </a:r>
            <a:r>
              <a:rPr lang="zh-CN" altLang="en-US" dirty="0">
                <a:solidFill>
                  <a:srgbClr val="00B0F0"/>
                </a:solidFill>
              </a:rPr>
              <a:t>结果</a:t>
            </a:r>
            <a:r>
              <a:rPr lang="fr-FR" altLang="zh-CN" dirty="0">
                <a:solidFill>
                  <a:srgbClr val="00B0F0"/>
                </a:solidFill>
              </a:rPr>
              <a:t>  322.1513</a:t>
            </a:r>
          </a:p>
          <a:p>
            <a:pPr>
              <a:lnSpc>
                <a:spcPts val="2600"/>
              </a:lnSpc>
            </a:pPr>
            <a:r>
              <a:rPr lang="sv-SE" altLang="zh-CN" dirty="0"/>
              <a:t>median</a:t>
            </a:r>
            <a:r>
              <a:rPr lang="fr-FR" altLang="zh-CN" dirty="0"/>
              <a:t>(gg) </a:t>
            </a:r>
          </a:p>
          <a:p>
            <a:pPr>
              <a:lnSpc>
                <a:spcPts val="2600"/>
              </a:lnSpc>
            </a:pPr>
            <a:r>
              <a:rPr lang="fr-FR" altLang="zh-CN" dirty="0">
                <a:solidFill>
                  <a:srgbClr val="00B0F0"/>
                </a:solidFill>
              </a:rPr>
              <a:t> #267.50203999999997</a:t>
            </a:r>
          </a:p>
          <a:p>
            <a:pPr>
              <a:lnSpc>
                <a:spcPts val="2600"/>
              </a:lnSpc>
            </a:pPr>
            <a:r>
              <a:rPr lang="fr-FR" altLang="zh-CN" dirty="0"/>
              <a:t>std(gg) </a:t>
            </a:r>
            <a:r>
              <a:rPr lang="en-US" altLang="zh-CN" dirty="0"/>
              <a:t>#</a:t>
            </a:r>
            <a:r>
              <a:rPr lang="zh-CN" altLang="en-US" dirty="0"/>
              <a:t>标准差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fr-FR" altLang="zh-CN" dirty="0">
                <a:solidFill>
                  <a:srgbClr val="00B0F0"/>
                </a:solidFill>
              </a:rPr>
              <a:t>#</a:t>
            </a:r>
            <a:r>
              <a:rPr lang="zh-CN" altLang="en-US" dirty="0">
                <a:solidFill>
                  <a:srgbClr val="00B0F0"/>
                </a:solidFill>
              </a:rPr>
              <a:t>结果</a:t>
            </a:r>
            <a:r>
              <a:rPr lang="fr-FR" altLang="zh-CN" dirty="0">
                <a:solidFill>
                  <a:srgbClr val="00B0F0"/>
                </a:solidFill>
              </a:rPr>
              <a:t> 202.26715205661088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9" name="Picture 3" descr="E:\study\文章\杂志文章\nanocomposites\new paper\dynamic recrystallization\第四次\BC-40nm-10X.jpg">
            <a:extLst>
              <a:ext uri="{FF2B5EF4-FFF2-40B4-BE49-F238E27FC236}">
                <a16:creationId xmlns:a16="http://schemas.microsoft.com/office/drawing/2014/main" id="{F3263B8C-15F1-413E-957F-FCAE236FC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190" y="1182826"/>
            <a:ext cx="2031982" cy="16063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内容占位符 14">
            <a:extLst>
              <a:ext uri="{FF2B5EF4-FFF2-40B4-BE49-F238E27FC236}">
                <a16:creationId xmlns:a16="http://schemas.microsoft.com/office/drawing/2014/main" id="{A666B669-AB78-4966-82B3-4E1FF14D5A3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807574"/>
              </p:ext>
            </p:extLst>
          </p:nvPr>
        </p:nvGraphicFramePr>
        <p:xfrm>
          <a:off x="5724128" y="781619"/>
          <a:ext cx="1163301" cy="1001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7" name="Macro-Enabled Worksheet" showAsIcon="1" r:id="rId5" imgW="914597" imgH="787283" progId="Excel.SheetMacroEnabled.12">
                  <p:link updateAutomatic="1"/>
                </p:oleObj>
              </mc:Choice>
              <mc:Fallback>
                <p:oleObj name="Macro-Enabled Worksheet" showAsIcon="1" r:id="rId5" imgW="914597" imgH="787283" progId="Excel.SheetMacroEnabled.12">
                  <p:link updateAutomatic="1"/>
                  <p:pic>
                    <p:nvPicPr>
                      <p:cNvPr id="15" name="内容占位符 14">
                        <a:extLst>
                          <a:ext uri="{FF2B5EF4-FFF2-40B4-BE49-F238E27FC236}">
                            <a16:creationId xmlns:a16="http://schemas.microsoft.com/office/drawing/2014/main" id="{A666B669-AB78-4966-82B3-4E1FF14D5A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24128" y="781619"/>
                        <a:ext cx="1163301" cy="1001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9875A58F-B462-4CBE-839C-CC18C82E1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259" y="2901905"/>
            <a:ext cx="2409856" cy="167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93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6"/>
          <a:stretch/>
        </p:blipFill>
        <p:spPr bwMode="auto">
          <a:xfrm>
            <a:off x="1259632" y="2098032"/>
            <a:ext cx="7448973" cy="268634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107504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2025/3/25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6865" y="1638609"/>
            <a:ext cx="7559611" cy="4696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 latinLnBrk="1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离散点</a:t>
            </a:r>
            <a:r>
              <a:rPr lang="en-US" altLang="zh-CN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是分布在一条直线附近上，表明样本来自正态分布</a:t>
            </a:r>
            <a:endParaRPr lang="en-US" altLang="zh-CN" sz="24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99992" y="706550"/>
            <a:ext cx="2095367" cy="400110"/>
          </a:xfrm>
          <a:prstGeom prst="rect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normplot(x)</a:t>
            </a:r>
            <a:endParaRPr lang="ko-KR" altLang="en-US" sz="20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72418" y="2911391"/>
            <a:ext cx="1893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normplot(x)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矩形 1"/>
          <p:cNvSpPr>
            <a:spLocks noChangeArrowheads="1"/>
          </p:cNvSpPr>
          <p:nvPr/>
        </p:nvSpPr>
        <p:spPr bwMode="auto">
          <a:xfrm>
            <a:off x="3943400" y="3461331"/>
            <a:ext cx="3672408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股票收盘价符合概率正态分布</a:t>
            </a:r>
            <a:r>
              <a:rPr lang="ko-KR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184549" y="735407"/>
            <a:ext cx="4387451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normplot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绘制正态概率图格式：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BF786A1-201B-4D0C-80E7-0498B8E84372}"/>
              </a:ext>
            </a:extLst>
          </p:cNvPr>
          <p:cNvSpPr txBox="1">
            <a:spLocks/>
          </p:cNvSpPr>
          <p:nvPr/>
        </p:nvSpPr>
        <p:spPr bwMode="auto">
          <a:xfrm>
            <a:off x="1403649" y="-6234"/>
            <a:ext cx="6768752" cy="612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1200" dirty="0">
                <a:cs typeface="+mn-cs"/>
              </a:rPr>
              <a:t>§4.3  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正态性检验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正态概率图</a:t>
            </a:r>
            <a:r>
              <a:rPr lang="en-US" altLang="zh-CN" sz="2600" kern="0" dirty="0">
                <a:solidFill>
                  <a:srgbClr val="FF0000"/>
                </a:solidFill>
              </a:rPr>
              <a:t>normplot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DB772228-DF5F-4C73-A861-29B7E1011432}"/>
              </a:ext>
            </a:extLst>
          </p:cNvPr>
          <p:cNvSpPr/>
          <p:nvPr/>
        </p:nvSpPr>
        <p:spPr>
          <a:xfrm>
            <a:off x="261864" y="2180898"/>
            <a:ext cx="1224136" cy="37918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例42-1-3   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3908B8-4881-4FAD-9CE4-29A6E2D4C922}"/>
              </a:ext>
            </a:extLst>
          </p:cNvPr>
          <p:cNvSpPr txBox="1"/>
          <p:nvPr/>
        </p:nvSpPr>
        <p:spPr>
          <a:xfrm>
            <a:off x="1407668" y="2180898"/>
            <a:ext cx="586065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normplot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绘制股票收盘价的正态概率图的调用格式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92689F-4A21-4C40-8D32-042CBCA264A0}"/>
              </a:ext>
            </a:extLst>
          </p:cNvPr>
          <p:cNvSpPr txBox="1"/>
          <p:nvPr/>
        </p:nvSpPr>
        <p:spPr>
          <a:xfrm>
            <a:off x="184549" y="1137388"/>
            <a:ext cx="9041787" cy="4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dist" latinLnBrk="1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normplot</a:t>
            </a: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创建正态概率图，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比较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数据分布与正态分布线，</a:t>
            </a: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检验样本正态性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DD7C96-D333-430E-B8F4-2FC4808DF40B}"/>
              </a:ext>
            </a:extLst>
          </p:cNvPr>
          <p:cNvSpPr txBox="1"/>
          <p:nvPr/>
        </p:nvSpPr>
        <p:spPr>
          <a:xfrm>
            <a:off x="6595359" y="718238"/>
            <a:ext cx="2630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000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TyStatistics.</a:t>
            </a:r>
            <a:r>
              <a:rPr lang="en-US" altLang="zh-CN" sz="2000" kern="100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normplot</a:t>
            </a:r>
            <a:endParaRPr lang="zh-CN" altLang="en-US" sz="200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032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 animBg="1"/>
      <p:bldP spid="13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65"/>
          <p:cNvSpPr>
            <a:spLocks noChangeArrowheads="1"/>
          </p:cNvSpPr>
          <p:nvPr/>
        </p:nvSpPr>
        <p:spPr bwMode="auto">
          <a:xfrm>
            <a:off x="69753" y="1366131"/>
            <a:ext cx="8969063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   估   计：</a:t>
            </a:r>
            <a:r>
              <a:rPr lang="zh-CN" altLang="en-US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总体参数估值为一个数</a:t>
            </a:r>
            <a:r>
              <a:rPr lang="en-US" altLang="zh-CN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无法反映与总体参数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真实值接近程度</a:t>
            </a:r>
            <a:r>
              <a:rPr lang="zh-CN" altLang="en-US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0963" name="矩形 67"/>
          <p:cNvSpPr>
            <a:spLocks noChangeArrowheads="1"/>
          </p:cNvSpPr>
          <p:nvPr/>
        </p:nvSpPr>
        <p:spPr bwMode="auto">
          <a:xfrm>
            <a:off x="1694942" y="721537"/>
            <a:ext cx="7213505" cy="7150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zh-CN" altLang="zh-CN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根据</a:t>
            </a:r>
            <a:r>
              <a:rPr lang="zh-CN" altLang="en-US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样本数据</a:t>
            </a:r>
            <a:r>
              <a:rPr lang="en-US" altLang="zh-CN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data</a:t>
            </a:r>
            <a:r>
              <a:rPr lang="zh-CN" altLang="en-US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信息，</a:t>
            </a:r>
            <a:r>
              <a:rPr lang="zh-CN" altLang="zh-CN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对总体分布中未知参数估计,通常是对均值或方差</a:t>
            </a:r>
            <a:r>
              <a:rPr lang="zh-CN" altLang="en-US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参数进行</a:t>
            </a:r>
            <a:r>
              <a:rPr lang="zh-CN" altLang="zh-CN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估计</a:t>
            </a:r>
            <a:r>
              <a:rPr lang="zh-CN" altLang="en-US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，包括点估计和区间估计</a:t>
            </a:r>
            <a:r>
              <a:rPr lang="en-US" altLang="zh-CN" sz="1600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  <a:endParaRPr lang="zh-CN" altLang="en-US" sz="1600" b="1" noProof="1">
              <a:solidFill>
                <a:srgbClr val="00206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0944" y="783674"/>
            <a:ext cx="1480541" cy="4616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参数估计</a:t>
            </a:r>
            <a:endParaRPr lang="en-US" altLang="zh-CN" sz="24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06178" y="3340709"/>
            <a:ext cx="4643653" cy="12472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</a:pP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用抽样分布原理，</a:t>
            </a:r>
            <a:r>
              <a:rPr lang="zh-CN" altLang="en-US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随机抽取样本</a:t>
            </a:r>
            <a:r>
              <a:rPr lang="en-US" altLang="zh-CN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x</a:t>
            </a:r>
            <a:r>
              <a:rPr lang="zh-CN" altLang="en-US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估计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置信度为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-</a:t>
            </a:r>
            <a:r>
              <a:rPr lang="el-GR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α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时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总体参数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置信区间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  <a:r>
              <a:rPr lang="en-US" altLang="zh-CN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[A(X),B(X)]</a:t>
            </a:r>
            <a:r>
              <a:rPr lang="zh-CN" altLang="en-US" b="1" noProof="1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，表示参数落入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置信区间置信度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-</a:t>
            </a:r>
            <a:r>
              <a:rPr lang="el-GR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α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)</a:t>
            </a:r>
            <a:endParaRPr lang="zh-CN" altLang="en-US" b="1" noProof="1">
              <a:solidFill>
                <a:srgbClr val="00206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0EED3B74-5643-4672-B23D-7B85A7304C86}"/>
              </a:ext>
            </a:extLst>
          </p:cNvPr>
          <p:cNvSpPr txBox="1">
            <a:spLocks/>
          </p:cNvSpPr>
          <p:nvPr/>
        </p:nvSpPr>
        <p:spPr bwMode="auto">
          <a:xfrm>
            <a:off x="1373136" y="80005"/>
            <a:ext cx="5841487" cy="5634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</a:t>
            </a:r>
            <a:r>
              <a:rPr lang="en-US" altLang="zh-CN" sz="2800" dirty="0">
                <a:cs typeface="+mn-cs"/>
              </a:rPr>
              <a:t>3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0" dirty="0"/>
              <a:t>参数估算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点估计和区间估计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grpSp>
        <p:nvGrpSpPr>
          <p:cNvPr id="31" name="Group 3">
            <a:extLst>
              <a:ext uri="{FF2B5EF4-FFF2-40B4-BE49-F238E27FC236}">
                <a16:creationId xmlns:a16="http://schemas.microsoft.com/office/drawing/2014/main" id="{063C82CB-B8BD-4CBD-962E-4F0DC1C2CF17}"/>
              </a:ext>
            </a:extLst>
          </p:cNvPr>
          <p:cNvGrpSpPr/>
          <p:nvPr/>
        </p:nvGrpSpPr>
        <p:grpSpPr bwMode="auto">
          <a:xfrm>
            <a:off x="6144267" y="3239509"/>
            <a:ext cx="2894549" cy="1030654"/>
            <a:chOff x="1201" y="1455"/>
            <a:chExt cx="3215" cy="1294"/>
          </a:xfrm>
          <a:solidFill>
            <a:schemeClr val="bg1"/>
          </a:solidFill>
        </p:grpSpPr>
        <p:sp>
          <p:nvSpPr>
            <p:cNvPr id="32" name="Rectangle 4">
              <a:extLst>
                <a:ext uri="{FF2B5EF4-FFF2-40B4-BE49-F238E27FC236}">
                  <a16:creationId xmlns:a16="http://schemas.microsoft.com/office/drawing/2014/main" id="{33EE112A-3645-44AC-BF52-3137B6D3D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" y="1531"/>
              <a:ext cx="1187" cy="36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抽样分布</a:t>
              </a:r>
            </a:p>
          </p:txBody>
        </p:sp>
        <p:grpSp>
          <p:nvGrpSpPr>
            <p:cNvPr id="33" name="Group 6">
              <a:extLst>
                <a:ext uri="{FF2B5EF4-FFF2-40B4-BE49-F238E27FC236}">
                  <a16:creationId xmlns:a16="http://schemas.microsoft.com/office/drawing/2014/main" id="{CF457ADA-738F-4957-ACE9-A346E63F980B}"/>
                </a:ext>
              </a:extLst>
            </p:cNvPr>
            <p:cNvGrpSpPr/>
            <p:nvPr/>
          </p:nvGrpSpPr>
          <p:grpSpPr bwMode="auto">
            <a:xfrm rot="-5400000" flipH="1" flipV="1">
              <a:off x="2648" y="1940"/>
              <a:ext cx="274" cy="1344"/>
              <a:chOff x="3421" y="2159"/>
              <a:chExt cx="274" cy="1527"/>
            </a:xfrm>
            <a:grpFill/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37D747E8-6F81-4BE7-A135-02464FE4AB12}"/>
                  </a:ext>
                </a:extLst>
              </p:cNvPr>
              <p:cNvSpPr/>
              <p:nvPr/>
            </p:nvSpPr>
            <p:spPr bwMode="auto">
              <a:xfrm>
                <a:off x="3421" y="2159"/>
                <a:ext cx="274" cy="808"/>
              </a:xfrm>
              <a:custGeom>
                <a:avLst/>
                <a:gdLst>
                  <a:gd name="T0" fmla="*/ 0 w 257"/>
                  <a:gd name="T1" fmla="*/ 0 h 683"/>
                  <a:gd name="T2" fmla="*/ 46 w 257"/>
                  <a:gd name="T3" fmla="*/ 28 h 683"/>
                  <a:gd name="T4" fmla="*/ 77 w 257"/>
                  <a:gd name="T5" fmla="*/ 59 h 683"/>
                  <a:gd name="T6" fmla="*/ 114 w 257"/>
                  <a:gd name="T7" fmla="*/ 117 h 683"/>
                  <a:gd name="T8" fmla="*/ 136 w 257"/>
                  <a:gd name="T9" fmla="*/ 177 h 683"/>
                  <a:gd name="T10" fmla="*/ 149 w 257"/>
                  <a:gd name="T11" fmla="*/ 238 h 683"/>
                  <a:gd name="T12" fmla="*/ 155 w 257"/>
                  <a:gd name="T13" fmla="*/ 297 h 683"/>
                  <a:gd name="T14" fmla="*/ 159 w 257"/>
                  <a:gd name="T15" fmla="*/ 386 h 683"/>
                  <a:gd name="T16" fmla="*/ 161 w 257"/>
                  <a:gd name="T17" fmla="*/ 447 h 683"/>
                  <a:gd name="T18" fmla="*/ 163 w 257"/>
                  <a:gd name="T19" fmla="*/ 476 h 683"/>
                  <a:gd name="T20" fmla="*/ 166 w 257"/>
                  <a:gd name="T21" fmla="*/ 536 h 683"/>
                  <a:gd name="T22" fmla="*/ 171 w 257"/>
                  <a:gd name="T23" fmla="*/ 570 h 683"/>
                  <a:gd name="T24" fmla="*/ 177 w 257"/>
                  <a:gd name="T25" fmla="*/ 626 h 683"/>
                  <a:gd name="T26" fmla="*/ 195 w 257"/>
                  <a:gd name="T27" fmla="*/ 699 h 683"/>
                  <a:gd name="T28" fmla="*/ 217 w 257"/>
                  <a:gd name="T29" fmla="*/ 748 h 683"/>
                  <a:gd name="T30" fmla="*/ 239 w 257"/>
                  <a:gd name="T31" fmla="*/ 777 h 683"/>
                  <a:gd name="T32" fmla="*/ 273 w 257"/>
                  <a:gd name="T33" fmla="*/ 807 h 683"/>
                  <a:gd name="T34" fmla="*/ 223 w 257"/>
                  <a:gd name="T35" fmla="*/ 776 h 683"/>
                  <a:gd name="T36" fmla="*/ 186 w 257"/>
                  <a:gd name="T37" fmla="*/ 733 h 683"/>
                  <a:gd name="T38" fmla="*/ 149 w 257"/>
                  <a:gd name="T39" fmla="*/ 662 h 683"/>
                  <a:gd name="T40" fmla="*/ 139 w 257"/>
                  <a:gd name="T41" fmla="*/ 625 h 683"/>
                  <a:gd name="T42" fmla="*/ 126 w 257"/>
                  <a:gd name="T43" fmla="*/ 570 h 683"/>
                  <a:gd name="T44" fmla="*/ 123 w 257"/>
                  <a:gd name="T45" fmla="*/ 536 h 683"/>
                  <a:gd name="T46" fmla="*/ 115 w 257"/>
                  <a:gd name="T47" fmla="*/ 476 h 683"/>
                  <a:gd name="T48" fmla="*/ 114 w 257"/>
                  <a:gd name="T49" fmla="*/ 447 h 683"/>
                  <a:gd name="T50" fmla="*/ 111 w 257"/>
                  <a:gd name="T51" fmla="*/ 399 h 683"/>
                  <a:gd name="T52" fmla="*/ 111 w 257"/>
                  <a:gd name="T53" fmla="*/ 330 h 683"/>
                  <a:gd name="T54" fmla="*/ 114 w 257"/>
                  <a:gd name="T55" fmla="*/ 266 h 683"/>
                  <a:gd name="T56" fmla="*/ 107 w 257"/>
                  <a:gd name="T57" fmla="*/ 206 h 683"/>
                  <a:gd name="T58" fmla="*/ 91 w 257"/>
                  <a:gd name="T59" fmla="*/ 144 h 683"/>
                  <a:gd name="T60" fmla="*/ 76 w 257"/>
                  <a:gd name="T61" fmla="*/ 104 h 683"/>
                  <a:gd name="T62" fmla="*/ 49 w 257"/>
                  <a:gd name="T63" fmla="*/ 56 h 683"/>
                  <a:gd name="T64" fmla="*/ 29 w 257"/>
                  <a:gd name="T65" fmla="*/ 28 h 683"/>
                  <a:gd name="T66" fmla="*/ 0 w 257"/>
                  <a:gd name="T67" fmla="*/ 0 h 68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57" h="683">
                    <a:moveTo>
                      <a:pt x="0" y="0"/>
                    </a:moveTo>
                    <a:lnTo>
                      <a:pt x="43" y="24"/>
                    </a:lnTo>
                    <a:lnTo>
                      <a:pt x="72" y="50"/>
                    </a:lnTo>
                    <a:lnTo>
                      <a:pt x="107" y="99"/>
                    </a:lnTo>
                    <a:lnTo>
                      <a:pt x="128" y="150"/>
                    </a:lnTo>
                    <a:lnTo>
                      <a:pt x="140" y="201"/>
                    </a:lnTo>
                    <a:lnTo>
                      <a:pt x="145" y="251"/>
                    </a:lnTo>
                    <a:lnTo>
                      <a:pt x="149" y="326"/>
                    </a:lnTo>
                    <a:lnTo>
                      <a:pt x="151" y="378"/>
                    </a:lnTo>
                    <a:lnTo>
                      <a:pt x="153" y="402"/>
                    </a:lnTo>
                    <a:lnTo>
                      <a:pt x="156" y="453"/>
                    </a:lnTo>
                    <a:lnTo>
                      <a:pt x="160" y="482"/>
                    </a:lnTo>
                    <a:lnTo>
                      <a:pt x="166" y="529"/>
                    </a:lnTo>
                    <a:lnTo>
                      <a:pt x="183" y="591"/>
                    </a:lnTo>
                    <a:lnTo>
                      <a:pt x="204" y="632"/>
                    </a:lnTo>
                    <a:lnTo>
                      <a:pt x="224" y="657"/>
                    </a:lnTo>
                    <a:lnTo>
                      <a:pt x="256" y="682"/>
                    </a:lnTo>
                    <a:lnTo>
                      <a:pt x="209" y="656"/>
                    </a:lnTo>
                    <a:lnTo>
                      <a:pt x="174" y="620"/>
                    </a:lnTo>
                    <a:lnTo>
                      <a:pt x="140" y="560"/>
                    </a:lnTo>
                    <a:lnTo>
                      <a:pt x="130" y="528"/>
                    </a:lnTo>
                    <a:lnTo>
                      <a:pt x="118" y="482"/>
                    </a:lnTo>
                    <a:lnTo>
                      <a:pt x="115" y="453"/>
                    </a:lnTo>
                    <a:lnTo>
                      <a:pt x="108" y="402"/>
                    </a:lnTo>
                    <a:lnTo>
                      <a:pt x="107" y="378"/>
                    </a:lnTo>
                    <a:lnTo>
                      <a:pt x="104" y="337"/>
                    </a:lnTo>
                    <a:lnTo>
                      <a:pt x="104" y="279"/>
                    </a:lnTo>
                    <a:lnTo>
                      <a:pt x="107" y="225"/>
                    </a:lnTo>
                    <a:lnTo>
                      <a:pt x="100" y="174"/>
                    </a:lnTo>
                    <a:lnTo>
                      <a:pt x="85" y="122"/>
                    </a:lnTo>
                    <a:lnTo>
                      <a:pt x="71" y="88"/>
                    </a:lnTo>
                    <a:lnTo>
                      <a:pt x="46" y="47"/>
                    </a:lnTo>
                    <a:lnTo>
                      <a:pt x="27" y="24"/>
                    </a:lnTo>
                    <a:lnTo>
                      <a:pt x="0" y="0"/>
                    </a:lnTo>
                  </a:path>
                </a:pathLst>
              </a:custGeom>
              <a:grpFill/>
              <a:ln w="12700" cap="rnd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C97DDD89-23D0-4A86-A4E5-6E358573D483}"/>
                  </a:ext>
                </a:extLst>
              </p:cNvPr>
              <p:cNvSpPr/>
              <p:nvPr/>
            </p:nvSpPr>
            <p:spPr bwMode="auto">
              <a:xfrm>
                <a:off x="3421" y="2967"/>
                <a:ext cx="256" cy="719"/>
              </a:xfrm>
              <a:custGeom>
                <a:avLst/>
                <a:gdLst>
                  <a:gd name="T0" fmla="*/ 255 w 256"/>
                  <a:gd name="T1" fmla="*/ 0 h 682"/>
                  <a:gd name="T2" fmla="*/ 212 w 256"/>
                  <a:gd name="T3" fmla="*/ 25 h 682"/>
                  <a:gd name="T4" fmla="*/ 182 w 256"/>
                  <a:gd name="T5" fmla="*/ 52 h 682"/>
                  <a:gd name="T6" fmla="*/ 147 w 256"/>
                  <a:gd name="T7" fmla="*/ 104 h 682"/>
                  <a:gd name="T8" fmla="*/ 127 w 256"/>
                  <a:gd name="T9" fmla="*/ 159 h 682"/>
                  <a:gd name="T10" fmla="*/ 116 w 256"/>
                  <a:gd name="T11" fmla="*/ 213 h 682"/>
                  <a:gd name="T12" fmla="*/ 111 w 256"/>
                  <a:gd name="T13" fmla="*/ 263 h 682"/>
                  <a:gd name="T14" fmla="*/ 106 w 256"/>
                  <a:gd name="T15" fmla="*/ 342 h 682"/>
                  <a:gd name="T16" fmla="*/ 104 w 256"/>
                  <a:gd name="T17" fmla="*/ 399 h 682"/>
                  <a:gd name="T18" fmla="*/ 101 w 256"/>
                  <a:gd name="T19" fmla="*/ 422 h 682"/>
                  <a:gd name="T20" fmla="*/ 99 w 256"/>
                  <a:gd name="T21" fmla="*/ 478 h 682"/>
                  <a:gd name="T22" fmla="*/ 95 w 256"/>
                  <a:gd name="T23" fmla="*/ 508 h 682"/>
                  <a:gd name="T24" fmla="*/ 90 w 256"/>
                  <a:gd name="T25" fmla="*/ 557 h 682"/>
                  <a:gd name="T26" fmla="*/ 72 w 256"/>
                  <a:gd name="T27" fmla="*/ 622 h 682"/>
                  <a:gd name="T28" fmla="*/ 52 w 256"/>
                  <a:gd name="T29" fmla="*/ 664 h 682"/>
                  <a:gd name="T30" fmla="*/ 30 w 256"/>
                  <a:gd name="T31" fmla="*/ 691 h 682"/>
                  <a:gd name="T32" fmla="*/ 0 w 256"/>
                  <a:gd name="T33" fmla="*/ 718 h 682"/>
                  <a:gd name="T34" fmla="*/ 46 w 256"/>
                  <a:gd name="T35" fmla="*/ 691 h 682"/>
                  <a:gd name="T36" fmla="*/ 82 w 256"/>
                  <a:gd name="T37" fmla="*/ 653 h 682"/>
                  <a:gd name="T38" fmla="*/ 116 w 256"/>
                  <a:gd name="T39" fmla="*/ 590 h 682"/>
                  <a:gd name="T40" fmla="*/ 126 w 256"/>
                  <a:gd name="T41" fmla="*/ 557 h 682"/>
                  <a:gd name="T42" fmla="*/ 138 w 256"/>
                  <a:gd name="T43" fmla="*/ 508 h 682"/>
                  <a:gd name="T44" fmla="*/ 141 w 256"/>
                  <a:gd name="T45" fmla="*/ 478 h 682"/>
                  <a:gd name="T46" fmla="*/ 146 w 256"/>
                  <a:gd name="T47" fmla="*/ 422 h 682"/>
                  <a:gd name="T48" fmla="*/ 147 w 256"/>
                  <a:gd name="T49" fmla="*/ 399 h 682"/>
                  <a:gd name="T50" fmla="*/ 151 w 256"/>
                  <a:gd name="T51" fmla="*/ 354 h 682"/>
                  <a:gd name="T52" fmla="*/ 150 w 256"/>
                  <a:gd name="T53" fmla="*/ 293 h 682"/>
                  <a:gd name="T54" fmla="*/ 150 w 256"/>
                  <a:gd name="T55" fmla="*/ 236 h 682"/>
                  <a:gd name="T56" fmla="*/ 154 w 256"/>
                  <a:gd name="T57" fmla="*/ 183 h 682"/>
                  <a:gd name="T58" fmla="*/ 170 w 256"/>
                  <a:gd name="T59" fmla="*/ 129 h 682"/>
                  <a:gd name="T60" fmla="*/ 184 w 256"/>
                  <a:gd name="T61" fmla="*/ 92 h 682"/>
                  <a:gd name="T62" fmla="*/ 210 w 256"/>
                  <a:gd name="T63" fmla="*/ 50 h 682"/>
                  <a:gd name="T64" fmla="*/ 229 w 256"/>
                  <a:gd name="T65" fmla="*/ 25 h 682"/>
                  <a:gd name="T66" fmla="*/ 255 w 256"/>
                  <a:gd name="T67" fmla="*/ 0 h 68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56" h="682">
                    <a:moveTo>
                      <a:pt x="255" y="0"/>
                    </a:moveTo>
                    <a:lnTo>
                      <a:pt x="212" y="24"/>
                    </a:lnTo>
                    <a:lnTo>
                      <a:pt x="182" y="49"/>
                    </a:lnTo>
                    <a:lnTo>
                      <a:pt x="147" y="99"/>
                    </a:lnTo>
                    <a:lnTo>
                      <a:pt x="127" y="151"/>
                    </a:lnTo>
                    <a:lnTo>
                      <a:pt x="116" y="202"/>
                    </a:lnTo>
                    <a:lnTo>
                      <a:pt x="111" y="249"/>
                    </a:lnTo>
                    <a:lnTo>
                      <a:pt x="106" y="324"/>
                    </a:lnTo>
                    <a:lnTo>
                      <a:pt x="104" y="378"/>
                    </a:lnTo>
                    <a:lnTo>
                      <a:pt x="101" y="400"/>
                    </a:lnTo>
                    <a:lnTo>
                      <a:pt x="99" y="453"/>
                    </a:lnTo>
                    <a:lnTo>
                      <a:pt x="95" y="482"/>
                    </a:lnTo>
                    <a:lnTo>
                      <a:pt x="90" y="528"/>
                    </a:lnTo>
                    <a:lnTo>
                      <a:pt x="72" y="590"/>
                    </a:lnTo>
                    <a:lnTo>
                      <a:pt x="52" y="630"/>
                    </a:lnTo>
                    <a:lnTo>
                      <a:pt x="30" y="655"/>
                    </a:lnTo>
                    <a:lnTo>
                      <a:pt x="0" y="681"/>
                    </a:lnTo>
                    <a:lnTo>
                      <a:pt x="46" y="655"/>
                    </a:lnTo>
                    <a:lnTo>
                      <a:pt x="82" y="619"/>
                    </a:lnTo>
                    <a:lnTo>
                      <a:pt x="116" y="560"/>
                    </a:lnTo>
                    <a:lnTo>
                      <a:pt x="126" y="528"/>
                    </a:lnTo>
                    <a:lnTo>
                      <a:pt x="138" y="482"/>
                    </a:lnTo>
                    <a:lnTo>
                      <a:pt x="141" y="453"/>
                    </a:lnTo>
                    <a:lnTo>
                      <a:pt x="146" y="400"/>
                    </a:lnTo>
                    <a:lnTo>
                      <a:pt x="147" y="378"/>
                    </a:lnTo>
                    <a:lnTo>
                      <a:pt x="151" y="336"/>
                    </a:lnTo>
                    <a:lnTo>
                      <a:pt x="150" y="278"/>
                    </a:lnTo>
                    <a:lnTo>
                      <a:pt x="150" y="224"/>
                    </a:lnTo>
                    <a:lnTo>
                      <a:pt x="154" y="174"/>
                    </a:lnTo>
                    <a:lnTo>
                      <a:pt x="170" y="122"/>
                    </a:lnTo>
                    <a:lnTo>
                      <a:pt x="184" y="87"/>
                    </a:lnTo>
                    <a:lnTo>
                      <a:pt x="210" y="47"/>
                    </a:lnTo>
                    <a:lnTo>
                      <a:pt x="229" y="24"/>
                    </a:lnTo>
                    <a:lnTo>
                      <a:pt x="255" y="0"/>
                    </a:lnTo>
                  </a:path>
                </a:pathLst>
              </a:custGeom>
              <a:grpFill/>
              <a:ln w="12700" cap="rnd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graphicFrame>
          <p:nvGraphicFramePr>
            <p:cNvPr id="34" name="Object 9">
              <a:hlinkClick r:id="" action="ppaction://ole?verb=0"/>
              <a:extLst>
                <a:ext uri="{FF2B5EF4-FFF2-40B4-BE49-F238E27FC236}">
                  <a16:creationId xmlns:a16="http://schemas.microsoft.com/office/drawing/2014/main" id="{FF8E025F-0D6D-4D3B-B8D3-5B8CC18429C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59608870"/>
                </p:ext>
              </p:extLst>
            </p:nvPr>
          </p:nvGraphicFramePr>
          <p:xfrm>
            <a:off x="3561" y="1647"/>
            <a:ext cx="67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12" name="Equation" r:id="rId4" imgW="452755" imgH="208280" progId="Equation.3">
                    <p:embed/>
                  </p:oleObj>
                </mc:Choice>
                <mc:Fallback>
                  <p:oleObj name="Equation" r:id="rId4" imgW="452755" imgH="208280" progId="Equation.3">
                    <p:embed/>
                    <p:pic>
                      <p:nvPicPr>
                        <p:cNvPr id="40986" name="Object 9">
                          <a:hlinkClick r:id="" action="ppaction://ole?verb=0"/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1" y="1647"/>
                          <a:ext cx="672" cy="336"/>
                        </a:xfrm>
                        <a:prstGeom prst="rect">
                          <a:avLst/>
                        </a:prstGeom>
                        <a:solidFill>
                          <a:srgbClr val="C00000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Freeform 10" descr="60%">
              <a:extLst>
                <a:ext uri="{FF2B5EF4-FFF2-40B4-BE49-F238E27FC236}">
                  <a16:creationId xmlns:a16="http://schemas.microsoft.com/office/drawing/2014/main" id="{FA8CE0A2-61E1-4F4E-9B40-67A6422C2DD0}"/>
                </a:ext>
              </a:extLst>
            </p:cNvPr>
            <p:cNvSpPr/>
            <p:nvPr/>
          </p:nvSpPr>
          <p:spPr bwMode="auto">
            <a:xfrm>
              <a:off x="1392" y="2112"/>
              <a:ext cx="720" cy="431"/>
            </a:xfrm>
            <a:custGeom>
              <a:avLst/>
              <a:gdLst>
                <a:gd name="T0" fmla="*/ 720 w 436"/>
                <a:gd name="T1" fmla="*/ 431 h 202"/>
                <a:gd name="T2" fmla="*/ 0 w 436"/>
                <a:gd name="T3" fmla="*/ 431 h 202"/>
                <a:gd name="T4" fmla="*/ 180 w 436"/>
                <a:gd name="T5" fmla="*/ 356 h 202"/>
                <a:gd name="T6" fmla="*/ 410 w 436"/>
                <a:gd name="T7" fmla="*/ 250 h 202"/>
                <a:gd name="T8" fmla="*/ 575 w 436"/>
                <a:gd name="T9" fmla="*/ 143 h 202"/>
                <a:gd name="T10" fmla="*/ 720 w 436"/>
                <a:gd name="T11" fmla="*/ 0 h 202"/>
                <a:gd name="T12" fmla="*/ 720 w 436"/>
                <a:gd name="T13" fmla="*/ 431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6" h="202">
                  <a:moveTo>
                    <a:pt x="436" y="202"/>
                  </a:moveTo>
                  <a:lnTo>
                    <a:pt x="0" y="202"/>
                  </a:lnTo>
                  <a:lnTo>
                    <a:pt x="109" y="167"/>
                  </a:lnTo>
                  <a:lnTo>
                    <a:pt x="248" y="117"/>
                  </a:lnTo>
                  <a:lnTo>
                    <a:pt x="348" y="67"/>
                  </a:lnTo>
                  <a:lnTo>
                    <a:pt x="436" y="0"/>
                  </a:lnTo>
                  <a:lnTo>
                    <a:pt x="436" y="202"/>
                  </a:lnTo>
                  <a:close/>
                </a:path>
              </a:pathLst>
            </a:custGeom>
            <a:grpFill/>
            <a:ln w="30163">
              <a:solidFill>
                <a:schemeClr val="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6" name="Freeform 11" descr="60%">
              <a:extLst>
                <a:ext uri="{FF2B5EF4-FFF2-40B4-BE49-F238E27FC236}">
                  <a16:creationId xmlns:a16="http://schemas.microsoft.com/office/drawing/2014/main" id="{95C06990-FA60-4F23-9441-8C83B2CDA2CA}"/>
                </a:ext>
              </a:extLst>
            </p:cNvPr>
            <p:cNvSpPr/>
            <p:nvPr/>
          </p:nvSpPr>
          <p:spPr bwMode="auto">
            <a:xfrm>
              <a:off x="3457" y="2208"/>
              <a:ext cx="767" cy="346"/>
            </a:xfrm>
            <a:custGeom>
              <a:avLst/>
              <a:gdLst>
                <a:gd name="T0" fmla="*/ 0 w 434"/>
                <a:gd name="T1" fmla="*/ 346 h 202"/>
                <a:gd name="T2" fmla="*/ 767 w 434"/>
                <a:gd name="T3" fmla="*/ 346 h 202"/>
                <a:gd name="T4" fmla="*/ 574 w 434"/>
                <a:gd name="T5" fmla="*/ 286 h 202"/>
                <a:gd name="T6" fmla="*/ 332 w 434"/>
                <a:gd name="T7" fmla="*/ 200 h 202"/>
                <a:gd name="T8" fmla="*/ 156 w 434"/>
                <a:gd name="T9" fmla="*/ 115 h 202"/>
                <a:gd name="T10" fmla="*/ 0 w 434"/>
                <a:gd name="T11" fmla="*/ 0 h 202"/>
                <a:gd name="T12" fmla="*/ 0 w 434"/>
                <a:gd name="T13" fmla="*/ 346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4" h="202">
                  <a:moveTo>
                    <a:pt x="0" y="202"/>
                  </a:moveTo>
                  <a:lnTo>
                    <a:pt x="434" y="202"/>
                  </a:lnTo>
                  <a:lnTo>
                    <a:pt x="325" y="167"/>
                  </a:lnTo>
                  <a:lnTo>
                    <a:pt x="188" y="117"/>
                  </a:lnTo>
                  <a:lnTo>
                    <a:pt x="88" y="67"/>
                  </a:lnTo>
                  <a:lnTo>
                    <a:pt x="0" y="0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30163">
              <a:solidFill>
                <a:schemeClr val="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4CD4AA7C-B388-40CE-8282-DCF8627E4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402"/>
              <a:ext cx="2" cy="124"/>
            </a:xfrm>
            <a:prstGeom prst="line">
              <a:avLst/>
            </a:prstGeom>
            <a:grpFill/>
            <a:ln w="30163">
              <a:solidFill>
                <a:schemeClr val="tx1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8" name="Line 13">
              <a:extLst>
                <a:ext uri="{FF2B5EF4-FFF2-40B4-BE49-F238E27FC236}">
                  <a16:creationId xmlns:a16="http://schemas.microsoft.com/office/drawing/2014/main" id="{8E13D34B-87F3-41BB-B104-CC55A92B9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2543"/>
              <a:ext cx="3160" cy="0"/>
            </a:xfrm>
            <a:prstGeom prst="line">
              <a:avLst/>
            </a:prstGeom>
            <a:grpFill/>
            <a:ln w="42863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9" name="Rectangle 14">
              <a:extLst>
                <a:ext uri="{FF2B5EF4-FFF2-40B4-BE49-F238E27FC236}">
                  <a16:creationId xmlns:a16="http://schemas.microsoft.com/office/drawing/2014/main" id="{554100AE-EA8C-46F6-9488-0667144C7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" y="2067"/>
              <a:ext cx="483" cy="2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0F0F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725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1 – </a:t>
              </a:r>
              <a:r>
                <a:rPr lang="en-US" altLang="zh-CN" sz="18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α</a:t>
              </a:r>
              <a:endParaRPr lang="en-US" altLang="zh-CN" sz="1725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A840D189-FEEC-4B06-A9B9-4686B37AB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1975"/>
              <a:ext cx="451" cy="2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α</a:t>
              </a:r>
              <a:r>
                <a:rPr lang="en-US" altLang="zh-CN" sz="1725" b="1" i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en-US" altLang="zh-CN" sz="1725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/</a:t>
              </a:r>
              <a:r>
                <a:rPr lang="en-US" altLang="zh-CN" sz="15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41" name="Rectangle 16">
              <a:extLst>
                <a:ext uri="{FF2B5EF4-FFF2-40B4-BE49-F238E27FC236}">
                  <a16:creationId xmlns:a16="http://schemas.microsoft.com/office/drawing/2014/main" id="{CFFA4444-6AC0-4B3A-83AA-302DAF57E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" y="1983"/>
              <a:ext cx="451" cy="2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α </a:t>
              </a:r>
              <a:r>
                <a:rPr lang="en-US" altLang="zh-CN" sz="1725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/</a:t>
              </a:r>
              <a:r>
                <a:rPr lang="en-US" altLang="zh-CN" sz="15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</a:p>
          </p:txBody>
        </p:sp>
        <p:graphicFrame>
          <p:nvGraphicFramePr>
            <p:cNvPr id="42" name="Object 17">
              <a:hlinkClick r:id="" action="ppaction://ole?verb=0"/>
              <a:extLst>
                <a:ext uri="{FF2B5EF4-FFF2-40B4-BE49-F238E27FC236}">
                  <a16:creationId xmlns:a16="http://schemas.microsoft.com/office/drawing/2014/main" id="{4211E524-3A81-47F7-A4C5-4903698E1201}"/>
                </a:ext>
              </a:extLst>
            </p:cNvPr>
            <p:cNvGraphicFramePr/>
            <p:nvPr/>
          </p:nvGraphicFramePr>
          <p:xfrm>
            <a:off x="3022" y="1455"/>
            <a:ext cx="285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13" name="Equation" r:id="rId6" imgW="180975" imgH="208280" progId="Equation.3">
                    <p:embed/>
                  </p:oleObj>
                </mc:Choice>
                <mc:Fallback>
                  <p:oleObj name="Equation" r:id="rId6" imgW="180975" imgH="208280" progId="Equation.3">
                    <p:embed/>
                    <p:pic>
                      <p:nvPicPr>
                        <p:cNvPr id="40994" name="Object 17">
                          <a:hlinkClick r:id="" action="ppaction://ole?verb=0"/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2" y="1455"/>
                          <a:ext cx="285" cy="357"/>
                        </a:xfrm>
                        <a:prstGeom prst="rect">
                          <a:avLst/>
                        </a:prstGeom>
                        <a:solidFill>
                          <a:srgbClr val="C00000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18">
              <a:hlinkClick r:id="" action="ppaction://ole?verb=0"/>
              <a:extLst>
                <a:ext uri="{FF2B5EF4-FFF2-40B4-BE49-F238E27FC236}">
                  <a16:creationId xmlns:a16="http://schemas.microsoft.com/office/drawing/2014/main" id="{ADDB13D2-12C5-44DE-93E8-02E9B98D87CC}"/>
                </a:ext>
              </a:extLst>
            </p:cNvPr>
            <p:cNvGraphicFramePr/>
            <p:nvPr/>
          </p:nvGraphicFramePr>
          <p:xfrm>
            <a:off x="4233" y="2226"/>
            <a:ext cx="167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14" name="Equation" r:id="rId8" imgW="127000" imgH="144780" progId="Equation.3">
                    <p:embed/>
                  </p:oleObj>
                </mc:Choice>
                <mc:Fallback>
                  <p:oleObj name="Equation" r:id="rId8" imgW="127000" imgH="144780" progId="Equation.3">
                    <p:embed/>
                    <p:pic>
                      <p:nvPicPr>
                        <p:cNvPr id="40995" name="Object 18">
                          <a:hlinkClick r:id="" action="ppaction://ole?verb=0"/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3" y="2226"/>
                          <a:ext cx="167" cy="243"/>
                        </a:xfrm>
                        <a:prstGeom prst="rect">
                          <a:avLst/>
                        </a:prstGeom>
                        <a:solidFill>
                          <a:srgbClr val="C00000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4" name="Group 19">
              <a:extLst>
                <a:ext uri="{FF2B5EF4-FFF2-40B4-BE49-F238E27FC236}">
                  <a16:creationId xmlns:a16="http://schemas.microsoft.com/office/drawing/2014/main" id="{3E09FA52-856E-466C-8CB4-6BF8DD59B4B1}"/>
                </a:ext>
              </a:extLst>
            </p:cNvPr>
            <p:cNvGrpSpPr/>
            <p:nvPr/>
          </p:nvGrpSpPr>
          <p:grpSpPr bwMode="auto">
            <a:xfrm>
              <a:off x="1256" y="1536"/>
              <a:ext cx="2977" cy="959"/>
              <a:chOff x="1626" y="1516"/>
              <a:chExt cx="2532" cy="674"/>
            </a:xfrm>
            <a:grpFill/>
          </p:grpSpPr>
          <p:sp>
            <p:nvSpPr>
              <p:cNvPr id="47" name="Freeform 20">
                <a:extLst>
                  <a:ext uri="{FF2B5EF4-FFF2-40B4-BE49-F238E27FC236}">
                    <a16:creationId xmlns:a16="http://schemas.microsoft.com/office/drawing/2014/main" id="{99EE1B36-272F-464C-BB69-FA9FA9CE9372}"/>
                  </a:ext>
                </a:extLst>
              </p:cNvPr>
              <p:cNvSpPr/>
              <p:nvPr/>
            </p:nvSpPr>
            <p:spPr bwMode="auto">
              <a:xfrm>
                <a:off x="2892" y="1516"/>
                <a:ext cx="1266" cy="674"/>
              </a:xfrm>
              <a:custGeom>
                <a:avLst/>
                <a:gdLst>
                  <a:gd name="T0" fmla="*/ 1266 w 1266"/>
                  <a:gd name="T1" fmla="*/ 674 h 674"/>
                  <a:gd name="T2" fmla="*/ 1133 w 1266"/>
                  <a:gd name="T3" fmla="*/ 666 h 674"/>
                  <a:gd name="T4" fmla="*/ 1065 w 1266"/>
                  <a:gd name="T5" fmla="*/ 657 h 674"/>
                  <a:gd name="T6" fmla="*/ 998 w 1266"/>
                  <a:gd name="T7" fmla="*/ 647 h 674"/>
                  <a:gd name="T8" fmla="*/ 932 w 1266"/>
                  <a:gd name="T9" fmla="*/ 632 h 674"/>
                  <a:gd name="T10" fmla="*/ 865 w 1266"/>
                  <a:gd name="T11" fmla="*/ 611 h 674"/>
                  <a:gd name="T12" fmla="*/ 800 w 1266"/>
                  <a:gd name="T13" fmla="*/ 584 h 674"/>
                  <a:gd name="T14" fmla="*/ 665 w 1266"/>
                  <a:gd name="T15" fmla="*/ 505 h 674"/>
                  <a:gd name="T16" fmla="*/ 532 w 1266"/>
                  <a:gd name="T17" fmla="*/ 395 h 674"/>
                  <a:gd name="T18" fmla="*/ 399 w 1266"/>
                  <a:gd name="T19" fmla="*/ 264 h 674"/>
                  <a:gd name="T20" fmla="*/ 333 w 1266"/>
                  <a:gd name="T21" fmla="*/ 195 h 674"/>
                  <a:gd name="T22" fmla="*/ 266 w 1266"/>
                  <a:gd name="T23" fmla="*/ 133 h 674"/>
                  <a:gd name="T24" fmla="*/ 198 w 1266"/>
                  <a:gd name="T25" fmla="*/ 79 h 674"/>
                  <a:gd name="T26" fmla="*/ 133 w 1266"/>
                  <a:gd name="T27" fmla="*/ 35 h 674"/>
                  <a:gd name="T28" fmla="*/ 65 w 1266"/>
                  <a:gd name="T29" fmla="*/ 8 h 674"/>
                  <a:gd name="T30" fmla="*/ 0 w 1266"/>
                  <a:gd name="T31" fmla="*/ 0 h 67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66" h="674">
                    <a:moveTo>
                      <a:pt x="1266" y="674"/>
                    </a:moveTo>
                    <a:lnTo>
                      <a:pt x="1133" y="666"/>
                    </a:lnTo>
                    <a:lnTo>
                      <a:pt x="1065" y="657"/>
                    </a:lnTo>
                    <a:lnTo>
                      <a:pt x="998" y="647"/>
                    </a:lnTo>
                    <a:lnTo>
                      <a:pt x="932" y="632"/>
                    </a:lnTo>
                    <a:lnTo>
                      <a:pt x="865" y="611"/>
                    </a:lnTo>
                    <a:lnTo>
                      <a:pt x="800" y="584"/>
                    </a:lnTo>
                    <a:lnTo>
                      <a:pt x="665" y="505"/>
                    </a:lnTo>
                    <a:lnTo>
                      <a:pt x="532" y="395"/>
                    </a:lnTo>
                    <a:lnTo>
                      <a:pt x="399" y="264"/>
                    </a:lnTo>
                    <a:lnTo>
                      <a:pt x="333" y="195"/>
                    </a:lnTo>
                    <a:lnTo>
                      <a:pt x="266" y="133"/>
                    </a:lnTo>
                    <a:lnTo>
                      <a:pt x="198" y="79"/>
                    </a:lnTo>
                    <a:lnTo>
                      <a:pt x="133" y="35"/>
                    </a:lnTo>
                    <a:lnTo>
                      <a:pt x="65" y="8"/>
                    </a:lnTo>
                    <a:lnTo>
                      <a:pt x="0" y="0"/>
                    </a:lnTo>
                  </a:path>
                </a:pathLst>
              </a:custGeom>
              <a:grpFill/>
              <a:ln w="57150" cmpd="sng">
                <a:solidFill>
                  <a:srgbClr val="FF0000"/>
                </a:solidFill>
                <a:prstDash val="solid"/>
                <a:round/>
              </a:ln>
              <a:effectLst>
                <a:outerShdw dist="127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48" name="Freeform 21">
                <a:extLst>
                  <a:ext uri="{FF2B5EF4-FFF2-40B4-BE49-F238E27FC236}">
                    <a16:creationId xmlns:a16="http://schemas.microsoft.com/office/drawing/2014/main" id="{56933B17-157A-402F-A8B1-7703671E3C61}"/>
                  </a:ext>
                </a:extLst>
              </p:cNvPr>
              <p:cNvSpPr/>
              <p:nvPr/>
            </p:nvSpPr>
            <p:spPr bwMode="auto">
              <a:xfrm>
                <a:off x="1626" y="1516"/>
                <a:ext cx="1266" cy="674"/>
              </a:xfrm>
              <a:custGeom>
                <a:avLst/>
                <a:gdLst>
                  <a:gd name="T0" fmla="*/ 0 w 1266"/>
                  <a:gd name="T1" fmla="*/ 674 h 674"/>
                  <a:gd name="T2" fmla="*/ 133 w 1266"/>
                  <a:gd name="T3" fmla="*/ 666 h 674"/>
                  <a:gd name="T4" fmla="*/ 199 w 1266"/>
                  <a:gd name="T5" fmla="*/ 657 h 674"/>
                  <a:gd name="T6" fmla="*/ 266 w 1266"/>
                  <a:gd name="T7" fmla="*/ 647 h 674"/>
                  <a:gd name="T8" fmla="*/ 332 w 1266"/>
                  <a:gd name="T9" fmla="*/ 632 h 674"/>
                  <a:gd name="T10" fmla="*/ 399 w 1266"/>
                  <a:gd name="T11" fmla="*/ 611 h 674"/>
                  <a:gd name="T12" fmla="*/ 467 w 1266"/>
                  <a:gd name="T13" fmla="*/ 584 h 674"/>
                  <a:gd name="T14" fmla="*/ 599 w 1266"/>
                  <a:gd name="T15" fmla="*/ 505 h 674"/>
                  <a:gd name="T16" fmla="*/ 732 w 1266"/>
                  <a:gd name="T17" fmla="*/ 395 h 674"/>
                  <a:gd name="T18" fmla="*/ 865 w 1266"/>
                  <a:gd name="T19" fmla="*/ 264 h 674"/>
                  <a:gd name="T20" fmla="*/ 933 w 1266"/>
                  <a:gd name="T21" fmla="*/ 195 h 674"/>
                  <a:gd name="T22" fmla="*/ 998 w 1266"/>
                  <a:gd name="T23" fmla="*/ 133 h 674"/>
                  <a:gd name="T24" fmla="*/ 1066 w 1266"/>
                  <a:gd name="T25" fmla="*/ 79 h 674"/>
                  <a:gd name="T26" fmla="*/ 1131 w 1266"/>
                  <a:gd name="T27" fmla="*/ 35 h 674"/>
                  <a:gd name="T28" fmla="*/ 1199 w 1266"/>
                  <a:gd name="T29" fmla="*/ 8 h 674"/>
                  <a:gd name="T30" fmla="*/ 1266 w 1266"/>
                  <a:gd name="T31" fmla="*/ 0 h 67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66" h="674">
                    <a:moveTo>
                      <a:pt x="0" y="674"/>
                    </a:moveTo>
                    <a:lnTo>
                      <a:pt x="133" y="666"/>
                    </a:lnTo>
                    <a:lnTo>
                      <a:pt x="199" y="657"/>
                    </a:lnTo>
                    <a:lnTo>
                      <a:pt x="266" y="647"/>
                    </a:lnTo>
                    <a:lnTo>
                      <a:pt x="332" y="632"/>
                    </a:lnTo>
                    <a:lnTo>
                      <a:pt x="399" y="611"/>
                    </a:lnTo>
                    <a:lnTo>
                      <a:pt x="467" y="584"/>
                    </a:lnTo>
                    <a:lnTo>
                      <a:pt x="599" y="505"/>
                    </a:lnTo>
                    <a:lnTo>
                      <a:pt x="732" y="395"/>
                    </a:lnTo>
                    <a:lnTo>
                      <a:pt x="865" y="264"/>
                    </a:lnTo>
                    <a:lnTo>
                      <a:pt x="933" y="195"/>
                    </a:lnTo>
                    <a:lnTo>
                      <a:pt x="998" y="133"/>
                    </a:lnTo>
                    <a:lnTo>
                      <a:pt x="1066" y="79"/>
                    </a:lnTo>
                    <a:lnTo>
                      <a:pt x="1131" y="35"/>
                    </a:lnTo>
                    <a:lnTo>
                      <a:pt x="1199" y="8"/>
                    </a:lnTo>
                    <a:lnTo>
                      <a:pt x="1266" y="0"/>
                    </a:lnTo>
                  </a:path>
                </a:pathLst>
              </a:custGeom>
              <a:grpFill/>
              <a:ln w="57150" cmpd="sng">
                <a:solidFill>
                  <a:srgbClr val="FF0000"/>
                </a:solidFill>
                <a:prstDash val="solid"/>
                <a:round/>
              </a:ln>
              <a:effectLst>
                <a:outerShdw dist="127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45" name="Line 22">
              <a:extLst>
                <a:ext uri="{FF2B5EF4-FFF2-40B4-BE49-F238E27FC236}">
                  <a16:creationId xmlns:a16="http://schemas.microsoft.com/office/drawing/2014/main" id="{4FE91634-8CC9-4D44-9BFA-3B0BA813A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6" y="2208"/>
              <a:ext cx="310" cy="222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46" name="Line 23">
              <a:extLst>
                <a:ext uri="{FF2B5EF4-FFF2-40B4-BE49-F238E27FC236}">
                  <a16:creationId xmlns:a16="http://schemas.microsoft.com/office/drawing/2014/main" id="{FD0C431F-F37C-43E7-86AE-735F9B940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160"/>
              <a:ext cx="240" cy="336"/>
            </a:xfrm>
            <a:prstGeom prst="line">
              <a:avLst/>
            </a:prstGeom>
            <a:grpFill/>
            <a:ln w="30163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3AA18764-4422-44D9-A32C-C324C3DFBEA3}"/>
              </a:ext>
            </a:extLst>
          </p:cNvPr>
          <p:cNvSpPr/>
          <p:nvPr/>
        </p:nvSpPr>
        <p:spPr>
          <a:xfrm>
            <a:off x="5823959" y="4303827"/>
            <a:ext cx="3300317" cy="317811"/>
          </a:xfrm>
          <a:prstGeom prst="rect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2700000" scaled="1"/>
            <a:tileRect/>
          </a:gradFill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noProof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区间估计即参数置信区间</a:t>
            </a:r>
            <a:r>
              <a:rPr lang="en-US" altLang="zh-CN" sz="1400" b="1" noProof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[A(x)        B(x)]</a:t>
            </a:r>
            <a:endParaRPr lang="zh-CN" altLang="en-US" sz="1400" noProof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矩形 8">
            <a:extLst>
              <a:ext uri="{FF2B5EF4-FFF2-40B4-BE49-F238E27FC236}">
                <a16:creationId xmlns:a16="http://schemas.microsoft.com/office/drawing/2014/main" id="{654B0301-D114-4F98-9B62-FBBC39008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1462" y="3571182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置信度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E59A407-B2FF-4A62-A738-7098AEECC839}"/>
              </a:ext>
            </a:extLst>
          </p:cNvPr>
          <p:cNvSpPr/>
          <p:nvPr/>
        </p:nvSpPr>
        <p:spPr>
          <a:xfrm>
            <a:off x="80944" y="2933760"/>
            <a:ext cx="8697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 信 区 间：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[A(x),B(x)]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区间称为待估参数置信区间，参数包括均值和标准差</a:t>
            </a:r>
            <a:endParaRPr lang="en-US" altLang="zh-CN" b="1" dirty="0">
              <a:solidFill>
                <a:srgbClr val="0070C0"/>
              </a:solidFill>
              <a:latin typeface="等线 Light" panose="02010600030101010101" pitchFamily="2" charset="-122"/>
              <a:ea typeface="等线 Light" panose="02010600030101010101" pitchFamily="2" charset="-122"/>
              <a:sym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24C6E67-396D-4EDB-80FC-86A928B0C98B}"/>
              </a:ext>
            </a:extLst>
          </p:cNvPr>
          <p:cNvSpPr/>
          <p:nvPr/>
        </p:nvSpPr>
        <p:spPr>
          <a:xfrm>
            <a:off x="80944" y="2129724"/>
            <a:ext cx="90261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显著水平</a:t>
            </a:r>
            <a:r>
              <a:rPr lang="el-GR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α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参数估计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不可靠程度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，即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可能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犯错误概率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α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，在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[0,1]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间，默认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0.05</a:t>
            </a:r>
            <a:endParaRPr lang="zh-CN" altLang="en-US" b="1" dirty="0">
              <a:solidFill>
                <a:srgbClr val="002060"/>
              </a:solidFill>
              <a:latin typeface="等线 Light" panose="02010600030101010101" pitchFamily="2" charset="-122"/>
              <a:ea typeface="等线 Light" panose="02010600030101010101" pitchFamily="2" charset="-122"/>
              <a:sym typeface="+mn-ea"/>
            </a:endParaRPr>
          </a:p>
          <a:p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CBAEF27-96A2-49F5-9BA6-DF873309E442}"/>
              </a:ext>
            </a:extLst>
          </p:cNvPr>
          <p:cNvSpPr txBox="1"/>
          <p:nvPr/>
        </p:nvSpPr>
        <p:spPr>
          <a:xfrm>
            <a:off x="94984" y="1748389"/>
            <a:ext cx="8548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 估  计</a:t>
            </a:r>
            <a:r>
              <a:rPr lang="en-US" altLang="zh-CN" sz="1800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1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估计总体参数落在某一区间</a:t>
            </a:r>
            <a:r>
              <a:rPr lang="en-US" altLang="zh-CN" sz="1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, </a:t>
            </a:r>
            <a:r>
              <a:rPr lang="zh-CN" altLang="en-US" sz="1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其误差分布服从正态分布</a:t>
            </a:r>
            <a:endParaRPr lang="zh-CN" altLang="en-US" sz="1800" b="1" dirty="0">
              <a:solidFill>
                <a:srgbClr val="0070C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0BB9F4D-EF9C-43AD-BFF6-9823E29528B7}"/>
              </a:ext>
            </a:extLst>
          </p:cNvPr>
          <p:cNvSpPr/>
          <p:nvPr/>
        </p:nvSpPr>
        <p:spPr>
          <a:xfrm>
            <a:off x="97477" y="2551041"/>
            <a:ext cx="8697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置信度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1-</a:t>
            </a:r>
            <a:r>
              <a:rPr lang="el-GR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α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1-</a:t>
            </a:r>
            <a:r>
              <a:rPr lang="en-US" altLang="zh-CN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α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表明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区间估计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可靠性</a:t>
            </a:r>
            <a:r>
              <a:rPr lang="zh-CN" altLang="en-US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即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可靠概率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+mn-ea"/>
              </a:rPr>
              <a:t>也称为置信水平</a:t>
            </a:r>
            <a:endParaRPr lang="en-US" altLang="zh-CN" b="1" dirty="0">
              <a:solidFill>
                <a:srgbClr val="0070C0"/>
              </a:solidFill>
              <a:latin typeface="等线 Light" panose="02010600030101010101" pitchFamily="2" charset="-122"/>
              <a:ea typeface="等线 Light" panose="02010600030101010101" pitchFamily="2" charset="-122"/>
              <a:sym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0277C36-BC02-4D03-920A-A9C602B9DA43}"/>
              </a:ext>
            </a:extLst>
          </p:cNvPr>
          <p:cNvSpPr txBox="1"/>
          <p:nvPr/>
        </p:nvSpPr>
        <p:spPr>
          <a:xfrm>
            <a:off x="62396" y="3405792"/>
            <a:ext cx="1462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 间 估 计：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1">
            <a:extLst>
              <a:ext uri="{FF2B5EF4-FFF2-40B4-BE49-F238E27FC236}">
                <a16:creationId xmlns:a16="http://schemas.microsoft.com/office/drawing/2014/main" id="{60DDB6AD-443D-40A4-B188-F2962B9EA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542" y="1064122"/>
            <a:ext cx="2233304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600" b="1" i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Malgun Gothic" panose="020B0503020000020004" pitchFamily="34" charset="-127"/>
              </a:rPr>
              <a:t>x</a:t>
            </a:r>
            <a:r>
              <a:rPr lang="ko-KR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Malgun Gothic" panose="020B0503020000020004" pitchFamily="34" charset="-127"/>
              </a:rPr>
              <a:t>～N(</a:t>
            </a:r>
            <a:r>
              <a:rPr lang="pl-PL" altLang="zh-CN" sz="1600" b="1" kern="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隶书" panose="02010509060101010101" pitchFamily="49" charset="-122"/>
                <a:sym typeface="Arial" panose="020B0604020202020204" pitchFamily="34" charset="0"/>
              </a:rPr>
              <a:t>9.5626</a:t>
            </a:r>
            <a:r>
              <a:rPr lang="en-US" altLang="zh-CN" sz="1600" b="1" kern="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隶书" panose="02010509060101010101" pitchFamily="49" charset="-122"/>
                <a:sym typeface="Arial" panose="020B0604020202020204" pitchFamily="34" charset="0"/>
              </a:rPr>
              <a:t>,</a:t>
            </a:r>
            <a:r>
              <a:rPr lang="pl-PL" altLang="zh-CN" sz="1600" b="1" kern="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隶书" panose="02010509060101010101" pitchFamily="49" charset="-122"/>
                <a:sym typeface="Arial" panose="020B0604020202020204" pitchFamily="34" charset="0"/>
              </a:rPr>
              <a:t>0.5017 </a:t>
            </a:r>
            <a:r>
              <a:rPr lang="ko-KR" altLang="en-US" sz="1600" b="1" baseline="300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Malgun Gothic" panose="020B0503020000020004" pitchFamily="34" charset="-127"/>
              </a:rPr>
              <a:t>2</a:t>
            </a:r>
            <a:r>
              <a:rPr lang="ko-KR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Malgun Gothic" panose="020B0503020000020004" pitchFamily="34" charset="-127"/>
              </a:rPr>
              <a:t>)</a:t>
            </a:r>
            <a:endParaRPr lang="zh-CN" altLang="en-US" sz="16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3" grpId="0"/>
      <p:bldP spid="55" grpId="0"/>
      <p:bldP spid="59" grpId="0"/>
      <p:bldP spid="61" grpId="0"/>
      <p:bldP spid="57" grpId="0"/>
      <p:bldP spid="5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6E79765-3AC5-4340-825A-5738660769FB}"/>
              </a:ext>
            </a:extLst>
          </p:cNvPr>
          <p:cNvSpPr txBox="1">
            <a:spLocks/>
          </p:cNvSpPr>
          <p:nvPr/>
        </p:nvSpPr>
        <p:spPr bwMode="auto">
          <a:xfrm>
            <a:off x="899592" y="45312"/>
            <a:ext cx="7704856" cy="5634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200" dirty="0">
                <a:cs typeface="+mn-cs"/>
              </a:rPr>
              <a:t>§4.</a:t>
            </a:r>
            <a:r>
              <a:rPr lang="en-US" altLang="zh-CN" sz="2800" b="1" dirty="0">
                <a:cs typeface="+mn-cs"/>
              </a:rPr>
              <a:t>3</a:t>
            </a:r>
            <a:r>
              <a:rPr lang="en-US" altLang="zh-CN" sz="2800" b="1" kern="1200" dirty="0">
                <a:cs typeface="+mn-cs"/>
              </a:rPr>
              <a:t> </a:t>
            </a:r>
            <a:r>
              <a:rPr lang="zh-CN" altLang="en-US" sz="2800" b="1" kern="1200" dirty="0">
                <a:cs typeface="+mn-cs"/>
              </a:rPr>
              <a:t>参数估计</a:t>
            </a:r>
            <a:r>
              <a:rPr lang="en-US" altLang="zh-CN" sz="26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</a:rPr>
              <a:t>总体正态分布参数估算</a:t>
            </a:r>
            <a:r>
              <a:rPr lang="en-US" altLang="zh-CN" sz="2600" b="1" kern="0" dirty="0" err="1">
                <a:solidFill>
                  <a:srgbClr val="FF0000"/>
                </a:solidFill>
              </a:rPr>
              <a:t>normfit</a:t>
            </a:r>
            <a:endParaRPr lang="zh-CN" altLang="en-US" sz="2600" b="1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7" name="文本框 67588">
            <a:extLst>
              <a:ext uri="{FF2B5EF4-FFF2-40B4-BE49-F238E27FC236}">
                <a16:creationId xmlns:a16="http://schemas.microsoft.com/office/drawing/2014/main" id="{57DE83F0-6162-48EB-87AD-E46448708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27" y="2077051"/>
            <a:ext cx="9031791" cy="369332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ts val="500"/>
              </a:spcBef>
              <a:buFont typeface="Arial" panose="020B0604020202020204" pitchFamily="34" charset="0"/>
              <a:buNone/>
              <a:defRPr/>
            </a:pP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mu,sigma,muci,sigmaci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b="1" kern="0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TyStatistics</a:t>
            </a:r>
            <a:r>
              <a:rPr lang="en-US" altLang="zh-CN" b="1" kern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normfit(</a:t>
            </a: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x</a:t>
            </a: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alpha) </a:t>
            </a:r>
            <a:endParaRPr lang="ko-KR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867B8B-25B7-42F7-BCC8-C56B8AFE9445}"/>
              </a:ext>
            </a:extLst>
          </p:cNvPr>
          <p:cNvSpPr/>
          <p:nvPr/>
        </p:nvSpPr>
        <p:spPr>
          <a:xfrm>
            <a:off x="25600" y="2675275"/>
            <a:ext cx="9076718" cy="19302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  <a:buSzPct val="100000"/>
              <a:buFont typeface="Wingdings" panose="05000000000000000000" pitchFamily="2" charset="2"/>
              <a:buChar char="p"/>
              <a:defRPr/>
            </a:pP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cs typeface="Calibri" panose="020F0502020204030204" pitchFamily="34" charset="0"/>
                <a:sym typeface="+mn-ea"/>
              </a:rPr>
              <a:t>  mu,sigma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  <a:sym typeface="+mn-ea"/>
              </a:rPr>
              <a:t>分别正态分布的均值</a:t>
            </a: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μ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  <a:sym typeface="+mn-ea"/>
              </a:rPr>
              <a:t>和标准差</a:t>
            </a: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σ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  <a:sym typeface="+mn-ea"/>
              </a:rPr>
              <a:t>估计值，是点估计值</a:t>
            </a:r>
            <a:endParaRPr lang="en-US" altLang="ko-KR" sz="2000" b="1" noProof="1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alibri" panose="020F0502020204030204" pitchFamily="34" charset="0"/>
              <a:sym typeface="+mn-ea"/>
            </a:endParaRPr>
          </a:p>
          <a:p>
            <a:pPr marL="342900" indent="-342900">
              <a:lnSpc>
                <a:spcPts val="2900"/>
              </a:lnSpc>
              <a:buSzPct val="100000"/>
              <a:buFont typeface="Wingdings" panose="05000000000000000000" pitchFamily="2" charset="2"/>
              <a:buChar char="p"/>
              <a:defRPr/>
            </a:pP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cs typeface="Calibri" panose="020F0502020204030204" pitchFamily="34" charset="0"/>
                <a:sym typeface="+mn-ea"/>
              </a:rPr>
              <a:t>muci,sigmaci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  <a:sym typeface="+mn-ea"/>
              </a:rPr>
              <a:t>分别是正态分布参数均值</a:t>
            </a: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μ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和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  <a:sym typeface="+mn-ea"/>
              </a:rPr>
              <a:t>均值</a:t>
            </a: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sym typeface="+mn-ea"/>
              </a:rPr>
              <a:t>σ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  <a:sym typeface="+mn-ea"/>
              </a:rPr>
              <a:t>置信区间，即区间估计值</a:t>
            </a:r>
            <a:endParaRPr lang="en-US" altLang="zh-CN" sz="2000" b="1" noProof="1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alibri" panose="020F0502020204030204" pitchFamily="34" charset="0"/>
              <a:sym typeface="+mn-ea"/>
            </a:endParaRPr>
          </a:p>
          <a:p>
            <a:pPr marL="342900" indent="-342900">
              <a:lnSpc>
                <a:spcPts val="2900"/>
              </a:lnSpc>
              <a:buSzPct val="100000"/>
              <a:buFont typeface="Wingdings" panose="05000000000000000000" pitchFamily="2" charset="2"/>
              <a:buChar char="p"/>
              <a:defRPr/>
            </a:pPr>
            <a:r>
              <a:rPr lang="en-US" altLang="ko-KR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是随机变量的采样数据</a:t>
            </a:r>
            <a:endParaRPr lang="en-US" altLang="ko-KR" sz="2000" b="1" noProof="1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342900" indent="-342900">
              <a:lnSpc>
                <a:spcPts val="2900"/>
              </a:lnSpc>
              <a:buSzPct val="100000"/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α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显著性水平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在[0,1]之间，</a:t>
            </a:r>
            <a:r>
              <a:rPr lang="zh-CN" altLang="ko-KR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决定</a:t>
            </a: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置信区间宽度 </a:t>
            </a:r>
            <a:endParaRPr lang="en-US" altLang="ko-KR" sz="2000" b="1" noProof="1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342900" indent="-342900">
              <a:lnSpc>
                <a:spcPts val="2900"/>
              </a:lnSpc>
              <a:buSzPct val="100000"/>
              <a:buFont typeface="Wingdings" panose="05000000000000000000" pitchFamily="2" charset="2"/>
              <a:buChar char="p"/>
              <a:defRPr/>
            </a:pP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缺省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α </a:t>
            </a:r>
            <a:r>
              <a:rPr lang="ko-KR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为0.05，对应置信度95%</a:t>
            </a:r>
            <a:r>
              <a:rPr lang="en-US" altLang="ko-KR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,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即</a:t>
            </a:r>
            <a:r>
              <a:rPr lang="en-US" altLang="ko-KR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95</a:t>
            </a:r>
            <a:r>
              <a:rPr lang="en-US" altLang="zh-CN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%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总体数据都在</a:t>
            </a:r>
            <a:r>
              <a:rPr lang="zh-CN" altLang="en-US" sz="2000" b="1" noProof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区间估计</a:t>
            </a:r>
            <a:endParaRPr lang="ko-KR" altLang="en-US" sz="2000" b="1" noProof="1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A14C97F5-951A-4C88-9850-933D40E4C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7" y="726124"/>
            <a:ext cx="900294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buNone/>
            </a:pPr>
            <a:r>
              <a:rPr lang="en-US" altLang="zh-CN" sz="2000" b="1" kern="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normfit</a:t>
            </a:r>
            <a:r>
              <a:rPr lang="zh-CN" altLang="en-US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TyStatistics</a:t>
            </a: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kern="0" dirty="0">
                <a:solidFill>
                  <a:srgbClr val="0070C0"/>
                </a:solidFill>
                <a:latin typeface="微软雅黑" panose="020B0503020204020204" pitchFamily="34" charset="-122"/>
              </a:rPr>
              <a:t>函数库</a:t>
            </a:r>
            <a:r>
              <a:rPr lang="ko-KR" altLang="en-US" sz="1800" kern="0" dirty="0">
                <a:solidFill>
                  <a:srgbClr val="0070C0"/>
                </a:solidFill>
                <a:latin typeface="微软雅黑" panose="020B0503020204020204" pitchFamily="34" charset="-122"/>
              </a:rPr>
              <a:t>根据样本对总体均值及标准差</a:t>
            </a:r>
            <a:r>
              <a:rPr lang="zh-CN" altLang="en-US" sz="1800" kern="0" dirty="0">
                <a:solidFill>
                  <a:srgbClr val="0070C0"/>
                </a:solidFill>
                <a:latin typeface="微软雅黑" panose="020B0503020204020204" pitchFamily="34" charset="-122"/>
              </a:rPr>
              <a:t>进行</a:t>
            </a:r>
            <a:r>
              <a:rPr lang="ko-KR" altLang="en-US" sz="1800" kern="0" dirty="0">
                <a:solidFill>
                  <a:srgbClr val="0070C0"/>
                </a:solidFill>
                <a:latin typeface="微软雅黑" panose="020B0503020204020204" pitchFamily="34" charset="-122"/>
              </a:rPr>
              <a:t>点估计和区间估计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0EB4AF-26B4-47F4-9027-2726CDD40C05}"/>
              </a:ext>
            </a:extLst>
          </p:cNvPr>
          <p:cNvSpPr txBox="1"/>
          <p:nvPr/>
        </p:nvSpPr>
        <p:spPr>
          <a:xfrm>
            <a:off x="-36512" y="2529081"/>
            <a:ext cx="94996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00" kern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WARNING: both </a:t>
            </a:r>
            <a:r>
              <a:rPr lang="en-US" altLang="zh-CN" sz="1300" kern="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TyMachineLearning</a:t>
            </a:r>
            <a:r>
              <a:rPr lang="en-US" altLang="zh-CN" sz="1300" kern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</a:t>
            </a:r>
            <a:r>
              <a:rPr lang="en-US" altLang="zh-CN" sz="1300" kern="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TyStatistics</a:t>
            </a:r>
            <a:r>
              <a:rPr lang="en-US" altLang="zh-CN" sz="1300" kern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export "</a:t>
            </a:r>
            <a:r>
              <a:rPr lang="en-US" altLang="zh-CN" sz="1300" kern="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normfit</a:t>
            </a:r>
            <a:r>
              <a:rPr lang="en-US" altLang="zh-CN" sz="1300" kern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"; uses of it in module Main must be qualified</a:t>
            </a:r>
            <a:endParaRPr lang="zh-CN" altLang="zh-CN" sz="1300" kern="10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67588">
            <a:extLst>
              <a:ext uri="{FF2B5EF4-FFF2-40B4-BE49-F238E27FC236}">
                <a16:creationId xmlns:a16="http://schemas.microsoft.com/office/drawing/2014/main" id="{48D677EF-6E1E-40F7-937B-45BCEE6D3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26" y="1133239"/>
            <a:ext cx="9073473" cy="369332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ts val="500"/>
              </a:spcBef>
              <a:buFont typeface="Arial" panose="020B0604020202020204" pitchFamily="34" charset="0"/>
              <a:buNone/>
              <a:defRPr/>
            </a:pP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mu,sigma,muci,sigmaci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normfit(</a:t>
            </a: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x</a:t>
            </a: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</a:rPr>
              <a:t>alpha) </a:t>
            </a:r>
            <a:endParaRPr lang="ko-KR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52697E8-ABCA-462D-8F7C-4D22EF403925}"/>
              </a:ext>
            </a:extLst>
          </p:cNvPr>
          <p:cNvSpPr txBox="1"/>
          <p:nvPr/>
        </p:nvSpPr>
        <p:spPr>
          <a:xfrm>
            <a:off x="25601" y="1663602"/>
            <a:ext cx="896471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spcBef>
                <a:spcPct val="20000"/>
              </a:spcBef>
              <a:buFont typeface="Arial" panose="020B0604020202020204" pitchFamily="34" charset="0"/>
              <a:buNone/>
              <a:defRPr sz="18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当加载两个函数库</a:t>
            </a:r>
            <a:r>
              <a:rPr lang="en-US" altLang="zh-CN" dirty="0" err="1"/>
              <a:t>TyStatistics</a:t>
            </a:r>
            <a:r>
              <a:rPr lang="zh-CN" altLang="en-US" dirty="0"/>
              <a:t>和</a:t>
            </a:r>
            <a:r>
              <a:rPr lang="en-US" altLang="zh-CN" dirty="0" err="1"/>
              <a:t>TyMachineLearning</a:t>
            </a:r>
            <a:r>
              <a:rPr lang="zh-CN" altLang="en-US" dirty="0"/>
              <a:t>时，函数命令前标注函数库名</a:t>
            </a:r>
          </a:p>
        </p:txBody>
      </p:sp>
    </p:spTree>
    <p:extLst>
      <p:ext uri="{BB962C8B-B14F-4D97-AF65-F5344CB8AC3E}">
        <p14:creationId xmlns:p14="http://schemas.microsoft.com/office/powerpoint/2010/main" val="95122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0145" y="1085432"/>
            <a:ext cx="8756060" cy="40626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pl-PL" altLang="zh-CN" dirty="0">
                <a:solidFill>
                  <a:srgbClr val="002060"/>
                </a:solidFill>
              </a:rPr>
              <a:t>mu,sigma,muci,sigmaci</a:t>
            </a:r>
            <a:r>
              <a:rPr lang="en-US" altLang="zh-CN" dirty="0">
                <a:solidFill>
                  <a:srgbClr val="002060"/>
                </a:solidFill>
              </a:rPr>
              <a:t>=</a:t>
            </a:r>
            <a:r>
              <a:rPr lang="pl-PL" altLang="zh-CN" dirty="0">
                <a:solidFill>
                  <a:srgbClr val="002060"/>
                </a:solidFill>
              </a:rPr>
              <a:t> normfit(x)</a:t>
            </a:r>
            <a:endParaRPr lang="en-US" altLang="zh-CN" dirty="0">
              <a:solidFill>
                <a:srgbClr val="002060"/>
              </a:solidFill>
            </a:endParaRPr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70C0"/>
                </a:solidFill>
              </a:rPr>
              <a:t>结果：</a:t>
            </a:r>
            <a:r>
              <a:rPr lang="en-US" altLang="zh-CN" dirty="0">
                <a:solidFill>
                  <a:srgbClr val="0070C0"/>
                </a:solidFill>
              </a:rPr>
              <a:t>9.562619047619048, 0.5017241469456489, [9.353499758890768; 9.771738336347328;;], [0.3894342703085803; 0.6941276172156607;;])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0070C0"/>
                </a:solidFill>
              </a:rPr>
              <a:t>#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点估计</a:t>
            </a:r>
            <a:r>
              <a:rPr lang="zh-CN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均值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结果  </a:t>
            </a:r>
            <a:r>
              <a:rPr lang="pl-PL" altLang="zh-CN" dirty="0">
                <a:solidFill>
                  <a:srgbClr val="0070C0"/>
                </a:solidFill>
              </a:rPr>
              <a:t>mu =   9.562619047619048</a:t>
            </a:r>
            <a:r>
              <a:rPr lang="en-US" altLang="zh-CN" dirty="0">
                <a:solidFill>
                  <a:srgbClr val="0070C0"/>
                </a:solidFill>
              </a:rPr>
              <a:t>  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0070C0"/>
                </a:solidFill>
              </a:rPr>
              <a:t>#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点估计</a:t>
            </a:r>
            <a:r>
              <a:rPr lang="zh-CN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标准方差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结果 </a:t>
            </a:r>
            <a:r>
              <a:rPr lang="pl-PL" altLang="zh-CN" dirty="0">
                <a:solidFill>
                  <a:srgbClr val="0070C0"/>
                </a:solidFill>
              </a:rPr>
              <a:t>sigma =   0.501724146945649</a:t>
            </a:r>
            <a:endParaRPr lang="ko-KR" altLang="en-US" b="1" noProof="1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0070C0"/>
                </a:solidFill>
              </a:rPr>
              <a:t># 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区间估计</a:t>
            </a:r>
            <a:r>
              <a:rPr lang="zh-CN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均值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结果 </a:t>
            </a:r>
            <a:r>
              <a:rPr lang="pl-PL" altLang="zh-CN" dirty="0">
                <a:solidFill>
                  <a:srgbClr val="0070C0"/>
                </a:solidFill>
              </a:rPr>
              <a:t>muci =   9.406270797045558</a:t>
            </a:r>
            <a:r>
              <a:rPr lang="en-US" altLang="zh-CN" dirty="0">
                <a:solidFill>
                  <a:srgbClr val="0070C0"/>
                </a:solidFill>
              </a:rPr>
              <a:t>          </a:t>
            </a:r>
            <a:r>
              <a:rPr lang="pl-PL" altLang="zh-CN" dirty="0">
                <a:solidFill>
                  <a:srgbClr val="0070C0"/>
                </a:solidFill>
              </a:rPr>
              <a:t> 9.718967298192538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0070C0"/>
                </a:solidFill>
              </a:rPr>
              <a:t># 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区间估计</a:t>
            </a:r>
            <a:r>
              <a:rPr lang="zh-CN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标准方差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结果 </a:t>
            </a:r>
            <a:r>
              <a:rPr lang="pl-PL" altLang="zh-CN" dirty="0">
                <a:solidFill>
                  <a:srgbClr val="0070C0"/>
                </a:solidFill>
              </a:rPr>
              <a:t>sigmaci =   0.412821158533151</a:t>
            </a:r>
            <a:r>
              <a:rPr lang="en-US" altLang="zh-CN" dirty="0">
                <a:solidFill>
                  <a:srgbClr val="0070C0"/>
                </a:solidFill>
              </a:rPr>
              <a:t>    </a:t>
            </a:r>
            <a:r>
              <a:rPr lang="pl-PL" altLang="zh-CN" dirty="0">
                <a:solidFill>
                  <a:srgbClr val="0070C0"/>
                </a:solidFill>
              </a:rPr>
              <a:t>   0.639781371786192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lnSpc>
                <a:spcPts val="2600"/>
              </a:lnSpc>
            </a:pPr>
            <a:endParaRPr lang="en-US" altLang="zh-CN" dirty="0">
              <a:solidFill>
                <a:srgbClr val="002060"/>
              </a:solidFill>
            </a:endParaRPr>
          </a:p>
          <a:p>
            <a:pPr>
              <a:lnSpc>
                <a:spcPts val="2600"/>
              </a:lnSpc>
            </a:pPr>
            <a:endParaRPr lang="en-US" altLang="zh-CN" dirty="0">
              <a:solidFill>
                <a:srgbClr val="002060"/>
              </a:solidFill>
            </a:endParaRPr>
          </a:p>
          <a:p>
            <a:pPr>
              <a:lnSpc>
                <a:spcPts val="2600"/>
              </a:lnSpc>
            </a:pPr>
            <a:endParaRPr lang="en-US" altLang="zh-CN" dirty="0">
              <a:solidFill>
                <a:srgbClr val="002060"/>
              </a:solidFill>
            </a:endParaRP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002060"/>
                </a:solidFill>
              </a:rPr>
              <a:t>Julia&gt; xx=</a:t>
            </a:r>
            <a:r>
              <a:rPr lang="en-US" altLang="zh-CN" dirty="0" err="1">
                <a:solidFill>
                  <a:srgbClr val="002060"/>
                </a:solidFill>
              </a:rPr>
              <a:t>normcdf</a:t>
            </a:r>
            <a:r>
              <a:rPr lang="en-US" altLang="zh-CN" dirty="0">
                <a:solidFill>
                  <a:srgbClr val="002060"/>
                </a:solidFill>
              </a:rPr>
              <a:t>(8.8,mu,sigma)    </a:t>
            </a:r>
            <a:r>
              <a:rPr lang="en-US" altLang="zh-CN" dirty="0">
                <a:solidFill>
                  <a:schemeClr val="bg1"/>
                </a:solidFill>
                <a:highlight>
                  <a:srgbClr val="21A4FF"/>
                </a:highlight>
              </a:rPr>
              <a:t>#</a:t>
            </a:r>
            <a:r>
              <a:rPr lang="zh-CN" altLang="en-US" dirty="0">
                <a:solidFill>
                  <a:schemeClr val="bg1"/>
                </a:solidFill>
                <a:highlight>
                  <a:srgbClr val="21A4FF"/>
                </a:highlight>
              </a:rPr>
              <a:t>计算股票价格不超过</a:t>
            </a:r>
            <a:r>
              <a:rPr lang="en-US" altLang="zh-CN" dirty="0">
                <a:solidFill>
                  <a:schemeClr val="bg1"/>
                </a:solidFill>
                <a:highlight>
                  <a:srgbClr val="21A4FF"/>
                </a:highlight>
              </a:rPr>
              <a:t>8.8</a:t>
            </a:r>
            <a:r>
              <a:rPr lang="zh-CN" altLang="en-US" dirty="0">
                <a:solidFill>
                  <a:schemeClr val="bg1"/>
                </a:solidFill>
                <a:highlight>
                  <a:srgbClr val="21A4FF"/>
                </a:highlight>
              </a:rPr>
              <a:t>元的累积概率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002060"/>
                </a:solidFill>
              </a:rPr>
              <a:t>0.06425590252546357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0040" y="751951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eaLnBrk="0" hangingPunct="0">
              <a:buSzPct val="100000"/>
              <a:defRPr/>
            </a:pPr>
            <a:r>
              <a:rPr lang="zh-CN" altLang="en-US" b="1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正态分布股票总体参数进行点估计和区间估计，求股票均值和标准差</a:t>
            </a:r>
            <a:endParaRPr lang="ko-KR" altLang="en-US" b="1" noProof="1">
              <a:solidFill>
                <a:srgbClr val="0070C0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3"/>
          <p:cNvSpPr txBox="1"/>
          <p:nvPr/>
        </p:nvSpPr>
        <p:spPr>
          <a:xfrm>
            <a:off x="7253129" y="1173584"/>
            <a:ext cx="181492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pPr eaLnBrk="0" hangingPunct="0">
              <a:buFontTx/>
              <a:buNone/>
              <a:defRPr/>
            </a:pP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缺省时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</a:rPr>
              <a:t>α</a:t>
            </a:r>
            <a:r>
              <a:rPr lang="ko-KR" altLang="en-US" b="1" noProof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为0.05</a:t>
            </a:r>
            <a:endParaRPr lang="zh-CN" altLang="en-US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" name="矩形 6">
            <a:extLst>
              <a:ext uri="{FF2B5EF4-FFF2-40B4-BE49-F238E27FC236}">
                <a16:creationId xmlns:a16="http://schemas.microsoft.com/office/drawing/2014/main" id="{DCAD0AF9-6659-4D69-83B2-43A0FC391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85" y="4222272"/>
            <a:ext cx="5472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highlight>
                  <a:srgbClr val="000080"/>
                </a:highlight>
              </a:rPr>
              <a:t>95%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80"/>
                </a:highlight>
              </a:rPr>
              <a:t>股票价格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000080"/>
                </a:highlight>
              </a:rPr>
              <a:t>【</a:t>
            </a:r>
            <a:r>
              <a:rPr lang="pl-PL" altLang="zh-CN" sz="1600" dirty="0">
                <a:solidFill>
                  <a:schemeClr val="bg1"/>
                </a:solidFill>
                <a:highlight>
                  <a:srgbClr val="000080"/>
                </a:highlight>
              </a:rPr>
              <a:t>9.406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80"/>
                </a:highlight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000080"/>
                </a:highlight>
              </a:rPr>
              <a:t>9.719】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80"/>
                </a:highlight>
              </a:rPr>
              <a:t>置信区间，</a:t>
            </a:r>
            <a:r>
              <a:rPr lang="ko-KR" altLang="en-US" sz="1600" dirty="0">
                <a:solidFill>
                  <a:schemeClr val="bg1"/>
                </a:solidFill>
                <a:highlight>
                  <a:srgbClr val="000080"/>
                </a:highlight>
              </a:rPr>
              <a:t>可信度达到95%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9E4F4106-4D5A-4C5D-A88B-FCEFDC93744B}"/>
              </a:ext>
            </a:extLst>
          </p:cNvPr>
          <p:cNvSpPr txBox="1">
            <a:spLocks/>
          </p:cNvSpPr>
          <p:nvPr/>
        </p:nvSpPr>
        <p:spPr bwMode="auto">
          <a:xfrm>
            <a:off x="780275" y="96545"/>
            <a:ext cx="7920880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</a:t>
            </a:r>
            <a:r>
              <a:rPr lang="en-US" altLang="zh-CN" sz="2800" dirty="0">
                <a:cs typeface="+mn-cs"/>
              </a:rPr>
              <a:t>3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参数估计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总体正态分布参数估算</a:t>
            </a:r>
            <a:r>
              <a:rPr lang="en-US" altLang="zh-CN" sz="2600" kern="0" dirty="0" err="1">
                <a:solidFill>
                  <a:srgbClr val="FF0000"/>
                </a:solidFill>
              </a:rPr>
              <a:t>normfit</a:t>
            </a:r>
            <a:r>
              <a:rPr lang="zh-CN" altLang="en-US" sz="2600" kern="0" dirty="0">
                <a:solidFill>
                  <a:srgbClr val="FF0000"/>
                </a:solidFill>
              </a:rPr>
              <a:t>案例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C3824EB0-6B9B-4B7B-9ADA-1A070BCA1C81}"/>
              </a:ext>
            </a:extLst>
          </p:cNvPr>
          <p:cNvSpPr/>
          <p:nvPr/>
        </p:nvSpPr>
        <p:spPr>
          <a:xfrm>
            <a:off x="236038" y="751951"/>
            <a:ext cx="879578" cy="415069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例42-1-6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988FA-DBF3-4EC1-B3FD-5107C78CF5BC}"/>
              </a:ext>
            </a:extLst>
          </p:cNvPr>
          <p:cNvSpPr txBox="1"/>
          <p:nvPr/>
        </p:nvSpPr>
        <p:spPr>
          <a:xfrm>
            <a:off x="275985" y="3335124"/>
            <a:ext cx="83056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println("m=$m,s=$s,mi=$mi,si=$si")</a:t>
            </a:r>
          </a:p>
          <a:p>
            <a:r>
              <a:rPr lang="zh-CN" altLang="en-US" dirty="0"/>
              <a:t>m=9.562619047619048,s=0.5017241469456489,mi=[9.406270797045558; 9.718967298192538;;],si=[0.4128211585331511; 0.6397813717861921;;]</a:t>
            </a:r>
          </a:p>
        </p:txBody>
      </p:sp>
    </p:spTree>
    <p:extLst>
      <p:ext uri="{BB962C8B-B14F-4D97-AF65-F5344CB8AC3E}">
        <p14:creationId xmlns:p14="http://schemas.microsoft.com/office/powerpoint/2010/main" val="62720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98" y="1293920"/>
            <a:ext cx="8136904" cy="319316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1746"/>
          <p:cNvSpPr txBox="1">
            <a:spLocks noChangeArrowheads="1"/>
          </p:cNvSpPr>
          <p:nvPr/>
        </p:nvSpPr>
        <p:spPr bwMode="auto">
          <a:xfrm>
            <a:off x="5724128" y="771662"/>
            <a:ext cx="3096344" cy="3385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Malgun Gothic" panose="020B0503020000020004" pitchFamily="34" charset="-127"/>
              </a:rPr>
              <a:t>概率分布</a:t>
            </a:r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Malgun Gothic" panose="020B0503020000020004" pitchFamily="34" charset="-127"/>
              </a:rPr>
              <a:t>函数名</a:t>
            </a:r>
            <a:r>
              <a:rPr lang="ko-KR" altLang="en-US" sz="1600" b="1" dirty="0">
                <a:solidFill>
                  <a:schemeClr val="bg1"/>
                </a:solidFill>
                <a:ea typeface="Malgun Gothic" panose="020B0503020000020004" pitchFamily="34" charset="-127"/>
              </a:rPr>
              <a:t>+</a:t>
            </a:r>
            <a:r>
              <a:rPr lang="en-US" altLang="zh-CN" sz="1600" b="1" dirty="0">
                <a:solidFill>
                  <a:schemeClr val="bg1"/>
                </a:solidFill>
                <a:ea typeface="Malgun Gothic" panose="020B0503020000020004" pitchFamily="34" charset="-127"/>
              </a:rPr>
              <a:t>fit</a:t>
            </a:r>
            <a:endParaRPr lang="ko-KR" altLang="en-US" sz="1600" b="1" dirty="0">
              <a:solidFill>
                <a:schemeClr val="bg1"/>
              </a:solidFill>
              <a:latin typeface="宋体" panose="02010600030101010101" pitchFamily="2" charset="-122"/>
              <a:ea typeface="Malgun Gothic" panose="020B0503020000020004" pitchFamily="34" charset="-127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B750515-8938-4BC7-8A47-5960ED4CDCDE}"/>
              </a:ext>
            </a:extLst>
          </p:cNvPr>
          <p:cNvSpPr txBox="1">
            <a:spLocks/>
          </p:cNvSpPr>
          <p:nvPr/>
        </p:nvSpPr>
        <p:spPr bwMode="auto">
          <a:xfrm>
            <a:off x="907722" y="93015"/>
            <a:ext cx="7920880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</a:t>
            </a:r>
            <a:r>
              <a:rPr lang="en-US" altLang="zh-CN" sz="2800" dirty="0">
                <a:cs typeface="+mn-cs"/>
              </a:rPr>
              <a:t>3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参数估计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常见概率分布的参数估计的函数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A85EF54-E24C-49C4-AF36-1785FFCE2251}"/>
              </a:ext>
            </a:extLst>
          </p:cNvPr>
          <p:cNvSpPr/>
          <p:nvPr/>
        </p:nvSpPr>
        <p:spPr bwMode="auto">
          <a:xfrm>
            <a:off x="683568" y="2365086"/>
            <a:ext cx="720080" cy="477875"/>
          </a:xfrm>
          <a:prstGeom prst="roundRect">
            <a:avLst>
              <a:gd name="adj" fmla="val 26757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8E9FB91-A244-4D13-9F82-2E9CF699167D}"/>
              </a:ext>
            </a:extLst>
          </p:cNvPr>
          <p:cNvSpPr/>
          <p:nvPr/>
        </p:nvSpPr>
        <p:spPr bwMode="auto">
          <a:xfrm>
            <a:off x="683568" y="1441824"/>
            <a:ext cx="720080" cy="477875"/>
          </a:xfrm>
          <a:prstGeom prst="roundRect">
            <a:avLst>
              <a:gd name="adj" fmla="val 19398"/>
            </a:avLst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377D0D-5D82-4F70-9522-9823C682102E}"/>
              </a:ext>
            </a:extLst>
          </p:cNvPr>
          <p:cNvSpPr txBox="1"/>
          <p:nvPr/>
        </p:nvSpPr>
        <p:spPr>
          <a:xfrm>
            <a:off x="539552" y="746742"/>
            <a:ext cx="5256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各种概率分布的参数估计函数名称形式：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3B39D-737C-433F-9DA4-80D96290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5230"/>
            <a:ext cx="4320724" cy="646331"/>
          </a:xfrm>
          <a:solidFill>
            <a:schemeClr val="bg1"/>
          </a:solidFill>
        </p:spPr>
        <p:txBody>
          <a:bodyPr/>
          <a:lstStyle/>
          <a:p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参数估计：</a:t>
            </a:r>
            <a:r>
              <a:rPr lang="zh-CN" altLang="en-US" sz="1800" dirty="0">
                <a:latin typeface="Cambria Math" panose="02040503050406030204" pitchFamily="18" charset="0"/>
              </a:rPr>
              <a:t>根据样本数据对总体参数估计</a:t>
            </a:r>
            <a:br>
              <a:rPr lang="ko-KR" altLang="en-US" sz="1800" dirty="0">
                <a:solidFill>
                  <a:srgbClr val="00B0F0"/>
                </a:solidFill>
                <a:latin typeface="微软雅黑" panose="020B0503020204020204" pitchFamily="34" charset="-122"/>
              </a:rPr>
            </a:br>
            <a:endParaRPr lang="zh-CN" altLang="en-US" sz="1800" b="1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BA461F-CABE-47FD-AC07-A5B1350ACB57}"/>
              </a:ext>
            </a:extLst>
          </p:cNvPr>
          <p:cNvGrpSpPr/>
          <p:nvPr/>
        </p:nvGrpSpPr>
        <p:grpSpPr bwMode="auto">
          <a:xfrm>
            <a:off x="162303" y="2355726"/>
            <a:ext cx="3674729" cy="1190228"/>
            <a:chOff x="1187" y="1449"/>
            <a:chExt cx="3229" cy="1300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60E6D-D436-4A34-AC93-40C8F44D9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" y="1449"/>
              <a:ext cx="1187" cy="34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抽样分布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6C5B15D-7C60-4448-AA46-FD91D8DC1669}"/>
                </a:ext>
              </a:extLst>
            </p:cNvPr>
            <p:cNvGrpSpPr/>
            <p:nvPr/>
          </p:nvGrpSpPr>
          <p:grpSpPr bwMode="auto">
            <a:xfrm rot="-5400000" flipH="1" flipV="1">
              <a:off x="2648" y="1940"/>
              <a:ext cx="274" cy="1344"/>
              <a:chOff x="3421" y="2159"/>
              <a:chExt cx="274" cy="1527"/>
            </a:xfrm>
            <a:grpFill/>
          </p:grpSpPr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C914EE4-AFD7-4A89-87AE-0013693652E2}"/>
                  </a:ext>
                </a:extLst>
              </p:cNvPr>
              <p:cNvSpPr/>
              <p:nvPr/>
            </p:nvSpPr>
            <p:spPr bwMode="auto">
              <a:xfrm>
                <a:off x="3421" y="2159"/>
                <a:ext cx="274" cy="808"/>
              </a:xfrm>
              <a:custGeom>
                <a:avLst/>
                <a:gdLst>
                  <a:gd name="T0" fmla="*/ 0 w 257"/>
                  <a:gd name="T1" fmla="*/ 0 h 683"/>
                  <a:gd name="T2" fmla="*/ 46 w 257"/>
                  <a:gd name="T3" fmla="*/ 28 h 683"/>
                  <a:gd name="T4" fmla="*/ 77 w 257"/>
                  <a:gd name="T5" fmla="*/ 59 h 683"/>
                  <a:gd name="T6" fmla="*/ 114 w 257"/>
                  <a:gd name="T7" fmla="*/ 117 h 683"/>
                  <a:gd name="T8" fmla="*/ 136 w 257"/>
                  <a:gd name="T9" fmla="*/ 177 h 683"/>
                  <a:gd name="T10" fmla="*/ 149 w 257"/>
                  <a:gd name="T11" fmla="*/ 238 h 683"/>
                  <a:gd name="T12" fmla="*/ 155 w 257"/>
                  <a:gd name="T13" fmla="*/ 297 h 683"/>
                  <a:gd name="T14" fmla="*/ 159 w 257"/>
                  <a:gd name="T15" fmla="*/ 386 h 683"/>
                  <a:gd name="T16" fmla="*/ 161 w 257"/>
                  <a:gd name="T17" fmla="*/ 447 h 683"/>
                  <a:gd name="T18" fmla="*/ 163 w 257"/>
                  <a:gd name="T19" fmla="*/ 476 h 683"/>
                  <a:gd name="T20" fmla="*/ 166 w 257"/>
                  <a:gd name="T21" fmla="*/ 536 h 683"/>
                  <a:gd name="T22" fmla="*/ 171 w 257"/>
                  <a:gd name="T23" fmla="*/ 570 h 683"/>
                  <a:gd name="T24" fmla="*/ 177 w 257"/>
                  <a:gd name="T25" fmla="*/ 626 h 683"/>
                  <a:gd name="T26" fmla="*/ 195 w 257"/>
                  <a:gd name="T27" fmla="*/ 699 h 683"/>
                  <a:gd name="T28" fmla="*/ 217 w 257"/>
                  <a:gd name="T29" fmla="*/ 748 h 683"/>
                  <a:gd name="T30" fmla="*/ 239 w 257"/>
                  <a:gd name="T31" fmla="*/ 777 h 683"/>
                  <a:gd name="T32" fmla="*/ 273 w 257"/>
                  <a:gd name="T33" fmla="*/ 807 h 683"/>
                  <a:gd name="T34" fmla="*/ 223 w 257"/>
                  <a:gd name="T35" fmla="*/ 776 h 683"/>
                  <a:gd name="T36" fmla="*/ 186 w 257"/>
                  <a:gd name="T37" fmla="*/ 733 h 683"/>
                  <a:gd name="T38" fmla="*/ 149 w 257"/>
                  <a:gd name="T39" fmla="*/ 662 h 683"/>
                  <a:gd name="T40" fmla="*/ 139 w 257"/>
                  <a:gd name="T41" fmla="*/ 625 h 683"/>
                  <a:gd name="T42" fmla="*/ 126 w 257"/>
                  <a:gd name="T43" fmla="*/ 570 h 683"/>
                  <a:gd name="T44" fmla="*/ 123 w 257"/>
                  <a:gd name="T45" fmla="*/ 536 h 683"/>
                  <a:gd name="T46" fmla="*/ 115 w 257"/>
                  <a:gd name="T47" fmla="*/ 476 h 683"/>
                  <a:gd name="T48" fmla="*/ 114 w 257"/>
                  <a:gd name="T49" fmla="*/ 447 h 683"/>
                  <a:gd name="T50" fmla="*/ 111 w 257"/>
                  <a:gd name="T51" fmla="*/ 399 h 683"/>
                  <a:gd name="T52" fmla="*/ 111 w 257"/>
                  <a:gd name="T53" fmla="*/ 330 h 683"/>
                  <a:gd name="T54" fmla="*/ 114 w 257"/>
                  <a:gd name="T55" fmla="*/ 266 h 683"/>
                  <a:gd name="T56" fmla="*/ 107 w 257"/>
                  <a:gd name="T57" fmla="*/ 206 h 683"/>
                  <a:gd name="T58" fmla="*/ 91 w 257"/>
                  <a:gd name="T59" fmla="*/ 144 h 683"/>
                  <a:gd name="T60" fmla="*/ 76 w 257"/>
                  <a:gd name="T61" fmla="*/ 104 h 683"/>
                  <a:gd name="T62" fmla="*/ 49 w 257"/>
                  <a:gd name="T63" fmla="*/ 56 h 683"/>
                  <a:gd name="T64" fmla="*/ 29 w 257"/>
                  <a:gd name="T65" fmla="*/ 28 h 683"/>
                  <a:gd name="T66" fmla="*/ 0 w 257"/>
                  <a:gd name="T67" fmla="*/ 0 h 68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57" h="683">
                    <a:moveTo>
                      <a:pt x="0" y="0"/>
                    </a:moveTo>
                    <a:lnTo>
                      <a:pt x="43" y="24"/>
                    </a:lnTo>
                    <a:lnTo>
                      <a:pt x="72" y="50"/>
                    </a:lnTo>
                    <a:lnTo>
                      <a:pt x="107" y="99"/>
                    </a:lnTo>
                    <a:lnTo>
                      <a:pt x="128" y="150"/>
                    </a:lnTo>
                    <a:lnTo>
                      <a:pt x="140" y="201"/>
                    </a:lnTo>
                    <a:lnTo>
                      <a:pt x="145" y="251"/>
                    </a:lnTo>
                    <a:lnTo>
                      <a:pt x="149" y="326"/>
                    </a:lnTo>
                    <a:lnTo>
                      <a:pt x="151" y="378"/>
                    </a:lnTo>
                    <a:lnTo>
                      <a:pt x="153" y="402"/>
                    </a:lnTo>
                    <a:lnTo>
                      <a:pt x="156" y="453"/>
                    </a:lnTo>
                    <a:lnTo>
                      <a:pt x="160" y="482"/>
                    </a:lnTo>
                    <a:lnTo>
                      <a:pt x="166" y="529"/>
                    </a:lnTo>
                    <a:lnTo>
                      <a:pt x="183" y="591"/>
                    </a:lnTo>
                    <a:lnTo>
                      <a:pt x="204" y="632"/>
                    </a:lnTo>
                    <a:lnTo>
                      <a:pt x="224" y="657"/>
                    </a:lnTo>
                    <a:lnTo>
                      <a:pt x="256" y="682"/>
                    </a:lnTo>
                    <a:lnTo>
                      <a:pt x="209" y="656"/>
                    </a:lnTo>
                    <a:lnTo>
                      <a:pt x="174" y="620"/>
                    </a:lnTo>
                    <a:lnTo>
                      <a:pt x="140" y="560"/>
                    </a:lnTo>
                    <a:lnTo>
                      <a:pt x="130" y="528"/>
                    </a:lnTo>
                    <a:lnTo>
                      <a:pt x="118" y="482"/>
                    </a:lnTo>
                    <a:lnTo>
                      <a:pt x="115" y="453"/>
                    </a:lnTo>
                    <a:lnTo>
                      <a:pt x="108" y="402"/>
                    </a:lnTo>
                    <a:lnTo>
                      <a:pt x="107" y="378"/>
                    </a:lnTo>
                    <a:lnTo>
                      <a:pt x="104" y="337"/>
                    </a:lnTo>
                    <a:lnTo>
                      <a:pt x="104" y="279"/>
                    </a:lnTo>
                    <a:lnTo>
                      <a:pt x="107" y="225"/>
                    </a:lnTo>
                    <a:lnTo>
                      <a:pt x="100" y="174"/>
                    </a:lnTo>
                    <a:lnTo>
                      <a:pt x="85" y="122"/>
                    </a:lnTo>
                    <a:lnTo>
                      <a:pt x="71" y="88"/>
                    </a:lnTo>
                    <a:lnTo>
                      <a:pt x="46" y="47"/>
                    </a:lnTo>
                    <a:lnTo>
                      <a:pt x="27" y="24"/>
                    </a:lnTo>
                    <a:lnTo>
                      <a:pt x="0" y="0"/>
                    </a:lnTo>
                  </a:path>
                </a:pathLst>
              </a:custGeom>
              <a:grpFill/>
              <a:ln w="12700" cap="rnd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959648EF-1536-4EE5-B35F-9CD3D06207E5}"/>
                  </a:ext>
                </a:extLst>
              </p:cNvPr>
              <p:cNvSpPr/>
              <p:nvPr/>
            </p:nvSpPr>
            <p:spPr bwMode="auto">
              <a:xfrm>
                <a:off x="3421" y="2967"/>
                <a:ext cx="256" cy="719"/>
              </a:xfrm>
              <a:custGeom>
                <a:avLst/>
                <a:gdLst>
                  <a:gd name="T0" fmla="*/ 255 w 256"/>
                  <a:gd name="T1" fmla="*/ 0 h 682"/>
                  <a:gd name="T2" fmla="*/ 212 w 256"/>
                  <a:gd name="T3" fmla="*/ 25 h 682"/>
                  <a:gd name="T4" fmla="*/ 182 w 256"/>
                  <a:gd name="T5" fmla="*/ 52 h 682"/>
                  <a:gd name="T6" fmla="*/ 147 w 256"/>
                  <a:gd name="T7" fmla="*/ 104 h 682"/>
                  <a:gd name="T8" fmla="*/ 127 w 256"/>
                  <a:gd name="T9" fmla="*/ 159 h 682"/>
                  <a:gd name="T10" fmla="*/ 116 w 256"/>
                  <a:gd name="T11" fmla="*/ 213 h 682"/>
                  <a:gd name="T12" fmla="*/ 111 w 256"/>
                  <a:gd name="T13" fmla="*/ 263 h 682"/>
                  <a:gd name="T14" fmla="*/ 106 w 256"/>
                  <a:gd name="T15" fmla="*/ 342 h 682"/>
                  <a:gd name="T16" fmla="*/ 104 w 256"/>
                  <a:gd name="T17" fmla="*/ 399 h 682"/>
                  <a:gd name="T18" fmla="*/ 101 w 256"/>
                  <a:gd name="T19" fmla="*/ 422 h 682"/>
                  <a:gd name="T20" fmla="*/ 99 w 256"/>
                  <a:gd name="T21" fmla="*/ 478 h 682"/>
                  <a:gd name="T22" fmla="*/ 95 w 256"/>
                  <a:gd name="T23" fmla="*/ 508 h 682"/>
                  <a:gd name="T24" fmla="*/ 90 w 256"/>
                  <a:gd name="T25" fmla="*/ 557 h 682"/>
                  <a:gd name="T26" fmla="*/ 72 w 256"/>
                  <a:gd name="T27" fmla="*/ 622 h 682"/>
                  <a:gd name="T28" fmla="*/ 52 w 256"/>
                  <a:gd name="T29" fmla="*/ 664 h 682"/>
                  <a:gd name="T30" fmla="*/ 30 w 256"/>
                  <a:gd name="T31" fmla="*/ 691 h 682"/>
                  <a:gd name="T32" fmla="*/ 0 w 256"/>
                  <a:gd name="T33" fmla="*/ 718 h 682"/>
                  <a:gd name="T34" fmla="*/ 46 w 256"/>
                  <a:gd name="T35" fmla="*/ 691 h 682"/>
                  <a:gd name="T36" fmla="*/ 82 w 256"/>
                  <a:gd name="T37" fmla="*/ 653 h 682"/>
                  <a:gd name="T38" fmla="*/ 116 w 256"/>
                  <a:gd name="T39" fmla="*/ 590 h 682"/>
                  <a:gd name="T40" fmla="*/ 126 w 256"/>
                  <a:gd name="T41" fmla="*/ 557 h 682"/>
                  <a:gd name="T42" fmla="*/ 138 w 256"/>
                  <a:gd name="T43" fmla="*/ 508 h 682"/>
                  <a:gd name="T44" fmla="*/ 141 w 256"/>
                  <a:gd name="T45" fmla="*/ 478 h 682"/>
                  <a:gd name="T46" fmla="*/ 146 w 256"/>
                  <a:gd name="T47" fmla="*/ 422 h 682"/>
                  <a:gd name="T48" fmla="*/ 147 w 256"/>
                  <a:gd name="T49" fmla="*/ 399 h 682"/>
                  <a:gd name="T50" fmla="*/ 151 w 256"/>
                  <a:gd name="T51" fmla="*/ 354 h 682"/>
                  <a:gd name="T52" fmla="*/ 150 w 256"/>
                  <a:gd name="T53" fmla="*/ 293 h 682"/>
                  <a:gd name="T54" fmla="*/ 150 w 256"/>
                  <a:gd name="T55" fmla="*/ 236 h 682"/>
                  <a:gd name="T56" fmla="*/ 154 w 256"/>
                  <a:gd name="T57" fmla="*/ 183 h 682"/>
                  <a:gd name="T58" fmla="*/ 170 w 256"/>
                  <a:gd name="T59" fmla="*/ 129 h 682"/>
                  <a:gd name="T60" fmla="*/ 184 w 256"/>
                  <a:gd name="T61" fmla="*/ 92 h 682"/>
                  <a:gd name="T62" fmla="*/ 210 w 256"/>
                  <a:gd name="T63" fmla="*/ 50 h 682"/>
                  <a:gd name="T64" fmla="*/ 229 w 256"/>
                  <a:gd name="T65" fmla="*/ 25 h 682"/>
                  <a:gd name="T66" fmla="*/ 255 w 256"/>
                  <a:gd name="T67" fmla="*/ 0 h 68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56" h="682">
                    <a:moveTo>
                      <a:pt x="255" y="0"/>
                    </a:moveTo>
                    <a:lnTo>
                      <a:pt x="212" y="24"/>
                    </a:lnTo>
                    <a:lnTo>
                      <a:pt x="182" y="49"/>
                    </a:lnTo>
                    <a:lnTo>
                      <a:pt x="147" y="99"/>
                    </a:lnTo>
                    <a:lnTo>
                      <a:pt x="127" y="151"/>
                    </a:lnTo>
                    <a:lnTo>
                      <a:pt x="116" y="202"/>
                    </a:lnTo>
                    <a:lnTo>
                      <a:pt x="111" y="249"/>
                    </a:lnTo>
                    <a:lnTo>
                      <a:pt x="106" y="324"/>
                    </a:lnTo>
                    <a:lnTo>
                      <a:pt x="104" y="378"/>
                    </a:lnTo>
                    <a:lnTo>
                      <a:pt x="101" y="400"/>
                    </a:lnTo>
                    <a:lnTo>
                      <a:pt x="99" y="453"/>
                    </a:lnTo>
                    <a:lnTo>
                      <a:pt x="95" y="482"/>
                    </a:lnTo>
                    <a:lnTo>
                      <a:pt x="90" y="528"/>
                    </a:lnTo>
                    <a:lnTo>
                      <a:pt x="72" y="590"/>
                    </a:lnTo>
                    <a:lnTo>
                      <a:pt x="52" y="630"/>
                    </a:lnTo>
                    <a:lnTo>
                      <a:pt x="30" y="655"/>
                    </a:lnTo>
                    <a:lnTo>
                      <a:pt x="0" y="681"/>
                    </a:lnTo>
                    <a:lnTo>
                      <a:pt x="46" y="655"/>
                    </a:lnTo>
                    <a:lnTo>
                      <a:pt x="82" y="619"/>
                    </a:lnTo>
                    <a:lnTo>
                      <a:pt x="116" y="560"/>
                    </a:lnTo>
                    <a:lnTo>
                      <a:pt x="126" y="528"/>
                    </a:lnTo>
                    <a:lnTo>
                      <a:pt x="138" y="482"/>
                    </a:lnTo>
                    <a:lnTo>
                      <a:pt x="141" y="453"/>
                    </a:lnTo>
                    <a:lnTo>
                      <a:pt x="146" y="400"/>
                    </a:lnTo>
                    <a:lnTo>
                      <a:pt x="147" y="378"/>
                    </a:lnTo>
                    <a:lnTo>
                      <a:pt x="151" y="336"/>
                    </a:lnTo>
                    <a:lnTo>
                      <a:pt x="150" y="278"/>
                    </a:lnTo>
                    <a:lnTo>
                      <a:pt x="150" y="224"/>
                    </a:lnTo>
                    <a:lnTo>
                      <a:pt x="154" y="174"/>
                    </a:lnTo>
                    <a:lnTo>
                      <a:pt x="170" y="122"/>
                    </a:lnTo>
                    <a:lnTo>
                      <a:pt x="184" y="87"/>
                    </a:lnTo>
                    <a:lnTo>
                      <a:pt x="210" y="47"/>
                    </a:lnTo>
                    <a:lnTo>
                      <a:pt x="229" y="24"/>
                    </a:lnTo>
                    <a:lnTo>
                      <a:pt x="255" y="0"/>
                    </a:lnTo>
                  </a:path>
                </a:pathLst>
              </a:custGeom>
              <a:grpFill/>
              <a:ln w="12700" cap="rnd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8" name="Freeform 10" descr="60%">
              <a:extLst>
                <a:ext uri="{FF2B5EF4-FFF2-40B4-BE49-F238E27FC236}">
                  <a16:creationId xmlns:a16="http://schemas.microsoft.com/office/drawing/2014/main" id="{99E06C62-9FC5-41CF-8F5B-DF84158848CE}"/>
                </a:ext>
              </a:extLst>
            </p:cNvPr>
            <p:cNvSpPr/>
            <p:nvPr/>
          </p:nvSpPr>
          <p:spPr bwMode="auto">
            <a:xfrm>
              <a:off x="1392" y="2112"/>
              <a:ext cx="720" cy="431"/>
            </a:xfrm>
            <a:custGeom>
              <a:avLst/>
              <a:gdLst>
                <a:gd name="T0" fmla="*/ 720 w 436"/>
                <a:gd name="T1" fmla="*/ 431 h 202"/>
                <a:gd name="T2" fmla="*/ 0 w 436"/>
                <a:gd name="T3" fmla="*/ 431 h 202"/>
                <a:gd name="T4" fmla="*/ 180 w 436"/>
                <a:gd name="T5" fmla="*/ 356 h 202"/>
                <a:gd name="T6" fmla="*/ 410 w 436"/>
                <a:gd name="T7" fmla="*/ 250 h 202"/>
                <a:gd name="T8" fmla="*/ 575 w 436"/>
                <a:gd name="T9" fmla="*/ 143 h 202"/>
                <a:gd name="T10" fmla="*/ 720 w 436"/>
                <a:gd name="T11" fmla="*/ 0 h 202"/>
                <a:gd name="T12" fmla="*/ 720 w 436"/>
                <a:gd name="T13" fmla="*/ 431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6" h="202">
                  <a:moveTo>
                    <a:pt x="436" y="202"/>
                  </a:moveTo>
                  <a:lnTo>
                    <a:pt x="0" y="202"/>
                  </a:lnTo>
                  <a:lnTo>
                    <a:pt x="109" y="167"/>
                  </a:lnTo>
                  <a:lnTo>
                    <a:pt x="248" y="117"/>
                  </a:lnTo>
                  <a:lnTo>
                    <a:pt x="348" y="67"/>
                  </a:lnTo>
                  <a:lnTo>
                    <a:pt x="436" y="0"/>
                  </a:lnTo>
                  <a:lnTo>
                    <a:pt x="436" y="202"/>
                  </a:lnTo>
                  <a:close/>
                </a:path>
              </a:pathLst>
            </a:custGeom>
            <a:grpFill/>
            <a:ln w="30163">
              <a:solidFill>
                <a:schemeClr val="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Freeform 11" descr="60%">
              <a:extLst>
                <a:ext uri="{FF2B5EF4-FFF2-40B4-BE49-F238E27FC236}">
                  <a16:creationId xmlns:a16="http://schemas.microsoft.com/office/drawing/2014/main" id="{024FFEF1-3328-44B8-8B75-970DC3D51D21}"/>
                </a:ext>
              </a:extLst>
            </p:cNvPr>
            <p:cNvSpPr/>
            <p:nvPr/>
          </p:nvSpPr>
          <p:spPr bwMode="auto">
            <a:xfrm>
              <a:off x="3457" y="2208"/>
              <a:ext cx="767" cy="346"/>
            </a:xfrm>
            <a:custGeom>
              <a:avLst/>
              <a:gdLst>
                <a:gd name="T0" fmla="*/ 0 w 434"/>
                <a:gd name="T1" fmla="*/ 346 h 202"/>
                <a:gd name="T2" fmla="*/ 767 w 434"/>
                <a:gd name="T3" fmla="*/ 346 h 202"/>
                <a:gd name="T4" fmla="*/ 574 w 434"/>
                <a:gd name="T5" fmla="*/ 286 h 202"/>
                <a:gd name="T6" fmla="*/ 332 w 434"/>
                <a:gd name="T7" fmla="*/ 200 h 202"/>
                <a:gd name="T8" fmla="*/ 156 w 434"/>
                <a:gd name="T9" fmla="*/ 115 h 202"/>
                <a:gd name="T10" fmla="*/ 0 w 434"/>
                <a:gd name="T11" fmla="*/ 0 h 202"/>
                <a:gd name="T12" fmla="*/ 0 w 434"/>
                <a:gd name="T13" fmla="*/ 346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4" h="202">
                  <a:moveTo>
                    <a:pt x="0" y="202"/>
                  </a:moveTo>
                  <a:lnTo>
                    <a:pt x="434" y="202"/>
                  </a:lnTo>
                  <a:lnTo>
                    <a:pt x="325" y="167"/>
                  </a:lnTo>
                  <a:lnTo>
                    <a:pt x="188" y="117"/>
                  </a:lnTo>
                  <a:lnTo>
                    <a:pt x="88" y="67"/>
                  </a:lnTo>
                  <a:lnTo>
                    <a:pt x="0" y="0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30163">
              <a:solidFill>
                <a:schemeClr val="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513C9EEC-81A2-4289-8C78-53D011AF8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402"/>
              <a:ext cx="2" cy="124"/>
            </a:xfrm>
            <a:prstGeom prst="line">
              <a:avLst/>
            </a:prstGeom>
            <a:grpFill/>
            <a:ln w="30163">
              <a:solidFill>
                <a:schemeClr val="tx1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CE0EBFA7-9C34-4091-96FA-B4D99CEB2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2543"/>
              <a:ext cx="3160" cy="0"/>
            </a:xfrm>
            <a:prstGeom prst="line">
              <a:avLst/>
            </a:prstGeom>
            <a:grpFill/>
            <a:ln w="42863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3434A9AF-D143-431D-9F96-557BE6EDF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" y="2067"/>
              <a:ext cx="483" cy="2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0F0F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725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1 – </a:t>
              </a:r>
              <a:r>
                <a:rPr lang="en-US" altLang="zh-CN" sz="18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α</a:t>
              </a:r>
              <a:endParaRPr lang="en-US" altLang="zh-CN" sz="1725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BD21184D-CC1B-4507-AC78-47194D538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1975"/>
              <a:ext cx="451" cy="2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α</a:t>
              </a:r>
              <a:r>
                <a:rPr lang="en-US" altLang="zh-CN" sz="1725" b="1" i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en-US" altLang="zh-CN" sz="1725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/</a:t>
              </a:r>
              <a:r>
                <a:rPr lang="en-US" altLang="zh-CN" sz="15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632417CC-1E8C-42CA-91F9-9958E0EBA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" y="1983"/>
              <a:ext cx="451" cy="2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α </a:t>
              </a:r>
              <a:r>
                <a:rPr lang="en-US" altLang="zh-CN" sz="1725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/</a:t>
              </a:r>
              <a:r>
                <a:rPr lang="en-US" altLang="zh-CN" sz="15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</a:p>
          </p:txBody>
        </p:sp>
        <p:graphicFrame>
          <p:nvGraphicFramePr>
            <p:cNvPr id="15" name="Object 17">
              <a:hlinkClick r:id="" action="ppaction://ole?verb=0"/>
              <a:extLst>
                <a:ext uri="{FF2B5EF4-FFF2-40B4-BE49-F238E27FC236}">
                  <a16:creationId xmlns:a16="http://schemas.microsoft.com/office/drawing/2014/main" id="{1116A279-1E46-464C-B875-06EAFDF3CA37}"/>
                </a:ext>
              </a:extLst>
            </p:cNvPr>
            <p:cNvGraphicFramePr/>
            <p:nvPr/>
          </p:nvGraphicFramePr>
          <p:xfrm>
            <a:off x="3670" y="1486"/>
            <a:ext cx="28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38" name="Equation" r:id="rId4" imgW="180975" imgH="208280" progId="Equation.3">
                    <p:embed/>
                  </p:oleObj>
                </mc:Choice>
                <mc:Fallback>
                  <p:oleObj name="Equation" r:id="rId4" imgW="180975" imgH="208280" progId="Equation.3">
                    <p:embed/>
                    <p:pic>
                      <p:nvPicPr>
                        <p:cNvPr id="15" name="Object 17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1116A279-1E46-464C-B875-06EAFDF3CA3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0" y="1486"/>
                          <a:ext cx="286" cy="358"/>
                        </a:xfrm>
                        <a:prstGeom prst="rect">
                          <a:avLst/>
                        </a:prstGeom>
                        <a:solidFill>
                          <a:srgbClr val="C00000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8">
              <a:hlinkClick r:id="" action="ppaction://ole?verb=0"/>
              <a:extLst>
                <a:ext uri="{FF2B5EF4-FFF2-40B4-BE49-F238E27FC236}">
                  <a16:creationId xmlns:a16="http://schemas.microsoft.com/office/drawing/2014/main" id="{32F2601F-9702-4F46-B5D2-8C75D478146C}"/>
                </a:ext>
              </a:extLst>
            </p:cNvPr>
            <p:cNvGraphicFramePr/>
            <p:nvPr/>
          </p:nvGraphicFramePr>
          <p:xfrm>
            <a:off x="4233" y="2226"/>
            <a:ext cx="167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39" name="Equation" r:id="rId6" imgW="127000" imgH="144780" progId="Equation.3">
                    <p:embed/>
                  </p:oleObj>
                </mc:Choice>
                <mc:Fallback>
                  <p:oleObj name="Equation" r:id="rId6" imgW="127000" imgH="144780" progId="Equation.3">
                    <p:embed/>
                    <p:pic>
                      <p:nvPicPr>
                        <p:cNvPr id="16" name="Object 18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32F2601F-9702-4F46-B5D2-8C75D478146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3" y="2226"/>
                          <a:ext cx="167" cy="243"/>
                        </a:xfrm>
                        <a:prstGeom prst="rect">
                          <a:avLst/>
                        </a:prstGeom>
                        <a:solidFill>
                          <a:srgbClr val="C00000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Group 19">
              <a:extLst>
                <a:ext uri="{FF2B5EF4-FFF2-40B4-BE49-F238E27FC236}">
                  <a16:creationId xmlns:a16="http://schemas.microsoft.com/office/drawing/2014/main" id="{88B93A2E-DAA3-45AF-AE82-2F8228982BB8}"/>
                </a:ext>
              </a:extLst>
            </p:cNvPr>
            <p:cNvGrpSpPr/>
            <p:nvPr/>
          </p:nvGrpSpPr>
          <p:grpSpPr bwMode="auto">
            <a:xfrm>
              <a:off x="1256" y="1536"/>
              <a:ext cx="2977" cy="959"/>
              <a:chOff x="1626" y="1516"/>
              <a:chExt cx="2532" cy="674"/>
            </a:xfrm>
            <a:grpFill/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FCE5B56F-FEA4-4542-9274-86DF231E3FAF}"/>
                  </a:ext>
                </a:extLst>
              </p:cNvPr>
              <p:cNvSpPr/>
              <p:nvPr/>
            </p:nvSpPr>
            <p:spPr bwMode="auto">
              <a:xfrm>
                <a:off x="2892" y="1516"/>
                <a:ext cx="1266" cy="674"/>
              </a:xfrm>
              <a:custGeom>
                <a:avLst/>
                <a:gdLst>
                  <a:gd name="T0" fmla="*/ 1266 w 1266"/>
                  <a:gd name="T1" fmla="*/ 674 h 674"/>
                  <a:gd name="T2" fmla="*/ 1133 w 1266"/>
                  <a:gd name="T3" fmla="*/ 666 h 674"/>
                  <a:gd name="T4" fmla="*/ 1065 w 1266"/>
                  <a:gd name="T5" fmla="*/ 657 h 674"/>
                  <a:gd name="T6" fmla="*/ 998 w 1266"/>
                  <a:gd name="T7" fmla="*/ 647 h 674"/>
                  <a:gd name="T8" fmla="*/ 932 w 1266"/>
                  <a:gd name="T9" fmla="*/ 632 h 674"/>
                  <a:gd name="T10" fmla="*/ 865 w 1266"/>
                  <a:gd name="T11" fmla="*/ 611 h 674"/>
                  <a:gd name="T12" fmla="*/ 800 w 1266"/>
                  <a:gd name="T13" fmla="*/ 584 h 674"/>
                  <a:gd name="T14" fmla="*/ 665 w 1266"/>
                  <a:gd name="T15" fmla="*/ 505 h 674"/>
                  <a:gd name="T16" fmla="*/ 532 w 1266"/>
                  <a:gd name="T17" fmla="*/ 395 h 674"/>
                  <a:gd name="T18" fmla="*/ 399 w 1266"/>
                  <a:gd name="T19" fmla="*/ 264 h 674"/>
                  <a:gd name="T20" fmla="*/ 333 w 1266"/>
                  <a:gd name="T21" fmla="*/ 195 h 674"/>
                  <a:gd name="T22" fmla="*/ 266 w 1266"/>
                  <a:gd name="T23" fmla="*/ 133 h 674"/>
                  <a:gd name="T24" fmla="*/ 198 w 1266"/>
                  <a:gd name="T25" fmla="*/ 79 h 674"/>
                  <a:gd name="T26" fmla="*/ 133 w 1266"/>
                  <a:gd name="T27" fmla="*/ 35 h 674"/>
                  <a:gd name="T28" fmla="*/ 65 w 1266"/>
                  <a:gd name="T29" fmla="*/ 8 h 674"/>
                  <a:gd name="T30" fmla="*/ 0 w 1266"/>
                  <a:gd name="T31" fmla="*/ 0 h 67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66" h="674">
                    <a:moveTo>
                      <a:pt x="1266" y="674"/>
                    </a:moveTo>
                    <a:lnTo>
                      <a:pt x="1133" y="666"/>
                    </a:lnTo>
                    <a:lnTo>
                      <a:pt x="1065" y="657"/>
                    </a:lnTo>
                    <a:lnTo>
                      <a:pt x="998" y="647"/>
                    </a:lnTo>
                    <a:lnTo>
                      <a:pt x="932" y="632"/>
                    </a:lnTo>
                    <a:lnTo>
                      <a:pt x="865" y="611"/>
                    </a:lnTo>
                    <a:lnTo>
                      <a:pt x="800" y="584"/>
                    </a:lnTo>
                    <a:lnTo>
                      <a:pt x="665" y="505"/>
                    </a:lnTo>
                    <a:lnTo>
                      <a:pt x="532" y="395"/>
                    </a:lnTo>
                    <a:lnTo>
                      <a:pt x="399" y="264"/>
                    </a:lnTo>
                    <a:lnTo>
                      <a:pt x="333" y="195"/>
                    </a:lnTo>
                    <a:lnTo>
                      <a:pt x="266" y="133"/>
                    </a:lnTo>
                    <a:lnTo>
                      <a:pt x="198" y="79"/>
                    </a:lnTo>
                    <a:lnTo>
                      <a:pt x="133" y="35"/>
                    </a:lnTo>
                    <a:lnTo>
                      <a:pt x="65" y="8"/>
                    </a:lnTo>
                    <a:lnTo>
                      <a:pt x="0" y="0"/>
                    </a:lnTo>
                  </a:path>
                </a:pathLst>
              </a:custGeom>
              <a:grpFill/>
              <a:ln w="57150" cmpd="sng">
                <a:solidFill>
                  <a:srgbClr val="FF0000"/>
                </a:solidFill>
                <a:prstDash val="solid"/>
                <a:round/>
              </a:ln>
              <a:effectLst>
                <a:outerShdw dist="127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AE1CFA9C-F5CA-403A-A680-672E0562C960}"/>
                  </a:ext>
                </a:extLst>
              </p:cNvPr>
              <p:cNvSpPr/>
              <p:nvPr/>
            </p:nvSpPr>
            <p:spPr bwMode="auto">
              <a:xfrm>
                <a:off x="1626" y="1516"/>
                <a:ext cx="1266" cy="674"/>
              </a:xfrm>
              <a:custGeom>
                <a:avLst/>
                <a:gdLst>
                  <a:gd name="T0" fmla="*/ 0 w 1266"/>
                  <a:gd name="T1" fmla="*/ 674 h 674"/>
                  <a:gd name="T2" fmla="*/ 133 w 1266"/>
                  <a:gd name="T3" fmla="*/ 666 h 674"/>
                  <a:gd name="T4" fmla="*/ 199 w 1266"/>
                  <a:gd name="T5" fmla="*/ 657 h 674"/>
                  <a:gd name="T6" fmla="*/ 266 w 1266"/>
                  <a:gd name="T7" fmla="*/ 647 h 674"/>
                  <a:gd name="T8" fmla="*/ 332 w 1266"/>
                  <a:gd name="T9" fmla="*/ 632 h 674"/>
                  <a:gd name="T10" fmla="*/ 399 w 1266"/>
                  <a:gd name="T11" fmla="*/ 611 h 674"/>
                  <a:gd name="T12" fmla="*/ 467 w 1266"/>
                  <a:gd name="T13" fmla="*/ 584 h 674"/>
                  <a:gd name="T14" fmla="*/ 599 w 1266"/>
                  <a:gd name="T15" fmla="*/ 505 h 674"/>
                  <a:gd name="T16" fmla="*/ 732 w 1266"/>
                  <a:gd name="T17" fmla="*/ 395 h 674"/>
                  <a:gd name="T18" fmla="*/ 865 w 1266"/>
                  <a:gd name="T19" fmla="*/ 264 h 674"/>
                  <a:gd name="T20" fmla="*/ 933 w 1266"/>
                  <a:gd name="T21" fmla="*/ 195 h 674"/>
                  <a:gd name="T22" fmla="*/ 998 w 1266"/>
                  <a:gd name="T23" fmla="*/ 133 h 674"/>
                  <a:gd name="T24" fmla="*/ 1066 w 1266"/>
                  <a:gd name="T25" fmla="*/ 79 h 674"/>
                  <a:gd name="T26" fmla="*/ 1131 w 1266"/>
                  <a:gd name="T27" fmla="*/ 35 h 674"/>
                  <a:gd name="T28" fmla="*/ 1199 w 1266"/>
                  <a:gd name="T29" fmla="*/ 8 h 674"/>
                  <a:gd name="T30" fmla="*/ 1266 w 1266"/>
                  <a:gd name="T31" fmla="*/ 0 h 67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66" h="674">
                    <a:moveTo>
                      <a:pt x="0" y="674"/>
                    </a:moveTo>
                    <a:lnTo>
                      <a:pt x="133" y="666"/>
                    </a:lnTo>
                    <a:lnTo>
                      <a:pt x="199" y="657"/>
                    </a:lnTo>
                    <a:lnTo>
                      <a:pt x="266" y="647"/>
                    </a:lnTo>
                    <a:lnTo>
                      <a:pt x="332" y="632"/>
                    </a:lnTo>
                    <a:lnTo>
                      <a:pt x="399" y="611"/>
                    </a:lnTo>
                    <a:lnTo>
                      <a:pt x="467" y="584"/>
                    </a:lnTo>
                    <a:lnTo>
                      <a:pt x="599" y="505"/>
                    </a:lnTo>
                    <a:lnTo>
                      <a:pt x="732" y="395"/>
                    </a:lnTo>
                    <a:lnTo>
                      <a:pt x="865" y="264"/>
                    </a:lnTo>
                    <a:lnTo>
                      <a:pt x="933" y="195"/>
                    </a:lnTo>
                    <a:lnTo>
                      <a:pt x="998" y="133"/>
                    </a:lnTo>
                    <a:lnTo>
                      <a:pt x="1066" y="79"/>
                    </a:lnTo>
                    <a:lnTo>
                      <a:pt x="1131" y="35"/>
                    </a:lnTo>
                    <a:lnTo>
                      <a:pt x="1199" y="8"/>
                    </a:lnTo>
                    <a:lnTo>
                      <a:pt x="1266" y="0"/>
                    </a:lnTo>
                  </a:path>
                </a:pathLst>
              </a:custGeom>
              <a:grpFill/>
              <a:ln w="57150" cmpd="sng">
                <a:solidFill>
                  <a:srgbClr val="FF0000"/>
                </a:solidFill>
                <a:prstDash val="solid"/>
                <a:round/>
              </a:ln>
              <a:effectLst>
                <a:outerShdw dist="127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AB1341C5-700C-4BC7-83D8-3C7C6D80C5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6" y="2208"/>
              <a:ext cx="310" cy="222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D669987C-03DF-4F25-96FA-B1A86AF98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160"/>
              <a:ext cx="240" cy="336"/>
            </a:xfrm>
            <a:prstGeom prst="line">
              <a:avLst/>
            </a:prstGeom>
            <a:grpFill/>
            <a:ln w="30163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B87CE1DD-AEB3-45B1-8ED5-D8AF45748BA6}"/>
              </a:ext>
            </a:extLst>
          </p:cNvPr>
          <p:cNvSpPr/>
          <p:nvPr/>
        </p:nvSpPr>
        <p:spPr>
          <a:xfrm>
            <a:off x="110990" y="3636519"/>
            <a:ext cx="3765242" cy="307777"/>
          </a:xfrm>
          <a:prstGeom prst="rect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2700000" scaled="1"/>
            <a:tileRect/>
          </a:gradFill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noProof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区间估计即参数置信区间  </a:t>
            </a:r>
            <a:r>
              <a:rPr lang="en-US" altLang="zh-CN" sz="1400" b="1" noProof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[A(X)            B(X)]</a:t>
            </a:r>
            <a:r>
              <a:rPr lang="zh-CN" altLang="en-US" sz="1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noProof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8">
            <a:extLst>
              <a:ext uri="{FF2B5EF4-FFF2-40B4-BE49-F238E27FC236}">
                <a16:creationId xmlns:a16="http://schemas.microsoft.com/office/drawing/2014/main" id="{2D1A57B4-045C-4E00-8D73-055D9E255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481" y="2659969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置信度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矩形 4">
            <a:extLst>
              <a:ext uri="{FF2B5EF4-FFF2-40B4-BE49-F238E27FC236}">
                <a16:creationId xmlns:a16="http://schemas.microsoft.com/office/drawing/2014/main" id="{480BFF98-5DDC-4C84-ADF4-C7F2B4DA1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2155" y="671911"/>
            <a:ext cx="4845788" cy="715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00"/>
              </a:lnSpc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参数假设检验：</a:t>
            </a:r>
            <a:r>
              <a:rPr lang="zh-CN" altLang="en-US" sz="1800" kern="0" dirty="0">
                <a:solidFill>
                  <a:srgbClr val="00206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总体分布类型已知，参数未知，对未知总体参数假设</a:t>
            </a:r>
            <a:r>
              <a:rPr lang="en-US" altLang="zh-CN" sz="1800" kern="0" dirty="0">
                <a:solidFill>
                  <a:srgbClr val="00206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,</a:t>
            </a:r>
            <a:r>
              <a:rPr lang="zh-CN" altLang="en-US" sz="1800" kern="0" dirty="0">
                <a:solidFill>
                  <a:srgbClr val="00206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用样本判断假设是否成立</a:t>
            </a:r>
            <a:endParaRPr lang="ko-KR" altLang="en-US" sz="1800" kern="0" dirty="0">
              <a:solidFill>
                <a:srgbClr val="002060"/>
              </a:solidFill>
              <a:latin typeface="Cambria Math" panose="02040503050406030204" pitchFamily="18" charset="0"/>
              <a:ea typeface="华文楷体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53FD5F48-9022-43F3-9339-B487F88C6EC7}"/>
                  </a:ext>
                </a:extLst>
              </p:cNvPr>
              <p:cNvSpPr txBox="1"/>
              <p:nvPr/>
            </p:nvSpPr>
            <p:spPr>
              <a:xfrm>
                <a:off x="4212155" y="1355218"/>
                <a:ext cx="5025136" cy="6952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kern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正态分布</a:t>
                </a:r>
                <a:r>
                  <a:rPr lang="en-US" altLang="zh-CN" sz="1600" kern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x~(μ,σ</a:t>
                </a:r>
                <a:r>
                  <a:rPr lang="en-US" altLang="zh-CN" sz="1600" kern="0" baseline="30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2</a:t>
                </a:r>
                <a:r>
                  <a:rPr lang="en-US" altLang="zh-CN" sz="1600" kern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)</a:t>
                </a:r>
                <a:r>
                  <a:rPr lang="zh-CN" altLang="en-US" sz="1600" kern="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  <a:cs typeface="+mj-cs"/>
                  </a:rPr>
                  <a:t>，</a:t>
                </a:r>
                <a:r>
                  <a:rPr lang="en-US" altLang="zh-CN" sz="1600" kern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μ</a:t>
                </a:r>
                <a:r>
                  <a:rPr lang="zh-CN" altLang="en-US" sz="1600" kern="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  <a:cs typeface="+mj-cs"/>
                  </a:rPr>
                  <a:t>未知，</a:t>
                </a:r>
                <a:r>
                  <a:rPr lang="zh-CN" altLang="en-US" sz="1600" kern="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假设</a:t>
                </a:r>
                <a:r>
                  <a:rPr lang="zh-CN" altLang="en-US" sz="1600" kern="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  <a:cs typeface="+mj-cs"/>
                  </a:rPr>
                  <a:t>总体参数</a:t>
                </a:r>
                <a:r>
                  <a:rPr lang="en-US" altLang="zh-CN" sz="1600" kern="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  <a:cs typeface="+mj-cs"/>
                  </a:rPr>
                  <a:t>μ= μ0(</a:t>
                </a:r>
                <a:r>
                  <a:rPr lang="zh-CN" altLang="en-US" sz="1600" kern="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  <a:cs typeface="+mj-cs"/>
                  </a:rPr>
                  <a:t>假设参数</a:t>
                </a:r>
                <a:r>
                  <a:rPr lang="en-US" altLang="zh-CN" sz="1600" kern="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  <a:cs typeface="+mj-cs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1600" b="0" i="0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,</m:t>
                    </m:r>
                    <m:r>
                      <a:rPr lang="zh-CN" altLang="en-US" sz="1600" i="1" kern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根据</m:t>
                    </m:r>
                    <m:r>
                      <a:rPr lang="zh-CN" altLang="en-US" sz="160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样本</m:t>
                    </m:r>
                    <m:r>
                      <a:rPr lang="zh-CN" altLang="en-US" sz="1600" i="1" kern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数据判断</m:t>
                    </m:r>
                    <m:r>
                      <m:rPr>
                        <m:nor/>
                      </m:rPr>
                      <a:rPr lang="zh-CN" altLang="en-US" sz="1600" kern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总体参数</m:t>
                    </m:r>
                    <m:r>
                      <m:rPr>
                        <m:nor/>
                      </m:rPr>
                      <a:rPr lang="en-US" altLang="zh-CN" sz="1600" kern="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μ</m:t>
                    </m:r>
                    <m:r>
                      <a:rPr lang="zh-CN" altLang="en-US" sz="1600" i="1" kern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是否等于</m:t>
                    </m:r>
                    <m:r>
                      <m:rPr>
                        <m:nor/>
                      </m:rPr>
                      <a:rPr lang="en-US" altLang="zh-CN" sz="1600" kern="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kern="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μ</m:t>
                    </m:r>
                    <m:r>
                      <m:rPr>
                        <m:nor/>
                      </m:rPr>
                      <a:rPr lang="en-US" altLang="zh-CN" sz="1600" kern="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lang="en-US" altLang="zh-CN" sz="1600" kern="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53FD5F48-9022-43F3-9339-B487F88C6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55" y="1355218"/>
                <a:ext cx="5025136" cy="695255"/>
              </a:xfrm>
              <a:prstGeom prst="rect">
                <a:avLst/>
              </a:prstGeom>
              <a:blipFill>
                <a:blip r:embed="rId8"/>
                <a:stretch>
                  <a:fillRect l="-728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文本框 99">
            <a:extLst>
              <a:ext uri="{FF2B5EF4-FFF2-40B4-BE49-F238E27FC236}">
                <a16:creationId xmlns:a16="http://schemas.microsoft.com/office/drawing/2014/main" id="{F39099E6-ABDA-4E8D-AFB3-D11253E6B138}"/>
              </a:ext>
            </a:extLst>
          </p:cNvPr>
          <p:cNvSpPr txBox="1"/>
          <p:nvPr/>
        </p:nvSpPr>
        <p:spPr>
          <a:xfrm>
            <a:off x="1757080" y="2431921"/>
            <a:ext cx="448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FF000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μ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9" name="标题 1">
            <a:extLst>
              <a:ext uri="{FF2B5EF4-FFF2-40B4-BE49-F238E27FC236}">
                <a16:creationId xmlns:a16="http://schemas.microsoft.com/office/drawing/2014/main" id="{03BB2AC4-88A9-4EF9-85F2-6A885A9F5D5F}"/>
              </a:ext>
            </a:extLst>
          </p:cNvPr>
          <p:cNvSpPr txBox="1">
            <a:spLocks/>
          </p:cNvSpPr>
          <p:nvPr/>
        </p:nvSpPr>
        <p:spPr bwMode="auto">
          <a:xfrm>
            <a:off x="1904129" y="41234"/>
            <a:ext cx="5606275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200" dirty="0">
                <a:cs typeface="+mn-cs"/>
              </a:rPr>
              <a:t>§4.</a:t>
            </a:r>
            <a:r>
              <a:rPr lang="en-US" altLang="zh-CN" sz="2800" b="1" dirty="0">
                <a:cs typeface="+mn-cs"/>
              </a:rPr>
              <a:t>4</a:t>
            </a:r>
            <a:r>
              <a:rPr lang="en-US" altLang="zh-CN" sz="2800" b="1" kern="1200" dirty="0">
                <a:cs typeface="+mn-cs"/>
              </a:rPr>
              <a:t> </a:t>
            </a:r>
            <a:r>
              <a:rPr lang="zh-CN" altLang="en-US" sz="2800" b="1" kern="1200" dirty="0">
                <a:cs typeface="+mn-cs"/>
              </a:rPr>
              <a:t>假设检验</a:t>
            </a:r>
            <a:r>
              <a:rPr lang="en-US" altLang="zh-CN" sz="26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</a:rPr>
              <a:t>参数估计和假设检验</a:t>
            </a:r>
            <a:endParaRPr lang="zh-CN" altLang="en-US" sz="2600" b="1" kern="1200" dirty="0">
              <a:solidFill>
                <a:srgbClr val="FF0000"/>
              </a:solidFill>
              <a:cs typeface="+mn-cs"/>
            </a:endParaRPr>
          </a:p>
        </p:txBody>
      </p:sp>
      <p:pic>
        <p:nvPicPr>
          <p:cNvPr id="160" name="图片 159">
            <a:extLst>
              <a:ext uri="{FF2B5EF4-FFF2-40B4-BE49-F238E27FC236}">
                <a16:creationId xmlns:a16="http://schemas.microsoft.com/office/drawing/2014/main" id="{5317044B-1B2B-4984-A3E1-E86D524DD60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92" t="34305" r="51907" b="39538"/>
          <a:stretch/>
        </p:blipFill>
        <p:spPr>
          <a:xfrm>
            <a:off x="4320724" y="3607609"/>
            <a:ext cx="4585140" cy="985881"/>
          </a:xfrm>
          <a:prstGeom prst="rect">
            <a:avLst/>
          </a:prstGeom>
        </p:spPr>
      </p:pic>
      <p:sp>
        <p:nvSpPr>
          <p:cNvPr id="161" name="文本框 160">
            <a:extLst>
              <a:ext uri="{FF2B5EF4-FFF2-40B4-BE49-F238E27FC236}">
                <a16:creationId xmlns:a16="http://schemas.microsoft.com/office/drawing/2014/main" id="{9234F489-3A6B-44C5-96ED-307948E1C5C3}"/>
              </a:ext>
            </a:extLst>
          </p:cNvPr>
          <p:cNvSpPr txBox="1"/>
          <p:nvPr/>
        </p:nvSpPr>
        <p:spPr>
          <a:xfrm>
            <a:off x="4238183" y="2035346"/>
            <a:ext cx="4604959" cy="1037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假设检验设置两个对立假设：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原假设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H0 (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零假设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b="1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en-US" altLang="zh-CN" b="1" baseline="-250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lang="en-US" altLang="zh-CN" b="1" i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μ= μ0</a:t>
            </a:r>
            <a:endParaRPr lang="en-US" altLang="zh-CN" b="0" i="0" dirty="0">
              <a:solidFill>
                <a:schemeClr val="bg1"/>
              </a:solidFill>
              <a:effectLst/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ts val="2700"/>
              </a:lnSpc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备择假设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H1 (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对立假设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b="1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 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H1:μ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≠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μ0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标题 1">
                <a:extLst>
                  <a:ext uri="{FF2B5EF4-FFF2-40B4-BE49-F238E27FC236}">
                    <a16:creationId xmlns:a16="http://schemas.microsoft.com/office/drawing/2014/main" id="{DE9BB94A-E5AC-4FFA-95A6-1B6A3C5F215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-28380" y="1092756"/>
                <a:ext cx="4134619" cy="3898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b" anchorCtr="0" compatLnSpc="1">
                <a:prstTxWarp prst="textNoShape">
                  <a:avLst/>
                </a:prstTxWarp>
              </a:bodyPr>
              <a:lstStyle>
                <a:lvl1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200" b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defRPr>
                </a:lvl1pPr>
                <a:lvl2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2pPr>
                <a:lvl3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3pPr>
                <a:lvl4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4pPr>
                <a:lvl5pPr algn="l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5pPr>
                <a:lvl6pPr marL="4572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6pPr>
                <a:lvl7pPr marL="9144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7pPr>
                <a:lvl8pPr marL="13716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8pPr>
                <a:lvl9pPr marL="1828800" algn="l" rtl="0" eaLnBrk="1" fontAlgn="base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3400" b="1">
                    <a:solidFill>
                      <a:srgbClr val="002E5C"/>
                    </a:solidFill>
                    <a:latin typeface="Helvetica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0">
                            <a:latin typeface="Cambria Math" panose="02040503050406030204" pitchFamily="18" charset="0"/>
                          </a:rPr>
                          <m:t>采样</m:t>
                        </m:r>
                        <m:r>
                          <a:rPr lang="zh-CN" altLang="en-US" sz="2000" i="1" kern="0" smtClean="0">
                            <a:latin typeface="Cambria Math" panose="02040503050406030204" pitchFamily="18" charset="0"/>
                          </a:rPr>
                          <m:t>数据</m:t>
                        </m:r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kern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kern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kern="0" dirty="0"/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000" i="1" kern="0">
                            <a:latin typeface="Cambria Math" panose="02040503050406030204" pitchFamily="18" charset="0"/>
                          </a:rPr>
                          <m:t>→</m:t>
                        </m:r>
                      </m:sub>
                    </m:sSub>
                  </m:oMath>
                </a14:m>
                <a:r>
                  <a:rPr lang="en-US" altLang="zh-CN" sz="2000" kern="0" dirty="0"/>
                  <a:t> μ,σ</a:t>
                </a:r>
                <a:r>
                  <a:rPr lang="en-US" altLang="zh-CN" sz="2000" kern="0" baseline="30000" dirty="0"/>
                  <a:t>2</a:t>
                </a:r>
                <a:endParaRPr lang="zh-CN" altLang="en-US" sz="2000" kern="0" dirty="0"/>
              </a:p>
            </p:txBody>
          </p:sp>
        </mc:Choice>
        <mc:Fallback xmlns="">
          <p:sp>
            <p:nvSpPr>
              <p:cNvPr id="162" name="标题 1">
                <a:extLst>
                  <a:ext uri="{FF2B5EF4-FFF2-40B4-BE49-F238E27FC236}">
                    <a16:creationId xmlns:a16="http://schemas.microsoft.com/office/drawing/2014/main" id="{DE9BB94A-E5AC-4FFA-95A6-1B6A3C5F2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8380" y="1092756"/>
                <a:ext cx="4134619" cy="389883"/>
              </a:xfrm>
              <a:prstGeom prst="rect">
                <a:avLst/>
              </a:prstGeom>
              <a:blipFill>
                <a:blip r:embed="rId10"/>
                <a:stretch>
                  <a:fillRect l="-736" t="-7813" b="-2968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文本框 162">
            <a:extLst>
              <a:ext uri="{FF2B5EF4-FFF2-40B4-BE49-F238E27FC236}">
                <a16:creationId xmlns:a16="http://schemas.microsoft.com/office/drawing/2014/main" id="{DA9C4503-E9C4-4920-946B-A07DA25A11AD}"/>
              </a:ext>
            </a:extLst>
          </p:cNvPr>
          <p:cNvSpPr txBox="1"/>
          <p:nvPr/>
        </p:nvSpPr>
        <p:spPr>
          <a:xfrm>
            <a:off x="35496" y="1916968"/>
            <a:ext cx="31805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solidFill>
                  <a:srgbClr val="00206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正态分布</a:t>
            </a:r>
            <a:r>
              <a:rPr lang="en-US" altLang="zh-CN" sz="2000" kern="0" dirty="0">
                <a:solidFill>
                  <a:srgbClr val="00206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x~(μ,σ</a:t>
            </a:r>
            <a:r>
              <a:rPr lang="en-US" altLang="zh-CN" sz="2000" kern="0" baseline="30000" dirty="0">
                <a:solidFill>
                  <a:srgbClr val="00206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2</a:t>
            </a:r>
            <a:r>
              <a:rPr lang="zh-CN" altLang="en-US" sz="2000" kern="0" dirty="0">
                <a:solidFill>
                  <a:srgbClr val="00206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）</a:t>
            </a:r>
            <a:endParaRPr lang="en-US" altLang="zh-CN" sz="2000" kern="0" dirty="0">
              <a:solidFill>
                <a:srgbClr val="002060"/>
              </a:solidFill>
              <a:latin typeface="Cambria Math" panose="02040503050406030204" pitchFamily="18" charset="0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2E2F60-3060-487B-8946-CC5E082E98E4}"/>
              </a:ext>
            </a:extLst>
          </p:cNvPr>
          <p:cNvSpPr/>
          <p:nvPr/>
        </p:nvSpPr>
        <p:spPr>
          <a:xfrm>
            <a:off x="7937" y="1528070"/>
            <a:ext cx="4134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mu,sigma = </a:t>
            </a:r>
            <a:r>
              <a:rPr lang="en-US" altLang="zh-CN" kern="0" dirty="0" err="1">
                <a:solidFill>
                  <a:srgbClr val="FFFF00"/>
                </a:solidFill>
                <a:effectLst/>
                <a:highlight>
                  <a:srgbClr val="3399FF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TyStatistics</a:t>
            </a:r>
            <a:r>
              <a:rPr lang="en-US" altLang="zh-CN" kern="0" dirty="0">
                <a:solidFill>
                  <a:srgbClr val="FFFF00"/>
                </a:solidFill>
                <a:effectLst/>
                <a:highlight>
                  <a:srgbClr val="3399FF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. </a:t>
            </a:r>
            <a:r>
              <a:rPr lang="pl-PL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normfit(</a:t>
            </a:r>
            <a:r>
              <a:rPr lang="pl-PL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</a:rPr>
              <a:t>x</a:t>
            </a:r>
            <a:r>
              <a:rPr lang="pl-PL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)</a:t>
            </a:r>
            <a:endParaRPr lang="en-US" altLang="zh-CN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  <p:sp>
        <p:nvSpPr>
          <p:cNvPr id="38" name="矩形 6">
            <a:extLst>
              <a:ext uri="{FF2B5EF4-FFF2-40B4-BE49-F238E27FC236}">
                <a16:creationId xmlns:a16="http://schemas.microsoft.com/office/drawing/2014/main" id="{F96D7D13-829B-4DB2-A949-F23B8DF9D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063" y="3025409"/>
            <a:ext cx="1348050" cy="4480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ko-KR" altLang="en-US" sz="18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0D2A565-9DB5-4EBD-8C43-82A183C9A8CD}"/>
              </a:ext>
            </a:extLst>
          </p:cNvPr>
          <p:cNvSpPr txBox="1"/>
          <p:nvPr/>
        </p:nvSpPr>
        <p:spPr>
          <a:xfrm>
            <a:off x="5382510" y="3109473"/>
            <a:ext cx="3583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采用小概率事件原理，根据样本数据对所提假设做出判断：拒绝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H0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，还是接受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H0</a:t>
            </a:r>
            <a:endParaRPr lang="zh-CN" altLang="en-US" sz="1400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0E07CC7-9BC7-4FA4-91A0-7106B7D8E35E}"/>
              </a:ext>
            </a:extLst>
          </p:cNvPr>
          <p:cNvSpPr/>
          <p:nvPr/>
        </p:nvSpPr>
        <p:spPr bwMode="auto">
          <a:xfrm>
            <a:off x="7164287" y="3721175"/>
            <a:ext cx="648073" cy="211997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9BD79F3-677F-4FB7-AB9A-43E322FF5F53}"/>
              </a:ext>
            </a:extLst>
          </p:cNvPr>
          <p:cNvSpPr/>
          <p:nvPr/>
        </p:nvSpPr>
        <p:spPr bwMode="auto">
          <a:xfrm>
            <a:off x="6103986" y="3634996"/>
            <a:ext cx="763585" cy="211997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矩形 76">
            <a:extLst>
              <a:ext uri="{FF2B5EF4-FFF2-40B4-BE49-F238E27FC236}">
                <a16:creationId xmlns:a16="http://schemas.microsoft.com/office/drawing/2014/main" id="{EE2AF8A1-DE14-4320-A181-C3748FF15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105" y="4031198"/>
            <a:ext cx="1701709" cy="40011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</a:t>
            </a:r>
            <a:r>
              <a:rPr lang="en-US" altLang="zh-CN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H0 : </a:t>
            </a:r>
            <a:r>
              <a:rPr lang="en-US" altLang="zh-CN" sz="10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= </a:t>
            </a:r>
            <a:r>
              <a:rPr lang="en-US" altLang="zh-CN" sz="10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 </a:t>
            </a:r>
            <a:r>
              <a:rPr lang="en-US" altLang="zh-CN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 </a:t>
            </a:r>
            <a:r>
              <a:rPr lang="zh-CN" altLang="en-US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：则拒绝拒绝域</a:t>
            </a:r>
            <a:r>
              <a:rPr lang="en-US" altLang="zh-CN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en-US" altLang="zh-CN" sz="10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 </a:t>
            </a:r>
            <a:r>
              <a:rPr lang="zh-CN" altLang="en-US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≠</a:t>
            </a:r>
            <a:r>
              <a:rPr lang="en-US" altLang="zh-CN" sz="10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 m </a:t>
            </a:r>
            <a:r>
              <a:rPr lang="en-US" altLang="zh-CN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</a:p>
        </p:txBody>
      </p:sp>
      <p:sp>
        <p:nvSpPr>
          <p:cNvPr id="44" name="矩形 39">
            <a:extLst>
              <a:ext uri="{FF2B5EF4-FFF2-40B4-BE49-F238E27FC236}">
                <a16:creationId xmlns:a16="http://schemas.microsoft.com/office/drawing/2014/main" id="{C6052152-8437-40FE-9FAA-FDDC44CDC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7449" y="4152353"/>
            <a:ext cx="1082784" cy="246221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zh-CN" altLang="en-US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接受域：</a:t>
            </a:r>
            <a:r>
              <a:rPr lang="en-US" altLang="zh-CN" sz="10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= </a:t>
            </a:r>
            <a:r>
              <a:rPr lang="en-US" altLang="zh-CN" sz="10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baseline="-25000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000" b="1" i="0" u="none" strike="noStrike" cap="none" normalizeH="0" baseline="-25000" dirty="0">
              <a:ln>
                <a:noFill/>
              </a:ln>
              <a:solidFill>
                <a:srgbClr val="FF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2CB27E9-342E-4ED5-8179-ADF5397450C1}"/>
              </a:ext>
            </a:extLst>
          </p:cNvPr>
          <p:cNvSpPr txBox="1"/>
          <p:nvPr/>
        </p:nvSpPr>
        <p:spPr>
          <a:xfrm>
            <a:off x="35496" y="4003199"/>
            <a:ext cx="40707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假设检验由样本推断总体参数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常用来判断产品是否达标、新药或新材料性能是否改善</a:t>
            </a:r>
          </a:p>
        </p:txBody>
      </p:sp>
    </p:spTree>
    <p:extLst>
      <p:ext uri="{BB962C8B-B14F-4D97-AF65-F5344CB8AC3E}">
        <p14:creationId xmlns:p14="http://schemas.microsoft.com/office/powerpoint/2010/main" val="89697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40" grpId="0"/>
      <p:bldP spid="26" grpId="0" animBg="1"/>
      <p:bldP spid="42" grpId="0" animBg="1"/>
      <p:bldP spid="43" grpId="0" animBg="1"/>
      <p:bldP spid="44" grpId="0" animBg="1"/>
      <p:bldP spid="4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2EF5AE-8F00-4324-9596-6CC445827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8" y="700997"/>
            <a:ext cx="4638690" cy="1794787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sz="1400" dirty="0"/>
              <a:t>                 某手机电池待机时间服从正态分布</a:t>
            </a:r>
            <a:r>
              <a:rPr lang="en-US" altLang="zh-CN" sz="1400" dirty="0"/>
              <a:t>,</a:t>
            </a:r>
            <a:r>
              <a:rPr lang="zh-CN" altLang="en-US" sz="1400" dirty="0"/>
              <a:t>标准差 </a:t>
            </a:r>
            <a:r>
              <a:rPr lang="en-US" altLang="zh-CN" sz="1400" dirty="0"/>
              <a:t>sigma =10</a:t>
            </a:r>
            <a:r>
              <a:rPr lang="zh-CN" altLang="en-US" sz="1400" dirty="0"/>
              <a:t>，号称待机时间为</a:t>
            </a:r>
            <a:r>
              <a:rPr lang="en-US" altLang="zh-CN" sz="1400" dirty="0"/>
              <a:t>80h</a:t>
            </a:r>
            <a:r>
              <a:rPr lang="zh-CN" altLang="en-US" sz="1400" dirty="0"/>
              <a:t>，</a:t>
            </a:r>
            <a:r>
              <a:rPr lang="zh-CN" altLang="en-US" sz="1050" b="0" i="0" dirty="0">
                <a:solidFill>
                  <a:srgbClr val="333333"/>
                </a:solidFill>
                <a:effectLst/>
                <a:latin typeface="PingFang SC"/>
              </a:rPr>
              <a:t>质量监管部门需验证该声明是否属实</a:t>
            </a:r>
            <a:r>
              <a:rPr lang="zh-CN" altLang="en-US" sz="1400" dirty="0"/>
              <a:t>随机抽取了</a:t>
            </a:r>
            <a:r>
              <a:rPr lang="en-US" altLang="zh-CN" sz="1400" dirty="0"/>
              <a:t>120</a:t>
            </a:r>
            <a:r>
              <a:rPr lang="zh-CN" altLang="en-US" sz="1400" dirty="0"/>
              <a:t>台手机，测试待机时间其平均值为</a:t>
            </a:r>
            <a:r>
              <a:rPr lang="en-US" altLang="zh-CN" sz="1400" dirty="0"/>
              <a:t>75h</a:t>
            </a:r>
            <a:r>
              <a:rPr lang="zh-CN" altLang="en-US" sz="1100" dirty="0"/>
              <a:t>，</a:t>
            </a:r>
            <a:r>
              <a:rPr lang="zh-CN" altLang="en-US" sz="1400" dirty="0">
                <a:solidFill>
                  <a:srgbClr val="FF0000"/>
                </a:solidFill>
              </a:rPr>
              <a:t>问是否有理由认为手机待机时间未达到</a:t>
            </a:r>
            <a:r>
              <a:rPr lang="en-US" altLang="zh-CN" sz="1400" dirty="0">
                <a:solidFill>
                  <a:srgbClr val="FF0000"/>
                </a:solidFill>
              </a:rPr>
              <a:t>80h</a:t>
            </a:r>
            <a:r>
              <a:rPr lang="zh-CN" altLang="en-US" sz="1400" dirty="0">
                <a:solidFill>
                  <a:srgbClr val="FF0000"/>
                </a:solidFill>
              </a:rPr>
              <a:t>标准</a:t>
            </a:r>
            <a:r>
              <a:rPr lang="en-US" altLang="zh-CN" sz="1400" dirty="0">
                <a:solidFill>
                  <a:srgbClr val="FF0000"/>
                </a:solidFill>
              </a:rPr>
              <a:t>? </a:t>
            </a:r>
            <a:r>
              <a:rPr lang="zh-CN" altLang="en-US" sz="1400" dirty="0"/>
              <a:t>，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55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96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59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7976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92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90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58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82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59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54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82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57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82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93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83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68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60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74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82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77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66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75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81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  <a:ea typeface="source-code-pro"/>
              </a:rPr>
              <a:t>69</a:t>
            </a:r>
            <a:r>
              <a:rPr lang="zh-CN" altLang="zh-CN" sz="900" dirty="0">
                <a:solidFill>
                  <a:srgbClr val="999999"/>
                </a:solidFill>
                <a:latin typeface="Arial Unicode MS"/>
                <a:ea typeface="source-code-pro"/>
              </a:rPr>
              <a:t>,</a:t>
            </a:r>
            <a:r>
              <a:rPr lang="zh-CN" altLang="zh-CN" sz="900" dirty="0">
                <a:solidFill>
                  <a:srgbClr val="4266D5"/>
                </a:solidFill>
                <a:latin typeface="Arial Unicode MS"/>
              </a:rPr>
              <a:t>60,83,72</a:t>
            </a:r>
            <a:r>
              <a:rPr lang="en-US" altLang="zh-CN" sz="900" dirty="0">
                <a:solidFill>
                  <a:srgbClr val="4266D5"/>
                </a:solidFill>
                <a:latin typeface="Arial Unicode MS"/>
              </a:rPr>
              <a:t> </a:t>
            </a:r>
            <a:r>
              <a:rPr lang="zh-CN" altLang="en-US" sz="900" dirty="0">
                <a:solidFill>
                  <a:srgbClr val="4266D5"/>
                </a:solidFill>
                <a:latin typeface="Arial Unicode MS"/>
              </a:rPr>
              <a:t>，</a:t>
            </a:r>
            <a:endParaRPr lang="en-US" altLang="zh-CN" sz="9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CB5701F-83D2-4BB9-9D1B-392995307B42}"/>
              </a:ext>
            </a:extLst>
          </p:cNvPr>
          <p:cNvSpPr txBox="1">
            <a:spLocks/>
          </p:cNvSpPr>
          <p:nvPr/>
        </p:nvSpPr>
        <p:spPr bwMode="auto">
          <a:xfrm>
            <a:off x="979037" y="33651"/>
            <a:ext cx="5481156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200" dirty="0">
                <a:cs typeface="+mn-cs"/>
              </a:rPr>
              <a:t>§4.</a:t>
            </a:r>
            <a:r>
              <a:rPr lang="en-US" altLang="zh-CN" sz="2800" b="1" dirty="0">
                <a:cs typeface="+mn-cs"/>
              </a:rPr>
              <a:t>4</a:t>
            </a:r>
            <a:r>
              <a:rPr lang="en-US" altLang="zh-CN" sz="2800" b="1" kern="1200" dirty="0">
                <a:cs typeface="+mn-cs"/>
              </a:rPr>
              <a:t> </a:t>
            </a:r>
            <a:r>
              <a:rPr lang="zh-CN" altLang="en-US" sz="2800" b="1" kern="1200" dirty="0">
                <a:cs typeface="+mn-cs"/>
              </a:rPr>
              <a:t>假设检验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假设检验步骤</a:t>
            </a:r>
            <a:endParaRPr lang="zh-CN" altLang="en-US" sz="2800" b="1" kern="1200" dirty="0">
              <a:solidFill>
                <a:srgbClr val="FF0000"/>
              </a:solidFill>
              <a:cs typeface="+mn-cs"/>
            </a:endParaRPr>
          </a:p>
        </p:txBody>
      </p:sp>
      <p:pic>
        <p:nvPicPr>
          <p:cNvPr id="22" name="Picture 6" descr="python--假设性检验基础 - 知乎">
            <a:extLst>
              <a:ext uri="{FF2B5EF4-FFF2-40B4-BE49-F238E27FC236}">
                <a16:creationId xmlns:a16="http://schemas.microsoft.com/office/drawing/2014/main" id="{5564328C-4FD0-4861-BC52-1F607979F5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7" b="3672"/>
          <a:stretch/>
        </p:blipFill>
        <p:spPr bwMode="auto">
          <a:xfrm>
            <a:off x="-36512" y="2420114"/>
            <a:ext cx="3287345" cy="217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76CCEBAC-DD21-4E41-ADF0-D478A45259CF}"/>
              </a:ext>
            </a:extLst>
          </p:cNvPr>
          <p:cNvSpPr/>
          <p:nvPr/>
        </p:nvSpPr>
        <p:spPr>
          <a:xfrm>
            <a:off x="92550" y="2584051"/>
            <a:ext cx="902811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简秀圆"/>
              </a:rPr>
              <a:t>双侧检验</a:t>
            </a:r>
          </a:p>
        </p:txBody>
      </p:sp>
      <p:sp>
        <p:nvSpPr>
          <p:cNvPr id="26" name="矩形 76">
            <a:extLst>
              <a:ext uri="{FF2B5EF4-FFF2-40B4-BE49-F238E27FC236}">
                <a16:creationId xmlns:a16="http://schemas.microsoft.com/office/drawing/2014/main" id="{D5CF1059-8EC5-4658-AB2D-C9C653A30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642" y="734993"/>
            <a:ext cx="824265" cy="26161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H0 : μ= μ0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1B9F07A-D439-461A-B128-A1BAB9F2C76D}"/>
              </a:ext>
            </a:extLst>
          </p:cNvPr>
          <p:cNvSpPr txBox="1"/>
          <p:nvPr/>
        </p:nvSpPr>
        <p:spPr>
          <a:xfrm>
            <a:off x="7386895" y="716850"/>
            <a:ext cx="12490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300" dirty="0"/>
              <a:t>备择假设</a:t>
            </a:r>
          </a:p>
        </p:txBody>
      </p:sp>
      <p:sp>
        <p:nvSpPr>
          <p:cNvPr id="31" name="矩形 76">
            <a:extLst>
              <a:ext uri="{FF2B5EF4-FFF2-40B4-BE49-F238E27FC236}">
                <a16:creationId xmlns:a16="http://schemas.microsoft.com/office/drawing/2014/main" id="{5BB34441-BDD1-4B32-9CA6-013A14825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648" y="722228"/>
            <a:ext cx="870752" cy="26161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lang="en-US" altLang="zh-CN" sz="11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1100" b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 : </a:t>
            </a:r>
            <a:r>
              <a:rPr lang="en-US" altLang="zh-CN" sz="1100" b="1" i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100" b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 </a:t>
            </a:r>
            <a:r>
              <a:rPr kumimoji="0" lang="zh-CN" altLang="en-US" sz="1100" b="1" i="1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≠</a:t>
            </a:r>
            <a:r>
              <a:rPr lang="en-US" altLang="zh-CN" sz="1100" b="1" i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 m</a:t>
            </a:r>
            <a:r>
              <a:rPr lang="en-US" altLang="zh-CN" sz="1100" b="1" baseline="-25000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F42746B-E95B-46D5-9250-340B582CEC36}"/>
              </a:ext>
            </a:extLst>
          </p:cNvPr>
          <p:cNvSpPr txBox="1"/>
          <p:nvPr/>
        </p:nvSpPr>
        <p:spPr>
          <a:xfrm>
            <a:off x="5029476" y="1580503"/>
            <a:ext cx="4223044" cy="3383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buClr>
                <a:srgbClr val="002060"/>
              </a:buClr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确定抽样误差概率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p,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即检验值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</a:p>
          <a:p>
            <a:pPr marL="144000">
              <a:lnSpc>
                <a:spcPts val="2300"/>
              </a:lnSpc>
              <a:spcBef>
                <a:spcPts val="0"/>
              </a:spcBef>
              <a:buClr>
                <a:srgbClr val="002060"/>
              </a:buClr>
            </a:pP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检验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值是来自假设检验中各样本统计量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endParaRPr lang="en-US" altLang="zh-CN" sz="1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44000">
              <a:lnSpc>
                <a:spcPts val="2300"/>
              </a:lnSpc>
              <a:spcBef>
                <a:spcPts val="0"/>
              </a:spcBef>
              <a:buClr>
                <a:srgbClr val="002060"/>
              </a:buClr>
            </a:pP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t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值差异引起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抽样误差概率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，由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算出检 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4000">
              <a:lnSpc>
                <a:spcPts val="2300"/>
              </a:lnSpc>
              <a:spcBef>
                <a:spcPts val="0"/>
              </a:spcBef>
              <a:buClr>
                <a:srgbClr val="002060"/>
              </a:buClr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就是判断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H0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成立与否的依据。</a:t>
            </a:r>
            <a:endParaRPr lang="en-US" altLang="zh-CN" sz="1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ts val="2100"/>
              </a:lnSpc>
              <a:spcBef>
                <a:spcPts val="0"/>
              </a:spcBef>
              <a:buClr>
                <a:srgbClr val="002060"/>
              </a:buClr>
              <a:buFont typeface="+mj-ea"/>
              <a:buAutoNum type="circleNumDbPlain" startAt="4"/>
            </a:pPr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确定显著性水平</a:t>
            </a:r>
            <a:r>
              <a:rPr lang="en-US" altLang="zh-CN" sz="14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（检验水准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α-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判断标准</a:t>
            </a:r>
            <a:endParaRPr lang="en-US" altLang="zh-CN" sz="16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100"/>
              </a:lnSpc>
              <a:spcBef>
                <a:spcPts val="0"/>
              </a:spcBef>
              <a:buClr>
                <a:srgbClr val="002060"/>
              </a:buClr>
            </a:pP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指由假设检验做出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推断结论时发生错误概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100"/>
              </a:lnSpc>
              <a:spcBef>
                <a:spcPts val="0"/>
              </a:spcBef>
              <a:buClr>
                <a:srgbClr val="002060"/>
              </a:buClr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率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，属小概率事件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常取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0.05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0.01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100"/>
              </a:lnSpc>
              <a:spcBef>
                <a:spcPts val="0"/>
              </a:spcBef>
              <a:buClr>
                <a:srgbClr val="002060"/>
              </a:buClr>
            </a:pP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显著性水平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α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控制拒绝域大小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24000" indent="-324000">
              <a:lnSpc>
                <a:spcPts val="2100"/>
              </a:lnSpc>
              <a:spcBef>
                <a:spcPts val="0"/>
              </a:spcBef>
              <a:buClr>
                <a:schemeClr val="bg1"/>
              </a:buClr>
              <a:buFont typeface="+mj-ea"/>
              <a:buAutoNum type="circleNumDbPlain" startAt="5"/>
            </a:pPr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做出推论决策</a:t>
            </a:r>
          </a:p>
          <a:p>
            <a:pPr>
              <a:lnSpc>
                <a:spcPts val="2100"/>
              </a:lnSpc>
              <a:spcBef>
                <a:spcPts val="0"/>
              </a:spcBef>
            </a:pPr>
            <a:r>
              <a:rPr lang="zh-CN" altLang="en-US" sz="140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若</a:t>
            </a:r>
            <a:r>
              <a:rPr lang="en-US" altLang="zh-CN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P≤α</a:t>
            </a:r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则拒绝</a:t>
            </a:r>
            <a:r>
              <a:rPr lang="en-US" altLang="zh-CN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H0 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μ=μ0</a:t>
            </a:r>
            <a:r>
              <a:rPr lang="en-US" altLang="zh-CN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,</a:t>
            </a:r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即</a:t>
            </a:r>
            <a:r>
              <a:rPr lang="en-US" altLang="zh-CN" sz="1400" b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 </a:t>
            </a:r>
            <a:r>
              <a:rPr lang="en-US" altLang="zh-CN" sz="14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400" b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 </a:t>
            </a:r>
            <a:r>
              <a:rPr lang="zh-CN" altLang="en-US" sz="1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≠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μ0, 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有显著差别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100"/>
              </a:lnSpc>
              <a:spcBef>
                <a:spcPts val="0"/>
              </a:spcBef>
            </a:pPr>
            <a:r>
              <a:rPr lang="en-US" altLang="zh-CN" sz="14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40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若</a:t>
            </a:r>
            <a:r>
              <a:rPr lang="en-US" altLang="zh-CN" sz="140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P&gt;α</a:t>
            </a:r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接受</a:t>
            </a:r>
            <a:r>
              <a:rPr lang="en-US" altLang="zh-CN" sz="140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H0</a:t>
            </a:r>
            <a:r>
              <a:rPr lang="zh-CN" altLang="en-US" sz="1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μ=μ0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无显著差别</a:t>
            </a:r>
            <a:r>
              <a:rPr lang="zh-CN" altLang="en-US" sz="1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>
              <a:lnSpc>
                <a:spcPts val="21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sp>
        <p:nvSpPr>
          <p:cNvPr id="14" name="形状 209924">
            <a:extLst>
              <a:ext uri="{FF2B5EF4-FFF2-40B4-BE49-F238E27FC236}">
                <a16:creationId xmlns:a16="http://schemas.microsoft.com/office/drawing/2014/main" id="{D0A707E1-F0AB-4458-A677-C2489906B3C8}"/>
              </a:ext>
            </a:extLst>
          </p:cNvPr>
          <p:cNvSpPr/>
          <p:nvPr/>
        </p:nvSpPr>
        <p:spPr>
          <a:xfrm rot="339760">
            <a:off x="6493044" y="-89998"/>
            <a:ext cx="2847328" cy="838359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endParaRPr lang="en-US" altLang="zh-CN" sz="2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en-US" altLang="zh-CN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en-US" altLang="zh-CN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315</a:t>
            </a:r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消费日</a:t>
            </a:r>
            <a:endParaRPr lang="en-US" altLang="zh-CN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抽样统计计算打假</a:t>
            </a:r>
          </a:p>
          <a:p>
            <a:endParaRPr lang="en-US" altLang="zh-CN" sz="2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CF89D8-775A-4966-8335-3D2EFDB9DE4B}"/>
              </a:ext>
            </a:extLst>
          </p:cNvPr>
          <p:cNvSpPr txBox="1"/>
          <p:nvPr/>
        </p:nvSpPr>
        <p:spPr>
          <a:xfrm>
            <a:off x="1470234" y="2256543"/>
            <a:ext cx="2369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总体均值</a:t>
            </a:r>
            <a:r>
              <a:rPr lang="en-US" altLang="zh-CN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，假设均值</a:t>
            </a:r>
            <a:r>
              <a:rPr lang="en-US" altLang="zh-CN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μ0=80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A534767-7895-4F3C-8C45-8B0BD9D414C0}"/>
              </a:ext>
            </a:extLst>
          </p:cNvPr>
          <p:cNvSpPr txBox="1"/>
          <p:nvPr/>
        </p:nvSpPr>
        <p:spPr>
          <a:xfrm>
            <a:off x="4563548" y="747424"/>
            <a:ext cx="1238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1"/>
              </a:buClr>
              <a:buFont typeface="+mj-ea"/>
              <a:buAutoNum type="circleNumDbPlain"/>
            </a:pPr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设定假设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FBAC36C-9899-42A2-B82C-9EDE57B672B6}"/>
              </a:ext>
            </a:extLst>
          </p:cNvPr>
          <p:cNvSpPr txBox="1"/>
          <p:nvPr/>
        </p:nvSpPr>
        <p:spPr>
          <a:xfrm>
            <a:off x="4549746" y="1123102"/>
            <a:ext cx="194247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spcBef>
                <a:spcPts val="0"/>
              </a:spcBef>
              <a:buClr>
                <a:srgbClr val="002060"/>
              </a:buClr>
              <a:buFont typeface="+mj-ea"/>
              <a:buAutoNum type="circleNumDbPlain" startAt="2"/>
              <a:defRPr sz="1600" b="1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1400" b="0" dirty="0"/>
              <a:t>      选择检验方法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FA4066E-FAF2-425C-91A1-7FE4D6433097}"/>
              </a:ext>
            </a:extLst>
          </p:cNvPr>
          <p:cNvSpPr txBox="1"/>
          <p:nvPr/>
        </p:nvSpPr>
        <p:spPr>
          <a:xfrm>
            <a:off x="6167419" y="1038217"/>
            <a:ext cx="2973415" cy="59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检验、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检验、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检验等，根据采样数据计算统计量，如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\F</a:t>
            </a:r>
            <a:r>
              <a:rPr lang="zh-CN" altLang="en-US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</a:p>
        </p:txBody>
      </p:sp>
      <p:sp>
        <p:nvSpPr>
          <p:cNvPr id="34" name="波形 33">
            <a:extLst>
              <a:ext uri="{FF2B5EF4-FFF2-40B4-BE49-F238E27FC236}">
                <a16:creationId xmlns:a16="http://schemas.microsoft.com/office/drawing/2014/main" id="{78686ED8-8834-4789-8734-5BA89644A2F8}"/>
              </a:ext>
            </a:extLst>
          </p:cNvPr>
          <p:cNvSpPr/>
          <p:nvPr/>
        </p:nvSpPr>
        <p:spPr>
          <a:xfrm>
            <a:off x="133198" y="713557"/>
            <a:ext cx="689782" cy="264912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例44-1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A9175EC-70BD-42B3-B437-6234987CB2D1}"/>
              </a:ext>
            </a:extLst>
          </p:cNvPr>
          <p:cNvSpPr txBox="1"/>
          <p:nvPr/>
        </p:nvSpPr>
        <p:spPr>
          <a:xfrm>
            <a:off x="248628" y="4335531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临界值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7AC7410-9935-4CA3-9AC5-66924793B70B}"/>
              </a:ext>
            </a:extLst>
          </p:cNvPr>
          <p:cNvSpPr txBox="1"/>
          <p:nvPr/>
        </p:nvSpPr>
        <p:spPr>
          <a:xfrm>
            <a:off x="1107364" y="3546523"/>
            <a:ext cx="9993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200" b="1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00" dirty="0">
                <a:solidFill>
                  <a:schemeClr val="bg1"/>
                </a:solidFill>
                <a:highlight>
                  <a:srgbClr val="3399FF"/>
                </a:highlight>
              </a:rPr>
              <a:t>接受</a:t>
            </a:r>
            <a:r>
              <a:rPr lang="en-US" altLang="zh-CN" sz="1000" dirty="0">
                <a:solidFill>
                  <a:schemeClr val="bg1"/>
                </a:solidFill>
                <a:highlight>
                  <a:srgbClr val="3399FF"/>
                </a:highlight>
              </a:rPr>
              <a:t>H0:</a:t>
            </a:r>
            <a:r>
              <a:rPr lang="en-US" altLang="zh-CN" sz="100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μ=μ0 </a:t>
            </a:r>
            <a:endParaRPr lang="zh-CN" altLang="en-US" sz="1000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0D9BD98-42C9-4C57-ACB5-86565D8E62F5}"/>
              </a:ext>
            </a:extLst>
          </p:cNvPr>
          <p:cNvSpPr txBox="1"/>
          <p:nvPr/>
        </p:nvSpPr>
        <p:spPr>
          <a:xfrm>
            <a:off x="1699386" y="4358138"/>
            <a:ext cx="681157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临界值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13E7A2D-966C-4E2C-AF9B-BC4F4D78019C}"/>
              </a:ext>
            </a:extLst>
          </p:cNvPr>
          <p:cNvSpPr txBox="1"/>
          <p:nvPr/>
        </p:nvSpPr>
        <p:spPr>
          <a:xfrm>
            <a:off x="157228" y="2986833"/>
            <a:ext cx="80021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拒绝域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H0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5BF9809-A474-454C-8756-9C5715878E74}"/>
              </a:ext>
            </a:extLst>
          </p:cNvPr>
          <p:cNvSpPr txBox="1"/>
          <p:nvPr/>
        </p:nvSpPr>
        <p:spPr>
          <a:xfrm>
            <a:off x="1983046" y="2972268"/>
            <a:ext cx="650538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拒绝域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5C18EC6-3880-4A0D-AF16-C7CF44B7ECCA}"/>
              </a:ext>
            </a:extLst>
          </p:cNvPr>
          <p:cNvSpPr txBox="1"/>
          <p:nvPr/>
        </p:nvSpPr>
        <p:spPr>
          <a:xfrm>
            <a:off x="1419064" y="2558197"/>
            <a:ext cx="112796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置信水平</a:t>
            </a:r>
          </a:p>
        </p:txBody>
      </p:sp>
      <p:sp>
        <p:nvSpPr>
          <p:cNvPr id="48" name="矩形 76">
            <a:extLst>
              <a:ext uri="{FF2B5EF4-FFF2-40B4-BE49-F238E27FC236}">
                <a16:creationId xmlns:a16="http://schemas.microsoft.com/office/drawing/2014/main" id="{CB3B7780-748D-4560-8734-77EBC3ADF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90" y="1779662"/>
            <a:ext cx="3585297" cy="26161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lvl="0" eaLnBrk="0" hangingPunct="0">
              <a:spcBef>
                <a:spcPts val="0"/>
              </a:spcBef>
              <a:buClr>
                <a:schemeClr val="hlink"/>
              </a:buClr>
              <a:buSzPct val="80000"/>
            </a:pPr>
            <a:r>
              <a:rPr lang="zh-CN" altLang="en-US" sz="11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抽样存在误差，无法直接均值</a:t>
            </a:r>
            <a:r>
              <a:rPr lang="en-US" altLang="zh-CN" sz="11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75h</a:t>
            </a:r>
            <a:r>
              <a:rPr lang="zh-CN" altLang="en-US" sz="11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判断   </a:t>
            </a:r>
            <a:r>
              <a:rPr lang="en-US" altLang="zh-CN" sz="11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lang="en-US" altLang="zh-CN" sz="11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1100" b="1" dirty="0">
                <a:solidFill>
                  <a:srgbClr val="FF0000"/>
                </a:solidFill>
                <a:highlight>
                  <a:srgbClr val="FFFF00"/>
                </a:highlight>
                <a:latin typeface="Symbol" panose="05050102010706020507" pitchFamily="18" charset="2"/>
                <a:ea typeface="楷体_GB2312" pitchFamily="49" charset="-122"/>
              </a:rPr>
              <a:t> : m </a:t>
            </a:r>
            <a:r>
              <a:rPr kumimoji="0" lang="en-US" altLang="zh-CN" sz="1100" b="1" u="none" strike="noStrike" kern="1200" cap="none" normalizeH="0" baseline="0" dirty="0">
                <a:ln>
                  <a:noFill/>
                </a:ln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sz="1100" b="1" dirty="0">
                <a:solidFill>
                  <a:srgbClr val="FF0000"/>
                </a:solidFill>
                <a:highlight>
                  <a:srgbClr val="FFFF00"/>
                </a:highlight>
                <a:latin typeface="Symbol" panose="05050102010706020507" pitchFamily="18" charset="2"/>
                <a:ea typeface="楷体_GB2312" pitchFamily="49" charset="-122"/>
              </a:rPr>
              <a:t> m</a:t>
            </a:r>
            <a:r>
              <a:rPr lang="en-US" altLang="zh-CN" sz="11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Symbol" panose="05050102010706020507" pitchFamily="18" charset="2"/>
                <a:ea typeface="楷体_GB2312" pitchFamily="49" charset="-122"/>
              </a:rPr>
              <a:t>0</a:t>
            </a:r>
            <a:r>
              <a:rPr lang="en-US" altLang="zh-CN" sz="1100" b="1" dirty="0">
                <a:solidFill>
                  <a:srgbClr val="FF0000"/>
                </a:solidFill>
                <a:highlight>
                  <a:srgbClr val="FFFF00"/>
                </a:highlight>
                <a:latin typeface="Symbol" panose="05050102010706020507" pitchFamily="18" charset="2"/>
                <a:ea typeface="楷体_GB2312" pitchFamily="49" charset="-122"/>
              </a:rPr>
              <a:t>= 80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86524D7-362B-4932-9BD1-A8925C4DB216}"/>
              </a:ext>
            </a:extLst>
          </p:cNvPr>
          <p:cNvSpPr txBox="1"/>
          <p:nvPr/>
        </p:nvSpPr>
        <p:spPr>
          <a:xfrm>
            <a:off x="4660626" y="720727"/>
            <a:ext cx="123849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Font typeface="+mj-ea"/>
              <a:buAutoNum type="circleNumDbPlain"/>
            </a:pPr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设定假设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6618CF6-537F-4F42-90DE-4CBD70404DFD}"/>
              </a:ext>
            </a:extLst>
          </p:cNvPr>
          <p:cNvSpPr txBox="1"/>
          <p:nvPr/>
        </p:nvSpPr>
        <p:spPr>
          <a:xfrm>
            <a:off x="4674187" y="1137002"/>
            <a:ext cx="1493232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Font typeface="+mj-ea"/>
              <a:buAutoNum type="circleNumDbPlain" startAt="2"/>
            </a:pP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选择检验方法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0E9C6DF-ED13-45D9-A9DF-C0BDEB9D8D7E}"/>
              </a:ext>
            </a:extLst>
          </p:cNvPr>
          <p:cNvSpPr txBox="1"/>
          <p:nvPr/>
        </p:nvSpPr>
        <p:spPr>
          <a:xfrm>
            <a:off x="5066747" y="1601936"/>
            <a:ext cx="3138174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确定抽样误差概率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，即检验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10ACB27-CA4E-49DF-94BD-D628D66AA0E2}"/>
              </a:ext>
            </a:extLst>
          </p:cNvPr>
          <p:cNvSpPr txBox="1"/>
          <p:nvPr/>
        </p:nvSpPr>
        <p:spPr>
          <a:xfrm>
            <a:off x="5051318" y="2725486"/>
            <a:ext cx="3952162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4"/>
            </a:pP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确定显著性水平</a:t>
            </a: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（检验水准</a:t>
            </a:r>
            <a:r>
              <a:rPr lang="en-US" altLang="zh-CN" sz="1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α</a:t>
            </a: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判断标准）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747B002-1984-4F5C-AAB6-1E1AB48BE660}"/>
              </a:ext>
            </a:extLst>
          </p:cNvPr>
          <p:cNvSpPr txBox="1"/>
          <p:nvPr/>
        </p:nvSpPr>
        <p:spPr>
          <a:xfrm>
            <a:off x="5066747" y="3839908"/>
            <a:ext cx="1836632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Font typeface="+mj-ea"/>
              <a:buAutoNum type="circleNumDbPlain" startAt="5"/>
            </a:pP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做出推论决策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447DF7-2E5E-4B5E-88EA-A7F9AD79E97E}"/>
              </a:ext>
            </a:extLst>
          </p:cNvPr>
          <p:cNvSpPr txBox="1"/>
          <p:nvPr/>
        </p:nvSpPr>
        <p:spPr>
          <a:xfrm>
            <a:off x="1996794" y="3319527"/>
            <a:ext cx="550234" cy="2540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400" b="1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highlight>
                  <a:srgbClr val="3399FF"/>
                </a:highlight>
              </a:rPr>
              <a:t>P</a:t>
            </a:r>
            <a:r>
              <a:rPr lang="zh-CN" altLang="en-US" sz="1000" dirty="0">
                <a:solidFill>
                  <a:schemeClr val="bg1"/>
                </a:solidFill>
                <a:highlight>
                  <a:srgbClr val="3399FF"/>
                </a:highlight>
              </a:rPr>
              <a:t>≤</a:t>
            </a:r>
            <a:r>
              <a:rPr lang="en-US" altLang="zh-CN" sz="1000" dirty="0">
                <a:solidFill>
                  <a:schemeClr val="bg1"/>
                </a:solidFill>
                <a:highlight>
                  <a:srgbClr val="3399FF"/>
                </a:highlight>
              </a:rPr>
              <a:t>α</a:t>
            </a:r>
            <a:endParaRPr lang="zh-CN" altLang="en-US" sz="1000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45E1AB0-9666-4978-B17A-222D965378F3}"/>
              </a:ext>
            </a:extLst>
          </p:cNvPr>
          <p:cNvSpPr txBox="1"/>
          <p:nvPr/>
        </p:nvSpPr>
        <p:spPr>
          <a:xfrm>
            <a:off x="5732752" y="734424"/>
            <a:ext cx="10154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</a:t>
            </a:r>
            <a:r>
              <a:rPr lang="en-US" altLang="zh-CN" sz="1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</a:t>
            </a:r>
            <a:r>
              <a:rPr lang="en-US" altLang="zh-CN" sz="1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5CA94E4-DD99-4A7B-864A-39B76F0A4A62}"/>
              </a:ext>
            </a:extLst>
          </p:cNvPr>
          <p:cNvSpPr txBox="1"/>
          <p:nvPr/>
        </p:nvSpPr>
        <p:spPr>
          <a:xfrm>
            <a:off x="802507" y="3532574"/>
            <a:ext cx="585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400" b="1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highlight>
                  <a:srgbClr val="3399FF"/>
                </a:highlight>
              </a:rPr>
              <a:t>P</a:t>
            </a:r>
            <a:r>
              <a:rPr lang="zh-CN" altLang="en-US" sz="1000" dirty="0">
                <a:solidFill>
                  <a:schemeClr val="bg1"/>
                </a:solidFill>
                <a:highlight>
                  <a:srgbClr val="3399FF"/>
                </a:highlight>
              </a:rPr>
              <a:t>＞</a:t>
            </a:r>
            <a:r>
              <a:rPr lang="en-US" altLang="zh-CN" sz="1000" dirty="0">
                <a:solidFill>
                  <a:schemeClr val="bg1"/>
                </a:solidFill>
                <a:highlight>
                  <a:srgbClr val="3399FF"/>
                </a:highlight>
              </a:rPr>
              <a:t>α</a:t>
            </a:r>
            <a:endParaRPr lang="zh-CN" altLang="en-US" sz="1000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D497D74-1ECE-42F7-A380-72DB7E027942}"/>
              </a:ext>
            </a:extLst>
          </p:cNvPr>
          <p:cNvSpPr txBox="1"/>
          <p:nvPr/>
        </p:nvSpPr>
        <p:spPr>
          <a:xfrm>
            <a:off x="2214971" y="4252683"/>
            <a:ext cx="108541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样本统计量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AE8B5AA-0D84-426E-ACFD-36A9A30E8D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658" t="27600" r="22979" b="15602"/>
          <a:stretch/>
        </p:blipFill>
        <p:spPr>
          <a:xfrm>
            <a:off x="3082153" y="2515514"/>
            <a:ext cx="2017035" cy="2007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75DDCA97-17A9-4489-8CA4-E2347A0EE352}"/>
              </a:ext>
            </a:extLst>
          </p:cNvPr>
          <p:cNvSpPr txBox="1"/>
          <p:nvPr/>
        </p:nvSpPr>
        <p:spPr>
          <a:xfrm>
            <a:off x="2261300" y="3327403"/>
            <a:ext cx="1113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000" b="1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拒绝零假设</a:t>
            </a:r>
            <a:r>
              <a:rPr kumimoji="1" lang="en-US" altLang="zh-CN" sz="1000" b="1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H0,</a:t>
            </a:r>
            <a:r>
              <a:rPr kumimoji="1" lang="zh-CN" altLang="en-US" sz="1000" b="1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则备择</a:t>
            </a:r>
            <a:r>
              <a:rPr lang="en-US" altLang="zh-CN" sz="1000" b="1" i="1" dirty="0">
                <a:solidFill>
                  <a:schemeClr val="bg1"/>
                </a:solidFill>
                <a:highlight>
                  <a:srgbClr val="3399FF"/>
                </a:highlight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dirty="0">
                <a:solidFill>
                  <a:schemeClr val="bg1"/>
                </a:solidFill>
                <a:highlight>
                  <a:srgbClr val="3399FF"/>
                </a:highlight>
                <a:latin typeface="Symbol" panose="05050102010706020507" pitchFamily="18" charset="2"/>
                <a:ea typeface="楷体_GB2312" pitchFamily="49" charset="-122"/>
              </a:rPr>
              <a:t> </a:t>
            </a:r>
            <a:r>
              <a:rPr lang="zh-CN" altLang="en-US" sz="1000" b="1" i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≠</a:t>
            </a:r>
            <a:r>
              <a:rPr lang="en-US" altLang="zh-CN" sz="10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μ0</a:t>
            </a:r>
            <a:endParaRPr kumimoji="1" lang="en-US" altLang="zh-CN" sz="1000" b="1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724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/>
      <p:bldP spid="31" grpId="0" animBg="1"/>
      <p:bldP spid="28" grpId="0"/>
      <p:bldP spid="32" grpId="0" animBg="1"/>
      <p:bldP spid="35" grpId="0"/>
      <p:bldP spid="37" grpId="0"/>
      <p:bldP spid="48" grpId="0" animBg="1"/>
      <p:bldP spid="24" grpId="0"/>
      <p:bldP spid="29" grpId="0"/>
      <p:bldP spid="41" grpId="0"/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矩形 61">
            <a:extLst>
              <a:ext uri="{FF2B5EF4-FFF2-40B4-BE49-F238E27FC236}">
                <a16:creationId xmlns:a16="http://schemas.microsoft.com/office/drawing/2014/main" id="{07CAEC33-2864-4089-9E48-EB81DF27C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11698"/>
            <a:ext cx="9144000" cy="230832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ko-KR" b="1" dirty="0">
              <a:solidFill>
                <a:srgbClr val="C00000"/>
              </a:solidFill>
            </a:endParaRPr>
          </a:p>
          <a:p>
            <a:endParaRPr lang="en-US" altLang="ko-KR" b="1" dirty="0">
              <a:solidFill>
                <a:srgbClr val="C00000"/>
              </a:solidFill>
            </a:endParaRPr>
          </a:p>
          <a:p>
            <a:endParaRPr lang="en-US" altLang="ko-KR" b="1" dirty="0">
              <a:solidFill>
                <a:srgbClr val="C00000"/>
              </a:solidFill>
            </a:endParaRPr>
          </a:p>
          <a:p>
            <a:endParaRPr lang="en-US" altLang="ko-KR" b="1" dirty="0">
              <a:solidFill>
                <a:srgbClr val="C00000"/>
              </a:solidFill>
            </a:endParaRPr>
          </a:p>
          <a:p>
            <a:endParaRPr lang="en-US" altLang="ko-KR" b="1" dirty="0">
              <a:solidFill>
                <a:srgbClr val="C00000"/>
              </a:solidFill>
            </a:endParaRPr>
          </a:p>
          <a:p>
            <a:endParaRPr lang="en-US" altLang="ko-KR" b="1" dirty="0">
              <a:solidFill>
                <a:srgbClr val="C00000"/>
              </a:solidFill>
            </a:endParaRPr>
          </a:p>
          <a:p>
            <a:endParaRPr lang="en-US" altLang="ko-KR" b="1" dirty="0">
              <a:solidFill>
                <a:srgbClr val="C00000"/>
              </a:solidFill>
            </a:endParaRPr>
          </a:p>
          <a:p>
            <a:endParaRPr lang="ko-KR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26928"/>
              </p:ext>
            </p:extLst>
          </p:nvPr>
        </p:nvGraphicFramePr>
        <p:xfrm>
          <a:off x="142098" y="803387"/>
          <a:ext cx="8857323" cy="1249400"/>
        </p:xfrm>
        <a:graphic>
          <a:graphicData uri="http://schemas.openxmlformats.org/drawingml/2006/table">
            <a:tbl>
              <a:tblPr/>
              <a:tblGrid>
                <a:gridCol w="153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8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7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332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简秀圆"/>
                        </a:rPr>
                        <a:t>假设</a:t>
                      </a: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3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accent3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双侧检验</a:t>
                      </a: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</a:schemeClr>
                        </a:gs>
                        <a:gs pos="46000">
                          <a:schemeClr val="accent1">
                            <a:lumMod val="95000"/>
                            <a:lumOff val="5000"/>
                          </a:schemeClr>
                        </a:gs>
                        <a:gs pos="100000">
                          <a:schemeClr val="accent1">
                            <a:lumMod val="60000"/>
                          </a:schemeClr>
                        </a:gs>
                      </a:gsLst>
                      <a:path path="circle">
                        <a:fillToRect l="50000" t="130000" r="50000" b="-30000"/>
                      </a:path>
                      <a:tileRect/>
                    </a:gradFill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单侧检验</a:t>
                      </a: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33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简秀圆"/>
                        </a:rPr>
                        <a:t>左侧检验</a:t>
                      </a: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33CCFF">
                            <a:shade val="30000"/>
                            <a:satMod val="115000"/>
                          </a:srgbClr>
                        </a:gs>
                        <a:gs pos="17000">
                          <a:srgbClr val="33CC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简秀圆"/>
                        </a:rPr>
                        <a:t>右侧检验</a:t>
                      </a: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33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原假设（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kumimoji="0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3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accent3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H0 :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kumimoji="0" lang="en-US" altLang="zh-CN" sz="16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=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1600" b="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16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</a:schemeClr>
                        </a:gs>
                        <a:gs pos="46000">
                          <a:schemeClr val="accent1">
                            <a:lumMod val="95000"/>
                            <a:lumOff val="5000"/>
                          </a:schemeClr>
                        </a:gs>
                        <a:gs pos="100000">
                          <a:schemeClr val="accent1">
                            <a:lumMod val="60000"/>
                          </a:schemeClr>
                        </a:gs>
                      </a:gsLst>
                      <a:path path="circle">
                        <a:fillToRect l="50000" t="130000" r="50000" b="-30000"/>
                      </a:path>
                      <a:tileRect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kumimoji="0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: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kumimoji="0" lang="en-US" altLang="zh-CN" sz="16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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1600" b="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33CCFF">
                            <a:shade val="30000"/>
                            <a:satMod val="115000"/>
                          </a:srgbClr>
                        </a:gs>
                        <a:gs pos="17000">
                          <a:srgbClr val="33CC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kumimoji="0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: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kumimoji="0" lang="en-US" altLang="zh-CN" sz="16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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1600" b="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33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备择假设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kumimoji="0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kumimoji="0" lang="zh-CN" altLang="en-U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3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accent3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H1 : m ≠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1600" b="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16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</a:schemeClr>
                        </a:gs>
                        <a:gs pos="46000">
                          <a:schemeClr val="accent1">
                            <a:lumMod val="95000"/>
                            <a:lumOff val="5000"/>
                          </a:schemeClr>
                        </a:gs>
                        <a:gs pos="100000">
                          <a:schemeClr val="accent1">
                            <a:lumMod val="60000"/>
                          </a:schemeClr>
                        </a:gs>
                      </a:gsLst>
                      <a:path path="circle">
                        <a:fillToRect l="50000" t="130000" r="50000" b="-30000"/>
                      </a:path>
                      <a:tileRect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kumimoji="0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: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kumimoji="0" lang="en-US" altLang="zh-CN" sz="16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&lt;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1600" b="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33CCFF">
                            <a:shade val="30000"/>
                            <a:satMod val="115000"/>
                          </a:srgbClr>
                        </a:gs>
                        <a:gs pos="17000">
                          <a:srgbClr val="33CCFF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6858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0858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428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kumimoji="0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: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kumimoji="0" lang="en-US" altLang="zh-CN" sz="16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&gt; </a:t>
                      </a:r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1600" b="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702" marR="68702" marT="34255" marB="34255" anchor="ctr" horzOverflow="overflow">
                    <a:lnL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0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3277" name="Group 4"/>
          <p:cNvGrpSpPr/>
          <p:nvPr/>
        </p:nvGrpSpPr>
        <p:grpSpPr bwMode="auto">
          <a:xfrm>
            <a:off x="3131768" y="2839701"/>
            <a:ext cx="2759890" cy="1886987"/>
            <a:chOff x="777" y="1732"/>
            <a:chExt cx="4008" cy="1826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166" y="3350"/>
              <a:ext cx="886" cy="2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400" b="1" dirty="0">
                  <a:solidFill>
                    <a:srgbClr val="0070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临界值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932" y="2165"/>
              <a:ext cx="0" cy="25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kumimoji="1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1105" y="1732"/>
              <a:ext cx="0" cy="172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kumimoji="1" lang="en-US" altLang="zh-CN" b="1" baseline="-25000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53336" name="Group 10"/>
            <p:cNvGrpSpPr/>
            <p:nvPr/>
          </p:nvGrpSpPr>
          <p:grpSpPr bwMode="auto">
            <a:xfrm>
              <a:off x="777" y="1790"/>
              <a:ext cx="49" cy="1322"/>
              <a:chOff x="765" y="1874"/>
              <a:chExt cx="49" cy="1322"/>
            </a:xfrm>
          </p:grpSpPr>
          <p:sp>
            <p:nvSpPr>
              <p:cNvPr id="29" name="Line 11"/>
              <p:cNvSpPr>
                <a:spLocks noChangeShapeType="1"/>
              </p:cNvSpPr>
              <p:nvPr/>
            </p:nvSpPr>
            <p:spPr bwMode="auto">
              <a:xfrm>
                <a:off x="765" y="187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Line 12"/>
              <p:cNvSpPr>
                <a:spLocks noChangeShapeType="1"/>
              </p:cNvSpPr>
              <p:nvPr/>
            </p:nvSpPr>
            <p:spPr bwMode="auto">
              <a:xfrm>
                <a:off x="765" y="2022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Line 13"/>
              <p:cNvSpPr>
                <a:spLocks noChangeShapeType="1"/>
              </p:cNvSpPr>
              <p:nvPr/>
            </p:nvSpPr>
            <p:spPr bwMode="auto">
              <a:xfrm>
                <a:off x="765" y="2169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765" y="231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Line 15"/>
              <p:cNvSpPr>
                <a:spLocks noChangeShapeType="1"/>
              </p:cNvSpPr>
              <p:nvPr/>
            </p:nvSpPr>
            <p:spPr bwMode="auto">
              <a:xfrm>
                <a:off x="765" y="2461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Line 16"/>
              <p:cNvSpPr>
                <a:spLocks noChangeShapeType="1"/>
              </p:cNvSpPr>
              <p:nvPr/>
            </p:nvSpPr>
            <p:spPr bwMode="auto">
              <a:xfrm>
                <a:off x="765" y="260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Line 17"/>
              <p:cNvSpPr>
                <a:spLocks noChangeShapeType="1"/>
              </p:cNvSpPr>
              <p:nvPr/>
            </p:nvSpPr>
            <p:spPr bwMode="auto">
              <a:xfrm>
                <a:off x="765" y="2756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Line 18"/>
              <p:cNvSpPr>
                <a:spLocks noChangeShapeType="1"/>
              </p:cNvSpPr>
              <p:nvPr/>
            </p:nvSpPr>
            <p:spPr bwMode="auto">
              <a:xfrm>
                <a:off x="765" y="2900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Line 19"/>
              <p:cNvSpPr>
                <a:spLocks noChangeShapeType="1"/>
              </p:cNvSpPr>
              <p:nvPr/>
            </p:nvSpPr>
            <p:spPr bwMode="auto">
              <a:xfrm>
                <a:off x="765" y="304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Line 20"/>
              <p:cNvSpPr>
                <a:spLocks noChangeShapeType="1"/>
              </p:cNvSpPr>
              <p:nvPr/>
            </p:nvSpPr>
            <p:spPr bwMode="auto">
              <a:xfrm>
                <a:off x="765" y="3195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>
              <a:off x="1867" y="2937"/>
              <a:ext cx="1920" cy="0"/>
            </a:xfrm>
            <a:prstGeom prst="line">
              <a:avLst/>
            </a:prstGeom>
            <a:noFill/>
            <a:ln w="36513">
              <a:solidFill>
                <a:schemeClr val="tx1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" name="Rectangle 23"/>
            <p:cNvSpPr>
              <a:spLocks noChangeArrowheads="1"/>
            </p:cNvSpPr>
            <p:nvPr/>
          </p:nvSpPr>
          <p:spPr bwMode="auto">
            <a:xfrm>
              <a:off x="2063" y="2476"/>
              <a:ext cx="1247" cy="344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 b="1" dirty="0">
                  <a:solidFill>
                    <a:srgbClr val="FF0000"/>
                  </a:solidFill>
                </a:rPr>
                <a:t>1 - </a:t>
              </a:r>
              <a:r>
                <a:rPr kumimoji="1" lang="zh-CN" altLang="en-US" b="1" i="1" dirty="0">
                  <a:solidFill>
                    <a:srgbClr val="FF0000"/>
                  </a:solidFill>
                  <a:latin typeface="Symbol" panose="05050102010706020507" pitchFamily="18" charset="2"/>
                </a:rPr>
                <a:t></a:t>
              </a:r>
            </a:p>
          </p:txBody>
        </p: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 flipH="1">
              <a:off x="2740" y="2052"/>
              <a:ext cx="1425" cy="3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Rectangle 25"/>
            <p:cNvSpPr>
              <a:spLocks noChangeArrowheads="1"/>
            </p:cNvSpPr>
            <p:nvPr/>
          </p:nvSpPr>
          <p:spPr bwMode="auto">
            <a:xfrm>
              <a:off x="3329" y="1762"/>
              <a:ext cx="1181" cy="2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400" b="1" dirty="0">
                  <a:solidFill>
                    <a:srgbClr val="0070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置信水平</a:t>
              </a:r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>
              <a:off x="1880" y="3276"/>
              <a:ext cx="0" cy="192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Freeform 30"/>
            <p:cNvSpPr/>
            <p:nvPr/>
          </p:nvSpPr>
          <p:spPr bwMode="auto">
            <a:xfrm>
              <a:off x="1028" y="2701"/>
              <a:ext cx="839" cy="546"/>
            </a:xfrm>
            <a:custGeom>
              <a:avLst/>
              <a:gdLst>
                <a:gd name="T0" fmla="*/ 1129 w 1129"/>
                <a:gd name="T1" fmla="*/ 0 h 735"/>
                <a:gd name="T2" fmla="*/ 1129 w 1129"/>
                <a:gd name="T3" fmla="*/ 735 h 735"/>
                <a:gd name="T4" fmla="*/ 0 w 1129"/>
                <a:gd name="T5" fmla="*/ 735 h 735"/>
                <a:gd name="T6" fmla="*/ 124 w 1129"/>
                <a:gd name="T7" fmla="*/ 698 h 735"/>
                <a:gd name="T8" fmla="*/ 246 w 1129"/>
                <a:gd name="T9" fmla="*/ 657 h 735"/>
                <a:gd name="T10" fmla="*/ 362 w 1129"/>
                <a:gd name="T11" fmla="*/ 610 h 735"/>
                <a:gd name="T12" fmla="*/ 474 w 1129"/>
                <a:gd name="T13" fmla="*/ 559 h 735"/>
                <a:gd name="T14" fmla="*/ 580 w 1129"/>
                <a:gd name="T15" fmla="*/ 504 h 735"/>
                <a:gd name="T16" fmla="*/ 681 w 1129"/>
                <a:gd name="T17" fmla="*/ 442 h 735"/>
                <a:gd name="T18" fmla="*/ 774 w 1129"/>
                <a:gd name="T19" fmla="*/ 378 h 735"/>
                <a:gd name="T20" fmla="*/ 860 w 1129"/>
                <a:gd name="T21" fmla="*/ 308 h 735"/>
                <a:gd name="T22" fmla="*/ 940 w 1129"/>
                <a:gd name="T23" fmla="*/ 236 h 735"/>
                <a:gd name="T24" fmla="*/ 1010 w 1129"/>
                <a:gd name="T25" fmla="*/ 161 h 735"/>
                <a:gd name="T26" fmla="*/ 1074 w 1129"/>
                <a:gd name="T27" fmla="*/ 81 h 735"/>
                <a:gd name="T28" fmla="*/ 1129 w 1129"/>
                <a:gd name="T29" fmla="*/ 0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9" h="735">
                  <a:moveTo>
                    <a:pt x="1129" y="0"/>
                  </a:moveTo>
                  <a:lnTo>
                    <a:pt x="1129" y="735"/>
                  </a:lnTo>
                  <a:lnTo>
                    <a:pt x="0" y="735"/>
                  </a:lnTo>
                  <a:lnTo>
                    <a:pt x="124" y="698"/>
                  </a:lnTo>
                  <a:lnTo>
                    <a:pt x="246" y="657"/>
                  </a:lnTo>
                  <a:lnTo>
                    <a:pt x="362" y="610"/>
                  </a:lnTo>
                  <a:lnTo>
                    <a:pt x="474" y="559"/>
                  </a:lnTo>
                  <a:lnTo>
                    <a:pt x="580" y="504"/>
                  </a:lnTo>
                  <a:lnTo>
                    <a:pt x="681" y="442"/>
                  </a:lnTo>
                  <a:lnTo>
                    <a:pt x="774" y="378"/>
                  </a:lnTo>
                  <a:lnTo>
                    <a:pt x="860" y="308"/>
                  </a:lnTo>
                  <a:lnTo>
                    <a:pt x="940" y="236"/>
                  </a:lnTo>
                  <a:lnTo>
                    <a:pt x="1010" y="161"/>
                  </a:lnTo>
                  <a:lnTo>
                    <a:pt x="1074" y="81"/>
                  </a:lnTo>
                  <a:lnTo>
                    <a:pt x="1129" y="0"/>
                  </a:lnTo>
                  <a:close/>
                </a:path>
              </a:pathLst>
            </a:custGeom>
            <a:pattFill prst="pct60">
              <a:fgClr>
                <a:srgbClr val="FF3300"/>
              </a:fgClr>
              <a:bgClr>
                <a:srgbClr val="FFFFFF"/>
              </a:bgClr>
            </a:patt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53358" name="Group 31"/>
            <p:cNvGrpSpPr/>
            <p:nvPr/>
          </p:nvGrpSpPr>
          <p:grpSpPr bwMode="auto">
            <a:xfrm>
              <a:off x="828" y="1788"/>
              <a:ext cx="3883" cy="1432"/>
              <a:chOff x="816" y="1872"/>
              <a:chExt cx="3883" cy="1432"/>
            </a:xfrm>
          </p:grpSpPr>
          <p:sp>
            <p:nvSpPr>
              <p:cNvPr id="27" name="Freeform 32"/>
              <p:cNvSpPr/>
              <p:nvPr/>
            </p:nvSpPr>
            <p:spPr bwMode="auto">
              <a:xfrm>
                <a:off x="2757" y="1874"/>
                <a:ext cx="1942" cy="1430"/>
              </a:xfrm>
              <a:custGeom>
                <a:avLst/>
                <a:gdLst>
                  <a:gd name="T0" fmla="*/ 1942 w 1942"/>
                  <a:gd name="T1" fmla="*/ 1430 h 1430"/>
                  <a:gd name="T2" fmla="*/ 1737 w 1942"/>
                  <a:gd name="T3" fmla="*/ 1412 h 1430"/>
                  <a:gd name="T4" fmla="*/ 1636 w 1942"/>
                  <a:gd name="T5" fmla="*/ 1396 h 1430"/>
                  <a:gd name="T6" fmla="*/ 1532 w 1942"/>
                  <a:gd name="T7" fmla="*/ 1373 h 1430"/>
                  <a:gd name="T8" fmla="*/ 1431 w 1942"/>
                  <a:gd name="T9" fmla="*/ 1342 h 1430"/>
                  <a:gd name="T10" fmla="*/ 1328 w 1942"/>
                  <a:gd name="T11" fmla="*/ 1298 h 1430"/>
                  <a:gd name="T12" fmla="*/ 1227 w 1942"/>
                  <a:gd name="T13" fmla="*/ 1238 h 1430"/>
                  <a:gd name="T14" fmla="*/ 1022 w 1942"/>
                  <a:gd name="T15" fmla="*/ 1073 h 1430"/>
                  <a:gd name="T16" fmla="*/ 818 w 1942"/>
                  <a:gd name="T17" fmla="*/ 838 h 1430"/>
                  <a:gd name="T18" fmla="*/ 613 w 1942"/>
                  <a:gd name="T19" fmla="*/ 559 h 1430"/>
                  <a:gd name="T20" fmla="*/ 512 w 1942"/>
                  <a:gd name="T21" fmla="*/ 416 h 1430"/>
                  <a:gd name="T22" fmla="*/ 409 w 1942"/>
                  <a:gd name="T23" fmla="*/ 282 h 1430"/>
                  <a:gd name="T24" fmla="*/ 308 w 1942"/>
                  <a:gd name="T25" fmla="*/ 166 h 1430"/>
                  <a:gd name="T26" fmla="*/ 204 w 1942"/>
                  <a:gd name="T27" fmla="*/ 78 h 1430"/>
                  <a:gd name="T28" fmla="*/ 103 w 1942"/>
                  <a:gd name="T29" fmla="*/ 21 h 1430"/>
                  <a:gd name="T30" fmla="*/ 0 w 1942"/>
                  <a:gd name="T31" fmla="*/ 0 h 1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42" h="1430">
                    <a:moveTo>
                      <a:pt x="1942" y="1430"/>
                    </a:moveTo>
                    <a:lnTo>
                      <a:pt x="1737" y="1412"/>
                    </a:lnTo>
                    <a:lnTo>
                      <a:pt x="1636" y="1396"/>
                    </a:lnTo>
                    <a:lnTo>
                      <a:pt x="1532" y="1373"/>
                    </a:lnTo>
                    <a:lnTo>
                      <a:pt x="1431" y="1342"/>
                    </a:lnTo>
                    <a:lnTo>
                      <a:pt x="1328" y="1298"/>
                    </a:lnTo>
                    <a:lnTo>
                      <a:pt x="1227" y="1238"/>
                    </a:lnTo>
                    <a:lnTo>
                      <a:pt x="1022" y="1073"/>
                    </a:lnTo>
                    <a:lnTo>
                      <a:pt x="818" y="838"/>
                    </a:lnTo>
                    <a:lnTo>
                      <a:pt x="613" y="559"/>
                    </a:lnTo>
                    <a:lnTo>
                      <a:pt x="512" y="416"/>
                    </a:lnTo>
                    <a:lnTo>
                      <a:pt x="409" y="282"/>
                    </a:lnTo>
                    <a:lnTo>
                      <a:pt x="308" y="166"/>
                    </a:lnTo>
                    <a:lnTo>
                      <a:pt x="204" y="78"/>
                    </a:lnTo>
                    <a:lnTo>
                      <a:pt x="103" y="21"/>
                    </a:lnTo>
                    <a:lnTo>
                      <a:pt x="0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8" name="Freeform 33"/>
              <p:cNvSpPr/>
              <p:nvPr/>
            </p:nvSpPr>
            <p:spPr bwMode="auto">
              <a:xfrm>
                <a:off x="816" y="1872"/>
                <a:ext cx="1943" cy="1430"/>
              </a:xfrm>
              <a:custGeom>
                <a:avLst/>
                <a:gdLst>
                  <a:gd name="T0" fmla="*/ 0 w 1943"/>
                  <a:gd name="T1" fmla="*/ 1430 h 1430"/>
                  <a:gd name="T2" fmla="*/ 205 w 1943"/>
                  <a:gd name="T3" fmla="*/ 1412 h 1430"/>
                  <a:gd name="T4" fmla="*/ 309 w 1943"/>
                  <a:gd name="T5" fmla="*/ 1396 h 1430"/>
                  <a:gd name="T6" fmla="*/ 410 w 1943"/>
                  <a:gd name="T7" fmla="*/ 1373 h 1430"/>
                  <a:gd name="T8" fmla="*/ 511 w 1943"/>
                  <a:gd name="T9" fmla="*/ 1342 h 1430"/>
                  <a:gd name="T10" fmla="*/ 614 w 1943"/>
                  <a:gd name="T11" fmla="*/ 1298 h 1430"/>
                  <a:gd name="T12" fmla="*/ 715 w 1943"/>
                  <a:gd name="T13" fmla="*/ 1238 h 1430"/>
                  <a:gd name="T14" fmla="*/ 922 w 1943"/>
                  <a:gd name="T15" fmla="*/ 1073 h 1430"/>
                  <a:gd name="T16" fmla="*/ 1124 w 1943"/>
                  <a:gd name="T17" fmla="*/ 838 h 1430"/>
                  <a:gd name="T18" fmla="*/ 1329 w 1943"/>
                  <a:gd name="T19" fmla="*/ 559 h 1430"/>
                  <a:gd name="T20" fmla="*/ 1432 w 1943"/>
                  <a:gd name="T21" fmla="*/ 416 h 1430"/>
                  <a:gd name="T22" fmla="*/ 1533 w 1943"/>
                  <a:gd name="T23" fmla="*/ 282 h 1430"/>
                  <a:gd name="T24" fmla="*/ 1637 w 1943"/>
                  <a:gd name="T25" fmla="*/ 166 h 1430"/>
                  <a:gd name="T26" fmla="*/ 1738 w 1943"/>
                  <a:gd name="T27" fmla="*/ 78 h 1430"/>
                  <a:gd name="T28" fmla="*/ 1842 w 1943"/>
                  <a:gd name="T29" fmla="*/ 21 h 1430"/>
                  <a:gd name="T30" fmla="*/ 1943 w 1943"/>
                  <a:gd name="T31" fmla="*/ 0 h 1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43" h="1430">
                    <a:moveTo>
                      <a:pt x="0" y="1430"/>
                    </a:moveTo>
                    <a:lnTo>
                      <a:pt x="205" y="1412"/>
                    </a:lnTo>
                    <a:lnTo>
                      <a:pt x="309" y="1396"/>
                    </a:lnTo>
                    <a:lnTo>
                      <a:pt x="410" y="1373"/>
                    </a:lnTo>
                    <a:lnTo>
                      <a:pt x="511" y="1342"/>
                    </a:lnTo>
                    <a:lnTo>
                      <a:pt x="614" y="1298"/>
                    </a:lnTo>
                    <a:lnTo>
                      <a:pt x="715" y="1238"/>
                    </a:lnTo>
                    <a:lnTo>
                      <a:pt x="922" y="1073"/>
                    </a:lnTo>
                    <a:lnTo>
                      <a:pt x="1124" y="838"/>
                    </a:lnTo>
                    <a:lnTo>
                      <a:pt x="1329" y="559"/>
                    </a:lnTo>
                    <a:lnTo>
                      <a:pt x="1432" y="416"/>
                    </a:lnTo>
                    <a:lnTo>
                      <a:pt x="1533" y="282"/>
                    </a:lnTo>
                    <a:lnTo>
                      <a:pt x="1637" y="166"/>
                    </a:lnTo>
                    <a:lnTo>
                      <a:pt x="1738" y="78"/>
                    </a:lnTo>
                    <a:lnTo>
                      <a:pt x="1842" y="21"/>
                    </a:lnTo>
                    <a:lnTo>
                      <a:pt x="1943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53359" name="Group 34"/>
            <p:cNvGrpSpPr/>
            <p:nvPr/>
          </p:nvGrpSpPr>
          <p:grpSpPr bwMode="auto">
            <a:xfrm>
              <a:off x="1200" y="1862"/>
              <a:ext cx="680" cy="1414"/>
              <a:chOff x="1392" y="1946"/>
              <a:chExt cx="680" cy="1414"/>
            </a:xfrm>
          </p:grpSpPr>
          <p:sp>
            <p:nvSpPr>
              <p:cNvPr id="25" name="Line 35"/>
              <p:cNvSpPr>
                <a:spLocks noChangeShapeType="1"/>
              </p:cNvSpPr>
              <p:nvPr/>
            </p:nvSpPr>
            <p:spPr bwMode="auto">
              <a:xfrm>
                <a:off x="1392" y="1946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0070C0"/>
                </a:solidFill>
                <a:round/>
                <a:headEnd type="triangle" w="med" len="med"/>
              </a:ln>
              <a:effectLst>
                <a:outerShdw dist="25400" dir="5400000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6" name="Line 36"/>
              <p:cNvSpPr>
                <a:spLocks noChangeShapeType="1"/>
              </p:cNvSpPr>
              <p:nvPr/>
            </p:nvSpPr>
            <p:spPr bwMode="auto">
              <a:xfrm>
                <a:off x="2050" y="1964"/>
                <a:ext cx="22" cy="1396"/>
              </a:xfrm>
              <a:prstGeom prst="line">
                <a:avLst/>
              </a:prstGeom>
              <a:noFill/>
              <a:ln w="28575">
                <a:solidFill>
                  <a:srgbClr val="0070C0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3" name="Freeform 37"/>
            <p:cNvSpPr/>
            <p:nvPr/>
          </p:nvSpPr>
          <p:spPr bwMode="auto">
            <a:xfrm>
              <a:off x="1361" y="2492"/>
              <a:ext cx="351" cy="638"/>
            </a:xfrm>
            <a:custGeom>
              <a:avLst/>
              <a:gdLst>
                <a:gd name="T0" fmla="*/ 0 w 303"/>
                <a:gd name="T1" fmla="*/ 0 h 566"/>
                <a:gd name="T2" fmla="*/ 47 w 303"/>
                <a:gd name="T3" fmla="*/ 6 h 566"/>
                <a:gd name="T4" fmla="*/ 91 w 303"/>
                <a:gd name="T5" fmla="*/ 18 h 566"/>
                <a:gd name="T6" fmla="*/ 130 w 303"/>
                <a:gd name="T7" fmla="*/ 44 h 566"/>
                <a:gd name="T8" fmla="*/ 163 w 303"/>
                <a:gd name="T9" fmla="*/ 75 h 566"/>
                <a:gd name="T10" fmla="*/ 189 w 303"/>
                <a:gd name="T11" fmla="*/ 114 h 566"/>
                <a:gd name="T12" fmla="*/ 207 w 303"/>
                <a:gd name="T13" fmla="*/ 155 h 566"/>
                <a:gd name="T14" fmla="*/ 212 w 303"/>
                <a:gd name="T15" fmla="*/ 202 h 566"/>
                <a:gd name="T16" fmla="*/ 210 w 303"/>
                <a:gd name="T17" fmla="*/ 249 h 566"/>
                <a:gd name="T18" fmla="*/ 194 w 303"/>
                <a:gd name="T19" fmla="*/ 292 h 566"/>
                <a:gd name="T20" fmla="*/ 181 w 303"/>
                <a:gd name="T21" fmla="*/ 331 h 566"/>
                <a:gd name="T22" fmla="*/ 176 w 303"/>
                <a:gd name="T23" fmla="*/ 373 h 566"/>
                <a:gd name="T24" fmla="*/ 181 w 303"/>
                <a:gd name="T25" fmla="*/ 411 h 566"/>
                <a:gd name="T26" fmla="*/ 192 w 303"/>
                <a:gd name="T27" fmla="*/ 453 h 566"/>
                <a:gd name="T28" fmla="*/ 210 w 303"/>
                <a:gd name="T29" fmla="*/ 489 h 566"/>
                <a:gd name="T30" fmla="*/ 236 w 303"/>
                <a:gd name="T31" fmla="*/ 520 h 566"/>
                <a:gd name="T32" fmla="*/ 267 w 303"/>
                <a:gd name="T33" fmla="*/ 546 h 566"/>
                <a:gd name="T34" fmla="*/ 303 w 303"/>
                <a:gd name="T3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3" h="566">
                  <a:moveTo>
                    <a:pt x="0" y="0"/>
                  </a:moveTo>
                  <a:lnTo>
                    <a:pt x="47" y="6"/>
                  </a:lnTo>
                  <a:lnTo>
                    <a:pt x="91" y="18"/>
                  </a:lnTo>
                  <a:lnTo>
                    <a:pt x="130" y="44"/>
                  </a:lnTo>
                  <a:lnTo>
                    <a:pt x="163" y="75"/>
                  </a:lnTo>
                  <a:lnTo>
                    <a:pt x="189" y="114"/>
                  </a:lnTo>
                  <a:lnTo>
                    <a:pt x="207" y="155"/>
                  </a:lnTo>
                  <a:lnTo>
                    <a:pt x="212" y="202"/>
                  </a:lnTo>
                  <a:lnTo>
                    <a:pt x="210" y="249"/>
                  </a:lnTo>
                  <a:lnTo>
                    <a:pt x="194" y="292"/>
                  </a:lnTo>
                  <a:lnTo>
                    <a:pt x="181" y="331"/>
                  </a:lnTo>
                  <a:lnTo>
                    <a:pt x="176" y="373"/>
                  </a:lnTo>
                  <a:lnTo>
                    <a:pt x="181" y="411"/>
                  </a:lnTo>
                  <a:lnTo>
                    <a:pt x="192" y="453"/>
                  </a:lnTo>
                  <a:lnTo>
                    <a:pt x="210" y="489"/>
                  </a:lnTo>
                  <a:lnTo>
                    <a:pt x="236" y="520"/>
                  </a:lnTo>
                  <a:lnTo>
                    <a:pt x="267" y="546"/>
                  </a:lnTo>
                  <a:lnTo>
                    <a:pt x="303" y="566"/>
                  </a:lnTo>
                </a:path>
              </a:pathLst>
            </a:custGeom>
            <a:noFill/>
            <a:ln w="36513">
              <a:solidFill>
                <a:srgbClr val="2FFFEB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40161" dir="4293903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4" name="Freeform 38"/>
            <p:cNvSpPr/>
            <p:nvPr/>
          </p:nvSpPr>
          <p:spPr bwMode="auto">
            <a:xfrm>
              <a:off x="828" y="1788"/>
              <a:ext cx="3957" cy="1466"/>
            </a:xfrm>
            <a:custGeom>
              <a:avLst/>
              <a:gdLst>
                <a:gd name="T0" fmla="*/ 0 w 3957"/>
                <a:gd name="T1" fmla="*/ 0 h 1466"/>
                <a:gd name="T2" fmla="*/ 0 w 3957"/>
                <a:gd name="T3" fmla="*/ 1466 h 1466"/>
                <a:gd name="T4" fmla="*/ 3957 w 3957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57" h="1466">
                  <a:moveTo>
                    <a:pt x="0" y="0"/>
                  </a:moveTo>
                  <a:lnTo>
                    <a:pt x="0" y="1466"/>
                  </a:lnTo>
                  <a:lnTo>
                    <a:pt x="3957" y="1466"/>
                  </a:lnTo>
                </a:path>
              </a:pathLst>
            </a:custGeom>
            <a:noFill/>
            <a:ln w="36513">
              <a:solidFill>
                <a:schemeClr val="tx1"/>
              </a:solidFill>
              <a:prstDash val="solid"/>
              <a:round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/>
            </a:p>
          </p:txBody>
        </p:sp>
      </p:grpSp>
      <p:grpSp>
        <p:nvGrpSpPr>
          <p:cNvPr id="53282" name="Group 4"/>
          <p:cNvGrpSpPr/>
          <p:nvPr/>
        </p:nvGrpSpPr>
        <p:grpSpPr bwMode="auto">
          <a:xfrm>
            <a:off x="6084168" y="2643758"/>
            <a:ext cx="2850187" cy="2084515"/>
            <a:chOff x="789" y="1322"/>
            <a:chExt cx="4008" cy="2249"/>
          </a:xfrm>
        </p:grpSpPr>
        <p:sp>
          <p:nvSpPr>
            <p:cNvPr id="53288" name="Rectangle 6"/>
            <p:cNvSpPr>
              <a:spLocks noChangeArrowheads="1"/>
            </p:cNvSpPr>
            <p:nvPr/>
          </p:nvSpPr>
          <p:spPr bwMode="auto">
            <a:xfrm>
              <a:off x="2510" y="3339"/>
              <a:ext cx="757" cy="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400" b="1" dirty="0">
                  <a:solidFill>
                    <a:srgbClr val="0070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临界值</a:t>
              </a:r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4188" y="2280"/>
              <a:ext cx="207" cy="35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kumimoji="1" lang="en-US" altLang="zh-CN" sz="21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</a:rPr>
                <a:t>a</a:t>
              </a:r>
              <a:endParaRPr kumimoji="1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53291" name="Group 10"/>
            <p:cNvGrpSpPr/>
            <p:nvPr/>
          </p:nvGrpSpPr>
          <p:grpSpPr bwMode="auto">
            <a:xfrm>
              <a:off x="789" y="1718"/>
              <a:ext cx="49" cy="1322"/>
              <a:chOff x="765" y="1874"/>
              <a:chExt cx="49" cy="1322"/>
            </a:xfrm>
          </p:grpSpPr>
          <p:sp>
            <p:nvSpPr>
              <p:cNvPr id="53311" name="Line 11"/>
              <p:cNvSpPr>
                <a:spLocks noChangeShapeType="1"/>
              </p:cNvSpPr>
              <p:nvPr/>
            </p:nvSpPr>
            <p:spPr bwMode="auto">
              <a:xfrm>
                <a:off x="765" y="187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2" name="Line 12"/>
              <p:cNvSpPr>
                <a:spLocks noChangeShapeType="1"/>
              </p:cNvSpPr>
              <p:nvPr/>
            </p:nvSpPr>
            <p:spPr bwMode="auto">
              <a:xfrm>
                <a:off x="765" y="2022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3" name="Line 13"/>
              <p:cNvSpPr>
                <a:spLocks noChangeShapeType="1"/>
              </p:cNvSpPr>
              <p:nvPr/>
            </p:nvSpPr>
            <p:spPr bwMode="auto">
              <a:xfrm>
                <a:off x="765" y="2169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4" name="Line 14"/>
              <p:cNvSpPr>
                <a:spLocks noChangeShapeType="1"/>
              </p:cNvSpPr>
              <p:nvPr/>
            </p:nvSpPr>
            <p:spPr bwMode="auto">
              <a:xfrm>
                <a:off x="765" y="231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5" name="Line 15"/>
              <p:cNvSpPr>
                <a:spLocks noChangeShapeType="1"/>
              </p:cNvSpPr>
              <p:nvPr/>
            </p:nvSpPr>
            <p:spPr bwMode="auto">
              <a:xfrm>
                <a:off x="765" y="2461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6" name="Line 16"/>
              <p:cNvSpPr>
                <a:spLocks noChangeShapeType="1"/>
              </p:cNvSpPr>
              <p:nvPr/>
            </p:nvSpPr>
            <p:spPr bwMode="auto">
              <a:xfrm>
                <a:off x="765" y="260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7" name="Line 17"/>
              <p:cNvSpPr>
                <a:spLocks noChangeShapeType="1"/>
              </p:cNvSpPr>
              <p:nvPr/>
            </p:nvSpPr>
            <p:spPr bwMode="auto">
              <a:xfrm>
                <a:off x="765" y="2756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8" name="Line 18"/>
              <p:cNvSpPr>
                <a:spLocks noChangeShapeType="1"/>
              </p:cNvSpPr>
              <p:nvPr/>
            </p:nvSpPr>
            <p:spPr bwMode="auto">
              <a:xfrm>
                <a:off x="765" y="2900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9" name="Line 19"/>
              <p:cNvSpPr>
                <a:spLocks noChangeShapeType="1"/>
              </p:cNvSpPr>
              <p:nvPr/>
            </p:nvSpPr>
            <p:spPr bwMode="auto">
              <a:xfrm>
                <a:off x="765" y="304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0" name="Line 20"/>
              <p:cNvSpPr>
                <a:spLocks noChangeShapeType="1"/>
              </p:cNvSpPr>
              <p:nvPr/>
            </p:nvSpPr>
            <p:spPr bwMode="auto">
              <a:xfrm>
                <a:off x="765" y="3195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92" name="Line 21"/>
            <p:cNvSpPr>
              <a:spLocks noChangeShapeType="1"/>
            </p:cNvSpPr>
            <p:nvPr/>
          </p:nvSpPr>
          <p:spPr bwMode="auto">
            <a:xfrm flipH="1">
              <a:off x="1740" y="2988"/>
              <a:ext cx="1920" cy="0"/>
            </a:xfrm>
            <a:prstGeom prst="line">
              <a:avLst/>
            </a:prstGeom>
            <a:noFill/>
            <a:ln w="36513">
              <a:solidFill>
                <a:schemeClr val="tx1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23"/>
            <p:cNvSpPr>
              <a:spLocks noChangeArrowheads="1"/>
            </p:cNvSpPr>
            <p:nvPr/>
          </p:nvSpPr>
          <p:spPr bwMode="auto">
            <a:xfrm>
              <a:off x="2302" y="2337"/>
              <a:ext cx="965" cy="373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1 - </a:t>
              </a:r>
              <a:r>
                <a:rPr kumimoji="1" lang="zh-CN" altLang="en-US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</a:rPr>
                <a:t></a:t>
              </a:r>
              <a:endParaRPr kumimoji="1" lang="zh-CN" altLang="en-US" b="1" i="1">
                <a:latin typeface="Symbol" panose="05050102010706020507" pitchFamily="18" charset="2"/>
              </a:endParaRPr>
            </a:p>
          </p:txBody>
        </p:sp>
        <p:sp>
          <p:nvSpPr>
            <p:cNvPr id="53295" name="Line 24"/>
            <p:cNvSpPr>
              <a:spLocks noChangeShapeType="1"/>
            </p:cNvSpPr>
            <p:nvPr/>
          </p:nvSpPr>
          <p:spPr bwMode="auto">
            <a:xfrm flipH="1">
              <a:off x="2710" y="1559"/>
              <a:ext cx="340" cy="502"/>
            </a:xfrm>
            <a:prstGeom prst="line">
              <a:avLst/>
            </a:prstGeom>
            <a:noFill/>
            <a:ln w="25400">
              <a:solidFill>
                <a:srgbClr val="003399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6" name="Rectangle 25"/>
            <p:cNvSpPr>
              <a:spLocks noChangeArrowheads="1"/>
            </p:cNvSpPr>
            <p:nvPr/>
          </p:nvSpPr>
          <p:spPr bwMode="auto">
            <a:xfrm>
              <a:off x="2099" y="1322"/>
              <a:ext cx="1592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 b="1" dirty="0">
                  <a:solidFill>
                    <a:srgbClr val="0070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置信水平</a:t>
              </a:r>
            </a:p>
          </p:txBody>
        </p:sp>
        <p:sp>
          <p:nvSpPr>
            <p:cNvPr id="53297" name="Line 26"/>
            <p:cNvSpPr>
              <a:spLocks noChangeShapeType="1"/>
            </p:cNvSpPr>
            <p:nvPr/>
          </p:nvSpPr>
          <p:spPr bwMode="auto">
            <a:xfrm>
              <a:off x="3672" y="3216"/>
              <a:ext cx="0" cy="192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2" name="Freeform 30" descr="60%"/>
            <p:cNvSpPr/>
            <p:nvPr/>
          </p:nvSpPr>
          <p:spPr bwMode="auto">
            <a:xfrm>
              <a:off x="3691" y="2653"/>
              <a:ext cx="876" cy="527"/>
            </a:xfrm>
            <a:custGeom>
              <a:avLst/>
              <a:gdLst>
                <a:gd name="T0" fmla="*/ 0 w 1129"/>
                <a:gd name="T1" fmla="*/ 0 h 734"/>
                <a:gd name="T2" fmla="*/ 0 w 1129"/>
                <a:gd name="T3" fmla="*/ 378 h 734"/>
                <a:gd name="T4" fmla="*/ 680 w 1129"/>
                <a:gd name="T5" fmla="*/ 378 h 734"/>
                <a:gd name="T6" fmla="*/ 603 w 1129"/>
                <a:gd name="T7" fmla="*/ 361 h 734"/>
                <a:gd name="T8" fmla="*/ 530 w 1129"/>
                <a:gd name="T9" fmla="*/ 340 h 734"/>
                <a:gd name="T10" fmla="*/ 460 w 1129"/>
                <a:gd name="T11" fmla="*/ 315 h 734"/>
                <a:gd name="T12" fmla="*/ 393 w 1129"/>
                <a:gd name="T13" fmla="*/ 289 h 734"/>
                <a:gd name="T14" fmla="*/ 329 w 1129"/>
                <a:gd name="T15" fmla="*/ 260 h 734"/>
                <a:gd name="T16" fmla="*/ 268 w 1129"/>
                <a:gd name="T17" fmla="*/ 229 h 734"/>
                <a:gd name="T18" fmla="*/ 212 w 1129"/>
                <a:gd name="T19" fmla="*/ 196 h 734"/>
                <a:gd name="T20" fmla="*/ 161 w 1129"/>
                <a:gd name="T21" fmla="*/ 160 h 734"/>
                <a:gd name="T22" fmla="*/ 114 w 1129"/>
                <a:gd name="T23" fmla="*/ 122 h 734"/>
                <a:gd name="T24" fmla="*/ 70 w 1129"/>
                <a:gd name="T25" fmla="*/ 83 h 734"/>
                <a:gd name="T26" fmla="*/ 33 w 1129"/>
                <a:gd name="T27" fmla="*/ 42 h 734"/>
                <a:gd name="T28" fmla="*/ 0 w 1129"/>
                <a:gd name="T29" fmla="*/ 0 h 7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29" h="734">
                  <a:moveTo>
                    <a:pt x="0" y="0"/>
                  </a:moveTo>
                  <a:lnTo>
                    <a:pt x="0" y="734"/>
                  </a:lnTo>
                  <a:lnTo>
                    <a:pt x="1129" y="734"/>
                  </a:lnTo>
                  <a:lnTo>
                    <a:pt x="1002" y="700"/>
                  </a:lnTo>
                  <a:lnTo>
                    <a:pt x="880" y="659"/>
                  </a:lnTo>
                  <a:lnTo>
                    <a:pt x="764" y="612"/>
                  </a:lnTo>
                  <a:lnTo>
                    <a:pt x="652" y="561"/>
                  </a:lnTo>
                  <a:lnTo>
                    <a:pt x="546" y="504"/>
                  </a:lnTo>
                  <a:lnTo>
                    <a:pt x="445" y="444"/>
                  </a:lnTo>
                  <a:lnTo>
                    <a:pt x="352" y="380"/>
                  </a:lnTo>
                  <a:lnTo>
                    <a:pt x="267" y="310"/>
                  </a:lnTo>
                  <a:lnTo>
                    <a:pt x="189" y="237"/>
                  </a:lnTo>
                  <a:lnTo>
                    <a:pt x="116" y="162"/>
                  </a:lnTo>
                  <a:lnTo>
                    <a:pt x="54" y="82"/>
                  </a:lnTo>
                  <a:lnTo>
                    <a:pt x="0" y="0"/>
                  </a:lnTo>
                  <a:close/>
                </a:path>
              </a:pathLst>
            </a:custGeom>
            <a:pattFill prst="pct60">
              <a:fgClr>
                <a:srgbClr val="FF33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303" name="Group 31"/>
            <p:cNvGrpSpPr/>
            <p:nvPr/>
          </p:nvGrpSpPr>
          <p:grpSpPr bwMode="auto">
            <a:xfrm>
              <a:off x="840" y="1716"/>
              <a:ext cx="3883" cy="1432"/>
              <a:chOff x="816" y="1872"/>
              <a:chExt cx="3883" cy="1432"/>
            </a:xfrm>
          </p:grpSpPr>
          <p:sp>
            <p:nvSpPr>
              <p:cNvPr id="53309" name="Freeform 32"/>
              <p:cNvSpPr/>
              <p:nvPr/>
            </p:nvSpPr>
            <p:spPr bwMode="auto">
              <a:xfrm>
                <a:off x="2757" y="1874"/>
                <a:ext cx="1942" cy="1430"/>
              </a:xfrm>
              <a:custGeom>
                <a:avLst/>
                <a:gdLst>
                  <a:gd name="T0" fmla="*/ 1942 w 1942"/>
                  <a:gd name="T1" fmla="*/ 1430 h 1430"/>
                  <a:gd name="T2" fmla="*/ 1737 w 1942"/>
                  <a:gd name="T3" fmla="*/ 1412 h 1430"/>
                  <a:gd name="T4" fmla="*/ 1636 w 1942"/>
                  <a:gd name="T5" fmla="*/ 1396 h 1430"/>
                  <a:gd name="T6" fmla="*/ 1532 w 1942"/>
                  <a:gd name="T7" fmla="*/ 1373 h 1430"/>
                  <a:gd name="T8" fmla="*/ 1431 w 1942"/>
                  <a:gd name="T9" fmla="*/ 1342 h 1430"/>
                  <a:gd name="T10" fmla="*/ 1328 w 1942"/>
                  <a:gd name="T11" fmla="*/ 1298 h 1430"/>
                  <a:gd name="T12" fmla="*/ 1227 w 1942"/>
                  <a:gd name="T13" fmla="*/ 1238 h 1430"/>
                  <a:gd name="T14" fmla="*/ 1022 w 1942"/>
                  <a:gd name="T15" fmla="*/ 1073 h 1430"/>
                  <a:gd name="T16" fmla="*/ 818 w 1942"/>
                  <a:gd name="T17" fmla="*/ 838 h 1430"/>
                  <a:gd name="T18" fmla="*/ 613 w 1942"/>
                  <a:gd name="T19" fmla="*/ 559 h 1430"/>
                  <a:gd name="T20" fmla="*/ 512 w 1942"/>
                  <a:gd name="T21" fmla="*/ 416 h 1430"/>
                  <a:gd name="T22" fmla="*/ 409 w 1942"/>
                  <a:gd name="T23" fmla="*/ 282 h 1430"/>
                  <a:gd name="T24" fmla="*/ 308 w 1942"/>
                  <a:gd name="T25" fmla="*/ 166 h 1430"/>
                  <a:gd name="T26" fmla="*/ 204 w 1942"/>
                  <a:gd name="T27" fmla="*/ 78 h 1430"/>
                  <a:gd name="T28" fmla="*/ 103 w 1942"/>
                  <a:gd name="T29" fmla="*/ 21 h 1430"/>
                  <a:gd name="T30" fmla="*/ 0 w 1942"/>
                  <a:gd name="T31" fmla="*/ 0 h 14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942" h="1430">
                    <a:moveTo>
                      <a:pt x="1942" y="1430"/>
                    </a:moveTo>
                    <a:lnTo>
                      <a:pt x="1737" y="1412"/>
                    </a:lnTo>
                    <a:lnTo>
                      <a:pt x="1636" y="1396"/>
                    </a:lnTo>
                    <a:lnTo>
                      <a:pt x="1532" y="1373"/>
                    </a:lnTo>
                    <a:lnTo>
                      <a:pt x="1431" y="1342"/>
                    </a:lnTo>
                    <a:lnTo>
                      <a:pt x="1328" y="1298"/>
                    </a:lnTo>
                    <a:lnTo>
                      <a:pt x="1227" y="1238"/>
                    </a:lnTo>
                    <a:lnTo>
                      <a:pt x="1022" y="1073"/>
                    </a:lnTo>
                    <a:lnTo>
                      <a:pt x="818" y="838"/>
                    </a:lnTo>
                    <a:lnTo>
                      <a:pt x="613" y="559"/>
                    </a:lnTo>
                    <a:lnTo>
                      <a:pt x="512" y="416"/>
                    </a:lnTo>
                    <a:lnTo>
                      <a:pt x="409" y="282"/>
                    </a:lnTo>
                    <a:lnTo>
                      <a:pt x="308" y="166"/>
                    </a:lnTo>
                    <a:lnTo>
                      <a:pt x="204" y="78"/>
                    </a:lnTo>
                    <a:lnTo>
                      <a:pt x="103" y="21"/>
                    </a:lnTo>
                    <a:lnTo>
                      <a:pt x="0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0" name="Freeform 33"/>
              <p:cNvSpPr/>
              <p:nvPr/>
            </p:nvSpPr>
            <p:spPr bwMode="auto">
              <a:xfrm>
                <a:off x="816" y="1872"/>
                <a:ext cx="1943" cy="1430"/>
              </a:xfrm>
              <a:custGeom>
                <a:avLst/>
                <a:gdLst>
                  <a:gd name="T0" fmla="*/ 0 w 1943"/>
                  <a:gd name="T1" fmla="*/ 1430 h 1430"/>
                  <a:gd name="T2" fmla="*/ 205 w 1943"/>
                  <a:gd name="T3" fmla="*/ 1412 h 1430"/>
                  <a:gd name="T4" fmla="*/ 309 w 1943"/>
                  <a:gd name="T5" fmla="*/ 1396 h 1430"/>
                  <a:gd name="T6" fmla="*/ 410 w 1943"/>
                  <a:gd name="T7" fmla="*/ 1373 h 1430"/>
                  <a:gd name="T8" fmla="*/ 511 w 1943"/>
                  <a:gd name="T9" fmla="*/ 1342 h 1430"/>
                  <a:gd name="T10" fmla="*/ 614 w 1943"/>
                  <a:gd name="T11" fmla="*/ 1298 h 1430"/>
                  <a:gd name="T12" fmla="*/ 715 w 1943"/>
                  <a:gd name="T13" fmla="*/ 1238 h 1430"/>
                  <a:gd name="T14" fmla="*/ 922 w 1943"/>
                  <a:gd name="T15" fmla="*/ 1073 h 1430"/>
                  <a:gd name="T16" fmla="*/ 1124 w 1943"/>
                  <a:gd name="T17" fmla="*/ 838 h 1430"/>
                  <a:gd name="T18" fmla="*/ 1329 w 1943"/>
                  <a:gd name="T19" fmla="*/ 559 h 1430"/>
                  <a:gd name="T20" fmla="*/ 1432 w 1943"/>
                  <a:gd name="T21" fmla="*/ 416 h 1430"/>
                  <a:gd name="T22" fmla="*/ 1533 w 1943"/>
                  <a:gd name="T23" fmla="*/ 282 h 1430"/>
                  <a:gd name="T24" fmla="*/ 1637 w 1943"/>
                  <a:gd name="T25" fmla="*/ 166 h 1430"/>
                  <a:gd name="T26" fmla="*/ 1738 w 1943"/>
                  <a:gd name="T27" fmla="*/ 78 h 1430"/>
                  <a:gd name="T28" fmla="*/ 1842 w 1943"/>
                  <a:gd name="T29" fmla="*/ 21 h 1430"/>
                  <a:gd name="T30" fmla="*/ 1943 w 1943"/>
                  <a:gd name="T31" fmla="*/ 0 h 14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943" h="1430">
                    <a:moveTo>
                      <a:pt x="0" y="1430"/>
                    </a:moveTo>
                    <a:lnTo>
                      <a:pt x="205" y="1412"/>
                    </a:lnTo>
                    <a:lnTo>
                      <a:pt x="309" y="1396"/>
                    </a:lnTo>
                    <a:lnTo>
                      <a:pt x="410" y="1373"/>
                    </a:lnTo>
                    <a:lnTo>
                      <a:pt x="511" y="1342"/>
                    </a:lnTo>
                    <a:lnTo>
                      <a:pt x="614" y="1298"/>
                    </a:lnTo>
                    <a:lnTo>
                      <a:pt x="715" y="1238"/>
                    </a:lnTo>
                    <a:lnTo>
                      <a:pt x="922" y="1073"/>
                    </a:lnTo>
                    <a:lnTo>
                      <a:pt x="1124" y="838"/>
                    </a:lnTo>
                    <a:lnTo>
                      <a:pt x="1329" y="559"/>
                    </a:lnTo>
                    <a:lnTo>
                      <a:pt x="1432" y="416"/>
                    </a:lnTo>
                    <a:lnTo>
                      <a:pt x="1533" y="282"/>
                    </a:lnTo>
                    <a:lnTo>
                      <a:pt x="1637" y="166"/>
                    </a:lnTo>
                    <a:lnTo>
                      <a:pt x="1738" y="78"/>
                    </a:lnTo>
                    <a:lnTo>
                      <a:pt x="1842" y="21"/>
                    </a:lnTo>
                    <a:lnTo>
                      <a:pt x="1943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304" name="Group 34"/>
            <p:cNvGrpSpPr/>
            <p:nvPr/>
          </p:nvGrpSpPr>
          <p:grpSpPr bwMode="auto">
            <a:xfrm flipH="1">
              <a:off x="3651" y="1680"/>
              <a:ext cx="681" cy="1524"/>
              <a:chOff x="1416" y="1836"/>
              <a:chExt cx="681" cy="1524"/>
            </a:xfrm>
          </p:grpSpPr>
          <p:sp>
            <p:nvSpPr>
              <p:cNvPr id="53307" name="Line 35"/>
              <p:cNvSpPr>
                <a:spLocks noChangeShapeType="1"/>
              </p:cNvSpPr>
              <p:nvPr/>
            </p:nvSpPr>
            <p:spPr bwMode="auto">
              <a:xfrm>
                <a:off x="1416" y="1836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0070C0"/>
                </a:solidFill>
                <a:round/>
                <a:headEnd type="triangle" w="med" len="med"/>
              </a:ln>
              <a:effectLst>
                <a:outerShdw dist="25400" dir="54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8" name="Line 36"/>
              <p:cNvSpPr>
                <a:spLocks noChangeShapeType="1"/>
              </p:cNvSpPr>
              <p:nvPr/>
            </p:nvSpPr>
            <p:spPr bwMode="auto">
              <a:xfrm flipH="1">
                <a:off x="2064" y="1855"/>
                <a:ext cx="33" cy="1505"/>
              </a:xfrm>
              <a:prstGeom prst="line">
                <a:avLst/>
              </a:prstGeom>
              <a:noFill/>
              <a:ln w="28575">
                <a:solidFill>
                  <a:srgbClr val="0070C0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305" name="Freeform 37"/>
            <p:cNvSpPr/>
            <p:nvPr/>
          </p:nvSpPr>
          <p:spPr bwMode="auto">
            <a:xfrm>
              <a:off x="1244" y="1716"/>
              <a:ext cx="3553" cy="1466"/>
            </a:xfrm>
            <a:custGeom>
              <a:avLst/>
              <a:gdLst>
                <a:gd name="T0" fmla="*/ 0 w 3957"/>
                <a:gd name="T1" fmla="*/ 0 h 1466"/>
                <a:gd name="T2" fmla="*/ 0 w 3957"/>
                <a:gd name="T3" fmla="*/ 1466 h 1466"/>
                <a:gd name="T4" fmla="*/ 3957 w 3957"/>
                <a:gd name="T5" fmla="*/ 1466 h 1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7" h="1466">
                  <a:moveTo>
                    <a:pt x="0" y="0"/>
                  </a:moveTo>
                  <a:lnTo>
                    <a:pt x="0" y="1466"/>
                  </a:lnTo>
                  <a:lnTo>
                    <a:pt x="3957" y="1466"/>
                  </a:lnTo>
                </a:path>
              </a:pathLst>
            </a:custGeom>
            <a:noFill/>
            <a:ln w="36513">
              <a:solidFill>
                <a:schemeClr val="tx1"/>
              </a:solidFill>
              <a:prstDash val="solid"/>
              <a:round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6" name="Freeform 38"/>
            <p:cNvSpPr/>
            <p:nvPr/>
          </p:nvSpPr>
          <p:spPr bwMode="auto">
            <a:xfrm flipH="1">
              <a:off x="3845" y="2564"/>
              <a:ext cx="423" cy="494"/>
            </a:xfrm>
            <a:custGeom>
              <a:avLst/>
              <a:gdLst>
                <a:gd name="T0" fmla="*/ 0 w 303"/>
                <a:gd name="T1" fmla="*/ 0 h 566"/>
                <a:gd name="T2" fmla="*/ 92 w 303"/>
                <a:gd name="T3" fmla="*/ 4 h 566"/>
                <a:gd name="T4" fmla="*/ 177 w 303"/>
                <a:gd name="T5" fmla="*/ 14 h 566"/>
                <a:gd name="T6" fmla="*/ 253 w 303"/>
                <a:gd name="T7" fmla="*/ 33 h 566"/>
                <a:gd name="T8" fmla="*/ 318 w 303"/>
                <a:gd name="T9" fmla="*/ 57 h 566"/>
                <a:gd name="T10" fmla="*/ 369 w 303"/>
                <a:gd name="T11" fmla="*/ 86 h 566"/>
                <a:gd name="T12" fmla="*/ 403 w 303"/>
                <a:gd name="T13" fmla="*/ 118 h 566"/>
                <a:gd name="T14" fmla="*/ 413 w 303"/>
                <a:gd name="T15" fmla="*/ 154 h 566"/>
                <a:gd name="T16" fmla="*/ 409 w 303"/>
                <a:gd name="T17" fmla="*/ 189 h 566"/>
                <a:gd name="T18" fmla="*/ 378 w 303"/>
                <a:gd name="T19" fmla="*/ 223 h 566"/>
                <a:gd name="T20" fmla="*/ 353 w 303"/>
                <a:gd name="T21" fmla="*/ 252 h 566"/>
                <a:gd name="T22" fmla="*/ 343 w 303"/>
                <a:gd name="T23" fmla="*/ 285 h 566"/>
                <a:gd name="T24" fmla="*/ 353 w 303"/>
                <a:gd name="T25" fmla="*/ 313 h 566"/>
                <a:gd name="T26" fmla="*/ 374 w 303"/>
                <a:gd name="T27" fmla="*/ 345 h 566"/>
                <a:gd name="T28" fmla="*/ 409 w 303"/>
                <a:gd name="T29" fmla="*/ 373 h 566"/>
                <a:gd name="T30" fmla="*/ 459 w 303"/>
                <a:gd name="T31" fmla="*/ 396 h 566"/>
                <a:gd name="T32" fmla="*/ 521 w 303"/>
                <a:gd name="T33" fmla="*/ 416 h 566"/>
                <a:gd name="T34" fmla="*/ 591 w 303"/>
                <a:gd name="T35" fmla="*/ 431 h 5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3" h="566">
                  <a:moveTo>
                    <a:pt x="0" y="0"/>
                  </a:moveTo>
                  <a:lnTo>
                    <a:pt x="47" y="6"/>
                  </a:lnTo>
                  <a:lnTo>
                    <a:pt x="91" y="18"/>
                  </a:lnTo>
                  <a:lnTo>
                    <a:pt x="130" y="44"/>
                  </a:lnTo>
                  <a:lnTo>
                    <a:pt x="163" y="75"/>
                  </a:lnTo>
                  <a:lnTo>
                    <a:pt x="189" y="114"/>
                  </a:lnTo>
                  <a:lnTo>
                    <a:pt x="207" y="155"/>
                  </a:lnTo>
                  <a:lnTo>
                    <a:pt x="212" y="202"/>
                  </a:lnTo>
                  <a:lnTo>
                    <a:pt x="210" y="249"/>
                  </a:lnTo>
                  <a:lnTo>
                    <a:pt x="194" y="292"/>
                  </a:lnTo>
                  <a:lnTo>
                    <a:pt x="181" y="331"/>
                  </a:lnTo>
                  <a:lnTo>
                    <a:pt x="176" y="373"/>
                  </a:lnTo>
                  <a:lnTo>
                    <a:pt x="181" y="411"/>
                  </a:lnTo>
                  <a:lnTo>
                    <a:pt x="192" y="453"/>
                  </a:lnTo>
                  <a:lnTo>
                    <a:pt x="210" y="489"/>
                  </a:lnTo>
                  <a:lnTo>
                    <a:pt x="236" y="520"/>
                  </a:lnTo>
                  <a:lnTo>
                    <a:pt x="267" y="546"/>
                  </a:lnTo>
                  <a:lnTo>
                    <a:pt x="303" y="566"/>
                  </a:lnTo>
                </a:path>
              </a:pathLst>
            </a:custGeom>
            <a:noFill/>
            <a:ln w="36513">
              <a:solidFill>
                <a:srgbClr val="2FFFEB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40161" dir="4293903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" name="Rectangle 9"/>
          <p:cNvSpPr>
            <a:spLocks noChangeArrowheads="1"/>
          </p:cNvSpPr>
          <p:nvPr/>
        </p:nvSpPr>
        <p:spPr bwMode="auto">
          <a:xfrm>
            <a:off x="7909133" y="2674087"/>
            <a:ext cx="1100379" cy="21544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kumimoji="1" lang="zh-CN" altLang="en-US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拒绝域在右侧</a:t>
            </a:r>
            <a:endParaRPr kumimoji="1" lang="en-US" altLang="zh-CN" sz="1400" b="1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0C45870-C943-4262-AADA-CB7C8C4BA09E}"/>
              </a:ext>
            </a:extLst>
          </p:cNvPr>
          <p:cNvSpPr/>
          <p:nvPr/>
        </p:nvSpPr>
        <p:spPr>
          <a:xfrm>
            <a:off x="3126218" y="2240259"/>
            <a:ext cx="1099982" cy="338554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左侧检验</a:t>
            </a:r>
          </a:p>
        </p:txBody>
      </p:sp>
      <p:sp>
        <p:nvSpPr>
          <p:cNvPr id="75" name="矩形 39">
            <a:extLst>
              <a:ext uri="{FF2B5EF4-FFF2-40B4-BE49-F238E27FC236}">
                <a16:creationId xmlns:a16="http://schemas.microsoft.com/office/drawing/2014/main" id="{C8CDB713-8181-4B7A-ADBE-2E9C1DCC1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710" y="2248391"/>
            <a:ext cx="1229764" cy="338554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kumimoji="0" lang="en-US" altLang="zh-CN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kumimoji="0" lang="en-US" altLang="zh-CN" sz="16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6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600" b="1" baseline="-25000" dirty="0"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6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9E309E3-F077-4525-BE78-58C5604B3504}"/>
              </a:ext>
            </a:extLst>
          </p:cNvPr>
          <p:cNvSpPr/>
          <p:nvPr/>
        </p:nvSpPr>
        <p:spPr>
          <a:xfrm>
            <a:off x="6407730" y="2229341"/>
            <a:ext cx="1107395" cy="338554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右侧检验</a:t>
            </a:r>
          </a:p>
        </p:txBody>
      </p:sp>
      <p:sp>
        <p:nvSpPr>
          <p:cNvPr id="78" name="矩形 76">
            <a:extLst>
              <a:ext uri="{FF2B5EF4-FFF2-40B4-BE49-F238E27FC236}">
                <a16:creationId xmlns:a16="http://schemas.microsoft.com/office/drawing/2014/main" id="{4EDF9EA9-2D73-4460-8A42-42C759E26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727" y="2226950"/>
            <a:ext cx="1463761" cy="338554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600" b="1" i="1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1600" b="1" dirty="0">
                <a:latin typeface="Symbol" panose="05050102010706020507" pitchFamily="18" charset="2"/>
                <a:ea typeface="楷体_GB2312" pitchFamily="49" charset="-122"/>
              </a:rPr>
              <a:t> : </a:t>
            </a:r>
            <a:r>
              <a:rPr lang="en-US" altLang="zh-CN" sz="16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kumimoji="0" lang="en-US" altLang="zh-CN" sz="1600" b="1" i="1" u="none" strike="noStrike" kern="1200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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6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</a:p>
        </p:txBody>
      </p:sp>
      <p:sp>
        <p:nvSpPr>
          <p:cNvPr id="79" name="Rectangle 9">
            <a:extLst>
              <a:ext uri="{FF2B5EF4-FFF2-40B4-BE49-F238E27FC236}">
                <a16:creationId xmlns:a16="http://schemas.microsoft.com/office/drawing/2014/main" id="{DFE053E7-D5E8-4566-925C-1EF58044D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3265" y="2726082"/>
            <a:ext cx="1176679" cy="21544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拒绝域在左侧</a:t>
            </a:r>
            <a:endParaRPr kumimoji="1" lang="en-US" altLang="zh-CN" sz="1400" b="1" baseline="-250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Group 30">
            <a:extLst>
              <a:ext uri="{FF2B5EF4-FFF2-40B4-BE49-F238E27FC236}">
                <a16:creationId xmlns:a16="http://schemas.microsoft.com/office/drawing/2014/main" id="{54558F52-1B67-402A-9DDA-318177FB5C44}"/>
              </a:ext>
            </a:extLst>
          </p:cNvPr>
          <p:cNvGrpSpPr/>
          <p:nvPr/>
        </p:nvGrpSpPr>
        <p:grpSpPr bwMode="auto">
          <a:xfrm>
            <a:off x="142098" y="2790561"/>
            <a:ext cx="2625162" cy="1964154"/>
            <a:chOff x="676" y="1778"/>
            <a:chExt cx="4497" cy="1965"/>
          </a:xfrm>
        </p:grpSpPr>
        <p:sp>
          <p:nvSpPr>
            <p:cNvPr id="70" name="Rectangle 31">
              <a:extLst>
                <a:ext uri="{FF2B5EF4-FFF2-40B4-BE49-F238E27FC236}">
                  <a16:creationId xmlns:a16="http://schemas.microsoft.com/office/drawing/2014/main" id="{82120A90-19E7-4D8D-8F77-3E2167C64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7" y="3421"/>
              <a:ext cx="0" cy="25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" name="Rectangle 32">
              <a:extLst>
                <a:ext uri="{FF2B5EF4-FFF2-40B4-BE49-F238E27FC236}">
                  <a16:creationId xmlns:a16="http://schemas.microsoft.com/office/drawing/2014/main" id="{43DEF23A-34E8-4395-8692-B9245E1FD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527"/>
              <a:ext cx="923" cy="2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400" b="1" dirty="0">
                  <a:solidFill>
                    <a:srgbClr val="0070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临界值</a:t>
              </a:r>
            </a:p>
          </p:txBody>
        </p:sp>
        <p:sp>
          <p:nvSpPr>
            <p:cNvPr id="72" name="Rectangle 33">
              <a:extLst>
                <a:ext uri="{FF2B5EF4-FFF2-40B4-BE49-F238E27FC236}">
                  <a16:creationId xmlns:a16="http://schemas.microsoft.com/office/drawing/2014/main" id="{60D00715-D169-41D5-9EFB-1BE10FA98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490"/>
              <a:ext cx="923" cy="2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 dirty="0">
                  <a:solidFill>
                    <a:srgbClr val="0070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临界值</a:t>
              </a:r>
            </a:p>
          </p:txBody>
        </p:sp>
        <p:sp>
          <p:nvSpPr>
            <p:cNvPr id="76" name="Rectangle 34">
              <a:extLst>
                <a:ext uri="{FF2B5EF4-FFF2-40B4-BE49-F238E27FC236}">
                  <a16:creationId xmlns:a16="http://schemas.microsoft.com/office/drawing/2014/main" id="{59BD1A05-4038-4804-B49E-5AA88B9AA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" y="2407"/>
              <a:ext cx="558" cy="55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defRPr/>
              </a:pPr>
              <a:r>
                <a:rPr kumimoji="1" lang="en-US" altLang="zh-CN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</a:rPr>
                <a:t>a </a:t>
              </a:r>
              <a:r>
                <a:rPr kumimoji="1"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/2</a:t>
              </a:r>
              <a:r>
                <a:rPr kumimoji="1" lang="en-US" altLang="zh-CN" b="1" dirty="0"/>
                <a:t> </a:t>
              </a:r>
            </a:p>
          </p:txBody>
        </p:sp>
        <p:sp>
          <p:nvSpPr>
            <p:cNvPr id="80" name="Rectangle 35">
              <a:extLst>
                <a:ext uri="{FF2B5EF4-FFF2-40B4-BE49-F238E27FC236}">
                  <a16:creationId xmlns:a16="http://schemas.microsoft.com/office/drawing/2014/main" id="{4DB48D8F-17E2-447E-BE0B-1BF5E0DE2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" y="2301"/>
              <a:ext cx="558" cy="23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kumimoji="1" lang="en-US" altLang="zh-CN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</a:rPr>
                <a:t>a </a:t>
              </a:r>
              <a:r>
                <a:rPr kumimoji="1"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/2</a:t>
              </a:r>
              <a:r>
                <a:rPr kumimoji="1" lang="en-US" altLang="zh-CN" b="1" dirty="0">
                  <a:solidFill>
                    <a:srgbClr val="CDCDCD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</a:p>
          </p:txBody>
        </p:sp>
        <p:sp>
          <p:nvSpPr>
            <p:cNvPr id="82" name="Rectangle 38">
              <a:extLst>
                <a:ext uri="{FF2B5EF4-FFF2-40B4-BE49-F238E27FC236}">
                  <a16:creationId xmlns:a16="http://schemas.microsoft.com/office/drawing/2014/main" id="{E3056248-3582-4B78-B59E-C0EC0F7F2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2054"/>
              <a:ext cx="923" cy="21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拒绝域</a:t>
              </a:r>
              <a:endParaRPr kumimoji="1"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3" name="Group 39">
              <a:extLst>
                <a:ext uri="{FF2B5EF4-FFF2-40B4-BE49-F238E27FC236}">
                  <a16:creationId xmlns:a16="http://schemas.microsoft.com/office/drawing/2014/main" id="{D07FC268-4FC2-47A7-9507-A69F96A4DFA3}"/>
                </a:ext>
              </a:extLst>
            </p:cNvPr>
            <p:cNvGrpSpPr/>
            <p:nvPr/>
          </p:nvGrpSpPr>
          <p:grpSpPr bwMode="auto">
            <a:xfrm>
              <a:off x="676" y="1887"/>
              <a:ext cx="447" cy="1484"/>
              <a:chOff x="676" y="1887"/>
              <a:chExt cx="447" cy="1484"/>
            </a:xfrm>
          </p:grpSpPr>
          <p:sp>
            <p:nvSpPr>
              <p:cNvPr id="105" name="Line 40">
                <a:extLst>
                  <a:ext uri="{FF2B5EF4-FFF2-40B4-BE49-F238E27FC236}">
                    <a16:creationId xmlns:a16="http://schemas.microsoft.com/office/drawing/2014/main" id="{C2F2B4A4-6019-43D6-B984-EAAFFD8C75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1887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41">
                <a:extLst>
                  <a:ext uri="{FF2B5EF4-FFF2-40B4-BE49-F238E27FC236}">
                    <a16:creationId xmlns:a16="http://schemas.microsoft.com/office/drawing/2014/main" id="{F3346DFD-DFBC-4787-A5CF-49C9736DE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2035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42">
                <a:extLst>
                  <a:ext uri="{FF2B5EF4-FFF2-40B4-BE49-F238E27FC236}">
                    <a16:creationId xmlns:a16="http://schemas.microsoft.com/office/drawing/2014/main" id="{ABEF4082-17FC-4F6C-8278-528C15788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2182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43">
                <a:extLst>
                  <a:ext uri="{FF2B5EF4-FFF2-40B4-BE49-F238E27FC236}">
                    <a16:creationId xmlns:a16="http://schemas.microsoft.com/office/drawing/2014/main" id="{8AB432A3-7E53-49E4-9F63-62B3BEE25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2327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44">
                <a:extLst>
                  <a:ext uri="{FF2B5EF4-FFF2-40B4-BE49-F238E27FC236}">
                    <a16:creationId xmlns:a16="http://schemas.microsoft.com/office/drawing/2014/main" id="{14960692-A323-484D-9DD4-208527FD1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2474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45">
                <a:extLst>
                  <a:ext uri="{FF2B5EF4-FFF2-40B4-BE49-F238E27FC236}">
                    <a16:creationId xmlns:a16="http://schemas.microsoft.com/office/drawing/2014/main" id="{42591D54-2ACE-42AD-A959-D96C0FBF2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2621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46">
                <a:extLst>
                  <a:ext uri="{FF2B5EF4-FFF2-40B4-BE49-F238E27FC236}">
                    <a16:creationId xmlns:a16="http://schemas.microsoft.com/office/drawing/2014/main" id="{2F0FF3E6-33AB-4217-99FB-0A8878838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2769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47">
                <a:extLst>
                  <a:ext uri="{FF2B5EF4-FFF2-40B4-BE49-F238E27FC236}">
                    <a16:creationId xmlns:a16="http://schemas.microsoft.com/office/drawing/2014/main" id="{39570524-E5F1-405A-91F9-0F4EFE2E7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2913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48">
                <a:extLst>
                  <a:ext uri="{FF2B5EF4-FFF2-40B4-BE49-F238E27FC236}">
                    <a16:creationId xmlns:a16="http://schemas.microsoft.com/office/drawing/2014/main" id="{DE4AE365-F860-430B-A1F5-7261A20DF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3061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49">
                <a:extLst>
                  <a:ext uri="{FF2B5EF4-FFF2-40B4-BE49-F238E27FC236}">
                    <a16:creationId xmlns:a16="http://schemas.microsoft.com/office/drawing/2014/main" id="{C6E5E5A3-5975-4EB9-9605-2D9CB29048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" y="3208"/>
                <a:ext cx="49" cy="1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ffectLst>
                <a:outerShdw dist="45791" dir="3378596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50">
                <a:extLst>
                  <a:ext uri="{FF2B5EF4-FFF2-40B4-BE49-F238E27FC236}">
                    <a16:creationId xmlns:a16="http://schemas.microsoft.com/office/drawing/2014/main" id="{E85EDEDC-A198-484F-A93E-9F0FA3270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2" y="3353"/>
                <a:ext cx="1" cy="18"/>
              </a:xfrm>
              <a:prstGeom prst="line">
                <a:avLst/>
              </a:prstGeom>
              <a:noFill/>
              <a:ln w="36513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Line 51">
              <a:extLst>
                <a:ext uri="{FF2B5EF4-FFF2-40B4-BE49-F238E27FC236}">
                  <a16:creationId xmlns:a16="http://schemas.microsoft.com/office/drawing/2014/main" id="{C3670141-FCE9-4217-B23E-A3EC63CA8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3088"/>
              <a:ext cx="1670" cy="1"/>
            </a:xfrm>
            <a:prstGeom prst="line">
              <a:avLst/>
            </a:prstGeom>
            <a:noFill/>
            <a:ln w="36513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52">
              <a:extLst>
                <a:ext uri="{FF2B5EF4-FFF2-40B4-BE49-F238E27FC236}">
                  <a16:creationId xmlns:a16="http://schemas.microsoft.com/office/drawing/2014/main" id="{DE8A69C7-F515-470E-9A9E-8FE147A40A7A}"/>
                </a:ext>
              </a:extLst>
            </p:cNvPr>
            <p:cNvSpPr/>
            <p:nvPr/>
          </p:nvSpPr>
          <p:spPr bwMode="auto">
            <a:xfrm>
              <a:off x="1588" y="3092"/>
              <a:ext cx="108" cy="98"/>
            </a:xfrm>
            <a:custGeom>
              <a:avLst/>
              <a:gdLst>
                <a:gd name="T0" fmla="*/ 20 w 108"/>
                <a:gd name="T1" fmla="*/ 0 h 98"/>
                <a:gd name="T2" fmla="*/ 108 w 108"/>
                <a:gd name="T3" fmla="*/ 67 h 98"/>
                <a:gd name="T4" fmla="*/ 0 w 108"/>
                <a:gd name="T5" fmla="*/ 98 h 98"/>
                <a:gd name="T6" fmla="*/ 20 w 108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" h="98">
                  <a:moveTo>
                    <a:pt x="20" y="0"/>
                  </a:moveTo>
                  <a:lnTo>
                    <a:pt x="108" y="67"/>
                  </a:lnTo>
                  <a:lnTo>
                    <a:pt x="0" y="98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FFFEB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53">
              <a:extLst>
                <a:ext uri="{FF2B5EF4-FFF2-40B4-BE49-F238E27FC236}">
                  <a16:creationId xmlns:a16="http://schemas.microsoft.com/office/drawing/2014/main" id="{81D2ADC2-83E6-4C9C-9F70-636C50422C5C}"/>
                </a:ext>
              </a:extLst>
            </p:cNvPr>
            <p:cNvSpPr/>
            <p:nvPr/>
          </p:nvSpPr>
          <p:spPr bwMode="auto">
            <a:xfrm>
              <a:off x="3626" y="3030"/>
              <a:ext cx="95" cy="111"/>
            </a:xfrm>
            <a:custGeom>
              <a:avLst/>
              <a:gdLst>
                <a:gd name="T0" fmla="*/ 95 w 95"/>
                <a:gd name="T1" fmla="*/ 33 h 111"/>
                <a:gd name="T2" fmla="*/ 13 w 95"/>
                <a:gd name="T3" fmla="*/ 111 h 111"/>
                <a:gd name="T4" fmla="*/ 0 w 95"/>
                <a:gd name="T5" fmla="*/ 0 h 111"/>
                <a:gd name="T6" fmla="*/ 95 w 95"/>
                <a:gd name="T7" fmla="*/ 33 h 1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111">
                  <a:moveTo>
                    <a:pt x="95" y="33"/>
                  </a:moveTo>
                  <a:lnTo>
                    <a:pt x="13" y="111"/>
                  </a:lnTo>
                  <a:lnTo>
                    <a:pt x="0" y="0"/>
                  </a:lnTo>
                  <a:lnTo>
                    <a:pt x="95" y="33"/>
                  </a:lnTo>
                  <a:close/>
                </a:path>
              </a:pathLst>
            </a:custGeom>
            <a:solidFill>
              <a:srgbClr val="2FFFEB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45791" dir="337859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55">
              <a:extLst>
                <a:ext uri="{FF2B5EF4-FFF2-40B4-BE49-F238E27FC236}">
                  <a16:creationId xmlns:a16="http://schemas.microsoft.com/office/drawing/2014/main" id="{F7D6AF2F-71D2-4F57-9A23-1274EFBA2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2" y="2668"/>
              <a:ext cx="1191" cy="328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</a:rPr>
                <a:t>1 - </a:t>
              </a:r>
              <a:r>
                <a:rPr kumimoji="1" lang="zh-CN" altLang="en-US" b="1" i="1" dirty="0">
                  <a:solidFill>
                    <a:srgbClr val="FF0000"/>
                  </a:solidFill>
                  <a:latin typeface="Symbol" panose="05050102010706020507" pitchFamily="18" charset="2"/>
                </a:rPr>
                <a:t>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8" name="Line 56">
              <a:extLst>
                <a:ext uri="{FF2B5EF4-FFF2-40B4-BE49-F238E27FC236}">
                  <a16:creationId xmlns:a16="http://schemas.microsoft.com/office/drawing/2014/main" id="{4D47FD1E-A725-49CF-87CA-2EC3BDF01D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1" y="1873"/>
              <a:ext cx="832" cy="5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Rectangle 57">
              <a:extLst>
                <a:ext uri="{FF2B5EF4-FFF2-40B4-BE49-F238E27FC236}">
                  <a16:creationId xmlns:a16="http://schemas.microsoft.com/office/drawing/2014/main" id="{CFBA74F6-73CF-4FB2-9902-4916F2EF9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1778"/>
              <a:ext cx="1230" cy="2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400" b="1" dirty="0">
                  <a:solidFill>
                    <a:srgbClr val="0070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置信水平</a:t>
              </a:r>
            </a:p>
          </p:txBody>
        </p:sp>
        <p:sp>
          <p:nvSpPr>
            <p:cNvPr id="91" name="Line 59">
              <a:extLst>
                <a:ext uri="{FF2B5EF4-FFF2-40B4-BE49-F238E27FC236}">
                  <a16:creationId xmlns:a16="http://schemas.microsoft.com/office/drawing/2014/main" id="{0B5AC56C-39D6-414B-8DE8-A2ABDB587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9" y="2149"/>
              <a:ext cx="672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60">
              <a:extLst>
                <a:ext uri="{FF2B5EF4-FFF2-40B4-BE49-F238E27FC236}">
                  <a16:creationId xmlns:a16="http://schemas.microsoft.com/office/drawing/2014/main" id="{79031BED-EAB3-4157-B264-694294E1D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2137"/>
              <a:ext cx="672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61">
              <a:extLst>
                <a:ext uri="{FF2B5EF4-FFF2-40B4-BE49-F238E27FC236}">
                  <a16:creationId xmlns:a16="http://schemas.microsoft.com/office/drawing/2014/main" id="{1A86047B-87DC-491E-B129-70825FA5B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" y="3373"/>
              <a:ext cx="0" cy="192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</a:ln>
            <a:effectLst>
              <a:outerShdw dist="28398" dir="1593903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62">
              <a:extLst>
                <a:ext uri="{FF2B5EF4-FFF2-40B4-BE49-F238E27FC236}">
                  <a16:creationId xmlns:a16="http://schemas.microsoft.com/office/drawing/2014/main" id="{024487EE-8141-490F-B82B-508627F8A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3373"/>
              <a:ext cx="0" cy="192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</a:ln>
            <a:effectLst>
              <a:outerShdw dist="28398" dir="1593903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64" descr="60%">
              <a:extLst>
                <a:ext uri="{FF2B5EF4-FFF2-40B4-BE49-F238E27FC236}">
                  <a16:creationId xmlns:a16="http://schemas.microsoft.com/office/drawing/2014/main" id="{64FD05FA-37CB-441B-B033-8A594E7EF5CA}"/>
                </a:ext>
              </a:extLst>
            </p:cNvPr>
            <p:cNvSpPr/>
            <p:nvPr/>
          </p:nvSpPr>
          <p:spPr bwMode="auto">
            <a:xfrm>
              <a:off x="836" y="2797"/>
              <a:ext cx="923" cy="546"/>
            </a:xfrm>
            <a:custGeom>
              <a:avLst/>
              <a:gdLst>
                <a:gd name="T0" fmla="*/ 923 w 1129"/>
                <a:gd name="T1" fmla="*/ 0 h 735"/>
                <a:gd name="T2" fmla="*/ 923 w 1129"/>
                <a:gd name="T3" fmla="*/ 546 h 735"/>
                <a:gd name="T4" fmla="*/ 0 w 1129"/>
                <a:gd name="T5" fmla="*/ 546 h 735"/>
                <a:gd name="T6" fmla="*/ 101 w 1129"/>
                <a:gd name="T7" fmla="*/ 519 h 735"/>
                <a:gd name="T8" fmla="*/ 201 w 1129"/>
                <a:gd name="T9" fmla="*/ 488 h 735"/>
                <a:gd name="T10" fmla="*/ 296 w 1129"/>
                <a:gd name="T11" fmla="*/ 453 h 735"/>
                <a:gd name="T12" fmla="*/ 388 w 1129"/>
                <a:gd name="T13" fmla="*/ 415 h 735"/>
                <a:gd name="T14" fmla="*/ 474 w 1129"/>
                <a:gd name="T15" fmla="*/ 374 h 735"/>
                <a:gd name="T16" fmla="*/ 557 w 1129"/>
                <a:gd name="T17" fmla="*/ 328 h 735"/>
                <a:gd name="T18" fmla="*/ 633 w 1129"/>
                <a:gd name="T19" fmla="*/ 281 h 735"/>
                <a:gd name="T20" fmla="*/ 703 w 1129"/>
                <a:gd name="T21" fmla="*/ 229 h 735"/>
                <a:gd name="T22" fmla="*/ 768 w 1129"/>
                <a:gd name="T23" fmla="*/ 175 h 735"/>
                <a:gd name="T24" fmla="*/ 826 w 1129"/>
                <a:gd name="T25" fmla="*/ 120 h 735"/>
                <a:gd name="T26" fmla="*/ 878 w 1129"/>
                <a:gd name="T27" fmla="*/ 60 h 735"/>
                <a:gd name="T28" fmla="*/ 923 w 1129"/>
                <a:gd name="T29" fmla="*/ 0 h 73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29" h="735">
                  <a:moveTo>
                    <a:pt x="1129" y="0"/>
                  </a:moveTo>
                  <a:lnTo>
                    <a:pt x="1129" y="735"/>
                  </a:lnTo>
                  <a:lnTo>
                    <a:pt x="0" y="735"/>
                  </a:lnTo>
                  <a:lnTo>
                    <a:pt x="124" y="698"/>
                  </a:lnTo>
                  <a:lnTo>
                    <a:pt x="246" y="657"/>
                  </a:lnTo>
                  <a:lnTo>
                    <a:pt x="362" y="610"/>
                  </a:lnTo>
                  <a:lnTo>
                    <a:pt x="474" y="559"/>
                  </a:lnTo>
                  <a:lnTo>
                    <a:pt x="580" y="504"/>
                  </a:lnTo>
                  <a:lnTo>
                    <a:pt x="681" y="442"/>
                  </a:lnTo>
                  <a:lnTo>
                    <a:pt x="774" y="378"/>
                  </a:lnTo>
                  <a:lnTo>
                    <a:pt x="860" y="308"/>
                  </a:lnTo>
                  <a:lnTo>
                    <a:pt x="940" y="236"/>
                  </a:lnTo>
                  <a:lnTo>
                    <a:pt x="1010" y="161"/>
                  </a:lnTo>
                  <a:lnTo>
                    <a:pt x="1074" y="81"/>
                  </a:lnTo>
                  <a:lnTo>
                    <a:pt x="1129" y="0"/>
                  </a:lnTo>
                  <a:close/>
                </a:path>
              </a:pathLst>
            </a:custGeom>
            <a:pattFill prst="pct60">
              <a:fgClr>
                <a:srgbClr val="FF33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65" descr="60%">
              <a:extLst>
                <a:ext uri="{FF2B5EF4-FFF2-40B4-BE49-F238E27FC236}">
                  <a16:creationId xmlns:a16="http://schemas.microsoft.com/office/drawing/2014/main" id="{CD660B41-D1EE-417B-A8B0-DCE577F86EBA}"/>
                </a:ext>
              </a:extLst>
            </p:cNvPr>
            <p:cNvSpPr/>
            <p:nvPr/>
          </p:nvSpPr>
          <p:spPr bwMode="auto">
            <a:xfrm>
              <a:off x="3607" y="2857"/>
              <a:ext cx="912" cy="503"/>
            </a:xfrm>
            <a:custGeom>
              <a:avLst/>
              <a:gdLst>
                <a:gd name="T0" fmla="*/ 0 w 1129"/>
                <a:gd name="T1" fmla="*/ 0 h 734"/>
                <a:gd name="T2" fmla="*/ 0 w 1129"/>
                <a:gd name="T3" fmla="*/ 503 h 734"/>
                <a:gd name="T4" fmla="*/ 912 w 1129"/>
                <a:gd name="T5" fmla="*/ 503 h 734"/>
                <a:gd name="T6" fmla="*/ 809 w 1129"/>
                <a:gd name="T7" fmla="*/ 480 h 734"/>
                <a:gd name="T8" fmla="*/ 711 w 1129"/>
                <a:gd name="T9" fmla="*/ 452 h 734"/>
                <a:gd name="T10" fmla="*/ 617 w 1129"/>
                <a:gd name="T11" fmla="*/ 419 h 734"/>
                <a:gd name="T12" fmla="*/ 527 w 1129"/>
                <a:gd name="T13" fmla="*/ 384 h 734"/>
                <a:gd name="T14" fmla="*/ 441 w 1129"/>
                <a:gd name="T15" fmla="*/ 345 h 734"/>
                <a:gd name="T16" fmla="*/ 359 w 1129"/>
                <a:gd name="T17" fmla="*/ 304 h 734"/>
                <a:gd name="T18" fmla="*/ 284 w 1129"/>
                <a:gd name="T19" fmla="*/ 260 h 734"/>
                <a:gd name="T20" fmla="*/ 216 w 1129"/>
                <a:gd name="T21" fmla="*/ 212 h 734"/>
                <a:gd name="T22" fmla="*/ 153 w 1129"/>
                <a:gd name="T23" fmla="*/ 162 h 734"/>
                <a:gd name="T24" fmla="*/ 94 w 1129"/>
                <a:gd name="T25" fmla="*/ 111 h 734"/>
                <a:gd name="T26" fmla="*/ 44 w 1129"/>
                <a:gd name="T27" fmla="*/ 56 h 734"/>
                <a:gd name="T28" fmla="*/ 0 w 1129"/>
                <a:gd name="T29" fmla="*/ 0 h 7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29" h="734">
                  <a:moveTo>
                    <a:pt x="0" y="0"/>
                  </a:moveTo>
                  <a:lnTo>
                    <a:pt x="0" y="734"/>
                  </a:lnTo>
                  <a:lnTo>
                    <a:pt x="1129" y="734"/>
                  </a:lnTo>
                  <a:lnTo>
                    <a:pt x="1002" y="700"/>
                  </a:lnTo>
                  <a:lnTo>
                    <a:pt x="880" y="659"/>
                  </a:lnTo>
                  <a:lnTo>
                    <a:pt x="764" y="612"/>
                  </a:lnTo>
                  <a:lnTo>
                    <a:pt x="652" y="561"/>
                  </a:lnTo>
                  <a:lnTo>
                    <a:pt x="546" y="504"/>
                  </a:lnTo>
                  <a:lnTo>
                    <a:pt x="445" y="444"/>
                  </a:lnTo>
                  <a:lnTo>
                    <a:pt x="352" y="380"/>
                  </a:lnTo>
                  <a:lnTo>
                    <a:pt x="267" y="310"/>
                  </a:lnTo>
                  <a:lnTo>
                    <a:pt x="189" y="237"/>
                  </a:lnTo>
                  <a:lnTo>
                    <a:pt x="116" y="162"/>
                  </a:lnTo>
                  <a:lnTo>
                    <a:pt x="54" y="82"/>
                  </a:lnTo>
                  <a:lnTo>
                    <a:pt x="0" y="0"/>
                  </a:lnTo>
                  <a:close/>
                </a:path>
              </a:pathLst>
            </a:custGeom>
            <a:pattFill prst="pct60">
              <a:fgClr>
                <a:srgbClr val="FF33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66">
              <a:extLst>
                <a:ext uri="{FF2B5EF4-FFF2-40B4-BE49-F238E27FC236}">
                  <a16:creationId xmlns:a16="http://schemas.microsoft.com/office/drawing/2014/main" id="{CC9BDAB6-5FA4-47E8-B1AA-658EC59853F4}"/>
                </a:ext>
              </a:extLst>
            </p:cNvPr>
            <p:cNvGrpSpPr/>
            <p:nvPr/>
          </p:nvGrpSpPr>
          <p:grpSpPr bwMode="auto">
            <a:xfrm>
              <a:off x="727" y="1873"/>
              <a:ext cx="3883" cy="1432"/>
              <a:chOff x="816" y="1872"/>
              <a:chExt cx="3883" cy="1432"/>
            </a:xfrm>
          </p:grpSpPr>
          <p:sp>
            <p:nvSpPr>
              <p:cNvPr id="103" name="Freeform 67">
                <a:extLst>
                  <a:ext uri="{FF2B5EF4-FFF2-40B4-BE49-F238E27FC236}">
                    <a16:creationId xmlns:a16="http://schemas.microsoft.com/office/drawing/2014/main" id="{D3D3D1A1-94C8-4059-8520-2689762E8446}"/>
                  </a:ext>
                </a:extLst>
              </p:cNvPr>
              <p:cNvSpPr/>
              <p:nvPr/>
            </p:nvSpPr>
            <p:spPr bwMode="auto">
              <a:xfrm>
                <a:off x="2757" y="1874"/>
                <a:ext cx="1942" cy="1430"/>
              </a:xfrm>
              <a:custGeom>
                <a:avLst/>
                <a:gdLst>
                  <a:gd name="T0" fmla="*/ 1942 w 1942"/>
                  <a:gd name="T1" fmla="*/ 1430 h 1430"/>
                  <a:gd name="T2" fmla="*/ 1737 w 1942"/>
                  <a:gd name="T3" fmla="*/ 1412 h 1430"/>
                  <a:gd name="T4" fmla="*/ 1636 w 1942"/>
                  <a:gd name="T5" fmla="*/ 1396 h 1430"/>
                  <a:gd name="T6" fmla="*/ 1532 w 1942"/>
                  <a:gd name="T7" fmla="*/ 1373 h 1430"/>
                  <a:gd name="T8" fmla="*/ 1431 w 1942"/>
                  <a:gd name="T9" fmla="*/ 1342 h 1430"/>
                  <a:gd name="T10" fmla="*/ 1328 w 1942"/>
                  <a:gd name="T11" fmla="*/ 1298 h 1430"/>
                  <a:gd name="T12" fmla="*/ 1227 w 1942"/>
                  <a:gd name="T13" fmla="*/ 1238 h 1430"/>
                  <a:gd name="T14" fmla="*/ 1022 w 1942"/>
                  <a:gd name="T15" fmla="*/ 1073 h 1430"/>
                  <a:gd name="T16" fmla="*/ 818 w 1942"/>
                  <a:gd name="T17" fmla="*/ 838 h 1430"/>
                  <a:gd name="T18" fmla="*/ 613 w 1942"/>
                  <a:gd name="T19" fmla="*/ 559 h 1430"/>
                  <a:gd name="T20" fmla="*/ 512 w 1942"/>
                  <a:gd name="T21" fmla="*/ 416 h 1430"/>
                  <a:gd name="T22" fmla="*/ 409 w 1942"/>
                  <a:gd name="T23" fmla="*/ 282 h 1430"/>
                  <a:gd name="T24" fmla="*/ 308 w 1942"/>
                  <a:gd name="T25" fmla="*/ 166 h 1430"/>
                  <a:gd name="T26" fmla="*/ 204 w 1942"/>
                  <a:gd name="T27" fmla="*/ 78 h 1430"/>
                  <a:gd name="T28" fmla="*/ 103 w 1942"/>
                  <a:gd name="T29" fmla="*/ 21 h 1430"/>
                  <a:gd name="T30" fmla="*/ 0 w 1942"/>
                  <a:gd name="T31" fmla="*/ 0 h 14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942" h="1430">
                    <a:moveTo>
                      <a:pt x="1942" y="1430"/>
                    </a:moveTo>
                    <a:lnTo>
                      <a:pt x="1737" y="1412"/>
                    </a:lnTo>
                    <a:lnTo>
                      <a:pt x="1636" y="1396"/>
                    </a:lnTo>
                    <a:lnTo>
                      <a:pt x="1532" y="1373"/>
                    </a:lnTo>
                    <a:lnTo>
                      <a:pt x="1431" y="1342"/>
                    </a:lnTo>
                    <a:lnTo>
                      <a:pt x="1328" y="1298"/>
                    </a:lnTo>
                    <a:lnTo>
                      <a:pt x="1227" y="1238"/>
                    </a:lnTo>
                    <a:lnTo>
                      <a:pt x="1022" y="1073"/>
                    </a:lnTo>
                    <a:lnTo>
                      <a:pt x="818" y="838"/>
                    </a:lnTo>
                    <a:lnTo>
                      <a:pt x="613" y="559"/>
                    </a:lnTo>
                    <a:lnTo>
                      <a:pt x="512" y="416"/>
                    </a:lnTo>
                    <a:lnTo>
                      <a:pt x="409" y="282"/>
                    </a:lnTo>
                    <a:lnTo>
                      <a:pt x="308" y="166"/>
                    </a:lnTo>
                    <a:lnTo>
                      <a:pt x="204" y="78"/>
                    </a:lnTo>
                    <a:lnTo>
                      <a:pt x="103" y="21"/>
                    </a:lnTo>
                    <a:lnTo>
                      <a:pt x="0" y="0"/>
                    </a:lnTo>
                  </a:path>
                </a:pathLst>
              </a:custGeom>
              <a:noFill/>
              <a:ln w="76200" cmpd="sng">
                <a:solidFill>
                  <a:srgbClr val="0070C0"/>
                </a:solidFill>
                <a:prstDash val="solid"/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Freeform 68">
                <a:extLst>
                  <a:ext uri="{FF2B5EF4-FFF2-40B4-BE49-F238E27FC236}">
                    <a16:creationId xmlns:a16="http://schemas.microsoft.com/office/drawing/2014/main" id="{168F7DF0-9AC9-4FCD-B675-1746CE069398}"/>
                  </a:ext>
                </a:extLst>
              </p:cNvPr>
              <p:cNvSpPr/>
              <p:nvPr/>
            </p:nvSpPr>
            <p:spPr bwMode="auto">
              <a:xfrm>
                <a:off x="816" y="1872"/>
                <a:ext cx="1943" cy="1430"/>
              </a:xfrm>
              <a:custGeom>
                <a:avLst/>
                <a:gdLst>
                  <a:gd name="T0" fmla="*/ 0 w 1943"/>
                  <a:gd name="T1" fmla="*/ 1430 h 1430"/>
                  <a:gd name="T2" fmla="*/ 205 w 1943"/>
                  <a:gd name="T3" fmla="*/ 1412 h 1430"/>
                  <a:gd name="T4" fmla="*/ 309 w 1943"/>
                  <a:gd name="T5" fmla="*/ 1396 h 1430"/>
                  <a:gd name="T6" fmla="*/ 410 w 1943"/>
                  <a:gd name="T7" fmla="*/ 1373 h 1430"/>
                  <a:gd name="T8" fmla="*/ 511 w 1943"/>
                  <a:gd name="T9" fmla="*/ 1342 h 1430"/>
                  <a:gd name="T10" fmla="*/ 614 w 1943"/>
                  <a:gd name="T11" fmla="*/ 1298 h 1430"/>
                  <a:gd name="T12" fmla="*/ 715 w 1943"/>
                  <a:gd name="T13" fmla="*/ 1238 h 1430"/>
                  <a:gd name="T14" fmla="*/ 922 w 1943"/>
                  <a:gd name="T15" fmla="*/ 1073 h 1430"/>
                  <a:gd name="T16" fmla="*/ 1124 w 1943"/>
                  <a:gd name="T17" fmla="*/ 838 h 1430"/>
                  <a:gd name="T18" fmla="*/ 1329 w 1943"/>
                  <a:gd name="T19" fmla="*/ 559 h 1430"/>
                  <a:gd name="T20" fmla="*/ 1432 w 1943"/>
                  <a:gd name="T21" fmla="*/ 416 h 1430"/>
                  <a:gd name="T22" fmla="*/ 1533 w 1943"/>
                  <a:gd name="T23" fmla="*/ 282 h 1430"/>
                  <a:gd name="T24" fmla="*/ 1637 w 1943"/>
                  <a:gd name="T25" fmla="*/ 166 h 1430"/>
                  <a:gd name="T26" fmla="*/ 1738 w 1943"/>
                  <a:gd name="T27" fmla="*/ 78 h 1430"/>
                  <a:gd name="T28" fmla="*/ 1842 w 1943"/>
                  <a:gd name="T29" fmla="*/ 21 h 1430"/>
                  <a:gd name="T30" fmla="*/ 1943 w 1943"/>
                  <a:gd name="T31" fmla="*/ 0 h 14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943" h="1430">
                    <a:moveTo>
                      <a:pt x="0" y="1430"/>
                    </a:moveTo>
                    <a:lnTo>
                      <a:pt x="205" y="1412"/>
                    </a:lnTo>
                    <a:lnTo>
                      <a:pt x="309" y="1396"/>
                    </a:lnTo>
                    <a:lnTo>
                      <a:pt x="410" y="1373"/>
                    </a:lnTo>
                    <a:lnTo>
                      <a:pt x="511" y="1342"/>
                    </a:lnTo>
                    <a:lnTo>
                      <a:pt x="614" y="1298"/>
                    </a:lnTo>
                    <a:lnTo>
                      <a:pt x="715" y="1238"/>
                    </a:lnTo>
                    <a:lnTo>
                      <a:pt x="922" y="1073"/>
                    </a:lnTo>
                    <a:lnTo>
                      <a:pt x="1124" y="838"/>
                    </a:lnTo>
                    <a:lnTo>
                      <a:pt x="1329" y="559"/>
                    </a:lnTo>
                    <a:lnTo>
                      <a:pt x="1432" y="416"/>
                    </a:lnTo>
                    <a:lnTo>
                      <a:pt x="1533" y="282"/>
                    </a:lnTo>
                    <a:lnTo>
                      <a:pt x="1637" y="166"/>
                    </a:lnTo>
                    <a:lnTo>
                      <a:pt x="1738" y="78"/>
                    </a:lnTo>
                    <a:lnTo>
                      <a:pt x="1842" y="21"/>
                    </a:lnTo>
                    <a:lnTo>
                      <a:pt x="1943" y="0"/>
                    </a:lnTo>
                  </a:path>
                </a:pathLst>
              </a:custGeom>
              <a:noFill/>
              <a:ln w="76200" cmpd="sng">
                <a:solidFill>
                  <a:srgbClr val="0070C0"/>
                </a:solidFill>
                <a:prstDash val="solid"/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Freeform 69">
              <a:extLst>
                <a:ext uri="{FF2B5EF4-FFF2-40B4-BE49-F238E27FC236}">
                  <a16:creationId xmlns:a16="http://schemas.microsoft.com/office/drawing/2014/main" id="{B720F480-01DF-4404-9B4D-CDCADB9351C7}"/>
                </a:ext>
              </a:extLst>
            </p:cNvPr>
            <p:cNvSpPr/>
            <p:nvPr/>
          </p:nvSpPr>
          <p:spPr bwMode="auto">
            <a:xfrm>
              <a:off x="1188" y="2577"/>
              <a:ext cx="423" cy="626"/>
            </a:xfrm>
            <a:custGeom>
              <a:avLst/>
              <a:gdLst>
                <a:gd name="T0" fmla="*/ 0 w 303"/>
                <a:gd name="T1" fmla="*/ 0 h 566"/>
                <a:gd name="T2" fmla="*/ 66 w 303"/>
                <a:gd name="T3" fmla="*/ 7 h 566"/>
                <a:gd name="T4" fmla="*/ 127 w 303"/>
                <a:gd name="T5" fmla="*/ 20 h 566"/>
                <a:gd name="T6" fmla="*/ 181 w 303"/>
                <a:gd name="T7" fmla="*/ 49 h 566"/>
                <a:gd name="T8" fmla="*/ 228 w 303"/>
                <a:gd name="T9" fmla="*/ 83 h 566"/>
                <a:gd name="T10" fmla="*/ 264 w 303"/>
                <a:gd name="T11" fmla="*/ 126 h 566"/>
                <a:gd name="T12" fmla="*/ 289 w 303"/>
                <a:gd name="T13" fmla="*/ 171 h 566"/>
                <a:gd name="T14" fmla="*/ 296 w 303"/>
                <a:gd name="T15" fmla="*/ 223 h 566"/>
                <a:gd name="T16" fmla="*/ 293 w 303"/>
                <a:gd name="T17" fmla="*/ 275 h 566"/>
                <a:gd name="T18" fmla="*/ 271 w 303"/>
                <a:gd name="T19" fmla="*/ 323 h 566"/>
                <a:gd name="T20" fmla="*/ 253 w 303"/>
                <a:gd name="T21" fmla="*/ 366 h 566"/>
                <a:gd name="T22" fmla="*/ 246 w 303"/>
                <a:gd name="T23" fmla="*/ 413 h 566"/>
                <a:gd name="T24" fmla="*/ 253 w 303"/>
                <a:gd name="T25" fmla="*/ 455 h 566"/>
                <a:gd name="T26" fmla="*/ 268 w 303"/>
                <a:gd name="T27" fmla="*/ 501 h 566"/>
                <a:gd name="T28" fmla="*/ 293 w 303"/>
                <a:gd name="T29" fmla="*/ 541 h 566"/>
                <a:gd name="T30" fmla="*/ 329 w 303"/>
                <a:gd name="T31" fmla="*/ 575 h 566"/>
                <a:gd name="T32" fmla="*/ 373 w 303"/>
                <a:gd name="T33" fmla="*/ 604 h 566"/>
                <a:gd name="T34" fmla="*/ 423 w 303"/>
                <a:gd name="T35" fmla="*/ 626 h 5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3" h="566">
                  <a:moveTo>
                    <a:pt x="0" y="0"/>
                  </a:moveTo>
                  <a:lnTo>
                    <a:pt x="47" y="6"/>
                  </a:lnTo>
                  <a:lnTo>
                    <a:pt x="91" y="18"/>
                  </a:lnTo>
                  <a:lnTo>
                    <a:pt x="130" y="44"/>
                  </a:lnTo>
                  <a:lnTo>
                    <a:pt x="163" y="75"/>
                  </a:lnTo>
                  <a:lnTo>
                    <a:pt x="189" y="114"/>
                  </a:lnTo>
                  <a:lnTo>
                    <a:pt x="207" y="155"/>
                  </a:lnTo>
                  <a:lnTo>
                    <a:pt x="212" y="202"/>
                  </a:lnTo>
                  <a:lnTo>
                    <a:pt x="210" y="249"/>
                  </a:lnTo>
                  <a:lnTo>
                    <a:pt x="194" y="292"/>
                  </a:lnTo>
                  <a:lnTo>
                    <a:pt x="181" y="331"/>
                  </a:lnTo>
                  <a:lnTo>
                    <a:pt x="176" y="373"/>
                  </a:lnTo>
                  <a:lnTo>
                    <a:pt x="181" y="411"/>
                  </a:lnTo>
                  <a:lnTo>
                    <a:pt x="192" y="453"/>
                  </a:lnTo>
                  <a:lnTo>
                    <a:pt x="210" y="489"/>
                  </a:lnTo>
                  <a:lnTo>
                    <a:pt x="236" y="520"/>
                  </a:lnTo>
                  <a:lnTo>
                    <a:pt x="267" y="546"/>
                  </a:lnTo>
                  <a:lnTo>
                    <a:pt x="303" y="566"/>
                  </a:lnTo>
                </a:path>
              </a:pathLst>
            </a:custGeom>
            <a:noFill/>
            <a:ln w="36513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45791" dir="3378596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70">
              <a:extLst>
                <a:ext uri="{FF2B5EF4-FFF2-40B4-BE49-F238E27FC236}">
                  <a16:creationId xmlns:a16="http://schemas.microsoft.com/office/drawing/2014/main" id="{4A085D5B-D93C-49AF-963E-0D183AEBAA5C}"/>
                </a:ext>
              </a:extLst>
            </p:cNvPr>
            <p:cNvSpPr/>
            <p:nvPr/>
          </p:nvSpPr>
          <p:spPr bwMode="auto">
            <a:xfrm>
              <a:off x="3790" y="2663"/>
              <a:ext cx="615" cy="563"/>
            </a:xfrm>
            <a:custGeom>
              <a:avLst/>
              <a:gdLst>
                <a:gd name="T0" fmla="*/ 615 w 795"/>
                <a:gd name="T1" fmla="*/ 0 h 491"/>
                <a:gd name="T2" fmla="*/ 600 w 795"/>
                <a:gd name="T3" fmla="*/ 65 h 491"/>
                <a:gd name="T4" fmla="*/ 579 w 795"/>
                <a:gd name="T5" fmla="*/ 127 h 491"/>
                <a:gd name="T6" fmla="*/ 551 w 795"/>
                <a:gd name="T7" fmla="*/ 183 h 491"/>
                <a:gd name="T8" fmla="*/ 517 w 795"/>
                <a:gd name="T9" fmla="*/ 234 h 491"/>
                <a:gd name="T10" fmla="*/ 479 w 795"/>
                <a:gd name="T11" fmla="*/ 273 h 491"/>
                <a:gd name="T12" fmla="*/ 435 w 795"/>
                <a:gd name="T13" fmla="*/ 305 h 491"/>
                <a:gd name="T14" fmla="*/ 391 w 795"/>
                <a:gd name="T15" fmla="*/ 323 h 491"/>
                <a:gd name="T16" fmla="*/ 342 w 795"/>
                <a:gd name="T17" fmla="*/ 333 h 491"/>
                <a:gd name="T18" fmla="*/ 296 w 795"/>
                <a:gd name="T19" fmla="*/ 329 h 491"/>
                <a:gd name="T20" fmla="*/ 250 w 795"/>
                <a:gd name="T21" fmla="*/ 326 h 491"/>
                <a:gd name="T22" fmla="*/ 206 w 795"/>
                <a:gd name="T23" fmla="*/ 333 h 491"/>
                <a:gd name="T24" fmla="*/ 162 w 795"/>
                <a:gd name="T25" fmla="*/ 350 h 491"/>
                <a:gd name="T26" fmla="*/ 122 w 795"/>
                <a:gd name="T27" fmla="*/ 376 h 491"/>
                <a:gd name="T28" fmla="*/ 84 w 795"/>
                <a:gd name="T29" fmla="*/ 412 h 491"/>
                <a:gd name="T30" fmla="*/ 50 w 795"/>
                <a:gd name="T31" fmla="*/ 456 h 491"/>
                <a:gd name="T32" fmla="*/ 22 w 795"/>
                <a:gd name="T33" fmla="*/ 507 h 491"/>
                <a:gd name="T34" fmla="*/ 0 w 795"/>
                <a:gd name="T35" fmla="*/ 563 h 4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95" h="491">
                  <a:moveTo>
                    <a:pt x="795" y="0"/>
                  </a:moveTo>
                  <a:lnTo>
                    <a:pt x="776" y="57"/>
                  </a:lnTo>
                  <a:lnTo>
                    <a:pt x="748" y="111"/>
                  </a:lnTo>
                  <a:lnTo>
                    <a:pt x="712" y="160"/>
                  </a:lnTo>
                  <a:lnTo>
                    <a:pt x="668" y="204"/>
                  </a:lnTo>
                  <a:lnTo>
                    <a:pt x="619" y="238"/>
                  </a:lnTo>
                  <a:lnTo>
                    <a:pt x="562" y="266"/>
                  </a:lnTo>
                  <a:lnTo>
                    <a:pt x="505" y="282"/>
                  </a:lnTo>
                  <a:lnTo>
                    <a:pt x="442" y="290"/>
                  </a:lnTo>
                  <a:lnTo>
                    <a:pt x="383" y="287"/>
                  </a:lnTo>
                  <a:lnTo>
                    <a:pt x="323" y="284"/>
                  </a:lnTo>
                  <a:lnTo>
                    <a:pt x="266" y="290"/>
                  </a:lnTo>
                  <a:lnTo>
                    <a:pt x="209" y="305"/>
                  </a:lnTo>
                  <a:lnTo>
                    <a:pt x="158" y="328"/>
                  </a:lnTo>
                  <a:lnTo>
                    <a:pt x="108" y="359"/>
                  </a:lnTo>
                  <a:lnTo>
                    <a:pt x="64" y="398"/>
                  </a:lnTo>
                  <a:lnTo>
                    <a:pt x="28" y="442"/>
                  </a:lnTo>
                  <a:lnTo>
                    <a:pt x="0" y="491"/>
                  </a:lnTo>
                </a:path>
              </a:pathLst>
            </a:custGeom>
            <a:noFill/>
            <a:ln w="36513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45791" dir="3378596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71">
              <a:extLst>
                <a:ext uri="{FF2B5EF4-FFF2-40B4-BE49-F238E27FC236}">
                  <a16:creationId xmlns:a16="http://schemas.microsoft.com/office/drawing/2014/main" id="{970B3882-D58F-4C12-918E-86CC527C5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2149"/>
              <a:ext cx="0" cy="120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72">
              <a:extLst>
                <a:ext uri="{FF2B5EF4-FFF2-40B4-BE49-F238E27FC236}">
                  <a16:creationId xmlns:a16="http://schemas.microsoft.com/office/drawing/2014/main" id="{A8C592C7-CC81-4A0F-BC0F-FDDDFDE9F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2137"/>
              <a:ext cx="0" cy="120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2363" dir="842175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Freeform 73">
              <a:extLst>
                <a:ext uri="{FF2B5EF4-FFF2-40B4-BE49-F238E27FC236}">
                  <a16:creationId xmlns:a16="http://schemas.microsoft.com/office/drawing/2014/main" id="{6F65AEA2-A7BE-42B3-AE4D-5375E1AC95B1}"/>
                </a:ext>
              </a:extLst>
            </p:cNvPr>
            <p:cNvSpPr/>
            <p:nvPr/>
          </p:nvSpPr>
          <p:spPr bwMode="auto">
            <a:xfrm>
              <a:off x="727" y="1885"/>
              <a:ext cx="3957" cy="1466"/>
            </a:xfrm>
            <a:custGeom>
              <a:avLst/>
              <a:gdLst>
                <a:gd name="T0" fmla="*/ 0 w 3957"/>
                <a:gd name="T1" fmla="*/ 0 h 1466"/>
                <a:gd name="T2" fmla="*/ 0 w 3957"/>
                <a:gd name="T3" fmla="*/ 1466 h 1466"/>
                <a:gd name="T4" fmla="*/ 3957 w 3957"/>
                <a:gd name="T5" fmla="*/ 1466 h 1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7" h="1466">
                  <a:moveTo>
                    <a:pt x="0" y="0"/>
                  </a:moveTo>
                  <a:lnTo>
                    <a:pt x="0" y="1466"/>
                  </a:lnTo>
                  <a:lnTo>
                    <a:pt x="3957" y="1466"/>
                  </a:lnTo>
                </a:path>
              </a:pathLst>
            </a:custGeom>
            <a:noFill/>
            <a:ln w="36513">
              <a:solidFill>
                <a:schemeClr val="tx1"/>
              </a:solidFill>
              <a:prstDash val="solid"/>
              <a:round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" name="矩形 116">
            <a:extLst>
              <a:ext uri="{FF2B5EF4-FFF2-40B4-BE49-F238E27FC236}">
                <a16:creationId xmlns:a16="http://schemas.microsoft.com/office/drawing/2014/main" id="{98BEC660-9211-4259-87CA-60FCB997C7ED}"/>
              </a:ext>
            </a:extLst>
          </p:cNvPr>
          <p:cNvSpPr/>
          <p:nvPr/>
        </p:nvSpPr>
        <p:spPr>
          <a:xfrm>
            <a:off x="161172" y="2269185"/>
            <a:ext cx="1096488" cy="338554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双侧检验</a:t>
            </a:r>
          </a:p>
        </p:txBody>
      </p:sp>
      <p:sp>
        <p:nvSpPr>
          <p:cNvPr id="118" name="矩形 76">
            <a:extLst>
              <a:ext uri="{FF2B5EF4-FFF2-40B4-BE49-F238E27FC236}">
                <a16:creationId xmlns:a16="http://schemas.microsoft.com/office/drawing/2014/main" id="{F9C91F74-4F8C-4946-9066-D5D2D1775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507" y="2258589"/>
            <a:ext cx="1069524" cy="338554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600" b="1" i="1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1600" b="1" dirty="0">
                <a:latin typeface="Symbol" panose="05050102010706020507" pitchFamily="18" charset="2"/>
                <a:ea typeface="楷体_GB2312" pitchFamily="49" charset="-122"/>
              </a:rPr>
              <a:t> : </a:t>
            </a:r>
            <a:r>
              <a:rPr lang="en-US" altLang="zh-CN" sz="16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600" b="1" dirty="0">
                <a:latin typeface="Symbol" panose="05050102010706020507" pitchFamily="18" charset="2"/>
                <a:ea typeface="楷体_GB2312" pitchFamily="49" charset="-122"/>
              </a:rPr>
              <a:t> </a:t>
            </a:r>
            <a:r>
              <a:rPr lang="en-US" altLang="zh-CN" sz="16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sz="16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600" b="1" baseline="-25000" dirty="0">
                <a:latin typeface="Symbol" panose="05050102010706020507" pitchFamily="18" charset="2"/>
                <a:ea typeface="楷体_GB2312" pitchFamily="49" charset="-122"/>
              </a:rPr>
              <a:t>0</a:t>
            </a:r>
          </a:p>
        </p:txBody>
      </p:sp>
      <p:sp>
        <p:nvSpPr>
          <p:cNvPr id="119" name="标题 1">
            <a:extLst>
              <a:ext uri="{FF2B5EF4-FFF2-40B4-BE49-F238E27FC236}">
                <a16:creationId xmlns:a16="http://schemas.microsoft.com/office/drawing/2014/main" id="{6D200460-11AF-44EE-8A2C-69CD1CE09BF8}"/>
              </a:ext>
            </a:extLst>
          </p:cNvPr>
          <p:cNvSpPr txBox="1">
            <a:spLocks/>
          </p:cNvSpPr>
          <p:nvPr/>
        </p:nvSpPr>
        <p:spPr bwMode="auto">
          <a:xfrm>
            <a:off x="721844" y="50226"/>
            <a:ext cx="8235561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1200" dirty="0">
                <a:cs typeface="+mn-cs"/>
              </a:rPr>
              <a:t>§4.</a:t>
            </a:r>
            <a:r>
              <a:rPr lang="en-US" altLang="zh-CN" sz="2600" dirty="0">
                <a:cs typeface="+mn-cs"/>
              </a:rPr>
              <a:t>4</a:t>
            </a:r>
            <a:r>
              <a:rPr lang="en-US" altLang="zh-CN" sz="2600" kern="1200" dirty="0">
                <a:cs typeface="+mn-cs"/>
              </a:rPr>
              <a:t> </a:t>
            </a:r>
            <a:r>
              <a:rPr lang="zh-CN" altLang="en-US" sz="2600" kern="1200" dirty="0">
                <a:cs typeface="+mn-cs"/>
              </a:rPr>
              <a:t>假设检验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假设检验形式</a:t>
            </a:r>
            <a:r>
              <a:rPr lang="en-US" altLang="zh-CN" sz="2600" kern="0" dirty="0">
                <a:solidFill>
                  <a:srgbClr val="FF0000"/>
                </a:solidFill>
              </a:rPr>
              <a:t>( </a:t>
            </a:r>
            <a:r>
              <a:rPr lang="zh-CN" altLang="en-US" sz="2600" kern="0" dirty="0">
                <a:solidFill>
                  <a:srgbClr val="FF0000"/>
                </a:solidFill>
              </a:rPr>
              <a:t>双侧检验和单侧检验</a:t>
            </a:r>
            <a:r>
              <a:rPr lang="en-US" altLang="zh-CN" sz="2600" kern="0" dirty="0">
                <a:solidFill>
                  <a:srgbClr val="FF0000"/>
                </a:solidFill>
              </a:rPr>
              <a:t>)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20" name="Rectangle 9">
            <a:extLst>
              <a:ext uri="{FF2B5EF4-FFF2-40B4-BE49-F238E27FC236}">
                <a16:creationId xmlns:a16="http://schemas.microsoft.com/office/drawing/2014/main" id="{14672063-C7EC-40B3-B3F7-A1225C3D1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46" y="4466966"/>
            <a:ext cx="854572" cy="18466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kumimoji="1" lang="zh-CN" altLang="en-US" sz="1200" dirty="0">
                <a:solidFill>
                  <a:schemeClr val="bg1"/>
                </a:solidFill>
                <a:highlight>
                  <a:srgbClr val="FF0000"/>
                </a:highlight>
                <a:latin typeface="宋体" panose="02010600030101010101" pitchFamily="2" charset="-122"/>
              </a:rPr>
              <a:t>样本统计量</a:t>
            </a:r>
            <a:endParaRPr kumimoji="1" lang="en-US" altLang="zh-CN" sz="1200" baseline="-25000" dirty="0">
              <a:solidFill>
                <a:schemeClr val="bg1"/>
              </a:solidFill>
              <a:highlight>
                <a:srgbClr val="FF0000"/>
              </a:highlight>
              <a:latin typeface="宋体" panose="02010600030101010101" pitchFamily="2" charset="-122"/>
            </a:endParaRPr>
          </a:p>
        </p:txBody>
      </p:sp>
      <p:sp>
        <p:nvSpPr>
          <p:cNvPr id="121" name="Rectangle 32">
            <a:extLst>
              <a:ext uri="{FF2B5EF4-FFF2-40B4-BE49-F238E27FC236}">
                <a16:creationId xmlns:a16="http://schemas.microsoft.com/office/drawing/2014/main" id="{60AA8126-9260-4000-A234-047FBC1D4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319" y="3467552"/>
            <a:ext cx="606717" cy="30777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a</a:t>
            </a:r>
            <a:endParaRPr kumimoji="1"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22" name="Rectangle 38">
            <a:extLst>
              <a:ext uri="{FF2B5EF4-FFF2-40B4-BE49-F238E27FC236}">
                <a16:creationId xmlns:a16="http://schemas.microsoft.com/office/drawing/2014/main" id="{FC0C156F-BE5B-47B6-98D7-010AB8FC0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76" y="2876024"/>
            <a:ext cx="538809" cy="21590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拒绝域</a:t>
            </a:r>
            <a:endParaRPr kumimoji="1" lang="en-US" altLang="zh-CN" sz="1400" b="1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39">
            <a:extLst>
              <a:ext uri="{FF2B5EF4-FFF2-40B4-BE49-F238E27FC236}">
                <a16:creationId xmlns:a16="http://schemas.microsoft.com/office/drawing/2014/main" id="{8010996A-D1A5-4522-875B-9F77B45A0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209" y="4129584"/>
            <a:ext cx="1884960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zh-CN" altLang="en-US" sz="1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接受域</a:t>
            </a:r>
            <a:r>
              <a:rPr kumimoji="0" lang="en-US" altLang="zh-CN" sz="1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kumimoji="0" lang="en-US" altLang="zh-CN" sz="1400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4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4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400" b="1" i="0" u="none" strike="noStrike" cap="none" normalizeH="0" baseline="-25000" dirty="0">
              <a:ln>
                <a:noFill/>
              </a:ln>
              <a:solidFill>
                <a:srgbClr val="FF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9" name="矩形 39">
            <a:extLst>
              <a:ext uri="{FF2B5EF4-FFF2-40B4-BE49-F238E27FC236}">
                <a16:creationId xmlns:a16="http://schemas.microsoft.com/office/drawing/2014/main" id="{3A076021-F7EB-4104-A21C-AE9133388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744" y="3885357"/>
            <a:ext cx="1722481" cy="27699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zh-CN" altLang="en-US" sz="12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接受域</a:t>
            </a:r>
            <a:r>
              <a:rPr kumimoji="0" lang="en-US" altLang="zh-CN" sz="12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kumimoji="0" lang="en-US" altLang="zh-CN" sz="1200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2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2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2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2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≤</a:t>
            </a:r>
            <a:r>
              <a:rPr lang="en-US" altLang="zh-CN" sz="12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200" b="1" baseline="-25000" dirty="0">
                <a:solidFill>
                  <a:srgbClr val="FF0000"/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200" b="1" i="0" u="none" strike="noStrike" cap="none" normalizeH="0" baseline="-25000" dirty="0">
              <a:ln>
                <a:noFill/>
              </a:ln>
              <a:solidFill>
                <a:srgbClr val="FF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" name="矩形 39">
            <a:extLst>
              <a:ext uri="{FF2B5EF4-FFF2-40B4-BE49-F238E27FC236}">
                <a16:creationId xmlns:a16="http://schemas.microsoft.com/office/drawing/2014/main" id="{818DBB42-2F76-48E7-8CB8-BAC50413A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823" y="3182094"/>
            <a:ext cx="808235" cy="246221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H1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i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&lt; </a:t>
            </a:r>
            <a:r>
              <a:rPr lang="en-US" altLang="zh-CN" sz="1000" b="1" i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baseline="-25000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000" b="1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4" name="矩形 76">
            <a:extLst>
              <a:ext uri="{FF2B5EF4-FFF2-40B4-BE49-F238E27FC236}">
                <a16:creationId xmlns:a16="http://schemas.microsoft.com/office/drawing/2014/main" id="{6992BFFA-A6C2-47B8-9876-88B78E3DF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851" y="3216867"/>
            <a:ext cx="947696" cy="276999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000" b="1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H1 : </a:t>
            </a:r>
            <a:r>
              <a:rPr lang="en-US" altLang="zh-CN" sz="1000" b="1" i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&gt; </a:t>
            </a:r>
            <a:r>
              <a:rPr lang="en-US" altLang="zh-CN" sz="1000" b="1" i="1" dirty="0">
                <a:solidFill>
                  <a:schemeClr val="bg1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174792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4" grpId="0" animBg="1"/>
      <p:bldP spid="75" grpId="0" animBg="1"/>
      <p:bldP spid="77" grpId="0" animBg="1"/>
      <p:bldP spid="78" grpId="0" animBg="1"/>
      <p:bldP spid="79" grpId="0"/>
      <p:bldP spid="121" grpId="0" animBg="1"/>
      <p:bldP spid="128" grpId="0" animBg="1"/>
      <p:bldP spid="129" grpId="0" animBg="1"/>
      <p:bldP spid="123" grpId="0" animBg="1"/>
      <p:bldP spid="1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0BF018-2CB0-4FCB-A5C9-333EDF787C2B}"/>
              </a:ext>
            </a:extLst>
          </p:cNvPr>
          <p:cNvSpPr txBox="1"/>
          <p:nvPr/>
        </p:nvSpPr>
        <p:spPr>
          <a:xfrm>
            <a:off x="639454" y="2816901"/>
            <a:ext cx="502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FF000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j-cs"/>
              </a:rPr>
              <a:t>μ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8" descr="python--假设性检验基础 - 知乎">
            <a:extLst>
              <a:ext uri="{FF2B5EF4-FFF2-40B4-BE49-F238E27FC236}">
                <a16:creationId xmlns:a16="http://schemas.microsoft.com/office/drawing/2014/main" id="{5755AF10-AAF4-490D-8FE2-38A5ED8B3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87" y="2154710"/>
            <a:ext cx="4894667" cy="207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A79F93B-29E3-49BE-9D7A-9F3A046CD48D}"/>
              </a:ext>
            </a:extLst>
          </p:cNvPr>
          <p:cNvSpPr txBox="1"/>
          <p:nvPr/>
        </p:nvSpPr>
        <p:spPr>
          <a:xfrm>
            <a:off x="4395402" y="2664201"/>
            <a:ext cx="93083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kern="0">
                <a:solidFill>
                  <a:schemeClr val="bg1"/>
                </a:solidFill>
              </a:defRPr>
            </a:lvl1pPr>
          </a:lstStyle>
          <a:p>
            <a:r>
              <a:rPr lang="zh-CN" altLang="en-US" sz="1200" dirty="0"/>
              <a:t>样本＜</a:t>
            </a:r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027516-4E0E-45D7-A75B-5AD79FE98B98}"/>
              </a:ext>
            </a:extLst>
          </p:cNvPr>
          <p:cNvSpPr txBox="1"/>
          <p:nvPr/>
        </p:nvSpPr>
        <p:spPr>
          <a:xfrm>
            <a:off x="107504" y="704407"/>
            <a:ext cx="8916245" cy="60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根据总体分布、统计方法的应用条件、样本含量大小等，选择适宜的统计方法如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检验、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检验、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检验等，并计算出相应的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统计量如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值和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从而求出抽样误差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555E800-4519-435B-BC10-1EDDCF9717B2}"/>
              </a:ext>
            </a:extLst>
          </p:cNvPr>
          <p:cNvSpPr txBox="1">
            <a:spLocks/>
          </p:cNvSpPr>
          <p:nvPr/>
        </p:nvSpPr>
        <p:spPr bwMode="auto">
          <a:xfrm>
            <a:off x="1763688" y="58723"/>
            <a:ext cx="5149955" cy="5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b="1" kern="1200" dirty="0">
                <a:cs typeface="+mn-cs"/>
              </a:rPr>
              <a:t>§4.</a:t>
            </a:r>
            <a:r>
              <a:rPr lang="en-US" altLang="zh-CN" sz="2600" b="1" dirty="0">
                <a:cs typeface="+mn-cs"/>
              </a:rPr>
              <a:t>4</a:t>
            </a:r>
            <a:r>
              <a:rPr lang="en-US" altLang="zh-CN" sz="2600" b="1" kern="1200" dirty="0">
                <a:cs typeface="+mn-cs"/>
              </a:rPr>
              <a:t> </a:t>
            </a:r>
            <a:r>
              <a:rPr lang="zh-CN" altLang="en-US" sz="2600" b="1" kern="1200" dirty="0">
                <a:cs typeface="+mn-cs"/>
              </a:rPr>
              <a:t>假设检验</a:t>
            </a:r>
            <a:r>
              <a:rPr lang="zh-CN" altLang="en-US" sz="2600" b="1" kern="0" dirty="0">
                <a:solidFill>
                  <a:srgbClr val="FF0000"/>
                </a:solidFill>
              </a:rPr>
              <a:t>方法</a:t>
            </a:r>
            <a:r>
              <a:rPr lang="en-US" altLang="zh-CN" sz="2600" b="1" kern="0" dirty="0">
                <a:solidFill>
                  <a:srgbClr val="FF0000"/>
                </a:solidFill>
              </a:rPr>
              <a:t> ——z</a:t>
            </a:r>
            <a:r>
              <a:rPr lang="zh-CN" altLang="en-US" sz="2600" b="1" kern="0" dirty="0">
                <a:solidFill>
                  <a:srgbClr val="FF0000"/>
                </a:solidFill>
              </a:rPr>
              <a:t>检验和</a:t>
            </a:r>
            <a:r>
              <a:rPr lang="en-US" altLang="zh-CN" sz="2600" b="1" kern="0" dirty="0">
                <a:solidFill>
                  <a:srgbClr val="FF0000"/>
                </a:solidFill>
              </a:rPr>
              <a:t>t</a:t>
            </a:r>
            <a:r>
              <a:rPr lang="zh-CN" altLang="en-US" sz="2600" b="1" kern="0" dirty="0">
                <a:solidFill>
                  <a:srgbClr val="FF0000"/>
                </a:solidFill>
              </a:rPr>
              <a:t>检验</a:t>
            </a:r>
            <a:endParaRPr lang="zh-CN" altLang="en-US" sz="2600" b="1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50C0F79-E837-4461-8FD2-42513009A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144" y="2643758"/>
            <a:ext cx="1761501" cy="2385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ts val="1500"/>
              </a:lnSpc>
              <a:buFontTx/>
              <a:buNone/>
            </a:pPr>
            <a:r>
              <a:rPr lang="en-US" altLang="zh-CN" sz="14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tail=</a:t>
            </a:r>
            <a:r>
              <a:rPr lang="zh-CN" altLang="en-US" sz="14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4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both”</a:t>
            </a:r>
            <a:r>
              <a:rPr lang="zh-CN" altLang="en-US" sz="14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endParaRPr lang="en-US" altLang="zh-CN" sz="1400" b="1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A453D0-4E65-4FF6-B438-CFAEEB62069A}"/>
              </a:ext>
            </a:extLst>
          </p:cNvPr>
          <p:cNvSpPr txBox="1"/>
          <p:nvPr/>
        </p:nvSpPr>
        <p:spPr>
          <a:xfrm>
            <a:off x="98801" y="2616376"/>
            <a:ext cx="1487910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00000"/>
              </a:lnSpc>
              <a:buFontTx/>
              <a:buNone/>
              <a:defRPr sz="1200" b="1" kern="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已知总体</a:t>
            </a:r>
            <a:r>
              <a:rPr lang="zh-CN" altLang="zh-CN" dirty="0"/>
              <a:t>标准差</a:t>
            </a:r>
            <a:r>
              <a:rPr lang="en-US" altLang="zh-CN" dirty="0"/>
              <a:t> </a:t>
            </a:r>
            <a:r>
              <a:rPr lang="zh-CN" altLang="zh-CN" dirty="0"/>
              <a:t>σ</a:t>
            </a:r>
            <a:endParaRPr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5762B6-235B-4FE2-A088-D625C9428575}"/>
              </a:ext>
            </a:extLst>
          </p:cNvPr>
          <p:cNvSpPr txBox="1"/>
          <p:nvPr/>
        </p:nvSpPr>
        <p:spPr>
          <a:xfrm>
            <a:off x="3211445" y="2366772"/>
            <a:ext cx="1103120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00000"/>
              </a:lnSpc>
              <a:buFontTx/>
              <a:buNone/>
              <a:defRPr sz="1600" b="1" kern="0">
                <a:solidFill>
                  <a:srgbClr val="FF0000"/>
                </a:solidFill>
              </a:defRPr>
            </a:lvl1pPr>
          </a:lstStyle>
          <a:p>
            <a:r>
              <a:rPr lang="zh-CN" altLang="en-US" sz="1200" dirty="0"/>
              <a:t>未知标准</a:t>
            </a:r>
            <a:r>
              <a:rPr lang="zh-CN" altLang="zh-CN" sz="1200" dirty="0"/>
              <a:t>差</a:t>
            </a:r>
            <a:r>
              <a:rPr lang="en-US" altLang="zh-CN" sz="1200" dirty="0"/>
              <a:t> </a:t>
            </a:r>
            <a:r>
              <a:rPr lang="zh-CN" altLang="zh-CN" sz="1200" dirty="0"/>
              <a:t>σ</a:t>
            </a:r>
            <a:endParaRPr lang="en-US" altLang="zh-CN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86B0754-A36B-4EE8-A887-2EB3A2EA093E}"/>
              </a:ext>
            </a:extLst>
          </p:cNvPr>
          <p:cNvSpPr txBox="1"/>
          <p:nvPr/>
        </p:nvSpPr>
        <p:spPr>
          <a:xfrm>
            <a:off x="5453770" y="3651188"/>
            <a:ext cx="37079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假设检验结果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h=1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拒绝原假设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h=0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未拒绝原假设</a:t>
            </a:r>
            <a:endParaRPr lang="en-US" altLang="zh-CN" sz="1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检验值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H0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假设，可省略</a:t>
            </a:r>
            <a:endParaRPr lang="en-US" altLang="zh-CN" sz="1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D63443B-12B4-493A-9505-A6D1AEBE5A9A}"/>
                  </a:ext>
                </a:extLst>
              </p:cNvPr>
              <p:cNvSpPr txBox="1"/>
              <p:nvPr/>
            </p:nvSpPr>
            <p:spPr>
              <a:xfrm>
                <a:off x="5667832" y="1289130"/>
                <a:ext cx="3266881" cy="1096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14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hlinkClick r:id="rId4" action="ppaction://hlinkfile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x</a:t>
                </a:r>
                <a:r>
                  <a:rPr lang="zh-CN" altLang="en-US" sz="14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样本数据（</a:t>
                </a:r>
                <a:r>
                  <a:rPr lang="en-US" altLang="zh-CN" sz="1400" kern="0" dirty="0">
                    <a:solidFill>
                      <a:srgbClr val="00B0F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400" i="1" kern="0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1400" b="0" i="1" kern="0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样本均值</a:t>
                </a:r>
                <a:r>
                  <a:rPr lang="zh-CN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样本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数量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1400" kern="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ts val="2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 (</a:t>
                </a:r>
                <a:r>
                  <a:rPr lang="en-US" altLang="zh-CN" sz="1400" i="1" dirty="0">
                    <a:latin typeface="Symbol" panose="05050102010706020507" pitchFamily="18" charset="2"/>
                    <a:ea typeface="楷体_GB2312" pitchFamily="49" charset="-122"/>
                  </a:rPr>
                  <a:t>m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1400" i="1" dirty="0">
                    <a:latin typeface="Symbol" panose="05050102010706020507" pitchFamily="18" charset="2"/>
                    <a:ea typeface="楷体_GB2312" pitchFamily="49" charset="-122"/>
                  </a:rPr>
                  <a:t> 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是假设总体均值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US" altLang="zh-CN" sz="1400" kern="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ts val="2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sigma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σ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是总体标准差</a:t>
                </a:r>
                <a:endParaRPr lang="en-US" altLang="zh-CN" sz="1400" kern="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ts val="2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alpha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α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显著水平，默认</a:t>
                </a:r>
                <a:r>
                  <a:rPr lang="en-US" altLang="zh-CN" sz="1400" kern="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0.05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D63443B-12B4-493A-9505-A6D1AEBE5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832" y="1289130"/>
                <a:ext cx="3266881" cy="1096454"/>
              </a:xfrm>
              <a:prstGeom prst="rect">
                <a:avLst/>
              </a:prstGeom>
              <a:blipFill>
                <a:blip r:embed="rId5"/>
                <a:stretch>
                  <a:fillRect l="-373" r="-6157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5A949CC6-4A35-4752-AE72-12A0968E71B4}"/>
              </a:ext>
            </a:extLst>
          </p:cNvPr>
          <p:cNvSpPr/>
          <p:nvPr/>
        </p:nvSpPr>
        <p:spPr>
          <a:xfrm>
            <a:off x="5580113" y="3029506"/>
            <a:ext cx="800219" cy="276999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左侧检验</a:t>
            </a:r>
          </a:p>
        </p:txBody>
      </p:sp>
      <p:sp>
        <p:nvSpPr>
          <p:cNvPr id="32" name="矩形 39">
            <a:extLst>
              <a:ext uri="{FF2B5EF4-FFF2-40B4-BE49-F238E27FC236}">
                <a16:creationId xmlns:a16="http://schemas.microsoft.com/office/drawing/2014/main" id="{ABBB42EB-4832-4C34-9028-803B1D55E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898" y="3017568"/>
            <a:ext cx="930063" cy="276999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kumimoji="0" lang="en-US" altLang="zh-CN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H1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2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2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&lt; </a:t>
            </a:r>
            <a:r>
              <a:rPr lang="en-US" altLang="zh-CN" sz="12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200" b="1" baseline="-25000" dirty="0"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2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5F800C-19E8-416B-839D-EE5C15210682}"/>
              </a:ext>
            </a:extLst>
          </p:cNvPr>
          <p:cNvSpPr/>
          <p:nvPr/>
        </p:nvSpPr>
        <p:spPr>
          <a:xfrm>
            <a:off x="5580112" y="3360576"/>
            <a:ext cx="800219" cy="276999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右侧检验</a:t>
            </a:r>
          </a:p>
        </p:txBody>
      </p:sp>
      <p:sp>
        <p:nvSpPr>
          <p:cNvPr id="34" name="矩形 76">
            <a:extLst>
              <a:ext uri="{FF2B5EF4-FFF2-40B4-BE49-F238E27FC236}">
                <a16:creationId xmlns:a16="http://schemas.microsoft.com/office/drawing/2014/main" id="{546C0197-2662-4DB9-A4B9-D481ACDF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2502" y="3359104"/>
            <a:ext cx="947696" cy="276999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200" b="1" i="1" dirty="0">
                <a:latin typeface="Times New Roman" panose="02020603050405020304" pitchFamily="18" charset="0"/>
                <a:ea typeface="楷体_GB2312" pitchFamily="49" charset="-122"/>
              </a:rPr>
              <a:t>H1</a:t>
            </a:r>
            <a:r>
              <a:rPr lang="en-US" altLang="zh-CN" sz="1200" b="1" dirty="0">
                <a:latin typeface="Symbol" panose="05050102010706020507" pitchFamily="18" charset="2"/>
                <a:ea typeface="楷体_GB2312" pitchFamily="49" charset="-122"/>
              </a:rPr>
              <a:t> : </a:t>
            </a:r>
            <a:r>
              <a:rPr lang="en-US" altLang="zh-CN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kumimoji="0" lang="en-US" altLang="zh-CN" sz="1200" b="1" i="1" u="none" strike="noStrike" kern="1200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&gt; </a:t>
            </a:r>
            <a:r>
              <a:rPr lang="en-US" altLang="zh-CN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2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7C1B52-1ED3-4801-8A7F-CE3FA6CD574A}"/>
              </a:ext>
            </a:extLst>
          </p:cNvPr>
          <p:cNvSpPr/>
          <p:nvPr/>
        </p:nvSpPr>
        <p:spPr>
          <a:xfrm>
            <a:off x="5595785" y="2658708"/>
            <a:ext cx="800219" cy="276999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双侧检验</a:t>
            </a:r>
          </a:p>
        </p:txBody>
      </p:sp>
      <p:sp>
        <p:nvSpPr>
          <p:cNvPr id="36" name="矩形 76">
            <a:extLst>
              <a:ext uri="{FF2B5EF4-FFF2-40B4-BE49-F238E27FC236}">
                <a16:creationId xmlns:a16="http://schemas.microsoft.com/office/drawing/2014/main" id="{95A31A8B-DC3E-4C19-B919-CB3D6CB37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300" y="2650092"/>
            <a:ext cx="871822" cy="276999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lvl="0" algn="dist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200" b="1" i="1" dirty="0">
                <a:latin typeface="Times New Roman" panose="02020603050405020304" pitchFamily="18" charset="0"/>
                <a:ea typeface="楷体_GB2312" pitchFamily="49" charset="-122"/>
              </a:rPr>
              <a:t>H1</a:t>
            </a:r>
            <a:r>
              <a:rPr lang="en-US" altLang="zh-CN" sz="1200" b="1" dirty="0">
                <a:latin typeface="Symbol" panose="05050102010706020507" pitchFamily="18" charset="2"/>
                <a:ea typeface="楷体_GB2312" pitchFamily="49" charset="-122"/>
              </a:rPr>
              <a:t> :</a:t>
            </a:r>
            <a:r>
              <a:rPr lang="en-US" altLang="zh-CN" sz="12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≠</a:t>
            </a:r>
            <a:r>
              <a:rPr lang="en-US" altLang="zh-CN" sz="1200" b="1" dirty="0">
                <a:latin typeface="Symbol" panose="05050102010706020507" pitchFamily="18" charset="2"/>
                <a:ea typeface="楷体_GB2312" pitchFamily="49" charset="-122"/>
              </a:rPr>
              <a:t> </a:t>
            </a:r>
            <a:r>
              <a:rPr lang="en-US" altLang="zh-CN" sz="12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200" b="1" baseline="-25000" dirty="0">
                <a:latin typeface="Symbol" panose="05050102010706020507" pitchFamily="18" charset="2"/>
                <a:ea typeface="楷体_GB2312" pitchFamily="49" charset="-122"/>
              </a:rPr>
              <a:t>0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DFF7085-EC94-4371-805E-EE32855CD062}"/>
              </a:ext>
            </a:extLst>
          </p:cNvPr>
          <p:cNvSpPr txBox="1"/>
          <p:nvPr/>
        </p:nvSpPr>
        <p:spPr>
          <a:xfrm>
            <a:off x="7348557" y="2983585"/>
            <a:ext cx="1279631" cy="2385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ts val="1500"/>
              </a:lnSpc>
              <a:buFontTx/>
              <a:buNone/>
              <a:defRPr sz="14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dirty="0"/>
              <a:t>tail=</a:t>
            </a:r>
            <a:r>
              <a:rPr lang="zh-CN" altLang="en-US" dirty="0"/>
              <a:t>“</a:t>
            </a:r>
            <a:r>
              <a:rPr lang="en-US" altLang="zh-CN" dirty="0"/>
              <a:t>left</a:t>
            </a:r>
            <a:r>
              <a:rPr lang="zh-CN" altLang="en-US" dirty="0"/>
              <a:t>”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F78543-ECF9-4660-9778-D3C81FE64B70}"/>
              </a:ext>
            </a:extLst>
          </p:cNvPr>
          <p:cNvSpPr txBox="1"/>
          <p:nvPr/>
        </p:nvSpPr>
        <p:spPr>
          <a:xfrm>
            <a:off x="7354217" y="3302728"/>
            <a:ext cx="1532730" cy="2385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ts val="1500"/>
              </a:lnSpc>
              <a:buFontTx/>
              <a:buNone/>
              <a:defRPr sz="14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dirty="0"/>
              <a:t>tail=</a:t>
            </a:r>
            <a:r>
              <a:rPr lang="zh-CN" altLang="en-US" dirty="0"/>
              <a:t>“</a:t>
            </a:r>
            <a:r>
              <a:rPr lang="en-US" altLang="zh-CN" dirty="0"/>
              <a:t>right</a:t>
            </a:r>
            <a:r>
              <a:rPr lang="zh-CN" altLang="en-US" dirty="0"/>
              <a:t>” 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217E462-F372-4184-8EF7-5E80304E4493}"/>
              </a:ext>
            </a:extLst>
          </p:cNvPr>
          <p:cNvSpPr txBox="1"/>
          <p:nvPr/>
        </p:nvSpPr>
        <p:spPr>
          <a:xfrm>
            <a:off x="5079586" y="2325946"/>
            <a:ext cx="4129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4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 —</a:t>
            </a:r>
            <a:r>
              <a:rPr lang="zh-CN" altLang="en-US" sz="14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要计算备择假设的类型</a:t>
            </a:r>
            <a:r>
              <a:rPr lang="en-US" altLang="zh-CN" sz="14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en-US" altLang="zh-CN" sz="14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bot,</a:t>
            </a:r>
            <a:r>
              <a:rPr lang="zh-CN" altLang="en-US" sz="14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可缺省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2175FBC-9442-4777-8D23-B3A03D9A3E0E}"/>
              </a:ext>
            </a:extLst>
          </p:cNvPr>
          <p:cNvSpPr txBox="1"/>
          <p:nvPr/>
        </p:nvSpPr>
        <p:spPr>
          <a:xfrm>
            <a:off x="1847689" y="3118293"/>
            <a:ext cx="862504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1400" b="1" kern="0" dirty="0">
                <a:solidFill>
                  <a:schemeClr val="bg1"/>
                </a:solidFill>
              </a:rPr>
              <a:t>样本≥</a:t>
            </a:r>
            <a:r>
              <a:rPr lang="en-US" altLang="zh-CN" sz="1400" b="1" kern="0" dirty="0">
                <a:solidFill>
                  <a:schemeClr val="bg1"/>
                </a:solidFill>
              </a:rPr>
              <a:t>30</a:t>
            </a:r>
            <a:endParaRPr lang="zh-CN" altLang="en-US" sz="1400" b="1" kern="0" dirty="0">
              <a:solidFill>
                <a:schemeClr val="bg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885B4A-9450-4119-A85B-A7E11CDE086F}"/>
              </a:ext>
            </a:extLst>
          </p:cNvPr>
          <p:cNvSpPr txBox="1"/>
          <p:nvPr/>
        </p:nvSpPr>
        <p:spPr>
          <a:xfrm>
            <a:off x="3150753" y="3216566"/>
            <a:ext cx="743665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00000"/>
              </a:lnSpc>
              <a:buFontTx/>
              <a:buNone/>
              <a:defRPr sz="1600" b="1" kern="0">
                <a:solidFill>
                  <a:srgbClr val="FF0000"/>
                </a:solidFill>
              </a:defRPr>
            </a:lvl1pPr>
          </a:lstStyle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用样本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标准差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C812841-CC19-4CC6-8D10-AB2388A0F31A}"/>
              </a:ext>
            </a:extLst>
          </p:cNvPr>
          <p:cNvSpPr txBox="1"/>
          <p:nvPr/>
        </p:nvSpPr>
        <p:spPr>
          <a:xfrm>
            <a:off x="251520" y="4288584"/>
            <a:ext cx="8819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dist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输出项：检验 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均值置信区间 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，检验统计量</a:t>
            </a:r>
            <a:r>
              <a:rPr lang="en-US" altLang="zh-CN" sz="1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zval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值和</a:t>
            </a:r>
            <a:r>
              <a:rPr lang="en-US" altLang="zh-CN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stats,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这些输出项都可以省略</a:t>
            </a:r>
            <a:endParaRPr lang="en-US" altLang="zh-CN" sz="1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253A63A-DB25-4A47-964C-0F7FF1CB7869}"/>
              </a:ext>
            </a:extLst>
          </p:cNvPr>
          <p:cNvSpPr txBox="1"/>
          <p:nvPr/>
        </p:nvSpPr>
        <p:spPr>
          <a:xfrm>
            <a:off x="5705043" y="986835"/>
            <a:ext cx="26113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ztest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ttest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输入输出参数：</a:t>
            </a:r>
            <a:endParaRPr lang="zh-CN" altLang="en-US" sz="16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8DF819-6866-4D9E-99E8-1395AEE0B1EC}"/>
              </a:ext>
            </a:extLst>
          </p:cNvPr>
          <p:cNvSpPr/>
          <p:nvPr/>
        </p:nvSpPr>
        <p:spPr>
          <a:xfrm>
            <a:off x="117722" y="1772890"/>
            <a:ext cx="126303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D1EF6D4-2C09-4E92-B239-3357CC9F1A11}"/>
              </a:ext>
            </a:extLst>
          </p:cNvPr>
          <p:cNvSpPr/>
          <p:nvPr/>
        </p:nvSpPr>
        <p:spPr>
          <a:xfrm>
            <a:off x="121123" y="1369508"/>
            <a:ext cx="148791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79BEE8A-A174-4112-9F23-DE662DB0BE8F}"/>
              </a:ext>
            </a:extLst>
          </p:cNvPr>
          <p:cNvSpPr/>
          <p:nvPr/>
        </p:nvSpPr>
        <p:spPr>
          <a:xfrm>
            <a:off x="1400906" y="1347614"/>
            <a:ext cx="3992528" cy="3231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ts val="500"/>
              </a:spcBef>
              <a:buFont typeface="Arial" panose="020B0604020202020204" pitchFamily="34" charset="0"/>
              <a:buNone/>
              <a:defRPr/>
            </a:pPr>
            <a:r>
              <a:rPr lang="pl-PL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pl-PL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,p,ci,zval=</a:t>
            </a:r>
            <a:r>
              <a:rPr lang="pl-PL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ztest(</a:t>
            </a:r>
            <a:r>
              <a:rPr lang="en-US" altLang="zh-CN" sz="15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x,m,sigma</a:t>
            </a:r>
            <a:r>
              <a:rPr lang="en-US" altLang="zh-CN" sz="15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;,alpha</a:t>
            </a:r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=0.05,tail=:both)</a:t>
            </a:r>
            <a:endParaRPr lang="ko-KR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0F96E3D-1854-4FD0-B319-5148EE21AFD3}"/>
              </a:ext>
            </a:extLst>
          </p:cNvPr>
          <p:cNvSpPr/>
          <p:nvPr/>
        </p:nvSpPr>
        <p:spPr>
          <a:xfrm>
            <a:off x="1406575" y="1772890"/>
            <a:ext cx="3979318" cy="3231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ts val="500"/>
              </a:spcBef>
              <a:buFont typeface="Arial" panose="020B0604020202020204" pitchFamily="34" charset="0"/>
              <a:buNone/>
              <a:defRPr/>
            </a:pPr>
            <a:r>
              <a:rPr lang="pl-PL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pl-PL" altLang="zh-CN" sz="1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pl-PL" altLang="zh-CN" sz="1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p,ci,</a:t>
            </a:r>
            <a:r>
              <a:rPr lang="en-US" altLang="zh-CN" sz="1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stats</a:t>
            </a:r>
            <a:r>
              <a:rPr lang="pl-PL" altLang="zh-CN" sz="1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sz="1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pl-PL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test(</a:t>
            </a:r>
            <a:r>
              <a:rPr lang="en-US" altLang="zh-CN" sz="15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x,m</a:t>
            </a:r>
            <a:r>
              <a:rPr lang="en-US" altLang="zh-CN" sz="15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en-US" altLang="zh-CN" sz="15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alpha</a:t>
            </a:r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=0.05,tail:=“both”)</a:t>
            </a:r>
            <a:endParaRPr lang="ko-KR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77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22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9" grpId="0" animBg="1"/>
      <p:bldP spid="40" grpId="0" animBg="1"/>
      <p:bldP spid="37" grpId="0" animBg="1"/>
      <p:bldP spid="38" grpId="0" animBg="1"/>
      <p:bldP spid="45" grpId="0"/>
      <p:bldP spid="46" grpId="0" animBg="1"/>
      <p:bldP spid="47" grpId="0" animBg="1"/>
      <p:bldP spid="48" grpId="0" animBg="1"/>
      <p:bldP spid="4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238333B-4436-4F6C-9ABB-4C8B09516023}"/>
              </a:ext>
            </a:extLst>
          </p:cNvPr>
          <p:cNvSpPr txBox="1"/>
          <p:nvPr/>
        </p:nvSpPr>
        <p:spPr>
          <a:xfrm>
            <a:off x="133738" y="1595968"/>
            <a:ext cx="8676456" cy="30401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1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pt-BR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h,_,_,zval = ztest(x,80,10) #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输出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h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z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值</a:t>
            </a:r>
            <a:endParaRPr lang="pt-BR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</a:pP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h,p,ci,z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ztest(x,80,10)</a:t>
            </a:r>
          </a:p>
          <a:p>
            <a:pPr>
              <a:lnSpc>
                <a:spcPts val="2100"/>
              </a:lnSpc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"h="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(h));</a:t>
            </a:r>
          </a:p>
          <a:p>
            <a:pPr>
              <a:lnSpc>
                <a:spcPts val="2100"/>
              </a:lnSpc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"p="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(p));</a:t>
            </a:r>
          </a:p>
          <a:p>
            <a:pPr>
              <a:lnSpc>
                <a:spcPts val="2100"/>
              </a:lnSpc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"ci="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(ci));</a:t>
            </a:r>
          </a:p>
          <a:p>
            <a:pPr>
              <a:lnSpc>
                <a:spcPts val="2100"/>
              </a:lnSpc>
            </a:pP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("z=$z")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C6FC82C-D84B-404A-8AEA-509F455C5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00" y="688051"/>
            <a:ext cx="8830108" cy="994568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sz="1100" dirty="0"/>
              <a:t>                      </a:t>
            </a:r>
            <a:r>
              <a:rPr lang="zh-CN" altLang="en-US" sz="1800" dirty="0"/>
              <a:t>某手机电池待机时间服从正态分布</a:t>
            </a:r>
            <a:r>
              <a:rPr lang="en-US" altLang="zh-CN" sz="1800" dirty="0"/>
              <a:t>,</a:t>
            </a:r>
            <a:r>
              <a:rPr lang="zh-CN" altLang="en-US" sz="1800" dirty="0"/>
              <a:t>号称待机时间为</a:t>
            </a:r>
            <a:r>
              <a:rPr lang="en-US" altLang="zh-CN" sz="1800" dirty="0"/>
              <a:t>80h</a:t>
            </a:r>
            <a:r>
              <a:rPr lang="zh-CN" altLang="en-US" sz="1800" dirty="0"/>
              <a:t>，标准差 </a:t>
            </a:r>
            <a:r>
              <a:rPr lang="en-US" altLang="zh-CN" sz="1800" dirty="0"/>
              <a:t>sigma =10</a:t>
            </a:r>
            <a:r>
              <a:rPr lang="zh-CN" altLang="en-US" sz="1800" dirty="0"/>
              <a:t>，质疑待机真实性，随机抽取了</a:t>
            </a:r>
            <a:r>
              <a:rPr lang="en-US" altLang="zh-CN" sz="1800" dirty="0"/>
              <a:t>120</a:t>
            </a:r>
            <a:r>
              <a:rPr lang="zh-CN" altLang="en-US" sz="1800" dirty="0"/>
              <a:t>台手机测试待机时间</a:t>
            </a:r>
            <a:r>
              <a:rPr lang="en-US" altLang="zh-CN" sz="1800" dirty="0"/>
              <a:t>x</a:t>
            </a:r>
            <a:r>
              <a:rPr lang="zh-CN" altLang="en-US" sz="1800" dirty="0"/>
              <a:t>，其平均值为</a:t>
            </a:r>
            <a:r>
              <a:rPr lang="en-US" altLang="zh-CN" sz="1800" dirty="0"/>
              <a:t>75h</a:t>
            </a:r>
            <a:r>
              <a:rPr lang="zh-CN" altLang="en-US" sz="1800" dirty="0"/>
              <a:t>，</a:t>
            </a:r>
            <a:r>
              <a:rPr lang="zh-CN" altLang="en-US" sz="1800" b="1" dirty="0">
                <a:solidFill>
                  <a:srgbClr val="FF0000"/>
                </a:solidFill>
              </a:rPr>
              <a:t>问是否有理由认为手机待机时间未达到</a:t>
            </a:r>
            <a:r>
              <a:rPr lang="en-US" altLang="zh-CN" sz="1800" b="1" dirty="0">
                <a:solidFill>
                  <a:srgbClr val="FF0000"/>
                </a:solidFill>
              </a:rPr>
              <a:t>80h</a:t>
            </a:r>
            <a:r>
              <a:rPr lang="zh-CN" altLang="en-US" sz="1800" b="1" dirty="0">
                <a:solidFill>
                  <a:srgbClr val="FF0000"/>
                </a:solidFill>
              </a:rPr>
              <a:t>标准</a:t>
            </a:r>
            <a:r>
              <a:rPr lang="en-US" altLang="zh-CN" sz="1800" b="1" dirty="0">
                <a:solidFill>
                  <a:srgbClr val="FF0000"/>
                </a:solidFill>
              </a:rPr>
              <a:t>? </a:t>
            </a:r>
            <a:endParaRPr lang="en-US" altLang="zh-CN" sz="1800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14505C7-3C5C-4A1A-B83D-F3E93603884E}"/>
              </a:ext>
            </a:extLst>
          </p:cNvPr>
          <p:cNvSpPr txBox="1">
            <a:spLocks/>
          </p:cNvSpPr>
          <p:nvPr/>
        </p:nvSpPr>
        <p:spPr bwMode="auto">
          <a:xfrm>
            <a:off x="1403648" y="0"/>
            <a:ext cx="6154412" cy="6372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</a:t>
            </a:r>
            <a:r>
              <a:rPr lang="en-US" altLang="zh-CN" sz="2800" dirty="0">
                <a:cs typeface="+mn-cs"/>
              </a:rPr>
              <a:t>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假设检验</a:t>
            </a:r>
            <a:r>
              <a:rPr lang="en-US" altLang="zh-CN" sz="2800" kern="0" dirty="0">
                <a:solidFill>
                  <a:srgbClr val="FF0000"/>
                </a:solidFill>
              </a:rPr>
              <a:t>——Z</a:t>
            </a:r>
            <a:r>
              <a:rPr lang="zh-CN" altLang="en-US" sz="2800" kern="0" dirty="0">
                <a:solidFill>
                  <a:srgbClr val="FF0000"/>
                </a:solidFill>
              </a:rPr>
              <a:t>假设检验案例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A8C8BB-1590-4CE4-815C-CC47B767E205}"/>
              </a:ext>
            </a:extLst>
          </p:cNvPr>
          <p:cNvSpPr txBox="1"/>
          <p:nvPr/>
        </p:nvSpPr>
        <p:spPr>
          <a:xfrm>
            <a:off x="4036662" y="3208132"/>
            <a:ext cx="4973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70C0"/>
                </a:solidFill>
              </a:rPr>
              <a:t>#</a:t>
            </a:r>
            <a:r>
              <a:rPr lang="zh-CN" altLang="en-US" sz="1600" dirty="0">
                <a:solidFill>
                  <a:srgbClr val="0070C0"/>
                </a:solidFill>
              </a:rPr>
              <a:t>h=1.0 说明拒绝了原假设</a:t>
            </a:r>
            <a:r>
              <a:rPr lang="en-US" altLang="zh-CN" sz="1600" dirty="0">
                <a:solidFill>
                  <a:srgbClr val="0070C0"/>
                </a:solidFill>
              </a:rPr>
              <a:t>μ=80</a:t>
            </a:r>
            <a:endParaRPr lang="zh-CN" altLang="en-US" sz="1600" dirty="0">
              <a:solidFill>
                <a:srgbClr val="0070C0"/>
              </a:solidFill>
            </a:endParaRPr>
          </a:p>
          <a:p>
            <a:r>
              <a:rPr lang="en-US" altLang="zh-CN" sz="1600" dirty="0">
                <a:solidFill>
                  <a:srgbClr val="0070C0"/>
                </a:solidFill>
              </a:rPr>
              <a:t>#</a:t>
            </a:r>
            <a:r>
              <a:rPr lang="zh-CN" altLang="en-US" sz="1600" dirty="0">
                <a:solidFill>
                  <a:srgbClr val="0070C0"/>
                </a:solidFill>
              </a:rPr>
              <a:t>p=4.54893e-8</a:t>
            </a:r>
            <a:endParaRPr lang="en-US" altLang="zh-CN" sz="1600" dirty="0">
              <a:solidFill>
                <a:srgbClr val="0070C0"/>
              </a:solidFill>
            </a:endParaRPr>
          </a:p>
          <a:p>
            <a:r>
              <a:rPr lang="en-US" altLang="zh-CN" sz="1600" dirty="0">
                <a:solidFill>
                  <a:srgbClr val="0070C0"/>
                </a:solidFill>
              </a:rPr>
              <a:t>#ci=[73.21913918961619, 76.7975274770505]</a:t>
            </a:r>
          </a:p>
          <a:p>
            <a:r>
              <a:rPr lang="en-US" altLang="zh-CN" sz="1600" dirty="0">
                <a:solidFill>
                  <a:srgbClr val="0070C0"/>
                </a:solidFill>
              </a:rPr>
              <a:t>#z=-5.468096865759901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6D983F-B15B-4C99-8973-0625A368211A}"/>
              </a:ext>
            </a:extLst>
          </p:cNvPr>
          <p:cNvSpPr txBox="1"/>
          <p:nvPr/>
        </p:nvSpPr>
        <p:spPr>
          <a:xfrm>
            <a:off x="1835696" y="4328319"/>
            <a:ext cx="7236296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电池抽样错误概率</a:t>
            </a:r>
            <a:r>
              <a:rPr lang="pt-BR" altLang="zh-CN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P=4.5489e-8</a:t>
            </a:r>
            <a:r>
              <a:rPr lang="zh-CN" altLang="en-US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落在拒绝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H0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区域，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μ=80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发生概率较小，故电池未达标</a:t>
            </a: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39B657FB-F23B-4C75-BC32-47316DA13B86}"/>
              </a:ext>
            </a:extLst>
          </p:cNvPr>
          <p:cNvSpPr/>
          <p:nvPr/>
        </p:nvSpPr>
        <p:spPr>
          <a:xfrm>
            <a:off x="179512" y="708727"/>
            <a:ext cx="689782" cy="264912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例44-1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21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EAD6D9F-A5A2-4433-BBA1-BD854CD372AB}"/>
              </a:ext>
            </a:extLst>
          </p:cNvPr>
          <p:cNvSpPr txBox="1">
            <a:spLocks/>
          </p:cNvSpPr>
          <p:nvPr/>
        </p:nvSpPr>
        <p:spPr bwMode="auto">
          <a:xfrm>
            <a:off x="1048876" y="50499"/>
            <a:ext cx="6984776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1200" dirty="0">
                <a:cs typeface="+mn-cs"/>
              </a:rPr>
              <a:t>§4.</a:t>
            </a:r>
            <a:r>
              <a:rPr lang="en-US" altLang="zh-CN" sz="2600" dirty="0">
                <a:cs typeface="+mn-cs"/>
              </a:rPr>
              <a:t>4</a:t>
            </a:r>
            <a:r>
              <a:rPr lang="en-US" altLang="zh-CN" sz="2600" kern="1200" dirty="0">
                <a:cs typeface="+mn-cs"/>
              </a:rPr>
              <a:t> </a:t>
            </a:r>
            <a:r>
              <a:rPr lang="zh-CN" altLang="en-US" sz="2600" kern="1200" dirty="0">
                <a:cs typeface="+mn-cs"/>
              </a:rPr>
              <a:t>假设检验</a:t>
            </a:r>
            <a:r>
              <a:rPr lang="en-US" altLang="zh-CN" sz="2600" kern="0" dirty="0">
                <a:solidFill>
                  <a:srgbClr val="FF0000"/>
                </a:solidFill>
              </a:rPr>
              <a:t>——Z</a:t>
            </a:r>
            <a:r>
              <a:rPr lang="zh-CN" altLang="en-US" sz="2600" kern="0" dirty="0">
                <a:solidFill>
                  <a:srgbClr val="FF0000"/>
                </a:solidFill>
              </a:rPr>
              <a:t>假设检验的假设类型案例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28977A0C-A636-405F-AC9E-7DCC56A91240}"/>
              </a:ext>
            </a:extLst>
          </p:cNvPr>
          <p:cNvGrpSpPr/>
          <p:nvPr/>
        </p:nvGrpSpPr>
        <p:grpSpPr bwMode="auto">
          <a:xfrm>
            <a:off x="6435295" y="1256809"/>
            <a:ext cx="2489714" cy="1418383"/>
            <a:chOff x="777" y="1732"/>
            <a:chExt cx="4188" cy="1841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2DCC048E-42AC-4C74-ABE1-67A4372C9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3361"/>
              <a:ext cx="777" cy="2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临界值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F5D019A5-1B93-482F-9CFB-EC1478E25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" y="2165"/>
              <a:ext cx="0" cy="21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kumimoji="1" lang="en-US" altLang="zh-CN" sz="1200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3385A4-6C47-4074-9825-6EA3FE939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1732"/>
              <a:ext cx="0" cy="141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kumimoji="1" lang="en-US" altLang="zh-CN" sz="1200" b="1" baseline="-25000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99CA55-894A-4D7E-8A74-C2D31AA693F6}"/>
                </a:ext>
              </a:extLst>
            </p:cNvPr>
            <p:cNvGrpSpPr/>
            <p:nvPr/>
          </p:nvGrpSpPr>
          <p:grpSpPr bwMode="auto">
            <a:xfrm>
              <a:off x="777" y="1790"/>
              <a:ext cx="49" cy="1322"/>
              <a:chOff x="765" y="1874"/>
              <a:chExt cx="49" cy="1322"/>
            </a:xfrm>
          </p:grpSpPr>
          <p:sp>
            <p:nvSpPr>
              <p:cNvPr id="26" name="Line 11">
                <a:extLst>
                  <a:ext uri="{FF2B5EF4-FFF2-40B4-BE49-F238E27FC236}">
                    <a16:creationId xmlns:a16="http://schemas.microsoft.com/office/drawing/2014/main" id="{C9240F5A-DECB-46E5-9D41-6D521B017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187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27" name="Line 12">
                <a:extLst>
                  <a:ext uri="{FF2B5EF4-FFF2-40B4-BE49-F238E27FC236}">
                    <a16:creationId xmlns:a16="http://schemas.microsoft.com/office/drawing/2014/main" id="{27A179EC-CDD8-42B0-AFA9-FF0B044CBE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022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28" name="Line 13">
                <a:extLst>
                  <a:ext uri="{FF2B5EF4-FFF2-40B4-BE49-F238E27FC236}">
                    <a16:creationId xmlns:a16="http://schemas.microsoft.com/office/drawing/2014/main" id="{8CD58E23-6953-44BB-833F-4BA7450E8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169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29" name="Line 14">
                <a:extLst>
                  <a:ext uri="{FF2B5EF4-FFF2-40B4-BE49-F238E27FC236}">
                    <a16:creationId xmlns:a16="http://schemas.microsoft.com/office/drawing/2014/main" id="{9CB00164-F48C-49A6-BDFA-8B8DE3093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31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30" name="Line 15">
                <a:extLst>
                  <a:ext uri="{FF2B5EF4-FFF2-40B4-BE49-F238E27FC236}">
                    <a16:creationId xmlns:a16="http://schemas.microsoft.com/office/drawing/2014/main" id="{3880C3E6-80E7-45D1-A511-95296BFE5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461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31" name="Line 16">
                <a:extLst>
                  <a:ext uri="{FF2B5EF4-FFF2-40B4-BE49-F238E27FC236}">
                    <a16:creationId xmlns:a16="http://schemas.microsoft.com/office/drawing/2014/main" id="{5CF35B1D-55ED-446C-8C6D-428C0A637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60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32" name="Line 17">
                <a:extLst>
                  <a:ext uri="{FF2B5EF4-FFF2-40B4-BE49-F238E27FC236}">
                    <a16:creationId xmlns:a16="http://schemas.microsoft.com/office/drawing/2014/main" id="{7F70E3C9-FB12-4B1E-BC37-4D5161ACD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756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33" name="Line 18">
                <a:extLst>
                  <a:ext uri="{FF2B5EF4-FFF2-40B4-BE49-F238E27FC236}">
                    <a16:creationId xmlns:a16="http://schemas.microsoft.com/office/drawing/2014/main" id="{0F28E3B0-5783-4D47-A7E8-5E573AD90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900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34" name="Line 19">
                <a:extLst>
                  <a:ext uri="{FF2B5EF4-FFF2-40B4-BE49-F238E27FC236}">
                    <a16:creationId xmlns:a16="http://schemas.microsoft.com/office/drawing/2014/main" id="{E742F769-BAFE-47BE-A3F0-793816E4A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304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35" name="Line 20">
                <a:extLst>
                  <a:ext uri="{FF2B5EF4-FFF2-40B4-BE49-F238E27FC236}">
                    <a16:creationId xmlns:a16="http://schemas.microsoft.com/office/drawing/2014/main" id="{7D3D2879-2C24-4CB7-936A-C7911011F5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3195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</p:grp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88ECF219-FFA9-4226-8059-31E43D30C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7" y="2937"/>
              <a:ext cx="1920" cy="0"/>
            </a:xfrm>
            <a:prstGeom prst="line">
              <a:avLst/>
            </a:prstGeom>
            <a:noFill/>
            <a:ln w="36513">
              <a:solidFill>
                <a:schemeClr val="tx1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/>
            </a:p>
          </p:txBody>
        </p: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D3B27A6B-D575-4AD8-B05D-2C4970423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5" y="2397"/>
              <a:ext cx="966" cy="289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1 - </a:t>
              </a:r>
              <a:r>
                <a:rPr kumimoji="1" lang="zh-CN" altLang="en-US" sz="1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</a:rPr>
                <a:t></a:t>
              </a:r>
              <a:endParaRPr kumimoji="1" lang="zh-CN" altLang="en-US" sz="1200" b="1" i="1">
                <a:latin typeface="Symbol" panose="05050102010706020507" pitchFamily="18" charset="2"/>
              </a:endParaRPr>
            </a:p>
          </p:txBody>
        </p:sp>
        <p:sp>
          <p:nvSpPr>
            <p:cNvPr id="14" name="Line 24">
              <a:extLst>
                <a:ext uri="{FF2B5EF4-FFF2-40B4-BE49-F238E27FC236}">
                  <a16:creationId xmlns:a16="http://schemas.microsoft.com/office/drawing/2014/main" id="{DB09FC0A-8601-4842-B26E-5635FBE33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0" y="2052"/>
              <a:ext cx="1425" cy="3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200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6B5480-A63E-44ED-91C3-796E50CA5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" y="1762"/>
              <a:ext cx="1636" cy="289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1200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置信水平</a:t>
              </a:r>
            </a:p>
          </p:txBody>
        </p:sp>
        <p:sp>
          <p:nvSpPr>
            <p:cNvPr id="16" name="Line 26">
              <a:extLst>
                <a:ext uri="{FF2B5EF4-FFF2-40B4-BE49-F238E27FC236}">
                  <a16:creationId xmlns:a16="http://schemas.microsoft.com/office/drawing/2014/main" id="{EDFF2F3C-5483-4F0A-805A-89A049125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327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200"/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E65E0A6C-A1F1-4EAD-9496-30D001E05A67}"/>
                </a:ext>
              </a:extLst>
            </p:cNvPr>
            <p:cNvSpPr/>
            <p:nvPr/>
          </p:nvSpPr>
          <p:spPr bwMode="auto">
            <a:xfrm>
              <a:off x="1028" y="2701"/>
              <a:ext cx="839" cy="546"/>
            </a:xfrm>
            <a:custGeom>
              <a:avLst/>
              <a:gdLst>
                <a:gd name="T0" fmla="*/ 1129 w 1129"/>
                <a:gd name="T1" fmla="*/ 0 h 735"/>
                <a:gd name="T2" fmla="*/ 1129 w 1129"/>
                <a:gd name="T3" fmla="*/ 735 h 735"/>
                <a:gd name="T4" fmla="*/ 0 w 1129"/>
                <a:gd name="T5" fmla="*/ 735 h 735"/>
                <a:gd name="T6" fmla="*/ 124 w 1129"/>
                <a:gd name="T7" fmla="*/ 698 h 735"/>
                <a:gd name="T8" fmla="*/ 246 w 1129"/>
                <a:gd name="T9" fmla="*/ 657 h 735"/>
                <a:gd name="T10" fmla="*/ 362 w 1129"/>
                <a:gd name="T11" fmla="*/ 610 h 735"/>
                <a:gd name="T12" fmla="*/ 474 w 1129"/>
                <a:gd name="T13" fmla="*/ 559 h 735"/>
                <a:gd name="T14" fmla="*/ 580 w 1129"/>
                <a:gd name="T15" fmla="*/ 504 h 735"/>
                <a:gd name="T16" fmla="*/ 681 w 1129"/>
                <a:gd name="T17" fmla="*/ 442 h 735"/>
                <a:gd name="T18" fmla="*/ 774 w 1129"/>
                <a:gd name="T19" fmla="*/ 378 h 735"/>
                <a:gd name="T20" fmla="*/ 860 w 1129"/>
                <a:gd name="T21" fmla="*/ 308 h 735"/>
                <a:gd name="T22" fmla="*/ 940 w 1129"/>
                <a:gd name="T23" fmla="*/ 236 h 735"/>
                <a:gd name="T24" fmla="*/ 1010 w 1129"/>
                <a:gd name="T25" fmla="*/ 161 h 735"/>
                <a:gd name="T26" fmla="*/ 1074 w 1129"/>
                <a:gd name="T27" fmla="*/ 81 h 735"/>
                <a:gd name="T28" fmla="*/ 1129 w 1129"/>
                <a:gd name="T29" fmla="*/ 0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9" h="735">
                  <a:moveTo>
                    <a:pt x="1129" y="0"/>
                  </a:moveTo>
                  <a:lnTo>
                    <a:pt x="1129" y="735"/>
                  </a:lnTo>
                  <a:lnTo>
                    <a:pt x="0" y="735"/>
                  </a:lnTo>
                  <a:lnTo>
                    <a:pt x="124" y="698"/>
                  </a:lnTo>
                  <a:lnTo>
                    <a:pt x="246" y="657"/>
                  </a:lnTo>
                  <a:lnTo>
                    <a:pt x="362" y="610"/>
                  </a:lnTo>
                  <a:lnTo>
                    <a:pt x="474" y="559"/>
                  </a:lnTo>
                  <a:lnTo>
                    <a:pt x="580" y="504"/>
                  </a:lnTo>
                  <a:lnTo>
                    <a:pt x="681" y="442"/>
                  </a:lnTo>
                  <a:lnTo>
                    <a:pt x="774" y="378"/>
                  </a:lnTo>
                  <a:lnTo>
                    <a:pt x="860" y="308"/>
                  </a:lnTo>
                  <a:lnTo>
                    <a:pt x="940" y="236"/>
                  </a:lnTo>
                  <a:lnTo>
                    <a:pt x="1010" y="161"/>
                  </a:lnTo>
                  <a:lnTo>
                    <a:pt x="1074" y="81"/>
                  </a:lnTo>
                  <a:lnTo>
                    <a:pt x="1129" y="0"/>
                  </a:lnTo>
                  <a:close/>
                </a:path>
              </a:pathLst>
            </a:custGeom>
            <a:pattFill prst="pct60">
              <a:fgClr>
                <a:srgbClr val="FF3300"/>
              </a:fgClr>
              <a:bgClr>
                <a:srgbClr val="FFFFFF"/>
              </a:bgClr>
            </a:patt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4521B46D-28DD-4EB1-B661-8929A85748A9}"/>
                </a:ext>
              </a:extLst>
            </p:cNvPr>
            <p:cNvGrpSpPr/>
            <p:nvPr/>
          </p:nvGrpSpPr>
          <p:grpSpPr bwMode="auto">
            <a:xfrm>
              <a:off x="828" y="1788"/>
              <a:ext cx="3883" cy="1432"/>
              <a:chOff x="816" y="1872"/>
              <a:chExt cx="3883" cy="1432"/>
            </a:xfrm>
          </p:grpSpPr>
          <p:sp>
            <p:nvSpPr>
              <p:cNvPr id="24" name="Freeform 32">
                <a:extLst>
                  <a:ext uri="{FF2B5EF4-FFF2-40B4-BE49-F238E27FC236}">
                    <a16:creationId xmlns:a16="http://schemas.microsoft.com/office/drawing/2014/main" id="{25AF1D88-2599-4F02-9AEC-21CC3BF02D85}"/>
                  </a:ext>
                </a:extLst>
              </p:cNvPr>
              <p:cNvSpPr/>
              <p:nvPr/>
            </p:nvSpPr>
            <p:spPr bwMode="auto">
              <a:xfrm>
                <a:off x="2757" y="1874"/>
                <a:ext cx="1942" cy="1430"/>
              </a:xfrm>
              <a:custGeom>
                <a:avLst/>
                <a:gdLst>
                  <a:gd name="T0" fmla="*/ 1942 w 1942"/>
                  <a:gd name="T1" fmla="*/ 1430 h 1430"/>
                  <a:gd name="T2" fmla="*/ 1737 w 1942"/>
                  <a:gd name="T3" fmla="*/ 1412 h 1430"/>
                  <a:gd name="T4" fmla="*/ 1636 w 1942"/>
                  <a:gd name="T5" fmla="*/ 1396 h 1430"/>
                  <a:gd name="T6" fmla="*/ 1532 w 1942"/>
                  <a:gd name="T7" fmla="*/ 1373 h 1430"/>
                  <a:gd name="T8" fmla="*/ 1431 w 1942"/>
                  <a:gd name="T9" fmla="*/ 1342 h 1430"/>
                  <a:gd name="T10" fmla="*/ 1328 w 1942"/>
                  <a:gd name="T11" fmla="*/ 1298 h 1430"/>
                  <a:gd name="T12" fmla="*/ 1227 w 1942"/>
                  <a:gd name="T13" fmla="*/ 1238 h 1430"/>
                  <a:gd name="T14" fmla="*/ 1022 w 1942"/>
                  <a:gd name="T15" fmla="*/ 1073 h 1430"/>
                  <a:gd name="T16" fmla="*/ 818 w 1942"/>
                  <a:gd name="T17" fmla="*/ 838 h 1430"/>
                  <a:gd name="T18" fmla="*/ 613 w 1942"/>
                  <a:gd name="T19" fmla="*/ 559 h 1430"/>
                  <a:gd name="T20" fmla="*/ 512 w 1942"/>
                  <a:gd name="T21" fmla="*/ 416 h 1430"/>
                  <a:gd name="T22" fmla="*/ 409 w 1942"/>
                  <a:gd name="T23" fmla="*/ 282 h 1430"/>
                  <a:gd name="T24" fmla="*/ 308 w 1942"/>
                  <a:gd name="T25" fmla="*/ 166 h 1430"/>
                  <a:gd name="T26" fmla="*/ 204 w 1942"/>
                  <a:gd name="T27" fmla="*/ 78 h 1430"/>
                  <a:gd name="T28" fmla="*/ 103 w 1942"/>
                  <a:gd name="T29" fmla="*/ 21 h 1430"/>
                  <a:gd name="T30" fmla="*/ 0 w 1942"/>
                  <a:gd name="T31" fmla="*/ 0 h 1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42" h="1430">
                    <a:moveTo>
                      <a:pt x="1942" y="1430"/>
                    </a:moveTo>
                    <a:lnTo>
                      <a:pt x="1737" y="1412"/>
                    </a:lnTo>
                    <a:lnTo>
                      <a:pt x="1636" y="1396"/>
                    </a:lnTo>
                    <a:lnTo>
                      <a:pt x="1532" y="1373"/>
                    </a:lnTo>
                    <a:lnTo>
                      <a:pt x="1431" y="1342"/>
                    </a:lnTo>
                    <a:lnTo>
                      <a:pt x="1328" y="1298"/>
                    </a:lnTo>
                    <a:lnTo>
                      <a:pt x="1227" y="1238"/>
                    </a:lnTo>
                    <a:lnTo>
                      <a:pt x="1022" y="1073"/>
                    </a:lnTo>
                    <a:lnTo>
                      <a:pt x="818" y="838"/>
                    </a:lnTo>
                    <a:lnTo>
                      <a:pt x="613" y="559"/>
                    </a:lnTo>
                    <a:lnTo>
                      <a:pt x="512" y="416"/>
                    </a:lnTo>
                    <a:lnTo>
                      <a:pt x="409" y="282"/>
                    </a:lnTo>
                    <a:lnTo>
                      <a:pt x="308" y="166"/>
                    </a:lnTo>
                    <a:lnTo>
                      <a:pt x="204" y="78"/>
                    </a:lnTo>
                    <a:lnTo>
                      <a:pt x="103" y="21"/>
                    </a:lnTo>
                    <a:lnTo>
                      <a:pt x="0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25" name="Freeform 33">
                <a:extLst>
                  <a:ext uri="{FF2B5EF4-FFF2-40B4-BE49-F238E27FC236}">
                    <a16:creationId xmlns:a16="http://schemas.microsoft.com/office/drawing/2014/main" id="{20A336B7-37D3-47E9-A962-A8B1BB0ECA96}"/>
                  </a:ext>
                </a:extLst>
              </p:cNvPr>
              <p:cNvSpPr/>
              <p:nvPr/>
            </p:nvSpPr>
            <p:spPr bwMode="auto">
              <a:xfrm>
                <a:off x="816" y="1872"/>
                <a:ext cx="1943" cy="1430"/>
              </a:xfrm>
              <a:custGeom>
                <a:avLst/>
                <a:gdLst>
                  <a:gd name="T0" fmla="*/ 0 w 1943"/>
                  <a:gd name="T1" fmla="*/ 1430 h 1430"/>
                  <a:gd name="T2" fmla="*/ 205 w 1943"/>
                  <a:gd name="T3" fmla="*/ 1412 h 1430"/>
                  <a:gd name="T4" fmla="*/ 309 w 1943"/>
                  <a:gd name="T5" fmla="*/ 1396 h 1430"/>
                  <a:gd name="T6" fmla="*/ 410 w 1943"/>
                  <a:gd name="T7" fmla="*/ 1373 h 1430"/>
                  <a:gd name="T8" fmla="*/ 511 w 1943"/>
                  <a:gd name="T9" fmla="*/ 1342 h 1430"/>
                  <a:gd name="T10" fmla="*/ 614 w 1943"/>
                  <a:gd name="T11" fmla="*/ 1298 h 1430"/>
                  <a:gd name="T12" fmla="*/ 715 w 1943"/>
                  <a:gd name="T13" fmla="*/ 1238 h 1430"/>
                  <a:gd name="T14" fmla="*/ 922 w 1943"/>
                  <a:gd name="T15" fmla="*/ 1073 h 1430"/>
                  <a:gd name="T16" fmla="*/ 1124 w 1943"/>
                  <a:gd name="T17" fmla="*/ 838 h 1430"/>
                  <a:gd name="T18" fmla="*/ 1329 w 1943"/>
                  <a:gd name="T19" fmla="*/ 559 h 1430"/>
                  <a:gd name="T20" fmla="*/ 1432 w 1943"/>
                  <a:gd name="T21" fmla="*/ 416 h 1430"/>
                  <a:gd name="T22" fmla="*/ 1533 w 1943"/>
                  <a:gd name="T23" fmla="*/ 282 h 1430"/>
                  <a:gd name="T24" fmla="*/ 1637 w 1943"/>
                  <a:gd name="T25" fmla="*/ 166 h 1430"/>
                  <a:gd name="T26" fmla="*/ 1738 w 1943"/>
                  <a:gd name="T27" fmla="*/ 78 h 1430"/>
                  <a:gd name="T28" fmla="*/ 1842 w 1943"/>
                  <a:gd name="T29" fmla="*/ 21 h 1430"/>
                  <a:gd name="T30" fmla="*/ 1943 w 1943"/>
                  <a:gd name="T31" fmla="*/ 0 h 1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43" h="1430">
                    <a:moveTo>
                      <a:pt x="0" y="1430"/>
                    </a:moveTo>
                    <a:lnTo>
                      <a:pt x="205" y="1412"/>
                    </a:lnTo>
                    <a:lnTo>
                      <a:pt x="309" y="1396"/>
                    </a:lnTo>
                    <a:lnTo>
                      <a:pt x="410" y="1373"/>
                    </a:lnTo>
                    <a:lnTo>
                      <a:pt x="511" y="1342"/>
                    </a:lnTo>
                    <a:lnTo>
                      <a:pt x="614" y="1298"/>
                    </a:lnTo>
                    <a:lnTo>
                      <a:pt x="715" y="1238"/>
                    </a:lnTo>
                    <a:lnTo>
                      <a:pt x="922" y="1073"/>
                    </a:lnTo>
                    <a:lnTo>
                      <a:pt x="1124" y="838"/>
                    </a:lnTo>
                    <a:lnTo>
                      <a:pt x="1329" y="559"/>
                    </a:lnTo>
                    <a:lnTo>
                      <a:pt x="1432" y="416"/>
                    </a:lnTo>
                    <a:lnTo>
                      <a:pt x="1533" y="282"/>
                    </a:lnTo>
                    <a:lnTo>
                      <a:pt x="1637" y="166"/>
                    </a:lnTo>
                    <a:lnTo>
                      <a:pt x="1738" y="78"/>
                    </a:lnTo>
                    <a:lnTo>
                      <a:pt x="1842" y="21"/>
                    </a:lnTo>
                    <a:lnTo>
                      <a:pt x="1943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200"/>
              </a:p>
            </p:txBody>
          </p:sp>
        </p:grpSp>
        <p:grpSp>
          <p:nvGrpSpPr>
            <p:cNvPr id="19" name="Group 34">
              <a:extLst>
                <a:ext uri="{FF2B5EF4-FFF2-40B4-BE49-F238E27FC236}">
                  <a16:creationId xmlns:a16="http://schemas.microsoft.com/office/drawing/2014/main" id="{30D8F10F-148F-4215-999D-113459D51165}"/>
                </a:ext>
              </a:extLst>
            </p:cNvPr>
            <p:cNvGrpSpPr/>
            <p:nvPr/>
          </p:nvGrpSpPr>
          <p:grpSpPr bwMode="auto">
            <a:xfrm>
              <a:off x="1200" y="2076"/>
              <a:ext cx="672" cy="1200"/>
              <a:chOff x="1392" y="2160"/>
              <a:chExt cx="672" cy="1200"/>
            </a:xfrm>
          </p:grpSpPr>
          <p:sp>
            <p:nvSpPr>
              <p:cNvPr id="22" name="Line 35">
                <a:extLst>
                  <a:ext uri="{FF2B5EF4-FFF2-40B4-BE49-F238E27FC236}">
                    <a16:creationId xmlns:a16="http://schemas.microsoft.com/office/drawing/2014/main" id="{33AD35EA-31AD-498F-AEFA-D18070AD1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68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ffectLst>
                <a:outerShdw dist="25400" dir="5400000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200"/>
              </a:p>
            </p:txBody>
          </p:sp>
          <p:sp>
            <p:nvSpPr>
              <p:cNvPr id="23" name="Line 36">
                <a:extLst>
                  <a:ext uri="{FF2B5EF4-FFF2-40B4-BE49-F238E27FC236}">
                    <a16:creationId xmlns:a16="http://schemas.microsoft.com/office/drawing/2014/main" id="{7A8AC0E5-3E65-4ADD-81B7-32F04F060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2" y="2160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200"/>
              </a:p>
            </p:txBody>
          </p:sp>
        </p:grpSp>
        <p:sp>
          <p:nvSpPr>
            <p:cNvPr id="20" name="Freeform 37">
              <a:extLst>
                <a:ext uri="{FF2B5EF4-FFF2-40B4-BE49-F238E27FC236}">
                  <a16:creationId xmlns:a16="http://schemas.microsoft.com/office/drawing/2014/main" id="{A859DE37-E074-45B2-BC60-A65A769D309A}"/>
                </a:ext>
              </a:extLst>
            </p:cNvPr>
            <p:cNvSpPr/>
            <p:nvPr/>
          </p:nvSpPr>
          <p:spPr bwMode="auto">
            <a:xfrm>
              <a:off x="1361" y="2492"/>
              <a:ext cx="351" cy="638"/>
            </a:xfrm>
            <a:custGeom>
              <a:avLst/>
              <a:gdLst>
                <a:gd name="T0" fmla="*/ 0 w 303"/>
                <a:gd name="T1" fmla="*/ 0 h 566"/>
                <a:gd name="T2" fmla="*/ 47 w 303"/>
                <a:gd name="T3" fmla="*/ 6 h 566"/>
                <a:gd name="T4" fmla="*/ 91 w 303"/>
                <a:gd name="T5" fmla="*/ 18 h 566"/>
                <a:gd name="T6" fmla="*/ 130 w 303"/>
                <a:gd name="T7" fmla="*/ 44 h 566"/>
                <a:gd name="T8" fmla="*/ 163 w 303"/>
                <a:gd name="T9" fmla="*/ 75 h 566"/>
                <a:gd name="T10" fmla="*/ 189 w 303"/>
                <a:gd name="T11" fmla="*/ 114 h 566"/>
                <a:gd name="T12" fmla="*/ 207 w 303"/>
                <a:gd name="T13" fmla="*/ 155 h 566"/>
                <a:gd name="T14" fmla="*/ 212 w 303"/>
                <a:gd name="T15" fmla="*/ 202 h 566"/>
                <a:gd name="T16" fmla="*/ 210 w 303"/>
                <a:gd name="T17" fmla="*/ 249 h 566"/>
                <a:gd name="T18" fmla="*/ 194 w 303"/>
                <a:gd name="T19" fmla="*/ 292 h 566"/>
                <a:gd name="T20" fmla="*/ 181 w 303"/>
                <a:gd name="T21" fmla="*/ 331 h 566"/>
                <a:gd name="T22" fmla="*/ 176 w 303"/>
                <a:gd name="T23" fmla="*/ 373 h 566"/>
                <a:gd name="T24" fmla="*/ 181 w 303"/>
                <a:gd name="T25" fmla="*/ 411 h 566"/>
                <a:gd name="T26" fmla="*/ 192 w 303"/>
                <a:gd name="T27" fmla="*/ 453 h 566"/>
                <a:gd name="T28" fmla="*/ 210 w 303"/>
                <a:gd name="T29" fmla="*/ 489 h 566"/>
                <a:gd name="T30" fmla="*/ 236 w 303"/>
                <a:gd name="T31" fmla="*/ 520 h 566"/>
                <a:gd name="T32" fmla="*/ 267 w 303"/>
                <a:gd name="T33" fmla="*/ 546 h 566"/>
                <a:gd name="T34" fmla="*/ 303 w 303"/>
                <a:gd name="T3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3" h="566">
                  <a:moveTo>
                    <a:pt x="0" y="0"/>
                  </a:moveTo>
                  <a:lnTo>
                    <a:pt x="47" y="6"/>
                  </a:lnTo>
                  <a:lnTo>
                    <a:pt x="91" y="18"/>
                  </a:lnTo>
                  <a:lnTo>
                    <a:pt x="130" y="44"/>
                  </a:lnTo>
                  <a:lnTo>
                    <a:pt x="163" y="75"/>
                  </a:lnTo>
                  <a:lnTo>
                    <a:pt x="189" y="114"/>
                  </a:lnTo>
                  <a:lnTo>
                    <a:pt x="207" y="155"/>
                  </a:lnTo>
                  <a:lnTo>
                    <a:pt x="212" y="202"/>
                  </a:lnTo>
                  <a:lnTo>
                    <a:pt x="210" y="249"/>
                  </a:lnTo>
                  <a:lnTo>
                    <a:pt x="194" y="292"/>
                  </a:lnTo>
                  <a:lnTo>
                    <a:pt x="181" y="331"/>
                  </a:lnTo>
                  <a:lnTo>
                    <a:pt x="176" y="373"/>
                  </a:lnTo>
                  <a:lnTo>
                    <a:pt x="181" y="411"/>
                  </a:lnTo>
                  <a:lnTo>
                    <a:pt x="192" y="453"/>
                  </a:lnTo>
                  <a:lnTo>
                    <a:pt x="210" y="489"/>
                  </a:lnTo>
                  <a:lnTo>
                    <a:pt x="236" y="520"/>
                  </a:lnTo>
                  <a:lnTo>
                    <a:pt x="267" y="546"/>
                  </a:lnTo>
                  <a:lnTo>
                    <a:pt x="303" y="566"/>
                  </a:lnTo>
                </a:path>
              </a:pathLst>
            </a:custGeom>
            <a:noFill/>
            <a:ln w="36513">
              <a:solidFill>
                <a:srgbClr val="2FFFEB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40161" dir="4293903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683254DA-A791-44E5-B3DD-F391828C5D55}"/>
                </a:ext>
              </a:extLst>
            </p:cNvPr>
            <p:cNvSpPr/>
            <p:nvPr/>
          </p:nvSpPr>
          <p:spPr bwMode="auto">
            <a:xfrm>
              <a:off x="828" y="1788"/>
              <a:ext cx="3957" cy="1466"/>
            </a:xfrm>
            <a:custGeom>
              <a:avLst/>
              <a:gdLst>
                <a:gd name="T0" fmla="*/ 0 w 3957"/>
                <a:gd name="T1" fmla="*/ 0 h 1466"/>
                <a:gd name="T2" fmla="*/ 0 w 3957"/>
                <a:gd name="T3" fmla="*/ 1466 h 1466"/>
                <a:gd name="T4" fmla="*/ 3957 w 3957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57" h="1466">
                  <a:moveTo>
                    <a:pt x="0" y="0"/>
                  </a:moveTo>
                  <a:lnTo>
                    <a:pt x="0" y="1466"/>
                  </a:lnTo>
                  <a:lnTo>
                    <a:pt x="3957" y="1466"/>
                  </a:lnTo>
                </a:path>
              </a:pathLst>
            </a:custGeom>
            <a:noFill/>
            <a:ln w="36513">
              <a:solidFill>
                <a:schemeClr val="tx1"/>
              </a:solidFill>
              <a:prstDash val="solid"/>
              <a:round/>
            </a:ln>
            <a:effectLst>
              <a:outerShdw dist="28398" dir="3806097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 dirty="0"/>
            </a:p>
          </p:txBody>
        </p:sp>
      </p:grpSp>
      <p:grpSp>
        <p:nvGrpSpPr>
          <p:cNvPr id="36" name="Group 4">
            <a:extLst>
              <a:ext uri="{FF2B5EF4-FFF2-40B4-BE49-F238E27FC236}">
                <a16:creationId xmlns:a16="http://schemas.microsoft.com/office/drawing/2014/main" id="{EF2A9A43-B2E6-49B3-AED6-E04B9EF30ECF}"/>
              </a:ext>
            </a:extLst>
          </p:cNvPr>
          <p:cNvGrpSpPr/>
          <p:nvPr/>
        </p:nvGrpSpPr>
        <p:grpSpPr bwMode="auto">
          <a:xfrm>
            <a:off x="6189334" y="3528894"/>
            <a:ext cx="2735617" cy="1298858"/>
            <a:chOff x="789" y="1574"/>
            <a:chExt cx="4238" cy="1866"/>
          </a:xfrm>
        </p:grpSpPr>
        <p:sp>
          <p:nvSpPr>
            <p:cNvPr id="37" name="Rectangle 6">
              <a:extLst>
                <a:ext uri="{FF2B5EF4-FFF2-40B4-BE49-F238E27FC236}">
                  <a16:creationId xmlns:a16="http://schemas.microsoft.com/office/drawing/2014/main" id="{FB6C3343-496B-4CFE-99C3-C5B229D9D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" y="3256"/>
              <a:ext cx="596" cy="1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1000" b="1" dirty="0">
                  <a:solidFill>
                    <a:srgbClr val="0070C0"/>
                  </a:solidFill>
                  <a:latin typeface="Arial" panose="020B0604020202020204" pitchFamily="34" charset="0"/>
                </a:rPr>
                <a:t>临界值</a:t>
              </a:r>
            </a:p>
          </p:txBody>
        </p:sp>
        <p:sp>
          <p:nvSpPr>
            <p:cNvPr id="38" name="Rectangle 7">
              <a:extLst>
                <a:ext uri="{FF2B5EF4-FFF2-40B4-BE49-F238E27FC236}">
                  <a16:creationId xmlns:a16="http://schemas.microsoft.com/office/drawing/2014/main" id="{BAA175A5-57A5-4CB9-80EE-7A4C4B599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280"/>
              <a:ext cx="150" cy="22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kumimoji="1" lang="en-US" altLang="zh-CN" sz="12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</a:rPr>
                <a:t>a</a:t>
              </a:r>
              <a:endParaRPr kumimoji="1" lang="en-US" altLang="zh-CN" sz="12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39" name="Group 10">
              <a:extLst>
                <a:ext uri="{FF2B5EF4-FFF2-40B4-BE49-F238E27FC236}">
                  <a16:creationId xmlns:a16="http://schemas.microsoft.com/office/drawing/2014/main" id="{7178114C-CE96-457A-9D54-512456826B86}"/>
                </a:ext>
              </a:extLst>
            </p:cNvPr>
            <p:cNvGrpSpPr/>
            <p:nvPr/>
          </p:nvGrpSpPr>
          <p:grpSpPr bwMode="auto">
            <a:xfrm>
              <a:off x="789" y="1718"/>
              <a:ext cx="49" cy="1322"/>
              <a:chOff x="765" y="1874"/>
              <a:chExt cx="49" cy="1322"/>
            </a:xfrm>
          </p:grpSpPr>
          <p:sp>
            <p:nvSpPr>
              <p:cNvPr id="54" name="Line 11">
                <a:extLst>
                  <a:ext uri="{FF2B5EF4-FFF2-40B4-BE49-F238E27FC236}">
                    <a16:creationId xmlns:a16="http://schemas.microsoft.com/office/drawing/2014/main" id="{F2BBC58B-65CB-477D-9BBA-808ED1776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187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55" name="Line 12">
                <a:extLst>
                  <a:ext uri="{FF2B5EF4-FFF2-40B4-BE49-F238E27FC236}">
                    <a16:creationId xmlns:a16="http://schemas.microsoft.com/office/drawing/2014/main" id="{EF65AD99-51F5-4BBE-8DD4-6750409EA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022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56" name="Line 13">
                <a:extLst>
                  <a:ext uri="{FF2B5EF4-FFF2-40B4-BE49-F238E27FC236}">
                    <a16:creationId xmlns:a16="http://schemas.microsoft.com/office/drawing/2014/main" id="{370A04EA-637C-4283-9A79-2FB7AE7A7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169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57" name="Line 14">
                <a:extLst>
                  <a:ext uri="{FF2B5EF4-FFF2-40B4-BE49-F238E27FC236}">
                    <a16:creationId xmlns:a16="http://schemas.microsoft.com/office/drawing/2014/main" id="{4CBE7FBC-7D74-4EED-95DA-C4E85D8C4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314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58" name="Line 15">
                <a:extLst>
                  <a:ext uri="{FF2B5EF4-FFF2-40B4-BE49-F238E27FC236}">
                    <a16:creationId xmlns:a16="http://schemas.microsoft.com/office/drawing/2014/main" id="{40C10EE4-0E47-41E9-8745-4DF087EA8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461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59" name="Line 16">
                <a:extLst>
                  <a:ext uri="{FF2B5EF4-FFF2-40B4-BE49-F238E27FC236}">
                    <a16:creationId xmlns:a16="http://schemas.microsoft.com/office/drawing/2014/main" id="{738A67C1-BDF2-4132-9716-4E794307C2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60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60" name="Line 17">
                <a:extLst>
                  <a:ext uri="{FF2B5EF4-FFF2-40B4-BE49-F238E27FC236}">
                    <a16:creationId xmlns:a16="http://schemas.microsoft.com/office/drawing/2014/main" id="{2AB0F37D-454B-4A95-8ABF-64A475281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756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61" name="Line 18">
                <a:extLst>
                  <a:ext uri="{FF2B5EF4-FFF2-40B4-BE49-F238E27FC236}">
                    <a16:creationId xmlns:a16="http://schemas.microsoft.com/office/drawing/2014/main" id="{FA7ACB9E-763D-488D-A2BC-2BE7263BF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2900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62" name="Line 19">
                <a:extLst>
                  <a:ext uri="{FF2B5EF4-FFF2-40B4-BE49-F238E27FC236}">
                    <a16:creationId xmlns:a16="http://schemas.microsoft.com/office/drawing/2014/main" id="{4459D500-DE2B-4745-8713-6882713BF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3048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63" name="Line 20">
                <a:extLst>
                  <a:ext uri="{FF2B5EF4-FFF2-40B4-BE49-F238E27FC236}">
                    <a16:creationId xmlns:a16="http://schemas.microsoft.com/office/drawing/2014/main" id="{46808E04-0FCF-49D4-97E3-C559B1489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5" y="3195"/>
                <a:ext cx="49" cy="1"/>
              </a:xfrm>
              <a:prstGeom prst="line">
                <a:avLst/>
              </a:prstGeom>
              <a:noFill/>
              <a:ln w="36513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</p:grpSp>
        <p:sp>
          <p:nvSpPr>
            <p:cNvPr id="40" name="Line 21">
              <a:extLst>
                <a:ext uri="{FF2B5EF4-FFF2-40B4-BE49-F238E27FC236}">
                  <a16:creationId xmlns:a16="http://schemas.microsoft.com/office/drawing/2014/main" id="{5002FB4A-5F0A-4D73-BBC3-83DAFB9E2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0" y="2988"/>
              <a:ext cx="1920" cy="0"/>
            </a:xfrm>
            <a:prstGeom prst="line">
              <a:avLst/>
            </a:prstGeom>
            <a:noFill/>
            <a:ln w="36513">
              <a:solidFill>
                <a:schemeClr val="tx1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302418D7-851D-4494-8070-8AFD88121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2337"/>
              <a:ext cx="965" cy="301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 sz="12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1 - </a:t>
              </a:r>
              <a:r>
                <a:rPr kumimoji="1" lang="zh-CN" altLang="en-US" sz="12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</a:rPr>
                <a:t></a:t>
              </a:r>
              <a:endParaRPr kumimoji="1" lang="zh-CN" altLang="en-US" sz="1200" b="1" i="1" dirty="0">
                <a:latin typeface="Symbol" panose="05050102010706020507" pitchFamily="18" charset="2"/>
              </a:endParaRPr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843AD993-8CF4-4ADC-9E75-4A6FEE1AD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0" y="1680"/>
              <a:ext cx="836" cy="381"/>
            </a:xfrm>
            <a:prstGeom prst="line">
              <a:avLst/>
            </a:prstGeom>
            <a:noFill/>
            <a:ln w="25400">
              <a:solidFill>
                <a:srgbClr val="003399"/>
              </a:solidFill>
              <a:round/>
              <a:tail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AF42F72C-EB18-4B39-A9FA-6D1573266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" y="1574"/>
              <a:ext cx="1382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zh-CN" altLang="en-US" sz="1200" b="1" dirty="0">
                  <a:solidFill>
                    <a:srgbClr val="0070C0"/>
                  </a:solidFill>
                  <a:latin typeface="Arial" panose="020B0604020202020204" pitchFamily="34" charset="0"/>
                </a:rPr>
                <a:t>置信水平</a:t>
              </a:r>
            </a:p>
          </p:txBody>
        </p:sp>
        <p:sp>
          <p:nvSpPr>
            <p:cNvPr id="44" name="Line 26">
              <a:extLst>
                <a:ext uri="{FF2B5EF4-FFF2-40B4-BE49-F238E27FC236}">
                  <a16:creationId xmlns:a16="http://schemas.microsoft.com/office/drawing/2014/main" id="{9D48FE2B-C7B0-4E7E-B5AF-AACB181E6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2" y="321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45" name="Freeform 30" descr="60%">
              <a:extLst>
                <a:ext uri="{FF2B5EF4-FFF2-40B4-BE49-F238E27FC236}">
                  <a16:creationId xmlns:a16="http://schemas.microsoft.com/office/drawing/2014/main" id="{06A8C3F9-CBBA-4C6F-A946-A1676C043D47}"/>
                </a:ext>
              </a:extLst>
            </p:cNvPr>
            <p:cNvSpPr/>
            <p:nvPr/>
          </p:nvSpPr>
          <p:spPr bwMode="auto">
            <a:xfrm>
              <a:off x="3691" y="2653"/>
              <a:ext cx="876" cy="527"/>
            </a:xfrm>
            <a:custGeom>
              <a:avLst/>
              <a:gdLst>
                <a:gd name="T0" fmla="*/ 0 w 1129"/>
                <a:gd name="T1" fmla="*/ 0 h 734"/>
                <a:gd name="T2" fmla="*/ 0 w 1129"/>
                <a:gd name="T3" fmla="*/ 378 h 734"/>
                <a:gd name="T4" fmla="*/ 680 w 1129"/>
                <a:gd name="T5" fmla="*/ 378 h 734"/>
                <a:gd name="T6" fmla="*/ 603 w 1129"/>
                <a:gd name="T7" fmla="*/ 361 h 734"/>
                <a:gd name="T8" fmla="*/ 530 w 1129"/>
                <a:gd name="T9" fmla="*/ 340 h 734"/>
                <a:gd name="T10" fmla="*/ 460 w 1129"/>
                <a:gd name="T11" fmla="*/ 315 h 734"/>
                <a:gd name="T12" fmla="*/ 393 w 1129"/>
                <a:gd name="T13" fmla="*/ 289 h 734"/>
                <a:gd name="T14" fmla="*/ 329 w 1129"/>
                <a:gd name="T15" fmla="*/ 260 h 734"/>
                <a:gd name="T16" fmla="*/ 268 w 1129"/>
                <a:gd name="T17" fmla="*/ 229 h 734"/>
                <a:gd name="T18" fmla="*/ 212 w 1129"/>
                <a:gd name="T19" fmla="*/ 196 h 734"/>
                <a:gd name="T20" fmla="*/ 161 w 1129"/>
                <a:gd name="T21" fmla="*/ 160 h 734"/>
                <a:gd name="T22" fmla="*/ 114 w 1129"/>
                <a:gd name="T23" fmla="*/ 122 h 734"/>
                <a:gd name="T24" fmla="*/ 70 w 1129"/>
                <a:gd name="T25" fmla="*/ 83 h 734"/>
                <a:gd name="T26" fmla="*/ 33 w 1129"/>
                <a:gd name="T27" fmla="*/ 42 h 734"/>
                <a:gd name="T28" fmla="*/ 0 w 1129"/>
                <a:gd name="T29" fmla="*/ 0 h 7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29" h="734">
                  <a:moveTo>
                    <a:pt x="0" y="0"/>
                  </a:moveTo>
                  <a:lnTo>
                    <a:pt x="0" y="734"/>
                  </a:lnTo>
                  <a:lnTo>
                    <a:pt x="1129" y="734"/>
                  </a:lnTo>
                  <a:lnTo>
                    <a:pt x="1002" y="700"/>
                  </a:lnTo>
                  <a:lnTo>
                    <a:pt x="880" y="659"/>
                  </a:lnTo>
                  <a:lnTo>
                    <a:pt x="764" y="612"/>
                  </a:lnTo>
                  <a:lnTo>
                    <a:pt x="652" y="561"/>
                  </a:lnTo>
                  <a:lnTo>
                    <a:pt x="546" y="504"/>
                  </a:lnTo>
                  <a:lnTo>
                    <a:pt x="445" y="444"/>
                  </a:lnTo>
                  <a:lnTo>
                    <a:pt x="352" y="380"/>
                  </a:lnTo>
                  <a:lnTo>
                    <a:pt x="267" y="310"/>
                  </a:lnTo>
                  <a:lnTo>
                    <a:pt x="189" y="237"/>
                  </a:lnTo>
                  <a:lnTo>
                    <a:pt x="116" y="162"/>
                  </a:lnTo>
                  <a:lnTo>
                    <a:pt x="54" y="82"/>
                  </a:lnTo>
                  <a:lnTo>
                    <a:pt x="0" y="0"/>
                  </a:lnTo>
                  <a:close/>
                </a:path>
              </a:pathLst>
            </a:custGeom>
            <a:pattFill prst="pct60">
              <a:fgClr>
                <a:srgbClr val="FF33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grpSp>
          <p:nvGrpSpPr>
            <p:cNvPr id="46" name="Group 31">
              <a:extLst>
                <a:ext uri="{FF2B5EF4-FFF2-40B4-BE49-F238E27FC236}">
                  <a16:creationId xmlns:a16="http://schemas.microsoft.com/office/drawing/2014/main" id="{8A001E23-E395-45B0-9CE9-D49689F51248}"/>
                </a:ext>
              </a:extLst>
            </p:cNvPr>
            <p:cNvGrpSpPr/>
            <p:nvPr/>
          </p:nvGrpSpPr>
          <p:grpSpPr bwMode="auto">
            <a:xfrm>
              <a:off x="840" y="1716"/>
              <a:ext cx="3883" cy="1432"/>
              <a:chOff x="816" y="1872"/>
              <a:chExt cx="3883" cy="1432"/>
            </a:xfrm>
          </p:grpSpPr>
          <p:sp>
            <p:nvSpPr>
              <p:cNvPr id="52" name="Freeform 32">
                <a:extLst>
                  <a:ext uri="{FF2B5EF4-FFF2-40B4-BE49-F238E27FC236}">
                    <a16:creationId xmlns:a16="http://schemas.microsoft.com/office/drawing/2014/main" id="{DAA7AD79-4DDA-417A-BB29-ACF8819F5169}"/>
                  </a:ext>
                </a:extLst>
              </p:cNvPr>
              <p:cNvSpPr/>
              <p:nvPr/>
            </p:nvSpPr>
            <p:spPr bwMode="auto">
              <a:xfrm>
                <a:off x="2757" y="1874"/>
                <a:ext cx="1942" cy="1430"/>
              </a:xfrm>
              <a:custGeom>
                <a:avLst/>
                <a:gdLst>
                  <a:gd name="T0" fmla="*/ 1942 w 1942"/>
                  <a:gd name="T1" fmla="*/ 1430 h 1430"/>
                  <a:gd name="T2" fmla="*/ 1737 w 1942"/>
                  <a:gd name="T3" fmla="*/ 1412 h 1430"/>
                  <a:gd name="T4" fmla="*/ 1636 w 1942"/>
                  <a:gd name="T5" fmla="*/ 1396 h 1430"/>
                  <a:gd name="T6" fmla="*/ 1532 w 1942"/>
                  <a:gd name="T7" fmla="*/ 1373 h 1430"/>
                  <a:gd name="T8" fmla="*/ 1431 w 1942"/>
                  <a:gd name="T9" fmla="*/ 1342 h 1430"/>
                  <a:gd name="T10" fmla="*/ 1328 w 1942"/>
                  <a:gd name="T11" fmla="*/ 1298 h 1430"/>
                  <a:gd name="T12" fmla="*/ 1227 w 1942"/>
                  <a:gd name="T13" fmla="*/ 1238 h 1430"/>
                  <a:gd name="T14" fmla="*/ 1022 w 1942"/>
                  <a:gd name="T15" fmla="*/ 1073 h 1430"/>
                  <a:gd name="T16" fmla="*/ 818 w 1942"/>
                  <a:gd name="T17" fmla="*/ 838 h 1430"/>
                  <a:gd name="T18" fmla="*/ 613 w 1942"/>
                  <a:gd name="T19" fmla="*/ 559 h 1430"/>
                  <a:gd name="T20" fmla="*/ 512 w 1942"/>
                  <a:gd name="T21" fmla="*/ 416 h 1430"/>
                  <a:gd name="T22" fmla="*/ 409 w 1942"/>
                  <a:gd name="T23" fmla="*/ 282 h 1430"/>
                  <a:gd name="T24" fmla="*/ 308 w 1942"/>
                  <a:gd name="T25" fmla="*/ 166 h 1430"/>
                  <a:gd name="T26" fmla="*/ 204 w 1942"/>
                  <a:gd name="T27" fmla="*/ 78 h 1430"/>
                  <a:gd name="T28" fmla="*/ 103 w 1942"/>
                  <a:gd name="T29" fmla="*/ 21 h 1430"/>
                  <a:gd name="T30" fmla="*/ 0 w 1942"/>
                  <a:gd name="T31" fmla="*/ 0 h 14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942" h="1430">
                    <a:moveTo>
                      <a:pt x="1942" y="1430"/>
                    </a:moveTo>
                    <a:lnTo>
                      <a:pt x="1737" y="1412"/>
                    </a:lnTo>
                    <a:lnTo>
                      <a:pt x="1636" y="1396"/>
                    </a:lnTo>
                    <a:lnTo>
                      <a:pt x="1532" y="1373"/>
                    </a:lnTo>
                    <a:lnTo>
                      <a:pt x="1431" y="1342"/>
                    </a:lnTo>
                    <a:lnTo>
                      <a:pt x="1328" y="1298"/>
                    </a:lnTo>
                    <a:lnTo>
                      <a:pt x="1227" y="1238"/>
                    </a:lnTo>
                    <a:lnTo>
                      <a:pt x="1022" y="1073"/>
                    </a:lnTo>
                    <a:lnTo>
                      <a:pt x="818" y="838"/>
                    </a:lnTo>
                    <a:lnTo>
                      <a:pt x="613" y="559"/>
                    </a:lnTo>
                    <a:lnTo>
                      <a:pt x="512" y="416"/>
                    </a:lnTo>
                    <a:lnTo>
                      <a:pt x="409" y="282"/>
                    </a:lnTo>
                    <a:lnTo>
                      <a:pt x="308" y="166"/>
                    </a:lnTo>
                    <a:lnTo>
                      <a:pt x="204" y="78"/>
                    </a:lnTo>
                    <a:lnTo>
                      <a:pt x="103" y="21"/>
                    </a:lnTo>
                    <a:lnTo>
                      <a:pt x="0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53" name="Freeform 33">
                <a:extLst>
                  <a:ext uri="{FF2B5EF4-FFF2-40B4-BE49-F238E27FC236}">
                    <a16:creationId xmlns:a16="http://schemas.microsoft.com/office/drawing/2014/main" id="{2BB22265-8481-401C-A558-8751B8690AE0}"/>
                  </a:ext>
                </a:extLst>
              </p:cNvPr>
              <p:cNvSpPr/>
              <p:nvPr/>
            </p:nvSpPr>
            <p:spPr bwMode="auto">
              <a:xfrm>
                <a:off x="816" y="1872"/>
                <a:ext cx="1943" cy="1430"/>
              </a:xfrm>
              <a:custGeom>
                <a:avLst/>
                <a:gdLst>
                  <a:gd name="T0" fmla="*/ 0 w 1943"/>
                  <a:gd name="T1" fmla="*/ 1430 h 1430"/>
                  <a:gd name="T2" fmla="*/ 205 w 1943"/>
                  <a:gd name="T3" fmla="*/ 1412 h 1430"/>
                  <a:gd name="T4" fmla="*/ 309 w 1943"/>
                  <a:gd name="T5" fmla="*/ 1396 h 1430"/>
                  <a:gd name="T6" fmla="*/ 410 w 1943"/>
                  <a:gd name="T7" fmla="*/ 1373 h 1430"/>
                  <a:gd name="T8" fmla="*/ 511 w 1943"/>
                  <a:gd name="T9" fmla="*/ 1342 h 1430"/>
                  <a:gd name="T10" fmla="*/ 614 w 1943"/>
                  <a:gd name="T11" fmla="*/ 1298 h 1430"/>
                  <a:gd name="T12" fmla="*/ 715 w 1943"/>
                  <a:gd name="T13" fmla="*/ 1238 h 1430"/>
                  <a:gd name="T14" fmla="*/ 922 w 1943"/>
                  <a:gd name="T15" fmla="*/ 1073 h 1430"/>
                  <a:gd name="T16" fmla="*/ 1124 w 1943"/>
                  <a:gd name="T17" fmla="*/ 838 h 1430"/>
                  <a:gd name="T18" fmla="*/ 1329 w 1943"/>
                  <a:gd name="T19" fmla="*/ 559 h 1430"/>
                  <a:gd name="T20" fmla="*/ 1432 w 1943"/>
                  <a:gd name="T21" fmla="*/ 416 h 1430"/>
                  <a:gd name="T22" fmla="*/ 1533 w 1943"/>
                  <a:gd name="T23" fmla="*/ 282 h 1430"/>
                  <a:gd name="T24" fmla="*/ 1637 w 1943"/>
                  <a:gd name="T25" fmla="*/ 166 h 1430"/>
                  <a:gd name="T26" fmla="*/ 1738 w 1943"/>
                  <a:gd name="T27" fmla="*/ 78 h 1430"/>
                  <a:gd name="T28" fmla="*/ 1842 w 1943"/>
                  <a:gd name="T29" fmla="*/ 21 h 1430"/>
                  <a:gd name="T30" fmla="*/ 1943 w 1943"/>
                  <a:gd name="T31" fmla="*/ 0 h 14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943" h="1430">
                    <a:moveTo>
                      <a:pt x="0" y="1430"/>
                    </a:moveTo>
                    <a:lnTo>
                      <a:pt x="205" y="1412"/>
                    </a:lnTo>
                    <a:lnTo>
                      <a:pt x="309" y="1396"/>
                    </a:lnTo>
                    <a:lnTo>
                      <a:pt x="410" y="1373"/>
                    </a:lnTo>
                    <a:lnTo>
                      <a:pt x="511" y="1342"/>
                    </a:lnTo>
                    <a:lnTo>
                      <a:pt x="614" y="1298"/>
                    </a:lnTo>
                    <a:lnTo>
                      <a:pt x="715" y="1238"/>
                    </a:lnTo>
                    <a:lnTo>
                      <a:pt x="922" y="1073"/>
                    </a:lnTo>
                    <a:lnTo>
                      <a:pt x="1124" y="838"/>
                    </a:lnTo>
                    <a:lnTo>
                      <a:pt x="1329" y="559"/>
                    </a:lnTo>
                    <a:lnTo>
                      <a:pt x="1432" y="416"/>
                    </a:lnTo>
                    <a:lnTo>
                      <a:pt x="1533" y="282"/>
                    </a:lnTo>
                    <a:lnTo>
                      <a:pt x="1637" y="166"/>
                    </a:lnTo>
                    <a:lnTo>
                      <a:pt x="1738" y="78"/>
                    </a:lnTo>
                    <a:lnTo>
                      <a:pt x="1842" y="21"/>
                    </a:lnTo>
                    <a:lnTo>
                      <a:pt x="1943" y="0"/>
                    </a:lnTo>
                  </a:path>
                </a:pathLst>
              </a:custGeom>
              <a:noFill/>
              <a:ln w="76200" cmpd="sng">
                <a:solidFill>
                  <a:srgbClr val="CE64A1"/>
                </a:solidFill>
                <a:prstDash val="solid"/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</p:grpSp>
        <p:grpSp>
          <p:nvGrpSpPr>
            <p:cNvPr id="47" name="Group 34">
              <a:extLst>
                <a:ext uri="{FF2B5EF4-FFF2-40B4-BE49-F238E27FC236}">
                  <a16:creationId xmlns:a16="http://schemas.microsoft.com/office/drawing/2014/main" id="{0E787E91-30CD-440E-8F03-036D4E861A05}"/>
                </a:ext>
              </a:extLst>
            </p:cNvPr>
            <p:cNvGrpSpPr/>
            <p:nvPr/>
          </p:nvGrpSpPr>
          <p:grpSpPr bwMode="auto">
            <a:xfrm flipH="1">
              <a:off x="3684" y="2004"/>
              <a:ext cx="672" cy="1200"/>
              <a:chOff x="1392" y="2160"/>
              <a:chExt cx="672" cy="1200"/>
            </a:xfrm>
          </p:grpSpPr>
          <p:sp>
            <p:nvSpPr>
              <p:cNvPr id="50" name="Line 35">
                <a:extLst>
                  <a:ext uri="{FF2B5EF4-FFF2-40B4-BE49-F238E27FC236}">
                    <a16:creationId xmlns:a16="http://schemas.microsoft.com/office/drawing/2014/main" id="{EC1377EA-3220-4CB4-A6AA-6D0EFFCBB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60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ffectLst>
                <a:outerShdw dist="25400" dir="54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51" name="Line 36">
                <a:extLst>
                  <a:ext uri="{FF2B5EF4-FFF2-40B4-BE49-F238E27FC236}">
                    <a16:creationId xmlns:a16="http://schemas.microsoft.com/office/drawing/2014/main" id="{2F0F2221-A3DC-407A-8884-3B205BE8A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2160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</p:grp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F7DA7824-2175-4579-8675-A40E5F7C2B5F}"/>
                </a:ext>
              </a:extLst>
            </p:cNvPr>
            <p:cNvSpPr/>
            <p:nvPr/>
          </p:nvSpPr>
          <p:spPr bwMode="auto">
            <a:xfrm>
              <a:off x="1244" y="1716"/>
              <a:ext cx="3553" cy="1466"/>
            </a:xfrm>
            <a:custGeom>
              <a:avLst/>
              <a:gdLst>
                <a:gd name="T0" fmla="*/ 0 w 3957"/>
                <a:gd name="T1" fmla="*/ 0 h 1466"/>
                <a:gd name="T2" fmla="*/ 0 w 3957"/>
                <a:gd name="T3" fmla="*/ 1466 h 1466"/>
                <a:gd name="T4" fmla="*/ 3957 w 3957"/>
                <a:gd name="T5" fmla="*/ 1466 h 1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7" h="1466">
                  <a:moveTo>
                    <a:pt x="0" y="0"/>
                  </a:moveTo>
                  <a:lnTo>
                    <a:pt x="0" y="1466"/>
                  </a:lnTo>
                  <a:lnTo>
                    <a:pt x="3957" y="1466"/>
                  </a:lnTo>
                </a:path>
              </a:pathLst>
            </a:custGeom>
            <a:noFill/>
            <a:ln w="36513">
              <a:solidFill>
                <a:schemeClr val="tx1"/>
              </a:solidFill>
              <a:prstDash val="solid"/>
              <a:round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904BC251-8615-4339-B400-797D1D04FA35}"/>
                </a:ext>
              </a:extLst>
            </p:cNvPr>
            <p:cNvSpPr/>
            <p:nvPr/>
          </p:nvSpPr>
          <p:spPr bwMode="auto">
            <a:xfrm flipH="1">
              <a:off x="3845" y="2564"/>
              <a:ext cx="423" cy="494"/>
            </a:xfrm>
            <a:custGeom>
              <a:avLst/>
              <a:gdLst>
                <a:gd name="T0" fmla="*/ 0 w 303"/>
                <a:gd name="T1" fmla="*/ 0 h 566"/>
                <a:gd name="T2" fmla="*/ 92 w 303"/>
                <a:gd name="T3" fmla="*/ 4 h 566"/>
                <a:gd name="T4" fmla="*/ 177 w 303"/>
                <a:gd name="T5" fmla="*/ 14 h 566"/>
                <a:gd name="T6" fmla="*/ 253 w 303"/>
                <a:gd name="T7" fmla="*/ 33 h 566"/>
                <a:gd name="T8" fmla="*/ 318 w 303"/>
                <a:gd name="T9" fmla="*/ 57 h 566"/>
                <a:gd name="T10" fmla="*/ 369 w 303"/>
                <a:gd name="T11" fmla="*/ 86 h 566"/>
                <a:gd name="T12" fmla="*/ 403 w 303"/>
                <a:gd name="T13" fmla="*/ 118 h 566"/>
                <a:gd name="T14" fmla="*/ 413 w 303"/>
                <a:gd name="T15" fmla="*/ 154 h 566"/>
                <a:gd name="T16" fmla="*/ 409 w 303"/>
                <a:gd name="T17" fmla="*/ 189 h 566"/>
                <a:gd name="T18" fmla="*/ 378 w 303"/>
                <a:gd name="T19" fmla="*/ 223 h 566"/>
                <a:gd name="T20" fmla="*/ 353 w 303"/>
                <a:gd name="T21" fmla="*/ 252 h 566"/>
                <a:gd name="T22" fmla="*/ 343 w 303"/>
                <a:gd name="T23" fmla="*/ 285 h 566"/>
                <a:gd name="T24" fmla="*/ 353 w 303"/>
                <a:gd name="T25" fmla="*/ 313 h 566"/>
                <a:gd name="T26" fmla="*/ 374 w 303"/>
                <a:gd name="T27" fmla="*/ 345 h 566"/>
                <a:gd name="T28" fmla="*/ 409 w 303"/>
                <a:gd name="T29" fmla="*/ 373 h 566"/>
                <a:gd name="T30" fmla="*/ 459 w 303"/>
                <a:gd name="T31" fmla="*/ 396 h 566"/>
                <a:gd name="T32" fmla="*/ 521 w 303"/>
                <a:gd name="T33" fmla="*/ 416 h 566"/>
                <a:gd name="T34" fmla="*/ 591 w 303"/>
                <a:gd name="T35" fmla="*/ 431 h 5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3" h="566">
                  <a:moveTo>
                    <a:pt x="0" y="0"/>
                  </a:moveTo>
                  <a:lnTo>
                    <a:pt x="47" y="6"/>
                  </a:lnTo>
                  <a:lnTo>
                    <a:pt x="91" y="18"/>
                  </a:lnTo>
                  <a:lnTo>
                    <a:pt x="130" y="44"/>
                  </a:lnTo>
                  <a:lnTo>
                    <a:pt x="163" y="75"/>
                  </a:lnTo>
                  <a:lnTo>
                    <a:pt x="189" y="114"/>
                  </a:lnTo>
                  <a:lnTo>
                    <a:pt x="207" y="155"/>
                  </a:lnTo>
                  <a:lnTo>
                    <a:pt x="212" y="202"/>
                  </a:lnTo>
                  <a:lnTo>
                    <a:pt x="210" y="249"/>
                  </a:lnTo>
                  <a:lnTo>
                    <a:pt x="194" y="292"/>
                  </a:lnTo>
                  <a:lnTo>
                    <a:pt x="181" y="331"/>
                  </a:lnTo>
                  <a:lnTo>
                    <a:pt x="176" y="373"/>
                  </a:lnTo>
                  <a:lnTo>
                    <a:pt x="181" y="411"/>
                  </a:lnTo>
                  <a:lnTo>
                    <a:pt x="192" y="453"/>
                  </a:lnTo>
                  <a:lnTo>
                    <a:pt x="210" y="489"/>
                  </a:lnTo>
                  <a:lnTo>
                    <a:pt x="236" y="520"/>
                  </a:lnTo>
                  <a:lnTo>
                    <a:pt x="267" y="546"/>
                  </a:lnTo>
                  <a:lnTo>
                    <a:pt x="303" y="566"/>
                  </a:lnTo>
                </a:path>
              </a:pathLst>
            </a:custGeom>
            <a:noFill/>
            <a:ln w="36513">
              <a:solidFill>
                <a:srgbClr val="2FFFEB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40161" dir="4293903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</p:grpSp>
      <p:sp>
        <p:nvSpPr>
          <p:cNvPr id="64" name="Rectangle 9">
            <a:extLst>
              <a:ext uri="{FF2B5EF4-FFF2-40B4-BE49-F238E27FC236}">
                <a16:creationId xmlns:a16="http://schemas.microsoft.com/office/drawing/2014/main" id="{48730440-5540-406C-98DD-C946C0B2E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19" y="3834279"/>
            <a:ext cx="461665" cy="18466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kumimoji="1" lang="zh-CN" altLang="en-US" sz="1200" dirty="0">
                <a:solidFill>
                  <a:srgbClr val="CC3300"/>
                </a:solidFill>
                <a:latin typeface="宋体" panose="02010600030101010101" pitchFamily="2" charset="-122"/>
              </a:rPr>
              <a:t>拒绝域</a:t>
            </a:r>
            <a:endParaRPr kumimoji="1" lang="en-US" altLang="zh-CN" sz="1200" baseline="-25000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8C64BA1-2CBA-49F2-A0FB-81EC756C5745}"/>
              </a:ext>
            </a:extLst>
          </p:cNvPr>
          <p:cNvSpPr/>
          <p:nvPr/>
        </p:nvSpPr>
        <p:spPr>
          <a:xfrm>
            <a:off x="6553606" y="952074"/>
            <a:ext cx="800219" cy="276999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左侧检验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B595D84-7830-4400-A09C-D8AA8B1F349E}"/>
              </a:ext>
            </a:extLst>
          </p:cNvPr>
          <p:cNvSpPr/>
          <p:nvPr/>
        </p:nvSpPr>
        <p:spPr>
          <a:xfrm>
            <a:off x="6536313" y="3243658"/>
            <a:ext cx="800219" cy="276999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zh-CN" altLang="en-US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简秀圆"/>
                <a:cs typeface="微软简秀圆"/>
              </a:rPr>
              <a:t>右侧检验</a:t>
            </a:r>
          </a:p>
        </p:txBody>
      </p:sp>
      <p:sp>
        <p:nvSpPr>
          <p:cNvPr id="69" name="Rectangle 9">
            <a:extLst>
              <a:ext uri="{FF2B5EF4-FFF2-40B4-BE49-F238E27FC236}">
                <a16:creationId xmlns:a16="http://schemas.microsoft.com/office/drawing/2014/main" id="{D2A210BD-1BE9-47FF-ADBD-A270B8C16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7008" y="1275606"/>
            <a:ext cx="461665" cy="18466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kumimoji="1" lang="zh-CN" altLang="en-US" sz="1200" dirty="0">
                <a:solidFill>
                  <a:srgbClr val="CC3300"/>
                </a:solidFill>
                <a:latin typeface="宋体" panose="02010600030101010101" pitchFamily="2" charset="-122"/>
              </a:rPr>
              <a:t>拒绝域</a:t>
            </a:r>
            <a:endParaRPr kumimoji="1" lang="en-US" altLang="zh-CN" sz="1200" baseline="-25000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  <p:sp>
        <p:nvSpPr>
          <p:cNvPr id="71" name="Rectangle 32">
            <a:extLst>
              <a:ext uri="{FF2B5EF4-FFF2-40B4-BE49-F238E27FC236}">
                <a16:creationId xmlns:a16="http://schemas.microsoft.com/office/drawing/2014/main" id="{B84B081C-C14A-4F20-B38E-69FA2398C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576" y="1652175"/>
            <a:ext cx="335565" cy="18466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a</a:t>
            </a:r>
            <a:endParaRPr kumimoji="1"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3" name="内容占位符 2">
            <a:extLst>
              <a:ext uri="{FF2B5EF4-FFF2-40B4-BE49-F238E27FC236}">
                <a16:creationId xmlns:a16="http://schemas.microsoft.com/office/drawing/2014/main" id="{92559333-4618-4C27-B6E3-FBDE072F3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71" y="742438"/>
            <a:ext cx="6019903" cy="994568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sz="1800" dirty="0"/>
              <a:t>某手机电池待机时间服从正态分布</a:t>
            </a:r>
            <a:r>
              <a:rPr lang="en-US" altLang="zh-CN" sz="1800" dirty="0"/>
              <a:t>,</a:t>
            </a:r>
            <a:r>
              <a:rPr lang="zh-CN" altLang="en-US" sz="1800" dirty="0"/>
              <a:t>号称待机时间为</a:t>
            </a:r>
            <a:r>
              <a:rPr lang="en-US" altLang="zh-CN" sz="1800" dirty="0"/>
              <a:t>80h</a:t>
            </a:r>
            <a:r>
              <a:rPr lang="zh-CN" altLang="en-US" sz="1800" dirty="0"/>
              <a:t>，标准差 </a:t>
            </a:r>
            <a:r>
              <a:rPr lang="en-US" altLang="zh-CN" sz="1800" dirty="0"/>
              <a:t>sigma =10</a:t>
            </a:r>
            <a:r>
              <a:rPr lang="zh-CN" altLang="en-US" sz="1800" dirty="0"/>
              <a:t>，质疑待机真实性，随机抽取了</a:t>
            </a:r>
            <a:r>
              <a:rPr lang="en-US" altLang="zh-CN" sz="1800" dirty="0"/>
              <a:t>120</a:t>
            </a:r>
            <a:r>
              <a:rPr lang="zh-CN" altLang="en-US" sz="1800" dirty="0"/>
              <a:t>台手机测试待机时间其平均值为</a:t>
            </a:r>
            <a:r>
              <a:rPr lang="en-US" altLang="zh-CN" sz="1800" dirty="0"/>
              <a:t>75h</a:t>
            </a:r>
            <a:r>
              <a:rPr lang="zh-CN" altLang="en-US" sz="1800" dirty="0"/>
              <a:t>，</a:t>
            </a:r>
            <a:endParaRPr lang="en-US" altLang="zh-CN" sz="1800" b="1" dirty="0"/>
          </a:p>
        </p:txBody>
      </p:sp>
      <p:sp>
        <p:nvSpPr>
          <p:cNvPr id="74" name="波形 73">
            <a:extLst>
              <a:ext uri="{FF2B5EF4-FFF2-40B4-BE49-F238E27FC236}">
                <a16:creationId xmlns:a16="http://schemas.microsoft.com/office/drawing/2014/main" id="{C7B6A062-41B1-4A03-8FC6-BEEF2A7BAC23}"/>
              </a:ext>
            </a:extLst>
          </p:cNvPr>
          <p:cNvSpPr/>
          <p:nvPr/>
        </p:nvSpPr>
        <p:spPr>
          <a:xfrm>
            <a:off x="163999" y="489772"/>
            <a:ext cx="689782" cy="264912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例44-2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7A298F-90CE-45CE-83CD-C24DE4B5F1C6}"/>
              </a:ext>
            </a:extLst>
          </p:cNvPr>
          <p:cNvSpPr txBox="1"/>
          <p:nvPr/>
        </p:nvSpPr>
        <p:spPr>
          <a:xfrm>
            <a:off x="83754" y="1665302"/>
            <a:ext cx="6406995" cy="29569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h,_,_,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zval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ztest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,tail = 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“left”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#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结果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h=1</a:t>
            </a:r>
          </a:p>
          <a:p>
            <a:pPr>
              <a:lnSpc>
                <a:spcPts val="25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h,_,_,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zval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ztest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,tail = 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"right"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#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结果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h=0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744AA21-4D62-45CB-A65D-B12D084E35BE}"/>
              </a:ext>
            </a:extLst>
          </p:cNvPr>
          <p:cNvSpPr txBox="1"/>
          <p:nvPr/>
        </p:nvSpPr>
        <p:spPr>
          <a:xfrm>
            <a:off x="6427919" y="635398"/>
            <a:ext cx="2427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检验待机时间超过</a:t>
            </a:r>
            <a:r>
              <a:rPr lang="en-US" altLang="zh-CN" sz="1400" b="1" dirty="0">
                <a:solidFill>
                  <a:srgbClr val="FF0000"/>
                </a:solidFill>
              </a:rPr>
              <a:t>80h</a:t>
            </a:r>
            <a:r>
              <a:rPr lang="zh-CN" altLang="en-US" sz="1400" b="1" dirty="0">
                <a:solidFill>
                  <a:srgbClr val="FF0000"/>
                </a:solidFill>
              </a:rPr>
              <a:t>标准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endParaRPr lang="zh-CN" altLang="en-US" sz="14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77748BD-0325-41BB-A9EE-33709F29C5F5}"/>
              </a:ext>
            </a:extLst>
          </p:cNvPr>
          <p:cNvSpPr txBox="1"/>
          <p:nvPr/>
        </p:nvSpPr>
        <p:spPr>
          <a:xfrm>
            <a:off x="6427918" y="2916400"/>
            <a:ext cx="2427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检验待机时间小于</a:t>
            </a:r>
            <a:r>
              <a:rPr lang="en-US" altLang="zh-CN" sz="1400" b="1" dirty="0">
                <a:solidFill>
                  <a:srgbClr val="FF0000"/>
                </a:solidFill>
              </a:rPr>
              <a:t>80h</a:t>
            </a:r>
            <a:r>
              <a:rPr lang="zh-CN" altLang="en-US" sz="1400" b="1" dirty="0">
                <a:solidFill>
                  <a:srgbClr val="FF0000"/>
                </a:solidFill>
              </a:rPr>
              <a:t>标准</a:t>
            </a: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endParaRPr lang="zh-CN" altLang="en-US" sz="1400" dirty="0"/>
          </a:p>
        </p:txBody>
      </p:sp>
      <p:sp>
        <p:nvSpPr>
          <p:cNvPr id="76" name="矩形 39">
            <a:extLst>
              <a:ext uri="{FF2B5EF4-FFF2-40B4-BE49-F238E27FC236}">
                <a16:creationId xmlns:a16="http://schemas.microsoft.com/office/drawing/2014/main" id="{F6563FCD-E1B7-48FA-837C-3208A0970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6553" y="948567"/>
            <a:ext cx="808235" cy="246221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H1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&lt; </a:t>
            </a:r>
            <a:r>
              <a:rPr lang="en-US" altLang="zh-CN" sz="10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baseline="-25000" dirty="0"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0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矩形 39">
            <a:extLst>
              <a:ext uri="{FF2B5EF4-FFF2-40B4-BE49-F238E27FC236}">
                <a16:creationId xmlns:a16="http://schemas.microsoft.com/office/drawing/2014/main" id="{06B162C0-2844-4412-BEB7-4B0C4F20A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693" y="3249235"/>
            <a:ext cx="808235" cy="246221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H1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&gt; </a:t>
            </a:r>
            <a:r>
              <a:rPr lang="en-US" altLang="zh-CN" sz="10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baseline="-25000" dirty="0"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0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8" name="矩形 39">
            <a:extLst>
              <a:ext uri="{FF2B5EF4-FFF2-40B4-BE49-F238E27FC236}">
                <a16:creationId xmlns:a16="http://schemas.microsoft.com/office/drawing/2014/main" id="{618BB9C6-9B22-4665-96C7-3C27AE82E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825" y="947530"/>
            <a:ext cx="798675" cy="246221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kumimoji="0" lang="en-US" altLang="zh-CN" sz="1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kumimoji="0" lang="en-US" altLang="zh-CN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i="1" dirty="0"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baseline="-25000" dirty="0">
                <a:latin typeface="Symbol" panose="05050102010706020507" pitchFamily="18" charset="2"/>
                <a:ea typeface="楷体_GB2312" pitchFamily="49" charset="-122"/>
              </a:rPr>
              <a:t>0</a:t>
            </a:r>
            <a:endParaRPr kumimoji="0" lang="en-US" altLang="zh-CN" sz="10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9" name="矩形 76">
            <a:extLst>
              <a:ext uri="{FF2B5EF4-FFF2-40B4-BE49-F238E27FC236}">
                <a16:creationId xmlns:a16="http://schemas.microsoft.com/office/drawing/2014/main" id="{08ABC37D-AD90-4154-8D50-05A7EA40B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5605" y="3252633"/>
            <a:ext cx="787395" cy="246221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lvl="0"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zh-CN" sz="1000" b="1" i="1" dirty="0">
                <a:latin typeface="Times New Roman" panose="02020603050405020304" pitchFamily="18" charset="0"/>
                <a:ea typeface="楷体_GB2312" pitchFamily="49" charset="-122"/>
              </a:rPr>
              <a:t>H0</a:t>
            </a:r>
            <a:r>
              <a:rPr lang="en-US" altLang="zh-CN" sz="1000" b="1" dirty="0">
                <a:latin typeface="Symbol" panose="05050102010706020507" pitchFamily="18" charset="2"/>
                <a:ea typeface="楷体_GB2312" pitchFamily="49" charset="-122"/>
              </a:rPr>
              <a:t> : </a:t>
            </a:r>
            <a:r>
              <a:rPr lang="en-US" altLang="zh-CN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kumimoji="0" lang="en-US" altLang="zh-CN" sz="1000" b="1" i="1" u="none" strike="noStrike" kern="1200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&lt;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10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ea typeface="楷体_GB2312" pitchFamily="49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8482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7" grpId="0" animBg="1"/>
      <p:bldP spid="75" grpId="0"/>
      <p:bldP spid="77" grpId="0" animBg="1"/>
      <p:bldP spid="7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47C8F4D-F664-4E14-8FDD-55966F76B3B7}"/>
              </a:ext>
            </a:extLst>
          </p:cNvPr>
          <p:cNvSpPr txBox="1">
            <a:spLocks/>
          </p:cNvSpPr>
          <p:nvPr/>
        </p:nvSpPr>
        <p:spPr bwMode="auto">
          <a:xfrm>
            <a:off x="1043608" y="34412"/>
            <a:ext cx="4905058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</a:t>
            </a:r>
            <a:r>
              <a:rPr lang="en-US" altLang="zh-CN" sz="2800" dirty="0">
                <a:cs typeface="+mn-cs"/>
              </a:rPr>
              <a:t>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假设检验</a:t>
            </a:r>
            <a:r>
              <a:rPr lang="en-US" altLang="zh-CN" sz="2800" kern="0" dirty="0">
                <a:solidFill>
                  <a:srgbClr val="FF0000"/>
                </a:solidFill>
              </a:rPr>
              <a:t>——t</a:t>
            </a:r>
            <a:r>
              <a:rPr lang="zh-CN" altLang="en-US" sz="2800" kern="0" dirty="0">
                <a:solidFill>
                  <a:srgbClr val="FF0000"/>
                </a:solidFill>
              </a:rPr>
              <a:t>假设检验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722435-4E2B-4A45-B6A8-3BE2346D66F5}"/>
              </a:ext>
            </a:extLst>
          </p:cNvPr>
          <p:cNvSpPr txBox="1"/>
          <p:nvPr/>
        </p:nvSpPr>
        <p:spPr>
          <a:xfrm>
            <a:off x="497309" y="2135548"/>
            <a:ext cx="393067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正态分布总体参数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检验调用格式：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FC5912-B32D-4F8C-A2DC-E84D6ABB18D8}"/>
              </a:ext>
            </a:extLst>
          </p:cNvPr>
          <p:cNvSpPr/>
          <p:nvPr/>
        </p:nvSpPr>
        <p:spPr>
          <a:xfrm>
            <a:off x="5738038" y="191023"/>
            <a:ext cx="2441694" cy="33855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highlight>
                  <a:srgbClr val="6D629C"/>
                </a:highlight>
                <a:latin typeface="Times New Roman" panose="02020603050405020304" pitchFamily="18" charset="0"/>
                <a:ea typeface="楷体_GB2312" pitchFamily="49" charset="-122"/>
              </a:rPr>
              <a:t>正态分布总体且方差未知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04ECAD36-CFC8-4DDD-919A-C95E816151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0032" y="1328164"/>
                <a:ext cx="4037183" cy="60016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marL="1778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2800" b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defRPr>
                </a:lvl1pPr>
                <a:lvl2pPr marL="6350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2400" b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defRPr>
                </a:lvl2pPr>
                <a:lvl3pPr marL="10922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2400" b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defRPr>
                </a:lvl3pPr>
                <a:lvl4pPr marL="15494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2000" b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defRPr>
                </a:lvl4pPr>
                <a:lvl5pPr marL="2006600" indent="-177800" algn="l" rt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2000" b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defRPr>
                </a:lvl5pPr>
                <a:lvl6pPr marL="24638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6pPr>
                <a:lvl7pPr marL="29210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7pPr>
                <a:lvl8pPr marL="33782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8pPr>
                <a:lvl9pPr marL="3835400" indent="-177800" algn="l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har char="•"/>
                  <a:defRPr b="1">
                    <a:solidFill>
                      <a:srgbClr val="002E5C"/>
                    </a:solidFill>
                    <a:latin typeface="+mn-lt"/>
                  </a:defRPr>
                </a:lvl9pPr>
              </a:lstStyle>
              <a:p>
                <a:pPr marL="0" indent="0" algn="dist">
                  <a:lnSpc>
                    <a:spcPct val="100000"/>
                  </a:lnSpc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zh-CN" altLang="en-US" sz="1800" i="1" dirty="0" smtClean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样本均值，</a:t>
                </a:r>
                <a:r>
                  <a:rPr lang="zh-CN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μ</a:t>
                </a:r>
                <a:r>
                  <a:rPr lang="en-US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0</a:t>
                </a:r>
                <a:r>
                  <a:rPr lang="zh-CN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是假设总体均值</a:t>
                </a:r>
                <a:r>
                  <a:rPr lang="en-US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  <a:p>
                <a:pPr marL="0" indent="0" algn="dist">
                  <a:lnSpc>
                    <a:spcPct val="100000"/>
                  </a:lnSpc>
                  <a:buFontTx/>
                  <a:buNone/>
                </a:pPr>
                <a:r>
                  <a:rPr lang="en-US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s</a:t>
                </a:r>
                <a:r>
                  <a:rPr lang="zh-CN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是</a:t>
                </a:r>
                <a:r>
                  <a:rPr lang="zh-CN" altLang="en-US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样本</a:t>
                </a:r>
                <a:r>
                  <a:rPr lang="zh-CN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标准差</a:t>
                </a:r>
                <a:r>
                  <a:rPr lang="en-US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</a:t>
                </a:r>
                <a:r>
                  <a:rPr lang="zh-CN" altLang="zh-CN" sz="1800" kern="0" dirty="0">
                    <a:solidFill>
                      <a:srgbClr val="2C3E5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n 是样本大小</a:t>
                </a:r>
                <a:endParaRPr lang="zh-CN" altLang="zh-CN" sz="1800" kern="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04ECAD36-CFC8-4DDD-919A-C95E8161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032" y="1328164"/>
                <a:ext cx="4037183" cy="600164"/>
              </a:xfrm>
              <a:prstGeom prst="rect">
                <a:avLst/>
              </a:prstGeom>
              <a:blipFill>
                <a:blip r:embed="rId3"/>
                <a:stretch>
                  <a:fillRect l="-1207" t="-5102" r="-1207" b="-2346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446176AE-7FD4-4226-BDB9-98C96A9C0847}"/>
              </a:ext>
            </a:extLst>
          </p:cNvPr>
          <p:cNvSpPr txBox="1"/>
          <p:nvPr/>
        </p:nvSpPr>
        <p:spPr>
          <a:xfrm>
            <a:off x="482955" y="1439453"/>
            <a:ext cx="2648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sz="1800" dirty="0"/>
              <a:t>检验统计量</a:t>
            </a:r>
            <a:r>
              <a:rPr lang="en-US" altLang="zh-CN" sz="1800" dirty="0"/>
              <a:t>t</a:t>
            </a:r>
            <a:r>
              <a:rPr lang="zh-CN" altLang="zh-CN" sz="1800" dirty="0"/>
              <a:t>的计算公式</a:t>
            </a:r>
            <a:r>
              <a:rPr lang="zh-CN" altLang="en-US" sz="1800" dirty="0"/>
              <a:t>：</a:t>
            </a:r>
            <a:endParaRPr lang="en-US" altLang="zh-CN" sz="18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19233-F6EC-43C6-B2C8-CB73A07556E0}"/>
              </a:ext>
            </a:extLst>
          </p:cNvPr>
          <p:cNvSpPr/>
          <p:nvPr/>
        </p:nvSpPr>
        <p:spPr>
          <a:xfrm>
            <a:off x="2041176" y="814152"/>
            <a:ext cx="67376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样本数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，检验是正态分布总体，并且总体标准差未知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36A83EE-33FB-4006-B12D-0B8359515D48}"/>
                  </a:ext>
                </a:extLst>
              </p:cNvPr>
              <p:cNvSpPr txBox="1"/>
              <p:nvPr/>
            </p:nvSpPr>
            <p:spPr>
              <a:xfrm>
                <a:off x="3265958" y="1214262"/>
                <a:ext cx="1870482" cy="847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f>
                          <m:fPr>
                            <m:type m:val="lin"/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</m:num>
                          <m:den>
                            <m: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36A83EE-33FB-4006-B12D-0B8359515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958" y="1214262"/>
                <a:ext cx="1870482" cy="847861"/>
              </a:xfrm>
              <a:prstGeom prst="rect">
                <a:avLst/>
              </a:prstGeom>
              <a:blipFill>
                <a:blip r:embed="rId4"/>
                <a:stretch>
                  <a:fillRect l="-977" b="-3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49CC864C-DFA4-428B-99D2-3CFA26C64D7B}"/>
              </a:ext>
            </a:extLst>
          </p:cNvPr>
          <p:cNvSpPr txBox="1"/>
          <p:nvPr/>
        </p:nvSpPr>
        <p:spPr>
          <a:xfrm>
            <a:off x="467544" y="817676"/>
            <a:ext cx="1563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E6CE4B-5CD2-4936-AAF5-17309FBFB834}"/>
              </a:ext>
            </a:extLst>
          </p:cNvPr>
          <p:cNvSpPr txBox="1"/>
          <p:nvPr/>
        </p:nvSpPr>
        <p:spPr>
          <a:xfrm>
            <a:off x="503009" y="2538630"/>
            <a:ext cx="8452004" cy="2113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样本数据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，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r>
              <a:rPr lang="zh-CN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假设总体均值</a:t>
            </a:r>
            <a:endParaRPr lang="en-US" altLang="zh-CN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假设检验结果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：假设检验结果为 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 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285750" indent="-28575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当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h=0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表示接受原假设</a:t>
            </a:r>
            <a:r>
              <a:rPr kumimoji="0" lang="en-US" altLang="zh-CN" b="1" i="1" u="none" strike="noStrike" kern="1200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H0 : </a:t>
            </a:r>
            <a:r>
              <a:rPr lang="en-US" altLang="zh-CN" b="1" i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kumimoji="0" lang="en-US" altLang="zh-CN" b="1" i="1" u="none" strike="noStrike" kern="1200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= </a:t>
            </a:r>
            <a:r>
              <a:rPr lang="en-US" altLang="zh-CN" b="1" i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lang="en-US" altLang="zh-CN" b="1" baseline="-250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b="1" baseline="-250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即总体均值等于假设均值；</a:t>
            </a:r>
            <a:endParaRPr lang="en-US" altLang="zh-CN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当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h=1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表示拒绝原假设</a:t>
            </a:r>
            <a:r>
              <a:rPr kumimoji="0" lang="en-US" altLang="zh-CN" b="1" i="1" u="none" strike="noStrike" kern="1200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H0 : </a:t>
            </a:r>
            <a:r>
              <a:rPr lang="en-US" altLang="zh-CN" b="1" i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kumimoji="0" lang="en-US" altLang="zh-CN" b="1" i="1" u="none" strike="noStrike" kern="1200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= </a:t>
            </a:r>
            <a:r>
              <a:rPr lang="en-US" altLang="zh-CN" b="1" i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lang="en-US" altLang="zh-CN" b="1" baseline="-250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即总体均值不等于假设均值</a:t>
            </a:r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输出项：检验 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 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值，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 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均值置信区间 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ci</a:t>
            </a:r>
            <a:r>
              <a:rPr lang="zh-CN" altLang="en-US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，检验统计量</a:t>
            </a:r>
            <a:r>
              <a:rPr lang="en-US" altLang="zh-CN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stats</a:t>
            </a:r>
            <a:endParaRPr lang="zh-CN" altLang="en-US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1F0306-D64B-4391-B254-EAA76528F381}"/>
              </a:ext>
            </a:extLst>
          </p:cNvPr>
          <p:cNvSpPr/>
          <p:nvPr/>
        </p:nvSpPr>
        <p:spPr>
          <a:xfrm>
            <a:off x="4499992" y="2138520"/>
            <a:ext cx="427886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spcBef>
                <a:spcPts val="500"/>
              </a:spcBef>
              <a:buFont typeface="Arial" panose="020B0604020202020204" pitchFamily="34" charset="0"/>
              <a:buNone/>
              <a:defRPr/>
            </a:pPr>
            <a:r>
              <a:rPr lang="pl-PL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pl-PL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,p,ci,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stats</a:t>
            </a:r>
            <a:r>
              <a:rPr lang="pl-PL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=test(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x,m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5927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353F03-14C0-45DE-AD0F-043844C99B06}"/>
              </a:ext>
            </a:extLst>
          </p:cNvPr>
          <p:cNvSpPr txBox="1"/>
          <p:nvPr/>
        </p:nvSpPr>
        <p:spPr>
          <a:xfrm>
            <a:off x="253842" y="1755402"/>
            <a:ext cx="8556182" cy="259192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tail -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要计算的备择假设的类型（ “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right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left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,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“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both”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默认“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both” 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endParaRPr lang="en-US" altLang="zh-CN" sz="2000" dirty="0">
              <a:solidFill>
                <a:srgbClr val="2C3E5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Both-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检验总体均值不为</a:t>
            </a:r>
            <a:r>
              <a:rPr lang="zh-CN" altLang="en-US" sz="2000" i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</a:t>
            </a:r>
            <a:r>
              <a:rPr lang="en-US" altLang="zh-CN" sz="2000" i="1" baseline="-25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备择假设</a:t>
            </a:r>
            <a:endParaRPr lang="en-US" altLang="zh-CN" sz="20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right-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检验总体均值大于 </a:t>
            </a:r>
            <a:r>
              <a:rPr lang="zh-CN" altLang="en-US" sz="2000" i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</a:t>
            </a:r>
            <a:r>
              <a:rPr lang="en-US" altLang="zh-CN" sz="2000" i="1" baseline="-25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0</a:t>
            </a:r>
            <a:r>
              <a:rPr lang="en-US" altLang="zh-CN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备择假设</a:t>
            </a:r>
            <a:endParaRPr lang="en-US" altLang="zh-CN" sz="20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left: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检验总体均值小于 </a:t>
            </a:r>
            <a:r>
              <a:rPr lang="zh-CN" altLang="en-US" sz="2000" i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</a:t>
            </a:r>
            <a:r>
              <a:rPr lang="en-US" altLang="zh-CN" sz="2000" i="1" baseline="-25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备择假设</a:t>
            </a:r>
            <a:endParaRPr lang="en-US" altLang="zh-CN" sz="20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 err="1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ttest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可以指定备择假设检验类型，如 </a:t>
            </a:r>
            <a:r>
              <a:rPr lang="en-US" altLang="zh-CN" sz="2000" dirty="0">
                <a:solidFill>
                  <a:srgbClr val="2C3E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tail = “right”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2FFEFC38-6F52-4BE7-AF67-1DDBFE1AD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540002"/>
              </p:ext>
            </p:extLst>
          </p:nvPr>
        </p:nvGraphicFramePr>
        <p:xfrm>
          <a:off x="4973835" y="2433518"/>
          <a:ext cx="677485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7" name="Equation" r:id="rId3" imgW="405765" imgH="203200" progId="Equation.DSMT4">
                  <p:embed/>
                </p:oleObj>
              </mc:Choice>
              <mc:Fallback>
                <p:oleObj name="Equation" r:id="rId3" imgW="405765" imgH="203200" progId="Equation.DSMT4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7CB28DE8-602C-42BB-A8C7-855EA5E19F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3835" y="2433518"/>
                        <a:ext cx="677485" cy="31670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B0FB7E35-0204-4A41-B8E2-79020B5E2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28222"/>
              </p:ext>
            </p:extLst>
          </p:nvPr>
        </p:nvGraphicFramePr>
        <p:xfrm>
          <a:off x="5042966" y="2901874"/>
          <a:ext cx="677485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8" name="Equation" r:id="rId5" imgW="405765" imgH="203200" progId="Equation.DSMT4">
                  <p:embed/>
                </p:oleObj>
              </mc:Choice>
              <mc:Fallback>
                <p:oleObj name="Equation" r:id="rId5" imgW="405765" imgH="203200" progId="Equation.DSMT4">
                  <p:embed/>
                  <p:pic>
                    <p:nvPicPr>
                      <p:cNvPr id="13" name="Object 10">
                        <a:extLst>
                          <a:ext uri="{FF2B5EF4-FFF2-40B4-BE49-F238E27FC236}">
                            <a16:creationId xmlns:a16="http://schemas.microsoft.com/office/drawing/2014/main" id="{761B5D97-5702-4A0B-B77D-BCECAFB557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2966" y="2901874"/>
                        <a:ext cx="677485" cy="31670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BF8B7E27-2C29-4EDC-A879-9209294275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124211"/>
              </p:ext>
            </p:extLst>
          </p:nvPr>
        </p:nvGraphicFramePr>
        <p:xfrm>
          <a:off x="4860888" y="3428340"/>
          <a:ext cx="62144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9" name="Equation" r:id="rId7" imgW="405765" imgH="203200" progId="Equation.DSMT4">
                  <p:embed/>
                </p:oleObj>
              </mc:Choice>
              <mc:Fallback>
                <p:oleObj name="Equation" r:id="rId7" imgW="405765" imgH="203200" progId="Equation.DSMT4">
                  <p:embed/>
                  <p:pic>
                    <p:nvPicPr>
                      <p:cNvPr id="14" name="Object 12">
                        <a:extLst>
                          <a:ext uri="{FF2B5EF4-FFF2-40B4-BE49-F238E27FC236}">
                            <a16:creationId xmlns:a16="http://schemas.microsoft.com/office/drawing/2014/main" id="{BAFF850F-60BC-49BE-8CD1-6F19AC10A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888" y="3428340"/>
                        <a:ext cx="621443" cy="2905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D353772-11D2-4C6E-B191-24F70A076A18}"/>
              </a:ext>
            </a:extLst>
          </p:cNvPr>
          <p:cNvSpPr txBox="1"/>
          <p:nvPr/>
        </p:nvSpPr>
        <p:spPr>
          <a:xfrm>
            <a:off x="165032" y="1318964"/>
            <a:ext cx="87274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用一个或多个键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值对组参数指定附加选项，更改显著性水平或进行单侧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检验</a:t>
            </a:r>
            <a:endParaRPr lang="zh-CN" altLang="en-US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D760532-2903-470F-BC42-94EC428FBCCF}"/>
              </a:ext>
            </a:extLst>
          </p:cNvPr>
          <p:cNvSpPr txBox="1">
            <a:spLocks/>
          </p:cNvSpPr>
          <p:nvPr/>
        </p:nvSpPr>
        <p:spPr bwMode="auto">
          <a:xfrm>
            <a:off x="732570" y="49034"/>
            <a:ext cx="4905058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1200" dirty="0">
                <a:cs typeface="+mn-cs"/>
              </a:rPr>
              <a:t>§4.</a:t>
            </a:r>
            <a:r>
              <a:rPr lang="en-US" altLang="zh-CN" sz="2600" dirty="0">
                <a:cs typeface="+mn-cs"/>
              </a:rPr>
              <a:t>4</a:t>
            </a:r>
            <a:r>
              <a:rPr lang="en-US" altLang="zh-CN" sz="2600" kern="1200" dirty="0">
                <a:cs typeface="+mn-cs"/>
              </a:rPr>
              <a:t> </a:t>
            </a:r>
            <a:r>
              <a:rPr lang="zh-CN" altLang="en-US" sz="2600" kern="1200" dirty="0">
                <a:cs typeface="+mn-cs"/>
              </a:rPr>
              <a:t>假设检验</a:t>
            </a:r>
            <a:r>
              <a:rPr lang="en-US" altLang="zh-CN" sz="2600" kern="0" dirty="0">
                <a:solidFill>
                  <a:srgbClr val="FF0000"/>
                </a:solidFill>
              </a:rPr>
              <a:t>——t</a:t>
            </a:r>
            <a:r>
              <a:rPr lang="zh-CN" altLang="en-US" sz="2600" kern="0" dirty="0">
                <a:solidFill>
                  <a:srgbClr val="FF0000"/>
                </a:solidFill>
              </a:rPr>
              <a:t>检验的假设类型</a:t>
            </a:r>
            <a:r>
              <a:rPr lang="en-US" altLang="zh-CN" sz="2600" kern="0" dirty="0">
                <a:solidFill>
                  <a:srgbClr val="FF0000"/>
                </a:solidFill>
              </a:rPr>
              <a:t> </a:t>
            </a:r>
            <a:endParaRPr lang="zh-CN" altLang="en-US" sz="26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856DDB-8CBB-4644-9388-EFBF316718AD}"/>
              </a:ext>
            </a:extLst>
          </p:cNvPr>
          <p:cNvSpPr/>
          <p:nvPr/>
        </p:nvSpPr>
        <p:spPr>
          <a:xfrm>
            <a:off x="6144602" y="204410"/>
            <a:ext cx="2747878" cy="36933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highlight>
                  <a:srgbClr val="6D629C"/>
                </a:highlight>
                <a:latin typeface="Times New Roman" panose="02020603050405020304" pitchFamily="18" charset="0"/>
                <a:ea typeface="楷体_GB2312" pitchFamily="49" charset="-122"/>
              </a:rPr>
              <a:t>正态分布总体且方差未知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61678C-3C3F-4A77-A21F-44C21196556C}"/>
              </a:ext>
            </a:extLst>
          </p:cNvPr>
          <p:cNvSpPr/>
          <p:nvPr/>
        </p:nvSpPr>
        <p:spPr>
          <a:xfrm>
            <a:off x="165032" y="794537"/>
            <a:ext cx="29581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不同假设类型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07DC7A-C578-4E1E-906F-40FBF530F7E6}"/>
              </a:ext>
            </a:extLst>
          </p:cNvPr>
          <p:cNvSpPr/>
          <p:nvPr/>
        </p:nvSpPr>
        <p:spPr>
          <a:xfrm>
            <a:off x="3147440" y="777700"/>
            <a:ext cx="562089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spcBef>
                <a:spcPts val="500"/>
              </a:spcBef>
              <a:buFont typeface="Arial" panose="020B0604020202020204" pitchFamily="34" charset="0"/>
              <a:buNone/>
              <a:defRPr/>
            </a:pPr>
            <a:r>
              <a:rPr lang="pl-PL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h,p,ci,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stats</a:t>
            </a:r>
            <a:r>
              <a:rPr lang="pl-PL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pl-PL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test(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x,m;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alpha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=0.05,tail:=“both”)</a:t>
            </a:r>
            <a:endParaRPr lang="ko-KR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727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3918609F-1C76-4F56-89A7-B2A4B762F3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44" r="18082" b="53032"/>
          <a:stretch/>
        </p:blipFill>
        <p:spPr>
          <a:xfrm>
            <a:off x="5891216" y="740950"/>
            <a:ext cx="2857886" cy="1378113"/>
          </a:xfrm>
          <a:prstGeom prst="rect">
            <a:avLst/>
          </a:prstGeom>
        </p:spPr>
      </p:pic>
      <p:sp>
        <p:nvSpPr>
          <p:cNvPr id="15" name="形状 210955">
            <a:extLst>
              <a:ext uri="{FF2B5EF4-FFF2-40B4-BE49-F238E27FC236}">
                <a16:creationId xmlns:a16="http://schemas.microsoft.com/office/drawing/2014/main" id="{7BD76A1D-0347-438C-999C-05C0EBA1A6DC}"/>
              </a:ext>
            </a:extLst>
          </p:cNvPr>
          <p:cNvSpPr/>
          <p:nvPr/>
        </p:nvSpPr>
        <p:spPr>
          <a:xfrm>
            <a:off x="-3613" y="747346"/>
            <a:ext cx="4680520" cy="71880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marL="342900" indent="-342900" algn="ctr"/>
            <a:endParaRPr lang="en-US" altLang="zh-CN" sz="1400" dirty="0">
              <a:solidFill>
                <a:srgbClr val="FFFF00"/>
              </a:solidFill>
              <a:latin typeface="-apple-system"/>
            </a:endParaRPr>
          </a:p>
          <a:p>
            <a:pPr marL="342900" indent="-342900">
              <a:buFont typeface="Wingdings 2" panose="05020102010507070707" pitchFamily="18" charset="2"/>
              <a:buNone/>
            </a:pP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0FA85F-BA16-428F-9B03-D76E166B584D}"/>
              </a:ext>
            </a:extLst>
          </p:cNvPr>
          <p:cNvSpPr/>
          <p:nvPr/>
        </p:nvSpPr>
        <p:spPr>
          <a:xfrm>
            <a:off x="827584" y="951657"/>
            <a:ext cx="24416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统计学上分析数据的方法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B0D1F-81A4-4EB1-847B-AEC4E7DCC837}"/>
              </a:ext>
            </a:extLst>
          </p:cNvPr>
          <p:cNvSpPr/>
          <p:nvPr/>
        </p:nvSpPr>
        <p:spPr>
          <a:xfrm>
            <a:off x="197973" y="2097863"/>
            <a:ext cx="8568290" cy="9224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回归：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英国著名专家高尔顿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1886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研究孩子与其父母身高之间的关系时提出来的。发现儿女身高回复到</a:t>
            </a:r>
            <a:r>
              <a:rPr lang="zh-CN" altLang="en-US" sz="2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人口总体平均身高趋势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EDDF2-681F-47CD-96AB-68AD53716F98}"/>
              </a:ext>
            </a:extLst>
          </p:cNvPr>
          <p:cNvSpPr/>
          <p:nvPr/>
        </p:nvSpPr>
        <p:spPr>
          <a:xfrm>
            <a:off x="197973" y="3124049"/>
            <a:ext cx="8748054" cy="13390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回归分析：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就是研究相关关系的数学问题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首先了解两个或多个变量间是否相关，建立一个相关性较好的回归方程（函数表达式），并加以外推预测的一种统计分析方法。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C81B19-9E56-42F3-A994-DB3D21FCA712}"/>
              </a:ext>
            </a:extLst>
          </p:cNvPr>
          <p:cNvSpPr/>
          <p:nvPr/>
        </p:nvSpPr>
        <p:spPr>
          <a:xfrm>
            <a:off x="193537" y="1510270"/>
            <a:ext cx="2031325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回归分析基础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9AFF568-7CBD-4990-8861-DB8DCCF21C06}"/>
              </a:ext>
            </a:extLst>
          </p:cNvPr>
          <p:cNvCxnSpPr>
            <a:cxnSpLocks/>
          </p:cNvCxnSpPr>
          <p:nvPr/>
        </p:nvCxnSpPr>
        <p:spPr>
          <a:xfrm flipV="1">
            <a:off x="6372200" y="1641517"/>
            <a:ext cx="1818419" cy="15536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标题 1">
            <a:extLst>
              <a:ext uri="{FF2B5EF4-FFF2-40B4-BE49-F238E27FC236}">
                <a16:creationId xmlns:a16="http://schemas.microsoft.com/office/drawing/2014/main" id="{80125A48-CDB9-4CDA-95AB-F7EFB6CEE85B}"/>
              </a:ext>
            </a:extLst>
          </p:cNvPr>
          <p:cNvSpPr txBox="1">
            <a:spLocks/>
          </p:cNvSpPr>
          <p:nvPr/>
        </p:nvSpPr>
        <p:spPr bwMode="auto">
          <a:xfrm>
            <a:off x="1315492" y="447298"/>
            <a:ext cx="6531325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000" kern="1200" dirty="0">
                <a:cs typeface="+mn-cs"/>
              </a:rPr>
              <a:t>§4.</a:t>
            </a:r>
            <a:r>
              <a:rPr lang="en-US" altLang="zh-CN" sz="3000" dirty="0">
                <a:cs typeface="+mn-cs"/>
              </a:rPr>
              <a:t>5</a:t>
            </a:r>
            <a:r>
              <a:rPr lang="en-US" altLang="zh-CN" sz="3000" kern="1200" dirty="0">
                <a:cs typeface="+mn-cs"/>
              </a:rPr>
              <a:t> </a:t>
            </a:r>
            <a:r>
              <a:rPr lang="zh-CN" altLang="en-US" sz="3000" dirty="0">
                <a:cs typeface="+mn-cs"/>
              </a:rPr>
              <a:t>回归分析</a:t>
            </a:r>
            <a:r>
              <a:rPr lang="en-US" altLang="zh-CN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regression analysis</a:t>
            </a:r>
            <a:endParaRPr lang="zh-CN" altLang="en-US" sz="3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0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DF9C40-D457-476E-9C30-C1CC7BF3B6ED}"/>
              </a:ext>
            </a:extLst>
          </p:cNvPr>
          <p:cNvSpPr txBox="1"/>
          <p:nvPr/>
        </p:nvSpPr>
        <p:spPr>
          <a:xfrm>
            <a:off x="3627157" y="1409399"/>
            <a:ext cx="2264059" cy="58477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子女身高线性回归方程</a:t>
            </a:r>
            <a:r>
              <a:rPr lang="en-US" altLang="zh-CN" sz="1600" b="1" dirty="0">
                <a:solidFill>
                  <a:schemeClr val="bg1"/>
                </a:solidFill>
              </a:rPr>
              <a:t>y=0.366x+41.577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96D97C-4B03-4012-ABFB-6C6A75450683}"/>
              </a:ext>
            </a:extLst>
          </p:cNvPr>
          <p:cNvSpPr txBox="1"/>
          <p:nvPr/>
        </p:nvSpPr>
        <p:spPr>
          <a:xfrm>
            <a:off x="4265918" y="4155293"/>
            <a:ext cx="4680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使用</a:t>
            </a:r>
            <a:r>
              <a:rPr lang="en-US" altLang="zh-CN" sz="1400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regress</a:t>
            </a:r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一定要加载  </a:t>
            </a:r>
            <a:r>
              <a:rPr lang="en-US" altLang="zh-CN" sz="1400" b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using </a:t>
            </a:r>
            <a:r>
              <a:rPr lang="en-US" altLang="zh-CN" sz="1400" b="0" dirty="0" err="1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TyMachineLearning</a:t>
            </a:r>
            <a:endParaRPr lang="en-US" altLang="zh-CN" sz="1400" b="0" dirty="0">
              <a:solidFill>
                <a:schemeClr val="bg1"/>
              </a:solidFill>
              <a:effectLst/>
              <a:highlight>
                <a:srgbClr val="003B76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54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DC14EB0-8EE5-423F-9E0D-A589A920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69" y="676403"/>
            <a:ext cx="8965688" cy="7998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7513" algn="l"/>
              </a:tabLst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  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大物实验“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结正向压降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与温度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关系的研究与应用”，流过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结的电流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b="1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一定时，正向压降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与温度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呈线性关系。求斜率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b1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和截距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b0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得到温度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和压降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的线性关系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5C95F0-6F70-438F-AFA7-E1D27E491FFC}"/>
              </a:ext>
            </a:extLst>
          </p:cNvPr>
          <p:cNvSpPr txBox="1"/>
          <p:nvPr/>
        </p:nvSpPr>
        <p:spPr>
          <a:xfrm>
            <a:off x="195055" y="2852334"/>
            <a:ext cx="4366820" cy="16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x=[40 45 50 55 60 65 70 75 80 85];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</a:pP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y=[0.3943 0.3809 0.3705 0.3587 0.3455 0.3331 0.3193 0.3049 0.2909 0.2771];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</a:pPr>
            <a:r>
              <a:rPr lang="es-ES" altLang="zh-CN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scatter(x,y,"or");</a:t>
            </a:r>
          </a:p>
          <a:p>
            <a:pPr>
              <a:lnSpc>
                <a:spcPts val="2500"/>
              </a:lnSpc>
            </a:pPr>
            <a:r>
              <a:rPr lang="es-ES" altLang="zh-CN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xlabel("x");ylabel("y");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0295E47-B1A6-4D5A-8C6E-C51B677E4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75026"/>
              </p:ext>
            </p:extLst>
          </p:nvPr>
        </p:nvGraphicFramePr>
        <p:xfrm>
          <a:off x="195055" y="1635646"/>
          <a:ext cx="8769431" cy="6439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1226">
                  <a:extLst>
                    <a:ext uri="{9D8B030D-6E8A-4147-A177-3AD203B41FA5}">
                      <a16:colId xmlns:a16="http://schemas.microsoft.com/office/drawing/2014/main" val="93954617"/>
                    </a:ext>
                  </a:extLst>
                </a:gridCol>
                <a:gridCol w="801718">
                  <a:extLst>
                    <a:ext uri="{9D8B030D-6E8A-4147-A177-3AD203B41FA5}">
                      <a16:colId xmlns:a16="http://schemas.microsoft.com/office/drawing/2014/main" val="2142969738"/>
                    </a:ext>
                  </a:extLst>
                </a:gridCol>
                <a:gridCol w="796471">
                  <a:extLst>
                    <a:ext uri="{9D8B030D-6E8A-4147-A177-3AD203B41FA5}">
                      <a16:colId xmlns:a16="http://schemas.microsoft.com/office/drawing/2014/main" val="3917120390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1543769008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3176512639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2533403749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3435239172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2631849945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2310595181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3940900186"/>
                    </a:ext>
                  </a:extLst>
                </a:gridCol>
                <a:gridCol w="797502">
                  <a:extLst>
                    <a:ext uri="{9D8B030D-6E8A-4147-A177-3AD203B41FA5}">
                      <a16:colId xmlns:a16="http://schemas.microsoft.com/office/drawing/2014/main" val="8576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x/</a:t>
                      </a:r>
                      <a:r>
                        <a:rPr lang="zh-CN" sz="1600" kern="100" dirty="0">
                          <a:solidFill>
                            <a:schemeClr val="bg1"/>
                          </a:solidFill>
                          <a:effectLst/>
                        </a:rPr>
                        <a:t>℃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55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70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75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8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y/V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0.3943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0.3809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0.3705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0.3587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0.3455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0.3331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0.3193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0.3049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0.2909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0.2771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968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CD8D6B2A-BAE9-4B6D-ADBA-672421A3E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124" y="2670835"/>
            <a:ext cx="2569967" cy="19274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82DA6DF-F54F-43F5-8BAC-F38CF1C8F272}"/>
              </a:ext>
            </a:extLst>
          </p:cNvPr>
          <p:cNvSpPr/>
          <p:nvPr/>
        </p:nvSpPr>
        <p:spPr>
          <a:xfrm>
            <a:off x="121469" y="2341387"/>
            <a:ext cx="3730451" cy="55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十个离散点分布及拟合直线示意图</a:t>
            </a:r>
            <a:endParaRPr lang="en-US" altLang="ko-KR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E9A30A4-FC2A-4947-BC5A-54B32CCD252F}"/>
              </a:ext>
            </a:extLst>
          </p:cNvPr>
          <p:cNvSpPr txBox="1">
            <a:spLocks/>
          </p:cNvSpPr>
          <p:nvPr/>
        </p:nvSpPr>
        <p:spPr bwMode="auto">
          <a:xfrm>
            <a:off x="1187624" y="928043"/>
            <a:ext cx="7488831" cy="92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2800" kern="1200" dirty="0">
              <a:cs typeface="+mn-cs"/>
            </a:endParaRPr>
          </a:p>
          <a:p>
            <a:endParaRPr lang="en-US" altLang="zh-CN" sz="2800" dirty="0">
              <a:cs typeface="+mn-cs"/>
            </a:endParaRPr>
          </a:p>
          <a:p>
            <a:pPr>
              <a:lnSpc>
                <a:spcPct val="100000"/>
              </a:lnSpc>
            </a:pPr>
            <a:endParaRPr lang="en-US" altLang="zh-CN" sz="2800" kern="1200" dirty="0">
              <a:cs typeface="+mn-cs"/>
            </a:endParaRPr>
          </a:p>
          <a:p>
            <a:pPr>
              <a:lnSpc>
                <a:spcPct val="100000"/>
              </a:lnSpc>
            </a:pPr>
            <a:endParaRPr lang="en-US" altLang="zh-CN" sz="2800" dirty="0">
              <a:cs typeface="+mn-cs"/>
            </a:endParaRPr>
          </a:p>
          <a:p>
            <a:pPr>
              <a:lnSpc>
                <a:spcPct val="100000"/>
              </a:lnSpc>
            </a:pPr>
            <a:endParaRPr lang="en-US" altLang="zh-CN" sz="2800" kern="1200" dirty="0"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altLang="zh-CN" sz="2800" kern="1200" dirty="0">
                <a:cs typeface="+mn-cs"/>
              </a:rPr>
              <a:t>§4.</a:t>
            </a:r>
            <a:r>
              <a:rPr lang="en-US" altLang="zh-CN" sz="2800" dirty="0">
                <a:cs typeface="+mn-cs"/>
              </a:rPr>
              <a:t>5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线性</a:t>
            </a:r>
            <a:r>
              <a:rPr lang="zh-CN" altLang="en-US" sz="2800" dirty="0">
                <a:cs typeface="+mn-cs"/>
              </a:rPr>
              <a:t>回归分析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线性代数方程组关系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E2426B-7362-404A-80A3-7DF37F80EEA9}"/>
              </a:ext>
            </a:extLst>
          </p:cNvPr>
          <p:cNvSpPr txBox="1"/>
          <p:nvPr/>
        </p:nvSpPr>
        <p:spPr>
          <a:xfrm>
            <a:off x="4932039" y="3510735"/>
            <a:ext cx="3981590" cy="41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根据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的采样数据点求待定参数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b(b0,b1)</a:t>
            </a: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3683219D-9D28-4AFA-8775-68CE7F36AD66}"/>
              </a:ext>
            </a:extLst>
          </p:cNvPr>
          <p:cNvSpPr/>
          <p:nvPr/>
        </p:nvSpPr>
        <p:spPr>
          <a:xfrm>
            <a:off x="164237" y="701126"/>
            <a:ext cx="879078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例45-1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12389B7F-BA9C-4EF2-BB00-26A9F67C0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881" y="2491795"/>
            <a:ext cx="136815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algn="dist" eaLnBrk="0" hangingPunct="0"/>
            <a:r>
              <a:rPr lang="en-US" altLang="zh-CN" sz="1800" dirty="0">
                <a:sym typeface="Arial" charset="0"/>
              </a:rPr>
              <a:t>y=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sym typeface="Arial" charset="0"/>
              </a:rPr>
              <a:t>b0</a:t>
            </a:r>
            <a:r>
              <a:rPr lang="en-US" altLang="zh-CN" sz="1800" dirty="0">
                <a:sym typeface="Arial" charset="0"/>
              </a:rPr>
              <a:t>+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sym typeface="Arial" charset="0"/>
              </a:rPr>
              <a:t>b1</a:t>
            </a:r>
            <a:r>
              <a:rPr lang="en-US" altLang="zh-CN" sz="1800" dirty="0">
                <a:sym typeface="Arial" charset="0"/>
              </a:rPr>
              <a:t>*x</a:t>
            </a:r>
            <a:endParaRPr lang="zh-CN" altLang="en-US" sz="1800" dirty="0">
              <a:sym typeface="Arial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8F776C-9573-482B-A13A-512A5E1F5E4E}"/>
              </a:ext>
            </a:extLst>
          </p:cNvPr>
          <p:cNvSpPr txBox="1"/>
          <p:nvPr/>
        </p:nvSpPr>
        <p:spPr>
          <a:xfrm>
            <a:off x="4117997" y="2536787"/>
            <a:ext cx="228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压降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-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温度线性关系：</a:t>
            </a:r>
            <a:endParaRPr lang="zh-CN" altLang="en-US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A60B4813-CAB8-43D2-9047-49FEAE72E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264" y="3982512"/>
            <a:ext cx="1877416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algn="dist" eaLnBrk="0" hangingPunct="0"/>
            <a:r>
              <a:rPr lang="en-US" altLang="zh-CN" sz="1600" dirty="0">
                <a:highlight>
                  <a:srgbClr val="FF0000"/>
                </a:highlight>
                <a:sym typeface="Arial" charset="0"/>
              </a:rPr>
              <a:t>1*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sym typeface="Arial" charset="0"/>
              </a:rPr>
              <a:t>b0</a:t>
            </a:r>
            <a:r>
              <a:rPr lang="en-US" altLang="zh-CN" sz="1600" dirty="0">
                <a:sym typeface="Arial" charset="0"/>
              </a:rPr>
              <a:t>+</a:t>
            </a:r>
            <a:r>
              <a:rPr lang="en-US" altLang="zh-CN" sz="1600" dirty="0">
                <a:highlight>
                  <a:srgbClr val="FF0000"/>
                </a:highlight>
                <a:sym typeface="Arial" charset="0"/>
              </a:rPr>
              <a:t>x*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sym typeface="Arial" charset="0"/>
              </a:rPr>
              <a:t>b1</a:t>
            </a:r>
            <a:r>
              <a:rPr lang="en-US" altLang="zh-CN" sz="1600" dirty="0">
                <a:sym typeface="Arial" charset="0"/>
              </a:rPr>
              <a:t>=y</a:t>
            </a:r>
            <a:endParaRPr lang="zh-CN" altLang="en-US" sz="1600" dirty="0">
              <a:sym typeface="Arial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AA6B94-AAF2-40DD-8581-A00D35A08C37}"/>
              </a:ext>
            </a:extLst>
          </p:cNvPr>
          <p:cNvSpPr txBox="1"/>
          <p:nvPr/>
        </p:nvSpPr>
        <p:spPr>
          <a:xfrm>
            <a:off x="4144598" y="3963991"/>
            <a:ext cx="2731658" cy="41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ts val="2800"/>
              </a:lnSpc>
            </a:pPr>
            <a:r>
              <a:rPr lang="zh-CN" altLang="en-US" sz="18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建立</a:t>
            </a:r>
            <a:r>
              <a:rPr lang="en-US" altLang="zh-CN" sz="18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b0</a:t>
            </a:r>
            <a:r>
              <a:rPr lang="zh-CN" altLang="en-US" sz="18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18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b1</a:t>
            </a:r>
            <a:r>
              <a:rPr lang="zh-CN" altLang="en-US" sz="18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线性方程组</a:t>
            </a:r>
            <a:r>
              <a:rPr lang="en-US" altLang="zh-CN" sz="18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EC024C0-8753-474D-B933-14051C802885}"/>
                  </a:ext>
                </a:extLst>
              </p:cNvPr>
              <p:cNvSpPr txBox="1"/>
              <p:nvPr/>
            </p:nvSpPr>
            <p:spPr>
              <a:xfrm>
                <a:off x="5429582" y="3055581"/>
                <a:ext cx="3412040" cy="45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m:t>因变量</m:t>
                      </m:r>
                      <m:r>
                        <m:rPr>
                          <m:nor/>
                        </m:rPr>
                        <a:rPr lang="en-US" altLang="zh-CN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m:t>y</m:t>
                      </m:r>
                      <m:r>
                        <m:rPr>
                          <m:nor/>
                        </m:rPr>
                        <a:rPr lang="en-US" altLang="zh-CN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CN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m:t>自变量</m:t>
                      </m:r>
                      <m:r>
                        <m:rPr>
                          <m:nor/>
                        </m:rPr>
                        <a:rPr lang="en-US" altLang="zh-CN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m:t>x</m:t>
                      </m:r>
                      <m:r>
                        <m:rPr>
                          <m:nor/>
                        </m:rPr>
                        <a:rPr lang="zh-CN" altLang="en-US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m:t>，</m:t>
                      </m:r>
                      <m:r>
                        <m:rPr>
                          <m:nor/>
                        </m:rPr>
                        <a:rPr lang="zh-CN" altLang="en-US" sz="1800" b="1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m:t>待定参数</m:t>
                      </m:r>
                      <m:r>
                        <m:rPr>
                          <m:nor/>
                        </m:rPr>
                        <a:rPr lang="en-US" altLang="zh-CN" sz="1800" b="1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CN" sz="1800" dirty="0" smtClean="0">
                          <a:solidFill>
                            <a:schemeClr val="bg1"/>
                          </a:solidFill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zh-CN" altLang="en-US" sz="1800" dirty="0">
                  <a:solidFill>
                    <a:schemeClr val="bg1"/>
                  </a:solidFill>
                  <a:highlight>
                    <a:srgbClr val="003B76"/>
                  </a:highlight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EC024C0-8753-474D-B933-14051C802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582" y="3055581"/>
                <a:ext cx="3412040" cy="451406"/>
              </a:xfrm>
              <a:prstGeom prst="rect">
                <a:avLst/>
              </a:prstGeom>
              <a:blipFill>
                <a:blip r:embed="rId4"/>
                <a:stretch>
                  <a:fillRect l="-716" r="-1073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3460924C-F524-4DDB-913B-F732F8939BB0}"/>
              </a:ext>
            </a:extLst>
          </p:cNvPr>
          <p:cNvSpPr txBox="1"/>
          <p:nvPr/>
        </p:nvSpPr>
        <p:spPr>
          <a:xfrm>
            <a:off x="7551715" y="2482658"/>
            <a:ext cx="1634590" cy="41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b0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截距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,b1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斜率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A2AB65-AAA9-402F-993B-D67099E38874}"/>
              </a:ext>
            </a:extLst>
          </p:cNvPr>
          <p:cNvSpPr txBox="1"/>
          <p:nvPr/>
        </p:nvSpPr>
        <p:spPr>
          <a:xfrm>
            <a:off x="4142140" y="3100247"/>
            <a:ext cx="1119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回归分析：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062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4" grpId="0" animBg="1"/>
      <p:bldP spid="15" grpId="0"/>
      <p:bldP spid="17" grpId="0"/>
      <p:bldP spid="19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E6C43AE-AD25-4205-90E5-A6B01345FF83}"/>
              </a:ext>
            </a:extLst>
          </p:cNvPr>
          <p:cNvSpPr/>
          <p:nvPr/>
        </p:nvSpPr>
        <p:spPr>
          <a:xfrm>
            <a:off x="215367" y="1714831"/>
            <a:ext cx="5776652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截距</a:t>
            </a:r>
            <a:r>
              <a:rPr lang="en-US" altLang="zh-CN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b0</a:t>
            </a:r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和斜率</a:t>
            </a:r>
            <a:r>
              <a:rPr lang="en-US" altLang="zh-CN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b1</a:t>
            </a:r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方程组，得到系数矩阵</a:t>
            </a:r>
            <a:r>
              <a:rPr lang="en-US" altLang="zh-CN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和列向量</a:t>
            </a:r>
            <a:r>
              <a:rPr lang="en-US" altLang="zh-CN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Y:</a:t>
            </a:r>
            <a:endParaRPr lang="en-US" altLang="ko-KR" sz="17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5">
                <a:extLst>
                  <a:ext uri="{FF2B5EF4-FFF2-40B4-BE49-F238E27FC236}">
                    <a16:creationId xmlns:a16="http://schemas.microsoft.com/office/drawing/2014/main" id="{5C6E6CB1-686B-49EA-838A-B51F790E505C}"/>
                  </a:ext>
                </a:extLst>
              </p:cNvPr>
              <p:cNvSpPr txBox="1"/>
              <p:nvPr/>
            </p:nvSpPr>
            <p:spPr>
              <a:xfrm>
                <a:off x="1442698" y="2368000"/>
                <a:ext cx="5226363" cy="1424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baseline="-25000" dirty="0" smtClean="0"/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40</m:t>
                              </m:r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baseline="-25000" dirty="0" smtClean="0"/>
                                <m:t>1</m:t>
                              </m:r>
                              <m:r>
                                <a:rPr lang="en-US" altLang="zh-C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=0.3943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-25000" dirty="0"/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5</m:t>
                              </m:r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-25000" dirty="0"/>
                                <m:t>1</m:t>
                              </m:r>
                              <m:r>
                                <a:rPr lang="en-US" altLang="zh-CN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.3809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-25000" dirty="0" smtClean="0"/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50</m:t>
                              </m:r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-25000" dirty="0"/>
                                <m:t>1</m:t>
                              </m:r>
                              <m:r>
                                <a:rPr lang="en-US" altLang="zh-CN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.3705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……………………………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-25000" dirty="0"/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85</m:t>
                              </m:r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-25000" dirty="0"/>
                                <m:t>1</m:t>
                              </m:r>
                              <m:r>
                                <a:rPr lang="en-US" altLang="zh-CN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0.2771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5">
                <a:extLst>
                  <a:ext uri="{FF2B5EF4-FFF2-40B4-BE49-F238E27FC236}">
                    <a16:creationId xmlns:a16="http://schemas.microsoft.com/office/drawing/2014/main" id="{5C6E6CB1-686B-49EA-838A-B51F790E5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698" y="2368000"/>
                <a:ext cx="5226363" cy="1424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标题 1">
            <a:extLst>
              <a:ext uri="{FF2B5EF4-FFF2-40B4-BE49-F238E27FC236}">
                <a16:creationId xmlns:a16="http://schemas.microsoft.com/office/drawing/2014/main" id="{7EC48A89-A2FA-44BC-AE34-B0E5DAA8B0ED}"/>
              </a:ext>
            </a:extLst>
          </p:cNvPr>
          <p:cNvSpPr txBox="1">
            <a:spLocks/>
          </p:cNvSpPr>
          <p:nvPr/>
        </p:nvSpPr>
        <p:spPr bwMode="auto">
          <a:xfrm>
            <a:off x="941541" y="52126"/>
            <a:ext cx="7857911" cy="56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200" dirty="0">
                <a:cs typeface="+mn-cs"/>
              </a:rPr>
              <a:t>§4.</a:t>
            </a:r>
            <a:r>
              <a:rPr lang="en-US" altLang="zh-CN" sz="2800" dirty="0">
                <a:cs typeface="+mn-cs"/>
              </a:rPr>
              <a:t>5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线性</a:t>
            </a:r>
            <a:r>
              <a:rPr lang="zh-CN" altLang="en-US" sz="2800" dirty="0">
                <a:cs typeface="+mn-cs"/>
              </a:rPr>
              <a:t>回归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点估计回归即超定方程组求解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Group 9">
            <a:extLst>
              <a:ext uri="{FF2B5EF4-FFF2-40B4-BE49-F238E27FC236}">
                <a16:creationId xmlns:a16="http://schemas.microsoft.com/office/drawing/2014/main" id="{EEA230FE-BF73-455B-90DB-89F875C19269}"/>
              </a:ext>
            </a:extLst>
          </p:cNvPr>
          <p:cNvGrpSpPr/>
          <p:nvPr/>
        </p:nvGrpSpPr>
        <p:grpSpPr bwMode="auto">
          <a:xfrm>
            <a:off x="4240242" y="1972042"/>
            <a:ext cx="2860890" cy="1819295"/>
            <a:chOff x="2431" y="1799"/>
            <a:chExt cx="890" cy="981"/>
          </a:xfrm>
        </p:grpSpPr>
        <p:graphicFrame>
          <p:nvGraphicFramePr>
            <p:cNvPr id="25" name="Object 10">
              <a:extLst>
                <a:ext uri="{FF2B5EF4-FFF2-40B4-BE49-F238E27FC236}">
                  <a16:creationId xmlns:a16="http://schemas.microsoft.com/office/drawing/2014/main" id="{783E53AA-EC1F-4C26-B713-EFBFE9423E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499806"/>
                </p:ext>
              </p:extLst>
            </p:nvPr>
          </p:nvGraphicFramePr>
          <p:xfrm>
            <a:off x="3009" y="2012"/>
            <a:ext cx="312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80" r:id="rId5" imgW="558800" imgH="939800" progId="Equation.3">
                    <p:embed/>
                  </p:oleObj>
                </mc:Choice>
                <mc:Fallback>
                  <p:oleObj r:id="rId5" imgW="558800" imgH="939800" progId="Equation.3">
                    <p:embed/>
                    <p:pic>
                      <p:nvPicPr>
                        <p:cNvPr id="36" name="Object 10">
                          <a:extLst>
                            <a:ext uri="{FF2B5EF4-FFF2-40B4-BE49-F238E27FC236}">
                              <a16:creationId xmlns:a16="http://schemas.microsoft.com/office/drawing/2014/main" id="{0F7D68D7-3509-404E-B631-041E7A7872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9" y="2012"/>
                          <a:ext cx="312" cy="768"/>
                        </a:xfrm>
                        <a:prstGeom prst="rect">
                          <a:avLst/>
                        </a:prstGeom>
                        <a:solidFill>
                          <a:schemeClr val="accent5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405F7CD7-9B6B-4038-AE18-C203EFEF6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1799"/>
              <a:ext cx="192" cy="0"/>
            </a:xfrm>
            <a:prstGeom prst="line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FDA98154-7A9E-485F-88E8-D6C99DCC888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111" t="36000" r="66455" b="24292"/>
          <a:stretch/>
        </p:blipFill>
        <p:spPr>
          <a:xfrm>
            <a:off x="323150" y="2444026"/>
            <a:ext cx="1594372" cy="138220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37" name="Rectangle 8">
            <a:extLst>
              <a:ext uri="{FF2B5EF4-FFF2-40B4-BE49-F238E27FC236}">
                <a16:creationId xmlns:a16="http://schemas.microsoft.com/office/drawing/2014/main" id="{26A439BF-0A95-4782-8C15-2D15DD583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85" y="3916095"/>
            <a:ext cx="57954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左除法求超定线性方程组未知数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（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截距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和斜率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b1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）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：</a:t>
            </a: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531AB1D4-5037-41F5-959F-B5FF0B9C0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262" y="3902254"/>
            <a:ext cx="713064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eaLnBrk="0" hangingPunct="0"/>
            <a:r>
              <a:rPr lang="en-US" altLang="zh-CN" sz="1600" dirty="0">
                <a:highlight>
                  <a:srgbClr val="3399FF"/>
                </a:highlight>
                <a:sym typeface="Arial" charset="0"/>
              </a:rPr>
              <a:t>b=X</a:t>
            </a:r>
            <a:r>
              <a:rPr lang="en-US" altLang="zh-CN" sz="1600" dirty="0">
                <a:highlight>
                  <a:srgbClr val="3399FF"/>
                </a:highlight>
                <a:sym typeface="Courier New" pitchFamily="49" charset="0"/>
              </a:rPr>
              <a:t>\</a:t>
            </a:r>
            <a:r>
              <a:rPr lang="en-US" altLang="zh-CN" sz="1600" dirty="0">
                <a:highlight>
                  <a:srgbClr val="3399FF"/>
                </a:highlight>
                <a:sym typeface="Arial" charset="0"/>
              </a:rPr>
              <a:t>Y</a:t>
            </a:r>
            <a:endParaRPr lang="zh-CN" altLang="en-US" sz="1600" dirty="0">
              <a:highlight>
                <a:srgbClr val="3399FF"/>
              </a:highlight>
              <a:sym typeface="Arial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F44EF1-4DEA-448C-81D7-67ECFCBFF081}"/>
              </a:ext>
            </a:extLst>
          </p:cNvPr>
          <p:cNvSpPr txBox="1"/>
          <p:nvPr/>
        </p:nvSpPr>
        <p:spPr>
          <a:xfrm>
            <a:off x="215332" y="4259589"/>
            <a:ext cx="634837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回归就是采用最小二乘法左除法求解超定线性方程组</a:t>
            </a:r>
            <a:endParaRPr lang="ko-KR" altLang="en-US" sz="1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3" name="矩形 1">
            <a:extLst>
              <a:ext uri="{FF2B5EF4-FFF2-40B4-BE49-F238E27FC236}">
                <a16:creationId xmlns:a16="http://schemas.microsoft.com/office/drawing/2014/main" id="{F0BAFAF4-4784-4652-9EC1-847EF013D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3551" y="2428156"/>
            <a:ext cx="1608212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1600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个未知数</a:t>
            </a:r>
            <a:r>
              <a:rPr lang="en-US" altLang="zh-CN" sz="1600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b0,b1</a:t>
            </a:r>
            <a:endParaRPr lang="ko-KR" altLang="en-US" sz="1600" kern="0" dirty="0">
              <a:solidFill>
                <a:schemeClr val="bg1"/>
              </a:solidFill>
              <a:latin typeface="微软雅黑 Light" panose="020B0502040204020203" pitchFamily="34" charset="-122"/>
              <a:ea typeface="隶书" panose="020105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61025567-ACC0-44CA-A64F-ACE60545EFB8}"/>
              </a:ext>
            </a:extLst>
          </p:cNvPr>
          <p:cNvSpPr/>
          <p:nvPr/>
        </p:nvSpPr>
        <p:spPr bwMode="auto">
          <a:xfrm>
            <a:off x="2787314" y="1989522"/>
            <a:ext cx="1435652" cy="1957763"/>
          </a:xfrm>
          <a:prstGeom prst="wedgeRoundRectCallou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0F594B18-25FA-4619-B73A-C7698E21AE55}"/>
              </a:ext>
            </a:extLst>
          </p:cNvPr>
          <p:cNvSpPr/>
          <p:nvPr/>
        </p:nvSpPr>
        <p:spPr bwMode="auto">
          <a:xfrm rot="10800000">
            <a:off x="2003308" y="2439614"/>
            <a:ext cx="2157596" cy="1292839"/>
          </a:xfrm>
          <a:prstGeom prst="homePlate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E3B33117-CBF4-4EA2-97A4-38FFD2A9BEFA}"/>
              </a:ext>
            </a:extLst>
          </p:cNvPr>
          <p:cNvSpPr/>
          <p:nvPr/>
        </p:nvSpPr>
        <p:spPr bwMode="auto">
          <a:xfrm>
            <a:off x="4361078" y="2451409"/>
            <a:ext cx="1630941" cy="1321208"/>
          </a:xfrm>
          <a:prstGeom prst="homePlate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TextBox 2">
            <a:extLst>
              <a:ext uri="{FF2B5EF4-FFF2-40B4-BE49-F238E27FC236}">
                <a16:creationId xmlns:a16="http://schemas.microsoft.com/office/drawing/2014/main" id="{B54A3EFB-D6E7-42C5-A454-CBF7F37F8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438" y="4240302"/>
            <a:ext cx="239202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algn="dist" eaLnBrk="0" hangingPunct="0"/>
            <a:r>
              <a:rPr lang="en-US" altLang="zh-CN" sz="1600" dirty="0">
                <a:sym typeface="Arial" charset="0"/>
              </a:rPr>
              <a:t>b=regress(Y,X)</a:t>
            </a:r>
            <a:endParaRPr lang="zh-CN" altLang="en-US" sz="1600" dirty="0">
              <a:sym typeface="Arial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B4F9986-05DF-4152-A311-0AFB0D1B585C}"/>
              </a:ext>
            </a:extLst>
          </p:cNvPr>
          <p:cNvSpPr txBox="1"/>
          <p:nvPr/>
        </p:nvSpPr>
        <p:spPr>
          <a:xfrm>
            <a:off x="5407101" y="3538812"/>
            <a:ext cx="2212449" cy="27699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压降</a:t>
            </a:r>
            <a:r>
              <a:rPr lang="en-US" altLang="zh-CN" dirty="0"/>
              <a:t>y</a:t>
            </a:r>
            <a:r>
              <a:rPr lang="zh-CN" altLang="en-US" dirty="0"/>
              <a:t>构成方程的常数列向量</a:t>
            </a:r>
            <a:r>
              <a:rPr lang="en-US" altLang="zh-CN" dirty="0"/>
              <a:t>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8F95EA5-EE7C-4655-979A-2FDFBF9D141A}"/>
                  </a:ext>
                </a:extLst>
              </p:cNvPr>
              <p:cNvSpPr/>
              <p:nvPr/>
            </p:nvSpPr>
            <p:spPr>
              <a:xfrm>
                <a:off x="5940153" y="1902424"/>
                <a:ext cx="2967312" cy="307777"/>
              </a:xfrm>
              <a:prstGeom prst="rect">
                <a:avLst/>
              </a:prstGeom>
              <a:solidFill>
                <a:srgbClr val="0070C0"/>
              </a:solidFill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dist" eaLnBrk="0" hangingPunct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400" b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1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  <m:r>
                          <a:rPr lang="zh-CN" altLang="en-US" sz="1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截距</m:t>
                        </m:r>
                        <m:r>
                          <a:rPr lang="en-US" altLang="zh-CN" sz="1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𝐛</m:t>
                        </m:r>
                      </m:e>
                      <m:sub>
                        <m:r>
                          <a:rPr lang="en-US" altLang="zh-CN" sz="1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温度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x*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斜率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b1 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压降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8F95EA5-EE7C-4655-979A-2FDFBF9D14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3" y="1902424"/>
                <a:ext cx="296731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波形 35">
            <a:extLst>
              <a:ext uri="{FF2B5EF4-FFF2-40B4-BE49-F238E27FC236}">
                <a16:creationId xmlns:a16="http://schemas.microsoft.com/office/drawing/2014/main" id="{E155C81C-3621-4AA4-859F-1CE523A28F0F}"/>
              </a:ext>
            </a:extLst>
          </p:cNvPr>
          <p:cNvSpPr/>
          <p:nvPr/>
        </p:nvSpPr>
        <p:spPr>
          <a:xfrm>
            <a:off x="350686" y="710994"/>
            <a:ext cx="765764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例45-1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矩形 1">
            <a:extLst>
              <a:ext uri="{FF2B5EF4-FFF2-40B4-BE49-F238E27FC236}">
                <a16:creationId xmlns:a16="http://schemas.microsoft.com/office/drawing/2014/main" id="{6ECD75D1-2377-4F57-9166-3C1F739C3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295" y="3000939"/>
            <a:ext cx="1078798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600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sz="1600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个方程</a:t>
            </a:r>
            <a:endParaRPr lang="ko-KR" altLang="en-US" sz="1600" kern="0" dirty="0">
              <a:solidFill>
                <a:schemeClr val="bg1"/>
              </a:solidFill>
              <a:latin typeface="微软雅黑 Light" panose="020B0502040204020203" pitchFamily="34" charset="-122"/>
              <a:ea typeface="隶书" panose="020105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A43A150-3A95-4CCB-9ADC-402C979E2477}"/>
              </a:ext>
            </a:extLst>
          </p:cNvPr>
          <p:cNvSpPr txBox="1"/>
          <p:nvPr/>
        </p:nvSpPr>
        <p:spPr>
          <a:xfrm>
            <a:off x="7863160" y="3517301"/>
            <a:ext cx="1016990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1600" ker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ym typeface="+mn-ea"/>
              </a:rPr>
              <a:t>超定方程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80EFD7-2D06-4115-9CD9-FAC6D21EA527}"/>
              </a:ext>
            </a:extLst>
          </p:cNvPr>
          <p:cNvSpPr txBox="1"/>
          <p:nvPr/>
        </p:nvSpPr>
        <p:spPr>
          <a:xfrm>
            <a:off x="315310" y="3214363"/>
            <a:ext cx="1602212" cy="60016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列向量和温度列向量</a:t>
            </a:r>
            <a:r>
              <a:rPr lang="en-US" altLang="zh-CN" sz="1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r>
              <a:rPr lang="zh-CN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构成方程系数矩阵</a:t>
            </a:r>
            <a:r>
              <a:rPr lang="en-US" altLang="zh-CN" sz="1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r>
              <a:rPr lang="en-US" altLang="zh-CN" sz="11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X=[ones(10,1) x]</a:t>
            </a:r>
            <a:endParaRPr lang="zh-CN" altLang="en-US" sz="11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F080E7AA-EF08-428C-875D-B799B7DFF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83317"/>
              </p:ext>
            </p:extLst>
          </p:nvPr>
        </p:nvGraphicFramePr>
        <p:xfrm>
          <a:off x="302967" y="1131590"/>
          <a:ext cx="8699043" cy="6439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4875">
                  <a:extLst>
                    <a:ext uri="{9D8B030D-6E8A-4147-A177-3AD203B41FA5}">
                      <a16:colId xmlns:a16="http://schemas.microsoft.com/office/drawing/2014/main" val="93954617"/>
                    </a:ext>
                  </a:extLst>
                </a:gridCol>
                <a:gridCol w="795282">
                  <a:extLst>
                    <a:ext uri="{9D8B030D-6E8A-4147-A177-3AD203B41FA5}">
                      <a16:colId xmlns:a16="http://schemas.microsoft.com/office/drawing/2014/main" val="2142969738"/>
                    </a:ext>
                  </a:extLst>
                </a:gridCol>
                <a:gridCol w="790078">
                  <a:extLst>
                    <a:ext uri="{9D8B030D-6E8A-4147-A177-3AD203B41FA5}">
                      <a16:colId xmlns:a16="http://schemas.microsoft.com/office/drawing/2014/main" val="3917120390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1543769008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3176512639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2533403749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3435239172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2631849945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2310595181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3940900186"/>
                    </a:ext>
                  </a:extLst>
                </a:gridCol>
                <a:gridCol w="791101">
                  <a:extLst>
                    <a:ext uri="{9D8B030D-6E8A-4147-A177-3AD203B41FA5}">
                      <a16:colId xmlns:a16="http://schemas.microsoft.com/office/drawing/2014/main" val="8576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x/</a:t>
                      </a:r>
                      <a:r>
                        <a:rPr lang="zh-CN" sz="1600" kern="100" dirty="0">
                          <a:solidFill>
                            <a:schemeClr val="bg1"/>
                          </a:solidFill>
                          <a:effectLst/>
                        </a:rPr>
                        <a:t>℃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55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70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75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8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y/V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0.3943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0.3809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0.3705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0.3587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0.3455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0.3331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0.3193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0.3049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0.2909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0.2771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968"/>
                  </a:ext>
                </a:extLst>
              </a:tr>
            </a:tbl>
          </a:graphicData>
        </a:graphic>
      </p:graphicFrame>
      <p:sp>
        <p:nvSpPr>
          <p:cNvPr id="42" name="文本框 41">
            <a:extLst>
              <a:ext uri="{FF2B5EF4-FFF2-40B4-BE49-F238E27FC236}">
                <a16:creationId xmlns:a16="http://schemas.microsoft.com/office/drawing/2014/main" id="{6D054D49-2D20-4C8C-B098-000FAFE83AB1}"/>
              </a:ext>
            </a:extLst>
          </p:cNvPr>
          <p:cNvSpPr txBox="1"/>
          <p:nvPr/>
        </p:nvSpPr>
        <p:spPr>
          <a:xfrm>
            <a:off x="1144099" y="651424"/>
            <a:ext cx="7857911" cy="42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ts val="2800"/>
              </a:lnSpc>
            </a:pP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根据温度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和压降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个采样数据点求待定参数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b(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截距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b0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和斜率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b1)</a:t>
            </a:r>
          </a:p>
        </p:txBody>
      </p:sp>
    </p:spTree>
    <p:extLst>
      <p:ext uri="{BB962C8B-B14F-4D97-AF65-F5344CB8AC3E}">
        <p14:creationId xmlns:p14="http://schemas.microsoft.com/office/powerpoint/2010/main" val="20951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37" grpId="0"/>
      <p:bldP spid="38" grpId="0" animBg="1"/>
      <p:bldP spid="22" grpId="0" animBg="1"/>
      <p:bldP spid="23" grpId="0" animBg="1"/>
      <p:bldP spid="4" grpId="0" animBg="1"/>
      <p:bldP spid="31" grpId="0" animBg="1"/>
      <p:bldP spid="32" grpId="0" animBg="1"/>
      <p:bldP spid="35" grpId="0" animBg="1"/>
      <p:bldP spid="16" grpId="0" animBg="1"/>
      <p:bldP spid="34" grpId="0" animBg="1"/>
      <p:bldP spid="39" grpId="0" animBg="1"/>
      <p:bldP spid="4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33A8F21-79BF-416A-A17B-AFB29829DA2D}"/>
              </a:ext>
            </a:extLst>
          </p:cNvPr>
          <p:cNvSpPr txBox="1">
            <a:spLocks/>
          </p:cNvSpPr>
          <p:nvPr/>
        </p:nvSpPr>
        <p:spPr>
          <a:xfrm>
            <a:off x="1082902" y="701126"/>
            <a:ext cx="7809577" cy="36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 algn="dist">
              <a:buFontTx/>
              <a:buNone/>
              <a:tabLst>
                <a:tab pos="417513" algn="l"/>
              </a:tabLst>
            </a:pPr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用</a:t>
            </a:r>
            <a:r>
              <a:rPr lang="en-US" altLang="zh-CN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regress</a:t>
            </a:r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根据实验数据求斜率</a:t>
            </a:r>
            <a:r>
              <a:rPr lang="en-US" altLang="zh-CN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b1</a:t>
            </a:r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和截距</a:t>
            </a:r>
            <a:r>
              <a:rPr lang="en-US" altLang="zh-CN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b0</a:t>
            </a:r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，建立压降</a:t>
            </a:r>
            <a:r>
              <a:rPr lang="en-US" altLang="zh-CN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与温度</a:t>
            </a:r>
            <a:r>
              <a:rPr lang="en-US" altLang="zh-CN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A1BD8D9-7A77-4155-A48C-4AA2A21EDC16}"/>
                  </a:ext>
                </a:extLst>
              </p:cNvPr>
              <p:cNvSpPr txBox="1"/>
              <p:nvPr/>
            </p:nvSpPr>
            <p:spPr>
              <a:xfrm>
                <a:off x="971600" y="35306"/>
                <a:ext cx="7632848" cy="565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>
                  <a:lnSpc>
                    <a:spcPts val="39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§4.5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多元回归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regress</m:t>
                    </m:r>
                  </m:oMath>
                </a14:m>
                <a:r>
                  <a:rPr lang="en-US" altLang="zh-CN" sz="28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——</a:t>
                </a:r>
                <a:r>
                  <a:rPr lang="zh-CN" altLang="en-US" sz="2800" kern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rPr>
                  <a:t>点估计一元线性回归</a:t>
                </a:r>
                <a:endParaRPr lang="en-US" altLang="zh-CN" sz="2800" kern="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A1BD8D9-7A77-4155-A48C-4AA2A21ED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5306"/>
                <a:ext cx="7632848" cy="565091"/>
              </a:xfrm>
              <a:prstGeom prst="rect">
                <a:avLst/>
              </a:prstGeom>
              <a:blipFill>
                <a:blip r:embed="rId3"/>
                <a:stretch>
                  <a:fillRect l="-1597" t="-4348" b="-3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84D6D6C-C835-40ED-BA2C-D2796C232E94}"/>
              </a:ext>
            </a:extLst>
          </p:cNvPr>
          <p:cNvSpPr txBox="1"/>
          <p:nvPr/>
        </p:nvSpPr>
        <p:spPr>
          <a:xfrm>
            <a:off x="323528" y="1830942"/>
            <a:ext cx="4950068" cy="273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TyMachineLearning</a:t>
            </a:r>
            <a:endParaRPr lang="en-US" altLang="zh-CN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y= [0.3943, 0.3809, 0.3705, 0.3587, 0.3455, 0.3331, 0.3193, 0.3049, 0.2909, 0.2771];#</a:t>
            </a:r>
            <a:r>
              <a:rPr lang="zh-CN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压降常数列向量</a:t>
            </a:r>
          </a:p>
          <a:p>
            <a:pPr>
              <a:lnSpc>
                <a:spcPts val="2600"/>
              </a:lnSpc>
            </a:pP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x = [40, 45, 50, 55, 60, 65, 70, 75, 80, 85];#</a:t>
            </a:r>
            <a:r>
              <a:rPr lang="zh-CN" alt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系数矩阵中温度列向量 </a:t>
            </a:r>
          </a:p>
          <a:p>
            <a:pPr>
              <a:lnSpc>
                <a:spcPts val="2600"/>
              </a:lnSpc>
            </a:pP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X=[ones(10,1) x] #</a:t>
            </a:r>
            <a:r>
              <a:rPr lang="zh-CN" alt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系数矩阵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b=regress(</a:t>
            </a:r>
            <a:r>
              <a:rPr lang="en-US" altLang="zh-CN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y,X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C6D965-EAD0-4397-B45C-AED13031DEDB}"/>
              </a:ext>
            </a:extLst>
          </p:cNvPr>
          <p:cNvSpPr txBox="1"/>
          <p:nvPr/>
        </p:nvSpPr>
        <p:spPr>
          <a:xfrm>
            <a:off x="5835430" y="3045969"/>
            <a:ext cx="31680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julia&gt;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\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y</a:t>
            </a:r>
          </a:p>
          <a:p>
            <a:r>
              <a:rPr lang="zh-CN" altLang="en-US" dirty="0">
                <a:solidFill>
                  <a:srgbClr val="66CCFF"/>
                </a:solidFill>
              </a:rPr>
              <a:t>2-element Vector{Float64}:</a:t>
            </a:r>
          </a:p>
          <a:p>
            <a:r>
              <a:rPr lang="zh-CN" altLang="en-US" dirty="0">
                <a:solidFill>
                  <a:srgbClr val="66CCFF"/>
                </a:solidFill>
              </a:rPr>
              <a:t>  0.49989878787878794</a:t>
            </a:r>
          </a:p>
          <a:p>
            <a:r>
              <a:rPr lang="zh-CN" altLang="en-US" dirty="0">
                <a:solidFill>
                  <a:srgbClr val="66CCFF"/>
                </a:solidFill>
              </a:rPr>
              <a:t> -0.002598060606060608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88068A-E48D-4E15-89F9-E359D206BFC0}"/>
              </a:ext>
            </a:extLst>
          </p:cNvPr>
          <p:cNvSpPr txBox="1"/>
          <p:nvPr/>
        </p:nvSpPr>
        <p:spPr>
          <a:xfrm>
            <a:off x="5835430" y="1808547"/>
            <a:ext cx="3308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julia&gt; b=regress(y,X)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2-element Vector{Float64}: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 0.4998987878787881  </a:t>
            </a:r>
            <a:r>
              <a:rPr lang="en-US" altLang="zh-CN" b="1" dirty="0">
                <a:solidFill>
                  <a:srgbClr val="FF0000"/>
                </a:solidFill>
              </a:rPr>
              <a:t>b0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00B0F0"/>
                </a:solidFill>
              </a:rPr>
              <a:t> 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-0.002598060606060609 </a:t>
            </a:r>
            <a:r>
              <a:rPr lang="en-US" altLang="zh-CN" b="1" dirty="0">
                <a:solidFill>
                  <a:srgbClr val="FF0000"/>
                </a:solidFill>
              </a:rPr>
              <a:t>b1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D139813-01E7-426C-8C91-56C7BD011E78}"/>
                  </a:ext>
                </a:extLst>
              </p:cNvPr>
              <p:cNvSpPr txBox="1"/>
              <p:nvPr/>
            </p:nvSpPr>
            <p:spPr>
              <a:xfrm>
                <a:off x="5835430" y="4275008"/>
                <a:ext cx="31324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结果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𝟎𝟎𝟐𝟔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𝟒𝟗𝟗𝟗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D139813-01E7-426C-8C91-56C7BD011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430" y="4275008"/>
                <a:ext cx="3132421" cy="369332"/>
              </a:xfrm>
              <a:prstGeom prst="rect">
                <a:avLst/>
              </a:prstGeom>
              <a:blipFill>
                <a:blip r:embed="rId4"/>
                <a:stretch>
                  <a:fillRect l="-1556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波形 16">
            <a:extLst>
              <a:ext uri="{FF2B5EF4-FFF2-40B4-BE49-F238E27FC236}">
                <a16:creationId xmlns:a16="http://schemas.microsoft.com/office/drawing/2014/main" id="{31A6235C-9CF6-4E3C-9C03-A443FB7EB7B2}"/>
              </a:ext>
            </a:extLst>
          </p:cNvPr>
          <p:cNvSpPr/>
          <p:nvPr/>
        </p:nvSpPr>
        <p:spPr>
          <a:xfrm>
            <a:off x="442119" y="719286"/>
            <a:ext cx="879078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例45-1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5D7C49F-63AE-445C-B604-D5AB898BD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547965"/>
              </p:ext>
            </p:extLst>
          </p:nvPr>
        </p:nvGraphicFramePr>
        <p:xfrm>
          <a:off x="400742" y="1124296"/>
          <a:ext cx="8396674" cy="6439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7594">
                  <a:extLst>
                    <a:ext uri="{9D8B030D-6E8A-4147-A177-3AD203B41FA5}">
                      <a16:colId xmlns:a16="http://schemas.microsoft.com/office/drawing/2014/main" val="93954617"/>
                    </a:ext>
                  </a:extLst>
                </a:gridCol>
                <a:gridCol w="767640">
                  <a:extLst>
                    <a:ext uri="{9D8B030D-6E8A-4147-A177-3AD203B41FA5}">
                      <a16:colId xmlns:a16="http://schemas.microsoft.com/office/drawing/2014/main" val="2142969738"/>
                    </a:ext>
                  </a:extLst>
                </a:gridCol>
                <a:gridCol w="762616">
                  <a:extLst>
                    <a:ext uri="{9D8B030D-6E8A-4147-A177-3AD203B41FA5}">
                      <a16:colId xmlns:a16="http://schemas.microsoft.com/office/drawing/2014/main" val="3917120390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1543769008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3176512639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2533403749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3435239172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2631849945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2310595181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3940900186"/>
                    </a:ext>
                  </a:extLst>
                </a:gridCol>
                <a:gridCol w="763603">
                  <a:extLst>
                    <a:ext uri="{9D8B030D-6E8A-4147-A177-3AD203B41FA5}">
                      <a16:colId xmlns:a16="http://schemas.microsoft.com/office/drawing/2014/main" val="8576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x/</a:t>
                      </a:r>
                      <a:r>
                        <a:rPr lang="zh-CN" sz="1600" kern="100" dirty="0">
                          <a:solidFill>
                            <a:schemeClr val="bg1"/>
                          </a:solidFill>
                          <a:effectLst/>
                        </a:rPr>
                        <a:t>℃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55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70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75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8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y/V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0.3943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0.3809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0.3705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0.3587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0.3455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0.3331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0.3193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0.3049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0.2909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50000"/>
                        </a:lnSpc>
                        <a:tabLst>
                          <a:tab pos="417195" algn="l"/>
                        </a:tabLs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0.2771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9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2A1A5EF-5368-4318-B521-D66755FD3F23}"/>
                  </a:ext>
                </a:extLst>
              </p:cNvPr>
              <p:cNvSpPr txBox="1"/>
              <p:nvPr/>
            </p:nvSpPr>
            <p:spPr>
              <a:xfrm>
                <a:off x="3308571" y="4275008"/>
                <a:ext cx="26734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一元线性回归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1" i="1">
                        <a:solidFill>
                          <a:srgbClr val="0070C0"/>
                        </a:solidFill>
                        <a:latin typeface="Cambria Math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1600" b="1" i="1">
                        <a:solidFill>
                          <a:srgbClr val="0070C0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16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16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2A1A5EF-5368-4318-B521-D66755FD3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71" y="4275008"/>
                <a:ext cx="2673493" cy="338554"/>
              </a:xfrm>
              <a:prstGeom prst="rect">
                <a:avLst/>
              </a:prstGeom>
              <a:blipFill>
                <a:blip r:embed="rId5"/>
                <a:stretch>
                  <a:fillRect l="-1370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8CB87B10-21A0-47F5-A695-1EB55C8D4A9E}"/>
              </a:ext>
            </a:extLst>
          </p:cNvPr>
          <p:cNvSpPr txBox="1"/>
          <p:nvPr/>
        </p:nvSpPr>
        <p:spPr>
          <a:xfrm>
            <a:off x="7127997" y="3007484"/>
            <a:ext cx="1524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PN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测温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22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/>
      <p:bldP spid="14" grpId="0" animBg="1"/>
      <p:bldP spid="16" grpId="0"/>
      <p:bldP spid="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16C943B8-EEB8-4AF6-BBA2-EC8F6C418559}"/>
              </a:ext>
            </a:extLst>
          </p:cNvPr>
          <p:cNvSpPr/>
          <p:nvPr/>
        </p:nvSpPr>
        <p:spPr>
          <a:xfrm>
            <a:off x="192842" y="789287"/>
            <a:ext cx="2218918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多元线性回归方程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62E27FF-7AA2-4232-9942-6F020A0B0E52}"/>
                  </a:ext>
                </a:extLst>
              </p:cNvPr>
              <p:cNvSpPr/>
              <p:nvPr/>
            </p:nvSpPr>
            <p:spPr>
              <a:xfrm>
                <a:off x="216044" y="1263807"/>
                <a:ext cx="891002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lvl="0" algn="dist"/>
                <a:r>
                  <a:rPr lang="zh-CN" altLang="en-US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测量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组实验，即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个采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隶书" panose="02010509060101010101" pitchFamily="49" charset="-122"/>
                      </a:rPr>
                      <m:t>样</m:t>
                    </m:r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数据，可建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个线性方程组，求解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P+1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个待求参数</a:t>
                </a: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62E27FF-7AA2-4232-9942-6F020A0B0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44" y="1263807"/>
                <a:ext cx="8910021" cy="400110"/>
              </a:xfrm>
              <a:prstGeom prst="rect">
                <a:avLst/>
              </a:prstGeom>
              <a:blipFill>
                <a:blip r:embed="rId3"/>
                <a:stretch>
                  <a:fillRect l="-684" t="-10606" r="-752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"/>
          <p:cNvGrpSpPr/>
          <p:nvPr/>
        </p:nvGrpSpPr>
        <p:grpSpPr bwMode="auto">
          <a:xfrm>
            <a:off x="3851920" y="1923678"/>
            <a:ext cx="2981402" cy="2144871"/>
            <a:chOff x="2585" y="1848"/>
            <a:chExt cx="1823" cy="1554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1241657"/>
                </p:ext>
              </p:extLst>
            </p:nvPr>
          </p:nvGraphicFramePr>
          <p:xfrm>
            <a:off x="2585" y="2227"/>
            <a:ext cx="1823" cy="1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67" r:id="rId4" imgW="1828800" imgH="939800" progId="Equation.3">
                    <p:embed/>
                  </p:oleObj>
                </mc:Choice>
                <mc:Fallback>
                  <p:oleObj r:id="rId4" imgW="1828800" imgH="939800" progId="Equation.3">
                    <p:embed/>
                    <p:pic>
                      <p:nvPicPr>
                        <p:cNvPr id="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5" y="2227"/>
                          <a:ext cx="1823" cy="1175"/>
                        </a:xfrm>
                        <a:prstGeom prst="rect">
                          <a:avLst/>
                        </a:prstGeom>
                        <a:solidFill>
                          <a:schemeClr val="accent5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2808" y="1848"/>
              <a:ext cx="19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883" y="1867"/>
              <a:ext cx="10" cy="35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 bwMode="auto">
          <a:xfrm>
            <a:off x="2251676" y="1923678"/>
            <a:ext cx="1494135" cy="2133480"/>
            <a:chOff x="1989" y="1799"/>
            <a:chExt cx="634" cy="1323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1989" y="2116"/>
            <a:ext cx="541" cy="1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68" r:id="rId6" imgW="558800" imgH="939800" progId="Equation.3">
                    <p:embed/>
                  </p:oleObj>
                </mc:Choice>
                <mc:Fallback>
                  <p:oleObj r:id="rId6" imgW="558800" imgH="939800" progId="Equation.3">
                    <p:embed/>
                    <p:pic>
                      <p:nvPicPr>
                        <p:cNvPr id="1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9" y="2116"/>
                          <a:ext cx="541" cy="1006"/>
                        </a:xfrm>
                        <a:prstGeom prst="rect">
                          <a:avLst/>
                        </a:prstGeom>
                        <a:solidFill>
                          <a:schemeClr val="accent5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431" y="1799"/>
              <a:ext cx="192" cy="0"/>
            </a:xfrm>
            <a:prstGeom prst="line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385" y="1815"/>
              <a:ext cx="0" cy="15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384" y="1952"/>
              <a:ext cx="0" cy="15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288" y="1804"/>
              <a:ext cx="19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scene3d>
              <a:camera prst="orthographicFront"/>
              <a:lightRig rig="threePt" dir="t"/>
            </a:scene3d>
            <a:sp3d>
              <a:bevelT prst="angle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 bwMode="auto">
          <a:xfrm>
            <a:off x="261578" y="1995686"/>
            <a:ext cx="1284935" cy="2044004"/>
            <a:chOff x="992" y="1799"/>
            <a:chExt cx="470" cy="1231"/>
          </a:xfrm>
        </p:grpSpPr>
        <p:graphicFrame>
          <p:nvGraphicFramePr>
            <p:cNvPr id="17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918054"/>
                </p:ext>
              </p:extLst>
            </p:nvPr>
          </p:nvGraphicFramePr>
          <p:xfrm>
            <a:off x="992" y="2052"/>
            <a:ext cx="470" cy="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69" r:id="rId8" imgW="495300" imgH="847725" progId="Word.Document.8">
                    <p:embed/>
                  </p:oleObj>
                </mc:Choice>
                <mc:Fallback>
                  <p:oleObj r:id="rId8" imgW="495300" imgH="847725" progId="Word.Document.8">
                    <p:embed/>
                    <p:pic>
                      <p:nvPicPr>
                        <p:cNvPr id="1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2" y="2052"/>
                          <a:ext cx="470" cy="978"/>
                        </a:xfrm>
                        <a:prstGeom prst="rect">
                          <a:avLst/>
                        </a:prstGeom>
                        <a:solidFill>
                          <a:schemeClr val="accent5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1035" y="1799"/>
              <a:ext cx="19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1131" y="1799"/>
              <a:ext cx="0" cy="2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矩形 1"/>
          <p:cNvSpPr>
            <a:spLocks noChangeArrowheads="1"/>
          </p:cNvSpPr>
          <p:nvPr/>
        </p:nvSpPr>
        <p:spPr bwMode="auto">
          <a:xfrm>
            <a:off x="245111" y="1742670"/>
            <a:ext cx="4911034" cy="3970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ko-KR" altLang="en-US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  = regress (    Y,      X  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50B085-4102-4839-A504-FF528CDA80C9}"/>
              </a:ext>
            </a:extLst>
          </p:cNvPr>
          <p:cNvSpPr/>
          <p:nvPr/>
        </p:nvSpPr>
        <p:spPr>
          <a:xfrm>
            <a:off x="150307" y="4247888"/>
            <a:ext cx="8993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根据输入参数为方程常数列向量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与系数矩阵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用最小二乘法求线性回归系数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323209" y="749023"/>
                <a:ext cx="3934667" cy="42761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sz="2000" b="1" dirty="0">
                    <a:solidFill>
                      <a:srgbClr val="C0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l-GR" altLang="zh-CN" sz="2000" b="1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ε</a:t>
                </a:r>
                <a:endParaRPr lang="zh-CN" altLang="en-US" sz="2000" b="1" i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209" y="749023"/>
                <a:ext cx="3934667" cy="427618"/>
              </a:xfrm>
              <a:prstGeom prst="rect">
                <a:avLst/>
              </a:prstGeom>
              <a:blipFill>
                <a:blip r:embed="rId10"/>
                <a:stretch>
                  <a:fillRect t="-8571" r="-774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4498146" y="1125655"/>
            <a:ext cx="22899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257017" y="789614"/>
                <a:ext cx="30243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6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P+1</a:t>
                </a:r>
                <a:r>
                  <a:rPr lang="zh-CN" altLang="en-US" sz="16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个待求参数</a:t>
                </a:r>
                <a14:m>
                  <m:oMath xmlns:m="http://schemas.openxmlformats.org/officeDocument/2006/math">
                    <m:r>
                      <a:rPr lang="zh-CN" altLang="en-US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（</m:t>
                    </m:r>
                    <m:r>
                      <a:rPr lang="zh-CN" altLang="en-US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回归</m:t>
                    </m:r>
                    <m:r>
                      <a:rPr lang="zh-CN" altLang="en-US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系数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zh-CN" altLang="en-US" sz="1600" b="1" i="1">
                        <a:solidFill>
                          <a:srgbClr val="002060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𝒊</m:t>
                    </m:r>
                  </m:oMath>
                </a14:m>
                <a:endParaRPr lang="zh-CN" altLang="en-US" sz="16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017" y="789614"/>
                <a:ext cx="3024336" cy="338554"/>
              </a:xfrm>
              <a:prstGeom prst="rect">
                <a:avLst/>
              </a:prstGeom>
              <a:blipFill>
                <a:blip r:embed="rId11"/>
                <a:stretch>
                  <a:fillRect l="-1006" t="-5455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0CECB19-0EB0-48EF-A699-871D901DC414}"/>
                  </a:ext>
                </a:extLst>
              </p:cNvPr>
              <p:cNvSpPr txBox="1"/>
              <p:nvPr/>
            </p:nvSpPr>
            <p:spPr>
              <a:xfrm>
                <a:off x="971599" y="35306"/>
                <a:ext cx="7984231" cy="565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>
                  <a:lnSpc>
                    <a:spcPts val="39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§4.5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多元回归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regress</m:t>
                    </m:r>
                  </m:oMath>
                </a14:m>
                <a:r>
                  <a:rPr lang="en-US" altLang="zh-CN" sz="28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——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点估计多元线性回归</a:t>
                </a:r>
                <a:endParaRPr lang="en-US" altLang="zh-CN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0CECB19-0EB0-48EF-A699-871D901DC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99" y="35306"/>
                <a:ext cx="7984231" cy="565091"/>
              </a:xfrm>
              <a:prstGeom prst="rect">
                <a:avLst/>
              </a:prstGeom>
              <a:blipFill>
                <a:blip r:embed="rId12"/>
                <a:stretch>
                  <a:fillRect l="-1527" t="-4348" b="-3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A666F06-2FE3-45F7-A12A-AE96C1A12CFA}"/>
              </a:ext>
            </a:extLst>
          </p:cNvPr>
          <p:cNvSpPr/>
          <p:nvPr/>
        </p:nvSpPr>
        <p:spPr bwMode="auto">
          <a:xfrm>
            <a:off x="2390527" y="776916"/>
            <a:ext cx="1552831" cy="421268"/>
          </a:xfrm>
          <a:prstGeom prst="roundRect">
            <a:avLst>
              <a:gd name="adj" fmla="val 19398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87DE7F-0C0A-4CE1-8339-DF4C7D2C94BA}"/>
              </a:ext>
            </a:extLst>
          </p:cNvPr>
          <p:cNvSpPr/>
          <p:nvPr/>
        </p:nvSpPr>
        <p:spPr bwMode="auto">
          <a:xfrm>
            <a:off x="4427984" y="2477264"/>
            <a:ext cx="344318" cy="1490732"/>
          </a:xfrm>
          <a:prstGeom prst="roundRect">
            <a:avLst>
              <a:gd name="adj" fmla="val 19398"/>
            </a:avLst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C56D127-FF40-4F06-99E3-D625A286805D}"/>
              </a:ext>
            </a:extLst>
          </p:cNvPr>
          <p:cNvSpPr/>
          <p:nvPr/>
        </p:nvSpPr>
        <p:spPr bwMode="auto">
          <a:xfrm>
            <a:off x="4823395" y="2507940"/>
            <a:ext cx="1951698" cy="1490732"/>
          </a:xfrm>
          <a:prstGeom prst="roundRect">
            <a:avLst>
              <a:gd name="adj" fmla="val 19398"/>
            </a:avLst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A6DDAEA-58CE-4973-923E-777453D9527B}"/>
              </a:ext>
            </a:extLst>
          </p:cNvPr>
          <p:cNvSpPr txBox="1"/>
          <p:nvPr/>
        </p:nvSpPr>
        <p:spPr>
          <a:xfrm>
            <a:off x="5120815" y="3236203"/>
            <a:ext cx="1273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highlight>
                  <a:srgbClr val="3399FF"/>
                </a:highlight>
                <a:latin typeface="Times New Roman" panose="02020603050405020304" pitchFamily="18" charset="0"/>
                <a:ea typeface="Malgun Gothic" panose="020B0503020000020004" pitchFamily="34" charset="-127"/>
              </a:rPr>
              <a:t>X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3399FF"/>
                </a:highlight>
                <a:latin typeface="Times New Roman" panose="02020603050405020304" pitchFamily="18" charset="0"/>
                <a:ea typeface="Malgun Gothic" panose="020B0503020000020004" pitchFamily="34" charset="-127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3399FF"/>
                </a:highlight>
                <a:latin typeface="Times New Roman" panose="02020603050405020304" pitchFamily="18" charset="0"/>
                <a:ea typeface="Malgun Gothic" panose="020B0503020000020004" pitchFamily="34" charset="-127"/>
              </a:rPr>
              <a:t>n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3399FF"/>
                </a:highlight>
                <a:latin typeface="Times New Roman" panose="02020603050405020304" pitchFamily="18" charset="0"/>
                <a:ea typeface="Malgun Gothic" panose="020B0503020000020004" pitchFamily="34" charset="-127"/>
              </a:rPr>
              <a:t>，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3399FF"/>
                </a:highlight>
                <a:latin typeface="Times New Roman" panose="02020603050405020304" pitchFamily="18" charset="0"/>
                <a:ea typeface="Malgun Gothic" panose="020B0503020000020004" pitchFamily="34" charset="-127"/>
              </a:rPr>
              <a:t>p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3399FF"/>
                </a:highlight>
                <a:latin typeface="Times New Roman" panose="02020603050405020304" pitchFamily="18" charset="0"/>
                <a:ea typeface="Malgun Gothic" panose="020B0503020000020004" pitchFamily="34" charset="-127"/>
              </a:rPr>
              <a:t>）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61C91A7-BFC0-4BCB-A681-DE724D10A70A}"/>
              </a:ext>
            </a:extLst>
          </p:cNvPr>
          <p:cNvSpPr txBox="1"/>
          <p:nvPr/>
        </p:nvSpPr>
        <p:spPr>
          <a:xfrm>
            <a:off x="4430741" y="3138930"/>
            <a:ext cx="371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highlight>
                  <a:srgbClr val="3399FF"/>
                </a:highlight>
                <a:latin typeface="Times New Roman" panose="02020603050405020304" pitchFamily="18" charset="0"/>
                <a:ea typeface="Malgun Gothic" panose="020B0503020000020004" pitchFamily="34" charset="-127"/>
              </a:rPr>
              <a:t>1</a:t>
            </a:r>
            <a:endParaRPr lang="zh-CN" altLang="en-US" sz="32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80DEDED-E166-401C-9DF0-D93B28F52B19}"/>
              </a:ext>
            </a:extLst>
          </p:cNvPr>
          <p:cNvSpPr/>
          <p:nvPr/>
        </p:nvSpPr>
        <p:spPr>
          <a:xfrm>
            <a:off x="5240980" y="1751230"/>
            <a:ext cx="3773573" cy="369332"/>
          </a:xfrm>
          <a:prstGeom prst="rect">
            <a:avLst/>
          </a:prstGeom>
          <a:solidFill>
            <a:srgbClr val="003B76">
              <a:alpha val="77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多元回归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regress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调用格式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箭头: 左 36">
            <a:extLst>
              <a:ext uri="{FF2B5EF4-FFF2-40B4-BE49-F238E27FC236}">
                <a16:creationId xmlns:a16="http://schemas.microsoft.com/office/drawing/2014/main" id="{CA81C392-DE10-42A8-9DF6-1C3963D64BB1}"/>
              </a:ext>
            </a:extLst>
          </p:cNvPr>
          <p:cNvSpPr/>
          <p:nvPr/>
        </p:nvSpPr>
        <p:spPr bwMode="auto">
          <a:xfrm>
            <a:off x="6853411" y="2894031"/>
            <a:ext cx="2247785" cy="413645"/>
          </a:xfrm>
          <a:prstGeom prst="leftArrow">
            <a:avLst>
              <a:gd name="adj1" fmla="val 50000"/>
              <a:gd name="adj2" fmla="val 21440"/>
            </a:avLst>
          </a:prstGeom>
          <a:solidFill>
            <a:srgbClr val="0070C0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6883759" y="2930141"/>
            <a:ext cx="2686554" cy="3231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</a:rPr>
              <a:t>X= [ones(n,1)  x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</a:rPr>
              <a:t>n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</a:rPr>
              <a:t>，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</a:rPr>
              <a:t>p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</a:rPr>
              <a:t>）</a:t>
            </a:r>
            <a:endParaRPr lang="en-US" altLang="ko-KR" sz="1600" b="1" dirty="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568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3" grpId="0"/>
      <p:bldP spid="3" grpId="0"/>
      <p:bldP spid="26" grpId="0" animBg="1"/>
      <p:bldP spid="29" grpId="0" animBg="1"/>
      <p:bldP spid="34" grpId="0" animBg="1"/>
      <p:bldP spid="35" grpId="0"/>
      <p:bldP spid="38" grpId="0"/>
      <p:bldP spid="33" grpId="0" animBg="1"/>
      <p:bldP spid="3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E3F295-4E6D-4984-ADCA-01020B5E7A77}"/>
                  </a:ext>
                </a:extLst>
              </p:cNvPr>
              <p:cNvSpPr txBox="1"/>
              <p:nvPr/>
            </p:nvSpPr>
            <p:spPr>
              <a:xfrm>
                <a:off x="1222404" y="40706"/>
                <a:ext cx="7480051" cy="565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>
                  <a:lnSpc>
                    <a:spcPts val="39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§4.5 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多元回归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regress</m:t>
                    </m:r>
                  </m:oMath>
                </a14:m>
                <a:r>
                  <a:rPr lang="en-US" altLang="zh-CN" sz="28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——</a:t>
                </a:r>
                <a:r>
                  <a:rPr lang="en-US" altLang="zh-CN" sz="2800" kern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F</a:t>
                </a:r>
                <a:r>
                  <a:rPr lang="zh-CN" altLang="en-US" sz="2800" kern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假设检验的回归</a:t>
                </a:r>
                <a:endParaRPr lang="en-US" altLang="zh-CN" sz="2800" kern="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E3F295-4E6D-4984-ADCA-01020B5E7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404" y="40706"/>
                <a:ext cx="7480051" cy="565091"/>
              </a:xfrm>
              <a:prstGeom prst="rect">
                <a:avLst/>
              </a:prstGeom>
              <a:blipFill>
                <a:blip r:embed="rId3"/>
                <a:stretch>
                  <a:fillRect l="-1711" t="-4348" b="-3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7F58366-4FF2-4335-8377-2B14353A7276}"/>
                  </a:ext>
                </a:extLst>
              </p:cNvPr>
              <p:cNvSpPr/>
              <p:nvPr/>
            </p:nvSpPr>
            <p:spPr>
              <a:xfrm>
                <a:off x="2774872" y="749175"/>
                <a:ext cx="6120680" cy="42742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tint val="66000"/>
                      <a:satMod val="160000"/>
                    </a:schemeClr>
                  </a:gs>
                  <a:gs pos="50000">
                    <a:schemeClr val="accent5">
                      <a:tint val="44500"/>
                      <a:satMod val="160000"/>
                    </a:schemeClr>
                  </a:gs>
                  <a:gs pos="100000">
                    <a:schemeClr val="accent5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</p:spPr>
            <p:txBody>
              <a:bodyPr wrap="square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/>
                        <a:ea typeface="隶书" panose="02010509060101010101" pitchFamily="49" charset="-122"/>
                      </a:rPr>
                      <m:t>𝑦</m:t>
                    </m:r>
                    <m:r>
                      <a:rPr lang="en-US" altLang="zh-CN" sz="2000" b="0">
                        <a:solidFill>
                          <a:srgbClr val="002060"/>
                        </a:solidFill>
                        <a:latin typeface="Cambria Math"/>
                        <a:ea typeface="隶书" panose="020105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+</a:t>
                </a:r>
                <a:r>
                  <a:rPr lang="en-US" altLang="zh-CN" sz="2000" dirty="0">
                    <a:solidFill>
                      <a:srgbClr val="002060"/>
                    </a:solidFill>
                    <a:ea typeface="隶书" panose="020105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隶书" panose="02010509060101010101" pitchFamily="49" charset="-122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+…</a:t>
                </a:r>
                <a:r>
                  <a:rPr lang="en-US" altLang="zh-CN" sz="2000" dirty="0">
                    <a:solidFill>
                      <a:srgbClr val="002060"/>
                    </a:solidFill>
                    <a:ea typeface="隶书" panose="02010509060101010101" pitchFamily="49" charset="-122"/>
                  </a:rPr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  <m:t>p</m:t>
                        </m:r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  <m:t>−</m:t>
                        </m:r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  <m:t>𝑝</m:t>
                        </m:r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  <m:t>−1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隶书" panose="02010509060101010101" pitchFamily="49" charset="-122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002060"/>
                            </a:solidFill>
                            <a:latin typeface="Cambria Math"/>
                            <a:ea typeface="隶书" panose="02010509060101010101" pitchFamily="49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+</a:t>
                </a:r>
                <a:r>
                  <a:rPr lang="el-GR" altLang="zh-CN" sz="2000" dirty="0">
                    <a:solidFill>
                      <a:srgbClr val="00206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ε</a:t>
                </a:r>
                <a:r>
                  <a:rPr lang="zh-CN" altLang="en-US" sz="2000" dirty="0">
                    <a:solidFill>
                      <a:srgbClr val="00206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（残差）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7F58366-4FF2-4335-8377-2B14353A72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872" y="749175"/>
                <a:ext cx="6120680" cy="427425"/>
              </a:xfrm>
              <a:prstGeom prst="rect">
                <a:avLst/>
              </a:prstGeom>
              <a:blipFill>
                <a:blip r:embed="rId4"/>
                <a:stretch>
                  <a:fillRect t="-12857" r="-1096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E4BE40C-D1EE-4B3D-9265-FDAA3A3C4D64}"/>
              </a:ext>
            </a:extLst>
          </p:cNvPr>
          <p:cNvSpPr/>
          <p:nvPr/>
        </p:nvSpPr>
        <p:spPr>
          <a:xfrm>
            <a:off x="110699" y="1682882"/>
            <a:ext cx="5613429" cy="60401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square" anchor="ctr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algn="dist">
              <a:lnSpc>
                <a:spcPts val="4600"/>
              </a:lnSpc>
              <a:spcBef>
                <a:spcPct val="0"/>
              </a:spcBef>
              <a:buClr>
                <a:srgbClr val="3399FF"/>
              </a:buClr>
              <a:buFont typeface="+mj-ea"/>
              <a:buAutoNum type="circleNumDbPlain"/>
              <a:defRPr/>
            </a:pPr>
            <a:r>
              <a:rPr lang="en-US" altLang="en-US" sz="1800" noProof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zh-CN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检验法和</a:t>
            </a:r>
            <a:r>
              <a:rPr lang="en-US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zh-CN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检验法对回归系数</a:t>
            </a:r>
            <a:r>
              <a:rPr lang="el-GR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β</a:t>
            </a:r>
            <a:r>
              <a:rPr lang="en-US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B9305152-9F7D-4850-A39A-CF5AC364A44A}"/>
                  </a:ext>
                </a:extLst>
              </p:cNvPr>
              <p:cNvSpPr txBox="1"/>
              <p:nvPr/>
            </p:nvSpPr>
            <p:spPr bwMode="auto">
              <a:xfrm>
                <a:off x="5781131" y="1903508"/>
                <a:ext cx="3144755" cy="369332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18900000" scaled="1"/>
                <a:tileRect/>
              </a:gradFill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假设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B9305152-9F7D-4850-A39A-CF5AC364A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1131" y="1903508"/>
                <a:ext cx="314475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BE669B63-DA73-478C-81EA-BD237865E609}"/>
                  </a:ext>
                </a:extLst>
              </p:cNvPr>
              <p:cNvSpPr/>
              <p:nvPr/>
            </p:nvSpPr>
            <p:spPr>
              <a:xfrm>
                <a:off x="101160" y="2346158"/>
                <a:ext cx="9042840" cy="96128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txBody>
              <a:bodyPr wrap="square" anchor="ctr">
                <a:spAutoFit/>
              </a:bodyPr>
              <a:lstStyle>
                <a:lvl1pPr marL="457200" indent="-4572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ts val="3600"/>
                  </a:lnSpc>
                  <a:spcBef>
                    <a:spcPct val="0"/>
                  </a:spcBef>
                  <a:buClr>
                    <a:srgbClr val="3399FF"/>
                  </a:buClr>
                  <a:buFont typeface="+mj-ea"/>
                  <a:buAutoNum type="circleNumDbPlain" startAt="2"/>
                  <a:defRPr/>
                </a:pP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接受假设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H0:</a:t>
                </a:r>
                <a:r>
                  <a:rPr lang="el-GR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β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i=0,</a:t>
                </a: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回归系数</a:t>
                </a:r>
                <a14:m>
                  <m:oMath xmlns:m="http://schemas.openxmlformats.org/officeDocument/2006/math">
                    <m:r>
                      <a:rPr lang="zh-CN" altLang="en-US" sz="1800" noProof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都等于零，则</m:t>
                    </m:r>
                    <m:r>
                      <a:rPr lang="en-US" altLang="zh-CN" sz="18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sz="18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18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18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与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无关系</a:t>
                </a:r>
                <a:endParaRPr lang="en-US" altLang="zh-CN" sz="1800" noProof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marL="0" indent="0">
                  <a:lnSpc>
                    <a:spcPts val="3600"/>
                  </a:lnSpc>
                  <a:spcBef>
                    <a:spcPct val="0"/>
                  </a:spcBef>
                  <a:buClr>
                    <a:srgbClr val="3399FF"/>
                  </a:buClr>
                  <a:buFont typeface="+mj-ea"/>
                  <a:buAutoNum type="circleNumDbPlain" startAt="2"/>
                  <a:defRPr/>
                </a:pP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拒绝假设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H0:</a:t>
                </a:r>
                <a:r>
                  <a:rPr lang="el-GR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β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i=0</a:t>
                </a:r>
                <a:r>
                  <a:rPr lang="en-US" altLang="ko-KR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,</a:t>
                </a: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则回归显著，认为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与</a:t>
                </a:r>
                <a:r>
                  <a:rPr lang="en-US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800" noProof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存在关系，所求的回归方程成立；</a:t>
                </a:r>
                <a:endParaRPr lang="en-US" altLang="zh-CN" sz="1800" noProof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BE669B63-DA73-478C-81EA-BD237865E6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60" y="2346158"/>
                <a:ext cx="9042840" cy="961289"/>
              </a:xfrm>
              <a:prstGeom prst="rect">
                <a:avLst/>
              </a:prstGeom>
              <a:blipFill>
                <a:blip r:embed="rId6"/>
                <a:stretch>
                  <a:fillRect l="-741" b="-10063"/>
                </a:stretch>
              </a:blipFill>
              <a:ln w="31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53C92876-5F5F-4EA3-96C5-5394EAE3A6F5}"/>
              </a:ext>
            </a:extLst>
          </p:cNvPr>
          <p:cNvSpPr/>
          <p:nvPr/>
        </p:nvSpPr>
        <p:spPr>
          <a:xfrm>
            <a:off x="220991" y="739554"/>
            <a:ext cx="2550809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线性回归方程模型：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1A0598-E024-42D4-A42B-3451F8EEC08C}"/>
              </a:ext>
            </a:extLst>
          </p:cNvPr>
          <p:cNvSpPr txBox="1"/>
          <p:nvPr/>
        </p:nvSpPr>
        <p:spPr>
          <a:xfrm>
            <a:off x="6726170" y="3868797"/>
            <a:ext cx="22692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noProof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回归方程成立，</a:t>
            </a:r>
            <a:endParaRPr lang="en-US" altLang="zh-CN" sz="2000" b="1" noProof="1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r>
              <a:rPr lang="el-GR" altLang="en-US" sz="2000" b="1" noProof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β</a:t>
            </a:r>
            <a:r>
              <a:rPr lang="en-US" altLang="en-US" sz="2000" b="1" noProof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i</a:t>
            </a:r>
            <a:r>
              <a:rPr lang="zh-CN" altLang="en-US" sz="2000" b="1" noProof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一定不能等于零</a:t>
            </a:r>
            <a:r>
              <a:rPr lang="en-US" altLang="en-US" sz="2000" noProof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41D7F017-3B4E-4DF9-8C1E-05FBEC674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432838"/>
              </p:ext>
            </p:extLst>
          </p:nvPr>
        </p:nvGraphicFramePr>
        <p:xfrm>
          <a:off x="3484527" y="3348266"/>
          <a:ext cx="2757400" cy="735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96" name="Equation" r:id="rId7" imgW="2222500" imgH="685800" progId="Equation.DSMT4">
                  <p:embed/>
                </p:oleObj>
              </mc:Choice>
              <mc:Fallback>
                <p:oleObj name="Equation" r:id="rId7" imgW="2222500" imgH="685800" progId="Equation.DSMT4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6AA27541-67CF-4D9C-BF42-F4B915BF9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27" y="3348266"/>
                        <a:ext cx="2757400" cy="7356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0B6466AA-E23C-4EBD-8D62-80695AB75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497188"/>
              </p:ext>
            </p:extLst>
          </p:nvPr>
        </p:nvGraphicFramePr>
        <p:xfrm>
          <a:off x="2973291" y="4053134"/>
          <a:ext cx="2784393" cy="610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97" name="Equation" r:id="rId9" imgW="2082800" imgH="457200" progId="Equation.DSMT4">
                  <p:embed/>
                </p:oleObj>
              </mc:Choice>
              <mc:Fallback>
                <p:oleObj name="Equation" r:id="rId9" imgW="2082800" imgH="457200" progId="Equation.DSMT4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8C888389-3C4E-41B3-97B7-D32AD61F84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291" y="4053134"/>
                        <a:ext cx="2784393" cy="610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9">
            <a:extLst>
              <a:ext uri="{FF2B5EF4-FFF2-40B4-BE49-F238E27FC236}">
                <a16:creationId xmlns:a16="http://schemas.microsoft.com/office/drawing/2014/main" id="{30D67F88-5D6E-4B28-B8DE-0AC8A2C41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5" y="4104125"/>
            <a:ext cx="30270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+mj-ea"/>
              <a:buAutoNum type="circleNumDbPlain" startAt="5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相关系数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0">
                <a:extLst>
                  <a:ext uri="{FF2B5EF4-FFF2-40B4-BE49-F238E27FC236}">
                    <a16:creationId xmlns:a16="http://schemas.microsoft.com/office/drawing/2014/main" id="{EB3190D2-F85A-4FCA-AB4D-33E1D60BCB3C}"/>
                  </a:ext>
                </a:extLst>
              </p:cNvPr>
              <p:cNvSpPr txBox="1"/>
              <p:nvPr/>
            </p:nvSpPr>
            <p:spPr bwMode="auto">
              <a:xfrm>
                <a:off x="6542215" y="3361432"/>
                <a:ext cx="2160240" cy="5620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sSubSup>
                        <m:sSubSup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" name="Object 10">
                <a:extLst>
                  <a:ext uri="{FF2B5EF4-FFF2-40B4-BE49-F238E27FC236}">
                    <a16:creationId xmlns:a16="http://schemas.microsoft.com/office/drawing/2014/main" id="{EB3190D2-F85A-4FCA-AB4D-33E1D60BC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2215" y="3361432"/>
                <a:ext cx="2160240" cy="5620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0D7E26A-634D-4D4D-B323-C95BCFC2BA26}"/>
              </a:ext>
            </a:extLst>
          </p:cNvPr>
          <p:cNvSpPr txBox="1"/>
          <p:nvPr/>
        </p:nvSpPr>
        <p:spPr>
          <a:xfrm>
            <a:off x="88965" y="3407069"/>
            <a:ext cx="3546931" cy="4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300"/>
              </a:lnSpc>
              <a:spcBef>
                <a:spcPct val="0"/>
              </a:spcBef>
              <a:buFont typeface="+mj-ea"/>
              <a:buAutoNum type="circleNumDbPlain" startAt="4"/>
              <a:defRPr/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假设检验的统计量计算</a:t>
            </a:r>
            <a:endParaRPr lang="zh-CN" altLang="en-US" noProof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形状 210955">
            <a:extLst>
              <a:ext uri="{FF2B5EF4-FFF2-40B4-BE49-F238E27FC236}">
                <a16:creationId xmlns:a16="http://schemas.microsoft.com/office/drawing/2014/main" id="{592B87EF-92AE-4767-9077-0C8FC3559F47}"/>
              </a:ext>
            </a:extLst>
          </p:cNvPr>
          <p:cNvSpPr/>
          <p:nvPr/>
        </p:nvSpPr>
        <p:spPr>
          <a:xfrm>
            <a:off x="6098025" y="3964294"/>
            <a:ext cx="655138" cy="664653"/>
          </a:xfrm>
          <a:prstGeom prst="irregularSeal2">
            <a:avLst/>
          </a:prstGeom>
          <a:solidFill>
            <a:srgbClr val="FF0000"/>
          </a:soli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marL="342900" indent="-342900" algn="ctr"/>
            <a:endParaRPr lang="en-US" altLang="zh-CN" dirty="0">
              <a:solidFill>
                <a:srgbClr val="FFFF00"/>
              </a:solidFill>
              <a:latin typeface="-apple-system"/>
            </a:endParaRPr>
          </a:p>
          <a:p>
            <a:pPr marL="342900" indent="-342900" algn="ctr"/>
            <a:r>
              <a:rPr lang="zh-CN" altLang="en-US" dirty="0">
                <a:solidFill>
                  <a:srgbClr val="FFFF00"/>
                </a:solidFill>
                <a:latin typeface="-apple-system"/>
              </a:rPr>
              <a:t>注意</a:t>
            </a:r>
            <a:endParaRPr lang="en-US" altLang="zh-CN" dirty="0">
              <a:solidFill>
                <a:srgbClr val="FFFF00"/>
              </a:solidFill>
              <a:latin typeface="-apple-system"/>
            </a:endParaRPr>
          </a:p>
          <a:p>
            <a:pPr marL="342900" indent="-342900">
              <a:buFont typeface="Wingdings 2" panose="05020102010507070707" pitchFamily="18" charset="2"/>
              <a:buNone/>
            </a:pP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CF5D49B0-F7BD-4990-8418-5C9C150A3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93" y="1276767"/>
            <a:ext cx="1592195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200" dirty="0"/>
              <a:t>F</a:t>
            </a:r>
            <a:r>
              <a:rPr lang="zh-CN" altLang="en-US" sz="2200" dirty="0"/>
              <a:t>假设检验：</a:t>
            </a:r>
            <a:endParaRPr lang="ko-KR" altLang="en-US" sz="2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249246-8301-4131-B07B-DCCB95F6850C}"/>
              </a:ext>
            </a:extLst>
          </p:cNvPr>
          <p:cNvSpPr/>
          <p:nvPr/>
        </p:nvSpPr>
        <p:spPr>
          <a:xfrm>
            <a:off x="1835696" y="1319979"/>
            <a:ext cx="7159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对整个模型的拟合优度检验，即所有变量对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被解释变量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的显著性检验</a:t>
            </a:r>
          </a:p>
        </p:txBody>
      </p:sp>
    </p:spTree>
    <p:extLst>
      <p:ext uri="{BB962C8B-B14F-4D97-AF65-F5344CB8AC3E}">
        <p14:creationId xmlns:p14="http://schemas.microsoft.com/office/powerpoint/2010/main" val="397776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6" grpId="0"/>
      <p:bldP spid="17" grpId="0"/>
      <p:bldP spid="21" grpId="0"/>
      <p:bldP spid="2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>
            <a:extLst>
              <a:ext uri="{FF2B5EF4-FFF2-40B4-BE49-F238E27FC236}">
                <a16:creationId xmlns:a16="http://schemas.microsoft.com/office/drawing/2014/main" id="{B3219861-A571-4641-A9A5-185C24CAF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71" y="1171354"/>
            <a:ext cx="7273841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ko-KR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ko-KR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ko-KR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                                         = </a:t>
            </a:r>
            <a:r>
              <a:rPr lang="ko-KR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regress( Y, X</a:t>
            </a:r>
            <a:r>
              <a:rPr lang="ko-KR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                    </a:t>
            </a:r>
            <a:r>
              <a:rPr lang="zh-CN" altLang="en-US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</a:t>
            </a:r>
            <a:endParaRPr lang="ko-KR" altLang="en-US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70">
            <a:extLst>
              <a:ext uri="{FF2B5EF4-FFF2-40B4-BE49-F238E27FC236}">
                <a16:creationId xmlns:a16="http://schemas.microsoft.com/office/drawing/2014/main" id="{98BB1DA0-BAB9-436C-B4C3-D32D92CFC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4" y="2982293"/>
            <a:ext cx="6322931" cy="384721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ts val="1700"/>
              </a:spcBef>
              <a:buNone/>
            </a:pPr>
            <a:r>
              <a:rPr lang="ko-KR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相关系数R，F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ko-KR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相应的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显著性概率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以及残差方差</a:t>
            </a:r>
            <a:endParaRPr lang="ko-KR" altLang="en-US" sz="19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BC20E7D5-CADC-4CE3-8B50-34157B7855B0}"/>
                  </a:ext>
                </a:extLst>
              </p:cNvPr>
              <p:cNvSpPr txBox="1"/>
              <p:nvPr/>
            </p:nvSpPr>
            <p:spPr>
              <a:xfrm>
                <a:off x="73371" y="3333591"/>
                <a:ext cx="9021360" cy="123777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noFill/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514350" indent="-514350">
                  <a:lnSpc>
                    <a:spcPts val="2900"/>
                  </a:lnSpc>
                  <a:spcBef>
                    <a:spcPts val="200"/>
                  </a:spcBef>
                  <a:buFont typeface="+mj-lt"/>
                  <a:buAutoNum type="romanUcPeriod"/>
                </a:pPr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相关系数 </a:t>
                </a:r>
                <a:r>
                  <a:rPr lang="ko-KR" altLang="en-US" sz="20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ko-KR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, 其值越接近于 1, 说明回归方程越显著; </a:t>
                </a:r>
              </a:p>
              <a:p>
                <a:pPr marL="514350" indent="-514350">
                  <a:lnSpc>
                    <a:spcPts val="2900"/>
                  </a:lnSpc>
                  <a:spcBef>
                    <a:spcPts val="200"/>
                  </a:spcBef>
                  <a:buFont typeface="+mj-lt"/>
                  <a:buAutoNum type="romanUcPeriod"/>
                </a:pPr>
                <a:r>
                  <a:rPr lang="en-US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F</a:t>
                </a:r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值, </a:t>
                </a:r>
                <a:r>
                  <a:rPr lang="en-US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F&gt;F1-alpha(p,n-p-1) </a:t>
                </a:r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时，拒绝</a:t>
                </a:r>
                <a:r>
                  <a:rPr lang="en-US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H0, F</a:t>
                </a:r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越大, 回归方程越显著; </a:t>
                </a:r>
              </a:p>
              <a:p>
                <a:pPr marL="514350" indent="-514350">
                  <a:lnSpc>
                    <a:spcPts val="2900"/>
                  </a:lnSpc>
                  <a:spcBef>
                    <a:spcPts val="200"/>
                  </a:spcBef>
                  <a:buFont typeface="+mj-lt"/>
                  <a:buAutoNum type="romanUcPeriod"/>
                </a:pPr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与</a:t>
                </a:r>
                <a:r>
                  <a:rPr lang="en-US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F</a:t>
                </a:r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对应的概率</a:t>
                </a:r>
                <a:r>
                  <a:rPr lang="en-US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p, p&lt;alpha </a:t>
                </a:r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时拒绝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=⋯=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noProof="1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, 回归模型成立. </a:t>
                </a:r>
              </a:p>
            </p:txBody>
          </p:sp>
        </mc:Choice>
        <mc:Fallback xmlns="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BC20E7D5-CADC-4CE3-8B50-34157B785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1" y="3333591"/>
                <a:ext cx="9021360" cy="1237775"/>
              </a:xfrm>
              <a:prstGeom prst="rect">
                <a:avLst/>
              </a:prstGeom>
              <a:blipFill>
                <a:blip r:embed="rId2"/>
                <a:stretch>
                  <a:fillRect l="-608" b="-7882"/>
                </a:stretch>
              </a:blipFill>
              <a:ln w="19050" cap="flat" cmpd="sng">
                <a:noFill/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64">
            <a:extLst>
              <a:ext uri="{FF2B5EF4-FFF2-40B4-BE49-F238E27FC236}">
                <a16:creationId xmlns:a16="http://schemas.microsoft.com/office/drawing/2014/main" id="{9F171052-3A01-4D3C-9C48-ACE7286E2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9" y="2049041"/>
            <a:ext cx="51708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altLang="ko-KR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ko-KR" altLang="en-US" sz="20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残差向量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ko-KR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隶书" panose="02010509060101010101" pitchFamily="49" charset="-122"/>
              </a:rPr>
              <a:t>=Y-Y</a:t>
            </a:r>
            <a:r>
              <a:rPr lang="en-US" altLang="ko-K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ko-KR" altLang="en-US" sz="20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及它们的置信区间</a:t>
            </a:r>
            <a:r>
              <a:rPr lang="en-US" altLang="ko-KR" sz="2000" dirty="0" err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ko-K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int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隶书" panose="02010509060101010101" pitchFamily="49" charset="-122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58C1E89-F4B1-4434-8DBF-ECAEBB1B3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97" y="1114141"/>
            <a:ext cx="2088232" cy="36933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ts val="1900"/>
              </a:spcBef>
              <a:buNone/>
            </a:pPr>
            <a:r>
              <a:rPr lang="ko-KR" altLang="en-US" sz="1800" b="1" dirty="0">
                <a:solidFill>
                  <a:schemeClr val="bg1"/>
                </a:solidFill>
                <a:highlight>
                  <a:srgbClr val="21A4FF"/>
                </a:highlight>
                <a:latin typeface="Arial" panose="020B0604020202020204" pitchFamily="34" charset="0"/>
                <a:ea typeface="Malgun Gothic" panose="020B0503020000020004" pitchFamily="34" charset="-127"/>
              </a:rPr>
              <a:t>bint, r, rint ,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B49394-CBCA-4073-8016-FBFF7141F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260" y="1187398"/>
            <a:ext cx="1023012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21A4FF"/>
                </a:highlight>
                <a:ea typeface="Malgun Gothic" panose="020B0503020000020004" pitchFamily="34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dist"/>
            <a:r>
              <a:rPr lang="ko-KR" altLang="en-US" sz="1600" dirty="0"/>
              <a:t>alpha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9">
                <a:extLst>
                  <a:ext uri="{FF2B5EF4-FFF2-40B4-BE49-F238E27FC236}">
                    <a16:creationId xmlns:a16="http://schemas.microsoft.com/office/drawing/2014/main" id="{02CE02E4-9D8E-4F24-8EA0-E2F385A925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20" y="1648931"/>
                <a:ext cx="5804924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r>
                  <a:rPr lang="zh-CN" altLang="en-US" sz="2000" dirty="0">
                    <a:solidFill>
                      <a:schemeClr val="tx1"/>
                    </a:solidFill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）回归系数</a:t>
                </a:r>
                <a:r>
                  <a:rPr lang="en-US" altLang="zh-C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</a:t>
                </a:r>
                <a:r>
                  <a:rPr lang="zh-CN" altLang="en-US" sz="2000" dirty="0">
                    <a:solidFill>
                      <a:schemeClr val="tx1"/>
                    </a:solidFill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（即</a:t>
                </a:r>
                <a14:m>
                  <m:oMath xmlns:m="http://schemas.openxmlformats.org/officeDocument/2006/math">
                    <m:r>
                      <a:rPr lang="zh-CN" altLang="en-US" sz="20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隶书" panose="02010509060101010101" pitchFamily="49" charset="-122"/>
                      </a:rPr>
                      <m:t>𝛽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的估计值）及它置信区间</a:t>
                </a:r>
                <a:r>
                  <a:rPr lang="en-US" altLang="zh-CN" sz="2000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bint</a:t>
                </a:r>
                <a:endParaRPr lang="zh-CN" alt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Text Box 59">
                <a:extLst>
                  <a:ext uri="{FF2B5EF4-FFF2-40B4-BE49-F238E27FC236}">
                    <a16:creationId xmlns:a16="http://schemas.microsoft.com/office/drawing/2014/main" id="{02CE02E4-9D8E-4F24-8EA0-E2F385A92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20" y="1648931"/>
                <a:ext cx="5804924" cy="400110"/>
              </a:xfrm>
              <a:prstGeom prst="rect">
                <a:avLst/>
              </a:prstGeom>
              <a:blipFill>
                <a:blip r:embed="rId3"/>
                <a:stretch>
                  <a:fillRect l="-835" t="-4225" b="-28169"/>
                </a:stretch>
              </a:blipFill>
              <a:ln w="285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70">
            <a:extLst>
              <a:ext uri="{FF2B5EF4-FFF2-40B4-BE49-F238E27FC236}">
                <a16:creationId xmlns:a16="http://schemas.microsoft.com/office/drawing/2014/main" id="{106E75F8-37D7-4804-961F-AE2154B5D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0" y="2385089"/>
            <a:ext cx="5156852" cy="495457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3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en-US" sz="2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stats </a:t>
            </a:r>
            <a:r>
              <a:rPr lang="zh-CN" altLang="en-US" sz="2000" noProof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2000" noProof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r>
              <a:rPr lang="zh-CN" altLang="en-US" sz="2000" noProof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检验回归模型的四个统计量值：</a:t>
            </a:r>
          </a:p>
        </p:txBody>
      </p:sp>
      <p:sp>
        <p:nvSpPr>
          <p:cNvPr id="12" name="AutoShape 75">
            <a:extLst>
              <a:ext uri="{FF2B5EF4-FFF2-40B4-BE49-F238E27FC236}">
                <a16:creationId xmlns:a16="http://schemas.microsoft.com/office/drawing/2014/main" id="{C4F716BE-1A18-4856-985B-749275959B2F}"/>
              </a:ext>
            </a:extLst>
          </p:cNvPr>
          <p:cNvSpPr>
            <a:spLocks noChangeArrowheads="1"/>
          </p:cNvSpPr>
          <p:nvPr/>
        </p:nvSpPr>
        <p:spPr bwMode="auto">
          <a:xfrm rot="21148618">
            <a:off x="7852735" y="1159323"/>
            <a:ext cx="1073472" cy="527699"/>
          </a:xfrm>
          <a:prstGeom prst="wedgeRoundRectCallout">
            <a:avLst>
              <a:gd name="adj1" fmla="val -105433"/>
              <a:gd name="adj2" fmla="val -32068"/>
              <a:gd name="adj3" fmla="val 16667"/>
            </a:avLst>
          </a:prstGeom>
          <a:solidFill>
            <a:srgbClr val="002060"/>
          </a:solidFill>
          <a:ln w="9525">
            <a:solidFill>
              <a:srgbClr val="000000"/>
            </a:solidFill>
            <a:round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algun Gothic" panose="020B0503020000020004" pitchFamily="34" charset="-127"/>
              </a:rPr>
              <a:t>显著水平</a:t>
            </a:r>
            <a:endParaRPr lang="en-US" altLang="zh-CN" sz="1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Malgun Gothic" panose="020B0503020000020004" pitchFamily="34" charset="-127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algun Gothic" panose="020B0503020000020004" pitchFamily="34" charset="-127"/>
              </a:rPr>
              <a:t>默认</a:t>
            </a:r>
            <a:r>
              <a:rPr lang="ko-KR" alt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algun Gothic" panose="020B0503020000020004" pitchFamily="34" charset="-127"/>
              </a:rPr>
              <a:t>0.05</a:t>
            </a:r>
            <a:endParaRPr lang="ko-KR" altLang="en-US" sz="1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F74E5423-C9D1-498E-B1D6-B78AA2AA3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97" y="1178615"/>
            <a:ext cx="945844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dist"/>
            <a:r>
              <a:rPr lang="ko-KR" altLang="en-US" sz="1600" kern="1200" dirty="0">
                <a:highlight>
                  <a:srgbClr val="21A4FF"/>
                </a:highlight>
                <a:latin typeface="Arial" panose="020B0604020202020204" pitchFamily="34" charset="0"/>
                <a:ea typeface="Malgun Gothic" panose="020B0503020000020004" pitchFamily="34" charset="-127"/>
                <a:cs typeface="+mn-cs"/>
              </a:rPr>
              <a:t>stats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0EBDDC5-21DE-433F-85F3-C1FBA5C84C42}"/>
                  </a:ext>
                </a:extLst>
              </p:cNvPr>
              <p:cNvSpPr txBox="1"/>
              <p:nvPr/>
            </p:nvSpPr>
            <p:spPr>
              <a:xfrm>
                <a:off x="903136" y="40718"/>
                <a:ext cx="8232434" cy="565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>
                  <a:lnSpc>
                    <a:spcPts val="39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§4.5 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多元回归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regress</m:t>
                    </m:r>
                  </m:oMath>
                </a14:m>
                <a:r>
                  <a:rPr lang="en-US" altLang="zh-CN" sz="28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——</a:t>
                </a:r>
                <a:r>
                  <a:rPr lang="zh-CN" altLang="en-US" sz="2800" kern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区间估计和假设的回归</a:t>
                </a:r>
                <a:endParaRPr lang="en-US" altLang="zh-CN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0EBDDC5-21DE-433F-85F3-C1FBA5C84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6" y="40718"/>
                <a:ext cx="8232434" cy="565091"/>
              </a:xfrm>
              <a:prstGeom prst="rect">
                <a:avLst/>
              </a:prstGeom>
              <a:blipFill>
                <a:blip r:embed="rId4"/>
                <a:stretch>
                  <a:fillRect l="-1480" t="-4348" b="-3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64B5BF9A-D52E-4D22-97B5-C244337CEA12}"/>
              </a:ext>
            </a:extLst>
          </p:cNvPr>
          <p:cNvSpPr txBox="1"/>
          <p:nvPr/>
        </p:nvSpPr>
        <p:spPr>
          <a:xfrm>
            <a:off x="4930673" y="2075250"/>
            <a:ext cx="4213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regress</a:t>
            </a:r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一定要加载 </a:t>
            </a:r>
            <a:r>
              <a:rPr lang="en-US" altLang="zh-CN" sz="1400" b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using </a:t>
            </a:r>
            <a:r>
              <a:rPr lang="en-US" altLang="zh-CN" sz="1400" b="0" dirty="0" err="1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TyMachineLearning</a:t>
            </a:r>
            <a:endParaRPr lang="en-US" altLang="zh-CN" sz="1400" b="0" dirty="0">
              <a:solidFill>
                <a:schemeClr val="bg1"/>
              </a:solidFill>
              <a:effectLst/>
              <a:highlight>
                <a:srgbClr val="003B76"/>
              </a:highlight>
              <a:latin typeface="Consolas" panose="020B0609020204030204" pitchFamily="49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36A191C2-E9D4-4AD6-A97C-1D580FC4F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0" y="687154"/>
            <a:ext cx="8879707" cy="3847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dist" eaLnBrk="0" hangingPunct="0"/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多元线性</a:t>
            </a:r>
            <a:r>
              <a:rPr kumimoji="0" lang="zh-CN" altLang="en-US" sz="19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回归</a:t>
            </a:r>
            <a:r>
              <a:rPr kumimoji="0" lang="en-US" altLang="zh-CN" sz="19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regress</a:t>
            </a:r>
            <a:r>
              <a:rPr kumimoji="0" lang="zh-CN" altLang="en-US" sz="19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在解方程组求待定参数基础上，加上区间估计和</a:t>
            </a:r>
            <a:r>
              <a:rPr kumimoji="0" lang="en-US" altLang="zh-CN" sz="19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19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en-US" altLang="zh-CN" sz="19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5F1A0D29-5961-49CC-B392-51225C89DCF2}"/>
                  </a:ext>
                </a:extLst>
              </p:cNvPr>
              <p:cNvSpPr txBox="1"/>
              <p:nvPr/>
            </p:nvSpPr>
            <p:spPr bwMode="auto">
              <a:xfrm>
                <a:off x="4267190" y="4141301"/>
                <a:ext cx="2880320" cy="369332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18900000" scaled="1"/>
                <a:tileRect/>
              </a:gradFill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5F1A0D29-5961-49CC-B392-51225C89D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190" y="4141301"/>
                <a:ext cx="2880320" cy="369332"/>
              </a:xfrm>
              <a:prstGeom prst="rect">
                <a:avLst/>
              </a:prstGeom>
              <a:blipFill>
                <a:blip r:embed="rId5"/>
                <a:stretch>
                  <a:fillRect b="-126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00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371B04A-9AB8-4DB0-84C2-D5B1DB374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85938"/>
              </p:ext>
            </p:extLst>
          </p:nvPr>
        </p:nvGraphicFramePr>
        <p:xfrm>
          <a:off x="551890" y="1292551"/>
          <a:ext cx="2927345" cy="2145974"/>
        </p:xfrm>
        <a:graphic>
          <a:graphicData uri="http://schemas.openxmlformats.org/drawingml/2006/table">
            <a:tbl>
              <a:tblPr/>
              <a:tblGrid>
                <a:gridCol w="387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4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号</a:t>
                      </a: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血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压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年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龄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x11</a:t>
                      </a: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体重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指数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x12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吸烟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x13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1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24.2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215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31.1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138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22.6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88A3225F-7DE3-42CC-A30E-13ABE0A08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273833"/>
              </p:ext>
            </p:extLst>
          </p:nvPr>
        </p:nvGraphicFramePr>
        <p:xfrm>
          <a:off x="539552" y="3757168"/>
          <a:ext cx="2939682" cy="776760"/>
        </p:xfrm>
        <a:graphic>
          <a:graphicData uri="http://schemas.openxmlformats.org/drawingml/2006/table">
            <a:tbl>
              <a:tblPr/>
              <a:tblGrid>
                <a:gridCol w="429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3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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  <a:ea typeface="宋体" panose="02010600030101010101" pitchFamily="2" charset="-122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175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69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27.4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599" marR="91599" marT="34259" marB="34259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4">
                <a:extLst>
                  <a:ext uri="{FF2B5EF4-FFF2-40B4-BE49-F238E27FC236}">
                    <a16:creationId xmlns:a16="http://schemas.microsoft.com/office/drawing/2014/main" id="{666AC233-A0F6-42F3-9323-3152BDB395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3516" y="1185758"/>
                <a:ext cx="5550483" cy="23902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 marL="514350" indent="-51435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ts val="3000"/>
                  </a:lnSpc>
                  <a:spcBef>
                    <a:spcPts val="0"/>
                  </a:spcBef>
                  <a:buNone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回归分析步骤：</a:t>
                </a:r>
                <a:endPara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3800"/>
                  </a:lnSpc>
                  <a:spcBef>
                    <a:spcPts val="0"/>
                  </a:spcBef>
                  <a:buFont typeface="宋体" panose="02010600030101010101" pitchFamily="2" charset="-122"/>
                  <a:buAutoNum type="circleNumDbPlain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确定因变量和自变量；</a:t>
                </a:r>
                <a:endParaRPr lang="en-US" altLang="zh-CN" sz="24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ts val="3800"/>
                  </a:lnSpc>
                  <a:spcBef>
                    <a:spcPts val="0"/>
                  </a:spcBef>
                  <a:buFont typeface="宋体" panose="02010600030101010101" pitchFamily="2" charset="-122"/>
                  <a:buAutoNum type="circleNumDbPlain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选定因变量与自变量之间模型</a:t>
                </a:r>
                <a:endParaRPr lang="en-US" altLang="zh-CN" sz="24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ts val="3800"/>
                  </a:lnSpc>
                  <a:spcBef>
                    <a:spcPts val="0"/>
                  </a:spcBef>
                  <a:buFont typeface="宋体" panose="02010600030101010101" pitchFamily="2" charset="-122"/>
                  <a:buAutoNum type="circleNumDbPlain"/>
                </a:pPr>
                <a:endParaRPr lang="en-US" altLang="ko-KR" sz="24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ts val="3800"/>
                  </a:lnSpc>
                  <a:spcBef>
                    <a:spcPts val="0"/>
                  </a:spcBef>
                  <a:buFont typeface="宋体" panose="02010600030101010101" pitchFamily="2" charset="-122"/>
                  <a:buAutoNum type="circleNumDbPlain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求解待定参数即回归系数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0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70C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</m:sub>
                    </m:sSub>
                  </m:oMath>
                </a14:m>
                <a:endParaRPr lang="ko-KR" altLang="en-US" sz="20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pitchFamily="2" charset="-122"/>
                  <a:ea typeface="隶书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25" name="Text Box 4">
                <a:extLst>
                  <a:ext uri="{FF2B5EF4-FFF2-40B4-BE49-F238E27FC236}">
                    <a16:creationId xmlns:a16="http://schemas.microsoft.com/office/drawing/2014/main" id="{666AC233-A0F6-42F3-9323-3152BDB39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3516" y="1185758"/>
                <a:ext cx="5550483" cy="2390206"/>
              </a:xfrm>
              <a:prstGeom prst="rect">
                <a:avLst/>
              </a:prstGeom>
              <a:blipFill>
                <a:blip r:embed="rId3"/>
                <a:stretch>
                  <a:fillRect l="-1427" b="-48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256">
            <a:extLst>
              <a:ext uri="{FF2B5EF4-FFF2-40B4-BE49-F238E27FC236}">
                <a16:creationId xmlns:a16="http://schemas.microsoft.com/office/drawing/2014/main" id="{82CE8761-6F82-4C63-BFBB-EC70F46DF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593" y="3575964"/>
            <a:ext cx="4370494" cy="4241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000" kern="1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体重指数 = 体重(kg)/身高(m)平方 </a:t>
            </a:r>
          </a:p>
        </p:txBody>
      </p:sp>
      <p:sp>
        <p:nvSpPr>
          <p:cNvPr id="27" name="Rectangle 1257">
            <a:extLst>
              <a:ext uri="{FF2B5EF4-FFF2-40B4-BE49-F238E27FC236}">
                <a16:creationId xmlns:a16="http://schemas.microsoft.com/office/drawing/2014/main" id="{31B64147-CE3C-4894-A57F-191E2517C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593" y="4048587"/>
            <a:ext cx="4370494" cy="4241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000" kern="1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吸烟习惯: 0不吸烟，1吸烟 </a:t>
            </a:r>
          </a:p>
        </p:txBody>
      </p:sp>
      <p:graphicFrame>
        <p:nvGraphicFramePr>
          <p:cNvPr id="32" name="Object 6">
            <a:extLst>
              <a:ext uri="{FF2B5EF4-FFF2-40B4-BE49-F238E27FC236}">
                <a16:creationId xmlns:a16="http://schemas.microsoft.com/office/drawing/2014/main" id="{7AB96E0C-0088-41E9-B4D5-7B71D3AA6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296164"/>
              </p:ext>
            </p:extLst>
          </p:nvPr>
        </p:nvGraphicFramePr>
        <p:xfrm>
          <a:off x="4264025" y="2598738"/>
          <a:ext cx="45910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09" name="公式" r:id="rId4" imgW="1879600" imgH="228600" progId="Equation.3">
                  <p:embed/>
                </p:oleObj>
              </mc:Choice>
              <mc:Fallback>
                <p:oleObj name="公式" r:id="rId4" imgW="1879600" imgH="228600" progId="Equation.3">
                  <p:embed/>
                  <p:pic>
                    <p:nvPicPr>
                      <p:cNvPr id="2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025" y="2598738"/>
                        <a:ext cx="4591050" cy="420687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2ABDECB-CC67-4989-8F64-3B4FE5E64ECA}"/>
                  </a:ext>
                </a:extLst>
              </p:cNvPr>
              <p:cNvSpPr txBox="1"/>
              <p:nvPr/>
            </p:nvSpPr>
            <p:spPr>
              <a:xfrm>
                <a:off x="1314789" y="59004"/>
                <a:ext cx="6825746" cy="565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>
                  <a:lnSpc>
                    <a:spcPts val="39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§4.5 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多元回归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regress</m:t>
                    </m:r>
                  </m:oMath>
                </a14:m>
                <a:r>
                  <a:rPr lang="en-US" altLang="zh-CN" sz="2800" kern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——</a:t>
                </a:r>
                <a:r>
                  <a:rPr lang="zh-CN" altLang="en-US" sz="2800" kern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多元线性回归</a:t>
                </a:r>
                <a:endParaRPr lang="en-US" altLang="zh-CN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2ABDECB-CC67-4989-8F64-3B4FE5E64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789" y="59004"/>
                <a:ext cx="6825746" cy="565091"/>
              </a:xfrm>
              <a:prstGeom prst="rect">
                <a:avLst/>
              </a:prstGeom>
              <a:blipFill>
                <a:blip r:embed="rId6"/>
                <a:stretch>
                  <a:fillRect l="-1877" t="-4348" b="-3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73E75FEB-5515-4492-9E33-08811345DD89}"/>
              </a:ext>
            </a:extLst>
          </p:cNvPr>
          <p:cNvSpPr/>
          <p:nvPr/>
        </p:nvSpPr>
        <p:spPr bwMode="auto">
          <a:xfrm>
            <a:off x="539552" y="1335692"/>
            <a:ext cx="2952159" cy="3198235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8" name="Text Box 70">
            <a:extLst>
              <a:ext uri="{FF2B5EF4-FFF2-40B4-BE49-F238E27FC236}">
                <a16:creationId xmlns:a16="http://schemas.microsoft.com/office/drawing/2014/main" id="{197D5D04-B173-4F0A-B2B4-364C590F4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69" y="745560"/>
            <a:ext cx="8388425" cy="400110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70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采样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人的年龄、体重、吸烟和血压的数据，建立多元回归模型并求解</a:t>
            </a:r>
            <a:endParaRPr lang="ko-KR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波形 35">
            <a:extLst>
              <a:ext uri="{FF2B5EF4-FFF2-40B4-BE49-F238E27FC236}">
                <a16:creationId xmlns:a16="http://schemas.microsoft.com/office/drawing/2014/main" id="{3C388EFA-9A13-4D8A-BBD6-8562EFA6CFC4}"/>
              </a:ext>
            </a:extLst>
          </p:cNvPr>
          <p:cNvSpPr/>
          <p:nvPr/>
        </p:nvSpPr>
        <p:spPr>
          <a:xfrm>
            <a:off x="0" y="699227"/>
            <a:ext cx="879078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例45-2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60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F233A76-71EA-4332-8A49-903B53C56479}"/>
                  </a:ext>
                </a:extLst>
              </p:cNvPr>
              <p:cNvSpPr txBox="1"/>
              <p:nvPr/>
            </p:nvSpPr>
            <p:spPr>
              <a:xfrm>
                <a:off x="1148747" y="114546"/>
                <a:ext cx="7344816" cy="565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>
                  <a:lnSpc>
                    <a:spcPts val="39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§4.5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多元回归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regress</m:t>
                    </m:r>
                  </m:oMath>
                </a14:m>
                <a:r>
                  <a:rPr lang="en-US" altLang="zh-CN" sz="28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——</a:t>
                </a:r>
                <a:r>
                  <a:rPr lang="zh-CN" altLang="en-US" sz="2800" kern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多元线性回归案例</a:t>
                </a:r>
                <a:endParaRPr lang="en-US" altLang="zh-CN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F233A76-71EA-4332-8A49-903B53C56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747" y="114546"/>
                <a:ext cx="7344816" cy="565091"/>
              </a:xfrm>
              <a:prstGeom prst="rect">
                <a:avLst/>
              </a:prstGeom>
              <a:blipFill>
                <a:blip r:embed="rId3"/>
                <a:stretch>
                  <a:fillRect l="-1660" t="-4348" b="-3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波形 6">
            <a:extLst>
              <a:ext uri="{FF2B5EF4-FFF2-40B4-BE49-F238E27FC236}">
                <a16:creationId xmlns:a16="http://schemas.microsoft.com/office/drawing/2014/main" id="{2C82F117-3111-4200-AC75-9235A6DBE632}"/>
              </a:ext>
            </a:extLst>
          </p:cNvPr>
          <p:cNvSpPr/>
          <p:nvPr/>
        </p:nvSpPr>
        <p:spPr>
          <a:xfrm>
            <a:off x="246988" y="669927"/>
            <a:ext cx="879078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例45-2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5A3C5D-9832-4383-94C3-D9235BA2ADD4}"/>
              </a:ext>
            </a:extLst>
          </p:cNvPr>
          <p:cNvSpPr txBox="1"/>
          <p:nvPr/>
        </p:nvSpPr>
        <p:spPr>
          <a:xfrm>
            <a:off x="1126066" y="656350"/>
            <a:ext cx="798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建立血压与年龄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、体重、吸烟三元回归模型，并用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regress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求解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b0,b1,b2,b3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ED2580-A3D7-4029-8734-164C554175B6}"/>
              </a:ext>
            </a:extLst>
          </p:cNvPr>
          <p:cNvSpPr txBox="1"/>
          <p:nvPr/>
        </p:nvSpPr>
        <p:spPr>
          <a:xfrm>
            <a:off x="179512" y="998509"/>
            <a:ext cx="866103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TyMachineLearning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血压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x1=[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年龄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x2=[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24.2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22.6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24.0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25.9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25.1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29.5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19.7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27.2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28.0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25.8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27.3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20.1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21.7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22.2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27.4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18.8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22.6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21.5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25.0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26.2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23.5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20.3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27.1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28.6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28.3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22.0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25.3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27.4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体重指数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x3=[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吸烟习惯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样本数  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X=[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x1 x2 x3];</a:t>
            </a:r>
          </a:p>
          <a:p>
            <a:pPr>
              <a:lnSpc>
                <a:spcPts val="1800"/>
              </a:lnSpc>
            </a:pP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b,bint,r,rint,s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regress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y,X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回归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"b="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,b)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C8ADB9-95FC-45AB-B3DD-13630EF2749C}"/>
              </a:ext>
            </a:extLst>
          </p:cNvPr>
          <p:cNvSpPr txBox="1"/>
          <p:nvPr/>
        </p:nvSpPr>
        <p:spPr>
          <a:xfrm>
            <a:off x="4425756" y="3078141"/>
            <a:ext cx="4414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结果b=[58.51007651213872, 0.4302638155455777, 2.3449085245605246, 10.306539242418463]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FF62CDA4-59F0-487D-AD8D-EF8652FB0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631" y="4014719"/>
            <a:ext cx="6295051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血压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Y=58.5101+0.4303x1</a:t>
            </a:r>
            <a:r>
              <a:rPr lang="zh-CN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（年龄）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+2.3449x2</a:t>
            </a:r>
            <a:r>
              <a:rPr lang="zh-CN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（体重）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+10.3065x3</a:t>
            </a:r>
            <a:r>
              <a:rPr lang="zh-CN" altLang="zh-CN" sz="1400" b="1" dirty="0">
                <a:solidFill>
                  <a:schemeClr val="bg1"/>
                </a:solidFill>
                <a:highlight>
                  <a:srgbClr val="3399FF"/>
                </a:highlight>
              </a:rPr>
              <a:t>（吸烟）</a:t>
            </a:r>
            <a:endParaRPr lang="zh-CN" altLang="en-US" sz="1400" dirty="0">
              <a:solidFill>
                <a:schemeClr val="bg1"/>
              </a:solidFill>
              <a:highlight>
                <a:srgbClr val="3399FF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0C681CCC-E6F7-4953-8D37-3958FD43E49F}"/>
              </a:ext>
            </a:extLst>
          </p:cNvPr>
          <p:cNvSpPr/>
          <p:nvPr/>
        </p:nvSpPr>
        <p:spPr>
          <a:xfrm>
            <a:off x="188605" y="4299942"/>
            <a:ext cx="859802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CC6D91-5C3C-4084-A950-1C4101F3CDDF}"/>
              </a:ext>
            </a:extLst>
          </p:cNvPr>
          <p:cNvSpPr txBox="1"/>
          <p:nvPr/>
        </p:nvSpPr>
        <p:spPr>
          <a:xfrm>
            <a:off x="1148486" y="4299942"/>
            <a:ext cx="8176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根据三元回归模型预测一下你血压，和你真实血压进行对比，是否高血压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(130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6ABE5B-4C5C-424B-9B8E-C95C18A53E48}"/>
              </a:ext>
            </a:extLst>
          </p:cNvPr>
          <p:cNvSpPr txBox="1"/>
          <p:nvPr/>
        </p:nvSpPr>
        <p:spPr>
          <a:xfrm>
            <a:off x="4554505" y="3601361"/>
            <a:ext cx="2128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highlight>
                  <a:srgbClr val="3399FF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三元回归线性模型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896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5" grpId="0"/>
    </p:bldLst>
  </p:timing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17635</TotalTime>
  <Pages>154</Pages>
  <Words>10171</Words>
  <Characters>0</Characters>
  <Application>Microsoft Office PowerPoint</Application>
  <DocSecurity>0</DocSecurity>
  <PresentationFormat>全屏显示(16:9)</PresentationFormat>
  <Lines>0</Lines>
  <Paragraphs>1317</Paragraphs>
  <Slides>53</Slides>
  <Notes>42</Notes>
  <HiddenSlides>0</HiddenSlides>
  <MMClips>0</MMClips>
  <ScaleCrop>false</ScaleCrop>
  <HeadingPairs>
    <vt:vector size="10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链接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53</vt:i4>
      </vt:variant>
    </vt:vector>
  </HeadingPairs>
  <TitlesOfParts>
    <vt:vector size="86" baseType="lpstr">
      <vt:lpstr>-apple-system</vt:lpstr>
      <vt:lpstr>Arial Unicode MS</vt:lpstr>
      <vt:lpstr>Helvetica Neue</vt:lpstr>
      <vt:lpstr>Menlo</vt:lpstr>
      <vt:lpstr>PingFang SC</vt:lpstr>
      <vt:lpstr>等线</vt:lpstr>
      <vt:lpstr>等线 Light</vt:lpstr>
      <vt:lpstr>方正粗黑宋简体</vt:lpstr>
      <vt:lpstr>黑体</vt:lpstr>
      <vt:lpstr>华文楷体</vt:lpstr>
      <vt:lpstr>楷体</vt:lpstr>
      <vt:lpstr>隶书</vt:lpstr>
      <vt:lpstr>宋体</vt:lpstr>
      <vt:lpstr>Microsoft YaHei</vt:lpstr>
      <vt:lpstr>Microsoft YaHei</vt:lpstr>
      <vt:lpstr>微软雅黑 Light</vt:lpstr>
      <vt:lpstr>Arial</vt:lpstr>
      <vt:lpstr>Calibri</vt:lpstr>
      <vt:lpstr>Cambria Math</vt:lpstr>
      <vt:lpstr>Consolas</vt:lpstr>
      <vt:lpstr>Courier New</vt:lpstr>
      <vt:lpstr>Helvetica</vt:lpstr>
      <vt:lpstr>Symbol</vt:lpstr>
      <vt:lpstr>Times New Roman</vt:lpstr>
      <vt:lpstr>Wingdings</vt:lpstr>
      <vt:lpstr>Wingdings 2</vt:lpstr>
      <vt:lpstr>主题1</vt:lpstr>
      <vt:lpstr>file:///D:\sysjulia\gcvs.csv</vt:lpstr>
      <vt:lpstr>Graph</vt:lpstr>
      <vt:lpstr>Equation</vt:lpstr>
      <vt:lpstr>Equation.3</vt:lpstr>
      <vt:lpstr>Microsoft Word 97 - 2003 Document</vt:lpstr>
      <vt:lpstr>公式</vt:lpstr>
      <vt:lpstr>数学建模知识的学习</vt:lpstr>
      <vt:lpstr>2023年高教社杯全国大学生数学建模大赛</vt:lpstr>
      <vt:lpstr>黄河水沙监控数据分析——CUMCM2023E</vt:lpstr>
      <vt:lpstr>第四章 概率统计分析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§4.2-4.4 数据统计分析</vt:lpstr>
      <vt:lpstr>§4.2-4.4 数据统计分析简介——统计数据分析步骤</vt:lpstr>
      <vt:lpstr>§4.2-4.4 数据统计分析—— 两类统计分析法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参数估计：根据样本数据对总体参数估计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1522</cp:revision>
  <dcterms:modified xsi:type="dcterms:W3CDTF">2025-03-25T09:41:32Z</dcterms:modified>
</cp:coreProperties>
</file>